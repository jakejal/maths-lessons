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A4F988-2BBE-4851-A6CE-8E7F50E7F410}">
  <a:tblStyle styleId="{31A4F988-2BBE-4851-A6CE-8E7F50E7F41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9782757-A6EA-4D23-9501-027D6C0312D4}"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8de16ec9f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28de16ec9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287fa167ef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287fa167ef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28a0f978be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28a0f978be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28a0f978be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28a0f978be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28a0f978be3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28a0f978be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28a0f978be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28a0f978be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33b81227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333b81227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Find </a:t>
            </a:r>
            <a:r>
              <a:rPr lang="en-GB" sz="2200">
                <a:solidFill>
                  <a:srgbClr val="845AD9"/>
                </a:solidFill>
                <a:latin typeface="Lexend"/>
                <a:ea typeface="Lexend"/>
                <a:cs typeface="Lexend"/>
                <a:sym typeface="Lexend"/>
              </a:rPr>
              <a:t>Data</a:t>
            </a:r>
            <a:r>
              <a:rPr lang="en-GB" sz="2200">
                <a:solidFill>
                  <a:schemeClr val="dk1"/>
                </a:solidFill>
                <a:latin typeface="Lexend"/>
                <a:ea typeface="Lexend"/>
                <a:cs typeface="Lexend"/>
                <a:sym typeface="Lexend"/>
              </a:rPr>
              <a:t> on the ribbon and and then ‘</a:t>
            </a:r>
            <a:r>
              <a:rPr lang="en-GB" sz="2200">
                <a:solidFill>
                  <a:srgbClr val="845AD9"/>
                </a:solidFill>
                <a:latin typeface="Lexend"/>
                <a:ea typeface="Lexend"/>
                <a:cs typeface="Lexend"/>
                <a:sym typeface="Lexend"/>
              </a:rPr>
              <a:t>Split text to columns</a:t>
            </a: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200">
                <a:solidFill>
                  <a:schemeClr val="dk1"/>
                </a:solidFill>
                <a:latin typeface="Lexend"/>
                <a:ea typeface="Lexend"/>
                <a:cs typeface="Lexend"/>
                <a:sym typeface="Lexend"/>
              </a:rPr>
              <a:t>If you are working in MS Excel, it is very similar.</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200">
                <a:solidFill>
                  <a:schemeClr val="dk1"/>
                </a:solidFill>
                <a:latin typeface="Lexend"/>
                <a:ea typeface="Lexend"/>
                <a:cs typeface="Lexend"/>
                <a:sym typeface="Lexend"/>
              </a:rPr>
              <a:t>The software needs this to be a vertical list rather than a horizontal list.</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200">
                <a:solidFill>
                  <a:schemeClr val="dk1"/>
                </a:solidFill>
                <a:latin typeface="Lexend"/>
                <a:ea typeface="Lexend"/>
                <a:cs typeface="Lexend"/>
                <a:sym typeface="Lexend"/>
              </a:rPr>
              <a:t>On a different cell we are going to use the </a:t>
            </a:r>
            <a:r>
              <a:rPr lang="en-GB" sz="2200">
                <a:solidFill>
                  <a:srgbClr val="845AD9"/>
                </a:solidFill>
                <a:latin typeface="Lexend"/>
                <a:ea typeface="Lexend"/>
                <a:cs typeface="Lexend"/>
                <a:sym typeface="Lexend"/>
              </a:rPr>
              <a:t>paste transposed </a:t>
            </a:r>
            <a:r>
              <a:rPr lang="en-GB" sz="2200">
                <a:solidFill>
                  <a:schemeClr val="dk1"/>
                </a:solidFill>
                <a:latin typeface="Lexend"/>
                <a:ea typeface="Lexend"/>
                <a:cs typeface="Lexend"/>
                <a:sym typeface="Lexend"/>
              </a:rPr>
              <a:t>option.</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1000"/>
              </a:spcAft>
              <a:buClr>
                <a:schemeClr val="dk1"/>
              </a:buClr>
              <a:buSzPts val="1100"/>
              <a:buFont typeface="Arial"/>
              <a:buNone/>
            </a:pPr>
            <a:r>
              <a:rPr lang="en-GB" sz="2200">
                <a:solidFill>
                  <a:schemeClr val="dk1"/>
                </a:solidFill>
                <a:latin typeface="Lexend"/>
                <a:ea typeface="Lexend"/>
                <a:cs typeface="Lexend"/>
                <a:sym typeface="Lexend"/>
              </a:rPr>
              <a:t>Find this under paste special. </a:t>
            </a:r>
            <a:endParaRPr sz="2200">
              <a:solidFill>
                <a:schemeClr val="dk1"/>
              </a:solidFill>
              <a:latin typeface="Lexend"/>
              <a:ea typeface="Lexend"/>
              <a:cs typeface="Lexend"/>
              <a:sym typeface="Lexen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28a0f978be3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28a0f978be3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28a0f978be3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g28a0f978be3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2200">
                <a:solidFill>
                  <a:schemeClr val="dk1"/>
                </a:solidFill>
                <a:latin typeface="Lexend"/>
                <a:ea typeface="Lexend"/>
                <a:cs typeface="Lexend"/>
                <a:sym typeface="Lexend"/>
              </a:rPr>
              <a:t>Click on ‘</a:t>
            </a:r>
            <a:r>
              <a:rPr lang="en-GB" sz="2200">
                <a:solidFill>
                  <a:srgbClr val="845AD9"/>
                </a:solidFill>
                <a:latin typeface="Lexend"/>
                <a:ea typeface="Lexend"/>
                <a:cs typeface="Lexend"/>
                <a:sym typeface="Lexend"/>
              </a:rPr>
              <a:t>Chart</a:t>
            </a: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200">
                <a:solidFill>
                  <a:schemeClr val="dk1"/>
                </a:solidFill>
                <a:latin typeface="Lexend"/>
                <a:ea typeface="Lexend"/>
                <a:cs typeface="Lexend"/>
                <a:sym typeface="Lexend"/>
              </a:rPr>
              <a:t>For this data, Google Sheets recommends a pie chart. </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200">
                <a:solidFill>
                  <a:schemeClr val="dk1"/>
                </a:solidFill>
                <a:latin typeface="Lexend"/>
                <a:ea typeface="Lexend"/>
                <a:cs typeface="Lexend"/>
                <a:sym typeface="Lexend"/>
              </a:rPr>
              <a:t>Change the chart type to </a:t>
            </a:r>
            <a:r>
              <a:rPr lang="en-GB" sz="2200">
                <a:solidFill>
                  <a:srgbClr val="845AD9"/>
                </a:solidFill>
                <a:latin typeface="Lexend"/>
                <a:ea typeface="Lexend"/>
                <a:cs typeface="Lexend"/>
                <a:sym typeface="Lexend"/>
              </a:rPr>
              <a:t>column chart</a:t>
            </a: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200">
                <a:solidFill>
                  <a:schemeClr val="dk1"/>
                </a:solidFill>
                <a:latin typeface="Lexend"/>
                <a:ea typeface="Lexend"/>
                <a:cs typeface="Lexend"/>
                <a:sym typeface="Lexend"/>
              </a:rPr>
              <a:t>The ‘bar chart’ runs horizontally whereas the ‘column chart’ is more like our standard bar chart.</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200">
                <a:solidFill>
                  <a:schemeClr val="dk1"/>
                </a:solidFill>
                <a:latin typeface="Lexend"/>
                <a:ea typeface="Lexend"/>
                <a:cs typeface="Lexend"/>
                <a:sym typeface="Lexend"/>
              </a:rPr>
              <a:t>In the customise tab, you can add and remove axis titles.</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0"/>
              </a:spcAft>
              <a:buClr>
                <a:schemeClr val="dk1"/>
              </a:buClr>
              <a:buSzPts val="1100"/>
              <a:buFont typeface="Arial"/>
              <a:buNone/>
            </a:pPr>
            <a:r>
              <a:rPr lang="en-GB" sz="2200">
                <a:solidFill>
                  <a:schemeClr val="dk1"/>
                </a:solidFill>
                <a:latin typeface="Lexend"/>
                <a:ea typeface="Lexend"/>
                <a:cs typeface="Lexend"/>
                <a:sym typeface="Lexend"/>
              </a:rPr>
              <a:t>Add ‘frequency’ as your vertical axis title.  </a:t>
            </a:r>
            <a:endParaRPr sz="2200">
              <a:solidFill>
                <a:schemeClr val="dk1"/>
              </a:solidFill>
              <a:latin typeface="Lexend"/>
              <a:ea typeface="Lexend"/>
              <a:cs typeface="Lexend"/>
              <a:sym typeface="Lexend"/>
            </a:endParaRPr>
          </a:p>
          <a:p>
            <a:pPr indent="0" lvl="0" marL="0" rtl="0" algn="l">
              <a:spcBef>
                <a:spcPts val="10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28a0f978be3_1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28a0f978be3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28a0f978be3_1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28a0f978be3_1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28a0f978be3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7" name="Google Shape;887;g28a0f978be3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33b812275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5" name="Google Shape;895;g333b812275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28a0f978be3_1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28a0f978be3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2200">
                <a:solidFill>
                  <a:schemeClr val="dk1"/>
                </a:solidFill>
                <a:latin typeface="Lexend"/>
                <a:ea typeface="Lexend"/>
                <a:cs typeface="Lexend"/>
                <a:sym typeface="Lexend"/>
              </a:rPr>
              <a:t>The software you are using determines where you can add the new row to the table for the chart to update. Excel does not update the chart if a new row is added to the bottom</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1000"/>
              </a:spcAft>
              <a:buClr>
                <a:schemeClr val="dk1"/>
              </a:buClr>
              <a:buSzPts val="1100"/>
              <a:buFont typeface="Arial"/>
              <a:buNone/>
            </a:pPr>
            <a:r>
              <a:t/>
            </a:r>
            <a:endParaRPr sz="2200">
              <a:solidFill>
                <a:schemeClr val="dk1"/>
              </a:solidFill>
              <a:latin typeface="Lexend"/>
              <a:ea typeface="Lexend"/>
              <a:cs typeface="Lexend"/>
              <a:sym typeface="Lexen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28a7f389a8c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28a7f389a8c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28a7f389a8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1" name="Google Shape;921;g28a7f389a8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33b812275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333b812275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Font typeface="Lexend"/>
              <a:buChar char="●"/>
            </a:pPr>
            <a:r>
              <a:rPr lang="en-GB" sz="2200">
                <a:solidFill>
                  <a:schemeClr val="dk1"/>
                </a:solidFill>
                <a:latin typeface="Lexend"/>
                <a:ea typeface="Lexend"/>
                <a:cs typeface="Lexend"/>
                <a:sym typeface="Lexend"/>
              </a:rPr>
              <a:t>Check you are on the </a:t>
            </a:r>
            <a:r>
              <a:rPr lang="en-GB" sz="2200">
                <a:solidFill>
                  <a:srgbClr val="845AD9"/>
                </a:solidFill>
                <a:latin typeface="Lexend"/>
                <a:ea typeface="Lexend"/>
                <a:cs typeface="Lexend"/>
                <a:sym typeface="Lexend"/>
              </a:rPr>
              <a:t>vertical axis</a:t>
            </a:r>
            <a:endParaRPr sz="2200">
              <a:solidFill>
                <a:srgbClr val="845AD9"/>
              </a:solidFill>
              <a:latin typeface="Lexend"/>
              <a:ea typeface="Lexend"/>
              <a:cs typeface="Lexend"/>
              <a:sym typeface="Lexend"/>
            </a:endParaRPr>
          </a:p>
          <a:p>
            <a:pPr indent="-368300" lvl="0" marL="457200" rtl="0" algn="l">
              <a:lnSpc>
                <a:spcPct val="115000"/>
              </a:lnSpc>
              <a:spcBef>
                <a:spcPts val="0"/>
              </a:spcBef>
              <a:spcAft>
                <a:spcPts val="0"/>
              </a:spcAft>
              <a:buSzPts val="2200"/>
              <a:buFont typeface="Lexend"/>
              <a:buChar char="●"/>
            </a:pPr>
            <a:r>
              <a:rPr lang="en-GB" sz="2200">
                <a:solidFill>
                  <a:schemeClr val="dk1"/>
                </a:solidFill>
                <a:latin typeface="Lexend"/>
                <a:ea typeface="Lexend"/>
                <a:cs typeface="Lexend"/>
                <a:sym typeface="Lexend"/>
              </a:rPr>
              <a:t>In the </a:t>
            </a:r>
            <a:r>
              <a:rPr lang="en-GB" sz="2200">
                <a:solidFill>
                  <a:srgbClr val="845AD9"/>
                </a:solidFill>
                <a:latin typeface="Lexend"/>
                <a:ea typeface="Lexend"/>
                <a:cs typeface="Lexend"/>
                <a:sym typeface="Lexend"/>
              </a:rPr>
              <a:t>Chart editor</a:t>
            </a:r>
            <a:r>
              <a:rPr lang="en-GB" sz="2200">
                <a:solidFill>
                  <a:schemeClr val="dk1"/>
                </a:solidFill>
                <a:latin typeface="Lexend"/>
                <a:ea typeface="Lexend"/>
                <a:cs typeface="Lexend"/>
                <a:sym typeface="Lexend"/>
              </a:rPr>
              <a:t>, go to the </a:t>
            </a:r>
            <a:r>
              <a:rPr lang="en-GB" sz="2200">
                <a:solidFill>
                  <a:srgbClr val="845AD9"/>
                </a:solidFill>
                <a:latin typeface="Lexend"/>
                <a:ea typeface="Lexend"/>
                <a:cs typeface="Lexend"/>
                <a:sym typeface="Lexend"/>
              </a:rPr>
              <a:t>customise</a:t>
            </a:r>
            <a:r>
              <a:rPr lang="en-GB" sz="2200">
                <a:solidFill>
                  <a:schemeClr val="dk1"/>
                </a:solidFill>
                <a:latin typeface="Lexend"/>
                <a:ea typeface="Lexend"/>
                <a:cs typeface="Lexend"/>
                <a:sym typeface="Lexend"/>
              </a:rPr>
              <a:t> tab</a:t>
            </a:r>
            <a:endParaRPr sz="2200">
              <a:solidFill>
                <a:schemeClr val="dk1"/>
              </a:solidFill>
              <a:latin typeface="Lexend"/>
              <a:ea typeface="Lexend"/>
              <a:cs typeface="Lexend"/>
              <a:sym typeface="Lexend"/>
            </a:endParaRPr>
          </a:p>
          <a:p>
            <a:pPr indent="-368300" lvl="0" marL="457200" rtl="0" algn="l">
              <a:lnSpc>
                <a:spcPct val="115000"/>
              </a:lnSpc>
              <a:spcBef>
                <a:spcPts val="0"/>
              </a:spcBef>
              <a:spcAft>
                <a:spcPts val="0"/>
              </a:spcAft>
              <a:buSzPts val="2200"/>
              <a:buFont typeface="Lexend"/>
              <a:buChar char="●"/>
            </a:pPr>
            <a:r>
              <a:rPr lang="en-GB" sz="2200">
                <a:solidFill>
                  <a:schemeClr val="dk1"/>
                </a:solidFill>
                <a:latin typeface="Lexend"/>
                <a:ea typeface="Lexend"/>
                <a:cs typeface="Lexend"/>
                <a:sym typeface="Lexend"/>
              </a:rPr>
              <a:t>Expand the ‘</a:t>
            </a:r>
            <a:r>
              <a:rPr lang="en-GB" sz="2200">
                <a:solidFill>
                  <a:srgbClr val="845AD9"/>
                </a:solidFill>
                <a:latin typeface="Lexend"/>
                <a:ea typeface="Lexend"/>
                <a:cs typeface="Lexend"/>
                <a:sym typeface="Lexend"/>
              </a:rPr>
              <a:t>gridlines and ticks</a:t>
            </a:r>
            <a:r>
              <a:rPr lang="en-GB" sz="2200">
                <a:solidFill>
                  <a:schemeClr val="dk1"/>
                </a:solidFill>
                <a:latin typeface="Lexend"/>
                <a:ea typeface="Lexend"/>
                <a:cs typeface="Lexend"/>
                <a:sym typeface="Lexend"/>
              </a:rPr>
              <a:t>’ section</a:t>
            </a:r>
            <a:endParaRPr sz="2200">
              <a:solidFill>
                <a:schemeClr val="dk1"/>
              </a:solidFill>
              <a:latin typeface="Lexend"/>
              <a:ea typeface="Lexend"/>
              <a:cs typeface="Lexend"/>
              <a:sym typeface="Lexend"/>
            </a:endParaRPr>
          </a:p>
          <a:p>
            <a:pPr indent="-368300" lvl="0" marL="457200" rtl="0" algn="l">
              <a:lnSpc>
                <a:spcPct val="115000"/>
              </a:lnSpc>
              <a:spcBef>
                <a:spcPts val="0"/>
              </a:spcBef>
              <a:spcAft>
                <a:spcPts val="0"/>
              </a:spcAft>
              <a:buSzPts val="2200"/>
              <a:buFont typeface="Lexend"/>
              <a:buChar char="●"/>
            </a:pPr>
            <a:r>
              <a:rPr lang="en-GB" sz="2200">
                <a:solidFill>
                  <a:schemeClr val="dk1"/>
                </a:solidFill>
                <a:latin typeface="Lexend"/>
                <a:ea typeface="Lexend"/>
                <a:cs typeface="Lexend"/>
                <a:sym typeface="Lexend"/>
              </a:rPr>
              <a:t>Check you are on the </a:t>
            </a:r>
            <a:r>
              <a:rPr lang="en-GB" sz="2200">
                <a:solidFill>
                  <a:srgbClr val="845AD9"/>
                </a:solidFill>
                <a:latin typeface="Lexend"/>
                <a:ea typeface="Lexend"/>
                <a:cs typeface="Lexend"/>
                <a:sym typeface="Lexend"/>
              </a:rPr>
              <a:t>vertical axis</a:t>
            </a:r>
            <a:endParaRPr sz="2200">
              <a:solidFill>
                <a:srgbClr val="845AD9"/>
              </a:solidFill>
              <a:latin typeface="Lexend"/>
              <a:ea typeface="Lexend"/>
              <a:cs typeface="Lexend"/>
              <a:sym typeface="Lexend"/>
            </a:endParaRPr>
          </a:p>
          <a:p>
            <a:pPr indent="-368300" lvl="0" marL="457200" rtl="0" algn="l">
              <a:spcBef>
                <a:spcPts val="0"/>
              </a:spcBef>
              <a:spcAft>
                <a:spcPts val="0"/>
              </a:spcAft>
              <a:buClr>
                <a:schemeClr val="dk1"/>
              </a:buClr>
              <a:buSzPts val="2200"/>
              <a:buFont typeface="Lexend"/>
              <a:buChar char="●"/>
            </a:pPr>
            <a:r>
              <a:rPr lang="en-GB" sz="2200">
                <a:solidFill>
                  <a:schemeClr val="dk1"/>
                </a:solidFill>
                <a:latin typeface="Lexend"/>
                <a:ea typeface="Lexend"/>
                <a:cs typeface="Lexend"/>
                <a:sym typeface="Lexend"/>
              </a:rPr>
              <a:t>Both the major and minor spacing types have the option of step or count.</a:t>
            </a:r>
            <a:endParaRPr sz="2200">
              <a:solidFill>
                <a:schemeClr val="dk1"/>
              </a:solidFill>
              <a:latin typeface="Lexend"/>
              <a:ea typeface="Lexend"/>
              <a:cs typeface="Lexend"/>
              <a:sym typeface="Lexend"/>
            </a:endParaRPr>
          </a:p>
          <a:p>
            <a:pPr indent="-368300" lvl="0" marL="457200" rtl="0" algn="l">
              <a:spcBef>
                <a:spcPts val="0"/>
              </a:spcBef>
              <a:spcAft>
                <a:spcPts val="0"/>
              </a:spcAft>
              <a:buClr>
                <a:schemeClr val="dk1"/>
              </a:buClr>
              <a:buSzPts val="2200"/>
              <a:buFont typeface="Lexend"/>
              <a:buChar char="●"/>
            </a:pPr>
            <a:r>
              <a:rPr lang="en-GB" sz="2200">
                <a:solidFill>
                  <a:schemeClr val="dk1"/>
                </a:solidFill>
                <a:latin typeface="Lexend"/>
                <a:ea typeface="Lexend"/>
                <a:cs typeface="Lexend"/>
                <a:sym typeface="Lexend"/>
              </a:rPr>
              <a:t>Step means what the scale should increase in.</a:t>
            </a:r>
            <a:endParaRPr sz="2200">
              <a:solidFill>
                <a:schemeClr val="dk1"/>
              </a:solidFill>
              <a:latin typeface="Lexend"/>
              <a:ea typeface="Lexend"/>
              <a:cs typeface="Lexend"/>
              <a:sym typeface="Lexend"/>
            </a:endParaRPr>
          </a:p>
          <a:p>
            <a:pPr indent="-368300" lvl="0" marL="457200" rtl="0" algn="l">
              <a:spcBef>
                <a:spcPts val="0"/>
              </a:spcBef>
              <a:spcAft>
                <a:spcPts val="0"/>
              </a:spcAft>
              <a:buClr>
                <a:schemeClr val="dk1"/>
              </a:buClr>
              <a:buSzPts val="2200"/>
              <a:buFont typeface="Lexend"/>
              <a:buChar char="●"/>
            </a:pPr>
            <a:r>
              <a:rPr lang="en-GB" sz="2200">
                <a:solidFill>
                  <a:schemeClr val="dk1"/>
                </a:solidFill>
                <a:latin typeface="Lexend"/>
                <a:ea typeface="Lexend"/>
                <a:cs typeface="Lexend"/>
                <a:sym typeface="Lexend"/>
              </a:rPr>
              <a:t>Count means how many increments there should be.</a:t>
            </a:r>
            <a:endParaRPr sz="2200">
              <a:solidFill>
                <a:schemeClr val="dk1"/>
              </a:solidFill>
              <a:latin typeface="Lexend"/>
              <a:ea typeface="Lexend"/>
              <a:cs typeface="Lexend"/>
              <a:sym typeface="Lexend"/>
            </a:endParaRPr>
          </a:p>
          <a:p>
            <a:pPr indent="0" lvl="0" marL="45720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28a7f389a8c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7" name="Google Shape;947;g28a7f389a8c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28a0f978be3_1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28a0f978be3_1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28a58733c41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g28a58733c41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28a58733c41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0" name="Google Shape;980;g28a58733c41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28a7f389a8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28a7f389a8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28a7f389a8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7" name="Google Shape;997;g28a7f389a8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28a58733c41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28a58733c41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28a58733c41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28a58733c4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28a0f978b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28a0f978b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28a0f978be3_1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28a0f978be3_1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28a58733c41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8" name="Google Shape;1038;g28a58733c41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28a0f978be3_1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4" name="Google Shape;1044;g28a0f978be3_1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28b42fd23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28b42fd23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28a58733c41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28a58733c41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28a0f978be3_1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28a0f978be3_1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g28a0f978be3_1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2" name="Google Shape;1082;g28a0f978be3_1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If you need additional bars, just type in the rows below.</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28a58733c41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9" name="Google Shape;1089;g28a58733c41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28a58733c41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9" name="Google Shape;1099;g28a58733c41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28a58733c4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8" name="Google Shape;1108;g28a58733c41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28a58733c41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5" name="Google Shape;1115;g28a58733c41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28a58733c41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5" name="Google Shape;1125;g28a58733c41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4" name="Google Shape;1134;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0" name="Google Shape;1140;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2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4.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20.png"/><Relationship Id="rId7" Type="http://schemas.openxmlformats.org/officeDocument/2006/relationships/image" Target="../media/image2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5.png"/><Relationship Id="rId4" Type="http://schemas.openxmlformats.org/officeDocument/2006/relationships/image" Target="../media/image81.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2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81.png"/><Relationship Id="rId4" Type="http://schemas.openxmlformats.org/officeDocument/2006/relationships/image" Target="../media/image23.png"/><Relationship Id="rId9"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7.png"/><Relationship Id="rId7" Type="http://schemas.openxmlformats.org/officeDocument/2006/relationships/image" Target="../media/image31.png"/><Relationship Id="rId8" Type="http://schemas.openxmlformats.org/officeDocument/2006/relationships/image" Target="../media/image3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81.png"/><Relationship Id="rId4" Type="http://schemas.openxmlformats.org/officeDocument/2006/relationships/image" Target="../media/image30.png"/><Relationship Id="rId11" Type="http://schemas.openxmlformats.org/officeDocument/2006/relationships/image" Target="../media/image24.png"/><Relationship Id="rId10" Type="http://schemas.openxmlformats.org/officeDocument/2006/relationships/image" Target="../media/image36.png"/><Relationship Id="rId9" Type="http://schemas.openxmlformats.org/officeDocument/2006/relationships/image" Target="../media/image32.png"/><Relationship Id="rId5" Type="http://schemas.openxmlformats.org/officeDocument/2006/relationships/image" Target="../media/image23.png"/><Relationship Id="rId6" Type="http://schemas.openxmlformats.org/officeDocument/2006/relationships/image" Target="../media/image25.png"/><Relationship Id="rId7" Type="http://schemas.openxmlformats.org/officeDocument/2006/relationships/image" Target="../media/image27.png"/><Relationship Id="rId8" Type="http://schemas.openxmlformats.org/officeDocument/2006/relationships/image" Target="../media/image3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4.png"/><Relationship Id="rId4" Type="http://schemas.openxmlformats.org/officeDocument/2006/relationships/image" Target="../media/image41.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a:t>
            </a:r>
            <a:r>
              <a:rPr lang="en-GB" sz="1200">
                <a:latin typeface="Lexend"/>
                <a:ea typeface="Lexend"/>
                <a:cs typeface="Lexend"/>
                <a:sym typeface="Lexend"/>
              </a:rPr>
              <a:t>These are indicated through colour in the slide deck:</a:t>
            </a:r>
            <a:endParaRPr sz="1200">
              <a:latin typeface="Lexend"/>
              <a:ea typeface="Lexend"/>
              <a:cs typeface="Lexend"/>
              <a:sym typeface="Lexend"/>
            </a:endParaRPr>
          </a:p>
        </p:txBody>
      </p:sp>
      <p:sp>
        <p:nvSpPr>
          <p:cNvPr id="96" name="Google Shape;96;p12"/>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97" name="Google Shape;97;p12"/>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98" name="Google Shape;98;p12"/>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a:t>
            </a:r>
            <a:r>
              <a:rPr lang="en-GB" sz="1200">
                <a:latin typeface="Lexend"/>
                <a:ea typeface="Lexend"/>
                <a:cs typeface="Lexend"/>
                <a:sym typeface="Lexend"/>
              </a:rPr>
              <a:t>                                          </a:t>
            </a:r>
            <a:r>
              <a:rPr lang="en-GB" sz="1200">
                <a:latin typeface="Lexend"/>
                <a:ea typeface="Lexend"/>
                <a:cs typeface="Lexend"/>
                <a:sym typeface="Lexend"/>
              </a:rPr>
              <a:t>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498516" y="14158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14" name="Shape 114"/>
        <p:cNvGrpSpPr/>
        <p:nvPr/>
      </p:nvGrpSpPr>
      <p:grpSpPr>
        <a:xfrm>
          <a:off x="0" y="0"/>
          <a:ext cx="0" cy="0"/>
          <a:chOff x="0" y="0"/>
          <a:chExt cx="0" cy="0"/>
        </a:xfrm>
      </p:grpSpPr>
      <p:sp>
        <p:nvSpPr>
          <p:cNvPr id="115" name="Google Shape;115;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7" name="Google Shape;117;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8" name="Google Shape;118;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9" name="Google Shape;119;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0" name="Google Shape;120;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21" name="Shape 121"/>
        <p:cNvGrpSpPr/>
        <p:nvPr/>
      </p:nvGrpSpPr>
      <p:grpSpPr>
        <a:xfrm>
          <a:off x="0" y="0"/>
          <a:ext cx="0" cy="0"/>
          <a:chOff x="0" y="0"/>
          <a:chExt cx="0" cy="0"/>
        </a:xfrm>
      </p:grpSpPr>
      <p:sp>
        <p:nvSpPr>
          <p:cNvPr id="122" name="Google Shape;122;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4" name="Google Shape;124;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5" name="Google Shape;125;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6" name="Google Shape;126;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7" name="Google Shape;127;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8" name="Google Shape;128;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29" name="Shape 129"/>
        <p:cNvGrpSpPr/>
        <p:nvPr/>
      </p:nvGrpSpPr>
      <p:grpSpPr>
        <a:xfrm>
          <a:off x="0" y="0"/>
          <a:ext cx="0" cy="0"/>
          <a:chOff x="0" y="0"/>
          <a:chExt cx="0" cy="0"/>
        </a:xfrm>
      </p:grpSpPr>
      <p:sp>
        <p:nvSpPr>
          <p:cNvPr id="130" name="Google Shape;130;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37" name="Shape 137"/>
        <p:cNvGrpSpPr/>
        <p:nvPr/>
      </p:nvGrpSpPr>
      <p:grpSpPr>
        <a:xfrm>
          <a:off x="0" y="0"/>
          <a:ext cx="0" cy="0"/>
          <a:chOff x="0" y="0"/>
          <a:chExt cx="0" cy="0"/>
        </a:xfrm>
      </p:grpSpPr>
      <p:sp>
        <p:nvSpPr>
          <p:cNvPr id="138" name="Google Shape;138;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0" name="Google Shape;140;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 name="Google Shape;144;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5" name="Google Shape;145;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46" name="Shape 146"/>
        <p:cNvGrpSpPr/>
        <p:nvPr/>
      </p:nvGrpSpPr>
      <p:grpSpPr>
        <a:xfrm>
          <a:off x="0" y="0"/>
          <a:ext cx="0" cy="0"/>
          <a:chOff x="0" y="0"/>
          <a:chExt cx="0" cy="0"/>
        </a:xfrm>
      </p:grpSpPr>
      <p:sp>
        <p:nvSpPr>
          <p:cNvPr id="147" name="Google Shape;147;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9" name="Google Shape;149;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2" name="Google Shape;152;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3" name="Google Shape;153;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4" name="Google Shape;154;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5" name="Shape 155"/>
        <p:cNvGrpSpPr/>
        <p:nvPr/>
      </p:nvGrpSpPr>
      <p:grpSpPr>
        <a:xfrm>
          <a:off x="0" y="0"/>
          <a:ext cx="0" cy="0"/>
          <a:chOff x="0" y="0"/>
          <a:chExt cx="0" cy="0"/>
        </a:xfrm>
      </p:grpSpPr>
      <p:sp>
        <p:nvSpPr>
          <p:cNvPr id="156" name="Google Shape;156;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p1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8" name="Google Shape;158;p1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9" name="Google Shape;159;p1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0" name="Google Shape;160;p19"/>
          <p:cNvCxnSpPr>
            <a:endCxn id="161"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 name="Google Shape;162;p1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3" name="Google Shape;163;p19"/>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4" name="Google Shape;164;p1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61" name="Google Shape;161;p19"/>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5" name="Google Shape;165;p1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6" name="Google Shape;166;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 name="Google Shape;167;p1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70" name="Google Shape;170;p2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71" name="Google Shape;171;p2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72" name="Google Shape;172;p2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3" name="Google Shape;173;p2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4" name="Google Shape;174;p2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5" name="Google Shape;175;p20"/>
          <p:cNvCxnSpPr>
            <a:endCxn id="176"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6" name="Google Shape;176;p2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7" name="Google Shape;177;p20"/>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8" name="Google Shape;178;p20"/>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9" name="Google Shape;179;p20"/>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0" name="Google Shape;180;p20"/>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81" name="Google Shape;181;p20"/>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82" name="Google Shape;182;p2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4" name="Google Shape;184;p2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5" name="Google Shape;185;p2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6" name="Shape 186"/>
        <p:cNvGrpSpPr/>
        <p:nvPr/>
      </p:nvGrpSpPr>
      <p:grpSpPr>
        <a:xfrm>
          <a:off x="0" y="0"/>
          <a:ext cx="0" cy="0"/>
          <a:chOff x="0" y="0"/>
          <a:chExt cx="0" cy="0"/>
        </a:xfrm>
      </p:grpSpPr>
      <p:pic>
        <p:nvPicPr>
          <p:cNvPr id="187" name="Google Shape;187;p2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8" name="Google Shape;188;p2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9" name="Google Shape;189;p2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90" name="Google Shape;190;p2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91" name="Google Shape;191;p2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92" name="Google Shape;192;p2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3" name="Google Shape;193;p2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4" name="Google Shape;194;p2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5" name="Google Shape;195;p2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6" name="Google Shape;196;p2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7" name="Google Shape;197;p2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8" name="Google Shape;198;p21"/>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9" name="Google Shape;199;p21"/>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0" name="Google Shape;200;p21"/>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1"/>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2" name="Google Shape;202;p21"/>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3" name="Google Shape;203;p21"/>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4" name="Google Shape;204;p2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6" name="Google Shape;206;p2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7" name="Google Shape;207;p21"/>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8" name="Shape 208"/>
        <p:cNvGrpSpPr/>
        <p:nvPr/>
      </p:nvGrpSpPr>
      <p:grpSpPr>
        <a:xfrm>
          <a:off x="0" y="0"/>
          <a:ext cx="0" cy="0"/>
          <a:chOff x="0" y="0"/>
          <a:chExt cx="0" cy="0"/>
        </a:xfrm>
      </p:grpSpPr>
      <p:pic>
        <p:nvPicPr>
          <p:cNvPr id="209" name="Google Shape;209;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0" name="Google Shape;210;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2" name="Google Shape;212;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3" name="Google Shape;213;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4" name="Google Shape;214;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 name="Google Shape;217;p2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9" name="Google Shape;21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0" name="Google Shape;22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1" name="Google Shape;22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 name="Google Shape;224;p2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6" name="Google Shape;226;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7" name="Google Shape;227;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8" name="Google Shape;228;p2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9" name="Shape 229"/>
        <p:cNvGrpSpPr/>
        <p:nvPr/>
      </p:nvGrpSpPr>
      <p:grpSpPr>
        <a:xfrm>
          <a:off x="0" y="0"/>
          <a:ext cx="0" cy="0"/>
          <a:chOff x="0" y="0"/>
          <a:chExt cx="0" cy="0"/>
        </a:xfrm>
      </p:grpSpPr>
      <p:pic>
        <p:nvPicPr>
          <p:cNvPr id="230" name="Google Shape;230;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1" name="Google Shape;231;p2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3" name="Google Shape;233;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4" name="Google Shape;234;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5" name="Google Shape;235;p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6" name="Shape 236"/>
        <p:cNvGrpSpPr/>
        <p:nvPr/>
      </p:nvGrpSpPr>
      <p:grpSpPr>
        <a:xfrm>
          <a:off x="0" y="0"/>
          <a:ext cx="0" cy="0"/>
          <a:chOff x="0" y="0"/>
          <a:chExt cx="0" cy="0"/>
        </a:xfrm>
      </p:grpSpPr>
      <p:sp>
        <p:nvSpPr>
          <p:cNvPr id="237" name="Google Shape;237;p2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2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9" name="Google Shape;239;p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1" name="Google Shape;241;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2" name="Google Shape;242;p26"/>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3" name="Google Shape;243;p26"/>
          <p:cNvGrpSpPr/>
          <p:nvPr/>
        </p:nvGrpSpPr>
        <p:grpSpPr>
          <a:xfrm>
            <a:off x="7834231" y="1285"/>
            <a:ext cx="828900" cy="576065"/>
            <a:chOff x="7801496" y="1285"/>
            <a:chExt cx="828900" cy="576065"/>
          </a:xfrm>
        </p:grpSpPr>
        <p:pic>
          <p:nvPicPr>
            <p:cNvPr id="244" name="Google Shape;244;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5" name="Google Shape;245;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6" name="Google Shape;246;p26"/>
          <p:cNvGrpSpPr/>
          <p:nvPr/>
        </p:nvGrpSpPr>
        <p:grpSpPr>
          <a:xfrm>
            <a:off x="8635663" y="1285"/>
            <a:ext cx="499700" cy="576065"/>
            <a:chOff x="8635663" y="1285"/>
            <a:chExt cx="499700" cy="576065"/>
          </a:xfrm>
        </p:grpSpPr>
        <p:pic>
          <p:nvPicPr>
            <p:cNvPr id="247" name="Google Shape;247;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8" name="Google Shape;248;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9" name="Shape 249"/>
        <p:cNvGrpSpPr/>
        <p:nvPr/>
      </p:nvGrpSpPr>
      <p:grpSpPr>
        <a:xfrm>
          <a:off x="0" y="0"/>
          <a:ext cx="0" cy="0"/>
          <a:chOff x="0" y="0"/>
          <a:chExt cx="0" cy="0"/>
        </a:xfrm>
      </p:grpSpPr>
      <p:sp>
        <p:nvSpPr>
          <p:cNvPr id="250" name="Google Shape;250;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2" name="Google Shape;252;p2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4" name="Google Shape;254;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5" name="Google Shape;255;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6" name="Google Shape;256;p27"/>
          <p:cNvGrpSpPr/>
          <p:nvPr/>
        </p:nvGrpSpPr>
        <p:grpSpPr>
          <a:xfrm>
            <a:off x="7834231" y="1285"/>
            <a:ext cx="828900" cy="576065"/>
            <a:chOff x="7801496" y="1285"/>
            <a:chExt cx="828900" cy="576065"/>
          </a:xfrm>
        </p:grpSpPr>
        <p:pic>
          <p:nvPicPr>
            <p:cNvPr id="257" name="Google Shape;257;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8" name="Google Shape;258;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9" name="Google Shape;259;p27"/>
          <p:cNvGrpSpPr/>
          <p:nvPr/>
        </p:nvGrpSpPr>
        <p:grpSpPr>
          <a:xfrm>
            <a:off x="8635663" y="1285"/>
            <a:ext cx="499700" cy="576065"/>
            <a:chOff x="8635663" y="1285"/>
            <a:chExt cx="499700" cy="576065"/>
          </a:xfrm>
        </p:grpSpPr>
        <p:pic>
          <p:nvPicPr>
            <p:cNvPr id="260" name="Google Shape;260;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1" name="Google Shape;261;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2" name="Shape 262"/>
        <p:cNvGrpSpPr/>
        <p:nvPr/>
      </p:nvGrpSpPr>
      <p:grpSpPr>
        <a:xfrm>
          <a:off x="0" y="0"/>
          <a:ext cx="0" cy="0"/>
          <a:chOff x="0" y="0"/>
          <a:chExt cx="0" cy="0"/>
        </a:xfrm>
      </p:grpSpPr>
      <p:sp>
        <p:nvSpPr>
          <p:cNvPr id="263" name="Google Shape;263;p2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9" name="Google Shape;269;p28"/>
          <p:cNvGrpSpPr/>
          <p:nvPr/>
        </p:nvGrpSpPr>
        <p:grpSpPr>
          <a:xfrm>
            <a:off x="7834231" y="1285"/>
            <a:ext cx="828900" cy="576065"/>
            <a:chOff x="7801496" y="1285"/>
            <a:chExt cx="828900" cy="576065"/>
          </a:xfrm>
        </p:grpSpPr>
        <p:pic>
          <p:nvPicPr>
            <p:cNvPr id="270" name="Google Shape;270;p2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71" name="Google Shape;271;p2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72" name="Google Shape;272;p28"/>
          <p:cNvGrpSpPr/>
          <p:nvPr/>
        </p:nvGrpSpPr>
        <p:grpSpPr>
          <a:xfrm>
            <a:off x="8635663" y="1285"/>
            <a:ext cx="499700" cy="576065"/>
            <a:chOff x="8635663" y="1285"/>
            <a:chExt cx="499700" cy="576065"/>
          </a:xfrm>
        </p:grpSpPr>
        <p:pic>
          <p:nvPicPr>
            <p:cNvPr id="273" name="Google Shape;273;p2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4" name="Google Shape;274;p2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5" name="Shape 275"/>
        <p:cNvGrpSpPr/>
        <p:nvPr/>
      </p:nvGrpSpPr>
      <p:grpSpPr>
        <a:xfrm>
          <a:off x="0" y="0"/>
          <a:ext cx="0" cy="0"/>
          <a:chOff x="0" y="0"/>
          <a:chExt cx="0" cy="0"/>
        </a:xfrm>
      </p:grpSpPr>
      <p:sp>
        <p:nvSpPr>
          <p:cNvPr id="276" name="Google Shape;276;p2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 name="Google Shape;278;p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0" name="Google Shape;280;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1" name="Google Shape;281;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82" name="Google Shape;282;p29"/>
          <p:cNvGrpSpPr/>
          <p:nvPr/>
        </p:nvGrpSpPr>
        <p:grpSpPr>
          <a:xfrm>
            <a:off x="7834231" y="1285"/>
            <a:ext cx="828900" cy="576065"/>
            <a:chOff x="7801496" y="1285"/>
            <a:chExt cx="828900" cy="576065"/>
          </a:xfrm>
        </p:grpSpPr>
        <p:pic>
          <p:nvPicPr>
            <p:cNvPr id="283" name="Google Shape;283;p2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4" name="Google Shape;284;p2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5" name="Google Shape;285;p29"/>
          <p:cNvGrpSpPr/>
          <p:nvPr/>
        </p:nvGrpSpPr>
        <p:grpSpPr>
          <a:xfrm>
            <a:off x="8635663" y="1285"/>
            <a:ext cx="499700" cy="576065"/>
            <a:chOff x="8635663" y="1285"/>
            <a:chExt cx="499700" cy="576065"/>
          </a:xfrm>
        </p:grpSpPr>
        <p:pic>
          <p:nvPicPr>
            <p:cNvPr id="286" name="Google Shape;286;p2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7" name="Google Shape;287;p2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8" name="Shape 288"/>
        <p:cNvGrpSpPr/>
        <p:nvPr/>
      </p:nvGrpSpPr>
      <p:grpSpPr>
        <a:xfrm>
          <a:off x="0" y="0"/>
          <a:ext cx="0" cy="0"/>
          <a:chOff x="0" y="0"/>
          <a:chExt cx="0" cy="0"/>
        </a:xfrm>
      </p:grpSpPr>
      <p:pic>
        <p:nvPicPr>
          <p:cNvPr id="289" name="Google Shape;289;p30"/>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90" name="Google Shape;290;p30"/>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91" name="Google Shape;291;p3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92" name="Google Shape;292;p3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4" name="Google Shape;29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5" name="Google Shape;29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6" name="Google Shape;296;p3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8" name="Google Shape;29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9" name="Google Shape;299;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00" name="Google Shape;300;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01" name="Google Shape;301;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2" name="Google Shape;302;p3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3" name="Google Shape;303;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4" name="Google Shape;304;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5" name="Google Shape;305;p30"/>
          <p:cNvGrpSpPr/>
          <p:nvPr/>
        </p:nvGrpSpPr>
        <p:grpSpPr>
          <a:xfrm>
            <a:off x="324128" y="3139463"/>
            <a:ext cx="457200" cy="457200"/>
            <a:chOff x="1020916" y="1442088"/>
            <a:chExt cx="457200" cy="457200"/>
          </a:xfrm>
        </p:grpSpPr>
        <p:pic>
          <p:nvPicPr>
            <p:cNvPr id="306" name="Google Shape;306;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8" name="Google Shape;308;p30"/>
          <p:cNvGrpSpPr/>
          <p:nvPr/>
        </p:nvGrpSpPr>
        <p:grpSpPr>
          <a:xfrm>
            <a:off x="324128" y="3987825"/>
            <a:ext cx="457200" cy="457200"/>
            <a:chOff x="1020916" y="1442088"/>
            <a:chExt cx="457200" cy="457200"/>
          </a:xfrm>
        </p:grpSpPr>
        <p:pic>
          <p:nvPicPr>
            <p:cNvPr id="309" name="Google Shape;309;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10" name="Google Shape;310;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11" name="Shape 311"/>
        <p:cNvGrpSpPr/>
        <p:nvPr/>
      </p:nvGrpSpPr>
      <p:grpSpPr>
        <a:xfrm>
          <a:off x="0" y="0"/>
          <a:ext cx="0" cy="0"/>
          <a:chOff x="0" y="0"/>
          <a:chExt cx="0" cy="0"/>
        </a:xfrm>
      </p:grpSpPr>
      <p:pic>
        <p:nvPicPr>
          <p:cNvPr id="312" name="Google Shape;312;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3" name="Google Shape;313;p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5" name="Google Shape;315;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6" name="Google Shape;316;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7" name="Google Shape;317;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9" name="Google Shape;319;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20" name="Google Shape;320;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21" name="Google Shape;321;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2" name="Google Shape;322;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3" name="Google Shape;323;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4" name="Google Shape;324;p31"/>
          <p:cNvGrpSpPr/>
          <p:nvPr/>
        </p:nvGrpSpPr>
        <p:grpSpPr>
          <a:xfrm>
            <a:off x="324128" y="3139463"/>
            <a:ext cx="457200" cy="457200"/>
            <a:chOff x="1020916" y="1442088"/>
            <a:chExt cx="457200" cy="457200"/>
          </a:xfrm>
        </p:grpSpPr>
        <p:pic>
          <p:nvPicPr>
            <p:cNvPr id="325" name="Google Shape;325;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7" name="Google Shape;327;p31"/>
          <p:cNvGrpSpPr/>
          <p:nvPr/>
        </p:nvGrpSpPr>
        <p:grpSpPr>
          <a:xfrm>
            <a:off x="324128" y="3987825"/>
            <a:ext cx="457200" cy="457200"/>
            <a:chOff x="1020916" y="1442088"/>
            <a:chExt cx="457200" cy="457200"/>
          </a:xfrm>
        </p:grpSpPr>
        <p:pic>
          <p:nvPicPr>
            <p:cNvPr id="328" name="Google Shape;32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9" name="Google Shape;32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30" name="Google Shape;330;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31" name="Google Shape;331;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32" name="Google Shape;332;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3" name="Google Shape;333;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4" name="Shape 334"/>
        <p:cNvGrpSpPr/>
        <p:nvPr/>
      </p:nvGrpSpPr>
      <p:grpSpPr>
        <a:xfrm>
          <a:off x="0" y="0"/>
          <a:ext cx="0" cy="0"/>
          <a:chOff x="0" y="0"/>
          <a:chExt cx="0" cy="0"/>
        </a:xfrm>
      </p:grpSpPr>
      <p:pic>
        <p:nvPicPr>
          <p:cNvPr id="335" name="Google Shape;335;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6" name="Google Shape;336;p3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8" name="Google Shape;338;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9" name="Google Shape;339;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40" name="Google Shape;340;p3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1" name="Google Shape;341;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42" name="Google Shape;342;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3" name="Google Shape;343;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4" name="Google Shape;344;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3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6" name="Google Shape;346;p3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7" name="Google Shape;347;p32"/>
          <p:cNvGrpSpPr/>
          <p:nvPr/>
        </p:nvGrpSpPr>
        <p:grpSpPr>
          <a:xfrm>
            <a:off x="324128" y="3139463"/>
            <a:ext cx="457200" cy="457200"/>
            <a:chOff x="1020916" y="1442088"/>
            <a:chExt cx="457200" cy="457200"/>
          </a:xfrm>
        </p:grpSpPr>
        <p:pic>
          <p:nvPicPr>
            <p:cNvPr id="348" name="Google Shape;34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50" name="Google Shape;350;p32"/>
          <p:cNvGrpSpPr/>
          <p:nvPr/>
        </p:nvGrpSpPr>
        <p:grpSpPr>
          <a:xfrm>
            <a:off x="324128" y="3987825"/>
            <a:ext cx="457200" cy="457200"/>
            <a:chOff x="1020916" y="1442088"/>
            <a:chExt cx="457200" cy="457200"/>
          </a:xfrm>
        </p:grpSpPr>
        <p:pic>
          <p:nvPicPr>
            <p:cNvPr id="351" name="Google Shape;35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52" name="Google Shape;35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3" name="Google Shape;353;p3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4" name="Google Shape;354;p3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5" name="Google Shape;355;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6" name="Google Shape;356;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9" name="Google Shape;359;p3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61" name="Google Shape;361;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62" name="Google Shape;362;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3" name="Google Shape;363;p3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4" name="Google Shape;364;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5" name="Google Shape;365;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6" name="Google Shape;366;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7" name="Google Shape;367;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8" name="Google Shape;368;p3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9" name="Google Shape;369;p3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0" name="Google Shape;370;p33"/>
          <p:cNvGrpSpPr/>
          <p:nvPr/>
        </p:nvGrpSpPr>
        <p:grpSpPr>
          <a:xfrm>
            <a:off x="324128" y="3139463"/>
            <a:ext cx="457200" cy="457200"/>
            <a:chOff x="1020916" y="1442088"/>
            <a:chExt cx="457200" cy="457200"/>
          </a:xfrm>
        </p:grpSpPr>
        <p:pic>
          <p:nvPicPr>
            <p:cNvPr id="371" name="Google Shape;371;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3" name="Google Shape;373;p33"/>
          <p:cNvGrpSpPr/>
          <p:nvPr/>
        </p:nvGrpSpPr>
        <p:grpSpPr>
          <a:xfrm>
            <a:off x="324128" y="3987825"/>
            <a:ext cx="457200" cy="457200"/>
            <a:chOff x="1020916" y="1442088"/>
            <a:chExt cx="457200" cy="457200"/>
          </a:xfrm>
        </p:grpSpPr>
        <p:pic>
          <p:nvPicPr>
            <p:cNvPr id="374" name="Google Shape;374;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5" name="Google Shape;375;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6" name="Google Shape;376;p3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7" name="Google Shape;377;p3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8" name="Google Shape;378;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9" name="Google Shape;379;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80" name="Shape 380"/>
        <p:cNvGrpSpPr/>
        <p:nvPr/>
      </p:nvGrpSpPr>
      <p:grpSpPr>
        <a:xfrm>
          <a:off x="0" y="0"/>
          <a:ext cx="0" cy="0"/>
          <a:chOff x="0" y="0"/>
          <a:chExt cx="0" cy="0"/>
        </a:xfrm>
      </p:grpSpPr>
      <p:pic>
        <p:nvPicPr>
          <p:cNvPr id="381" name="Google Shape;381;p3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82" name="Google Shape;382;p3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4" name="Google Shape;384;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5" name="Google Shape;385;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6" name="Google Shape;386;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9" name="Google Shape;389;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0" name="Google Shape;390;p34"/>
          <p:cNvGrpSpPr/>
          <p:nvPr/>
        </p:nvGrpSpPr>
        <p:grpSpPr>
          <a:xfrm>
            <a:off x="323653" y="1804438"/>
            <a:ext cx="457200" cy="457200"/>
            <a:chOff x="1020916" y="1442088"/>
            <a:chExt cx="457200" cy="457200"/>
          </a:xfrm>
        </p:grpSpPr>
        <p:pic>
          <p:nvPicPr>
            <p:cNvPr id="391" name="Google Shape;39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3" name="Google Shape;393;p34"/>
          <p:cNvGrpSpPr/>
          <p:nvPr/>
        </p:nvGrpSpPr>
        <p:grpSpPr>
          <a:xfrm>
            <a:off x="323653" y="2766575"/>
            <a:ext cx="457200" cy="457200"/>
            <a:chOff x="1020916" y="1442088"/>
            <a:chExt cx="457200" cy="457200"/>
          </a:xfrm>
        </p:grpSpPr>
        <p:pic>
          <p:nvPicPr>
            <p:cNvPr id="394" name="Google Shape;394;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6" name="Google Shape;396;p34"/>
          <p:cNvGrpSpPr/>
          <p:nvPr/>
        </p:nvGrpSpPr>
        <p:grpSpPr>
          <a:xfrm>
            <a:off x="323641" y="3729038"/>
            <a:ext cx="457200" cy="457200"/>
            <a:chOff x="1020916" y="1442088"/>
            <a:chExt cx="457200" cy="457200"/>
          </a:xfrm>
        </p:grpSpPr>
        <p:pic>
          <p:nvPicPr>
            <p:cNvPr id="397" name="Google Shape;397;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8" name="Google Shape;398;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9" name="Shape 399"/>
        <p:cNvGrpSpPr/>
        <p:nvPr/>
      </p:nvGrpSpPr>
      <p:grpSpPr>
        <a:xfrm>
          <a:off x="0" y="0"/>
          <a:ext cx="0" cy="0"/>
          <a:chOff x="0" y="0"/>
          <a:chExt cx="0" cy="0"/>
        </a:xfrm>
      </p:grpSpPr>
      <p:pic>
        <p:nvPicPr>
          <p:cNvPr id="400" name="Google Shape;400;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3" name="Google Shape;403;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4" name="Google Shape;404;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5" name="Google Shape;405;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7" name="Google Shape;407;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8" name="Google Shape;408;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9" name="Google Shape;409;p35"/>
          <p:cNvGrpSpPr/>
          <p:nvPr/>
        </p:nvGrpSpPr>
        <p:grpSpPr>
          <a:xfrm>
            <a:off x="323653" y="1804438"/>
            <a:ext cx="457200" cy="457200"/>
            <a:chOff x="1020916" y="1442088"/>
            <a:chExt cx="457200" cy="457200"/>
          </a:xfrm>
        </p:grpSpPr>
        <p:pic>
          <p:nvPicPr>
            <p:cNvPr id="410" name="Google Shape;41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12" name="Google Shape;412;p35"/>
          <p:cNvGrpSpPr/>
          <p:nvPr/>
        </p:nvGrpSpPr>
        <p:grpSpPr>
          <a:xfrm>
            <a:off x="323653" y="2766575"/>
            <a:ext cx="457200" cy="457200"/>
            <a:chOff x="1020916" y="1442088"/>
            <a:chExt cx="457200" cy="457200"/>
          </a:xfrm>
        </p:grpSpPr>
        <p:pic>
          <p:nvPicPr>
            <p:cNvPr id="413" name="Google Shape;413;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5" name="Google Shape;415;p35"/>
          <p:cNvGrpSpPr/>
          <p:nvPr/>
        </p:nvGrpSpPr>
        <p:grpSpPr>
          <a:xfrm>
            <a:off x="323641" y="3729038"/>
            <a:ext cx="457200" cy="457200"/>
            <a:chOff x="1020916" y="1442088"/>
            <a:chExt cx="457200" cy="457200"/>
          </a:xfrm>
        </p:grpSpPr>
        <p:pic>
          <p:nvPicPr>
            <p:cNvPr id="416" name="Google Shape;416;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7" name="Google Shape;417;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8" name="Shape 418"/>
        <p:cNvGrpSpPr/>
        <p:nvPr/>
      </p:nvGrpSpPr>
      <p:grpSpPr>
        <a:xfrm>
          <a:off x="0" y="0"/>
          <a:ext cx="0" cy="0"/>
          <a:chOff x="0" y="0"/>
          <a:chExt cx="0" cy="0"/>
        </a:xfrm>
      </p:grpSpPr>
      <p:pic>
        <p:nvPicPr>
          <p:cNvPr id="419" name="Google Shape;419;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0" name="Google Shape;420;p3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2" name="Google Shape;422;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3" name="Google Shape;423;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4" name="Google Shape;424;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7" name="Google Shape;427;p3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8" name="Google Shape;428;p36"/>
          <p:cNvGrpSpPr/>
          <p:nvPr/>
        </p:nvGrpSpPr>
        <p:grpSpPr>
          <a:xfrm>
            <a:off x="323653" y="1804438"/>
            <a:ext cx="457200" cy="457200"/>
            <a:chOff x="1020916" y="1442088"/>
            <a:chExt cx="457200" cy="457200"/>
          </a:xfrm>
        </p:grpSpPr>
        <p:pic>
          <p:nvPicPr>
            <p:cNvPr id="429" name="Google Shape;429;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31" name="Google Shape;431;p36"/>
          <p:cNvGrpSpPr/>
          <p:nvPr/>
        </p:nvGrpSpPr>
        <p:grpSpPr>
          <a:xfrm>
            <a:off x="323653" y="2766575"/>
            <a:ext cx="457200" cy="457200"/>
            <a:chOff x="1020916" y="1442088"/>
            <a:chExt cx="457200" cy="457200"/>
          </a:xfrm>
        </p:grpSpPr>
        <p:pic>
          <p:nvPicPr>
            <p:cNvPr id="432" name="Google Shape;432;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4" name="Google Shape;434;p36"/>
          <p:cNvGrpSpPr/>
          <p:nvPr/>
        </p:nvGrpSpPr>
        <p:grpSpPr>
          <a:xfrm>
            <a:off x="323641" y="3729038"/>
            <a:ext cx="457200" cy="457200"/>
            <a:chOff x="1020916" y="1442088"/>
            <a:chExt cx="457200" cy="457200"/>
          </a:xfrm>
        </p:grpSpPr>
        <p:pic>
          <p:nvPicPr>
            <p:cNvPr id="435" name="Google Shape;43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6" name="Google Shape;43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7" name="Shape 437"/>
        <p:cNvGrpSpPr/>
        <p:nvPr/>
      </p:nvGrpSpPr>
      <p:grpSpPr>
        <a:xfrm>
          <a:off x="0" y="0"/>
          <a:ext cx="0" cy="0"/>
          <a:chOff x="0" y="0"/>
          <a:chExt cx="0" cy="0"/>
        </a:xfrm>
      </p:grpSpPr>
      <p:pic>
        <p:nvPicPr>
          <p:cNvPr id="438" name="Google Shape;438;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9" name="Google Shape;439;p3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42" name="Google Shape;442;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3" name="Google Shape;443;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4" name="Google Shape;444;p3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5" name="Google Shape;445;p3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6" name="Google Shape;446;p3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7" name="Google Shape;447;p37"/>
          <p:cNvGrpSpPr/>
          <p:nvPr/>
        </p:nvGrpSpPr>
        <p:grpSpPr>
          <a:xfrm>
            <a:off x="323653" y="1804438"/>
            <a:ext cx="457200" cy="457200"/>
            <a:chOff x="1020916" y="1442088"/>
            <a:chExt cx="457200" cy="457200"/>
          </a:xfrm>
        </p:grpSpPr>
        <p:pic>
          <p:nvPicPr>
            <p:cNvPr id="448" name="Google Shape;44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50" name="Google Shape;450;p37"/>
          <p:cNvGrpSpPr/>
          <p:nvPr/>
        </p:nvGrpSpPr>
        <p:grpSpPr>
          <a:xfrm>
            <a:off x="323653" y="2766575"/>
            <a:ext cx="457200" cy="457200"/>
            <a:chOff x="1020916" y="1442088"/>
            <a:chExt cx="457200" cy="457200"/>
          </a:xfrm>
        </p:grpSpPr>
        <p:pic>
          <p:nvPicPr>
            <p:cNvPr id="451" name="Google Shape;45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3" name="Google Shape;453;p37"/>
          <p:cNvGrpSpPr/>
          <p:nvPr/>
        </p:nvGrpSpPr>
        <p:grpSpPr>
          <a:xfrm>
            <a:off x="323641" y="3729038"/>
            <a:ext cx="457200" cy="457200"/>
            <a:chOff x="1020916" y="1442088"/>
            <a:chExt cx="457200" cy="457200"/>
          </a:xfrm>
        </p:grpSpPr>
        <p:pic>
          <p:nvPicPr>
            <p:cNvPr id="454" name="Google Shape;45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5" name="Google Shape;45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6" name="Shape 456"/>
        <p:cNvGrpSpPr/>
        <p:nvPr/>
      </p:nvGrpSpPr>
      <p:grpSpPr>
        <a:xfrm>
          <a:off x="0" y="0"/>
          <a:ext cx="0" cy="0"/>
          <a:chOff x="0" y="0"/>
          <a:chExt cx="0" cy="0"/>
        </a:xfrm>
      </p:grpSpPr>
      <p:pic>
        <p:nvPicPr>
          <p:cNvPr id="457" name="Google Shape;457;p3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8" name="Google Shape;458;p3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0" name="Google Shape;460;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1" name="Google Shape;461;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62" name="Google Shape;462;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4" name="Google Shape;464;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5" name="Google Shape;465;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6" name="Google Shape;466;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7" name="Google Shape;467;p38"/>
          <p:cNvGrpSpPr/>
          <p:nvPr/>
        </p:nvGrpSpPr>
        <p:grpSpPr>
          <a:xfrm>
            <a:off x="323653" y="1652038"/>
            <a:ext cx="457200" cy="457200"/>
            <a:chOff x="1020916" y="1442088"/>
            <a:chExt cx="457200" cy="457200"/>
          </a:xfrm>
        </p:grpSpPr>
        <p:pic>
          <p:nvPicPr>
            <p:cNvPr id="468" name="Google Shape;468;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0" name="Google Shape;470;p38"/>
          <p:cNvGrpSpPr/>
          <p:nvPr/>
        </p:nvGrpSpPr>
        <p:grpSpPr>
          <a:xfrm>
            <a:off x="323653" y="2461775"/>
            <a:ext cx="457200" cy="457200"/>
            <a:chOff x="1020916" y="1442088"/>
            <a:chExt cx="457200" cy="457200"/>
          </a:xfrm>
        </p:grpSpPr>
        <p:pic>
          <p:nvPicPr>
            <p:cNvPr id="471" name="Google Shape;47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3" name="Google Shape;473;p38"/>
          <p:cNvGrpSpPr/>
          <p:nvPr/>
        </p:nvGrpSpPr>
        <p:grpSpPr>
          <a:xfrm>
            <a:off x="323641" y="3271838"/>
            <a:ext cx="457200" cy="457200"/>
            <a:chOff x="1020916" y="1442088"/>
            <a:chExt cx="457200" cy="457200"/>
          </a:xfrm>
        </p:grpSpPr>
        <p:pic>
          <p:nvPicPr>
            <p:cNvPr id="474" name="Google Shape;47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6" name="Google Shape;476;p38"/>
          <p:cNvGrpSpPr/>
          <p:nvPr/>
        </p:nvGrpSpPr>
        <p:grpSpPr>
          <a:xfrm>
            <a:off x="323641" y="4081763"/>
            <a:ext cx="457200" cy="457200"/>
            <a:chOff x="1020916" y="1442088"/>
            <a:chExt cx="457200" cy="457200"/>
          </a:xfrm>
        </p:grpSpPr>
        <p:pic>
          <p:nvPicPr>
            <p:cNvPr id="477" name="Google Shape;47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8" name="Google Shape;47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9" name="Shape 479"/>
        <p:cNvGrpSpPr/>
        <p:nvPr/>
      </p:nvGrpSpPr>
      <p:grpSpPr>
        <a:xfrm>
          <a:off x="0" y="0"/>
          <a:ext cx="0" cy="0"/>
          <a:chOff x="0" y="0"/>
          <a:chExt cx="0" cy="0"/>
        </a:xfrm>
      </p:grpSpPr>
      <p:pic>
        <p:nvPicPr>
          <p:cNvPr id="480" name="Google Shape;48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1" name="Google Shape;481;p3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3" name="Google Shape;483;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4" name="Google Shape;484;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5" name="Google Shape;485;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9" name="Google Shape;489;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0" name="Google Shape;490;p39"/>
          <p:cNvGrpSpPr/>
          <p:nvPr/>
        </p:nvGrpSpPr>
        <p:grpSpPr>
          <a:xfrm>
            <a:off x="323653" y="1652038"/>
            <a:ext cx="457200" cy="457200"/>
            <a:chOff x="1020916" y="1442088"/>
            <a:chExt cx="457200" cy="457200"/>
          </a:xfrm>
        </p:grpSpPr>
        <p:pic>
          <p:nvPicPr>
            <p:cNvPr id="491" name="Google Shape;491;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3" name="Google Shape;493;p39"/>
          <p:cNvGrpSpPr/>
          <p:nvPr/>
        </p:nvGrpSpPr>
        <p:grpSpPr>
          <a:xfrm>
            <a:off x="323653" y="2461775"/>
            <a:ext cx="457200" cy="457200"/>
            <a:chOff x="1020916" y="1442088"/>
            <a:chExt cx="457200" cy="457200"/>
          </a:xfrm>
        </p:grpSpPr>
        <p:pic>
          <p:nvPicPr>
            <p:cNvPr id="494" name="Google Shape;49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6" name="Google Shape;496;p39"/>
          <p:cNvGrpSpPr/>
          <p:nvPr/>
        </p:nvGrpSpPr>
        <p:grpSpPr>
          <a:xfrm>
            <a:off x="323641" y="3271838"/>
            <a:ext cx="457200" cy="457200"/>
            <a:chOff x="1020916" y="1442088"/>
            <a:chExt cx="457200" cy="457200"/>
          </a:xfrm>
        </p:grpSpPr>
        <p:pic>
          <p:nvPicPr>
            <p:cNvPr id="497" name="Google Shape;49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9" name="Google Shape;499;p39"/>
          <p:cNvGrpSpPr/>
          <p:nvPr/>
        </p:nvGrpSpPr>
        <p:grpSpPr>
          <a:xfrm>
            <a:off x="323641" y="4081763"/>
            <a:ext cx="457200" cy="457200"/>
            <a:chOff x="1020916" y="1442088"/>
            <a:chExt cx="457200" cy="457200"/>
          </a:xfrm>
        </p:grpSpPr>
        <p:pic>
          <p:nvPicPr>
            <p:cNvPr id="500" name="Google Shape;50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1" name="Google Shape;50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02" name="Shape 502"/>
        <p:cNvGrpSpPr/>
        <p:nvPr/>
      </p:nvGrpSpPr>
      <p:grpSpPr>
        <a:xfrm>
          <a:off x="0" y="0"/>
          <a:ext cx="0" cy="0"/>
          <a:chOff x="0" y="0"/>
          <a:chExt cx="0" cy="0"/>
        </a:xfrm>
      </p:grpSpPr>
      <p:pic>
        <p:nvPicPr>
          <p:cNvPr id="503" name="Google Shape;50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4" name="Google Shape;504;p4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6" name="Google Shape;506;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7" name="Google Shape;507;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8" name="Google Shape;508;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4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0" name="Google Shape;510;p4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0"/>
          <p:cNvGrpSpPr/>
          <p:nvPr/>
        </p:nvGrpSpPr>
        <p:grpSpPr>
          <a:xfrm>
            <a:off x="323653" y="1652038"/>
            <a:ext cx="457200" cy="457200"/>
            <a:chOff x="1020916" y="1442088"/>
            <a:chExt cx="457200" cy="457200"/>
          </a:xfrm>
        </p:grpSpPr>
        <p:pic>
          <p:nvPicPr>
            <p:cNvPr id="514" name="Google Shape;514;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0"/>
          <p:cNvGrpSpPr/>
          <p:nvPr/>
        </p:nvGrpSpPr>
        <p:grpSpPr>
          <a:xfrm>
            <a:off x="323653" y="2461775"/>
            <a:ext cx="457200" cy="457200"/>
            <a:chOff x="1020916" y="1442088"/>
            <a:chExt cx="457200" cy="457200"/>
          </a:xfrm>
        </p:grpSpPr>
        <p:pic>
          <p:nvPicPr>
            <p:cNvPr id="517" name="Google Shape;517;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0"/>
          <p:cNvGrpSpPr/>
          <p:nvPr/>
        </p:nvGrpSpPr>
        <p:grpSpPr>
          <a:xfrm>
            <a:off x="323641" y="3271838"/>
            <a:ext cx="457200" cy="457200"/>
            <a:chOff x="1020916" y="1442088"/>
            <a:chExt cx="457200" cy="457200"/>
          </a:xfrm>
        </p:grpSpPr>
        <p:pic>
          <p:nvPicPr>
            <p:cNvPr id="520" name="Google Shape;520;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22" name="Google Shape;522;p40"/>
          <p:cNvGrpSpPr/>
          <p:nvPr/>
        </p:nvGrpSpPr>
        <p:grpSpPr>
          <a:xfrm>
            <a:off x="323641" y="4081763"/>
            <a:ext cx="457200" cy="457200"/>
            <a:chOff x="1020916" y="1442088"/>
            <a:chExt cx="457200" cy="457200"/>
          </a:xfrm>
        </p:grpSpPr>
        <p:pic>
          <p:nvPicPr>
            <p:cNvPr id="523" name="Google Shape;523;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5" name="Shape 525"/>
        <p:cNvGrpSpPr/>
        <p:nvPr/>
      </p:nvGrpSpPr>
      <p:grpSpPr>
        <a:xfrm>
          <a:off x="0" y="0"/>
          <a:ext cx="0" cy="0"/>
          <a:chOff x="0" y="0"/>
          <a:chExt cx="0" cy="0"/>
        </a:xfrm>
      </p:grpSpPr>
      <p:pic>
        <p:nvPicPr>
          <p:cNvPr id="526" name="Google Shape;52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7" name="Google Shape;527;p4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9" name="Google Shape;529;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0" name="Google Shape;530;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31" name="Google Shape;531;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4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5" name="Google Shape;535;p4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6" name="Google Shape;536;p41"/>
          <p:cNvGrpSpPr/>
          <p:nvPr/>
        </p:nvGrpSpPr>
        <p:grpSpPr>
          <a:xfrm>
            <a:off x="323653" y="1652038"/>
            <a:ext cx="457200" cy="457200"/>
            <a:chOff x="1020916" y="1442088"/>
            <a:chExt cx="457200" cy="457200"/>
          </a:xfrm>
        </p:grpSpPr>
        <p:pic>
          <p:nvPicPr>
            <p:cNvPr id="537" name="Google Shape;53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9" name="Google Shape;539;p41"/>
          <p:cNvGrpSpPr/>
          <p:nvPr/>
        </p:nvGrpSpPr>
        <p:grpSpPr>
          <a:xfrm>
            <a:off x="323653" y="2461775"/>
            <a:ext cx="457200" cy="457200"/>
            <a:chOff x="1020916" y="1442088"/>
            <a:chExt cx="457200" cy="457200"/>
          </a:xfrm>
        </p:grpSpPr>
        <p:pic>
          <p:nvPicPr>
            <p:cNvPr id="540" name="Google Shape;54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2" name="Google Shape;542;p41"/>
          <p:cNvGrpSpPr/>
          <p:nvPr/>
        </p:nvGrpSpPr>
        <p:grpSpPr>
          <a:xfrm>
            <a:off x="323641" y="3271838"/>
            <a:ext cx="457200" cy="457200"/>
            <a:chOff x="1020916" y="1442088"/>
            <a:chExt cx="457200" cy="457200"/>
          </a:xfrm>
        </p:grpSpPr>
        <p:pic>
          <p:nvPicPr>
            <p:cNvPr id="543" name="Google Shape;543;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5" name="Google Shape;545;p41"/>
          <p:cNvGrpSpPr/>
          <p:nvPr/>
        </p:nvGrpSpPr>
        <p:grpSpPr>
          <a:xfrm>
            <a:off x="323641" y="4081763"/>
            <a:ext cx="457200" cy="457200"/>
            <a:chOff x="1020916" y="1442088"/>
            <a:chExt cx="457200" cy="457200"/>
          </a:xfrm>
        </p:grpSpPr>
        <p:pic>
          <p:nvPicPr>
            <p:cNvPr id="546" name="Google Shape;546;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50" name="Google Shape;550;p4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2" name="Google Shape;552;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3" name="Google Shape;553;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4" name="Google Shape;554;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2"/>
          <p:cNvSpPr/>
          <p:nvPr>
            <p:ph idx="3" type="pic"/>
          </p:nvPr>
        </p:nvSpPr>
        <p:spPr>
          <a:xfrm>
            <a:off x="324000" y="1893950"/>
            <a:ext cx="2555400" cy="1939500"/>
          </a:xfrm>
          <a:prstGeom prst="rect">
            <a:avLst/>
          </a:prstGeom>
          <a:noFill/>
          <a:ln>
            <a:noFill/>
          </a:ln>
        </p:spPr>
      </p:sp>
      <p:sp>
        <p:nvSpPr>
          <p:cNvPr id="556" name="Google Shape;556;p42"/>
          <p:cNvSpPr/>
          <p:nvPr>
            <p:ph idx="4" type="pic"/>
          </p:nvPr>
        </p:nvSpPr>
        <p:spPr>
          <a:xfrm>
            <a:off x="6256800" y="1893950"/>
            <a:ext cx="2555400" cy="1939500"/>
          </a:xfrm>
          <a:prstGeom prst="rect">
            <a:avLst/>
          </a:prstGeom>
          <a:noFill/>
          <a:ln>
            <a:noFill/>
          </a:ln>
        </p:spPr>
      </p:sp>
      <p:sp>
        <p:nvSpPr>
          <p:cNvPr id="557" name="Google Shape;557;p42"/>
          <p:cNvSpPr/>
          <p:nvPr>
            <p:ph idx="5" type="pic"/>
          </p:nvPr>
        </p:nvSpPr>
        <p:spPr>
          <a:xfrm>
            <a:off x="3294300" y="1893950"/>
            <a:ext cx="2555400" cy="1939500"/>
          </a:xfrm>
          <a:prstGeom prst="rect">
            <a:avLst/>
          </a:prstGeom>
          <a:noFill/>
          <a:ln>
            <a:noFill/>
          </a:ln>
        </p:spPr>
      </p:sp>
      <p:grpSp>
        <p:nvGrpSpPr>
          <p:cNvPr id="558" name="Google Shape;558;p42"/>
          <p:cNvGrpSpPr/>
          <p:nvPr/>
        </p:nvGrpSpPr>
        <p:grpSpPr>
          <a:xfrm>
            <a:off x="1381028" y="4148538"/>
            <a:ext cx="457200" cy="457200"/>
            <a:chOff x="1020916" y="1442088"/>
            <a:chExt cx="457200" cy="457200"/>
          </a:xfrm>
        </p:grpSpPr>
        <p:pic>
          <p:nvPicPr>
            <p:cNvPr id="559" name="Google Shape;55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1" name="Google Shape;561;p42"/>
          <p:cNvGrpSpPr/>
          <p:nvPr/>
        </p:nvGrpSpPr>
        <p:grpSpPr>
          <a:xfrm>
            <a:off x="4331066" y="4148550"/>
            <a:ext cx="457200" cy="457200"/>
            <a:chOff x="1020916" y="1442088"/>
            <a:chExt cx="457200" cy="457200"/>
          </a:xfrm>
        </p:grpSpPr>
        <p:pic>
          <p:nvPicPr>
            <p:cNvPr id="562" name="Google Shape;562;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4" name="Google Shape;564;p42"/>
          <p:cNvGrpSpPr/>
          <p:nvPr/>
        </p:nvGrpSpPr>
        <p:grpSpPr>
          <a:xfrm>
            <a:off x="7305791" y="4148538"/>
            <a:ext cx="457200" cy="457200"/>
            <a:chOff x="1020916" y="1442088"/>
            <a:chExt cx="457200" cy="457200"/>
          </a:xfrm>
        </p:grpSpPr>
        <p:pic>
          <p:nvPicPr>
            <p:cNvPr id="565" name="Google Shape;565;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6" name="Google Shape;566;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7" name="Shape 567"/>
        <p:cNvGrpSpPr/>
        <p:nvPr/>
      </p:nvGrpSpPr>
      <p:grpSpPr>
        <a:xfrm>
          <a:off x="0" y="0"/>
          <a:ext cx="0" cy="0"/>
          <a:chOff x="0" y="0"/>
          <a:chExt cx="0" cy="0"/>
        </a:xfrm>
      </p:grpSpPr>
      <p:pic>
        <p:nvPicPr>
          <p:cNvPr id="568" name="Google Shape;568;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71" name="Google Shape;571;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2" name="Google Shape;572;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3" name="Google Shape;573;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43"/>
          <p:cNvSpPr/>
          <p:nvPr>
            <p:ph idx="3" type="pic"/>
          </p:nvPr>
        </p:nvSpPr>
        <p:spPr>
          <a:xfrm>
            <a:off x="324000" y="1893950"/>
            <a:ext cx="2555400" cy="1939500"/>
          </a:xfrm>
          <a:prstGeom prst="rect">
            <a:avLst/>
          </a:prstGeom>
          <a:noFill/>
          <a:ln>
            <a:noFill/>
          </a:ln>
        </p:spPr>
      </p:sp>
      <p:sp>
        <p:nvSpPr>
          <p:cNvPr id="575" name="Google Shape;575;p43"/>
          <p:cNvSpPr/>
          <p:nvPr>
            <p:ph idx="4" type="pic"/>
          </p:nvPr>
        </p:nvSpPr>
        <p:spPr>
          <a:xfrm>
            <a:off x="6256800" y="1893950"/>
            <a:ext cx="2555400" cy="1939500"/>
          </a:xfrm>
          <a:prstGeom prst="rect">
            <a:avLst/>
          </a:prstGeom>
          <a:noFill/>
          <a:ln>
            <a:noFill/>
          </a:ln>
        </p:spPr>
      </p:sp>
      <p:sp>
        <p:nvSpPr>
          <p:cNvPr id="576" name="Google Shape;576;p43"/>
          <p:cNvSpPr/>
          <p:nvPr>
            <p:ph idx="5" type="pic"/>
          </p:nvPr>
        </p:nvSpPr>
        <p:spPr>
          <a:xfrm>
            <a:off x="3294300" y="1893950"/>
            <a:ext cx="2555400" cy="1939500"/>
          </a:xfrm>
          <a:prstGeom prst="rect">
            <a:avLst/>
          </a:prstGeom>
          <a:noFill/>
          <a:ln>
            <a:noFill/>
          </a:ln>
        </p:spPr>
      </p:sp>
      <p:grpSp>
        <p:nvGrpSpPr>
          <p:cNvPr id="577" name="Google Shape;577;p43"/>
          <p:cNvGrpSpPr/>
          <p:nvPr/>
        </p:nvGrpSpPr>
        <p:grpSpPr>
          <a:xfrm>
            <a:off x="1381028" y="4148538"/>
            <a:ext cx="457200" cy="457200"/>
            <a:chOff x="1020916" y="1442088"/>
            <a:chExt cx="457200" cy="457200"/>
          </a:xfrm>
        </p:grpSpPr>
        <p:pic>
          <p:nvPicPr>
            <p:cNvPr id="578" name="Google Shape;57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80" name="Google Shape;580;p43"/>
          <p:cNvGrpSpPr/>
          <p:nvPr/>
        </p:nvGrpSpPr>
        <p:grpSpPr>
          <a:xfrm>
            <a:off x="4331066" y="4148550"/>
            <a:ext cx="457200" cy="457200"/>
            <a:chOff x="1020916" y="1442088"/>
            <a:chExt cx="457200" cy="457200"/>
          </a:xfrm>
        </p:grpSpPr>
        <p:pic>
          <p:nvPicPr>
            <p:cNvPr id="581" name="Google Shape;581;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3" name="Google Shape;583;p43"/>
          <p:cNvGrpSpPr/>
          <p:nvPr/>
        </p:nvGrpSpPr>
        <p:grpSpPr>
          <a:xfrm>
            <a:off x="7305791" y="4148538"/>
            <a:ext cx="457200" cy="457200"/>
            <a:chOff x="1020916" y="1442088"/>
            <a:chExt cx="457200" cy="457200"/>
          </a:xfrm>
        </p:grpSpPr>
        <p:pic>
          <p:nvPicPr>
            <p:cNvPr id="584" name="Google Shape;584;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5" name="Google Shape;585;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6" name="Shape 586"/>
        <p:cNvGrpSpPr/>
        <p:nvPr/>
      </p:nvGrpSpPr>
      <p:grpSpPr>
        <a:xfrm>
          <a:off x="0" y="0"/>
          <a:ext cx="0" cy="0"/>
          <a:chOff x="0" y="0"/>
          <a:chExt cx="0" cy="0"/>
        </a:xfrm>
      </p:grpSpPr>
      <p:pic>
        <p:nvPicPr>
          <p:cNvPr id="587" name="Google Shape;587;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8" name="Google Shape;588;p4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0" name="Google Shape;590;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44"/>
          <p:cNvSpPr/>
          <p:nvPr>
            <p:ph idx="3" type="pic"/>
          </p:nvPr>
        </p:nvSpPr>
        <p:spPr>
          <a:xfrm>
            <a:off x="324000" y="1893950"/>
            <a:ext cx="2555400" cy="1939500"/>
          </a:xfrm>
          <a:prstGeom prst="rect">
            <a:avLst/>
          </a:prstGeom>
          <a:noFill/>
          <a:ln>
            <a:noFill/>
          </a:ln>
        </p:spPr>
      </p:sp>
      <p:sp>
        <p:nvSpPr>
          <p:cNvPr id="594" name="Google Shape;594;p44"/>
          <p:cNvSpPr/>
          <p:nvPr>
            <p:ph idx="4" type="pic"/>
          </p:nvPr>
        </p:nvSpPr>
        <p:spPr>
          <a:xfrm>
            <a:off x="6256800" y="1893950"/>
            <a:ext cx="2555400" cy="1939500"/>
          </a:xfrm>
          <a:prstGeom prst="rect">
            <a:avLst/>
          </a:prstGeom>
          <a:noFill/>
          <a:ln>
            <a:noFill/>
          </a:ln>
        </p:spPr>
      </p:sp>
      <p:sp>
        <p:nvSpPr>
          <p:cNvPr id="595" name="Google Shape;595;p44"/>
          <p:cNvSpPr/>
          <p:nvPr>
            <p:ph idx="5" type="pic"/>
          </p:nvPr>
        </p:nvSpPr>
        <p:spPr>
          <a:xfrm>
            <a:off x="3294300" y="1893950"/>
            <a:ext cx="2555400" cy="1939500"/>
          </a:xfrm>
          <a:prstGeom prst="rect">
            <a:avLst/>
          </a:prstGeom>
          <a:noFill/>
          <a:ln>
            <a:noFill/>
          </a:ln>
        </p:spPr>
      </p:sp>
      <p:grpSp>
        <p:nvGrpSpPr>
          <p:cNvPr id="596" name="Google Shape;596;p44"/>
          <p:cNvGrpSpPr/>
          <p:nvPr/>
        </p:nvGrpSpPr>
        <p:grpSpPr>
          <a:xfrm>
            <a:off x="1381028" y="4148538"/>
            <a:ext cx="457200" cy="457200"/>
            <a:chOff x="1020916" y="1442088"/>
            <a:chExt cx="457200" cy="457200"/>
          </a:xfrm>
        </p:grpSpPr>
        <p:pic>
          <p:nvPicPr>
            <p:cNvPr id="597" name="Google Shape;59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4"/>
          <p:cNvGrpSpPr/>
          <p:nvPr/>
        </p:nvGrpSpPr>
        <p:grpSpPr>
          <a:xfrm>
            <a:off x="4331066" y="4148550"/>
            <a:ext cx="457200" cy="457200"/>
            <a:chOff x="1020916" y="1442088"/>
            <a:chExt cx="457200" cy="457200"/>
          </a:xfrm>
        </p:grpSpPr>
        <p:pic>
          <p:nvPicPr>
            <p:cNvPr id="600" name="Google Shape;60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4"/>
          <p:cNvGrpSpPr/>
          <p:nvPr/>
        </p:nvGrpSpPr>
        <p:grpSpPr>
          <a:xfrm>
            <a:off x="7305791" y="4148538"/>
            <a:ext cx="457200" cy="457200"/>
            <a:chOff x="1020916" y="1442088"/>
            <a:chExt cx="457200" cy="457200"/>
          </a:xfrm>
        </p:grpSpPr>
        <p:pic>
          <p:nvPicPr>
            <p:cNvPr id="603" name="Google Shape;60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5" name="Shape 605"/>
        <p:cNvGrpSpPr/>
        <p:nvPr/>
      </p:nvGrpSpPr>
      <p:grpSpPr>
        <a:xfrm>
          <a:off x="0" y="0"/>
          <a:ext cx="0" cy="0"/>
          <a:chOff x="0" y="0"/>
          <a:chExt cx="0" cy="0"/>
        </a:xfrm>
      </p:grpSpPr>
      <p:pic>
        <p:nvPicPr>
          <p:cNvPr id="606" name="Google Shape;606;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7" name="Google Shape;607;p4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9" name="Google Shape;609;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0" name="Google Shape;610;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1" name="Google Shape;611;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2" name="Google Shape;612;p45"/>
          <p:cNvSpPr/>
          <p:nvPr>
            <p:ph idx="3" type="pic"/>
          </p:nvPr>
        </p:nvSpPr>
        <p:spPr>
          <a:xfrm>
            <a:off x="324000" y="1893950"/>
            <a:ext cx="2555400" cy="1939500"/>
          </a:xfrm>
          <a:prstGeom prst="rect">
            <a:avLst/>
          </a:prstGeom>
          <a:noFill/>
          <a:ln>
            <a:noFill/>
          </a:ln>
        </p:spPr>
      </p:sp>
      <p:sp>
        <p:nvSpPr>
          <p:cNvPr id="613" name="Google Shape;613;p45"/>
          <p:cNvSpPr/>
          <p:nvPr>
            <p:ph idx="4" type="pic"/>
          </p:nvPr>
        </p:nvSpPr>
        <p:spPr>
          <a:xfrm>
            <a:off x="6256800" y="1893950"/>
            <a:ext cx="2555400" cy="1939500"/>
          </a:xfrm>
          <a:prstGeom prst="rect">
            <a:avLst/>
          </a:prstGeom>
          <a:noFill/>
          <a:ln>
            <a:noFill/>
          </a:ln>
        </p:spPr>
      </p:sp>
      <p:sp>
        <p:nvSpPr>
          <p:cNvPr id="614" name="Google Shape;614;p45"/>
          <p:cNvSpPr/>
          <p:nvPr>
            <p:ph idx="5" type="pic"/>
          </p:nvPr>
        </p:nvSpPr>
        <p:spPr>
          <a:xfrm>
            <a:off x="3294300" y="1893950"/>
            <a:ext cx="2555400" cy="1939500"/>
          </a:xfrm>
          <a:prstGeom prst="rect">
            <a:avLst/>
          </a:prstGeom>
          <a:noFill/>
          <a:ln>
            <a:noFill/>
          </a:ln>
        </p:spPr>
      </p:sp>
      <p:grpSp>
        <p:nvGrpSpPr>
          <p:cNvPr id="615" name="Google Shape;615;p45"/>
          <p:cNvGrpSpPr/>
          <p:nvPr/>
        </p:nvGrpSpPr>
        <p:grpSpPr>
          <a:xfrm>
            <a:off x="1381028" y="4148538"/>
            <a:ext cx="457200" cy="457200"/>
            <a:chOff x="1020916" y="1442088"/>
            <a:chExt cx="457200" cy="457200"/>
          </a:xfrm>
        </p:grpSpPr>
        <p:pic>
          <p:nvPicPr>
            <p:cNvPr id="616" name="Google Shape;61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8" name="Google Shape;618;p45"/>
          <p:cNvGrpSpPr/>
          <p:nvPr/>
        </p:nvGrpSpPr>
        <p:grpSpPr>
          <a:xfrm>
            <a:off x="4331066" y="4148550"/>
            <a:ext cx="457200" cy="457200"/>
            <a:chOff x="1020916" y="1442088"/>
            <a:chExt cx="457200" cy="457200"/>
          </a:xfrm>
        </p:grpSpPr>
        <p:pic>
          <p:nvPicPr>
            <p:cNvPr id="619" name="Google Shape;61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1" name="Google Shape;621;p45"/>
          <p:cNvGrpSpPr/>
          <p:nvPr/>
        </p:nvGrpSpPr>
        <p:grpSpPr>
          <a:xfrm>
            <a:off x="7305791" y="4148538"/>
            <a:ext cx="457200" cy="457200"/>
            <a:chOff x="1020916" y="1442088"/>
            <a:chExt cx="457200" cy="457200"/>
          </a:xfrm>
        </p:grpSpPr>
        <p:pic>
          <p:nvPicPr>
            <p:cNvPr id="622" name="Google Shape;62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4" name="Shape 624"/>
        <p:cNvGrpSpPr/>
        <p:nvPr/>
      </p:nvGrpSpPr>
      <p:grpSpPr>
        <a:xfrm>
          <a:off x="0" y="0"/>
          <a:ext cx="0" cy="0"/>
          <a:chOff x="0" y="0"/>
          <a:chExt cx="0" cy="0"/>
        </a:xfrm>
      </p:grpSpPr>
      <p:pic>
        <p:nvPicPr>
          <p:cNvPr id="625" name="Google Shape;625;p4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6" name="Google Shape;626;p4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8" name="Google Shape;62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9" name="Google Shape;62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0" name="Google Shape;63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31" name="Shape 631"/>
        <p:cNvGrpSpPr/>
        <p:nvPr/>
      </p:nvGrpSpPr>
      <p:grpSpPr>
        <a:xfrm>
          <a:off x="0" y="0"/>
          <a:ext cx="0" cy="0"/>
          <a:chOff x="0" y="0"/>
          <a:chExt cx="0" cy="0"/>
        </a:xfrm>
      </p:grpSpPr>
      <p:pic>
        <p:nvPicPr>
          <p:cNvPr id="632" name="Google Shape;63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3" name="Google Shape;633;p4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5" name="Google Shape;63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6" name="Google Shape;63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7" name="Google Shape;63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8" name="Shape 638"/>
        <p:cNvGrpSpPr/>
        <p:nvPr/>
      </p:nvGrpSpPr>
      <p:grpSpPr>
        <a:xfrm>
          <a:off x="0" y="0"/>
          <a:ext cx="0" cy="0"/>
          <a:chOff x="0" y="0"/>
          <a:chExt cx="0" cy="0"/>
        </a:xfrm>
      </p:grpSpPr>
      <p:pic>
        <p:nvPicPr>
          <p:cNvPr id="639" name="Google Shape;639;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0" name="Google Shape;640;p4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2" name="Google Shape;642;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3" name="Google Shape;64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4" name="Google Shape;644;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5" name="Shape 645"/>
        <p:cNvGrpSpPr/>
        <p:nvPr/>
      </p:nvGrpSpPr>
      <p:grpSpPr>
        <a:xfrm>
          <a:off x="0" y="0"/>
          <a:ext cx="0" cy="0"/>
          <a:chOff x="0" y="0"/>
          <a:chExt cx="0" cy="0"/>
        </a:xfrm>
      </p:grpSpPr>
      <p:pic>
        <p:nvPicPr>
          <p:cNvPr id="646" name="Google Shape;646;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7" name="Google Shape;647;p4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9" name="Google Shape;649;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0" name="Google Shape;65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51" name="Google Shape;651;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52" name="Shape 652"/>
        <p:cNvGrpSpPr/>
        <p:nvPr/>
      </p:nvGrpSpPr>
      <p:grpSpPr>
        <a:xfrm>
          <a:off x="0" y="0"/>
          <a:ext cx="0" cy="0"/>
          <a:chOff x="0" y="0"/>
          <a:chExt cx="0" cy="0"/>
        </a:xfrm>
      </p:grpSpPr>
      <p:pic>
        <p:nvPicPr>
          <p:cNvPr id="653" name="Google Shape;653;p5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4" name="Google Shape;654;p5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6" name="Google Shape;656;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7" name="Google Shape;657;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8" name="Google Shape;658;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9" name="Google Shape;65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60" name="Shape 660"/>
        <p:cNvGrpSpPr/>
        <p:nvPr/>
      </p:nvGrpSpPr>
      <p:grpSpPr>
        <a:xfrm>
          <a:off x="0" y="0"/>
          <a:ext cx="0" cy="0"/>
          <a:chOff x="0" y="0"/>
          <a:chExt cx="0" cy="0"/>
        </a:xfrm>
      </p:grpSpPr>
      <p:pic>
        <p:nvPicPr>
          <p:cNvPr id="661" name="Google Shape;661;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2" name="Google Shape;662;p5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5" name="Google Shape;665;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6" name="Google Shape;666;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7" name="Google Shape;66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8" name="Shape 668"/>
        <p:cNvGrpSpPr/>
        <p:nvPr/>
      </p:nvGrpSpPr>
      <p:grpSpPr>
        <a:xfrm>
          <a:off x="0" y="0"/>
          <a:ext cx="0" cy="0"/>
          <a:chOff x="0" y="0"/>
          <a:chExt cx="0" cy="0"/>
        </a:xfrm>
      </p:grpSpPr>
      <p:pic>
        <p:nvPicPr>
          <p:cNvPr id="669" name="Google Shape;669;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0" name="Google Shape;670;p5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2" name="Google Shape;672;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3" name="Google Shape;673;p52"/>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4" name="Google Shape;674;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5" name="Google Shape;675;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6" name="Shape 676"/>
        <p:cNvGrpSpPr/>
        <p:nvPr/>
      </p:nvGrpSpPr>
      <p:grpSpPr>
        <a:xfrm>
          <a:off x="0" y="0"/>
          <a:ext cx="0" cy="0"/>
          <a:chOff x="0" y="0"/>
          <a:chExt cx="0" cy="0"/>
        </a:xfrm>
      </p:grpSpPr>
      <p:pic>
        <p:nvPicPr>
          <p:cNvPr id="677" name="Google Shape;677;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8" name="Google Shape;678;p5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0" name="Google Shape;680;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81" name="Google Shape;681;p5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82" name="Google Shape;682;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3" name="Google Shape;683;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4" name="Shape 684"/>
        <p:cNvGrpSpPr/>
        <p:nvPr/>
      </p:nvGrpSpPr>
      <p:grpSpPr>
        <a:xfrm>
          <a:off x="0" y="0"/>
          <a:ext cx="0" cy="0"/>
          <a:chOff x="0" y="0"/>
          <a:chExt cx="0" cy="0"/>
        </a:xfrm>
      </p:grpSpPr>
      <p:pic>
        <p:nvPicPr>
          <p:cNvPr id="685" name="Google Shape;685;p5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6" name="Google Shape;686;p5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8" name="Google Shape;688;p54"/>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9" name="Google Shape;689;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0" name="Google Shape;690;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1" name="Google Shape;69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92" name="Shape 692"/>
        <p:cNvGrpSpPr/>
        <p:nvPr/>
      </p:nvGrpSpPr>
      <p:grpSpPr>
        <a:xfrm>
          <a:off x="0" y="0"/>
          <a:ext cx="0" cy="0"/>
          <a:chOff x="0" y="0"/>
          <a:chExt cx="0" cy="0"/>
        </a:xfrm>
      </p:grpSpPr>
      <p:pic>
        <p:nvPicPr>
          <p:cNvPr id="693" name="Google Shape;693;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4" name="Google Shape;694;p5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6" name="Google Shape;696;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7" name="Google Shape;697;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8" name="Google Shape;69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9" name="Google Shape;69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00" name="Shape 700"/>
        <p:cNvGrpSpPr/>
        <p:nvPr/>
      </p:nvGrpSpPr>
      <p:grpSpPr>
        <a:xfrm>
          <a:off x="0" y="0"/>
          <a:ext cx="0" cy="0"/>
          <a:chOff x="0" y="0"/>
          <a:chExt cx="0" cy="0"/>
        </a:xfrm>
      </p:grpSpPr>
      <p:pic>
        <p:nvPicPr>
          <p:cNvPr id="701" name="Google Shape;701;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2" name="Google Shape;702;p5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4" name="Google Shape;704;p56"/>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5" name="Google Shape;705;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6" name="Google Shape;706;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7" name="Google Shape;707;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8" name="Shape 708"/>
        <p:cNvGrpSpPr/>
        <p:nvPr/>
      </p:nvGrpSpPr>
      <p:grpSpPr>
        <a:xfrm>
          <a:off x="0" y="0"/>
          <a:ext cx="0" cy="0"/>
          <a:chOff x="0" y="0"/>
          <a:chExt cx="0" cy="0"/>
        </a:xfrm>
      </p:grpSpPr>
      <p:pic>
        <p:nvPicPr>
          <p:cNvPr id="709" name="Google Shape;709;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0" name="Google Shape;710;p5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2" name="Google Shape;712;p57"/>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3" name="Google Shape;713;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4" name="Google Shape;714;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5" name="Google Shape;715;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6" name="Shape 716"/>
        <p:cNvGrpSpPr/>
        <p:nvPr/>
      </p:nvGrpSpPr>
      <p:grpSpPr>
        <a:xfrm>
          <a:off x="0" y="0"/>
          <a:ext cx="0" cy="0"/>
          <a:chOff x="0" y="0"/>
          <a:chExt cx="0" cy="0"/>
        </a:xfrm>
      </p:grpSpPr>
      <p:sp>
        <p:nvSpPr>
          <p:cNvPr id="717" name="Google Shape;717;p5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8" name="Google Shape;718;p5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9" name="Google Shape;719;p5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0" name="Google Shape;720;p58"/>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1" name="Google Shape;721;p58"/>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22" name="Shape 722"/>
        <p:cNvGrpSpPr/>
        <p:nvPr/>
      </p:nvGrpSpPr>
      <p:grpSpPr>
        <a:xfrm>
          <a:off x="0" y="0"/>
          <a:ext cx="0" cy="0"/>
          <a:chOff x="0" y="0"/>
          <a:chExt cx="0" cy="0"/>
        </a:xfrm>
      </p:grpSpPr>
      <p:sp>
        <p:nvSpPr>
          <p:cNvPr id="723" name="Google Shape;723;p5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4" name="Google Shape;724;p5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5" name="Google Shape;725;p5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6" name="Google Shape;726;p5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7" name="Google Shape;727;p59"/>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8" name="Shape 728"/>
        <p:cNvGrpSpPr/>
        <p:nvPr/>
      </p:nvGrpSpPr>
      <p:grpSpPr>
        <a:xfrm>
          <a:off x="0" y="0"/>
          <a:ext cx="0" cy="0"/>
          <a:chOff x="0" y="0"/>
          <a:chExt cx="0" cy="0"/>
        </a:xfrm>
      </p:grpSpPr>
      <p:pic>
        <p:nvPicPr>
          <p:cNvPr id="729" name="Google Shape;729;p60"/>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30" name="Google Shape;730;p60"/>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31" name="Shape 731"/>
        <p:cNvGrpSpPr/>
        <p:nvPr/>
      </p:nvGrpSpPr>
      <p:grpSpPr>
        <a:xfrm>
          <a:off x="0" y="0"/>
          <a:ext cx="0" cy="0"/>
          <a:chOff x="0" y="0"/>
          <a:chExt cx="0" cy="0"/>
        </a:xfrm>
      </p:grpSpPr>
      <p:sp>
        <p:nvSpPr>
          <p:cNvPr id="732" name="Google Shape;732;p61"/>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3" name="Google Shape;733;p61"/>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4" name="Google Shape;734;p61"/>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5" name="Google Shape;735;p61"/>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6" name="Google Shape;736;p61"/>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7" name="Google Shape;737;p61"/>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8" name="Google Shape;738;p61"/>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9" name="Google Shape;739;p61"/>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40" name="Google Shape;740;p61"/>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41" name="Shape 741"/>
        <p:cNvGrpSpPr/>
        <p:nvPr/>
      </p:nvGrpSpPr>
      <p:grpSpPr>
        <a:xfrm>
          <a:off x="0" y="0"/>
          <a:ext cx="0" cy="0"/>
          <a:chOff x="0" y="0"/>
          <a:chExt cx="0" cy="0"/>
        </a:xfrm>
      </p:grpSpPr>
      <p:pic>
        <p:nvPicPr>
          <p:cNvPr id="742" name="Google Shape;742;p62"/>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3" name="Google Shape;743;p62"/>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4" name="Shape 744"/>
        <p:cNvGrpSpPr/>
        <p:nvPr/>
      </p:nvGrpSpPr>
      <p:grpSpPr>
        <a:xfrm>
          <a:off x="0" y="0"/>
          <a:ext cx="0" cy="0"/>
          <a:chOff x="0" y="0"/>
          <a:chExt cx="0" cy="0"/>
        </a:xfrm>
      </p:grpSpPr>
      <p:sp>
        <p:nvSpPr>
          <p:cNvPr id="745" name="Google Shape;745;p63"/>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theme" Target="../theme/theme1.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4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4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49.png"/><Relationship Id="rId4" Type="http://schemas.openxmlformats.org/officeDocument/2006/relationships/image" Target="../media/image5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53.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1.xml"/><Relationship Id="rId3" Type="http://schemas.openxmlformats.org/officeDocument/2006/relationships/image" Target="../media/image5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64.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3.xml"/><Relationship Id="rId3"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4.xml"/><Relationship Id="rId3" Type="http://schemas.openxmlformats.org/officeDocument/2006/relationships/image" Target="../media/image4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6.xml"/><Relationship Id="rId3" Type="http://schemas.openxmlformats.org/officeDocument/2006/relationships/image" Target="../media/image59.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 Id="rId3" Type="http://schemas.openxmlformats.org/officeDocument/2006/relationships/image" Target="../media/image60.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 Id="rId3" Type="http://schemas.openxmlformats.org/officeDocument/2006/relationships/image" Target="../media/image57.png"/><Relationship Id="rId4" Type="http://schemas.openxmlformats.org/officeDocument/2006/relationships/image" Target="../media/image55.png"/><Relationship Id="rId5" Type="http://schemas.openxmlformats.org/officeDocument/2006/relationships/image" Target="../media/image5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 Id="rId3" Type="http://schemas.openxmlformats.org/officeDocument/2006/relationships/image" Target="../media/image63.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1.xml"/><Relationship Id="rId3" Type="http://schemas.openxmlformats.org/officeDocument/2006/relationships/image" Target="../media/image58.png"/><Relationship Id="rId4" Type="http://schemas.openxmlformats.org/officeDocument/2006/relationships/image" Target="../media/image5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5.xml"/><Relationship Id="rId3" Type="http://schemas.openxmlformats.org/officeDocument/2006/relationships/image" Target="../media/image6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7.xml"/><Relationship Id="rId3" Type="http://schemas.openxmlformats.org/officeDocument/2006/relationships/image" Target="../media/image6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8.xml"/><Relationship Id="rId3" Type="http://schemas.openxmlformats.org/officeDocument/2006/relationships/image" Target="../media/image6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 Id="rId3" Type="http://schemas.openxmlformats.org/officeDocument/2006/relationships/image" Target="../media/image4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1.xml"/><Relationship Id="rId3" Type="http://schemas.openxmlformats.org/officeDocument/2006/relationships/hyperlink" Target="https://docs.google.com/spreadsheets/d/11cPHtkYg7iz-vCXOfESCYAWHbmE3L2Im9mXP2Vd3Ha8/edit?usp=sharing"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2.xml"/><Relationship Id="rId3" Type="http://schemas.openxmlformats.org/officeDocument/2006/relationships/image" Target="../media/image69.png"/><Relationship Id="rId4" Type="http://schemas.openxmlformats.org/officeDocument/2006/relationships/image" Target="../media/image66.png"/><Relationship Id="rId5" Type="http://schemas.openxmlformats.org/officeDocument/2006/relationships/image" Target="../media/image68.png"/><Relationship Id="rId6" Type="http://schemas.openxmlformats.org/officeDocument/2006/relationships/image" Target="../media/image6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5.xml"/><Relationship Id="rId3" Type="http://schemas.openxmlformats.org/officeDocument/2006/relationships/hyperlink" Target="https://www.desmos.com/calculator/1ors835gmq" TargetMode="External"/><Relationship Id="rId4" Type="http://schemas.openxmlformats.org/officeDocument/2006/relationships/image" Target="../media/image7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6.xml"/><Relationship Id="rId3" Type="http://schemas.openxmlformats.org/officeDocument/2006/relationships/image" Target="../media/image76.gi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7.xml"/><Relationship Id="rId3" Type="http://schemas.openxmlformats.org/officeDocument/2006/relationships/image" Target="../media/image71.png"/><Relationship Id="rId4" Type="http://schemas.openxmlformats.org/officeDocument/2006/relationships/image" Target="../media/image74.png"/><Relationship Id="rId5" Type="http://schemas.openxmlformats.org/officeDocument/2006/relationships/image" Target="../media/image73.png"/><Relationship Id="rId6" Type="http://schemas.openxmlformats.org/officeDocument/2006/relationships/image" Target="../media/image5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8.xml"/><Relationship Id="rId3" Type="http://schemas.openxmlformats.org/officeDocument/2006/relationships/hyperlink" Target="https://docs.google.com/spreadsheets/d/11cPHtkYg7iz-vCXOfESCYAWHbmE3L2Im9mXP2Vd3Ha8/edit?usp=sharing" TargetMode="External"/><Relationship Id="rId4" Type="http://schemas.openxmlformats.org/officeDocument/2006/relationships/image" Target="../media/image7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9.xml"/><Relationship Id="rId3" Type="http://schemas.openxmlformats.org/officeDocument/2006/relationships/hyperlink" Target="https://www.desmos.com/calculator/1ors835gmq" TargetMode="External"/><Relationship Id="rId4" Type="http://schemas.openxmlformats.org/officeDocument/2006/relationships/image" Target="../media/image7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0.xml"/><Relationship Id="rId3" Type="http://schemas.openxmlformats.org/officeDocument/2006/relationships/hyperlink" Target="https://docs.google.com/spreadsheets/d/11cPHtkYg7iz-vCXOfESCYAWHbmE3L2Im9mXP2Vd3Ha8/edit?usp=sharing" TargetMode="External"/><Relationship Id="rId4" Type="http://schemas.openxmlformats.org/officeDocument/2006/relationships/image" Target="../media/image77.png"/><Relationship Id="rId5" Type="http://schemas.openxmlformats.org/officeDocument/2006/relationships/image" Target="../media/image7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1.xml"/><Relationship Id="rId3" Type="http://schemas.openxmlformats.org/officeDocument/2006/relationships/hyperlink" Target="https://www.desmos.com/calculator/1ors835gmq" TargetMode="External"/><Relationship Id="rId4" Type="http://schemas.openxmlformats.org/officeDocument/2006/relationships/image" Target="../media/image75.png"/><Relationship Id="rId5" Type="http://schemas.openxmlformats.org/officeDocument/2006/relationships/image" Target="../media/image79.png"/><Relationship Id="rId6" Type="http://schemas.openxmlformats.org/officeDocument/2006/relationships/image" Target="../media/image8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3.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Constructing bar charts by utilising technology</a:t>
            </a:r>
            <a:endParaRPr/>
          </a:p>
        </p:txBody>
      </p:sp>
      <p:sp>
        <p:nvSpPr>
          <p:cNvPr id="751" name="Google Shape;751;p64"/>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Graphical representations of data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65"/>
          <p:cNvSpPr txBox="1"/>
          <p:nvPr/>
        </p:nvSpPr>
        <p:spPr>
          <a:xfrm>
            <a:off x="5578975" y="7244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construct bar charts from data using technology.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7"/>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chemeClr val="dk1"/>
                </a:solidFill>
                <a:highlight>
                  <a:srgbClr val="FFFFFF"/>
                </a:highlight>
              </a:rPr>
              <a:t>The</a:t>
            </a:r>
            <a:r>
              <a:rPr b="1" lang="en-GB" sz="2000">
                <a:solidFill>
                  <a:schemeClr val="dk1"/>
                </a:solidFill>
                <a:highlight>
                  <a:srgbClr val="FFFFFF"/>
                </a:highlight>
              </a:rPr>
              <a:t> </a:t>
            </a:r>
            <a:r>
              <a:rPr lang="en-GB" sz="2000">
                <a:solidFill>
                  <a:schemeClr val="dk1"/>
                </a:solidFill>
                <a:highlight>
                  <a:srgbClr val="FFFFFF"/>
                </a:highlight>
              </a:rPr>
              <a:t>frequency is the number of times an event occurs; or the number of individuals (people, animals etc.) with some specific property. </a:t>
            </a:r>
            <a:endParaRPr sz="2000"/>
          </a:p>
        </p:txBody>
      </p:sp>
      <p:sp>
        <p:nvSpPr>
          <p:cNvPr id="767" name="Google Shape;767;p67"/>
          <p:cNvSpPr txBox="1"/>
          <p:nvPr>
            <p:ph idx="2" type="subTitle"/>
          </p:nvPr>
        </p:nvSpPr>
        <p:spPr>
          <a:xfrm>
            <a:off x="324000" y="2238725"/>
            <a:ext cx="70554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highlight>
                  <a:srgbClr val="FFFFFF"/>
                </a:highlight>
              </a:rPr>
              <a:t>A bar chart (bar graph) is a graph consisting of bars visually representing the frequency of objects or groups. </a:t>
            </a:r>
            <a:endParaRPr sz="2000"/>
          </a:p>
        </p:txBody>
      </p:sp>
      <p:sp>
        <p:nvSpPr>
          <p:cNvPr id="768" name="Google Shape;768;p67"/>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highlight>
                  <a:srgbClr val="FFFFFF"/>
                </a:highlight>
              </a:rPr>
              <a:t>Data are a collection of information. </a:t>
            </a:r>
            <a:endParaRPr sz="2000"/>
          </a:p>
        </p:txBody>
      </p:sp>
      <p:pic>
        <p:nvPicPr>
          <p:cNvPr id="769" name="Google Shape;769;p67"/>
          <p:cNvPicPr preferRelativeResize="0"/>
          <p:nvPr/>
        </p:nvPicPr>
        <p:blipFill>
          <a:blip r:embed="rId3">
            <a:alphaModFix/>
          </a:blip>
          <a:stretch>
            <a:fillRect/>
          </a:stretch>
        </p:blipFill>
        <p:spPr>
          <a:xfrm>
            <a:off x="7524275" y="2103700"/>
            <a:ext cx="992275" cy="936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6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on spreadsheet software</a:t>
            </a:r>
            <a:endParaRPr/>
          </a:p>
        </p:txBody>
      </p:sp>
      <p:sp>
        <p:nvSpPr>
          <p:cNvPr id="775" name="Google Shape;775;p6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using a template file</a:t>
            </a:r>
            <a:endParaRPr/>
          </a:p>
        </p:txBody>
      </p:sp>
      <p:sp>
        <p:nvSpPr>
          <p:cNvPr id="776" name="Google Shape;776;p6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Constructing bar charts by utilising technology</a:t>
            </a:r>
            <a:endParaRPr/>
          </a:p>
        </p:txBody>
      </p:sp>
      <p:pic>
        <p:nvPicPr>
          <p:cNvPr id="777" name="Google Shape;777;p68"/>
          <p:cNvPicPr preferRelativeResize="0"/>
          <p:nvPr/>
        </p:nvPicPr>
        <p:blipFill>
          <a:blip r:embed="rId3">
            <a:alphaModFix/>
          </a:blip>
          <a:stretch>
            <a:fillRect/>
          </a:stretch>
        </p:blipFill>
        <p:spPr>
          <a:xfrm>
            <a:off x="415937" y="2059738"/>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6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There are many different spreadsheet software available.</a:t>
            </a:r>
            <a:endParaRPr/>
          </a:p>
          <a:p>
            <a:pPr indent="0" lvl="0" marL="0" rtl="0" algn="l">
              <a:spcBef>
                <a:spcPts val="1000"/>
              </a:spcBef>
              <a:spcAft>
                <a:spcPts val="0"/>
              </a:spcAft>
              <a:buNone/>
            </a:pPr>
            <a:r>
              <a:rPr lang="en-GB"/>
              <a:t>Two of the most common are </a:t>
            </a:r>
            <a:endParaRPr/>
          </a:p>
          <a:p>
            <a:pPr indent="-368300" lvl="0" marL="457200" rtl="0" algn="l">
              <a:spcBef>
                <a:spcPts val="1000"/>
              </a:spcBef>
              <a:spcAft>
                <a:spcPts val="0"/>
              </a:spcAft>
              <a:buSzPts val="2200"/>
              <a:buAutoNum type="arabicPeriod"/>
            </a:pPr>
            <a:r>
              <a:rPr lang="en-GB"/>
              <a:t>Microsoft Excel </a:t>
            </a:r>
            <a:endParaRPr/>
          </a:p>
          <a:p>
            <a:pPr indent="-368300" lvl="0" marL="457200" rtl="0" algn="l">
              <a:spcBef>
                <a:spcPts val="0"/>
              </a:spcBef>
              <a:spcAft>
                <a:spcPts val="0"/>
              </a:spcAft>
              <a:buSzPts val="2200"/>
              <a:buAutoNum type="arabicPeriod"/>
            </a:pPr>
            <a:r>
              <a:rPr lang="en-GB"/>
              <a:t>Google Sheets </a:t>
            </a:r>
            <a:endParaRPr/>
          </a:p>
          <a:p>
            <a:pPr indent="0" lvl="0" marL="0" rtl="0" algn="l">
              <a:spcBef>
                <a:spcPts val="1000"/>
              </a:spcBef>
              <a:spcAft>
                <a:spcPts val="0"/>
              </a:spcAft>
              <a:buNone/>
            </a:pPr>
            <a:r>
              <a:rPr lang="en-GB"/>
              <a:t>Their functionality and appearance are fairly similar.</a:t>
            </a:r>
            <a:endParaRPr/>
          </a:p>
          <a:p>
            <a:pPr indent="0" lvl="0" marL="0" rtl="0" algn="l">
              <a:spcBef>
                <a:spcPts val="1000"/>
              </a:spcBef>
              <a:spcAft>
                <a:spcPts val="1000"/>
              </a:spcAft>
              <a:buNone/>
            </a:pPr>
            <a:r>
              <a:rPr lang="en-GB"/>
              <a:t>Find out which spreadsheet software you have access to and open a new spreadsheet.</a:t>
            </a:r>
            <a:endParaRPr/>
          </a:p>
        </p:txBody>
      </p:sp>
      <p:sp>
        <p:nvSpPr>
          <p:cNvPr id="783" name="Google Shape;783;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on spreadsheet software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70"/>
          <p:cNvSpPr txBox="1"/>
          <p:nvPr>
            <p:ph idx="1" type="body"/>
          </p:nvPr>
        </p:nvSpPr>
        <p:spPr>
          <a:xfrm>
            <a:off x="476400" y="759300"/>
            <a:ext cx="3695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Google Sheets looks like this</a:t>
            </a:r>
            <a:endParaRPr sz="2000"/>
          </a:p>
        </p:txBody>
      </p:sp>
      <p:pic>
        <p:nvPicPr>
          <p:cNvPr id="789" name="Google Shape;789;p70"/>
          <p:cNvPicPr preferRelativeResize="0"/>
          <p:nvPr/>
        </p:nvPicPr>
        <p:blipFill rotWithShape="1">
          <a:blip r:embed="rId3">
            <a:alphaModFix/>
          </a:blip>
          <a:srcRect b="40294" l="0" r="50308" t="0"/>
          <a:stretch/>
        </p:blipFill>
        <p:spPr>
          <a:xfrm>
            <a:off x="476400" y="1225800"/>
            <a:ext cx="3461002" cy="2252526"/>
          </a:xfrm>
          <a:prstGeom prst="rect">
            <a:avLst/>
          </a:prstGeom>
          <a:noFill/>
          <a:ln>
            <a:noFill/>
          </a:ln>
        </p:spPr>
      </p:pic>
      <p:sp>
        <p:nvSpPr>
          <p:cNvPr id="790" name="Google Shape;790;p70"/>
          <p:cNvSpPr txBox="1"/>
          <p:nvPr/>
        </p:nvSpPr>
        <p:spPr>
          <a:xfrm>
            <a:off x="393900" y="3765900"/>
            <a:ext cx="8356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Lexend"/>
                <a:ea typeface="Lexend"/>
                <a:cs typeface="Lexend"/>
                <a:sym typeface="Lexend"/>
              </a:rPr>
              <a:t>Spreadsheet software has many functions and capabilities; this lesson is only focussing on its chart creation, specifically bar charts.</a:t>
            </a:r>
            <a:endParaRPr sz="2000">
              <a:latin typeface="Lexend"/>
              <a:ea typeface="Lexend"/>
              <a:cs typeface="Lexend"/>
              <a:sym typeface="Lexend"/>
            </a:endParaRPr>
          </a:p>
        </p:txBody>
      </p:sp>
      <p:sp>
        <p:nvSpPr>
          <p:cNvPr id="791" name="Google Shape;791;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on spreadsheet software</a:t>
            </a:r>
            <a:endParaRPr/>
          </a:p>
        </p:txBody>
      </p:sp>
      <p:sp>
        <p:nvSpPr>
          <p:cNvPr id="792" name="Google Shape;792;p70"/>
          <p:cNvSpPr txBox="1"/>
          <p:nvPr/>
        </p:nvSpPr>
        <p:spPr>
          <a:xfrm>
            <a:off x="393900" y="4705550"/>
            <a:ext cx="7926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solidFill>
                <a:schemeClr val="dk2"/>
              </a:solidFill>
              <a:latin typeface="Lexend"/>
              <a:ea typeface="Lexend"/>
              <a:cs typeface="Lexend"/>
              <a:sym typeface="Lexend"/>
            </a:endParaRPr>
          </a:p>
          <a:p>
            <a:pPr indent="0" lvl="0" marL="0" rtl="0" algn="l">
              <a:spcBef>
                <a:spcPts val="0"/>
              </a:spcBef>
              <a:spcAft>
                <a:spcPts val="0"/>
              </a:spcAft>
              <a:buNone/>
            </a:pPr>
            <a:r>
              <a:rPr lang="en-GB" sz="600">
                <a:solidFill>
                  <a:schemeClr val="dk2"/>
                </a:solidFill>
                <a:latin typeface="Lexend"/>
                <a:ea typeface="Lexend"/>
                <a:cs typeface="Lexend"/>
                <a:sym typeface="Lexend"/>
              </a:rPr>
              <a:t>Left image: Google Sheets is a trademark of Google LLC and this content is not endorsed by or affiliated with Google in any way.  Right image: Microsoft Excel - Used with </a:t>
            </a:r>
            <a:r>
              <a:rPr lang="en-GB" sz="600">
                <a:solidFill>
                  <a:schemeClr val="dk2"/>
                </a:solidFill>
                <a:latin typeface="Lexend"/>
                <a:ea typeface="Lexend"/>
                <a:cs typeface="Lexend"/>
                <a:sym typeface="Lexend"/>
              </a:rPr>
              <a:t>permission from Microsoft.</a:t>
            </a:r>
            <a:endParaRPr sz="600">
              <a:solidFill>
                <a:schemeClr val="dk2"/>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7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One part of the data cycle is collecting and representing data.</a:t>
            </a:r>
            <a:endParaRPr/>
          </a:p>
          <a:p>
            <a:pPr indent="0" lvl="0" marL="0" rtl="0" algn="l">
              <a:spcBef>
                <a:spcPts val="1000"/>
              </a:spcBef>
              <a:spcAft>
                <a:spcPts val="0"/>
              </a:spcAft>
              <a:buNone/>
            </a:pPr>
            <a:r>
              <a:rPr lang="en-GB"/>
              <a:t>Although this can be done by hand often</a:t>
            </a:r>
            <a:r>
              <a:rPr lang="en-GB"/>
              <a:t> investigations result in a large </a:t>
            </a:r>
            <a:r>
              <a:rPr lang="en-GB"/>
              <a:t>amount of data and using software allows this to be sorted and displayed very efficiently.</a:t>
            </a:r>
            <a:endParaRPr/>
          </a:p>
          <a:p>
            <a:pPr indent="0" lvl="0" marL="0" rtl="0" algn="l">
              <a:spcBef>
                <a:spcPts val="1000"/>
              </a:spcBef>
              <a:spcAft>
                <a:spcPts val="1000"/>
              </a:spcAft>
              <a:buNone/>
            </a:pPr>
            <a:r>
              <a:rPr lang="en-GB"/>
              <a:t>Most careers that collect, present and analyse data will use technology.</a:t>
            </a:r>
            <a:endParaRPr/>
          </a:p>
        </p:txBody>
      </p:sp>
      <p:sp>
        <p:nvSpPr>
          <p:cNvPr id="798" name="Google Shape;798;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on spreadsheet software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72"/>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Data as a list can be copied and pasted into the spreadsheet.</a:t>
            </a:r>
            <a:endParaRPr sz="1800"/>
          </a:p>
          <a:p>
            <a:pPr indent="0" lvl="0" marL="0" rtl="0" algn="l">
              <a:spcBef>
                <a:spcPts val="1000"/>
              </a:spcBef>
              <a:spcAft>
                <a:spcPts val="1000"/>
              </a:spcAft>
              <a:buNone/>
            </a:pPr>
            <a:r>
              <a:t/>
            </a:r>
            <a:endParaRPr sz="1800"/>
          </a:p>
        </p:txBody>
      </p:sp>
      <p:pic>
        <p:nvPicPr>
          <p:cNvPr id="804" name="Google Shape;804;p72"/>
          <p:cNvPicPr preferRelativeResize="0"/>
          <p:nvPr/>
        </p:nvPicPr>
        <p:blipFill>
          <a:blip r:embed="rId3">
            <a:alphaModFix/>
          </a:blip>
          <a:stretch>
            <a:fillRect/>
          </a:stretch>
        </p:blipFill>
        <p:spPr>
          <a:xfrm>
            <a:off x="568727" y="1949040"/>
            <a:ext cx="807750" cy="1057915"/>
          </a:xfrm>
          <a:prstGeom prst="rect">
            <a:avLst/>
          </a:prstGeom>
          <a:noFill/>
          <a:ln>
            <a:noFill/>
          </a:ln>
        </p:spPr>
      </p:pic>
      <p:sp>
        <p:nvSpPr>
          <p:cNvPr id="805" name="Google Shape;805;p72"/>
          <p:cNvSpPr txBox="1"/>
          <p:nvPr/>
        </p:nvSpPr>
        <p:spPr>
          <a:xfrm>
            <a:off x="144009" y="2938248"/>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b="1" sz="1800">
              <a:latin typeface="Lexend"/>
              <a:ea typeface="Lexend"/>
              <a:cs typeface="Lexend"/>
              <a:sym typeface="Lexend"/>
            </a:endParaRPr>
          </a:p>
        </p:txBody>
      </p:sp>
      <p:pic>
        <p:nvPicPr>
          <p:cNvPr id="806" name="Google Shape;806;p72"/>
          <p:cNvPicPr preferRelativeResize="0"/>
          <p:nvPr/>
        </p:nvPicPr>
        <p:blipFill rotWithShape="1">
          <a:blip r:embed="rId4">
            <a:alphaModFix/>
          </a:blip>
          <a:srcRect b="0" l="0" r="69082" t="56280"/>
          <a:stretch/>
        </p:blipFill>
        <p:spPr>
          <a:xfrm flipH="1">
            <a:off x="1345674" y="934212"/>
            <a:ext cx="2500526" cy="1683323"/>
          </a:xfrm>
          <a:prstGeom prst="rect">
            <a:avLst/>
          </a:prstGeom>
          <a:noFill/>
          <a:ln>
            <a:noFill/>
          </a:ln>
        </p:spPr>
      </p:pic>
      <p:sp>
        <p:nvSpPr>
          <p:cNvPr id="807" name="Google Shape;807;p72"/>
          <p:cNvSpPr txBox="1"/>
          <p:nvPr/>
        </p:nvSpPr>
        <p:spPr>
          <a:xfrm>
            <a:off x="1557000" y="1129375"/>
            <a:ext cx="21912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You can use the keyboard shortcut </a:t>
            </a:r>
            <a:r>
              <a:rPr lang="en-GB" sz="1800">
                <a:solidFill>
                  <a:schemeClr val="accent4"/>
                </a:solidFill>
                <a:latin typeface="Lexend"/>
                <a:ea typeface="Lexend"/>
                <a:cs typeface="Lexend"/>
                <a:sym typeface="Lexend"/>
              </a:rPr>
              <a:t>ctrl + C</a:t>
            </a:r>
            <a:r>
              <a:rPr lang="en-GB" sz="1800">
                <a:latin typeface="Lexend"/>
                <a:ea typeface="Lexend"/>
                <a:cs typeface="Lexend"/>
                <a:sym typeface="Lexend"/>
              </a:rPr>
              <a:t> and </a:t>
            </a:r>
            <a:r>
              <a:rPr lang="en-GB" sz="1800">
                <a:solidFill>
                  <a:schemeClr val="accent4"/>
                </a:solidFill>
                <a:latin typeface="Lexend"/>
                <a:ea typeface="Lexend"/>
                <a:cs typeface="Lexend"/>
                <a:sym typeface="Lexend"/>
              </a:rPr>
              <a:t>ctrl + V</a:t>
            </a:r>
            <a:endParaRPr sz="1800">
              <a:solidFill>
                <a:schemeClr val="accent4"/>
              </a:solidFill>
              <a:latin typeface="Lexend"/>
              <a:ea typeface="Lexend"/>
              <a:cs typeface="Lexend"/>
              <a:sym typeface="Lexend"/>
            </a:endParaRPr>
          </a:p>
        </p:txBody>
      </p:sp>
      <p:sp>
        <p:nvSpPr>
          <p:cNvPr id="808" name="Google Shape;808;p72"/>
          <p:cNvSpPr txBox="1"/>
          <p:nvPr/>
        </p:nvSpPr>
        <p:spPr>
          <a:xfrm>
            <a:off x="3914875" y="1229775"/>
            <a:ext cx="43956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Copy this list into your spreadsheet file.</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red, blue, silver, white, red, red, white, white, black, yellow, silver, white, green, black, red, black, blue, grey, orange, grey, grey, red, white, black, black, silver, grey, blue, red, yellow</a:t>
            </a:r>
            <a:endParaRPr sz="1800">
              <a:latin typeface="Lexend"/>
              <a:ea typeface="Lexend"/>
              <a:cs typeface="Lexend"/>
              <a:sym typeface="Lexend"/>
            </a:endParaRPr>
          </a:p>
        </p:txBody>
      </p:sp>
      <p:sp>
        <p:nvSpPr>
          <p:cNvPr id="809" name="Google Shape;809;p72"/>
          <p:cNvSpPr txBox="1"/>
          <p:nvPr>
            <p:ph idx="1" type="body"/>
          </p:nvPr>
        </p:nvSpPr>
        <p:spPr>
          <a:xfrm>
            <a:off x="324000" y="3918425"/>
            <a:ext cx="82377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This saves typing each word separately which saves time. What other benefit is there to not typing each word?</a:t>
            </a:r>
            <a:endParaRPr sz="1800"/>
          </a:p>
          <a:p>
            <a:pPr indent="0" lvl="0" marL="0" rtl="0" algn="l">
              <a:spcBef>
                <a:spcPts val="1000"/>
              </a:spcBef>
              <a:spcAft>
                <a:spcPts val="1000"/>
              </a:spcAft>
              <a:buNone/>
            </a:pPr>
            <a:r>
              <a:t/>
            </a:r>
            <a:endParaRPr sz="1800"/>
          </a:p>
        </p:txBody>
      </p:sp>
      <p:sp>
        <p:nvSpPr>
          <p:cNvPr id="810" name="Google Shape;810;p72"/>
          <p:cNvSpPr txBox="1"/>
          <p:nvPr/>
        </p:nvSpPr>
        <p:spPr>
          <a:xfrm>
            <a:off x="5046000" y="4247250"/>
            <a:ext cx="4098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Kalam"/>
                <a:ea typeface="Kalam"/>
                <a:cs typeface="Kalam"/>
                <a:sym typeface="Kalam"/>
              </a:rPr>
              <a:t>Data entry error is avoided.</a:t>
            </a:r>
            <a:endParaRPr sz="2000">
              <a:latin typeface="Kalam"/>
              <a:ea typeface="Kalam"/>
              <a:cs typeface="Kalam"/>
              <a:sym typeface="Kalam"/>
            </a:endParaRPr>
          </a:p>
        </p:txBody>
      </p:sp>
      <p:sp>
        <p:nvSpPr>
          <p:cNvPr id="811" name="Google Shape;811;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on spreadsheet software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73"/>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We’re going to paste the data and ensure it is in a column format.</a:t>
            </a:r>
            <a:endParaRPr sz="1800"/>
          </a:p>
          <a:p>
            <a:pPr indent="0" lvl="0" marL="0" rtl="0" algn="l">
              <a:spcBef>
                <a:spcPts val="1000"/>
              </a:spcBef>
              <a:spcAft>
                <a:spcPts val="1000"/>
              </a:spcAft>
              <a:buNone/>
            </a:pPr>
            <a:r>
              <a:t/>
            </a:r>
            <a:endParaRPr sz="1800"/>
          </a:p>
        </p:txBody>
      </p:sp>
      <p:sp>
        <p:nvSpPr>
          <p:cNvPr id="817" name="Google Shape;817;p73"/>
          <p:cNvSpPr txBox="1"/>
          <p:nvPr/>
        </p:nvSpPr>
        <p:spPr>
          <a:xfrm>
            <a:off x="144009" y="2938248"/>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t/>
            </a:r>
            <a:endParaRPr b="1" sz="1800">
              <a:latin typeface="Lexend"/>
              <a:ea typeface="Lexend"/>
              <a:cs typeface="Lexend"/>
              <a:sym typeface="Lexend"/>
            </a:endParaRPr>
          </a:p>
        </p:txBody>
      </p:sp>
      <p:sp>
        <p:nvSpPr>
          <p:cNvPr id="818" name="Google Shape;818;p73"/>
          <p:cNvSpPr txBox="1"/>
          <p:nvPr>
            <p:ph idx="1" type="body"/>
          </p:nvPr>
        </p:nvSpPr>
        <p:spPr>
          <a:xfrm>
            <a:off x="324000" y="3918425"/>
            <a:ext cx="82377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1800"/>
          </a:p>
          <a:p>
            <a:pPr indent="0" lvl="0" marL="0" rtl="0" algn="l">
              <a:spcBef>
                <a:spcPts val="1000"/>
              </a:spcBef>
              <a:spcAft>
                <a:spcPts val="1000"/>
              </a:spcAft>
              <a:buNone/>
            </a:pPr>
            <a:r>
              <a:t/>
            </a:r>
            <a:endParaRPr sz="1800"/>
          </a:p>
        </p:txBody>
      </p:sp>
      <p:sp>
        <p:nvSpPr>
          <p:cNvPr id="819" name="Google Shape;819;p73"/>
          <p:cNvSpPr txBox="1"/>
          <p:nvPr/>
        </p:nvSpPr>
        <p:spPr>
          <a:xfrm>
            <a:off x="5046000" y="4247250"/>
            <a:ext cx="4098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latin typeface="Kalam"/>
              <a:ea typeface="Kalam"/>
              <a:cs typeface="Kalam"/>
              <a:sym typeface="Kalam"/>
            </a:endParaRPr>
          </a:p>
        </p:txBody>
      </p:sp>
      <p:sp>
        <p:nvSpPr>
          <p:cNvPr id="820" name="Google Shape;820;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on spreadsheet software</a:t>
            </a:r>
            <a:endParaRPr/>
          </a:p>
        </p:txBody>
      </p:sp>
      <p:pic>
        <p:nvPicPr>
          <p:cNvPr id="821" name="Google Shape;821;p73"/>
          <p:cNvPicPr preferRelativeResize="0"/>
          <p:nvPr/>
        </p:nvPicPr>
        <p:blipFill rotWithShape="1">
          <a:blip r:embed="rId3">
            <a:alphaModFix/>
          </a:blip>
          <a:srcRect b="0" l="576" r="0" t="18307"/>
          <a:stretch/>
        </p:blipFill>
        <p:spPr>
          <a:xfrm>
            <a:off x="365275" y="1225800"/>
            <a:ext cx="7093926" cy="2995450"/>
          </a:xfrm>
          <a:prstGeom prst="rect">
            <a:avLst/>
          </a:prstGeom>
          <a:noFill/>
          <a:ln>
            <a:noFill/>
          </a:ln>
        </p:spPr>
      </p:pic>
      <p:sp>
        <p:nvSpPr>
          <p:cNvPr id="822" name="Google Shape;822;p73"/>
          <p:cNvSpPr txBox="1"/>
          <p:nvPr/>
        </p:nvSpPr>
        <p:spPr>
          <a:xfrm>
            <a:off x="365275" y="4450900"/>
            <a:ext cx="607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solidFill>
                <a:schemeClr val="dk2"/>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600">
                <a:solidFill>
                  <a:schemeClr val="dk2"/>
                </a:solidFill>
                <a:latin typeface="Lexend"/>
                <a:ea typeface="Lexend"/>
                <a:cs typeface="Lexend"/>
                <a:sym typeface="Lexend"/>
              </a:rPr>
              <a:t>Google Sheets is a trademark of Google LLC and this content is not endorsed by or affiliated with Google in any way.</a:t>
            </a:r>
            <a:endParaRPr sz="600">
              <a:solidFill>
                <a:schemeClr val="dk2"/>
              </a:solidFill>
              <a:latin typeface="Lexend"/>
              <a:ea typeface="Lexend"/>
              <a:cs typeface="Lexend"/>
              <a:sym typeface="Lexend"/>
            </a:endParaRPr>
          </a:p>
          <a:p>
            <a:pPr indent="0" lvl="0" marL="0" rtl="0" algn="l">
              <a:spcBef>
                <a:spcPts val="0"/>
              </a:spcBef>
              <a:spcAft>
                <a:spcPts val="0"/>
              </a:spcAft>
              <a:buNone/>
            </a:pPr>
            <a:r>
              <a:t/>
            </a:r>
            <a:endParaRPr sz="6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8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7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horizontal</a:t>
            </a:r>
            <a:endParaRPr/>
          </a:p>
        </p:txBody>
      </p:sp>
      <p:sp>
        <p:nvSpPr>
          <p:cNvPr id="828" name="Google Shape;828;p74"/>
          <p:cNvSpPr txBox="1"/>
          <p:nvPr>
            <p:ph type="title"/>
          </p:nvPr>
        </p:nvSpPr>
        <p:spPr>
          <a:xfrm>
            <a:off x="324000" y="748763"/>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Which direction does a list need to be for the spreadsheet to create a chart?</a:t>
            </a:r>
            <a:endParaRPr/>
          </a:p>
        </p:txBody>
      </p:sp>
      <p:sp>
        <p:nvSpPr>
          <p:cNvPr id="829" name="Google Shape;829;p7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vertical</a:t>
            </a:r>
            <a:endParaRPr/>
          </a:p>
        </p:txBody>
      </p:sp>
      <p:sp>
        <p:nvSpPr>
          <p:cNvPr id="830" name="Google Shape;830;p7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a:t>
            </a:r>
            <a:r>
              <a:rPr lang="en-GB"/>
              <a:t>t doesn’t matter</a:t>
            </a:r>
            <a:endParaRPr/>
          </a:p>
        </p:txBody>
      </p:sp>
      <p:pic>
        <p:nvPicPr>
          <p:cNvPr id="831" name="Google Shape;831;p74"/>
          <p:cNvPicPr preferRelativeResize="0"/>
          <p:nvPr/>
        </p:nvPicPr>
        <p:blipFill>
          <a:blip r:embed="rId3">
            <a:alphaModFix/>
          </a:blip>
          <a:stretch>
            <a:fillRect/>
          </a:stretch>
        </p:blipFill>
        <p:spPr>
          <a:xfrm>
            <a:off x="2302958" y="2794250"/>
            <a:ext cx="396000" cy="419100"/>
          </a:xfrm>
          <a:prstGeom prst="rect">
            <a:avLst/>
          </a:prstGeom>
          <a:noFill/>
          <a:ln>
            <a:noFill/>
          </a:ln>
        </p:spPr>
      </p:pic>
      <p:sp>
        <p:nvSpPr>
          <p:cNvPr id="832" name="Google Shape;832;p74"/>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on spreadsheet software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75"/>
          <p:cNvSpPr txBox="1"/>
          <p:nvPr>
            <p:ph idx="1" type="body"/>
          </p:nvPr>
        </p:nvSpPr>
        <p:spPr>
          <a:xfrm>
            <a:off x="324000" y="759300"/>
            <a:ext cx="84960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Once the data is in the spreadsheet, we can visualise it</a:t>
            </a:r>
            <a:r>
              <a:rPr lang="en-GB" sz="2000"/>
              <a:t> using charts.</a:t>
            </a:r>
            <a:endParaRPr sz="2000"/>
          </a:p>
        </p:txBody>
      </p:sp>
      <p:sp>
        <p:nvSpPr>
          <p:cNvPr id="838" name="Google Shape;838;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on spreadsheet software</a:t>
            </a:r>
            <a:endParaRPr/>
          </a:p>
        </p:txBody>
      </p:sp>
      <p:pic>
        <p:nvPicPr>
          <p:cNvPr id="839" name="Google Shape;839;p75"/>
          <p:cNvPicPr preferRelativeResize="0"/>
          <p:nvPr/>
        </p:nvPicPr>
        <p:blipFill rotWithShape="1">
          <a:blip r:embed="rId3">
            <a:alphaModFix/>
          </a:blip>
          <a:srcRect b="0" l="606" r="0" t="9974"/>
          <a:stretch/>
        </p:blipFill>
        <p:spPr>
          <a:xfrm>
            <a:off x="365275" y="1198575"/>
            <a:ext cx="6776177" cy="3240824"/>
          </a:xfrm>
          <a:prstGeom prst="rect">
            <a:avLst/>
          </a:prstGeom>
          <a:noFill/>
          <a:ln>
            <a:noFill/>
          </a:ln>
        </p:spPr>
      </p:pic>
      <p:sp>
        <p:nvSpPr>
          <p:cNvPr id="840" name="Google Shape;840;p75"/>
          <p:cNvSpPr txBox="1"/>
          <p:nvPr/>
        </p:nvSpPr>
        <p:spPr>
          <a:xfrm>
            <a:off x="365275" y="4491650"/>
            <a:ext cx="6092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solidFill>
                <a:schemeClr val="dk2"/>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600">
                <a:solidFill>
                  <a:schemeClr val="dk2"/>
                </a:solidFill>
                <a:latin typeface="Lexend"/>
                <a:ea typeface="Lexend"/>
                <a:cs typeface="Lexend"/>
                <a:sym typeface="Lexend"/>
              </a:rPr>
              <a:t>Google Sheets is a trademark of Google LLC and this content is not endorsed by or affiliated with Google in any way.</a:t>
            </a:r>
            <a:endParaRPr sz="600">
              <a:solidFill>
                <a:schemeClr val="dk2"/>
              </a:solidFill>
              <a:latin typeface="Lexend"/>
              <a:ea typeface="Lexend"/>
              <a:cs typeface="Lexend"/>
              <a:sym typeface="Lexend"/>
            </a:endParaRPr>
          </a:p>
          <a:p>
            <a:pPr indent="0" lvl="0" marL="0" rtl="0" algn="l">
              <a:spcBef>
                <a:spcPts val="0"/>
              </a:spcBef>
              <a:spcAft>
                <a:spcPts val="0"/>
              </a:spcAft>
              <a:buNone/>
            </a:pPr>
            <a:r>
              <a:t/>
            </a:r>
            <a:endParaRPr sz="600">
              <a:solidFill>
                <a:schemeClr val="dk1"/>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on spreadsheet software</a:t>
            </a:r>
            <a:endParaRPr/>
          </a:p>
        </p:txBody>
      </p:sp>
      <p:sp>
        <p:nvSpPr>
          <p:cNvPr id="846" name="Google Shape;846;p76"/>
          <p:cNvSpPr txBox="1"/>
          <p:nvPr>
            <p:ph idx="4294967295" type="title"/>
          </p:nvPr>
        </p:nvSpPr>
        <p:spPr>
          <a:xfrm>
            <a:off x="324000" y="809988"/>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0" lang="en-GB"/>
              <a:t>Order the steps for inserting a chart from a list of data.</a:t>
            </a:r>
            <a:endParaRPr b="0"/>
          </a:p>
        </p:txBody>
      </p:sp>
      <p:sp>
        <p:nvSpPr>
          <p:cNvPr id="847" name="Google Shape;847;p76"/>
          <p:cNvSpPr txBox="1"/>
          <p:nvPr>
            <p:ph idx="1" type="body"/>
          </p:nvPr>
        </p:nvSpPr>
        <p:spPr>
          <a:xfrm>
            <a:off x="1034425" y="1577250"/>
            <a:ext cx="82377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Click ‘chart’.</a:t>
            </a:r>
            <a:endParaRPr/>
          </a:p>
        </p:txBody>
      </p:sp>
      <p:sp>
        <p:nvSpPr>
          <p:cNvPr id="848" name="Google Shape;848;p76"/>
          <p:cNvSpPr txBox="1"/>
          <p:nvPr>
            <p:ph idx="4294967295" type="subTitle"/>
          </p:nvPr>
        </p:nvSpPr>
        <p:spPr>
          <a:xfrm>
            <a:off x="1034425" y="2337047"/>
            <a:ext cx="75066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Select all the data.</a:t>
            </a:r>
            <a:endParaRPr/>
          </a:p>
        </p:txBody>
      </p:sp>
      <p:sp>
        <p:nvSpPr>
          <p:cNvPr id="849" name="Google Shape;849;p76"/>
          <p:cNvSpPr txBox="1"/>
          <p:nvPr>
            <p:ph idx="4294967295" type="subTitle"/>
          </p:nvPr>
        </p:nvSpPr>
        <p:spPr>
          <a:xfrm>
            <a:off x="1034425" y="3157365"/>
            <a:ext cx="7464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Change the chart type (if necessary).</a:t>
            </a:r>
            <a:endParaRPr/>
          </a:p>
        </p:txBody>
      </p:sp>
      <p:sp>
        <p:nvSpPr>
          <p:cNvPr id="850" name="Google Shape;850;p76"/>
          <p:cNvSpPr txBox="1"/>
          <p:nvPr>
            <p:ph idx="4294967295" type="subTitle"/>
          </p:nvPr>
        </p:nvSpPr>
        <p:spPr>
          <a:xfrm>
            <a:off x="1034425" y="3961437"/>
            <a:ext cx="7506600" cy="36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G</a:t>
            </a:r>
            <a:r>
              <a:rPr lang="en-GB"/>
              <a:t>o to the ‘insert’ tab on the top ribbon.</a:t>
            </a:r>
            <a:endParaRPr/>
          </a:p>
        </p:txBody>
      </p:sp>
      <p:grpSp>
        <p:nvGrpSpPr>
          <p:cNvPr id="851" name="Google Shape;851;p76"/>
          <p:cNvGrpSpPr/>
          <p:nvPr/>
        </p:nvGrpSpPr>
        <p:grpSpPr>
          <a:xfrm>
            <a:off x="437966" y="2303000"/>
            <a:ext cx="457200" cy="457200"/>
            <a:chOff x="1020916" y="1442088"/>
            <a:chExt cx="457200" cy="457200"/>
          </a:xfrm>
        </p:grpSpPr>
        <p:pic>
          <p:nvPicPr>
            <p:cNvPr id="852" name="Google Shape;852;p7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853" name="Google Shape;853;p7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1</a:t>
              </a:r>
              <a:endParaRPr b="1" sz="1800">
                <a:solidFill>
                  <a:srgbClr val="FFFFFF"/>
                </a:solidFill>
                <a:latin typeface="Lexend"/>
                <a:ea typeface="Lexend"/>
                <a:cs typeface="Lexend"/>
                <a:sym typeface="Lexend"/>
              </a:endParaRPr>
            </a:p>
          </p:txBody>
        </p:sp>
      </p:grpSp>
      <p:grpSp>
        <p:nvGrpSpPr>
          <p:cNvPr id="854" name="Google Shape;854;p76"/>
          <p:cNvGrpSpPr/>
          <p:nvPr/>
        </p:nvGrpSpPr>
        <p:grpSpPr>
          <a:xfrm>
            <a:off x="437966" y="3912975"/>
            <a:ext cx="457200" cy="457200"/>
            <a:chOff x="1020916" y="1442088"/>
            <a:chExt cx="457200" cy="457200"/>
          </a:xfrm>
        </p:grpSpPr>
        <p:pic>
          <p:nvPicPr>
            <p:cNvPr id="855" name="Google Shape;855;p7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856" name="Google Shape;856;p7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2</a:t>
              </a:r>
              <a:endParaRPr b="1" sz="1800">
                <a:solidFill>
                  <a:srgbClr val="FFFFFF"/>
                </a:solidFill>
                <a:latin typeface="Lexend"/>
                <a:ea typeface="Lexend"/>
                <a:cs typeface="Lexend"/>
                <a:sym typeface="Lexend"/>
              </a:endParaRPr>
            </a:p>
          </p:txBody>
        </p:sp>
      </p:grpSp>
      <p:grpSp>
        <p:nvGrpSpPr>
          <p:cNvPr id="857" name="Google Shape;857;p76"/>
          <p:cNvGrpSpPr/>
          <p:nvPr/>
        </p:nvGrpSpPr>
        <p:grpSpPr>
          <a:xfrm>
            <a:off x="437966" y="1543200"/>
            <a:ext cx="457200" cy="457200"/>
            <a:chOff x="1020916" y="1442088"/>
            <a:chExt cx="457200" cy="457200"/>
          </a:xfrm>
        </p:grpSpPr>
        <p:pic>
          <p:nvPicPr>
            <p:cNvPr id="858" name="Google Shape;858;p7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859" name="Google Shape;859;p7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3</a:t>
              </a:r>
              <a:endParaRPr b="1" sz="1800">
                <a:solidFill>
                  <a:srgbClr val="FFFFFF"/>
                </a:solidFill>
                <a:latin typeface="Lexend"/>
                <a:ea typeface="Lexend"/>
                <a:cs typeface="Lexend"/>
                <a:sym typeface="Lexend"/>
              </a:endParaRPr>
            </a:p>
          </p:txBody>
        </p:sp>
      </p:grpSp>
      <p:grpSp>
        <p:nvGrpSpPr>
          <p:cNvPr id="860" name="Google Shape;860;p76"/>
          <p:cNvGrpSpPr/>
          <p:nvPr/>
        </p:nvGrpSpPr>
        <p:grpSpPr>
          <a:xfrm>
            <a:off x="437966" y="3107988"/>
            <a:ext cx="457200" cy="457200"/>
            <a:chOff x="1020916" y="1442088"/>
            <a:chExt cx="457200" cy="457200"/>
          </a:xfrm>
        </p:grpSpPr>
        <p:pic>
          <p:nvPicPr>
            <p:cNvPr id="861" name="Google Shape;861;p7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862" name="Google Shape;862;p7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4</a:t>
              </a:r>
              <a:endParaRPr b="1" sz="1800">
                <a:solidFill>
                  <a:srgbClr val="FFFFFF"/>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on spreadsheet software</a:t>
            </a:r>
            <a:endParaRPr/>
          </a:p>
        </p:txBody>
      </p:sp>
      <p:sp>
        <p:nvSpPr>
          <p:cNvPr id="868" name="Google Shape;868;p77"/>
          <p:cNvSpPr txBox="1"/>
          <p:nvPr>
            <p:ph idx="4294967295" type="title"/>
          </p:nvPr>
        </p:nvSpPr>
        <p:spPr>
          <a:xfrm>
            <a:off x="324000" y="809988"/>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0" lang="en-GB"/>
              <a:t>Order the steps for inserting a chart from a list of data.</a:t>
            </a:r>
            <a:endParaRPr b="0"/>
          </a:p>
        </p:txBody>
      </p:sp>
      <p:sp>
        <p:nvSpPr>
          <p:cNvPr id="869" name="Google Shape;869;p77"/>
          <p:cNvSpPr txBox="1"/>
          <p:nvPr>
            <p:ph idx="1" type="body"/>
          </p:nvPr>
        </p:nvSpPr>
        <p:spPr>
          <a:xfrm>
            <a:off x="1034425" y="1577250"/>
            <a:ext cx="8237700" cy="389100"/>
          </a:xfrm>
          <a:prstGeom prst="rect">
            <a:avLst/>
          </a:prstGeom>
        </p:spPr>
        <p:txBody>
          <a:bodyPr anchorCtr="0" anchor="t" bIns="0" lIns="0" spcFirstLastPara="1" rIns="0" wrap="square" tIns="0">
            <a:noAutofit/>
          </a:bodyPr>
          <a:lstStyle/>
          <a:p>
            <a:pPr indent="0" lvl="0" marL="0" rtl="0" algn="l">
              <a:lnSpc>
                <a:spcPct val="130000"/>
              </a:lnSpc>
              <a:spcBef>
                <a:spcPts val="0"/>
              </a:spcBef>
              <a:spcAft>
                <a:spcPts val="0"/>
              </a:spcAft>
              <a:buClr>
                <a:schemeClr val="dk1"/>
              </a:buClr>
              <a:buSzPts val="1100"/>
              <a:buFont typeface="Arial"/>
              <a:buNone/>
            </a:pPr>
            <a:r>
              <a:rPr lang="en-GB"/>
              <a:t>S</a:t>
            </a:r>
            <a:r>
              <a:rPr lang="en-GB"/>
              <a:t>elect all the data.</a:t>
            </a:r>
            <a:endParaRPr/>
          </a:p>
          <a:p>
            <a:pPr indent="0" lvl="0" marL="0" rtl="0" algn="l">
              <a:spcBef>
                <a:spcPts val="1000"/>
              </a:spcBef>
              <a:spcAft>
                <a:spcPts val="1000"/>
              </a:spcAft>
              <a:buNone/>
            </a:pPr>
            <a:r>
              <a:t/>
            </a:r>
            <a:endParaRPr/>
          </a:p>
        </p:txBody>
      </p:sp>
      <p:sp>
        <p:nvSpPr>
          <p:cNvPr id="870" name="Google Shape;870;p77"/>
          <p:cNvSpPr txBox="1"/>
          <p:nvPr>
            <p:ph idx="4294967295" type="subTitle"/>
          </p:nvPr>
        </p:nvSpPr>
        <p:spPr>
          <a:xfrm>
            <a:off x="1034425" y="2337047"/>
            <a:ext cx="7506600" cy="3891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G</a:t>
            </a:r>
            <a:r>
              <a:rPr lang="en-GB"/>
              <a:t>o to the ‘insert’ tab on the top ribbon.</a:t>
            </a:r>
            <a:endParaRPr/>
          </a:p>
          <a:p>
            <a:pPr indent="0" lvl="0" marL="0" rtl="0" algn="l">
              <a:spcBef>
                <a:spcPts val="1000"/>
              </a:spcBef>
              <a:spcAft>
                <a:spcPts val="1000"/>
              </a:spcAft>
              <a:buNone/>
            </a:pPr>
            <a:r>
              <a:t/>
            </a:r>
            <a:endParaRPr/>
          </a:p>
        </p:txBody>
      </p:sp>
      <p:sp>
        <p:nvSpPr>
          <p:cNvPr id="871" name="Google Shape;871;p77"/>
          <p:cNvSpPr txBox="1"/>
          <p:nvPr>
            <p:ph idx="4294967295" type="subTitle"/>
          </p:nvPr>
        </p:nvSpPr>
        <p:spPr>
          <a:xfrm>
            <a:off x="1034425" y="3157365"/>
            <a:ext cx="7464600" cy="324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a:t>C</a:t>
            </a:r>
            <a:r>
              <a:rPr lang="en-GB"/>
              <a:t>lick ‘chart’.</a:t>
            </a:r>
            <a:endParaRPr/>
          </a:p>
          <a:p>
            <a:pPr indent="0" lvl="0" marL="0" rtl="0" algn="l">
              <a:spcBef>
                <a:spcPts val="1000"/>
              </a:spcBef>
              <a:spcAft>
                <a:spcPts val="1000"/>
              </a:spcAft>
              <a:buNone/>
            </a:pPr>
            <a:r>
              <a:t/>
            </a:r>
            <a:endParaRPr/>
          </a:p>
        </p:txBody>
      </p:sp>
      <p:sp>
        <p:nvSpPr>
          <p:cNvPr id="872" name="Google Shape;872;p77"/>
          <p:cNvSpPr txBox="1"/>
          <p:nvPr>
            <p:ph idx="4294967295" type="subTitle"/>
          </p:nvPr>
        </p:nvSpPr>
        <p:spPr>
          <a:xfrm>
            <a:off x="1034425" y="3961437"/>
            <a:ext cx="7506600" cy="360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a:t>
            </a:r>
            <a:r>
              <a:rPr lang="en-GB"/>
              <a:t>hange the chart type (if necessary).</a:t>
            </a:r>
            <a:endParaRPr/>
          </a:p>
          <a:p>
            <a:pPr indent="0" lvl="0" marL="0" rtl="0" algn="l">
              <a:spcBef>
                <a:spcPts val="1000"/>
              </a:spcBef>
              <a:spcAft>
                <a:spcPts val="1000"/>
              </a:spcAft>
              <a:buNone/>
            </a:pPr>
            <a:r>
              <a:t/>
            </a:r>
            <a:endParaRPr/>
          </a:p>
        </p:txBody>
      </p:sp>
      <p:grpSp>
        <p:nvGrpSpPr>
          <p:cNvPr id="873" name="Google Shape;873;p77"/>
          <p:cNvGrpSpPr/>
          <p:nvPr/>
        </p:nvGrpSpPr>
        <p:grpSpPr>
          <a:xfrm>
            <a:off x="437966" y="2303000"/>
            <a:ext cx="457200" cy="457200"/>
            <a:chOff x="1020916" y="1442088"/>
            <a:chExt cx="457200" cy="457200"/>
          </a:xfrm>
        </p:grpSpPr>
        <p:pic>
          <p:nvPicPr>
            <p:cNvPr id="874" name="Google Shape;874;p7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875" name="Google Shape;875;p7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2</a:t>
              </a:r>
              <a:endParaRPr b="1" sz="1800">
                <a:solidFill>
                  <a:srgbClr val="FFFFFF"/>
                </a:solidFill>
                <a:latin typeface="Lexend"/>
                <a:ea typeface="Lexend"/>
                <a:cs typeface="Lexend"/>
                <a:sym typeface="Lexend"/>
              </a:endParaRPr>
            </a:p>
          </p:txBody>
        </p:sp>
      </p:grpSp>
      <p:grpSp>
        <p:nvGrpSpPr>
          <p:cNvPr id="876" name="Google Shape;876;p77"/>
          <p:cNvGrpSpPr/>
          <p:nvPr/>
        </p:nvGrpSpPr>
        <p:grpSpPr>
          <a:xfrm>
            <a:off x="437966" y="3912975"/>
            <a:ext cx="457200" cy="457200"/>
            <a:chOff x="1020916" y="1442088"/>
            <a:chExt cx="457200" cy="457200"/>
          </a:xfrm>
        </p:grpSpPr>
        <p:pic>
          <p:nvPicPr>
            <p:cNvPr id="877" name="Google Shape;877;p7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878" name="Google Shape;878;p7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4</a:t>
              </a:r>
              <a:endParaRPr b="1" sz="1800">
                <a:solidFill>
                  <a:srgbClr val="FFFFFF"/>
                </a:solidFill>
                <a:latin typeface="Lexend"/>
                <a:ea typeface="Lexend"/>
                <a:cs typeface="Lexend"/>
                <a:sym typeface="Lexend"/>
              </a:endParaRPr>
            </a:p>
          </p:txBody>
        </p:sp>
      </p:grpSp>
      <p:grpSp>
        <p:nvGrpSpPr>
          <p:cNvPr id="879" name="Google Shape;879;p77"/>
          <p:cNvGrpSpPr/>
          <p:nvPr/>
        </p:nvGrpSpPr>
        <p:grpSpPr>
          <a:xfrm>
            <a:off x="437966" y="1543200"/>
            <a:ext cx="457200" cy="457200"/>
            <a:chOff x="1020916" y="1442088"/>
            <a:chExt cx="457200" cy="457200"/>
          </a:xfrm>
        </p:grpSpPr>
        <p:pic>
          <p:nvPicPr>
            <p:cNvPr id="880" name="Google Shape;880;p7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881" name="Google Shape;881;p7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1</a:t>
              </a:r>
              <a:endParaRPr b="1" sz="1800">
                <a:solidFill>
                  <a:srgbClr val="FFFFFF"/>
                </a:solidFill>
                <a:latin typeface="Lexend"/>
                <a:ea typeface="Lexend"/>
                <a:cs typeface="Lexend"/>
                <a:sym typeface="Lexend"/>
              </a:endParaRPr>
            </a:p>
          </p:txBody>
        </p:sp>
      </p:grpSp>
      <p:grpSp>
        <p:nvGrpSpPr>
          <p:cNvPr id="882" name="Google Shape;882;p77"/>
          <p:cNvGrpSpPr/>
          <p:nvPr/>
        </p:nvGrpSpPr>
        <p:grpSpPr>
          <a:xfrm>
            <a:off x="437966" y="3107988"/>
            <a:ext cx="457200" cy="457200"/>
            <a:chOff x="1020916" y="1442088"/>
            <a:chExt cx="457200" cy="457200"/>
          </a:xfrm>
        </p:grpSpPr>
        <p:pic>
          <p:nvPicPr>
            <p:cNvPr id="883" name="Google Shape;883;p7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884" name="Google Shape;884;p7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3</a:t>
              </a:r>
              <a:endParaRPr b="1" sz="1800">
                <a:solidFill>
                  <a:srgbClr val="FFFFFF"/>
                </a:solidFill>
                <a:latin typeface="Lexend"/>
                <a:ea typeface="Lexend"/>
                <a:cs typeface="Lexend"/>
                <a:sym typeface="Lexend"/>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78"/>
          <p:cNvSpPr txBox="1"/>
          <p:nvPr>
            <p:ph idx="1" type="body"/>
          </p:nvPr>
        </p:nvSpPr>
        <p:spPr>
          <a:xfrm>
            <a:off x="324000" y="759300"/>
            <a:ext cx="8237700" cy="117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If your data is already in a frequency table, then you can copy the whole table onto the spreadsheet, or you can </a:t>
            </a:r>
            <a:r>
              <a:rPr lang="en-GB" sz="2000"/>
              <a:t>type</a:t>
            </a:r>
            <a:r>
              <a:rPr lang="en-GB" sz="2000"/>
              <a:t> it in.</a:t>
            </a:r>
            <a:endParaRPr sz="2000"/>
          </a:p>
        </p:txBody>
      </p:sp>
      <p:sp>
        <p:nvSpPr>
          <p:cNvPr id="890" name="Google Shape;890;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on spreadsheet software</a:t>
            </a:r>
            <a:endParaRPr/>
          </a:p>
        </p:txBody>
      </p:sp>
      <p:graphicFrame>
        <p:nvGraphicFramePr>
          <p:cNvPr id="891" name="Google Shape;891;p78"/>
          <p:cNvGraphicFramePr/>
          <p:nvPr/>
        </p:nvGraphicFramePr>
        <p:xfrm>
          <a:off x="535825" y="1662675"/>
          <a:ext cx="3000000" cy="3000000"/>
        </p:xfrm>
        <a:graphic>
          <a:graphicData uri="http://schemas.openxmlformats.org/drawingml/2006/table">
            <a:tbl>
              <a:tblPr>
                <a:noFill/>
                <a:tableStyleId>{31A4F988-2BBE-4851-A6CE-8E7F50E7F410}</a:tableStyleId>
              </a:tblPr>
              <a:tblGrid>
                <a:gridCol w="1654425"/>
                <a:gridCol w="1654425"/>
              </a:tblGrid>
              <a:tr h="381000">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Gym class</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381000">
                <a:tc>
                  <a:txBody>
                    <a:bodyPr/>
                    <a:lstStyle/>
                    <a:p>
                      <a:pPr indent="0" lvl="0" marL="0" rtl="0" algn="l">
                        <a:spcBef>
                          <a:spcPts val="0"/>
                        </a:spcBef>
                        <a:spcAft>
                          <a:spcPts val="0"/>
                        </a:spcAft>
                        <a:buNone/>
                      </a:pPr>
                      <a:r>
                        <a:rPr lang="en-GB" sz="1800">
                          <a:latin typeface="Lexend"/>
                          <a:ea typeface="Lexend"/>
                          <a:cs typeface="Lexend"/>
                          <a:sym typeface="Lexend"/>
                        </a:rPr>
                        <a:t>Aerobics</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lang="en-GB" sz="1800">
                          <a:latin typeface="Lexend"/>
                          <a:ea typeface="Lexend"/>
                          <a:cs typeface="Lexend"/>
                          <a:sym typeface="Lexend"/>
                        </a:rPr>
                        <a:t>Circuits</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25</a:t>
                      </a:r>
                      <a:endParaRPr sz="1800">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lang="en-GB" sz="1800">
                          <a:latin typeface="Lexend"/>
                          <a:ea typeface="Lexend"/>
                          <a:cs typeface="Lexend"/>
                          <a:sym typeface="Lexend"/>
                        </a:rPr>
                        <a:t>Spin </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16</a:t>
                      </a:r>
                      <a:endParaRPr sz="1800">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lang="en-GB" sz="1800">
                          <a:latin typeface="Lexend"/>
                          <a:ea typeface="Lexend"/>
                          <a:cs typeface="Lexend"/>
                          <a:sym typeface="Lexend"/>
                        </a:rPr>
                        <a:t>Zumba</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42</a:t>
                      </a:r>
                      <a:endParaRPr sz="1800">
                        <a:latin typeface="Lexend"/>
                        <a:ea typeface="Lexend"/>
                        <a:cs typeface="Lexend"/>
                        <a:sym typeface="Lexend"/>
                      </a:endParaRPr>
                    </a:p>
                  </a:txBody>
                  <a:tcPr marT="91425" marB="91425" marR="91425" marL="91425"/>
                </a:tc>
              </a:tr>
            </a:tbl>
          </a:graphicData>
        </a:graphic>
      </p:graphicFrame>
      <p:sp>
        <p:nvSpPr>
          <p:cNvPr id="892" name="Google Shape;892;p78"/>
          <p:cNvSpPr txBox="1"/>
          <p:nvPr/>
        </p:nvSpPr>
        <p:spPr>
          <a:xfrm>
            <a:off x="4396200" y="1776575"/>
            <a:ext cx="38130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Lexend"/>
                <a:ea typeface="Lexend"/>
                <a:cs typeface="Lexend"/>
                <a:sym typeface="Lexend"/>
              </a:rPr>
              <a:t>Copy this table onto a new sheet in </a:t>
            </a:r>
            <a:r>
              <a:rPr lang="en-GB" sz="2000">
                <a:latin typeface="Lexend"/>
                <a:ea typeface="Lexend"/>
                <a:cs typeface="Lexend"/>
                <a:sym typeface="Lexend"/>
              </a:rPr>
              <a:t>your spreadsheet.</a:t>
            </a:r>
            <a:endParaRPr sz="2000">
              <a:latin typeface="Lexend"/>
              <a:ea typeface="Lexend"/>
              <a:cs typeface="Lexend"/>
              <a:sym typeface="Lexend"/>
            </a:endParaRPr>
          </a:p>
          <a:p>
            <a:pPr indent="0" lvl="0" marL="0" rtl="0" algn="l">
              <a:spcBef>
                <a:spcPts val="0"/>
              </a:spcBef>
              <a:spcAft>
                <a:spcPts val="0"/>
              </a:spcAft>
              <a:buNone/>
            </a:pPr>
            <a:r>
              <a:t/>
            </a:r>
            <a:endParaRPr sz="2000">
              <a:latin typeface="Lexend"/>
              <a:ea typeface="Lexend"/>
              <a:cs typeface="Lexend"/>
              <a:sym typeface="Lexend"/>
            </a:endParaRPr>
          </a:p>
          <a:p>
            <a:pPr indent="0" lvl="0" marL="0" rtl="0" algn="l">
              <a:spcBef>
                <a:spcPts val="0"/>
              </a:spcBef>
              <a:spcAft>
                <a:spcPts val="0"/>
              </a:spcAft>
              <a:buNone/>
            </a:pPr>
            <a:r>
              <a:rPr lang="en-GB" sz="2000">
                <a:latin typeface="Lexend"/>
                <a:ea typeface="Lexend"/>
                <a:cs typeface="Lexend"/>
                <a:sym typeface="Lexend"/>
              </a:rPr>
              <a:t>The following steps use Google Sheets.</a:t>
            </a:r>
            <a:endParaRPr sz="2000">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79"/>
          <p:cNvSpPr txBox="1"/>
          <p:nvPr>
            <p:ph idx="1" type="body"/>
          </p:nvPr>
        </p:nvSpPr>
        <p:spPr>
          <a:xfrm>
            <a:off x="307650" y="759300"/>
            <a:ext cx="8543700" cy="33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Follow these </a:t>
            </a:r>
            <a:r>
              <a:rPr lang="en-GB" sz="2000"/>
              <a:t>step to </a:t>
            </a:r>
            <a:r>
              <a:rPr lang="en-GB" sz="2000"/>
              <a:t>insert a bar chart using the frequency table</a:t>
            </a:r>
            <a:endParaRPr sz="2000"/>
          </a:p>
        </p:txBody>
      </p:sp>
      <p:sp>
        <p:nvSpPr>
          <p:cNvPr id="898" name="Google Shape;898;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on spreadsheet software</a:t>
            </a:r>
            <a:endParaRPr/>
          </a:p>
        </p:txBody>
      </p:sp>
      <p:sp>
        <p:nvSpPr>
          <p:cNvPr id="899" name="Google Shape;899;p79"/>
          <p:cNvSpPr txBox="1"/>
          <p:nvPr/>
        </p:nvSpPr>
        <p:spPr>
          <a:xfrm>
            <a:off x="4396200" y="1776575"/>
            <a:ext cx="3813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latin typeface="Lexend"/>
              <a:ea typeface="Lexend"/>
              <a:cs typeface="Lexend"/>
              <a:sym typeface="Lexend"/>
            </a:endParaRPr>
          </a:p>
        </p:txBody>
      </p:sp>
      <p:pic>
        <p:nvPicPr>
          <p:cNvPr id="900" name="Google Shape;900;p79"/>
          <p:cNvPicPr preferRelativeResize="0"/>
          <p:nvPr/>
        </p:nvPicPr>
        <p:blipFill rotWithShape="1">
          <a:blip r:embed="rId3">
            <a:alphaModFix/>
          </a:blip>
          <a:srcRect b="1606" l="237" r="732" t="14296"/>
          <a:stretch/>
        </p:blipFill>
        <p:spPr>
          <a:xfrm>
            <a:off x="324000" y="1116800"/>
            <a:ext cx="6777226" cy="3036099"/>
          </a:xfrm>
          <a:prstGeom prst="rect">
            <a:avLst/>
          </a:prstGeom>
          <a:noFill/>
          <a:ln>
            <a:noFill/>
          </a:ln>
        </p:spPr>
      </p:pic>
      <p:sp>
        <p:nvSpPr>
          <p:cNvPr id="901" name="Google Shape;901;p79"/>
          <p:cNvSpPr txBox="1"/>
          <p:nvPr/>
        </p:nvSpPr>
        <p:spPr>
          <a:xfrm>
            <a:off x="324000" y="4501825"/>
            <a:ext cx="599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solidFill>
                <a:schemeClr val="dk2"/>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600">
                <a:solidFill>
                  <a:schemeClr val="dk2"/>
                </a:solidFill>
                <a:latin typeface="Lexend"/>
                <a:ea typeface="Lexend"/>
                <a:cs typeface="Lexend"/>
                <a:sym typeface="Lexend"/>
              </a:rPr>
              <a:t>Google Sheets is a trademark of Google LLC and this content is not endorsed by or affiliated with Google in any way.</a:t>
            </a:r>
            <a:endParaRPr sz="600">
              <a:solidFill>
                <a:schemeClr val="dk2"/>
              </a:solidFill>
              <a:latin typeface="Lexend"/>
              <a:ea typeface="Lexend"/>
              <a:cs typeface="Lexend"/>
              <a:sym typeface="Lexend"/>
            </a:endParaRPr>
          </a:p>
          <a:p>
            <a:pPr indent="0" lvl="0" marL="0" rtl="0" algn="l">
              <a:spcBef>
                <a:spcPts val="0"/>
              </a:spcBef>
              <a:spcAft>
                <a:spcPts val="0"/>
              </a:spcAft>
              <a:buNone/>
            </a:pPr>
            <a:r>
              <a:t/>
            </a:r>
            <a:endParaRPr sz="600">
              <a:solidFill>
                <a:schemeClr val="dk1"/>
              </a:solidFill>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80"/>
          <p:cNvSpPr txBox="1"/>
          <p:nvPr>
            <p:ph idx="1" type="body"/>
          </p:nvPr>
        </p:nvSpPr>
        <p:spPr>
          <a:xfrm>
            <a:off x="324000" y="759300"/>
            <a:ext cx="8237700" cy="70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Another gym class is offered called ‘step’ and 16 members attend it. Let’s update the frequency table and check the bar chart </a:t>
            </a:r>
            <a:endParaRPr sz="2000"/>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907" name="Google Shape;907;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on spreadsheet software</a:t>
            </a:r>
            <a:endParaRPr/>
          </a:p>
        </p:txBody>
      </p:sp>
      <p:pic>
        <p:nvPicPr>
          <p:cNvPr id="908" name="Google Shape;908;p80"/>
          <p:cNvPicPr preferRelativeResize="0"/>
          <p:nvPr/>
        </p:nvPicPr>
        <p:blipFill rotWithShape="1">
          <a:blip r:embed="rId3">
            <a:alphaModFix/>
          </a:blip>
          <a:srcRect b="5317" l="0" r="0" t="13375"/>
          <a:stretch/>
        </p:blipFill>
        <p:spPr>
          <a:xfrm>
            <a:off x="324000" y="1590675"/>
            <a:ext cx="6237498" cy="2602000"/>
          </a:xfrm>
          <a:prstGeom prst="rect">
            <a:avLst/>
          </a:prstGeom>
          <a:noFill/>
          <a:ln>
            <a:noFill/>
          </a:ln>
        </p:spPr>
      </p:pic>
      <p:sp>
        <p:nvSpPr>
          <p:cNvPr id="909" name="Google Shape;909;p80"/>
          <p:cNvSpPr txBox="1"/>
          <p:nvPr/>
        </p:nvSpPr>
        <p:spPr>
          <a:xfrm>
            <a:off x="397225" y="4320000"/>
            <a:ext cx="586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solidFill>
                <a:schemeClr val="dk2"/>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600">
                <a:solidFill>
                  <a:schemeClr val="dk2"/>
                </a:solidFill>
                <a:latin typeface="Lexend"/>
                <a:ea typeface="Lexend"/>
                <a:cs typeface="Lexend"/>
                <a:sym typeface="Lexend"/>
              </a:rPr>
              <a:t>Google Sheets is a trademark of Google LLC and this content is not endorsed by or affiliated with Google in any way.</a:t>
            </a:r>
            <a:endParaRPr sz="600">
              <a:solidFill>
                <a:schemeClr val="dk2"/>
              </a:solidFill>
              <a:latin typeface="Lexend"/>
              <a:ea typeface="Lexend"/>
              <a:cs typeface="Lexend"/>
              <a:sym typeface="Lexend"/>
            </a:endParaRPr>
          </a:p>
          <a:p>
            <a:pPr indent="0" lvl="0" marL="0" rtl="0" algn="l">
              <a:spcBef>
                <a:spcPts val="0"/>
              </a:spcBef>
              <a:spcAft>
                <a:spcPts val="0"/>
              </a:spcAft>
              <a:buNone/>
            </a:pPr>
            <a:r>
              <a:t/>
            </a:r>
            <a:endParaRPr sz="600">
              <a:solidFill>
                <a:schemeClr val="dk1"/>
              </a:solidFill>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81"/>
          <p:cNvSpPr txBox="1"/>
          <p:nvPr>
            <p:ph idx="1" type="body"/>
          </p:nvPr>
        </p:nvSpPr>
        <p:spPr>
          <a:xfrm>
            <a:off x="324000" y="759300"/>
            <a:ext cx="8237700" cy="402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Here is </a:t>
            </a:r>
            <a:r>
              <a:rPr lang="en-GB"/>
              <a:t>some data for different books.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915" name="Google Shape;915;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on spreadsheet software</a:t>
            </a:r>
            <a:endParaRPr/>
          </a:p>
        </p:txBody>
      </p:sp>
      <p:graphicFrame>
        <p:nvGraphicFramePr>
          <p:cNvPr id="916" name="Google Shape;916;p81"/>
          <p:cNvGraphicFramePr/>
          <p:nvPr/>
        </p:nvGraphicFramePr>
        <p:xfrm>
          <a:off x="3477175" y="1313250"/>
          <a:ext cx="3000000" cy="3000000"/>
        </p:xfrm>
        <a:graphic>
          <a:graphicData uri="http://schemas.openxmlformats.org/drawingml/2006/table">
            <a:tbl>
              <a:tblPr>
                <a:noFill/>
                <a:tableStyleId>{19782757-A6EA-4D23-9501-027D6C0312D4}</a:tableStyleId>
              </a:tblPr>
              <a:tblGrid>
                <a:gridCol w="952500"/>
                <a:gridCol w="1237125"/>
              </a:tblGrid>
              <a:tr h="314325">
                <a:tc>
                  <a:txBody>
                    <a:bodyPr/>
                    <a:lstStyle/>
                    <a:p>
                      <a:pPr indent="0" lvl="0" marL="0" rtl="0" algn="ctr">
                        <a:lnSpc>
                          <a:spcPct val="115000"/>
                        </a:lnSpc>
                        <a:spcBef>
                          <a:spcPts val="0"/>
                        </a:spcBef>
                        <a:spcAft>
                          <a:spcPts val="0"/>
                        </a:spcAft>
                        <a:buNone/>
                      </a:pPr>
                      <a:r>
                        <a:rPr lang="en-GB" sz="1800">
                          <a:solidFill>
                            <a:schemeClr val="lt1"/>
                          </a:solidFill>
                          <a:latin typeface="Lexend"/>
                          <a:ea typeface="Lexend"/>
                          <a:cs typeface="Lexend"/>
                          <a:sym typeface="Lexend"/>
                        </a:rPr>
                        <a:t>Book</a:t>
                      </a:r>
                      <a:endParaRPr sz="1800">
                        <a:solidFill>
                          <a:schemeClr val="lt1"/>
                        </a:solidFill>
                        <a:latin typeface="Lexend"/>
                        <a:ea typeface="Lexend"/>
                        <a:cs typeface="Lexend"/>
                        <a:sym typeface="Lexend"/>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chemeClr val="accent4"/>
                    </a:solidFill>
                  </a:tcPr>
                </a:tc>
                <a:tc>
                  <a:txBody>
                    <a:bodyPr/>
                    <a:lstStyle/>
                    <a:p>
                      <a:pPr indent="0" lvl="0" marL="0" rtl="0" algn="ctr">
                        <a:lnSpc>
                          <a:spcPct val="115000"/>
                        </a:lnSpc>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solidFill>
                      <a:schemeClr val="accent4"/>
                    </a:solidFill>
                  </a:tcPr>
                </a:tc>
              </a:tr>
              <a:tr h="31432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Book 1</a:t>
                      </a:r>
                      <a:endParaRPr sz="1800">
                        <a:latin typeface="Lexend"/>
                        <a:ea typeface="Lexend"/>
                        <a:cs typeface="Lexend"/>
                        <a:sym typeface="Lexend"/>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79</a:t>
                      </a:r>
                      <a:endParaRPr sz="1800">
                        <a:latin typeface="Lexend"/>
                        <a:ea typeface="Lexend"/>
                        <a:cs typeface="Lexend"/>
                        <a:sym typeface="Lexend"/>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31432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Book 2</a:t>
                      </a:r>
                      <a:endParaRPr sz="1800">
                        <a:latin typeface="Lexend"/>
                        <a:ea typeface="Lexend"/>
                        <a:cs typeface="Lexend"/>
                        <a:sym typeface="Lexend"/>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152</a:t>
                      </a:r>
                      <a:endParaRPr sz="1800">
                        <a:latin typeface="Lexend"/>
                        <a:ea typeface="Lexend"/>
                        <a:cs typeface="Lexend"/>
                        <a:sym typeface="Lexend"/>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31432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Book 3</a:t>
                      </a:r>
                      <a:endParaRPr sz="1800">
                        <a:latin typeface="Lexend"/>
                        <a:ea typeface="Lexend"/>
                        <a:cs typeface="Lexend"/>
                        <a:sym typeface="Lexend"/>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203</a:t>
                      </a:r>
                      <a:endParaRPr sz="1800">
                        <a:latin typeface="Lexend"/>
                        <a:ea typeface="Lexend"/>
                        <a:cs typeface="Lexend"/>
                        <a:sym typeface="Lexend"/>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314325">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Book 4</a:t>
                      </a:r>
                      <a:endParaRPr sz="1800">
                        <a:latin typeface="Lexend"/>
                        <a:ea typeface="Lexend"/>
                        <a:cs typeface="Lexend"/>
                        <a:sym typeface="Lexend"/>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187</a:t>
                      </a:r>
                      <a:endParaRPr sz="1800">
                        <a:latin typeface="Lexend"/>
                        <a:ea typeface="Lexend"/>
                        <a:cs typeface="Lexend"/>
                        <a:sym typeface="Lexend"/>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bl>
          </a:graphicData>
        </a:graphic>
      </p:graphicFrame>
      <p:sp>
        <p:nvSpPr>
          <p:cNvPr id="917" name="Google Shape;917;p81"/>
          <p:cNvSpPr txBox="1"/>
          <p:nvPr/>
        </p:nvSpPr>
        <p:spPr>
          <a:xfrm>
            <a:off x="3779150" y="4091850"/>
            <a:ext cx="3813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Kalam"/>
                <a:ea typeface="Kalam"/>
                <a:cs typeface="Kalam"/>
                <a:sym typeface="Kalam"/>
              </a:rPr>
              <a:t>20 or 25 might seem sensible.</a:t>
            </a:r>
            <a:endParaRPr sz="2000">
              <a:latin typeface="Kalam"/>
              <a:ea typeface="Kalam"/>
              <a:cs typeface="Kalam"/>
              <a:sym typeface="Kalam"/>
            </a:endParaRPr>
          </a:p>
        </p:txBody>
      </p:sp>
      <p:sp>
        <p:nvSpPr>
          <p:cNvPr id="918" name="Google Shape;918;p81"/>
          <p:cNvSpPr txBox="1"/>
          <p:nvPr/>
        </p:nvSpPr>
        <p:spPr>
          <a:xfrm>
            <a:off x="324000" y="3076800"/>
            <a:ext cx="6084000" cy="104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200">
                <a:solidFill>
                  <a:schemeClr val="dk1"/>
                </a:solidFill>
                <a:latin typeface="Lexend"/>
                <a:ea typeface="Lexend"/>
                <a:cs typeface="Lexend"/>
                <a:sym typeface="Lexend"/>
              </a:rPr>
              <a:t>The auto scale was increments of 50. </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2200">
                <a:solidFill>
                  <a:schemeClr val="dk1"/>
                </a:solidFill>
                <a:latin typeface="Lexend"/>
                <a:ea typeface="Lexend"/>
                <a:cs typeface="Lexend"/>
                <a:sym typeface="Lexend"/>
              </a:rPr>
              <a:t>What scale would you use?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82"/>
          <p:cNvSpPr txBox="1"/>
          <p:nvPr>
            <p:ph idx="1" type="body"/>
          </p:nvPr>
        </p:nvSpPr>
        <p:spPr>
          <a:xfrm>
            <a:off x="324000" y="706350"/>
            <a:ext cx="8237700" cy="91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 spreadsheet software will detect the data and automatically choose multiples of 50 for the vertical axis.</a:t>
            </a:r>
            <a:endParaRPr/>
          </a:p>
        </p:txBody>
      </p:sp>
      <p:sp>
        <p:nvSpPr>
          <p:cNvPr id="924" name="Google Shape;924;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on spreadsheet software</a:t>
            </a:r>
            <a:endParaRPr/>
          </a:p>
        </p:txBody>
      </p:sp>
      <p:pic>
        <p:nvPicPr>
          <p:cNvPr id="925" name="Google Shape;925;p82" title="Chart"/>
          <p:cNvPicPr preferRelativeResize="0"/>
          <p:nvPr/>
        </p:nvPicPr>
        <p:blipFill>
          <a:blip r:embed="rId3">
            <a:alphaModFix/>
          </a:blip>
          <a:stretch>
            <a:fillRect/>
          </a:stretch>
        </p:blipFill>
        <p:spPr>
          <a:xfrm>
            <a:off x="663498" y="1620000"/>
            <a:ext cx="4974952" cy="3075526"/>
          </a:xfrm>
          <a:prstGeom prst="rect">
            <a:avLst/>
          </a:prstGeom>
          <a:noFill/>
          <a:ln>
            <a:noFill/>
          </a:ln>
        </p:spPr>
      </p:pic>
      <p:sp>
        <p:nvSpPr>
          <p:cNvPr id="926" name="Google Shape;926;p82"/>
          <p:cNvSpPr txBox="1"/>
          <p:nvPr/>
        </p:nvSpPr>
        <p:spPr>
          <a:xfrm rot="-5400000">
            <a:off x="-143550" y="2155375"/>
            <a:ext cx="1396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Frequency</a:t>
            </a:r>
            <a:endParaRPr sz="1800">
              <a:latin typeface="Lexend"/>
              <a:ea typeface="Lexend"/>
              <a:cs typeface="Lexend"/>
              <a:sym typeface="Lexend"/>
            </a:endParaRPr>
          </a:p>
        </p:txBody>
      </p:sp>
      <p:sp>
        <p:nvSpPr>
          <p:cNvPr id="927" name="Google Shape;927;p82"/>
          <p:cNvSpPr txBox="1"/>
          <p:nvPr/>
        </p:nvSpPr>
        <p:spPr>
          <a:xfrm>
            <a:off x="4470500" y="4472425"/>
            <a:ext cx="957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Books</a:t>
            </a:r>
            <a:endParaRPr sz="1800">
              <a:latin typeface="Lexend"/>
              <a:ea typeface="Lexend"/>
              <a:cs typeface="Lexend"/>
              <a:sym typeface="Lexend"/>
            </a:endParaRPr>
          </a:p>
        </p:txBody>
      </p:sp>
      <p:sp>
        <p:nvSpPr>
          <p:cNvPr id="928" name="Google Shape;928;p82"/>
          <p:cNvSpPr txBox="1"/>
          <p:nvPr/>
        </p:nvSpPr>
        <p:spPr>
          <a:xfrm>
            <a:off x="1303350" y="1486775"/>
            <a:ext cx="381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Lexend"/>
                <a:ea typeface="Lexend"/>
                <a:cs typeface="Lexend"/>
                <a:sym typeface="Lexend"/>
              </a:rPr>
              <a:t>Number of pages per book</a:t>
            </a:r>
            <a:endParaRPr>
              <a:latin typeface="Lexend"/>
              <a:ea typeface="Lexend"/>
              <a:cs typeface="Lexend"/>
              <a:sym typeface="Lexend"/>
            </a:endParaRPr>
          </a:p>
        </p:txBody>
      </p:sp>
      <p:pic>
        <p:nvPicPr>
          <p:cNvPr id="929" name="Google Shape;929;p82"/>
          <p:cNvPicPr preferRelativeResize="0"/>
          <p:nvPr/>
        </p:nvPicPr>
        <p:blipFill>
          <a:blip r:embed="rId4">
            <a:alphaModFix/>
          </a:blip>
          <a:stretch>
            <a:fillRect/>
          </a:stretch>
        </p:blipFill>
        <p:spPr>
          <a:xfrm>
            <a:off x="7371075" y="2847337"/>
            <a:ext cx="1114250" cy="1078300"/>
          </a:xfrm>
          <a:prstGeom prst="rect">
            <a:avLst/>
          </a:prstGeom>
          <a:noFill/>
          <a:ln>
            <a:noFill/>
          </a:ln>
        </p:spPr>
      </p:pic>
      <p:sp>
        <p:nvSpPr>
          <p:cNvPr id="930" name="Google Shape;930;p82"/>
          <p:cNvSpPr txBox="1"/>
          <p:nvPr/>
        </p:nvSpPr>
        <p:spPr>
          <a:xfrm>
            <a:off x="7118419" y="3959423"/>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b="1" sz="1800">
              <a:latin typeface="Lexend"/>
              <a:ea typeface="Lexend"/>
              <a:cs typeface="Lexend"/>
              <a:sym typeface="Lexend"/>
            </a:endParaRPr>
          </a:p>
        </p:txBody>
      </p:sp>
      <p:pic>
        <p:nvPicPr>
          <p:cNvPr id="931" name="Google Shape;931;p82"/>
          <p:cNvPicPr preferRelativeResize="0"/>
          <p:nvPr/>
        </p:nvPicPr>
        <p:blipFill rotWithShape="1">
          <a:blip r:embed="rId5">
            <a:alphaModFix/>
          </a:blip>
          <a:srcRect b="0" l="0" r="70143" t="56280"/>
          <a:stretch/>
        </p:blipFill>
        <p:spPr>
          <a:xfrm>
            <a:off x="5774388" y="1838900"/>
            <a:ext cx="1888174" cy="1316250"/>
          </a:xfrm>
          <a:prstGeom prst="rect">
            <a:avLst/>
          </a:prstGeom>
          <a:noFill/>
          <a:ln>
            <a:noFill/>
          </a:ln>
        </p:spPr>
      </p:pic>
      <p:sp>
        <p:nvSpPr>
          <p:cNvPr id="932" name="Google Shape;932;p82"/>
          <p:cNvSpPr txBox="1"/>
          <p:nvPr/>
        </p:nvSpPr>
        <p:spPr>
          <a:xfrm>
            <a:off x="5824454" y="1930150"/>
            <a:ext cx="18006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This scale makes a lot of empty space.</a:t>
            </a:r>
            <a:endParaRPr sz="1800">
              <a:latin typeface="Lexend"/>
              <a:ea typeface="Lexend"/>
              <a:cs typeface="Lexend"/>
              <a:sym typeface="Lexend"/>
            </a:endParaRPr>
          </a:p>
        </p:txBody>
      </p:sp>
      <p:sp>
        <p:nvSpPr>
          <p:cNvPr id="933" name="Google Shape;933;p82"/>
          <p:cNvSpPr txBox="1"/>
          <p:nvPr/>
        </p:nvSpPr>
        <p:spPr>
          <a:xfrm>
            <a:off x="324000" y="4775250"/>
            <a:ext cx="5939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600">
                <a:solidFill>
                  <a:schemeClr val="dk2"/>
                </a:solidFill>
                <a:latin typeface="Lexend"/>
                <a:ea typeface="Lexend"/>
                <a:cs typeface="Lexend"/>
                <a:sym typeface="Lexend"/>
              </a:rPr>
              <a:t>Google Sheets is a trademark of Google LLC and this content is not endorsed by or affiliated with Google in any way.</a:t>
            </a:r>
            <a:endParaRPr sz="600">
              <a:solidFill>
                <a:schemeClr val="dk2"/>
              </a:solidFill>
              <a:latin typeface="Lexend"/>
              <a:ea typeface="Lexend"/>
              <a:cs typeface="Lexend"/>
              <a:sym typeface="Lexend"/>
            </a:endParaRPr>
          </a:p>
          <a:p>
            <a:pPr indent="0" lvl="0" marL="0" rtl="0" algn="l">
              <a:spcBef>
                <a:spcPts val="0"/>
              </a:spcBef>
              <a:spcAft>
                <a:spcPts val="0"/>
              </a:spcAft>
              <a:buNone/>
            </a:pPr>
            <a:r>
              <a:t/>
            </a:r>
            <a:endParaRPr sz="6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83"/>
          <p:cNvSpPr txBox="1"/>
          <p:nvPr>
            <p:ph idx="1" type="body"/>
          </p:nvPr>
        </p:nvSpPr>
        <p:spPr>
          <a:xfrm>
            <a:off x="314782" y="798527"/>
            <a:ext cx="8451600" cy="373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GB" sz="2000"/>
              <a:t>Let’s make the</a:t>
            </a:r>
            <a:r>
              <a:rPr lang="en-GB" sz="2000"/>
              <a:t> vertical axis go up in multiples of 25.</a:t>
            </a:r>
            <a:endParaRPr sz="2000"/>
          </a:p>
          <a:p>
            <a:pPr indent="0" lvl="0" marL="0" rtl="0" algn="l">
              <a:spcBef>
                <a:spcPts val="0"/>
              </a:spcBef>
              <a:spcAft>
                <a:spcPts val="1000"/>
              </a:spcAft>
              <a:buNone/>
            </a:pPr>
            <a:r>
              <a:t/>
            </a:r>
            <a:endParaRPr/>
          </a:p>
        </p:txBody>
      </p:sp>
      <p:sp>
        <p:nvSpPr>
          <p:cNvPr id="939" name="Google Shape;939;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on spreadsheet software</a:t>
            </a:r>
            <a:endParaRPr/>
          </a:p>
        </p:txBody>
      </p:sp>
      <p:pic>
        <p:nvPicPr>
          <p:cNvPr id="940" name="Google Shape;940;p83"/>
          <p:cNvPicPr preferRelativeResize="0"/>
          <p:nvPr/>
        </p:nvPicPr>
        <p:blipFill rotWithShape="1">
          <a:blip r:embed="rId3">
            <a:alphaModFix/>
          </a:blip>
          <a:srcRect b="2871" l="0" r="0" t="14126"/>
          <a:stretch/>
        </p:blipFill>
        <p:spPr>
          <a:xfrm>
            <a:off x="324000" y="1199075"/>
            <a:ext cx="6817925" cy="2911026"/>
          </a:xfrm>
          <a:prstGeom prst="rect">
            <a:avLst/>
          </a:prstGeom>
          <a:noFill/>
          <a:ln>
            <a:noFill/>
          </a:ln>
        </p:spPr>
      </p:pic>
      <p:sp>
        <p:nvSpPr>
          <p:cNvPr id="941" name="Google Shape;941;p83"/>
          <p:cNvSpPr txBox="1"/>
          <p:nvPr/>
        </p:nvSpPr>
        <p:spPr>
          <a:xfrm>
            <a:off x="10913225" y="810000"/>
            <a:ext cx="5580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200">
              <a:solidFill>
                <a:schemeClr val="accent4"/>
              </a:solidFill>
              <a:latin typeface="Lexend"/>
              <a:ea typeface="Lexend"/>
              <a:cs typeface="Lexend"/>
              <a:sym typeface="Lexend"/>
            </a:endParaRPr>
          </a:p>
        </p:txBody>
      </p:sp>
      <p:sp>
        <p:nvSpPr>
          <p:cNvPr id="942" name="Google Shape;942;p83"/>
          <p:cNvSpPr txBox="1"/>
          <p:nvPr/>
        </p:nvSpPr>
        <p:spPr>
          <a:xfrm>
            <a:off x="11014125" y="1659600"/>
            <a:ext cx="3306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200">
              <a:latin typeface="Lexend"/>
              <a:ea typeface="Lexend"/>
              <a:cs typeface="Lexend"/>
              <a:sym typeface="Lexend"/>
            </a:endParaRPr>
          </a:p>
        </p:txBody>
      </p:sp>
      <p:sp>
        <p:nvSpPr>
          <p:cNvPr id="943" name="Google Shape;943;p83"/>
          <p:cNvSpPr txBox="1"/>
          <p:nvPr/>
        </p:nvSpPr>
        <p:spPr>
          <a:xfrm>
            <a:off x="10980675" y="3215250"/>
            <a:ext cx="48399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200">
              <a:latin typeface="Lexend"/>
              <a:ea typeface="Lexend"/>
              <a:cs typeface="Lexend"/>
              <a:sym typeface="Lexend"/>
            </a:endParaRPr>
          </a:p>
          <a:p>
            <a:pPr indent="0" lvl="0" marL="0" rtl="0" algn="l">
              <a:spcBef>
                <a:spcPts val="0"/>
              </a:spcBef>
              <a:spcAft>
                <a:spcPts val="0"/>
              </a:spcAft>
              <a:buNone/>
            </a:pPr>
            <a:r>
              <a:t/>
            </a:r>
            <a:endParaRPr sz="2200">
              <a:latin typeface="Lexend"/>
              <a:ea typeface="Lexend"/>
              <a:cs typeface="Lexend"/>
              <a:sym typeface="Lexend"/>
            </a:endParaRPr>
          </a:p>
        </p:txBody>
      </p:sp>
      <p:sp>
        <p:nvSpPr>
          <p:cNvPr id="944" name="Google Shape;944;p83"/>
          <p:cNvSpPr txBox="1"/>
          <p:nvPr/>
        </p:nvSpPr>
        <p:spPr>
          <a:xfrm>
            <a:off x="427775" y="4512025"/>
            <a:ext cx="596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solidFill>
                <a:schemeClr val="dk2"/>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600">
                <a:solidFill>
                  <a:schemeClr val="dk2"/>
                </a:solidFill>
                <a:latin typeface="Lexend"/>
                <a:ea typeface="Lexend"/>
                <a:cs typeface="Lexend"/>
                <a:sym typeface="Lexend"/>
              </a:rPr>
              <a:t>Google Sheets is a trademark of Google LLC and this content is not endorsed by or affiliated with Google in any way.</a:t>
            </a:r>
            <a:endParaRPr sz="600">
              <a:solidFill>
                <a:schemeClr val="dk2"/>
              </a:solidFill>
              <a:latin typeface="Lexend"/>
              <a:ea typeface="Lexend"/>
              <a:cs typeface="Lexend"/>
              <a:sym typeface="Lexend"/>
            </a:endParaRPr>
          </a:p>
          <a:p>
            <a:pPr indent="0" lvl="0" marL="0" rtl="0" algn="l">
              <a:spcBef>
                <a:spcPts val="0"/>
              </a:spcBef>
              <a:spcAft>
                <a:spcPts val="0"/>
              </a:spcAft>
              <a:buNone/>
            </a:pPr>
            <a:r>
              <a:t/>
            </a:r>
            <a:endParaRPr sz="600">
              <a:solidFill>
                <a:schemeClr val="dk1"/>
              </a:solidFill>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8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Add the vertical axis according to this setup.</a:t>
            </a:r>
            <a:endParaRPr/>
          </a:p>
        </p:txBody>
      </p:sp>
      <p:sp>
        <p:nvSpPr>
          <p:cNvPr id="950" name="Google Shape;950;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on spreadsheet software</a:t>
            </a:r>
            <a:endParaRPr/>
          </a:p>
        </p:txBody>
      </p:sp>
      <p:pic>
        <p:nvPicPr>
          <p:cNvPr id="951" name="Google Shape;951;p84"/>
          <p:cNvPicPr preferRelativeResize="0"/>
          <p:nvPr/>
        </p:nvPicPr>
        <p:blipFill>
          <a:blip r:embed="rId3">
            <a:alphaModFix/>
          </a:blip>
          <a:stretch>
            <a:fillRect/>
          </a:stretch>
        </p:blipFill>
        <p:spPr>
          <a:xfrm>
            <a:off x="571900" y="1323972"/>
            <a:ext cx="3153125" cy="3247125"/>
          </a:xfrm>
          <a:prstGeom prst="rect">
            <a:avLst/>
          </a:prstGeom>
          <a:noFill/>
          <a:ln>
            <a:noFill/>
          </a:ln>
        </p:spPr>
      </p:pic>
      <p:pic>
        <p:nvPicPr>
          <p:cNvPr id="952" name="Google Shape;952;p84" title="Chart"/>
          <p:cNvPicPr preferRelativeResize="0"/>
          <p:nvPr/>
        </p:nvPicPr>
        <p:blipFill>
          <a:blip r:embed="rId4">
            <a:alphaModFix/>
          </a:blip>
          <a:stretch>
            <a:fillRect/>
          </a:stretch>
        </p:blipFill>
        <p:spPr>
          <a:xfrm>
            <a:off x="4488250" y="1243900"/>
            <a:ext cx="4293601" cy="2655700"/>
          </a:xfrm>
          <a:prstGeom prst="rect">
            <a:avLst/>
          </a:prstGeom>
          <a:noFill/>
          <a:ln>
            <a:noFill/>
          </a:ln>
        </p:spPr>
      </p:pic>
      <p:sp>
        <p:nvSpPr>
          <p:cNvPr id="953" name="Google Shape;953;p84"/>
          <p:cNvSpPr txBox="1"/>
          <p:nvPr/>
        </p:nvSpPr>
        <p:spPr>
          <a:xfrm>
            <a:off x="4488250" y="3407000"/>
            <a:ext cx="352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Kalam"/>
                <a:ea typeface="Kalam"/>
                <a:cs typeface="Kalam"/>
                <a:sym typeface="Kalam"/>
              </a:rPr>
              <a:t>0</a:t>
            </a:r>
            <a:endParaRPr sz="2000">
              <a:latin typeface="Kalam"/>
              <a:ea typeface="Kalam"/>
              <a:cs typeface="Kalam"/>
              <a:sym typeface="Kalam"/>
            </a:endParaRPr>
          </a:p>
        </p:txBody>
      </p:sp>
      <p:sp>
        <p:nvSpPr>
          <p:cNvPr id="954" name="Google Shape;954;p84"/>
          <p:cNvSpPr txBox="1"/>
          <p:nvPr/>
        </p:nvSpPr>
        <p:spPr>
          <a:xfrm>
            <a:off x="4412050" y="3078750"/>
            <a:ext cx="504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Kalam"/>
                <a:ea typeface="Kalam"/>
                <a:cs typeface="Kalam"/>
                <a:sym typeface="Kalam"/>
              </a:rPr>
              <a:t>3</a:t>
            </a:r>
            <a:r>
              <a:rPr lang="en-GB" sz="2000">
                <a:latin typeface="Kalam"/>
                <a:ea typeface="Kalam"/>
                <a:cs typeface="Kalam"/>
                <a:sym typeface="Kalam"/>
              </a:rPr>
              <a:t>0</a:t>
            </a:r>
            <a:endParaRPr sz="2000">
              <a:latin typeface="Kalam"/>
              <a:ea typeface="Kalam"/>
              <a:cs typeface="Kalam"/>
              <a:sym typeface="Kalam"/>
            </a:endParaRPr>
          </a:p>
        </p:txBody>
      </p:sp>
      <p:sp>
        <p:nvSpPr>
          <p:cNvPr id="955" name="Google Shape;955;p84"/>
          <p:cNvSpPr txBox="1"/>
          <p:nvPr/>
        </p:nvSpPr>
        <p:spPr>
          <a:xfrm>
            <a:off x="4412050" y="2766206"/>
            <a:ext cx="504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Kalam"/>
                <a:ea typeface="Kalam"/>
                <a:cs typeface="Kalam"/>
                <a:sym typeface="Kalam"/>
              </a:rPr>
              <a:t>6</a:t>
            </a:r>
            <a:r>
              <a:rPr lang="en-GB" sz="2000">
                <a:latin typeface="Kalam"/>
                <a:ea typeface="Kalam"/>
                <a:cs typeface="Kalam"/>
                <a:sym typeface="Kalam"/>
              </a:rPr>
              <a:t>0</a:t>
            </a:r>
            <a:endParaRPr sz="2000">
              <a:latin typeface="Kalam"/>
              <a:ea typeface="Kalam"/>
              <a:cs typeface="Kalam"/>
              <a:sym typeface="Kalam"/>
            </a:endParaRPr>
          </a:p>
        </p:txBody>
      </p:sp>
      <p:sp>
        <p:nvSpPr>
          <p:cNvPr id="956" name="Google Shape;956;p84"/>
          <p:cNvSpPr txBox="1"/>
          <p:nvPr/>
        </p:nvSpPr>
        <p:spPr>
          <a:xfrm>
            <a:off x="4412050" y="2446143"/>
            <a:ext cx="504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Kalam"/>
                <a:ea typeface="Kalam"/>
                <a:cs typeface="Kalam"/>
                <a:sym typeface="Kalam"/>
              </a:rPr>
              <a:t>9</a:t>
            </a:r>
            <a:r>
              <a:rPr lang="en-GB" sz="2000">
                <a:latin typeface="Kalam"/>
                <a:ea typeface="Kalam"/>
                <a:cs typeface="Kalam"/>
                <a:sym typeface="Kalam"/>
              </a:rPr>
              <a:t>0</a:t>
            </a:r>
            <a:endParaRPr sz="2000">
              <a:latin typeface="Kalam"/>
              <a:ea typeface="Kalam"/>
              <a:cs typeface="Kalam"/>
              <a:sym typeface="Kalam"/>
            </a:endParaRPr>
          </a:p>
        </p:txBody>
      </p:sp>
      <p:sp>
        <p:nvSpPr>
          <p:cNvPr id="957" name="Google Shape;957;p84"/>
          <p:cNvSpPr txBox="1"/>
          <p:nvPr/>
        </p:nvSpPr>
        <p:spPr>
          <a:xfrm>
            <a:off x="4320000" y="2126075"/>
            <a:ext cx="596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Kalam"/>
                <a:ea typeface="Kalam"/>
                <a:cs typeface="Kalam"/>
                <a:sym typeface="Kalam"/>
              </a:rPr>
              <a:t>12</a:t>
            </a:r>
            <a:r>
              <a:rPr lang="en-GB" sz="2000">
                <a:latin typeface="Kalam"/>
                <a:ea typeface="Kalam"/>
                <a:cs typeface="Kalam"/>
                <a:sym typeface="Kalam"/>
              </a:rPr>
              <a:t>0</a:t>
            </a:r>
            <a:endParaRPr sz="2000">
              <a:latin typeface="Kalam"/>
              <a:ea typeface="Kalam"/>
              <a:cs typeface="Kalam"/>
              <a:sym typeface="Kalam"/>
            </a:endParaRPr>
          </a:p>
        </p:txBody>
      </p:sp>
      <p:sp>
        <p:nvSpPr>
          <p:cNvPr id="958" name="Google Shape;958;p84"/>
          <p:cNvSpPr txBox="1"/>
          <p:nvPr/>
        </p:nvSpPr>
        <p:spPr>
          <a:xfrm>
            <a:off x="4326944" y="1806025"/>
            <a:ext cx="643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Kalam"/>
                <a:ea typeface="Kalam"/>
                <a:cs typeface="Kalam"/>
                <a:sym typeface="Kalam"/>
              </a:rPr>
              <a:t>15</a:t>
            </a:r>
            <a:r>
              <a:rPr lang="en-GB" sz="2000">
                <a:latin typeface="Kalam"/>
                <a:ea typeface="Kalam"/>
                <a:cs typeface="Kalam"/>
                <a:sym typeface="Kalam"/>
              </a:rPr>
              <a:t>0</a:t>
            </a:r>
            <a:endParaRPr sz="2000">
              <a:latin typeface="Kalam"/>
              <a:ea typeface="Kalam"/>
              <a:cs typeface="Kalam"/>
              <a:sym typeface="Kalam"/>
            </a:endParaRPr>
          </a:p>
        </p:txBody>
      </p:sp>
      <p:sp>
        <p:nvSpPr>
          <p:cNvPr id="959" name="Google Shape;959;p84"/>
          <p:cNvSpPr txBox="1"/>
          <p:nvPr/>
        </p:nvSpPr>
        <p:spPr>
          <a:xfrm>
            <a:off x="4321356" y="1501225"/>
            <a:ext cx="572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Kalam"/>
                <a:ea typeface="Kalam"/>
                <a:cs typeface="Kalam"/>
                <a:sym typeface="Kalam"/>
              </a:rPr>
              <a:t>18</a:t>
            </a:r>
            <a:r>
              <a:rPr lang="en-GB" sz="2000">
                <a:latin typeface="Kalam"/>
                <a:ea typeface="Kalam"/>
                <a:cs typeface="Kalam"/>
                <a:sym typeface="Kalam"/>
              </a:rPr>
              <a:t>0</a:t>
            </a:r>
            <a:endParaRPr sz="2000">
              <a:latin typeface="Kalam"/>
              <a:ea typeface="Kalam"/>
              <a:cs typeface="Kalam"/>
              <a:sym typeface="Kalam"/>
            </a:endParaRPr>
          </a:p>
        </p:txBody>
      </p:sp>
      <p:sp>
        <p:nvSpPr>
          <p:cNvPr id="960" name="Google Shape;960;p84"/>
          <p:cNvSpPr txBox="1"/>
          <p:nvPr/>
        </p:nvSpPr>
        <p:spPr>
          <a:xfrm>
            <a:off x="4334250" y="1173525"/>
            <a:ext cx="572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Kalam"/>
                <a:ea typeface="Kalam"/>
                <a:cs typeface="Kalam"/>
                <a:sym typeface="Kalam"/>
              </a:rPr>
              <a:t>210</a:t>
            </a:r>
            <a:endParaRPr sz="2000">
              <a:latin typeface="Kalam"/>
              <a:ea typeface="Kalam"/>
              <a:cs typeface="Kalam"/>
              <a:sym typeface="Kalam"/>
            </a:endParaRPr>
          </a:p>
        </p:txBody>
      </p:sp>
      <p:sp>
        <p:nvSpPr>
          <p:cNvPr id="961" name="Google Shape;961;p84"/>
          <p:cNvSpPr txBox="1"/>
          <p:nvPr/>
        </p:nvSpPr>
        <p:spPr>
          <a:xfrm rot="-5400000">
            <a:off x="3446325" y="1711438"/>
            <a:ext cx="1396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Frequency</a:t>
            </a:r>
            <a:endParaRPr sz="1800">
              <a:latin typeface="Lexend"/>
              <a:ea typeface="Lexend"/>
              <a:cs typeface="Lexend"/>
              <a:sym typeface="Lexend"/>
            </a:endParaRPr>
          </a:p>
        </p:txBody>
      </p:sp>
      <p:sp>
        <p:nvSpPr>
          <p:cNvPr id="962" name="Google Shape;962;p84"/>
          <p:cNvSpPr txBox="1"/>
          <p:nvPr/>
        </p:nvSpPr>
        <p:spPr>
          <a:xfrm>
            <a:off x="7604700" y="3703675"/>
            <a:ext cx="957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Books</a:t>
            </a:r>
            <a:endParaRPr sz="1800">
              <a:latin typeface="Lexend"/>
              <a:ea typeface="Lexend"/>
              <a:cs typeface="Lexend"/>
              <a:sym typeface="Lexend"/>
            </a:endParaRPr>
          </a:p>
        </p:txBody>
      </p:sp>
      <p:sp>
        <p:nvSpPr>
          <p:cNvPr id="963" name="Google Shape;963;p84"/>
          <p:cNvSpPr txBox="1"/>
          <p:nvPr/>
        </p:nvSpPr>
        <p:spPr>
          <a:xfrm>
            <a:off x="427775" y="4656275"/>
            <a:ext cx="5866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600">
                <a:solidFill>
                  <a:schemeClr val="dk2"/>
                </a:solidFill>
                <a:latin typeface="Lexend"/>
                <a:ea typeface="Lexend"/>
                <a:cs typeface="Lexend"/>
                <a:sym typeface="Lexend"/>
              </a:rPr>
              <a:t>Google Sheets is a trademark of Google LLC and this content is not endorsed by or affiliated with Google in any way.</a:t>
            </a:r>
            <a:endParaRPr sz="600">
              <a:solidFill>
                <a:schemeClr val="dk2"/>
              </a:solidFill>
              <a:latin typeface="Lexend"/>
              <a:ea typeface="Lexend"/>
              <a:cs typeface="Lexend"/>
              <a:sym typeface="Lexend"/>
            </a:endParaRPr>
          </a:p>
          <a:p>
            <a:pPr indent="0" lvl="0" marL="0" rtl="0" algn="l">
              <a:spcBef>
                <a:spcPts val="0"/>
              </a:spcBef>
              <a:spcAft>
                <a:spcPts val="0"/>
              </a:spcAft>
              <a:buNone/>
            </a:pPr>
            <a:r>
              <a:t/>
            </a:r>
            <a:endParaRPr sz="6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8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arenR"/>
            </a:pPr>
            <a:r>
              <a:rPr lang="en-GB" sz="1800"/>
              <a:t>The flower sales at a </a:t>
            </a:r>
            <a:r>
              <a:rPr lang="en-GB" sz="1800"/>
              <a:t>garden centre are recorded.</a:t>
            </a:r>
            <a:endParaRPr sz="1800"/>
          </a:p>
          <a:p>
            <a:pPr indent="-336550" lvl="1" marL="914400" rtl="0" algn="l">
              <a:spcBef>
                <a:spcPts val="0"/>
              </a:spcBef>
              <a:spcAft>
                <a:spcPts val="0"/>
              </a:spcAft>
              <a:buSzPts val="1700"/>
              <a:buAutoNum type="alphaLcParenR"/>
            </a:pPr>
            <a:r>
              <a:rPr lang="en-GB" sz="1800"/>
              <a:t>Create a bar chart for this list of data:</a:t>
            </a:r>
            <a:br>
              <a:rPr lang="en-GB" sz="1800"/>
            </a:br>
            <a:br>
              <a:rPr lang="en-GB" sz="1800"/>
            </a:br>
            <a:r>
              <a:rPr lang="en-GB" sz="1800"/>
              <a:t>r</a:t>
            </a:r>
            <a:r>
              <a:rPr lang="en-GB" sz="1800"/>
              <a:t>ose, tulip, marigold, viola, rose, rose, marigold, viola, daffodil, tulip, daffodil, petunia, marigold, daffodil, rose, tulip, petunia, petunia, tulip, marigold, rose, viola, rose, petunia, viola, viola</a:t>
            </a:r>
            <a:br>
              <a:rPr lang="en-GB" sz="1800"/>
            </a:br>
            <a:br>
              <a:rPr lang="en-GB" sz="1800"/>
            </a:br>
            <a:r>
              <a:rPr lang="en-GB" sz="1800"/>
              <a:t>Ensure it has a title on both axes.</a:t>
            </a:r>
            <a:br>
              <a:rPr lang="en-GB" sz="1800"/>
            </a:br>
            <a:endParaRPr sz="1800"/>
          </a:p>
          <a:p>
            <a:pPr indent="-336550" lvl="1" marL="914400" rtl="0" algn="l">
              <a:spcBef>
                <a:spcPts val="0"/>
              </a:spcBef>
              <a:spcAft>
                <a:spcPts val="0"/>
              </a:spcAft>
              <a:buSzPts val="1700"/>
              <a:buAutoNum type="alphaLcParenR"/>
            </a:pPr>
            <a:r>
              <a:rPr lang="en-GB" sz="1800"/>
              <a:t>Would you advise the garden centre to order an equal amount of each flower next time or different amounts? Explain your answer.</a:t>
            </a:r>
            <a:endParaRPr sz="1800"/>
          </a:p>
        </p:txBody>
      </p:sp>
      <p:sp>
        <p:nvSpPr>
          <p:cNvPr id="969" name="Google Shape;969;p8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Creating bar charts on spreadsheet software</a:t>
            </a:r>
            <a:endParaRPr/>
          </a:p>
          <a:p>
            <a:pPr indent="0" lvl="0" marL="0" rtl="0" algn="l">
              <a:spcBef>
                <a:spcPts val="1000"/>
              </a:spcBef>
              <a:spcAft>
                <a:spcPts val="10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8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AutoNum type="arabicParenR" startAt="2"/>
            </a:pPr>
            <a:r>
              <a:rPr lang="en-GB" sz="2000"/>
              <a:t>Create a bar chart for this table of data </a:t>
            </a:r>
            <a:r>
              <a:rPr lang="en-GB" sz="2000"/>
              <a:t>about</a:t>
            </a:r>
            <a:r>
              <a:rPr lang="en-GB" sz="2000"/>
              <a:t> visitors to a museum.</a:t>
            </a:r>
            <a:endParaRPr sz="2000"/>
          </a:p>
        </p:txBody>
      </p:sp>
      <p:sp>
        <p:nvSpPr>
          <p:cNvPr id="975" name="Google Shape;975;p86"/>
          <p:cNvSpPr txBox="1"/>
          <p:nvPr>
            <p:ph idx="2" type="subTitle"/>
          </p:nvPr>
        </p:nvSpPr>
        <p:spPr>
          <a:xfrm>
            <a:off x="1570025" y="134975"/>
            <a:ext cx="6855300" cy="3588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Creating bar charts on spreadsheet software</a:t>
            </a:r>
            <a:endParaRPr/>
          </a:p>
        </p:txBody>
      </p:sp>
      <p:graphicFrame>
        <p:nvGraphicFramePr>
          <p:cNvPr id="976" name="Google Shape;976;p86"/>
          <p:cNvGraphicFramePr/>
          <p:nvPr/>
        </p:nvGraphicFramePr>
        <p:xfrm>
          <a:off x="829975" y="1619988"/>
          <a:ext cx="3000000" cy="3000000"/>
        </p:xfrm>
        <a:graphic>
          <a:graphicData uri="http://schemas.openxmlformats.org/drawingml/2006/table">
            <a:tbl>
              <a:tblPr>
                <a:noFill/>
                <a:tableStyleId>{31A4F988-2BBE-4851-A6CE-8E7F50E7F410}</a:tableStyleId>
              </a:tblPr>
              <a:tblGrid>
                <a:gridCol w="1498000"/>
                <a:gridCol w="1528525"/>
              </a:tblGrid>
              <a:tr h="381000">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Day of the week</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381000">
                <a:tc>
                  <a:txBody>
                    <a:bodyPr/>
                    <a:lstStyle/>
                    <a:p>
                      <a:pPr indent="0" lvl="0" marL="0" rtl="0" algn="l">
                        <a:spcBef>
                          <a:spcPts val="0"/>
                        </a:spcBef>
                        <a:spcAft>
                          <a:spcPts val="0"/>
                        </a:spcAft>
                        <a:buNone/>
                      </a:pPr>
                      <a:r>
                        <a:rPr lang="en-GB" sz="1800">
                          <a:latin typeface="Lexend"/>
                          <a:ea typeface="Lexend"/>
                          <a:cs typeface="Lexend"/>
                          <a:sym typeface="Lexend"/>
                        </a:rPr>
                        <a:t>Monday</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28</a:t>
                      </a:r>
                      <a:endParaRPr sz="1800">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lang="en-GB" sz="1800">
                          <a:latin typeface="Lexend"/>
                          <a:ea typeface="Lexend"/>
                          <a:cs typeface="Lexend"/>
                          <a:sym typeface="Lexend"/>
                        </a:rPr>
                        <a:t>Tuesday</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25</a:t>
                      </a:r>
                      <a:endParaRPr sz="1800">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lang="en-GB" sz="1800">
                          <a:latin typeface="Lexend"/>
                          <a:ea typeface="Lexend"/>
                          <a:cs typeface="Lexend"/>
                          <a:sym typeface="Lexend"/>
                        </a:rPr>
                        <a:t>Wednesday</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32</a:t>
                      </a:r>
                      <a:endParaRPr sz="1800">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lang="en-GB" sz="1800">
                          <a:latin typeface="Lexend"/>
                          <a:ea typeface="Lexend"/>
                          <a:cs typeface="Lexend"/>
                          <a:sym typeface="Lexend"/>
                        </a:rPr>
                        <a:t>Thursday</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27</a:t>
                      </a:r>
                      <a:endParaRPr sz="1800">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lang="en-GB" sz="1800">
                          <a:latin typeface="Lexend"/>
                          <a:ea typeface="Lexend"/>
                          <a:cs typeface="Lexend"/>
                          <a:sym typeface="Lexend"/>
                        </a:rPr>
                        <a:t>Friday</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34</a:t>
                      </a:r>
                      <a:endParaRPr sz="1800">
                        <a:latin typeface="Lexend"/>
                        <a:ea typeface="Lexend"/>
                        <a:cs typeface="Lexend"/>
                        <a:sym typeface="Lexend"/>
                      </a:endParaRPr>
                    </a:p>
                  </a:txBody>
                  <a:tcPr marT="91425" marB="91425" marR="91425" marL="91425"/>
                </a:tc>
              </a:tr>
            </a:tbl>
          </a:graphicData>
        </a:graphic>
      </p:graphicFrame>
      <p:sp>
        <p:nvSpPr>
          <p:cNvPr id="977" name="Google Shape;977;p86"/>
          <p:cNvSpPr txBox="1"/>
          <p:nvPr/>
        </p:nvSpPr>
        <p:spPr>
          <a:xfrm>
            <a:off x="4572000" y="1350750"/>
            <a:ext cx="4395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Lexend"/>
                <a:ea typeface="Lexend"/>
                <a:cs typeface="Lexend"/>
                <a:sym typeface="Lexend"/>
              </a:rPr>
              <a:t>Ensure it has titles on both axes.</a:t>
            </a:r>
            <a:endParaRPr sz="2000">
              <a:latin typeface="Lexend"/>
              <a:ea typeface="Lexend"/>
              <a:cs typeface="Lexend"/>
              <a:sym typeface="Lexen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8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AutoNum type="arabicParenR" startAt="3"/>
            </a:pPr>
            <a:r>
              <a:rPr lang="en-GB" sz="2000"/>
              <a:t>Create a bar chart for this table of data </a:t>
            </a:r>
            <a:r>
              <a:rPr lang="en-GB" sz="2000"/>
              <a:t>about visitors to a museum</a:t>
            </a:r>
            <a:r>
              <a:rPr lang="en-GB" sz="2000"/>
              <a:t>.</a:t>
            </a:r>
            <a:endParaRPr sz="2000"/>
          </a:p>
          <a:p>
            <a:pPr indent="0" lvl="0" marL="457200" rtl="0" algn="l">
              <a:spcBef>
                <a:spcPts val="1000"/>
              </a:spcBef>
              <a:spcAft>
                <a:spcPts val="1000"/>
              </a:spcAft>
              <a:buNone/>
            </a:pPr>
            <a:r>
              <a:t/>
            </a:r>
            <a:endParaRPr sz="2000"/>
          </a:p>
        </p:txBody>
      </p:sp>
      <p:sp>
        <p:nvSpPr>
          <p:cNvPr id="983" name="Google Shape;983;p87"/>
          <p:cNvSpPr txBox="1"/>
          <p:nvPr>
            <p:ph idx="2" type="subTitle"/>
          </p:nvPr>
        </p:nvSpPr>
        <p:spPr>
          <a:xfrm>
            <a:off x="1570025" y="134975"/>
            <a:ext cx="6855300" cy="3588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Creating bar charts on spreadsheet software</a:t>
            </a:r>
            <a:endParaRPr/>
          </a:p>
        </p:txBody>
      </p:sp>
      <p:graphicFrame>
        <p:nvGraphicFramePr>
          <p:cNvPr id="984" name="Google Shape;984;p87"/>
          <p:cNvGraphicFramePr/>
          <p:nvPr/>
        </p:nvGraphicFramePr>
        <p:xfrm>
          <a:off x="823350" y="1522150"/>
          <a:ext cx="3000000" cy="3000000"/>
        </p:xfrm>
        <a:graphic>
          <a:graphicData uri="http://schemas.openxmlformats.org/drawingml/2006/table">
            <a:tbl>
              <a:tblPr>
                <a:noFill/>
                <a:tableStyleId>{31A4F988-2BBE-4851-A6CE-8E7F50E7F410}</a:tableStyleId>
              </a:tblPr>
              <a:tblGrid>
                <a:gridCol w="1575300"/>
                <a:gridCol w="1465850"/>
                <a:gridCol w="1412425"/>
              </a:tblGrid>
              <a:tr h="381000">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Day of the week</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p>
                      <a:pPr indent="0" lvl="0" marL="0" rtl="0" algn="l">
                        <a:spcBef>
                          <a:spcPts val="0"/>
                        </a:spcBef>
                        <a:spcAft>
                          <a:spcPts val="0"/>
                        </a:spcAft>
                        <a:buNone/>
                      </a:pPr>
                      <a:r>
                        <a:rPr lang="en-GB" sz="1800">
                          <a:solidFill>
                            <a:schemeClr val="lt1"/>
                          </a:solidFill>
                          <a:latin typeface="Lexend"/>
                          <a:ea typeface="Lexend"/>
                          <a:cs typeface="Lexend"/>
                          <a:sym typeface="Lexend"/>
                        </a:rPr>
                        <a:t>(week 1)</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Frequency (week 2)</a:t>
                      </a:r>
                      <a:endParaRPr sz="1800">
                        <a:solidFill>
                          <a:schemeClr val="lt1"/>
                        </a:solidFill>
                        <a:latin typeface="Lexend"/>
                        <a:ea typeface="Lexend"/>
                        <a:cs typeface="Lexend"/>
                        <a:sym typeface="Lexend"/>
                      </a:endParaRPr>
                    </a:p>
                  </a:txBody>
                  <a:tcPr marT="91425" marB="91425" marR="91425" marL="91425">
                    <a:solidFill>
                      <a:schemeClr val="accent4"/>
                    </a:solidFill>
                  </a:tcPr>
                </a:tc>
              </a:tr>
              <a:tr h="381000">
                <a:tc>
                  <a:txBody>
                    <a:bodyPr/>
                    <a:lstStyle/>
                    <a:p>
                      <a:pPr indent="0" lvl="0" marL="0" rtl="0" algn="l">
                        <a:spcBef>
                          <a:spcPts val="0"/>
                        </a:spcBef>
                        <a:spcAft>
                          <a:spcPts val="0"/>
                        </a:spcAft>
                        <a:buNone/>
                      </a:pPr>
                      <a:r>
                        <a:rPr lang="en-GB" sz="1800">
                          <a:latin typeface="Lexend"/>
                          <a:ea typeface="Lexend"/>
                          <a:cs typeface="Lexend"/>
                          <a:sym typeface="Lexend"/>
                        </a:rPr>
                        <a:t>Monday</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28</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24</a:t>
                      </a:r>
                      <a:endParaRPr sz="1800">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lang="en-GB" sz="1800">
                          <a:latin typeface="Lexend"/>
                          <a:ea typeface="Lexend"/>
                          <a:cs typeface="Lexend"/>
                          <a:sym typeface="Lexend"/>
                        </a:rPr>
                        <a:t>Tuesday</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25</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23</a:t>
                      </a:r>
                      <a:endParaRPr sz="1800">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lang="en-GB" sz="1800">
                          <a:latin typeface="Lexend"/>
                          <a:ea typeface="Lexend"/>
                          <a:cs typeface="Lexend"/>
                          <a:sym typeface="Lexend"/>
                        </a:rPr>
                        <a:t>Wednesday</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32</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34</a:t>
                      </a:r>
                      <a:endParaRPr sz="1800">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lang="en-GB" sz="1800">
                          <a:latin typeface="Lexend"/>
                          <a:ea typeface="Lexend"/>
                          <a:cs typeface="Lexend"/>
                          <a:sym typeface="Lexend"/>
                        </a:rPr>
                        <a:t>Thursday</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27</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26</a:t>
                      </a:r>
                      <a:endParaRPr sz="1800">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lang="en-GB" sz="1800">
                          <a:latin typeface="Lexend"/>
                          <a:ea typeface="Lexend"/>
                          <a:cs typeface="Lexend"/>
                          <a:sym typeface="Lexend"/>
                        </a:rPr>
                        <a:t>Friday</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34</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32</a:t>
                      </a:r>
                      <a:endParaRPr sz="1800">
                        <a:latin typeface="Lexend"/>
                        <a:ea typeface="Lexend"/>
                        <a:cs typeface="Lexend"/>
                        <a:sym typeface="Lexend"/>
                      </a:endParaRPr>
                    </a:p>
                  </a:txBody>
                  <a:tcPr marT="91425" marB="91425" marR="91425" marL="91425"/>
                </a:tc>
              </a:tr>
            </a:tbl>
          </a:graphicData>
        </a:graphic>
      </p:graphicFrame>
      <p:sp>
        <p:nvSpPr>
          <p:cNvPr id="985" name="Google Shape;985;p87"/>
          <p:cNvSpPr txBox="1"/>
          <p:nvPr/>
        </p:nvSpPr>
        <p:spPr>
          <a:xfrm>
            <a:off x="5731100" y="1383150"/>
            <a:ext cx="33045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Lexend"/>
                <a:ea typeface="Lexend"/>
                <a:cs typeface="Lexend"/>
                <a:sym typeface="Lexend"/>
              </a:rPr>
              <a:t>What is different about this bar chart?</a:t>
            </a:r>
            <a:endParaRPr sz="2000">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8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arenR"/>
            </a:pPr>
            <a:r>
              <a:rPr lang="en-GB" sz="1800"/>
              <a:t>The flower sales at a garden centre are recorded.</a:t>
            </a:r>
            <a:endParaRPr sz="1800"/>
          </a:p>
          <a:p>
            <a:pPr indent="-336550" lvl="1" marL="914400" rtl="0" algn="l">
              <a:spcBef>
                <a:spcPts val="0"/>
              </a:spcBef>
              <a:spcAft>
                <a:spcPts val="0"/>
              </a:spcAft>
              <a:buSzPts val="1700"/>
              <a:buAutoNum type="alphaLcParenR"/>
            </a:pPr>
            <a:r>
              <a:rPr lang="en-GB" sz="1800"/>
              <a:t>Create a bar chart for this list of data:</a:t>
            </a:r>
            <a:br>
              <a:rPr lang="en-GB" sz="1800"/>
            </a:br>
            <a:br>
              <a:rPr lang="en-GB" sz="1800"/>
            </a:b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br>
              <a:rPr lang="en-GB" sz="1800"/>
            </a:br>
            <a:endParaRPr sz="1800"/>
          </a:p>
          <a:p>
            <a:pPr indent="0" lvl="0" marL="914400" rtl="0" algn="l">
              <a:spcBef>
                <a:spcPts val="1000"/>
              </a:spcBef>
              <a:spcAft>
                <a:spcPts val="1000"/>
              </a:spcAft>
              <a:buNone/>
            </a:pPr>
            <a:r>
              <a:t/>
            </a:r>
            <a:endParaRPr sz="1800"/>
          </a:p>
        </p:txBody>
      </p:sp>
      <p:sp>
        <p:nvSpPr>
          <p:cNvPr id="991" name="Google Shape;991;p8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Creating bar charts on spreadsheet software</a:t>
            </a:r>
            <a:endParaRPr/>
          </a:p>
          <a:p>
            <a:pPr indent="0" lvl="0" marL="0" rtl="0" algn="l">
              <a:spcBef>
                <a:spcPts val="1000"/>
              </a:spcBef>
              <a:spcAft>
                <a:spcPts val="1000"/>
              </a:spcAft>
              <a:buNone/>
            </a:pPr>
            <a:r>
              <a:t/>
            </a:r>
            <a:endParaRPr/>
          </a:p>
        </p:txBody>
      </p:sp>
      <p:pic>
        <p:nvPicPr>
          <p:cNvPr id="992" name="Google Shape;992;p88" title="Chart"/>
          <p:cNvPicPr preferRelativeResize="0"/>
          <p:nvPr/>
        </p:nvPicPr>
        <p:blipFill>
          <a:blip r:embed="rId3">
            <a:alphaModFix/>
          </a:blip>
          <a:stretch>
            <a:fillRect/>
          </a:stretch>
        </p:blipFill>
        <p:spPr>
          <a:xfrm>
            <a:off x="1204325" y="1473950"/>
            <a:ext cx="4830598" cy="2985075"/>
          </a:xfrm>
          <a:prstGeom prst="rect">
            <a:avLst/>
          </a:prstGeom>
          <a:noFill/>
          <a:ln>
            <a:noFill/>
          </a:ln>
        </p:spPr>
      </p:pic>
      <p:sp>
        <p:nvSpPr>
          <p:cNvPr id="993" name="Google Shape;993;p88"/>
          <p:cNvSpPr txBox="1"/>
          <p:nvPr/>
        </p:nvSpPr>
        <p:spPr>
          <a:xfrm>
            <a:off x="6431775" y="1555900"/>
            <a:ext cx="17628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Kalam"/>
                <a:ea typeface="Kalam"/>
                <a:cs typeface="Kalam"/>
                <a:sym typeface="Kalam"/>
              </a:rPr>
              <a:t>It doesn’t matter if you have changed the colours or scales.</a:t>
            </a:r>
            <a:endParaRPr sz="2000">
              <a:latin typeface="Kalam"/>
              <a:ea typeface="Kalam"/>
              <a:cs typeface="Kalam"/>
              <a:sym typeface="Kalam"/>
            </a:endParaRPr>
          </a:p>
        </p:txBody>
      </p:sp>
      <p:sp>
        <p:nvSpPr>
          <p:cNvPr id="994" name="Google Shape;994;p88"/>
          <p:cNvSpPr txBox="1"/>
          <p:nvPr/>
        </p:nvSpPr>
        <p:spPr>
          <a:xfrm>
            <a:off x="427775" y="4593500"/>
            <a:ext cx="586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solidFill>
                <a:schemeClr val="dk2"/>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600">
                <a:solidFill>
                  <a:schemeClr val="dk2"/>
                </a:solidFill>
                <a:latin typeface="Lexend"/>
                <a:ea typeface="Lexend"/>
                <a:cs typeface="Lexend"/>
                <a:sym typeface="Lexend"/>
              </a:rPr>
              <a:t>Google Sheets is a trademark of Google LLC and this content is not endorsed by or affiliated with Google in any way.</a:t>
            </a:r>
            <a:endParaRPr sz="600">
              <a:solidFill>
                <a:schemeClr val="dk2"/>
              </a:solidFill>
              <a:latin typeface="Lexend"/>
              <a:ea typeface="Lexend"/>
              <a:cs typeface="Lexend"/>
              <a:sym typeface="Lexend"/>
            </a:endParaRPr>
          </a:p>
          <a:p>
            <a:pPr indent="0" lvl="0" marL="0" rtl="0" algn="l">
              <a:spcBef>
                <a:spcPts val="0"/>
              </a:spcBef>
              <a:spcAft>
                <a:spcPts val="0"/>
              </a:spcAft>
              <a:buNone/>
            </a:pPr>
            <a:r>
              <a:t/>
            </a:r>
            <a:endParaRPr sz="600">
              <a:solidFill>
                <a:schemeClr val="dk1"/>
              </a:solidFill>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89"/>
          <p:cNvSpPr txBox="1"/>
          <p:nvPr>
            <p:ph idx="1" type="body"/>
          </p:nvPr>
        </p:nvSpPr>
        <p:spPr>
          <a:xfrm>
            <a:off x="324000" y="759300"/>
            <a:ext cx="8237700" cy="1243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arenR"/>
            </a:pPr>
            <a:r>
              <a:rPr lang="en-GB" sz="1800"/>
              <a:t>The flower sales at a garden centre are recorded.</a:t>
            </a:r>
            <a:endParaRPr sz="1800"/>
          </a:p>
          <a:p>
            <a:pPr indent="-336550" lvl="1" marL="914400" rtl="0" algn="l">
              <a:spcBef>
                <a:spcPts val="0"/>
              </a:spcBef>
              <a:spcAft>
                <a:spcPts val="0"/>
              </a:spcAft>
              <a:buSzPts val="1700"/>
              <a:buAutoNum type="alphaLcParenR" startAt="2"/>
            </a:pPr>
            <a:r>
              <a:rPr lang="en-GB" sz="1800"/>
              <a:t>Would you advise the garden centre to order an equal amount of each flower next time or different amounts? Explain your answer.</a:t>
            </a:r>
            <a:endParaRPr sz="1800"/>
          </a:p>
        </p:txBody>
      </p:sp>
      <p:sp>
        <p:nvSpPr>
          <p:cNvPr id="1000" name="Google Shape;1000;p8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Creating bar charts on spreadsheet software</a:t>
            </a:r>
            <a:endParaRPr/>
          </a:p>
          <a:p>
            <a:pPr indent="0" lvl="0" marL="0" rtl="0" algn="l">
              <a:spcBef>
                <a:spcPts val="1000"/>
              </a:spcBef>
              <a:spcAft>
                <a:spcPts val="1000"/>
              </a:spcAft>
              <a:buNone/>
            </a:pPr>
            <a:r>
              <a:t/>
            </a:r>
            <a:endParaRPr/>
          </a:p>
        </p:txBody>
      </p:sp>
      <p:sp>
        <p:nvSpPr>
          <p:cNvPr id="1001" name="Google Shape;1001;p89"/>
          <p:cNvSpPr txBox="1"/>
          <p:nvPr/>
        </p:nvSpPr>
        <p:spPr>
          <a:xfrm>
            <a:off x="952525" y="2062700"/>
            <a:ext cx="74274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Kalam"/>
                <a:ea typeface="Kalam"/>
                <a:cs typeface="Kalam"/>
                <a:sym typeface="Kalam"/>
              </a:rPr>
              <a:t>Your response may have included:</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The total </a:t>
            </a:r>
            <a:r>
              <a:rPr lang="en-GB" sz="2000">
                <a:latin typeface="Kalam"/>
                <a:ea typeface="Kalam"/>
                <a:cs typeface="Kalam"/>
                <a:sym typeface="Kalam"/>
              </a:rPr>
              <a:t>amount of sales is not very high, so although daffodil sales were the lowest on this particular day, it may not be the case on another day. The garden centre should collect further data to get a better understanding of the sales.</a:t>
            </a:r>
            <a:endParaRPr sz="2000">
              <a:latin typeface="Kalam"/>
              <a:ea typeface="Kalam"/>
              <a:cs typeface="Kalam"/>
              <a:sym typeface="Kala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9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AutoNum type="arabicParenR" startAt="2"/>
            </a:pPr>
            <a:r>
              <a:rPr lang="en-GB" sz="2000"/>
              <a:t>Create a bar chart for this table of data about visitors to a museum.</a:t>
            </a:r>
            <a:endParaRPr sz="2000"/>
          </a:p>
          <a:p>
            <a:pPr indent="0" lvl="0" marL="457200" rtl="0" algn="l">
              <a:spcBef>
                <a:spcPts val="1000"/>
              </a:spcBef>
              <a:spcAft>
                <a:spcPts val="0"/>
              </a:spcAft>
              <a:buNone/>
            </a:pPr>
            <a:r>
              <a:t/>
            </a:r>
            <a:endParaRPr sz="2000"/>
          </a:p>
          <a:p>
            <a:pPr indent="0" lvl="0" marL="457200" rtl="0" algn="l">
              <a:spcBef>
                <a:spcPts val="1000"/>
              </a:spcBef>
              <a:spcAft>
                <a:spcPts val="1000"/>
              </a:spcAft>
              <a:buNone/>
            </a:pPr>
            <a:r>
              <a:t/>
            </a:r>
            <a:endParaRPr sz="2000"/>
          </a:p>
        </p:txBody>
      </p:sp>
      <p:sp>
        <p:nvSpPr>
          <p:cNvPr id="1007" name="Google Shape;1007;p90"/>
          <p:cNvSpPr txBox="1"/>
          <p:nvPr>
            <p:ph idx="2" type="subTitle"/>
          </p:nvPr>
        </p:nvSpPr>
        <p:spPr>
          <a:xfrm>
            <a:off x="1570025" y="134975"/>
            <a:ext cx="6855300" cy="286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Creating bar charts on spreadsheet software</a:t>
            </a:r>
            <a:endParaRPr/>
          </a:p>
          <a:p>
            <a:pPr indent="0" lvl="0" marL="0" rtl="0" algn="l">
              <a:spcBef>
                <a:spcPts val="1000"/>
              </a:spcBef>
              <a:spcAft>
                <a:spcPts val="1000"/>
              </a:spcAft>
              <a:buNone/>
            </a:pPr>
            <a:r>
              <a:t/>
            </a:r>
            <a:endParaRPr/>
          </a:p>
        </p:txBody>
      </p:sp>
      <p:graphicFrame>
        <p:nvGraphicFramePr>
          <p:cNvPr id="1008" name="Google Shape;1008;p90"/>
          <p:cNvGraphicFramePr/>
          <p:nvPr/>
        </p:nvGraphicFramePr>
        <p:xfrm>
          <a:off x="816725" y="1575125"/>
          <a:ext cx="3000000" cy="3000000"/>
        </p:xfrm>
        <a:graphic>
          <a:graphicData uri="http://schemas.openxmlformats.org/drawingml/2006/table">
            <a:tbl>
              <a:tblPr>
                <a:noFill/>
                <a:tableStyleId>{31A4F988-2BBE-4851-A6CE-8E7F50E7F410}</a:tableStyleId>
              </a:tblPr>
              <a:tblGrid>
                <a:gridCol w="1498000"/>
                <a:gridCol w="1528525"/>
              </a:tblGrid>
              <a:tr h="381000">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Day of the week</a:t>
                      </a:r>
                      <a:endParaRPr sz="1800">
                        <a:solidFill>
                          <a:schemeClr val="lt1"/>
                        </a:solidFill>
                        <a:latin typeface="Lexend"/>
                        <a:ea typeface="Lexend"/>
                        <a:cs typeface="Lexend"/>
                        <a:sym typeface="Lexend"/>
                      </a:endParaRPr>
                    </a:p>
                  </a:txBody>
                  <a:tcPr marT="91425" marB="91425" marR="91425" marL="91425">
                    <a:solidFill>
                      <a:schemeClr val="accent4"/>
                    </a:solidFill>
                  </a:tcPr>
                </a:tc>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Frequency</a:t>
                      </a:r>
                      <a:endParaRPr sz="1800">
                        <a:solidFill>
                          <a:schemeClr val="lt1"/>
                        </a:solidFill>
                        <a:latin typeface="Lexend"/>
                        <a:ea typeface="Lexend"/>
                        <a:cs typeface="Lexend"/>
                        <a:sym typeface="Lexend"/>
                      </a:endParaRPr>
                    </a:p>
                  </a:txBody>
                  <a:tcPr marT="91425" marB="91425" marR="91425" marL="91425">
                    <a:solidFill>
                      <a:schemeClr val="accent4"/>
                    </a:solidFill>
                  </a:tcPr>
                </a:tc>
              </a:tr>
              <a:tr h="381000">
                <a:tc>
                  <a:txBody>
                    <a:bodyPr/>
                    <a:lstStyle/>
                    <a:p>
                      <a:pPr indent="0" lvl="0" marL="0" rtl="0" algn="l">
                        <a:spcBef>
                          <a:spcPts val="0"/>
                        </a:spcBef>
                        <a:spcAft>
                          <a:spcPts val="0"/>
                        </a:spcAft>
                        <a:buNone/>
                      </a:pPr>
                      <a:r>
                        <a:rPr lang="en-GB" sz="1800">
                          <a:latin typeface="Lexend"/>
                          <a:ea typeface="Lexend"/>
                          <a:cs typeface="Lexend"/>
                          <a:sym typeface="Lexend"/>
                        </a:rPr>
                        <a:t>Monday</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28</a:t>
                      </a:r>
                      <a:endParaRPr sz="1800">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lang="en-GB" sz="1800">
                          <a:latin typeface="Lexend"/>
                          <a:ea typeface="Lexend"/>
                          <a:cs typeface="Lexend"/>
                          <a:sym typeface="Lexend"/>
                        </a:rPr>
                        <a:t>Tuesday</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25</a:t>
                      </a:r>
                      <a:endParaRPr sz="1800">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lang="en-GB" sz="1800">
                          <a:latin typeface="Lexend"/>
                          <a:ea typeface="Lexend"/>
                          <a:cs typeface="Lexend"/>
                          <a:sym typeface="Lexend"/>
                        </a:rPr>
                        <a:t>Wednesday</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32</a:t>
                      </a:r>
                      <a:endParaRPr sz="1800">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lang="en-GB" sz="1800">
                          <a:latin typeface="Lexend"/>
                          <a:ea typeface="Lexend"/>
                          <a:cs typeface="Lexend"/>
                          <a:sym typeface="Lexend"/>
                        </a:rPr>
                        <a:t>Thursday</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27</a:t>
                      </a:r>
                      <a:endParaRPr sz="1800">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lang="en-GB" sz="1800">
                          <a:latin typeface="Lexend"/>
                          <a:ea typeface="Lexend"/>
                          <a:cs typeface="Lexend"/>
                          <a:sym typeface="Lexend"/>
                        </a:rPr>
                        <a:t>Friday</a:t>
                      </a:r>
                      <a:endParaRPr sz="18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800">
                          <a:latin typeface="Lexend"/>
                          <a:ea typeface="Lexend"/>
                          <a:cs typeface="Lexend"/>
                          <a:sym typeface="Lexend"/>
                        </a:rPr>
                        <a:t>34</a:t>
                      </a:r>
                      <a:endParaRPr sz="1800">
                        <a:latin typeface="Lexend"/>
                        <a:ea typeface="Lexend"/>
                        <a:cs typeface="Lexend"/>
                        <a:sym typeface="Lexend"/>
                      </a:endParaRPr>
                    </a:p>
                  </a:txBody>
                  <a:tcPr marT="91425" marB="91425" marR="91425" marL="91425"/>
                </a:tc>
              </a:tr>
            </a:tbl>
          </a:graphicData>
        </a:graphic>
      </p:graphicFrame>
      <p:pic>
        <p:nvPicPr>
          <p:cNvPr id="1009" name="Google Shape;1009;p90" title="Chart"/>
          <p:cNvPicPr preferRelativeResize="0"/>
          <p:nvPr/>
        </p:nvPicPr>
        <p:blipFill>
          <a:blip r:embed="rId3">
            <a:alphaModFix/>
          </a:blip>
          <a:stretch>
            <a:fillRect/>
          </a:stretch>
        </p:blipFill>
        <p:spPr>
          <a:xfrm>
            <a:off x="3933301" y="1403663"/>
            <a:ext cx="4812249" cy="2976200"/>
          </a:xfrm>
          <a:prstGeom prst="rect">
            <a:avLst/>
          </a:prstGeom>
          <a:noFill/>
          <a:ln>
            <a:noFill/>
          </a:ln>
        </p:spPr>
      </p:pic>
      <p:sp>
        <p:nvSpPr>
          <p:cNvPr id="1010" name="Google Shape;1010;p90"/>
          <p:cNvSpPr txBox="1"/>
          <p:nvPr/>
        </p:nvSpPr>
        <p:spPr>
          <a:xfrm>
            <a:off x="346300" y="4634250"/>
            <a:ext cx="586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solidFill>
                <a:schemeClr val="dk2"/>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600">
                <a:solidFill>
                  <a:schemeClr val="dk2"/>
                </a:solidFill>
                <a:latin typeface="Lexend"/>
                <a:ea typeface="Lexend"/>
                <a:cs typeface="Lexend"/>
                <a:sym typeface="Lexend"/>
              </a:rPr>
              <a:t>Google Sheets is a trademark of Google LLC and this content is not endorsed by or affiliated with Google in any way.</a:t>
            </a:r>
            <a:endParaRPr sz="600">
              <a:solidFill>
                <a:schemeClr val="dk2"/>
              </a:solidFill>
              <a:latin typeface="Lexend"/>
              <a:ea typeface="Lexend"/>
              <a:cs typeface="Lexend"/>
              <a:sym typeface="Lexend"/>
            </a:endParaRPr>
          </a:p>
          <a:p>
            <a:pPr indent="0" lvl="0" marL="0" rtl="0" algn="l">
              <a:spcBef>
                <a:spcPts val="0"/>
              </a:spcBef>
              <a:spcAft>
                <a:spcPts val="0"/>
              </a:spcAft>
              <a:buNone/>
            </a:pPr>
            <a:r>
              <a:t/>
            </a:r>
            <a:endParaRPr sz="600">
              <a:solidFill>
                <a:schemeClr val="dk1"/>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9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AutoNum type="arabicParenR" startAt="3"/>
            </a:pPr>
            <a:r>
              <a:rPr lang="en-GB" sz="2000"/>
              <a:t>Create a bar chart for this table of data about visitors to a museum.</a:t>
            </a:r>
            <a:endParaRPr sz="2000"/>
          </a:p>
          <a:p>
            <a:pPr indent="0" lvl="0" marL="457200" rtl="0" algn="l">
              <a:spcBef>
                <a:spcPts val="1000"/>
              </a:spcBef>
              <a:spcAft>
                <a:spcPts val="0"/>
              </a:spcAft>
              <a:buNone/>
            </a:pPr>
            <a:r>
              <a:t/>
            </a:r>
            <a:endParaRPr sz="2000"/>
          </a:p>
          <a:p>
            <a:pPr indent="0" lvl="0" marL="457200" rtl="0" algn="l">
              <a:spcBef>
                <a:spcPts val="1000"/>
              </a:spcBef>
              <a:spcAft>
                <a:spcPts val="1000"/>
              </a:spcAft>
              <a:buNone/>
            </a:pPr>
            <a:r>
              <a:t/>
            </a:r>
            <a:endParaRPr sz="2000"/>
          </a:p>
        </p:txBody>
      </p:sp>
      <p:sp>
        <p:nvSpPr>
          <p:cNvPr id="1016" name="Google Shape;1016;p9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Creating bar charts on spreadsheet software</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1000"/>
              </a:spcAft>
              <a:buNone/>
            </a:pPr>
            <a:r>
              <a:t/>
            </a:r>
            <a:endParaRPr/>
          </a:p>
        </p:txBody>
      </p:sp>
      <p:sp>
        <p:nvSpPr>
          <p:cNvPr id="1017" name="Google Shape;1017;p91"/>
          <p:cNvSpPr txBox="1"/>
          <p:nvPr/>
        </p:nvSpPr>
        <p:spPr>
          <a:xfrm>
            <a:off x="5731100" y="1383150"/>
            <a:ext cx="33045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Lexend"/>
                <a:ea typeface="Lexend"/>
                <a:cs typeface="Lexend"/>
                <a:sym typeface="Lexend"/>
              </a:rPr>
              <a:t>What is different about this bar chart?</a:t>
            </a:r>
            <a:endParaRPr sz="2000">
              <a:latin typeface="Lexend"/>
              <a:ea typeface="Lexend"/>
              <a:cs typeface="Lexend"/>
              <a:sym typeface="Lexend"/>
            </a:endParaRPr>
          </a:p>
        </p:txBody>
      </p:sp>
      <p:pic>
        <p:nvPicPr>
          <p:cNvPr id="1018" name="Google Shape;1018;p91" title="Chart"/>
          <p:cNvPicPr preferRelativeResize="0"/>
          <p:nvPr/>
        </p:nvPicPr>
        <p:blipFill>
          <a:blip r:embed="rId3">
            <a:alphaModFix/>
          </a:blip>
          <a:stretch>
            <a:fillRect/>
          </a:stretch>
        </p:blipFill>
        <p:spPr>
          <a:xfrm>
            <a:off x="784325" y="1511150"/>
            <a:ext cx="4882565" cy="3020700"/>
          </a:xfrm>
          <a:prstGeom prst="rect">
            <a:avLst/>
          </a:prstGeom>
          <a:noFill/>
          <a:ln>
            <a:noFill/>
          </a:ln>
        </p:spPr>
      </p:pic>
      <p:sp>
        <p:nvSpPr>
          <p:cNvPr id="1019" name="Google Shape;1019;p91"/>
          <p:cNvSpPr txBox="1"/>
          <p:nvPr/>
        </p:nvSpPr>
        <p:spPr>
          <a:xfrm>
            <a:off x="5868575" y="2342800"/>
            <a:ext cx="32127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Kalam"/>
                <a:ea typeface="Kalam"/>
                <a:cs typeface="Kalam"/>
                <a:sym typeface="Kalam"/>
              </a:rPr>
              <a:t>It is a </a:t>
            </a:r>
            <a:r>
              <a:rPr lang="en-GB" sz="2000">
                <a:latin typeface="Kalam"/>
                <a:ea typeface="Kalam"/>
                <a:cs typeface="Kalam"/>
                <a:sym typeface="Kalam"/>
              </a:rPr>
              <a:t>comparison bar chart, as there were two sets of data for the same thing.</a:t>
            </a:r>
            <a:endParaRPr sz="2000">
              <a:latin typeface="Kalam"/>
              <a:ea typeface="Kalam"/>
              <a:cs typeface="Kalam"/>
              <a:sym typeface="Kalam"/>
            </a:endParaRPr>
          </a:p>
        </p:txBody>
      </p:sp>
      <p:sp>
        <p:nvSpPr>
          <p:cNvPr id="1020" name="Google Shape;1020;p91"/>
          <p:cNvSpPr txBox="1"/>
          <p:nvPr/>
        </p:nvSpPr>
        <p:spPr>
          <a:xfrm>
            <a:off x="702775" y="4624050"/>
            <a:ext cx="5937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solidFill>
                <a:schemeClr val="dk2"/>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600">
                <a:solidFill>
                  <a:schemeClr val="dk2"/>
                </a:solidFill>
                <a:latin typeface="Lexend"/>
                <a:ea typeface="Lexend"/>
                <a:cs typeface="Lexend"/>
                <a:sym typeface="Lexend"/>
              </a:rPr>
              <a:t>Google Sheets is a trademark of Google LLC and this content is not endorsed by or affiliated with Google in any way.</a:t>
            </a:r>
            <a:endParaRPr sz="600">
              <a:solidFill>
                <a:schemeClr val="dk2"/>
              </a:solidFill>
              <a:latin typeface="Lexend"/>
              <a:ea typeface="Lexend"/>
              <a:cs typeface="Lexend"/>
              <a:sym typeface="Lexend"/>
            </a:endParaRPr>
          </a:p>
          <a:p>
            <a:pPr indent="0" lvl="0" marL="0" rtl="0" algn="l">
              <a:spcBef>
                <a:spcPts val="0"/>
              </a:spcBef>
              <a:spcAft>
                <a:spcPts val="0"/>
              </a:spcAft>
              <a:buNone/>
            </a:pPr>
            <a:r>
              <a:t/>
            </a:r>
            <a:endParaRPr sz="600">
              <a:solidFill>
                <a:schemeClr val="dk1"/>
              </a:solidFill>
              <a:latin typeface="Lexend"/>
              <a:ea typeface="Lexend"/>
              <a:cs typeface="Lexend"/>
              <a:sym typeface="Lexen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92"/>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on spreadsheet software</a:t>
            </a:r>
            <a:endParaRPr/>
          </a:p>
        </p:txBody>
      </p:sp>
      <p:sp>
        <p:nvSpPr>
          <p:cNvPr id="1026" name="Google Shape;1026;p92"/>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using a template file</a:t>
            </a:r>
            <a:endParaRPr/>
          </a:p>
        </p:txBody>
      </p:sp>
      <p:sp>
        <p:nvSpPr>
          <p:cNvPr id="1027" name="Google Shape;1027;p92"/>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Constructing bar charts by utilising technology</a:t>
            </a:r>
            <a:endParaRPr/>
          </a:p>
        </p:txBody>
      </p:sp>
      <p:pic>
        <p:nvPicPr>
          <p:cNvPr id="1028" name="Google Shape;1028;p92"/>
          <p:cNvPicPr preferRelativeResize="0"/>
          <p:nvPr/>
        </p:nvPicPr>
        <p:blipFill>
          <a:blip r:embed="rId3">
            <a:alphaModFix/>
          </a:blip>
          <a:stretch>
            <a:fillRect/>
          </a:stretch>
        </p:blipFill>
        <p:spPr>
          <a:xfrm>
            <a:off x="415937" y="2988375"/>
            <a:ext cx="450575" cy="4467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using a template file</a:t>
            </a:r>
            <a:endParaRPr/>
          </a:p>
        </p:txBody>
      </p:sp>
      <p:sp>
        <p:nvSpPr>
          <p:cNvPr id="1034" name="Google Shape;1034;p9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Creating bar charts is a fairly simple task on spreadsheet software. </a:t>
            </a:r>
            <a:endParaRPr/>
          </a:p>
          <a:p>
            <a:pPr indent="0" lvl="0" marL="0" rtl="0" algn="l">
              <a:spcBef>
                <a:spcPts val="1000"/>
              </a:spcBef>
              <a:spcAft>
                <a:spcPts val="0"/>
              </a:spcAft>
              <a:buNone/>
            </a:pPr>
            <a:r>
              <a:rPr lang="en-GB"/>
              <a:t>The formatting and design can take a little longer.</a:t>
            </a:r>
            <a:endParaRPr/>
          </a:p>
          <a:p>
            <a:pPr indent="0" lvl="0" marL="0" rtl="0" algn="l">
              <a:spcBef>
                <a:spcPts val="1000"/>
              </a:spcBef>
              <a:spcAft>
                <a:spcPts val="0"/>
              </a:spcAft>
              <a:buNone/>
            </a:pPr>
            <a:r>
              <a:rPr lang="en-GB"/>
              <a:t>Some individuals may need to create multiple charts.</a:t>
            </a:r>
            <a:endParaRPr/>
          </a:p>
          <a:p>
            <a:pPr indent="0" lvl="0" marL="0" rtl="0" algn="l">
              <a:spcBef>
                <a:spcPts val="1000"/>
              </a:spcBef>
              <a:spcAft>
                <a:spcPts val="1000"/>
              </a:spcAft>
              <a:buNone/>
            </a:pPr>
            <a:r>
              <a:rPr lang="en-GB"/>
              <a:t>Can you think of any individuals that might need to do that?</a:t>
            </a:r>
            <a:endParaRPr/>
          </a:p>
        </p:txBody>
      </p:sp>
      <p:sp>
        <p:nvSpPr>
          <p:cNvPr id="1035" name="Google Shape;1035;p93"/>
          <p:cNvSpPr txBox="1"/>
          <p:nvPr/>
        </p:nvSpPr>
        <p:spPr>
          <a:xfrm>
            <a:off x="2070675" y="3160275"/>
            <a:ext cx="40308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Kalam"/>
                <a:ea typeface="Kalam"/>
                <a:cs typeface="Kalam"/>
                <a:sym typeface="Kalam"/>
              </a:rPr>
              <a:t>Scientific researcher</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Someone making a presentation</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Data analyst</a:t>
            </a:r>
            <a:endParaRPr sz="2000">
              <a:latin typeface="Kalam"/>
              <a:ea typeface="Kalam"/>
              <a:cs typeface="Kalam"/>
              <a:sym typeface="Kalam"/>
            </a:endParaRPr>
          </a:p>
          <a:p>
            <a:pPr indent="0" lvl="0" marL="0" rtl="0" algn="l">
              <a:spcBef>
                <a:spcPts val="0"/>
              </a:spcBef>
              <a:spcAft>
                <a:spcPts val="0"/>
              </a:spcAft>
              <a:buNone/>
            </a:pPr>
            <a:r>
              <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using a template file</a:t>
            </a:r>
            <a:endParaRPr/>
          </a:p>
        </p:txBody>
      </p:sp>
      <p:sp>
        <p:nvSpPr>
          <p:cNvPr id="1041" name="Google Shape;1041;p94"/>
          <p:cNvSpPr txBox="1"/>
          <p:nvPr>
            <p:ph idx="1" type="body"/>
          </p:nvPr>
        </p:nvSpPr>
        <p:spPr>
          <a:xfrm>
            <a:off x="324000" y="810000"/>
            <a:ext cx="8237700" cy="96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To be more efficient, you can create a template file, to use over and over again.</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Click </a:t>
            </a:r>
            <a:r>
              <a:rPr lang="en-GB" u="sng">
                <a:solidFill>
                  <a:schemeClr val="hlink"/>
                </a:solidFill>
                <a:hlinkClick r:id="rId3"/>
              </a:rPr>
              <a:t>Template file</a:t>
            </a:r>
            <a:r>
              <a:rPr lang="en-GB"/>
              <a:t> </a:t>
            </a:r>
            <a:r>
              <a:rPr lang="en-GB"/>
              <a:t>and save a copy.</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You can rename it if you wish. Or it will save as </a:t>
            </a:r>
            <a:r>
              <a:rPr lang="en-GB">
                <a:solidFill>
                  <a:schemeClr val="accent5"/>
                </a:solidFill>
              </a:rPr>
              <a:t>Copy of Template file</a:t>
            </a:r>
            <a:r>
              <a:rPr lang="en-GB"/>
              <a: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using a template file</a:t>
            </a:r>
            <a:endParaRPr/>
          </a:p>
        </p:txBody>
      </p:sp>
      <p:sp>
        <p:nvSpPr>
          <p:cNvPr id="1047" name="Google Shape;1047;p9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When you add data - a bar chart will appear.</a:t>
            </a:r>
            <a:endParaRPr/>
          </a:p>
        </p:txBody>
      </p:sp>
      <p:pic>
        <p:nvPicPr>
          <p:cNvPr id="1048" name="Google Shape;1048;p95"/>
          <p:cNvPicPr preferRelativeResize="0"/>
          <p:nvPr/>
        </p:nvPicPr>
        <p:blipFill rotWithShape="1">
          <a:blip r:embed="rId3">
            <a:alphaModFix/>
          </a:blip>
          <a:srcRect b="0" l="0" r="4825" t="0"/>
          <a:stretch/>
        </p:blipFill>
        <p:spPr>
          <a:xfrm>
            <a:off x="1104599" y="1186800"/>
            <a:ext cx="6354600" cy="3546900"/>
          </a:xfrm>
          <a:prstGeom prst="rect">
            <a:avLst/>
          </a:prstGeom>
          <a:noFill/>
          <a:ln>
            <a:noFill/>
          </a:ln>
        </p:spPr>
      </p:pic>
      <p:pic>
        <p:nvPicPr>
          <p:cNvPr id="1049" name="Google Shape;1049;p95"/>
          <p:cNvPicPr preferRelativeResize="0"/>
          <p:nvPr/>
        </p:nvPicPr>
        <p:blipFill rotWithShape="1">
          <a:blip r:embed="rId4">
            <a:alphaModFix/>
          </a:blip>
          <a:srcRect b="0" l="0" r="4825" t="0"/>
          <a:stretch/>
        </p:blipFill>
        <p:spPr>
          <a:xfrm>
            <a:off x="1104600" y="1198725"/>
            <a:ext cx="6354600" cy="3546874"/>
          </a:xfrm>
          <a:prstGeom prst="rect">
            <a:avLst/>
          </a:prstGeom>
          <a:noFill/>
          <a:ln>
            <a:noFill/>
          </a:ln>
        </p:spPr>
      </p:pic>
      <p:pic>
        <p:nvPicPr>
          <p:cNvPr id="1050" name="Google Shape;1050;p95"/>
          <p:cNvPicPr preferRelativeResize="0"/>
          <p:nvPr/>
        </p:nvPicPr>
        <p:blipFill rotWithShape="1">
          <a:blip r:embed="rId5">
            <a:alphaModFix/>
          </a:blip>
          <a:srcRect b="0" l="0" r="4825" t="0"/>
          <a:stretch/>
        </p:blipFill>
        <p:spPr>
          <a:xfrm>
            <a:off x="1104600" y="1198725"/>
            <a:ext cx="6354600" cy="3546900"/>
          </a:xfrm>
          <a:prstGeom prst="rect">
            <a:avLst/>
          </a:prstGeom>
          <a:noFill/>
          <a:ln>
            <a:noFill/>
          </a:ln>
        </p:spPr>
      </p:pic>
      <p:pic>
        <p:nvPicPr>
          <p:cNvPr id="1051" name="Google Shape;1051;p95"/>
          <p:cNvPicPr preferRelativeResize="0"/>
          <p:nvPr/>
        </p:nvPicPr>
        <p:blipFill rotWithShape="1">
          <a:blip r:embed="rId6">
            <a:alphaModFix/>
          </a:blip>
          <a:srcRect b="0" l="0" r="4825" t="0"/>
          <a:stretch/>
        </p:blipFill>
        <p:spPr>
          <a:xfrm>
            <a:off x="1104600" y="1198725"/>
            <a:ext cx="6354600" cy="3546874"/>
          </a:xfrm>
          <a:prstGeom prst="rect">
            <a:avLst/>
          </a:prstGeom>
          <a:noFill/>
          <a:ln>
            <a:noFill/>
          </a:ln>
        </p:spPr>
      </p:pic>
      <p:sp>
        <p:nvSpPr>
          <p:cNvPr id="1052" name="Google Shape;1052;p95"/>
          <p:cNvSpPr txBox="1"/>
          <p:nvPr/>
        </p:nvSpPr>
        <p:spPr>
          <a:xfrm>
            <a:off x="468525" y="4674975"/>
            <a:ext cx="586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solidFill>
                <a:schemeClr val="dk2"/>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600">
                <a:solidFill>
                  <a:schemeClr val="dk2"/>
                </a:solidFill>
                <a:latin typeface="Lexend"/>
                <a:ea typeface="Lexend"/>
                <a:cs typeface="Lexend"/>
                <a:sym typeface="Lexend"/>
              </a:rPr>
              <a:t>Google Sheets is a trademark of Google LLC and this content is not endorsed by or affiliated with Google in any way.</a:t>
            </a:r>
            <a:endParaRPr sz="600">
              <a:solidFill>
                <a:schemeClr val="dk2"/>
              </a:solidFill>
              <a:latin typeface="Lexend"/>
              <a:ea typeface="Lexend"/>
              <a:cs typeface="Lexend"/>
              <a:sym typeface="Lexend"/>
            </a:endParaRPr>
          </a:p>
          <a:p>
            <a:pPr indent="0" lvl="0" marL="0" rtl="0" algn="l">
              <a:spcBef>
                <a:spcPts val="0"/>
              </a:spcBef>
              <a:spcAft>
                <a:spcPts val="0"/>
              </a:spcAft>
              <a:buNone/>
            </a:pPr>
            <a:r>
              <a:t/>
            </a:r>
            <a:endParaRPr sz="6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using a template file</a:t>
            </a:r>
            <a:endParaRPr/>
          </a:p>
        </p:txBody>
      </p:sp>
      <p:sp>
        <p:nvSpPr>
          <p:cNvPr id="1058" name="Google Shape;1058;p9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When you add data, a bar chart will appear.</a:t>
            </a:r>
            <a:endParaRPr/>
          </a:p>
          <a:p>
            <a:pPr indent="0" lvl="0" marL="0" rtl="0" algn="l">
              <a:spcBef>
                <a:spcPts val="1000"/>
              </a:spcBef>
              <a:spcAft>
                <a:spcPts val="0"/>
              </a:spcAft>
              <a:buNone/>
            </a:pPr>
            <a:r>
              <a:rPr lang="en-GB"/>
              <a:t>The </a:t>
            </a:r>
            <a:r>
              <a:rPr lang="en-GB">
                <a:solidFill>
                  <a:schemeClr val="accent5"/>
                </a:solidFill>
              </a:rPr>
              <a:t>context column</a:t>
            </a:r>
            <a:r>
              <a:rPr lang="en-GB"/>
              <a:t> is </a:t>
            </a:r>
            <a:r>
              <a:rPr lang="en-GB"/>
              <a:t>where you would type the different options e.g. if your colour is about colours then you might have red, blue, yellow, green etc. </a:t>
            </a:r>
            <a:endParaRPr/>
          </a:p>
          <a:p>
            <a:pPr indent="0" lvl="0" marL="0" rtl="0" algn="l">
              <a:spcBef>
                <a:spcPts val="1000"/>
              </a:spcBef>
              <a:spcAft>
                <a:spcPts val="0"/>
              </a:spcAft>
              <a:buNone/>
            </a:pPr>
            <a:r>
              <a:rPr lang="en-GB"/>
              <a:t>The </a:t>
            </a:r>
            <a:r>
              <a:rPr lang="en-GB">
                <a:solidFill>
                  <a:schemeClr val="accent5"/>
                </a:solidFill>
              </a:rPr>
              <a:t>frequency column</a:t>
            </a:r>
            <a:r>
              <a:rPr lang="en-GB"/>
              <a:t> is where you would input the number of each option.</a:t>
            </a:r>
            <a:endParaRPr/>
          </a:p>
          <a:p>
            <a:pPr indent="0" lvl="0" marL="0" rtl="0" algn="l">
              <a:spcBef>
                <a:spcPts val="1000"/>
              </a:spcBef>
              <a:spcAft>
                <a:spcPts val="1000"/>
              </a:spcAft>
              <a:buNone/>
            </a:pPr>
            <a:r>
              <a:rPr lang="en-GB"/>
              <a:t>Give it a try for yourself.</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using a template file</a:t>
            </a:r>
            <a:endParaRPr/>
          </a:p>
        </p:txBody>
      </p:sp>
      <p:sp>
        <p:nvSpPr>
          <p:cNvPr id="1064" name="Google Shape;1064;p97"/>
          <p:cNvSpPr txBox="1"/>
          <p:nvPr>
            <p:ph idx="4294967295" type="subTitle"/>
          </p:nvPr>
        </p:nvSpPr>
        <p:spPr>
          <a:xfrm>
            <a:off x="324000" y="810000"/>
            <a:ext cx="8359800" cy="49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Fill the blanks.</a:t>
            </a:r>
            <a:endParaRPr/>
          </a:p>
        </p:txBody>
      </p:sp>
      <p:cxnSp>
        <p:nvCxnSpPr>
          <p:cNvPr id="1065" name="Google Shape;1065;p97"/>
          <p:cNvCxnSpPr/>
          <p:nvPr/>
        </p:nvCxnSpPr>
        <p:spPr>
          <a:xfrm>
            <a:off x="692075" y="1690700"/>
            <a:ext cx="1105800" cy="0"/>
          </a:xfrm>
          <a:prstGeom prst="straightConnector1">
            <a:avLst/>
          </a:prstGeom>
          <a:noFill/>
          <a:ln cap="flat" cmpd="sng" w="38100">
            <a:solidFill>
              <a:schemeClr val="dk1"/>
            </a:solidFill>
            <a:prstDash val="solid"/>
            <a:round/>
            <a:headEnd len="med" w="med" type="none"/>
            <a:tailEnd len="med" w="med" type="none"/>
          </a:ln>
        </p:spPr>
      </p:cxnSp>
      <p:cxnSp>
        <p:nvCxnSpPr>
          <p:cNvPr id="1066" name="Google Shape;1066;p97"/>
          <p:cNvCxnSpPr/>
          <p:nvPr/>
        </p:nvCxnSpPr>
        <p:spPr>
          <a:xfrm>
            <a:off x="1937700" y="1690700"/>
            <a:ext cx="670500" cy="0"/>
          </a:xfrm>
          <a:prstGeom prst="straightConnector1">
            <a:avLst/>
          </a:prstGeom>
          <a:noFill/>
          <a:ln cap="flat" cmpd="sng" w="38100">
            <a:solidFill>
              <a:schemeClr val="dk1"/>
            </a:solidFill>
            <a:prstDash val="solid"/>
            <a:round/>
            <a:headEnd len="med" w="med" type="none"/>
            <a:tailEnd len="med" w="med" type="none"/>
          </a:ln>
        </p:spPr>
      </p:cxnSp>
      <p:sp>
        <p:nvSpPr>
          <p:cNvPr id="1067" name="Google Shape;1067;p97"/>
          <p:cNvSpPr txBox="1"/>
          <p:nvPr/>
        </p:nvSpPr>
        <p:spPr>
          <a:xfrm>
            <a:off x="793200" y="1317725"/>
            <a:ext cx="1815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Kalam"/>
                <a:ea typeface="Kalam"/>
                <a:cs typeface="Kalam"/>
                <a:sym typeface="Kalam"/>
              </a:rPr>
              <a:t>template  file</a:t>
            </a:r>
            <a:endParaRPr sz="2000">
              <a:latin typeface="Kalam"/>
              <a:ea typeface="Kalam"/>
              <a:cs typeface="Kalam"/>
              <a:sym typeface="Kalam"/>
            </a:endParaRPr>
          </a:p>
        </p:txBody>
      </p:sp>
      <p:sp>
        <p:nvSpPr>
          <p:cNvPr id="1068" name="Google Shape;1068;p97"/>
          <p:cNvSpPr txBox="1"/>
          <p:nvPr>
            <p:ph idx="4294967295" type="subTitle"/>
          </p:nvPr>
        </p:nvSpPr>
        <p:spPr>
          <a:xfrm>
            <a:off x="324000" y="1419600"/>
            <a:ext cx="291300" cy="49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                           </a:t>
            </a:r>
            <a:endParaRPr/>
          </a:p>
        </p:txBody>
      </p:sp>
      <p:sp>
        <p:nvSpPr>
          <p:cNvPr id="1069" name="Google Shape;1069;p97"/>
          <p:cNvSpPr txBox="1"/>
          <p:nvPr>
            <p:ph idx="4294967295" type="subTitle"/>
          </p:nvPr>
        </p:nvSpPr>
        <p:spPr>
          <a:xfrm>
            <a:off x="324000" y="1876800"/>
            <a:ext cx="8359800" cy="438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charts, where the style and formatting is to stay the same.  </a:t>
            </a:r>
            <a:endParaRPr/>
          </a:p>
        </p:txBody>
      </p:sp>
      <p:sp>
        <p:nvSpPr>
          <p:cNvPr id="1070" name="Google Shape;1070;p97"/>
          <p:cNvSpPr txBox="1"/>
          <p:nvPr>
            <p:ph idx="4294967295" type="subTitle"/>
          </p:nvPr>
        </p:nvSpPr>
        <p:spPr>
          <a:xfrm>
            <a:off x="2715800" y="1419600"/>
            <a:ext cx="6120300" cy="49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is a useful tool when creating many bar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6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06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9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using a template file</a:t>
            </a:r>
            <a:endParaRPr/>
          </a:p>
        </p:txBody>
      </p:sp>
      <p:sp>
        <p:nvSpPr>
          <p:cNvPr id="1076" name="Google Shape;1076;p98"/>
          <p:cNvSpPr txBox="1"/>
          <p:nvPr>
            <p:ph idx="1" type="body"/>
          </p:nvPr>
        </p:nvSpPr>
        <p:spPr>
          <a:xfrm>
            <a:off x="375900" y="1781025"/>
            <a:ext cx="8237700" cy="483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Click </a:t>
            </a:r>
            <a:r>
              <a:rPr lang="en-GB" sz="2000" u="sng">
                <a:solidFill>
                  <a:schemeClr val="hlink"/>
                </a:solidFill>
                <a:hlinkClick r:id="rId3"/>
              </a:rPr>
              <a:t>Desmos template</a:t>
            </a:r>
            <a:r>
              <a:rPr lang="en-GB" sz="2000"/>
              <a:t> </a:t>
            </a:r>
            <a:r>
              <a:rPr lang="en-GB" sz="2000"/>
              <a:t> </a:t>
            </a:r>
            <a:endParaRPr sz="2000"/>
          </a:p>
        </p:txBody>
      </p:sp>
      <p:sp>
        <p:nvSpPr>
          <p:cNvPr id="1077" name="Google Shape;1077;p98"/>
          <p:cNvSpPr txBox="1"/>
          <p:nvPr/>
        </p:nvSpPr>
        <p:spPr>
          <a:xfrm>
            <a:off x="282000" y="722825"/>
            <a:ext cx="84255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Lexend"/>
                <a:ea typeface="Lexend"/>
                <a:cs typeface="Lexend"/>
                <a:sym typeface="Lexend"/>
              </a:rPr>
              <a:t>Other technology can also be utilised, even when it is not specifically spreadsheet software. </a:t>
            </a:r>
            <a:endParaRPr sz="2000">
              <a:latin typeface="Lexend"/>
              <a:ea typeface="Lexend"/>
              <a:cs typeface="Lexend"/>
              <a:sym typeface="Lexend"/>
            </a:endParaRPr>
          </a:p>
          <a:p>
            <a:pPr indent="0" lvl="0" marL="0" rtl="0" algn="l">
              <a:spcBef>
                <a:spcPts val="0"/>
              </a:spcBef>
              <a:spcAft>
                <a:spcPts val="0"/>
              </a:spcAft>
              <a:buNone/>
            </a:pPr>
            <a:r>
              <a:t/>
            </a:r>
            <a:endParaRPr sz="2000">
              <a:latin typeface="Lexend"/>
              <a:ea typeface="Lexend"/>
              <a:cs typeface="Lexend"/>
              <a:sym typeface="Lexend"/>
            </a:endParaRPr>
          </a:p>
        </p:txBody>
      </p:sp>
      <p:pic>
        <p:nvPicPr>
          <p:cNvPr id="1078" name="Google Shape;1078;p98"/>
          <p:cNvPicPr preferRelativeResize="0"/>
          <p:nvPr/>
        </p:nvPicPr>
        <p:blipFill rotWithShape="1">
          <a:blip r:embed="rId4">
            <a:alphaModFix/>
          </a:blip>
          <a:srcRect b="36182" l="0" r="0" t="16114"/>
          <a:stretch/>
        </p:blipFill>
        <p:spPr>
          <a:xfrm>
            <a:off x="828700" y="2571750"/>
            <a:ext cx="7332101" cy="1858149"/>
          </a:xfrm>
          <a:prstGeom prst="rect">
            <a:avLst/>
          </a:prstGeom>
          <a:noFill/>
          <a:ln>
            <a:noFill/>
          </a:ln>
        </p:spPr>
      </p:pic>
      <p:sp>
        <p:nvSpPr>
          <p:cNvPr id="1079" name="Google Shape;1079;p98"/>
          <p:cNvSpPr/>
          <p:nvPr/>
        </p:nvSpPr>
        <p:spPr>
          <a:xfrm>
            <a:off x="6943000" y="2644600"/>
            <a:ext cx="451800" cy="131100"/>
          </a:xfrm>
          <a:prstGeom prst="rect">
            <a:avLst/>
          </a:prstGeom>
          <a:solidFill>
            <a:srgbClr val="2A2A2A"/>
          </a:solidFill>
          <a:ln cap="flat" cmpd="sng" w="9525">
            <a:solidFill>
              <a:srgbClr val="2A2A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9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Creating bar charts using a template file</a:t>
            </a:r>
            <a:endParaRPr/>
          </a:p>
        </p:txBody>
      </p:sp>
      <p:sp>
        <p:nvSpPr>
          <p:cNvPr id="1085" name="Google Shape;1085;p99"/>
          <p:cNvSpPr txBox="1"/>
          <p:nvPr/>
        </p:nvSpPr>
        <p:spPr>
          <a:xfrm>
            <a:off x="212700" y="736925"/>
            <a:ext cx="81789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We can update the </a:t>
            </a:r>
            <a:r>
              <a:rPr lang="en-GB" sz="1800">
                <a:latin typeface="Lexend"/>
                <a:ea typeface="Lexend"/>
                <a:cs typeface="Lexend"/>
                <a:sym typeface="Lexend"/>
              </a:rPr>
              <a:t>frequency</a:t>
            </a:r>
            <a:r>
              <a:rPr lang="en-GB" sz="1800">
                <a:latin typeface="Lexend"/>
                <a:ea typeface="Lexend"/>
                <a:cs typeface="Lexend"/>
                <a:sym typeface="Lexend"/>
              </a:rPr>
              <a:t> table and the bar chart in our template.</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a:p>
            <a:pPr indent="0" lvl="0" marL="0" rtl="0" algn="l">
              <a:spcBef>
                <a:spcPts val="0"/>
              </a:spcBef>
              <a:spcAft>
                <a:spcPts val="0"/>
              </a:spcAft>
              <a:buNone/>
            </a:pPr>
            <a:r>
              <a:t/>
            </a:r>
            <a:endParaRPr sz="1800">
              <a:latin typeface="Lexend"/>
              <a:ea typeface="Lexend"/>
              <a:cs typeface="Lexend"/>
              <a:sym typeface="Lexend"/>
            </a:endParaRPr>
          </a:p>
        </p:txBody>
      </p:sp>
      <p:pic>
        <p:nvPicPr>
          <p:cNvPr id="1086" name="Google Shape;1086;p99"/>
          <p:cNvPicPr preferRelativeResize="0"/>
          <p:nvPr/>
        </p:nvPicPr>
        <p:blipFill rotWithShape="1">
          <a:blip r:embed="rId3">
            <a:alphaModFix/>
          </a:blip>
          <a:srcRect b="2416" l="0" r="0" t="14264"/>
          <a:stretch/>
        </p:blipFill>
        <p:spPr>
          <a:xfrm>
            <a:off x="324000" y="1620000"/>
            <a:ext cx="6336651" cy="288802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100"/>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Creating bar charts using a template file</a:t>
            </a:r>
            <a:endParaRPr/>
          </a:p>
        </p:txBody>
      </p:sp>
      <p:sp>
        <p:nvSpPr>
          <p:cNvPr id="1092" name="Google Shape;1092;p100"/>
          <p:cNvSpPr txBox="1"/>
          <p:nvPr>
            <p:ph type="title"/>
          </p:nvPr>
        </p:nvSpPr>
        <p:spPr>
          <a:xfrm>
            <a:off x="324000" y="748763"/>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On the desmos template file </a:t>
            </a:r>
            <a:r>
              <a:rPr lang="en-GB"/>
              <a:t>which icon duplicates?</a:t>
            </a:r>
            <a:endParaRPr/>
          </a:p>
        </p:txBody>
      </p:sp>
      <p:pic>
        <p:nvPicPr>
          <p:cNvPr id="1093" name="Google Shape;1093;p100"/>
          <p:cNvPicPr preferRelativeResize="0"/>
          <p:nvPr/>
        </p:nvPicPr>
        <p:blipFill rotWithShape="1">
          <a:blip r:embed="rId3">
            <a:alphaModFix/>
          </a:blip>
          <a:srcRect b="12092" l="14143" r="18279" t="4622"/>
          <a:stretch/>
        </p:blipFill>
        <p:spPr>
          <a:xfrm>
            <a:off x="1104700" y="2723075"/>
            <a:ext cx="580100" cy="569293"/>
          </a:xfrm>
          <a:prstGeom prst="rect">
            <a:avLst/>
          </a:prstGeom>
          <a:noFill/>
          <a:ln>
            <a:noFill/>
          </a:ln>
        </p:spPr>
      </p:pic>
      <p:pic>
        <p:nvPicPr>
          <p:cNvPr id="1094" name="Google Shape;1094;p100"/>
          <p:cNvPicPr preferRelativeResize="0"/>
          <p:nvPr/>
        </p:nvPicPr>
        <p:blipFill>
          <a:blip r:embed="rId4">
            <a:alphaModFix/>
          </a:blip>
          <a:stretch>
            <a:fillRect/>
          </a:stretch>
        </p:blipFill>
        <p:spPr>
          <a:xfrm>
            <a:off x="1090409" y="1775668"/>
            <a:ext cx="580100" cy="535818"/>
          </a:xfrm>
          <a:prstGeom prst="rect">
            <a:avLst/>
          </a:prstGeom>
          <a:noFill/>
          <a:ln>
            <a:noFill/>
          </a:ln>
        </p:spPr>
      </p:pic>
      <p:pic>
        <p:nvPicPr>
          <p:cNvPr id="1095" name="Google Shape;1095;p100"/>
          <p:cNvPicPr preferRelativeResize="0"/>
          <p:nvPr/>
        </p:nvPicPr>
        <p:blipFill>
          <a:blip r:embed="rId5">
            <a:alphaModFix/>
          </a:blip>
          <a:stretch>
            <a:fillRect/>
          </a:stretch>
        </p:blipFill>
        <p:spPr>
          <a:xfrm>
            <a:off x="1104700" y="3703975"/>
            <a:ext cx="541764" cy="535800"/>
          </a:xfrm>
          <a:prstGeom prst="rect">
            <a:avLst/>
          </a:prstGeom>
          <a:noFill/>
          <a:ln>
            <a:noFill/>
          </a:ln>
        </p:spPr>
      </p:pic>
      <p:pic>
        <p:nvPicPr>
          <p:cNvPr id="1096" name="Google Shape;1096;p100"/>
          <p:cNvPicPr preferRelativeResize="0"/>
          <p:nvPr/>
        </p:nvPicPr>
        <p:blipFill>
          <a:blip r:embed="rId6">
            <a:alphaModFix/>
          </a:blip>
          <a:stretch>
            <a:fillRect/>
          </a:stretch>
        </p:blipFill>
        <p:spPr>
          <a:xfrm>
            <a:off x="1827108" y="376232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10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GB" sz="1800"/>
              <a:t>Creating bar charts using a template file</a:t>
            </a:r>
            <a:endParaRPr sz="1800"/>
          </a:p>
        </p:txBody>
      </p:sp>
      <p:sp>
        <p:nvSpPr>
          <p:cNvPr id="1102" name="Google Shape;1102;p10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AutoNum type="arabicParenR"/>
            </a:pPr>
            <a:r>
              <a:rPr lang="en-GB" sz="2000"/>
              <a:t>Using the </a:t>
            </a:r>
            <a:r>
              <a:rPr lang="en-GB" sz="2000" u="sng">
                <a:solidFill>
                  <a:schemeClr val="hlink"/>
                </a:solidFill>
                <a:hlinkClick r:id="rId3"/>
              </a:rPr>
              <a:t>template file</a:t>
            </a:r>
            <a:r>
              <a:rPr lang="en-GB" sz="2000"/>
              <a:t> recreate this bar chart, showing the number of moons per planet in our solar system.</a:t>
            </a:r>
            <a:r>
              <a:rPr lang="en-GB" sz="2000"/>
              <a:t>   </a:t>
            </a:r>
            <a:endParaRPr sz="2000"/>
          </a:p>
        </p:txBody>
      </p:sp>
      <p:pic>
        <p:nvPicPr>
          <p:cNvPr id="1103" name="Google Shape;1103;p101" title="Chart"/>
          <p:cNvPicPr preferRelativeResize="0"/>
          <p:nvPr/>
        </p:nvPicPr>
        <p:blipFill rotWithShape="1">
          <a:blip r:embed="rId4">
            <a:alphaModFix/>
          </a:blip>
          <a:srcRect b="4095" l="1845" r="0" t="0"/>
          <a:stretch/>
        </p:blipFill>
        <p:spPr>
          <a:xfrm>
            <a:off x="1384875" y="1664388"/>
            <a:ext cx="5207950" cy="3151224"/>
          </a:xfrm>
          <a:prstGeom prst="rect">
            <a:avLst/>
          </a:prstGeom>
          <a:noFill/>
          <a:ln>
            <a:noFill/>
          </a:ln>
        </p:spPr>
      </p:pic>
      <p:sp>
        <p:nvSpPr>
          <p:cNvPr id="1104" name="Google Shape;1104;p101"/>
          <p:cNvSpPr txBox="1"/>
          <p:nvPr/>
        </p:nvSpPr>
        <p:spPr>
          <a:xfrm>
            <a:off x="6466875" y="1752600"/>
            <a:ext cx="24990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Lexend"/>
                <a:ea typeface="Lexend"/>
                <a:cs typeface="Lexend"/>
                <a:sym typeface="Lexend"/>
              </a:rPr>
              <a:t>Note: you do not need to add the numbers on the bars.</a:t>
            </a:r>
            <a:endParaRPr sz="2000">
              <a:latin typeface="Lexend"/>
              <a:ea typeface="Lexend"/>
              <a:cs typeface="Lexend"/>
              <a:sym typeface="Lexend"/>
            </a:endParaRPr>
          </a:p>
        </p:txBody>
      </p:sp>
      <p:sp>
        <p:nvSpPr>
          <p:cNvPr id="1105" name="Google Shape;1105;p101"/>
          <p:cNvSpPr txBox="1"/>
          <p:nvPr/>
        </p:nvSpPr>
        <p:spPr>
          <a:xfrm>
            <a:off x="437950" y="4573125"/>
            <a:ext cx="5866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solidFill>
                <a:schemeClr val="dk2"/>
              </a:solidFill>
              <a:latin typeface="Lexend"/>
              <a:ea typeface="Lexend"/>
              <a:cs typeface="Lexend"/>
              <a:sym typeface="Lexend"/>
            </a:endParaRPr>
          </a:p>
          <a:p>
            <a:pPr indent="0" lvl="0" marL="0" rtl="0" algn="l">
              <a:spcBef>
                <a:spcPts val="0"/>
              </a:spcBef>
              <a:spcAft>
                <a:spcPts val="0"/>
              </a:spcAft>
              <a:buNone/>
            </a:pPr>
            <a:r>
              <a:t/>
            </a:r>
            <a:endParaRPr sz="600">
              <a:solidFill>
                <a:schemeClr val="dk2"/>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600">
                <a:solidFill>
                  <a:schemeClr val="dk2"/>
                </a:solidFill>
                <a:latin typeface="Lexend"/>
                <a:ea typeface="Lexend"/>
                <a:cs typeface="Lexend"/>
                <a:sym typeface="Lexend"/>
              </a:rPr>
              <a:t>Google Sheets is a trademark of Google LLC and this content is not endorsed by or affiliated with Google in any way.</a:t>
            </a:r>
            <a:endParaRPr sz="600">
              <a:solidFill>
                <a:schemeClr val="dk2"/>
              </a:solidFill>
              <a:latin typeface="Lexend"/>
              <a:ea typeface="Lexend"/>
              <a:cs typeface="Lexend"/>
              <a:sym typeface="Lexend"/>
            </a:endParaRPr>
          </a:p>
          <a:p>
            <a:pPr indent="0" lvl="0" marL="0" rtl="0" algn="l">
              <a:spcBef>
                <a:spcPts val="0"/>
              </a:spcBef>
              <a:spcAft>
                <a:spcPts val="0"/>
              </a:spcAft>
              <a:buNone/>
            </a:pPr>
            <a:r>
              <a:t/>
            </a:r>
            <a:endParaRPr sz="600">
              <a:solidFill>
                <a:schemeClr val="dk1"/>
              </a:solidFill>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10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Creating bar charts using a template file</a:t>
            </a:r>
            <a:endParaRPr sz="1800"/>
          </a:p>
        </p:txBody>
      </p:sp>
      <p:sp>
        <p:nvSpPr>
          <p:cNvPr id="1111" name="Google Shape;1111;p10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AutoNum type="arabicParenR" startAt="2"/>
            </a:pPr>
            <a:r>
              <a:rPr lang="en-GB" sz="2000" u="sng">
                <a:solidFill>
                  <a:schemeClr val="hlink"/>
                </a:solidFill>
                <a:hlinkClick r:id="rId3"/>
              </a:rPr>
              <a:t>Task B Question 2</a:t>
            </a:r>
            <a:r>
              <a:rPr lang="en-GB" sz="2000"/>
              <a:t> 🖇</a:t>
            </a:r>
            <a:r>
              <a:rPr lang="en-GB" sz="2000"/>
              <a:t> recreate this bar chart showing the number of time zones per country (including overseas territories).</a:t>
            </a:r>
            <a:endParaRPr sz="2000"/>
          </a:p>
        </p:txBody>
      </p:sp>
      <p:pic>
        <p:nvPicPr>
          <p:cNvPr id="1112" name="Google Shape;1112;p102"/>
          <p:cNvPicPr preferRelativeResize="0"/>
          <p:nvPr/>
        </p:nvPicPr>
        <p:blipFill>
          <a:blip r:embed="rId4">
            <a:alphaModFix/>
          </a:blip>
          <a:stretch>
            <a:fillRect/>
          </a:stretch>
        </p:blipFill>
        <p:spPr>
          <a:xfrm>
            <a:off x="4455001" y="1799700"/>
            <a:ext cx="3759900" cy="30207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10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Creating bar charts using a template file</a:t>
            </a:r>
            <a:endParaRPr sz="1800"/>
          </a:p>
        </p:txBody>
      </p:sp>
      <p:sp>
        <p:nvSpPr>
          <p:cNvPr id="1118" name="Google Shape;1118;p10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Using the </a:t>
            </a:r>
            <a:r>
              <a:rPr lang="en-GB" u="sng">
                <a:solidFill>
                  <a:schemeClr val="hlink"/>
                </a:solidFill>
                <a:hlinkClick r:id="rId3"/>
              </a:rPr>
              <a:t>template file</a:t>
            </a:r>
            <a:r>
              <a:rPr lang="en-GB"/>
              <a:t> recreate this bar chart.   </a:t>
            </a:r>
            <a:endParaRPr/>
          </a:p>
        </p:txBody>
      </p:sp>
      <p:pic>
        <p:nvPicPr>
          <p:cNvPr id="1119" name="Google Shape;1119;p103"/>
          <p:cNvPicPr preferRelativeResize="0"/>
          <p:nvPr/>
        </p:nvPicPr>
        <p:blipFill>
          <a:blip r:embed="rId4">
            <a:alphaModFix/>
          </a:blip>
          <a:stretch>
            <a:fillRect/>
          </a:stretch>
        </p:blipFill>
        <p:spPr>
          <a:xfrm>
            <a:off x="6372375" y="2067922"/>
            <a:ext cx="2447625" cy="2205050"/>
          </a:xfrm>
          <a:prstGeom prst="rect">
            <a:avLst/>
          </a:prstGeom>
          <a:noFill/>
          <a:ln>
            <a:noFill/>
          </a:ln>
        </p:spPr>
      </p:pic>
      <p:sp>
        <p:nvSpPr>
          <p:cNvPr id="1120" name="Google Shape;1120;p103"/>
          <p:cNvSpPr txBox="1"/>
          <p:nvPr/>
        </p:nvSpPr>
        <p:spPr>
          <a:xfrm>
            <a:off x="6323400" y="1219800"/>
            <a:ext cx="27300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Kalam"/>
                <a:ea typeface="Kalam"/>
                <a:cs typeface="Kalam"/>
                <a:sym typeface="Kalam"/>
              </a:rPr>
              <a:t>The data should have been added like this.</a:t>
            </a:r>
            <a:endParaRPr sz="2000">
              <a:latin typeface="Kalam"/>
              <a:ea typeface="Kalam"/>
              <a:cs typeface="Kalam"/>
              <a:sym typeface="Kalam"/>
            </a:endParaRPr>
          </a:p>
        </p:txBody>
      </p:sp>
      <p:pic>
        <p:nvPicPr>
          <p:cNvPr id="1121" name="Google Shape;1121;p103" title="Chart"/>
          <p:cNvPicPr preferRelativeResize="0"/>
          <p:nvPr/>
        </p:nvPicPr>
        <p:blipFill rotWithShape="1">
          <a:blip r:embed="rId5">
            <a:alphaModFix/>
          </a:blip>
          <a:srcRect b="4095" l="1845" r="0" t="0"/>
          <a:stretch/>
        </p:blipFill>
        <p:spPr>
          <a:xfrm>
            <a:off x="440125" y="1335526"/>
            <a:ext cx="5548601" cy="3357326"/>
          </a:xfrm>
          <a:prstGeom prst="rect">
            <a:avLst/>
          </a:prstGeom>
          <a:noFill/>
          <a:ln>
            <a:noFill/>
          </a:ln>
        </p:spPr>
      </p:pic>
      <p:sp>
        <p:nvSpPr>
          <p:cNvPr id="1122" name="Google Shape;1122;p103"/>
          <p:cNvSpPr txBox="1"/>
          <p:nvPr/>
        </p:nvSpPr>
        <p:spPr>
          <a:xfrm>
            <a:off x="397225" y="4634250"/>
            <a:ext cx="586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solidFill>
                <a:schemeClr val="dk2"/>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GB" sz="600">
                <a:solidFill>
                  <a:schemeClr val="dk2"/>
                </a:solidFill>
                <a:latin typeface="Lexend"/>
                <a:ea typeface="Lexend"/>
                <a:cs typeface="Lexend"/>
                <a:sym typeface="Lexend"/>
              </a:rPr>
              <a:t>Google Sheets is a trademark of Google LLC and this content is not endorsed by or affiliated with Google in any way.</a:t>
            </a:r>
            <a:endParaRPr sz="600">
              <a:solidFill>
                <a:schemeClr val="dk2"/>
              </a:solidFill>
              <a:latin typeface="Lexend"/>
              <a:ea typeface="Lexend"/>
              <a:cs typeface="Lexend"/>
              <a:sym typeface="Lexend"/>
            </a:endParaRPr>
          </a:p>
          <a:p>
            <a:pPr indent="0" lvl="0" marL="0" rtl="0" algn="l">
              <a:spcBef>
                <a:spcPts val="0"/>
              </a:spcBef>
              <a:spcAft>
                <a:spcPts val="0"/>
              </a:spcAft>
              <a:buNone/>
            </a:pPr>
            <a:r>
              <a:t/>
            </a:r>
            <a:endParaRPr sz="600">
              <a:solidFill>
                <a:schemeClr val="dk1"/>
              </a:solidFill>
              <a:latin typeface="Lexend"/>
              <a:ea typeface="Lexend"/>
              <a:cs typeface="Lexend"/>
              <a:sym typeface="Lexen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10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Creating bar charts using a template file</a:t>
            </a:r>
            <a:endParaRPr sz="1800"/>
          </a:p>
        </p:txBody>
      </p:sp>
      <p:sp>
        <p:nvSpPr>
          <p:cNvPr id="1128" name="Google Shape;1128;p10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AutoNum type="arabicParenR" startAt="2"/>
            </a:pPr>
            <a:r>
              <a:rPr lang="en-GB" sz="2000" u="sng">
                <a:solidFill>
                  <a:schemeClr val="hlink"/>
                </a:solidFill>
                <a:hlinkClick r:id="rId3"/>
              </a:rPr>
              <a:t>Task B Question 2</a:t>
            </a:r>
            <a:r>
              <a:rPr lang="en-GB" sz="2000"/>
              <a:t> </a:t>
            </a:r>
            <a:r>
              <a:rPr lang="en-GB" sz="2000"/>
              <a:t>🖇</a:t>
            </a:r>
            <a:r>
              <a:rPr lang="en-GB" sz="2000"/>
              <a:t> recreate this bar chart showing the number of time zones per country (including overseas territories).</a:t>
            </a:r>
            <a:endParaRPr sz="2000"/>
          </a:p>
        </p:txBody>
      </p:sp>
      <p:pic>
        <p:nvPicPr>
          <p:cNvPr id="1129" name="Google Shape;1129;p104"/>
          <p:cNvPicPr preferRelativeResize="0"/>
          <p:nvPr/>
        </p:nvPicPr>
        <p:blipFill>
          <a:blip r:embed="rId4">
            <a:alphaModFix/>
          </a:blip>
          <a:stretch>
            <a:fillRect/>
          </a:stretch>
        </p:blipFill>
        <p:spPr>
          <a:xfrm>
            <a:off x="4455001" y="1799700"/>
            <a:ext cx="3759900" cy="3020700"/>
          </a:xfrm>
          <a:prstGeom prst="rect">
            <a:avLst/>
          </a:prstGeom>
          <a:noFill/>
          <a:ln>
            <a:noFill/>
          </a:ln>
        </p:spPr>
      </p:pic>
      <p:pic>
        <p:nvPicPr>
          <p:cNvPr id="1130" name="Google Shape;1130;p104"/>
          <p:cNvPicPr preferRelativeResize="0"/>
          <p:nvPr/>
        </p:nvPicPr>
        <p:blipFill>
          <a:blip r:embed="rId5">
            <a:alphaModFix/>
          </a:blip>
          <a:stretch>
            <a:fillRect/>
          </a:stretch>
        </p:blipFill>
        <p:spPr>
          <a:xfrm>
            <a:off x="626325" y="1944024"/>
            <a:ext cx="1287150" cy="2732050"/>
          </a:xfrm>
          <a:prstGeom prst="rect">
            <a:avLst/>
          </a:prstGeom>
          <a:noFill/>
          <a:ln>
            <a:noFill/>
          </a:ln>
        </p:spPr>
      </p:pic>
      <p:pic>
        <p:nvPicPr>
          <p:cNvPr id="1131" name="Google Shape;1131;p104"/>
          <p:cNvPicPr preferRelativeResize="0"/>
          <p:nvPr/>
        </p:nvPicPr>
        <p:blipFill rotWithShape="1">
          <a:blip r:embed="rId6">
            <a:alphaModFix/>
          </a:blip>
          <a:srcRect b="0" l="0" r="43636" t="0"/>
          <a:stretch/>
        </p:blipFill>
        <p:spPr>
          <a:xfrm>
            <a:off x="2020574" y="1884275"/>
            <a:ext cx="2327325" cy="27918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105"/>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Many careers have a need to represent data, often multiple times. Technology is an efficient and useful tool to create bar charts. </a:t>
            </a:r>
            <a:endParaRPr/>
          </a:p>
          <a:p>
            <a:pPr indent="0" lvl="0" marL="0" rtl="0" algn="l">
              <a:spcBef>
                <a:spcPts val="1000"/>
              </a:spcBef>
              <a:spcAft>
                <a:spcPts val="1000"/>
              </a:spcAft>
              <a:buNone/>
            </a:pPr>
            <a:r>
              <a:rPr lang="en-GB"/>
              <a:t>Template files can be made and setup to assist with the creation of multiple bar charts that all have the same format and </a:t>
            </a:r>
            <a:r>
              <a:rPr lang="en-GB"/>
              <a:t>layout</a:t>
            </a:r>
            <a:r>
              <a:rPr lang="en-GB"/>
              <a:t>.</a:t>
            </a:r>
            <a:endParaRPr/>
          </a:p>
        </p:txBody>
      </p:sp>
      <p:sp>
        <p:nvSpPr>
          <p:cNvPr id="1137" name="Google Shape;1137;p105"/>
          <p:cNvSpPr txBox="1"/>
          <p:nvPr>
            <p:ph type="title"/>
          </p:nvPr>
        </p:nvSpPr>
        <p:spPr>
          <a:xfrm>
            <a:off x="1684800" y="157525"/>
            <a:ext cx="57414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Constructing bar charts by utilising technology</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106"/>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143" name="Google Shape;1143;p106"/>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