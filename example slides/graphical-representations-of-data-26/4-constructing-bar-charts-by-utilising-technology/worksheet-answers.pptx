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A153EA-2D96-41F2-9C4B-0F29F1060BD9}">
  <a:tblStyle styleId="{AFA153EA-2D96-41F2-9C4B-0F29F1060B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1.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hyperlink" Target="https://docs.google.com/spreadsheets/d/1Ed09s-HEEvLrEVhlmsgoS_32Lz8_7mjpM0RLyzXp0zw/edit?usp=sharing" TargetMode="External"/><Relationship Id="rId10" Type="http://schemas.openxmlformats.org/officeDocument/2006/relationships/image" Target="../media/image9.png"/><Relationship Id="rId9"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hyperlink" Target="https://www.desmos.com/calculator/1ors835gmq" TargetMode="External"/><Relationship Id="rId7" Type="http://schemas.openxmlformats.org/officeDocument/2006/relationships/image" Target="../media/image15.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Constructing bar charts by utilising technology</a:t>
            </a:r>
            <a:endParaRPr/>
          </a:p>
        </p:txBody>
      </p:sp>
      <p:sp>
        <p:nvSpPr>
          <p:cNvPr id="173" name="Google Shape;173;p20"/>
          <p:cNvSpPr txBox="1"/>
          <p:nvPr/>
        </p:nvSpPr>
        <p:spPr>
          <a:xfrm>
            <a:off x="468000" y="1328125"/>
            <a:ext cx="662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Lexend"/>
                <a:ea typeface="Lexend"/>
                <a:cs typeface="Lexend"/>
                <a:sym typeface="Lexend"/>
              </a:rPr>
              <a:t>Task A: Creating bar charts on spreadsheet software</a:t>
            </a:r>
            <a:endParaRPr b="1">
              <a:latin typeface="Lexend"/>
              <a:ea typeface="Lexend"/>
              <a:cs typeface="Lexend"/>
              <a:sym typeface="Lexend"/>
            </a:endParaRPr>
          </a:p>
        </p:txBody>
      </p:sp>
      <p:sp>
        <p:nvSpPr>
          <p:cNvPr id="174" name="Google Shape;174;p20"/>
          <p:cNvSpPr txBox="1"/>
          <p:nvPr/>
        </p:nvSpPr>
        <p:spPr>
          <a:xfrm>
            <a:off x="476400" y="1749900"/>
            <a:ext cx="6624000" cy="3020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a:pPr>
            <a:r>
              <a:rPr lang="en-GB" sz="1200">
                <a:solidFill>
                  <a:srgbClr val="000000"/>
                </a:solidFill>
                <a:latin typeface="Lexend"/>
                <a:ea typeface="Lexend"/>
                <a:cs typeface="Lexend"/>
                <a:sym typeface="Lexend"/>
              </a:rPr>
              <a:t>The flower sales at a garden centre are recorded.</a:t>
            </a:r>
            <a:endParaRPr sz="1200">
              <a:solidFill>
                <a:srgbClr val="000000"/>
              </a:solidFill>
              <a:latin typeface="Lexend"/>
              <a:ea typeface="Lexend"/>
              <a:cs typeface="Lexend"/>
              <a:sym typeface="Lexend"/>
            </a:endParaRPr>
          </a:p>
          <a:p>
            <a:pPr indent="-304800" lvl="1" marL="914400" rtl="0" algn="l">
              <a:lnSpc>
                <a:spcPct val="130000"/>
              </a:lnSpc>
              <a:spcBef>
                <a:spcPts val="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Create a bar chart for this list of data:</a:t>
            </a:r>
            <a:br>
              <a:rPr lang="en-GB" sz="1200">
                <a:solidFill>
                  <a:srgbClr val="000000"/>
                </a:solidFill>
                <a:latin typeface="Lexend"/>
                <a:ea typeface="Lexend"/>
                <a:cs typeface="Lexend"/>
                <a:sym typeface="Lexend"/>
              </a:rPr>
            </a:b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rose, tulip, marigold, viola, rose, rose, marigold, viola, daffodil, tulip, daffodil, petunia, marigold, daffodil, rose, tulip, petunia, petunia, tulip, marigold, rose, viola, rose, petunia, viola, viola</a:t>
            </a:r>
            <a:br>
              <a:rPr lang="en-GB" sz="1200">
                <a:solidFill>
                  <a:srgbClr val="000000"/>
                </a:solidFill>
                <a:latin typeface="Lexend"/>
                <a:ea typeface="Lexend"/>
                <a:cs typeface="Lexend"/>
                <a:sym typeface="Lexend"/>
              </a:rPr>
            </a:b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Ensure it has a title on both axes.</a:t>
            </a:r>
            <a:endParaRPr sz="1200">
              <a:solidFill>
                <a:srgbClr val="000000"/>
              </a:solidFill>
              <a:latin typeface="Lexend"/>
              <a:ea typeface="Lexend"/>
              <a:cs typeface="Lexend"/>
              <a:sym typeface="Lexend"/>
            </a:endParaRPr>
          </a:p>
          <a:p>
            <a:pPr indent="0" lvl="0" marL="914400" rtl="0" algn="l">
              <a:lnSpc>
                <a:spcPct val="130000"/>
              </a:lnSpc>
              <a:spcBef>
                <a:spcPts val="1000"/>
              </a:spcBef>
              <a:spcAft>
                <a:spcPts val="0"/>
              </a:spcAft>
              <a:buNone/>
            </a:pPr>
            <a:r>
              <a:t/>
            </a:r>
            <a:endParaRPr sz="1200">
              <a:latin typeface="Lexend"/>
              <a:ea typeface="Lexend"/>
              <a:cs typeface="Lexend"/>
              <a:sym typeface="Lexend"/>
            </a:endParaRPr>
          </a:p>
          <a:p>
            <a:pPr indent="0" lvl="0" marL="914400" rtl="0" algn="l">
              <a:lnSpc>
                <a:spcPct val="130000"/>
              </a:lnSpc>
              <a:spcBef>
                <a:spcPts val="1000"/>
              </a:spcBef>
              <a:spcAft>
                <a:spcPts val="0"/>
              </a:spcAft>
              <a:buNone/>
            </a:pPr>
            <a:r>
              <a:t/>
            </a:r>
            <a:endParaRPr sz="1200">
              <a:latin typeface="Lexend"/>
              <a:ea typeface="Lexend"/>
              <a:cs typeface="Lexend"/>
              <a:sym typeface="Lexend"/>
            </a:endParaRPr>
          </a:p>
          <a:p>
            <a:pPr indent="0" lvl="0" marL="914400" rtl="0" algn="l">
              <a:lnSpc>
                <a:spcPct val="130000"/>
              </a:lnSpc>
              <a:spcBef>
                <a:spcPts val="1000"/>
              </a:spcBef>
              <a:spcAft>
                <a:spcPts val="0"/>
              </a:spcAft>
              <a:buNone/>
            </a:pPr>
            <a:r>
              <a:t/>
            </a:r>
            <a:endParaRPr sz="1200">
              <a:latin typeface="Lexend"/>
              <a:ea typeface="Lexend"/>
              <a:cs typeface="Lexend"/>
              <a:sym typeface="Lexend"/>
            </a:endParaRPr>
          </a:p>
          <a:p>
            <a:pPr indent="0" lvl="0" marL="914400" rtl="0" algn="l">
              <a:lnSpc>
                <a:spcPct val="130000"/>
              </a:lnSpc>
              <a:spcBef>
                <a:spcPts val="1000"/>
              </a:spcBef>
              <a:spcAft>
                <a:spcPts val="0"/>
              </a:spcAft>
              <a:buNone/>
            </a:pPr>
            <a:r>
              <a:t/>
            </a:r>
            <a:endParaRPr sz="1200">
              <a:latin typeface="Lexend"/>
              <a:ea typeface="Lexend"/>
              <a:cs typeface="Lexend"/>
              <a:sym typeface="Lexend"/>
            </a:endParaRPr>
          </a:p>
          <a:p>
            <a:pPr indent="0" lvl="0" marL="0" rtl="0" algn="l">
              <a:lnSpc>
                <a:spcPct val="130000"/>
              </a:lnSpc>
              <a:spcBef>
                <a:spcPts val="1000"/>
              </a:spcBef>
              <a:spcAft>
                <a:spcPts val="0"/>
              </a:spcAft>
              <a:buNone/>
            </a:pPr>
            <a:r>
              <a:t/>
            </a:r>
            <a:endParaRPr sz="1200">
              <a:latin typeface="Lexend"/>
              <a:ea typeface="Lexend"/>
              <a:cs typeface="Lexend"/>
              <a:sym typeface="Lexend"/>
            </a:endParaRPr>
          </a:p>
          <a:p>
            <a:pPr indent="0" lvl="0" marL="0" rtl="0" algn="l">
              <a:lnSpc>
                <a:spcPct val="130000"/>
              </a:lnSpc>
              <a:spcBef>
                <a:spcPts val="1000"/>
              </a:spcBef>
              <a:spcAft>
                <a:spcPts val="0"/>
              </a:spcAft>
              <a:buNone/>
            </a:pPr>
            <a:r>
              <a:t/>
            </a:r>
            <a:endParaRPr sz="1200">
              <a:latin typeface="Lexend"/>
              <a:ea typeface="Lexend"/>
              <a:cs typeface="Lexend"/>
              <a:sym typeface="Lexend"/>
            </a:endParaRPr>
          </a:p>
          <a:p>
            <a:pPr indent="-304800" lvl="1" marL="914400" rtl="0" algn="l">
              <a:lnSpc>
                <a:spcPct val="130000"/>
              </a:lnSpc>
              <a:spcBef>
                <a:spcPts val="1000"/>
              </a:spcBef>
              <a:spcAft>
                <a:spcPts val="0"/>
              </a:spcAft>
              <a:buClr>
                <a:srgbClr val="000000"/>
              </a:buClr>
              <a:buSzPts val="1200"/>
              <a:buFont typeface="Lexend"/>
              <a:buAutoNum type="alphaLcParenR"/>
            </a:pPr>
            <a:r>
              <a:rPr lang="en-GB" sz="1200">
                <a:solidFill>
                  <a:srgbClr val="000000"/>
                </a:solidFill>
                <a:latin typeface="Lexend"/>
                <a:ea typeface="Lexend"/>
                <a:cs typeface="Lexend"/>
                <a:sym typeface="Lexend"/>
              </a:rPr>
              <a:t>Would you advise the garden centre to order an equal amount of each flower next time or different amounts? Explain your answer.</a:t>
            </a:r>
            <a:endParaRPr sz="1200">
              <a:solidFill>
                <a:srgbClr val="000000"/>
              </a:solidFill>
              <a:latin typeface="Lexend"/>
              <a:ea typeface="Lexend"/>
              <a:cs typeface="Lexend"/>
              <a:sym typeface="Lexend"/>
            </a:endParaRPr>
          </a:p>
        </p:txBody>
      </p:sp>
      <p:pic>
        <p:nvPicPr>
          <p:cNvPr id="175" name="Google Shape;175;p20" title="Chart"/>
          <p:cNvPicPr preferRelativeResize="0"/>
          <p:nvPr/>
        </p:nvPicPr>
        <p:blipFill>
          <a:blip r:embed="rId3">
            <a:alphaModFix/>
          </a:blip>
          <a:stretch>
            <a:fillRect/>
          </a:stretch>
        </p:blipFill>
        <p:spPr>
          <a:xfrm>
            <a:off x="1194775" y="3747250"/>
            <a:ext cx="3210476" cy="1983925"/>
          </a:xfrm>
          <a:prstGeom prst="rect">
            <a:avLst/>
          </a:prstGeom>
          <a:noFill/>
          <a:ln>
            <a:noFill/>
          </a:ln>
        </p:spPr>
      </p:pic>
      <p:sp>
        <p:nvSpPr>
          <p:cNvPr id="176" name="Google Shape;176;p20"/>
          <p:cNvSpPr txBox="1"/>
          <p:nvPr/>
        </p:nvSpPr>
        <p:spPr>
          <a:xfrm>
            <a:off x="5148000" y="3747250"/>
            <a:ext cx="1762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Kalam"/>
                <a:ea typeface="Kalam"/>
                <a:cs typeface="Kalam"/>
                <a:sym typeface="Kalam"/>
              </a:rPr>
              <a:t>It doesn’t matter if you have changed the colours or scales.</a:t>
            </a:r>
            <a:endParaRPr sz="1200">
              <a:latin typeface="Kalam"/>
              <a:ea typeface="Kalam"/>
              <a:cs typeface="Kalam"/>
              <a:sym typeface="Kalam"/>
            </a:endParaRPr>
          </a:p>
        </p:txBody>
      </p:sp>
      <p:sp>
        <p:nvSpPr>
          <p:cNvPr id="177" name="Google Shape;177;p20"/>
          <p:cNvSpPr txBox="1"/>
          <p:nvPr/>
        </p:nvSpPr>
        <p:spPr>
          <a:xfrm>
            <a:off x="1239900" y="6386375"/>
            <a:ext cx="5860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Kalam"/>
                <a:ea typeface="Kalam"/>
                <a:cs typeface="Kalam"/>
                <a:sym typeface="Kalam"/>
              </a:rPr>
              <a:t>Your response may have included:</a:t>
            </a:r>
            <a:endParaRPr sz="1200">
              <a:latin typeface="Kalam"/>
              <a:ea typeface="Kalam"/>
              <a:cs typeface="Kalam"/>
              <a:sym typeface="Kalam"/>
            </a:endParaRPr>
          </a:p>
          <a:p>
            <a:pPr indent="0" lvl="0" marL="0" rtl="0" algn="l">
              <a:spcBef>
                <a:spcPts val="0"/>
              </a:spcBef>
              <a:spcAft>
                <a:spcPts val="0"/>
              </a:spcAft>
              <a:buNone/>
            </a:pPr>
            <a:r>
              <a:rPr lang="en-GB" sz="1200">
                <a:latin typeface="Kalam"/>
                <a:ea typeface="Kalam"/>
                <a:cs typeface="Kalam"/>
                <a:sym typeface="Kalam"/>
              </a:rPr>
              <a:t>The total amount of sales is not very high, so although daffodil sales were the lowest on this particular day, it may not be the case on another day. The garden centre should collect further data to get a better understanding of the sales.</a:t>
            </a:r>
            <a:endParaRPr sz="1200">
              <a:latin typeface="Kalam"/>
              <a:ea typeface="Kalam"/>
              <a:cs typeface="Kalam"/>
              <a:sym typeface="Kalam"/>
            </a:endParaRPr>
          </a:p>
        </p:txBody>
      </p:sp>
      <p:sp>
        <p:nvSpPr>
          <p:cNvPr id="178" name="Google Shape;178;p20"/>
          <p:cNvSpPr txBox="1"/>
          <p:nvPr/>
        </p:nvSpPr>
        <p:spPr>
          <a:xfrm>
            <a:off x="476400" y="7312500"/>
            <a:ext cx="6624000" cy="2772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startAt="2"/>
            </a:pPr>
            <a:r>
              <a:rPr lang="en-GB" sz="1200">
                <a:solidFill>
                  <a:srgbClr val="000000"/>
                </a:solidFill>
                <a:latin typeface="Lexend"/>
                <a:ea typeface="Lexend"/>
                <a:cs typeface="Lexend"/>
                <a:sym typeface="Lexend"/>
              </a:rPr>
              <a:t>Create a bar chart for this table of data about visitors to a museum.</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graphicFrame>
        <p:nvGraphicFramePr>
          <p:cNvPr id="179" name="Google Shape;179;p20"/>
          <p:cNvGraphicFramePr/>
          <p:nvPr/>
        </p:nvGraphicFramePr>
        <p:xfrm>
          <a:off x="898738" y="7554325"/>
          <a:ext cx="3000000" cy="3000000"/>
        </p:xfrm>
        <a:graphic>
          <a:graphicData uri="http://schemas.openxmlformats.org/drawingml/2006/table">
            <a:tbl>
              <a:tblPr>
                <a:noFill/>
                <a:tableStyleId>{AFA153EA-2D96-41F2-9C4B-0F29F1060BD9}</a:tableStyleId>
              </a:tblPr>
              <a:tblGrid>
                <a:gridCol w="1093600"/>
                <a:gridCol w="1115875"/>
              </a:tblGrid>
              <a:tr h="528575">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Day of the week</a:t>
                      </a:r>
                      <a:endParaRPr b="1" sz="1200">
                        <a:solidFill>
                          <a:schemeClr val="dk1"/>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91425" marB="91425" marR="91425" marL="91425"/>
                </a:tc>
              </a:tr>
              <a:tr h="352375">
                <a:tc>
                  <a:txBody>
                    <a:bodyPr/>
                    <a:lstStyle/>
                    <a:p>
                      <a:pPr indent="0" lvl="0" marL="0" rtl="0" algn="l">
                        <a:spcBef>
                          <a:spcPts val="0"/>
                        </a:spcBef>
                        <a:spcAft>
                          <a:spcPts val="0"/>
                        </a:spcAft>
                        <a:buNone/>
                      </a:pPr>
                      <a:r>
                        <a:rPr lang="en-GB" sz="1200">
                          <a:latin typeface="Lexend"/>
                          <a:ea typeface="Lexend"/>
                          <a:cs typeface="Lexend"/>
                          <a:sym typeface="Lexend"/>
                        </a:rPr>
                        <a:t>Monday</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a:txBody>
                  <a:tcPr marT="91425" marB="91425" marR="91425" marL="91425"/>
                </a:tc>
              </a:tr>
              <a:tr h="352375">
                <a:tc>
                  <a:txBody>
                    <a:bodyPr/>
                    <a:lstStyle/>
                    <a:p>
                      <a:pPr indent="0" lvl="0" marL="0" rtl="0" algn="l">
                        <a:spcBef>
                          <a:spcPts val="0"/>
                        </a:spcBef>
                        <a:spcAft>
                          <a:spcPts val="0"/>
                        </a:spcAft>
                        <a:buNone/>
                      </a:pPr>
                      <a:r>
                        <a:rPr lang="en-GB" sz="1200">
                          <a:latin typeface="Lexend"/>
                          <a:ea typeface="Lexend"/>
                          <a:cs typeface="Lexend"/>
                          <a:sym typeface="Lexend"/>
                        </a:rPr>
                        <a:t>Tuesday</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91425" marB="91425" marR="91425" marL="91425"/>
                </a:tc>
              </a:tr>
              <a:tr h="352375">
                <a:tc>
                  <a:txBody>
                    <a:bodyPr/>
                    <a:lstStyle/>
                    <a:p>
                      <a:pPr indent="0" lvl="0" marL="0" rtl="0" algn="l">
                        <a:spcBef>
                          <a:spcPts val="0"/>
                        </a:spcBef>
                        <a:spcAft>
                          <a:spcPts val="0"/>
                        </a:spcAft>
                        <a:buNone/>
                      </a:pPr>
                      <a:r>
                        <a:rPr lang="en-GB" sz="1200">
                          <a:latin typeface="Lexend"/>
                          <a:ea typeface="Lexend"/>
                          <a:cs typeface="Lexend"/>
                          <a:sym typeface="Lexend"/>
                        </a:rPr>
                        <a:t>Wednesday</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32</a:t>
                      </a:r>
                      <a:endParaRPr sz="1200">
                        <a:latin typeface="Lexend"/>
                        <a:ea typeface="Lexend"/>
                        <a:cs typeface="Lexend"/>
                        <a:sym typeface="Lexend"/>
                      </a:endParaRPr>
                    </a:p>
                  </a:txBody>
                  <a:tcPr marT="91425" marB="91425" marR="91425" marL="91425"/>
                </a:tc>
              </a:tr>
              <a:tr h="352375">
                <a:tc>
                  <a:txBody>
                    <a:bodyPr/>
                    <a:lstStyle/>
                    <a:p>
                      <a:pPr indent="0" lvl="0" marL="0" rtl="0" algn="l">
                        <a:spcBef>
                          <a:spcPts val="0"/>
                        </a:spcBef>
                        <a:spcAft>
                          <a:spcPts val="0"/>
                        </a:spcAft>
                        <a:buNone/>
                      </a:pPr>
                      <a:r>
                        <a:rPr lang="en-GB" sz="1200">
                          <a:latin typeface="Lexend"/>
                          <a:ea typeface="Lexend"/>
                          <a:cs typeface="Lexend"/>
                          <a:sym typeface="Lexend"/>
                        </a:rPr>
                        <a:t>Thursday</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27</a:t>
                      </a:r>
                      <a:endParaRPr sz="1200">
                        <a:latin typeface="Lexend"/>
                        <a:ea typeface="Lexend"/>
                        <a:cs typeface="Lexend"/>
                        <a:sym typeface="Lexend"/>
                      </a:endParaRPr>
                    </a:p>
                  </a:txBody>
                  <a:tcPr marT="91425" marB="91425" marR="91425" marL="91425"/>
                </a:tc>
              </a:tr>
              <a:tr h="352375">
                <a:tc>
                  <a:txBody>
                    <a:bodyPr/>
                    <a:lstStyle/>
                    <a:p>
                      <a:pPr indent="0" lvl="0" marL="0" rtl="0" algn="l">
                        <a:spcBef>
                          <a:spcPts val="0"/>
                        </a:spcBef>
                        <a:spcAft>
                          <a:spcPts val="0"/>
                        </a:spcAft>
                        <a:buNone/>
                      </a:pPr>
                      <a:r>
                        <a:rPr lang="en-GB" sz="1200">
                          <a:latin typeface="Lexend"/>
                          <a:ea typeface="Lexend"/>
                          <a:cs typeface="Lexend"/>
                          <a:sym typeface="Lexend"/>
                        </a:rPr>
                        <a:t>Friday</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34</a:t>
                      </a:r>
                      <a:endParaRPr sz="1200">
                        <a:latin typeface="Lexend"/>
                        <a:ea typeface="Lexend"/>
                        <a:cs typeface="Lexend"/>
                        <a:sym typeface="Lexend"/>
                      </a:endParaRPr>
                    </a:p>
                  </a:txBody>
                  <a:tcPr marT="91425" marB="91425" marR="91425" marL="91425"/>
                </a:tc>
              </a:tr>
            </a:tbl>
          </a:graphicData>
        </a:graphic>
      </p:graphicFrame>
      <p:pic>
        <p:nvPicPr>
          <p:cNvPr id="180" name="Google Shape;180;p20" title="Chart"/>
          <p:cNvPicPr preferRelativeResize="0"/>
          <p:nvPr/>
        </p:nvPicPr>
        <p:blipFill>
          <a:blip r:embed="rId4">
            <a:alphaModFix/>
          </a:blip>
          <a:stretch>
            <a:fillRect/>
          </a:stretch>
        </p:blipFill>
        <p:spPr>
          <a:xfrm>
            <a:off x="3209400" y="7636272"/>
            <a:ext cx="3701402" cy="2289160"/>
          </a:xfrm>
          <a:prstGeom prst="rect">
            <a:avLst/>
          </a:prstGeom>
          <a:noFill/>
          <a:ln>
            <a:noFill/>
          </a:ln>
        </p:spPr>
      </p:pic>
      <p:sp>
        <p:nvSpPr>
          <p:cNvPr id="181" name="Google Shape;181;p20"/>
          <p:cNvSpPr txBox="1"/>
          <p:nvPr/>
        </p:nvSpPr>
        <p:spPr>
          <a:xfrm>
            <a:off x="486950" y="10176100"/>
            <a:ext cx="71139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9E9E9E"/>
                </a:solidFill>
                <a:latin typeface="Lexend"/>
                <a:ea typeface="Lexend"/>
                <a:cs typeface="Lexend"/>
                <a:sym typeface="Lexend"/>
              </a:rPr>
              <a:t>Google Sheets is a trademark of Google LLC and this content is not endorsed by or affiliated with Google in any way.</a:t>
            </a:r>
            <a:endParaRPr sz="600">
              <a:solidFill>
                <a:srgbClr val="9E9E9E"/>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7" name="Google Shape;187;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Constructing bar charts by utilising technology</a:t>
            </a:r>
            <a:endParaRPr/>
          </a:p>
        </p:txBody>
      </p:sp>
      <p:sp>
        <p:nvSpPr>
          <p:cNvPr id="188" name="Google Shape;188;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Lexend"/>
                <a:ea typeface="Lexend"/>
                <a:cs typeface="Lexend"/>
                <a:sym typeface="Lexend"/>
              </a:rPr>
              <a:t>v2</a:t>
            </a:r>
            <a:r>
              <a:rPr lang="en-GB" sz="1000">
                <a:solidFill>
                  <a:schemeClr val="lt1"/>
                </a:solidFill>
                <a:latin typeface="Lexend"/>
                <a:ea typeface="Lexend"/>
                <a:cs typeface="Lexend"/>
                <a:sym typeface="Lexend"/>
              </a:rPr>
              <a:t>.2</a:t>
            </a:r>
            <a:endParaRPr sz="1000">
              <a:solidFill>
                <a:schemeClr val="lt1"/>
              </a:solidFill>
              <a:latin typeface="Lexend"/>
              <a:ea typeface="Lexend"/>
              <a:cs typeface="Lexend"/>
              <a:sym typeface="Lexend"/>
            </a:endParaRPr>
          </a:p>
        </p:txBody>
      </p:sp>
      <p:sp>
        <p:nvSpPr>
          <p:cNvPr id="189" name="Google Shape;189;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90" name="Google Shape;190;p21"/>
          <p:cNvSpPr txBox="1"/>
          <p:nvPr/>
        </p:nvSpPr>
        <p:spPr>
          <a:xfrm>
            <a:off x="476400" y="759300"/>
            <a:ext cx="6223200" cy="3372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startAt="3"/>
            </a:pPr>
            <a:r>
              <a:rPr lang="en-GB" sz="1200">
                <a:solidFill>
                  <a:srgbClr val="000000"/>
                </a:solidFill>
                <a:latin typeface="Lexend"/>
                <a:ea typeface="Lexend"/>
                <a:cs typeface="Lexend"/>
                <a:sym typeface="Lexend"/>
              </a:rPr>
              <a:t>Create a bar chart for this table of data about visitors to a museum.</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0"/>
              </a:spcAft>
              <a:buNone/>
            </a:pPr>
            <a:r>
              <a:t/>
            </a:r>
            <a:endParaRPr sz="1200">
              <a:solidFill>
                <a:srgbClr val="000000"/>
              </a:solidFill>
              <a:latin typeface="Lexend"/>
              <a:ea typeface="Lexend"/>
              <a:cs typeface="Lexend"/>
              <a:sym typeface="Lexend"/>
            </a:endParaRPr>
          </a:p>
          <a:p>
            <a:pPr indent="0" lvl="0" marL="45720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91" name="Google Shape;191;p21"/>
          <p:cNvSpPr txBox="1"/>
          <p:nvPr/>
        </p:nvSpPr>
        <p:spPr>
          <a:xfrm>
            <a:off x="4561142" y="1096500"/>
            <a:ext cx="2496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Lexend"/>
                <a:ea typeface="Lexend"/>
                <a:cs typeface="Lexend"/>
                <a:sym typeface="Lexend"/>
              </a:rPr>
              <a:t>What is different about this bar chart?</a:t>
            </a:r>
            <a:endParaRPr sz="1200">
              <a:latin typeface="Lexend"/>
              <a:ea typeface="Lexend"/>
              <a:cs typeface="Lexend"/>
              <a:sym typeface="Lexend"/>
            </a:endParaRPr>
          </a:p>
        </p:txBody>
      </p:sp>
      <p:pic>
        <p:nvPicPr>
          <p:cNvPr id="192" name="Google Shape;192;p21" title="Chart"/>
          <p:cNvPicPr preferRelativeResize="0"/>
          <p:nvPr/>
        </p:nvPicPr>
        <p:blipFill>
          <a:blip r:embed="rId3">
            <a:alphaModFix/>
          </a:blip>
          <a:stretch>
            <a:fillRect/>
          </a:stretch>
        </p:blipFill>
        <p:spPr>
          <a:xfrm>
            <a:off x="885925" y="994900"/>
            <a:ext cx="3563300" cy="2204501"/>
          </a:xfrm>
          <a:prstGeom prst="rect">
            <a:avLst/>
          </a:prstGeom>
          <a:noFill/>
          <a:ln>
            <a:noFill/>
          </a:ln>
        </p:spPr>
      </p:pic>
      <p:sp>
        <p:nvSpPr>
          <p:cNvPr id="193" name="Google Shape;193;p21"/>
          <p:cNvSpPr txBox="1"/>
          <p:nvPr/>
        </p:nvSpPr>
        <p:spPr>
          <a:xfrm>
            <a:off x="4595796" y="1727701"/>
            <a:ext cx="2427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Kalam"/>
                <a:ea typeface="Kalam"/>
                <a:cs typeface="Kalam"/>
                <a:sym typeface="Kalam"/>
              </a:rPr>
              <a:t>It is a comparison bar chart, as there were two sets of data for the same thing.</a:t>
            </a:r>
            <a:endParaRPr sz="1200">
              <a:latin typeface="Kalam"/>
              <a:ea typeface="Kalam"/>
              <a:cs typeface="Kalam"/>
              <a:sym typeface="Kalam"/>
            </a:endParaRPr>
          </a:p>
        </p:txBody>
      </p:sp>
      <p:cxnSp>
        <p:nvCxnSpPr>
          <p:cNvPr id="194" name="Google Shape;194;p21"/>
          <p:cNvCxnSpPr/>
          <p:nvPr/>
        </p:nvCxnSpPr>
        <p:spPr>
          <a:xfrm>
            <a:off x="474125" y="3268125"/>
            <a:ext cx="6629400" cy="0"/>
          </a:xfrm>
          <a:prstGeom prst="straightConnector1">
            <a:avLst/>
          </a:prstGeom>
          <a:noFill/>
          <a:ln cap="flat" cmpd="sng" w="38100">
            <a:solidFill>
              <a:schemeClr val="dk2"/>
            </a:solidFill>
            <a:prstDash val="solid"/>
            <a:round/>
            <a:headEnd len="med" w="med" type="none"/>
            <a:tailEnd len="med" w="med" type="none"/>
          </a:ln>
        </p:spPr>
      </p:cxnSp>
      <p:sp>
        <p:nvSpPr>
          <p:cNvPr id="195" name="Google Shape;195;p21"/>
          <p:cNvSpPr txBox="1"/>
          <p:nvPr/>
        </p:nvSpPr>
        <p:spPr>
          <a:xfrm>
            <a:off x="476400" y="3959700"/>
            <a:ext cx="6629400" cy="4302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a:pPr>
            <a:r>
              <a:rPr lang="en-GB" sz="1200">
                <a:solidFill>
                  <a:srgbClr val="000000"/>
                </a:solidFill>
                <a:latin typeface="Lexend"/>
                <a:ea typeface="Lexend"/>
                <a:cs typeface="Lexend"/>
                <a:sym typeface="Lexend"/>
              </a:rPr>
              <a:t>Using the </a:t>
            </a:r>
            <a:r>
              <a:rPr lang="en-GB" sz="1200" u="sng">
                <a:solidFill>
                  <a:srgbClr val="374CF1"/>
                </a:solidFill>
                <a:latin typeface="Lexend"/>
                <a:ea typeface="Lexend"/>
                <a:cs typeface="Lexend"/>
                <a:sym typeface="Lexend"/>
                <a:hlinkClick r:id="rId4">
                  <a:extLst>
                    <a:ext uri="{A12FA001-AC4F-418D-AE19-62706E023703}">
                      <ahyp:hlinkClr val="tx"/>
                    </a:ext>
                  </a:extLst>
                </a:hlinkClick>
              </a:rPr>
              <a:t>Template file</a:t>
            </a:r>
            <a:r>
              <a:rPr lang="en-GB" sz="1200">
                <a:solidFill>
                  <a:srgbClr val="000000"/>
                </a:solidFill>
                <a:latin typeface="Lexend"/>
                <a:ea typeface="Lexend"/>
                <a:cs typeface="Lexend"/>
                <a:sym typeface="Lexend"/>
              </a:rPr>
              <a:t> </a:t>
            </a:r>
            <a:r>
              <a:rPr lang="en-GB" sz="1200">
                <a:solidFill>
                  <a:schemeClr val="dk1"/>
                </a:solidFill>
                <a:latin typeface="Lexend"/>
                <a:ea typeface="Lexend"/>
                <a:cs typeface="Lexend"/>
                <a:sym typeface="Lexend"/>
              </a:rPr>
              <a:t>🖇 </a:t>
            </a:r>
            <a:r>
              <a:rPr lang="en-GB" sz="1200">
                <a:solidFill>
                  <a:srgbClr val="000000"/>
                </a:solidFill>
                <a:latin typeface="Lexend"/>
                <a:ea typeface="Lexend"/>
                <a:cs typeface="Lexend"/>
                <a:sym typeface="Lexend"/>
              </a:rPr>
              <a:t>recreate this bar chart.   </a:t>
            </a:r>
            <a:endParaRPr sz="1200">
              <a:solidFill>
                <a:srgbClr val="000000"/>
              </a:solidFill>
              <a:latin typeface="Lexend"/>
              <a:ea typeface="Lexend"/>
              <a:cs typeface="Lexend"/>
              <a:sym typeface="Lexend"/>
            </a:endParaRPr>
          </a:p>
        </p:txBody>
      </p:sp>
      <p:sp>
        <p:nvSpPr>
          <p:cNvPr id="196" name="Google Shape;196;p21"/>
          <p:cNvSpPr txBox="1"/>
          <p:nvPr/>
        </p:nvSpPr>
        <p:spPr>
          <a:xfrm>
            <a:off x="4373525" y="4177695"/>
            <a:ext cx="273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latin typeface="Kalam"/>
                <a:ea typeface="Kalam"/>
                <a:cs typeface="Kalam"/>
                <a:sym typeface="Kalam"/>
              </a:rPr>
              <a:t>The data should have been added like this.</a:t>
            </a:r>
            <a:endParaRPr sz="1200">
              <a:latin typeface="Kalam"/>
              <a:ea typeface="Kalam"/>
              <a:cs typeface="Kalam"/>
              <a:sym typeface="Kalam"/>
            </a:endParaRPr>
          </a:p>
        </p:txBody>
      </p:sp>
      <p:pic>
        <p:nvPicPr>
          <p:cNvPr id="197" name="Google Shape;197;p21" title="Chart"/>
          <p:cNvPicPr preferRelativeResize="0"/>
          <p:nvPr/>
        </p:nvPicPr>
        <p:blipFill rotWithShape="1">
          <a:blip r:embed="rId5">
            <a:alphaModFix/>
          </a:blip>
          <a:srcRect b="4095" l="1845" r="0" t="0"/>
          <a:stretch/>
        </p:blipFill>
        <p:spPr>
          <a:xfrm>
            <a:off x="592525" y="4281925"/>
            <a:ext cx="3856699" cy="2333596"/>
          </a:xfrm>
          <a:prstGeom prst="rect">
            <a:avLst/>
          </a:prstGeom>
          <a:noFill/>
          <a:ln>
            <a:noFill/>
          </a:ln>
        </p:spPr>
      </p:pic>
      <p:sp>
        <p:nvSpPr>
          <p:cNvPr id="198" name="Google Shape;198;p21"/>
          <p:cNvSpPr txBox="1"/>
          <p:nvPr/>
        </p:nvSpPr>
        <p:spPr>
          <a:xfrm>
            <a:off x="468000" y="3309325"/>
            <a:ext cx="662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Lexend"/>
                <a:ea typeface="Lexend"/>
                <a:cs typeface="Lexend"/>
                <a:sym typeface="Lexend"/>
              </a:rPr>
              <a:t>Task B: Creating bar charts using a template file</a:t>
            </a:r>
            <a:endParaRPr b="1">
              <a:latin typeface="Lexend"/>
              <a:ea typeface="Lexend"/>
              <a:cs typeface="Lexend"/>
              <a:sym typeface="Lexend"/>
            </a:endParaRPr>
          </a:p>
        </p:txBody>
      </p:sp>
      <p:sp>
        <p:nvSpPr>
          <p:cNvPr id="199" name="Google Shape;199;p21"/>
          <p:cNvSpPr txBox="1"/>
          <p:nvPr/>
        </p:nvSpPr>
        <p:spPr>
          <a:xfrm>
            <a:off x="476400" y="6931500"/>
            <a:ext cx="6629400" cy="30207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rgbClr val="000000"/>
              </a:buClr>
              <a:buSzPts val="1200"/>
              <a:buFont typeface="Lexend"/>
              <a:buAutoNum type="arabicParenR" startAt="2"/>
            </a:pPr>
            <a:r>
              <a:rPr lang="en-GB" sz="1200" u="sng">
                <a:solidFill>
                  <a:srgbClr val="374CF1"/>
                </a:solidFill>
                <a:latin typeface="Lexend"/>
                <a:ea typeface="Lexend"/>
                <a:cs typeface="Lexend"/>
                <a:sym typeface="Lexend"/>
                <a:hlinkClick r:id="rId6">
                  <a:extLst>
                    <a:ext uri="{A12FA001-AC4F-418D-AE19-62706E023703}">
                      <ahyp:hlinkClr val="tx"/>
                    </a:ext>
                  </a:extLst>
                </a:hlinkClick>
              </a:rPr>
              <a:t>Task B Question 2</a:t>
            </a:r>
            <a:r>
              <a:rPr lang="en-GB" sz="1200">
                <a:solidFill>
                  <a:srgbClr val="000000"/>
                </a:solidFill>
                <a:latin typeface="Lexend"/>
                <a:ea typeface="Lexend"/>
                <a:cs typeface="Lexend"/>
                <a:sym typeface="Lexend"/>
              </a:rPr>
              <a:t> 🖇 recreate this bar chart showing the number of time zones per country (including overseas territories).</a:t>
            </a:r>
            <a:endParaRPr sz="1200">
              <a:solidFill>
                <a:srgbClr val="000000"/>
              </a:solidFill>
              <a:latin typeface="Lexend"/>
              <a:ea typeface="Lexend"/>
              <a:cs typeface="Lexend"/>
              <a:sym typeface="Lexend"/>
            </a:endParaRPr>
          </a:p>
        </p:txBody>
      </p:sp>
      <p:pic>
        <p:nvPicPr>
          <p:cNvPr id="200" name="Google Shape;200;p21"/>
          <p:cNvPicPr preferRelativeResize="0"/>
          <p:nvPr/>
        </p:nvPicPr>
        <p:blipFill>
          <a:blip r:embed="rId7">
            <a:alphaModFix/>
          </a:blip>
          <a:stretch>
            <a:fillRect/>
          </a:stretch>
        </p:blipFill>
        <p:spPr>
          <a:xfrm>
            <a:off x="3819013" y="7430550"/>
            <a:ext cx="3051936" cy="2451925"/>
          </a:xfrm>
          <a:prstGeom prst="rect">
            <a:avLst/>
          </a:prstGeom>
          <a:noFill/>
          <a:ln>
            <a:noFill/>
          </a:ln>
        </p:spPr>
      </p:pic>
      <p:pic>
        <p:nvPicPr>
          <p:cNvPr id="201" name="Google Shape;201;p21"/>
          <p:cNvPicPr preferRelativeResize="0"/>
          <p:nvPr/>
        </p:nvPicPr>
        <p:blipFill>
          <a:blip r:embed="rId8">
            <a:alphaModFix/>
          </a:blip>
          <a:stretch>
            <a:fillRect/>
          </a:stretch>
        </p:blipFill>
        <p:spPr>
          <a:xfrm>
            <a:off x="711250" y="7547699"/>
            <a:ext cx="1044789" cy="2217626"/>
          </a:xfrm>
          <a:prstGeom prst="rect">
            <a:avLst/>
          </a:prstGeom>
          <a:noFill/>
          <a:ln>
            <a:noFill/>
          </a:ln>
        </p:spPr>
      </p:pic>
      <p:pic>
        <p:nvPicPr>
          <p:cNvPr id="202" name="Google Shape;202;p21"/>
          <p:cNvPicPr preferRelativeResize="0"/>
          <p:nvPr/>
        </p:nvPicPr>
        <p:blipFill rotWithShape="1">
          <a:blip r:embed="rId9">
            <a:alphaModFix/>
          </a:blip>
          <a:srcRect b="0" l="0" r="43636" t="0"/>
          <a:stretch/>
        </p:blipFill>
        <p:spPr>
          <a:xfrm>
            <a:off x="1842971" y="7499200"/>
            <a:ext cx="1889105" cy="2266125"/>
          </a:xfrm>
          <a:prstGeom prst="rect">
            <a:avLst/>
          </a:prstGeom>
          <a:noFill/>
          <a:ln>
            <a:noFill/>
          </a:ln>
        </p:spPr>
      </p:pic>
      <p:pic>
        <p:nvPicPr>
          <p:cNvPr id="203" name="Google Shape;203;p21"/>
          <p:cNvPicPr preferRelativeResize="0"/>
          <p:nvPr/>
        </p:nvPicPr>
        <p:blipFill>
          <a:blip r:embed="rId10">
            <a:alphaModFix/>
          </a:blip>
          <a:stretch>
            <a:fillRect/>
          </a:stretch>
        </p:blipFill>
        <p:spPr>
          <a:xfrm>
            <a:off x="4601624" y="4884195"/>
            <a:ext cx="2485347" cy="1894906"/>
          </a:xfrm>
          <a:prstGeom prst="rect">
            <a:avLst/>
          </a:prstGeom>
          <a:noFill/>
          <a:ln>
            <a:noFill/>
          </a:ln>
        </p:spPr>
      </p:pic>
      <p:sp>
        <p:nvSpPr>
          <p:cNvPr id="204" name="Google Shape;204;p21"/>
          <p:cNvSpPr txBox="1"/>
          <p:nvPr/>
        </p:nvSpPr>
        <p:spPr>
          <a:xfrm>
            <a:off x="338750" y="10160725"/>
            <a:ext cx="726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600">
              <a:solidFill>
                <a:srgbClr val="9E9E9E"/>
              </a:solidFill>
              <a:latin typeface="Lexend"/>
              <a:ea typeface="Lexend"/>
              <a:cs typeface="Lexend"/>
              <a:sym typeface="Lexend"/>
            </a:endParaRPr>
          </a:p>
          <a:p>
            <a:pPr indent="0" lvl="0" marL="0" rtl="0" algn="l">
              <a:spcBef>
                <a:spcPts val="0"/>
              </a:spcBef>
              <a:spcAft>
                <a:spcPts val="0"/>
              </a:spcAft>
              <a:buNone/>
            </a:pPr>
            <a:r>
              <a:t/>
            </a:r>
            <a:endParaRPr sz="600">
              <a:solidFill>
                <a:srgbClr val="9E9E9E"/>
              </a:solidFill>
              <a:latin typeface="Lexend"/>
              <a:ea typeface="Lexend"/>
              <a:cs typeface="Lexend"/>
              <a:sym typeface="Lexend"/>
            </a:endParaRPr>
          </a:p>
          <a:p>
            <a:pPr indent="0" lvl="0" marL="0" rtl="0" algn="l">
              <a:spcBef>
                <a:spcPts val="0"/>
              </a:spcBef>
              <a:spcAft>
                <a:spcPts val="0"/>
              </a:spcAft>
              <a:buNone/>
            </a:pPr>
            <a:r>
              <a:rPr lang="en-GB" sz="600">
                <a:solidFill>
                  <a:srgbClr val="9E9E9E"/>
                </a:solidFill>
                <a:latin typeface="Lexend"/>
                <a:ea typeface="Lexend"/>
                <a:cs typeface="Lexend"/>
                <a:sym typeface="Lexend"/>
              </a:rPr>
              <a:t>Google Sheets is a trademark of Google LLC and this content is not endorsed by or affiliated with Google in any way.</a:t>
            </a:r>
            <a:endParaRPr sz="600">
              <a:solidFill>
                <a:srgbClr val="9E9E9E"/>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