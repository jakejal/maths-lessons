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754C58-ACA0-4BBC-9D71-DF4F736011AA}">
  <a:tblStyle styleId="{5B754C58-ACA0-4BBC-9D71-DF4F736011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9d947c1b0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9d947c1b0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87fa167dc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87fa167dc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2886162e8e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2886162e8e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886162e8ee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886162e8e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886162e8ee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2886162e8e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8a659a1db7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28a659a1db7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2886162e8ee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2886162e8e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28a1a13c2cd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28a1a13c2cd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886162e8ee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2886162e8ee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886162e8ee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886162e8ee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2886162e8ee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2886162e8ee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2886162e8ee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2886162e8ee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2886162e8ee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2886162e8ee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288cccdd4a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2" name="Google Shape;1032;g288cccdd4a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288cccdd4a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7" name="Google Shape;1047;g288cccdd4a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288cccdd4a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288cccdd4a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288cccdd4a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288cccdd4a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88cccdd4a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288cccdd4a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288cccdd4a9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288cccdd4a9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2886162e8ee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2886162e8ee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886162e8ee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2886162e8ee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2886162e8ee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2886162e8ee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2886162e8ee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2886162e8ee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2886162e8ee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2886162e8ee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2886162e8ee_0_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2886162e8ee_0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2886162e8ee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2886162e8ee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288cccdd4a9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288cccdd4a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28a1a13c2c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6" name="Google Shape;1426;g28a1a13c2c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288cccdd4a9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288cccdd4a9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88cccdd4a9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88cccdd4a9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289d947c1b0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1" name="Google Shape;1461;g289d947c1b0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288cccdd4a9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288cccdd4a9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288cccdd4a9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288cccdd4a9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g289d947c1b0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g289d947c1b0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7" name="Google Shape;155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Relationship Id="rId7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70.png"/><Relationship Id="rId5" Type="http://schemas.openxmlformats.org/officeDocument/2006/relationships/image" Target="../media/image28.png"/><Relationship Id="rId6" Type="http://schemas.openxmlformats.org/officeDocument/2006/relationships/image" Target="../media/image32.png"/><Relationship Id="rId7" Type="http://schemas.openxmlformats.org/officeDocument/2006/relationships/image" Target="../media/image1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0.png"/><Relationship Id="rId4" Type="http://schemas.openxmlformats.org/officeDocument/2006/relationships/image" Target="../media/image24.png"/><Relationship Id="rId9" Type="http://schemas.openxmlformats.org/officeDocument/2006/relationships/image" Target="../media/image13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28.png"/><Relationship Id="rId8" Type="http://schemas.openxmlformats.org/officeDocument/2006/relationships/image" Target="../media/image3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70.png"/><Relationship Id="rId4" Type="http://schemas.openxmlformats.org/officeDocument/2006/relationships/image" Target="../media/image30.png"/><Relationship Id="rId11" Type="http://schemas.openxmlformats.org/officeDocument/2006/relationships/image" Target="../media/image13.png"/><Relationship Id="rId10" Type="http://schemas.openxmlformats.org/officeDocument/2006/relationships/image" Target="../media/image37.png"/><Relationship Id="rId9" Type="http://schemas.openxmlformats.org/officeDocument/2006/relationships/image" Target="../media/image32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5.png"/><Relationship Id="rId6" Type="http://schemas.openxmlformats.org/officeDocument/2006/relationships/image" Target="../media/image54.png"/><Relationship Id="rId7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Relationship Id="rId4" Type="http://schemas.openxmlformats.org/officeDocument/2006/relationships/image" Target="../media/image48.png"/><Relationship Id="rId5" Type="http://schemas.openxmlformats.org/officeDocument/2006/relationships/image" Target="../media/image51.png"/><Relationship Id="rId6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3.png"/><Relationship Id="rId4" Type="http://schemas.openxmlformats.org/officeDocument/2006/relationships/image" Target="../media/image51.png"/><Relationship Id="rId5" Type="http://schemas.openxmlformats.org/officeDocument/2006/relationships/image" Target="../media/image4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6.png"/><Relationship Id="rId4" Type="http://schemas.openxmlformats.org/officeDocument/2006/relationships/image" Target="../media/image58.png"/><Relationship Id="rId5" Type="http://schemas.openxmlformats.org/officeDocument/2006/relationships/image" Target="../media/image5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6.png"/><Relationship Id="rId4" Type="http://schemas.openxmlformats.org/officeDocument/2006/relationships/image" Target="../media/image58.png"/><Relationship Id="rId5" Type="http://schemas.openxmlformats.org/officeDocument/2006/relationships/image" Target="../media/image5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2.png"/><Relationship Id="rId4" Type="http://schemas.openxmlformats.org/officeDocument/2006/relationships/image" Target="../media/image6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constructing pictograms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217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construct pictograms from data.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693700" cy="6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highlight>
                  <a:srgbClr val="FFFFFF"/>
                </a:highlight>
              </a:rPr>
              <a:t>The</a:t>
            </a:r>
            <a:r>
              <a:rPr b="1" lang="en-GB" sz="2000">
                <a:highlight>
                  <a:srgbClr val="FFFFFF"/>
                </a:highlight>
              </a:rPr>
              <a:t> </a:t>
            </a:r>
            <a:r>
              <a:rPr lang="en-GB" sz="2000">
                <a:highlight>
                  <a:srgbClr val="FFFFFF"/>
                </a:highlight>
              </a:rPr>
              <a:t>frequency is the number of times an event occurs; or the number of individuals (people, animals etc.) with some specific property. </a:t>
            </a:r>
            <a:endParaRPr sz="2000"/>
          </a:p>
        </p:txBody>
      </p:sp>
      <p:sp>
        <p:nvSpPr>
          <p:cNvPr id="767" name="Google Shape;767;p67"/>
          <p:cNvSpPr txBox="1"/>
          <p:nvPr>
            <p:ph idx="2" type="subTitle"/>
          </p:nvPr>
        </p:nvSpPr>
        <p:spPr>
          <a:xfrm>
            <a:off x="324000" y="2145325"/>
            <a:ext cx="6528900" cy="9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highlight>
                  <a:srgbClr val="FFFFFF"/>
                </a:highlight>
              </a:rPr>
              <a:t>A pictogram (pictograph) is a graph consisting of pictures to visually represent the frequency of objects or groups.  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1" y="371627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highlight>
                  <a:srgbClr val="FFFFFF"/>
                </a:highlight>
              </a:rPr>
              <a:t>Data are a collection of information. </a:t>
            </a:r>
            <a:endParaRPr sz="2000"/>
          </a:p>
        </p:txBody>
      </p:sp>
      <p:pic>
        <p:nvPicPr>
          <p:cNvPr id="769" name="Google Shape;76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9475" y="2003167"/>
            <a:ext cx="1857375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and interpreting pictograms</a:t>
            </a:r>
            <a:endParaRPr/>
          </a:p>
        </p:txBody>
      </p:sp>
      <p:sp>
        <p:nvSpPr>
          <p:cNvPr id="775" name="Google Shape;775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pictograms in a data investigation</a:t>
            </a:r>
            <a:endParaRPr/>
          </a:p>
        </p:txBody>
      </p:sp>
      <p:sp>
        <p:nvSpPr>
          <p:cNvPr id="776" name="Google Shape;776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constructing pictograms</a:t>
            </a:r>
            <a:endParaRPr/>
          </a:p>
        </p:txBody>
      </p:sp>
      <p:pic>
        <p:nvPicPr>
          <p:cNvPr id="777" name="Google Shape;777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44" y="205961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24000" y="759300"/>
            <a:ext cx="82377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Data is collected about the number of bowls of soup ordered in a day.</a:t>
            </a:r>
            <a:endParaRPr sz="2000"/>
          </a:p>
        </p:txBody>
      </p:sp>
      <p:sp>
        <p:nvSpPr>
          <p:cNvPr id="783" name="Google Shape;78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and interpreting pictograms</a:t>
            </a:r>
            <a:endParaRPr/>
          </a:p>
        </p:txBody>
      </p:sp>
      <p:grpSp>
        <p:nvGrpSpPr>
          <p:cNvPr id="784" name="Google Shape;784;p69"/>
          <p:cNvGrpSpPr/>
          <p:nvPr/>
        </p:nvGrpSpPr>
        <p:grpSpPr>
          <a:xfrm>
            <a:off x="1836550" y="1305025"/>
            <a:ext cx="4883325" cy="1152300"/>
            <a:chOff x="1379350" y="1533625"/>
            <a:chExt cx="4883325" cy="1152300"/>
          </a:xfrm>
        </p:grpSpPr>
        <p:sp>
          <p:nvSpPr>
            <p:cNvPr id="785" name="Google Shape;785;p69"/>
            <p:cNvSpPr/>
            <p:nvPr/>
          </p:nvSpPr>
          <p:spPr>
            <a:xfrm>
              <a:off x="1379350" y="1533625"/>
              <a:ext cx="1152300" cy="11523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6" name="Google Shape;786;p69"/>
            <p:cNvSpPr/>
            <p:nvPr/>
          </p:nvSpPr>
          <p:spPr>
            <a:xfrm>
              <a:off x="2623025" y="1533625"/>
              <a:ext cx="1152300" cy="11523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7" name="Google Shape;787;p69"/>
            <p:cNvSpPr/>
            <p:nvPr/>
          </p:nvSpPr>
          <p:spPr>
            <a:xfrm>
              <a:off x="3866700" y="1533625"/>
              <a:ext cx="1152300" cy="11523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8" name="Google Shape;788;p69"/>
            <p:cNvSpPr/>
            <p:nvPr/>
          </p:nvSpPr>
          <p:spPr>
            <a:xfrm>
              <a:off x="5110375" y="1533625"/>
              <a:ext cx="1152300" cy="1152300"/>
            </a:xfrm>
            <a:prstGeom prst="ellipse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89" name="Google Shape;789;p69"/>
          <p:cNvSpPr txBox="1"/>
          <p:nvPr>
            <p:ph idx="1" type="body"/>
          </p:nvPr>
        </p:nvSpPr>
        <p:spPr>
          <a:xfrm>
            <a:off x="1266800" y="2621025"/>
            <a:ext cx="72948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Aisha decides the icon should be a bowl of soup to portray the context of the data.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Each icon will represent four bowls of soup.</a:t>
            </a:r>
            <a:endParaRPr sz="2000"/>
          </a:p>
        </p:txBody>
      </p:sp>
      <p:pic>
        <p:nvPicPr>
          <p:cNvPr id="790" name="Google Shape;79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800" y="3344081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6550" y="1471888"/>
            <a:ext cx="1102850" cy="919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8375" y="1471888"/>
            <a:ext cx="1102850" cy="919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8625" y="1471888"/>
            <a:ext cx="1102850" cy="919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8875" y="1471888"/>
            <a:ext cx="1102850" cy="919030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9"/>
          <p:cNvSpPr txBox="1"/>
          <p:nvPr>
            <p:ph idx="1" type="body"/>
          </p:nvPr>
        </p:nvSpPr>
        <p:spPr>
          <a:xfrm>
            <a:off x="3233848" y="4069163"/>
            <a:ext cx="30339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4 bowls of soup</a:t>
            </a:r>
            <a:endParaRPr/>
          </a:p>
        </p:txBody>
      </p:sp>
      <p:pic>
        <p:nvPicPr>
          <p:cNvPr id="796" name="Google Shape;796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8325" y="3884370"/>
            <a:ext cx="1045536" cy="87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0"/>
          <p:cNvSpPr/>
          <p:nvPr/>
        </p:nvSpPr>
        <p:spPr>
          <a:xfrm>
            <a:off x="5685425" y="2497638"/>
            <a:ext cx="3037200" cy="875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and interpreting pictograms</a:t>
            </a:r>
            <a:endParaRPr/>
          </a:p>
        </p:txBody>
      </p:sp>
      <p:pic>
        <p:nvPicPr>
          <p:cNvPr id="803" name="Google Shape;80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800" y="33440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70"/>
          <p:cNvSpPr txBox="1"/>
          <p:nvPr>
            <p:ph idx="1" type="body"/>
          </p:nvPr>
        </p:nvSpPr>
        <p:spPr>
          <a:xfrm>
            <a:off x="6740525" y="2698650"/>
            <a:ext cx="19821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=</a:t>
            </a:r>
            <a:r>
              <a:rPr lang="en-GB" sz="1800"/>
              <a:t> 4 bowls of soup</a:t>
            </a:r>
            <a:endParaRPr sz="1800"/>
          </a:p>
        </p:txBody>
      </p:sp>
      <p:sp>
        <p:nvSpPr>
          <p:cNvPr id="805" name="Google Shape;805;p70"/>
          <p:cNvSpPr txBox="1"/>
          <p:nvPr>
            <p:ph idx="1" type="body"/>
          </p:nvPr>
        </p:nvSpPr>
        <p:spPr>
          <a:xfrm>
            <a:off x="1460825" y="3850150"/>
            <a:ext cx="72618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shows that 16 bowls of soup were ordered.</a:t>
            </a:r>
            <a:endParaRPr/>
          </a:p>
        </p:txBody>
      </p:sp>
      <p:pic>
        <p:nvPicPr>
          <p:cNvPr id="806" name="Google Shape;80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6517" y="1483680"/>
            <a:ext cx="976217" cy="81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1158" y="1483680"/>
            <a:ext cx="976217" cy="81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0146" y="1483680"/>
            <a:ext cx="976217" cy="81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9134" y="1483680"/>
            <a:ext cx="976217" cy="81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0" name="Google Shape;81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4158" y="2524121"/>
            <a:ext cx="976217" cy="813492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idx="1" type="body"/>
          </p:nvPr>
        </p:nvSpPr>
        <p:spPr>
          <a:xfrm>
            <a:off x="324000" y="759300"/>
            <a:ext cx="82377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For the first day Aisha draws this:</a:t>
            </a:r>
            <a:endParaRPr/>
          </a:p>
        </p:txBody>
      </p:sp>
      <p:grpSp>
        <p:nvGrpSpPr>
          <p:cNvPr id="812" name="Google Shape;812;p70"/>
          <p:cNvGrpSpPr/>
          <p:nvPr/>
        </p:nvGrpSpPr>
        <p:grpSpPr>
          <a:xfrm>
            <a:off x="759939" y="1442433"/>
            <a:ext cx="840594" cy="837974"/>
            <a:chOff x="759925" y="1442400"/>
            <a:chExt cx="870000" cy="867288"/>
          </a:xfrm>
        </p:grpSpPr>
        <p:sp>
          <p:nvSpPr>
            <p:cNvPr id="813" name="Google Shape;813;p70"/>
            <p:cNvSpPr txBox="1"/>
            <p:nvPr/>
          </p:nvSpPr>
          <p:spPr>
            <a:xfrm>
              <a:off x="759925" y="1481388"/>
              <a:ext cx="870000" cy="8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Day 1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14" name="Google Shape;814;p70"/>
            <p:cNvCxnSpPr/>
            <p:nvPr/>
          </p:nvCxnSpPr>
          <p:spPr>
            <a:xfrm>
              <a:off x="1596375" y="1442400"/>
              <a:ext cx="0" cy="8394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and interpreting pictograms</a:t>
            </a:r>
            <a:endParaRPr/>
          </a:p>
        </p:txBody>
      </p:sp>
      <p:pic>
        <p:nvPicPr>
          <p:cNvPr id="820" name="Google Shape;82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800" y="33440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71"/>
          <p:cNvSpPr txBox="1"/>
          <p:nvPr>
            <p:ph idx="1" type="body"/>
          </p:nvPr>
        </p:nvSpPr>
        <p:spPr>
          <a:xfrm>
            <a:off x="324000" y="638800"/>
            <a:ext cx="82377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On the next day, 12 bowls of soup are ordered.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Aisha adds a new row.</a:t>
            </a:r>
            <a:endParaRPr sz="2000"/>
          </a:p>
        </p:txBody>
      </p:sp>
      <p:cxnSp>
        <p:nvCxnSpPr>
          <p:cNvPr id="822" name="Google Shape;822;p71"/>
          <p:cNvCxnSpPr/>
          <p:nvPr/>
        </p:nvCxnSpPr>
        <p:spPr>
          <a:xfrm>
            <a:off x="870425" y="2353819"/>
            <a:ext cx="5624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3" name="Google Shape;823;p71"/>
          <p:cNvSpPr txBox="1"/>
          <p:nvPr/>
        </p:nvSpPr>
        <p:spPr>
          <a:xfrm>
            <a:off x="870425" y="1426176"/>
            <a:ext cx="87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Day 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1"/>
          <p:cNvSpPr txBox="1"/>
          <p:nvPr/>
        </p:nvSpPr>
        <p:spPr>
          <a:xfrm>
            <a:off x="870425" y="2448738"/>
            <a:ext cx="87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Day 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5" name="Google Shape;82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5427" y="1475400"/>
            <a:ext cx="979244" cy="8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0691" y="1475411"/>
            <a:ext cx="979244" cy="8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4511" y="1475422"/>
            <a:ext cx="979244" cy="8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8320" y="1475400"/>
            <a:ext cx="979244" cy="8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9068" y="2398471"/>
            <a:ext cx="979244" cy="8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4331" y="2398471"/>
            <a:ext cx="979244" cy="8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9595" y="2398471"/>
            <a:ext cx="979244" cy="816025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71"/>
          <p:cNvSpPr/>
          <p:nvPr/>
        </p:nvSpPr>
        <p:spPr>
          <a:xfrm>
            <a:off x="5934200" y="2768000"/>
            <a:ext cx="2878500" cy="80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1"/>
          <p:cNvSpPr txBox="1"/>
          <p:nvPr>
            <p:ph idx="1" type="body"/>
          </p:nvPr>
        </p:nvSpPr>
        <p:spPr>
          <a:xfrm>
            <a:off x="6856452" y="2993975"/>
            <a:ext cx="19563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= 4 bowls of soup</a:t>
            </a:r>
            <a:endParaRPr sz="1800"/>
          </a:p>
        </p:txBody>
      </p:sp>
      <p:pic>
        <p:nvPicPr>
          <p:cNvPr id="834" name="Google Shape;83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7062" y="2801474"/>
            <a:ext cx="897146" cy="747602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1"/>
          <p:cNvSpPr txBox="1"/>
          <p:nvPr/>
        </p:nvSpPr>
        <p:spPr>
          <a:xfrm>
            <a:off x="3556175" y="998150"/>
            <a:ext cx="4952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How many icons will she need for this?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1"/>
          <p:cNvSpPr txBox="1"/>
          <p:nvPr/>
        </p:nvSpPr>
        <p:spPr>
          <a:xfrm>
            <a:off x="3711550" y="3819750"/>
            <a:ext cx="324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Three icons are needed to represent day two.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837" name="Google Shape;837;p71"/>
          <p:cNvGraphicFramePr/>
          <p:nvPr/>
        </p:nvGraphicFramePr>
        <p:xfrm>
          <a:off x="1776250" y="3759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{5B754C58-ACA0-4BBC-9D71-DF4F736011AA}</a:tableStyleId>
              </a:tblPr>
              <a:tblGrid>
                <a:gridCol w="469700"/>
                <a:gridCol w="469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pSp>
        <p:nvGrpSpPr>
          <p:cNvPr id="838" name="Google Shape;838;p71"/>
          <p:cNvGrpSpPr/>
          <p:nvPr/>
        </p:nvGrpSpPr>
        <p:grpSpPr>
          <a:xfrm>
            <a:off x="1533578" y="3444450"/>
            <a:ext cx="1691223" cy="1126999"/>
            <a:chOff x="1152578" y="3596850"/>
            <a:chExt cx="1691223" cy="1126999"/>
          </a:xfrm>
        </p:grpSpPr>
        <p:grpSp>
          <p:nvGrpSpPr>
            <p:cNvPr id="839" name="Google Shape;839;p71"/>
            <p:cNvGrpSpPr/>
            <p:nvPr/>
          </p:nvGrpSpPr>
          <p:grpSpPr>
            <a:xfrm>
              <a:off x="1466200" y="3596850"/>
              <a:ext cx="1377601" cy="1126999"/>
              <a:chOff x="1466200" y="3596850"/>
              <a:chExt cx="1377601" cy="1126999"/>
            </a:xfrm>
          </p:grpSpPr>
          <p:pic>
            <p:nvPicPr>
              <p:cNvPr id="840" name="Google Shape;840;p71"/>
              <p:cNvPicPr preferRelativeResize="0"/>
              <p:nvPr/>
            </p:nvPicPr>
            <p:blipFill rotWithShape="1">
              <a:blip r:embed="rId5">
                <a:alphaModFix/>
              </a:blip>
              <a:srcRect b="84458" l="57225" r="18284" t="0"/>
              <a:stretch/>
            </p:blipFill>
            <p:spPr>
              <a:xfrm>
                <a:off x="1466200" y="3728673"/>
                <a:ext cx="708676" cy="28792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textcolor{#845ad9}{\times3}&quot;&gt;&lt;mstyle mathcolor=&quot;#845ad9&quot;&gt;&lt;mo&gt;×&lt;/mo&gt;&lt;mn&gt;3&lt;/mn&gt;&lt;/mstyle&gt;&lt;/math&gt;" id="841" name="Google Shape;841;p71" title="times 3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1603925" y="3596850"/>
                <a:ext cx="275800" cy="18715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42" name="Google Shape;842;p71"/>
              <p:cNvPicPr preferRelativeResize="0"/>
              <p:nvPr/>
            </p:nvPicPr>
            <p:blipFill rotWithShape="1">
              <a:blip r:embed="rId5">
                <a:alphaModFix/>
              </a:blip>
              <a:srcRect b="84458" l="57225" r="18284" t="0"/>
              <a:stretch/>
            </p:blipFill>
            <p:spPr>
              <a:xfrm flipH="1" rot="5400000">
                <a:off x="2076400" y="4225549"/>
                <a:ext cx="708676" cy="28792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\textcolor{#845ad9}{\times\frac{1}{4}}&amp;#10;&quot;&gt;&lt;mstyle mathcolor=&quot;#845ad9&quot;&gt;&lt;mo&gt;×&lt;/mo&gt;&lt;mfrac&gt;&lt;mn&gt;1&lt;/mn&gt;&lt;mn&gt;4&lt;/mn&gt;&lt;/mfrac&gt;&lt;/mstyle&gt;&lt;/math&gt;" id="843" name="Google Shape;843;p71" title="times one fourth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555876" y="4146415"/>
                <a:ext cx="287925" cy="43505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844" name="Google Shape;844;p7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52578" y="4078096"/>
              <a:ext cx="224276" cy="186894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45" name="Google Shape;845;p71"/>
          <p:cNvCxnSpPr/>
          <p:nvPr/>
        </p:nvCxnSpPr>
        <p:spPr>
          <a:xfrm>
            <a:off x="1594950" y="1518625"/>
            <a:ext cx="7500" cy="16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and interpreting pictograms</a:t>
            </a:r>
            <a:endParaRPr/>
          </a:p>
        </p:txBody>
      </p:sp>
      <p:pic>
        <p:nvPicPr>
          <p:cNvPr id="851" name="Google Shape;85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800" y="3344081"/>
            <a:ext cx="623346" cy="11770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2" name="Google Shape;852;p72"/>
          <p:cNvCxnSpPr/>
          <p:nvPr/>
        </p:nvCxnSpPr>
        <p:spPr>
          <a:xfrm>
            <a:off x="870425" y="2353819"/>
            <a:ext cx="5624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3" name="Google Shape;853;p72"/>
          <p:cNvSpPr txBox="1"/>
          <p:nvPr/>
        </p:nvSpPr>
        <p:spPr>
          <a:xfrm>
            <a:off x="870425" y="1426176"/>
            <a:ext cx="87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Day 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2"/>
          <p:cNvSpPr txBox="1"/>
          <p:nvPr/>
        </p:nvSpPr>
        <p:spPr>
          <a:xfrm>
            <a:off x="870425" y="2448738"/>
            <a:ext cx="87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Day 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5" name="Google Shape;85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5427" y="1475400"/>
            <a:ext cx="979244" cy="8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0691" y="1475411"/>
            <a:ext cx="979244" cy="8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4511" y="1475422"/>
            <a:ext cx="979244" cy="8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8320" y="1475400"/>
            <a:ext cx="979244" cy="8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9068" y="2398471"/>
            <a:ext cx="979244" cy="8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4331" y="2398471"/>
            <a:ext cx="979244" cy="8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9595" y="2398471"/>
            <a:ext cx="979244" cy="816025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2"/>
          <p:cNvSpPr/>
          <p:nvPr/>
        </p:nvSpPr>
        <p:spPr>
          <a:xfrm>
            <a:off x="5934200" y="2768000"/>
            <a:ext cx="2878500" cy="8004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2"/>
          <p:cNvSpPr txBox="1"/>
          <p:nvPr>
            <p:ph idx="1" type="body"/>
          </p:nvPr>
        </p:nvSpPr>
        <p:spPr>
          <a:xfrm>
            <a:off x="6856452" y="2993975"/>
            <a:ext cx="19563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= 4 bowls of soup</a:t>
            </a:r>
            <a:endParaRPr sz="1800"/>
          </a:p>
        </p:txBody>
      </p:sp>
      <p:pic>
        <p:nvPicPr>
          <p:cNvPr id="864" name="Google Shape;864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7062" y="2801474"/>
            <a:ext cx="897146" cy="7476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5" name="Google Shape;865;p72"/>
          <p:cNvCxnSpPr/>
          <p:nvPr/>
        </p:nvCxnSpPr>
        <p:spPr>
          <a:xfrm>
            <a:off x="1594950" y="1518625"/>
            <a:ext cx="7500" cy="1686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6" name="Google Shape;866;p72"/>
          <p:cNvSpPr txBox="1"/>
          <p:nvPr>
            <p:ph idx="1" type="body"/>
          </p:nvPr>
        </p:nvSpPr>
        <p:spPr>
          <a:xfrm>
            <a:off x="324000" y="723150"/>
            <a:ext cx="82377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She adds another row for the following day.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and interpreting pictograms</a:t>
            </a:r>
            <a:endParaRPr/>
          </a:p>
        </p:txBody>
      </p:sp>
      <p:pic>
        <p:nvPicPr>
          <p:cNvPr id="872" name="Google Shape;87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800" y="29630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3"/>
          <p:cNvSpPr/>
          <p:nvPr/>
        </p:nvSpPr>
        <p:spPr>
          <a:xfrm>
            <a:off x="5090400" y="2479501"/>
            <a:ext cx="3729600" cy="978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3"/>
          <p:cNvSpPr txBox="1"/>
          <p:nvPr>
            <p:ph idx="1" type="body"/>
          </p:nvPr>
        </p:nvSpPr>
        <p:spPr>
          <a:xfrm>
            <a:off x="6253624" y="2782825"/>
            <a:ext cx="24234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4 bowls of soup</a:t>
            </a:r>
            <a:endParaRPr/>
          </a:p>
        </p:txBody>
      </p:sp>
      <p:cxnSp>
        <p:nvCxnSpPr>
          <p:cNvPr id="875" name="Google Shape;875;p73"/>
          <p:cNvCxnSpPr/>
          <p:nvPr/>
        </p:nvCxnSpPr>
        <p:spPr>
          <a:xfrm>
            <a:off x="1984150" y="786600"/>
            <a:ext cx="0" cy="236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6" name="Google Shape;876;p73"/>
          <p:cNvCxnSpPr/>
          <p:nvPr/>
        </p:nvCxnSpPr>
        <p:spPr>
          <a:xfrm>
            <a:off x="679175" y="1580588"/>
            <a:ext cx="6830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7" name="Google Shape;877;p73"/>
          <p:cNvSpPr txBox="1"/>
          <p:nvPr/>
        </p:nvSpPr>
        <p:spPr>
          <a:xfrm>
            <a:off x="901325" y="964631"/>
            <a:ext cx="87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Day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3"/>
          <p:cNvSpPr txBox="1"/>
          <p:nvPr/>
        </p:nvSpPr>
        <p:spPr>
          <a:xfrm>
            <a:off x="898050" y="1768850"/>
            <a:ext cx="87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Day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79" name="Google Shape;879;p73"/>
          <p:cNvCxnSpPr/>
          <p:nvPr/>
        </p:nvCxnSpPr>
        <p:spPr>
          <a:xfrm>
            <a:off x="679175" y="2388262"/>
            <a:ext cx="6830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73"/>
          <p:cNvSpPr txBox="1"/>
          <p:nvPr/>
        </p:nvSpPr>
        <p:spPr>
          <a:xfrm>
            <a:off x="901325" y="2501375"/>
            <a:ext cx="87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Day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1" name="Google Shape;881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9500" y="867275"/>
            <a:ext cx="787693" cy="6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9500" y="1671500"/>
            <a:ext cx="787693" cy="6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9500" y="2448600"/>
            <a:ext cx="787693" cy="6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4" name="Google Shape;884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5750" y="867275"/>
            <a:ext cx="787693" cy="6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5750" y="1671500"/>
            <a:ext cx="787693" cy="6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2000" y="867275"/>
            <a:ext cx="787693" cy="6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2000" y="1656225"/>
            <a:ext cx="787693" cy="6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8250" y="867275"/>
            <a:ext cx="787693" cy="6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73"/>
          <p:cNvPicPr preferRelativeResize="0"/>
          <p:nvPr/>
        </p:nvPicPr>
        <p:blipFill rotWithShape="1">
          <a:blip r:embed="rId4">
            <a:alphaModFix/>
          </a:blip>
          <a:srcRect b="0" l="0" r="49091" t="0"/>
          <a:stretch/>
        </p:blipFill>
        <p:spPr>
          <a:xfrm>
            <a:off x="3002550" y="2448600"/>
            <a:ext cx="401001" cy="6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1950" y="2640450"/>
            <a:ext cx="787693" cy="6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73"/>
          <p:cNvSpPr txBox="1"/>
          <p:nvPr/>
        </p:nvSpPr>
        <p:spPr>
          <a:xfrm>
            <a:off x="1439300" y="3694050"/>
            <a:ext cx="621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How many bowls of soup were ordered on day 3?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3"/>
          <p:cNvSpPr txBox="1"/>
          <p:nvPr/>
        </p:nvSpPr>
        <p:spPr>
          <a:xfrm>
            <a:off x="2762525" y="4136175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1.5 ✕ 4 = 6 bowls of soup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74"/>
          <p:cNvSpPr/>
          <p:nvPr/>
        </p:nvSpPr>
        <p:spPr>
          <a:xfrm>
            <a:off x="5090400" y="1137389"/>
            <a:ext cx="3729600" cy="978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8" name="Google Shape;89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and interpreting pictograms</a:t>
            </a:r>
            <a:endParaRPr/>
          </a:p>
        </p:txBody>
      </p:sp>
      <p:sp>
        <p:nvSpPr>
          <p:cNvPr id="899" name="Google Shape;899;p74"/>
          <p:cNvSpPr txBox="1"/>
          <p:nvPr>
            <p:ph idx="1" type="body"/>
          </p:nvPr>
        </p:nvSpPr>
        <p:spPr>
          <a:xfrm>
            <a:off x="6256799" y="1461600"/>
            <a:ext cx="26412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4 bowls of soup</a:t>
            </a:r>
            <a:endParaRPr/>
          </a:p>
        </p:txBody>
      </p:sp>
      <p:cxnSp>
        <p:nvCxnSpPr>
          <p:cNvPr id="900" name="Google Shape;900;p74"/>
          <p:cNvCxnSpPr/>
          <p:nvPr/>
        </p:nvCxnSpPr>
        <p:spPr>
          <a:xfrm>
            <a:off x="1984150" y="862800"/>
            <a:ext cx="0" cy="99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74"/>
          <p:cNvCxnSpPr/>
          <p:nvPr/>
        </p:nvCxnSpPr>
        <p:spPr>
          <a:xfrm>
            <a:off x="629100" y="1043075"/>
            <a:ext cx="6830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p74"/>
          <p:cNvSpPr txBox="1"/>
          <p:nvPr/>
        </p:nvSpPr>
        <p:spPr>
          <a:xfrm>
            <a:off x="901325" y="1205975"/>
            <a:ext cx="87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Day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3" name="Google Shape;90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5400" y="3004825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4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708425" y="2373480"/>
            <a:ext cx="2093399" cy="1333169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74"/>
          <p:cNvSpPr txBox="1"/>
          <p:nvPr/>
        </p:nvSpPr>
        <p:spPr>
          <a:xfrm>
            <a:off x="4792575" y="2414475"/>
            <a:ext cx="2093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would you show 1 bowl of soup?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6" name="Google Shape;906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100" y="3038856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74"/>
          <p:cNvSpPr txBox="1"/>
          <p:nvPr/>
        </p:nvSpPr>
        <p:spPr>
          <a:xfrm>
            <a:off x="542675" y="2272650"/>
            <a:ext cx="158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Erm….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8" name="Google Shape;908;p74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 flipH="1">
            <a:off x="1424498" y="2264150"/>
            <a:ext cx="1955251" cy="131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65550" y="1100800"/>
            <a:ext cx="787693" cy="6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74"/>
          <p:cNvPicPr preferRelativeResize="0"/>
          <p:nvPr/>
        </p:nvPicPr>
        <p:blipFill rotWithShape="1">
          <a:blip r:embed="rId6">
            <a:alphaModFix/>
          </a:blip>
          <a:srcRect b="0" l="0" r="49091" t="0"/>
          <a:stretch/>
        </p:blipFill>
        <p:spPr>
          <a:xfrm>
            <a:off x="2968600" y="1100800"/>
            <a:ext cx="401001" cy="6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69100" y="1329525"/>
            <a:ext cx="787693" cy="6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4"/>
          <p:cNvSpPr txBox="1"/>
          <p:nvPr/>
        </p:nvSpPr>
        <p:spPr>
          <a:xfrm>
            <a:off x="6453919" y="40270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4"/>
          <p:cNvSpPr txBox="1"/>
          <p:nvPr/>
        </p:nvSpPr>
        <p:spPr>
          <a:xfrm>
            <a:off x="324000" y="4176873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4" name="Google Shape;914;p74"/>
          <p:cNvPicPr preferRelativeResize="0"/>
          <p:nvPr/>
        </p:nvPicPr>
        <p:blipFill rotWithShape="1">
          <a:blip r:embed="rId4">
            <a:alphaModFix/>
          </a:blip>
          <a:srcRect b="0" l="0" r="69082" t="56280"/>
          <a:stretch/>
        </p:blipFill>
        <p:spPr>
          <a:xfrm>
            <a:off x="365486" y="2159988"/>
            <a:ext cx="1059026" cy="712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74"/>
          <p:cNvPicPr preferRelativeResize="0"/>
          <p:nvPr/>
        </p:nvPicPr>
        <p:blipFill rotWithShape="1">
          <a:blip r:embed="rId6">
            <a:alphaModFix/>
          </a:blip>
          <a:srcRect b="48019" l="0" r="49091" t="0"/>
          <a:stretch/>
        </p:blipFill>
        <p:spPr>
          <a:xfrm>
            <a:off x="1628875" y="2672850"/>
            <a:ext cx="401001" cy="34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74"/>
          <p:cNvPicPr preferRelativeResize="0"/>
          <p:nvPr/>
        </p:nvPicPr>
        <p:blipFill rotWithShape="1">
          <a:blip r:embed="rId6">
            <a:alphaModFix/>
          </a:blip>
          <a:srcRect b="0" l="0" r="67918" t="0"/>
          <a:stretch/>
        </p:blipFill>
        <p:spPr>
          <a:xfrm>
            <a:off x="2821750" y="2594175"/>
            <a:ext cx="252700" cy="6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74"/>
          <p:cNvSpPr txBox="1"/>
          <p:nvPr/>
        </p:nvSpPr>
        <p:spPr>
          <a:xfrm>
            <a:off x="2234250" y="2691525"/>
            <a:ext cx="4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75"/>
          <p:cNvSpPr/>
          <p:nvPr/>
        </p:nvSpPr>
        <p:spPr>
          <a:xfrm>
            <a:off x="5090400" y="1137389"/>
            <a:ext cx="3729600" cy="978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and interpreting pictograms</a:t>
            </a:r>
            <a:endParaRPr/>
          </a:p>
        </p:txBody>
      </p:sp>
      <p:sp>
        <p:nvSpPr>
          <p:cNvPr id="924" name="Google Shape;924;p75"/>
          <p:cNvSpPr txBox="1"/>
          <p:nvPr>
            <p:ph idx="1" type="body"/>
          </p:nvPr>
        </p:nvSpPr>
        <p:spPr>
          <a:xfrm>
            <a:off x="6256799" y="1461600"/>
            <a:ext cx="26412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4 bowls of soup</a:t>
            </a:r>
            <a:endParaRPr/>
          </a:p>
        </p:txBody>
      </p:sp>
      <p:cxnSp>
        <p:nvCxnSpPr>
          <p:cNvPr id="925" name="Google Shape;925;p75"/>
          <p:cNvCxnSpPr/>
          <p:nvPr/>
        </p:nvCxnSpPr>
        <p:spPr>
          <a:xfrm>
            <a:off x="1984150" y="862800"/>
            <a:ext cx="0" cy="99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75"/>
          <p:cNvCxnSpPr/>
          <p:nvPr/>
        </p:nvCxnSpPr>
        <p:spPr>
          <a:xfrm>
            <a:off x="629100" y="1043075"/>
            <a:ext cx="6830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75"/>
          <p:cNvSpPr txBox="1"/>
          <p:nvPr/>
        </p:nvSpPr>
        <p:spPr>
          <a:xfrm>
            <a:off x="901325" y="1205975"/>
            <a:ext cx="87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Day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8" name="Google Shape;92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5400" y="3004825"/>
            <a:ext cx="1114250" cy="10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100" y="3038856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75"/>
          <p:cNvPicPr preferRelativeResize="0"/>
          <p:nvPr/>
        </p:nvPicPr>
        <p:blipFill rotWithShape="1">
          <a:blip r:embed="rId5">
            <a:alphaModFix/>
          </a:blip>
          <a:srcRect b="0" l="0" r="69082" t="56280"/>
          <a:stretch/>
        </p:blipFill>
        <p:spPr>
          <a:xfrm flipH="1">
            <a:off x="1212573" y="2104200"/>
            <a:ext cx="1955251" cy="131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75"/>
          <p:cNvSpPr txBox="1"/>
          <p:nvPr/>
        </p:nvSpPr>
        <p:spPr>
          <a:xfrm>
            <a:off x="1343150" y="2244500"/>
            <a:ext cx="1694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Maybe that icon is not suitable.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2" name="Google Shape;932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65550" y="1100800"/>
            <a:ext cx="787693" cy="6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75"/>
          <p:cNvPicPr preferRelativeResize="0"/>
          <p:nvPr/>
        </p:nvPicPr>
        <p:blipFill rotWithShape="1">
          <a:blip r:embed="rId6">
            <a:alphaModFix/>
          </a:blip>
          <a:srcRect b="0" l="0" r="49091" t="0"/>
          <a:stretch/>
        </p:blipFill>
        <p:spPr>
          <a:xfrm>
            <a:off x="2968600" y="1100800"/>
            <a:ext cx="401001" cy="6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69100" y="1329525"/>
            <a:ext cx="787693" cy="6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75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4708425" y="2373480"/>
            <a:ext cx="2093399" cy="1333169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75"/>
          <p:cNvSpPr txBox="1"/>
          <p:nvPr/>
        </p:nvSpPr>
        <p:spPr>
          <a:xfrm>
            <a:off x="4792575" y="2414475"/>
            <a:ext cx="2093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would you show 1 bowl of soup?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and interpreting pictograms</a:t>
            </a:r>
            <a:endParaRPr/>
          </a:p>
        </p:txBody>
      </p:sp>
      <p:pic>
        <p:nvPicPr>
          <p:cNvPr id="942" name="Google Shape;94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5950" y="3495600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76"/>
          <p:cNvSpPr txBox="1"/>
          <p:nvPr/>
        </p:nvSpPr>
        <p:spPr>
          <a:xfrm>
            <a:off x="3744925" y="2476575"/>
            <a:ext cx="2732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you change it to represent 2 bowls of soup then one bowl would be the half.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4" name="Google Shape;944;p76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3744925" y="2419350"/>
            <a:ext cx="2552402" cy="1625476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76"/>
          <p:cNvSpPr/>
          <p:nvPr/>
        </p:nvSpPr>
        <p:spPr>
          <a:xfrm>
            <a:off x="5090400" y="1137389"/>
            <a:ext cx="3729600" cy="978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6"/>
          <p:cNvSpPr txBox="1"/>
          <p:nvPr>
            <p:ph idx="1" type="body"/>
          </p:nvPr>
        </p:nvSpPr>
        <p:spPr>
          <a:xfrm>
            <a:off x="6256799" y="1461600"/>
            <a:ext cx="26412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4 bowls of soup</a:t>
            </a:r>
            <a:endParaRPr/>
          </a:p>
        </p:txBody>
      </p:sp>
      <p:cxnSp>
        <p:nvCxnSpPr>
          <p:cNvPr id="947" name="Google Shape;947;p76"/>
          <p:cNvCxnSpPr/>
          <p:nvPr/>
        </p:nvCxnSpPr>
        <p:spPr>
          <a:xfrm>
            <a:off x="1984150" y="862800"/>
            <a:ext cx="0" cy="992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8" name="Google Shape;948;p76"/>
          <p:cNvCxnSpPr/>
          <p:nvPr/>
        </p:nvCxnSpPr>
        <p:spPr>
          <a:xfrm>
            <a:off x="629100" y="1043075"/>
            <a:ext cx="68301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9" name="Google Shape;949;p76"/>
          <p:cNvSpPr txBox="1"/>
          <p:nvPr/>
        </p:nvSpPr>
        <p:spPr>
          <a:xfrm>
            <a:off x="901325" y="1205975"/>
            <a:ext cx="87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Day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0" name="Google Shape;950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5550" y="1100800"/>
            <a:ext cx="787693" cy="6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76"/>
          <p:cNvPicPr preferRelativeResize="0"/>
          <p:nvPr/>
        </p:nvPicPr>
        <p:blipFill rotWithShape="1">
          <a:blip r:embed="rId5">
            <a:alphaModFix/>
          </a:blip>
          <a:srcRect b="0" l="0" r="49091" t="0"/>
          <a:stretch/>
        </p:blipFill>
        <p:spPr>
          <a:xfrm>
            <a:off x="2968600" y="1100800"/>
            <a:ext cx="401001" cy="65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69100" y="1329525"/>
            <a:ext cx="787693" cy="65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77"/>
          <p:cNvSpPr/>
          <p:nvPr/>
        </p:nvSpPr>
        <p:spPr>
          <a:xfrm>
            <a:off x="5090400" y="3301589"/>
            <a:ext cx="3729600" cy="9783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and interpreting pictograms</a:t>
            </a:r>
            <a:endParaRPr/>
          </a:p>
        </p:txBody>
      </p:sp>
      <p:pic>
        <p:nvPicPr>
          <p:cNvPr id="959" name="Google Shape;95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800" y="33440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77"/>
          <p:cNvSpPr txBox="1"/>
          <p:nvPr>
            <p:ph idx="1" type="body"/>
          </p:nvPr>
        </p:nvSpPr>
        <p:spPr>
          <a:xfrm>
            <a:off x="6255512" y="3576900"/>
            <a:ext cx="23880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2 bowls of soup</a:t>
            </a:r>
            <a:endParaRPr/>
          </a:p>
        </p:txBody>
      </p:sp>
      <p:cxnSp>
        <p:nvCxnSpPr>
          <p:cNvPr id="961" name="Google Shape;961;p77"/>
          <p:cNvCxnSpPr/>
          <p:nvPr/>
        </p:nvCxnSpPr>
        <p:spPr>
          <a:xfrm>
            <a:off x="1819313" y="1197800"/>
            <a:ext cx="0" cy="236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77"/>
          <p:cNvCxnSpPr/>
          <p:nvPr/>
        </p:nvCxnSpPr>
        <p:spPr>
          <a:xfrm flipH="1" rot="10800000">
            <a:off x="679175" y="1953488"/>
            <a:ext cx="7295700" cy="8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3" name="Google Shape;963;p77"/>
          <p:cNvSpPr txBox="1"/>
          <p:nvPr/>
        </p:nvSpPr>
        <p:spPr>
          <a:xfrm>
            <a:off x="901325" y="1345631"/>
            <a:ext cx="87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Day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7"/>
          <p:cNvSpPr txBox="1"/>
          <p:nvPr/>
        </p:nvSpPr>
        <p:spPr>
          <a:xfrm>
            <a:off x="898050" y="2149850"/>
            <a:ext cx="87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Day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5" name="Google Shape;965;p77"/>
          <p:cNvCxnSpPr/>
          <p:nvPr/>
        </p:nvCxnSpPr>
        <p:spPr>
          <a:xfrm>
            <a:off x="679175" y="2769262"/>
            <a:ext cx="7333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6" name="Google Shape;966;p77"/>
          <p:cNvSpPr txBox="1"/>
          <p:nvPr/>
        </p:nvSpPr>
        <p:spPr>
          <a:xfrm>
            <a:off x="901325" y="2882375"/>
            <a:ext cx="87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Day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7" name="Google Shape;967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0900" y="1288325"/>
            <a:ext cx="691569" cy="57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0221" y="1288325"/>
            <a:ext cx="691569" cy="57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9541" y="1288325"/>
            <a:ext cx="691569" cy="57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8862" y="1288325"/>
            <a:ext cx="691569" cy="57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8175" y="1288325"/>
            <a:ext cx="691569" cy="57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7496" y="1288325"/>
            <a:ext cx="691569" cy="57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6816" y="1288325"/>
            <a:ext cx="691569" cy="57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6137" y="1288325"/>
            <a:ext cx="691569" cy="57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0900" y="2092550"/>
            <a:ext cx="691569" cy="57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0221" y="2092550"/>
            <a:ext cx="691569" cy="57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9541" y="2092550"/>
            <a:ext cx="691569" cy="57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8862" y="2092550"/>
            <a:ext cx="691569" cy="57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8175" y="2092550"/>
            <a:ext cx="691569" cy="57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7496" y="2092550"/>
            <a:ext cx="691569" cy="57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0913" y="2869650"/>
            <a:ext cx="691569" cy="57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0233" y="2869650"/>
            <a:ext cx="691569" cy="57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9554" y="2869650"/>
            <a:ext cx="691569" cy="576301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77"/>
          <p:cNvSpPr txBox="1"/>
          <p:nvPr>
            <p:ph idx="1" type="body"/>
          </p:nvPr>
        </p:nvSpPr>
        <p:spPr>
          <a:xfrm>
            <a:off x="324000" y="759300"/>
            <a:ext cx="82377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is Aisha’s completed pictogram.</a:t>
            </a:r>
            <a:endParaRPr/>
          </a:p>
        </p:txBody>
      </p:sp>
      <p:pic>
        <p:nvPicPr>
          <p:cNvPr id="985" name="Google Shape;985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2829" y="3491850"/>
            <a:ext cx="691569" cy="57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78"/>
          <p:cNvSpPr txBox="1"/>
          <p:nvPr>
            <p:ph idx="1" type="body"/>
          </p:nvPr>
        </p:nvSpPr>
        <p:spPr>
          <a:xfrm>
            <a:off x="324000" y="759300"/>
            <a:ext cx="8237700" cy="4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Data have been collected about how many sightings of bees there have been during an hour in a garden on different days. </a:t>
            </a:r>
            <a:endParaRPr/>
          </a:p>
        </p:txBody>
      </p:sp>
      <p:sp>
        <p:nvSpPr>
          <p:cNvPr id="991" name="Google Shape;991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and interpreting pictograms</a:t>
            </a:r>
            <a:endParaRPr/>
          </a:p>
        </p:txBody>
      </p:sp>
      <p:cxnSp>
        <p:nvCxnSpPr>
          <p:cNvPr id="992" name="Google Shape;992;p78"/>
          <p:cNvCxnSpPr/>
          <p:nvPr/>
        </p:nvCxnSpPr>
        <p:spPr>
          <a:xfrm>
            <a:off x="1236275" y="1983675"/>
            <a:ext cx="0" cy="1694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3" name="Google Shape;993;p78"/>
          <p:cNvCxnSpPr/>
          <p:nvPr/>
        </p:nvCxnSpPr>
        <p:spPr>
          <a:xfrm>
            <a:off x="496025" y="2823025"/>
            <a:ext cx="488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ata-is-equatio=&quot;1&quot; data-equatio-url=&quot;https://equatio-api.texthelp.com/desmos/get/05-10-2023/b119ec71-96ed-4330-995d-4583f8c443b5&quot; data-equatio-type=&quot;image&quot;&gt;&lt;mglyph src=&quot;https://equatio-api.texthelp.com/desmos/get/05-10-2023/b119ec71-96ed-4330-995d-4583f8c443b5&quot; alt=&quot;Equatio Image&quot;/&gt;&lt;/math&gt;" id="994" name="Google Shape;994;p7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4975" y="2052350"/>
            <a:ext cx="790225" cy="68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5-10-2023/b119ec71-96ed-4330-995d-4583f8c443b5&quot; data-equatio-type=&quot;image&quot;&gt;&lt;mglyph src=&quot;https://equatio-api.texthelp.com/desmos/get/05-10-2023/b119ec71-96ed-4330-995d-4583f8c443b5&quot; alt=&quot;Equatio Image&quot;/&gt;&lt;/math&gt;" id="995" name="Google Shape;995;p7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538" y="2052350"/>
            <a:ext cx="790225" cy="68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5-10-2023/b119ec71-96ed-4330-995d-4583f8c443b5&quot; data-equatio-type=&quot;image&quot;&gt;&lt;mglyph src=&quot;https://equatio-api.texthelp.com/desmos/get/05-10-2023/b119ec71-96ed-4330-995d-4583f8c443b5&quot; alt=&quot;Equatio Image&quot;/&gt;&lt;/math&gt;" id="996" name="Google Shape;996;p7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8100" y="2052350"/>
            <a:ext cx="790225" cy="68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5-10-2023/b119ec71-96ed-4330-995d-4583f8c443b5&quot; data-equatio-type=&quot;image&quot;&gt;&lt;mglyph src=&quot;https://equatio-api.texthelp.com/desmos/get/05-10-2023/b119ec71-96ed-4330-995d-4583f8c443b5&quot; alt=&quot;Equatio Image&quot;/&gt;&lt;/math&gt;" id="997" name="Google Shape;997;p7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4975" y="2906875"/>
            <a:ext cx="790225" cy="68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5-10-2023/b119ec71-96ed-4330-995d-4583f8c443b5&quot; data-equatio-type=&quot;image&quot;&gt;&lt;mglyph src=&quot;https://equatio-api.texthelp.com/desmos/get/05-10-2023/b119ec71-96ed-4330-995d-4583f8c443b5&quot; alt=&quot;Equatio Image&quot;/&gt;&lt;/math&gt;" id="998" name="Google Shape;998;p7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538" y="2906875"/>
            <a:ext cx="790225" cy="68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5-10-2023/47fa38f9-aef6-4fcf-af70-d5da71a7d358&quot; data-equatio-type=&quot;image&quot;&gt;&lt;mglyph src=&quot;https://equatio-api.texthelp.com/desmos/get/05-10-2023/47fa38f9-aef6-4fcf-af70-d5da71a7d358&quot; alt=&quot;Equatio Image&quot;/&gt;&lt;/math&gt;" id="999" name="Google Shape;999;p78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9194" y="2387900"/>
            <a:ext cx="790225" cy="356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55338" y="3229759"/>
            <a:ext cx="598191" cy="3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78"/>
          <p:cNvSpPr txBox="1"/>
          <p:nvPr/>
        </p:nvSpPr>
        <p:spPr>
          <a:xfrm>
            <a:off x="572225" y="2890550"/>
            <a:ext cx="79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78"/>
          <p:cNvSpPr txBox="1"/>
          <p:nvPr/>
        </p:nvSpPr>
        <p:spPr>
          <a:xfrm>
            <a:off x="572225" y="2052350"/>
            <a:ext cx="79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78"/>
          <p:cNvSpPr txBox="1"/>
          <p:nvPr>
            <p:ph idx="1" type="body"/>
          </p:nvPr>
        </p:nvSpPr>
        <p:spPr>
          <a:xfrm>
            <a:off x="6741756" y="2344300"/>
            <a:ext cx="22023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6 bees</a:t>
            </a:r>
            <a:endParaRPr/>
          </a:p>
        </p:txBody>
      </p:sp>
      <p:sp>
        <p:nvSpPr>
          <p:cNvPr id="1004" name="Google Shape;1004;p78"/>
          <p:cNvSpPr txBox="1"/>
          <p:nvPr>
            <p:ph idx="1" type="body"/>
          </p:nvPr>
        </p:nvSpPr>
        <p:spPr>
          <a:xfrm>
            <a:off x="6001679" y="1870925"/>
            <a:ext cx="6234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Key</a:t>
            </a:r>
            <a:endParaRPr sz="1800"/>
          </a:p>
        </p:txBody>
      </p:sp>
      <p:pic>
        <p:nvPicPr>
          <p:cNvPr descr="&lt;math xmlns=&quot;http://www.w3.org/1998/Math/MathML&quot; data-is-equatio=&quot;1&quot; data-equatio-url=&quot;https://equatio-api.texthelp.com/desmos/get/05-10-2023/b119ec71-96ed-4330-995d-4583f8c443b5&quot; data-equatio-type=&quot;image&quot;&gt;&lt;mglyph src=&quot;https://equatio-api.texthelp.com/desmos/get/05-10-2023/b119ec71-96ed-4330-995d-4583f8c443b5&quot; alt=&quot;Equatio Image&quot;/&gt;&lt;/math&gt;" id="1005" name="Google Shape;1005;p78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4000" y="2169425"/>
            <a:ext cx="790225" cy="68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78"/>
          <p:cNvSpPr txBox="1"/>
          <p:nvPr/>
        </p:nvSpPr>
        <p:spPr>
          <a:xfrm>
            <a:off x="410400" y="3888000"/>
            <a:ext cx="690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How many bees were sighted on the first day?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7" name="Google Shape;1007;p78"/>
          <p:cNvSpPr txBox="1"/>
          <p:nvPr/>
        </p:nvSpPr>
        <p:spPr>
          <a:xfrm>
            <a:off x="7121700" y="4008725"/>
            <a:ext cx="202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21 bees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79"/>
          <p:cNvSpPr txBox="1"/>
          <p:nvPr>
            <p:ph idx="1" type="body"/>
          </p:nvPr>
        </p:nvSpPr>
        <p:spPr>
          <a:xfrm>
            <a:off x="324000" y="759300"/>
            <a:ext cx="8237700" cy="4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Data have been collected about how many sightings of bees there have been during an hour in a garden on different days.</a:t>
            </a:r>
            <a:endParaRPr/>
          </a:p>
        </p:txBody>
      </p:sp>
      <p:sp>
        <p:nvSpPr>
          <p:cNvPr id="1013" name="Google Shape;101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and interpreting pictograms</a:t>
            </a:r>
            <a:endParaRPr/>
          </a:p>
        </p:txBody>
      </p:sp>
      <p:cxnSp>
        <p:nvCxnSpPr>
          <p:cNvPr id="1014" name="Google Shape;1014;p79"/>
          <p:cNvCxnSpPr/>
          <p:nvPr/>
        </p:nvCxnSpPr>
        <p:spPr>
          <a:xfrm>
            <a:off x="1236275" y="1983675"/>
            <a:ext cx="0" cy="1694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5" name="Google Shape;1015;p79"/>
          <p:cNvCxnSpPr/>
          <p:nvPr/>
        </p:nvCxnSpPr>
        <p:spPr>
          <a:xfrm>
            <a:off x="496025" y="2823025"/>
            <a:ext cx="4884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ata-is-equatio=&quot;1&quot; data-equatio-url=&quot;https://equatio-api.texthelp.com/desmos/get/05-10-2023/b119ec71-96ed-4330-995d-4583f8c443b5&quot; data-equatio-type=&quot;image&quot;&gt;&lt;mglyph src=&quot;https://equatio-api.texthelp.com/desmos/get/05-10-2023/b119ec71-96ed-4330-995d-4583f8c443b5&quot; alt=&quot;Equatio Image&quot;/&gt;&lt;/math&gt;" id="1016" name="Google Shape;1016;p79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4975" y="2052350"/>
            <a:ext cx="790225" cy="68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5-10-2023/b119ec71-96ed-4330-995d-4583f8c443b5&quot; data-equatio-type=&quot;image&quot;&gt;&lt;mglyph src=&quot;https://equatio-api.texthelp.com/desmos/get/05-10-2023/b119ec71-96ed-4330-995d-4583f8c443b5&quot; alt=&quot;Equatio Image&quot;/&gt;&lt;/math&gt;" id="1017" name="Google Shape;1017;p79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538" y="2052350"/>
            <a:ext cx="790225" cy="68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5-10-2023/b119ec71-96ed-4330-995d-4583f8c443b5&quot; data-equatio-type=&quot;image&quot;&gt;&lt;mglyph src=&quot;https://equatio-api.texthelp.com/desmos/get/05-10-2023/b119ec71-96ed-4330-995d-4583f8c443b5&quot; alt=&quot;Equatio Image&quot;/&gt;&lt;/math&gt;" id="1018" name="Google Shape;1018;p79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8100" y="2052350"/>
            <a:ext cx="790225" cy="68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5-10-2023/b119ec71-96ed-4330-995d-4583f8c443b5&quot; data-equatio-type=&quot;image&quot;&gt;&lt;mglyph src=&quot;https://equatio-api.texthelp.com/desmos/get/05-10-2023/b119ec71-96ed-4330-995d-4583f8c443b5&quot; alt=&quot;Equatio Image&quot;/&gt;&lt;/math&gt;" id="1019" name="Google Shape;1019;p79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4975" y="2906875"/>
            <a:ext cx="790225" cy="68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5-10-2023/b119ec71-96ed-4330-995d-4583f8c443b5&quot; data-equatio-type=&quot;image&quot;&gt;&lt;mglyph src=&quot;https://equatio-api.texthelp.com/desmos/get/05-10-2023/b119ec71-96ed-4330-995d-4583f8c443b5&quot; alt=&quot;Equatio Image&quot;/&gt;&lt;/math&gt;" id="1020" name="Google Shape;1020;p79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538" y="2906875"/>
            <a:ext cx="790225" cy="68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05-10-2023/47fa38f9-aef6-4fcf-af70-d5da71a7d358&quot; data-equatio-type=&quot;image&quot;&gt;&lt;mglyph src=&quot;https://equatio-api.texthelp.com/desmos/get/05-10-2023/47fa38f9-aef6-4fcf-af70-d5da71a7d358&quot; alt=&quot;Equatio Image&quot;/&gt;&lt;/math&gt;" id="1021" name="Google Shape;1021;p79" title="Equatio Image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9194" y="2387900"/>
            <a:ext cx="790225" cy="356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55338" y="3229759"/>
            <a:ext cx="598191" cy="3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79"/>
          <p:cNvSpPr txBox="1"/>
          <p:nvPr/>
        </p:nvSpPr>
        <p:spPr>
          <a:xfrm>
            <a:off x="572225" y="2890550"/>
            <a:ext cx="79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9"/>
          <p:cNvSpPr txBox="1"/>
          <p:nvPr/>
        </p:nvSpPr>
        <p:spPr>
          <a:xfrm>
            <a:off x="572225" y="2052350"/>
            <a:ext cx="790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9"/>
          <p:cNvSpPr txBox="1"/>
          <p:nvPr>
            <p:ph idx="1" type="body"/>
          </p:nvPr>
        </p:nvSpPr>
        <p:spPr>
          <a:xfrm>
            <a:off x="6741756" y="2344300"/>
            <a:ext cx="22023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6 bees</a:t>
            </a:r>
            <a:endParaRPr/>
          </a:p>
        </p:txBody>
      </p:sp>
      <p:sp>
        <p:nvSpPr>
          <p:cNvPr id="1026" name="Google Shape;1026;p79"/>
          <p:cNvSpPr txBox="1"/>
          <p:nvPr>
            <p:ph idx="1" type="body"/>
          </p:nvPr>
        </p:nvSpPr>
        <p:spPr>
          <a:xfrm>
            <a:off x="6001679" y="1870925"/>
            <a:ext cx="623400" cy="57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Key</a:t>
            </a:r>
            <a:endParaRPr sz="1800"/>
          </a:p>
        </p:txBody>
      </p:sp>
      <p:pic>
        <p:nvPicPr>
          <p:cNvPr descr="&lt;math xmlns=&quot;http://www.w3.org/1998/Math/MathML&quot; data-is-equatio=&quot;1&quot; data-equatio-url=&quot;https://equatio-api.texthelp.com/desmos/get/05-10-2023/b119ec71-96ed-4330-995d-4583f8c443b5&quot; data-equatio-type=&quot;image&quot;&gt;&lt;mglyph src=&quot;https://equatio-api.texthelp.com/desmos/get/05-10-2023/b119ec71-96ed-4330-995d-4583f8c443b5&quot; alt=&quot;Equatio Image&quot;/&gt;&lt;/math&gt;" id="1027" name="Google Shape;1027;p79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4000" y="2169425"/>
            <a:ext cx="790225" cy="68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8" name="Google Shape;1028;p79"/>
          <p:cNvSpPr txBox="1"/>
          <p:nvPr/>
        </p:nvSpPr>
        <p:spPr>
          <a:xfrm>
            <a:off x="412100" y="3889050"/>
            <a:ext cx="7395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How many fewer bees were sighted on the second day than the first?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79"/>
          <p:cNvSpPr txBox="1"/>
          <p:nvPr/>
        </p:nvSpPr>
        <p:spPr>
          <a:xfrm>
            <a:off x="3473163" y="4258350"/>
            <a:ext cx="202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21 - 14 = 7 bees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80"/>
          <p:cNvSpPr txBox="1"/>
          <p:nvPr>
            <p:ph idx="1" type="body"/>
          </p:nvPr>
        </p:nvSpPr>
        <p:spPr>
          <a:xfrm>
            <a:off x="324000" y="759300"/>
            <a:ext cx="8230800" cy="3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Use the pictogram to answer the following questions.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and interpreting pictograms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80"/>
          <p:cNvSpPr txBox="1"/>
          <p:nvPr/>
        </p:nvSpPr>
        <p:spPr>
          <a:xfrm>
            <a:off x="244200" y="1260300"/>
            <a:ext cx="4258200" cy="28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bikes are sold in month 1?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bikes are sold in month 3?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bikes are sold over the three month period?</a:t>
            </a:r>
            <a:endParaRPr sz="1800"/>
          </a:p>
        </p:txBody>
      </p:sp>
      <p:graphicFrame>
        <p:nvGraphicFramePr>
          <p:cNvPr id="1037" name="Google Shape;1037;p80"/>
          <p:cNvGraphicFramePr/>
          <p:nvPr/>
        </p:nvGraphicFramePr>
        <p:xfrm>
          <a:off x="4746050" y="216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{5B754C58-ACA0-4BBC-9D71-DF4F736011AA}</a:tableStyleId>
              </a:tblPr>
              <a:tblGrid>
                <a:gridCol w="1165700"/>
                <a:gridCol w="2780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onth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onth 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038" name="Google Shape;103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2270" y="2193632"/>
            <a:ext cx="649073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9" name="Google Shape;103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5051" y="2650832"/>
            <a:ext cx="649073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4270" y="2193632"/>
            <a:ext cx="649073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5051" y="3108032"/>
            <a:ext cx="649073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80"/>
          <p:cNvPicPr preferRelativeResize="0"/>
          <p:nvPr/>
        </p:nvPicPr>
        <p:blipFill rotWithShape="1">
          <a:blip r:embed="rId3">
            <a:alphaModFix/>
          </a:blip>
          <a:srcRect b="0" l="0" r="47324" t="0"/>
          <a:stretch/>
        </p:blipFill>
        <p:spPr>
          <a:xfrm>
            <a:off x="6717050" y="3100400"/>
            <a:ext cx="341898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3" name="Google Shape;104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7970" y="3681507"/>
            <a:ext cx="649073" cy="392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80"/>
          <p:cNvSpPr txBox="1"/>
          <p:nvPr/>
        </p:nvSpPr>
        <p:spPr>
          <a:xfrm>
            <a:off x="5402950" y="3681500"/>
            <a:ext cx="38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Key              = 20 bikes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9" name="Google Shape;1049;p81"/>
          <p:cNvGraphicFramePr/>
          <p:nvPr/>
        </p:nvGraphicFramePr>
        <p:xfrm>
          <a:off x="585575" y="138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{5B754C58-ACA0-4BBC-9D71-DF4F736011AA}</a:tableStyleId>
              </a:tblPr>
              <a:tblGrid>
                <a:gridCol w="1165700"/>
                <a:gridCol w="2780400"/>
              </a:tblGrid>
              <a:tr h="74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paper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4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metal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4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50" name="Google Shape;1050;p81"/>
          <p:cNvSpPr txBox="1"/>
          <p:nvPr/>
        </p:nvSpPr>
        <p:spPr>
          <a:xfrm>
            <a:off x="1135650" y="3844975"/>
            <a:ext cx="38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Key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 =           tonnes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81"/>
          <p:cNvSpPr txBox="1"/>
          <p:nvPr>
            <p:ph idx="1" type="body"/>
          </p:nvPr>
        </p:nvSpPr>
        <p:spPr>
          <a:xfrm>
            <a:off x="324000" y="759300"/>
            <a:ext cx="8230800" cy="3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Complete the pictogram and frequency table.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and interpreting pictograms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053" name="Google Shape;105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7575" y="1468231"/>
            <a:ext cx="515225" cy="60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4" name="Google Shape;105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7175" y="1468231"/>
            <a:ext cx="515225" cy="60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6775" y="1468231"/>
            <a:ext cx="515225" cy="60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7575" y="3772081"/>
            <a:ext cx="515225" cy="607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57" name="Google Shape;1057;p81"/>
          <p:cNvGraphicFramePr/>
          <p:nvPr/>
        </p:nvGraphicFramePr>
        <p:xfrm>
          <a:off x="5638100" y="138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{5B754C58-ACA0-4BBC-9D71-DF4F736011AA}</a:tableStyleId>
              </a:tblPr>
              <a:tblGrid>
                <a:gridCol w="1393600"/>
                <a:gridCol w="1393600"/>
              </a:tblGrid>
              <a:tr h="6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Type of material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54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paper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4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metal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4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058" name="Google Shape;1058;p81"/>
          <p:cNvCxnSpPr/>
          <p:nvPr/>
        </p:nvCxnSpPr>
        <p:spPr>
          <a:xfrm>
            <a:off x="2769900" y="4258275"/>
            <a:ext cx="53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59" name="Google Shape;105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7575" y="2936256"/>
            <a:ext cx="515225" cy="60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81"/>
          <p:cNvPicPr preferRelativeResize="0"/>
          <p:nvPr/>
        </p:nvPicPr>
        <p:blipFill rotWithShape="1">
          <a:blip r:embed="rId3">
            <a:alphaModFix/>
          </a:blip>
          <a:srcRect b="0" l="0" r="48702" t="0"/>
          <a:stretch/>
        </p:blipFill>
        <p:spPr>
          <a:xfrm>
            <a:off x="2437175" y="2936250"/>
            <a:ext cx="264300" cy="60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81"/>
          <p:cNvSpPr/>
          <p:nvPr/>
        </p:nvSpPr>
        <p:spPr>
          <a:xfrm>
            <a:off x="1770475" y="2152025"/>
            <a:ext cx="2761200" cy="6897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1"/>
          <p:cNvSpPr/>
          <p:nvPr/>
        </p:nvSpPr>
        <p:spPr>
          <a:xfrm>
            <a:off x="7031700" y="3240000"/>
            <a:ext cx="1393500" cy="5190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82"/>
          <p:cNvSpPr txBox="1"/>
          <p:nvPr>
            <p:ph idx="1" type="body"/>
          </p:nvPr>
        </p:nvSpPr>
        <p:spPr>
          <a:xfrm>
            <a:off x="324000" y="759300"/>
            <a:ext cx="8230800" cy="39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3"/>
            </a:pPr>
            <a:r>
              <a:rPr lang="en-GB"/>
              <a:t>Draw a pictogram for the following data.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and interpreting pictograms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69" name="Google Shape;1069;p82"/>
          <p:cNvGraphicFramePr/>
          <p:nvPr/>
        </p:nvGraphicFramePr>
        <p:xfrm>
          <a:off x="1150900" y="151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{5B754C58-ACA0-4BBC-9D71-DF4F736011AA}</a:tableStyleId>
              </a:tblPr>
              <a:tblGrid>
                <a:gridCol w="1050175"/>
                <a:gridCol w="1393600"/>
              </a:tblGrid>
              <a:tr h="496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Visits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429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our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29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hour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29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our 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Use the pictogram to answer the following questions.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and interpreting pictograms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83"/>
          <p:cNvSpPr txBox="1"/>
          <p:nvPr/>
        </p:nvSpPr>
        <p:spPr>
          <a:xfrm>
            <a:off x="244200" y="1260300"/>
            <a:ext cx="4258200" cy="28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bikes are sold in month 1?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bikes are sold in month 3?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bikes are sold over the three month period?</a:t>
            </a:r>
            <a:endParaRPr sz="1800"/>
          </a:p>
        </p:txBody>
      </p:sp>
      <p:graphicFrame>
        <p:nvGraphicFramePr>
          <p:cNvPr id="1077" name="Google Shape;1077;p83"/>
          <p:cNvGraphicFramePr/>
          <p:nvPr/>
        </p:nvGraphicFramePr>
        <p:xfrm>
          <a:off x="4898450" y="177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{5B754C58-ACA0-4BBC-9D71-DF4F736011AA}</a:tableStyleId>
              </a:tblPr>
              <a:tblGrid>
                <a:gridCol w="1165700"/>
                <a:gridCol w="2780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 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078" name="Google Shape;1078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4670" y="1812632"/>
            <a:ext cx="649073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7451" y="2269832"/>
            <a:ext cx="649073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6670" y="1812632"/>
            <a:ext cx="649073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7451" y="2727032"/>
            <a:ext cx="649073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83"/>
          <p:cNvPicPr preferRelativeResize="0"/>
          <p:nvPr/>
        </p:nvPicPr>
        <p:blipFill rotWithShape="1">
          <a:blip r:embed="rId3">
            <a:alphaModFix/>
          </a:blip>
          <a:srcRect b="0" l="0" r="47324" t="0"/>
          <a:stretch/>
        </p:blipFill>
        <p:spPr>
          <a:xfrm>
            <a:off x="6869450" y="2719400"/>
            <a:ext cx="341898" cy="392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0370" y="3300507"/>
            <a:ext cx="649073" cy="392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83"/>
          <p:cNvSpPr txBox="1"/>
          <p:nvPr/>
        </p:nvSpPr>
        <p:spPr>
          <a:xfrm>
            <a:off x="5555350" y="3300500"/>
            <a:ext cx="38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Key              = 20 bikes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83"/>
          <p:cNvSpPr txBox="1"/>
          <p:nvPr/>
        </p:nvSpPr>
        <p:spPr>
          <a:xfrm>
            <a:off x="2626200" y="1667725"/>
            <a:ext cx="1105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40 bikes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6" name="Google Shape;1086;p83"/>
          <p:cNvSpPr txBox="1"/>
          <p:nvPr/>
        </p:nvSpPr>
        <p:spPr>
          <a:xfrm>
            <a:off x="2664150" y="2507325"/>
            <a:ext cx="1105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bikes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7" name="Google Shape;1087;p83"/>
          <p:cNvSpPr txBox="1"/>
          <p:nvPr/>
        </p:nvSpPr>
        <p:spPr>
          <a:xfrm>
            <a:off x="2664150" y="3780000"/>
            <a:ext cx="1105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bikes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2" name="Google Shape;1092;p84"/>
          <p:cNvGraphicFramePr/>
          <p:nvPr/>
        </p:nvGraphicFramePr>
        <p:xfrm>
          <a:off x="585575" y="1387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{5B754C58-ACA0-4BBC-9D71-DF4F736011AA}</a:tableStyleId>
              </a:tblPr>
              <a:tblGrid>
                <a:gridCol w="1165700"/>
                <a:gridCol w="2780400"/>
              </a:tblGrid>
              <a:tr h="74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paper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4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metal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40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93" name="Google Shape;1093;p84"/>
          <p:cNvSpPr txBox="1"/>
          <p:nvPr/>
        </p:nvSpPr>
        <p:spPr>
          <a:xfrm>
            <a:off x="1135650" y="3844975"/>
            <a:ext cx="380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Key              =           tonnes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2"/>
            </a:pPr>
            <a:r>
              <a:rPr lang="en-GB"/>
              <a:t>Complete the pictogram and frequency table.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and interpreting pictograms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96" name="Google Shape;1096;p84"/>
          <p:cNvGraphicFramePr/>
          <p:nvPr/>
        </p:nvGraphicFramePr>
        <p:xfrm>
          <a:off x="5638100" y="138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{5B754C58-ACA0-4BBC-9D71-DF4F736011AA}</a:tableStyleId>
              </a:tblPr>
              <a:tblGrid>
                <a:gridCol w="1393600"/>
                <a:gridCol w="1393600"/>
              </a:tblGrid>
              <a:tr h="63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Type of material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54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paper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4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metal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46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097" name="Google Shape;1097;p84"/>
          <p:cNvCxnSpPr/>
          <p:nvPr/>
        </p:nvCxnSpPr>
        <p:spPr>
          <a:xfrm>
            <a:off x="2769900" y="4258275"/>
            <a:ext cx="5319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98" name="Google Shape;109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238" y="1458950"/>
            <a:ext cx="531900" cy="629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944" y="1458950"/>
            <a:ext cx="531900" cy="629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0" name="Google Shape;110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2675" y="1458950"/>
            <a:ext cx="531900" cy="629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1" name="Google Shape;110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238" y="2925463"/>
            <a:ext cx="531900" cy="629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2" name="Google Shape;1102;p84"/>
          <p:cNvPicPr preferRelativeResize="0"/>
          <p:nvPr/>
        </p:nvPicPr>
        <p:blipFill rotWithShape="1">
          <a:blip r:embed="rId3">
            <a:alphaModFix/>
          </a:blip>
          <a:srcRect b="0" l="0" r="48741" t="0"/>
          <a:stretch/>
        </p:blipFill>
        <p:spPr>
          <a:xfrm>
            <a:off x="2405947" y="2925475"/>
            <a:ext cx="272650" cy="62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3" name="Google Shape;110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231" y="3761288"/>
            <a:ext cx="531900" cy="629082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84"/>
          <p:cNvSpPr txBox="1"/>
          <p:nvPr/>
        </p:nvSpPr>
        <p:spPr>
          <a:xfrm>
            <a:off x="2808300" y="3844975"/>
            <a:ext cx="56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5" name="Google Shape;1105;p84"/>
          <p:cNvSpPr txBox="1"/>
          <p:nvPr/>
        </p:nvSpPr>
        <p:spPr>
          <a:xfrm>
            <a:off x="7459200" y="3240000"/>
            <a:ext cx="56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06" name="Google Shape;110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238" y="2184100"/>
            <a:ext cx="531900" cy="629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7" name="Google Shape;110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950" y="2192213"/>
            <a:ext cx="531900" cy="629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8" name="Google Shape;110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2675" y="2184088"/>
            <a:ext cx="531900" cy="629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9" name="Google Shape;1109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9400" y="2192225"/>
            <a:ext cx="531900" cy="629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 startAt="3"/>
            </a:pPr>
            <a:r>
              <a:rPr lang="en-GB"/>
              <a:t>Draw a pictogram for the following data.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Constructing and interpreting pictograms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16" name="Google Shape;1116;p85"/>
          <p:cNvGraphicFramePr/>
          <p:nvPr/>
        </p:nvGraphicFramePr>
        <p:xfrm>
          <a:off x="1150900" y="1517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{5B754C58-ACA0-4BBC-9D71-DF4F736011AA}</a:tableStyleId>
              </a:tblPr>
              <a:tblGrid>
                <a:gridCol w="1050175"/>
                <a:gridCol w="1393600"/>
              </a:tblGrid>
              <a:tr h="496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Visits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429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hour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29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hour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429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hour 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17" name="Google Shape;1117;p85"/>
          <p:cNvGraphicFramePr/>
          <p:nvPr/>
        </p:nvGraphicFramePr>
        <p:xfrm>
          <a:off x="4192175" y="172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{5B754C58-ACA0-4BBC-9D71-DF4F736011AA}</a:tableStyleId>
              </a:tblPr>
              <a:tblGrid>
                <a:gridCol w="1035300"/>
                <a:gridCol w="3418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hour 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hour 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hour 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1118" name="Google Shape;1118;p85"/>
          <p:cNvSpPr/>
          <p:nvPr/>
        </p:nvSpPr>
        <p:spPr>
          <a:xfrm>
            <a:off x="5311387" y="1785725"/>
            <a:ext cx="337200" cy="337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85"/>
          <p:cNvSpPr/>
          <p:nvPr/>
        </p:nvSpPr>
        <p:spPr>
          <a:xfrm>
            <a:off x="5728612" y="1785725"/>
            <a:ext cx="337200" cy="337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85"/>
          <p:cNvSpPr/>
          <p:nvPr/>
        </p:nvSpPr>
        <p:spPr>
          <a:xfrm>
            <a:off x="6145837" y="1785725"/>
            <a:ext cx="337200" cy="337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85"/>
          <p:cNvSpPr/>
          <p:nvPr/>
        </p:nvSpPr>
        <p:spPr>
          <a:xfrm>
            <a:off x="6563062" y="1785725"/>
            <a:ext cx="337200" cy="337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85"/>
          <p:cNvSpPr/>
          <p:nvPr/>
        </p:nvSpPr>
        <p:spPr>
          <a:xfrm>
            <a:off x="6980287" y="1785725"/>
            <a:ext cx="337200" cy="337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85"/>
          <p:cNvSpPr/>
          <p:nvPr/>
        </p:nvSpPr>
        <p:spPr>
          <a:xfrm>
            <a:off x="7397512" y="1785725"/>
            <a:ext cx="337200" cy="337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85"/>
          <p:cNvSpPr/>
          <p:nvPr/>
        </p:nvSpPr>
        <p:spPr>
          <a:xfrm>
            <a:off x="7814737" y="1785725"/>
            <a:ext cx="337200" cy="337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85"/>
          <p:cNvSpPr/>
          <p:nvPr/>
        </p:nvSpPr>
        <p:spPr>
          <a:xfrm>
            <a:off x="8231962" y="1785725"/>
            <a:ext cx="337200" cy="337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85"/>
          <p:cNvSpPr/>
          <p:nvPr/>
        </p:nvSpPr>
        <p:spPr>
          <a:xfrm>
            <a:off x="5311387" y="2288739"/>
            <a:ext cx="337200" cy="337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85"/>
          <p:cNvSpPr/>
          <p:nvPr/>
        </p:nvSpPr>
        <p:spPr>
          <a:xfrm>
            <a:off x="5728612" y="2288739"/>
            <a:ext cx="337200" cy="337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85"/>
          <p:cNvSpPr/>
          <p:nvPr/>
        </p:nvSpPr>
        <p:spPr>
          <a:xfrm>
            <a:off x="6145837" y="2288739"/>
            <a:ext cx="337200" cy="337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85"/>
          <p:cNvSpPr/>
          <p:nvPr/>
        </p:nvSpPr>
        <p:spPr>
          <a:xfrm>
            <a:off x="6563062" y="2288739"/>
            <a:ext cx="337200" cy="337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85"/>
          <p:cNvSpPr/>
          <p:nvPr/>
        </p:nvSpPr>
        <p:spPr>
          <a:xfrm>
            <a:off x="5311387" y="2775775"/>
            <a:ext cx="337200" cy="337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85"/>
          <p:cNvSpPr/>
          <p:nvPr/>
        </p:nvSpPr>
        <p:spPr>
          <a:xfrm>
            <a:off x="5728612" y="2775775"/>
            <a:ext cx="337200" cy="337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85"/>
          <p:cNvSpPr/>
          <p:nvPr/>
        </p:nvSpPr>
        <p:spPr>
          <a:xfrm>
            <a:off x="6145837" y="2775775"/>
            <a:ext cx="337200" cy="337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85"/>
          <p:cNvSpPr/>
          <p:nvPr/>
        </p:nvSpPr>
        <p:spPr>
          <a:xfrm>
            <a:off x="6563062" y="2775775"/>
            <a:ext cx="337200" cy="337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85"/>
          <p:cNvSpPr/>
          <p:nvPr/>
        </p:nvSpPr>
        <p:spPr>
          <a:xfrm>
            <a:off x="6980287" y="2775775"/>
            <a:ext cx="337200" cy="337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85"/>
          <p:cNvSpPr/>
          <p:nvPr/>
        </p:nvSpPr>
        <p:spPr>
          <a:xfrm>
            <a:off x="7397512" y="2775775"/>
            <a:ext cx="337200" cy="337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6" name="Google Shape;1136;p85"/>
          <p:cNvSpPr/>
          <p:nvPr/>
        </p:nvSpPr>
        <p:spPr>
          <a:xfrm>
            <a:off x="6980275" y="2288739"/>
            <a:ext cx="337200" cy="337200"/>
          </a:xfrm>
          <a:prstGeom prst="pie">
            <a:avLst>
              <a:gd fmla="val 5430341" name="adj1"/>
              <a:gd fmla="val 1620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7" name="Google Shape;1137;p85"/>
          <p:cNvSpPr/>
          <p:nvPr/>
        </p:nvSpPr>
        <p:spPr>
          <a:xfrm>
            <a:off x="7814725" y="2775775"/>
            <a:ext cx="337200" cy="337200"/>
          </a:xfrm>
          <a:prstGeom prst="pie">
            <a:avLst>
              <a:gd fmla="val 5430341" name="adj1"/>
              <a:gd fmla="val 1620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8" name="Google Shape;1138;p85"/>
          <p:cNvSpPr txBox="1"/>
          <p:nvPr/>
        </p:nvSpPr>
        <p:spPr>
          <a:xfrm>
            <a:off x="4509000" y="3272300"/>
            <a:ext cx="439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Key      = 2 visits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9" name="Google Shape;1139;p85"/>
          <p:cNvSpPr/>
          <p:nvPr/>
        </p:nvSpPr>
        <p:spPr>
          <a:xfrm>
            <a:off x="5127837" y="3350000"/>
            <a:ext cx="337200" cy="337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85"/>
          <p:cNvSpPr txBox="1"/>
          <p:nvPr/>
        </p:nvSpPr>
        <p:spPr>
          <a:xfrm>
            <a:off x="5051625" y="3914725"/>
            <a:ext cx="36447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Any suitable icon could be used to represent this information.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8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Constructing and interpreting pictograms</a:t>
            </a:r>
            <a:endParaRPr/>
          </a:p>
        </p:txBody>
      </p:sp>
      <p:sp>
        <p:nvSpPr>
          <p:cNvPr id="1146" name="Google Shape;1146;p8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pictograms in a data investigation</a:t>
            </a:r>
            <a:endParaRPr/>
          </a:p>
        </p:txBody>
      </p:sp>
      <p:sp>
        <p:nvSpPr>
          <p:cNvPr id="1147" name="Google Shape;1147;p8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constructing pictograms</a:t>
            </a:r>
            <a:endParaRPr/>
          </a:p>
        </p:txBody>
      </p:sp>
      <p:pic>
        <p:nvPicPr>
          <p:cNvPr id="1148" name="Google Shape;1148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37" y="299372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pictograms in a data investigation</a:t>
            </a:r>
            <a:endParaRPr/>
          </a:p>
        </p:txBody>
      </p:sp>
      <p:sp>
        <p:nvSpPr>
          <p:cNvPr id="1154" name="Google Shape;1154;p87"/>
          <p:cNvSpPr txBox="1"/>
          <p:nvPr>
            <p:ph idx="1" type="body"/>
          </p:nvPr>
        </p:nvSpPr>
        <p:spPr>
          <a:xfrm>
            <a:off x="432925" y="759300"/>
            <a:ext cx="78852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Sofia believes that red cars are the most common colour.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She decides to collect some data by standing along a road and writing down the colours that she sees in an hour.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155" name="Google Shape;115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9023" y="2238571"/>
            <a:ext cx="667750" cy="2411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6" name="Google Shape;1156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053" y="3344097"/>
            <a:ext cx="1947986" cy="9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87"/>
          <p:cNvSpPr txBox="1"/>
          <p:nvPr/>
        </p:nvSpPr>
        <p:spPr>
          <a:xfrm>
            <a:off x="2709125" y="2251500"/>
            <a:ext cx="58914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She will class the colours as red, green, blue, black, grey, silver, white, yellow or orange.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pictograms in a data investigation</a:t>
            </a:r>
            <a:endParaRPr/>
          </a:p>
        </p:txBody>
      </p:sp>
      <p:sp>
        <p:nvSpPr>
          <p:cNvPr id="1163" name="Google Shape;1163;p88"/>
          <p:cNvSpPr/>
          <p:nvPr/>
        </p:nvSpPr>
        <p:spPr>
          <a:xfrm>
            <a:off x="432050" y="1371000"/>
            <a:ext cx="8005200" cy="3449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60000"/>
          </a:solidFill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88"/>
          <p:cNvSpPr/>
          <p:nvPr/>
        </p:nvSpPr>
        <p:spPr>
          <a:xfrm>
            <a:off x="831800" y="2113763"/>
            <a:ext cx="7119900" cy="27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5" name="Google Shape;1165;p88"/>
          <p:cNvCxnSpPr/>
          <p:nvPr/>
        </p:nvCxnSpPr>
        <p:spPr>
          <a:xfrm>
            <a:off x="1686525" y="2129125"/>
            <a:ext cx="0" cy="27243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6" name="Google Shape;1166;p88"/>
          <p:cNvCxnSpPr/>
          <p:nvPr/>
        </p:nvCxnSpPr>
        <p:spPr>
          <a:xfrm>
            <a:off x="839450" y="2915150"/>
            <a:ext cx="7112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7" name="Google Shape;1167;p88"/>
          <p:cNvCxnSpPr/>
          <p:nvPr/>
        </p:nvCxnSpPr>
        <p:spPr>
          <a:xfrm>
            <a:off x="839450" y="3219950"/>
            <a:ext cx="7112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8" name="Google Shape;1168;p88"/>
          <p:cNvCxnSpPr/>
          <p:nvPr/>
        </p:nvCxnSpPr>
        <p:spPr>
          <a:xfrm>
            <a:off x="839450" y="3524750"/>
            <a:ext cx="7112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9" name="Google Shape;1169;p88"/>
          <p:cNvCxnSpPr/>
          <p:nvPr/>
        </p:nvCxnSpPr>
        <p:spPr>
          <a:xfrm>
            <a:off x="839450" y="3829550"/>
            <a:ext cx="7112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0" name="Google Shape;1170;p88"/>
          <p:cNvCxnSpPr/>
          <p:nvPr/>
        </p:nvCxnSpPr>
        <p:spPr>
          <a:xfrm>
            <a:off x="839450" y="4134350"/>
            <a:ext cx="7112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1" name="Google Shape;1171;p88"/>
          <p:cNvCxnSpPr/>
          <p:nvPr/>
        </p:nvCxnSpPr>
        <p:spPr>
          <a:xfrm>
            <a:off x="839450" y="4439150"/>
            <a:ext cx="7112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2" name="Google Shape;1172;p88"/>
          <p:cNvCxnSpPr/>
          <p:nvPr/>
        </p:nvCxnSpPr>
        <p:spPr>
          <a:xfrm>
            <a:off x="839450" y="4743950"/>
            <a:ext cx="7112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73" name="Google Shape;117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0413" y="654449"/>
            <a:ext cx="2128475" cy="18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4" name="Google Shape;1174;p88"/>
          <p:cNvSpPr txBox="1"/>
          <p:nvPr/>
        </p:nvSpPr>
        <p:spPr>
          <a:xfrm>
            <a:off x="1684800" y="2522200"/>
            <a:ext cx="6114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ed, blue, silver, white, red, red, white, white, black, yellow,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pictograms in a data investigation</a:t>
            </a:r>
            <a:endParaRPr/>
          </a:p>
        </p:txBody>
      </p:sp>
      <p:sp>
        <p:nvSpPr>
          <p:cNvPr id="1180" name="Google Shape;1180;p89"/>
          <p:cNvSpPr/>
          <p:nvPr/>
        </p:nvSpPr>
        <p:spPr>
          <a:xfrm>
            <a:off x="432050" y="1371000"/>
            <a:ext cx="8005200" cy="3449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60000"/>
          </a:solidFill>
          <a:ln cap="flat" cmpd="sng" w="38100">
            <a:solidFill>
              <a:srgbClr val="5B0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89"/>
          <p:cNvSpPr/>
          <p:nvPr/>
        </p:nvSpPr>
        <p:spPr>
          <a:xfrm>
            <a:off x="831800" y="2113763"/>
            <a:ext cx="7119900" cy="272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82" name="Google Shape;1182;p89"/>
          <p:cNvCxnSpPr/>
          <p:nvPr/>
        </p:nvCxnSpPr>
        <p:spPr>
          <a:xfrm>
            <a:off x="1686525" y="2129125"/>
            <a:ext cx="0" cy="27243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3" name="Google Shape;1183;p89"/>
          <p:cNvCxnSpPr/>
          <p:nvPr/>
        </p:nvCxnSpPr>
        <p:spPr>
          <a:xfrm>
            <a:off x="839450" y="2915150"/>
            <a:ext cx="7112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4" name="Google Shape;1184;p89"/>
          <p:cNvCxnSpPr/>
          <p:nvPr/>
        </p:nvCxnSpPr>
        <p:spPr>
          <a:xfrm>
            <a:off x="839450" y="3219950"/>
            <a:ext cx="7112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89"/>
          <p:cNvCxnSpPr/>
          <p:nvPr/>
        </p:nvCxnSpPr>
        <p:spPr>
          <a:xfrm>
            <a:off x="839450" y="3524750"/>
            <a:ext cx="7112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89"/>
          <p:cNvCxnSpPr/>
          <p:nvPr/>
        </p:nvCxnSpPr>
        <p:spPr>
          <a:xfrm>
            <a:off x="839450" y="3829550"/>
            <a:ext cx="7112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7" name="Google Shape;1187;p89"/>
          <p:cNvCxnSpPr/>
          <p:nvPr/>
        </p:nvCxnSpPr>
        <p:spPr>
          <a:xfrm>
            <a:off x="839450" y="4134350"/>
            <a:ext cx="7112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8" name="Google Shape;1188;p89"/>
          <p:cNvCxnSpPr/>
          <p:nvPr/>
        </p:nvCxnSpPr>
        <p:spPr>
          <a:xfrm>
            <a:off x="839450" y="4439150"/>
            <a:ext cx="7112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9" name="Google Shape;1189;p89"/>
          <p:cNvCxnSpPr/>
          <p:nvPr/>
        </p:nvCxnSpPr>
        <p:spPr>
          <a:xfrm>
            <a:off x="839450" y="4743950"/>
            <a:ext cx="7112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90" name="Google Shape;1190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0413" y="654449"/>
            <a:ext cx="2128475" cy="18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89"/>
          <p:cNvSpPr txBox="1"/>
          <p:nvPr/>
        </p:nvSpPr>
        <p:spPr>
          <a:xfrm>
            <a:off x="1684800" y="2522200"/>
            <a:ext cx="61143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red, blue, silver, white, red, red, white, white, black, yellow, silver, white, green, black, red, black, blue, grey, orange, grey, grey, red, white, black, black, silver, grey, blue, red, yellow, green, red, blue, black, grey, black, white, blue, red, grey, black, red, white, white, blue, black, silver, red, black, blue, grey, black, yellow, silver, red, white, orange, blue, black, grey, white, blue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89"/>
          <p:cNvSpPr/>
          <p:nvPr/>
        </p:nvSpPr>
        <p:spPr>
          <a:xfrm>
            <a:off x="1472850" y="4845869"/>
            <a:ext cx="6425400" cy="22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90"/>
          <p:cNvSpPr txBox="1"/>
          <p:nvPr>
            <p:ph idx="1" type="body"/>
          </p:nvPr>
        </p:nvSpPr>
        <p:spPr>
          <a:xfrm>
            <a:off x="518625" y="748100"/>
            <a:ext cx="3486000" cy="14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Jacob suggests that Sofia’s list is not the most convenient method to collect the data for analysing or presenting it.</a:t>
            </a:r>
            <a:endParaRPr sz="1800"/>
          </a:p>
        </p:txBody>
      </p:sp>
      <p:sp>
        <p:nvSpPr>
          <p:cNvPr id="1198" name="Google Shape;119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pictograms in a data investigation</a:t>
            </a:r>
            <a:endParaRPr/>
          </a:p>
        </p:txBody>
      </p:sp>
      <p:pic>
        <p:nvPicPr>
          <p:cNvPr id="1199" name="Google Shape;1199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48671" y="2000251"/>
            <a:ext cx="858925" cy="281902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00" name="Google Shape;1200;p90"/>
          <p:cNvGraphicFramePr/>
          <p:nvPr/>
        </p:nvGraphicFramePr>
        <p:xfrm>
          <a:off x="4266275" y="79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{5B754C58-ACA0-4BBC-9D71-DF4F736011AA}</a:tableStyleId>
              </a:tblPr>
              <a:tblGrid>
                <a:gridCol w="1172925"/>
                <a:gridCol w="1390275"/>
                <a:gridCol w="160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Colour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Tally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black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silver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white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yellow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</a:tbl>
          </a:graphicData>
        </a:graphic>
      </p:graphicFrame>
      <p:grpSp>
        <p:nvGrpSpPr>
          <p:cNvPr id="1201" name="Google Shape;1201;p90"/>
          <p:cNvGrpSpPr/>
          <p:nvPr/>
        </p:nvGrpSpPr>
        <p:grpSpPr>
          <a:xfrm>
            <a:off x="5518222" y="1238250"/>
            <a:ext cx="390000" cy="244539"/>
            <a:chOff x="6605147" y="1426486"/>
            <a:chExt cx="390000" cy="244539"/>
          </a:xfrm>
        </p:grpSpPr>
        <p:cxnSp>
          <p:nvCxnSpPr>
            <p:cNvPr id="1202" name="Google Shape;1202;p90"/>
            <p:cNvCxnSpPr/>
            <p:nvPr/>
          </p:nvCxnSpPr>
          <p:spPr>
            <a:xfrm>
              <a:off x="6684800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3" name="Google Shape;1203;p90"/>
            <p:cNvCxnSpPr/>
            <p:nvPr/>
          </p:nvCxnSpPr>
          <p:spPr>
            <a:xfrm>
              <a:off x="6760887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4" name="Google Shape;1204;p90"/>
            <p:cNvCxnSpPr/>
            <p:nvPr/>
          </p:nvCxnSpPr>
          <p:spPr>
            <a:xfrm>
              <a:off x="6837087" y="1426712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5" name="Google Shape;1205;p90"/>
            <p:cNvCxnSpPr/>
            <p:nvPr/>
          </p:nvCxnSpPr>
          <p:spPr>
            <a:xfrm>
              <a:off x="6913174" y="1426486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6" name="Google Shape;1206;p9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07" name="Google Shape;1207;p90"/>
          <p:cNvGrpSpPr/>
          <p:nvPr/>
        </p:nvGrpSpPr>
        <p:grpSpPr>
          <a:xfrm>
            <a:off x="5975422" y="1238250"/>
            <a:ext cx="390000" cy="244539"/>
            <a:chOff x="6605147" y="1426486"/>
            <a:chExt cx="390000" cy="244539"/>
          </a:xfrm>
        </p:grpSpPr>
        <p:cxnSp>
          <p:nvCxnSpPr>
            <p:cNvPr id="1208" name="Google Shape;1208;p90"/>
            <p:cNvCxnSpPr/>
            <p:nvPr/>
          </p:nvCxnSpPr>
          <p:spPr>
            <a:xfrm>
              <a:off x="6684800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9" name="Google Shape;1209;p90"/>
            <p:cNvCxnSpPr/>
            <p:nvPr/>
          </p:nvCxnSpPr>
          <p:spPr>
            <a:xfrm>
              <a:off x="6760887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0" name="Google Shape;1210;p90"/>
            <p:cNvCxnSpPr/>
            <p:nvPr/>
          </p:nvCxnSpPr>
          <p:spPr>
            <a:xfrm>
              <a:off x="6837087" y="1426712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1" name="Google Shape;1211;p90"/>
            <p:cNvCxnSpPr/>
            <p:nvPr/>
          </p:nvCxnSpPr>
          <p:spPr>
            <a:xfrm>
              <a:off x="6913174" y="1426486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2" name="Google Shape;1212;p9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13" name="Google Shape;1213;p90"/>
          <p:cNvGrpSpPr/>
          <p:nvPr/>
        </p:nvGrpSpPr>
        <p:grpSpPr>
          <a:xfrm>
            <a:off x="5518222" y="2000250"/>
            <a:ext cx="390000" cy="244539"/>
            <a:chOff x="6605147" y="1426486"/>
            <a:chExt cx="390000" cy="244539"/>
          </a:xfrm>
        </p:grpSpPr>
        <p:cxnSp>
          <p:nvCxnSpPr>
            <p:cNvPr id="1214" name="Google Shape;1214;p90"/>
            <p:cNvCxnSpPr/>
            <p:nvPr/>
          </p:nvCxnSpPr>
          <p:spPr>
            <a:xfrm>
              <a:off x="6684800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5" name="Google Shape;1215;p90"/>
            <p:cNvCxnSpPr/>
            <p:nvPr/>
          </p:nvCxnSpPr>
          <p:spPr>
            <a:xfrm>
              <a:off x="6760887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6" name="Google Shape;1216;p90"/>
            <p:cNvCxnSpPr/>
            <p:nvPr/>
          </p:nvCxnSpPr>
          <p:spPr>
            <a:xfrm>
              <a:off x="6837087" y="1426712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7" name="Google Shape;1217;p90"/>
            <p:cNvCxnSpPr/>
            <p:nvPr/>
          </p:nvCxnSpPr>
          <p:spPr>
            <a:xfrm>
              <a:off x="6913174" y="1426486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8" name="Google Shape;1218;p9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19" name="Google Shape;1219;p90"/>
          <p:cNvGrpSpPr/>
          <p:nvPr/>
        </p:nvGrpSpPr>
        <p:grpSpPr>
          <a:xfrm>
            <a:off x="5518222" y="2381250"/>
            <a:ext cx="390000" cy="244539"/>
            <a:chOff x="6605147" y="1426486"/>
            <a:chExt cx="390000" cy="244539"/>
          </a:xfrm>
        </p:grpSpPr>
        <p:cxnSp>
          <p:nvCxnSpPr>
            <p:cNvPr id="1220" name="Google Shape;1220;p90"/>
            <p:cNvCxnSpPr/>
            <p:nvPr/>
          </p:nvCxnSpPr>
          <p:spPr>
            <a:xfrm>
              <a:off x="6684800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1" name="Google Shape;1221;p90"/>
            <p:cNvCxnSpPr/>
            <p:nvPr/>
          </p:nvCxnSpPr>
          <p:spPr>
            <a:xfrm>
              <a:off x="6760887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2" name="Google Shape;1222;p90"/>
            <p:cNvCxnSpPr/>
            <p:nvPr/>
          </p:nvCxnSpPr>
          <p:spPr>
            <a:xfrm>
              <a:off x="6837087" y="1426712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3" name="Google Shape;1223;p90"/>
            <p:cNvCxnSpPr/>
            <p:nvPr/>
          </p:nvCxnSpPr>
          <p:spPr>
            <a:xfrm>
              <a:off x="6913174" y="1426486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4" name="Google Shape;1224;p9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25" name="Google Shape;1225;p90"/>
          <p:cNvGrpSpPr/>
          <p:nvPr/>
        </p:nvGrpSpPr>
        <p:grpSpPr>
          <a:xfrm>
            <a:off x="5975422" y="2381250"/>
            <a:ext cx="390000" cy="244539"/>
            <a:chOff x="6605147" y="1426486"/>
            <a:chExt cx="390000" cy="244539"/>
          </a:xfrm>
        </p:grpSpPr>
        <p:cxnSp>
          <p:nvCxnSpPr>
            <p:cNvPr id="1226" name="Google Shape;1226;p90"/>
            <p:cNvCxnSpPr/>
            <p:nvPr/>
          </p:nvCxnSpPr>
          <p:spPr>
            <a:xfrm>
              <a:off x="6684800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7" name="Google Shape;1227;p90"/>
            <p:cNvCxnSpPr/>
            <p:nvPr/>
          </p:nvCxnSpPr>
          <p:spPr>
            <a:xfrm>
              <a:off x="6760887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8" name="Google Shape;1228;p90"/>
            <p:cNvCxnSpPr/>
            <p:nvPr/>
          </p:nvCxnSpPr>
          <p:spPr>
            <a:xfrm>
              <a:off x="6837087" y="1426712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9" name="Google Shape;1229;p90"/>
            <p:cNvCxnSpPr/>
            <p:nvPr/>
          </p:nvCxnSpPr>
          <p:spPr>
            <a:xfrm>
              <a:off x="6913174" y="1426486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0" name="Google Shape;1230;p9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31" name="Google Shape;1231;p90"/>
          <p:cNvGrpSpPr/>
          <p:nvPr/>
        </p:nvGrpSpPr>
        <p:grpSpPr>
          <a:xfrm>
            <a:off x="5518222" y="3143250"/>
            <a:ext cx="390000" cy="244539"/>
            <a:chOff x="6605147" y="1426486"/>
            <a:chExt cx="390000" cy="244539"/>
          </a:xfrm>
        </p:grpSpPr>
        <p:cxnSp>
          <p:nvCxnSpPr>
            <p:cNvPr id="1232" name="Google Shape;1232;p90"/>
            <p:cNvCxnSpPr/>
            <p:nvPr/>
          </p:nvCxnSpPr>
          <p:spPr>
            <a:xfrm>
              <a:off x="6684800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3" name="Google Shape;1233;p90"/>
            <p:cNvCxnSpPr/>
            <p:nvPr/>
          </p:nvCxnSpPr>
          <p:spPr>
            <a:xfrm>
              <a:off x="6760887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4" name="Google Shape;1234;p90"/>
            <p:cNvCxnSpPr/>
            <p:nvPr/>
          </p:nvCxnSpPr>
          <p:spPr>
            <a:xfrm>
              <a:off x="6837087" y="1426712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5" name="Google Shape;1235;p90"/>
            <p:cNvCxnSpPr/>
            <p:nvPr/>
          </p:nvCxnSpPr>
          <p:spPr>
            <a:xfrm>
              <a:off x="6913174" y="1426486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6" name="Google Shape;1236;p9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37" name="Google Shape;1237;p90"/>
          <p:cNvGrpSpPr/>
          <p:nvPr/>
        </p:nvGrpSpPr>
        <p:grpSpPr>
          <a:xfrm>
            <a:off x="5518222" y="3524250"/>
            <a:ext cx="390000" cy="244539"/>
            <a:chOff x="6605147" y="1426486"/>
            <a:chExt cx="390000" cy="244539"/>
          </a:xfrm>
        </p:grpSpPr>
        <p:cxnSp>
          <p:nvCxnSpPr>
            <p:cNvPr id="1238" name="Google Shape;1238;p90"/>
            <p:cNvCxnSpPr/>
            <p:nvPr/>
          </p:nvCxnSpPr>
          <p:spPr>
            <a:xfrm>
              <a:off x="6684800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9" name="Google Shape;1239;p90"/>
            <p:cNvCxnSpPr/>
            <p:nvPr/>
          </p:nvCxnSpPr>
          <p:spPr>
            <a:xfrm>
              <a:off x="6760887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0" name="Google Shape;1240;p90"/>
            <p:cNvCxnSpPr/>
            <p:nvPr/>
          </p:nvCxnSpPr>
          <p:spPr>
            <a:xfrm>
              <a:off x="6837087" y="1426712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1" name="Google Shape;1241;p90"/>
            <p:cNvCxnSpPr/>
            <p:nvPr/>
          </p:nvCxnSpPr>
          <p:spPr>
            <a:xfrm>
              <a:off x="6913174" y="1426486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2" name="Google Shape;1242;p9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43" name="Google Shape;1243;p90"/>
          <p:cNvCxnSpPr/>
          <p:nvPr/>
        </p:nvCxnSpPr>
        <p:spPr>
          <a:xfrm>
            <a:off x="6055075" y="2003486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4" name="Google Shape;1244;p90"/>
          <p:cNvCxnSpPr/>
          <p:nvPr/>
        </p:nvCxnSpPr>
        <p:spPr>
          <a:xfrm>
            <a:off x="6131162" y="2003486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45" name="Google Shape;1245;p90"/>
          <p:cNvGrpSpPr/>
          <p:nvPr/>
        </p:nvGrpSpPr>
        <p:grpSpPr>
          <a:xfrm>
            <a:off x="5518222" y="2762250"/>
            <a:ext cx="390000" cy="244539"/>
            <a:chOff x="6605147" y="1426486"/>
            <a:chExt cx="390000" cy="244539"/>
          </a:xfrm>
        </p:grpSpPr>
        <p:cxnSp>
          <p:nvCxnSpPr>
            <p:cNvPr id="1246" name="Google Shape;1246;p90"/>
            <p:cNvCxnSpPr/>
            <p:nvPr/>
          </p:nvCxnSpPr>
          <p:spPr>
            <a:xfrm>
              <a:off x="6684800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7" name="Google Shape;1247;p90"/>
            <p:cNvCxnSpPr/>
            <p:nvPr/>
          </p:nvCxnSpPr>
          <p:spPr>
            <a:xfrm>
              <a:off x="6760887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8" name="Google Shape;1248;p90"/>
            <p:cNvCxnSpPr/>
            <p:nvPr/>
          </p:nvCxnSpPr>
          <p:spPr>
            <a:xfrm>
              <a:off x="6837087" y="1426712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9" name="Google Shape;1249;p90"/>
            <p:cNvCxnSpPr/>
            <p:nvPr/>
          </p:nvCxnSpPr>
          <p:spPr>
            <a:xfrm>
              <a:off x="6913174" y="1426486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0" name="Google Shape;1250;p90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51" name="Google Shape;1251;p90"/>
          <p:cNvCxnSpPr/>
          <p:nvPr/>
        </p:nvCxnSpPr>
        <p:spPr>
          <a:xfrm>
            <a:off x="6047456" y="3532056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2" name="Google Shape;1252;p90"/>
          <p:cNvCxnSpPr/>
          <p:nvPr/>
        </p:nvCxnSpPr>
        <p:spPr>
          <a:xfrm>
            <a:off x="6123543" y="3532056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3" name="Google Shape;1253;p90"/>
          <p:cNvCxnSpPr/>
          <p:nvPr/>
        </p:nvCxnSpPr>
        <p:spPr>
          <a:xfrm>
            <a:off x="6199743" y="3531943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4" name="Google Shape;1254;p90"/>
          <p:cNvCxnSpPr/>
          <p:nvPr/>
        </p:nvCxnSpPr>
        <p:spPr>
          <a:xfrm>
            <a:off x="6486775" y="2381425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5" name="Google Shape;1255;p90"/>
          <p:cNvCxnSpPr/>
          <p:nvPr/>
        </p:nvCxnSpPr>
        <p:spPr>
          <a:xfrm>
            <a:off x="5594431" y="3905481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6" name="Google Shape;1256;p90"/>
          <p:cNvCxnSpPr/>
          <p:nvPr/>
        </p:nvCxnSpPr>
        <p:spPr>
          <a:xfrm>
            <a:off x="5670518" y="3905481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7" name="Google Shape;1257;p90"/>
          <p:cNvCxnSpPr/>
          <p:nvPr/>
        </p:nvCxnSpPr>
        <p:spPr>
          <a:xfrm>
            <a:off x="5746718" y="3905368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8" name="Google Shape;1258;p90"/>
          <p:cNvCxnSpPr/>
          <p:nvPr/>
        </p:nvCxnSpPr>
        <p:spPr>
          <a:xfrm>
            <a:off x="5573675" y="1619436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9" name="Google Shape;1259;p90"/>
          <p:cNvCxnSpPr/>
          <p:nvPr/>
        </p:nvCxnSpPr>
        <p:spPr>
          <a:xfrm>
            <a:off x="5649762" y="1619436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0" name="Google Shape;1260;p90"/>
          <p:cNvCxnSpPr/>
          <p:nvPr/>
        </p:nvCxnSpPr>
        <p:spPr>
          <a:xfrm>
            <a:off x="6055075" y="3143436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1" name="Google Shape;1261;p90"/>
          <p:cNvCxnSpPr/>
          <p:nvPr/>
        </p:nvCxnSpPr>
        <p:spPr>
          <a:xfrm>
            <a:off x="6131162" y="3143436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90"/>
          <p:cNvCxnSpPr/>
          <p:nvPr/>
        </p:nvCxnSpPr>
        <p:spPr>
          <a:xfrm>
            <a:off x="5594418" y="4300143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3" name="Google Shape;1263;p90"/>
          <p:cNvSpPr txBox="1"/>
          <p:nvPr/>
        </p:nvSpPr>
        <p:spPr>
          <a:xfrm>
            <a:off x="1321225" y="2381425"/>
            <a:ext cx="2847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 suggests a tally and frequency chart.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pictograms in a data investigation</a:t>
            </a:r>
            <a:endParaRPr/>
          </a:p>
        </p:txBody>
      </p:sp>
      <p:graphicFrame>
        <p:nvGraphicFramePr>
          <p:cNvPr id="1269" name="Google Shape;1269;p91"/>
          <p:cNvGraphicFramePr/>
          <p:nvPr/>
        </p:nvGraphicFramePr>
        <p:xfrm>
          <a:off x="574575" y="134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{5B754C58-ACA0-4BBC-9D71-DF4F736011AA}</a:tableStyleId>
              </a:tblPr>
              <a:tblGrid>
                <a:gridCol w="1290625"/>
                <a:gridCol w="2337750"/>
                <a:gridCol w="1571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 of transport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Tally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bus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bicycle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</a:tbl>
          </a:graphicData>
        </a:graphic>
      </p:graphicFrame>
      <p:grpSp>
        <p:nvGrpSpPr>
          <p:cNvPr id="1270" name="Google Shape;1270;p91"/>
          <p:cNvGrpSpPr/>
          <p:nvPr/>
        </p:nvGrpSpPr>
        <p:grpSpPr>
          <a:xfrm>
            <a:off x="2035972" y="2037725"/>
            <a:ext cx="390000" cy="244539"/>
            <a:chOff x="6605147" y="1426486"/>
            <a:chExt cx="390000" cy="244539"/>
          </a:xfrm>
        </p:grpSpPr>
        <p:cxnSp>
          <p:nvCxnSpPr>
            <p:cNvPr id="1271" name="Google Shape;1271;p91"/>
            <p:cNvCxnSpPr/>
            <p:nvPr/>
          </p:nvCxnSpPr>
          <p:spPr>
            <a:xfrm>
              <a:off x="6684800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2" name="Google Shape;1272;p91"/>
            <p:cNvCxnSpPr/>
            <p:nvPr/>
          </p:nvCxnSpPr>
          <p:spPr>
            <a:xfrm>
              <a:off x="6760887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3" name="Google Shape;1273;p91"/>
            <p:cNvCxnSpPr/>
            <p:nvPr/>
          </p:nvCxnSpPr>
          <p:spPr>
            <a:xfrm>
              <a:off x="6837087" y="1426712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4" name="Google Shape;1274;p91"/>
            <p:cNvCxnSpPr/>
            <p:nvPr/>
          </p:nvCxnSpPr>
          <p:spPr>
            <a:xfrm>
              <a:off x="6913174" y="1426486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5" name="Google Shape;1275;p91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76" name="Google Shape;1276;p91"/>
          <p:cNvGrpSpPr/>
          <p:nvPr/>
        </p:nvGrpSpPr>
        <p:grpSpPr>
          <a:xfrm>
            <a:off x="2497197" y="2037725"/>
            <a:ext cx="390000" cy="244539"/>
            <a:chOff x="6605147" y="1426486"/>
            <a:chExt cx="390000" cy="244539"/>
          </a:xfrm>
        </p:grpSpPr>
        <p:cxnSp>
          <p:nvCxnSpPr>
            <p:cNvPr id="1277" name="Google Shape;1277;p91"/>
            <p:cNvCxnSpPr/>
            <p:nvPr/>
          </p:nvCxnSpPr>
          <p:spPr>
            <a:xfrm>
              <a:off x="6684800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8" name="Google Shape;1278;p91"/>
            <p:cNvCxnSpPr/>
            <p:nvPr/>
          </p:nvCxnSpPr>
          <p:spPr>
            <a:xfrm>
              <a:off x="6760887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9" name="Google Shape;1279;p91"/>
            <p:cNvCxnSpPr/>
            <p:nvPr/>
          </p:nvCxnSpPr>
          <p:spPr>
            <a:xfrm>
              <a:off x="6837087" y="1426712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0" name="Google Shape;1280;p91"/>
            <p:cNvCxnSpPr/>
            <p:nvPr/>
          </p:nvCxnSpPr>
          <p:spPr>
            <a:xfrm>
              <a:off x="6913174" y="1426486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1" name="Google Shape;1281;p91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82" name="Google Shape;1282;p91"/>
          <p:cNvGrpSpPr/>
          <p:nvPr/>
        </p:nvGrpSpPr>
        <p:grpSpPr>
          <a:xfrm>
            <a:off x="2979597" y="2037725"/>
            <a:ext cx="390000" cy="244539"/>
            <a:chOff x="6605147" y="1426486"/>
            <a:chExt cx="390000" cy="244539"/>
          </a:xfrm>
        </p:grpSpPr>
        <p:cxnSp>
          <p:nvCxnSpPr>
            <p:cNvPr id="1283" name="Google Shape;1283;p91"/>
            <p:cNvCxnSpPr/>
            <p:nvPr/>
          </p:nvCxnSpPr>
          <p:spPr>
            <a:xfrm>
              <a:off x="6684800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4" name="Google Shape;1284;p91"/>
            <p:cNvCxnSpPr/>
            <p:nvPr/>
          </p:nvCxnSpPr>
          <p:spPr>
            <a:xfrm>
              <a:off x="6760887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5" name="Google Shape;1285;p91"/>
            <p:cNvCxnSpPr/>
            <p:nvPr/>
          </p:nvCxnSpPr>
          <p:spPr>
            <a:xfrm>
              <a:off x="6837087" y="1426712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6" name="Google Shape;1286;p91"/>
            <p:cNvCxnSpPr/>
            <p:nvPr/>
          </p:nvCxnSpPr>
          <p:spPr>
            <a:xfrm>
              <a:off x="6913174" y="1426486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7" name="Google Shape;1287;p91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88" name="Google Shape;1288;p91"/>
          <p:cNvGrpSpPr/>
          <p:nvPr/>
        </p:nvGrpSpPr>
        <p:grpSpPr>
          <a:xfrm>
            <a:off x="3461997" y="2037725"/>
            <a:ext cx="390000" cy="244539"/>
            <a:chOff x="6605147" y="1426486"/>
            <a:chExt cx="390000" cy="244539"/>
          </a:xfrm>
        </p:grpSpPr>
        <p:cxnSp>
          <p:nvCxnSpPr>
            <p:cNvPr id="1289" name="Google Shape;1289;p91"/>
            <p:cNvCxnSpPr/>
            <p:nvPr/>
          </p:nvCxnSpPr>
          <p:spPr>
            <a:xfrm>
              <a:off x="6684800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0" name="Google Shape;1290;p91"/>
            <p:cNvCxnSpPr/>
            <p:nvPr/>
          </p:nvCxnSpPr>
          <p:spPr>
            <a:xfrm>
              <a:off x="6760887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1" name="Google Shape;1291;p91"/>
            <p:cNvCxnSpPr/>
            <p:nvPr/>
          </p:nvCxnSpPr>
          <p:spPr>
            <a:xfrm>
              <a:off x="6837087" y="1426712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2" name="Google Shape;1292;p91"/>
            <p:cNvCxnSpPr/>
            <p:nvPr/>
          </p:nvCxnSpPr>
          <p:spPr>
            <a:xfrm>
              <a:off x="6913174" y="1426486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3" name="Google Shape;1293;p91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94" name="Google Shape;1294;p91"/>
          <p:cNvGrpSpPr/>
          <p:nvPr/>
        </p:nvGrpSpPr>
        <p:grpSpPr>
          <a:xfrm>
            <a:off x="2035972" y="2401734"/>
            <a:ext cx="390000" cy="244539"/>
            <a:chOff x="6605147" y="1426486"/>
            <a:chExt cx="390000" cy="244539"/>
          </a:xfrm>
        </p:grpSpPr>
        <p:cxnSp>
          <p:nvCxnSpPr>
            <p:cNvPr id="1295" name="Google Shape;1295;p91"/>
            <p:cNvCxnSpPr/>
            <p:nvPr/>
          </p:nvCxnSpPr>
          <p:spPr>
            <a:xfrm>
              <a:off x="6684800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6" name="Google Shape;1296;p91"/>
            <p:cNvCxnSpPr/>
            <p:nvPr/>
          </p:nvCxnSpPr>
          <p:spPr>
            <a:xfrm>
              <a:off x="6760887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7" name="Google Shape;1297;p91"/>
            <p:cNvCxnSpPr/>
            <p:nvPr/>
          </p:nvCxnSpPr>
          <p:spPr>
            <a:xfrm>
              <a:off x="6837087" y="1426712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8" name="Google Shape;1298;p91"/>
            <p:cNvCxnSpPr/>
            <p:nvPr/>
          </p:nvCxnSpPr>
          <p:spPr>
            <a:xfrm>
              <a:off x="6913174" y="1426486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9" name="Google Shape;1299;p91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300" name="Google Shape;1300;p91"/>
          <p:cNvCxnSpPr/>
          <p:nvPr/>
        </p:nvCxnSpPr>
        <p:spPr>
          <a:xfrm>
            <a:off x="2579688" y="2782911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1" name="Google Shape;1301;p91"/>
          <p:cNvCxnSpPr/>
          <p:nvPr/>
        </p:nvCxnSpPr>
        <p:spPr>
          <a:xfrm>
            <a:off x="2655774" y="2782911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2" name="Google Shape;1302;p91"/>
          <p:cNvCxnSpPr/>
          <p:nvPr/>
        </p:nvCxnSpPr>
        <p:spPr>
          <a:xfrm>
            <a:off x="3506375" y="3163900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3" name="Google Shape;1303;p91"/>
          <p:cNvCxnSpPr/>
          <p:nvPr/>
        </p:nvCxnSpPr>
        <p:spPr>
          <a:xfrm>
            <a:off x="3023425" y="2401911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4" name="Google Shape;1304;p91"/>
          <p:cNvCxnSpPr/>
          <p:nvPr/>
        </p:nvCxnSpPr>
        <p:spPr>
          <a:xfrm>
            <a:off x="3099512" y="2401911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5" name="Google Shape;1305;p91"/>
          <p:cNvSpPr txBox="1"/>
          <p:nvPr/>
        </p:nvSpPr>
        <p:spPr>
          <a:xfrm>
            <a:off x="419925" y="747650"/>
            <a:ext cx="439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Complete the frequency column.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6" name="Google Shape;1306;p91"/>
          <p:cNvGrpSpPr/>
          <p:nvPr/>
        </p:nvGrpSpPr>
        <p:grpSpPr>
          <a:xfrm>
            <a:off x="2493172" y="2401734"/>
            <a:ext cx="390000" cy="244539"/>
            <a:chOff x="6605147" y="1426486"/>
            <a:chExt cx="390000" cy="244539"/>
          </a:xfrm>
        </p:grpSpPr>
        <p:cxnSp>
          <p:nvCxnSpPr>
            <p:cNvPr id="1307" name="Google Shape;1307;p91"/>
            <p:cNvCxnSpPr/>
            <p:nvPr/>
          </p:nvCxnSpPr>
          <p:spPr>
            <a:xfrm>
              <a:off x="6684800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8" name="Google Shape;1308;p91"/>
            <p:cNvCxnSpPr/>
            <p:nvPr/>
          </p:nvCxnSpPr>
          <p:spPr>
            <a:xfrm>
              <a:off x="6760887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9" name="Google Shape;1309;p91"/>
            <p:cNvCxnSpPr/>
            <p:nvPr/>
          </p:nvCxnSpPr>
          <p:spPr>
            <a:xfrm>
              <a:off x="6837087" y="1426712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0" name="Google Shape;1310;p91"/>
            <p:cNvCxnSpPr/>
            <p:nvPr/>
          </p:nvCxnSpPr>
          <p:spPr>
            <a:xfrm>
              <a:off x="6913174" y="1426486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1" name="Google Shape;1311;p91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12" name="Google Shape;1312;p91"/>
          <p:cNvGrpSpPr/>
          <p:nvPr/>
        </p:nvGrpSpPr>
        <p:grpSpPr>
          <a:xfrm>
            <a:off x="2050720" y="2782734"/>
            <a:ext cx="390000" cy="244539"/>
            <a:chOff x="6605147" y="1426486"/>
            <a:chExt cx="390000" cy="244539"/>
          </a:xfrm>
        </p:grpSpPr>
        <p:cxnSp>
          <p:nvCxnSpPr>
            <p:cNvPr id="1313" name="Google Shape;1313;p91"/>
            <p:cNvCxnSpPr/>
            <p:nvPr/>
          </p:nvCxnSpPr>
          <p:spPr>
            <a:xfrm>
              <a:off x="6684800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4" name="Google Shape;1314;p91"/>
            <p:cNvCxnSpPr/>
            <p:nvPr/>
          </p:nvCxnSpPr>
          <p:spPr>
            <a:xfrm>
              <a:off x="6760887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5" name="Google Shape;1315;p91"/>
            <p:cNvCxnSpPr/>
            <p:nvPr/>
          </p:nvCxnSpPr>
          <p:spPr>
            <a:xfrm>
              <a:off x="6837087" y="1426712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6" name="Google Shape;1316;p91"/>
            <p:cNvCxnSpPr/>
            <p:nvPr/>
          </p:nvCxnSpPr>
          <p:spPr>
            <a:xfrm>
              <a:off x="6913174" y="1426486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7" name="Google Shape;1317;p91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18" name="Google Shape;1318;p91"/>
          <p:cNvGrpSpPr/>
          <p:nvPr/>
        </p:nvGrpSpPr>
        <p:grpSpPr>
          <a:xfrm>
            <a:off x="2040478" y="3163734"/>
            <a:ext cx="390000" cy="244539"/>
            <a:chOff x="6605147" y="1426486"/>
            <a:chExt cx="390000" cy="244539"/>
          </a:xfrm>
        </p:grpSpPr>
        <p:cxnSp>
          <p:nvCxnSpPr>
            <p:cNvPr id="1319" name="Google Shape;1319;p91"/>
            <p:cNvCxnSpPr/>
            <p:nvPr/>
          </p:nvCxnSpPr>
          <p:spPr>
            <a:xfrm>
              <a:off x="6684800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0" name="Google Shape;1320;p91"/>
            <p:cNvCxnSpPr/>
            <p:nvPr/>
          </p:nvCxnSpPr>
          <p:spPr>
            <a:xfrm>
              <a:off x="6760887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1" name="Google Shape;1321;p91"/>
            <p:cNvCxnSpPr/>
            <p:nvPr/>
          </p:nvCxnSpPr>
          <p:spPr>
            <a:xfrm>
              <a:off x="6837087" y="1426712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2" name="Google Shape;1322;p91"/>
            <p:cNvCxnSpPr/>
            <p:nvPr/>
          </p:nvCxnSpPr>
          <p:spPr>
            <a:xfrm>
              <a:off x="6913174" y="1426486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3" name="Google Shape;1323;p91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24" name="Google Shape;1324;p91"/>
          <p:cNvGrpSpPr/>
          <p:nvPr/>
        </p:nvGrpSpPr>
        <p:grpSpPr>
          <a:xfrm>
            <a:off x="2497678" y="3163734"/>
            <a:ext cx="390000" cy="244539"/>
            <a:chOff x="6605147" y="1426486"/>
            <a:chExt cx="390000" cy="244539"/>
          </a:xfrm>
        </p:grpSpPr>
        <p:cxnSp>
          <p:nvCxnSpPr>
            <p:cNvPr id="1325" name="Google Shape;1325;p91"/>
            <p:cNvCxnSpPr/>
            <p:nvPr/>
          </p:nvCxnSpPr>
          <p:spPr>
            <a:xfrm>
              <a:off x="6684800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6" name="Google Shape;1326;p91"/>
            <p:cNvCxnSpPr/>
            <p:nvPr/>
          </p:nvCxnSpPr>
          <p:spPr>
            <a:xfrm>
              <a:off x="6760887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7" name="Google Shape;1327;p91"/>
            <p:cNvCxnSpPr/>
            <p:nvPr/>
          </p:nvCxnSpPr>
          <p:spPr>
            <a:xfrm>
              <a:off x="6837087" y="1426712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8" name="Google Shape;1328;p91"/>
            <p:cNvCxnSpPr/>
            <p:nvPr/>
          </p:nvCxnSpPr>
          <p:spPr>
            <a:xfrm>
              <a:off x="6913174" y="1426486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9" name="Google Shape;1329;p91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30" name="Google Shape;1330;p91"/>
          <p:cNvGrpSpPr/>
          <p:nvPr/>
        </p:nvGrpSpPr>
        <p:grpSpPr>
          <a:xfrm>
            <a:off x="2954878" y="3163734"/>
            <a:ext cx="390000" cy="244539"/>
            <a:chOff x="6605147" y="1426486"/>
            <a:chExt cx="390000" cy="244539"/>
          </a:xfrm>
        </p:grpSpPr>
        <p:cxnSp>
          <p:nvCxnSpPr>
            <p:cNvPr id="1331" name="Google Shape;1331;p91"/>
            <p:cNvCxnSpPr/>
            <p:nvPr/>
          </p:nvCxnSpPr>
          <p:spPr>
            <a:xfrm>
              <a:off x="6684800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2" name="Google Shape;1332;p91"/>
            <p:cNvCxnSpPr/>
            <p:nvPr/>
          </p:nvCxnSpPr>
          <p:spPr>
            <a:xfrm>
              <a:off x="6760887" y="1426825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3" name="Google Shape;1333;p91"/>
            <p:cNvCxnSpPr/>
            <p:nvPr/>
          </p:nvCxnSpPr>
          <p:spPr>
            <a:xfrm>
              <a:off x="6837087" y="1426712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4" name="Google Shape;1334;p91"/>
            <p:cNvCxnSpPr/>
            <p:nvPr/>
          </p:nvCxnSpPr>
          <p:spPr>
            <a:xfrm>
              <a:off x="6913174" y="1426486"/>
              <a:ext cx="0" cy="2442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5" name="Google Shape;1335;p91"/>
            <p:cNvCxnSpPr/>
            <p:nvPr/>
          </p:nvCxnSpPr>
          <p:spPr>
            <a:xfrm flipH="1">
              <a:off x="6605147" y="1472668"/>
              <a:ext cx="390000" cy="15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336" name="Google Shape;1336;p91"/>
          <p:cNvCxnSpPr/>
          <p:nvPr/>
        </p:nvCxnSpPr>
        <p:spPr>
          <a:xfrm>
            <a:off x="2731838" y="2782911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7" name="Google Shape;1337;p91"/>
          <p:cNvCxnSpPr/>
          <p:nvPr/>
        </p:nvCxnSpPr>
        <p:spPr>
          <a:xfrm>
            <a:off x="2807924" y="2782911"/>
            <a:ext cx="0" cy="244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8" name="Google Shape;1338;p91"/>
          <p:cNvSpPr txBox="1"/>
          <p:nvPr/>
        </p:nvSpPr>
        <p:spPr>
          <a:xfrm>
            <a:off x="4269882" y="1893216"/>
            <a:ext cx="52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9" name="Google Shape;1339;p91"/>
          <p:cNvSpPr txBox="1"/>
          <p:nvPr/>
        </p:nvSpPr>
        <p:spPr>
          <a:xfrm>
            <a:off x="4269882" y="2274216"/>
            <a:ext cx="52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0" name="Google Shape;1340;p91"/>
          <p:cNvSpPr txBox="1"/>
          <p:nvPr/>
        </p:nvSpPr>
        <p:spPr>
          <a:xfrm>
            <a:off x="4269882" y="2655216"/>
            <a:ext cx="52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1" name="Google Shape;1341;p91"/>
          <p:cNvSpPr txBox="1"/>
          <p:nvPr/>
        </p:nvSpPr>
        <p:spPr>
          <a:xfrm>
            <a:off x="4269882" y="3036216"/>
            <a:ext cx="52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pictograms in a data investigation</a:t>
            </a:r>
            <a:endParaRPr/>
          </a:p>
        </p:txBody>
      </p:sp>
      <p:graphicFrame>
        <p:nvGraphicFramePr>
          <p:cNvPr id="1347" name="Google Shape;1347;p92"/>
          <p:cNvGraphicFramePr/>
          <p:nvPr/>
        </p:nvGraphicFramePr>
        <p:xfrm>
          <a:off x="324000" y="92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{5B754C58-ACA0-4BBC-9D71-DF4F736011AA}</a:tableStyleId>
              </a:tblPr>
              <a:tblGrid>
                <a:gridCol w="1172925"/>
                <a:gridCol w="1608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Colour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black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silver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white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yellow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/>
                </a:tc>
              </a:tr>
            </a:tbl>
          </a:graphicData>
        </a:graphic>
      </p:graphicFrame>
      <p:pic>
        <p:nvPicPr>
          <p:cNvPr id="1348" name="Google Shape;134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1440" y="809988"/>
            <a:ext cx="807760" cy="89609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49" name="Google Shape;1349;p92"/>
          <p:cNvGraphicFramePr/>
          <p:nvPr/>
        </p:nvGraphicFramePr>
        <p:xfrm>
          <a:off x="3369600" y="985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{5B754C58-ACA0-4BBC-9D71-DF4F736011AA}</a:tableStyleId>
              </a:tblPr>
              <a:tblGrid>
                <a:gridCol w="1002650"/>
                <a:gridCol w="3215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black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silver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white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yellow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pic>
        <p:nvPicPr>
          <p:cNvPr id="1350" name="Google Shape;1350;p92"/>
          <p:cNvPicPr preferRelativeResize="0"/>
          <p:nvPr/>
        </p:nvPicPr>
        <p:blipFill rotWithShape="1">
          <a:blip r:embed="rId4">
            <a:alphaModFix/>
          </a:blip>
          <a:srcRect b="0" l="71079" r="0" t="72673"/>
          <a:stretch/>
        </p:blipFill>
        <p:spPr>
          <a:xfrm>
            <a:off x="4404275" y="2985925"/>
            <a:ext cx="468941" cy="2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1" name="Google Shape;1351;p92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4408057" y="3389607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2" name="Google Shape;1352;p92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4888357" y="3389582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3" name="Google Shape;1353;p92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5376219" y="3389632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4" name="Google Shape;1354;p92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5864082" y="3391832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5" name="Google Shape;1355;p92"/>
          <p:cNvPicPr preferRelativeResize="0"/>
          <p:nvPr/>
        </p:nvPicPr>
        <p:blipFill rotWithShape="1">
          <a:blip r:embed="rId4">
            <a:alphaModFix/>
          </a:blip>
          <a:srcRect b="75372" l="35262" r="33808" t="0"/>
          <a:stretch/>
        </p:blipFill>
        <p:spPr>
          <a:xfrm>
            <a:off x="4397748" y="2200863"/>
            <a:ext cx="504921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92"/>
          <p:cNvPicPr preferRelativeResize="0"/>
          <p:nvPr/>
        </p:nvPicPr>
        <p:blipFill rotWithShape="1">
          <a:blip r:embed="rId4">
            <a:alphaModFix/>
          </a:blip>
          <a:srcRect b="75372" l="35262" r="33808" t="0"/>
          <a:stretch/>
        </p:blipFill>
        <p:spPr>
          <a:xfrm>
            <a:off x="4902648" y="2200863"/>
            <a:ext cx="504921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7" name="Google Shape;1357;p92"/>
          <p:cNvPicPr preferRelativeResize="0"/>
          <p:nvPr/>
        </p:nvPicPr>
        <p:blipFill rotWithShape="1">
          <a:blip r:embed="rId4">
            <a:alphaModFix/>
          </a:blip>
          <a:srcRect b="75372" l="35262" r="33808" t="0"/>
          <a:stretch/>
        </p:blipFill>
        <p:spPr>
          <a:xfrm>
            <a:off x="5387748" y="2195938"/>
            <a:ext cx="504921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8" name="Google Shape;1358;p92"/>
          <p:cNvPicPr preferRelativeResize="0"/>
          <p:nvPr/>
        </p:nvPicPr>
        <p:blipFill rotWithShape="1">
          <a:blip r:embed="rId4">
            <a:alphaModFix/>
          </a:blip>
          <a:srcRect b="75372" l="35262" r="33808" t="0"/>
          <a:stretch/>
        </p:blipFill>
        <p:spPr>
          <a:xfrm>
            <a:off x="5853948" y="2195950"/>
            <a:ext cx="504921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9" name="Google Shape;1359;p92"/>
          <p:cNvPicPr preferRelativeResize="0"/>
          <p:nvPr/>
        </p:nvPicPr>
        <p:blipFill rotWithShape="1">
          <a:blip r:embed="rId4">
            <a:alphaModFix/>
          </a:blip>
          <a:srcRect b="75372" l="35262" r="33808" t="0"/>
          <a:stretch/>
        </p:blipFill>
        <p:spPr>
          <a:xfrm>
            <a:off x="6336923" y="2195950"/>
            <a:ext cx="504921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0" name="Google Shape;1360;p92"/>
          <p:cNvPicPr preferRelativeResize="0"/>
          <p:nvPr/>
        </p:nvPicPr>
        <p:blipFill rotWithShape="1">
          <a:blip r:embed="rId4">
            <a:alphaModFix/>
          </a:blip>
          <a:srcRect b="75372" l="35262" r="50185" t="0"/>
          <a:stretch/>
        </p:blipFill>
        <p:spPr>
          <a:xfrm>
            <a:off x="6828496" y="2197038"/>
            <a:ext cx="245525" cy="237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1" name="Google Shape;1361;p92"/>
          <p:cNvPicPr preferRelativeResize="0"/>
          <p:nvPr/>
        </p:nvPicPr>
        <p:blipFill rotWithShape="1">
          <a:blip r:embed="rId4">
            <a:alphaModFix/>
          </a:blip>
          <a:srcRect b="75372" l="70429" r="0" t="0"/>
          <a:stretch/>
        </p:blipFill>
        <p:spPr>
          <a:xfrm>
            <a:off x="4395900" y="1450850"/>
            <a:ext cx="487199" cy="231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2" name="Google Shape;1362;p92"/>
          <p:cNvPicPr preferRelativeResize="0"/>
          <p:nvPr/>
        </p:nvPicPr>
        <p:blipFill rotWithShape="1">
          <a:blip r:embed="rId4">
            <a:alphaModFix/>
          </a:blip>
          <a:srcRect b="39480" l="0" r="69818" t="33524"/>
          <a:stretch/>
        </p:blipFill>
        <p:spPr>
          <a:xfrm>
            <a:off x="4408046" y="3776626"/>
            <a:ext cx="480300" cy="245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3" name="Google Shape;1363;p92"/>
          <p:cNvPicPr preferRelativeResize="0"/>
          <p:nvPr/>
        </p:nvPicPr>
        <p:blipFill rotWithShape="1">
          <a:blip r:embed="rId4">
            <a:alphaModFix/>
          </a:blip>
          <a:srcRect b="41212" l="0" r="84571" t="33524"/>
          <a:stretch/>
        </p:blipFill>
        <p:spPr>
          <a:xfrm>
            <a:off x="4900648" y="3775263"/>
            <a:ext cx="245525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4" name="Google Shape;1364;p92"/>
          <p:cNvPicPr preferRelativeResize="0"/>
          <p:nvPr/>
        </p:nvPicPr>
        <p:blipFill rotWithShape="1">
          <a:blip r:embed="rId4">
            <a:alphaModFix/>
          </a:blip>
          <a:srcRect b="39874" l="35435" r="35212" t="34109"/>
          <a:stretch/>
        </p:blipFill>
        <p:spPr>
          <a:xfrm>
            <a:off x="4403575" y="1828220"/>
            <a:ext cx="487199" cy="246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92"/>
          <p:cNvPicPr preferRelativeResize="0"/>
          <p:nvPr/>
        </p:nvPicPr>
        <p:blipFill rotWithShape="1">
          <a:blip r:embed="rId4">
            <a:alphaModFix/>
          </a:blip>
          <a:srcRect b="39874" l="35435" r="35212" t="34109"/>
          <a:stretch/>
        </p:blipFill>
        <p:spPr>
          <a:xfrm>
            <a:off x="4898999" y="1822475"/>
            <a:ext cx="487199" cy="246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6" name="Google Shape;1366;p92"/>
          <p:cNvPicPr preferRelativeResize="0"/>
          <p:nvPr/>
        </p:nvPicPr>
        <p:blipFill rotWithShape="1">
          <a:blip r:embed="rId4">
            <a:alphaModFix/>
          </a:blip>
          <a:srcRect b="39874" l="35435" r="35212" t="34109"/>
          <a:stretch/>
        </p:blipFill>
        <p:spPr>
          <a:xfrm>
            <a:off x="5404953" y="1828220"/>
            <a:ext cx="487199" cy="246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7" name="Google Shape;1367;p92"/>
          <p:cNvPicPr preferRelativeResize="0"/>
          <p:nvPr/>
        </p:nvPicPr>
        <p:blipFill rotWithShape="1">
          <a:blip r:embed="rId4">
            <a:alphaModFix/>
          </a:blip>
          <a:srcRect b="39874" l="35435" r="50291" t="34108"/>
          <a:stretch/>
        </p:blipFill>
        <p:spPr>
          <a:xfrm>
            <a:off x="5902835" y="1839429"/>
            <a:ext cx="236915" cy="246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8" name="Google Shape;1368;p92"/>
          <p:cNvPicPr preferRelativeResize="0"/>
          <p:nvPr/>
        </p:nvPicPr>
        <p:blipFill rotWithShape="1">
          <a:blip r:embed="rId4">
            <a:alphaModFix/>
          </a:blip>
          <a:srcRect b="0" l="0" r="71184" t="75372"/>
          <a:stretch/>
        </p:blipFill>
        <p:spPr>
          <a:xfrm>
            <a:off x="4409750" y="1077825"/>
            <a:ext cx="470429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9" name="Google Shape;1369;p92"/>
          <p:cNvPicPr preferRelativeResize="0"/>
          <p:nvPr/>
        </p:nvPicPr>
        <p:blipFill rotWithShape="1">
          <a:blip r:embed="rId4">
            <a:alphaModFix/>
          </a:blip>
          <a:srcRect b="0" l="0" r="71184" t="75372"/>
          <a:stretch/>
        </p:blipFill>
        <p:spPr>
          <a:xfrm>
            <a:off x="4888935" y="1077825"/>
            <a:ext cx="470429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0" name="Google Shape;1370;p92"/>
          <p:cNvPicPr preferRelativeResize="0"/>
          <p:nvPr/>
        </p:nvPicPr>
        <p:blipFill rotWithShape="1">
          <a:blip r:embed="rId4">
            <a:alphaModFix/>
          </a:blip>
          <a:srcRect b="0" l="0" r="71184" t="75372"/>
          <a:stretch/>
        </p:blipFill>
        <p:spPr>
          <a:xfrm>
            <a:off x="5368120" y="1077825"/>
            <a:ext cx="470429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1" name="Google Shape;1371;p92"/>
          <p:cNvPicPr preferRelativeResize="0"/>
          <p:nvPr/>
        </p:nvPicPr>
        <p:blipFill rotWithShape="1">
          <a:blip r:embed="rId4">
            <a:alphaModFix/>
          </a:blip>
          <a:srcRect b="0" l="0" r="71184" t="75372"/>
          <a:stretch/>
        </p:blipFill>
        <p:spPr>
          <a:xfrm>
            <a:off x="5847304" y="1077825"/>
            <a:ext cx="470429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2" name="Google Shape;1372;p92"/>
          <p:cNvPicPr preferRelativeResize="0"/>
          <p:nvPr/>
        </p:nvPicPr>
        <p:blipFill rotWithShape="1">
          <a:blip r:embed="rId4">
            <a:alphaModFix/>
          </a:blip>
          <a:srcRect b="0" l="0" r="71184" t="75372"/>
          <a:stretch/>
        </p:blipFill>
        <p:spPr>
          <a:xfrm>
            <a:off x="6326489" y="1077825"/>
            <a:ext cx="470429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3" name="Google Shape;1373;p92"/>
          <p:cNvPicPr preferRelativeResize="0"/>
          <p:nvPr/>
        </p:nvPicPr>
        <p:blipFill rotWithShape="1">
          <a:blip r:embed="rId4">
            <a:alphaModFix/>
          </a:blip>
          <a:srcRect b="40214" l="71289" r="15063" t="35158"/>
          <a:stretch/>
        </p:blipFill>
        <p:spPr>
          <a:xfrm>
            <a:off x="4395893" y="4109484"/>
            <a:ext cx="245525" cy="252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4" name="Google Shape;1374;p92"/>
          <p:cNvPicPr preferRelativeResize="0"/>
          <p:nvPr/>
        </p:nvPicPr>
        <p:blipFill rotWithShape="1">
          <a:blip r:embed="rId4">
            <a:alphaModFix/>
          </a:blip>
          <a:srcRect b="0" l="35379" r="35211" t="73116"/>
          <a:stretch/>
        </p:blipFill>
        <p:spPr>
          <a:xfrm>
            <a:off x="4399150" y="2589437"/>
            <a:ext cx="477439" cy="249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5" name="Google Shape;1375;p92"/>
          <p:cNvPicPr preferRelativeResize="0"/>
          <p:nvPr/>
        </p:nvPicPr>
        <p:blipFill rotWithShape="1">
          <a:blip r:embed="rId4">
            <a:alphaModFix/>
          </a:blip>
          <a:srcRect b="0" l="35379" r="35211" t="73116"/>
          <a:stretch/>
        </p:blipFill>
        <p:spPr>
          <a:xfrm>
            <a:off x="4894319" y="2585650"/>
            <a:ext cx="477439" cy="249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6" name="Google Shape;1376;p92"/>
          <p:cNvPicPr preferRelativeResize="0"/>
          <p:nvPr/>
        </p:nvPicPr>
        <p:blipFill rotWithShape="1">
          <a:blip r:embed="rId4">
            <a:alphaModFix/>
          </a:blip>
          <a:srcRect b="1861" l="35379" r="50318" t="73116"/>
          <a:stretch/>
        </p:blipFill>
        <p:spPr>
          <a:xfrm>
            <a:off x="5389487" y="2588798"/>
            <a:ext cx="232171" cy="231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7" name="Google Shape;1377;p92"/>
          <p:cNvPicPr preferRelativeResize="0"/>
          <p:nvPr/>
        </p:nvPicPr>
        <p:blipFill rotWithShape="1">
          <a:blip r:embed="rId4">
            <a:alphaModFix/>
          </a:blip>
          <a:srcRect b="0" l="71079" r="0" t="72673"/>
          <a:stretch/>
        </p:blipFill>
        <p:spPr>
          <a:xfrm>
            <a:off x="4890979" y="2985925"/>
            <a:ext cx="468941" cy="2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8" name="Google Shape;1378;p92"/>
          <p:cNvPicPr preferRelativeResize="0"/>
          <p:nvPr/>
        </p:nvPicPr>
        <p:blipFill rotWithShape="1">
          <a:blip r:embed="rId4">
            <a:alphaModFix/>
          </a:blip>
          <a:srcRect b="0" l="71079" r="0" t="72673"/>
          <a:stretch/>
        </p:blipFill>
        <p:spPr>
          <a:xfrm>
            <a:off x="5377683" y="2985926"/>
            <a:ext cx="468941" cy="2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9" name="Google Shape;1379;p92"/>
          <p:cNvPicPr preferRelativeResize="0"/>
          <p:nvPr/>
        </p:nvPicPr>
        <p:blipFill rotWithShape="1">
          <a:blip r:embed="rId4">
            <a:alphaModFix/>
          </a:blip>
          <a:srcRect b="1458" l="71080" r="14136" t="72673"/>
          <a:stretch/>
        </p:blipFill>
        <p:spPr>
          <a:xfrm>
            <a:off x="5864387" y="2998508"/>
            <a:ext cx="228039" cy="227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0" name="Google Shape;1380;p92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7645669" y="2163344"/>
            <a:ext cx="480287" cy="22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92"/>
          <p:cNvSpPr txBox="1"/>
          <p:nvPr/>
        </p:nvSpPr>
        <p:spPr>
          <a:xfrm>
            <a:off x="7645675" y="2392925"/>
            <a:ext cx="120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2 cars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pictograms in a data investigation</a:t>
            </a:r>
            <a:endParaRPr/>
          </a:p>
        </p:txBody>
      </p:sp>
      <p:pic>
        <p:nvPicPr>
          <p:cNvPr id="1387" name="Google Shape;138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2440" y="756888"/>
            <a:ext cx="807760" cy="89609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88" name="Google Shape;1388;p93"/>
          <p:cNvGraphicFramePr/>
          <p:nvPr/>
        </p:nvGraphicFramePr>
        <p:xfrm>
          <a:off x="321600" y="75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{5B754C58-ACA0-4BBC-9D71-DF4F736011AA}</a:tableStyleId>
              </a:tblPr>
              <a:tblGrid>
                <a:gridCol w="1002650"/>
                <a:gridCol w="3215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red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green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blue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black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silver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grey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white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yellow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180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pic>
        <p:nvPicPr>
          <p:cNvPr id="1389" name="Google Shape;1389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1360057" y="3161007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1840357" y="3160982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1" name="Google Shape;1391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2328219" y="3161032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2" name="Google Shape;1392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2816082" y="3163232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3" name="Google Shape;1393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4597669" y="1934744"/>
            <a:ext cx="480287" cy="22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p93"/>
          <p:cNvSpPr txBox="1"/>
          <p:nvPr/>
        </p:nvSpPr>
        <p:spPr>
          <a:xfrm>
            <a:off x="4597675" y="2164325"/>
            <a:ext cx="120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2 cars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5" name="Google Shape;1395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1362069" y="833808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6" name="Google Shape;1396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1819269" y="833808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7" name="Google Shape;1397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2276469" y="833808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8" name="Google Shape;1398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2733669" y="833808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3190869" y="833808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0" name="Google Shape;1400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1362069" y="1212920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1" name="Google Shape;1401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1362069" y="1592045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2" name="Google Shape;1402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1819269" y="1592045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3" name="Google Shape;1403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2276469" y="1592045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4" name="Google Shape;1404;p93"/>
          <p:cNvPicPr preferRelativeResize="0"/>
          <p:nvPr/>
        </p:nvPicPr>
        <p:blipFill rotWithShape="1">
          <a:blip r:embed="rId4">
            <a:alphaModFix/>
          </a:blip>
          <a:srcRect b="75372" l="0" r="84961" t="0"/>
          <a:stretch/>
        </p:blipFill>
        <p:spPr>
          <a:xfrm>
            <a:off x="2741384" y="1592050"/>
            <a:ext cx="245525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5" name="Google Shape;1405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1362069" y="1974558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6" name="Google Shape;1406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1819269" y="1974558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7" name="Google Shape;1407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2276469" y="1974558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8" name="Google Shape;1408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2733669" y="1974558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9" name="Google Shape;1409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3190869" y="1974558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p93"/>
          <p:cNvPicPr preferRelativeResize="0"/>
          <p:nvPr/>
        </p:nvPicPr>
        <p:blipFill rotWithShape="1">
          <a:blip r:embed="rId4">
            <a:alphaModFix/>
          </a:blip>
          <a:srcRect b="75372" l="0" r="84961" t="0"/>
          <a:stretch/>
        </p:blipFill>
        <p:spPr>
          <a:xfrm>
            <a:off x="3648084" y="1974550"/>
            <a:ext cx="245525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1" name="Google Shape;1411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1368457" y="2365945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2" name="Google Shape;1412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1825657" y="2365945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3" name="Google Shape;1413;p93"/>
          <p:cNvPicPr preferRelativeResize="0"/>
          <p:nvPr/>
        </p:nvPicPr>
        <p:blipFill rotWithShape="1">
          <a:blip r:embed="rId4">
            <a:alphaModFix/>
          </a:blip>
          <a:srcRect b="75372" l="0" r="84961" t="0"/>
          <a:stretch/>
        </p:blipFill>
        <p:spPr>
          <a:xfrm>
            <a:off x="2307659" y="2365925"/>
            <a:ext cx="245525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4" name="Google Shape;1414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1368444" y="2763445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5" name="Google Shape;1415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1825644" y="2763445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6" name="Google Shape;1416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2282844" y="2763445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7" name="Google Shape;1417;p93"/>
          <p:cNvPicPr preferRelativeResize="0"/>
          <p:nvPr/>
        </p:nvPicPr>
        <p:blipFill rotWithShape="1">
          <a:blip r:embed="rId4">
            <a:alphaModFix/>
          </a:blip>
          <a:srcRect b="75372" l="0" r="84961" t="0"/>
          <a:stretch/>
        </p:blipFill>
        <p:spPr>
          <a:xfrm>
            <a:off x="2747759" y="2763450"/>
            <a:ext cx="245525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8" name="Google Shape;1418;p93"/>
          <p:cNvPicPr preferRelativeResize="0"/>
          <p:nvPr/>
        </p:nvPicPr>
        <p:blipFill rotWithShape="1">
          <a:blip r:embed="rId4">
            <a:alphaModFix/>
          </a:blip>
          <a:srcRect b="75372" l="0" r="70581" t="0"/>
          <a:stretch/>
        </p:blipFill>
        <p:spPr>
          <a:xfrm>
            <a:off x="1368444" y="3484270"/>
            <a:ext cx="480287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9" name="Google Shape;1419;p93"/>
          <p:cNvPicPr preferRelativeResize="0"/>
          <p:nvPr/>
        </p:nvPicPr>
        <p:blipFill rotWithShape="1">
          <a:blip r:embed="rId4">
            <a:alphaModFix/>
          </a:blip>
          <a:srcRect b="75372" l="0" r="84961" t="0"/>
          <a:stretch/>
        </p:blipFill>
        <p:spPr>
          <a:xfrm>
            <a:off x="1833359" y="3484275"/>
            <a:ext cx="245525" cy="22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0" name="Google Shape;1420;p93"/>
          <p:cNvPicPr preferRelativeResize="0"/>
          <p:nvPr/>
        </p:nvPicPr>
        <p:blipFill rotWithShape="1">
          <a:blip r:embed="rId4">
            <a:alphaModFix/>
          </a:blip>
          <a:srcRect b="75372" l="0" r="84961" t="0"/>
          <a:stretch/>
        </p:blipFill>
        <p:spPr>
          <a:xfrm>
            <a:off x="1368459" y="3898100"/>
            <a:ext cx="245525" cy="22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1" name="Google Shape;1421;p93"/>
          <p:cNvSpPr txBox="1"/>
          <p:nvPr/>
        </p:nvSpPr>
        <p:spPr>
          <a:xfrm>
            <a:off x="5546925" y="742413"/>
            <a:ext cx="3095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has found that there were more black cars than red in the hour she collected data.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93"/>
          <p:cNvSpPr txBox="1"/>
          <p:nvPr/>
        </p:nvSpPr>
        <p:spPr>
          <a:xfrm>
            <a:off x="4785550" y="2846588"/>
            <a:ext cx="3456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she were to collect more data, would a scale of 2 be suitable?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93"/>
          <p:cNvSpPr txBox="1"/>
          <p:nvPr/>
        </p:nvSpPr>
        <p:spPr>
          <a:xfrm>
            <a:off x="4824000" y="3765900"/>
            <a:ext cx="4209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scale would have to change because of more data and the icon may need to change as well.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94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Why might Sofia’s icon need to change if the data set </a:t>
            </a:r>
            <a:r>
              <a:rPr lang="en-GB" sz="2000"/>
              <a:t>increased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1429" name="Google Shape;1429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pictograms in a data investigation</a:t>
            </a:r>
            <a:endParaRPr/>
          </a:p>
        </p:txBody>
      </p:sp>
      <p:sp>
        <p:nvSpPr>
          <p:cNvPr id="1430" name="Google Shape;1430;p94"/>
          <p:cNvSpPr txBox="1"/>
          <p:nvPr/>
        </p:nvSpPr>
        <p:spPr>
          <a:xfrm>
            <a:off x="381575" y="1282050"/>
            <a:ext cx="8272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the icon was now representing 20 cars. How would you show 5 cars? It would be difficult to know what a quarter of the icon would be.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31" name="Google Shape;1431;p94"/>
          <p:cNvPicPr preferRelativeResize="0"/>
          <p:nvPr/>
        </p:nvPicPr>
        <p:blipFill rotWithShape="1">
          <a:blip r:embed="rId3">
            <a:alphaModFix/>
          </a:blip>
          <a:srcRect b="75372" l="0" r="70581" t="0"/>
          <a:stretch/>
        </p:blipFill>
        <p:spPr>
          <a:xfrm>
            <a:off x="1204524" y="2239999"/>
            <a:ext cx="1125124" cy="53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2" name="Google Shape;1432;p94"/>
          <p:cNvPicPr preferRelativeResize="0"/>
          <p:nvPr/>
        </p:nvPicPr>
        <p:blipFill rotWithShape="1">
          <a:blip r:embed="rId3">
            <a:alphaModFix/>
          </a:blip>
          <a:srcRect b="75372" l="0" r="85395" t="0"/>
          <a:stretch/>
        </p:blipFill>
        <p:spPr>
          <a:xfrm>
            <a:off x="3761449" y="2240000"/>
            <a:ext cx="558550" cy="53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94"/>
          <p:cNvPicPr preferRelativeResize="0"/>
          <p:nvPr/>
        </p:nvPicPr>
        <p:blipFill rotWithShape="1">
          <a:blip r:embed="rId3">
            <a:alphaModFix/>
          </a:blip>
          <a:srcRect b="88303" l="0" r="85395" t="0"/>
          <a:stretch/>
        </p:blipFill>
        <p:spPr>
          <a:xfrm>
            <a:off x="5584425" y="2240000"/>
            <a:ext cx="558550" cy="25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" name="Google Shape;1434;p94"/>
          <p:cNvPicPr preferRelativeResize="0"/>
          <p:nvPr/>
        </p:nvPicPr>
        <p:blipFill rotWithShape="1">
          <a:blip r:embed="rId3">
            <a:alphaModFix/>
          </a:blip>
          <a:srcRect b="75372" l="0" r="92772" t="0"/>
          <a:stretch/>
        </p:blipFill>
        <p:spPr>
          <a:xfrm>
            <a:off x="6679125" y="2240000"/>
            <a:ext cx="276426" cy="53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94"/>
          <p:cNvSpPr txBox="1"/>
          <p:nvPr/>
        </p:nvSpPr>
        <p:spPr>
          <a:xfrm>
            <a:off x="6211875" y="2226575"/>
            <a:ext cx="52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or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94"/>
          <p:cNvSpPr txBox="1"/>
          <p:nvPr>
            <p:ph idx="1" type="body"/>
          </p:nvPr>
        </p:nvSpPr>
        <p:spPr>
          <a:xfrm>
            <a:off x="324000" y="293535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might be a </a:t>
            </a:r>
            <a:r>
              <a:rPr lang="en-GB" sz="2000"/>
              <a:t>better icon that still is representative of the context?</a:t>
            </a:r>
            <a:endParaRPr sz="2000"/>
          </a:p>
        </p:txBody>
      </p:sp>
      <p:sp>
        <p:nvSpPr>
          <p:cNvPr id="1437" name="Google Shape;1437;p94"/>
          <p:cNvSpPr txBox="1"/>
          <p:nvPr/>
        </p:nvSpPr>
        <p:spPr>
          <a:xfrm>
            <a:off x="503650" y="3747000"/>
            <a:ext cx="840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Perhaps it could be the wheel, steering wheel or license plate.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438" name="Google Shape;1438;p94"/>
          <p:cNvGrpSpPr/>
          <p:nvPr/>
        </p:nvGrpSpPr>
        <p:grpSpPr>
          <a:xfrm>
            <a:off x="2709125" y="4239600"/>
            <a:ext cx="558600" cy="558600"/>
            <a:chOff x="2190175" y="4326950"/>
            <a:chExt cx="558600" cy="558600"/>
          </a:xfrm>
        </p:grpSpPr>
        <p:sp>
          <p:nvSpPr>
            <p:cNvPr id="1439" name="Google Shape;1439;p94"/>
            <p:cNvSpPr/>
            <p:nvPr/>
          </p:nvSpPr>
          <p:spPr>
            <a:xfrm>
              <a:off x="2190175" y="4326950"/>
              <a:ext cx="558600" cy="558600"/>
            </a:xfrm>
            <a:prstGeom prst="donut">
              <a:avLst>
                <a:gd fmla="val 16929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40" name="Google Shape;1440;p94"/>
            <p:cNvCxnSpPr>
              <a:stCxn id="1439" idx="4"/>
              <a:endCxn id="1439" idx="0"/>
            </p:cNvCxnSpPr>
            <p:nvPr/>
          </p:nvCxnSpPr>
          <p:spPr>
            <a:xfrm rot="10800000">
              <a:off x="2469475" y="4326950"/>
              <a:ext cx="0" cy="558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1" name="Google Shape;1441;p94"/>
            <p:cNvCxnSpPr>
              <a:stCxn id="1439" idx="5"/>
              <a:endCxn id="1439" idx="1"/>
            </p:cNvCxnSpPr>
            <p:nvPr/>
          </p:nvCxnSpPr>
          <p:spPr>
            <a:xfrm rot="10800000">
              <a:off x="2271870" y="4408645"/>
              <a:ext cx="395100" cy="395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2" name="Google Shape;1442;p94"/>
            <p:cNvCxnSpPr>
              <a:stCxn id="1439" idx="6"/>
              <a:endCxn id="1439" idx="2"/>
            </p:cNvCxnSpPr>
            <p:nvPr/>
          </p:nvCxnSpPr>
          <p:spPr>
            <a:xfrm rot="10800000">
              <a:off x="2190175" y="4606250"/>
              <a:ext cx="5586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3" name="Google Shape;1443;p94"/>
            <p:cNvCxnSpPr>
              <a:stCxn id="1439" idx="7"/>
              <a:endCxn id="1439" idx="3"/>
            </p:cNvCxnSpPr>
            <p:nvPr/>
          </p:nvCxnSpPr>
          <p:spPr>
            <a:xfrm flipH="1">
              <a:off x="2271870" y="4408755"/>
              <a:ext cx="395100" cy="395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95"/>
          <p:cNvSpPr txBox="1"/>
          <p:nvPr>
            <p:ph idx="1" type="body"/>
          </p:nvPr>
        </p:nvSpPr>
        <p:spPr>
          <a:xfrm>
            <a:off x="324000" y="759300"/>
            <a:ext cx="4500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Aisha wants to persuade her teachers that students do not have enough time to complete homework.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She collects data about the number of extra-curricular clubs her classmates attend. 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3, 2, 0, 5, 2, 7, 1, 1, 2, 4, 3, 6, 3, 4, 5, 1, 0, 1, 3, 4, 2, 1, 4, 5, 6, 1, 3, 2, 4, 1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Complete this pictogram to show  Aisha’s </a:t>
            </a:r>
            <a:r>
              <a:rPr lang="en-GB" sz="1800"/>
              <a:t>findings.</a:t>
            </a:r>
            <a:endParaRPr sz="1800"/>
          </a:p>
        </p:txBody>
      </p:sp>
      <p:sp>
        <p:nvSpPr>
          <p:cNvPr id="1449" name="Google Shape;1449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pictograms in a data investigation</a:t>
            </a:r>
            <a:endParaRPr/>
          </a:p>
        </p:txBody>
      </p:sp>
      <p:graphicFrame>
        <p:nvGraphicFramePr>
          <p:cNvPr id="1450" name="Google Shape;1450;p95"/>
          <p:cNvGraphicFramePr/>
          <p:nvPr/>
        </p:nvGraphicFramePr>
        <p:xfrm>
          <a:off x="5293950" y="100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{5B754C58-ACA0-4BBC-9D71-DF4F736011AA}</a:tableStyleId>
              </a:tblPr>
              <a:tblGrid>
                <a:gridCol w="382850"/>
                <a:gridCol w="2945850"/>
              </a:tblGrid>
              <a:tr h="33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4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1451" name="Google Shape;1451;p95"/>
          <p:cNvSpPr txBox="1"/>
          <p:nvPr/>
        </p:nvSpPr>
        <p:spPr>
          <a:xfrm>
            <a:off x="5269475" y="3917550"/>
            <a:ext cx="388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Key         = 2 students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95"/>
          <p:cNvSpPr/>
          <p:nvPr/>
        </p:nvSpPr>
        <p:spPr>
          <a:xfrm>
            <a:off x="5972400" y="4006211"/>
            <a:ext cx="284400" cy="2844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9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What does your pictogram show?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What other information may support Aisha’s claim that students do not have enough time to complete homework?</a:t>
            </a:r>
            <a:endParaRPr sz="18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58" name="Google Shape;1458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pictograms in a data investigation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9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Here is a pictogram from a charity about the sales of clothes in </a:t>
            </a:r>
            <a:r>
              <a:rPr lang="en-GB" sz="1800"/>
              <a:t>three</a:t>
            </a:r>
            <a:r>
              <a:rPr lang="en-GB" sz="1800"/>
              <a:t> of their shops over a two week period.  </a:t>
            </a:r>
            <a:endParaRPr sz="18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64" name="Google Shape;1464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pictograms in a data investigation</a:t>
            </a:r>
            <a:endParaRPr/>
          </a:p>
        </p:txBody>
      </p:sp>
      <p:cxnSp>
        <p:nvCxnSpPr>
          <p:cNvPr id="1465" name="Google Shape;1465;p97"/>
          <p:cNvCxnSpPr/>
          <p:nvPr/>
        </p:nvCxnSpPr>
        <p:spPr>
          <a:xfrm>
            <a:off x="1511000" y="1621650"/>
            <a:ext cx="0" cy="1900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6" name="Google Shape;1466;p97"/>
          <p:cNvCxnSpPr/>
          <p:nvPr/>
        </p:nvCxnSpPr>
        <p:spPr>
          <a:xfrm>
            <a:off x="640825" y="2197575"/>
            <a:ext cx="3670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7" name="Google Shape;1467;p97"/>
          <p:cNvCxnSpPr/>
          <p:nvPr/>
        </p:nvCxnSpPr>
        <p:spPr>
          <a:xfrm>
            <a:off x="640825" y="2907075"/>
            <a:ext cx="3670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8" name="Google Shape;1468;p97"/>
          <p:cNvSpPr txBox="1"/>
          <p:nvPr/>
        </p:nvSpPr>
        <p:spPr>
          <a:xfrm>
            <a:off x="595400" y="1698300"/>
            <a:ext cx="9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shop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9" name="Google Shape;1469;p97"/>
          <p:cNvSpPr txBox="1"/>
          <p:nvPr/>
        </p:nvSpPr>
        <p:spPr>
          <a:xfrm>
            <a:off x="595400" y="2321475"/>
            <a:ext cx="9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shop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97"/>
          <p:cNvSpPr txBox="1"/>
          <p:nvPr/>
        </p:nvSpPr>
        <p:spPr>
          <a:xfrm>
            <a:off x="595400" y="2944650"/>
            <a:ext cx="9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shop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1" name="Google Shape;1471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0023" y="1627850"/>
            <a:ext cx="534100" cy="5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2" name="Google Shape;147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3148" y="1627850"/>
            <a:ext cx="534100" cy="5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3" name="Google Shape;147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6273" y="1627850"/>
            <a:ext cx="534100" cy="5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4" name="Google Shape;147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9398" y="1620000"/>
            <a:ext cx="534100" cy="5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5" name="Google Shape;1475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0023" y="2267463"/>
            <a:ext cx="534100" cy="5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6" name="Google Shape;147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0023" y="2976963"/>
            <a:ext cx="534100" cy="5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7" name="Google Shape;1477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3148" y="2976963"/>
            <a:ext cx="534100" cy="5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8" name="Google Shape;147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6273" y="2976963"/>
            <a:ext cx="534100" cy="5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9" name="Google Shape;1479;p97"/>
          <p:cNvPicPr preferRelativeResize="0"/>
          <p:nvPr/>
        </p:nvPicPr>
        <p:blipFill rotWithShape="1">
          <a:blip r:embed="rId3">
            <a:alphaModFix/>
          </a:blip>
          <a:srcRect b="0" l="0" r="49849" t="0"/>
          <a:stretch/>
        </p:blipFill>
        <p:spPr>
          <a:xfrm>
            <a:off x="3349399" y="2976975"/>
            <a:ext cx="267850" cy="56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0" name="Google Shape;148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224" y="3686475"/>
            <a:ext cx="534100" cy="56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1" name="Google Shape;1481;p97"/>
          <p:cNvSpPr txBox="1"/>
          <p:nvPr/>
        </p:nvSpPr>
        <p:spPr>
          <a:xfrm>
            <a:off x="595400" y="3686475"/>
            <a:ext cx="317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Key           = 40 items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2" name="Google Shape;1482;p97"/>
          <p:cNvSpPr txBox="1"/>
          <p:nvPr/>
        </p:nvSpPr>
        <p:spPr>
          <a:xfrm>
            <a:off x="4930375" y="1689663"/>
            <a:ext cx="4105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charity can see that shop 2 is not in line with the other shops.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might the charity want to investigate next?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98"/>
          <p:cNvSpPr txBox="1"/>
          <p:nvPr>
            <p:ph idx="1" type="body"/>
          </p:nvPr>
        </p:nvSpPr>
        <p:spPr>
          <a:xfrm>
            <a:off x="324000" y="759300"/>
            <a:ext cx="4623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Aisha wants to persuade her teachers that students do not have enough time to complete homework.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She collects data about the number of extra-curricular clubs her classmates attend. 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3, 2, 0, 5, 2, 7, 1, 1, 2, 4, 3, 6, 3, 4, 5, 1, 0, 1, 3, 4, 2, 1, 4, 5, 6, 1, 3, 2, 4, 1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Complete this pictogram to show  Aisha’s findings.</a:t>
            </a:r>
            <a:endParaRPr sz="1800"/>
          </a:p>
        </p:txBody>
      </p:sp>
      <p:sp>
        <p:nvSpPr>
          <p:cNvPr id="1488" name="Google Shape;1488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pictograms in a data investigation</a:t>
            </a:r>
            <a:endParaRPr/>
          </a:p>
        </p:txBody>
      </p:sp>
      <p:graphicFrame>
        <p:nvGraphicFramePr>
          <p:cNvPr id="1489" name="Google Shape;1489;p98"/>
          <p:cNvGraphicFramePr/>
          <p:nvPr/>
        </p:nvGraphicFramePr>
        <p:xfrm>
          <a:off x="5293950" y="100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{5B754C58-ACA0-4BBC-9D71-DF4F736011AA}</a:tableStyleId>
              </a:tblPr>
              <a:tblGrid>
                <a:gridCol w="382850"/>
                <a:gridCol w="2945850"/>
              </a:tblGrid>
              <a:tr h="33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38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49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1490" name="Google Shape;1490;p98"/>
          <p:cNvSpPr txBox="1"/>
          <p:nvPr/>
        </p:nvSpPr>
        <p:spPr>
          <a:xfrm>
            <a:off x="5269475" y="3917550"/>
            <a:ext cx="388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Key         = 2 students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98"/>
          <p:cNvSpPr/>
          <p:nvPr/>
        </p:nvSpPr>
        <p:spPr>
          <a:xfrm>
            <a:off x="5718650" y="1036061"/>
            <a:ext cx="284400" cy="2844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98"/>
          <p:cNvSpPr/>
          <p:nvPr/>
        </p:nvSpPr>
        <p:spPr>
          <a:xfrm>
            <a:off x="5972400" y="4006211"/>
            <a:ext cx="284400" cy="2844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3" name="Google Shape;1493;p98"/>
          <p:cNvSpPr/>
          <p:nvPr/>
        </p:nvSpPr>
        <p:spPr>
          <a:xfrm>
            <a:off x="5718650" y="1383435"/>
            <a:ext cx="284400" cy="2844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98"/>
          <p:cNvSpPr/>
          <p:nvPr/>
        </p:nvSpPr>
        <p:spPr>
          <a:xfrm>
            <a:off x="6063100" y="1383435"/>
            <a:ext cx="284400" cy="2844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98"/>
          <p:cNvSpPr/>
          <p:nvPr/>
        </p:nvSpPr>
        <p:spPr>
          <a:xfrm>
            <a:off x="6407550" y="1383435"/>
            <a:ext cx="284400" cy="2844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96" name="Google Shape;1496;p98"/>
          <p:cNvGrpSpPr/>
          <p:nvPr/>
        </p:nvGrpSpPr>
        <p:grpSpPr>
          <a:xfrm>
            <a:off x="6752000" y="1357095"/>
            <a:ext cx="345750" cy="316799"/>
            <a:chOff x="6752000" y="1357025"/>
            <a:chExt cx="345750" cy="337200"/>
          </a:xfrm>
        </p:grpSpPr>
        <p:sp>
          <p:nvSpPr>
            <p:cNvPr id="1497" name="Google Shape;1497;p98"/>
            <p:cNvSpPr/>
            <p:nvPr/>
          </p:nvSpPr>
          <p:spPr>
            <a:xfrm>
              <a:off x="6752000" y="1379160"/>
              <a:ext cx="284400" cy="284400"/>
            </a:xfrm>
            <a:prstGeom prst="smileyFace">
              <a:avLst>
                <a:gd fmla="val 4653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8" name="Google Shape;1498;p98"/>
            <p:cNvSpPr/>
            <p:nvPr/>
          </p:nvSpPr>
          <p:spPr>
            <a:xfrm>
              <a:off x="6897950" y="1357025"/>
              <a:ext cx="199800" cy="337200"/>
            </a:xfrm>
            <a:prstGeom prst="rect">
              <a:avLst/>
            </a:prstGeom>
            <a:solidFill>
              <a:srgbClr val="E6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99" name="Google Shape;1499;p98"/>
          <p:cNvSpPr/>
          <p:nvPr/>
        </p:nvSpPr>
        <p:spPr>
          <a:xfrm>
            <a:off x="5726382" y="1728317"/>
            <a:ext cx="284400" cy="2844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0" name="Google Shape;1500;p98"/>
          <p:cNvSpPr/>
          <p:nvPr/>
        </p:nvSpPr>
        <p:spPr>
          <a:xfrm>
            <a:off x="6070832" y="1728317"/>
            <a:ext cx="284400" cy="2844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01" name="Google Shape;1501;p98"/>
          <p:cNvGrpSpPr/>
          <p:nvPr/>
        </p:nvGrpSpPr>
        <p:grpSpPr>
          <a:xfrm>
            <a:off x="6415282" y="1701976"/>
            <a:ext cx="345750" cy="316799"/>
            <a:chOff x="6752000" y="1357025"/>
            <a:chExt cx="345750" cy="337200"/>
          </a:xfrm>
        </p:grpSpPr>
        <p:sp>
          <p:nvSpPr>
            <p:cNvPr id="1502" name="Google Shape;1502;p98"/>
            <p:cNvSpPr/>
            <p:nvPr/>
          </p:nvSpPr>
          <p:spPr>
            <a:xfrm>
              <a:off x="6752000" y="1379160"/>
              <a:ext cx="284400" cy="284400"/>
            </a:xfrm>
            <a:prstGeom prst="smileyFace">
              <a:avLst>
                <a:gd fmla="val 4653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3" name="Google Shape;1503;p98"/>
            <p:cNvSpPr/>
            <p:nvPr/>
          </p:nvSpPr>
          <p:spPr>
            <a:xfrm>
              <a:off x="6897950" y="1357025"/>
              <a:ext cx="199800" cy="337200"/>
            </a:xfrm>
            <a:prstGeom prst="rect">
              <a:avLst/>
            </a:prstGeom>
            <a:solidFill>
              <a:srgbClr val="E6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04" name="Google Shape;1504;p98"/>
          <p:cNvSpPr/>
          <p:nvPr/>
        </p:nvSpPr>
        <p:spPr>
          <a:xfrm>
            <a:off x="5726390" y="2075724"/>
            <a:ext cx="284400" cy="2844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5" name="Google Shape;1505;p98"/>
          <p:cNvSpPr/>
          <p:nvPr/>
        </p:nvSpPr>
        <p:spPr>
          <a:xfrm>
            <a:off x="6070840" y="2075724"/>
            <a:ext cx="284400" cy="2844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06" name="Google Shape;1506;p98"/>
          <p:cNvGrpSpPr/>
          <p:nvPr/>
        </p:nvGrpSpPr>
        <p:grpSpPr>
          <a:xfrm>
            <a:off x="6415290" y="2049403"/>
            <a:ext cx="345750" cy="316799"/>
            <a:chOff x="6752000" y="1357025"/>
            <a:chExt cx="345750" cy="337200"/>
          </a:xfrm>
        </p:grpSpPr>
        <p:sp>
          <p:nvSpPr>
            <p:cNvPr id="1507" name="Google Shape;1507;p98"/>
            <p:cNvSpPr/>
            <p:nvPr/>
          </p:nvSpPr>
          <p:spPr>
            <a:xfrm>
              <a:off x="6752000" y="1379160"/>
              <a:ext cx="284400" cy="284400"/>
            </a:xfrm>
            <a:prstGeom prst="smileyFace">
              <a:avLst>
                <a:gd fmla="val 4653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8" name="Google Shape;1508;p98"/>
            <p:cNvSpPr/>
            <p:nvPr/>
          </p:nvSpPr>
          <p:spPr>
            <a:xfrm>
              <a:off x="6897950" y="1357025"/>
              <a:ext cx="199800" cy="337200"/>
            </a:xfrm>
            <a:prstGeom prst="rect">
              <a:avLst/>
            </a:prstGeom>
            <a:solidFill>
              <a:srgbClr val="E6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09" name="Google Shape;1509;p98"/>
          <p:cNvSpPr/>
          <p:nvPr/>
        </p:nvSpPr>
        <p:spPr>
          <a:xfrm>
            <a:off x="5739465" y="2423149"/>
            <a:ext cx="284400" cy="2844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98"/>
          <p:cNvSpPr/>
          <p:nvPr/>
        </p:nvSpPr>
        <p:spPr>
          <a:xfrm>
            <a:off x="6083915" y="2423149"/>
            <a:ext cx="284400" cy="2844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11" name="Google Shape;1511;p98"/>
          <p:cNvGrpSpPr/>
          <p:nvPr/>
        </p:nvGrpSpPr>
        <p:grpSpPr>
          <a:xfrm>
            <a:off x="6428365" y="2396738"/>
            <a:ext cx="345750" cy="316800"/>
            <a:chOff x="6752000" y="1357025"/>
            <a:chExt cx="345750" cy="316800"/>
          </a:xfrm>
        </p:grpSpPr>
        <p:sp>
          <p:nvSpPr>
            <p:cNvPr id="1512" name="Google Shape;1512;p98"/>
            <p:cNvSpPr/>
            <p:nvPr/>
          </p:nvSpPr>
          <p:spPr>
            <a:xfrm>
              <a:off x="6752000" y="1379160"/>
              <a:ext cx="284400" cy="284400"/>
            </a:xfrm>
            <a:prstGeom prst="smileyFace">
              <a:avLst>
                <a:gd fmla="val 4653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3" name="Google Shape;1513;p98"/>
            <p:cNvSpPr/>
            <p:nvPr/>
          </p:nvSpPr>
          <p:spPr>
            <a:xfrm>
              <a:off x="6897950" y="1357025"/>
              <a:ext cx="199800" cy="316800"/>
            </a:xfrm>
            <a:prstGeom prst="rect">
              <a:avLst/>
            </a:prstGeom>
            <a:solidFill>
              <a:srgbClr val="E6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14" name="Google Shape;1514;p98"/>
          <p:cNvSpPr/>
          <p:nvPr/>
        </p:nvSpPr>
        <p:spPr>
          <a:xfrm>
            <a:off x="5737627" y="2775712"/>
            <a:ext cx="284400" cy="2844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15" name="Google Shape;1515;p98"/>
          <p:cNvGrpSpPr/>
          <p:nvPr/>
        </p:nvGrpSpPr>
        <p:grpSpPr>
          <a:xfrm>
            <a:off x="6082077" y="2749249"/>
            <a:ext cx="345748" cy="316732"/>
            <a:chOff x="6752000" y="1357024"/>
            <a:chExt cx="345748" cy="337200"/>
          </a:xfrm>
        </p:grpSpPr>
        <p:sp>
          <p:nvSpPr>
            <p:cNvPr id="1516" name="Google Shape;1516;p98"/>
            <p:cNvSpPr/>
            <p:nvPr/>
          </p:nvSpPr>
          <p:spPr>
            <a:xfrm>
              <a:off x="6752000" y="1379160"/>
              <a:ext cx="284400" cy="284400"/>
            </a:xfrm>
            <a:prstGeom prst="smileyFace">
              <a:avLst>
                <a:gd fmla="val 4653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7" name="Google Shape;1517;p98"/>
            <p:cNvSpPr/>
            <p:nvPr/>
          </p:nvSpPr>
          <p:spPr>
            <a:xfrm>
              <a:off x="6897948" y="1357024"/>
              <a:ext cx="199800" cy="337200"/>
            </a:xfrm>
            <a:prstGeom prst="rect">
              <a:avLst/>
            </a:prstGeom>
            <a:solidFill>
              <a:srgbClr val="E6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18" name="Google Shape;1518;p98"/>
          <p:cNvSpPr/>
          <p:nvPr/>
        </p:nvSpPr>
        <p:spPr>
          <a:xfrm>
            <a:off x="5710969" y="3112898"/>
            <a:ext cx="284400" cy="284400"/>
          </a:xfrm>
          <a:prstGeom prst="smileyFace">
            <a:avLst>
              <a:gd fmla="val 4653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19" name="Google Shape;1519;p98"/>
          <p:cNvGrpSpPr/>
          <p:nvPr/>
        </p:nvGrpSpPr>
        <p:grpSpPr>
          <a:xfrm>
            <a:off x="5703396" y="3442477"/>
            <a:ext cx="345750" cy="316799"/>
            <a:chOff x="6752000" y="1357025"/>
            <a:chExt cx="345750" cy="337200"/>
          </a:xfrm>
        </p:grpSpPr>
        <p:sp>
          <p:nvSpPr>
            <p:cNvPr id="1520" name="Google Shape;1520;p98"/>
            <p:cNvSpPr/>
            <p:nvPr/>
          </p:nvSpPr>
          <p:spPr>
            <a:xfrm>
              <a:off x="6752000" y="1379160"/>
              <a:ext cx="284400" cy="284400"/>
            </a:xfrm>
            <a:prstGeom prst="smileyFace">
              <a:avLst>
                <a:gd fmla="val 4653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1" name="Google Shape;1521;p98"/>
            <p:cNvSpPr/>
            <p:nvPr/>
          </p:nvSpPr>
          <p:spPr>
            <a:xfrm>
              <a:off x="6897950" y="1357025"/>
              <a:ext cx="199800" cy="337200"/>
            </a:xfrm>
            <a:prstGeom prst="rect">
              <a:avLst/>
            </a:prstGeom>
            <a:solidFill>
              <a:srgbClr val="E6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</a:t>
            </a:r>
            <a:r>
              <a:rPr lang="en-GB" sz="1800"/>
              <a:t>What does the pictogram show?</a:t>
            </a:r>
            <a:endParaRPr sz="18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</a:t>
            </a:r>
            <a:r>
              <a:rPr lang="en-GB" sz="1800"/>
              <a:t>What other information may support Aisha’s claim that students do not have enough time to complete homework?</a:t>
            </a:r>
            <a:endParaRPr sz="18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27" name="Google Shape;1527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pictograms in a data investigation</a:t>
            </a:r>
            <a:endParaRPr/>
          </a:p>
        </p:txBody>
      </p:sp>
      <p:sp>
        <p:nvSpPr>
          <p:cNvPr id="1528" name="Google Shape;1528;p99"/>
          <p:cNvSpPr txBox="1"/>
          <p:nvPr/>
        </p:nvSpPr>
        <p:spPr>
          <a:xfrm>
            <a:off x="521700" y="1397450"/>
            <a:ext cx="6729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Most of the class attend at least one extra-curricular activity. Over half of the students attend 3 or more extra-curricular activities.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9" name="Google Shape;1529;p99"/>
          <p:cNvSpPr txBox="1"/>
          <p:nvPr/>
        </p:nvSpPr>
        <p:spPr>
          <a:xfrm>
            <a:off x="586475" y="3119600"/>
            <a:ext cx="7450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considered: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clubs/groups/choirs that students attend outside of school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ime to travel home from school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Here is a pictogram from a charity about the sales of clothes in three of their shops over a two week period.  </a:t>
            </a:r>
            <a:endParaRPr sz="18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35" name="Google Shape;1535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pictograms in a data investigation</a:t>
            </a:r>
            <a:endParaRPr/>
          </a:p>
        </p:txBody>
      </p:sp>
      <p:cxnSp>
        <p:nvCxnSpPr>
          <p:cNvPr id="1536" name="Google Shape;1536;p100"/>
          <p:cNvCxnSpPr/>
          <p:nvPr/>
        </p:nvCxnSpPr>
        <p:spPr>
          <a:xfrm>
            <a:off x="1511000" y="1621650"/>
            <a:ext cx="0" cy="1900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7" name="Google Shape;1537;p100"/>
          <p:cNvCxnSpPr/>
          <p:nvPr/>
        </p:nvCxnSpPr>
        <p:spPr>
          <a:xfrm>
            <a:off x="640825" y="2197575"/>
            <a:ext cx="3670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8" name="Google Shape;1538;p100"/>
          <p:cNvCxnSpPr/>
          <p:nvPr/>
        </p:nvCxnSpPr>
        <p:spPr>
          <a:xfrm>
            <a:off x="640825" y="2907075"/>
            <a:ext cx="3670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9" name="Google Shape;1539;p100"/>
          <p:cNvSpPr txBox="1"/>
          <p:nvPr/>
        </p:nvSpPr>
        <p:spPr>
          <a:xfrm>
            <a:off x="595400" y="1698300"/>
            <a:ext cx="9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shop 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100"/>
          <p:cNvSpPr txBox="1"/>
          <p:nvPr/>
        </p:nvSpPr>
        <p:spPr>
          <a:xfrm>
            <a:off x="595400" y="2321475"/>
            <a:ext cx="9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shop 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1" name="Google Shape;1541;p100"/>
          <p:cNvSpPr txBox="1"/>
          <p:nvPr/>
        </p:nvSpPr>
        <p:spPr>
          <a:xfrm>
            <a:off x="595400" y="2944650"/>
            <a:ext cx="91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shop 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42" name="Google Shape;1542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0023" y="1627850"/>
            <a:ext cx="534100" cy="5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3" name="Google Shape;154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3148" y="1627850"/>
            <a:ext cx="534100" cy="5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4" name="Google Shape;1544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6273" y="1627850"/>
            <a:ext cx="534100" cy="5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9398" y="1620000"/>
            <a:ext cx="534100" cy="5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6" name="Google Shape;1546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0023" y="2267463"/>
            <a:ext cx="534100" cy="5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7" name="Google Shape;154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0023" y="2976963"/>
            <a:ext cx="534100" cy="5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8" name="Google Shape;1548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3148" y="2976963"/>
            <a:ext cx="534100" cy="5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9" name="Google Shape;154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6273" y="2976963"/>
            <a:ext cx="534100" cy="5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0" name="Google Shape;1550;p100"/>
          <p:cNvPicPr preferRelativeResize="0"/>
          <p:nvPr/>
        </p:nvPicPr>
        <p:blipFill rotWithShape="1">
          <a:blip r:embed="rId3">
            <a:alphaModFix/>
          </a:blip>
          <a:srcRect b="0" l="0" r="49849" t="0"/>
          <a:stretch/>
        </p:blipFill>
        <p:spPr>
          <a:xfrm>
            <a:off x="3349399" y="2976975"/>
            <a:ext cx="267850" cy="56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1" name="Google Shape;1551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224" y="3686475"/>
            <a:ext cx="534100" cy="56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2" name="Google Shape;1552;p100"/>
          <p:cNvSpPr txBox="1"/>
          <p:nvPr/>
        </p:nvSpPr>
        <p:spPr>
          <a:xfrm>
            <a:off x="595400" y="3686475"/>
            <a:ext cx="317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Key           = 40 items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100"/>
          <p:cNvSpPr txBox="1"/>
          <p:nvPr/>
        </p:nvSpPr>
        <p:spPr>
          <a:xfrm>
            <a:off x="4930375" y="1689663"/>
            <a:ext cx="4105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charity can see that shop 2 is not in line with the other shops.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might the charity want to investigate next?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100"/>
          <p:cNvSpPr txBox="1"/>
          <p:nvPr/>
        </p:nvSpPr>
        <p:spPr>
          <a:xfrm>
            <a:off x="5030700" y="3263338"/>
            <a:ext cx="4113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may have considered: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shop 2’s pricing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shop 2’s opening times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shop 2’s competitors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10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Pictograms require a key to indicate the value of the icon.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icon needs to be carefully selected so that it is </a:t>
            </a:r>
            <a:r>
              <a:rPr lang="en-GB"/>
              <a:t>representative</a:t>
            </a:r>
            <a:r>
              <a:rPr lang="en-GB"/>
              <a:t> of the data and simple.</a:t>
            </a:r>
            <a:endParaRPr/>
          </a:p>
        </p:txBody>
      </p:sp>
      <p:sp>
        <p:nvSpPr>
          <p:cNvPr id="1560" name="Google Shape;1560;p10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constructing pictograms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02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66" name="Google Shape;1566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