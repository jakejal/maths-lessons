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5" r:id="rId4"/>
    <p:sldMasterId id="2147483666" r:id="rId5"/>
  </p:sldMasterIdLst>
  <p:notesMasterIdLst>
    <p:notesMasterId r:id="rId6"/>
  </p:notesMasterIdLst>
  <p:sldIdLst>
    <p:sldId id="256" r:id="rId7"/>
    <p:sldId id="257"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DFF6962-E743-4BA0-ABAE-69875E780140}">
  <a:tblStyle styleId="{9DFF6962-E743-4BA0-ABAE-69875E7801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5cbd5722ce_0_44: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5cbd5722c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hyperlink" Target="https://www.nationalarchives.gov.uk/doc/open-government-licence/version/3/" TargetMode="External"/><Relationship Id="rId7" Type="http://schemas.openxmlformats.org/officeDocument/2006/relationships/hyperlink" Target="https://www.thenational.academy/legal/terms-and-conditions" TargetMode="Externa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p:cSld name="SECTION_HEADER_1_1_1_1_1_1_1_1_1_2_2">
    <p:spTree>
      <p:nvGrpSpPr>
        <p:cNvPr id="9" name="Shape 9"/>
        <p:cNvGrpSpPr/>
        <p:nvPr/>
      </p:nvGrpSpPr>
      <p:grpSpPr>
        <a:xfrm>
          <a:off x="0" y="0"/>
          <a:ext cx="0" cy="0"/>
          <a:chOff x="0" y="0"/>
          <a:chExt cx="0" cy="0"/>
        </a:xfrm>
      </p:grpSpPr>
      <p:sp>
        <p:nvSpPr>
          <p:cNvPr id="10" name="Google Shape;10;p2"/>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 name="Google Shape;11;p2"/>
          <p:cNvSpPr txBox="1"/>
          <p:nvPr>
            <p:ph idx="1"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2" name="Google Shape;12;p2"/>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pic>
        <p:nvPicPr>
          <p:cNvPr id="14" name="Google Shape;14;p2"/>
          <p:cNvPicPr preferRelativeResize="0"/>
          <p:nvPr/>
        </p:nvPicPr>
        <p:blipFill>
          <a:blip r:embed="rId4">
            <a:alphaModFix/>
          </a:blip>
          <a:stretch>
            <a:fillRect/>
          </a:stretch>
        </p:blipFill>
        <p:spPr>
          <a:xfrm>
            <a:off x="6261625" y="161271"/>
            <a:ext cx="805956" cy="498600"/>
          </a:xfrm>
          <a:prstGeom prst="rect">
            <a:avLst/>
          </a:prstGeom>
          <a:noFill/>
          <a:ln>
            <a:noFill/>
          </a:ln>
        </p:spPr>
      </p:pic>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 FRONT Answers 1 1">
  <p:cSld name="SECTION_HEADER_1_1_1_1_1_1_1_1_1_2_1">
    <p:spTree>
      <p:nvGrpSpPr>
        <p:cNvPr id="15" name="Shape 15"/>
        <p:cNvGrpSpPr/>
        <p:nvPr/>
      </p:nvGrpSpPr>
      <p:grpSpPr>
        <a:xfrm>
          <a:off x="0" y="0"/>
          <a:ext cx="0" cy="0"/>
          <a:chOff x="0" y="0"/>
          <a:chExt cx="0" cy="0"/>
        </a:xfrm>
      </p:grpSpPr>
      <p:sp>
        <p:nvSpPr>
          <p:cNvPr id="16" name="Google Shape;16;p3"/>
          <p:cNvSpPr txBox="1"/>
          <p:nvPr>
            <p:ph type="title"/>
          </p:nvPr>
        </p:nvSpPr>
        <p:spPr>
          <a:xfrm>
            <a:off x="468000" y="266700"/>
            <a:ext cx="5577000" cy="432000"/>
          </a:xfrm>
          <a:prstGeom prst="rect">
            <a:avLst/>
          </a:prstGeom>
        </p:spPr>
        <p:txBody>
          <a:bodyPr anchorCtr="0" anchor="t" bIns="91425" lIns="0" spcFirstLastPara="1" rIns="91425" wrap="square" tIns="91425">
            <a:normAutofit/>
          </a:bodyPr>
          <a:lstStyle>
            <a:lvl1pPr lvl="0" rtl="0">
              <a:spcBef>
                <a:spcPts val="0"/>
              </a:spcBef>
              <a:spcAft>
                <a:spcPts val="0"/>
              </a:spcAft>
              <a:buSzPts val="1800"/>
              <a:buFont typeface="Lexend"/>
              <a:buNone/>
              <a:defRPr b="1" sz="1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 name="Google Shape;17;p3"/>
          <p:cNvSpPr txBox="1"/>
          <p:nvPr>
            <p:ph idx="1" type="subTitle"/>
          </p:nvPr>
        </p:nvSpPr>
        <p:spPr>
          <a:xfrm>
            <a:off x="466825" y="17801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 name="Google Shape;18;p3"/>
          <p:cNvSpPr txBox="1"/>
          <p:nvPr>
            <p:ph idx="2" type="subTitle"/>
          </p:nvPr>
        </p:nvSpPr>
        <p:spPr>
          <a:xfrm>
            <a:off x="2807400"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 name="Google Shape;19;p3"/>
          <p:cNvSpPr txBox="1"/>
          <p:nvPr>
            <p:ph idx="3" type="subTitle"/>
          </p:nvPr>
        </p:nvSpPr>
        <p:spPr>
          <a:xfrm>
            <a:off x="468000" y="9981175"/>
            <a:ext cx="5898900" cy="360000"/>
          </a:xfrm>
          <a:prstGeom prst="rect">
            <a:avLst/>
          </a:prstGeom>
        </p:spPr>
        <p:txBody>
          <a:bodyPr anchorCtr="0" anchor="ctr" bIns="0" lIns="0" spcFirstLastPara="1" rIns="0" wrap="square" tIns="0">
            <a:norm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0" name="Google Shape;20;p3"/>
          <p:cNvSpPr txBox="1"/>
          <p:nvPr>
            <p:ph idx="4" type="subTitle"/>
          </p:nvPr>
        </p:nvSpPr>
        <p:spPr>
          <a:xfrm>
            <a:off x="4127250"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1" name="Google Shape;21;p3"/>
          <p:cNvSpPr txBox="1"/>
          <p:nvPr>
            <p:ph idx="5" type="subTitle"/>
          </p:nvPr>
        </p:nvSpPr>
        <p:spPr>
          <a:xfrm>
            <a:off x="468000" y="5866375"/>
            <a:ext cx="65817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2" name="Google Shape;22;p3"/>
          <p:cNvSpPr txBox="1"/>
          <p:nvPr>
            <p:ph idx="6" type="subTitle"/>
          </p:nvPr>
        </p:nvSpPr>
        <p:spPr>
          <a:xfrm>
            <a:off x="466825" y="30420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3" name="Google Shape;23;p3"/>
          <p:cNvSpPr txBox="1"/>
          <p:nvPr>
            <p:ph idx="7" type="subTitle"/>
          </p:nvPr>
        </p:nvSpPr>
        <p:spPr>
          <a:xfrm>
            <a:off x="46682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4" name="Google Shape;24;p3"/>
          <p:cNvSpPr txBox="1"/>
          <p:nvPr>
            <p:ph idx="8" type="subTitle"/>
          </p:nvPr>
        </p:nvSpPr>
        <p:spPr>
          <a:xfrm>
            <a:off x="5147975" y="47595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25" name="Google Shape;25;p3"/>
          <p:cNvPicPr preferRelativeResize="0"/>
          <p:nvPr/>
        </p:nvPicPr>
        <p:blipFill>
          <a:blip r:embed="rId2">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rotWithShape="1">
          <a:blip r:embed="rId3">
            <a:alphaModFix/>
          </a:blip>
          <a:srcRect b="0" l="4603" r="4603" t="0"/>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000">
                  <a:solidFill>
                    <a:schemeClr val="dk2"/>
                  </a:solidFill>
                  <a:latin typeface="Lexend"/>
                  <a:ea typeface="Lexend"/>
                  <a:cs typeface="Lexend"/>
                  <a:sym typeface="Lexend"/>
                </a:rPr>
                <a:t>Name</a:t>
              </a:r>
              <a:r>
                <a:rPr b="1" lang="en-GB" sz="1000">
                  <a:solidFill>
                    <a:schemeClr val="dk2"/>
                  </a:solidFill>
                  <a:latin typeface="Lexend"/>
                  <a:ea typeface="Lexend"/>
                  <a:cs typeface="Lexend"/>
                  <a:sym typeface="Lexend"/>
                </a:rPr>
                <a:t>: </a:t>
              </a:r>
              <a:endParaRPr b="1" sz="1000">
                <a:solidFill>
                  <a:schemeClr val="dk2"/>
                </a:solidFill>
                <a:latin typeface="Lexend"/>
                <a:ea typeface="Lexend"/>
                <a:cs typeface="Lexend"/>
                <a:sym typeface="Lexend"/>
              </a:endParaRPr>
            </a:p>
          </p:txBody>
        </p:sp>
        <p:cxnSp>
          <p:nvCxnSpPr>
            <p:cNvPr id="29" name="Google Shape;29;p3"/>
            <p:cNvCxnSpPr/>
            <p:nvPr/>
          </p:nvCxnSpPr>
          <p:spPr>
            <a:xfrm flipH="1" rot="10800000">
              <a:off x="943904" y="1116425"/>
              <a:ext cx="1998900" cy="8100"/>
            </a:xfrm>
            <a:prstGeom prst="straightConnector1">
              <a:avLst/>
            </a:prstGeom>
            <a:noFill/>
            <a:ln cap="flat" cmpd="sng" w="9525">
              <a:solidFill>
                <a:schemeClr val="dk2"/>
              </a:solidFill>
              <a:prstDash val="solid"/>
              <a:round/>
              <a:headEnd len="med" w="med" type="none"/>
              <a:tailEnd len="med" w="med" type="none"/>
            </a:ln>
          </p:spPr>
        </p:cxnSp>
      </p:grpSp>
      <p:pic>
        <p:nvPicPr>
          <p:cNvPr id="30" name="Google Shape;30;p3"/>
          <p:cNvPicPr preferRelativeResize="0"/>
          <p:nvPr/>
        </p:nvPicPr>
        <p:blipFill>
          <a:blip r:embed="rId4">
            <a:alphaModFix/>
          </a:blip>
          <a:stretch>
            <a:fillRect/>
          </a:stretch>
        </p:blipFill>
        <p:spPr>
          <a:xfrm>
            <a:off x="6261625" y="161271"/>
            <a:ext cx="805956" cy="498600"/>
          </a:xfrm>
          <a:prstGeom prst="rect">
            <a:avLst/>
          </a:prstGeom>
          <a:noFill/>
          <a:ln>
            <a:noFill/>
          </a:ln>
        </p:spPr>
      </p:pic>
      <p:sp>
        <p:nvSpPr>
          <p:cNvPr id="31" name="Google Shape;31;p3"/>
          <p:cNvSpPr txBox="1"/>
          <p:nvPr>
            <p:ph idx="9" type="subTitle"/>
          </p:nvPr>
        </p:nvSpPr>
        <p:spPr>
          <a:xfrm>
            <a:off x="466825" y="13698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1">
  <p:cSld name="SECTION_HEADER_1_1_1_1_1_1_1_1_1_1">
    <p:spTree>
      <p:nvGrpSpPr>
        <p:cNvPr id="32" name="Shape 32"/>
        <p:cNvGrpSpPr/>
        <p:nvPr/>
      </p:nvGrpSpPr>
      <p:grpSpPr>
        <a:xfrm>
          <a:off x="0" y="0"/>
          <a:ext cx="0" cy="0"/>
          <a:chOff x="0" y="0"/>
          <a:chExt cx="0" cy="0"/>
        </a:xfrm>
      </p:grpSpPr>
      <p:sp>
        <p:nvSpPr>
          <p:cNvPr id="33" name="Google Shape;33;p4"/>
          <p:cNvSpPr txBox="1"/>
          <p:nvPr>
            <p:ph idx="1" type="subTitle"/>
          </p:nvPr>
        </p:nvSpPr>
        <p:spPr>
          <a:xfrm>
            <a:off x="466825" y="162775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 name="Google Shape;34;p4"/>
          <p:cNvSpPr txBox="1"/>
          <p:nvPr>
            <p:ph idx="2" type="subTitle"/>
          </p:nvPr>
        </p:nvSpPr>
        <p:spPr>
          <a:xfrm>
            <a:off x="4127250"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 name="Google Shape;35;p4"/>
          <p:cNvSpPr txBox="1"/>
          <p:nvPr>
            <p:ph idx="3" type="subTitle"/>
          </p:nvPr>
        </p:nvSpPr>
        <p:spPr>
          <a:xfrm>
            <a:off x="466825" y="288960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36" name="Google Shape;36;p4"/>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37" name="Google Shape;37;p4"/>
          <p:cNvSpPr txBox="1"/>
          <p:nvPr>
            <p:ph idx="4"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2">
  <p:cSld name="SECTION_HEADER_1_1_1_1_1_1_1_1_1_1_1">
    <p:spTree>
      <p:nvGrpSpPr>
        <p:cNvPr id="38" name="Shape 38"/>
        <p:cNvGrpSpPr/>
        <p:nvPr/>
      </p:nvGrpSpPr>
      <p:grpSpPr>
        <a:xfrm>
          <a:off x="0" y="0"/>
          <a:ext cx="0" cy="0"/>
          <a:chOff x="0" y="0"/>
          <a:chExt cx="0" cy="0"/>
        </a:xfrm>
      </p:grpSpPr>
      <p:sp>
        <p:nvSpPr>
          <p:cNvPr id="39" name="Google Shape;39;p5"/>
          <p:cNvSpPr txBox="1"/>
          <p:nvPr>
            <p:ph idx="1" type="subTitle"/>
          </p:nvPr>
        </p:nvSpPr>
        <p:spPr>
          <a:xfrm>
            <a:off x="2807400"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 name="Google Shape;40;p5"/>
          <p:cNvSpPr txBox="1"/>
          <p:nvPr>
            <p:ph idx="2" type="subTitle"/>
          </p:nvPr>
        </p:nvSpPr>
        <p:spPr>
          <a:xfrm>
            <a:off x="467950" y="2493013"/>
            <a:ext cx="6624000" cy="41058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1" name="Google Shape;41;p5"/>
          <p:cNvSpPr txBox="1"/>
          <p:nvPr>
            <p:ph idx="3" type="subTitle"/>
          </p:nvPr>
        </p:nvSpPr>
        <p:spPr>
          <a:xfrm>
            <a:off x="46682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 name="Google Shape;42;p5"/>
          <p:cNvSpPr txBox="1"/>
          <p:nvPr>
            <p:ph idx="4" type="subTitle"/>
          </p:nvPr>
        </p:nvSpPr>
        <p:spPr>
          <a:xfrm>
            <a:off x="5147975" y="1386138"/>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43" name="Google Shape;43;p5"/>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44" name="Google Shape;44;p5"/>
          <p:cNvSpPr txBox="1"/>
          <p:nvPr>
            <p:ph idx="5"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3">
  <p:cSld name="SECTION_HEADER_1_1_1_1_1_1_1_1_1_1_1_2">
    <p:spTree>
      <p:nvGrpSpPr>
        <p:cNvPr id="45" name="Shape 45"/>
        <p:cNvGrpSpPr/>
        <p:nvPr/>
      </p:nvGrpSpPr>
      <p:grpSpPr>
        <a:xfrm>
          <a:off x="0" y="0"/>
          <a:ext cx="0" cy="0"/>
          <a:chOff x="0" y="0"/>
          <a:chExt cx="0" cy="0"/>
        </a:xfrm>
      </p:grpSpPr>
      <p:sp>
        <p:nvSpPr>
          <p:cNvPr id="46" name="Google Shape;46;p6"/>
          <p:cNvSpPr txBox="1"/>
          <p:nvPr>
            <p:ph idx="1" type="subTitle"/>
          </p:nvPr>
        </p:nvSpPr>
        <p:spPr>
          <a:xfrm>
            <a:off x="46682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7" name="Google Shape;47;p6"/>
          <p:cNvSpPr txBox="1"/>
          <p:nvPr>
            <p:ph idx="2" type="subTitle"/>
          </p:nvPr>
        </p:nvSpPr>
        <p:spPr>
          <a:xfrm>
            <a:off x="2807400"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8" name="Google Shape;48;p6"/>
          <p:cNvSpPr txBox="1"/>
          <p:nvPr>
            <p:ph idx="3" type="subTitle"/>
          </p:nvPr>
        </p:nvSpPr>
        <p:spPr>
          <a:xfrm>
            <a:off x="5147975" y="3880200"/>
            <a:ext cx="1945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9" name="Google Shape;49;p6"/>
          <p:cNvSpPr txBox="1"/>
          <p:nvPr>
            <p:ph idx="4" type="subTitle"/>
          </p:nvPr>
        </p:nvSpPr>
        <p:spPr>
          <a:xfrm>
            <a:off x="466825" y="1702200"/>
            <a:ext cx="66240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0" name="Google Shape;50;p6"/>
          <p:cNvSpPr txBox="1"/>
          <p:nvPr>
            <p:ph idx="5" type="subTitle"/>
          </p:nvPr>
        </p:nvSpPr>
        <p:spPr>
          <a:xfrm>
            <a:off x="466825"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51" name="Google Shape;51;p6"/>
          <p:cNvSpPr txBox="1"/>
          <p:nvPr>
            <p:ph idx="6" type="subTitle"/>
          </p:nvPr>
        </p:nvSpPr>
        <p:spPr>
          <a:xfrm>
            <a:off x="4127250" y="2964050"/>
            <a:ext cx="2953200" cy="3600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2" name="Google Shape;52;p6"/>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3" name="Google Shape;53;p6"/>
          <p:cNvSpPr txBox="1"/>
          <p:nvPr>
            <p:ph idx="7"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sk 4">
  <p:cSld name="SECTION_HEADER_1_1_1_1_1_1_1_1_1_1_1_2_1">
    <p:spTree>
      <p:nvGrpSpPr>
        <p:cNvPr id="54" name="Shape 54"/>
        <p:cNvGrpSpPr/>
        <p:nvPr/>
      </p:nvGrpSpPr>
      <p:grpSpPr>
        <a:xfrm>
          <a:off x="0" y="0"/>
          <a:ext cx="0" cy="0"/>
          <a:chOff x="0" y="0"/>
          <a:chExt cx="0" cy="0"/>
        </a:xfrm>
      </p:grpSpPr>
      <p:sp>
        <p:nvSpPr>
          <p:cNvPr id="55" name="Google Shape;55;p7"/>
          <p:cNvSpPr txBox="1"/>
          <p:nvPr>
            <p:ph idx="1" type="subTitle"/>
          </p:nvPr>
        </p:nvSpPr>
        <p:spPr>
          <a:xfrm>
            <a:off x="468000" y="1327649"/>
            <a:ext cx="6624000" cy="3843600"/>
          </a:xfrm>
          <a:prstGeom prst="rect">
            <a:avLst/>
          </a:prstGeom>
          <a:ln cap="flat" cmpd="sng" w="9525">
            <a:solidFill>
              <a:srgbClr val="B7B7B7"/>
            </a:solidFill>
            <a:prstDash val="solid"/>
            <a:round/>
            <a:headEnd len="sm" w="sm" type="none"/>
            <a:tailEnd len="sm" w="sm" type="none"/>
          </a:ln>
        </p:spPr>
        <p:txBody>
          <a:bodyPr anchorCtr="0" anchor="t" bIns="0" lIns="0" spcFirstLastPara="1" rIns="0" wrap="square" tIns="0">
            <a:normAutofit/>
          </a:bodyPr>
          <a:lstStyle>
            <a:lvl1pPr lvl="0" rtl="0">
              <a:spcBef>
                <a:spcPts val="0"/>
              </a:spcBef>
              <a:spcAft>
                <a:spcPts val="0"/>
              </a:spcAft>
              <a:buSzPts val="1200"/>
              <a:buFont typeface="Lexend"/>
              <a:buNone/>
              <a:defRPr sz="1200">
                <a:latin typeface="Lexend"/>
                <a:ea typeface="Lexend"/>
                <a:cs typeface="Lexend"/>
                <a:sym typeface="Lexend"/>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6" name="Google Shape;56;p7"/>
          <p:cNvPicPr preferRelativeResize="0"/>
          <p:nvPr/>
        </p:nvPicPr>
        <p:blipFill>
          <a:blip r:embed="rId2">
            <a:alphaModFix/>
          </a:blip>
          <a:stretch>
            <a:fillRect/>
          </a:stretch>
        </p:blipFill>
        <p:spPr>
          <a:xfrm>
            <a:off x="6886512" y="10041210"/>
            <a:ext cx="181075" cy="246288"/>
          </a:xfrm>
          <a:prstGeom prst="rect">
            <a:avLst/>
          </a:prstGeom>
          <a:noFill/>
          <a:ln>
            <a:noFill/>
          </a:ln>
        </p:spPr>
      </p:pic>
      <p:sp>
        <p:nvSpPr>
          <p:cNvPr id="57" name="Google Shape;57;p7"/>
          <p:cNvSpPr txBox="1"/>
          <p:nvPr>
            <p:ph idx="2" type="subTitle"/>
          </p:nvPr>
        </p:nvSpPr>
        <p:spPr>
          <a:xfrm>
            <a:off x="466825" y="531600"/>
            <a:ext cx="6624000" cy="360000"/>
          </a:xfrm>
          <a:prstGeom prst="rect">
            <a:avLst/>
          </a:prstGeom>
        </p:spPr>
        <p:txBody>
          <a:bodyPr anchorCtr="0" anchor="t" bIns="0" lIns="0" spcFirstLastPara="1" rIns="0" wrap="square" tIns="0">
            <a:normAutofit/>
          </a:bodyPr>
          <a:lstStyle>
            <a:lvl1pPr lvl="0" rtl="0">
              <a:spcBef>
                <a:spcPts val="0"/>
              </a:spcBef>
              <a:spcAft>
                <a:spcPts val="0"/>
              </a:spcAft>
              <a:buSzPts val="1400"/>
              <a:buNone/>
              <a:defRPr b="1"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lements to copy and paste">
  <p:cSld name="SECTION_HEADER_1_1_1_1_1_1_1_1_1_1_1_2_1_1">
    <p:spTree>
      <p:nvGrpSpPr>
        <p:cNvPr id="58" name="Shape 58"/>
        <p:cNvGrpSpPr/>
        <p:nvPr/>
      </p:nvGrpSpPr>
      <p:grpSpPr>
        <a:xfrm>
          <a:off x="0" y="0"/>
          <a:ext cx="0" cy="0"/>
          <a:chOff x="0" y="0"/>
          <a:chExt cx="0" cy="0"/>
        </a:xfrm>
      </p:grpSpPr>
      <p:sp>
        <p:nvSpPr>
          <p:cNvPr id="59" name="Google Shape;59;p8"/>
          <p:cNvSpPr txBox="1"/>
          <p:nvPr/>
        </p:nvSpPr>
        <p:spPr>
          <a:xfrm>
            <a:off x="493450" y="416654"/>
            <a:ext cx="6624000" cy="2154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GB">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2">
            <a:alphaModFix/>
          </a:blip>
          <a:stretch>
            <a:fillRect/>
          </a:stretch>
        </p:blipFill>
        <p:spPr>
          <a:xfrm>
            <a:off x="6886512" y="10041210"/>
            <a:ext cx="181075" cy="246288"/>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65" name="Shape 65"/>
        <p:cNvGrpSpPr/>
        <p:nvPr/>
      </p:nvGrpSpPr>
      <p:grpSpPr>
        <a:xfrm>
          <a:off x="0" y="0"/>
          <a:ext cx="0" cy="0"/>
          <a:chOff x="0" y="0"/>
          <a:chExt cx="0" cy="0"/>
        </a:xfrm>
      </p:grpSpPr>
      <p:pic>
        <p:nvPicPr>
          <p:cNvPr id="66" name="Google Shape;66;p10"/>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7" name="Google Shape;67;p1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9" name="Google Shape;69;p10"/>
          <p:cNvPicPr preferRelativeResize="0"/>
          <p:nvPr/>
        </p:nvPicPr>
        <p:blipFill>
          <a:blip r:embed="rId3">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4">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74" name="Shape 74"/>
        <p:cNvGrpSpPr/>
        <p:nvPr/>
      </p:nvGrpSpPr>
      <p:grpSpPr>
        <a:xfrm>
          <a:off x="0" y="0"/>
          <a:ext cx="0" cy="0"/>
          <a:chOff x="0" y="0"/>
          <a:chExt cx="0" cy="0"/>
        </a:xfrm>
      </p:grpSpPr>
      <p:pic>
        <p:nvPicPr>
          <p:cNvPr id="75" name="Google Shape;75;p11"/>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76" name="Google Shape;76;p1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8" name="Google Shape;78;p11"/>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83" name="Shape 83"/>
        <p:cNvGrpSpPr/>
        <p:nvPr/>
      </p:nvGrpSpPr>
      <p:grpSpPr>
        <a:xfrm>
          <a:off x="0" y="0"/>
          <a:ext cx="0" cy="0"/>
          <a:chOff x="0" y="0"/>
          <a:chExt cx="0" cy="0"/>
        </a:xfrm>
      </p:grpSpPr>
      <p:pic>
        <p:nvPicPr>
          <p:cNvPr id="84" name="Google Shape;84;p1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85" name="Google Shape;85;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87" name="Google Shape;87;p12"/>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88" name="Google Shape;88;p12"/>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90" name="Shape 90"/>
        <p:cNvGrpSpPr/>
        <p:nvPr/>
      </p:nvGrpSpPr>
      <p:grpSpPr>
        <a:xfrm>
          <a:off x="0" y="0"/>
          <a:ext cx="0" cy="0"/>
          <a:chOff x="0" y="0"/>
          <a:chExt cx="0" cy="0"/>
        </a:xfrm>
      </p:grpSpPr>
      <p:pic>
        <p:nvPicPr>
          <p:cNvPr id="91" name="Google Shape;91;p1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92" name="Google Shape;92;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sp>
        <p:nvSpPr>
          <p:cNvPr id="94" name="Google Shape;94;p13"/>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95" name="Google Shape;95;p13"/>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00" name="Google Shape;100;p13"/>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101" name="Shape 101"/>
        <p:cNvGrpSpPr/>
        <p:nvPr/>
      </p:nvGrpSpPr>
      <p:grpSpPr>
        <a:xfrm>
          <a:off x="0" y="0"/>
          <a:ext cx="0" cy="0"/>
          <a:chOff x="0" y="0"/>
          <a:chExt cx="0" cy="0"/>
        </a:xfrm>
      </p:grpSpPr>
      <p:pic>
        <p:nvPicPr>
          <p:cNvPr id="102" name="Google Shape;102;p1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03" name="Google Shape;10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5" name="Google Shape;105;p14"/>
          <p:cNvPicPr preferRelativeResize="0"/>
          <p:nvPr/>
        </p:nvPicPr>
        <p:blipFill>
          <a:blip r:embed="rId3">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13" name="Google Shape;113;p14"/>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chOff x="0" y="0"/>
          <a:chExt cx="0" cy="0"/>
        </a:xfrm>
      </p:grpSpPr>
      <p:pic>
        <p:nvPicPr>
          <p:cNvPr id="115" name="Google Shape;115;p1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6" name="Google Shape;116;p1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18" name="Google Shape;118;p15"/>
          <p:cNvPicPr preferRelativeResize="0"/>
          <p:nvPr/>
        </p:nvPicPr>
        <p:blipFill>
          <a:blip r:embed="rId3">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4">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5">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26" name="Google Shape;126;p15"/>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chOff x="0" y="0"/>
          <a:chExt cx="0" cy="0"/>
        </a:xfrm>
      </p:grpSpPr>
      <p:pic>
        <p:nvPicPr>
          <p:cNvPr id="128" name="Google Shape;128;p16"/>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29" name="Google Shape;129;p16"/>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1" name="Google Shape;131;p16"/>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chOff x="0" y="0"/>
          <a:chExt cx="0" cy="0"/>
        </a:xfrm>
      </p:grpSpPr>
      <p:pic>
        <p:nvPicPr>
          <p:cNvPr id="137" name="Google Shape;137;p17"/>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38" name="Google Shape;138;p17"/>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0" name="Google Shape;140;p17"/>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2" name="Google Shape;142;p17"/>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chOff x="0" y="0"/>
          <a:chExt cx="0" cy="0"/>
        </a:xfrm>
      </p:grpSpPr>
      <p:pic>
        <p:nvPicPr>
          <p:cNvPr id="144" name="Google Shape;144;p1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45" name="Google Shape;145;p1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latin typeface="Lexend"/>
                <a:ea typeface="Lexend"/>
                <a:cs typeface="Lexend"/>
                <a:sym typeface="Lexend"/>
              </a:rPr>
              <a:t>Worksheet</a:t>
            </a:r>
            <a:endParaRPr b="1" sz="900">
              <a:latin typeface="Lexend"/>
              <a:ea typeface="Lexend"/>
              <a:cs typeface="Lexend"/>
              <a:sym typeface="Lexend"/>
            </a:endParaRPr>
          </a:p>
        </p:txBody>
      </p:sp>
      <p:pic>
        <p:nvPicPr>
          <p:cNvPr id="147" name="Google Shape;147;p18"/>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52" name="Google Shape;152;p18"/>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53" name="Google Shape;153;p18"/>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chOff x="0" y="0"/>
          <a:chExt cx="0" cy="0"/>
        </a:xfrm>
      </p:grpSpPr>
      <p:pic>
        <p:nvPicPr>
          <p:cNvPr id="155" name="Google Shape;155;p1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56" name="Google Shape;156;p1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8" name="Google Shape;158;p19"/>
          <p:cNvPicPr preferRelativeResize="0"/>
          <p:nvPr/>
        </p:nvPicPr>
        <p:blipFill>
          <a:blip r:embed="rId3">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4">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5">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6">
                  <a:extLst>
                    <a:ext uri="{A12FA001-AC4F-418D-AE19-62706E023703}">
                      <ahyp:hlinkCl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7">
                  <a:extLst>
                    <a:ext uri="{A12FA001-AC4F-418D-AE19-62706E023703}">
                      <ahyp:hlinkCl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rgbClr val="575756"/>
              </a:solidFill>
              <a:latin typeface="Lexend Light"/>
              <a:ea typeface="Lexend Light"/>
              <a:cs typeface="Lexend Light"/>
              <a:sym typeface="Lexend Light"/>
            </a:endParaRPr>
          </a:p>
        </p:txBody>
      </p:sp>
      <p:sp>
        <p:nvSpPr>
          <p:cNvPr id="166" name="Google Shape;166;p19"/>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slideLayout" Target="../slideLayouts/slideLayout17.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63" name="Google Shape;63;p9"/>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2"/>
              </a:buClr>
              <a:buSzPts val="1800"/>
              <a:buFont typeface="Lexend"/>
              <a:buChar char="●"/>
              <a:defRPr i="0" sz="1800" u="none" cap="none" strike="noStrike">
                <a:solidFill>
                  <a:schemeClr val="dk2"/>
                </a:solidFill>
                <a:latin typeface="Lexend"/>
                <a:ea typeface="Lexend"/>
                <a:cs typeface="Lexend"/>
                <a:sym typeface="Lexend"/>
              </a:defRPr>
            </a:lvl1pPr>
            <a:lvl2pPr indent="-317500" lvl="1" marL="914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2pPr>
            <a:lvl3pPr indent="-317500" lvl="2" marL="1371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3pPr>
            <a:lvl4pPr indent="-317500" lvl="3" marL="18288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4pPr>
            <a:lvl5pPr indent="-317500" lvl="4" marL="22860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5pPr>
            <a:lvl6pPr indent="-317500" lvl="5" marL="27432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6pPr>
            <a:lvl7pPr indent="-317500" lvl="6" marL="32004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7pPr>
            <a:lvl8pPr indent="-317500" lvl="7" marL="3657600" marR="0" rtl="0" algn="l">
              <a:lnSpc>
                <a:spcPct val="115000"/>
              </a:lnSpc>
              <a:spcBef>
                <a:spcPts val="0"/>
              </a:spcBef>
              <a:spcAft>
                <a:spcPts val="0"/>
              </a:spcAft>
              <a:buClr>
                <a:schemeClr val="dk2"/>
              </a:buClr>
              <a:buSzPts val="1400"/>
              <a:buFont typeface="Lexend"/>
              <a:buChar char="○"/>
              <a:defRPr i="0" sz="1400" u="none" cap="none" strike="noStrike">
                <a:solidFill>
                  <a:schemeClr val="dk2"/>
                </a:solidFill>
                <a:latin typeface="Lexend"/>
                <a:ea typeface="Lexend"/>
                <a:cs typeface="Lexend"/>
                <a:sym typeface="Lexend"/>
              </a:defRPr>
            </a:lvl8pPr>
            <a:lvl9pPr indent="-317500" lvl="8" marL="4114800" marR="0" rtl="0" algn="l">
              <a:lnSpc>
                <a:spcPct val="115000"/>
              </a:lnSpc>
              <a:spcBef>
                <a:spcPts val="0"/>
              </a:spcBef>
              <a:spcAft>
                <a:spcPts val="0"/>
              </a:spcAft>
              <a:buClr>
                <a:schemeClr val="dk2"/>
              </a:buClr>
              <a:buSzPts val="1400"/>
              <a:buFont typeface="Kalam"/>
              <a:buChar char="■"/>
              <a:defRPr i="0" sz="1400" u="none" cap="none" strike="noStrike">
                <a:solidFill>
                  <a:schemeClr val="dk2"/>
                </a:solidFill>
                <a:latin typeface="Kalam"/>
                <a:ea typeface="Kalam"/>
                <a:cs typeface="Kalam"/>
                <a:sym typeface="Kalam"/>
              </a:defRPr>
            </a:lvl9pPr>
          </a:lstStyle>
          <a:p/>
        </p:txBody>
      </p:sp>
      <p:sp>
        <p:nvSpPr>
          <p:cNvPr id="64" name="Google Shape;64;p9"/>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2"/>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hyperlink" Target="https://docs.google.com/spreadsheets/d/18j8t1TJ4Y6T5tnckkQ_fe3THwNByWrWus4BEVlZzTn8/edit#gid=1571519094"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nvSpPr>
        <p:spPr>
          <a:xfrm>
            <a:off x="468038" y="1623013"/>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A: </a:t>
            </a:r>
            <a:r>
              <a:rPr b="1" lang="en-GB">
                <a:latin typeface="Lexend"/>
                <a:ea typeface="Lexend"/>
                <a:cs typeface="Lexend"/>
                <a:sym typeface="Lexend"/>
              </a:rPr>
              <a:t>Using spreadsheet functions to calculate angles</a:t>
            </a:r>
            <a:endParaRPr b="1">
              <a:latin typeface="Lexend"/>
              <a:ea typeface="Lexend"/>
              <a:cs typeface="Lexend"/>
              <a:sym typeface="Lexend"/>
            </a:endParaRPr>
          </a:p>
        </p:txBody>
      </p:sp>
      <p:sp>
        <p:nvSpPr>
          <p:cNvPr id="172" name="Google Shape;172;p20"/>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73" name="Google Shape;173;p20"/>
          <p:cNvSpPr txBox="1"/>
          <p:nvPr/>
        </p:nvSpPr>
        <p:spPr>
          <a:xfrm>
            <a:off x="467925" y="9206725"/>
            <a:ext cx="3672000" cy="609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2</a:t>
            </a:r>
            <a:r>
              <a:rPr lang="en-GB" sz="1200">
                <a:latin typeface="Lexend"/>
                <a:ea typeface="Lexend"/>
                <a:cs typeface="Lexend"/>
                <a:sym typeface="Lexend"/>
              </a:rPr>
              <a:t>) Write in the correct spreadsheet function into cell A44 to calculate the sum of all of these numbers.</a:t>
            </a:r>
            <a:endParaRPr sz="1200">
              <a:solidFill>
                <a:srgbClr val="000000"/>
              </a:solidFill>
              <a:latin typeface="Lexend"/>
              <a:ea typeface="Lexend"/>
              <a:cs typeface="Lexend"/>
              <a:sym typeface="Lexend"/>
            </a:endParaRPr>
          </a:p>
        </p:txBody>
      </p:sp>
      <p:sp>
        <p:nvSpPr>
          <p:cNvPr id="174" name="Google Shape;174;p20"/>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Constructing pie charts by utilising technology</a:t>
            </a:r>
            <a:endParaRPr/>
          </a:p>
        </p:txBody>
      </p:sp>
      <p:grpSp>
        <p:nvGrpSpPr>
          <p:cNvPr id="175" name="Google Shape;175;p20"/>
          <p:cNvGrpSpPr/>
          <p:nvPr/>
        </p:nvGrpSpPr>
        <p:grpSpPr>
          <a:xfrm>
            <a:off x="4452371" y="2512178"/>
            <a:ext cx="2562037" cy="554783"/>
            <a:chOff x="3634724" y="4147050"/>
            <a:chExt cx="2292651" cy="496450"/>
          </a:xfrm>
        </p:grpSpPr>
        <p:pic>
          <p:nvPicPr>
            <p:cNvPr id="176" name="Google Shape;176;p20"/>
            <p:cNvPicPr preferRelativeResize="0"/>
            <p:nvPr/>
          </p:nvPicPr>
          <p:blipFill rotWithShape="1">
            <a:blip r:embed="rId3">
              <a:alphaModFix/>
            </a:blip>
            <a:srcRect b="29671" l="67236" r="18071" t="44817"/>
            <a:stretch/>
          </p:blipFill>
          <p:spPr>
            <a:xfrm>
              <a:off x="3634724" y="4147050"/>
              <a:ext cx="1189276" cy="496450"/>
            </a:xfrm>
            <a:prstGeom prst="rect">
              <a:avLst/>
            </a:prstGeom>
            <a:noFill/>
            <a:ln>
              <a:noFill/>
            </a:ln>
          </p:spPr>
        </p:pic>
        <p:pic>
          <p:nvPicPr>
            <p:cNvPr id="177" name="Google Shape;177;p20"/>
            <p:cNvPicPr preferRelativeResize="0"/>
            <p:nvPr/>
          </p:nvPicPr>
          <p:blipFill rotWithShape="1">
            <a:blip r:embed="rId3">
              <a:alphaModFix/>
            </a:blip>
            <a:srcRect b="29671" l="69475" r="15832" t="44817"/>
            <a:stretch/>
          </p:blipFill>
          <p:spPr>
            <a:xfrm>
              <a:off x="4738099" y="4147050"/>
              <a:ext cx="1189276" cy="496450"/>
            </a:xfrm>
            <a:prstGeom prst="rect">
              <a:avLst/>
            </a:prstGeom>
            <a:noFill/>
            <a:ln>
              <a:noFill/>
            </a:ln>
          </p:spPr>
        </p:pic>
      </p:grpSp>
      <p:sp>
        <p:nvSpPr>
          <p:cNvPr id="178" name="Google Shape;178;p20"/>
          <p:cNvSpPr txBox="1"/>
          <p:nvPr/>
        </p:nvSpPr>
        <p:spPr>
          <a:xfrm>
            <a:off x="749688" y="3919723"/>
            <a:ext cx="63423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on the cell with the first number you want to use in your calculation. In this question, click on cell A11, which contains the number 360.</a:t>
            </a:r>
            <a:endParaRPr sz="1200">
              <a:solidFill>
                <a:srgbClr val="000000"/>
              </a:solidFill>
              <a:latin typeface="Lexend"/>
              <a:ea typeface="Lexend"/>
              <a:cs typeface="Lexend"/>
              <a:sym typeface="Lexend"/>
            </a:endParaRPr>
          </a:p>
        </p:txBody>
      </p:sp>
      <p:sp>
        <p:nvSpPr>
          <p:cNvPr id="179" name="Google Shape;179;p20"/>
          <p:cNvSpPr txBox="1"/>
          <p:nvPr/>
        </p:nvSpPr>
        <p:spPr>
          <a:xfrm>
            <a:off x="545382" y="1985593"/>
            <a:ext cx="6546600" cy="17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I want to type in the answer to this maths question in the cell E11.</a:t>
            </a:r>
            <a:endParaRPr sz="1200">
              <a:solidFill>
                <a:srgbClr val="000000"/>
              </a:solidFill>
              <a:latin typeface="Lexend"/>
              <a:ea typeface="Lexend"/>
              <a:cs typeface="Lexend"/>
              <a:sym typeface="Lexend"/>
            </a:endParaRPr>
          </a:p>
        </p:txBody>
      </p:sp>
      <p:sp>
        <p:nvSpPr>
          <p:cNvPr id="180" name="Google Shape;180;p20"/>
          <p:cNvSpPr txBox="1"/>
          <p:nvPr/>
        </p:nvSpPr>
        <p:spPr>
          <a:xfrm>
            <a:off x="749688" y="3280488"/>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on the cell E11. You can check you have the correct cell by looking at the top left.</a:t>
            </a:r>
            <a:endParaRPr sz="1200">
              <a:solidFill>
                <a:srgbClr val="000000"/>
              </a:solidFill>
              <a:latin typeface="Lexend"/>
              <a:ea typeface="Lexend"/>
              <a:cs typeface="Lexend"/>
              <a:sym typeface="Lexend"/>
            </a:endParaRPr>
          </a:p>
        </p:txBody>
      </p:sp>
      <p:sp>
        <p:nvSpPr>
          <p:cNvPr id="181" name="Google Shape;181;p20"/>
          <p:cNvSpPr txBox="1"/>
          <p:nvPr/>
        </p:nvSpPr>
        <p:spPr>
          <a:xfrm>
            <a:off x="749688" y="3600105"/>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Press = to start a mathematical calculation.</a:t>
            </a:r>
            <a:endParaRPr sz="1200">
              <a:solidFill>
                <a:srgbClr val="000000"/>
              </a:solidFill>
              <a:latin typeface="Lexend"/>
              <a:ea typeface="Lexend"/>
              <a:cs typeface="Lexend"/>
              <a:sym typeface="Lexend"/>
            </a:endParaRPr>
          </a:p>
        </p:txBody>
      </p:sp>
      <p:sp>
        <p:nvSpPr>
          <p:cNvPr id="182" name="Google Shape;182;p20"/>
          <p:cNvSpPr txBox="1"/>
          <p:nvPr/>
        </p:nvSpPr>
        <p:spPr>
          <a:xfrm>
            <a:off x="4515660" y="2366843"/>
            <a:ext cx="2416200" cy="175800"/>
          </a:xfrm>
          <a:prstGeom prst="rect">
            <a:avLst/>
          </a:prstGeom>
          <a:noFill/>
          <a:ln>
            <a:noFill/>
          </a:ln>
        </p:spPr>
        <p:txBody>
          <a:bodyPr anchorCtr="0" anchor="t" bIns="0" lIns="0" spcFirstLastPara="1" rIns="0" wrap="square" tIns="0">
            <a:noAutofit/>
          </a:bodyPr>
          <a:lstStyle/>
          <a:p>
            <a:pPr indent="0" lvl="0" marL="0" rtl="0" algn="ctr">
              <a:lnSpc>
                <a:spcPct val="115000"/>
              </a:lnSpc>
              <a:spcBef>
                <a:spcPts val="0"/>
              </a:spcBef>
              <a:spcAft>
                <a:spcPts val="1000"/>
              </a:spcAft>
              <a:buNone/>
            </a:pPr>
            <a:r>
              <a:rPr lang="en-GB" sz="1200">
                <a:solidFill>
                  <a:srgbClr val="000000"/>
                </a:solidFill>
                <a:latin typeface="Lexend"/>
                <a:ea typeface="Lexend"/>
                <a:cs typeface="Lexend"/>
                <a:sym typeface="Lexend"/>
              </a:rPr>
              <a:t>cell E11 zoomed in</a:t>
            </a:r>
            <a:endParaRPr sz="1200">
              <a:solidFill>
                <a:srgbClr val="000000"/>
              </a:solidFill>
              <a:latin typeface="Lexend"/>
              <a:ea typeface="Lexend"/>
              <a:cs typeface="Lexend"/>
              <a:sym typeface="Lexend"/>
            </a:endParaRPr>
          </a:p>
        </p:txBody>
      </p:sp>
      <p:sp>
        <p:nvSpPr>
          <p:cNvPr id="183" name="Google Shape;183;p20"/>
          <p:cNvSpPr txBox="1"/>
          <p:nvPr/>
        </p:nvSpPr>
        <p:spPr>
          <a:xfrm>
            <a:off x="749735" y="5622988"/>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Press enter to complete your calculation.</a:t>
            </a:r>
            <a:endParaRPr sz="1200">
              <a:solidFill>
                <a:srgbClr val="000000"/>
              </a:solidFill>
              <a:latin typeface="Lexend"/>
              <a:ea typeface="Lexend"/>
              <a:cs typeface="Lexend"/>
              <a:sym typeface="Lexend"/>
            </a:endParaRPr>
          </a:p>
        </p:txBody>
      </p:sp>
      <p:sp>
        <p:nvSpPr>
          <p:cNvPr id="184" name="Google Shape;184;p20"/>
          <p:cNvSpPr txBox="1"/>
          <p:nvPr/>
        </p:nvSpPr>
        <p:spPr>
          <a:xfrm>
            <a:off x="749735" y="5303371"/>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cell C11, the cell containing the second number in your calculation.</a:t>
            </a:r>
            <a:endParaRPr sz="1200">
              <a:solidFill>
                <a:srgbClr val="000000"/>
              </a:solidFill>
              <a:latin typeface="Lexend"/>
              <a:ea typeface="Lexend"/>
              <a:cs typeface="Lexend"/>
              <a:sym typeface="Lexend"/>
            </a:endParaRPr>
          </a:p>
        </p:txBody>
      </p:sp>
      <p:pic>
        <p:nvPicPr>
          <p:cNvPr id="185" name="Google Shape;185;p20"/>
          <p:cNvPicPr preferRelativeResize="0"/>
          <p:nvPr/>
        </p:nvPicPr>
        <p:blipFill>
          <a:blip r:embed="rId3">
            <a:alphaModFix/>
          </a:blip>
          <a:stretch>
            <a:fillRect/>
          </a:stretch>
        </p:blipFill>
        <p:spPr>
          <a:xfrm>
            <a:off x="467988" y="2217092"/>
            <a:ext cx="3984425" cy="957873"/>
          </a:xfrm>
          <a:prstGeom prst="rect">
            <a:avLst/>
          </a:prstGeom>
          <a:noFill/>
          <a:ln>
            <a:noFill/>
          </a:ln>
        </p:spPr>
      </p:pic>
      <p:sp>
        <p:nvSpPr>
          <p:cNvPr id="186" name="Google Shape;186;p20"/>
          <p:cNvSpPr txBox="1"/>
          <p:nvPr/>
        </p:nvSpPr>
        <p:spPr>
          <a:xfrm>
            <a:off x="749735" y="4983754"/>
            <a:ext cx="63423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We want to divide, so on your keyboard, press the / button.</a:t>
            </a:r>
            <a:endParaRPr sz="1200">
              <a:solidFill>
                <a:srgbClr val="000000"/>
              </a:solidFill>
              <a:latin typeface="Lexend"/>
              <a:ea typeface="Lexend"/>
              <a:cs typeface="Lexend"/>
              <a:sym typeface="Lexend"/>
            </a:endParaRPr>
          </a:p>
        </p:txBody>
      </p:sp>
      <p:sp>
        <p:nvSpPr>
          <p:cNvPr id="187" name="Google Shape;187;p20"/>
          <p:cNvSpPr txBox="1"/>
          <p:nvPr/>
        </p:nvSpPr>
        <p:spPr>
          <a:xfrm>
            <a:off x="749735" y="4451737"/>
            <a:ext cx="63423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Notice how your calculation shows the cell number A11, not the number 360. This is correct.</a:t>
            </a:r>
            <a:endParaRPr sz="1200">
              <a:solidFill>
                <a:srgbClr val="000000"/>
              </a:solidFill>
              <a:latin typeface="Lexend"/>
              <a:ea typeface="Lexend"/>
              <a:cs typeface="Lexend"/>
              <a:sym typeface="Lexend"/>
            </a:endParaRPr>
          </a:p>
        </p:txBody>
      </p:sp>
      <p:sp>
        <p:nvSpPr>
          <p:cNvPr id="188" name="Google Shape;188;p20"/>
          <p:cNvSpPr txBox="1"/>
          <p:nvPr/>
        </p:nvSpPr>
        <p:spPr>
          <a:xfrm>
            <a:off x="467963" y="5942613"/>
            <a:ext cx="65466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1) </a:t>
            </a:r>
            <a:r>
              <a:rPr lang="en-GB" sz="1200">
                <a:latin typeface="Lexend"/>
                <a:ea typeface="Lexend"/>
                <a:cs typeface="Lexend"/>
                <a:sym typeface="Lexend"/>
              </a:rPr>
              <a:t>Write in the correct spreadsheet function into the zoomed in cell E11 above to </a:t>
            </a:r>
            <a:r>
              <a:rPr lang="en-GB" sz="1200">
                <a:latin typeface="Lexend"/>
                <a:ea typeface="Lexend"/>
                <a:cs typeface="Lexend"/>
                <a:sym typeface="Lexend"/>
              </a:rPr>
              <a:t>calculate the answer to the maths question 360 ÷ 9 = </a:t>
            </a:r>
            <a:endParaRPr sz="1200">
              <a:solidFill>
                <a:srgbClr val="000000"/>
              </a:solidFill>
              <a:latin typeface="Lexend"/>
              <a:ea typeface="Lexend"/>
              <a:cs typeface="Lexend"/>
              <a:sym typeface="Lexend"/>
            </a:endParaRPr>
          </a:p>
        </p:txBody>
      </p:sp>
      <p:sp>
        <p:nvSpPr>
          <p:cNvPr id="189" name="Google Shape;189;p20"/>
          <p:cNvSpPr txBox="1"/>
          <p:nvPr/>
        </p:nvSpPr>
        <p:spPr>
          <a:xfrm>
            <a:off x="749650" y="7343267"/>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Click in the cell you want to have the total and type in:</a:t>
            </a:r>
            <a:endParaRPr sz="1200">
              <a:solidFill>
                <a:srgbClr val="000000"/>
              </a:solidFill>
              <a:latin typeface="Lexend"/>
              <a:ea typeface="Lexend"/>
              <a:cs typeface="Lexend"/>
              <a:sym typeface="Lexend"/>
            </a:endParaRPr>
          </a:p>
        </p:txBody>
      </p:sp>
      <p:sp>
        <p:nvSpPr>
          <p:cNvPr id="190" name="Google Shape;190;p20"/>
          <p:cNvSpPr txBox="1"/>
          <p:nvPr/>
        </p:nvSpPr>
        <p:spPr>
          <a:xfrm>
            <a:off x="4515689" y="2604113"/>
            <a:ext cx="2416200" cy="39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Kalam"/>
                <a:ea typeface="Kalam"/>
                <a:cs typeface="Kalam"/>
                <a:sym typeface="Kalam"/>
              </a:rPr>
              <a:t>= A11 / C11</a:t>
            </a:r>
            <a:endParaRPr sz="1800">
              <a:solidFill>
                <a:srgbClr val="000000"/>
              </a:solidFill>
              <a:latin typeface="Kalam"/>
              <a:ea typeface="Kalam"/>
              <a:cs typeface="Kalam"/>
              <a:sym typeface="Kalam"/>
            </a:endParaRPr>
          </a:p>
        </p:txBody>
      </p:sp>
      <p:grpSp>
        <p:nvGrpSpPr>
          <p:cNvPr id="191" name="Google Shape;191;p20"/>
          <p:cNvGrpSpPr/>
          <p:nvPr/>
        </p:nvGrpSpPr>
        <p:grpSpPr>
          <a:xfrm>
            <a:off x="4824338" y="6523115"/>
            <a:ext cx="2107858" cy="3372699"/>
            <a:chOff x="6705375" y="810000"/>
            <a:chExt cx="2114625" cy="3383527"/>
          </a:xfrm>
        </p:grpSpPr>
        <p:grpSp>
          <p:nvGrpSpPr>
            <p:cNvPr id="192" name="Google Shape;192;p20"/>
            <p:cNvGrpSpPr/>
            <p:nvPr/>
          </p:nvGrpSpPr>
          <p:grpSpPr>
            <a:xfrm>
              <a:off x="6705375" y="810000"/>
              <a:ext cx="2114625" cy="3329375"/>
              <a:chOff x="6144625" y="810000"/>
              <a:chExt cx="2114625" cy="3329375"/>
            </a:xfrm>
          </p:grpSpPr>
          <p:pic>
            <p:nvPicPr>
              <p:cNvPr id="193" name="Google Shape;193;p20"/>
              <p:cNvPicPr preferRelativeResize="0"/>
              <p:nvPr/>
            </p:nvPicPr>
            <p:blipFill>
              <a:blip r:embed="rId4">
                <a:alphaModFix/>
              </a:blip>
              <a:stretch>
                <a:fillRect/>
              </a:stretch>
            </p:blipFill>
            <p:spPr>
              <a:xfrm>
                <a:off x="6144625" y="810000"/>
                <a:ext cx="1479100" cy="3329375"/>
              </a:xfrm>
              <a:prstGeom prst="rect">
                <a:avLst/>
              </a:prstGeom>
              <a:noFill/>
              <a:ln>
                <a:noFill/>
              </a:ln>
            </p:spPr>
          </p:pic>
          <p:pic>
            <p:nvPicPr>
              <p:cNvPr id="194" name="Google Shape;194;p20"/>
              <p:cNvPicPr preferRelativeResize="0"/>
              <p:nvPr/>
            </p:nvPicPr>
            <p:blipFill rotWithShape="1">
              <a:blip r:embed="rId4">
                <a:alphaModFix/>
              </a:blip>
              <a:srcRect b="0" l="72954" r="0" t="0"/>
              <a:stretch/>
            </p:blipFill>
            <p:spPr>
              <a:xfrm>
                <a:off x="7459200" y="810000"/>
                <a:ext cx="400025" cy="3329375"/>
              </a:xfrm>
              <a:prstGeom prst="rect">
                <a:avLst/>
              </a:prstGeom>
              <a:noFill/>
              <a:ln>
                <a:noFill/>
              </a:ln>
            </p:spPr>
          </p:pic>
          <p:pic>
            <p:nvPicPr>
              <p:cNvPr id="195" name="Google Shape;195;p20"/>
              <p:cNvPicPr preferRelativeResize="0"/>
              <p:nvPr/>
            </p:nvPicPr>
            <p:blipFill rotWithShape="1">
              <a:blip r:embed="rId4">
                <a:alphaModFix/>
              </a:blip>
              <a:srcRect b="0" l="72954" r="0" t="0"/>
              <a:stretch/>
            </p:blipFill>
            <p:spPr>
              <a:xfrm>
                <a:off x="7658675" y="810000"/>
                <a:ext cx="400025" cy="3329375"/>
              </a:xfrm>
              <a:prstGeom prst="rect">
                <a:avLst/>
              </a:prstGeom>
              <a:noFill/>
              <a:ln>
                <a:noFill/>
              </a:ln>
            </p:spPr>
          </p:pic>
          <p:pic>
            <p:nvPicPr>
              <p:cNvPr id="196" name="Google Shape;196;p20"/>
              <p:cNvPicPr preferRelativeResize="0"/>
              <p:nvPr/>
            </p:nvPicPr>
            <p:blipFill rotWithShape="1">
              <a:blip r:embed="rId4">
                <a:alphaModFix/>
              </a:blip>
              <a:srcRect b="0" l="72954" r="0" t="0"/>
              <a:stretch/>
            </p:blipFill>
            <p:spPr>
              <a:xfrm>
                <a:off x="7859225" y="810000"/>
                <a:ext cx="400025" cy="3329375"/>
              </a:xfrm>
              <a:prstGeom prst="rect">
                <a:avLst/>
              </a:prstGeom>
              <a:noFill/>
              <a:ln>
                <a:noFill/>
              </a:ln>
            </p:spPr>
          </p:pic>
        </p:grpSp>
        <p:grpSp>
          <p:nvGrpSpPr>
            <p:cNvPr id="197" name="Google Shape;197;p20"/>
            <p:cNvGrpSpPr/>
            <p:nvPr/>
          </p:nvGrpSpPr>
          <p:grpSpPr>
            <a:xfrm>
              <a:off x="6705375" y="4065301"/>
              <a:ext cx="2114625" cy="128226"/>
              <a:chOff x="6144625" y="4011150"/>
              <a:chExt cx="2114625" cy="128226"/>
            </a:xfrm>
          </p:grpSpPr>
          <p:pic>
            <p:nvPicPr>
              <p:cNvPr id="198" name="Google Shape;198;p20"/>
              <p:cNvPicPr preferRelativeResize="0"/>
              <p:nvPr/>
            </p:nvPicPr>
            <p:blipFill rotWithShape="1">
              <a:blip r:embed="rId4">
                <a:alphaModFix/>
              </a:blip>
              <a:srcRect b="0" l="0" r="0" t="96148"/>
              <a:stretch/>
            </p:blipFill>
            <p:spPr>
              <a:xfrm>
                <a:off x="6144625" y="4011150"/>
                <a:ext cx="1479100" cy="128226"/>
              </a:xfrm>
              <a:prstGeom prst="rect">
                <a:avLst/>
              </a:prstGeom>
              <a:noFill/>
              <a:ln>
                <a:noFill/>
              </a:ln>
            </p:spPr>
          </p:pic>
          <p:pic>
            <p:nvPicPr>
              <p:cNvPr id="199" name="Google Shape;199;p20"/>
              <p:cNvPicPr preferRelativeResize="0"/>
              <p:nvPr/>
            </p:nvPicPr>
            <p:blipFill rotWithShape="1">
              <a:blip r:embed="rId4">
                <a:alphaModFix/>
              </a:blip>
              <a:srcRect b="0" l="72954" r="0" t="96148"/>
              <a:stretch/>
            </p:blipFill>
            <p:spPr>
              <a:xfrm>
                <a:off x="7459200" y="4011150"/>
                <a:ext cx="400025" cy="128226"/>
              </a:xfrm>
              <a:prstGeom prst="rect">
                <a:avLst/>
              </a:prstGeom>
              <a:noFill/>
              <a:ln>
                <a:noFill/>
              </a:ln>
            </p:spPr>
          </p:pic>
          <p:pic>
            <p:nvPicPr>
              <p:cNvPr id="200" name="Google Shape;200;p20"/>
              <p:cNvPicPr preferRelativeResize="0"/>
              <p:nvPr/>
            </p:nvPicPr>
            <p:blipFill rotWithShape="1">
              <a:blip r:embed="rId4">
                <a:alphaModFix/>
              </a:blip>
              <a:srcRect b="0" l="72954" r="0" t="96148"/>
              <a:stretch/>
            </p:blipFill>
            <p:spPr>
              <a:xfrm>
                <a:off x="7658675" y="4011150"/>
                <a:ext cx="400025" cy="128226"/>
              </a:xfrm>
              <a:prstGeom prst="rect">
                <a:avLst/>
              </a:prstGeom>
              <a:noFill/>
              <a:ln>
                <a:noFill/>
              </a:ln>
            </p:spPr>
          </p:pic>
          <p:pic>
            <p:nvPicPr>
              <p:cNvPr id="201" name="Google Shape;201;p20"/>
              <p:cNvPicPr preferRelativeResize="0"/>
              <p:nvPr/>
            </p:nvPicPr>
            <p:blipFill rotWithShape="1">
              <a:blip r:embed="rId4">
                <a:alphaModFix/>
              </a:blip>
              <a:srcRect b="0" l="72954" r="0" t="96148"/>
              <a:stretch/>
            </p:blipFill>
            <p:spPr>
              <a:xfrm>
                <a:off x="7859225" y="4011150"/>
                <a:ext cx="400025" cy="128226"/>
              </a:xfrm>
              <a:prstGeom prst="rect">
                <a:avLst/>
              </a:prstGeom>
              <a:noFill/>
              <a:ln>
                <a:noFill/>
              </a:ln>
            </p:spPr>
          </p:pic>
        </p:grpSp>
        <p:sp>
          <p:nvSpPr>
            <p:cNvPr id="202" name="Google Shape;202;p20"/>
            <p:cNvSpPr/>
            <p:nvPr/>
          </p:nvSpPr>
          <p:spPr>
            <a:xfrm>
              <a:off x="7105550" y="3878325"/>
              <a:ext cx="1527300" cy="2337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03" name="Google Shape;203;p20"/>
          <p:cNvSpPr txBox="1"/>
          <p:nvPr/>
        </p:nvSpPr>
        <p:spPr>
          <a:xfrm>
            <a:off x="749650" y="6821625"/>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It is very easy to add together large lists of numbers.</a:t>
            </a:r>
            <a:endParaRPr sz="1200">
              <a:solidFill>
                <a:srgbClr val="000000"/>
              </a:solidFill>
              <a:latin typeface="Lexend"/>
              <a:ea typeface="Lexend"/>
              <a:cs typeface="Lexend"/>
              <a:sym typeface="Lexend"/>
            </a:endParaRPr>
          </a:p>
        </p:txBody>
      </p:sp>
      <p:sp>
        <p:nvSpPr>
          <p:cNvPr id="204" name="Google Shape;204;p20"/>
          <p:cNvSpPr txBox="1"/>
          <p:nvPr/>
        </p:nvSpPr>
        <p:spPr>
          <a:xfrm>
            <a:off x="1663362" y="7612907"/>
            <a:ext cx="9828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solidFill>
                  <a:srgbClr val="845AD9"/>
                </a:solidFill>
                <a:latin typeface="Lexend"/>
                <a:ea typeface="Lexend"/>
                <a:cs typeface="Lexend"/>
                <a:sym typeface="Lexend"/>
              </a:rPr>
              <a:t>=sum(</a:t>
            </a:r>
            <a:endParaRPr sz="1200">
              <a:solidFill>
                <a:srgbClr val="845AD9"/>
              </a:solidFill>
              <a:latin typeface="Lexend"/>
              <a:ea typeface="Lexend"/>
              <a:cs typeface="Lexend"/>
              <a:sym typeface="Lexend"/>
            </a:endParaRPr>
          </a:p>
        </p:txBody>
      </p:sp>
      <p:sp>
        <p:nvSpPr>
          <p:cNvPr id="205" name="Google Shape;205;p20"/>
          <p:cNvSpPr txBox="1"/>
          <p:nvPr/>
        </p:nvSpPr>
        <p:spPr>
          <a:xfrm>
            <a:off x="749650" y="7864908"/>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Then click, hold, and drag to select all the cells you want to add together.</a:t>
            </a:r>
            <a:endParaRPr sz="1200">
              <a:solidFill>
                <a:srgbClr val="000000"/>
              </a:solidFill>
              <a:latin typeface="Lexend"/>
              <a:ea typeface="Lexend"/>
              <a:cs typeface="Lexend"/>
              <a:sym typeface="Lexend"/>
            </a:endParaRPr>
          </a:p>
        </p:txBody>
      </p:sp>
      <p:sp>
        <p:nvSpPr>
          <p:cNvPr id="206" name="Google Shape;206;p20"/>
          <p:cNvSpPr txBox="1"/>
          <p:nvPr/>
        </p:nvSpPr>
        <p:spPr>
          <a:xfrm>
            <a:off x="749650" y="8386550"/>
            <a:ext cx="35544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000000"/>
                </a:solidFill>
                <a:latin typeface="Lexend"/>
                <a:ea typeface="Lexend"/>
                <a:cs typeface="Lexend"/>
                <a:sym typeface="Lexend"/>
              </a:rPr>
              <a:t>Type the close bracket ), and press enter to perform your calculation.</a:t>
            </a:r>
            <a:endParaRPr sz="1200">
              <a:solidFill>
                <a:srgbClr val="000000"/>
              </a:solidFill>
              <a:latin typeface="Lexend"/>
              <a:ea typeface="Lexend"/>
              <a:cs typeface="Lexend"/>
              <a:sym typeface="Lexend"/>
            </a:endParaRPr>
          </a:p>
        </p:txBody>
      </p:sp>
      <p:sp>
        <p:nvSpPr>
          <p:cNvPr id="207" name="Google Shape;207;p20"/>
          <p:cNvSpPr txBox="1"/>
          <p:nvPr/>
        </p:nvSpPr>
        <p:spPr>
          <a:xfrm>
            <a:off x="5201309" y="9551143"/>
            <a:ext cx="1622700" cy="286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Kalam"/>
                <a:ea typeface="Kalam"/>
                <a:cs typeface="Kalam"/>
                <a:sym typeface="Kalam"/>
              </a:rPr>
              <a:t>= sum (A37 : A43)</a:t>
            </a:r>
            <a:endParaRPr sz="1200">
              <a:solidFill>
                <a:srgbClr val="000000"/>
              </a:solidFill>
              <a:latin typeface="Kalam"/>
              <a:ea typeface="Kalam"/>
              <a:cs typeface="Kalam"/>
              <a:sym typeface="Kalam"/>
            </a:endParaRPr>
          </a:p>
        </p:txBody>
      </p:sp>
      <p:sp>
        <p:nvSpPr>
          <p:cNvPr id="208" name="Google Shape;208;p20"/>
          <p:cNvSpPr txBox="1"/>
          <p:nvPr/>
        </p:nvSpPr>
        <p:spPr>
          <a:xfrm>
            <a:off x="467925" y="1265525"/>
            <a:ext cx="5739900" cy="3693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lang="en-GB" sz="1200" u="sng">
                <a:solidFill>
                  <a:srgbClr val="0000FF"/>
                </a:solidFill>
                <a:latin typeface="Lexend"/>
                <a:ea typeface="Lexend"/>
                <a:cs typeface="Lexend"/>
                <a:sym typeface="Lexend"/>
                <a:hlinkClick r:id="rId5">
                  <a:extLst>
                    <a:ext uri="{A12FA001-AC4F-418D-AE19-62706E023703}">
                      <ahyp:hlinkClr val="tx"/>
                    </a:ext>
                  </a:extLst>
                </a:hlinkClick>
              </a:rPr>
              <a:t>All answers are accessed by clicking this link</a:t>
            </a:r>
            <a:r>
              <a:rPr lang="en-GB" sz="1200">
                <a:solidFill>
                  <a:srgbClr val="0000FF"/>
                </a:solidFill>
                <a:latin typeface="Lexend"/>
                <a:ea typeface="Lexend"/>
                <a:cs typeface="Lexend"/>
                <a:sym typeface="Lexend"/>
              </a:rPr>
              <a:t> </a:t>
            </a:r>
            <a:r>
              <a:rPr lang="en-GB" sz="1200">
                <a:solidFill>
                  <a:srgbClr val="000000"/>
                </a:solidFill>
                <a:latin typeface="Lexend"/>
                <a:ea typeface="Lexend"/>
                <a:cs typeface="Lexend"/>
                <a:sym typeface="Lexend"/>
              </a:rPr>
              <a:t>🖇</a:t>
            </a:r>
            <a:endParaRPr sz="1200">
              <a:solidFill>
                <a:srgbClr val="000000"/>
              </a:solidFill>
              <a:latin typeface="Lexend"/>
              <a:ea typeface="Lexend"/>
              <a:cs typeface="Lexend"/>
              <a:sym typeface="Lexend"/>
            </a:endParaRPr>
          </a:p>
        </p:txBody>
      </p:sp>
      <p:sp>
        <p:nvSpPr>
          <p:cNvPr id="209" name="Google Shape;209;p20"/>
          <p:cNvSpPr txBox="1"/>
          <p:nvPr/>
        </p:nvSpPr>
        <p:spPr>
          <a:xfrm>
            <a:off x="317575" y="10205050"/>
            <a:ext cx="72834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999999"/>
                </a:solidFill>
                <a:latin typeface="Lexend"/>
                <a:ea typeface="Lexend"/>
                <a:cs typeface="Lexend"/>
                <a:sym typeface="Lexend"/>
              </a:rPr>
              <a:t>Google Sheets is a trademark of Google LLC and this content is not endorsed by or affiliated with Google in any way.</a:t>
            </a:r>
            <a:endParaRPr sz="600">
              <a:solidFill>
                <a:srgbClr val="999999"/>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1"/>
          <p:cNvSpPr txBox="1"/>
          <p:nvPr/>
        </p:nvSpPr>
        <p:spPr>
          <a:xfrm>
            <a:off x="5857975" y="1555750"/>
            <a:ext cx="1233900" cy="29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Kalam"/>
                <a:ea typeface="Kalam"/>
                <a:cs typeface="Kalam"/>
                <a:sym typeface="Kalam"/>
              </a:rPr>
              <a:t>= C7 * D14</a:t>
            </a:r>
            <a:endParaRPr sz="1200">
              <a:solidFill>
                <a:srgbClr val="000000"/>
              </a:solidFill>
              <a:latin typeface="Kalam"/>
              <a:ea typeface="Kalam"/>
              <a:cs typeface="Kalam"/>
              <a:sym typeface="Kalam"/>
            </a:endParaRPr>
          </a:p>
        </p:txBody>
      </p:sp>
      <p:sp>
        <p:nvSpPr>
          <p:cNvPr id="215" name="Google Shape;215;p21"/>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Constructing pie charts by utilising technology</a:t>
            </a:r>
            <a:endParaRPr/>
          </a:p>
        </p:txBody>
      </p:sp>
      <p:sp>
        <p:nvSpPr>
          <p:cNvPr id="216" name="Google Shape;216;p21"/>
          <p:cNvSpPr txBox="1"/>
          <p:nvPr/>
        </p:nvSpPr>
        <p:spPr>
          <a:xfrm>
            <a:off x="468000" y="720000"/>
            <a:ext cx="26409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solidFill>
                  <a:srgbClr val="000000"/>
                </a:solidFill>
                <a:latin typeface="Lexend"/>
                <a:ea typeface="Lexend"/>
                <a:cs typeface="Lexend"/>
                <a:sym typeface="Lexend"/>
              </a:rPr>
              <a:t>A teacher collected data showing the number of students from each year group who attended homework club last week.</a:t>
            </a:r>
            <a:endParaRPr sz="12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rPr lang="en-GB" sz="1200">
                <a:solidFill>
                  <a:srgbClr val="000000"/>
                </a:solidFill>
                <a:latin typeface="Lexend"/>
                <a:ea typeface="Lexend"/>
                <a:cs typeface="Lexend"/>
                <a:sym typeface="Lexend"/>
              </a:rPr>
              <a:t>The teacher wants to represent this data as a pie chart using spreadsheets.</a:t>
            </a:r>
            <a:endParaRPr sz="1200">
              <a:solidFill>
                <a:srgbClr val="000000"/>
              </a:solidFill>
              <a:latin typeface="Lexend"/>
              <a:ea typeface="Lexend"/>
              <a:cs typeface="Lexend"/>
              <a:sym typeface="Lexend"/>
            </a:endParaRPr>
          </a:p>
        </p:txBody>
      </p:sp>
      <p:graphicFrame>
        <p:nvGraphicFramePr>
          <p:cNvPr id="217" name="Google Shape;217;p21"/>
          <p:cNvGraphicFramePr/>
          <p:nvPr/>
        </p:nvGraphicFramePr>
        <p:xfrm>
          <a:off x="3420000" y="802325"/>
          <a:ext cx="3000000" cy="3000000"/>
        </p:xfrm>
        <a:graphic>
          <a:graphicData uri="http://schemas.openxmlformats.org/drawingml/2006/table">
            <a:tbl>
              <a:tblPr>
                <a:noFill/>
                <a:tableStyleId>{9DFF6962-E743-4BA0-ABAE-69875E780140}</a:tableStyleId>
              </a:tblPr>
              <a:tblGrid>
                <a:gridCol w="549050"/>
                <a:gridCol w="654900"/>
                <a:gridCol w="1234025"/>
                <a:gridCol w="1234025"/>
              </a:tblGrid>
              <a:tr h="296225">
                <a:tc>
                  <a:txBody>
                    <a:bodyPr/>
                    <a:lstStyle/>
                    <a:p>
                      <a:pPr indent="0" lvl="0" marL="0" rtl="0" algn="ctr">
                        <a:lnSpc>
                          <a:spcPct val="115000"/>
                        </a:lnSpc>
                        <a:spcBef>
                          <a:spcPts val="0"/>
                        </a:spcBef>
                        <a:spcAft>
                          <a:spcPts val="0"/>
                        </a:spcAft>
                        <a:buNone/>
                      </a:pPr>
                      <a:r>
                        <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alpha val="0"/>
                        </a:schemeClr>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alpha val="0"/>
                        </a:schemeClr>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B</a:t>
                      </a:r>
                      <a:endParaRPr sz="1200">
                        <a:solidFill>
                          <a:srgbClr val="FFFFFF"/>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C</a:t>
                      </a:r>
                      <a:endParaRPr sz="1200">
                        <a:solidFill>
                          <a:srgbClr val="FFFFFF"/>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lang="en-GB" sz="1200">
                          <a:solidFill>
                            <a:srgbClr val="FFFFFF"/>
                          </a:solidFill>
                          <a:latin typeface="Lexend"/>
                          <a:ea typeface="Lexend"/>
                          <a:cs typeface="Lexend"/>
                          <a:sym typeface="Lexend"/>
                        </a:rPr>
                        <a:t>D</a:t>
                      </a:r>
                      <a:endParaRPr sz="1200">
                        <a:solidFill>
                          <a:srgbClr val="FFFFFF"/>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6</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b="1" lang="en-GB" sz="1200">
                          <a:solidFill>
                            <a:schemeClr val="dk1"/>
                          </a:solidFill>
                          <a:latin typeface="Lexend"/>
                          <a:ea typeface="Lexend"/>
                          <a:cs typeface="Lexend"/>
                          <a:sym typeface="Lexend"/>
                        </a:rPr>
                        <a:t>Year Group</a:t>
                      </a:r>
                      <a:endParaRPr b="1" sz="1200">
                        <a:solidFill>
                          <a:schemeClr val="dk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GB" sz="1200">
                          <a:solidFill>
                            <a:schemeClr val="dk1"/>
                          </a:solidFill>
                          <a:latin typeface="Lexend"/>
                          <a:ea typeface="Lexend"/>
                          <a:cs typeface="Lexend"/>
                          <a:sym typeface="Lexend"/>
                        </a:rPr>
                        <a:t>Angle</a:t>
                      </a:r>
                      <a:endParaRPr b="1" sz="1200">
                        <a:solidFill>
                          <a:schemeClr val="dk1"/>
                        </a:solidFill>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9525">
                      <a:solidFill>
                        <a:schemeClr val="dk2"/>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7</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7</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42</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8</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8</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9</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9</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36</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10</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10</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96225">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11</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lnSpc>
                          <a:spcPct val="115000"/>
                        </a:lnSpc>
                        <a:spcBef>
                          <a:spcPts val="0"/>
                        </a:spcBef>
                        <a:spcAft>
                          <a:spcPts val="0"/>
                        </a:spcAft>
                        <a:buNone/>
                      </a:pPr>
                      <a:r>
                        <a:rPr lang="en-GB" sz="1200">
                          <a:latin typeface="Lexend"/>
                          <a:ea typeface="Lexend"/>
                          <a:cs typeface="Lexend"/>
                          <a:sym typeface="Lexend"/>
                        </a:rPr>
                        <a:t>Year 11</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200">
                          <a:latin typeface="Lexend"/>
                          <a:ea typeface="Lexend"/>
                          <a:cs typeface="Lexend"/>
                          <a:sym typeface="Lexend"/>
                        </a:rPr>
                        <a:t>48</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62075">
                <a:tc>
                  <a:txBody>
                    <a:bodyPr/>
                    <a:lstStyle/>
                    <a:p>
                      <a:pPr indent="0" lvl="0" marL="0" rtl="0" algn="ctr">
                        <a:spcBef>
                          <a:spcPts val="0"/>
                        </a:spcBef>
                        <a:spcAft>
                          <a:spcPts val="0"/>
                        </a:spcAft>
                        <a:buNone/>
                      </a:pPr>
                      <a:r>
                        <a:rPr lang="en-GB" sz="1200">
                          <a:solidFill>
                            <a:schemeClr val="lt1"/>
                          </a:solidFill>
                          <a:latin typeface="Lexend"/>
                          <a:ea typeface="Lexend"/>
                          <a:cs typeface="Lexend"/>
                          <a:sym typeface="Lexend"/>
                        </a:rPr>
                        <a:t>12</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19050">
                      <a:solidFill>
                        <a:srgbClr val="B7B7B7"/>
                      </a:solidFill>
                      <a:prstDash val="solid"/>
                      <a:round/>
                      <a:headEnd len="sm" w="sm" type="none"/>
                      <a:tailEnd len="sm" w="sm" type="none"/>
                    </a:lnL>
                    <a:lnR cap="flat" cmpd="sng" w="19050">
                      <a:solidFill>
                        <a:srgbClr val="B7B7B7"/>
                      </a:solidFill>
                      <a:prstDash val="solid"/>
                      <a:round/>
                      <a:headEnd len="sm" w="sm" type="none"/>
                      <a:tailEnd len="sm" w="sm" type="none"/>
                    </a:lnR>
                    <a:lnT cap="flat" cmpd="sng" w="19050">
                      <a:solidFill>
                        <a:srgbClr val="B7B7B7"/>
                      </a:solidFill>
                      <a:prstDash val="solid"/>
                      <a:round/>
                      <a:headEnd len="sm" w="sm" type="none"/>
                      <a:tailEnd len="sm" w="sm" type="none"/>
                    </a:lnT>
                    <a:lnB cap="flat" cmpd="sng" w="19050">
                      <a:solidFill>
                        <a:srgbClr val="B7B7B7"/>
                      </a:solidFill>
                      <a:prstDash val="solid"/>
                      <a:round/>
                      <a:headEnd len="sm" w="sm" type="none"/>
                      <a:tailEnd len="sm" w="sm" type="none"/>
                    </a:lnB>
                  </a:tcPr>
                </a:tc>
              </a:tr>
              <a:tr h="262075">
                <a:tc>
                  <a:txBody>
                    <a:bodyPr/>
                    <a:lstStyle/>
                    <a:p>
                      <a:pPr indent="0" lvl="0" marL="0" rtl="0" algn="ctr">
                        <a:spcBef>
                          <a:spcPts val="0"/>
                        </a:spcBef>
                        <a:spcAft>
                          <a:spcPts val="0"/>
                        </a:spcAft>
                        <a:buNone/>
                      </a:pPr>
                      <a:r>
                        <a:rPr lang="en-GB" sz="1200">
                          <a:solidFill>
                            <a:schemeClr val="lt1"/>
                          </a:solidFill>
                          <a:latin typeface="Lexend"/>
                          <a:ea typeface="Lexend"/>
                          <a:cs typeface="Lexend"/>
                          <a:sym typeface="Lexend"/>
                        </a:rPr>
                        <a:t>13</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b">
                    <a:lnL cap="flat" cmpd="sng" w="9525">
                      <a:solidFill>
                        <a:schemeClr val="dk2"/>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19050">
                      <a:solidFill>
                        <a:srgbClr val="B7B7B7"/>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19050">
                      <a:solidFill>
                        <a:srgbClr val="B7B7B7"/>
                      </a:solidFill>
                      <a:prstDash val="solid"/>
                      <a:round/>
                      <a:headEnd len="sm" w="sm" type="none"/>
                      <a:tailEnd len="sm" w="sm" type="none"/>
                    </a:lnT>
                    <a:lnB cap="flat" cmpd="sng" w="9525">
                      <a:solidFill>
                        <a:srgbClr val="CCCCCC">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9525">
                      <a:solidFill>
                        <a:srgbClr val="CCCCCC">
                          <a:alpha val="0"/>
                        </a:srgbClr>
                      </a:solidFill>
                      <a:prstDash val="solid"/>
                      <a:round/>
                      <a:headEnd len="sm" w="sm" type="none"/>
                      <a:tailEnd len="sm" w="sm" type="none"/>
                    </a:lnL>
                    <a:lnR cap="flat" cmpd="sng" w="9525">
                      <a:solidFill>
                        <a:srgbClr val="CCCCCC"/>
                      </a:solidFill>
                      <a:prstDash val="solid"/>
                      <a:round/>
                      <a:headEnd len="sm" w="sm" type="none"/>
                      <a:tailEnd len="sm" w="sm" type="none"/>
                    </a:lnR>
                    <a:lnT cap="flat" cmpd="sng" w="19050">
                      <a:solidFill>
                        <a:srgbClr val="B7B7B7"/>
                      </a:solidFill>
                      <a:prstDash val="solid"/>
                      <a:round/>
                      <a:headEnd len="sm" w="sm" type="none"/>
                      <a:tailEnd len="sm" w="sm" type="none"/>
                    </a:lnT>
                    <a:lnB cap="flat" cmpd="sng" w="38100">
                      <a:solidFill>
                        <a:srgbClr val="845AD9"/>
                      </a:solidFill>
                      <a:prstDash val="solid"/>
                      <a:round/>
                      <a:headEnd len="sm" w="sm" type="none"/>
                      <a:tailEnd len="sm" w="sm" type="none"/>
                    </a:lnB>
                  </a:tcPr>
                </a:tc>
              </a:tr>
              <a:tr h="452650">
                <a:tc>
                  <a:txBody>
                    <a:bodyPr/>
                    <a:lstStyle/>
                    <a:p>
                      <a:pPr indent="0" lvl="0" marL="0" rtl="0" algn="ctr">
                        <a:lnSpc>
                          <a:spcPct val="115000"/>
                        </a:lnSpc>
                        <a:spcBef>
                          <a:spcPts val="0"/>
                        </a:spcBef>
                        <a:spcAft>
                          <a:spcPts val="0"/>
                        </a:spcAft>
                        <a:buNone/>
                      </a:pPr>
                      <a:r>
                        <a:rPr lang="en-GB" sz="1200">
                          <a:solidFill>
                            <a:schemeClr val="lt1"/>
                          </a:solidFill>
                          <a:latin typeface="Lexend"/>
                          <a:ea typeface="Lexend"/>
                          <a:cs typeface="Lexend"/>
                          <a:sym typeface="Lexend"/>
                        </a:rPr>
                        <a:t>14</a:t>
                      </a:r>
                      <a:endParaRPr sz="1200">
                        <a:solidFill>
                          <a:schemeClr val="lt1"/>
                        </a:solidFill>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B7B7B7"/>
                    </a:solidFill>
                  </a:tcPr>
                </a:tc>
                <a:tc gridSpan="2">
                  <a:txBody>
                    <a:bodyPr/>
                    <a:lstStyle/>
                    <a:p>
                      <a:pPr indent="0" lvl="0" marL="0" rtl="0" algn="r">
                        <a:lnSpc>
                          <a:spcPct val="115000"/>
                        </a:lnSpc>
                        <a:spcBef>
                          <a:spcPts val="0"/>
                        </a:spcBef>
                        <a:spcAft>
                          <a:spcPts val="0"/>
                        </a:spcAft>
                        <a:buClr>
                          <a:srgbClr val="000000"/>
                        </a:buClr>
                        <a:buSzPts val="1100"/>
                        <a:buFont typeface="Arial"/>
                        <a:buNone/>
                      </a:pPr>
                      <a:r>
                        <a:rPr lang="en-GB" sz="1200">
                          <a:solidFill>
                            <a:srgbClr val="000000"/>
                          </a:solidFill>
                          <a:latin typeface="Lexend"/>
                          <a:ea typeface="Lexend"/>
                          <a:cs typeface="Lexend"/>
                          <a:sym typeface="Lexend"/>
                        </a:rPr>
                        <a:t>multiplier</a:t>
                      </a:r>
                      <a:endParaRPr sz="1200">
                        <a:latin typeface="Lexend"/>
                        <a:ea typeface="Lexend"/>
                        <a:cs typeface="Lexend"/>
                        <a:sym typeface="Lexend"/>
                      </a:endParaRPr>
                    </a:p>
                  </a:txBody>
                  <a:tcPr marT="19050" marB="19050" marR="28575" marL="28575" anchor="ctr">
                    <a:lnL cap="flat" cmpd="sng" w="9525">
                      <a:solidFill>
                        <a:schemeClr val="dk2"/>
                      </a:solidFill>
                      <a:prstDash val="solid"/>
                      <a:round/>
                      <a:headEnd len="sm" w="sm" type="none"/>
                      <a:tailEnd len="sm" w="sm" type="none"/>
                    </a:lnL>
                    <a:lnR cap="flat" cmpd="sng" w="38100">
                      <a:solidFill>
                        <a:srgbClr val="845AD9"/>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solidFill>
                      <a:prstDash val="solid"/>
                      <a:round/>
                      <a:headEnd len="sm" w="sm" type="none"/>
                      <a:tailEnd len="sm" w="sm" type="none"/>
                    </a:lnB>
                  </a:tcPr>
                </a:tc>
                <a:tc hMerge="1"/>
                <a:tc>
                  <a:txBody>
                    <a:bodyPr/>
                    <a:lstStyle/>
                    <a:p>
                      <a:pPr indent="0" lvl="0" marL="0" rtl="0" algn="l">
                        <a:spcBef>
                          <a:spcPts val="0"/>
                        </a:spcBef>
                        <a:spcAft>
                          <a:spcPts val="0"/>
                        </a:spcAft>
                        <a:buNone/>
                      </a:pPr>
                      <a:r>
                        <a:t/>
                      </a:r>
                      <a:endParaRPr sz="1200">
                        <a:latin typeface="Lexend"/>
                        <a:ea typeface="Lexend"/>
                        <a:cs typeface="Lexend"/>
                        <a:sym typeface="Lexend"/>
                      </a:endParaRPr>
                    </a:p>
                  </a:txBody>
                  <a:tcPr marT="19050" marB="19050" marR="28575" marL="28575" anchor="ctr">
                    <a:lnL cap="flat" cmpd="sng" w="38100">
                      <a:solidFill>
                        <a:srgbClr val="845AD9"/>
                      </a:solidFill>
                      <a:prstDash val="solid"/>
                      <a:round/>
                      <a:headEnd len="sm" w="sm" type="none"/>
                      <a:tailEnd len="sm" w="sm" type="none"/>
                    </a:lnL>
                    <a:lnR cap="flat" cmpd="sng" w="38100">
                      <a:solidFill>
                        <a:srgbClr val="845AD9"/>
                      </a:solidFill>
                      <a:prstDash val="solid"/>
                      <a:round/>
                      <a:headEnd len="sm" w="sm" type="none"/>
                      <a:tailEnd len="sm" w="sm" type="none"/>
                    </a:lnR>
                    <a:lnT cap="flat" cmpd="sng" w="38100">
                      <a:solidFill>
                        <a:srgbClr val="845AD9"/>
                      </a:solidFill>
                      <a:prstDash val="solid"/>
                      <a:round/>
                      <a:headEnd len="sm" w="sm" type="none"/>
                      <a:tailEnd len="sm" w="sm" type="none"/>
                    </a:lnT>
                    <a:lnB cap="flat" cmpd="sng" w="38100">
                      <a:solidFill>
                        <a:srgbClr val="845AD9"/>
                      </a:solidFill>
                      <a:prstDash val="solid"/>
                      <a:round/>
                      <a:headEnd len="sm" w="sm" type="none"/>
                      <a:tailEnd len="sm" w="sm" type="none"/>
                    </a:lnB>
                  </a:tcPr>
                </a:tc>
              </a:tr>
            </a:tbl>
          </a:graphicData>
        </a:graphic>
      </p:graphicFrame>
      <p:sp>
        <p:nvSpPr>
          <p:cNvPr id="218" name="Google Shape;218;p21"/>
          <p:cNvSpPr txBox="1"/>
          <p:nvPr/>
        </p:nvSpPr>
        <p:spPr>
          <a:xfrm>
            <a:off x="468000" y="2565450"/>
            <a:ext cx="26409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200">
                <a:latin typeface="Lexend"/>
                <a:ea typeface="Lexend"/>
                <a:cs typeface="Lexend"/>
                <a:sym typeface="Lexend"/>
              </a:rPr>
              <a:t>3) Fill in each cell with the correct spreadsheet function to find:</a:t>
            </a:r>
            <a:endParaRPr sz="1200">
              <a:latin typeface="Lexend"/>
              <a:ea typeface="Lexend"/>
              <a:cs typeface="Lexend"/>
              <a:sym typeface="Lexend"/>
            </a:endParaRPr>
          </a:p>
        </p:txBody>
      </p:sp>
      <p:sp>
        <p:nvSpPr>
          <p:cNvPr id="219" name="Google Shape;219;p21"/>
          <p:cNvSpPr txBox="1"/>
          <p:nvPr/>
        </p:nvSpPr>
        <p:spPr>
          <a:xfrm>
            <a:off x="912825" y="2995698"/>
            <a:ext cx="21960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t</a:t>
            </a:r>
            <a:r>
              <a:rPr lang="en-GB" sz="1200">
                <a:latin typeface="Lexend"/>
                <a:ea typeface="Lexend"/>
                <a:cs typeface="Lexend"/>
                <a:sym typeface="Lexend"/>
              </a:rPr>
              <a:t>he total frequency</a:t>
            </a:r>
            <a:endParaRPr sz="1200">
              <a:latin typeface="Lexend"/>
              <a:ea typeface="Lexend"/>
              <a:cs typeface="Lexend"/>
              <a:sym typeface="Lexend"/>
            </a:endParaRPr>
          </a:p>
          <a:p>
            <a:pPr indent="0" lvl="0" marL="0" rtl="0" algn="l">
              <a:lnSpc>
                <a:spcPct val="115000"/>
              </a:lnSpc>
              <a:spcBef>
                <a:spcPts val="0"/>
              </a:spcBef>
              <a:spcAft>
                <a:spcPts val="0"/>
              </a:spcAft>
              <a:buNone/>
            </a:pPr>
            <a:r>
              <a:rPr lang="en-GB" sz="1200">
                <a:latin typeface="Lexend"/>
                <a:ea typeface="Lexend"/>
                <a:cs typeface="Lexend"/>
                <a:sym typeface="Lexend"/>
              </a:rPr>
              <a:t>t</a:t>
            </a:r>
            <a:r>
              <a:rPr lang="en-GB" sz="1200">
                <a:latin typeface="Lexend"/>
                <a:ea typeface="Lexend"/>
                <a:cs typeface="Lexend"/>
                <a:sym typeface="Lexend"/>
              </a:rPr>
              <a:t>he multiplier</a:t>
            </a:r>
            <a:endParaRPr sz="1200">
              <a:latin typeface="Lexend"/>
              <a:ea typeface="Lexend"/>
              <a:cs typeface="Lexend"/>
              <a:sym typeface="Lexend"/>
            </a:endParaRPr>
          </a:p>
          <a:p>
            <a:pPr indent="0" lvl="0" marL="0" rtl="0" algn="l">
              <a:lnSpc>
                <a:spcPct val="115000"/>
              </a:lnSpc>
              <a:spcBef>
                <a:spcPts val="0"/>
              </a:spcBef>
              <a:spcAft>
                <a:spcPts val="0"/>
              </a:spcAft>
              <a:buNone/>
            </a:pPr>
            <a:r>
              <a:rPr lang="en-GB" sz="1200">
                <a:latin typeface="Lexend"/>
                <a:ea typeface="Lexend"/>
                <a:cs typeface="Lexend"/>
                <a:sym typeface="Lexend"/>
              </a:rPr>
              <a:t>t</a:t>
            </a:r>
            <a:r>
              <a:rPr lang="en-GB" sz="1200">
                <a:latin typeface="Lexend"/>
                <a:ea typeface="Lexend"/>
                <a:cs typeface="Lexend"/>
                <a:sym typeface="Lexend"/>
              </a:rPr>
              <a:t>he </a:t>
            </a:r>
            <a:r>
              <a:rPr lang="en-GB" sz="1200">
                <a:latin typeface="Lexend"/>
                <a:ea typeface="Lexend"/>
                <a:cs typeface="Lexend"/>
                <a:sym typeface="Lexend"/>
              </a:rPr>
              <a:t>size</a:t>
            </a:r>
            <a:r>
              <a:rPr lang="en-GB" sz="1200">
                <a:latin typeface="Lexend"/>
                <a:ea typeface="Lexend"/>
                <a:cs typeface="Lexend"/>
                <a:sym typeface="Lexend"/>
              </a:rPr>
              <a:t> of each angle</a:t>
            </a:r>
            <a:endParaRPr sz="1200">
              <a:latin typeface="Lexend"/>
              <a:ea typeface="Lexend"/>
              <a:cs typeface="Lexend"/>
              <a:sym typeface="Lexend"/>
            </a:endParaRPr>
          </a:p>
        </p:txBody>
      </p:sp>
      <p:sp>
        <p:nvSpPr>
          <p:cNvPr id="220" name="Google Shape;220;p21"/>
          <p:cNvSpPr txBox="1"/>
          <p:nvPr/>
        </p:nvSpPr>
        <p:spPr>
          <a:xfrm>
            <a:off x="5857976" y="3561025"/>
            <a:ext cx="1233900" cy="452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Kalam"/>
                <a:ea typeface="Kalam"/>
                <a:cs typeface="Kalam"/>
                <a:sym typeface="Kalam"/>
              </a:rPr>
              <a:t>= 360 / C11</a:t>
            </a:r>
            <a:endParaRPr sz="1200">
              <a:solidFill>
                <a:srgbClr val="000000"/>
              </a:solidFill>
              <a:latin typeface="Kalam"/>
              <a:ea typeface="Kalam"/>
              <a:cs typeface="Kalam"/>
              <a:sym typeface="Kalam"/>
            </a:endParaRPr>
          </a:p>
        </p:txBody>
      </p:sp>
      <p:sp>
        <p:nvSpPr>
          <p:cNvPr id="221" name="Google Shape;221;p21"/>
          <p:cNvSpPr txBox="1"/>
          <p:nvPr/>
        </p:nvSpPr>
        <p:spPr>
          <a:xfrm>
            <a:off x="4623950" y="3036875"/>
            <a:ext cx="1233900" cy="262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200">
                <a:latin typeface="Kalam"/>
                <a:ea typeface="Kalam"/>
                <a:cs typeface="Kalam"/>
                <a:sym typeface="Kalam"/>
              </a:rPr>
              <a:t>= sum (C7 : C11)</a:t>
            </a:r>
            <a:endParaRPr sz="1200">
              <a:solidFill>
                <a:srgbClr val="000000"/>
              </a:solidFill>
              <a:latin typeface="Kalam"/>
              <a:ea typeface="Kalam"/>
              <a:cs typeface="Kalam"/>
              <a:sym typeface="Kalam"/>
            </a:endParaRPr>
          </a:p>
        </p:txBody>
      </p:sp>
      <p:sp>
        <p:nvSpPr>
          <p:cNvPr id="222" name="Google Shape;222;p21"/>
          <p:cNvSpPr txBox="1"/>
          <p:nvPr/>
        </p:nvSpPr>
        <p:spPr>
          <a:xfrm>
            <a:off x="5857975" y="1851975"/>
            <a:ext cx="1233900" cy="29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chemeClr val="dk1"/>
                </a:solidFill>
                <a:latin typeface="Kalam"/>
                <a:ea typeface="Kalam"/>
                <a:cs typeface="Kalam"/>
                <a:sym typeface="Kalam"/>
              </a:rPr>
              <a:t>= C8 * D14</a:t>
            </a:r>
            <a:endParaRPr sz="1200">
              <a:solidFill>
                <a:srgbClr val="000000"/>
              </a:solidFill>
              <a:latin typeface="Kalam"/>
              <a:ea typeface="Kalam"/>
              <a:cs typeface="Kalam"/>
              <a:sym typeface="Kalam"/>
            </a:endParaRPr>
          </a:p>
        </p:txBody>
      </p:sp>
      <p:sp>
        <p:nvSpPr>
          <p:cNvPr id="223" name="Google Shape;223;p21"/>
          <p:cNvSpPr txBox="1"/>
          <p:nvPr/>
        </p:nvSpPr>
        <p:spPr>
          <a:xfrm>
            <a:off x="5857975" y="2148075"/>
            <a:ext cx="1233900" cy="29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chemeClr val="dk1"/>
                </a:solidFill>
                <a:latin typeface="Kalam"/>
                <a:ea typeface="Kalam"/>
                <a:cs typeface="Kalam"/>
                <a:sym typeface="Kalam"/>
              </a:rPr>
              <a:t>= C9 * D14</a:t>
            </a:r>
            <a:endParaRPr sz="1200">
              <a:solidFill>
                <a:srgbClr val="000000"/>
              </a:solidFill>
              <a:latin typeface="Kalam"/>
              <a:ea typeface="Kalam"/>
              <a:cs typeface="Kalam"/>
              <a:sym typeface="Kalam"/>
            </a:endParaRPr>
          </a:p>
        </p:txBody>
      </p:sp>
      <p:sp>
        <p:nvSpPr>
          <p:cNvPr id="224" name="Google Shape;224;p21"/>
          <p:cNvSpPr txBox="1"/>
          <p:nvPr/>
        </p:nvSpPr>
        <p:spPr>
          <a:xfrm>
            <a:off x="5857975" y="2444175"/>
            <a:ext cx="1233900" cy="29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chemeClr val="dk1"/>
                </a:solidFill>
                <a:latin typeface="Kalam"/>
                <a:ea typeface="Kalam"/>
                <a:cs typeface="Kalam"/>
                <a:sym typeface="Kalam"/>
              </a:rPr>
              <a:t>= C10 * D14</a:t>
            </a:r>
            <a:endParaRPr sz="1200">
              <a:solidFill>
                <a:srgbClr val="000000"/>
              </a:solidFill>
              <a:latin typeface="Kalam"/>
              <a:ea typeface="Kalam"/>
              <a:cs typeface="Kalam"/>
              <a:sym typeface="Kalam"/>
            </a:endParaRPr>
          </a:p>
        </p:txBody>
      </p:sp>
      <p:sp>
        <p:nvSpPr>
          <p:cNvPr id="225" name="Google Shape;225;p21"/>
          <p:cNvSpPr txBox="1"/>
          <p:nvPr/>
        </p:nvSpPr>
        <p:spPr>
          <a:xfrm>
            <a:off x="5857975" y="2740400"/>
            <a:ext cx="1233900" cy="296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200">
                <a:solidFill>
                  <a:schemeClr val="dk1"/>
                </a:solidFill>
                <a:latin typeface="Kalam"/>
                <a:ea typeface="Kalam"/>
                <a:cs typeface="Kalam"/>
                <a:sym typeface="Kalam"/>
              </a:rPr>
              <a:t>= C11 * D14</a:t>
            </a:r>
            <a:endParaRPr sz="1200">
              <a:solidFill>
                <a:srgbClr val="000000"/>
              </a:solidFill>
              <a:latin typeface="Kalam"/>
              <a:ea typeface="Kalam"/>
              <a:cs typeface="Kalam"/>
              <a:sym typeface="Kalam"/>
            </a:endParaRPr>
          </a:p>
        </p:txBody>
      </p:sp>
      <p:cxnSp>
        <p:nvCxnSpPr>
          <p:cNvPr id="226" name="Google Shape;226;p21"/>
          <p:cNvCxnSpPr/>
          <p:nvPr/>
        </p:nvCxnSpPr>
        <p:spPr>
          <a:xfrm>
            <a:off x="474750" y="4304625"/>
            <a:ext cx="6610500" cy="0"/>
          </a:xfrm>
          <a:prstGeom prst="straightConnector1">
            <a:avLst/>
          </a:prstGeom>
          <a:noFill/>
          <a:ln cap="flat" cmpd="sng" w="38100">
            <a:solidFill>
              <a:srgbClr val="000000"/>
            </a:solidFill>
            <a:prstDash val="solid"/>
            <a:round/>
            <a:headEnd len="med" w="med" type="none"/>
            <a:tailEnd len="med" w="med" type="none"/>
          </a:ln>
        </p:spPr>
      </p:cxnSp>
      <p:sp>
        <p:nvSpPr>
          <p:cNvPr id="227" name="Google Shape;227;p21"/>
          <p:cNvSpPr txBox="1"/>
          <p:nvPr/>
        </p:nvSpPr>
        <p:spPr>
          <a:xfrm>
            <a:off x="468000" y="8299450"/>
            <a:ext cx="6624000" cy="20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200">
                <a:latin typeface="Lexend"/>
                <a:ea typeface="Lexend"/>
                <a:cs typeface="Lexend"/>
                <a:sym typeface="Lexend"/>
              </a:rPr>
              <a:t>If the Insert chart icon does not appear in the toolbar at the top of the screen to begin with, you can click on the three vertical dots on the top right to show further icons.</a:t>
            </a:r>
            <a:endParaRPr sz="1200">
              <a:latin typeface="Lexend"/>
              <a:ea typeface="Lexend"/>
              <a:cs typeface="Lexend"/>
              <a:sym typeface="Lexend"/>
            </a:endParaRPr>
          </a:p>
          <a:p>
            <a:pPr indent="0" lvl="0" marL="0" rtl="0" algn="l">
              <a:lnSpc>
                <a:spcPct val="115000"/>
              </a:lnSpc>
              <a:spcBef>
                <a:spcPts val="1000"/>
              </a:spcBef>
              <a:spcAft>
                <a:spcPts val="1000"/>
              </a:spcAft>
              <a:buNone/>
            </a:pPr>
            <a:r>
              <a:rPr lang="en-GB" sz="1200">
                <a:latin typeface="Lexend"/>
                <a:ea typeface="Lexend"/>
                <a:cs typeface="Lexend"/>
                <a:sym typeface="Lexend"/>
              </a:rPr>
              <a:t>1) On the image above, circle the Insert chart icon.</a:t>
            </a:r>
            <a:endParaRPr sz="1200">
              <a:latin typeface="Lexend"/>
              <a:ea typeface="Lexend"/>
              <a:cs typeface="Lexend"/>
              <a:sym typeface="Lexend"/>
            </a:endParaRPr>
          </a:p>
        </p:txBody>
      </p:sp>
      <p:sp>
        <p:nvSpPr>
          <p:cNvPr id="228" name="Google Shape;228;p21"/>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229" name="Google Shape;229;p21"/>
          <p:cNvSpPr txBox="1"/>
          <p:nvPr/>
        </p:nvSpPr>
        <p:spPr>
          <a:xfrm>
            <a:off x="468000" y="4317375"/>
            <a:ext cx="6624000" cy="3372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b="1" lang="en-GB">
                <a:solidFill>
                  <a:srgbClr val="000000"/>
                </a:solidFill>
                <a:latin typeface="Lexend"/>
                <a:ea typeface="Lexend"/>
                <a:cs typeface="Lexend"/>
                <a:sym typeface="Lexend"/>
              </a:rPr>
              <a:t>Task B: </a:t>
            </a:r>
            <a:r>
              <a:rPr b="1" lang="en-GB">
                <a:latin typeface="Lexend"/>
                <a:ea typeface="Lexend"/>
                <a:cs typeface="Lexend"/>
                <a:sym typeface="Lexend"/>
              </a:rPr>
              <a:t>Using spreadsheet functions to calculate angles</a:t>
            </a:r>
            <a:endParaRPr b="1">
              <a:latin typeface="Lexend"/>
              <a:ea typeface="Lexend"/>
              <a:cs typeface="Lexend"/>
              <a:sym typeface="Lexend"/>
            </a:endParaRPr>
          </a:p>
        </p:txBody>
      </p:sp>
      <p:pic>
        <p:nvPicPr>
          <p:cNvPr id="230" name="Google Shape;230;p21"/>
          <p:cNvPicPr preferRelativeResize="0"/>
          <p:nvPr/>
        </p:nvPicPr>
        <p:blipFill>
          <a:blip r:embed="rId3">
            <a:alphaModFix/>
          </a:blip>
          <a:stretch>
            <a:fillRect/>
          </a:stretch>
        </p:blipFill>
        <p:spPr>
          <a:xfrm>
            <a:off x="468000" y="4727674"/>
            <a:ext cx="6623999" cy="3411837"/>
          </a:xfrm>
          <a:prstGeom prst="rect">
            <a:avLst/>
          </a:prstGeom>
          <a:noFill/>
          <a:ln>
            <a:noFill/>
          </a:ln>
        </p:spPr>
      </p:pic>
      <p:sp>
        <p:nvSpPr>
          <p:cNvPr id="231" name="Google Shape;231;p21"/>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232" name="Google Shape;232;p21"/>
          <p:cNvSpPr/>
          <p:nvPr/>
        </p:nvSpPr>
        <p:spPr>
          <a:xfrm>
            <a:off x="5882100" y="5426400"/>
            <a:ext cx="267300" cy="296100"/>
          </a:xfrm>
          <a:prstGeom prst="rect">
            <a:avLst/>
          </a:prstGeom>
          <a:no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3" name="Google Shape;233;p21"/>
          <p:cNvSpPr txBox="1"/>
          <p:nvPr/>
        </p:nvSpPr>
        <p:spPr>
          <a:xfrm>
            <a:off x="381100" y="9591050"/>
            <a:ext cx="7219800" cy="27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600">
                <a:solidFill>
                  <a:srgbClr val="999999"/>
                </a:solidFill>
                <a:latin typeface="Lexend"/>
                <a:ea typeface="Lexend"/>
                <a:cs typeface="Lexend"/>
                <a:sym typeface="Lexend"/>
              </a:rPr>
              <a:t>Google Sheets is a trademark of Google LLC and this content is not endorsed by or affiliated with Google in any way.</a:t>
            </a:r>
            <a:endParaRPr sz="600">
              <a:solidFill>
                <a:srgbClr val="999999"/>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OLD">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ksheet Answers September 2023">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