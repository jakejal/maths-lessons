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16788B-A1F9-4D6E-B221-26D071393C9F}">
  <a:tblStyle styleId="{4816788B-A1F9-4D6E-B221-26D071393C9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7996905f60_0_125: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7996905f6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7996905f60_0_13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7996905f6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COL 1">
  <p:cSld name="SECTION_HEADER_1_1_1_1_1_1_1_1_1">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6624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16" name="Google Shape;16;p2"/>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extLst>
    <p:ext uri="{DCECCB84-F9BA-43D5-87BE-67443E8EF086}">
      <p15:sldGuideLst>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COL 1 1">
  <p:cSld name="SECTION_HEADER_1_1_1_1_1_1_1_1_1_3">
    <p:spTree>
      <p:nvGrpSpPr>
        <p:cNvPr id="17" name="Shape 17"/>
        <p:cNvGrpSpPr/>
        <p:nvPr/>
      </p:nvGrpSpPr>
      <p:grpSpPr>
        <a:xfrm>
          <a:off x="0" y="0"/>
          <a:ext cx="0" cy="0"/>
          <a:chOff x="0" y="0"/>
          <a:chExt cx="0" cy="0"/>
        </a:xfrm>
      </p:grpSpPr>
      <p:sp>
        <p:nvSpPr>
          <p:cNvPr id="18" name="Google Shape;18;p3"/>
          <p:cNvSpPr txBox="1"/>
          <p:nvPr>
            <p:ph type="title"/>
          </p:nvPr>
        </p:nvSpPr>
        <p:spPr>
          <a:xfrm>
            <a:off x="468000" y="266700"/>
            <a:ext cx="6624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 name="Google Shape;25;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6" name="Google Shape;26;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7" name="Google Shape;27;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31" name="Google Shape;31;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sp>
        <p:nvSpPr>
          <p:cNvPr id="32" name="Google Shape;32;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6" name="Google Shape;36;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7" name="Google Shape;37;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8" name="Google Shape;38;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9" name="Shape 39"/>
        <p:cNvGrpSpPr/>
        <p:nvPr/>
      </p:nvGrpSpPr>
      <p:grpSpPr>
        <a:xfrm>
          <a:off x="0" y="0"/>
          <a:ext cx="0" cy="0"/>
          <a:chOff x="0" y="0"/>
          <a:chExt cx="0" cy="0"/>
        </a:xfrm>
      </p:grpSpPr>
      <p:sp>
        <p:nvSpPr>
          <p:cNvPr id="40" name="Google Shape;40;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 name="Google Shape;43;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4" name="Google Shape;44;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5" name="Google Shape;45;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6" name="Shape 46"/>
        <p:cNvGrpSpPr/>
        <p:nvPr/>
      </p:nvGrpSpPr>
      <p:grpSpPr>
        <a:xfrm>
          <a:off x="0" y="0"/>
          <a:ext cx="0" cy="0"/>
          <a:chOff x="0" y="0"/>
          <a:chExt cx="0" cy="0"/>
        </a:xfrm>
      </p:grpSpPr>
      <p:sp>
        <p:nvSpPr>
          <p:cNvPr id="47" name="Google Shape;47;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2" name="Google Shape;52;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3" name="Google Shape;53;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4" name="Google Shape;54;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5" name="Shape 55"/>
        <p:cNvGrpSpPr/>
        <p:nvPr/>
      </p:nvGrpSpPr>
      <p:grpSpPr>
        <a:xfrm>
          <a:off x="0" y="0"/>
          <a:ext cx="0" cy="0"/>
          <a:chOff x="0" y="0"/>
          <a:chExt cx="0" cy="0"/>
        </a:xfrm>
      </p:grpSpPr>
      <p:sp>
        <p:nvSpPr>
          <p:cNvPr id="56" name="Google Shape;56;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8" name="Google Shape;58;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9" name="Shape 59"/>
        <p:cNvGrpSpPr/>
        <p:nvPr/>
      </p:nvGrpSpPr>
      <p:grpSpPr>
        <a:xfrm>
          <a:off x="0" y="0"/>
          <a:ext cx="0" cy="0"/>
          <a:chOff x="0" y="0"/>
          <a:chExt cx="0" cy="0"/>
        </a:xfrm>
      </p:grpSpPr>
      <p:sp>
        <p:nvSpPr>
          <p:cNvPr id="60" name="Google Shape;60;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
    <p:bg>
      <p:bgPr>
        <a:solidFill>
          <a:schemeClr val="lt1"/>
        </a:solidFill>
      </p:bgPr>
    </p:bg>
    <p:spTree>
      <p:nvGrpSpPr>
        <p:cNvPr id="66" name="Shape 66"/>
        <p:cNvGrpSpPr/>
        <p:nvPr/>
      </p:nvGrpSpPr>
      <p:grpSpPr>
        <a:xfrm>
          <a:off x="0" y="0"/>
          <a:ext cx="0" cy="0"/>
          <a:chOff x="0" y="0"/>
          <a:chExt cx="0" cy="0"/>
        </a:xfrm>
      </p:grpSpPr>
      <p:pic>
        <p:nvPicPr>
          <p:cNvPr id="67" name="Google Shape;67;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8" name="Google Shape;68;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72" name="Google Shape;72;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5" name="Shape 75"/>
        <p:cNvGrpSpPr/>
        <p:nvPr/>
      </p:nvGrpSpPr>
      <p:grpSpPr>
        <a:xfrm>
          <a:off x="0" y="0"/>
          <a:ext cx="0" cy="0"/>
          <a:chOff x="0" y="0"/>
          <a:chExt cx="0" cy="0"/>
        </a:xfrm>
      </p:grpSpPr>
      <p:pic>
        <p:nvPicPr>
          <p:cNvPr id="76" name="Google Shape;76;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7" name="Google Shape;77;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9" name="Google Shape;79;p11"/>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82" name="Google Shape;82;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4" name="Shape 84"/>
        <p:cNvGrpSpPr/>
        <p:nvPr/>
      </p:nvGrpSpPr>
      <p:grpSpPr>
        <a:xfrm>
          <a:off x="0" y="0"/>
          <a:ext cx="0" cy="0"/>
          <a:chOff x="0" y="0"/>
          <a:chExt cx="0" cy="0"/>
        </a:xfrm>
      </p:grpSpPr>
      <p:pic>
        <p:nvPicPr>
          <p:cNvPr id="85" name="Google Shape;85;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6" name="Google Shape;86;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8" name="Google Shape;88;p12"/>
          <p:cNvSpPr txBox="1"/>
          <p:nvPr>
            <p:ph idx="1" type="subTitle"/>
          </p:nvPr>
        </p:nvSpPr>
        <p:spPr>
          <a:xfrm>
            <a:off x="466825" y="360000"/>
            <a:ext cx="57792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89" name="Shape 89"/>
        <p:cNvGrpSpPr/>
        <p:nvPr/>
      </p:nvGrpSpPr>
      <p:grpSpPr>
        <a:xfrm>
          <a:off x="0" y="0"/>
          <a:ext cx="0" cy="0"/>
          <a:chOff x="0" y="0"/>
          <a:chExt cx="0" cy="0"/>
        </a:xfrm>
      </p:grpSpPr>
      <p:pic>
        <p:nvPicPr>
          <p:cNvPr id="90" name="Google Shape;90;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1" name="Google Shape;91;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3" name="Google Shape;93;p13"/>
          <p:cNvSpPr txBox="1"/>
          <p:nvPr>
            <p:ph idx="1" type="subTitle"/>
          </p:nvPr>
        </p:nvSpPr>
        <p:spPr>
          <a:xfrm>
            <a:off x="466825" y="360000"/>
            <a:ext cx="57792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94" name="Google Shape;94;p13"/>
          <p:cNvSpPr txBox="1"/>
          <p:nvPr>
            <p:ph idx="2" type="subTitle"/>
          </p:nvPr>
        </p:nvSpPr>
        <p:spPr>
          <a:xfrm>
            <a:off x="39033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6" name="Google Shape;96;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
    <p:bg>
      <p:bgPr>
        <a:solidFill>
          <a:schemeClr val="lt1"/>
        </a:solidFill>
      </p:bgPr>
    </p:bg>
    <p:spTree>
      <p:nvGrpSpPr>
        <p:cNvPr id="97" name="Shape 97"/>
        <p:cNvGrpSpPr/>
        <p:nvPr/>
      </p:nvGrpSpPr>
      <p:grpSpPr>
        <a:xfrm>
          <a:off x="0" y="0"/>
          <a:ext cx="0" cy="0"/>
          <a:chOff x="0" y="0"/>
          <a:chExt cx="0" cy="0"/>
        </a:xfrm>
      </p:grpSpPr>
      <p:pic>
        <p:nvPicPr>
          <p:cNvPr id="98" name="Google Shape;98;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9" name="Google Shape;99;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1" name="Google Shape;101;p14"/>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104" name="Google Shape;104;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idx="1" type="subTitle"/>
          </p:nvPr>
        </p:nvSpPr>
        <p:spPr>
          <a:xfrm>
            <a:off x="39033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08" name="Google Shape;108;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chOff x="0" y="0"/>
          <a:chExt cx="0" cy="0"/>
        </a:xfrm>
      </p:grpSpPr>
      <p:pic>
        <p:nvPicPr>
          <p:cNvPr id="110" name="Google Shape;110;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1" name="Google Shape;111;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3" name="Google Shape;113;p15"/>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116" name="Google Shape;116;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idx="1" type="subTitle"/>
          </p:nvPr>
        </p:nvSpPr>
        <p:spPr>
          <a:xfrm>
            <a:off x="39033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0" name="Google Shape;120;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chOff x="0" y="0"/>
          <a:chExt cx="0" cy="0"/>
        </a:xfrm>
      </p:grpSpPr>
      <p:pic>
        <p:nvPicPr>
          <p:cNvPr id="122" name="Google Shape;122;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3" name="Google Shape;123;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25" name="Google Shape;125;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cap="flat" cmpd="sng" w="9525">
            <a:solidFill>
              <a:schemeClr val="dk2"/>
            </a:solidFill>
            <a:prstDash val="solid"/>
            <a:round/>
            <a:headEnd len="med" w="med" type="none"/>
            <a:tailEnd len="med" w="med" type="none"/>
          </a:ln>
        </p:spPr>
      </p:cxnSp>
      <p:pic>
        <p:nvPicPr>
          <p:cNvPr id="128" name="Google Shape;128;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chOff x="0" y="0"/>
          <a:chExt cx="0" cy="0"/>
        </a:xfrm>
      </p:grpSpPr>
      <p:pic>
        <p:nvPicPr>
          <p:cNvPr id="131" name="Google Shape;131;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2" name="Google Shape;132;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134" name="Google Shape;134;p17"/>
          <p:cNvSpPr txBox="1"/>
          <p:nvPr>
            <p:ph idx="1" type="subTitle"/>
          </p:nvPr>
        </p:nvSpPr>
        <p:spPr>
          <a:xfrm rot="-5400000">
            <a:off x="-3976225" y="5682150"/>
            <a:ext cx="9096900" cy="202800"/>
          </a:xfrm>
          <a:prstGeom prst="rect">
            <a:avLst/>
          </a:prstGeom>
          <a:ln>
            <a:noFill/>
          </a:ln>
        </p:spPr>
        <p:txBody>
          <a:bodyPr anchorCtr="0" anchor="t"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chOff x="0" y="0"/>
          <a:chExt cx="0" cy="0"/>
        </a:xfrm>
      </p:grpSpPr>
      <p:pic>
        <p:nvPicPr>
          <p:cNvPr id="136" name="Google Shape;136;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7" name="Google Shape;137;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139" name="Google Shape;13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40" name="Google Shape;14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41" name="Google Shape;14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42" name="Google Shape;142;p18"/>
          <p:cNvSpPr txBox="1"/>
          <p:nvPr>
            <p:ph idx="1" type="subTitle"/>
          </p:nvPr>
        </p:nvSpPr>
        <p:spPr>
          <a:xfrm rot="-5400000">
            <a:off x="5488463" y="5454663"/>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43" name="Google Shape;143;p18"/>
          <p:cNvSpPr txBox="1"/>
          <p:nvPr>
            <p:ph idx="2" type="subTitle"/>
          </p:nvPr>
        </p:nvSpPr>
        <p:spPr>
          <a:xfrm rot="-5400000">
            <a:off x="-3976225" y="5682150"/>
            <a:ext cx="9096900" cy="202800"/>
          </a:xfrm>
          <a:prstGeom prst="rect">
            <a:avLst/>
          </a:prstGeom>
          <a:ln>
            <a:noFill/>
          </a:ln>
        </p:spPr>
        <p:txBody>
          <a:bodyPr anchorCtr="0" anchor="t"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44" name="Shape 144"/>
        <p:cNvGrpSpPr/>
        <p:nvPr/>
      </p:nvGrpSpPr>
      <p:grpSpPr>
        <a:xfrm>
          <a:off x="0" y="0"/>
          <a:ext cx="0" cy="0"/>
          <a:chOff x="0" y="0"/>
          <a:chExt cx="0" cy="0"/>
        </a:xfrm>
      </p:grpSpPr>
      <p:pic>
        <p:nvPicPr>
          <p:cNvPr id="145" name="Google Shape;14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6" name="Google Shape;14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7" name="Google Shape;14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48" name="Google Shape;14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49" name="Google Shape;149;p19"/>
          <p:cNvSpPr txBox="1"/>
          <p:nvPr/>
        </p:nvSpPr>
        <p:spPr>
          <a:xfrm rot="-5400000">
            <a:off x="-595236" y="9057311"/>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50" name="Google Shape;150;p19"/>
          <p:cNvCxnSpPr/>
          <p:nvPr/>
        </p:nvCxnSpPr>
        <p:spPr>
          <a:xfrm rot="-5400000">
            <a:off x="-192111" y="8904711"/>
            <a:ext cx="1813200" cy="0"/>
          </a:xfrm>
          <a:prstGeom prst="straightConnector1">
            <a:avLst/>
          </a:prstGeom>
          <a:noFill/>
          <a:ln cap="flat" cmpd="sng" w="9525">
            <a:solidFill>
              <a:schemeClr val="dk2"/>
            </a:solidFill>
            <a:prstDash val="solid"/>
            <a:round/>
            <a:headEnd len="med" w="med" type="none"/>
            <a:tailEnd len="med" w="med" type="none"/>
          </a:ln>
        </p:spPr>
      </p:cxnSp>
      <p:pic>
        <p:nvPicPr>
          <p:cNvPr id="151" name="Google Shape;151;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52" name="Google Shape;152;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53" name="Google Shape;15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4" name="Google Shape;15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5" name="Google Shape;15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6" name="Google Shape;156;p19"/>
          <p:cNvSpPr txBox="1"/>
          <p:nvPr>
            <p:ph idx="1" type="subTitle"/>
          </p:nvPr>
        </p:nvSpPr>
        <p:spPr>
          <a:xfrm rot="-5400000">
            <a:off x="5488463" y="5454663"/>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2.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2" name="Shape 62"/>
        <p:cNvGrpSpPr/>
        <p:nvPr/>
      </p:nvGrpSpPr>
      <p:grpSpPr>
        <a:xfrm>
          <a:off x="0" y="0"/>
          <a:ext cx="0" cy="0"/>
          <a:chOff x="0" y="0"/>
          <a:chExt cx="0" cy="0"/>
        </a:xfrm>
      </p:grpSpPr>
      <p:sp>
        <p:nvSpPr>
          <p:cNvPr id="63" name="Google Shape;63;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4" name="Google Shape;64;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5" name="Google Shape;65;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hyperlink" Target="https://docs.google.com/spreadsheets/d/1mbxNBc9SE0x9nG-7GL2QwfLoPLCR82qIdXAi_1cNs0E/edit#gid=157151909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txBox="1"/>
          <p:nvPr/>
        </p:nvSpPr>
        <p:spPr>
          <a:xfrm>
            <a:off x="468038" y="1623013"/>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A: </a:t>
            </a:r>
            <a:r>
              <a:rPr b="1" lang="en-GB">
                <a:latin typeface="Lexend"/>
                <a:ea typeface="Lexend"/>
                <a:cs typeface="Lexend"/>
                <a:sym typeface="Lexend"/>
              </a:rPr>
              <a:t>Using spreadsheet functions to calculate angles</a:t>
            </a:r>
            <a:endParaRPr b="1">
              <a:latin typeface="Lexend"/>
              <a:ea typeface="Lexend"/>
              <a:cs typeface="Lexend"/>
              <a:sym typeface="Lexend"/>
            </a:endParaRPr>
          </a:p>
        </p:txBody>
      </p:sp>
      <p:sp>
        <p:nvSpPr>
          <p:cNvPr id="162" name="Google Shape;162;p20"/>
          <p:cNvSpPr txBox="1"/>
          <p:nvPr/>
        </p:nvSpPr>
        <p:spPr>
          <a:xfrm>
            <a:off x="6352325" y="9972000"/>
            <a:ext cx="4833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1200">
                <a:solidFill>
                  <a:srgbClr val="000000"/>
                </a:solidFill>
                <a:latin typeface="Lexend Medium"/>
                <a:ea typeface="Lexend Medium"/>
                <a:cs typeface="Lexend Medium"/>
                <a:sym typeface="Lexend Medium"/>
              </a:rPr>
              <a:t>‹#›</a:t>
            </a:fld>
            <a:endParaRPr sz="1200">
              <a:solidFill>
                <a:srgbClr val="000000"/>
              </a:solidFill>
              <a:latin typeface="Lexend Medium"/>
              <a:ea typeface="Lexend Medium"/>
              <a:cs typeface="Lexend Medium"/>
              <a:sym typeface="Lexend Medium"/>
            </a:endParaRPr>
          </a:p>
        </p:txBody>
      </p:sp>
      <p:sp>
        <p:nvSpPr>
          <p:cNvPr id="163" name="Google Shape;163;p20"/>
          <p:cNvSpPr txBox="1"/>
          <p:nvPr/>
        </p:nvSpPr>
        <p:spPr>
          <a:xfrm>
            <a:off x="467925" y="9206725"/>
            <a:ext cx="3672000" cy="609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2) Write in the correct spreadsheet function into cell A44 to calculate the sum of all of these numbers.</a:t>
            </a:r>
            <a:endParaRPr sz="1200">
              <a:solidFill>
                <a:srgbClr val="000000"/>
              </a:solidFill>
              <a:latin typeface="Lexend"/>
              <a:ea typeface="Lexend"/>
              <a:cs typeface="Lexend"/>
              <a:sym typeface="Lexend"/>
            </a:endParaRPr>
          </a:p>
        </p:txBody>
      </p:sp>
      <p:sp>
        <p:nvSpPr>
          <p:cNvPr id="164" name="Google Shape;164;p20"/>
          <p:cNvSpPr txBox="1"/>
          <p:nvPr/>
        </p:nvSpPr>
        <p:spPr>
          <a:xfrm>
            <a:off x="468000" y="864000"/>
            <a:ext cx="66240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800">
                <a:solidFill>
                  <a:srgbClr val="000000"/>
                </a:solidFill>
                <a:latin typeface="Lexend"/>
                <a:ea typeface="Lexend"/>
                <a:cs typeface="Lexend"/>
                <a:sym typeface="Lexend"/>
              </a:rPr>
              <a:t>Constructing pie charts by utilising technology</a:t>
            </a:r>
            <a:endParaRPr b="1" sz="1800">
              <a:solidFill>
                <a:srgbClr val="000000"/>
              </a:solidFill>
              <a:latin typeface="Lexend"/>
              <a:ea typeface="Lexend"/>
              <a:cs typeface="Lexend"/>
              <a:sym typeface="Lexend"/>
            </a:endParaRPr>
          </a:p>
        </p:txBody>
      </p:sp>
      <p:grpSp>
        <p:nvGrpSpPr>
          <p:cNvPr id="165" name="Google Shape;165;p20"/>
          <p:cNvGrpSpPr/>
          <p:nvPr/>
        </p:nvGrpSpPr>
        <p:grpSpPr>
          <a:xfrm>
            <a:off x="4452371" y="2512178"/>
            <a:ext cx="2562037" cy="554783"/>
            <a:chOff x="3634724" y="4147050"/>
            <a:chExt cx="2292651" cy="496450"/>
          </a:xfrm>
        </p:grpSpPr>
        <p:pic>
          <p:nvPicPr>
            <p:cNvPr id="166" name="Google Shape;166;p20"/>
            <p:cNvPicPr preferRelativeResize="0"/>
            <p:nvPr/>
          </p:nvPicPr>
          <p:blipFill rotWithShape="1">
            <a:blip r:embed="rId3">
              <a:alphaModFix/>
            </a:blip>
            <a:srcRect b="29671" l="67236" r="18071" t="44817"/>
            <a:stretch/>
          </p:blipFill>
          <p:spPr>
            <a:xfrm>
              <a:off x="3634724" y="4147050"/>
              <a:ext cx="1189276" cy="496450"/>
            </a:xfrm>
            <a:prstGeom prst="rect">
              <a:avLst/>
            </a:prstGeom>
            <a:noFill/>
            <a:ln>
              <a:noFill/>
            </a:ln>
          </p:spPr>
        </p:pic>
        <p:pic>
          <p:nvPicPr>
            <p:cNvPr id="167" name="Google Shape;167;p20"/>
            <p:cNvPicPr preferRelativeResize="0"/>
            <p:nvPr/>
          </p:nvPicPr>
          <p:blipFill rotWithShape="1">
            <a:blip r:embed="rId3">
              <a:alphaModFix/>
            </a:blip>
            <a:srcRect b="29671" l="69475" r="15832" t="44817"/>
            <a:stretch/>
          </p:blipFill>
          <p:spPr>
            <a:xfrm>
              <a:off x="4738099" y="4147050"/>
              <a:ext cx="1189276" cy="496450"/>
            </a:xfrm>
            <a:prstGeom prst="rect">
              <a:avLst/>
            </a:prstGeom>
            <a:noFill/>
            <a:ln>
              <a:noFill/>
            </a:ln>
          </p:spPr>
        </p:pic>
      </p:grpSp>
      <p:sp>
        <p:nvSpPr>
          <p:cNvPr id="168" name="Google Shape;168;p20"/>
          <p:cNvSpPr txBox="1"/>
          <p:nvPr/>
        </p:nvSpPr>
        <p:spPr>
          <a:xfrm>
            <a:off x="749688" y="3919723"/>
            <a:ext cx="63423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on the cell with the first number you want to use in your calculation. In this question, click on cell A11, which contains the number 360.</a:t>
            </a:r>
            <a:endParaRPr sz="1200">
              <a:solidFill>
                <a:srgbClr val="000000"/>
              </a:solidFill>
              <a:latin typeface="Lexend"/>
              <a:ea typeface="Lexend"/>
              <a:cs typeface="Lexend"/>
              <a:sym typeface="Lexend"/>
            </a:endParaRPr>
          </a:p>
        </p:txBody>
      </p:sp>
      <p:sp>
        <p:nvSpPr>
          <p:cNvPr id="169" name="Google Shape;169;p20"/>
          <p:cNvSpPr txBox="1"/>
          <p:nvPr/>
        </p:nvSpPr>
        <p:spPr>
          <a:xfrm>
            <a:off x="545382" y="1985593"/>
            <a:ext cx="6546600" cy="17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I want to type in the answer to this maths question in the cell E11.</a:t>
            </a:r>
            <a:endParaRPr sz="1200">
              <a:solidFill>
                <a:srgbClr val="000000"/>
              </a:solidFill>
              <a:latin typeface="Lexend"/>
              <a:ea typeface="Lexend"/>
              <a:cs typeface="Lexend"/>
              <a:sym typeface="Lexend"/>
            </a:endParaRPr>
          </a:p>
        </p:txBody>
      </p:sp>
      <p:sp>
        <p:nvSpPr>
          <p:cNvPr id="170" name="Google Shape;170;p20"/>
          <p:cNvSpPr txBox="1"/>
          <p:nvPr/>
        </p:nvSpPr>
        <p:spPr>
          <a:xfrm>
            <a:off x="749688" y="3280488"/>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on the cell E11. You can check you have the correct cell by looking at the top left.</a:t>
            </a:r>
            <a:endParaRPr sz="1200">
              <a:solidFill>
                <a:srgbClr val="000000"/>
              </a:solidFill>
              <a:latin typeface="Lexend"/>
              <a:ea typeface="Lexend"/>
              <a:cs typeface="Lexend"/>
              <a:sym typeface="Lexend"/>
            </a:endParaRPr>
          </a:p>
        </p:txBody>
      </p:sp>
      <p:sp>
        <p:nvSpPr>
          <p:cNvPr id="171" name="Google Shape;171;p20"/>
          <p:cNvSpPr txBox="1"/>
          <p:nvPr/>
        </p:nvSpPr>
        <p:spPr>
          <a:xfrm>
            <a:off x="749688" y="3600105"/>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Press = to start a mathematical calculation.</a:t>
            </a:r>
            <a:endParaRPr sz="1200">
              <a:solidFill>
                <a:srgbClr val="000000"/>
              </a:solidFill>
              <a:latin typeface="Lexend"/>
              <a:ea typeface="Lexend"/>
              <a:cs typeface="Lexend"/>
              <a:sym typeface="Lexend"/>
            </a:endParaRPr>
          </a:p>
        </p:txBody>
      </p:sp>
      <p:sp>
        <p:nvSpPr>
          <p:cNvPr id="172" name="Google Shape;172;p20"/>
          <p:cNvSpPr txBox="1"/>
          <p:nvPr/>
        </p:nvSpPr>
        <p:spPr>
          <a:xfrm>
            <a:off x="4515660" y="2366843"/>
            <a:ext cx="2416200" cy="1758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None/>
            </a:pPr>
            <a:r>
              <a:rPr lang="en-GB" sz="1200">
                <a:solidFill>
                  <a:srgbClr val="000000"/>
                </a:solidFill>
                <a:latin typeface="Lexend"/>
                <a:ea typeface="Lexend"/>
                <a:cs typeface="Lexend"/>
                <a:sym typeface="Lexend"/>
              </a:rPr>
              <a:t>cell E11 zoomed in</a:t>
            </a:r>
            <a:endParaRPr sz="1200">
              <a:solidFill>
                <a:srgbClr val="000000"/>
              </a:solidFill>
              <a:latin typeface="Lexend"/>
              <a:ea typeface="Lexend"/>
              <a:cs typeface="Lexend"/>
              <a:sym typeface="Lexend"/>
            </a:endParaRPr>
          </a:p>
        </p:txBody>
      </p:sp>
      <p:sp>
        <p:nvSpPr>
          <p:cNvPr id="173" name="Google Shape;173;p20"/>
          <p:cNvSpPr txBox="1"/>
          <p:nvPr/>
        </p:nvSpPr>
        <p:spPr>
          <a:xfrm>
            <a:off x="749735" y="5622988"/>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Press enter to complete your calculation.</a:t>
            </a:r>
            <a:endParaRPr sz="1200">
              <a:solidFill>
                <a:srgbClr val="000000"/>
              </a:solidFill>
              <a:latin typeface="Lexend"/>
              <a:ea typeface="Lexend"/>
              <a:cs typeface="Lexend"/>
              <a:sym typeface="Lexend"/>
            </a:endParaRPr>
          </a:p>
        </p:txBody>
      </p:sp>
      <p:sp>
        <p:nvSpPr>
          <p:cNvPr id="174" name="Google Shape;174;p20"/>
          <p:cNvSpPr txBox="1"/>
          <p:nvPr/>
        </p:nvSpPr>
        <p:spPr>
          <a:xfrm>
            <a:off x="749735" y="5303371"/>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cell C11, the cell containing the second number in your calculation.</a:t>
            </a:r>
            <a:endParaRPr sz="1200">
              <a:solidFill>
                <a:srgbClr val="000000"/>
              </a:solidFill>
              <a:latin typeface="Lexend"/>
              <a:ea typeface="Lexend"/>
              <a:cs typeface="Lexend"/>
              <a:sym typeface="Lexend"/>
            </a:endParaRPr>
          </a:p>
        </p:txBody>
      </p:sp>
      <p:pic>
        <p:nvPicPr>
          <p:cNvPr id="175" name="Google Shape;175;p20"/>
          <p:cNvPicPr preferRelativeResize="0"/>
          <p:nvPr/>
        </p:nvPicPr>
        <p:blipFill>
          <a:blip r:embed="rId3">
            <a:alphaModFix/>
          </a:blip>
          <a:stretch>
            <a:fillRect/>
          </a:stretch>
        </p:blipFill>
        <p:spPr>
          <a:xfrm>
            <a:off x="467988" y="2217092"/>
            <a:ext cx="3984425" cy="957873"/>
          </a:xfrm>
          <a:prstGeom prst="rect">
            <a:avLst/>
          </a:prstGeom>
          <a:noFill/>
          <a:ln>
            <a:noFill/>
          </a:ln>
        </p:spPr>
      </p:pic>
      <p:sp>
        <p:nvSpPr>
          <p:cNvPr id="176" name="Google Shape;176;p20"/>
          <p:cNvSpPr txBox="1"/>
          <p:nvPr/>
        </p:nvSpPr>
        <p:spPr>
          <a:xfrm>
            <a:off x="749735" y="4983754"/>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We want to divide, so on your keyboard, press the / button.</a:t>
            </a:r>
            <a:endParaRPr sz="1200">
              <a:solidFill>
                <a:srgbClr val="000000"/>
              </a:solidFill>
              <a:latin typeface="Lexend"/>
              <a:ea typeface="Lexend"/>
              <a:cs typeface="Lexend"/>
              <a:sym typeface="Lexend"/>
            </a:endParaRPr>
          </a:p>
        </p:txBody>
      </p:sp>
      <p:sp>
        <p:nvSpPr>
          <p:cNvPr id="177" name="Google Shape;177;p20"/>
          <p:cNvSpPr txBox="1"/>
          <p:nvPr/>
        </p:nvSpPr>
        <p:spPr>
          <a:xfrm>
            <a:off x="749735" y="4451737"/>
            <a:ext cx="63423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Notice how your calculation shows the cell number A11, not the number 360. This is correct.</a:t>
            </a:r>
            <a:endParaRPr sz="1200">
              <a:solidFill>
                <a:srgbClr val="000000"/>
              </a:solidFill>
              <a:latin typeface="Lexend"/>
              <a:ea typeface="Lexend"/>
              <a:cs typeface="Lexend"/>
              <a:sym typeface="Lexend"/>
            </a:endParaRPr>
          </a:p>
        </p:txBody>
      </p:sp>
      <p:sp>
        <p:nvSpPr>
          <p:cNvPr id="178" name="Google Shape;178;p20"/>
          <p:cNvSpPr txBox="1"/>
          <p:nvPr/>
        </p:nvSpPr>
        <p:spPr>
          <a:xfrm>
            <a:off x="467963" y="5942613"/>
            <a:ext cx="65466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1) Write in the correct spreadsheet function into the zoomed in cell E11 above to calculate the answer to the maths question 360 ÷ 9 = </a:t>
            </a:r>
            <a:endParaRPr sz="1200">
              <a:solidFill>
                <a:srgbClr val="000000"/>
              </a:solidFill>
              <a:latin typeface="Lexend"/>
              <a:ea typeface="Lexend"/>
              <a:cs typeface="Lexend"/>
              <a:sym typeface="Lexend"/>
            </a:endParaRPr>
          </a:p>
        </p:txBody>
      </p:sp>
      <p:sp>
        <p:nvSpPr>
          <p:cNvPr id="179" name="Google Shape;179;p20"/>
          <p:cNvSpPr txBox="1"/>
          <p:nvPr/>
        </p:nvSpPr>
        <p:spPr>
          <a:xfrm>
            <a:off x="749650" y="7343267"/>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in the cell you want to have the total and type in:</a:t>
            </a:r>
            <a:endParaRPr sz="1200">
              <a:solidFill>
                <a:srgbClr val="000000"/>
              </a:solidFill>
              <a:latin typeface="Lexend"/>
              <a:ea typeface="Lexend"/>
              <a:cs typeface="Lexend"/>
              <a:sym typeface="Lexend"/>
            </a:endParaRPr>
          </a:p>
        </p:txBody>
      </p:sp>
      <p:grpSp>
        <p:nvGrpSpPr>
          <p:cNvPr id="180" name="Google Shape;180;p20"/>
          <p:cNvGrpSpPr/>
          <p:nvPr/>
        </p:nvGrpSpPr>
        <p:grpSpPr>
          <a:xfrm>
            <a:off x="4824338" y="6523115"/>
            <a:ext cx="2107858" cy="3372699"/>
            <a:chOff x="6705375" y="810000"/>
            <a:chExt cx="2114625" cy="3383527"/>
          </a:xfrm>
        </p:grpSpPr>
        <p:grpSp>
          <p:nvGrpSpPr>
            <p:cNvPr id="181" name="Google Shape;181;p20"/>
            <p:cNvGrpSpPr/>
            <p:nvPr/>
          </p:nvGrpSpPr>
          <p:grpSpPr>
            <a:xfrm>
              <a:off x="6705375" y="810000"/>
              <a:ext cx="2114625" cy="3329375"/>
              <a:chOff x="6144625" y="810000"/>
              <a:chExt cx="2114625" cy="3329375"/>
            </a:xfrm>
          </p:grpSpPr>
          <p:pic>
            <p:nvPicPr>
              <p:cNvPr id="182" name="Google Shape;182;p20"/>
              <p:cNvPicPr preferRelativeResize="0"/>
              <p:nvPr/>
            </p:nvPicPr>
            <p:blipFill>
              <a:blip r:embed="rId4">
                <a:alphaModFix/>
              </a:blip>
              <a:stretch>
                <a:fillRect/>
              </a:stretch>
            </p:blipFill>
            <p:spPr>
              <a:xfrm>
                <a:off x="6144625" y="810000"/>
                <a:ext cx="1479100" cy="3329375"/>
              </a:xfrm>
              <a:prstGeom prst="rect">
                <a:avLst/>
              </a:prstGeom>
              <a:noFill/>
              <a:ln>
                <a:noFill/>
              </a:ln>
            </p:spPr>
          </p:pic>
          <p:pic>
            <p:nvPicPr>
              <p:cNvPr id="183" name="Google Shape;183;p20"/>
              <p:cNvPicPr preferRelativeResize="0"/>
              <p:nvPr/>
            </p:nvPicPr>
            <p:blipFill rotWithShape="1">
              <a:blip r:embed="rId4">
                <a:alphaModFix/>
              </a:blip>
              <a:srcRect b="0" l="72954" r="0" t="0"/>
              <a:stretch/>
            </p:blipFill>
            <p:spPr>
              <a:xfrm>
                <a:off x="7459200" y="810000"/>
                <a:ext cx="400025" cy="3329375"/>
              </a:xfrm>
              <a:prstGeom prst="rect">
                <a:avLst/>
              </a:prstGeom>
              <a:noFill/>
              <a:ln>
                <a:noFill/>
              </a:ln>
            </p:spPr>
          </p:pic>
          <p:pic>
            <p:nvPicPr>
              <p:cNvPr id="184" name="Google Shape;184;p20"/>
              <p:cNvPicPr preferRelativeResize="0"/>
              <p:nvPr/>
            </p:nvPicPr>
            <p:blipFill rotWithShape="1">
              <a:blip r:embed="rId4">
                <a:alphaModFix/>
              </a:blip>
              <a:srcRect b="0" l="72954" r="0" t="0"/>
              <a:stretch/>
            </p:blipFill>
            <p:spPr>
              <a:xfrm>
                <a:off x="7658675" y="810000"/>
                <a:ext cx="400025" cy="3329375"/>
              </a:xfrm>
              <a:prstGeom prst="rect">
                <a:avLst/>
              </a:prstGeom>
              <a:noFill/>
              <a:ln>
                <a:noFill/>
              </a:ln>
            </p:spPr>
          </p:pic>
          <p:pic>
            <p:nvPicPr>
              <p:cNvPr id="185" name="Google Shape;185;p20"/>
              <p:cNvPicPr preferRelativeResize="0"/>
              <p:nvPr/>
            </p:nvPicPr>
            <p:blipFill rotWithShape="1">
              <a:blip r:embed="rId4">
                <a:alphaModFix/>
              </a:blip>
              <a:srcRect b="0" l="72954" r="0" t="0"/>
              <a:stretch/>
            </p:blipFill>
            <p:spPr>
              <a:xfrm>
                <a:off x="7859225" y="810000"/>
                <a:ext cx="400025" cy="3329375"/>
              </a:xfrm>
              <a:prstGeom prst="rect">
                <a:avLst/>
              </a:prstGeom>
              <a:noFill/>
              <a:ln>
                <a:noFill/>
              </a:ln>
            </p:spPr>
          </p:pic>
        </p:grpSp>
        <p:grpSp>
          <p:nvGrpSpPr>
            <p:cNvPr id="186" name="Google Shape;186;p20"/>
            <p:cNvGrpSpPr/>
            <p:nvPr/>
          </p:nvGrpSpPr>
          <p:grpSpPr>
            <a:xfrm>
              <a:off x="6705375" y="4065301"/>
              <a:ext cx="2114625" cy="128226"/>
              <a:chOff x="6144625" y="4011150"/>
              <a:chExt cx="2114625" cy="128226"/>
            </a:xfrm>
          </p:grpSpPr>
          <p:pic>
            <p:nvPicPr>
              <p:cNvPr id="187" name="Google Shape;187;p20"/>
              <p:cNvPicPr preferRelativeResize="0"/>
              <p:nvPr/>
            </p:nvPicPr>
            <p:blipFill rotWithShape="1">
              <a:blip r:embed="rId4">
                <a:alphaModFix/>
              </a:blip>
              <a:srcRect b="0" l="0" r="0" t="96148"/>
              <a:stretch/>
            </p:blipFill>
            <p:spPr>
              <a:xfrm>
                <a:off x="6144625" y="4011150"/>
                <a:ext cx="1479100" cy="128226"/>
              </a:xfrm>
              <a:prstGeom prst="rect">
                <a:avLst/>
              </a:prstGeom>
              <a:noFill/>
              <a:ln>
                <a:noFill/>
              </a:ln>
            </p:spPr>
          </p:pic>
          <p:pic>
            <p:nvPicPr>
              <p:cNvPr id="188" name="Google Shape;188;p20"/>
              <p:cNvPicPr preferRelativeResize="0"/>
              <p:nvPr/>
            </p:nvPicPr>
            <p:blipFill rotWithShape="1">
              <a:blip r:embed="rId4">
                <a:alphaModFix/>
              </a:blip>
              <a:srcRect b="0" l="72954" r="0" t="96148"/>
              <a:stretch/>
            </p:blipFill>
            <p:spPr>
              <a:xfrm>
                <a:off x="7459200" y="4011150"/>
                <a:ext cx="400025" cy="128226"/>
              </a:xfrm>
              <a:prstGeom prst="rect">
                <a:avLst/>
              </a:prstGeom>
              <a:noFill/>
              <a:ln>
                <a:noFill/>
              </a:ln>
            </p:spPr>
          </p:pic>
          <p:pic>
            <p:nvPicPr>
              <p:cNvPr id="189" name="Google Shape;189;p20"/>
              <p:cNvPicPr preferRelativeResize="0"/>
              <p:nvPr/>
            </p:nvPicPr>
            <p:blipFill rotWithShape="1">
              <a:blip r:embed="rId4">
                <a:alphaModFix/>
              </a:blip>
              <a:srcRect b="0" l="72954" r="0" t="96148"/>
              <a:stretch/>
            </p:blipFill>
            <p:spPr>
              <a:xfrm>
                <a:off x="7658675" y="4011150"/>
                <a:ext cx="400025" cy="128226"/>
              </a:xfrm>
              <a:prstGeom prst="rect">
                <a:avLst/>
              </a:prstGeom>
              <a:noFill/>
              <a:ln>
                <a:noFill/>
              </a:ln>
            </p:spPr>
          </p:pic>
          <p:pic>
            <p:nvPicPr>
              <p:cNvPr id="190" name="Google Shape;190;p20"/>
              <p:cNvPicPr preferRelativeResize="0"/>
              <p:nvPr/>
            </p:nvPicPr>
            <p:blipFill rotWithShape="1">
              <a:blip r:embed="rId4">
                <a:alphaModFix/>
              </a:blip>
              <a:srcRect b="0" l="72954" r="0" t="96148"/>
              <a:stretch/>
            </p:blipFill>
            <p:spPr>
              <a:xfrm>
                <a:off x="7859225" y="4011150"/>
                <a:ext cx="400025" cy="128226"/>
              </a:xfrm>
              <a:prstGeom prst="rect">
                <a:avLst/>
              </a:prstGeom>
              <a:noFill/>
              <a:ln>
                <a:noFill/>
              </a:ln>
            </p:spPr>
          </p:pic>
        </p:grpSp>
        <p:sp>
          <p:nvSpPr>
            <p:cNvPr id="191" name="Google Shape;191;p20"/>
            <p:cNvSpPr/>
            <p:nvPr/>
          </p:nvSpPr>
          <p:spPr>
            <a:xfrm>
              <a:off x="7105550" y="3878325"/>
              <a:ext cx="1527300" cy="233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2" name="Google Shape;192;p20"/>
          <p:cNvSpPr txBox="1"/>
          <p:nvPr/>
        </p:nvSpPr>
        <p:spPr>
          <a:xfrm>
            <a:off x="749650" y="6821625"/>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It is very easy to add together large lists of numbers.</a:t>
            </a:r>
            <a:endParaRPr sz="1200">
              <a:solidFill>
                <a:srgbClr val="000000"/>
              </a:solidFill>
              <a:latin typeface="Lexend"/>
              <a:ea typeface="Lexend"/>
              <a:cs typeface="Lexend"/>
              <a:sym typeface="Lexend"/>
            </a:endParaRPr>
          </a:p>
        </p:txBody>
      </p:sp>
      <p:sp>
        <p:nvSpPr>
          <p:cNvPr id="193" name="Google Shape;193;p20"/>
          <p:cNvSpPr txBox="1"/>
          <p:nvPr/>
        </p:nvSpPr>
        <p:spPr>
          <a:xfrm>
            <a:off x="1663362" y="7612907"/>
            <a:ext cx="9828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b="1" lang="en-GB" sz="1200">
                <a:solidFill>
                  <a:schemeClr val="dk1"/>
                </a:solidFill>
                <a:latin typeface="Lexend"/>
                <a:ea typeface="Lexend"/>
                <a:cs typeface="Lexend"/>
                <a:sym typeface="Lexend"/>
              </a:rPr>
              <a:t>=sum(</a:t>
            </a:r>
            <a:endParaRPr b="1" sz="1200">
              <a:solidFill>
                <a:schemeClr val="dk1"/>
              </a:solidFill>
              <a:latin typeface="Lexend"/>
              <a:ea typeface="Lexend"/>
              <a:cs typeface="Lexend"/>
              <a:sym typeface="Lexend"/>
            </a:endParaRPr>
          </a:p>
        </p:txBody>
      </p:sp>
      <p:sp>
        <p:nvSpPr>
          <p:cNvPr id="194" name="Google Shape;194;p20"/>
          <p:cNvSpPr txBox="1"/>
          <p:nvPr/>
        </p:nvSpPr>
        <p:spPr>
          <a:xfrm>
            <a:off x="749650" y="7864908"/>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Then click, hold, and drag to select all the cells you want to add together.</a:t>
            </a:r>
            <a:endParaRPr sz="1200">
              <a:solidFill>
                <a:srgbClr val="000000"/>
              </a:solidFill>
              <a:latin typeface="Lexend"/>
              <a:ea typeface="Lexend"/>
              <a:cs typeface="Lexend"/>
              <a:sym typeface="Lexend"/>
            </a:endParaRPr>
          </a:p>
        </p:txBody>
      </p:sp>
      <p:sp>
        <p:nvSpPr>
          <p:cNvPr id="195" name="Google Shape;195;p20"/>
          <p:cNvSpPr txBox="1"/>
          <p:nvPr/>
        </p:nvSpPr>
        <p:spPr>
          <a:xfrm>
            <a:off x="749650" y="8386550"/>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Type the close bracket </a:t>
            </a:r>
            <a:r>
              <a:rPr b="1" lang="en-GB" sz="1200">
                <a:solidFill>
                  <a:srgbClr val="000000"/>
                </a:solidFill>
                <a:latin typeface="Lexend"/>
                <a:ea typeface="Lexend"/>
                <a:cs typeface="Lexend"/>
                <a:sym typeface="Lexend"/>
              </a:rPr>
              <a:t>)</a:t>
            </a:r>
            <a:r>
              <a:rPr lang="en-GB" sz="1200">
                <a:solidFill>
                  <a:srgbClr val="000000"/>
                </a:solidFill>
                <a:latin typeface="Lexend"/>
                <a:ea typeface="Lexend"/>
                <a:cs typeface="Lexend"/>
                <a:sym typeface="Lexend"/>
              </a:rPr>
              <a:t>, and press enter to perform your calculation.</a:t>
            </a:r>
            <a:endParaRPr sz="1200">
              <a:solidFill>
                <a:srgbClr val="000000"/>
              </a:solidFill>
              <a:latin typeface="Lexend"/>
              <a:ea typeface="Lexend"/>
              <a:cs typeface="Lexend"/>
              <a:sym typeface="Lexend"/>
            </a:endParaRPr>
          </a:p>
        </p:txBody>
      </p:sp>
      <p:sp>
        <p:nvSpPr>
          <p:cNvPr id="196" name="Google Shape;196;p20"/>
          <p:cNvSpPr txBox="1"/>
          <p:nvPr/>
        </p:nvSpPr>
        <p:spPr>
          <a:xfrm>
            <a:off x="467925" y="1265525"/>
            <a:ext cx="5739900" cy="3693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1200" u="sng">
                <a:solidFill>
                  <a:srgbClr val="0000FF"/>
                </a:solidFill>
                <a:latin typeface="Lexend"/>
                <a:ea typeface="Lexend"/>
                <a:cs typeface="Lexend"/>
                <a:sym typeface="Lexend"/>
                <a:hlinkClick r:id="rId5">
                  <a:extLst>
                    <a:ext uri="{A12FA001-AC4F-418D-AE19-62706E023703}">
                      <ahyp:hlinkClr val="tx"/>
                    </a:ext>
                  </a:extLst>
                </a:hlinkClick>
              </a:rPr>
              <a:t>All tasks are accessed by clicking this link</a:t>
            </a:r>
            <a:r>
              <a:rPr lang="en-GB" sz="1200">
                <a:solidFill>
                  <a:srgbClr val="0000FF"/>
                </a:solidFill>
                <a:latin typeface="Lexend"/>
                <a:ea typeface="Lexend"/>
                <a:cs typeface="Lexend"/>
                <a:sym typeface="Lexend"/>
              </a:rPr>
              <a:t> </a:t>
            </a:r>
            <a:r>
              <a:rPr lang="en-GB" sz="1200">
                <a:solidFill>
                  <a:schemeClr val="dk1"/>
                </a:solidFill>
                <a:latin typeface="Lexend"/>
                <a:ea typeface="Lexend"/>
                <a:cs typeface="Lexend"/>
                <a:sym typeface="Lexend"/>
              </a:rPr>
              <a:t>🖇</a:t>
            </a:r>
            <a:endParaRPr sz="1200">
              <a:solidFill>
                <a:schemeClr val="dk1"/>
              </a:solidFill>
              <a:latin typeface="Lexend"/>
              <a:ea typeface="Lexend"/>
              <a:cs typeface="Lexend"/>
              <a:sym typeface="Lexend"/>
            </a:endParaRPr>
          </a:p>
        </p:txBody>
      </p:sp>
      <p:sp>
        <p:nvSpPr>
          <p:cNvPr id="197" name="Google Shape;197;p20"/>
          <p:cNvSpPr txBox="1"/>
          <p:nvPr/>
        </p:nvSpPr>
        <p:spPr>
          <a:xfrm>
            <a:off x="359925" y="10162700"/>
            <a:ext cx="72408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999999"/>
                </a:solidFill>
                <a:latin typeface="Lexend"/>
                <a:ea typeface="Lexend"/>
                <a:cs typeface="Lexend"/>
                <a:sym typeface="Lexend"/>
              </a:rPr>
              <a:t>Google Sheets is a trademark of Google LLC and this content is not endorsed by or affiliated with Google in any way.</a:t>
            </a:r>
            <a:endParaRPr sz="600">
              <a:solidFill>
                <a:srgbClr val="999999"/>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nvSpPr>
        <p:spPr>
          <a:xfrm>
            <a:off x="468000" y="360000"/>
            <a:ext cx="5778000" cy="138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900">
                <a:solidFill>
                  <a:srgbClr val="000000"/>
                </a:solidFill>
                <a:latin typeface="Lexend"/>
                <a:ea typeface="Lexend"/>
                <a:cs typeface="Lexend"/>
                <a:sym typeface="Lexend"/>
              </a:rPr>
              <a:t>Constructing pie charts by utilising technology</a:t>
            </a:r>
            <a:endParaRPr sz="900">
              <a:solidFill>
                <a:srgbClr val="000000"/>
              </a:solidFill>
              <a:latin typeface="Lexend"/>
              <a:ea typeface="Lexend"/>
              <a:cs typeface="Lexend"/>
              <a:sym typeface="Lexend"/>
            </a:endParaRPr>
          </a:p>
        </p:txBody>
      </p:sp>
      <p:sp>
        <p:nvSpPr>
          <p:cNvPr id="203" name="Google Shape;203;p21"/>
          <p:cNvSpPr txBox="1"/>
          <p:nvPr/>
        </p:nvSpPr>
        <p:spPr>
          <a:xfrm>
            <a:off x="468000" y="720000"/>
            <a:ext cx="26409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teacher collected data showing the number of students from each year group who attended homework club last week.</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The teacher wants to represent this data as a pie chart using spreadsheets.</a:t>
            </a:r>
            <a:endParaRPr sz="1200">
              <a:solidFill>
                <a:srgbClr val="000000"/>
              </a:solidFill>
              <a:latin typeface="Lexend"/>
              <a:ea typeface="Lexend"/>
              <a:cs typeface="Lexend"/>
              <a:sym typeface="Lexend"/>
            </a:endParaRPr>
          </a:p>
        </p:txBody>
      </p:sp>
      <p:graphicFrame>
        <p:nvGraphicFramePr>
          <p:cNvPr id="204" name="Google Shape;204;p21"/>
          <p:cNvGraphicFramePr/>
          <p:nvPr/>
        </p:nvGraphicFramePr>
        <p:xfrm>
          <a:off x="3420000" y="802325"/>
          <a:ext cx="3000000" cy="3000000"/>
        </p:xfrm>
        <a:graphic>
          <a:graphicData uri="http://schemas.openxmlformats.org/drawingml/2006/table">
            <a:tbl>
              <a:tblPr>
                <a:noFill/>
                <a:tableStyleId>{4816788B-A1F9-4D6E-B221-26D071393C9F}</a:tableStyleId>
              </a:tblPr>
              <a:tblGrid>
                <a:gridCol w="549050"/>
                <a:gridCol w="654900"/>
                <a:gridCol w="1234025"/>
                <a:gridCol w="1234025"/>
              </a:tblGrid>
              <a:tr h="296225">
                <a:tc>
                  <a:txBody>
                    <a:bodyPr/>
                    <a:lstStyle/>
                    <a:p>
                      <a:pPr indent="0" lvl="0" marL="0" rtl="0" algn="ctr">
                        <a:lnSpc>
                          <a:spcPct val="115000"/>
                        </a:lnSpc>
                        <a:spcBef>
                          <a:spcPts val="0"/>
                        </a:spcBef>
                        <a:spcAft>
                          <a:spcPts val="0"/>
                        </a:spcAft>
                        <a:buNone/>
                      </a:pPr>
                      <a:r>
                        <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B</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D</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r>
              <a:tr h="2962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6</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b="1" lang="en-GB" sz="1200">
                          <a:solidFill>
                            <a:schemeClr val="dk1"/>
                          </a:solidFill>
                          <a:latin typeface="Lexend"/>
                          <a:ea typeface="Lexend"/>
                          <a:cs typeface="Lexend"/>
                          <a:sym typeface="Lexend"/>
                        </a:rPr>
                        <a:t>Year Group</a:t>
                      </a:r>
                      <a:endParaRPr b="1" sz="1200">
                        <a:solidFill>
                          <a:schemeClr val="dk1"/>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solidFill>
                            <a:schemeClr val="dk1"/>
                          </a:solidFill>
                          <a:latin typeface="Lexend"/>
                          <a:ea typeface="Lexend"/>
                          <a:cs typeface="Lexend"/>
                          <a:sym typeface="Lexend"/>
                        </a:rPr>
                        <a:t>Angle</a:t>
                      </a:r>
                      <a:endParaRPr b="1" sz="1200">
                        <a:solidFill>
                          <a:schemeClr val="dk1"/>
                        </a:solidFill>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7</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42</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8</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8</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36</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9</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9</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36</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10</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10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11</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11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48</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62075">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12</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62075">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13</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19050">
                      <a:solidFill>
                        <a:srgbClr val="B7B7B7"/>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19050">
                      <a:solidFill>
                        <a:srgbClr val="B7B7B7"/>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19050">
                      <a:solidFill>
                        <a:srgbClr val="B7B7B7"/>
                      </a:solidFill>
                      <a:prstDash val="solid"/>
                      <a:round/>
                      <a:headEnd len="sm" w="sm" type="none"/>
                      <a:tailEnd len="sm" w="sm" type="none"/>
                    </a:lnT>
                    <a:lnB cap="flat" cmpd="sng" w="38100">
                      <a:solidFill>
                        <a:srgbClr val="845AD9"/>
                      </a:solidFill>
                      <a:prstDash val="solid"/>
                      <a:round/>
                      <a:headEnd len="sm" w="sm" type="none"/>
                      <a:tailEnd len="sm" w="sm" type="none"/>
                    </a:lnB>
                  </a:tcPr>
                </a:tc>
              </a:tr>
              <a:tr h="452650">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14</a:t>
                      </a:r>
                      <a:endParaRPr sz="1200">
                        <a:solidFill>
                          <a:srgbClr val="FFFFFF"/>
                        </a:solidFill>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gridSpan="2">
                  <a:txBody>
                    <a:bodyPr/>
                    <a:lstStyle/>
                    <a:p>
                      <a:pPr indent="0" lvl="0" marL="0" rtl="0" algn="r">
                        <a:lnSpc>
                          <a:spcPct val="115000"/>
                        </a:lnSpc>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multiplier</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38100">
                      <a:solidFill>
                        <a:srgbClr val="845AD9"/>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38100">
                      <a:solidFill>
                        <a:srgbClr val="845AD9"/>
                      </a:solidFill>
                      <a:prstDash val="solid"/>
                      <a:round/>
                      <a:headEnd len="sm" w="sm" type="none"/>
                      <a:tailEnd len="sm" w="sm" type="none"/>
                    </a:lnL>
                    <a:lnR cap="flat" cmpd="sng" w="38100">
                      <a:solidFill>
                        <a:srgbClr val="845AD9"/>
                      </a:solidFill>
                      <a:prstDash val="solid"/>
                      <a:round/>
                      <a:headEnd len="sm" w="sm" type="none"/>
                      <a:tailEnd len="sm" w="sm" type="none"/>
                    </a:lnR>
                    <a:lnT cap="flat" cmpd="sng" w="38100">
                      <a:solidFill>
                        <a:srgbClr val="845AD9"/>
                      </a:solidFill>
                      <a:prstDash val="solid"/>
                      <a:round/>
                      <a:headEnd len="sm" w="sm" type="none"/>
                      <a:tailEnd len="sm" w="sm" type="none"/>
                    </a:lnT>
                    <a:lnB cap="flat" cmpd="sng" w="38100">
                      <a:solidFill>
                        <a:srgbClr val="845AD9"/>
                      </a:solidFill>
                      <a:prstDash val="solid"/>
                      <a:round/>
                      <a:headEnd len="sm" w="sm" type="none"/>
                      <a:tailEnd len="sm" w="sm" type="none"/>
                    </a:lnB>
                  </a:tcPr>
                </a:tc>
              </a:tr>
            </a:tbl>
          </a:graphicData>
        </a:graphic>
      </p:graphicFrame>
      <p:sp>
        <p:nvSpPr>
          <p:cNvPr id="205" name="Google Shape;205;p21"/>
          <p:cNvSpPr txBox="1"/>
          <p:nvPr/>
        </p:nvSpPr>
        <p:spPr>
          <a:xfrm>
            <a:off x="468000" y="2565450"/>
            <a:ext cx="26409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3) Fill in each cell with the correct spreadsheet function to find:</a:t>
            </a:r>
            <a:endParaRPr sz="1200">
              <a:latin typeface="Lexend"/>
              <a:ea typeface="Lexend"/>
              <a:cs typeface="Lexend"/>
              <a:sym typeface="Lexend"/>
            </a:endParaRPr>
          </a:p>
        </p:txBody>
      </p:sp>
      <p:sp>
        <p:nvSpPr>
          <p:cNvPr id="206" name="Google Shape;206;p21"/>
          <p:cNvSpPr txBox="1"/>
          <p:nvPr/>
        </p:nvSpPr>
        <p:spPr>
          <a:xfrm>
            <a:off x="912825" y="2995698"/>
            <a:ext cx="21960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the total frequency</a:t>
            </a:r>
            <a:endParaRPr sz="1200">
              <a:latin typeface="Lexend"/>
              <a:ea typeface="Lexend"/>
              <a:cs typeface="Lexend"/>
              <a:sym typeface="Lexend"/>
            </a:endParaRPr>
          </a:p>
          <a:p>
            <a:pPr indent="0" lvl="0" marL="0" rtl="0" algn="l">
              <a:lnSpc>
                <a:spcPct val="115000"/>
              </a:lnSpc>
              <a:spcBef>
                <a:spcPts val="0"/>
              </a:spcBef>
              <a:spcAft>
                <a:spcPts val="0"/>
              </a:spcAft>
              <a:buNone/>
            </a:pPr>
            <a:r>
              <a:rPr lang="en-GB" sz="1200">
                <a:latin typeface="Lexend"/>
                <a:ea typeface="Lexend"/>
                <a:cs typeface="Lexend"/>
                <a:sym typeface="Lexend"/>
              </a:rPr>
              <a:t>the multiplier</a:t>
            </a:r>
            <a:endParaRPr sz="1200">
              <a:latin typeface="Lexend"/>
              <a:ea typeface="Lexend"/>
              <a:cs typeface="Lexend"/>
              <a:sym typeface="Lexend"/>
            </a:endParaRPr>
          </a:p>
          <a:p>
            <a:pPr indent="0" lvl="0" marL="0" rtl="0" algn="l">
              <a:lnSpc>
                <a:spcPct val="115000"/>
              </a:lnSpc>
              <a:spcBef>
                <a:spcPts val="0"/>
              </a:spcBef>
              <a:spcAft>
                <a:spcPts val="0"/>
              </a:spcAft>
              <a:buNone/>
            </a:pPr>
            <a:r>
              <a:rPr lang="en-GB" sz="1200">
                <a:latin typeface="Lexend"/>
                <a:ea typeface="Lexend"/>
                <a:cs typeface="Lexend"/>
                <a:sym typeface="Lexend"/>
              </a:rPr>
              <a:t>the size of each angle</a:t>
            </a:r>
            <a:endParaRPr sz="1200">
              <a:latin typeface="Lexend"/>
              <a:ea typeface="Lexend"/>
              <a:cs typeface="Lexend"/>
              <a:sym typeface="Lexend"/>
            </a:endParaRPr>
          </a:p>
        </p:txBody>
      </p:sp>
      <p:cxnSp>
        <p:nvCxnSpPr>
          <p:cNvPr id="207" name="Google Shape;207;p21"/>
          <p:cNvCxnSpPr/>
          <p:nvPr/>
        </p:nvCxnSpPr>
        <p:spPr>
          <a:xfrm>
            <a:off x="474750" y="4304625"/>
            <a:ext cx="6610500" cy="0"/>
          </a:xfrm>
          <a:prstGeom prst="straightConnector1">
            <a:avLst/>
          </a:prstGeom>
          <a:noFill/>
          <a:ln cap="flat" cmpd="sng" w="38100">
            <a:solidFill>
              <a:srgbClr val="000000"/>
            </a:solidFill>
            <a:prstDash val="solid"/>
            <a:round/>
            <a:headEnd len="med" w="med" type="none"/>
            <a:tailEnd len="med" w="med" type="none"/>
          </a:ln>
        </p:spPr>
      </p:cxnSp>
      <p:sp>
        <p:nvSpPr>
          <p:cNvPr id="208" name="Google Shape;208;p21"/>
          <p:cNvSpPr txBox="1"/>
          <p:nvPr/>
        </p:nvSpPr>
        <p:spPr>
          <a:xfrm>
            <a:off x="468000" y="8299450"/>
            <a:ext cx="66240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If the Insert chart icon does not appear in the toolbar at the top of the screen to begin with, you can click on the three vertical dots on the top right to show further icons.</a:t>
            </a:r>
            <a:endParaRPr sz="1200">
              <a:latin typeface="Lexend"/>
              <a:ea typeface="Lexend"/>
              <a:cs typeface="Lexend"/>
              <a:sym typeface="Lexend"/>
            </a:endParaRPr>
          </a:p>
          <a:p>
            <a:pPr indent="0" lvl="0" marL="0" rtl="0" algn="l">
              <a:lnSpc>
                <a:spcPct val="115000"/>
              </a:lnSpc>
              <a:spcBef>
                <a:spcPts val="1000"/>
              </a:spcBef>
              <a:spcAft>
                <a:spcPts val="1000"/>
              </a:spcAft>
              <a:buNone/>
            </a:pPr>
            <a:r>
              <a:rPr lang="en-GB" sz="1200">
                <a:latin typeface="Lexend"/>
                <a:ea typeface="Lexend"/>
                <a:cs typeface="Lexend"/>
                <a:sym typeface="Lexend"/>
              </a:rPr>
              <a:t>1) On the image above, circle the Insert chart icon.</a:t>
            </a:r>
            <a:endParaRPr sz="1200">
              <a:latin typeface="Lexend"/>
              <a:ea typeface="Lexend"/>
              <a:cs typeface="Lexend"/>
              <a:sym typeface="Lexend"/>
            </a:endParaRPr>
          </a:p>
        </p:txBody>
      </p:sp>
      <p:sp>
        <p:nvSpPr>
          <p:cNvPr id="209" name="Google Shape;209;p21"/>
          <p:cNvSpPr txBox="1"/>
          <p:nvPr/>
        </p:nvSpPr>
        <p:spPr>
          <a:xfrm>
            <a:off x="3903375" y="9972000"/>
            <a:ext cx="2722800" cy="161100"/>
          </a:xfrm>
          <a:prstGeom prst="rect">
            <a:avLst/>
          </a:prstGeom>
          <a:noFill/>
          <a:ln>
            <a:noFill/>
          </a:ln>
        </p:spPr>
        <p:txBody>
          <a:bodyPr anchorCtr="0" anchor="b" bIns="0" lIns="0" spcFirstLastPara="1" rIns="0" wrap="square" tIns="0">
            <a:normAutofit/>
          </a:bodyPr>
          <a:lstStyle/>
          <a:p>
            <a:pPr indent="0" lvl="0" marL="0" rtl="0" algn="l">
              <a:lnSpc>
                <a:spcPct val="115000"/>
              </a:lnSpc>
              <a:spcBef>
                <a:spcPts val="0"/>
              </a:spcBef>
              <a:spcAft>
                <a:spcPts val="0"/>
              </a:spcAft>
              <a:buNone/>
            </a:pPr>
            <a:r>
              <a:rPr lang="en-GB" sz="900">
                <a:solidFill>
                  <a:srgbClr val="575756"/>
                </a:solidFill>
                <a:latin typeface="Lexend Light"/>
                <a:ea typeface="Lexend Light"/>
                <a:cs typeface="Lexend Light"/>
                <a:sym typeface="Lexend Light"/>
              </a:rPr>
              <a:t>Mathematics in Education and Industry</a:t>
            </a:r>
            <a:endParaRPr sz="900">
              <a:solidFill>
                <a:srgbClr val="575756"/>
              </a:solidFill>
              <a:latin typeface="Lexend Light"/>
              <a:ea typeface="Lexend Light"/>
              <a:cs typeface="Lexend Light"/>
              <a:sym typeface="Lexend Light"/>
            </a:endParaRPr>
          </a:p>
        </p:txBody>
      </p:sp>
      <p:sp>
        <p:nvSpPr>
          <p:cNvPr id="210" name="Google Shape;210;p21"/>
          <p:cNvSpPr txBox="1"/>
          <p:nvPr/>
        </p:nvSpPr>
        <p:spPr>
          <a:xfrm>
            <a:off x="468000" y="4317375"/>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B: </a:t>
            </a:r>
            <a:r>
              <a:rPr b="1" lang="en-GB">
                <a:latin typeface="Lexend"/>
                <a:ea typeface="Lexend"/>
                <a:cs typeface="Lexend"/>
                <a:sym typeface="Lexend"/>
              </a:rPr>
              <a:t>Using spreadsheet functions to calculate angles</a:t>
            </a:r>
            <a:endParaRPr b="1">
              <a:latin typeface="Lexend"/>
              <a:ea typeface="Lexend"/>
              <a:cs typeface="Lexend"/>
              <a:sym typeface="Lexend"/>
            </a:endParaRPr>
          </a:p>
        </p:txBody>
      </p:sp>
      <p:pic>
        <p:nvPicPr>
          <p:cNvPr id="211" name="Google Shape;211;p21"/>
          <p:cNvPicPr preferRelativeResize="0"/>
          <p:nvPr/>
        </p:nvPicPr>
        <p:blipFill>
          <a:blip r:embed="rId3">
            <a:alphaModFix/>
          </a:blip>
          <a:stretch>
            <a:fillRect/>
          </a:stretch>
        </p:blipFill>
        <p:spPr>
          <a:xfrm>
            <a:off x="468000" y="4727674"/>
            <a:ext cx="6623999" cy="3411837"/>
          </a:xfrm>
          <a:prstGeom prst="rect">
            <a:avLst/>
          </a:prstGeom>
          <a:noFill/>
          <a:ln>
            <a:noFill/>
          </a:ln>
        </p:spPr>
      </p:pic>
      <p:sp>
        <p:nvSpPr>
          <p:cNvPr id="212" name="Google Shape;212;p21"/>
          <p:cNvSpPr txBox="1"/>
          <p:nvPr/>
        </p:nvSpPr>
        <p:spPr>
          <a:xfrm>
            <a:off x="6352325" y="9972000"/>
            <a:ext cx="483300" cy="277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1200">
                <a:solidFill>
                  <a:srgbClr val="000000"/>
                </a:solidFill>
                <a:latin typeface="Lexend Medium"/>
                <a:ea typeface="Lexend Medium"/>
                <a:cs typeface="Lexend Medium"/>
                <a:sym typeface="Lexend Medium"/>
              </a:rPr>
              <a:t>‹#›</a:t>
            </a:fld>
            <a:endParaRPr sz="1200">
              <a:solidFill>
                <a:srgbClr val="000000"/>
              </a:solidFill>
              <a:latin typeface="Lexend Medium"/>
              <a:ea typeface="Lexend Medium"/>
              <a:cs typeface="Lexend Medium"/>
              <a:sym typeface="Lexend Medium"/>
            </a:endParaRPr>
          </a:p>
        </p:txBody>
      </p:sp>
      <p:sp>
        <p:nvSpPr>
          <p:cNvPr id="213" name="Google Shape;213;p21"/>
          <p:cNvSpPr txBox="1"/>
          <p:nvPr/>
        </p:nvSpPr>
        <p:spPr>
          <a:xfrm>
            <a:off x="474750" y="9633375"/>
            <a:ext cx="71262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999999"/>
                </a:solidFill>
                <a:latin typeface="Lexend"/>
                <a:ea typeface="Lexend"/>
                <a:cs typeface="Lexend"/>
                <a:sym typeface="Lexend"/>
              </a:rPr>
              <a:t>Google Sheets is a trademark of Google LLC and this content is not endorsed by or affiliated with Google in any way.</a:t>
            </a:r>
            <a:endParaRPr sz="600">
              <a:solidFill>
                <a:srgbClr val="999999"/>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LD THEME">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