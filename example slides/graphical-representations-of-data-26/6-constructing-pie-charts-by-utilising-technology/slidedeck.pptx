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374805-6F9B-41F9-B94B-C8FA17D56679}">
  <a:tblStyle styleId="{7D374805-6F9B-41F9-B94B-C8FA17D566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88de6f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88de6f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888de6f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888de6f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e888de6f9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e888de6f9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e888de6f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e888de6f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e888de6f9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e888de6f9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e888de6f9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e888de6f9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1e888de6f9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1e888de6f9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1e888de6f9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1e888de6f9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e888de6f9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1e888de6f9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e888de6f97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e888de6f97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e889ab4c48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e889ab4c48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e888de6f9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e888de6f9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e888de6f9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e888de6f9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e888de6f9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e888de6f9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e888de6f9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e888de6f9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e888de6f9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e888de6f9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e888de6f9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e888de6f9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1e888de6f97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1e888de6f97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1e888de6f97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1e888de6f97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e889ab4c4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1e889ab4c4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e889ab4c4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e889ab4c4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1e889ab4c4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1e889ab4c4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e889ab4c4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e889ab4c4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e889ab4c4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e889ab4c4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e889ab4c4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e889ab4c4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e888de6f9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e888de6f9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8a5ce994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8a5ce994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1e889ab4c4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1e889ab4c4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e889ab4c4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e889ab4c4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e889ab4c48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1e889ab4c4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1e889ab4c4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1e889ab4c4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e889ab4c4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e889ab4c4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e889ab4c4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1e889ab4c4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e889ab4c4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e889ab4c4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1e889ab4c48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1e889ab4c48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1e889ab4c48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1e889ab4c48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e889ab4c4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e889ab4c4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1e889ab4c48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1e889ab4c48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8a5ce9941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8a5ce9941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Relationship Id="rId4" Type="http://schemas.openxmlformats.org/officeDocument/2006/relationships/image" Target="../media/image69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9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9.png"/><Relationship Id="rId4" Type="http://schemas.openxmlformats.org/officeDocument/2006/relationships/image" Target="../media/image33.png"/><Relationship Id="rId11" Type="http://schemas.openxmlformats.org/officeDocument/2006/relationships/image" Target="../media/image23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53.png"/><Relationship Id="rId5" Type="http://schemas.openxmlformats.org/officeDocument/2006/relationships/image" Target="../media/image6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spreadsheets/d/1LQeWFR69wFSQdMeY30GJOaVsdEuGE3o9lwKrEpOaBaE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google.com/spreadsheets/d/1FTYeYReJPNrr6y18YRjfo7l-fJnrPfx3Bv9thRhq2Nk/edit?usp=sharing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ocs.google.com/spreadsheets/d/1LQeWFR69wFSQdMeY30GJOaVsdEuGE3o9lwKrEpOaBaE/edit?usp=sharing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3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cs.google.com/spreadsheets/d/1LQeWFR69wFSQdMeY30GJOaVsdEuGE3o9lwKrEpOaBaE/edit?usp=sharing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ocs.google.com/spreadsheets/d/1FTYeYReJPNrr6y18YRjfo7l-fJnrPfx3Bv9thRhq2Nk/edit?usp=sharing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by utilising technology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</a:t>
            </a:r>
            <a:r>
              <a:rPr lang="en-GB"/>
              <a:t>can construct pie charts from data presented in a number of different ways using technology.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667850"/>
            <a:ext cx="637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Clockwise is the direction that the hands of an analogue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24000" y="2576338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frequency is the number of times an event occurs; or the number of individuals (people, animals etc.) with some specific property.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2" type="subTitle"/>
          </p:nvPr>
        </p:nvSpPr>
        <p:spPr>
          <a:xfrm>
            <a:off x="324000" y="1622100"/>
            <a:ext cx="6308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pie chart (pie graph) is a circular graph where sectors represent different groups proportionally.</a:t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530581"/>
            <a:ext cx="6617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angle is a measure of turn, it is often displayed as the rotation between two line segments.</a:t>
            </a:r>
            <a:endParaRPr sz="1800"/>
          </a:p>
        </p:txBody>
      </p:sp>
      <p:sp>
        <p:nvSpPr>
          <p:cNvPr id="770" name="Google Shape;770;p67"/>
          <p:cNvSpPr txBox="1"/>
          <p:nvPr>
            <p:ph idx="5" type="subTitle"/>
          </p:nvPr>
        </p:nvSpPr>
        <p:spPr>
          <a:xfrm>
            <a:off x="324000" y="4484825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sector is the region formed between two radii and their connecting arc.  </a:t>
            </a:r>
            <a:endParaRPr sz="1800"/>
          </a:p>
        </p:txBody>
      </p:sp>
      <p:grpSp>
        <p:nvGrpSpPr>
          <p:cNvPr id="771" name="Google Shape;771;p67"/>
          <p:cNvGrpSpPr/>
          <p:nvPr/>
        </p:nvGrpSpPr>
        <p:grpSpPr>
          <a:xfrm>
            <a:off x="6898228" y="3285761"/>
            <a:ext cx="1355644" cy="1085451"/>
            <a:chOff x="6976502" y="3087359"/>
            <a:chExt cx="1583696" cy="1268050"/>
          </a:xfrm>
        </p:grpSpPr>
        <p:pic>
          <p:nvPicPr>
            <p:cNvPr id="772" name="Google Shape;772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76502" y="3087359"/>
              <a:ext cx="903825" cy="91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3" name="Google Shape;773;p67"/>
            <p:cNvSpPr txBox="1"/>
            <p:nvPr/>
          </p:nvSpPr>
          <p:spPr>
            <a:xfrm>
              <a:off x="7732798" y="3998409"/>
              <a:ext cx="8274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282828"/>
                  </a:solidFill>
                  <a:latin typeface="Lexend"/>
                  <a:ea typeface="Lexend"/>
                  <a:cs typeface="Lexend"/>
                  <a:sym typeface="Lexend"/>
                </a:rPr>
                <a:t>angle</a:t>
              </a:r>
              <a:endParaRPr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74" name="Google Shape;774;p67"/>
            <p:cNvCxnSpPr>
              <a:stCxn id="773" idx="1"/>
            </p:cNvCxnSpPr>
            <p:nvPr/>
          </p:nvCxnSpPr>
          <p:spPr>
            <a:xfrm rot="10800000">
              <a:off x="7090498" y="3870909"/>
              <a:ext cx="642300" cy="30600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775" name="Google Shape;77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5310" y="1432038"/>
            <a:ext cx="974422" cy="9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7"/>
          <p:cNvSpPr txBox="1"/>
          <p:nvPr>
            <p:ph idx="1" type="subTitle"/>
          </p:nvPr>
        </p:nvSpPr>
        <p:spPr>
          <a:xfrm>
            <a:off x="324000" y="972650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clock travel.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782" name="Google Shape;78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</a:t>
            </a:r>
            <a:r>
              <a:rPr lang="en-GB"/>
              <a:t> pie charts using spreadsheets</a:t>
            </a:r>
            <a:endParaRPr/>
          </a:p>
        </p:txBody>
      </p:sp>
      <p:sp>
        <p:nvSpPr>
          <p:cNvPr id="783" name="Google Shape;78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by utilising technology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324000" y="683150"/>
            <a:ext cx="7805100" cy="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lesson will cover the use of spreadsheets in:</a:t>
            </a:r>
            <a:endParaRPr/>
          </a:p>
        </p:txBody>
      </p: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526550" y="1388875"/>
            <a:ext cx="7602600" cy="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Sheets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Microsoft Excel</a:t>
            </a:r>
            <a:endParaRPr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24000" y="2637150"/>
            <a:ext cx="7805100" cy="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Other spreadsheet software is available, and a lot of the functionality taught in this lesson will be transferable.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Basic features of a spreadsheet</a:t>
            </a:r>
            <a:endParaRPr/>
          </a:p>
        </p:txBody>
      </p:sp>
      <p:sp>
        <p:nvSpPr>
          <p:cNvPr id="798" name="Google Shape;79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04068"/>
            <a:ext cx="8496000" cy="15419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0" name="Google Shape;800;p70"/>
          <p:cNvCxnSpPr/>
          <p:nvPr/>
        </p:nvCxnSpPr>
        <p:spPr>
          <a:xfrm rot="10800000">
            <a:off x="2937950" y="3349075"/>
            <a:ext cx="168000" cy="81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70"/>
          <p:cNvSpPr txBox="1"/>
          <p:nvPr>
            <p:ph idx="1" type="body"/>
          </p:nvPr>
        </p:nvSpPr>
        <p:spPr>
          <a:xfrm>
            <a:off x="2503975" y="4074212"/>
            <a:ext cx="1220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Cell</a:t>
            </a:r>
            <a:endParaRPr sz="1800"/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419750" y="1674600"/>
            <a:ext cx="1220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Cell Name</a:t>
            </a:r>
            <a:endParaRPr sz="1800"/>
          </a:p>
        </p:txBody>
      </p:sp>
      <p:cxnSp>
        <p:nvCxnSpPr>
          <p:cNvPr id="803" name="Google Shape;803;p70"/>
          <p:cNvCxnSpPr/>
          <p:nvPr/>
        </p:nvCxnSpPr>
        <p:spPr>
          <a:xfrm flipH="1">
            <a:off x="541850" y="1914825"/>
            <a:ext cx="168000" cy="81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70"/>
          <p:cNvCxnSpPr/>
          <p:nvPr/>
        </p:nvCxnSpPr>
        <p:spPr>
          <a:xfrm rot="10800000">
            <a:off x="7684625" y="1592700"/>
            <a:ext cx="168000" cy="81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6701225" y="1356150"/>
            <a:ext cx="2044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Insert Chart</a:t>
            </a:r>
            <a:endParaRPr sz="1800"/>
          </a:p>
        </p:txBody>
      </p:sp>
      <p:cxnSp>
        <p:nvCxnSpPr>
          <p:cNvPr id="806" name="Google Shape;806;p70"/>
          <p:cNvCxnSpPr/>
          <p:nvPr/>
        </p:nvCxnSpPr>
        <p:spPr>
          <a:xfrm flipH="1" rot="-8517808">
            <a:off x="1396533" y="2021308"/>
            <a:ext cx="167975" cy="81664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1798063" y="1998381"/>
            <a:ext cx="1743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Insert Function</a:t>
            </a:r>
            <a:endParaRPr sz="1800"/>
          </a:p>
        </p:txBody>
      </p:sp>
      <p:sp>
        <p:nvSpPr>
          <p:cNvPr id="808" name="Google Shape;808;p70"/>
          <p:cNvSpPr txBox="1"/>
          <p:nvPr/>
        </p:nvSpPr>
        <p:spPr>
          <a:xfrm>
            <a:off x="254625" y="4512125"/>
            <a:ext cx="60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814" name="Google Shape;814;p71"/>
          <p:cNvSpPr txBox="1"/>
          <p:nvPr>
            <p:ph idx="1" type="body"/>
          </p:nvPr>
        </p:nvSpPr>
        <p:spPr>
          <a:xfrm>
            <a:off x="324000" y="1826550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asking a spreadsheet to perform any mathematical calculation, you must always type the equals symbol into the cell first.</a:t>
            </a:r>
            <a:endParaRPr sz="2000"/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324000" y="851400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will be using spreadsheets to perform and update calculations to help convert frequency data into angles to plot onto a pie chart.</a:t>
            </a:r>
            <a:endParaRPr sz="2000"/>
          </a:p>
        </p:txBody>
      </p:sp>
      <p:sp>
        <p:nvSpPr>
          <p:cNvPr id="816" name="Google Shape;816;p71"/>
          <p:cNvSpPr/>
          <p:nvPr/>
        </p:nvSpPr>
        <p:spPr>
          <a:xfrm>
            <a:off x="2518375" y="2652800"/>
            <a:ext cx="2961900" cy="56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=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2"/>
          <p:cNvSpPr txBox="1"/>
          <p:nvPr>
            <p:ph idx="1" type="body"/>
          </p:nvPr>
        </p:nvSpPr>
        <p:spPr>
          <a:xfrm>
            <a:off x="324000" y="3621000"/>
            <a:ext cx="7805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Most of these are found on the top row of your keyboard (where the numbers are), and accessed using the shift-key.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division / is on the bottom-right of the keyboard.</a:t>
            </a:r>
            <a:endParaRPr sz="1800"/>
          </a:p>
        </p:txBody>
      </p:sp>
      <p:sp>
        <p:nvSpPr>
          <p:cNvPr id="822" name="Google Shape;82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823" name="Google Shape;823;p72"/>
          <p:cNvSpPr txBox="1"/>
          <p:nvPr>
            <p:ph idx="1" type="body"/>
          </p:nvPr>
        </p:nvSpPr>
        <p:spPr>
          <a:xfrm>
            <a:off x="324000" y="705150"/>
            <a:ext cx="7805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your keyboard, there are buttons for each of the four basic operations:</a:t>
            </a:r>
            <a:endParaRPr sz="1800"/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266625" y="1381350"/>
            <a:ext cx="69198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ddition           +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</a:t>
            </a:r>
            <a:r>
              <a:rPr lang="en-GB" sz="1800"/>
              <a:t>ubtraction      -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multiplication  *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ivision            /</a:t>
            </a:r>
            <a:endParaRPr sz="1800"/>
          </a:p>
        </p:txBody>
      </p:sp>
      <p:sp>
        <p:nvSpPr>
          <p:cNvPr id="825" name="Google Shape;825;p72"/>
          <p:cNvSpPr txBox="1"/>
          <p:nvPr>
            <p:ph idx="1" type="body"/>
          </p:nvPr>
        </p:nvSpPr>
        <p:spPr>
          <a:xfrm>
            <a:off x="6054425" y="1897200"/>
            <a:ext cx="19509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Please note that you </a:t>
            </a:r>
            <a:r>
              <a:rPr lang="en-GB" sz="1800">
                <a:solidFill>
                  <a:srgbClr val="845AD9"/>
                </a:solidFill>
              </a:rPr>
              <a:t>cannot</a:t>
            </a:r>
            <a:r>
              <a:rPr lang="en-GB" sz="1800"/>
              <a:t> multiply by using the letter x.</a:t>
            </a:r>
            <a:endParaRPr sz="1800"/>
          </a:p>
        </p:txBody>
      </p:sp>
      <p:cxnSp>
        <p:nvCxnSpPr>
          <p:cNvPr id="826" name="Google Shape;826;p72"/>
          <p:cNvCxnSpPr/>
          <p:nvPr/>
        </p:nvCxnSpPr>
        <p:spPr>
          <a:xfrm>
            <a:off x="5120800" y="2367525"/>
            <a:ext cx="841800" cy="28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73"/>
          <p:cNvGrpSpPr/>
          <p:nvPr/>
        </p:nvGrpSpPr>
        <p:grpSpPr>
          <a:xfrm>
            <a:off x="5068211" y="1681125"/>
            <a:ext cx="2292651" cy="496450"/>
            <a:chOff x="3634724" y="4147050"/>
            <a:chExt cx="2292651" cy="496450"/>
          </a:xfrm>
        </p:grpSpPr>
        <p:pic>
          <p:nvPicPr>
            <p:cNvPr id="832" name="Google Shape;832;p73"/>
            <p:cNvPicPr preferRelativeResize="0"/>
            <p:nvPr/>
          </p:nvPicPr>
          <p:blipFill rotWithShape="1">
            <a:blip r:embed="rId3">
              <a:alphaModFix/>
            </a:blip>
            <a:srcRect b="29671" l="67236" r="18071" t="44817"/>
            <a:stretch/>
          </p:blipFill>
          <p:spPr>
            <a:xfrm>
              <a:off x="3634724" y="4147050"/>
              <a:ext cx="1189276" cy="49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3" name="Google Shape;833;p73"/>
            <p:cNvPicPr preferRelativeResize="0"/>
            <p:nvPr/>
          </p:nvPicPr>
          <p:blipFill rotWithShape="1">
            <a:blip r:embed="rId3">
              <a:alphaModFix/>
            </a:blip>
            <a:srcRect b="29671" l="69475" r="15832" t="44817"/>
            <a:stretch/>
          </p:blipFill>
          <p:spPr>
            <a:xfrm>
              <a:off x="4738099" y="4147050"/>
              <a:ext cx="1189276" cy="496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4" name="Google Shape;834;p73"/>
          <p:cNvSpPr txBox="1"/>
          <p:nvPr>
            <p:ph idx="1" type="body"/>
          </p:nvPr>
        </p:nvSpPr>
        <p:spPr>
          <a:xfrm>
            <a:off x="410163" y="3690897"/>
            <a:ext cx="78051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Click on the cell with the first number you want to use in your calculation. In this question, click on cell A11, which contains the number 360.</a:t>
            </a:r>
            <a:endParaRPr sz="1800"/>
          </a:p>
        </p:txBody>
      </p:sp>
      <p:sp>
        <p:nvSpPr>
          <p:cNvPr id="835" name="Google Shape;83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836" name="Google Shape;8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00" y="1329263"/>
            <a:ext cx="4329925" cy="10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>
            <p:ph idx="1" type="body"/>
          </p:nvPr>
        </p:nvSpPr>
        <p:spPr>
          <a:xfrm>
            <a:off x="410163" y="810000"/>
            <a:ext cx="7805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want to type in the answer to this maths question in the cell E11.</a:t>
            </a:r>
            <a:endParaRPr sz="1800"/>
          </a:p>
        </p:txBody>
      </p:sp>
      <p:sp>
        <p:nvSpPr>
          <p:cNvPr id="838" name="Google Shape;838;p73"/>
          <p:cNvSpPr txBox="1"/>
          <p:nvPr>
            <p:ph idx="1" type="body"/>
          </p:nvPr>
        </p:nvSpPr>
        <p:spPr>
          <a:xfrm>
            <a:off x="410163" y="2506200"/>
            <a:ext cx="7805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Click on the cell E11. You can check you have the correct cell by looking at the top left.</a:t>
            </a:r>
            <a:endParaRPr sz="1800"/>
          </a:p>
        </p:txBody>
      </p:sp>
      <p:sp>
        <p:nvSpPr>
          <p:cNvPr id="839" name="Google Shape;839;p73"/>
          <p:cNvSpPr txBox="1"/>
          <p:nvPr>
            <p:ph idx="1" type="body"/>
          </p:nvPr>
        </p:nvSpPr>
        <p:spPr>
          <a:xfrm>
            <a:off x="410163" y="3257848"/>
            <a:ext cx="7805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Press = to start a mathematical calculation.</a:t>
            </a:r>
            <a:endParaRPr sz="1800"/>
          </a:p>
        </p:txBody>
      </p:sp>
      <p:sp>
        <p:nvSpPr>
          <p:cNvPr id="840" name="Google Shape;840;p73"/>
          <p:cNvSpPr txBox="1"/>
          <p:nvPr>
            <p:ph idx="1" type="body"/>
          </p:nvPr>
        </p:nvSpPr>
        <p:spPr>
          <a:xfrm>
            <a:off x="5209263" y="1832600"/>
            <a:ext cx="3414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sp>
        <p:nvSpPr>
          <p:cNvPr id="841" name="Google Shape;841;p73"/>
          <p:cNvSpPr txBox="1"/>
          <p:nvPr>
            <p:ph idx="1" type="body"/>
          </p:nvPr>
        </p:nvSpPr>
        <p:spPr>
          <a:xfrm>
            <a:off x="5068213" y="1481175"/>
            <a:ext cx="22926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ell E11 zoomed in</a:t>
            </a:r>
            <a:endParaRPr sz="1800"/>
          </a:p>
        </p:txBody>
      </p:sp>
      <p:cxnSp>
        <p:nvCxnSpPr>
          <p:cNvPr id="842" name="Google Shape;842;p73"/>
          <p:cNvCxnSpPr/>
          <p:nvPr/>
        </p:nvCxnSpPr>
        <p:spPr>
          <a:xfrm>
            <a:off x="317947" y="1472298"/>
            <a:ext cx="4839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3" name="Google Shape;843;p73"/>
          <p:cNvSpPr txBox="1"/>
          <p:nvPr>
            <p:ph idx="1" type="body"/>
          </p:nvPr>
        </p:nvSpPr>
        <p:spPr>
          <a:xfrm>
            <a:off x="5398263" y="1832600"/>
            <a:ext cx="398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A11</a:t>
            </a:r>
            <a:endParaRPr sz="1800"/>
          </a:p>
        </p:txBody>
      </p:sp>
      <p:sp>
        <p:nvSpPr>
          <p:cNvPr id="844" name="Google Shape;844;p73"/>
          <p:cNvSpPr txBox="1"/>
          <p:nvPr/>
        </p:nvSpPr>
        <p:spPr>
          <a:xfrm>
            <a:off x="410175" y="4605300"/>
            <a:ext cx="59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4"/>
          <p:cNvSpPr txBox="1"/>
          <p:nvPr>
            <p:ph idx="1" type="body"/>
          </p:nvPr>
        </p:nvSpPr>
        <p:spPr>
          <a:xfrm>
            <a:off x="324000" y="4252500"/>
            <a:ext cx="7805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</a:t>
            </a:r>
            <a:r>
              <a:rPr lang="en-GB" sz="1800"/>
              <a:t>) Press enter to complete your calculation.</a:t>
            </a:r>
            <a:endParaRPr sz="1800"/>
          </a:p>
        </p:txBody>
      </p:sp>
      <p:sp>
        <p:nvSpPr>
          <p:cNvPr id="850" name="Google Shape;850;p74"/>
          <p:cNvSpPr txBox="1"/>
          <p:nvPr>
            <p:ph idx="1" type="body"/>
          </p:nvPr>
        </p:nvSpPr>
        <p:spPr>
          <a:xfrm>
            <a:off x="324000" y="3599400"/>
            <a:ext cx="7805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) Click cell C11, the cell containing the second number in your calculation.</a:t>
            </a:r>
            <a:endParaRPr sz="1800"/>
          </a:p>
        </p:txBody>
      </p:sp>
      <p:sp>
        <p:nvSpPr>
          <p:cNvPr id="851" name="Google Shape;851;p74"/>
          <p:cNvSpPr txBox="1"/>
          <p:nvPr>
            <p:ph idx="1" type="body"/>
          </p:nvPr>
        </p:nvSpPr>
        <p:spPr>
          <a:xfrm>
            <a:off x="324000" y="3212100"/>
            <a:ext cx="7805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r>
              <a:rPr lang="en-GB" sz="1800"/>
              <a:t>) We want to divide, so on your keyboard, press the / button.</a:t>
            </a:r>
            <a:endParaRPr sz="1800"/>
          </a:p>
        </p:txBody>
      </p:sp>
      <p:sp>
        <p:nvSpPr>
          <p:cNvPr id="852" name="Google Shape;852;p74"/>
          <p:cNvSpPr txBox="1"/>
          <p:nvPr>
            <p:ph idx="1" type="body"/>
          </p:nvPr>
        </p:nvSpPr>
        <p:spPr>
          <a:xfrm>
            <a:off x="324000" y="2506200"/>
            <a:ext cx="7805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Notice how your calculation shows the cell number A11, not the number 360. This is correct.</a:t>
            </a:r>
            <a:endParaRPr sz="1800"/>
          </a:p>
        </p:txBody>
      </p:sp>
      <p:sp>
        <p:nvSpPr>
          <p:cNvPr id="853" name="Google Shape;85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grpSp>
        <p:nvGrpSpPr>
          <p:cNvPr id="854" name="Google Shape;854;p74"/>
          <p:cNvGrpSpPr/>
          <p:nvPr/>
        </p:nvGrpSpPr>
        <p:grpSpPr>
          <a:xfrm>
            <a:off x="4982049" y="1681125"/>
            <a:ext cx="2292651" cy="496450"/>
            <a:chOff x="3634724" y="4147050"/>
            <a:chExt cx="2292651" cy="496450"/>
          </a:xfrm>
        </p:grpSpPr>
        <p:pic>
          <p:nvPicPr>
            <p:cNvPr id="855" name="Google Shape;855;p74"/>
            <p:cNvPicPr preferRelativeResize="0"/>
            <p:nvPr/>
          </p:nvPicPr>
          <p:blipFill rotWithShape="1">
            <a:blip r:embed="rId3">
              <a:alphaModFix/>
            </a:blip>
            <a:srcRect b="29671" l="67236" r="18071" t="44817"/>
            <a:stretch/>
          </p:blipFill>
          <p:spPr>
            <a:xfrm>
              <a:off x="3634724" y="4147050"/>
              <a:ext cx="1189276" cy="49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74"/>
            <p:cNvPicPr preferRelativeResize="0"/>
            <p:nvPr/>
          </p:nvPicPr>
          <p:blipFill rotWithShape="1">
            <a:blip r:embed="rId3">
              <a:alphaModFix/>
            </a:blip>
            <a:srcRect b="29671" l="69475" r="15832" t="44817"/>
            <a:stretch/>
          </p:blipFill>
          <p:spPr>
            <a:xfrm>
              <a:off x="4738099" y="4147050"/>
              <a:ext cx="1189276" cy="496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7" name="Google Shape;85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38" y="1329263"/>
            <a:ext cx="4329925" cy="10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324000" y="810000"/>
            <a:ext cx="78051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want to type in the answer to this maths question in the cell E11.</a:t>
            </a:r>
            <a:endParaRPr sz="1800"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5123100" y="1832600"/>
            <a:ext cx="3414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4982050" y="1481175"/>
            <a:ext cx="22926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cell E11 zoomed in</a:t>
            </a:r>
            <a:endParaRPr sz="1800"/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5347720" y="1832600"/>
            <a:ext cx="398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A11</a:t>
            </a:r>
            <a:endParaRPr sz="1800"/>
          </a:p>
        </p:txBody>
      </p:sp>
      <p:sp>
        <p:nvSpPr>
          <p:cNvPr id="862" name="Google Shape;862;p74"/>
          <p:cNvSpPr txBox="1"/>
          <p:nvPr>
            <p:ph idx="1" type="body"/>
          </p:nvPr>
        </p:nvSpPr>
        <p:spPr>
          <a:xfrm>
            <a:off x="5789398" y="1832600"/>
            <a:ext cx="251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/</a:t>
            </a:r>
            <a:endParaRPr sz="1800"/>
          </a:p>
        </p:txBody>
      </p:sp>
      <p:sp>
        <p:nvSpPr>
          <p:cNvPr id="863" name="Google Shape;863;p74"/>
          <p:cNvSpPr txBox="1"/>
          <p:nvPr>
            <p:ph idx="1" type="body"/>
          </p:nvPr>
        </p:nvSpPr>
        <p:spPr>
          <a:xfrm>
            <a:off x="6084070" y="1832600"/>
            <a:ext cx="398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11</a:t>
            </a:r>
            <a:endParaRPr sz="1800"/>
          </a:p>
        </p:txBody>
      </p:sp>
      <p:sp>
        <p:nvSpPr>
          <p:cNvPr id="864" name="Google Shape;864;p74"/>
          <p:cNvSpPr txBox="1"/>
          <p:nvPr>
            <p:ph idx="1" type="body"/>
          </p:nvPr>
        </p:nvSpPr>
        <p:spPr>
          <a:xfrm>
            <a:off x="5347720" y="1831137"/>
            <a:ext cx="398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40</a:t>
            </a:r>
            <a:endParaRPr sz="1800"/>
          </a:p>
        </p:txBody>
      </p:sp>
      <p:sp>
        <p:nvSpPr>
          <p:cNvPr id="865" name="Google Shape;865;p74"/>
          <p:cNvSpPr txBox="1"/>
          <p:nvPr>
            <p:ph idx="1" type="body"/>
          </p:nvPr>
        </p:nvSpPr>
        <p:spPr>
          <a:xfrm>
            <a:off x="3681670" y="1831137"/>
            <a:ext cx="3987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40</a:t>
            </a:r>
            <a:endParaRPr sz="1800"/>
          </a:p>
        </p:txBody>
      </p:sp>
      <p:sp>
        <p:nvSpPr>
          <p:cNvPr id="866" name="Google Shape;866;p74"/>
          <p:cNvSpPr txBox="1"/>
          <p:nvPr/>
        </p:nvSpPr>
        <p:spPr>
          <a:xfrm>
            <a:off x="324000" y="4529700"/>
            <a:ext cx="59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5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button must you always press first on your keyboard to start a mathematical calculation?</a:t>
            </a:r>
            <a:endParaRPr/>
          </a:p>
        </p:txBody>
      </p:sp>
      <p:sp>
        <p:nvSpPr>
          <p:cNvPr id="872" name="Google Shape;87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873" name="Google Shape;873;p75"/>
          <p:cNvSpPr txBox="1"/>
          <p:nvPr>
            <p:ph idx="1" type="body"/>
          </p:nvPr>
        </p:nvSpPr>
        <p:spPr>
          <a:xfrm>
            <a:off x="324000" y="16200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=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 txBox="1"/>
          <p:nvPr>
            <p:ph idx="1" type="body"/>
          </p:nvPr>
        </p:nvSpPr>
        <p:spPr>
          <a:xfrm>
            <a:off x="2565550" y="2294100"/>
            <a:ext cx="2206500" cy="18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Multiplication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Subtraction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Division</a:t>
            </a:r>
            <a:endParaRPr/>
          </a:p>
        </p:txBody>
      </p:sp>
      <p:sp>
        <p:nvSpPr>
          <p:cNvPr id="879" name="Google Shape;879;p76"/>
          <p:cNvSpPr txBox="1"/>
          <p:nvPr>
            <p:ph idx="1" type="body"/>
          </p:nvPr>
        </p:nvSpPr>
        <p:spPr>
          <a:xfrm>
            <a:off x="324000" y="759300"/>
            <a:ext cx="41712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the operations to the keyboard symbols.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some incorrect options.</a:t>
            </a:r>
            <a:endParaRPr/>
          </a:p>
        </p:txBody>
      </p:sp>
      <p:sp>
        <p:nvSpPr>
          <p:cNvPr id="880" name="Google Shape;88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881" name="Google Shape;881;p76"/>
          <p:cNvSpPr txBox="1"/>
          <p:nvPr>
            <p:ph idx="1" type="body"/>
          </p:nvPr>
        </p:nvSpPr>
        <p:spPr>
          <a:xfrm>
            <a:off x="6110200" y="810000"/>
            <a:ext cx="2206500" cy="36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-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x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/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div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*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+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^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7"/>
          <p:cNvSpPr txBox="1"/>
          <p:nvPr>
            <p:ph idx="1" type="body"/>
          </p:nvPr>
        </p:nvSpPr>
        <p:spPr>
          <a:xfrm>
            <a:off x="2565550" y="2294100"/>
            <a:ext cx="28344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Addition   +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Multiplication   *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Subtraction   -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Division   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7"/>
          <p:cNvSpPr txBox="1"/>
          <p:nvPr>
            <p:ph idx="1" type="body"/>
          </p:nvPr>
        </p:nvSpPr>
        <p:spPr>
          <a:xfrm>
            <a:off x="324000" y="759300"/>
            <a:ext cx="41712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the operations to the keyboard symbols.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some incorrect options.</a:t>
            </a:r>
            <a:endParaRPr/>
          </a:p>
        </p:txBody>
      </p:sp>
      <p:sp>
        <p:nvSpPr>
          <p:cNvPr id="888" name="Google Shape;88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889" name="Google Shape;889;p77"/>
          <p:cNvSpPr txBox="1"/>
          <p:nvPr>
            <p:ph idx="1" type="body"/>
          </p:nvPr>
        </p:nvSpPr>
        <p:spPr>
          <a:xfrm>
            <a:off x="6120300" y="759300"/>
            <a:ext cx="2206500" cy="39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/>
              <a:t>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/>
              <a:t>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/>
              <a:t>div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/>
            </a:br>
            <a:r>
              <a:rPr lang="en-GB"/>
              <a:t>*</a:t>
            </a:r>
            <a:br>
              <a:rPr lang="en-GB"/>
            </a:br>
            <a:br>
              <a:rPr lang="en-GB" sz="1800"/>
            </a:br>
            <a:r>
              <a:rPr lang="en-GB"/>
              <a:t>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^</a:t>
            </a:r>
            <a:endParaRPr/>
          </a:p>
        </p:txBody>
      </p:sp>
      <p:cxnSp>
        <p:nvCxnSpPr>
          <p:cNvPr id="890" name="Google Shape;890;p77"/>
          <p:cNvCxnSpPr/>
          <p:nvPr/>
        </p:nvCxnSpPr>
        <p:spPr>
          <a:xfrm>
            <a:off x="5971020" y="1576550"/>
            <a:ext cx="440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7"/>
          <p:cNvCxnSpPr/>
          <p:nvPr/>
        </p:nvCxnSpPr>
        <p:spPr>
          <a:xfrm>
            <a:off x="5971025" y="2798575"/>
            <a:ext cx="728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7"/>
          <p:cNvCxnSpPr/>
          <p:nvPr/>
        </p:nvCxnSpPr>
        <p:spPr>
          <a:xfrm>
            <a:off x="5971022" y="4486399"/>
            <a:ext cx="440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8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 want to calculate the answer to this multiplication in the cell E13.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of the following is the correct input into this cell?</a:t>
            </a:r>
            <a:endParaRPr sz="2000"/>
          </a:p>
        </p:txBody>
      </p:sp>
      <p:sp>
        <p:nvSpPr>
          <p:cNvPr id="898" name="Google Shape;89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899" name="Google Shape;89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375" y="1648626"/>
            <a:ext cx="6329249" cy="1022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>
            <p:ph idx="1" type="body"/>
          </p:nvPr>
        </p:nvSpPr>
        <p:spPr>
          <a:xfrm>
            <a:off x="2229800" y="2918575"/>
            <a:ext cx="1574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60 + 6</a:t>
            </a:r>
            <a:endParaRPr sz="2000"/>
          </a:p>
        </p:txBody>
      </p:sp>
      <p:grpSp>
        <p:nvGrpSpPr>
          <p:cNvPr id="901" name="Google Shape;901;p78"/>
          <p:cNvGrpSpPr/>
          <p:nvPr/>
        </p:nvGrpSpPr>
        <p:grpSpPr>
          <a:xfrm>
            <a:off x="1684791" y="2869525"/>
            <a:ext cx="457200" cy="457200"/>
            <a:chOff x="1020916" y="1442088"/>
            <a:chExt cx="457200" cy="457200"/>
          </a:xfrm>
        </p:grpSpPr>
        <p:pic>
          <p:nvPicPr>
            <p:cNvPr id="902" name="Google Shape;902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4" name="Google Shape;904;p78"/>
          <p:cNvGrpSpPr/>
          <p:nvPr/>
        </p:nvGrpSpPr>
        <p:grpSpPr>
          <a:xfrm>
            <a:off x="1684791" y="3455325"/>
            <a:ext cx="457200" cy="457200"/>
            <a:chOff x="1020916" y="1442088"/>
            <a:chExt cx="457200" cy="457200"/>
          </a:xfrm>
        </p:grpSpPr>
        <p:pic>
          <p:nvPicPr>
            <p:cNvPr id="905" name="Google Shape;905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7" name="Google Shape;907;p78"/>
          <p:cNvSpPr txBox="1"/>
          <p:nvPr>
            <p:ph idx="1" type="body"/>
          </p:nvPr>
        </p:nvSpPr>
        <p:spPr>
          <a:xfrm>
            <a:off x="2229800" y="3504375"/>
            <a:ext cx="1574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A13 x C13</a:t>
            </a:r>
            <a:endParaRPr sz="2000"/>
          </a:p>
        </p:txBody>
      </p:sp>
      <p:grpSp>
        <p:nvGrpSpPr>
          <p:cNvPr id="908" name="Google Shape;908;p78"/>
          <p:cNvGrpSpPr/>
          <p:nvPr/>
        </p:nvGrpSpPr>
        <p:grpSpPr>
          <a:xfrm>
            <a:off x="4448891" y="2869525"/>
            <a:ext cx="457200" cy="457200"/>
            <a:chOff x="1020916" y="1442088"/>
            <a:chExt cx="457200" cy="457200"/>
          </a:xfrm>
        </p:grpSpPr>
        <p:pic>
          <p:nvPicPr>
            <p:cNvPr id="909" name="Google Shape;909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1" name="Google Shape;911;p78"/>
          <p:cNvGrpSpPr/>
          <p:nvPr/>
        </p:nvGrpSpPr>
        <p:grpSpPr>
          <a:xfrm>
            <a:off x="4448891" y="3455325"/>
            <a:ext cx="457200" cy="457200"/>
            <a:chOff x="1020916" y="1442088"/>
            <a:chExt cx="457200" cy="457200"/>
          </a:xfrm>
        </p:grpSpPr>
        <p:pic>
          <p:nvPicPr>
            <p:cNvPr id="912" name="Google Shape;912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4" name="Google Shape;914;p78"/>
          <p:cNvSpPr txBox="1"/>
          <p:nvPr>
            <p:ph idx="1" type="body"/>
          </p:nvPr>
        </p:nvSpPr>
        <p:spPr>
          <a:xfrm>
            <a:off x="4993900" y="2918575"/>
            <a:ext cx="1574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60 x 6</a:t>
            </a:r>
            <a:endParaRPr sz="2000"/>
          </a:p>
        </p:txBody>
      </p:sp>
      <p:sp>
        <p:nvSpPr>
          <p:cNvPr id="915" name="Google Shape;915;p78"/>
          <p:cNvSpPr txBox="1"/>
          <p:nvPr>
            <p:ph idx="1" type="body"/>
          </p:nvPr>
        </p:nvSpPr>
        <p:spPr>
          <a:xfrm>
            <a:off x="4993900" y="3504375"/>
            <a:ext cx="15744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A13 * C13</a:t>
            </a:r>
            <a:endParaRPr sz="2000"/>
          </a:p>
        </p:txBody>
      </p:sp>
      <p:pic>
        <p:nvPicPr>
          <p:cNvPr id="916" name="Google Shape;91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7208" y="34743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8"/>
          <p:cNvSpPr txBox="1"/>
          <p:nvPr/>
        </p:nvSpPr>
        <p:spPr>
          <a:xfrm>
            <a:off x="324000" y="4573125"/>
            <a:ext cx="589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9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 want to calculate the answer to this addition in the cell E15.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Fix the one mistake in the formula in E15.</a:t>
            </a:r>
            <a:endParaRPr sz="2000"/>
          </a:p>
        </p:txBody>
      </p:sp>
      <p:sp>
        <p:nvSpPr>
          <p:cNvPr id="923" name="Google Shape;9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924" name="Google Shape;924;p79"/>
          <p:cNvPicPr preferRelativeResize="0"/>
          <p:nvPr/>
        </p:nvPicPr>
        <p:blipFill rotWithShape="1">
          <a:blip r:embed="rId3">
            <a:alphaModFix/>
          </a:blip>
          <a:srcRect b="0" l="0" r="0" t="5267"/>
          <a:stretch/>
        </p:blipFill>
        <p:spPr>
          <a:xfrm>
            <a:off x="324000" y="1620000"/>
            <a:ext cx="6236775" cy="9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9"/>
          <p:cNvPicPr preferRelativeResize="0"/>
          <p:nvPr/>
        </p:nvPicPr>
        <p:blipFill rotWithShape="1">
          <a:blip r:embed="rId3">
            <a:alphaModFix/>
          </a:blip>
          <a:srcRect b="0" l="89611" r="0" t="5267"/>
          <a:stretch/>
        </p:blipFill>
        <p:spPr>
          <a:xfrm>
            <a:off x="6281250" y="1620000"/>
            <a:ext cx="647900" cy="9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9"/>
          <p:cNvPicPr preferRelativeResize="0"/>
          <p:nvPr/>
        </p:nvPicPr>
        <p:blipFill rotWithShape="1">
          <a:blip r:embed="rId3">
            <a:alphaModFix/>
          </a:blip>
          <a:srcRect b="0" l="89611" r="0" t="5267"/>
          <a:stretch/>
        </p:blipFill>
        <p:spPr>
          <a:xfrm>
            <a:off x="6608950" y="1620000"/>
            <a:ext cx="647900" cy="9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9"/>
          <p:cNvPicPr preferRelativeResize="0"/>
          <p:nvPr/>
        </p:nvPicPr>
        <p:blipFill rotWithShape="1">
          <a:blip r:embed="rId3">
            <a:alphaModFix/>
          </a:blip>
          <a:srcRect b="0" l="89611" r="0" t="5267"/>
          <a:stretch/>
        </p:blipFill>
        <p:spPr>
          <a:xfrm>
            <a:off x="6929150" y="1620000"/>
            <a:ext cx="647900" cy="9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9"/>
          <p:cNvSpPr txBox="1"/>
          <p:nvPr>
            <p:ph idx="1" type="body"/>
          </p:nvPr>
        </p:nvSpPr>
        <p:spPr>
          <a:xfrm>
            <a:off x="5264625" y="2160000"/>
            <a:ext cx="21465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A15 + B15</a:t>
            </a:r>
            <a:endParaRPr sz="2000"/>
          </a:p>
        </p:txBody>
      </p:sp>
      <p:sp>
        <p:nvSpPr>
          <p:cNvPr id="929" name="Google Shape;929;p79"/>
          <p:cNvSpPr txBox="1"/>
          <p:nvPr>
            <p:ph idx="1" type="body"/>
          </p:nvPr>
        </p:nvSpPr>
        <p:spPr>
          <a:xfrm>
            <a:off x="324000" y="2807075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= A15 + C15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0" name="Google Shape;930;p79"/>
          <p:cNvSpPr txBox="1"/>
          <p:nvPr/>
        </p:nvSpPr>
        <p:spPr>
          <a:xfrm>
            <a:off x="324000" y="4532400"/>
            <a:ext cx="59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936" name="Google Shape;936;p80"/>
          <p:cNvSpPr txBox="1"/>
          <p:nvPr>
            <p:ph idx="1" type="body"/>
          </p:nvPr>
        </p:nvSpPr>
        <p:spPr>
          <a:xfrm>
            <a:off x="324000" y="810000"/>
            <a:ext cx="43305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very easy to add together large lists of numbers.</a:t>
            </a:r>
            <a:endParaRPr sz="1800"/>
          </a:p>
        </p:txBody>
      </p:sp>
      <p:sp>
        <p:nvSpPr>
          <p:cNvPr id="937" name="Google Shape;937;p80"/>
          <p:cNvSpPr txBox="1"/>
          <p:nvPr>
            <p:ph idx="1" type="body"/>
          </p:nvPr>
        </p:nvSpPr>
        <p:spPr>
          <a:xfrm>
            <a:off x="324000" y="1785150"/>
            <a:ext cx="43305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Click in the cell you want to have the total and type in: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8" name="Google Shape;938;p80"/>
          <p:cNvSpPr txBox="1"/>
          <p:nvPr>
            <p:ph idx="1" type="body"/>
          </p:nvPr>
        </p:nvSpPr>
        <p:spPr>
          <a:xfrm>
            <a:off x="1310850" y="2476175"/>
            <a:ext cx="10614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845AD9"/>
                </a:solidFill>
              </a:rPr>
              <a:t>=sum(</a:t>
            </a:r>
            <a:endParaRPr sz="1800">
              <a:solidFill>
                <a:srgbClr val="845AD9"/>
              </a:solidFill>
            </a:endParaRPr>
          </a:p>
        </p:txBody>
      </p:sp>
      <p:sp>
        <p:nvSpPr>
          <p:cNvPr id="939" name="Google Shape;939;p80"/>
          <p:cNvSpPr txBox="1"/>
          <p:nvPr>
            <p:ph idx="1" type="body"/>
          </p:nvPr>
        </p:nvSpPr>
        <p:spPr>
          <a:xfrm>
            <a:off x="324000" y="2970000"/>
            <a:ext cx="43305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click, hold, and drag to select all </a:t>
            </a:r>
            <a:r>
              <a:rPr lang="en-GB" sz="1800"/>
              <a:t>the cells you want to add together.</a:t>
            </a:r>
            <a:endParaRPr sz="1800"/>
          </a:p>
        </p:txBody>
      </p:sp>
      <p:sp>
        <p:nvSpPr>
          <p:cNvPr id="940" name="Google Shape;940;p80"/>
          <p:cNvSpPr txBox="1"/>
          <p:nvPr>
            <p:ph idx="1" type="body"/>
          </p:nvPr>
        </p:nvSpPr>
        <p:spPr>
          <a:xfrm>
            <a:off x="324000" y="3746525"/>
            <a:ext cx="43305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Type the close bracket ), and press enter to perform your calculation.</a:t>
            </a:r>
            <a:endParaRPr sz="1800"/>
          </a:p>
        </p:txBody>
      </p:sp>
      <p:grpSp>
        <p:nvGrpSpPr>
          <p:cNvPr id="941" name="Google Shape;941;p80"/>
          <p:cNvGrpSpPr/>
          <p:nvPr/>
        </p:nvGrpSpPr>
        <p:grpSpPr>
          <a:xfrm>
            <a:off x="6705375" y="810000"/>
            <a:ext cx="2114625" cy="3383527"/>
            <a:chOff x="6705375" y="810000"/>
            <a:chExt cx="2114625" cy="3383527"/>
          </a:xfrm>
        </p:grpSpPr>
        <p:grpSp>
          <p:nvGrpSpPr>
            <p:cNvPr id="942" name="Google Shape;942;p80"/>
            <p:cNvGrpSpPr/>
            <p:nvPr/>
          </p:nvGrpSpPr>
          <p:grpSpPr>
            <a:xfrm>
              <a:off x="6705375" y="810000"/>
              <a:ext cx="2114625" cy="3329375"/>
              <a:chOff x="6144625" y="810000"/>
              <a:chExt cx="2114625" cy="3329375"/>
            </a:xfrm>
          </p:grpSpPr>
          <p:pic>
            <p:nvPicPr>
              <p:cNvPr id="943" name="Google Shape;943;p8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44625" y="810000"/>
                <a:ext cx="1479100" cy="332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4" name="Google Shape;944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0"/>
              <a:stretch/>
            </p:blipFill>
            <p:spPr>
              <a:xfrm>
                <a:off x="7459200" y="810000"/>
                <a:ext cx="400025" cy="332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5" name="Google Shape;945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0"/>
              <a:stretch/>
            </p:blipFill>
            <p:spPr>
              <a:xfrm>
                <a:off x="7658675" y="810000"/>
                <a:ext cx="400025" cy="332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6" name="Google Shape;946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0"/>
              <a:stretch/>
            </p:blipFill>
            <p:spPr>
              <a:xfrm>
                <a:off x="7859225" y="810000"/>
                <a:ext cx="400025" cy="33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47" name="Google Shape;947;p80"/>
            <p:cNvGrpSpPr/>
            <p:nvPr/>
          </p:nvGrpSpPr>
          <p:grpSpPr>
            <a:xfrm>
              <a:off x="6705375" y="4065301"/>
              <a:ext cx="2114625" cy="128226"/>
              <a:chOff x="6144625" y="4011150"/>
              <a:chExt cx="2114625" cy="128226"/>
            </a:xfrm>
          </p:grpSpPr>
          <p:pic>
            <p:nvPicPr>
              <p:cNvPr id="948" name="Google Shape;948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96148"/>
              <a:stretch/>
            </p:blipFill>
            <p:spPr>
              <a:xfrm>
                <a:off x="6144625" y="4011150"/>
                <a:ext cx="1479100" cy="128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9" name="Google Shape;949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96148"/>
              <a:stretch/>
            </p:blipFill>
            <p:spPr>
              <a:xfrm>
                <a:off x="7459200" y="4011150"/>
                <a:ext cx="400025" cy="128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0" name="Google Shape;950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96148"/>
              <a:stretch/>
            </p:blipFill>
            <p:spPr>
              <a:xfrm>
                <a:off x="7658675" y="4011150"/>
                <a:ext cx="400025" cy="1282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1" name="Google Shape;951;p80"/>
              <p:cNvPicPr preferRelativeResize="0"/>
              <p:nvPr/>
            </p:nvPicPr>
            <p:blipFill rotWithShape="1">
              <a:blip r:embed="rId3">
                <a:alphaModFix/>
              </a:blip>
              <a:srcRect b="0" l="72954" r="0" t="96148"/>
              <a:stretch/>
            </p:blipFill>
            <p:spPr>
              <a:xfrm>
                <a:off x="7859225" y="4011150"/>
                <a:ext cx="400025" cy="1282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52" name="Google Shape;952;p80"/>
            <p:cNvSpPr/>
            <p:nvPr/>
          </p:nvSpPr>
          <p:spPr>
            <a:xfrm>
              <a:off x="7105550" y="3878325"/>
              <a:ext cx="1527300" cy="23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3" name="Google Shape;953;p80"/>
          <p:cNvSpPr txBox="1"/>
          <p:nvPr>
            <p:ph idx="1" type="body"/>
          </p:nvPr>
        </p:nvSpPr>
        <p:spPr>
          <a:xfrm>
            <a:off x="7103825" y="3887300"/>
            <a:ext cx="7146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=sum(</a:t>
            </a:r>
            <a:endParaRPr sz="1700"/>
          </a:p>
        </p:txBody>
      </p:sp>
      <p:sp>
        <p:nvSpPr>
          <p:cNvPr id="954" name="Google Shape;954;p80"/>
          <p:cNvSpPr txBox="1"/>
          <p:nvPr>
            <p:ph idx="1" type="body"/>
          </p:nvPr>
        </p:nvSpPr>
        <p:spPr>
          <a:xfrm>
            <a:off x="7726925" y="3887300"/>
            <a:ext cx="9051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A37:A43</a:t>
            </a:r>
            <a:endParaRPr sz="1700"/>
          </a:p>
        </p:txBody>
      </p:sp>
      <p:sp>
        <p:nvSpPr>
          <p:cNvPr id="955" name="Google Shape;955;p80"/>
          <p:cNvSpPr txBox="1"/>
          <p:nvPr>
            <p:ph idx="1" type="body"/>
          </p:nvPr>
        </p:nvSpPr>
        <p:spPr>
          <a:xfrm>
            <a:off x="8547150" y="3887300"/>
            <a:ext cx="1575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)</a:t>
            </a:r>
            <a:endParaRPr sz="1700"/>
          </a:p>
        </p:txBody>
      </p:sp>
      <p:sp>
        <p:nvSpPr>
          <p:cNvPr id="956" name="Google Shape;956;p80"/>
          <p:cNvSpPr txBox="1"/>
          <p:nvPr>
            <p:ph idx="1" type="body"/>
          </p:nvPr>
        </p:nvSpPr>
        <p:spPr>
          <a:xfrm>
            <a:off x="7442492" y="4193525"/>
            <a:ext cx="714600" cy="209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360</a:t>
            </a:r>
            <a:endParaRPr sz="1700"/>
          </a:p>
        </p:txBody>
      </p:sp>
      <p:sp>
        <p:nvSpPr>
          <p:cNvPr id="957" name="Google Shape;957;p80"/>
          <p:cNvSpPr txBox="1"/>
          <p:nvPr/>
        </p:nvSpPr>
        <p:spPr>
          <a:xfrm>
            <a:off x="305550" y="4523050"/>
            <a:ext cx="58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1"/>
          <p:cNvSpPr txBox="1"/>
          <p:nvPr>
            <p:ph idx="1" type="body"/>
          </p:nvPr>
        </p:nvSpPr>
        <p:spPr>
          <a:xfrm>
            <a:off x="4990125" y="2429275"/>
            <a:ext cx="2062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should be a colon 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             semi-colon ;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81"/>
          <p:cNvSpPr txBox="1"/>
          <p:nvPr>
            <p:ph idx="1" type="body"/>
          </p:nvPr>
        </p:nvSpPr>
        <p:spPr>
          <a:xfrm>
            <a:off x="2783100" y="1211100"/>
            <a:ext cx="30738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=sum A54 ; A56)</a:t>
            </a:r>
            <a:endParaRPr/>
          </a:p>
        </p:txBody>
      </p:sp>
      <p:sp>
        <p:nvSpPr>
          <p:cNvPr id="964" name="Google Shape;96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965" name="Google Shape;965;p81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two things are incorrect about this sum function?</a:t>
            </a:r>
            <a:endParaRPr sz="2000"/>
          </a:p>
        </p:txBody>
      </p:sp>
      <p:cxnSp>
        <p:nvCxnSpPr>
          <p:cNvPr id="966" name="Google Shape;966;p81"/>
          <p:cNvCxnSpPr/>
          <p:nvPr/>
        </p:nvCxnSpPr>
        <p:spPr>
          <a:xfrm flipH="1" rot="10800000">
            <a:off x="3547725" y="1545775"/>
            <a:ext cx="427500" cy="85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81"/>
          <p:cNvSpPr txBox="1"/>
          <p:nvPr>
            <p:ph idx="1" type="body"/>
          </p:nvPr>
        </p:nvSpPr>
        <p:spPr>
          <a:xfrm>
            <a:off x="2190400" y="2429275"/>
            <a:ext cx="2062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should be a bracket after the word sum.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8" name="Google Shape;968;p81"/>
          <p:cNvCxnSpPr/>
          <p:nvPr/>
        </p:nvCxnSpPr>
        <p:spPr>
          <a:xfrm rot="10800000">
            <a:off x="4701825" y="1545775"/>
            <a:ext cx="427500" cy="85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81"/>
          <p:cNvSpPr txBox="1"/>
          <p:nvPr>
            <p:ph idx="1" type="body"/>
          </p:nvPr>
        </p:nvSpPr>
        <p:spPr>
          <a:xfrm>
            <a:off x="2783100" y="4140450"/>
            <a:ext cx="30738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=sum(A54 : A56)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2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would be the answer to this calculation?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Be careful about which cells are included in the function.</a:t>
            </a:r>
            <a:endParaRPr sz="2000"/>
          </a:p>
        </p:txBody>
      </p:sp>
      <p:sp>
        <p:nvSpPr>
          <p:cNvPr id="975" name="Google Shape;97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976" name="Google Shape;97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25" y="1716875"/>
            <a:ext cx="2707338" cy="3103526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2"/>
          <p:cNvSpPr txBox="1"/>
          <p:nvPr>
            <p:ph idx="1" type="body"/>
          </p:nvPr>
        </p:nvSpPr>
        <p:spPr>
          <a:xfrm>
            <a:off x="4237500" y="1873625"/>
            <a:ext cx="30738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=sum(A54 : A56)</a:t>
            </a:r>
            <a:endParaRPr/>
          </a:p>
        </p:txBody>
      </p:sp>
      <p:sp>
        <p:nvSpPr>
          <p:cNvPr id="978" name="Google Shape;978;p82"/>
          <p:cNvSpPr/>
          <p:nvPr/>
        </p:nvSpPr>
        <p:spPr>
          <a:xfrm>
            <a:off x="5492550" y="1873625"/>
            <a:ext cx="1282200" cy="35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2"/>
          <p:cNvSpPr/>
          <p:nvPr/>
        </p:nvSpPr>
        <p:spPr>
          <a:xfrm>
            <a:off x="331125" y="3060450"/>
            <a:ext cx="1841700" cy="105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2"/>
          <p:cNvSpPr txBox="1"/>
          <p:nvPr>
            <p:ph idx="1" type="body"/>
          </p:nvPr>
        </p:nvSpPr>
        <p:spPr>
          <a:xfrm>
            <a:off x="4237500" y="2757000"/>
            <a:ext cx="30738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+ 5 + 6 = 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82"/>
          <p:cNvSpPr txBox="1"/>
          <p:nvPr/>
        </p:nvSpPr>
        <p:spPr>
          <a:xfrm>
            <a:off x="244450" y="4820400"/>
            <a:ext cx="60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83"/>
          <p:cNvSpPr txBox="1"/>
          <p:nvPr>
            <p:ph idx="1" type="body"/>
          </p:nvPr>
        </p:nvSpPr>
        <p:spPr>
          <a:xfrm>
            <a:off x="324000" y="1342575"/>
            <a:ext cx="37224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teacher collected data showing the number of students from each year group who attended homework club last week.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teacher wants to represent this data as a pie chart using spreadsheets.</a:t>
            </a:r>
            <a:endParaRPr sz="2000"/>
          </a:p>
        </p:txBody>
      </p:sp>
      <p:sp>
        <p:nvSpPr>
          <p:cNvPr id="987" name="Google Shape;98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988" name="Google Shape;988;p83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graphicFrame>
        <p:nvGraphicFramePr>
          <p:cNvPr id="989" name="Google Shape;989;p83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0" name="Google Shape;990;p83"/>
          <p:cNvSpPr txBox="1"/>
          <p:nvPr/>
        </p:nvSpPr>
        <p:spPr>
          <a:xfrm>
            <a:off x="324000" y="4501825"/>
            <a:ext cx="618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5" name="Google Shape;995;p84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6" name="Google Shape;996;p84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sp>
        <p:nvSpPr>
          <p:cNvPr id="997" name="Google Shape;997;p84"/>
          <p:cNvSpPr txBox="1"/>
          <p:nvPr>
            <p:ph idx="1" type="body"/>
          </p:nvPr>
        </p:nvSpPr>
        <p:spPr>
          <a:xfrm>
            <a:off x="324000" y="1190175"/>
            <a:ext cx="36897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Calculate the total frequency </a:t>
            </a:r>
            <a:endParaRPr sz="1800"/>
          </a:p>
        </p:txBody>
      </p:sp>
      <p:sp>
        <p:nvSpPr>
          <p:cNvPr id="998" name="Google Shape;99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999" name="Google Shape;999;p84"/>
          <p:cNvSpPr txBox="1"/>
          <p:nvPr>
            <p:ph idx="1" type="body"/>
          </p:nvPr>
        </p:nvSpPr>
        <p:spPr>
          <a:xfrm>
            <a:off x="691025" y="1656975"/>
            <a:ext cx="31206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Select the cell underneath all the frequencies.</a:t>
            </a:r>
            <a:endParaRPr sz="1800"/>
          </a:p>
        </p:txBody>
      </p:sp>
      <p:sp>
        <p:nvSpPr>
          <p:cNvPr id="1000" name="Google Shape;1000;p84"/>
          <p:cNvSpPr/>
          <p:nvPr/>
        </p:nvSpPr>
        <p:spPr>
          <a:xfrm>
            <a:off x="5337136" y="3439117"/>
            <a:ext cx="1723500" cy="29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4"/>
          <p:cNvSpPr txBox="1"/>
          <p:nvPr>
            <p:ph idx="1" type="body"/>
          </p:nvPr>
        </p:nvSpPr>
        <p:spPr>
          <a:xfrm>
            <a:off x="691025" y="2841058"/>
            <a:ext cx="31206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click, hold, and drag to select all the frequencies, </a:t>
            </a:r>
            <a:r>
              <a:rPr lang="en-GB" sz="1800"/>
              <a:t>and press the close bracket  button </a:t>
            </a:r>
            <a:r>
              <a:rPr lang="en-GB" sz="1800"/>
              <a:t>).</a:t>
            </a:r>
            <a:endParaRPr sz="1800"/>
          </a:p>
        </p:txBody>
      </p:sp>
      <p:sp>
        <p:nvSpPr>
          <p:cNvPr id="1002" name="Google Shape;1002;p84"/>
          <p:cNvSpPr txBox="1"/>
          <p:nvPr>
            <p:ph idx="1" type="body"/>
          </p:nvPr>
        </p:nvSpPr>
        <p:spPr>
          <a:xfrm>
            <a:off x="691025" y="2408317"/>
            <a:ext cx="3120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Type in </a:t>
            </a:r>
            <a:r>
              <a:rPr lang="en-GB" sz="1800">
                <a:solidFill>
                  <a:srgbClr val="845AD9"/>
                </a:solidFill>
              </a:rPr>
              <a:t>=sum(</a:t>
            </a:r>
            <a:endParaRPr sz="1800">
              <a:solidFill>
                <a:srgbClr val="845AD9"/>
              </a:solidFill>
            </a:endParaRPr>
          </a:p>
        </p:txBody>
      </p:sp>
      <p:sp>
        <p:nvSpPr>
          <p:cNvPr id="1003" name="Google Shape;1003;p84"/>
          <p:cNvSpPr txBox="1"/>
          <p:nvPr>
            <p:ph idx="1" type="body"/>
          </p:nvPr>
        </p:nvSpPr>
        <p:spPr>
          <a:xfrm>
            <a:off x="6111520" y="3419717"/>
            <a:ext cx="952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C7:C11)</a:t>
            </a:r>
            <a:endParaRPr sz="1700"/>
          </a:p>
        </p:txBody>
      </p:sp>
      <p:sp>
        <p:nvSpPr>
          <p:cNvPr id="1004" name="Google Shape;1004;p84"/>
          <p:cNvSpPr txBox="1"/>
          <p:nvPr>
            <p:ph idx="1" type="body"/>
          </p:nvPr>
        </p:nvSpPr>
        <p:spPr>
          <a:xfrm>
            <a:off x="5369664" y="3419717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=sum(</a:t>
            </a:r>
            <a:endParaRPr sz="1700"/>
          </a:p>
        </p:txBody>
      </p:sp>
      <p:sp>
        <p:nvSpPr>
          <p:cNvPr id="1005" name="Google Shape;1005;p84"/>
          <p:cNvSpPr txBox="1"/>
          <p:nvPr>
            <p:ph idx="1" type="body"/>
          </p:nvPr>
        </p:nvSpPr>
        <p:spPr>
          <a:xfrm>
            <a:off x="691025" y="4229600"/>
            <a:ext cx="31206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Press enter.</a:t>
            </a:r>
            <a:endParaRPr sz="1800"/>
          </a:p>
        </p:txBody>
      </p:sp>
      <p:sp>
        <p:nvSpPr>
          <p:cNvPr id="1006" name="Google Shape;1006;p84"/>
          <p:cNvSpPr txBox="1"/>
          <p:nvPr>
            <p:ph idx="1" type="body"/>
          </p:nvPr>
        </p:nvSpPr>
        <p:spPr>
          <a:xfrm>
            <a:off x="5774948" y="3419717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192</a:t>
            </a:r>
            <a:endParaRPr sz="1700"/>
          </a:p>
        </p:txBody>
      </p:sp>
      <p:sp>
        <p:nvSpPr>
          <p:cNvPr id="1007" name="Google Shape;1007;p84"/>
          <p:cNvSpPr txBox="1"/>
          <p:nvPr>
            <p:ph idx="1" type="body"/>
          </p:nvPr>
        </p:nvSpPr>
        <p:spPr>
          <a:xfrm>
            <a:off x="4408900" y="3426375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total</a:t>
            </a:r>
            <a:endParaRPr sz="1500"/>
          </a:p>
        </p:txBody>
      </p:sp>
      <p:sp>
        <p:nvSpPr>
          <p:cNvPr id="1008" name="Google Shape;1008;p84"/>
          <p:cNvSpPr txBox="1"/>
          <p:nvPr/>
        </p:nvSpPr>
        <p:spPr>
          <a:xfrm>
            <a:off x="407400" y="4430550"/>
            <a:ext cx="598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" name="Google Shape;1013;p85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4" name="Google Shape;1014;p85"/>
          <p:cNvSpPr txBox="1"/>
          <p:nvPr>
            <p:ph idx="1" type="body"/>
          </p:nvPr>
        </p:nvSpPr>
        <p:spPr>
          <a:xfrm>
            <a:off x="4408900" y="3426375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total</a:t>
            </a:r>
            <a:endParaRPr sz="1500"/>
          </a:p>
        </p:txBody>
      </p:sp>
      <p:sp>
        <p:nvSpPr>
          <p:cNvPr id="1015" name="Google Shape;1015;p85"/>
          <p:cNvSpPr txBox="1"/>
          <p:nvPr>
            <p:ph idx="1" type="body"/>
          </p:nvPr>
        </p:nvSpPr>
        <p:spPr>
          <a:xfrm>
            <a:off x="7233340" y="3998525"/>
            <a:ext cx="842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 360 / </a:t>
            </a:r>
            <a:endParaRPr sz="1700"/>
          </a:p>
        </p:txBody>
      </p:sp>
      <p:sp>
        <p:nvSpPr>
          <p:cNvPr id="1016" name="Google Shape;1016;p85"/>
          <p:cNvSpPr txBox="1"/>
          <p:nvPr>
            <p:ph idx="1" type="body"/>
          </p:nvPr>
        </p:nvSpPr>
        <p:spPr>
          <a:xfrm>
            <a:off x="691025" y="2455475"/>
            <a:ext cx="3629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Select the cell to the right of “</a:t>
            </a:r>
            <a:r>
              <a:rPr lang="en-GB" sz="1800"/>
              <a:t>multiplier</a:t>
            </a:r>
            <a:r>
              <a:rPr lang="en-GB" sz="1800"/>
              <a:t>”.</a:t>
            </a:r>
            <a:endParaRPr sz="1800"/>
          </a:p>
        </p:txBody>
      </p:sp>
      <p:sp>
        <p:nvSpPr>
          <p:cNvPr id="1017" name="Google Shape;1017;p85"/>
          <p:cNvSpPr txBox="1"/>
          <p:nvPr>
            <p:ph idx="1" type="body"/>
          </p:nvPr>
        </p:nvSpPr>
        <p:spPr>
          <a:xfrm>
            <a:off x="324000" y="1190175"/>
            <a:ext cx="37716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To calculate the multiplier that links frequency to angle, you must divide 360 by the total frequency.</a:t>
            </a:r>
            <a:endParaRPr sz="1800"/>
          </a:p>
        </p:txBody>
      </p:sp>
      <p:sp>
        <p:nvSpPr>
          <p:cNvPr id="1018" name="Google Shape;1018;p85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sp>
        <p:nvSpPr>
          <p:cNvPr id="1019" name="Google Shape;101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020" name="Google Shape;1020;p85"/>
          <p:cNvSpPr txBox="1"/>
          <p:nvPr>
            <p:ph idx="1" type="body"/>
          </p:nvPr>
        </p:nvSpPr>
        <p:spPr>
          <a:xfrm>
            <a:off x="691025" y="3194792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Type in </a:t>
            </a:r>
            <a:r>
              <a:rPr lang="en-GB" sz="1800">
                <a:solidFill>
                  <a:srgbClr val="845AD9"/>
                </a:solidFill>
              </a:rPr>
              <a:t>= 360 /</a:t>
            </a:r>
            <a:endParaRPr sz="1800">
              <a:solidFill>
                <a:srgbClr val="845AD9"/>
              </a:solidFill>
            </a:endParaRPr>
          </a:p>
        </p:txBody>
      </p:sp>
      <p:sp>
        <p:nvSpPr>
          <p:cNvPr id="1021" name="Google Shape;1021;p85"/>
          <p:cNvSpPr txBox="1"/>
          <p:nvPr>
            <p:ph idx="1" type="body"/>
          </p:nvPr>
        </p:nvSpPr>
        <p:spPr>
          <a:xfrm>
            <a:off x="691025" y="3615508"/>
            <a:ext cx="3629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Select the cell with the total frequency.</a:t>
            </a:r>
            <a:endParaRPr sz="1800">
              <a:solidFill>
                <a:srgbClr val="845AD9"/>
              </a:solidFill>
            </a:endParaRPr>
          </a:p>
        </p:txBody>
      </p:sp>
      <p:sp>
        <p:nvSpPr>
          <p:cNvPr id="1022" name="Google Shape;1022;p85"/>
          <p:cNvSpPr txBox="1"/>
          <p:nvPr>
            <p:ph idx="1" type="body"/>
          </p:nvPr>
        </p:nvSpPr>
        <p:spPr>
          <a:xfrm>
            <a:off x="691025" y="4354825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Press enter.</a:t>
            </a:r>
            <a:endParaRPr sz="1800">
              <a:solidFill>
                <a:srgbClr val="845AD9"/>
              </a:solidFill>
            </a:endParaRPr>
          </a:p>
        </p:txBody>
      </p:sp>
      <p:sp>
        <p:nvSpPr>
          <p:cNvPr id="1023" name="Google Shape;1023;p85"/>
          <p:cNvSpPr txBox="1"/>
          <p:nvPr>
            <p:ph idx="1" type="body"/>
          </p:nvPr>
        </p:nvSpPr>
        <p:spPr>
          <a:xfrm>
            <a:off x="8075440" y="3998525"/>
            <a:ext cx="578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C12</a:t>
            </a:r>
            <a:endParaRPr sz="1700"/>
          </a:p>
        </p:txBody>
      </p:sp>
      <p:sp>
        <p:nvSpPr>
          <p:cNvPr id="1024" name="Google Shape;1024;p85"/>
          <p:cNvSpPr txBox="1"/>
          <p:nvPr>
            <p:ph idx="1" type="body"/>
          </p:nvPr>
        </p:nvSpPr>
        <p:spPr>
          <a:xfrm>
            <a:off x="7233340" y="3998525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1.875</a:t>
            </a:r>
            <a:endParaRPr sz="1700"/>
          </a:p>
        </p:txBody>
      </p:sp>
      <p:cxnSp>
        <p:nvCxnSpPr>
          <p:cNvPr id="1025" name="Google Shape;1025;p85"/>
          <p:cNvCxnSpPr/>
          <p:nvPr/>
        </p:nvCxnSpPr>
        <p:spPr>
          <a:xfrm>
            <a:off x="3652725" y="2762500"/>
            <a:ext cx="3818400" cy="114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85"/>
          <p:cNvSpPr txBox="1"/>
          <p:nvPr>
            <p:ph idx="1" type="body"/>
          </p:nvPr>
        </p:nvSpPr>
        <p:spPr>
          <a:xfrm>
            <a:off x="5774948" y="3419717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192</a:t>
            </a:r>
            <a:endParaRPr sz="1700"/>
          </a:p>
        </p:txBody>
      </p:sp>
      <p:sp>
        <p:nvSpPr>
          <p:cNvPr id="1027" name="Google Shape;1027;p85"/>
          <p:cNvSpPr txBox="1"/>
          <p:nvPr/>
        </p:nvSpPr>
        <p:spPr>
          <a:xfrm>
            <a:off x="356475" y="4659625"/>
            <a:ext cx="58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2" name="Google Shape;1032;p86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3" name="Google Shape;1033;p86"/>
          <p:cNvSpPr txBox="1"/>
          <p:nvPr>
            <p:ph idx="1" type="body"/>
          </p:nvPr>
        </p:nvSpPr>
        <p:spPr>
          <a:xfrm>
            <a:off x="4408900" y="3426375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total</a:t>
            </a:r>
            <a:endParaRPr sz="1500"/>
          </a:p>
        </p:txBody>
      </p:sp>
      <p:sp>
        <p:nvSpPr>
          <p:cNvPr id="1034" name="Google Shape;1034;p86"/>
          <p:cNvSpPr txBox="1"/>
          <p:nvPr>
            <p:ph idx="1" type="body"/>
          </p:nvPr>
        </p:nvSpPr>
        <p:spPr>
          <a:xfrm>
            <a:off x="462425" y="3384925"/>
            <a:ext cx="3629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select the frequency cell to the left.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035" name="Google Shape;1035;p86"/>
          <p:cNvSpPr/>
          <p:nvPr/>
        </p:nvSpPr>
        <p:spPr>
          <a:xfrm>
            <a:off x="7076975" y="1620000"/>
            <a:ext cx="17430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6"/>
          <p:cNvSpPr txBox="1"/>
          <p:nvPr>
            <p:ph idx="1" type="body"/>
          </p:nvPr>
        </p:nvSpPr>
        <p:spPr>
          <a:xfrm>
            <a:off x="324000" y="1190175"/>
            <a:ext cx="37386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The value of the “multiplier” can be multiplied by a frequency to calculate the angle needed for the pie chart.</a:t>
            </a:r>
            <a:endParaRPr sz="1800"/>
          </a:p>
        </p:txBody>
      </p:sp>
      <p:sp>
        <p:nvSpPr>
          <p:cNvPr id="1037" name="Google Shape;1037;p86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sp>
        <p:nvSpPr>
          <p:cNvPr id="1038" name="Google Shape;10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039" name="Google Shape;1039;p86"/>
          <p:cNvSpPr txBox="1"/>
          <p:nvPr>
            <p:ph idx="1" type="body"/>
          </p:nvPr>
        </p:nvSpPr>
        <p:spPr>
          <a:xfrm>
            <a:off x="462425" y="2569832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Select a cell in the angle column</a:t>
            </a:r>
            <a:endParaRPr sz="1800"/>
          </a:p>
        </p:txBody>
      </p:sp>
      <p:sp>
        <p:nvSpPr>
          <p:cNvPr id="1040" name="Google Shape;1040;p86"/>
          <p:cNvSpPr txBox="1"/>
          <p:nvPr>
            <p:ph idx="1" type="body"/>
          </p:nvPr>
        </p:nvSpPr>
        <p:spPr>
          <a:xfrm>
            <a:off x="462425" y="2977382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Type in </a:t>
            </a:r>
            <a:r>
              <a:rPr lang="en-GB" sz="1800">
                <a:solidFill>
                  <a:srgbClr val="9900FF"/>
                </a:solidFill>
              </a:rPr>
              <a:t>= </a:t>
            </a:r>
            <a:endParaRPr sz="1800">
              <a:solidFill>
                <a:srgbClr val="9900FF"/>
              </a:solidFill>
            </a:endParaRPr>
          </a:p>
        </p:txBody>
      </p:sp>
      <p:sp>
        <p:nvSpPr>
          <p:cNvPr id="1041" name="Google Shape;1041;p86"/>
          <p:cNvSpPr txBox="1"/>
          <p:nvPr>
            <p:ph idx="1" type="body"/>
          </p:nvPr>
        </p:nvSpPr>
        <p:spPr>
          <a:xfrm>
            <a:off x="7212275" y="1642800"/>
            <a:ext cx="1449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</a:t>
            </a:r>
            <a:endParaRPr sz="1700"/>
          </a:p>
        </p:txBody>
      </p:sp>
      <p:sp>
        <p:nvSpPr>
          <p:cNvPr id="1042" name="Google Shape;1042;p86"/>
          <p:cNvSpPr txBox="1"/>
          <p:nvPr>
            <p:ph idx="1" type="body"/>
          </p:nvPr>
        </p:nvSpPr>
        <p:spPr>
          <a:xfrm>
            <a:off x="7419217" y="1642800"/>
            <a:ext cx="4074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C7</a:t>
            </a:r>
            <a:endParaRPr sz="1700"/>
          </a:p>
        </p:txBody>
      </p:sp>
      <p:sp>
        <p:nvSpPr>
          <p:cNvPr id="1043" name="Google Shape;1043;p86"/>
          <p:cNvSpPr txBox="1"/>
          <p:nvPr>
            <p:ph idx="1" type="body"/>
          </p:nvPr>
        </p:nvSpPr>
        <p:spPr>
          <a:xfrm>
            <a:off x="462425" y="4017132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Type in  </a:t>
            </a:r>
            <a:r>
              <a:rPr lang="en-GB" sz="1800">
                <a:solidFill>
                  <a:srgbClr val="9900FF"/>
                </a:solidFill>
              </a:rPr>
              <a:t>*</a:t>
            </a:r>
            <a:r>
              <a:rPr lang="en-GB" sz="1800"/>
              <a:t>  to multiply</a:t>
            </a:r>
            <a:endParaRPr sz="1800"/>
          </a:p>
        </p:txBody>
      </p:sp>
      <p:sp>
        <p:nvSpPr>
          <p:cNvPr id="1044" name="Google Shape;1044;p86"/>
          <p:cNvSpPr txBox="1"/>
          <p:nvPr>
            <p:ph idx="1" type="body"/>
          </p:nvPr>
        </p:nvSpPr>
        <p:spPr>
          <a:xfrm>
            <a:off x="7744797" y="1642800"/>
            <a:ext cx="2355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*</a:t>
            </a:r>
            <a:endParaRPr sz="1700"/>
          </a:p>
        </p:txBody>
      </p:sp>
      <p:sp>
        <p:nvSpPr>
          <p:cNvPr id="1045" name="Google Shape;1045;p86"/>
          <p:cNvSpPr txBox="1"/>
          <p:nvPr>
            <p:ph idx="1" type="body"/>
          </p:nvPr>
        </p:nvSpPr>
        <p:spPr>
          <a:xfrm>
            <a:off x="7233340" y="3998525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1.875</a:t>
            </a:r>
            <a:endParaRPr sz="1700"/>
          </a:p>
        </p:txBody>
      </p:sp>
      <p:sp>
        <p:nvSpPr>
          <p:cNvPr id="1046" name="Google Shape;1046;p86"/>
          <p:cNvSpPr txBox="1"/>
          <p:nvPr/>
        </p:nvSpPr>
        <p:spPr>
          <a:xfrm>
            <a:off x="346300" y="4471275"/>
            <a:ext cx="58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87"/>
          <p:cNvSpPr txBox="1"/>
          <p:nvPr>
            <p:ph idx="1" type="body"/>
          </p:nvPr>
        </p:nvSpPr>
        <p:spPr>
          <a:xfrm>
            <a:off x="7254734" y="1639936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78.75</a:t>
            </a:r>
            <a:endParaRPr sz="1700"/>
          </a:p>
        </p:txBody>
      </p:sp>
      <p:graphicFrame>
        <p:nvGraphicFramePr>
          <p:cNvPr id="1052" name="Google Shape;1052;p87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3" name="Google Shape;1053;p87"/>
          <p:cNvSpPr txBox="1"/>
          <p:nvPr>
            <p:ph idx="1" type="body"/>
          </p:nvPr>
        </p:nvSpPr>
        <p:spPr>
          <a:xfrm>
            <a:off x="4408900" y="3426375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total</a:t>
            </a:r>
            <a:endParaRPr sz="1500"/>
          </a:p>
        </p:txBody>
      </p:sp>
      <p:sp>
        <p:nvSpPr>
          <p:cNvPr id="1054" name="Google Shape;1054;p87"/>
          <p:cNvSpPr/>
          <p:nvPr/>
        </p:nvSpPr>
        <p:spPr>
          <a:xfrm>
            <a:off x="7076975" y="1620000"/>
            <a:ext cx="17430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7"/>
          <p:cNvSpPr txBox="1"/>
          <p:nvPr>
            <p:ph idx="1" type="body"/>
          </p:nvPr>
        </p:nvSpPr>
        <p:spPr>
          <a:xfrm>
            <a:off x="7212275" y="1642800"/>
            <a:ext cx="1449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</a:t>
            </a:r>
            <a:endParaRPr sz="1700"/>
          </a:p>
        </p:txBody>
      </p:sp>
      <p:sp>
        <p:nvSpPr>
          <p:cNvPr id="1056" name="Google Shape;1056;p87"/>
          <p:cNvSpPr txBox="1"/>
          <p:nvPr>
            <p:ph idx="1" type="body"/>
          </p:nvPr>
        </p:nvSpPr>
        <p:spPr>
          <a:xfrm>
            <a:off x="7419217" y="1642800"/>
            <a:ext cx="4074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C7</a:t>
            </a:r>
            <a:endParaRPr sz="1700"/>
          </a:p>
        </p:txBody>
      </p:sp>
      <p:sp>
        <p:nvSpPr>
          <p:cNvPr id="1057" name="Google Shape;1057;p87"/>
          <p:cNvSpPr txBox="1"/>
          <p:nvPr>
            <p:ph idx="1" type="body"/>
          </p:nvPr>
        </p:nvSpPr>
        <p:spPr>
          <a:xfrm>
            <a:off x="7744797" y="1642800"/>
            <a:ext cx="2355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*</a:t>
            </a:r>
            <a:endParaRPr sz="1700"/>
          </a:p>
        </p:txBody>
      </p:sp>
      <p:sp>
        <p:nvSpPr>
          <p:cNvPr id="1058" name="Google Shape;1058;p87"/>
          <p:cNvSpPr txBox="1"/>
          <p:nvPr>
            <p:ph idx="1" type="body"/>
          </p:nvPr>
        </p:nvSpPr>
        <p:spPr>
          <a:xfrm>
            <a:off x="7233340" y="3998525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1.875</a:t>
            </a:r>
            <a:endParaRPr sz="1700"/>
          </a:p>
        </p:txBody>
      </p:sp>
      <p:sp>
        <p:nvSpPr>
          <p:cNvPr id="1059" name="Google Shape;1059;p87"/>
          <p:cNvSpPr txBox="1"/>
          <p:nvPr>
            <p:ph idx="1" type="body"/>
          </p:nvPr>
        </p:nvSpPr>
        <p:spPr>
          <a:xfrm>
            <a:off x="324000" y="1190175"/>
            <a:ext cx="37716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The value of the “multiplier”</a:t>
            </a:r>
            <a:r>
              <a:rPr lang="en-GB" sz="1800"/>
              <a:t> can be multiplied by a frequency to calculate the angle needed for the pie chart.</a:t>
            </a:r>
            <a:endParaRPr sz="1800"/>
          </a:p>
        </p:txBody>
      </p:sp>
      <p:sp>
        <p:nvSpPr>
          <p:cNvPr id="1060" name="Google Shape;1060;p87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sp>
        <p:nvSpPr>
          <p:cNvPr id="1061" name="Google Shape;106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062" name="Google Shape;1062;p87"/>
          <p:cNvSpPr txBox="1"/>
          <p:nvPr>
            <p:ph idx="1" type="body"/>
          </p:nvPr>
        </p:nvSpPr>
        <p:spPr>
          <a:xfrm>
            <a:off x="691025" y="2521893"/>
            <a:ext cx="36291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select the cell with the value of the angle for the multiplier.</a:t>
            </a:r>
            <a:endParaRPr sz="1800"/>
          </a:p>
        </p:txBody>
      </p:sp>
      <p:sp>
        <p:nvSpPr>
          <p:cNvPr id="1063" name="Google Shape;1063;p87"/>
          <p:cNvSpPr txBox="1"/>
          <p:nvPr>
            <p:ph idx="1" type="body"/>
          </p:nvPr>
        </p:nvSpPr>
        <p:spPr>
          <a:xfrm>
            <a:off x="7967059" y="1639936"/>
            <a:ext cx="3894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D11</a:t>
            </a:r>
            <a:endParaRPr sz="1700"/>
          </a:p>
        </p:txBody>
      </p:sp>
      <p:sp>
        <p:nvSpPr>
          <p:cNvPr id="1064" name="Google Shape;1064;p87"/>
          <p:cNvSpPr txBox="1"/>
          <p:nvPr>
            <p:ph idx="1" type="body"/>
          </p:nvPr>
        </p:nvSpPr>
        <p:spPr>
          <a:xfrm>
            <a:off x="691025" y="3465118"/>
            <a:ext cx="36291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Press enter.</a:t>
            </a:r>
            <a:endParaRPr sz="1800"/>
          </a:p>
        </p:txBody>
      </p:sp>
      <p:cxnSp>
        <p:nvCxnSpPr>
          <p:cNvPr id="1065" name="Google Shape;1065;p87"/>
          <p:cNvCxnSpPr/>
          <p:nvPr/>
        </p:nvCxnSpPr>
        <p:spPr>
          <a:xfrm>
            <a:off x="3975900" y="3052525"/>
            <a:ext cx="3495300" cy="85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6" name="Google Shape;1066;p87"/>
          <p:cNvSpPr txBox="1"/>
          <p:nvPr/>
        </p:nvSpPr>
        <p:spPr>
          <a:xfrm>
            <a:off x="324000" y="4548350"/>
            <a:ext cx="59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1" name="Google Shape;1071;p88"/>
          <p:cNvGraphicFramePr/>
          <p:nvPr/>
        </p:nvGraphicFramePr>
        <p:xfrm>
          <a:off x="4095513" y="10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313375"/>
                <a:gridCol w="925050"/>
                <a:gridCol w="1743025"/>
                <a:gridCol w="1743025"/>
              </a:tblGrid>
              <a:tr h="25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845A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2" name="Google Shape;1072;p88"/>
          <p:cNvSpPr txBox="1"/>
          <p:nvPr>
            <p:ph idx="1" type="body"/>
          </p:nvPr>
        </p:nvSpPr>
        <p:spPr>
          <a:xfrm>
            <a:off x="4408900" y="3426375"/>
            <a:ext cx="8541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total</a:t>
            </a:r>
            <a:endParaRPr sz="1500"/>
          </a:p>
        </p:txBody>
      </p:sp>
      <p:sp>
        <p:nvSpPr>
          <p:cNvPr id="1073" name="Google Shape;1073;p88"/>
          <p:cNvSpPr/>
          <p:nvPr/>
        </p:nvSpPr>
        <p:spPr>
          <a:xfrm>
            <a:off x="7077123" y="3408500"/>
            <a:ext cx="17430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8"/>
          <p:cNvSpPr txBox="1"/>
          <p:nvPr>
            <p:ph idx="1" type="body"/>
          </p:nvPr>
        </p:nvSpPr>
        <p:spPr>
          <a:xfrm>
            <a:off x="324000" y="2837308"/>
            <a:ext cx="3771600" cy="19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</a:t>
            </a:r>
            <a:r>
              <a:rPr lang="en-GB" sz="1800"/>
              <a:t>) These are all your angles.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 check you are correct, go to the cell underneath and use </a:t>
            </a:r>
            <a:r>
              <a:rPr lang="en-GB" sz="1800">
                <a:solidFill>
                  <a:srgbClr val="845AD9"/>
                </a:solidFill>
              </a:rPr>
              <a:t>=sum(</a:t>
            </a:r>
            <a:r>
              <a:rPr lang="en-GB" sz="1800"/>
              <a:t> to add together all the angles above. The total should always be 360°.</a:t>
            </a:r>
            <a:endParaRPr sz="1800"/>
          </a:p>
        </p:txBody>
      </p:sp>
      <p:sp>
        <p:nvSpPr>
          <p:cNvPr id="1075" name="Google Shape;1075;p88"/>
          <p:cNvSpPr txBox="1"/>
          <p:nvPr>
            <p:ph idx="1" type="body"/>
          </p:nvPr>
        </p:nvSpPr>
        <p:spPr>
          <a:xfrm>
            <a:off x="324000" y="1190175"/>
            <a:ext cx="37716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Do the previous step for all groups.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In this example, calculate the angle for all five year groups.</a:t>
            </a:r>
            <a:endParaRPr sz="1800"/>
          </a:p>
        </p:txBody>
      </p:sp>
      <p:sp>
        <p:nvSpPr>
          <p:cNvPr id="1076" name="Google Shape;1076;p88"/>
          <p:cNvSpPr txBox="1"/>
          <p:nvPr>
            <p:ph idx="1" type="body"/>
          </p:nvPr>
        </p:nvSpPr>
        <p:spPr>
          <a:xfrm>
            <a:off x="324000" y="637425"/>
            <a:ext cx="84960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angles for a pie chart</a:t>
            </a:r>
            <a:endParaRPr/>
          </a:p>
        </p:txBody>
      </p:sp>
      <p:sp>
        <p:nvSpPr>
          <p:cNvPr id="1077" name="Google Shape;107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078" name="Google Shape;1078;p88"/>
          <p:cNvSpPr txBox="1"/>
          <p:nvPr>
            <p:ph idx="1" type="body"/>
          </p:nvPr>
        </p:nvSpPr>
        <p:spPr>
          <a:xfrm>
            <a:off x="7076850" y="1988775"/>
            <a:ext cx="1743000" cy="36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67.5</a:t>
            </a:r>
            <a:endParaRPr sz="1700"/>
          </a:p>
        </p:txBody>
      </p:sp>
      <p:sp>
        <p:nvSpPr>
          <p:cNvPr id="1079" name="Google Shape;1079;p88"/>
          <p:cNvSpPr txBox="1"/>
          <p:nvPr>
            <p:ph idx="1" type="body"/>
          </p:nvPr>
        </p:nvSpPr>
        <p:spPr>
          <a:xfrm>
            <a:off x="7076850" y="2349582"/>
            <a:ext cx="1743000" cy="36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67.5</a:t>
            </a:r>
            <a:endParaRPr sz="1700"/>
          </a:p>
        </p:txBody>
      </p:sp>
      <p:sp>
        <p:nvSpPr>
          <p:cNvPr id="1080" name="Google Shape;1080;p88"/>
          <p:cNvSpPr txBox="1"/>
          <p:nvPr>
            <p:ph idx="1" type="body"/>
          </p:nvPr>
        </p:nvSpPr>
        <p:spPr>
          <a:xfrm>
            <a:off x="7076850" y="2710390"/>
            <a:ext cx="1743000" cy="36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65.25</a:t>
            </a:r>
            <a:endParaRPr sz="1700"/>
          </a:p>
        </p:txBody>
      </p:sp>
      <p:sp>
        <p:nvSpPr>
          <p:cNvPr id="1081" name="Google Shape;1081;p88"/>
          <p:cNvSpPr txBox="1"/>
          <p:nvPr>
            <p:ph idx="1" type="body"/>
          </p:nvPr>
        </p:nvSpPr>
        <p:spPr>
          <a:xfrm>
            <a:off x="7076850" y="3070893"/>
            <a:ext cx="1743000" cy="36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90</a:t>
            </a:r>
            <a:endParaRPr sz="1700"/>
          </a:p>
        </p:txBody>
      </p:sp>
      <p:sp>
        <p:nvSpPr>
          <p:cNvPr id="1082" name="Google Shape;1082;p88"/>
          <p:cNvSpPr txBox="1"/>
          <p:nvPr>
            <p:ph idx="1" type="body"/>
          </p:nvPr>
        </p:nvSpPr>
        <p:spPr>
          <a:xfrm>
            <a:off x="7076975" y="3431700"/>
            <a:ext cx="17430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=sum(D7:D11)</a:t>
            </a:r>
            <a:endParaRPr sz="1700"/>
          </a:p>
        </p:txBody>
      </p:sp>
      <p:sp>
        <p:nvSpPr>
          <p:cNvPr id="1083" name="Google Shape;1083;p88"/>
          <p:cNvSpPr txBox="1"/>
          <p:nvPr>
            <p:ph idx="1" type="body"/>
          </p:nvPr>
        </p:nvSpPr>
        <p:spPr>
          <a:xfrm>
            <a:off x="7076975" y="3431700"/>
            <a:ext cx="17430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360</a:t>
            </a:r>
            <a:endParaRPr sz="1700"/>
          </a:p>
        </p:txBody>
      </p:sp>
      <p:sp>
        <p:nvSpPr>
          <p:cNvPr id="1084" name="Google Shape;1084;p88"/>
          <p:cNvSpPr txBox="1"/>
          <p:nvPr>
            <p:ph idx="1" type="body"/>
          </p:nvPr>
        </p:nvSpPr>
        <p:spPr>
          <a:xfrm>
            <a:off x="7233340" y="3998525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1.875</a:t>
            </a:r>
            <a:endParaRPr sz="1700"/>
          </a:p>
        </p:txBody>
      </p:sp>
      <p:sp>
        <p:nvSpPr>
          <p:cNvPr id="1085" name="Google Shape;1085;p88"/>
          <p:cNvSpPr txBox="1"/>
          <p:nvPr>
            <p:ph idx="1" type="body"/>
          </p:nvPr>
        </p:nvSpPr>
        <p:spPr>
          <a:xfrm>
            <a:off x="7254734" y="1639936"/>
            <a:ext cx="1420200" cy="3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78.75</a:t>
            </a:r>
            <a:endParaRPr sz="1700"/>
          </a:p>
        </p:txBody>
      </p:sp>
      <p:sp>
        <p:nvSpPr>
          <p:cNvPr id="1086" name="Google Shape;1086;p88"/>
          <p:cNvSpPr txBox="1"/>
          <p:nvPr/>
        </p:nvSpPr>
        <p:spPr>
          <a:xfrm>
            <a:off x="193525" y="4715725"/>
            <a:ext cx="595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9"/>
          <p:cNvSpPr txBox="1"/>
          <p:nvPr>
            <p:ph idx="1" type="body"/>
          </p:nvPr>
        </p:nvSpPr>
        <p:spPr>
          <a:xfrm>
            <a:off x="324000" y="759300"/>
            <a:ext cx="8496000" cy="5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functions is correct for the cell marked m?</a:t>
            </a:r>
            <a:endParaRPr sz="2000"/>
          </a:p>
        </p:txBody>
      </p:sp>
      <p:sp>
        <p:nvSpPr>
          <p:cNvPr id="1092" name="Google Shape;109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pic>
        <p:nvPicPr>
          <p:cNvPr id="1093" name="Google Shape;109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05400"/>
            <a:ext cx="4288255" cy="287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9"/>
          <p:cNvSpPr txBox="1"/>
          <p:nvPr>
            <p:ph idx="1" type="body"/>
          </p:nvPr>
        </p:nvSpPr>
        <p:spPr>
          <a:xfrm>
            <a:off x="5369000" y="12544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sum(H7:H11)</a:t>
            </a:r>
            <a:endParaRPr sz="2000"/>
          </a:p>
        </p:txBody>
      </p:sp>
      <p:grpSp>
        <p:nvGrpSpPr>
          <p:cNvPr id="1095" name="Google Shape;1095;p89"/>
          <p:cNvGrpSpPr/>
          <p:nvPr/>
        </p:nvGrpSpPr>
        <p:grpSpPr>
          <a:xfrm>
            <a:off x="4823991" y="1205400"/>
            <a:ext cx="457200" cy="457200"/>
            <a:chOff x="1020916" y="1442088"/>
            <a:chExt cx="457200" cy="457200"/>
          </a:xfrm>
        </p:grpSpPr>
        <p:pic>
          <p:nvPicPr>
            <p:cNvPr id="1096" name="Google Shape;109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8" name="Google Shape;1098;p89"/>
          <p:cNvGrpSpPr/>
          <p:nvPr/>
        </p:nvGrpSpPr>
        <p:grpSpPr>
          <a:xfrm>
            <a:off x="4823991" y="1943600"/>
            <a:ext cx="457200" cy="457200"/>
            <a:chOff x="1020916" y="1442088"/>
            <a:chExt cx="457200" cy="457200"/>
          </a:xfrm>
        </p:grpSpPr>
        <p:pic>
          <p:nvPicPr>
            <p:cNvPr id="1099" name="Google Shape;1099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0" name="Google Shape;110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1" name="Google Shape;1101;p89"/>
          <p:cNvSpPr txBox="1"/>
          <p:nvPr>
            <p:ph idx="1" type="body"/>
          </p:nvPr>
        </p:nvSpPr>
        <p:spPr>
          <a:xfrm>
            <a:off x="5369000" y="19926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360 / H12</a:t>
            </a:r>
            <a:endParaRPr sz="2000"/>
          </a:p>
        </p:txBody>
      </p:sp>
      <p:grpSp>
        <p:nvGrpSpPr>
          <p:cNvPr id="1102" name="Google Shape;1102;p89"/>
          <p:cNvGrpSpPr/>
          <p:nvPr/>
        </p:nvGrpSpPr>
        <p:grpSpPr>
          <a:xfrm>
            <a:off x="4823991" y="2730850"/>
            <a:ext cx="457200" cy="457200"/>
            <a:chOff x="1020916" y="1442088"/>
            <a:chExt cx="457200" cy="457200"/>
          </a:xfrm>
        </p:grpSpPr>
        <p:pic>
          <p:nvPicPr>
            <p:cNvPr id="1103" name="Google Shape;110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4" name="Google Shape;110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5" name="Google Shape;1105;p89"/>
          <p:cNvSpPr txBox="1"/>
          <p:nvPr>
            <p:ph idx="1" type="body"/>
          </p:nvPr>
        </p:nvSpPr>
        <p:spPr>
          <a:xfrm>
            <a:off x="5369000" y="277990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sum(H7:H11)</a:t>
            </a:r>
            <a:endParaRPr sz="2000"/>
          </a:p>
        </p:txBody>
      </p:sp>
      <p:grpSp>
        <p:nvGrpSpPr>
          <p:cNvPr id="1106" name="Google Shape;1106;p89"/>
          <p:cNvGrpSpPr/>
          <p:nvPr/>
        </p:nvGrpSpPr>
        <p:grpSpPr>
          <a:xfrm>
            <a:off x="4823991" y="3518100"/>
            <a:ext cx="457200" cy="457200"/>
            <a:chOff x="1020916" y="1442088"/>
            <a:chExt cx="457200" cy="457200"/>
          </a:xfrm>
        </p:grpSpPr>
        <p:pic>
          <p:nvPicPr>
            <p:cNvPr id="1107" name="Google Shape;110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9" name="Google Shape;1109;p89"/>
          <p:cNvSpPr txBox="1"/>
          <p:nvPr>
            <p:ph idx="1" type="body"/>
          </p:nvPr>
        </p:nvSpPr>
        <p:spPr>
          <a:xfrm>
            <a:off x="5369000" y="35671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sum(I1:I6)</a:t>
            </a:r>
            <a:endParaRPr sz="2000"/>
          </a:p>
        </p:txBody>
      </p:sp>
      <p:pic>
        <p:nvPicPr>
          <p:cNvPr id="1110" name="Google Shape;1110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1233" y="2749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89"/>
          <p:cNvSpPr txBox="1"/>
          <p:nvPr/>
        </p:nvSpPr>
        <p:spPr>
          <a:xfrm>
            <a:off x="1584775" y="1734600"/>
            <a:ext cx="967500" cy="227700"/>
          </a:xfrm>
          <a:prstGeom prst="rect">
            <a:avLst/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endParaRPr/>
          </a:p>
        </p:txBody>
      </p:sp>
      <p:sp>
        <p:nvSpPr>
          <p:cNvPr id="1112" name="Google Shape;1112;p89"/>
          <p:cNvSpPr/>
          <p:nvPr/>
        </p:nvSpPr>
        <p:spPr>
          <a:xfrm>
            <a:off x="1584775" y="3776071"/>
            <a:ext cx="1963200" cy="2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9"/>
          <p:cNvSpPr txBox="1"/>
          <p:nvPr/>
        </p:nvSpPr>
        <p:spPr>
          <a:xfrm>
            <a:off x="244450" y="4440725"/>
            <a:ext cx="597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0"/>
          <p:cNvSpPr txBox="1"/>
          <p:nvPr>
            <p:ph idx="1" type="body"/>
          </p:nvPr>
        </p:nvSpPr>
        <p:spPr>
          <a:xfrm>
            <a:off x="5369000" y="277990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H12 * H7</a:t>
            </a:r>
            <a:endParaRPr sz="2000"/>
          </a:p>
        </p:txBody>
      </p:sp>
      <p:sp>
        <p:nvSpPr>
          <p:cNvPr id="1119" name="Google Shape;1119;p90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functions is correct for the cell marked k?</a:t>
            </a:r>
            <a:endParaRPr sz="2000"/>
          </a:p>
        </p:txBody>
      </p:sp>
      <p:sp>
        <p:nvSpPr>
          <p:cNvPr id="1120" name="Google Shape;112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121" name="Google Shape;1121;p90"/>
          <p:cNvSpPr txBox="1"/>
          <p:nvPr>
            <p:ph idx="1" type="body"/>
          </p:nvPr>
        </p:nvSpPr>
        <p:spPr>
          <a:xfrm>
            <a:off x="5369000" y="12544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H12 / 360</a:t>
            </a:r>
            <a:endParaRPr sz="2000"/>
          </a:p>
        </p:txBody>
      </p:sp>
      <p:grpSp>
        <p:nvGrpSpPr>
          <p:cNvPr id="1122" name="Google Shape;1122;p90"/>
          <p:cNvGrpSpPr/>
          <p:nvPr/>
        </p:nvGrpSpPr>
        <p:grpSpPr>
          <a:xfrm>
            <a:off x="4823991" y="1205400"/>
            <a:ext cx="457200" cy="457200"/>
            <a:chOff x="1020916" y="1442088"/>
            <a:chExt cx="457200" cy="457200"/>
          </a:xfrm>
        </p:grpSpPr>
        <p:pic>
          <p:nvPicPr>
            <p:cNvPr id="1123" name="Google Shape;1123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5" name="Google Shape;1125;p90"/>
          <p:cNvGrpSpPr/>
          <p:nvPr/>
        </p:nvGrpSpPr>
        <p:grpSpPr>
          <a:xfrm>
            <a:off x="4823991" y="1943600"/>
            <a:ext cx="457200" cy="457200"/>
            <a:chOff x="1020916" y="1442088"/>
            <a:chExt cx="457200" cy="457200"/>
          </a:xfrm>
        </p:grpSpPr>
        <p:pic>
          <p:nvPicPr>
            <p:cNvPr id="1126" name="Google Shape;1126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7" name="Google Shape;1127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8" name="Google Shape;1128;p90"/>
          <p:cNvSpPr txBox="1"/>
          <p:nvPr>
            <p:ph idx="1" type="body"/>
          </p:nvPr>
        </p:nvSpPr>
        <p:spPr>
          <a:xfrm>
            <a:off x="5369000" y="19926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360 / H12</a:t>
            </a:r>
            <a:endParaRPr sz="2000"/>
          </a:p>
        </p:txBody>
      </p:sp>
      <p:grpSp>
        <p:nvGrpSpPr>
          <p:cNvPr id="1129" name="Google Shape;1129;p90"/>
          <p:cNvGrpSpPr/>
          <p:nvPr/>
        </p:nvGrpSpPr>
        <p:grpSpPr>
          <a:xfrm>
            <a:off x="4823991" y="2730850"/>
            <a:ext cx="457200" cy="457200"/>
            <a:chOff x="1020916" y="1442088"/>
            <a:chExt cx="457200" cy="457200"/>
          </a:xfrm>
        </p:grpSpPr>
        <p:pic>
          <p:nvPicPr>
            <p:cNvPr id="1130" name="Google Shape;1130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2" name="Google Shape;1132;p90"/>
          <p:cNvGrpSpPr/>
          <p:nvPr/>
        </p:nvGrpSpPr>
        <p:grpSpPr>
          <a:xfrm>
            <a:off x="4823991" y="3518100"/>
            <a:ext cx="457200" cy="457200"/>
            <a:chOff x="1020916" y="1442088"/>
            <a:chExt cx="457200" cy="457200"/>
          </a:xfrm>
        </p:grpSpPr>
        <p:pic>
          <p:nvPicPr>
            <p:cNvPr id="1133" name="Google Shape;1133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5" name="Google Shape;1135;p90"/>
          <p:cNvSpPr txBox="1"/>
          <p:nvPr>
            <p:ph idx="1" type="body"/>
          </p:nvPr>
        </p:nvSpPr>
        <p:spPr>
          <a:xfrm>
            <a:off x="5369000" y="35671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sum(I1:I6)</a:t>
            </a:r>
            <a:endParaRPr sz="2000"/>
          </a:p>
        </p:txBody>
      </p:sp>
      <p:pic>
        <p:nvPicPr>
          <p:cNvPr id="1136" name="Google Shape;1136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1233" y="1880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206000"/>
            <a:ext cx="4287599" cy="2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0"/>
          <p:cNvSpPr txBox="1"/>
          <p:nvPr/>
        </p:nvSpPr>
        <p:spPr>
          <a:xfrm>
            <a:off x="1640535" y="1715892"/>
            <a:ext cx="967500" cy="227700"/>
          </a:xfrm>
          <a:prstGeom prst="rect">
            <a:avLst/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endParaRPr/>
          </a:p>
        </p:txBody>
      </p:sp>
      <p:sp>
        <p:nvSpPr>
          <p:cNvPr id="1139" name="Google Shape;1139;p90"/>
          <p:cNvSpPr/>
          <p:nvPr/>
        </p:nvSpPr>
        <p:spPr>
          <a:xfrm>
            <a:off x="1580400" y="3700800"/>
            <a:ext cx="1987500" cy="2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90"/>
          <p:cNvSpPr txBox="1"/>
          <p:nvPr/>
        </p:nvSpPr>
        <p:spPr>
          <a:xfrm>
            <a:off x="264825" y="4674975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1"/>
          <p:cNvSpPr txBox="1"/>
          <p:nvPr>
            <p:ph idx="1" type="body"/>
          </p:nvPr>
        </p:nvSpPr>
        <p:spPr>
          <a:xfrm>
            <a:off x="5369000" y="277990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H12 * H7</a:t>
            </a:r>
            <a:endParaRPr sz="2000"/>
          </a:p>
        </p:txBody>
      </p:sp>
      <p:sp>
        <p:nvSpPr>
          <p:cNvPr id="1146" name="Google Shape;1146;p91"/>
          <p:cNvSpPr txBox="1"/>
          <p:nvPr>
            <p:ph idx="1" type="body"/>
          </p:nvPr>
        </p:nvSpPr>
        <p:spPr>
          <a:xfrm>
            <a:off x="324000" y="759300"/>
            <a:ext cx="84960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functions is correct for the cell marked p?</a:t>
            </a:r>
            <a:endParaRPr sz="2000"/>
          </a:p>
        </p:txBody>
      </p:sp>
      <p:sp>
        <p:nvSpPr>
          <p:cNvPr id="1147" name="Google Shape;114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148" name="Google Shape;1148;p91"/>
          <p:cNvSpPr txBox="1"/>
          <p:nvPr>
            <p:ph idx="1" type="body"/>
          </p:nvPr>
        </p:nvSpPr>
        <p:spPr>
          <a:xfrm>
            <a:off x="5369000" y="12544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H7 / I14</a:t>
            </a:r>
            <a:endParaRPr sz="2000"/>
          </a:p>
        </p:txBody>
      </p:sp>
      <p:grpSp>
        <p:nvGrpSpPr>
          <p:cNvPr id="1149" name="Google Shape;1149;p91"/>
          <p:cNvGrpSpPr/>
          <p:nvPr/>
        </p:nvGrpSpPr>
        <p:grpSpPr>
          <a:xfrm>
            <a:off x="4823991" y="1205400"/>
            <a:ext cx="457200" cy="457200"/>
            <a:chOff x="1020916" y="1442088"/>
            <a:chExt cx="457200" cy="457200"/>
          </a:xfrm>
        </p:grpSpPr>
        <p:pic>
          <p:nvPicPr>
            <p:cNvPr id="1150" name="Google Shape;115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1"/>
          <p:cNvGrpSpPr/>
          <p:nvPr/>
        </p:nvGrpSpPr>
        <p:grpSpPr>
          <a:xfrm>
            <a:off x="4823991" y="1943600"/>
            <a:ext cx="457200" cy="457200"/>
            <a:chOff x="1020916" y="1442088"/>
            <a:chExt cx="457200" cy="457200"/>
          </a:xfrm>
        </p:grpSpPr>
        <p:pic>
          <p:nvPicPr>
            <p:cNvPr id="1153" name="Google Shape;115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5" name="Google Shape;1155;p91"/>
          <p:cNvGrpSpPr/>
          <p:nvPr/>
        </p:nvGrpSpPr>
        <p:grpSpPr>
          <a:xfrm>
            <a:off x="4823991" y="2730850"/>
            <a:ext cx="457200" cy="457200"/>
            <a:chOff x="1020916" y="1442088"/>
            <a:chExt cx="457200" cy="457200"/>
          </a:xfrm>
        </p:grpSpPr>
        <p:pic>
          <p:nvPicPr>
            <p:cNvPr id="1156" name="Google Shape;115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8" name="Google Shape;1158;p91"/>
          <p:cNvSpPr txBox="1"/>
          <p:nvPr>
            <p:ph idx="1" type="body"/>
          </p:nvPr>
        </p:nvSpPr>
        <p:spPr>
          <a:xfrm>
            <a:off x="5369000" y="19926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I14 / H7</a:t>
            </a:r>
            <a:endParaRPr sz="2000"/>
          </a:p>
        </p:txBody>
      </p:sp>
      <p:grpSp>
        <p:nvGrpSpPr>
          <p:cNvPr id="1159" name="Google Shape;1159;p91"/>
          <p:cNvGrpSpPr/>
          <p:nvPr/>
        </p:nvGrpSpPr>
        <p:grpSpPr>
          <a:xfrm>
            <a:off x="4823991" y="3518100"/>
            <a:ext cx="457200" cy="457200"/>
            <a:chOff x="1020916" y="1442088"/>
            <a:chExt cx="457200" cy="457200"/>
          </a:xfrm>
        </p:grpSpPr>
        <p:pic>
          <p:nvPicPr>
            <p:cNvPr id="1160" name="Google Shape;116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2" name="Google Shape;1162;p91"/>
          <p:cNvSpPr txBox="1"/>
          <p:nvPr>
            <p:ph idx="1" type="body"/>
          </p:nvPr>
        </p:nvSpPr>
        <p:spPr>
          <a:xfrm>
            <a:off x="5369000" y="3567150"/>
            <a:ext cx="19875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= I14 * H7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63" name="Google Shape;116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1233" y="3507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205388"/>
            <a:ext cx="4287599" cy="2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1"/>
          <p:cNvSpPr txBox="1"/>
          <p:nvPr/>
        </p:nvSpPr>
        <p:spPr>
          <a:xfrm>
            <a:off x="1562400" y="1720800"/>
            <a:ext cx="967500" cy="227700"/>
          </a:xfrm>
          <a:prstGeom prst="rect">
            <a:avLst/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Subject</a:t>
            </a:r>
            <a:endParaRPr/>
          </a:p>
        </p:txBody>
      </p:sp>
      <p:sp>
        <p:nvSpPr>
          <p:cNvPr id="1166" name="Google Shape;1166;p91"/>
          <p:cNvSpPr/>
          <p:nvPr/>
        </p:nvSpPr>
        <p:spPr>
          <a:xfrm>
            <a:off x="1591200" y="3711600"/>
            <a:ext cx="1945800" cy="22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91"/>
          <p:cNvSpPr txBox="1"/>
          <p:nvPr/>
        </p:nvSpPr>
        <p:spPr>
          <a:xfrm>
            <a:off x="162950" y="4654625"/>
            <a:ext cx="59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173" name="Google Shape;1173;p92"/>
          <p:cNvSpPr txBox="1"/>
          <p:nvPr>
            <p:ph idx="1" type="body"/>
          </p:nvPr>
        </p:nvSpPr>
        <p:spPr>
          <a:xfrm>
            <a:off x="324000" y="759300"/>
            <a:ext cx="7284300" cy="12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3"/>
              </a:rPr>
              <a:t>Task A</a:t>
            </a:r>
            <a:r>
              <a:rPr lang="en-GB" sz="2000"/>
              <a:t> 🖇</a:t>
            </a:r>
            <a:endParaRPr sz="2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Go to </a:t>
            </a:r>
            <a:r>
              <a:rPr lang="en-GB" sz="2000">
                <a:solidFill>
                  <a:srgbClr val="845AD9"/>
                </a:solidFill>
              </a:rPr>
              <a:t>File → Make a copy</a:t>
            </a:r>
            <a:r>
              <a:rPr lang="en-GB" sz="2000"/>
              <a:t> to create your own copy to use.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To practise basic spreadsheet functions, complete the questions on the sheet called </a:t>
            </a:r>
            <a:r>
              <a:rPr lang="en-GB" sz="2000">
                <a:solidFill>
                  <a:srgbClr val="845AD9"/>
                </a:solidFill>
              </a:rPr>
              <a:t>Practising functions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845A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To practise calculating angles for a pie chart, complete the questions on the sheet called </a:t>
            </a:r>
            <a:r>
              <a:rPr lang="en-GB" sz="2000">
                <a:solidFill>
                  <a:schemeClr val="accent4"/>
                </a:solidFill>
              </a:rPr>
              <a:t>Calculating angles</a:t>
            </a:r>
            <a:r>
              <a:rPr lang="en-GB" sz="2000"/>
              <a:t>.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1174" name="Google Shape;1174;p92"/>
          <p:cNvSpPr txBox="1"/>
          <p:nvPr/>
        </p:nvSpPr>
        <p:spPr>
          <a:xfrm>
            <a:off x="264825" y="4491650"/>
            <a:ext cx="594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3"/>
              </a:rPr>
              <a:t>Task A Answers</a:t>
            </a:r>
            <a:r>
              <a:rPr lang="en-GB" sz="2000"/>
              <a:t> 🖇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link will let you view all the answers to the practice tasks.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1180" name="Google Shape;1180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181" name="Google Shape;1181;p93"/>
          <p:cNvSpPr txBox="1"/>
          <p:nvPr/>
        </p:nvSpPr>
        <p:spPr>
          <a:xfrm>
            <a:off x="324000" y="4634250"/>
            <a:ext cx="59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spreadsheet functions to calculate angles</a:t>
            </a:r>
            <a:endParaRPr/>
          </a:p>
        </p:txBody>
      </p:sp>
      <p:sp>
        <p:nvSpPr>
          <p:cNvPr id="1187" name="Google Shape;1187;p9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188" name="Google Shape;1188;p9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by utilising technology</a:t>
            </a:r>
            <a:endParaRPr/>
          </a:p>
        </p:txBody>
      </p:sp>
      <p:pic>
        <p:nvPicPr>
          <p:cNvPr id="1189" name="Google Shape;118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49" y="299549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graphicFrame>
        <p:nvGraphicFramePr>
          <p:cNvPr id="1195" name="Google Shape;1195;p95"/>
          <p:cNvGraphicFramePr/>
          <p:nvPr/>
        </p:nvGraphicFramePr>
        <p:xfrm>
          <a:off x="5162400" y="7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1219200"/>
                <a:gridCol w="1219200"/>
                <a:gridCol w="12192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6" name="Google Shape;1196;p95"/>
          <p:cNvSpPr txBox="1"/>
          <p:nvPr>
            <p:ph idx="1" type="body"/>
          </p:nvPr>
        </p:nvSpPr>
        <p:spPr>
          <a:xfrm>
            <a:off x="324000" y="698150"/>
            <a:ext cx="4248000" cy="38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are options in spreadsheet software that create pie charts for you.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will create a pie chart from the table to the right.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Copy and paste this table into Microsoft Excel, or use this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-GB" sz="1800"/>
              <a:t> </a:t>
            </a:r>
            <a:r>
              <a:rPr lang="en-GB" sz="2000"/>
              <a:t>🖇 </a:t>
            </a:r>
            <a:r>
              <a:rPr lang="en-GB" sz="1800"/>
              <a:t>to use a Google Sheets copy.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You may also use the Google Sheets document accessed earlier in the lesson.</a:t>
            </a:r>
            <a:endParaRPr sz="1800"/>
          </a:p>
        </p:txBody>
      </p:sp>
      <p:sp>
        <p:nvSpPr>
          <p:cNvPr id="1197" name="Google Shape;1197;p95"/>
          <p:cNvSpPr txBox="1"/>
          <p:nvPr/>
        </p:nvSpPr>
        <p:spPr>
          <a:xfrm>
            <a:off x="212100" y="4501825"/>
            <a:ext cx="788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Microsoft Excel - Used with </a:t>
            </a: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permission</a:t>
            </a: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from Microsoft.  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graphicFrame>
        <p:nvGraphicFramePr>
          <p:cNvPr id="1203" name="Google Shape;1203;p96"/>
          <p:cNvGraphicFramePr/>
          <p:nvPr/>
        </p:nvGraphicFramePr>
        <p:xfrm>
          <a:off x="5162400" y="7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1219200"/>
                <a:gridCol w="1219200"/>
                <a:gridCol w="12192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Frequency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4" name="Google Shape;1204;p96"/>
          <p:cNvSpPr txBox="1"/>
          <p:nvPr>
            <p:ph idx="1" type="body"/>
          </p:nvPr>
        </p:nvSpPr>
        <p:spPr>
          <a:xfrm>
            <a:off x="324000" y="698150"/>
            <a:ext cx="42480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Click, hold, and drag to select the year groups and the frequencies.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 not select the total frequency row or the angles column.</a:t>
            </a:r>
            <a:endParaRPr sz="1800"/>
          </a:p>
        </p:txBody>
      </p:sp>
      <p:sp>
        <p:nvSpPr>
          <p:cNvPr id="1205" name="Google Shape;1205;p96"/>
          <p:cNvSpPr/>
          <p:nvPr/>
        </p:nvSpPr>
        <p:spPr>
          <a:xfrm>
            <a:off x="5162400" y="792000"/>
            <a:ext cx="2438400" cy="1886100"/>
          </a:xfrm>
          <a:prstGeom prst="roundRect">
            <a:avLst>
              <a:gd fmla="val 6552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4024224"/>
            <a:ext cx="8495999" cy="295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96"/>
          <p:cNvSpPr txBox="1"/>
          <p:nvPr>
            <p:ph idx="1" type="body"/>
          </p:nvPr>
        </p:nvSpPr>
        <p:spPr>
          <a:xfrm>
            <a:off x="324000" y="2361188"/>
            <a:ext cx="25632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Google Sheets, find the </a:t>
            </a:r>
            <a:r>
              <a:rPr lang="en-GB" sz="1800">
                <a:solidFill>
                  <a:srgbClr val="037B7D"/>
                </a:solidFill>
              </a:rPr>
              <a:t>Insert chart</a:t>
            </a:r>
            <a:r>
              <a:rPr lang="en-GB" sz="1800"/>
              <a:t> button on the main toolbar. The icon looks like this:</a:t>
            </a:r>
            <a:endParaRPr sz="1800"/>
          </a:p>
        </p:txBody>
      </p:sp>
      <p:pic>
        <p:nvPicPr>
          <p:cNvPr id="1208" name="Google Shape;1208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831" y="2430438"/>
            <a:ext cx="1021213" cy="100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9" name="Google Shape;1209;p96"/>
          <p:cNvCxnSpPr/>
          <p:nvPr/>
        </p:nvCxnSpPr>
        <p:spPr>
          <a:xfrm>
            <a:off x="7943225" y="3490750"/>
            <a:ext cx="0" cy="6198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96"/>
          <p:cNvSpPr txBox="1"/>
          <p:nvPr/>
        </p:nvSpPr>
        <p:spPr>
          <a:xfrm>
            <a:off x="324000" y="4481475"/>
            <a:ext cx="60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216" name="Google Shape;1216;p97"/>
          <p:cNvSpPr txBox="1"/>
          <p:nvPr>
            <p:ph idx="1" type="body"/>
          </p:nvPr>
        </p:nvSpPr>
        <p:spPr>
          <a:xfrm>
            <a:off x="324000" y="772175"/>
            <a:ext cx="45702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After selecting Insert chart, a diagram will instantly appear.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Whilst this is called </a:t>
            </a:r>
            <a:r>
              <a:rPr lang="en-GB" sz="1800">
                <a:solidFill>
                  <a:srgbClr val="037B7D"/>
                </a:solidFill>
              </a:rPr>
              <a:t>Column chart</a:t>
            </a:r>
            <a:r>
              <a:rPr lang="en-GB" sz="1800"/>
              <a:t> in Google Sheets, we know it as a bar chart.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To change the diagram into a pie chart, go to the </a:t>
            </a:r>
            <a:r>
              <a:rPr lang="en-GB" sz="1800">
                <a:solidFill>
                  <a:srgbClr val="037B7D"/>
                </a:solidFill>
              </a:rPr>
              <a:t>Chart editor</a:t>
            </a:r>
            <a:r>
              <a:rPr lang="en-GB" sz="1800"/>
              <a:t>, select </a:t>
            </a:r>
            <a:r>
              <a:rPr lang="en-GB" sz="1800">
                <a:solidFill>
                  <a:srgbClr val="037B7D"/>
                </a:solidFill>
              </a:rPr>
              <a:t>Chart </a:t>
            </a:r>
            <a:r>
              <a:rPr lang="en-GB" sz="1800">
                <a:solidFill>
                  <a:srgbClr val="037B7D"/>
                </a:solidFill>
              </a:rPr>
              <a:t>type</a:t>
            </a:r>
            <a:r>
              <a:rPr lang="en-GB" sz="1800"/>
              <a:t>, and find pie chart.</a:t>
            </a:r>
            <a:endParaRPr sz="1800"/>
          </a:p>
        </p:txBody>
      </p:sp>
      <p:pic>
        <p:nvPicPr>
          <p:cNvPr id="1217" name="Google Shape;1217;p97"/>
          <p:cNvPicPr preferRelativeResize="0"/>
          <p:nvPr/>
        </p:nvPicPr>
        <p:blipFill rotWithShape="1">
          <a:blip r:embed="rId3">
            <a:alphaModFix/>
          </a:blip>
          <a:srcRect b="20773" l="0" r="0" t="0"/>
          <a:stretch/>
        </p:blipFill>
        <p:spPr>
          <a:xfrm>
            <a:off x="6191300" y="662550"/>
            <a:ext cx="2132850" cy="40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7"/>
          <p:cNvSpPr/>
          <p:nvPr/>
        </p:nvSpPr>
        <p:spPr>
          <a:xfrm>
            <a:off x="6226350" y="2913700"/>
            <a:ext cx="619800" cy="578100"/>
          </a:xfrm>
          <a:prstGeom prst="roundRect">
            <a:avLst>
              <a:gd fmla="val 6552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7"/>
          <p:cNvSpPr txBox="1"/>
          <p:nvPr/>
        </p:nvSpPr>
        <p:spPr>
          <a:xfrm>
            <a:off x="324000" y="4410175"/>
            <a:ext cx="59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225" name="Google Shape;1225;p98"/>
          <p:cNvSpPr txBox="1"/>
          <p:nvPr>
            <p:ph idx="1" type="body"/>
          </p:nvPr>
        </p:nvSpPr>
        <p:spPr>
          <a:xfrm>
            <a:off x="324000" y="772175"/>
            <a:ext cx="4570200" cy="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should end up with a pie chart that looks like this.</a:t>
            </a:r>
            <a:endParaRPr sz="1800"/>
          </a:p>
        </p:txBody>
      </p:sp>
      <p:pic>
        <p:nvPicPr>
          <p:cNvPr id="1226" name="Google Shape;1226;p9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575" y="810000"/>
            <a:ext cx="3630426" cy="224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98"/>
          <p:cNvSpPr txBox="1"/>
          <p:nvPr>
            <p:ph idx="1" type="body"/>
          </p:nvPr>
        </p:nvSpPr>
        <p:spPr>
          <a:xfrm>
            <a:off x="983100" y="2301000"/>
            <a:ext cx="3911100" cy="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</a:t>
            </a:r>
            <a:r>
              <a:rPr lang="en-GB" sz="1800"/>
              <a:t>tyle and colour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titles and labels</a:t>
            </a:r>
            <a:endParaRPr sz="1800"/>
          </a:p>
        </p:txBody>
      </p:sp>
      <p:sp>
        <p:nvSpPr>
          <p:cNvPr id="1228" name="Google Shape;1228;p98"/>
          <p:cNvSpPr txBox="1"/>
          <p:nvPr>
            <p:ph idx="1" type="body"/>
          </p:nvPr>
        </p:nvSpPr>
        <p:spPr>
          <a:xfrm>
            <a:off x="324000" y="1620000"/>
            <a:ext cx="4570200" cy="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right-click on the pie chart to change settings, such as: </a:t>
            </a:r>
            <a:endParaRPr sz="1800"/>
          </a:p>
        </p:txBody>
      </p:sp>
      <p:pic>
        <p:nvPicPr>
          <p:cNvPr id="1229" name="Google Shape;1229;p98"/>
          <p:cNvPicPr preferRelativeResize="0"/>
          <p:nvPr/>
        </p:nvPicPr>
        <p:blipFill rotWithShape="1">
          <a:blip r:embed="rId4">
            <a:alphaModFix/>
          </a:blip>
          <a:srcRect b="1765" l="3799" r="2153" t="1755"/>
          <a:stretch/>
        </p:blipFill>
        <p:spPr>
          <a:xfrm>
            <a:off x="5774400" y="2622100"/>
            <a:ext cx="1199700" cy="19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98"/>
          <p:cNvSpPr txBox="1"/>
          <p:nvPr/>
        </p:nvSpPr>
        <p:spPr>
          <a:xfrm>
            <a:off x="324000" y="4603675"/>
            <a:ext cx="616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99"/>
          <p:cNvSpPr txBox="1"/>
          <p:nvPr>
            <p:ph idx="1" type="body"/>
          </p:nvPr>
        </p:nvSpPr>
        <p:spPr>
          <a:xfrm>
            <a:off x="324000" y="2513607"/>
            <a:ext cx="2563200" cy="16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Microsoft Excel, go to the </a:t>
            </a:r>
            <a:r>
              <a:rPr lang="en-GB" sz="1800">
                <a:solidFill>
                  <a:srgbClr val="037B7D"/>
                </a:solidFill>
              </a:rPr>
              <a:t>Insert</a:t>
            </a:r>
            <a:r>
              <a:rPr lang="en-GB" sz="1800"/>
              <a:t> tab.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There is a pie chart icon in the </a:t>
            </a:r>
            <a:r>
              <a:rPr lang="en-GB" sz="1800">
                <a:solidFill>
                  <a:srgbClr val="037B7D"/>
                </a:solidFill>
              </a:rPr>
              <a:t>Charts</a:t>
            </a:r>
            <a:r>
              <a:rPr lang="en-GB" sz="1800"/>
              <a:t> section.</a:t>
            </a:r>
            <a:endParaRPr sz="1800"/>
          </a:p>
        </p:txBody>
      </p:sp>
      <p:graphicFrame>
        <p:nvGraphicFramePr>
          <p:cNvPr id="1236" name="Google Shape;1236;p99"/>
          <p:cNvGraphicFramePr/>
          <p:nvPr/>
        </p:nvGraphicFramePr>
        <p:xfrm>
          <a:off x="5162400" y="7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1219200"/>
                <a:gridCol w="1219200"/>
                <a:gridCol w="12192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Frequency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7" name="Google Shape;123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238" name="Google Shape;1238;p99"/>
          <p:cNvSpPr txBox="1"/>
          <p:nvPr>
            <p:ph idx="1" type="body"/>
          </p:nvPr>
        </p:nvSpPr>
        <p:spPr>
          <a:xfrm>
            <a:off x="324000" y="698150"/>
            <a:ext cx="42480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Click, hold, and drag to select the year groups and the frequencies.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 not select the total frequency row or the angles column.</a:t>
            </a:r>
            <a:endParaRPr sz="1800"/>
          </a:p>
        </p:txBody>
      </p:sp>
      <p:sp>
        <p:nvSpPr>
          <p:cNvPr id="1239" name="Google Shape;1239;p99"/>
          <p:cNvSpPr/>
          <p:nvPr/>
        </p:nvSpPr>
        <p:spPr>
          <a:xfrm>
            <a:off x="5162400" y="792000"/>
            <a:ext cx="2438400" cy="1886100"/>
          </a:xfrm>
          <a:prstGeom prst="roundRect">
            <a:avLst>
              <a:gd fmla="val 6552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icons is the </a:t>
            </a:r>
            <a:r>
              <a:rPr lang="en-GB">
                <a:solidFill>
                  <a:srgbClr val="037B7D"/>
                </a:solidFill>
              </a:rPr>
              <a:t>Insert chart</a:t>
            </a:r>
            <a:r>
              <a:rPr lang="en-GB"/>
              <a:t> icon?</a:t>
            </a:r>
            <a:endParaRPr/>
          </a:p>
        </p:txBody>
      </p:sp>
      <p:sp>
        <p:nvSpPr>
          <p:cNvPr id="1245" name="Google Shape;1245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pic>
        <p:nvPicPr>
          <p:cNvPr id="1246" name="Google Shape;124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75" y="1293200"/>
            <a:ext cx="7642650" cy="14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7" name="Google Shape;1247;p100"/>
          <p:cNvGrpSpPr/>
          <p:nvPr/>
        </p:nvGrpSpPr>
        <p:grpSpPr>
          <a:xfrm>
            <a:off x="1227591" y="2471400"/>
            <a:ext cx="457200" cy="457200"/>
            <a:chOff x="1020916" y="1442088"/>
            <a:chExt cx="457200" cy="457200"/>
          </a:xfrm>
        </p:grpSpPr>
        <p:pic>
          <p:nvPicPr>
            <p:cNvPr id="1248" name="Google Shape;124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100"/>
          <p:cNvGrpSpPr/>
          <p:nvPr/>
        </p:nvGrpSpPr>
        <p:grpSpPr>
          <a:xfrm>
            <a:off x="2429991" y="2471400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0"/>
          <p:cNvGrpSpPr/>
          <p:nvPr/>
        </p:nvGrpSpPr>
        <p:grpSpPr>
          <a:xfrm>
            <a:off x="3544036" y="2471400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0"/>
          <p:cNvGrpSpPr/>
          <p:nvPr/>
        </p:nvGrpSpPr>
        <p:grpSpPr>
          <a:xfrm>
            <a:off x="4686344" y="2471400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0"/>
          <p:cNvGrpSpPr/>
          <p:nvPr/>
        </p:nvGrpSpPr>
        <p:grpSpPr>
          <a:xfrm>
            <a:off x="5860482" y="2471400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2" name="Google Shape;1262;p100"/>
          <p:cNvGrpSpPr/>
          <p:nvPr/>
        </p:nvGrpSpPr>
        <p:grpSpPr>
          <a:xfrm>
            <a:off x="7383516" y="2471400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65" name="Google Shape;1265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4633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100"/>
          <p:cNvSpPr txBox="1"/>
          <p:nvPr/>
        </p:nvSpPr>
        <p:spPr>
          <a:xfrm>
            <a:off x="324000" y="4471275"/>
            <a:ext cx="602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graphicFrame>
        <p:nvGraphicFramePr>
          <p:cNvPr id="1272" name="Google Shape;1272;p101"/>
          <p:cNvGraphicFramePr/>
          <p:nvPr/>
        </p:nvGraphicFramePr>
        <p:xfrm>
          <a:off x="5162400" y="77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1219200"/>
                <a:gridCol w="1219200"/>
                <a:gridCol w="1219200"/>
              </a:tblGrid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Group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Frequency</a:t>
                      </a:r>
                      <a:endParaRPr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3" name="Google Shape;1273;p101"/>
          <p:cNvSpPr/>
          <p:nvPr/>
        </p:nvSpPr>
        <p:spPr>
          <a:xfrm>
            <a:off x="5162400" y="792000"/>
            <a:ext cx="1219200" cy="1886100"/>
          </a:xfrm>
          <a:prstGeom prst="roundRect">
            <a:avLst>
              <a:gd fmla="val 6552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101"/>
          <p:cNvSpPr txBox="1"/>
          <p:nvPr>
            <p:ph idx="1" type="body"/>
          </p:nvPr>
        </p:nvSpPr>
        <p:spPr>
          <a:xfrm>
            <a:off x="324000" y="698150"/>
            <a:ext cx="42480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also create the pie chart by plotting the angles, rather than the frequencies.</a:t>
            </a:r>
            <a:endParaRPr sz="1800"/>
          </a:p>
        </p:txBody>
      </p:sp>
      <p:sp>
        <p:nvSpPr>
          <p:cNvPr id="1275" name="Google Shape;1275;p101"/>
          <p:cNvSpPr txBox="1"/>
          <p:nvPr>
            <p:ph idx="1" type="body"/>
          </p:nvPr>
        </p:nvSpPr>
        <p:spPr>
          <a:xfrm>
            <a:off x="324000" y="1773950"/>
            <a:ext cx="42480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To do this, click, hold, and drag the year group column (ignoring the total frequency row).</a:t>
            </a:r>
            <a:endParaRPr sz="1800"/>
          </a:p>
        </p:txBody>
      </p:sp>
      <p:sp>
        <p:nvSpPr>
          <p:cNvPr id="1276" name="Google Shape;1276;p101"/>
          <p:cNvSpPr txBox="1"/>
          <p:nvPr>
            <p:ph idx="1" type="body"/>
          </p:nvPr>
        </p:nvSpPr>
        <p:spPr>
          <a:xfrm>
            <a:off x="5162400" y="3407350"/>
            <a:ext cx="36576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37B7D"/>
                </a:solidFill>
              </a:rPr>
              <a:t>Ctrl allows you to select the first and third columns, whilst ignoring the second.</a:t>
            </a:r>
            <a:endParaRPr sz="1800">
              <a:solidFill>
                <a:srgbClr val="037B7D"/>
              </a:solidFill>
            </a:endParaRPr>
          </a:p>
        </p:txBody>
      </p:sp>
      <p:sp>
        <p:nvSpPr>
          <p:cNvPr id="1277" name="Google Shape;1277;p101"/>
          <p:cNvSpPr txBox="1"/>
          <p:nvPr>
            <p:ph idx="1" type="body"/>
          </p:nvPr>
        </p:nvSpPr>
        <p:spPr>
          <a:xfrm>
            <a:off x="324000" y="2863925"/>
            <a:ext cx="4248000" cy="9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Then press and hold Ctrl on the keyboard.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Click, hold, and drag the angle column (ignoring the 360 on the bottom row).</a:t>
            </a:r>
            <a:endParaRPr sz="1800"/>
          </a:p>
        </p:txBody>
      </p:sp>
      <p:sp>
        <p:nvSpPr>
          <p:cNvPr id="1278" name="Google Shape;1278;p101"/>
          <p:cNvSpPr/>
          <p:nvPr/>
        </p:nvSpPr>
        <p:spPr>
          <a:xfrm>
            <a:off x="7600800" y="792000"/>
            <a:ext cx="1219200" cy="1886100"/>
          </a:xfrm>
          <a:prstGeom prst="roundRect">
            <a:avLst>
              <a:gd fmla="val 6552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02"/>
          <p:cNvSpPr txBox="1"/>
          <p:nvPr>
            <p:ph idx="1" type="body"/>
          </p:nvPr>
        </p:nvSpPr>
        <p:spPr>
          <a:xfrm>
            <a:off x="324000" y="698150"/>
            <a:ext cx="53466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Select the </a:t>
            </a:r>
            <a:r>
              <a:rPr lang="en-GB" sz="1800">
                <a:solidFill>
                  <a:schemeClr val="accent5"/>
                </a:solidFill>
              </a:rPr>
              <a:t>Insert chart</a:t>
            </a:r>
            <a:r>
              <a:rPr lang="en-GB" sz="1800"/>
              <a:t> icon and choose pie chart again.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4" name="Google Shape;1284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pic>
        <p:nvPicPr>
          <p:cNvPr id="1285" name="Google Shape;1285;p10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9868" y="698150"/>
            <a:ext cx="2910126" cy="1799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102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9868" y="2602260"/>
            <a:ext cx="2910132" cy="179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2"/>
          <p:cNvSpPr txBox="1"/>
          <p:nvPr>
            <p:ph idx="1" type="body"/>
          </p:nvPr>
        </p:nvSpPr>
        <p:spPr>
          <a:xfrm>
            <a:off x="548550" y="2611700"/>
            <a:ext cx="50511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pie charts are exactly the same!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the two pie charts are showing the same proportions based off of the same information: the first pie chart from frequencies, and the second pie chart from angles calculated off of those frequencies.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102"/>
          <p:cNvSpPr txBox="1"/>
          <p:nvPr>
            <p:ph idx="1" type="body"/>
          </p:nvPr>
        </p:nvSpPr>
        <p:spPr>
          <a:xfrm>
            <a:off x="324000" y="1326972"/>
            <a:ext cx="5346600" cy="10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you notice about the two pie charts you have made?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explain why?</a:t>
            </a:r>
            <a:endParaRPr sz="1800"/>
          </a:p>
        </p:txBody>
      </p:sp>
      <p:sp>
        <p:nvSpPr>
          <p:cNvPr id="1289" name="Google Shape;1289;p102"/>
          <p:cNvSpPr txBox="1"/>
          <p:nvPr/>
        </p:nvSpPr>
        <p:spPr>
          <a:xfrm>
            <a:off x="173150" y="4715725"/>
            <a:ext cx="596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295" name="Google Shape;1295;p103"/>
          <p:cNvSpPr txBox="1"/>
          <p:nvPr>
            <p:ph idx="1" type="body"/>
          </p:nvPr>
        </p:nvSpPr>
        <p:spPr>
          <a:xfrm>
            <a:off x="324000" y="683100"/>
            <a:ext cx="656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Put these instructions to create a pie chart from the angles (and not frequencies) in order.</a:t>
            </a:r>
            <a:endParaRPr sz="1800"/>
          </a:p>
        </p:txBody>
      </p:sp>
      <p:grpSp>
        <p:nvGrpSpPr>
          <p:cNvPr id="1296" name="Google Shape;1296;p103"/>
          <p:cNvGrpSpPr/>
          <p:nvPr/>
        </p:nvGrpSpPr>
        <p:grpSpPr>
          <a:xfrm>
            <a:off x="757391" y="1509675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757391" y="216000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57411" y="2810325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3"/>
          <p:cNvGrpSpPr/>
          <p:nvPr/>
        </p:nvGrpSpPr>
        <p:grpSpPr>
          <a:xfrm>
            <a:off x="757394" y="3460650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103"/>
          <p:cNvGrpSpPr/>
          <p:nvPr/>
        </p:nvGrpSpPr>
        <p:grpSpPr>
          <a:xfrm>
            <a:off x="757407" y="4110975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11" name="Google Shape;1311;p103"/>
          <p:cNvGraphicFramePr/>
          <p:nvPr/>
        </p:nvGraphicFramePr>
        <p:xfrm>
          <a:off x="5486550" y="150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{7D374805-6F9B-41F9-B94B-C8FA17D56679}</a:tableStyleId>
              </a:tblPr>
              <a:tblGrid>
                <a:gridCol w="1111150"/>
                <a:gridCol w="1111150"/>
                <a:gridCol w="1111150"/>
              </a:tblGrid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104.74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104.21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Hybrid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Hydrogen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21.05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2" name="Google Shape;1312;p103"/>
          <p:cNvSpPr txBox="1"/>
          <p:nvPr>
            <p:ph idx="1" type="body"/>
          </p:nvPr>
        </p:nvSpPr>
        <p:spPr>
          <a:xfrm>
            <a:off x="1268075" y="1509675"/>
            <a:ext cx="408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Press and hold Ctrl on the keyboard</a:t>
            </a:r>
            <a:endParaRPr sz="1800"/>
          </a:p>
        </p:txBody>
      </p:sp>
      <p:sp>
        <p:nvSpPr>
          <p:cNvPr id="1313" name="Google Shape;1313;p103"/>
          <p:cNvSpPr txBox="1"/>
          <p:nvPr>
            <p:ph idx="1" type="body"/>
          </p:nvPr>
        </p:nvSpPr>
        <p:spPr>
          <a:xfrm>
            <a:off x="1268075" y="2228250"/>
            <a:ext cx="408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Click on the Select chart icon</a:t>
            </a:r>
            <a:endParaRPr sz="1800"/>
          </a:p>
        </p:txBody>
      </p:sp>
      <p:sp>
        <p:nvSpPr>
          <p:cNvPr id="1314" name="Google Shape;1314;p103"/>
          <p:cNvSpPr txBox="1"/>
          <p:nvPr>
            <p:ph idx="1" type="body"/>
          </p:nvPr>
        </p:nvSpPr>
        <p:spPr>
          <a:xfrm>
            <a:off x="1268075" y="3528900"/>
            <a:ext cx="408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Click, hold, drag, the Car column</a:t>
            </a:r>
            <a:endParaRPr sz="1800"/>
          </a:p>
        </p:txBody>
      </p:sp>
      <p:sp>
        <p:nvSpPr>
          <p:cNvPr id="1315" name="Google Shape;1315;p103"/>
          <p:cNvSpPr txBox="1"/>
          <p:nvPr>
            <p:ph idx="1" type="body"/>
          </p:nvPr>
        </p:nvSpPr>
        <p:spPr>
          <a:xfrm>
            <a:off x="1268075" y="4179225"/>
            <a:ext cx="408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Click, hold, drag, the Angle column</a:t>
            </a:r>
            <a:endParaRPr sz="1800"/>
          </a:p>
        </p:txBody>
      </p:sp>
      <p:sp>
        <p:nvSpPr>
          <p:cNvPr id="1316" name="Google Shape;1316;p103"/>
          <p:cNvSpPr txBox="1"/>
          <p:nvPr>
            <p:ph idx="1" type="body"/>
          </p:nvPr>
        </p:nvSpPr>
        <p:spPr>
          <a:xfrm>
            <a:off x="1268075" y="2878575"/>
            <a:ext cx="408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Select pie chart</a:t>
            </a:r>
            <a:endParaRPr sz="1800"/>
          </a:p>
        </p:txBody>
      </p:sp>
      <p:grpSp>
        <p:nvGrpSpPr>
          <p:cNvPr id="1317" name="Google Shape;1317;p103"/>
          <p:cNvGrpSpPr/>
          <p:nvPr/>
        </p:nvGrpSpPr>
        <p:grpSpPr>
          <a:xfrm>
            <a:off x="5774394" y="3722025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3"/>
          <p:cNvGrpSpPr/>
          <p:nvPr/>
        </p:nvGrpSpPr>
        <p:grpSpPr>
          <a:xfrm>
            <a:off x="6256791" y="3722025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103"/>
          <p:cNvGrpSpPr/>
          <p:nvPr/>
        </p:nvGrpSpPr>
        <p:grpSpPr>
          <a:xfrm>
            <a:off x="6739207" y="3722025"/>
            <a:ext cx="457200" cy="457200"/>
            <a:chOff x="1020916" y="1442088"/>
            <a:chExt cx="457200" cy="457200"/>
          </a:xfrm>
        </p:grpSpPr>
        <p:pic>
          <p:nvPicPr>
            <p:cNvPr id="1324" name="Google Shape;1324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103"/>
          <p:cNvGrpSpPr/>
          <p:nvPr/>
        </p:nvGrpSpPr>
        <p:grpSpPr>
          <a:xfrm>
            <a:off x="7221591" y="3722025"/>
            <a:ext cx="457200" cy="457200"/>
            <a:chOff x="1020916" y="1442088"/>
            <a:chExt cx="457200" cy="457200"/>
          </a:xfrm>
        </p:grpSpPr>
        <p:pic>
          <p:nvPicPr>
            <p:cNvPr id="1327" name="Google Shape;132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9" name="Google Shape;1329;p103"/>
          <p:cNvGrpSpPr/>
          <p:nvPr/>
        </p:nvGrpSpPr>
        <p:grpSpPr>
          <a:xfrm>
            <a:off x="7704011" y="3722025"/>
            <a:ext cx="457200" cy="457200"/>
            <a:chOff x="1020916" y="1442088"/>
            <a:chExt cx="457200" cy="457200"/>
          </a:xfrm>
        </p:grpSpPr>
        <p:pic>
          <p:nvPicPr>
            <p:cNvPr id="1330" name="Google Shape;133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1" name="Google Shape;133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3"/>
              </a:rPr>
              <a:t>Task B</a:t>
            </a:r>
            <a:r>
              <a:rPr lang="en-GB" sz="2000"/>
              <a:t> 🖇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Go to </a:t>
            </a:r>
            <a:r>
              <a:rPr lang="en-GB" sz="2000">
                <a:solidFill>
                  <a:srgbClr val="037B7D"/>
                </a:solidFill>
              </a:rPr>
              <a:t>File → Make a copy</a:t>
            </a:r>
            <a:r>
              <a:rPr lang="en-GB" sz="2000"/>
              <a:t> to create your own copy to use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(you may also use the same document linked earlier in this lesson)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To practise creating pie charts, complete the questions on the sheet called </a:t>
            </a:r>
            <a:r>
              <a:rPr lang="en-GB" sz="2000">
                <a:solidFill>
                  <a:srgbClr val="037B7D"/>
                </a:solidFill>
              </a:rPr>
              <a:t>Creating pie charts</a:t>
            </a:r>
            <a:r>
              <a:rPr lang="en-GB" sz="2000"/>
              <a:t>.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1337" name="Google Shape;133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338" name="Google Shape;1338;p104"/>
          <p:cNvSpPr txBox="1"/>
          <p:nvPr/>
        </p:nvSpPr>
        <p:spPr>
          <a:xfrm>
            <a:off x="324000" y="4552750"/>
            <a:ext cx="625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05"/>
          <p:cNvSpPr txBox="1"/>
          <p:nvPr>
            <p:ph idx="1" type="body"/>
          </p:nvPr>
        </p:nvSpPr>
        <p:spPr>
          <a:xfrm>
            <a:off x="324000" y="759300"/>
            <a:ext cx="7084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hlinkClick r:id="rId3"/>
              </a:rPr>
              <a:t>Task B Answers</a:t>
            </a:r>
            <a:r>
              <a:rPr lang="en-GB" sz="2000"/>
              <a:t> 🖇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link will let you view all the answers to the practice tasks.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1344" name="Google Shape;1344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Constructing pie charts using spreadsheets</a:t>
            </a:r>
            <a:endParaRPr/>
          </a:p>
        </p:txBody>
      </p:sp>
      <p:sp>
        <p:nvSpPr>
          <p:cNvPr id="1345" name="Google Shape;1345;p105"/>
          <p:cNvSpPr txBox="1"/>
          <p:nvPr/>
        </p:nvSpPr>
        <p:spPr>
          <a:xfrm>
            <a:off x="324000" y="4481475"/>
            <a:ext cx="594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06"/>
          <p:cNvSpPr txBox="1"/>
          <p:nvPr>
            <p:ph idx="1" type="body"/>
          </p:nvPr>
        </p:nvSpPr>
        <p:spPr>
          <a:xfrm>
            <a:off x="324000" y="775200"/>
            <a:ext cx="8496000" cy="29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order to use spreadsheets for mathematical calculations, keyboard buttons for mathematical operations must be used (+, -, *, /, =).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Angles for a pie chart can be calculated using basic spreadsheet functions, such as the =sum( function.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Pie charts can be created easily in spreadsheet software using chart-creation facilities.</a:t>
            </a:r>
            <a:endParaRPr/>
          </a:p>
        </p:txBody>
      </p:sp>
      <p:sp>
        <p:nvSpPr>
          <p:cNvPr id="1351" name="Google Shape;1351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 by utilising technology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7" name="Google Shape;1357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