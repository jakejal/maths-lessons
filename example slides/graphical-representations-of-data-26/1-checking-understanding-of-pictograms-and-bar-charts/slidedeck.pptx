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0A68AB-1736-4CE8-94D3-24045C330DE6}">
  <a:tblStyle styleId="{AD0A68AB-1736-4CE8-94D3-24045C330D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dd353e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dd353e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8dd353e9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8dd353e9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87fa167c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87fa167c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8dd353e9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8dd353e9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8dd353e99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8dd353e99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8dd353e99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8dd353e99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88b13a38d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88b13a38d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88b13a38d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88b13a38d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88667d36b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288667d36b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88cd8fd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88cd8fd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88cd8fd4c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88cd8fd4c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88b13a38d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88b13a38d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88cd8fd4c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88cd8fd4c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89f24bc2c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89f24bc2c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88dc6f6e84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88dc6f6e84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88667d36b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88667d36b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88667d36b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88667d36b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88667d36b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88667d36b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88667d36b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88667d36b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88667d36b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88667d36b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8dd353e99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8dd353e9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8dd353e99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8dd353e99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88f360010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88f360010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88f360010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88f360010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88667d36b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88667d36b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288667d36b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88667d36b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88667d36b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88667d36b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89f24bc2c3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89f24bc2c3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88f360010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88f360010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88b13a38d7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288b13a38d7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88b13a38d7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88b13a38d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288b13a38d7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288b13a38d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288b13a38d7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288b13a38d7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88b13a38d7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88b13a38d7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288b13a38d7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288b13a38d7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288f360010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288f360010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288f360010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288f360010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88f360010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88f360010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71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71.png"/><Relationship Id="rId4" Type="http://schemas.openxmlformats.org/officeDocument/2006/relationships/image" Target="../media/image25.png"/><Relationship Id="rId9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71.png"/><Relationship Id="rId4" Type="http://schemas.openxmlformats.org/officeDocument/2006/relationships/image" Target="../media/image32.png"/><Relationship Id="rId11" Type="http://schemas.openxmlformats.org/officeDocument/2006/relationships/image" Target="../media/image18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46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9" Type="http://schemas.openxmlformats.org/officeDocument/2006/relationships/image" Target="../media/image51.png"/><Relationship Id="rId5" Type="http://schemas.openxmlformats.org/officeDocument/2006/relationships/image" Target="../media/image64.png"/><Relationship Id="rId6" Type="http://schemas.openxmlformats.org/officeDocument/2006/relationships/image" Target="../media/image66.png"/><Relationship Id="rId7" Type="http://schemas.openxmlformats.org/officeDocument/2006/relationships/image" Target="../media/image63.png"/><Relationship Id="rId8" Type="http://schemas.openxmlformats.org/officeDocument/2006/relationships/image" Target="../media/image6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5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Relationship Id="rId4" Type="http://schemas.openxmlformats.org/officeDocument/2006/relationships/image" Target="../media/image73.png"/><Relationship Id="rId5" Type="http://schemas.openxmlformats.org/officeDocument/2006/relationships/image" Target="../media/image60.png"/><Relationship Id="rId6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6.png"/><Relationship Id="rId4" Type="http://schemas.openxmlformats.org/officeDocument/2006/relationships/image" Target="../media/image7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8.png"/><Relationship Id="rId4" Type="http://schemas.openxmlformats.org/officeDocument/2006/relationships/image" Target="../media/image84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8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8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pictograms and bar charts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241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interpret both pictograms and bar charts.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8100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are a set of information which shows counts or measurements. (Singular datum.)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6462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highlight>
                  <a:srgbClr val="FFFFFF"/>
                </a:highlight>
              </a:rPr>
              <a:t>A key is used to explain the meaning of the symbols used in a table, chart, graph or a map.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1906550" y="2550925"/>
            <a:ext cx="69135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highlight>
                  <a:srgbClr val="FFFFFF"/>
                </a:highlight>
              </a:rPr>
              <a:t>A pictogram (pictograph) is a graph consisting of pictures to visually represent the </a:t>
            </a:r>
            <a:r>
              <a:rPr b="1" lang="en-GB" sz="1800">
                <a:highlight>
                  <a:srgbClr val="FFFFFF"/>
                </a:highlight>
              </a:rPr>
              <a:t>frequency</a:t>
            </a:r>
            <a:r>
              <a:rPr lang="en-GB" sz="1800">
                <a:highlight>
                  <a:srgbClr val="FFFFFF"/>
                </a:highlight>
              </a:rPr>
              <a:t> of objects or groups.</a:t>
            </a:r>
            <a:endParaRPr sz="18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760375"/>
            <a:ext cx="6696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highlight>
                  <a:srgbClr val="FFFFFF"/>
                </a:highlight>
              </a:rPr>
              <a:t>A bar chart (bar graph) is a graph consisting of bars visually representing the </a:t>
            </a:r>
            <a:r>
              <a:rPr b="1" lang="en-GB" sz="1800">
                <a:highlight>
                  <a:srgbClr val="FFFFFF"/>
                </a:highlight>
              </a:rPr>
              <a:t>frequency</a:t>
            </a:r>
            <a:r>
              <a:rPr lang="en-GB" sz="1800">
                <a:highlight>
                  <a:srgbClr val="FFFFFF"/>
                </a:highlight>
              </a:rPr>
              <a:t> of objects or groups. 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770" name="Google Shape;770;p67"/>
          <p:cNvGrpSpPr/>
          <p:nvPr/>
        </p:nvGrpSpPr>
        <p:grpSpPr>
          <a:xfrm>
            <a:off x="6937075" y="3398875"/>
            <a:ext cx="1324106" cy="1321574"/>
            <a:chOff x="7089475" y="3551275"/>
            <a:chExt cx="1324106" cy="1321574"/>
          </a:xfrm>
        </p:grpSpPr>
        <p:pic>
          <p:nvPicPr>
            <p:cNvPr id="771" name="Google Shape;771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7973" y="3684175"/>
              <a:ext cx="872990" cy="89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2" name="Google Shape;772;p67"/>
            <p:cNvSpPr txBox="1"/>
            <p:nvPr/>
          </p:nvSpPr>
          <p:spPr>
            <a:xfrm rot="-5400000">
              <a:off x="6787225" y="3853525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frequency</a:t>
              </a:r>
              <a:endParaRPr b="1"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3" name="Google Shape;773;p67"/>
            <p:cNvSpPr txBox="1"/>
            <p:nvPr/>
          </p:nvSpPr>
          <p:spPr>
            <a:xfrm>
              <a:off x="7361481" y="4425249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categories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74" name="Google Shape;774;p67"/>
          <p:cNvGrpSpPr/>
          <p:nvPr/>
        </p:nvGrpSpPr>
        <p:grpSpPr>
          <a:xfrm>
            <a:off x="324005" y="2212968"/>
            <a:ext cx="1582545" cy="1139670"/>
            <a:chOff x="7056005" y="2279005"/>
            <a:chExt cx="1582545" cy="1139670"/>
          </a:xfrm>
        </p:grpSpPr>
        <p:pic>
          <p:nvPicPr>
            <p:cNvPr id="775" name="Google Shape;775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0477" y="2587538"/>
              <a:ext cx="1093097" cy="773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6" name="Google Shape;776;p67"/>
            <p:cNvSpPr txBox="1"/>
            <p:nvPr/>
          </p:nvSpPr>
          <p:spPr>
            <a:xfrm>
              <a:off x="7936550" y="3113575"/>
              <a:ext cx="702000" cy="22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latin typeface="Lexend"/>
                  <a:ea typeface="Lexend"/>
                  <a:cs typeface="Lexend"/>
                  <a:sym typeface="Lexend"/>
                </a:rPr>
                <a:t>= 5 boxes</a:t>
              </a:r>
              <a:endParaRPr sz="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7" name="Google Shape;777;p67"/>
            <p:cNvSpPr/>
            <p:nvPr/>
          </p:nvSpPr>
          <p:spPr>
            <a:xfrm>
              <a:off x="7784000" y="3113575"/>
              <a:ext cx="702000" cy="305100"/>
            </a:xfrm>
            <a:prstGeom prst="rect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8" name="Google Shape;778;p67"/>
            <p:cNvSpPr txBox="1"/>
            <p:nvPr/>
          </p:nvSpPr>
          <p:spPr>
            <a:xfrm rot="-5400000">
              <a:off x="6753755" y="2581255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exend"/>
                  <a:ea typeface="Lexend"/>
                  <a:cs typeface="Lexend"/>
                  <a:sym typeface="Lexend"/>
                </a:rPr>
                <a:t>categories</a:t>
              </a:r>
              <a:endParaRPr sz="1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idx="1" type="subTitle"/>
          </p:nvPr>
        </p:nvSpPr>
        <p:spPr>
          <a:xfrm>
            <a:off x="324000" y="993650"/>
            <a:ext cx="8496000" cy="11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</a:t>
            </a:r>
            <a:r>
              <a:rPr b="1" lang="en-GB"/>
              <a:t> </a:t>
            </a:r>
            <a:r>
              <a:rPr b="1" lang="en-GB"/>
              <a:t>f</a:t>
            </a:r>
            <a:r>
              <a:rPr b="1" lang="en-GB"/>
              <a:t>requency</a:t>
            </a:r>
            <a:r>
              <a:rPr lang="en-GB"/>
              <a:t> is the number of times an event occurs; or the number of individuals (people, animals etc.) with some specific property.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789" name="Google Shape;789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790" name="Google Shape;790;p69"/>
          <p:cNvSpPr txBox="1"/>
          <p:nvPr>
            <p:ph idx="3" type="title"/>
          </p:nvPr>
        </p:nvSpPr>
        <p:spPr>
          <a:xfrm>
            <a:off x="324000" y="657600"/>
            <a:ext cx="6185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pictograms and bar charts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1" name="Google Shape;79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44" y="205973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Jacob would like to know which pet is most common in his class.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 collects some data from his class and draws a pictogram.</a:t>
            </a:r>
            <a:endParaRPr sz="1800"/>
          </a:p>
        </p:txBody>
      </p:sp>
      <p:pic>
        <p:nvPicPr>
          <p:cNvPr id="798" name="Google Shape;79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74400" y="3240000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6048259" y="17241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0"/>
          <p:cNvSpPr txBox="1"/>
          <p:nvPr/>
        </p:nvSpPr>
        <p:spPr>
          <a:xfrm>
            <a:off x="6291600" y="1938350"/>
            <a:ext cx="233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information does my pictogram show?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1" name="Google Shape;801;p70"/>
          <p:cNvGrpSpPr/>
          <p:nvPr/>
        </p:nvGrpSpPr>
        <p:grpSpPr>
          <a:xfrm>
            <a:off x="433025" y="1717100"/>
            <a:ext cx="4539674" cy="2847750"/>
            <a:chOff x="433025" y="1717100"/>
            <a:chExt cx="4539674" cy="2847750"/>
          </a:xfrm>
        </p:grpSpPr>
        <p:sp>
          <p:nvSpPr>
            <p:cNvPr id="802" name="Google Shape;802;p70"/>
            <p:cNvSpPr txBox="1"/>
            <p:nvPr/>
          </p:nvSpPr>
          <p:spPr>
            <a:xfrm>
              <a:off x="847075" y="17171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70"/>
            <p:cNvSpPr txBox="1"/>
            <p:nvPr/>
          </p:nvSpPr>
          <p:spPr>
            <a:xfrm>
              <a:off x="816425" y="3459425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cat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70"/>
            <p:cNvSpPr txBox="1"/>
            <p:nvPr/>
          </p:nvSpPr>
          <p:spPr>
            <a:xfrm>
              <a:off x="847075" y="28766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fish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70"/>
            <p:cNvSpPr txBox="1"/>
            <p:nvPr/>
          </p:nvSpPr>
          <p:spPr>
            <a:xfrm>
              <a:off x="433025" y="2296850"/>
              <a:ext cx="114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hamster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70"/>
            <p:cNvSpPr txBox="1"/>
            <p:nvPr/>
          </p:nvSpPr>
          <p:spPr>
            <a:xfrm>
              <a:off x="618150" y="4042250"/>
              <a:ext cx="1022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rabbit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06-10-2023/b79bc235-45f8-4aa1-af46-4770da232822&quot; data-equatio-type=&quot;image&quot;&gt;&lt;mglyph src=&quot;https://equatio-api.texthelp.com/desmos/get/06-10-2023/b79bc235-45f8-4aa1-af46-4770da232822&quot; alt=&quot;Equatio Image&quot;/&gt;&lt;/math&gt;" id="807" name="Google Shape;807;p70" title="Equatio Image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5475" y="1724100"/>
              <a:ext cx="4267224" cy="2840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813" name="Google Shape;813;p71"/>
          <p:cNvSpPr txBox="1"/>
          <p:nvPr/>
        </p:nvSpPr>
        <p:spPr>
          <a:xfrm>
            <a:off x="5006125" y="886200"/>
            <a:ext cx="3772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most common pet is cat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hamsters and rabbits is the same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the same number of fish as hamsters and rabbits combined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half as many dogs as cats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14" name="Google Shape;814;p71"/>
          <p:cNvGrpSpPr/>
          <p:nvPr/>
        </p:nvGrpSpPr>
        <p:grpSpPr>
          <a:xfrm>
            <a:off x="432000" y="1717200"/>
            <a:ext cx="4539674" cy="2847750"/>
            <a:chOff x="433025" y="1717100"/>
            <a:chExt cx="4539674" cy="2847750"/>
          </a:xfrm>
        </p:grpSpPr>
        <p:sp>
          <p:nvSpPr>
            <p:cNvPr id="815" name="Google Shape;815;p71"/>
            <p:cNvSpPr txBox="1"/>
            <p:nvPr/>
          </p:nvSpPr>
          <p:spPr>
            <a:xfrm>
              <a:off x="847075" y="17171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71"/>
            <p:cNvSpPr txBox="1"/>
            <p:nvPr/>
          </p:nvSpPr>
          <p:spPr>
            <a:xfrm>
              <a:off x="816425" y="3459425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cat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71"/>
            <p:cNvSpPr txBox="1"/>
            <p:nvPr/>
          </p:nvSpPr>
          <p:spPr>
            <a:xfrm>
              <a:off x="847075" y="28766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fish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71"/>
            <p:cNvSpPr txBox="1"/>
            <p:nvPr/>
          </p:nvSpPr>
          <p:spPr>
            <a:xfrm>
              <a:off x="433025" y="2296850"/>
              <a:ext cx="114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hamster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71"/>
            <p:cNvSpPr txBox="1"/>
            <p:nvPr/>
          </p:nvSpPr>
          <p:spPr>
            <a:xfrm>
              <a:off x="618150" y="4042250"/>
              <a:ext cx="1022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rabbit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06-10-2023/b79bc235-45f8-4aa1-af46-4770da232822&quot; data-equatio-type=&quot;image&quot;&gt;&lt;mglyph src=&quot;https://equatio-api.texthelp.com/desmos/get/06-10-2023/b79bc235-45f8-4aa1-af46-4770da232822&quot; alt=&quot;Equatio Image&quot;/&gt;&lt;/math&gt;" id="820" name="Google Shape;820;p71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475" y="1724100"/>
              <a:ext cx="4267224" cy="2840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pic>
        <p:nvPicPr>
          <p:cNvPr id="826" name="Google Shape;82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82" y="2310862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5964711" y="858000"/>
            <a:ext cx="2825513" cy="17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2"/>
          <p:cNvSpPr txBox="1"/>
          <p:nvPr/>
        </p:nvSpPr>
        <p:spPr>
          <a:xfrm>
            <a:off x="6094775" y="965125"/>
            <a:ext cx="2759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pictogram cannot be correct.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says there are 2.5 dogs.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2"/>
          <p:cNvSpPr txBox="1"/>
          <p:nvPr/>
        </p:nvSpPr>
        <p:spPr>
          <a:xfrm>
            <a:off x="5179319" y="31442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Sam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0" name="Google Shape;830;p72"/>
          <p:cNvGrpSpPr/>
          <p:nvPr/>
        </p:nvGrpSpPr>
        <p:grpSpPr>
          <a:xfrm>
            <a:off x="432000" y="810000"/>
            <a:ext cx="4539674" cy="2847750"/>
            <a:chOff x="433025" y="1717100"/>
            <a:chExt cx="4539674" cy="2847750"/>
          </a:xfrm>
        </p:grpSpPr>
        <p:sp>
          <p:nvSpPr>
            <p:cNvPr id="831" name="Google Shape;831;p72"/>
            <p:cNvSpPr txBox="1"/>
            <p:nvPr/>
          </p:nvSpPr>
          <p:spPr>
            <a:xfrm>
              <a:off x="847075" y="17171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72"/>
            <p:cNvSpPr txBox="1"/>
            <p:nvPr/>
          </p:nvSpPr>
          <p:spPr>
            <a:xfrm>
              <a:off x="816425" y="3459425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cat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2"/>
            <p:cNvSpPr txBox="1"/>
            <p:nvPr/>
          </p:nvSpPr>
          <p:spPr>
            <a:xfrm>
              <a:off x="847075" y="28766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fish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72"/>
            <p:cNvSpPr txBox="1"/>
            <p:nvPr/>
          </p:nvSpPr>
          <p:spPr>
            <a:xfrm>
              <a:off x="433025" y="2296850"/>
              <a:ext cx="114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hamster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5" name="Google Shape;835;p72"/>
            <p:cNvSpPr txBox="1"/>
            <p:nvPr/>
          </p:nvSpPr>
          <p:spPr>
            <a:xfrm>
              <a:off x="618150" y="4042250"/>
              <a:ext cx="1022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rabbit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06-10-2023/b79bc235-45f8-4aa1-af46-4770da232822&quot; data-equatio-type=&quot;image&quot;&gt;&lt;mglyph src=&quot;https://equatio-api.texthelp.com/desmos/get/06-10-2023/b79bc235-45f8-4aa1-af46-4770da232822&quot; alt=&quot;Equatio Image&quot;/&gt;&lt;/math&gt;" id="836" name="Google Shape;836;p72" title="Equatio Image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5475" y="1724100"/>
              <a:ext cx="4267224" cy="284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7" name="Google Shape;837;p72"/>
          <p:cNvSpPr txBox="1"/>
          <p:nvPr/>
        </p:nvSpPr>
        <p:spPr>
          <a:xfrm>
            <a:off x="511300" y="3958750"/>
            <a:ext cx="228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 Sam correct?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2"/>
          <p:cNvSpPr txBox="1"/>
          <p:nvPr/>
        </p:nvSpPr>
        <p:spPr>
          <a:xfrm>
            <a:off x="2800600" y="3790850"/>
            <a:ext cx="5989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2.5 icons but an icon does not have to represent 1 animal. So Sam is wrong; the pictogram could be correct, but it is missing a key!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pic>
        <p:nvPicPr>
          <p:cNvPr id="844" name="Google Shape;84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54157" y="2194937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3"/>
          <p:cNvSpPr txBox="1"/>
          <p:nvPr/>
        </p:nvSpPr>
        <p:spPr>
          <a:xfrm>
            <a:off x="6866400" y="730050"/>
            <a:ext cx="169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one paw means 4.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3"/>
          <p:cNvSpPr txBox="1"/>
          <p:nvPr/>
        </p:nvSpPr>
        <p:spPr>
          <a:xfrm>
            <a:off x="846050" y="810000"/>
            <a:ext cx="7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3"/>
          <p:cNvSpPr txBox="1"/>
          <p:nvPr/>
        </p:nvSpPr>
        <p:spPr>
          <a:xfrm>
            <a:off x="815400" y="2552325"/>
            <a:ext cx="7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3"/>
          <p:cNvSpPr txBox="1"/>
          <p:nvPr/>
        </p:nvSpPr>
        <p:spPr>
          <a:xfrm>
            <a:off x="846050" y="1969500"/>
            <a:ext cx="7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fish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3"/>
          <p:cNvSpPr txBox="1"/>
          <p:nvPr/>
        </p:nvSpPr>
        <p:spPr>
          <a:xfrm>
            <a:off x="432000" y="1389750"/>
            <a:ext cx="11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hamster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0-2023/b79bc235-45f8-4aa1-af46-4770da232822&quot; data-equatio-type=&quot;image&quot;&gt;&lt;mglyph src=&quot;https://equatio-api.texthelp.com/desmos/get/06-10-2023/b79bc235-45f8-4aa1-af46-4770da232822&quot; alt=&quot;Equatio Image&quot;/&gt;&lt;/math&gt;" id="850" name="Google Shape;850;p73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50" y="817000"/>
            <a:ext cx="4267224" cy="28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3"/>
          <p:cNvSpPr txBox="1"/>
          <p:nvPr/>
        </p:nvSpPr>
        <p:spPr>
          <a:xfrm>
            <a:off x="617125" y="3135150"/>
            <a:ext cx="102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rabbit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2" name="Google Shape;852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5227" y="10116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3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6766524" y="667825"/>
            <a:ext cx="1893576" cy="114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3"/>
          <p:cNvSpPr txBox="1"/>
          <p:nvPr/>
        </p:nvSpPr>
        <p:spPr>
          <a:xfrm>
            <a:off x="6019488" y="2042925"/>
            <a:ext cx="169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one paw means 10.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5" name="Google Shape;855;p73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919624" y="1980700"/>
            <a:ext cx="1893576" cy="11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65558" y="3732775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3"/>
          <p:cNvSpPr txBox="1"/>
          <p:nvPr/>
        </p:nvSpPr>
        <p:spPr>
          <a:xfrm>
            <a:off x="7111538" y="3335575"/>
            <a:ext cx="169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one paw means 5.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8" name="Google Shape;858;p73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6963874" y="3273350"/>
            <a:ext cx="1893576" cy="114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3"/>
          <p:cNvSpPr txBox="1"/>
          <p:nvPr/>
        </p:nvSpPr>
        <p:spPr>
          <a:xfrm>
            <a:off x="599600" y="3932100"/>
            <a:ext cx="205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cannot be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3"/>
          <p:cNvSpPr txBox="1"/>
          <p:nvPr/>
        </p:nvSpPr>
        <p:spPr>
          <a:xfrm>
            <a:off x="2587375" y="3931525"/>
            <a:ext cx="333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cannot be 5 per paw, or dogs would be 12.5 pets.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1" name="Google Shape;861;p73"/>
          <p:cNvSpPr txBox="1"/>
          <p:nvPr/>
        </p:nvSpPr>
        <p:spPr>
          <a:xfrm>
            <a:off x="5318409" y="567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7426109" y="17458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5774409" y="32935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869" name="Google Shape;869;p74"/>
          <p:cNvSpPr txBox="1"/>
          <p:nvPr/>
        </p:nvSpPr>
        <p:spPr>
          <a:xfrm>
            <a:off x="844325" y="397347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Key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4"/>
          <p:cNvSpPr txBox="1"/>
          <p:nvPr/>
        </p:nvSpPr>
        <p:spPr>
          <a:xfrm>
            <a:off x="2139725" y="3973470"/>
            <a:ext cx="146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 4 pets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1" name="Google Shape;871;p74"/>
          <p:cNvGraphicFramePr/>
          <p:nvPr/>
        </p:nvGraphicFramePr>
        <p:xfrm>
          <a:off x="5710250" y="94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1138150"/>
                <a:gridCol w="1477875"/>
              </a:tblGrid>
              <a:tr h="3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amster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ish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abbit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872" name="Google Shape;872;p74"/>
          <p:cNvGrpSpPr/>
          <p:nvPr/>
        </p:nvGrpSpPr>
        <p:grpSpPr>
          <a:xfrm>
            <a:off x="435525" y="810000"/>
            <a:ext cx="4539674" cy="2847750"/>
            <a:chOff x="433025" y="1717100"/>
            <a:chExt cx="4539674" cy="2847750"/>
          </a:xfrm>
        </p:grpSpPr>
        <p:sp>
          <p:nvSpPr>
            <p:cNvPr id="873" name="Google Shape;873;p74"/>
            <p:cNvSpPr txBox="1"/>
            <p:nvPr/>
          </p:nvSpPr>
          <p:spPr>
            <a:xfrm>
              <a:off x="847075" y="17171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4" name="Google Shape;874;p74"/>
            <p:cNvSpPr txBox="1"/>
            <p:nvPr/>
          </p:nvSpPr>
          <p:spPr>
            <a:xfrm>
              <a:off x="816425" y="3459425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cat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5" name="Google Shape;875;p74"/>
            <p:cNvSpPr txBox="1"/>
            <p:nvPr/>
          </p:nvSpPr>
          <p:spPr>
            <a:xfrm>
              <a:off x="847075" y="2876600"/>
              <a:ext cx="79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fish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6" name="Google Shape;876;p74"/>
            <p:cNvSpPr txBox="1"/>
            <p:nvPr/>
          </p:nvSpPr>
          <p:spPr>
            <a:xfrm>
              <a:off x="433025" y="2296850"/>
              <a:ext cx="114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hamster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7" name="Google Shape;877;p74"/>
            <p:cNvSpPr txBox="1"/>
            <p:nvPr/>
          </p:nvSpPr>
          <p:spPr>
            <a:xfrm>
              <a:off x="618150" y="4042250"/>
              <a:ext cx="1022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rabbit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06-10-2023/b79bc235-45f8-4aa1-af46-4770da232822&quot; data-equatio-type=&quot;image&quot;&gt;&lt;mglyph src=&quot;https://equatio-api.texthelp.com/desmos/get/06-10-2023/b79bc235-45f8-4aa1-af46-4770da232822&quot; alt=&quot;Equatio Image&quot;/&gt;&lt;/math&gt;" id="878" name="Google Shape;878;p74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475" y="1724100"/>
              <a:ext cx="4267224" cy="284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74"/>
          <p:cNvSpPr txBox="1"/>
          <p:nvPr/>
        </p:nvSpPr>
        <p:spPr>
          <a:xfrm>
            <a:off x="7280275" y="1389150"/>
            <a:ext cx="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4"/>
          <p:cNvSpPr txBox="1"/>
          <p:nvPr/>
        </p:nvSpPr>
        <p:spPr>
          <a:xfrm>
            <a:off x="1691913" y="837670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2179525" y="837670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2560525" y="837670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1691913" y="1425070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7348838" y="1854925"/>
            <a:ext cx="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1691900" y="1989845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2179525" y="2002845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1707163" y="2552063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2202419" y="2552176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2705294" y="2544432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3200650" y="2552063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3688149" y="2544432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4"/>
          <p:cNvSpPr txBox="1"/>
          <p:nvPr/>
        </p:nvSpPr>
        <p:spPr>
          <a:xfrm>
            <a:off x="1691893" y="3142013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4"/>
          <p:cNvSpPr txBox="1"/>
          <p:nvPr/>
        </p:nvSpPr>
        <p:spPr>
          <a:xfrm>
            <a:off x="7348838" y="2312075"/>
            <a:ext cx="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4"/>
          <p:cNvSpPr txBox="1"/>
          <p:nvPr/>
        </p:nvSpPr>
        <p:spPr>
          <a:xfrm>
            <a:off x="7280263" y="2773775"/>
            <a:ext cx="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 txBox="1"/>
          <p:nvPr/>
        </p:nvSpPr>
        <p:spPr>
          <a:xfrm>
            <a:off x="7348838" y="3235000"/>
            <a:ext cx="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/>
          <p:nvPr/>
        </p:nvSpPr>
        <p:spPr>
          <a:xfrm>
            <a:off x="808850" y="822220"/>
            <a:ext cx="689100" cy="49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/>
          <p:nvPr/>
        </p:nvSpPr>
        <p:spPr>
          <a:xfrm>
            <a:off x="5733144" y="1414025"/>
            <a:ext cx="1096800" cy="421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4"/>
          <p:cNvSpPr/>
          <p:nvPr/>
        </p:nvSpPr>
        <p:spPr>
          <a:xfrm>
            <a:off x="433025" y="1393770"/>
            <a:ext cx="1065000" cy="49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/>
          <p:nvPr/>
        </p:nvSpPr>
        <p:spPr>
          <a:xfrm>
            <a:off x="5733144" y="1871225"/>
            <a:ext cx="1096800" cy="421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808925" y="1972845"/>
            <a:ext cx="689100" cy="49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5733144" y="2328425"/>
            <a:ext cx="1096800" cy="421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4"/>
          <p:cNvSpPr/>
          <p:nvPr/>
        </p:nvSpPr>
        <p:spPr>
          <a:xfrm>
            <a:off x="808925" y="2551920"/>
            <a:ext cx="689100" cy="49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4"/>
          <p:cNvSpPr/>
          <p:nvPr/>
        </p:nvSpPr>
        <p:spPr>
          <a:xfrm>
            <a:off x="5733144" y="2785625"/>
            <a:ext cx="1096800" cy="421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4"/>
          <p:cNvSpPr/>
          <p:nvPr/>
        </p:nvSpPr>
        <p:spPr>
          <a:xfrm>
            <a:off x="595250" y="3138620"/>
            <a:ext cx="902700" cy="49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7550" y="3981675"/>
            <a:ext cx="496150" cy="4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4"/>
          <p:cNvSpPr/>
          <p:nvPr/>
        </p:nvSpPr>
        <p:spPr>
          <a:xfrm>
            <a:off x="5733144" y="3242825"/>
            <a:ext cx="1096800" cy="421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912" name="Google Shape;912;p75"/>
          <p:cNvSpPr txBox="1"/>
          <p:nvPr>
            <p:ph idx="1" type="body"/>
          </p:nvPr>
        </p:nvSpPr>
        <p:spPr>
          <a:xfrm>
            <a:off x="324000" y="759300"/>
            <a:ext cx="8401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Jacob has collected some more data about pets. He has represented it as a pictogram. Complete the </a:t>
            </a:r>
            <a:r>
              <a:rPr b="1" lang="en-GB"/>
              <a:t>frequency</a:t>
            </a:r>
            <a:r>
              <a:rPr lang="en-GB"/>
              <a:t> table.</a:t>
            </a:r>
            <a:endParaRPr/>
          </a:p>
        </p:txBody>
      </p:sp>
      <p:grpSp>
        <p:nvGrpSpPr>
          <p:cNvPr id="913" name="Google Shape;913;p75"/>
          <p:cNvGrpSpPr/>
          <p:nvPr/>
        </p:nvGrpSpPr>
        <p:grpSpPr>
          <a:xfrm>
            <a:off x="604526" y="4290471"/>
            <a:ext cx="2498880" cy="492489"/>
            <a:chOff x="5606257" y="1612850"/>
            <a:chExt cx="2761193" cy="618006"/>
          </a:xfrm>
        </p:grpSpPr>
        <p:sp>
          <p:nvSpPr>
            <p:cNvPr id="914" name="Google Shape;914;p75"/>
            <p:cNvSpPr txBox="1"/>
            <p:nvPr/>
          </p:nvSpPr>
          <p:spPr>
            <a:xfrm>
              <a:off x="5606257" y="1612856"/>
              <a:ext cx="870000" cy="6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Key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5"/>
            <p:cNvSpPr txBox="1"/>
            <p:nvPr/>
          </p:nvSpPr>
          <p:spPr>
            <a:xfrm>
              <a:off x="6901650" y="1612850"/>
              <a:ext cx="1465800" cy="6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 10 pets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916" name="Google Shape;916;p75"/>
          <p:cNvGraphicFramePr/>
          <p:nvPr/>
        </p:nvGraphicFramePr>
        <p:xfrm>
          <a:off x="5468925" y="171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1138150"/>
                <a:gridCol w="1602125"/>
              </a:tblGrid>
              <a:tr h="3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Dog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Hamster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Rabbit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17" name="Google Shape;917;p75"/>
          <p:cNvSpPr txBox="1"/>
          <p:nvPr/>
        </p:nvSpPr>
        <p:spPr>
          <a:xfrm>
            <a:off x="945566" y="1710574"/>
            <a:ext cx="6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5"/>
          <p:cNvSpPr txBox="1"/>
          <p:nvPr/>
        </p:nvSpPr>
        <p:spPr>
          <a:xfrm>
            <a:off x="920025" y="3162453"/>
            <a:ext cx="6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5"/>
          <p:cNvSpPr txBox="1"/>
          <p:nvPr/>
        </p:nvSpPr>
        <p:spPr>
          <a:xfrm>
            <a:off x="945566" y="2676785"/>
            <a:ext cx="6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fish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>
            <a:off x="432000" y="2193675"/>
            <a:ext cx="12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hamster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5"/>
          <p:cNvSpPr txBox="1"/>
          <p:nvPr/>
        </p:nvSpPr>
        <p:spPr>
          <a:xfrm>
            <a:off x="643953" y="3648125"/>
            <a:ext cx="11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rabbit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5"/>
          <p:cNvSpPr txBox="1"/>
          <p:nvPr/>
        </p:nvSpPr>
        <p:spPr>
          <a:xfrm>
            <a:off x="7165341" y="2178225"/>
            <a:ext cx="58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3" name="Google Shape;923;p75"/>
          <p:cNvSpPr txBox="1"/>
          <p:nvPr/>
        </p:nvSpPr>
        <p:spPr>
          <a:xfrm>
            <a:off x="7165341" y="3533700"/>
            <a:ext cx="58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24" name="Google Shape;92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275" y="4323038"/>
            <a:ext cx="496150" cy="42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0-2023/b79bc235-45f8-4aa1-af46-4770da232822&quot; data-equatio-type=&quot;image&quot;&gt;&lt;mglyph src=&quot;https://equatio-api.texthelp.com/desmos/get/06-10-2023/b79bc235-45f8-4aa1-af46-4770da232822&quot; alt=&quot;Equatio Image&quot;/&gt;&lt;/math&gt;" id="925" name="Google Shape;925;p7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326" y="1620000"/>
            <a:ext cx="3918476" cy="26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7726" y="3698975"/>
            <a:ext cx="206225" cy="36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6"/>
          <p:cNvSpPr txBox="1"/>
          <p:nvPr>
            <p:ph idx="1" type="body"/>
          </p:nvPr>
        </p:nvSpPr>
        <p:spPr>
          <a:xfrm>
            <a:off x="324000" y="759300"/>
            <a:ext cx="82377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Pictograms are a very visual representation of data.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932" name="Google Shape;93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graphicFrame>
        <p:nvGraphicFramePr>
          <p:cNvPr id="933" name="Google Shape;933;p76"/>
          <p:cNvGraphicFramePr/>
          <p:nvPr/>
        </p:nvGraphicFramePr>
        <p:xfrm>
          <a:off x="1147075" y="13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1704325"/>
                <a:gridCol w="41418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books in each genre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Horror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Romance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Sci-fi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Detective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34" name="Google Shape;934;p76"/>
          <p:cNvSpPr txBox="1"/>
          <p:nvPr/>
        </p:nvSpPr>
        <p:spPr>
          <a:xfrm>
            <a:off x="1490200" y="3682650"/>
            <a:ext cx="52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= 10 books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/>
          <p:nvPr/>
        </p:nvSpPr>
        <p:spPr>
          <a:xfrm>
            <a:off x="3525675" y="2747275"/>
            <a:ext cx="193200" cy="38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6"/>
          <p:cNvSpPr txBox="1"/>
          <p:nvPr>
            <p:ph idx="1" type="body"/>
          </p:nvPr>
        </p:nvSpPr>
        <p:spPr>
          <a:xfrm>
            <a:off x="361950" y="4205450"/>
            <a:ext cx="82377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Fairly easy to understand and get a feel for the data.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grpSp>
        <p:nvGrpSpPr>
          <p:cNvPr id="937" name="Google Shape;937;p76"/>
          <p:cNvGrpSpPr/>
          <p:nvPr/>
        </p:nvGrpSpPr>
        <p:grpSpPr>
          <a:xfrm>
            <a:off x="2084495" y="3754892"/>
            <a:ext cx="485513" cy="317203"/>
            <a:chOff x="6700947" y="3542562"/>
            <a:chExt cx="920928" cy="601675"/>
          </a:xfrm>
        </p:grpSpPr>
        <p:pic>
          <p:nvPicPr>
            <p:cNvPr id="938" name="Google Shape;93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0" name="Google Shape;940;p76"/>
          <p:cNvGrpSpPr/>
          <p:nvPr/>
        </p:nvGrpSpPr>
        <p:grpSpPr>
          <a:xfrm>
            <a:off x="2887195" y="1842792"/>
            <a:ext cx="485513" cy="317203"/>
            <a:chOff x="6700947" y="3542562"/>
            <a:chExt cx="920928" cy="601675"/>
          </a:xfrm>
        </p:grpSpPr>
        <p:pic>
          <p:nvPicPr>
            <p:cNvPr id="941" name="Google Shape;941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2" name="Google Shape;942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3" name="Google Shape;943;p76"/>
          <p:cNvGrpSpPr/>
          <p:nvPr/>
        </p:nvGrpSpPr>
        <p:grpSpPr>
          <a:xfrm>
            <a:off x="3456920" y="1842792"/>
            <a:ext cx="485513" cy="317203"/>
            <a:chOff x="6700947" y="3542562"/>
            <a:chExt cx="920928" cy="601675"/>
          </a:xfrm>
        </p:grpSpPr>
        <p:pic>
          <p:nvPicPr>
            <p:cNvPr id="944" name="Google Shape;944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76"/>
          <p:cNvGrpSpPr/>
          <p:nvPr/>
        </p:nvGrpSpPr>
        <p:grpSpPr>
          <a:xfrm>
            <a:off x="4026645" y="1842792"/>
            <a:ext cx="485513" cy="317203"/>
            <a:chOff x="6700947" y="3542562"/>
            <a:chExt cx="920928" cy="601675"/>
          </a:xfrm>
        </p:grpSpPr>
        <p:pic>
          <p:nvPicPr>
            <p:cNvPr id="947" name="Google Shape;947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9" name="Google Shape;949;p76"/>
          <p:cNvGrpSpPr/>
          <p:nvPr/>
        </p:nvGrpSpPr>
        <p:grpSpPr>
          <a:xfrm>
            <a:off x="2887195" y="2320067"/>
            <a:ext cx="485513" cy="317203"/>
            <a:chOff x="6700947" y="3542562"/>
            <a:chExt cx="920928" cy="601675"/>
          </a:xfrm>
        </p:grpSpPr>
        <p:pic>
          <p:nvPicPr>
            <p:cNvPr id="950" name="Google Shape;950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76"/>
          <p:cNvGrpSpPr/>
          <p:nvPr/>
        </p:nvGrpSpPr>
        <p:grpSpPr>
          <a:xfrm>
            <a:off x="3456920" y="2320067"/>
            <a:ext cx="485513" cy="317203"/>
            <a:chOff x="6700947" y="3542562"/>
            <a:chExt cx="920928" cy="601675"/>
          </a:xfrm>
        </p:grpSpPr>
        <p:pic>
          <p:nvPicPr>
            <p:cNvPr id="953" name="Google Shape;953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5" name="Google Shape;955;p76"/>
          <p:cNvGrpSpPr/>
          <p:nvPr/>
        </p:nvGrpSpPr>
        <p:grpSpPr>
          <a:xfrm>
            <a:off x="4023845" y="2320067"/>
            <a:ext cx="485513" cy="317203"/>
            <a:chOff x="6700947" y="3542562"/>
            <a:chExt cx="920928" cy="601675"/>
          </a:xfrm>
        </p:grpSpPr>
        <p:pic>
          <p:nvPicPr>
            <p:cNvPr id="956" name="Google Shape;956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8" name="Google Shape;958;p76"/>
          <p:cNvGrpSpPr/>
          <p:nvPr/>
        </p:nvGrpSpPr>
        <p:grpSpPr>
          <a:xfrm>
            <a:off x="2887195" y="2762717"/>
            <a:ext cx="485513" cy="317203"/>
            <a:chOff x="6700947" y="3542562"/>
            <a:chExt cx="920928" cy="601675"/>
          </a:xfrm>
        </p:grpSpPr>
        <p:pic>
          <p:nvPicPr>
            <p:cNvPr id="959" name="Google Shape;959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0" name="Google Shape;960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1" name="Google Shape;961;p76"/>
          <p:cNvGrpSpPr/>
          <p:nvPr/>
        </p:nvGrpSpPr>
        <p:grpSpPr>
          <a:xfrm>
            <a:off x="2887195" y="3222680"/>
            <a:ext cx="485513" cy="317203"/>
            <a:chOff x="6700947" y="3542562"/>
            <a:chExt cx="920928" cy="601675"/>
          </a:xfrm>
        </p:grpSpPr>
        <p:pic>
          <p:nvPicPr>
            <p:cNvPr id="962" name="Google Shape;962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4" name="Google Shape;964;p76"/>
          <p:cNvGrpSpPr/>
          <p:nvPr/>
        </p:nvGrpSpPr>
        <p:grpSpPr>
          <a:xfrm>
            <a:off x="3456920" y="3222680"/>
            <a:ext cx="485513" cy="317203"/>
            <a:chOff x="6700947" y="3542562"/>
            <a:chExt cx="920928" cy="601675"/>
          </a:xfrm>
        </p:grpSpPr>
        <p:pic>
          <p:nvPicPr>
            <p:cNvPr id="965" name="Google Shape;965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7" name="Google Shape;967;p76"/>
          <p:cNvGrpSpPr/>
          <p:nvPr/>
        </p:nvGrpSpPr>
        <p:grpSpPr>
          <a:xfrm>
            <a:off x="3456920" y="2771380"/>
            <a:ext cx="485513" cy="317203"/>
            <a:chOff x="6700947" y="3542562"/>
            <a:chExt cx="920928" cy="601675"/>
          </a:xfrm>
        </p:grpSpPr>
        <p:pic>
          <p:nvPicPr>
            <p:cNvPr id="968" name="Google Shape;96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00947" y="3542562"/>
              <a:ext cx="920928" cy="601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76"/>
            <p:cNvSpPr txBox="1"/>
            <p:nvPr/>
          </p:nvSpPr>
          <p:spPr>
            <a:xfrm>
              <a:off x="6784225" y="3609600"/>
              <a:ext cx="7479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0" name="Google Shape;970;p76"/>
          <p:cNvSpPr/>
          <p:nvPr/>
        </p:nvSpPr>
        <p:spPr>
          <a:xfrm>
            <a:off x="3707098" y="2754325"/>
            <a:ext cx="263100" cy="37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7"/>
          <p:cNvSpPr txBox="1"/>
          <p:nvPr>
            <p:ph idx="1" type="body"/>
          </p:nvPr>
        </p:nvSpPr>
        <p:spPr>
          <a:xfrm>
            <a:off x="324000" y="759300"/>
            <a:ext cx="82377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pictogram is going to be constructed for the total rainfall in four places around the UK in Apr 2010. </a:t>
            </a:r>
            <a:endParaRPr sz="1800"/>
          </a:p>
        </p:txBody>
      </p:sp>
      <p:sp>
        <p:nvSpPr>
          <p:cNvPr id="976" name="Google Shape;97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pic>
        <p:nvPicPr>
          <p:cNvPr id="977" name="Google Shape;97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3390" y="253498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400" y="2491387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47862" y="2528375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77"/>
          <p:cNvSpPr txBox="1"/>
          <p:nvPr/>
        </p:nvSpPr>
        <p:spPr>
          <a:xfrm>
            <a:off x="1094375" y="1435800"/>
            <a:ext cx="1541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would use an umbrella icon.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 txBox="1"/>
          <p:nvPr/>
        </p:nvSpPr>
        <p:spPr>
          <a:xfrm>
            <a:off x="3304025" y="1482825"/>
            <a:ext cx="1541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would use a welly boot.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7"/>
          <p:cNvSpPr txBox="1"/>
          <p:nvPr/>
        </p:nvSpPr>
        <p:spPr>
          <a:xfrm>
            <a:off x="6374800" y="1482825"/>
            <a:ext cx="183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would use rain droplets.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3" name="Google Shape;983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3001" y="2451600"/>
            <a:ext cx="846187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09775" y="2562389"/>
            <a:ext cx="611850" cy="8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45301" y="2414538"/>
            <a:ext cx="475678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7"/>
          <p:cNvSpPr txBox="1"/>
          <p:nvPr/>
        </p:nvSpPr>
        <p:spPr>
          <a:xfrm>
            <a:off x="358675" y="3596550"/>
            <a:ext cx="693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of these choices would be representative of the data.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one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better than the others?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7"/>
          <p:cNvSpPr txBox="1"/>
          <p:nvPr/>
        </p:nvSpPr>
        <p:spPr>
          <a:xfrm>
            <a:off x="3907175" y="3842850"/>
            <a:ext cx="483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boot would be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difficult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divide up.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88" name="Google Shape;988;p77"/>
          <p:cNvPicPr preferRelativeResize="0"/>
          <p:nvPr/>
        </p:nvPicPr>
        <p:blipFill rotWithShape="1">
          <a:blip r:embed="rId9">
            <a:alphaModFix/>
          </a:blip>
          <a:srcRect b="0" l="0" r="69082" t="56280"/>
          <a:stretch/>
        </p:blipFill>
        <p:spPr>
          <a:xfrm flipH="1">
            <a:off x="931948" y="1332600"/>
            <a:ext cx="1955251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77"/>
          <p:cNvPicPr preferRelativeResize="0"/>
          <p:nvPr/>
        </p:nvPicPr>
        <p:blipFill rotWithShape="1">
          <a:blip r:embed="rId9">
            <a:alphaModFix/>
          </a:blip>
          <a:srcRect b="0" l="0" r="69082" t="56280"/>
          <a:stretch/>
        </p:blipFill>
        <p:spPr>
          <a:xfrm>
            <a:off x="3138073" y="1391400"/>
            <a:ext cx="1955251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77"/>
          <p:cNvPicPr preferRelativeResize="0"/>
          <p:nvPr/>
        </p:nvPicPr>
        <p:blipFill rotWithShape="1">
          <a:blip r:embed="rId9">
            <a:alphaModFix/>
          </a:blip>
          <a:srcRect b="0" l="0" r="69082" t="56280"/>
          <a:stretch/>
        </p:blipFill>
        <p:spPr>
          <a:xfrm>
            <a:off x="6256798" y="12732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77"/>
          <p:cNvSpPr txBox="1"/>
          <p:nvPr/>
        </p:nvSpPr>
        <p:spPr>
          <a:xfrm>
            <a:off x="433400" y="4170775"/>
            <a:ext cx="596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umbrella would struggle to fit most data.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2" name="Google Shape;992;p77"/>
          <p:cNvSpPr txBox="1"/>
          <p:nvPr/>
        </p:nvSpPr>
        <p:spPr>
          <a:xfrm>
            <a:off x="425607" y="4470400"/>
            <a:ext cx="596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rain droplet can be grouped and fit more data.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812809" y="31168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 txBox="1"/>
          <p:nvPr/>
        </p:nvSpPr>
        <p:spPr>
          <a:xfrm>
            <a:off x="3809784" y="3146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7"/>
          <p:cNvSpPr txBox="1"/>
          <p:nvPr/>
        </p:nvSpPr>
        <p:spPr>
          <a:xfrm>
            <a:off x="6681709" y="30106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8"/>
          <p:cNvSpPr txBox="1"/>
          <p:nvPr>
            <p:ph idx="1" type="body"/>
          </p:nvPr>
        </p:nvSpPr>
        <p:spPr>
          <a:xfrm>
            <a:off x="324000" y="759300"/>
            <a:ext cx="82377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Pictograms are a very visual representation of data.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001" name="Google Shape;100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graphicFrame>
        <p:nvGraphicFramePr>
          <p:cNvPr id="1002" name="Google Shape;1002;p78"/>
          <p:cNvGraphicFramePr/>
          <p:nvPr/>
        </p:nvGraphicFramePr>
        <p:xfrm>
          <a:off x="1147075" y="13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1704325"/>
                <a:gridCol w="41418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amount of rainfall (nearest mm) in April 2010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Armagh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Camborne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Lowestoft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1003" name="Google Shape;1003;p78"/>
          <p:cNvGrpSpPr/>
          <p:nvPr/>
        </p:nvGrpSpPr>
        <p:grpSpPr>
          <a:xfrm>
            <a:off x="2920931" y="1884091"/>
            <a:ext cx="228006" cy="314306"/>
            <a:chOff x="2690400" y="3820352"/>
            <a:chExt cx="457200" cy="630250"/>
          </a:xfrm>
        </p:grpSpPr>
        <p:sp>
          <p:nvSpPr>
            <p:cNvPr id="1004" name="Google Shape;1004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7" name="Google Shape;1007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78"/>
          <p:cNvGrpSpPr/>
          <p:nvPr/>
        </p:nvGrpSpPr>
        <p:grpSpPr>
          <a:xfrm>
            <a:off x="3255606" y="1884091"/>
            <a:ext cx="228006" cy="314306"/>
            <a:chOff x="2690400" y="3820352"/>
            <a:chExt cx="457200" cy="630250"/>
          </a:xfrm>
        </p:grpSpPr>
        <p:sp>
          <p:nvSpPr>
            <p:cNvPr id="1011" name="Google Shape;1011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4" name="Google Shape;1014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78"/>
          <p:cNvGrpSpPr/>
          <p:nvPr/>
        </p:nvGrpSpPr>
        <p:grpSpPr>
          <a:xfrm>
            <a:off x="3590281" y="1884091"/>
            <a:ext cx="228006" cy="314306"/>
            <a:chOff x="2690400" y="3820352"/>
            <a:chExt cx="457200" cy="630250"/>
          </a:xfrm>
        </p:grpSpPr>
        <p:sp>
          <p:nvSpPr>
            <p:cNvPr id="1018" name="Google Shape;1018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0" name="Google Shape;1020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2" name="Google Shape;1022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4" name="Google Shape;1024;p78"/>
          <p:cNvGrpSpPr/>
          <p:nvPr/>
        </p:nvGrpSpPr>
        <p:grpSpPr>
          <a:xfrm>
            <a:off x="3924956" y="1884091"/>
            <a:ext cx="228006" cy="314306"/>
            <a:chOff x="2690400" y="3820352"/>
            <a:chExt cx="457200" cy="630250"/>
          </a:xfrm>
        </p:grpSpPr>
        <p:sp>
          <p:nvSpPr>
            <p:cNvPr id="1025" name="Google Shape;1025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6" name="Google Shape;1026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7" name="Google Shape;1027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8" name="Google Shape;1028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1" name="Google Shape;1031;p78"/>
          <p:cNvGrpSpPr/>
          <p:nvPr/>
        </p:nvGrpSpPr>
        <p:grpSpPr>
          <a:xfrm>
            <a:off x="4259631" y="1884091"/>
            <a:ext cx="228006" cy="314306"/>
            <a:chOff x="2690400" y="3820352"/>
            <a:chExt cx="457200" cy="630250"/>
          </a:xfrm>
        </p:grpSpPr>
        <p:sp>
          <p:nvSpPr>
            <p:cNvPr id="1032" name="Google Shape;1032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6" name="Google Shape;1036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8" name="Google Shape;1038;p78"/>
          <p:cNvSpPr/>
          <p:nvPr/>
        </p:nvSpPr>
        <p:spPr>
          <a:xfrm rot="-2971936">
            <a:off x="4608607" y="1961536"/>
            <a:ext cx="69798" cy="69603"/>
          </a:xfrm>
          <a:prstGeom prst="teardrop">
            <a:avLst>
              <a:gd fmla="val 200000" name="adj"/>
            </a:avLst>
          </a:prstGeom>
          <a:solidFill>
            <a:srgbClr val="3C78D8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8"/>
          <p:cNvSpPr/>
          <p:nvPr/>
        </p:nvSpPr>
        <p:spPr>
          <a:xfrm rot="-2971936">
            <a:off x="4673339" y="1898351"/>
            <a:ext cx="69798" cy="69603"/>
          </a:xfrm>
          <a:prstGeom prst="teardrop">
            <a:avLst>
              <a:gd fmla="val 200000" name="adj"/>
            </a:avLst>
          </a:prstGeom>
          <a:solidFill>
            <a:srgbClr val="3C78D8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8"/>
          <p:cNvSpPr/>
          <p:nvPr/>
        </p:nvSpPr>
        <p:spPr>
          <a:xfrm rot="-2971936">
            <a:off x="4673339" y="2059680"/>
            <a:ext cx="69798" cy="69603"/>
          </a:xfrm>
          <a:prstGeom prst="teardrop">
            <a:avLst>
              <a:gd fmla="val 200000" name="adj"/>
            </a:avLst>
          </a:prstGeom>
          <a:solidFill>
            <a:srgbClr val="3C78D8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8"/>
          <p:cNvSpPr/>
          <p:nvPr/>
        </p:nvSpPr>
        <p:spPr>
          <a:xfrm rot="-2971936">
            <a:off x="4608607" y="2114512"/>
            <a:ext cx="69798" cy="69603"/>
          </a:xfrm>
          <a:prstGeom prst="teardrop">
            <a:avLst>
              <a:gd fmla="val 200000" name="adj"/>
            </a:avLst>
          </a:prstGeom>
          <a:solidFill>
            <a:srgbClr val="3C78D8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2" name="Google Shape;1042;p78"/>
          <p:cNvGrpSpPr/>
          <p:nvPr/>
        </p:nvGrpSpPr>
        <p:grpSpPr>
          <a:xfrm>
            <a:off x="2920931" y="2321521"/>
            <a:ext cx="228006" cy="314306"/>
            <a:chOff x="2690400" y="3820352"/>
            <a:chExt cx="457200" cy="630250"/>
          </a:xfrm>
        </p:grpSpPr>
        <p:sp>
          <p:nvSpPr>
            <p:cNvPr id="1043" name="Google Shape;1043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78"/>
          <p:cNvGrpSpPr/>
          <p:nvPr/>
        </p:nvGrpSpPr>
        <p:grpSpPr>
          <a:xfrm>
            <a:off x="3255606" y="2321521"/>
            <a:ext cx="228006" cy="314306"/>
            <a:chOff x="2690400" y="3820352"/>
            <a:chExt cx="457200" cy="630250"/>
          </a:xfrm>
        </p:grpSpPr>
        <p:sp>
          <p:nvSpPr>
            <p:cNvPr id="1050" name="Google Shape;1050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6" name="Google Shape;1056;p78"/>
          <p:cNvGrpSpPr/>
          <p:nvPr/>
        </p:nvGrpSpPr>
        <p:grpSpPr>
          <a:xfrm>
            <a:off x="3590281" y="2321521"/>
            <a:ext cx="228006" cy="314306"/>
            <a:chOff x="2690400" y="3820352"/>
            <a:chExt cx="457200" cy="630250"/>
          </a:xfrm>
        </p:grpSpPr>
        <p:sp>
          <p:nvSpPr>
            <p:cNvPr id="1057" name="Google Shape;1057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3" name="Google Shape;1063;p78"/>
          <p:cNvGrpSpPr/>
          <p:nvPr/>
        </p:nvGrpSpPr>
        <p:grpSpPr>
          <a:xfrm>
            <a:off x="3924956" y="2321521"/>
            <a:ext cx="228006" cy="314306"/>
            <a:chOff x="2690400" y="3820352"/>
            <a:chExt cx="457200" cy="630250"/>
          </a:xfrm>
        </p:grpSpPr>
        <p:sp>
          <p:nvSpPr>
            <p:cNvPr id="1064" name="Google Shape;1064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0" name="Google Shape;1070;p78"/>
          <p:cNvGrpSpPr/>
          <p:nvPr/>
        </p:nvGrpSpPr>
        <p:grpSpPr>
          <a:xfrm>
            <a:off x="4259631" y="2321521"/>
            <a:ext cx="228006" cy="314306"/>
            <a:chOff x="2690400" y="3820352"/>
            <a:chExt cx="457200" cy="630250"/>
          </a:xfrm>
        </p:grpSpPr>
        <p:sp>
          <p:nvSpPr>
            <p:cNvPr id="1071" name="Google Shape;1071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5" name="Google Shape;1075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7" name="Google Shape;1077;p78"/>
          <p:cNvGrpSpPr/>
          <p:nvPr/>
        </p:nvGrpSpPr>
        <p:grpSpPr>
          <a:xfrm>
            <a:off x="4571262" y="2321521"/>
            <a:ext cx="228006" cy="314306"/>
            <a:chOff x="2690400" y="3820352"/>
            <a:chExt cx="457200" cy="630250"/>
          </a:xfrm>
        </p:grpSpPr>
        <p:sp>
          <p:nvSpPr>
            <p:cNvPr id="1078" name="Google Shape;1078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78"/>
          <p:cNvGrpSpPr/>
          <p:nvPr/>
        </p:nvGrpSpPr>
        <p:grpSpPr>
          <a:xfrm>
            <a:off x="2920931" y="2797346"/>
            <a:ext cx="228006" cy="314306"/>
            <a:chOff x="2690400" y="3820352"/>
            <a:chExt cx="457200" cy="630250"/>
          </a:xfrm>
        </p:grpSpPr>
        <p:sp>
          <p:nvSpPr>
            <p:cNvPr id="1085" name="Google Shape;1085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9" name="Google Shape;1089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78"/>
          <p:cNvGrpSpPr/>
          <p:nvPr/>
        </p:nvGrpSpPr>
        <p:grpSpPr>
          <a:xfrm>
            <a:off x="3255606" y="2797346"/>
            <a:ext cx="228006" cy="314306"/>
            <a:chOff x="2690400" y="3820352"/>
            <a:chExt cx="457200" cy="630250"/>
          </a:xfrm>
        </p:grpSpPr>
        <p:sp>
          <p:nvSpPr>
            <p:cNvPr id="1092" name="Google Shape;1092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8" name="Google Shape;1098;p78"/>
          <p:cNvGrpSpPr/>
          <p:nvPr/>
        </p:nvGrpSpPr>
        <p:grpSpPr>
          <a:xfrm>
            <a:off x="3590281" y="2797346"/>
            <a:ext cx="228006" cy="314306"/>
            <a:chOff x="2690400" y="3820352"/>
            <a:chExt cx="457200" cy="630250"/>
          </a:xfrm>
        </p:grpSpPr>
        <p:sp>
          <p:nvSpPr>
            <p:cNvPr id="1099" name="Google Shape;1099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1" name="Google Shape;1101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5" name="Google Shape;1105;p78"/>
          <p:cNvGrpSpPr/>
          <p:nvPr/>
        </p:nvGrpSpPr>
        <p:grpSpPr>
          <a:xfrm>
            <a:off x="3924956" y="2797346"/>
            <a:ext cx="228006" cy="314306"/>
            <a:chOff x="2690400" y="3820352"/>
            <a:chExt cx="457200" cy="630250"/>
          </a:xfrm>
        </p:grpSpPr>
        <p:sp>
          <p:nvSpPr>
            <p:cNvPr id="1106" name="Google Shape;1106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2" name="Google Shape;1112;p78"/>
          <p:cNvGrpSpPr/>
          <p:nvPr/>
        </p:nvGrpSpPr>
        <p:grpSpPr>
          <a:xfrm>
            <a:off x="4259631" y="2797346"/>
            <a:ext cx="228006" cy="314306"/>
            <a:chOff x="2690400" y="3820352"/>
            <a:chExt cx="457200" cy="630250"/>
          </a:xfrm>
        </p:grpSpPr>
        <p:sp>
          <p:nvSpPr>
            <p:cNvPr id="1113" name="Google Shape;1113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78"/>
          <p:cNvGrpSpPr/>
          <p:nvPr/>
        </p:nvGrpSpPr>
        <p:grpSpPr>
          <a:xfrm>
            <a:off x="4571262" y="2797346"/>
            <a:ext cx="228006" cy="314306"/>
            <a:chOff x="2690400" y="3820352"/>
            <a:chExt cx="457200" cy="630250"/>
          </a:xfrm>
        </p:grpSpPr>
        <p:sp>
          <p:nvSpPr>
            <p:cNvPr id="1120" name="Google Shape;1120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6" name="Google Shape;1126;p78"/>
          <p:cNvGrpSpPr/>
          <p:nvPr/>
        </p:nvGrpSpPr>
        <p:grpSpPr>
          <a:xfrm>
            <a:off x="4882906" y="2797346"/>
            <a:ext cx="228006" cy="314306"/>
            <a:chOff x="2690400" y="3820352"/>
            <a:chExt cx="457200" cy="630250"/>
          </a:xfrm>
        </p:grpSpPr>
        <p:sp>
          <p:nvSpPr>
            <p:cNvPr id="1127" name="Google Shape;1127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78"/>
          <p:cNvGrpSpPr/>
          <p:nvPr/>
        </p:nvGrpSpPr>
        <p:grpSpPr>
          <a:xfrm>
            <a:off x="5217581" y="2797346"/>
            <a:ext cx="228006" cy="314306"/>
            <a:chOff x="2690400" y="3820352"/>
            <a:chExt cx="457200" cy="630250"/>
          </a:xfrm>
        </p:grpSpPr>
        <p:sp>
          <p:nvSpPr>
            <p:cNvPr id="1134" name="Google Shape;1134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0" name="Google Shape;1140;p78"/>
          <p:cNvGrpSpPr/>
          <p:nvPr/>
        </p:nvGrpSpPr>
        <p:grpSpPr>
          <a:xfrm>
            <a:off x="5552256" y="2797346"/>
            <a:ext cx="228006" cy="314306"/>
            <a:chOff x="2690400" y="3820352"/>
            <a:chExt cx="457200" cy="630250"/>
          </a:xfrm>
        </p:grpSpPr>
        <p:sp>
          <p:nvSpPr>
            <p:cNvPr id="1141" name="Google Shape;1141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4" name="Google Shape;1144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5" name="Google Shape;1145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7" name="Google Shape;1147;p78"/>
          <p:cNvGrpSpPr/>
          <p:nvPr/>
        </p:nvGrpSpPr>
        <p:grpSpPr>
          <a:xfrm>
            <a:off x="5886931" y="2797346"/>
            <a:ext cx="228006" cy="314306"/>
            <a:chOff x="2690400" y="3820352"/>
            <a:chExt cx="457200" cy="630250"/>
          </a:xfrm>
        </p:grpSpPr>
        <p:sp>
          <p:nvSpPr>
            <p:cNvPr id="1148" name="Google Shape;1148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9" name="Google Shape;1149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78"/>
          <p:cNvGrpSpPr/>
          <p:nvPr/>
        </p:nvGrpSpPr>
        <p:grpSpPr>
          <a:xfrm>
            <a:off x="6221606" y="2797346"/>
            <a:ext cx="228006" cy="314306"/>
            <a:chOff x="2690400" y="3820352"/>
            <a:chExt cx="457200" cy="630250"/>
          </a:xfrm>
        </p:grpSpPr>
        <p:sp>
          <p:nvSpPr>
            <p:cNvPr id="1155" name="Google Shape;1155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1" name="Google Shape;1161;p78"/>
          <p:cNvGrpSpPr/>
          <p:nvPr/>
        </p:nvGrpSpPr>
        <p:grpSpPr>
          <a:xfrm>
            <a:off x="6533237" y="2797346"/>
            <a:ext cx="228006" cy="314306"/>
            <a:chOff x="2690400" y="3820352"/>
            <a:chExt cx="457200" cy="630250"/>
          </a:xfrm>
        </p:grpSpPr>
        <p:sp>
          <p:nvSpPr>
            <p:cNvPr id="1162" name="Google Shape;1162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78"/>
          <p:cNvGrpSpPr/>
          <p:nvPr/>
        </p:nvGrpSpPr>
        <p:grpSpPr>
          <a:xfrm>
            <a:off x="2920931" y="3239996"/>
            <a:ext cx="228006" cy="314306"/>
            <a:chOff x="2690400" y="3820352"/>
            <a:chExt cx="457200" cy="630250"/>
          </a:xfrm>
        </p:grpSpPr>
        <p:sp>
          <p:nvSpPr>
            <p:cNvPr id="1169" name="Google Shape;1169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78"/>
          <p:cNvGrpSpPr/>
          <p:nvPr/>
        </p:nvGrpSpPr>
        <p:grpSpPr>
          <a:xfrm>
            <a:off x="3255606" y="3239996"/>
            <a:ext cx="228006" cy="314306"/>
            <a:chOff x="2690400" y="3820352"/>
            <a:chExt cx="457200" cy="630250"/>
          </a:xfrm>
        </p:grpSpPr>
        <p:sp>
          <p:nvSpPr>
            <p:cNvPr id="1176" name="Google Shape;1176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2" name="Google Shape;1182;p78"/>
          <p:cNvGrpSpPr/>
          <p:nvPr/>
        </p:nvGrpSpPr>
        <p:grpSpPr>
          <a:xfrm>
            <a:off x="3590281" y="3239996"/>
            <a:ext cx="228006" cy="314306"/>
            <a:chOff x="2690400" y="3820352"/>
            <a:chExt cx="457200" cy="630250"/>
          </a:xfrm>
        </p:grpSpPr>
        <p:sp>
          <p:nvSpPr>
            <p:cNvPr id="1183" name="Google Shape;1183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9" name="Google Shape;1189;p78"/>
          <p:cNvSpPr/>
          <p:nvPr/>
        </p:nvSpPr>
        <p:spPr>
          <a:xfrm rot="-2971936">
            <a:off x="3922807" y="3294729"/>
            <a:ext cx="69798" cy="69603"/>
          </a:xfrm>
          <a:prstGeom prst="teardrop">
            <a:avLst>
              <a:gd fmla="val 200000" name="adj"/>
            </a:avLst>
          </a:prstGeom>
          <a:solidFill>
            <a:srgbClr val="3C78D8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0" name="Google Shape;1190;p78"/>
          <p:cNvGrpSpPr/>
          <p:nvPr/>
        </p:nvGrpSpPr>
        <p:grpSpPr>
          <a:xfrm>
            <a:off x="2097781" y="3779996"/>
            <a:ext cx="228006" cy="314306"/>
            <a:chOff x="2690400" y="3820352"/>
            <a:chExt cx="457200" cy="630250"/>
          </a:xfrm>
        </p:grpSpPr>
        <p:sp>
          <p:nvSpPr>
            <p:cNvPr id="1191" name="Google Shape;1191;p78"/>
            <p:cNvSpPr/>
            <p:nvPr/>
          </p:nvSpPr>
          <p:spPr>
            <a:xfrm rot="-2976723">
              <a:off x="2718888" y="39757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78"/>
            <p:cNvSpPr/>
            <p:nvPr/>
          </p:nvSpPr>
          <p:spPr>
            <a:xfrm rot="-2976723">
              <a:off x="2848688" y="38490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78"/>
            <p:cNvSpPr/>
            <p:nvPr/>
          </p:nvSpPr>
          <p:spPr>
            <a:xfrm rot="-2976723">
              <a:off x="2979288" y="39899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78"/>
            <p:cNvSpPr/>
            <p:nvPr/>
          </p:nvSpPr>
          <p:spPr>
            <a:xfrm rot="-2976723">
              <a:off x="2848688" y="417255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78"/>
            <p:cNvSpPr/>
            <p:nvPr/>
          </p:nvSpPr>
          <p:spPr>
            <a:xfrm rot="-2976723">
              <a:off x="29792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78"/>
            <p:cNvSpPr/>
            <p:nvPr/>
          </p:nvSpPr>
          <p:spPr>
            <a:xfrm rot="-2976723">
              <a:off x="2718888" y="4282501"/>
              <a:ext cx="139823" cy="139401"/>
            </a:xfrm>
            <a:prstGeom prst="teardrop">
              <a:avLst>
                <a:gd fmla="val 200000" name="adj"/>
              </a:avLst>
            </a:prstGeom>
            <a:solidFill>
              <a:srgbClr val="3C78D8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7" name="Google Shape;1197;p78"/>
          <p:cNvSpPr txBox="1"/>
          <p:nvPr/>
        </p:nvSpPr>
        <p:spPr>
          <a:xfrm>
            <a:off x="1490200" y="3682650"/>
            <a:ext cx="52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= 6 mm of rain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8"/>
          <p:cNvSpPr txBox="1"/>
          <p:nvPr/>
        </p:nvSpPr>
        <p:spPr>
          <a:xfrm>
            <a:off x="379350" y="4205450"/>
            <a:ext cx="812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 sometimes it can be hard to find a good icon and value to fit the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79"/>
          <p:cNvSpPr txBox="1"/>
          <p:nvPr>
            <p:ph idx="4294967295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 following sets of data could most easily be shown as a pictogram?</a:t>
            </a:r>
            <a:endParaRPr/>
          </a:p>
        </p:txBody>
      </p:sp>
      <p:sp>
        <p:nvSpPr>
          <p:cNvPr id="1204" name="Google Shape;1204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graphicFrame>
        <p:nvGraphicFramePr>
          <p:cNvPr id="1205" name="Google Shape;1205;p79"/>
          <p:cNvGraphicFramePr/>
          <p:nvPr/>
        </p:nvGraphicFramePr>
        <p:xfrm>
          <a:off x="593825" y="18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981000"/>
                <a:gridCol w="1499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06" name="Google Shape;1206;p79"/>
          <p:cNvGraphicFramePr/>
          <p:nvPr/>
        </p:nvGraphicFramePr>
        <p:xfrm>
          <a:off x="3516400" y="18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981000"/>
                <a:gridCol w="1499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07" name="Google Shape;1207;p79"/>
          <p:cNvGraphicFramePr/>
          <p:nvPr/>
        </p:nvGraphicFramePr>
        <p:xfrm>
          <a:off x="6393175" y="18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{AD0A68AB-1736-4CE8-94D3-24045C330DE6}</a:tableStyleId>
              </a:tblPr>
              <a:tblGrid>
                <a:gridCol w="981000"/>
                <a:gridCol w="1499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08" name="Google Shape;120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033" y="41550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79"/>
          <p:cNvSpPr txBox="1"/>
          <p:nvPr/>
        </p:nvSpPr>
        <p:spPr>
          <a:xfrm>
            <a:off x="2887200" y="3695575"/>
            <a:ext cx="475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large but all multiples of 10.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8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Simple representative icons </a:t>
            </a:r>
            <a:endParaRPr/>
          </a:p>
        </p:txBody>
      </p:sp>
      <p:sp>
        <p:nvSpPr>
          <p:cNvPr id="1215" name="Google Shape;1215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1216" name="Google Shape;1216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characteristics of a good pictogram? </a:t>
            </a:r>
            <a:br>
              <a:rPr lang="en-GB"/>
            </a:br>
            <a:r>
              <a:rPr lang="en-GB"/>
              <a:t>Choose all that apply.</a:t>
            </a:r>
            <a:endParaRPr/>
          </a:p>
        </p:txBody>
      </p:sp>
      <p:sp>
        <p:nvSpPr>
          <p:cNvPr id="1217" name="Google Shape;1217;p8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Uneven spacing between icons</a:t>
            </a:r>
            <a:endParaRPr/>
          </a:p>
        </p:txBody>
      </p:sp>
      <p:sp>
        <p:nvSpPr>
          <p:cNvPr id="1218" name="Google Shape;1218;p8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Key with the value of the icon</a:t>
            </a:r>
            <a:endParaRPr/>
          </a:p>
        </p:txBody>
      </p:sp>
      <p:pic>
        <p:nvPicPr>
          <p:cNvPr id="1219" name="Google Shape;121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033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233" y="3751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Complete the statements regarding the pictogram.</a:t>
            </a:r>
            <a:endParaRPr sz="2000"/>
          </a:p>
        </p:txBody>
      </p:sp>
      <p:sp>
        <p:nvSpPr>
          <p:cNvPr id="1226" name="Google Shape;1226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1227" name="Google Shape;1227;p81"/>
          <p:cNvSpPr txBox="1"/>
          <p:nvPr/>
        </p:nvSpPr>
        <p:spPr>
          <a:xfrm>
            <a:off x="4447200" y="1250550"/>
            <a:ext cx="43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Most people play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1"/>
          <p:cNvSpPr txBox="1"/>
          <p:nvPr/>
        </p:nvSpPr>
        <p:spPr>
          <a:xfrm>
            <a:off x="4447200" y="2038975"/>
            <a:ext cx="43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is the least played sport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1"/>
          <p:cNvSpPr txBox="1"/>
          <p:nvPr/>
        </p:nvSpPr>
        <p:spPr>
          <a:xfrm>
            <a:off x="4447200" y="2827400"/>
            <a:ext cx="437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Twice as many people play hockey as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81"/>
          <p:cNvSpPr txBox="1"/>
          <p:nvPr/>
        </p:nvSpPr>
        <p:spPr>
          <a:xfrm>
            <a:off x="4447200" y="3712400"/>
            <a:ext cx="437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4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number of people play football as                     and            combined.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1" name="Google Shape;1231;p81"/>
          <p:cNvCxnSpPr/>
          <p:nvPr/>
        </p:nvCxnSpPr>
        <p:spPr>
          <a:xfrm>
            <a:off x="7051325" y="1564425"/>
            <a:ext cx="141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81"/>
          <p:cNvCxnSpPr/>
          <p:nvPr/>
        </p:nvCxnSpPr>
        <p:spPr>
          <a:xfrm>
            <a:off x="4891425" y="2383625"/>
            <a:ext cx="1038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81"/>
          <p:cNvCxnSpPr/>
          <p:nvPr/>
        </p:nvCxnSpPr>
        <p:spPr>
          <a:xfrm>
            <a:off x="6196125" y="3410975"/>
            <a:ext cx="141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81"/>
          <p:cNvCxnSpPr/>
          <p:nvPr/>
        </p:nvCxnSpPr>
        <p:spPr>
          <a:xfrm>
            <a:off x="6348525" y="4320000"/>
            <a:ext cx="113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81"/>
          <p:cNvCxnSpPr/>
          <p:nvPr/>
        </p:nvCxnSpPr>
        <p:spPr>
          <a:xfrm>
            <a:off x="7997125" y="4320000"/>
            <a:ext cx="77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81"/>
          <p:cNvSpPr txBox="1"/>
          <p:nvPr/>
        </p:nvSpPr>
        <p:spPr>
          <a:xfrm>
            <a:off x="488175" y="1541300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1"/>
          <p:cNvSpPr txBox="1"/>
          <p:nvPr/>
        </p:nvSpPr>
        <p:spPr>
          <a:xfrm>
            <a:off x="541600" y="16216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Cricket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1"/>
          <p:cNvSpPr txBox="1"/>
          <p:nvPr/>
        </p:nvSpPr>
        <p:spPr>
          <a:xfrm>
            <a:off x="846400" y="2078825"/>
            <a:ext cx="68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Golf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1"/>
          <p:cNvSpPr txBox="1"/>
          <p:nvPr/>
        </p:nvSpPr>
        <p:spPr>
          <a:xfrm>
            <a:off x="594906" y="25360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Rugby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1"/>
          <p:cNvSpPr txBox="1"/>
          <p:nvPr/>
        </p:nvSpPr>
        <p:spPr>
          <a:xfrm>
            <a:off x="422981" y="2993225"/>
            <a:ext cx="11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Football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1"/>
          <p:cNvSpPr txBox="1"/>
          <p:nvPr/>
        </p:nvSpPr>
        <p:spPr>
          <a:xfrm>
            <a:off x="503443" y="34504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Hockey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0-2023/a82a4c9a-2426-4566-b4eb-7bdc5b411840&quot; data-equatio-type=&quot;image&quot;&gt;&lt;mglyph src=&quot;https://equatio-api.texthelp.com/desmos/get/06-10-2023/a82a4c9a-2426-4566-b4eb-7bdc5b411840&quot; alt=&quot;Equatio Image&quot;/&gt;&lt;/math&gt;" id="1242" name="Google Shape;1242;p8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40" y="1600930"/>
            <a:ext cx="3588903" cy="238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3" name="Google Shape;1243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16838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4" name="Google Shape;1244;p81" title="Equatio Image"/>
          <p:cNvPicPr preferRelativeResize="0"/>
          <p:nvPr/>
        </p:nvPicPr>
        <p:blipFill rotWithShape="1">
          <a:blip r:embed="rId4">
            <a:alphaModFix/>
          </a:blip>
          <a:srcRect b="0" l="0" r="48807" t="0"/>
          <a:stretch/>
        </p:blipFill>
        <p:spPr>
          <a:xfrm>
            <a:off x="1955850" y="1683875"/>
            <a:ext cx="17395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5" name="Google Shape;1245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25982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6" name="Google Shape;1246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5850" y="25982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7" name="Google Shape;1247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8" name="Google Shape;1248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375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49" name="Google Shape;1249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000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0" name="Google Shape;1250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625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1" name="Google Shape;1251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988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2" name="Google Shape;1252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613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3" name="Google Shape;1253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4" name="Google Shape;1254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375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5" name="Google Shape;1255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000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6" name="Google Shape;1256;p81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625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257" name="Google Shape;1257;p81" title="Equatio Image"/>
          <p:cNvPicPr preferRelativeResize="0"/>
          <p:nvPr/>
        </p:nvPicPr>
        <p:blipFill rotWithShape="1">
          <a:blip r:embed="rId4">
            <a:alphaModFix/>
          </a:blip>
          <a:srcRect b="0" l="0" r="48807" t="0"/>
          <a:stretch/>
        </p:blipFill>
        <p:spPr>
          <a:xfrm>
            <a:off x="1555200" y="2142000"/>
            <a:ext cx="173950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id="1262" name="Google Shape;1262;p82" title="Equatio Image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pictogram.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Jun has 6 more cogs than Izzy.</a:t>
            </a:r>
            <a:endParaRPr/>
          </a:p>
        </p:txBody>
      </p:sp>
      <p:sp>
        <p:nvSpPr>
          <p:cNvPr id="1263" name="Google Shape;1263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Pictograms</a:t>
            </a:r>
            <a:endParaRPr/>
          </a:p>
        </p:txBody>
      </p:sp>
      <p:cxnSp>
        <p:nvCxnSpPr>
          <p:cNvPr id="1264" name="Google Shape;1264;p82"/>
          <p:cNvCxnSpPr/>
          <p:nvPr/>
        </p:nvCxnSpPr>
        <p:spPr>
          <a:xfrm>
            <a:off x="1648350" y="1877300"/>
            <a:ext cx="0" cy="151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5" name="Google Shape;126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7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4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1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8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0" name="Google Shape;1270;p82"/>
          <p:cNvCxnSpPr/>
          <p:nvPr/>
        </p:nvCxnSpPr>
        <p:spPr>
          <a:xfrm>
            <a:off x="869725" y="2623800"/>
            <a:ext cx="37014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82"/>
          <p:cNvSpPr txBox="1"/>
          <p:nvPr/>
        </p:nvSpPr>
        <p:spPr>
          <a:xfrm>
            <a:off x="938663" y="2052818"/>
            <a:ext cx="6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2"/>
          <p:cNvSpPr txBox="1"/>
          <p:nvPr/>
        </p:nvSpPr>
        <p:spPr>
          <a:xfrm>
            <a:off x="938663" y="2738618"/>
            <a:ext cx="6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3" name="Google Shape;127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75" y="3741400"/>
            <a:ext cx="458100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82"/>
          <p:cNvSpPr txBox="1"/>
          <p:nvPr/>
        </p:nvSpPr>
        <p:spPr>
          <a:xfrm>
            <a:off x="1645512" y="3780000"/>
            <a:ext cx="12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3 cogs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id="1279" name="Google Shape;1279;p83" title="Equatio Image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Add the key to this pictogram.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There is a total of 280 apples.</a:t>
            </a:r>
            <a:endParaRPr/>
          </a:p>
        </p:txBody>
      </p:sp>
      <p:sp>
        <p:nvSpPr>
          <p:cNvPr id="1280" name="Google Shape;1280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Pictograms</a:t>
            </a:r>
            <a:endParaRPr/>
          </a:p>
        </p:txBody>
      </p:sp>
      <p:cxnSp>
        <p:nvCxnSpPr>
          <p:cNvPr id="1281" name="Google Shape;1281;p83"/>
          <p:cNvCxnSpPr/>
          <p:nvPr/>
        </p:nvCxnSpPr>
        <p:spPr>
          <a:xfrm flipH="1">
            <a:off x="1615412" y="1902675"/>
            <a:ext cx="2700" cy="21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83"/>
          <p:cNvCxnSpPr/>
          <p:nvPr/>
        </p:nvCxnSpPr>
        <p:spPr>
          <a:xfrm>
            <a:off x="869725" y="2623800"/>
            <a:ext cx="37014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83"/>
          <p:cNvSpPr txBox="1"/>
          <p:nvPr/>
        </p:nvSpPr>
        <p:spPr>
          <a:xfrm>
            <a:off x="557075" y="2052825"/>
            <a:ext cx="1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4" name="Google Shape;1284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1648338" y="1882350"/>
            <a:ext cx="605825" cy="7746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5" name="Google Shape;1285;p83"/>
          <p:cNvCxnSpPr/>
          <p:nvPr/>
        </p:nvCxnSpPr>
        <p:spPr>
          <a:xfrm>
            <a:off x="869725" y="3333275"/>
            <a:ext cx="37014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83"/>
          <p:cNvSpPr txBox="1"/>
          <p:nvPr/>
        </p:nvSpPr>
        <p:spPr>
          <a:xfrm>
            <a:off x="6303575" y="2052825"/>
            <a:ext cx="12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7" name="Google Shape;1287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6341713" y="2379925"/>
            <a:ext cx="605825" cy="774605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83"/>
          <p:cNvSpPr txBox="1"/>
          <p:nvPr/>
        </p:nvSpPr>
        <p:spPr>
          <a:xfrm>
            <a:off x="6813000" y="2571750"/>
            <a:ext cx="12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9" name="Google Shape;1289;p83"/>
          <p:cNvCxnSpPr/>
          <p:nvPr/>
        </p:nvCxnSpPr>
        <p:spPr>
          <a:xfrm>
            <a:off x="7150525" y="2991475"/>
            <a:ext cx="116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83"/>
          <p:cNvSpPr txBox="1"/>
          <p:nvPr/>
        </p:nvSpPr>
        <p:spPr>
          <a:xfrm>
            <a:off x="557075" y="2756088"/>
            <a:ext cx="1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3"/>
          <p:cNvSpPr txBox="1"/>
          <p:nvPr/>
        </p:nvSpPr>
        <p:spPr>
          <a:xfrm>
            <a:off x="541925" y="3465538"/>
            <a:ext cx="1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2" name="Google Shape;1292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103663" y="188235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561494" y="188235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013376" y="18963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470576" y="18963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16417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0989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5561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0133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16417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0989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5561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83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0133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83"/>
          <p:cNvPicPr preferRelativeResize="0"/>
          <p:nvPr/>
        </p:nvPicPr>
        <p:blipFill rotWithShape="1">
          <a:blip r:embed="rId3">
            <a:alphaModFix/>
          </a:blip>
          <a:srcRect b="57667" l="2212" r="82152" t="-5457"/>
          <a:stretch/>
        </p:blipFill>
        <p:spPr>
          <a:xfrm>
            <a:off x="3470569" y="3309100"/>
            <a:ext cx="306926" cy="7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83"/>
          <p:cNvPicPr preferRelativeResize="0"/>
          <p:nvPr/>
        </p:nvPicPr>
        <p:blipFill rotWithShape="1">
          <a:blip r:embed="rId3">
            <a:alphaModFix/>
          </a:blip>
          <a:srcRect b="57667" l="2212" r="82152" t="-5457"/>
          <a:stretch/>
        </p:blipFill>
        <p:spPr>
          <a:xfrm>
            <a:off x="3938894" y="1894875"/>
            <a:ext cx="306926" cy="7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84"/>
          <p:cNvSpPr txBox="1"/>
          <p:nvPr/>
        </p:nvSpPr>
        <p:spPr>
          <a:xfrm>
            <a:off x="4447200" y="3712400"/>
            <a:ext cx="437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4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number of people play football as                 and            combined.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4"/>
          <p:cNvSpPr txBox="1"/>
          <p:nvPr/>
        </p:nvSpPr>
        <p:spPr>
          <a:xfrm>
            <a:off x="7844975" y="3974000"/>
            <a:ext cx="77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rugby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2" name="Google Shape;1312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Complete the statements regarding the pictogram.</a:t>
            </a:r>
            <a:endParaRPr sz="2000"/>
          </a:p>
        </p:txBody>
      </p:sp>
      <p:sp>
        <p:nvSpPr>
          <p:cNvPr id="1313" name="Google Shape;131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1314" name="Google Shape;1314;p84"/>
          <p:cNvSpPr txBox="1"/>
          <p:nvPr/>
        </p:nvSpPr>
        <p:spPr>
          <a:xfrm>
            <a:off x="4447200" y="1250550"/>
            <a:ext cx="43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Most people play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4"/>
          <p:cNvSpPr txBox="1"/>
          <p:nvPr/>
        </p:nvSpPr>
        <p:spPr>
          <a:xfrm>
            <a:off x="4447200" y="2038975"/>
            <a:ext cx="43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is the least played sport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4"/>
          <p:cNvSpPr txBox="1"/>
          <p:nvPr/>
        </p:nvSpPr>
        <p:spPr>
          <a:xfrm>
            <a:off x="4447200" y="2827400"/>
            <a:ext cx="437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Twice as many people play hockey than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7" name="Google Shape;1317;p84"/>
          <p:cNvCxnSpPr/>
          <p:nvPr/>
        </p:nvCxnSpPr>
        <p:spPr>
          <a:xfrm>
            <a:off x="7036400" y="1579725"/>
            <a:ext cx="98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8" name="Google Shape;1318;p84"/>
          <p:cNvCxnSpPr/>
          <p:nvPr/>
        </p:nvCxnSpPr>
        <p:spPr>
          <a:xfrm>
            <a:off x="4891425" y="2383625"/>
            <a:ext cx="1038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84"/>
          <p:cNvCxnSpPr/>
          <p:nvPr/>
        </p:nvCxnSpPr>
        <p:spPr>
          <a:xfrm>
            <a:off x="6501625" y="3410975"/>
            <a:ext cx="961800" cy="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84"/>
          <p:cNvCxnSpPr/>
          <p:nvPr/>
        </p:nvCxnSpPr>
        <p:spPr>
          <a:xfrm>
            <a:off x="6196125" y="4320000"/>
            <a:ext cx="984900" cy="1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84"/>
          <p:cNvCxnSpPr/>
          <p:nvPr/>
        </p:nvCxnSpPr>
        <p:spPr>
          <a:xfrm>
            <a:off x="7844975" y="4320000"/>
            <a:ext cx="846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84"/>
          <p:cNvSpPr txBox="1"/>
          <p:nvPr/>
        </p:nvSpPr>
        <p:spPr>
          <a:xfrm>
            <a:off x="7036400" y="1250550"/>
            <a:ext cx="111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football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84"/>
          <p:cNvSpPr txBox="1"/>
          <p:nvPr/>
        </p:nvSpPr>
        <p:spPr>
          <a:xfrm>
            <a:off x="5067075" y="2023525"/>
            <a:ext cx="68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Golf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84"/>
          <p:cNvSpPr txBox="1"/>
          <p:nvPr/>
        </p:nvSpPr>
        <p:spPr>
          <a:xfrm>
            <a:off x="6547200" y="3073700"/>
            <a:ext cx="77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rugby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84"/>
          <p:cNvSpPr txBox="1"/>
          <p:nvPr/>
        </p:nvSpPr>
        <p:spPr>
          <a:xfrm>
            <a:off x="6256800" y="3974000"/>
            <a:ext cx="97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hockey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84"/>
          <p:cNvSpPr txBox="1"/>
          <p:nvPr/>
        </p:nvSpPr>
        <p:spPr>
          <a:xfrm>
            <a:off x="488175" y="1541300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4"/>
          <p:cNvSpPr txBox="1"/>
          <p:nvPr/>
        </p:nvSpPr>
        <p:spPr>
          <a:xfrm>
            <a:off x="541600" y="16216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Cricket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4"/>
          <p:cNvSpPr txBox="1"/>
          <p:nvPr/>
        </p:nvSpPr>
        <p:spPr>
          <a:xfrm>
            <a:off x="846400" y="2078825"/>
            <a:ext cx="68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Golf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4"/>
          <p:cNvSpPr txBox="1"/>
          <p:nvPr/>
        </p:nvSpPr>
        <p:spPr>
          <a:xfrm>
            <a:off x="594906" y="25360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Rugby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4"/>
          <p:cNvSpPr txBox="1"/>
          <p:nvPr/>
        </p:nvSpPr>
        <p:spPr>
          <a:xfrm>
            <a:off x="422981" y="2993225"/>
            <a:ext cx="11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Football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503443" y="3450425"/>
            <a:ext cx="10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Hockey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0-2023/a82a4c9a-2426-4566-b4eb-7bdc5b411840&quot; data-equatio-type=&quot;image&quot;&gt;&lt;mglyph src=&quot;https://equatio-api.texthelp.com/desmos/get/06-10-2023/a82a4c9a-2426-4566-b4eb-7bdc5b411840&quot; alt=&quot;Equatio Image&quot;/&gt;&lt;/math&gt;" id="1332" name="Google Shape;1332;p8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40" y="1600930"/>
            <a:ext cx="3588903" cy="238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3" name="Google Shape;1333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16838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4" name="Google Shape;1334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25982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5" name="Google Shape;1335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5850" y="25982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6" name="Google Shape;1336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7" name="Google Shape;1337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375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8" name="Google Shape;1338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000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39" name="Google Shape;1339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625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0" name="Google Shape;1340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988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1" name="Google Shape;1341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613" y="305547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2" name="Google Shape;1342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750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3" name="Google Shape;1343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375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4" name="Google Shape;1344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000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5" name="Google Shape;1345;p8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625" y="3549662"/>
            <a:ext cx="33979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6" name="Google Shape;1346;p84" title="Equatio Image"/>
          <p:cNvPicPr preferRelativeResize="0"/>
          <p:nvPr/>
        </p:nvPicPr>
        <p:blipFill rotWithShape="1">
          <a:blip r:embed="rId4">
            <a:alphaModFix/>
          </a:blip>
          <a:srcRect b="0" l="0" r="48807" t="0"/>
          <a:stretch/>
        </p:blipFill>
        <p:spPr>
          <a:xfrm>
            <a:off x="1555200" y="2142000"/>
            <a:ext cx="17395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73c45c1d-976f-4e56-baea-565c232ba056&quot; data-equatio-type=&quot;image&quot;&gt;&lt;mglyph src=&quot;https://equatio-api.texthelp.com/desmos/get/22-06-2023/73c45c1d-976f-4e56-baea-565c232ba056&quot; alt=&quot;Equatio Image&quot;/&gt;&lt;/math&gt;" id="1347" name="Google Shape;1347;p84" title="Equatio Image"/>
          <p:cNvPicPr preferRelativeResize="0"/>
          <p:nvPr/>
        </p:nvPicPr>
        <p:blipFill rotWithShape="1">
          <a:blip r:embed="rId4">
            <a:alphaModFix/>
          </a:blip>
          <a:srcRect b="0" l="0" r="48807" t="0"/>
          <a:stretch/>
        </p:blipFill>
        <p:spPr>
          <a:xfrm>
            <a:off x="1955850" y="1683875"/>
            <a:ext cx="173950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id="1352" name="Google Shape;1352;p85" title="Equatio Image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pictogram.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Jun has 6 more cogs than Izzy.</a:t>
            </a:r>
            <a:endParaRPr/>
          </a:p>
        </p:txBody>
      </p:sp>
      <p:sp>
        <p:nvSpPr>
          <p:cNvPr id="1353" name="Google Shape;135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Pictograms</a:t>
            </a:r>
            <a:endParaRPr/>
          </a:p>
        </p:txBody>
      </p:sp>
      <p:cxnSp>
        <p:nvCxnSpPr>
          <p:cNvPr id="1354" name="Google Shape;1354;p85"/>
          <p:cNvCxnSpPr/>
          <p:nvPr/>
        </p:nvCxnSpPr>
        <p:spPr>
          <a:xfrm>
            <a:off x="1648350" y="1877300"/>
            <a:ext cx="0" cy="151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55" name="Google Shape;135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7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4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1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8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0" y="1994050"/>
            <a:ext cx="458100" cy="4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0" name="Google Shape;1360;p85"/>
          <p:cNvCxnSpPr/>
          <p:nvPr/>
        </p:nvCxnSpPr>
        <p:spPr>
          <a:xfrm>
            <a:off x="869725" y="2623800"/>
            <a:ext cx="37014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85"/>
          <p:cNvSpPr txBox="1"/>
          <p:nvPr/>
        </p:nvSpPr>
        <p:spPr>
          <a:xfrm>
            <a:off x="938663" y="2052818"/>
            <a:ext cx="6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5"/>
          <p:cNvSpPr txBox="1"/>
          <p:nvPr/>
        </p:nvSpPr>
        <p:spPr>
          <a:xfrm>
            <a:off x="938663" y="2738618"/>
            <a:ext cx="6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3" name="Google Shape;136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75" y="3741400"/>
            <a:ext cx="458100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85"/>
          <p:cNvSpPr txBox="1"/>
          <p:nvPr/>
        </p:nvSpPr>
        <p:spPr>
          <a:xfrm>
            <a:off x="1645512" y="3780000"/>
            <a:ext cx="12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3 cogs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5" name="Google Shape;136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700" y="270000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400" y="2700000"/>
            <a:ext cx="458100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100" y="2700000"/>
            <a:ext cx="458100" cy="4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ata-is-equatio=&quot;1&quot; data-equatio-url=&quot;https://equatio-api.texthelp.com/desmos/get/05-10-2023/aa9a1e74-d6b9-4b36-b136-6726bb3bb113&quot; data-equatio-type=&quot;image&quot;&gt;&lt;mglyph src=&quot;https://equatio-api.texthelp.com/desmos/get/05-10-2023/aa9a1e74-d6b9-4b36-b136-6726bb3bb113&quot; alt=&quot;Equatio Image&quot;/&gt;&lt;/math&gt;" id="1372" name="Google Shape;1372;p86" title="Equatio Image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Add the key to this pictogram.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There is a total of 280 apples.</a:t>
            </a:r>
            <a:endParaRPr/>
          </a:p>
        </p:txBody>
      </p:sp>
      <p:sp>
        <p:nvSpPr>
          <p:cNvPr id="1373" name="Google Shape;1373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Pictograms</a:t>
            </a:r>
            <a:endParaRPr/>
          </a:p>
        </p:txBody>
      </p:sp>
      <p:cxnSp>
        <p:nvCxnSpPr>
          <p:cNvPr id="1374" name="Google Shape;1374;p86"/>
          <p:cNvCxnSpPr/>
          <p:nvPr/>
        </p:nvCxnSpPr>
        <p:spPr>
          <a:xfrm flipH="1">
            <a:off x="1615412" y="1902675"/>
            <a:ext cx="2700" cy="21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86"/>
          <p:cNvCxnSpPr/>
          <p:nvPr/>
        </p:nvCxnSpPr>
        <p:spPr>
          <a:xfrm>
            <a:off x="869725" y="2623800"/>
            <a:ext cx="37014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86"/>
          <p:cNvSpPr txBox="1"/>
          <p:nvPr/>
        </p:nvSpPr>
        <p:spPr>
          <a:xfrm>
            <a:off x="557075" y="2052825"/>
            <a:ext cx="1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7" name="Google Shape;1377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1648338" y="1882350"/>
            <a:ext cx="605825" cy="7746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8" name="Google Shape;1378;p86"/>
          <p:cNvCxnSpPr/>
          <p:nvPr/>
        </p:nvCxnSpPr>
        <p:spPr>
          <a:xfrm>
            <a:off x="869725" y="3333275"/>
            <a:ext cx="37014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86"/>
          <p:cNvSpPr txBox="1"/>
          <p:nvPr/>
        </p:nvSpPr>
        <p:spPr>
          <a:xfrm>
            <a:off x="6303575" y="2052825"/>
            <a:ext cx="12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0" name="Google Shape;1380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6341713" y="2379925"/>
            <a:ext cx="605825" cy="77460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86"/>
          <p:cNvSpPr txBox="1"/>
          <p:nvPr/>
        </p:nvSpPr>
        <p:spPr>
          <a:xfrm>
            <a:off x="6813000" y="2571750"/>
            <a:ext cx="12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2" name="Google Shape;1382;p86"/>
          <p:cNvCxnSpPr/>
          <p:nvPr/>
        </p:nvCxnSpPr>
        <p:spPr>
          <a:xfrm>
            <a:off x="7150525" y="2991475"/>
            <a:ext cx="116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3" name="Google Shape;1383;p86"/>
          <p:cNvSpPr txBox="1"/>
          <p:nvPr/>
        </p:nvSpPr>
        <p:spPr>
          <a:xfrm>
            <a:off x="557075" y="2756088"/>
            <a:ext cx="1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6"/>
          <p:cNvSpPr txBox="1"/>
          <p:nvPr/>
        </p:nvSpPr>
        <p:spPr>
          <a:xfrm>
            <a:off x="541925" y="3465538"/>
            <a:ext cx="1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5" name="Google Shape;1385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103663" y="188235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561494" y="188235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013376" y="18963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470576" y="18963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16417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0989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5561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013376" y="2582175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16417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0989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25561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86"/>
          <p:cNvPicPr preferRelativeResize="0"/>
          <p:nvPr/>
        </p:nvPicPr>
        <p:blipFill rotWithShape="1">
          <a:blip r:embed="rId3">
            <a:alphaModFix/>
          </a:blip>
          <a:srcRect b="57667" l="2212" r="66924" t="-5457"/>
          <a:stretch/>
        </p:blipFill>
        <p:spPr>
          <a:xfrm>
            <a:off x="3013363" y="3309100"/>
            <a:ext cx="605825" cy="77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86"/>
          <p:cNvPicPr preferRelativeResize="0"/>
          <p:nvPr/>
        </p:nvPicPr>
        <p:blipFill rotWithShape="1">
          <a:blip r:embed="rId3">
            <a:alphaModFix/>
          </a:blip>
          <a:srcRect b="57667" l="2212" r="82152" t="-5457"/>
          <a:stretch/>
        </p:blipFill>
        <p:spPr>
          <a:xfrm>
            <a:off x="3470569" y="3309100"/>
            <a:ext cx="306926" cy="7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86"/>
          <p:cNvPicPr preferRelativeResize="0"/>
          <p:nvPr/>
        </p:nvPicPr>
        <p:blipFill rotWithShape="1">
          <a:blip r:embed="rId3">
            <a:alphaModFix/>
          </a:blip>
          <a:srcRect b="57667" l="2212" r="82152" t="-5457"/>
          <a:stretch/>
        </p:blipFill>
        <p:spPr>
          <a:xfrm>
            <a:off x="3938894" y="1894875"/>
            <a:ext cx="306926" cy="7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86"/>
          <p:cNvSpPr txBox="1"/>
          <p:nvPr/>
        </p:nvSpPr>
        <p:spPr>
          <a:xfrm>
            <a:off x="7150525" y="2571750"/>
            <a:ext cx="19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 apples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</a:t>
            </a:r>
            <a:endParaRPr/>
          </a:p>
        </p:txBody>
      </p:sp>
      <p:sp>
        <p:nvSpPr>
          <p:cNvPr id="1405" name="Google Shape;1405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406" name="Google Shape;1406;p87"/>
          <p:cNvSpPr txBox="1"/>
          <p:nvPr>
            <p:ph idx="3" type="title"/>
          </p:nvPr>
        </p:nvSpPr>
        <p:spPr>
          <a:xfrm>
            <a:off x="324000" y="657600"/>
            <a:ext cx="6185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pictograms and bar charts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7" name="Google Shape;140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82" y="29938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pic>
        <p:nvPicPr>
          <p:cNvPr id="1413" name="Google Shape;1413;p88" title="Chart"/>
          <p:cNvPicPr preferRelativeResize="0"/>
          <p:nvPr/>
        </p:nvPicPr>
        <p:blipFill rotWithShape="1">
          <a:blip r:embed="rId3">
            <a:alphaModFix/>
          </a:blip>
          <a:srcRect b="0" l="6279" r="0" t="0"/>
          <a:stretch/>
        </p:blipFill>
        <p:spPr>
          <a:xfrm>
            <a:off x="3584925" y="1440975"/>
            <a:ext cx="5235075" cy="34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88"/>
          <p:cNvSpPr txBox="1"/>
          <p:nvPr/>
        </p:nvSpPr>
        <p:spPr>
          <a:xfrm>
            <a:off x="396825" y="702075"/>
            <a:ext cx="85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is designing a new marketing campaign.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She has collected data regarding people’s favourite colours.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8"/>
          <p:cNvSpPr txBox="1"/>
          <p:nvPr/>
        </p:nvSpPr>
        <p:spPr>
          <a:xfrm>
            <a:off x="396825" y="1369900"/>
            <a:ext cx="314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missing from Laura’s bar chart?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8"/>
          <p:cNvSpPr txBox="1"/>
          <p:nvPr/>
        </p:nvSpPr>
        <p:spPr>
          <a:xfrm>
            <a:off x="1042275" y="2079150"/>
            <a:ext cx="185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Vertical axis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17" name="Google Shape;1417;p88"/>
          <p:cNvCxnSpPr/>
          <p:nvPr/>
        </p:nvCxnSpPr>
        <p:spPr>
          <a:xfrm rot="10800000">
            <a:off x="3728075" y="1409575"/>
            <a:ext cx="0" cy="288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8" name="Google Shape;1418;p88"/>
          <p:cNvCxnSpPr/>
          <p:nvPr/>
        </p:nvCxnSpPr>
        <p:spPr>
          <a:xfrm>
            <a:off x="3707519" y="4303050"/>
            <a:ext cx="483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89"/>
          <p:cNvPicPr preferRelativeResize="0"/>
          <p:nvPr/>
        </p:nvPicPr>
        <p:blipFill rotWithShape="1">
          <a:blip r:embed="rId3">
            <a:alphaModFix/>
          </a:blip>
          <a:srcRect b="43690" l="0" r="59524" t="0"/>
          <a:stretch/>
        </p:blipFill>
        <p:spPr>
          <a:xfrm flipH="1">
            <a:off x="164924" y="1720300"/>
            <a:ext cx="3420001" cy="1959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425" name="Google Shape;1425;p89"/>
          <p:cNvSpPr txBox="1"/>
          <p:nvPr/>
        </p:nvSpPr>
        <p:spPr>
          <a:xfrm>
            <a:off x="324000" y="756375"/>
            <a:ext cx="309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made a note of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frequencies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9"/>
          <p:cNvSpPr txBox="1"/>
          <p:nvPr/>
        </p:nvSpPr>
        <p:spPr>
          <a:xfrm>
            <a:off x="292700" y="1776450"/>
            <a:ext cx="329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know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frequencies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should be: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10, 12, 12, 16, 16, 22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I can’t remember which one goes with which bar.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7" name="Google Shape;142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952" y="37740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89" title="Chart"/>
          <p:cNvPicPr preferRelativeResize="0"/>
          <p:nvPr/>
        </p:nvPicPr>
        <p:blipFill rotWithShape="1">
          <a:blip r:embed="rId5">
            <a:alphaModFix/>
          </a:blip>
          <a:srcRect b="0" l="6279" r="0" t="0"/>
          <a:stretch/>
        </p:blipFill>
        <p:spPr>
          <a:xfrm>
            <a:off x="3584925" y="1440975"/>
            <a:ext cx="5235075" cy="3453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9" name="Google Shape;1429;p89"/>
          <p:cNvCxnSpPr/>
          <p:nvPr/>
        </p:nvCxnSpPr>
        <p:spPr>
          <a:xfrm rot="10800000">
            <a:off x="3728075" y="1409575"/>
            <a:ext cx="0" cy="288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0" name="Google Shape;1430;p89"/>
          <p:cNvCxnSpPr/>
          <p:nvPr/>
        </p:nvCxnSpPr>
        <p:spPr>
          <a:xfrm>
            <a:off x="3707519" y="4303050"/>
            <a:ext cx="483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1" name="Google Shape;1431;p89"/>
          <p:cNvSpPr txBox="1"/>
          <p:nvPr/>
        </p:nvSpPr>
        <p:spPr>
          <a:xfrm>
            <a:off x="4422050" y="756375"/>
            <a:ext cx="282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you match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the correct bar and colour?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9"/>
          <p:cNvSpPr txBox="1"/>
          <p:nvPr/>
        </p:nvSpPr>
        <p:spPr>
          <a:xfrm>
            <a:off x="4745594" y="3579500"/>
            <a:ext cx="44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3" name="Google Shape;1433;p89"/>
          <p:cNvSpPr txBox="1"/>
          <p:nvPr/>
        </p:nvSpPr>
        <p:spPr>
          <a:xfrm>
            <a:off x="3968332" y="3503300"/>
            <a:ext cx="44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4" name="Google Shape;1434;p89"/>
          <p:cNvSpPr txBox="1"/>
          <p:nvPr/>
        </p:nvSpPr>
        <p:spPr>
          <a:xfrm>
            <a:off x="6330532" y="3503300"/>
            <a:ext cx="44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5" name="Google Shape;1435;p89"/>
          <p:cNvSpPr txBox="1"/>
          <p:nvPr/>
        </p:nvSpPr>
        <p:spPr>
          <a:xfrm>
            <a:off x="5538006" y="3046100"/>
            <a:ext cx="44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6" name="Google Shape;1436;p89"/>
          <p:cNvSpPr txBox="1"/>
          <p:nvPr/>
        </p:nvSpPr>
        <p:spPr>
          <a:xfrm>
            <a:off x="7900206" y="3046100"/>
            <a:ext cx="44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7" name="Google Shape;1437;p89"/>
          <p:cNvSpPr txBox="1"/>
          <p:nvPr/>
        </p:nvSpPr>
        <p:spPr>
          <a:xfrm>
            <a:off x="7107667" y="2588900"/>
            <a:ext cx="50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9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height of the bars </a:t>
            </a:r>
            <a:endParaRPr/>
          </a:p>
        </p:txBody>
      </p:sp>
      <p:sp>
        <p:nvSpPr>
          <p:cNvPr id="1443" name="Google Shape;1443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444" name="Google Shape;1444;p9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Frequency </a:t>
            </a:r>
            <a:r>
              <a:rPr lang="en-GB"/>
              <a:t>is shown on a bar chart by:</a:t>
            </a:r>
            <a:endParaRPr/>
          </a:p>
        </p:txBody>
      </p:sp>
      <p:sp>
        <p:nvSpPr>
          <p:cNvPr id="1445" name="Google Shape;1445;p9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labels of the bars</a:t>
            </a:r>
            <a:endParaRPr/>
          </a:p>
        </p:txBody>
      </p:sp>
      <p:sp>
        <p:nvSpPr>
          <p:cNvPr id="1446" name="Google Shape;1446;p9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vertical axis scale</a:t>
            </a:r>
            <a:endParaRPr/>
          </a:p>
        </p:txBody>
      </p:sp>
      <p:pic>
        <p:nvPicPr>
          <p:cNvPr id="1447" name="Google Shape;144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008" y="1837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008" y="37207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90"/>
          <p:cNvSpPr txBox="1"/>
          <p:nvPr/>
        </p:nvSpPr>
        <p:spPr>
          <a:xfrm>
            <a:off x="4898125" y="2035575"/>
            <a:ext cx="3600900" cy="15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need a scale on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(often the vertical axis but not always) and the height of bars to fully represent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frequencies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on a bar chart.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91"/>
          <p:cNvSpPr txBox="1"/>
          <p:nvPr/>
        </p:nvSpPr>
        <p:spPr>
          <a:xfrm>
            <a:off x="5760600" y="657600"/>
            <a:ext cx="2214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the axis or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you cannot read this bar chart.</a:t>
            </a:r>
            <a:endParaRPr/>
          </a:p>
        </p:txBody>
      </p:sp>
      <p:pic>
        <p:nvPicPr>
          <p:cNvPr id="1455" name="Google Shape;1455;p9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5575825" y="583575"/>
            <a:ext cx="2633375" cy="15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pic>
        <p:nvPicPr>
          <p:cNvPr id="1457" name="Google Shape;1457;p91" title="Chart"/>
          <p:cNvPicPr preferRelativeResize="0"/>
          <p:nvPr/>
        </p:nvPicPr>
        <p:blipFill rotWithShape="1">
          <a:blip r:embed="rId4">
            <a:alphaModFix/>
          </a:blip>
          <a:srcRect b="0" l="9690" r="0" t="0"/>
          <a:stretch/>
        </p:blipFill>
        <p:spPr>
          <a:xfrm>
            <a:off x="324000" y="1325050"/>
            <a:ext cx="3842400" cy="263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91"/>
          <p:cNvSpPr txBox="1"/>
          <p:nvPr/>
        </p:nvSpPr>
        <p:spPr>
          <a:xfrm>
            <a:off x="324000" y="810000"/>
            <a:ext cx="43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 to show number of trips abroad by UK residents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9" name="Google Shape;145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76640" y="1675650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181907" y="349445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9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24000" y="2739150"/>
            <a:ext cx="2357893" cy="15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91"/>
          <p:cNvSpPr txBox="1"/>
          <p:nvPr/>
        </p:nvSpPr>
        <p:spPr>
          <a:xfrm>
            <a:off x="4824000" y="2662950"/>
            <a:ext cx="2214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comment on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most or least popular times for travel.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91"/>
          <p:cNvSpPr txBox="1"/>
          <p:nvPr/>
        </p:nvSpPr>
        <p:spPr>
          <a:xfrm>
            <a:off x="324000" y="4090475"/>
            <a:ext cx="60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do UK residents travel abroad the most?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91"/>
          <p:cNvSpPr txBox="1"/>
          <p:nvPr/>
        </p:nvSpPr>
        <p:spPr>
          <a:xfrm>
            <a:off x="717350" y="4408150"/>
            <a:ext cx="636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July to September, can you think why that might be?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5" name="Google Shape;1465;p91"/>
          <p:cNvSpPr txBox="1"/>
          <p:nvPr/>
        </p:nvSpPr>
        <p:spPr>
          <a:xfrm>
            <a:off x="7181894" y="41666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91"/>
          <p:cNvSpPr txBox="1"/>
          <p:nvPr/>
        </p:nvSpPr>
        <p:spPr>
          <a:xfrm>
            <a:off x="5308669" y="215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472" name="Google Shape;1472;p92"/>
          <p:cNvSpPr txBox="1"/>
          <p:nvPr/>
        </p:nvSpPr>
        <p:spPr>
          <a:xfrm>
            <a:off x="4824000" y="765300"/>
            <a:ext cx="3583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Approximately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how many residents travelled abroad during the months of July to September?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2"/>
          <p:cNvSpPr txBox="1"/>
          <p:nvPr/>
        </p:nvSpPr>
        <p:spPr>
          <a:xfrm>
            <a:off x="6493975" y="1800863"/>
            <a:ext cx="21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About 25 million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4" name="Google Shape;1474;p92"/>
          <p:cNvSpPr txBox="1"/>
          <p:nvPr/>
        </p:nvSpPr>
        <p:spPr>
          <a:xfrm>
            <a:off x="3407750" y="4197800"/>
            <a:ext cx="124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Months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2"/>
          <p:cNvSpPr txBox="1"/>
          <p:nvPr/>
        </p:nvSpPr>
        <p:spPr>
          <a:xfrm rot="-5400000">
            <a:off x="-359600" y="2370850"/>
            <a:ext cx="15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6" name="Google Shape;1476;p9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25" y="1620000"/>
            <a:ext cx="4366569" cy="27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92"/>
          <p:cNvSpPr txBox="1"/>
          <p:nvPr/>
        </p:nvSpPr>
        <p:spPr>
          <a:xfrm>
            <a:off x="324000" y="810000"/>
            <a:ext cx="43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 to show number of trips abroad by UK residents per quarter.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92"/>
          <p:cNvSpPr txBox="1"/>
          <p:nvPr/>
        </p:nvSpPr>
        <p:spPr>
          <a:xfrm>
            <a:off x="4755225" y="2364723"/>
            <a:ext cx="3583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might like to consider why UK residents travel abroad - can you think of any reasons?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92"/>
          <p:cNvSpPr txBox="1"/>
          <p:nvPr/>
        </p:nvSpPr>
        <p:spPr>
          <a:xfrm>
            <a:off x="4739931" y="3434971"/>
            <a:ext cx="335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thought of: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holidays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visiting family or friends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work/business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485" name="Google Shape;1485;p93"/>
          <p:cNvSpPr txBox="1"/>
          <p:nvPr/>
        </p:nvSpPr>
        <p:spPr>
          <a:xfrm>
            <a:off x="227850" y="613500"/>
            <a:ext cx="868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charts to show number of trips abroad by UK residents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3"/>
          <p:cNvSpPr txBox="1"/>
          <p:nvPr/>
        </p:nvSpPr>
        <p:spPr>
          <a:xfrm>
            <a:off x="675700" y="3706500"/>
            <a:ext cx="38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comparison bar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3"/>
          <p:cNvSpPr txBox="1"/>
          <p:nvPr/>
        </p:nvSpPr>
        <p:spPr>
          <a:xfrm>
            <a:off x="5352975" y="3706500"/>
            <a:ext cx="38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stacked bar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3"/>
          <p:cNvSpPr txBox="1"/>
          <p:nvPr/>
        </p:nvSpPr>
        <p:spPr>
          <a:xfrm>
            <a:off x="324000" y="4168200"/>
            <a:ext cx="772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Comment on the two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bar charts. Consider what is the same and what is different between them?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9" name="Google Shape;1489;p93"/>
          <p:cNvPicPr preferRelativeResize="0"/>
          <p:nvPr/>
        </p:nvPicPr>
        <p:blipFill rotWithShape="1">
          <a:blip r:embed="rId3">
            <a:alphaModFix/>
          </a:blip>
          <a:srcRect b="14842" l="6094" r="0" t="0"/>
          <a:stretch/>
        </p:blipFill>
        <p:spPr>
          <a:xfrm>
            <a:off x="707400" y="1029200"/>
            <a:ext cx="3813801" cy="251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93"/>
          <p:cNvPicPr preferRelativeResize="0"/>
          <p:nvPr/>
        </p:nvPicPr>
        <p:blipFill rotWithShape="1">
          <a:blip r:embed="rId4">
            <a:alphaModFix/>
          </a:blip>
          <a:srcRect b="15218" l="6147" r="0" t="0"/>
          <a:stretch/>
        </p:blipFill>
        <p:spPr>
          <a:xfrm>
            <a:off x="4953000" y="1057100"/>
            <a:ext cx="3769576" cy="2473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93"/>
          <p:cNvSpPr/>
          <p:nvPr/>
        </p:nvSpPr>
        <p:spPr>
          <a:xfrm>
            <a:off x="867438" y="3223375"/>
            <a:ext cx="330900" cy="16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3"/>
          <p:cNvSpPr/>
          <p:nvPr/>
        </p:nvSpPr>
        <p:spPr>
          <a:xfrm>
            <a:off x="5068154" y="3215715"/>
            <a:ext cx="361800" cy="17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3"/>
          <p:cNvSpPr/>
          <p:nvPr/>
        </p:nvSpPr>
        <p:spPr>
          <a:xfrm rot="-5400000">
            <a:off x="-105150" y="1539600"/>
            <a:ext cx="1241700" cy="2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Frequency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3"/>
          <p:cNvSpPr/>
          <p:nvPr/>
        </p:nvSpPr>
        <p:spPr>
          <a:xfrm rot="-5400000">
            <a:off x="4201650" y="1557750"/>
            <a:ext cx="1229700" cy="2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Frequency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3"/>
          <p:cNvSpPr/>
          <p:nvPr/>
        </p:nvSpPr>
        <p:spPr>
          <a:xfrm>
            <a:off x="7625400" y="3530125"/>
            <a:ext cx="1009800" cy="2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Months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3"/>
          <p:cNvSpPr/>
          <p:nvPr/>
        </p:nvSpPr>
        <p:spPr>
          <a:xfrm>
            <a:off x="3522000" y="3530125"/>
            <a:ext cx="1009800" cy="2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Months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7" name="Google Shape;1497;p93"/>
          <p:cNvGrpSpPr/>
          <p:nvPr/>
        </p:nvGrpSpPr>
        <p:grpSpPr>
          <a:xfrm>
            <a:off x="3390650" y="1047105"/>
            <a:ext cx="1289350" cy="1053198"/>
            <a:chOff x="3390650" y="1047105"/>
            <a:chExt cx="1289350" cy="1053198"/>
          </a:xfrm>
        </p:grpSpPr>
        <p:sp>
          <p:nvSpPr>
            <p:cNvPr id="1498" name="Google Shape;1498;p93"/>
            <p:cNvSpPr/>
            <p:nvPr/>
          </p:nvSpPr>
          <p:spPr>
            <a:xfrm>
              <a:off x="3390650" y="1128075"/>
              <a:ext cx="1009800" cy="907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99" name="Google Shape;1499;p93"/>
            <p:cNvPicPr preferRelativeResize="0"/>
            <p:nvPr/>
          </p:nvPicPr>
          <p:blipFill rotWithShape="1">
            <a:blip r:embed="rId4">
              <a:alphaModFix/>
            </a:blip>
            <a:srcRect b="1999" l="7232" r="89978" t="93509"/>
            <a:stretch/>
          </p:blipFill>
          <p:spPr>
            <a:xfrm>
              <a:off x="3413432" y="1131646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93"/>
            <p:cNvPicPr preferRelativeResize="0"/>
            <p:nvPr/>
          </p:nvPicPr>
          <p:blipFill rotWithShape="1">
            <a:blip r:embed="rId4">
              <a:alphaModFix/>
            </a:blip>
            <a:srcRect b="2112" l="21217" r="75993" t="93396"/>
            <a:stretch/>
          </p:blipFill>
          <p:spPr>
            <a:xfrm>
              <a:off x="3406739" y="1345830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93"/>
            <p:cNvPicPr preferRelativeResize="0"/>
            <p:nvPr/>
          </p:nvPicPr>
          <p:blipFill rotWithShape="1">
            <a:blip r:embed="rId4">
              <a:alphaModFix/>
            </a:blip>
            <a:srcRect b="1975" l="36580" r="60630" t="93533"/>
            <a:stretch/>
          </p:blipFill>
          <p:spPr>
            <a:xfrm>
              <a:off x="3413432" y="1569615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2" name="Google Shape;1502;p93"/>
            <p:cNvPicPr preferRelativeResize="0"/>
            <p:nvPr/>
          </p:nvPicPr>
          <p:blipFill rotWithShape="1">
            <a:blip r:embed="rId4">
              <a:alphaModFix/>
            </a:blip>
            <a:srcRect b="1974" l="73178" r="24031" t="93533"/>
            <a:stretch/>
          </p:blipFill>
          <p:spPr>
            <a:xfrm>
              <a:off x="3404509" y="1785000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3" name="Google Shape;1503;p93"/>
            <p:cNvSpPr txBox="1"/>
            <p:nvPr/>
          </p:nvSpPr>
          <p:spPr>
            <a:xfrm>
              <a:off x="3522000" y="1047105"/>
              <a:ext cx="105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Holiday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93"/>
            <p:cNvSpPr txBox="1"/>
            <p:nvPr/>
          </p:nvSpPr>
          <p:spPr>
            <a:xfrm>
              <a:off x="3525939" y="1264364"/>
              <a:ext cx="114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Business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93"/>
            <p:cNvSpPr txBox="1"/>
            <p:nvPr/>
          </p:nvSpPr>
          <p:spPr>
            <a:xfrm>
              <a:off x="3530400" y="1483139"/>
              <a:ext cx="114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Visiting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93"/>
            <p:cNvSpPr txBox="1"/>
            <p:nvPr/>
          </p:nvSpPr>
          <p:spPr>
            <a:xfrm>
              <a:off x="3530400" y="1700103"/>
              <a:ext cx="84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Other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7" name="Google Shape;1507;p93"/>
          <p:cNvGrpSpPr/>
          <p:nvPr/>
        </p:nvGrpSpPr>
        <p:grpSpPr>
          <a:xfrm>
            <a:off x="7759450" y="952555"/>
            <a:ext cx="1289350" cy="1053198"/>
            <a:chOff x="3390650" y="1047105"/>
            <a:chExt cx="1289350" cy="1053198"/>
          </a:xfrm>
        </p:grpSpPr>
        <p:sp>
          <p:nvSpPr>
            <p:cNvPr id="1508" name="Google Shape;1508;p93"/>
            <p:cNvSpPr/>
            <p:nvPr/>
          </p:nvSpPr>
          <p:spPr>
            <a:xfrm>
              <a:off x="3390650" y="1128075"/>
              <a:ext cx="1009800" cy="907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09" name="Google Shape;1509;p93"/>
            <p:cNvPicPr preferRelativeResize="0"/>
            <p:nvPr/>
          </p:nvPicPr>
          <p:blipFill rotWithShape="1">
            <a:blip r:embed="rId4">
              <a:alphaModFix/>
            </a:blip>
            <a:srcRect b="1999" l="7232" r="89978" t="93509"/>
            <a:stretch/>
          </p:blipFill>
          <p:spPr>
            <a:xfrm>
              <a:off x="3413432" y="1131646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0" name="Google Shape;1510;p93"/>
            <p:cNvPicPr preferRelativeResize="0"/>
            <p:nvPr/>
          </p:nvPicPr>
          <p:blipFill rotWithShape="1">
            <a:blip r:embed="rId4">
              <a:alphaModFix/>
            </a:blip>
            <a:srcRect b="2112" l="21217" r="75993" t="93396"/>
            <a:stretch/>
          </p:blipFill>
          <p:spPr>
            <a:xfrm>
              <a:off x="3406739" y="1345830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1" name="Google Shape;1511;p93"/>
            <p:cNvPicPr preferRelativeResize="0"/>
            <p:nvPr/>
          </p:nvPicPr>
          <p:blipFill rotWithShape="1">
            <a:blip r:embed="rId4">
              <a:alphaModFix/>
            </a:blip>
            <a:srcRect b="1975" l="36580" r="60630" t="93533"/>
            <a:stretch/>
          </p:blipFill>
          <p:spPr>
            <a:xfrm>
              <a:off x="3413432" y="1569615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2" name="Google Shape;1512;p93"/>
            <p:cNvPicPr preferRelativeResize="0"/>
            <p:nvPr/>
          </p:nvPicPr>
          <p:blipFill rotWithShape="1">
            <a:blip r:embed="rId4">
              <a:alphaModFix/>
            </a:blip>
            <a:srcRect b="1974" l="73178" r="24031" t="93533"/>
            <a:stretch/>
          </p:blipFill>
          <p:spPr>
            <a:xfrm>
              <a:off x="3404509" y="1785000"/>
              <a:ext cx="197551" cy="23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3" name="Google Shape;1513;p93"/>
            <p:cNvSpPr txBox="1"/>
            <p:nvPr/>
          </p:nvSpPr>
          <p:spPr>
            <a:xfrm>
              <a:off x="3522000" y="1047105"/>
              <a:ext cx="105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Holiday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4" name="Google Shape;1514;p93"/>
            <p:cNvSpPr txBox="1"/>
            <p:nvPr/>
          </p:nvSpPr>
          <p:spPr>
            <a:xfrm>
              <a:off x="3525939" y="1264364"/>
              <a:ext cx="114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Business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5" name="Google Shape;1515;p93"/>
            <p:cNvSpPr txBox="1"/>
            <p:nvPr/>
          </p:nvSpPr>
          <p:spPr>
            <a:xfrm>
              <a:off x="3530400" y="1483139"/>
              <a:ext cx="114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Visiting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6" name="Google Shape;1516;p93"/>
            <p:cNvSpPr txBox="1"/>
            <p:nvPr/>
          </p:nvSpPr>
          <p:spPr>
            <a:xfrm>
              <a:off x="3530400" y="1700103"/>
              <a:ext cx="84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Other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94"/>
          <p:cNvSpPr txBox="1"/>
          <p:nvPr>
            <p:ph idx="1" type="body"/>
          </p:nvPr>
        </p:nvSpPr>
        <p:spPr>
          <a:xfrm>
            <a:off x="369775" y="1548900"/>
            <a:ext cx="8237700" cy="25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show total trips abroad and the breakdown by reason.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comparison bar chart is easier to analyse the reasons for travel within each period of time.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stacked bar chart allows you to easily see which months were the most popular, whereas the comparison bar chart requires some calculations to be sure.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523" name="Google Shape;1523;p94"/>
          <p:cNvSpPr txBox="1"/>
          <p:nvPr/>
        </p:nvSpPr>
        <p:spPr>
          <a:xfrm>
            <a:off x="324000" y="711750"/>
            <a:ext cx="772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Comment on the two bar charts. Consider what is the same and what is different between them.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95"/>
          <p:cNvSpPr txBox="1"/>
          <p:nvPr>
            <p:ph idx="1" type="body"/>
          </p:nvPr>
        </p:nvSpPr>
        <p:spPr>
          <a:xfrm>
            <a:off x="324000" y="759300"/>
            <a:ext cx="82377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type of bar chart to its example.</a:t>
            </a:r>
            <a:endParaRPr/>
          </a:p>
        </p:txBody>
      </p:sp>
      <p:sp>
        <p:nvSpPr>
          <p:cNvPr id="1529" name="Google Shape;152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530" name="Google Shape;1530;p95"/>
          <p:cNvSpPr txBox="1"/>
          <p:nvPr/>
        </p:nvSpPr>
        <p:spPr>
          <a:xfrm>
            <a:off x="1098900" y="1419900"/>
            <a:ext cx="157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standard bar chart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5"/>
          <p:cNvSpPr txBox="1"/>
          <p:nvPr/>
        </p:nvSpPr>
        <p:spPr>
          <a:xfrm>
            <a:off x="3648963" y="1419900"/>
            <a:ext cx="188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omparison bar chart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5"/>
          <p:cNvSpPr txBox="1"/>
          <p:nvPr/>
        </p:nvSpPr>
        <p:spPr>
          <a:xfrm>
            <a:off x="6508625" y="1419900"/>
            <a:ext cx="142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tacked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chart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3" name="Google Shape;1533;p9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087" y="2718575"/>
            <a:ext cx="2249274" cy="139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9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175" y="2700000"/>
            <a:ext cx="2249250" cy="1390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95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2475" y="2715663"/>
            <a:ext cx="2198574" cy="135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6" name="Google Shape;1536;p95"/>
          <p:cNvCxnSpPr>
            <a:stCxn id="1530" idx="2"/>
            <a:endCxn id="1535" idx="0"/>
          </p:cNvCxnSpPr>
          <p:nvPr/>
        </p:nvCxnSpPr>
        <p:spPr>
          <a:xfrm>
            <a:off x="1888800" y="2158800"/>
            <a:ext cx="2562900" cy="55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7" name="Google Shape;1537;p95"/>
          <p:cNvCxnSpPr>
            <a:stCxn id="1531" idx="2"/>
            <a:endCxn id="1533" idx="0"/>
          </p:cNvCxnSpPr>
          <p:nvPr/>
        </p:nvCxnSpPr>
        <p:spPr>
          <a:xfrm>
            <a:off x="4593663" y="2158800"/>
            <a:ext cx="2625000" cy="55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8" name="Google Shape;1538;p95"/>
          <p:cNvCxnSpPr>
            <a:stCxn id="1532" idx="2"/>
            <a:endCxn id="1534" idx="0"/>
          </p:cNvCxnSpPr>
          <p:nvPr/>
        </p:nvCxnSpPr>
        <p:spPr>
          <a:xfrm flipH="1">
            <a:off x="1684925" y="2158800"/>
            <a:ext cx="5533800" cy="54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96"/>
          <p:cNvSpPr txBox="1"/>
          <p:nvPr>
            <p:ph idx="1" type="body"/>
          </p:nvPr>
        </p:nvSpPr>
        <p:spPr>
          <a:xfrm>
            <a:off x="269275" y="683100"/>
            <a:ext cx="8550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Jacob and Alex have both </a:t>
            </a:r>
            <a:r>
              <a:rPr lang="en-GB" sz="1800"/>
              <a:t>constructed bar charts for the same data, regarding ice cream sales and the flavour. The flavours are vanilla (V), strawberry (S), chocolate (C) and other (O).</a:t>
            </a:r>
            <a:endParaRPr sz="1800"/>
          </a:p>
        </p:txBody>
      </p:sp>
      <p:sp>
        <p:nvSpPr>
          <p:cNvPr id="1544" name="Google Shape;154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 </a:t>
            </a:r>
            <a:endParaRPr/>
          </a:p>
        </p:txBody>
      </p:sp>
      <p:pic>
        <p:nvPicPr>
          <p:cNvPr id="1545" name="Google Shape;154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75" y="3475251"/>
            <a:ext cx="1225175" cy="13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96"/>
          <p:cNvPicPr preferRelativeResize="0"/>
          <p:nvPr/>
        </p:nvPicPr>
        <p:blipFill rotWithShape="1">
          <a:blip r:embed="rId4">
            <a:alphaModFix/>
          </a:blip>
          <a:srcRect b="3004" l="0" r="1565" t="2208"/>
          <a:stretch/>
        </p:blipFill>
        <p:spPr>
          <a:xfrm>
            <a:off x="4677950" y="1817775"/>
            <a:ext cx="3172325" cy="2303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96"/>
          <p:cNvSpPr txBox="1"/>
          <p:nvPr/>
        </p:nvSpPr>
        <p:spPr>
          <a:xfrm>
            <a:off x="5150541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V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8" name="Google Shape;154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2897" y="288865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96"/>
          <p:cNvSpPr txBox="1"/>
          <p:nvPr/>
        </p:nvSpPr>
        <p:spPr>
          <a:xfrm>
            <a:off x="5884743" y="3982712"/>
            <a:ext cx="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96"/>
          <p:cNvSpPr txBox="1"/>
          <p:nvPr/>
        </p:nvSpPr>
        <p:spPr>
          <a:xfrm>
            <a:off x="6601341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6"/>
          <p:cNvSpPr txBox="1"/>
          <p:nvPr/>
        </p:nvSpPr>
        <p:spPr>
          <a:xfrm>
            <a:off x="7344016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6"/>
          <p:cNvSpPr txBox="1"/>
          <p:nvPr/>
        </p:nvSpPr>
        <p:spPr>
          <a:xfrm>
            <a:off x="4636304" y="3819885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6"/>
          <p:cNvSpPr txBox="1"/>
          <p:nvPr/>
        </p:nvSpPr>
        <p:spPr>
          <a:xfrm>
            <a:off x="4636948" y="345987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6"/>
          <p:cNvSpPr txBox="1"/>
          <p:nvPr/>
        </p:nvSpPr>
        <p:spPr>
          <a:xfrm>
            <a:off x="4644034" y="3089935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6"/>
          <p:cNvSpPr txBox="1"/>
          <p:nvPr/>
        </p:nvSpPr>
        <p:spPr>
          <a:xfrm>
            <a:off x="4644034" y="273966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96"/>
          <p:cNvSpPr txBox="1"/>
          <p:nvPr/>
        </p:nvSpPr>
        <p:spPr>
          <a:xfrm>
            <a:off x="4644034" y="235866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96"/>
          <p:cNvSpPr txBox="1"/>
          <p:nvPr/>
        </p:nvSpPr>
        <p:spPr>
          <a:xfrm>
            <a:off x="4619761" y="199304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96"/>
          <p:cNvSpPr txBox="1"/>
          <p:nvPr/>
        </p:nvSpPr>
        <p:spPr>
          <a:xfrm>
            <a:off x="4619761" y="164214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1800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9" name="Google Shape;1559;p96"/>
          <p:cNvGrpSpPr/>
          <p:nvPr/>
        </p:nvGrpSpPr>
        <p:grpSpPr>
          <a:xfrm>
            <a:off x="886225" y="1546950"/>
            <a:ext cx="3657050" cy="3112175"/>
            <a:chOff x="886225" y="1546950"/>
            <a:chExt cx="3657050" cy="3112175"/>
          </a:xfrm>
        </p:grpSpPr>
        <p:pic>
          <p:nvPicPr>
            <p:cNvPr id="1560" name="Google Shape;1560;p96"/>
            <p:cNvPicPr preferRelativeResize="0"/>
            <p:nvPr/>
          </p:nvPicPr>
          <p:blipFill rotWithShape="1">
            <a:blip r:embed="rId6">
              <a:alphaModFix/>
            </a:blip>
            <a:srcRect b="2578" l="0" r="852" t="1928"/>
            <a:stretch/>
          </p:blipFill>
          <p:spPr>
            <a:xfrm>
              <a:off x="1347925" y="1811150"/>
              <a:ext cx="3195350" cy="2323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1" name="Google Shape;1561;p96"/>
            <p:cNvSpPr txBox="1"/>
            <p:nvPr/>
          </p:nvSpPr>
          <p:spPr>
            <a:xfrm>
              <a:off x="1794977" y="3998700"/>
              <a:ext cx="31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96"/>
            <p:cNvSpPr txBox="1"/>
            <p:nvPr/>
          </p:nvSpPr>
          <p:spPr>
            <a:xfrm>
              <a:off x="2529179" y="3998693"/>
              <a:ext cx="86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96"/>
            <p:cNvSpPr txBox="1"/>
            <p:nvPr/>
          </p:nvSpPr>
          <p:spPr>
            <a:xfrm>
              <a:off x="3245778" y="3998700"/>
              <a:ext cx="31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96"/>
            <p:cNvSpPr txBox="1"/>
            <p:nvPr/>
          </p:nvSpPr>
          <p:spPr>
            <a:xfrm>
              <a:off x="3988453" y="3998700"/>
              <a:ext cx="31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O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96"/>
            <p:cNvSpPr txBox="1"/>
            <p:nvPr/>
          </p:nvSpPr>
          <p:spPr>
            <a:xfrm>
              <a:off x="2259663" y="4197425"/>
              <a:ext cx="2283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Ice cream flavours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96"/>
            <p:cNvSpPr txBox="1"/>
            <p:nvPr/>
          </p:nvSpPr>
          <p:spPr>
            <a:xfrm rot="-5400000">
              <a:off x="394375" y="2038800"/>
              <a:ext cx="144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Frequency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96"/>
            <p:cNvSpPr txBox="1"/>
            <p:nvPr/>
          </p:nvSpPr>
          <p:spPr>
            <a:xfrm>
              <a:off x="1290625" y="1620000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1800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96"/>
            <p:cNvSpPr txBox="1"/>
            <p:nvPr/>
          </p:nvSpPr>
          <p:spPr>
            <a:xfrm>
              <a:off x="1290625" y="1970900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96"/>
            <p:cNvSpPr txBox="1"/>
            <p:nvPr/>
          </p:nvSpPr>
          <p:spPr>
            <a:xfrm>
              <a:off x="1314898" y="2336518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96"/>
            <p:cNvSpPr txBox="1"/>
            <p:nvPr/>
          </p:nvSpPr>
          <p:spPr>
            <a:xfrm>
              <a:off x="1314898" y="2717518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96"/>
            <p:cNvSpPr txBox="1"/>
            <p:nvPr/>
          </p:nvSpPr>
          <p:spPr>
            <a:xfrm>
              <a:off x="1314898" y="3067792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96"/>
            <p:cNvSpPr txBox="1"/>
            <p:nvPr/>
          </p:nvSpPr>
          <p:spPr>
            <a:xfrm>
              <a:off x="1307812" y="3437730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96"/>
            <p:cNvSpPr txBox="1"/>
            <p:nvPr/>
          </p:nvSpPr>
          <p:spPr>
            <a:xfrm>
              <a:off x="1307168" y="3797743"/>
              <a:ext cx="261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97"/>
          <p:cNvSpPr txBox="1"/>
          <p:nvPr>
            <p:ph idx="1" type="body"/>
          </p:nvPr>
        </p:nvSpPr>
        <p:spPr>
          <a:xfrm>
            <a:off x="324000" y="75930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same?</a:t>
            </a:r>
            <a:endParaRPr sz="1800"/>
          </a:p>
        </p:txBody>
      </p:sp>
      <p:sp>
        <p:nvSpPr>
          <p:cNvPr id="1579" name="Google Shape;1579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 </a:t>
            </a:r>
            <a:endParaRPr/>
          </a:p>
        </p:txBody>
      </p:sp>
      <p:pic>
        <p:nvPicPr>
          <p:cNvPr id="1580" name="Google Shape;15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75" y="3475251"/>
            <a:ext cx="1225175" cy="13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97"/>
          <p:cNvPicPr preferRelativeResize="0"/>
          <p:nvPr/>
        </p:nvPicPr>
        <p:blipFill rotWithShape="1">
          <a:blip r:embed="rId4">
            <a:alphaModFix/>
          </a:blip>
          <a:srcRect b="2057" l="1465" r="859" t="1807"/>
          <a:stretch/>
        </p:blipFill>
        <p:spPr>
          <a:xfrm>
            <a:off x="1395375" y="1807950"/>
            <a:ext cx="3147900" cy="2339587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97"/>
          <p:cNvSpPr txBox="1"/>
          <p:nvPr/>
        </p:nvSpPr>
        <p:spPr>
          <a:xfrm>
            <a:off x="1794977" y="3998700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V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97"/>
          <p:cNvSpPr txBox="1"/>
          <p:nvPr/>
        </p:nvSpPr>
        <p:spPr>
          <a:xfrm>
            <a:off x="2529179" y="3998693"/>
            <a:ext cx="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97"/>
          <p:cNvSpPr txBox="1"/>
          <p:nvPr/>
        </p:nvSpPr>
        <p:spPr>
          <a:xfrm>
            <a:off x="3245778" y="3998700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7"/>
          <p:cNvSpPr txBox="1"/>
          <p:nvPr/>
        </p:nvSpPr>
        <p:spPr>
          <a:xfrm>
            <a:off x="3988453" y="3998700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6" name="Google Shape;1586;p97"/>
          <p:cNvPicPr preferRelativeResize="0"/>
          <p:nvPr/>
        </p:nvPicPr>
        <p:blipFill rotWithShape="1">
          <a:blip r:embed="rId5">
            <a:alphaModFix/>
          </a:blip>
          <a:srcRect b="2050" l="576" r="1748" t="1684"/>
          <a:stretch/>
        </p:blipFill>
        <p:spPr>
          <a:xfrm>
            <a:off x="4696575" y="1805000"/>
            <a:ext cx="3147900" cy="2339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97"/>
          <p:cNvSpPr txBox="1"/>
          <p:nvPr/>
        </p:nvSpPr>
        <p:spPr>
          <a:xfrm>
            <a:off x="5150541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V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8" name="Google Shape;1588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2897" y="288865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97"/>
          <p:cNvSpPr txBox="1"/>
          <p:nvPr/>
        </p:nvSpPr>
        <p:spPr>
          <a:xfrm>
            <a:off x="5884743" y="3982712"/>
            <a:ext cx="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7"/>
          <p:cNvSpPr txBox="1"/>
          <p:nvPr/>
        </p:nvSpPr>
        <p:spPr>
          <a:xfrm>
            <a:off x="6601341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7"/>
          <p:cNvSpPr txBox="1"/>
          <p:nvPr/>
        </p:nvSpPr>
        <p:spPr>
          <a:xfrm>
            <a:off x="7344016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97"/>
          <p:cNvSpPr txBox="1"/>
          <p:nvPr/>
        </p:nvSpPr>
        <p:spPr>
          <a:xfrm>
            <a:off x="4639543" y="381989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7"/>
          <p:cNvSpPr txBox="1"/>
          <p:nvPr/>
        </p:nvSpPr>
        <p:spPr>
          <a:xfrm>
            <a:off x="4640187" y="345988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7"/>
          <p:cNvSpPr txBox="1"/>
          <p:nvPr/>
        </p:nvSpPr>
        <p:spPr>
          <a:xfrm>
            <a:off x="4647273" y="3089942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7"/>
          <p:cNvSpPr txBox="1"/>
          <p:nvPr/>
        </p:nvSpPr>
        <p:spPr>
          <a:xfrm>
            <a:off x="4647273" y="273966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7"/>
          <p:cNvSpPr txBox="1"/>
          <p:nvPr/>
        </p:nvSpPr>
        <p:spPr>
          <a:xfrm>
            <a:off x="4647273" y="235866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7"/>
          <p:cNvSpPr txBox="1"/>
          <p:nvPr/>
        </p:nvSpPr>
        <p:spPr>
          <a:xfrm>
            <a:off x="4623000" y="199305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7"/>
          <p:cNvSpPr txBox="1"/>
          <p:nvPr/>
        </p:nvSpPr>
        <p:spPr>
          <a:xfrm>
            <a:off x="4623000" y="164215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1800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7"/>
          <p:cNvSpPr txBox="1"/>
          <p:nvPr/>
        </p:nvSpPr>
        <p:spPr>
          <a:xfrm>
            <a:off x="1307168" y="379774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7"/>
          <p:cNvSpPr txBox="1"/>
          <p:nvPr/>
        </p:nvSpPr>
        <p:spPr>
          <a:xfrm>
            <a:off x="1307812" y="343773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97"/>
          <p:cNvSpPr txBox="1"/>
          <p:nvPr/>
        </p:nvSpPr>
        <p:spPr>
          <a:xfrm>
            <a:off x="1314898" y="3067792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97"/>
          <p:cNvSpPr txBox="1"/>
          <p:nvPr/>
        </p:nvSpPr>
        <p:spPr>
          <a:xfrm>
            <a:off x="1314898" y="271751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7"/>
          <p:cNvSpPr txBox="1"/>
          <p:nvPr/>
        </p:nvSpPr>
        <p:spPr>
          <a:xfrm>
            <a:off x="1314898" y="233651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7"/>
          <p:cNvSpPr txBox="1"/>
          <p:nvPr/>
        </p:nvSpPr>
        <p:spPr>
          <a:xfrm>
            <a:off x="1290625" y="197090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7"/>
          <p:cNvSpPr txBox="1"/>
          <p:nvPr/>
        </p:nvSpPr>
        <p:spPr>
          <a:xfrm>
            <a:off x="1290625" y="162000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1800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7"/>
          <p:cNvSpPr txBox="1"/>
          <p:nvPr/>
        </p:nvSpPr>
        <p:spPr>
          <a:xfrm rot="-5400000">
            <a:off x="394375" y="2038800"/>
            <a:ext cx="14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97"/>
          <p:cNvSpPr txBox="1"/>
          <p:nvPr/>
        </p:nvSpPr>
        <p:spPr>
          <a:xfrm>
            <a:off x="2259663" y="4197425"/>
            <a:ext cx="22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flavours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7"/>
          <p:cNvSpPr txBox="1"/>
          <p:nvPr/>
        </p:nvSpPr>
        <p:spPr>
          <a:xfrm>
            <a:off x="2711550" y="668300"/>
            <a:ext cx="439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heights of the bars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vertical scale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order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98"/>
          <p:cNvSpPr txBox="1"/>
          <p:nvPr>
            <p:ph idx="1" type="body"/>
          </p:nvPr>
        </p:nvSpPr>
        <p:spPr>
          <a:xfrm>
            <a:off x="324000" y="759300"/>
            <a:ext cx="8237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mistakes have been made?</a:t>
            </a:r>
            <a:endParaRPr sz="1800"/>
          </a:p>
        </p:txBody>
      </p:sp>
      <p:sp>
        <p:nvSpPr>
          <p:cNvPr id="1614" name="Google Shape;161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 </a:t>
            </a:r>
            <a:endParaRPr/>
          </a:p>
        </p:txBody>
      </p:sp>
      <p:pic>
        <p:nvPicPr>
          <p:cNvPr id="1615" name="Google Shape;161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75" y="3475251"/>
            <a:ext cx="1225175" cy="13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98"/>
          <p:cNvPicPr preferRelativeResize="0"/>
          <p:nvPr/>
        </p:nvPicPr>
        <p:blipFill rotWithShape="1">
          <a:blip r:embed="rId4">
            <a:alphaModFix/>
          </a:blip>
          <a:srcRect b="1902" l="0" r="852" t="2476"/>
          <a:stretch/>
        </p:blipFill>
        <p:spPr>
          <a:xfrm>
            <a:off x="1347925" y="1824400"/>
            <a:ext cx="3195350" cy="23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98"/>
          <p:cNvSpPr txBox="1"/>
          <p:nvPr/>
        </p:nvSpPr>
        <p:spPr>
          <a:xfrm>
            <a:off x="1794977" y="3998700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V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8"/>
          <p:cNvSpPr txBox="1"/>
          <p:nvPr/>
        </p:nvSpPr>
        <p:spPr>
          <a:xfrm>
            <a:off x="2529179" y="3998693"/>
            <a:ext cx="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8"/>
          <p:cNvSpPr txBox="1"/>
          <p:nvPr/>
        </p:nvSpPr>
        <p:spPr>
          <a:xfrm>
            <a:off x="3245778" y="3998700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8"/>
          <p:cNvSpPr txBox="1"/>
          <p:nvPr/>
        </p:nvSpPr>
        <p:spPr>
          <a:xfrm>
            <a:off x="3988453" y="3998700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1" name="Google Shape;1621;p98"/>
          <p:cNvPicPr preferRelativeResize="0"/>
          <p:nvPr/>
        </p:nvPicPr>
        <p:blipFill rotWithShape="1">
          <a:blip r:embed="rId5">
            <a:alphaModFix/>
          </a:blip>
          <a:srcRect b="1780" l="0" r="1777" t="2479"/>
          <a:stretch/>
        </p:blipFill>
        <p:spPr>
          <a:xfrm>
            <a:off x="4677950" y="1824400"/>
            <a:ext cx="3165699" cy="23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98"/>
          <p:cNvSpPr txBox="1"/>
          <p:nvPr/>
        </p:nvSpPr>
        <p:spPr>
          <a:xfrm>
            <a:off x="5150541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V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3" name="Google Shape;1623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2897" y="288865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98"/>
          <p:cNvSpPr txBox="1"/>
          <p:nvPr/>
        </p:nvSpPr>
        <p:spPr>
          <a:xfrm>
            <a:off x="5884743" y="3982712"/>
            <a:ext cx="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98"/>
          <p:cNvSpPr txBox="1"/>
          <p:nvPr/>
        </p:nvSpPr>
        <p:spPr>
          <a:xfrm>
            <a:off x="6601341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8"/>
          <p:cNvSpPr txBox="1"/>
          <p:nvPr/>
        </p:nvSpPr>
        <p:spPr>
          <a:xfrm>
            <a:off x="7344016" y="3982719"/>
            <a:ext cx="3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8"/>
          <p:cNvSpPr txBox="1"/>
          <p:nvPr/>
        </p:nvSpPr>
        <p:spPr>
          <a:xfrm>
            <a:off x="4639543" y="381989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8"/>
          <p:cNvSpPr txBox="1"/>
          <p:nvPr/>
        </p:nvSpPr>
        <p:spPr>
          <a:xfrm>
            <a:off x="4640187" y="345988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8"/>
          <p:cNvSpPr txBox="1"/>
          <p:nvPr/>
        </p:nvSpPr>
        <p:spPr>
          <a:xfrm>
            <a:off x="4647273" y="3089942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8"/>
          <p:cNvSpPr txBox="1"/>
          <p:nvPr/>
        </p:nvSpPr>
        <p:spPr>
          <a:xfrm>
            <a:off x="4647273" y="273966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8"/>
          <p:cNvSpPr txBox="1"/>
          <p:nvPr/>
        </p:nvSpPr>
        <p:spPr>
          <a:xfrm>
            <a:off x="4647273" y="235866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8"/>
          <p:cNvSpPr txBox="1"/>
          <p:nvPr/>
        </p:nvSpPr>
        <p:spPr>
          <a:xfrm>
            <a:off x="4623000" y="199305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8"/>
          <p:cNvSpPr txBox="1"/>
          <p:nvPr/>
        </p:nvSpPr>
        <p:spPr>
          <a:xfrm>
            <a:off x="4623000" y="164215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1800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8"/>
          <p:cNvSpPr txBox="1"/>
          <p:nvPr/>
        </p:nvSpPr>
        <p:spPr>
          <a:xfrm>
            <a:off x="1307168" y="3797743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8"/>
          <p:cNvSpPr txBox="1"/>
          <p:nvPr/>
        </p:nvSpPr>
        <p:spPr>
          <a:xfrm>
            <a:off x="1307812" y="343773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8"/>
          <p:cNvSpPr txBox="1"/>
          <p:nvPr/>
        </p:nvSpPr>
        <p:spPr>
          <a:xfrm>
            <a:off x="1314898" y="3067792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8"/>
          <p:cNvSpPr txBox="1"/>
          <p:nvPr/>
        </p:nvSpPr>
        <p:spPr>
          <a:xfrm>
            <a:off x="1314898" y="271751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8"/>
          <p:cNvSpPr txBox="1"/>
          <p:nvPr/>
        </p:nvSpPr>
        <p:spPr>
          <a:xfrm>
            <a:off x="1314898" y="2336518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8"/>
          <p:cNvSpPr txBox="1"/>
          <p:nvPr/>
        </p:nvSpPr>
        <p:spPr>
          <a:xfrm>
            <a:off x="1290625" y="197090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98"/>
          <p:cNvSpPr txBox="1"/>
          <p:nvPr/>
        </p:nvSpPr>
        <p:spPr>
          <a:xfrm>
            <a:off x="1290625" y="1620000"/>
            <a:ext cx="261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1800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98"/>
          <p:cNvSpPr txBox="1"/>
          <p:nvPr/>
        </p:nvSpPr>
        <p:spPr>
          <a:xfrm rot="-5400000">
            <a:off x="326575" y="1971000"/>
            <a:ext cx="15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98"/>
          <p:cNvSpPr txBox="1"/>
          <p:nvPr/>
        </p:nvSpPr>
        <p:spPr>
          <a:xfrm>
            <a:off x="2259663" y="4197425"/>
            <a:ext cx="22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Ice cream flavours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98"/>
          <p:cNvSpPr txBox="1"/>
          <p:nvPr/>
        </p:nvSpPr>
        <p:spPr>
          <a:xfrm>
            <a:off x="4203200" y="679800"/>
            <a:ext cx="439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xis titles missing from Alex’s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aps between bars missing from Jacob’s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9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is no data between the two categories, they are separate.</a:t>
            </a:r>
            <a:endParaRPr/>
          </a:p>
        </p:txBody>
      </p:sp>
      <p:sp>
        <p:nvSpPr>
          <p:cNvPr id="1649" name="Google Shape;164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650" name="Google Shape;1650;p9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charts should have gaps between each bar.</a:t>
            </a:r>
            <a:endParaRPr/>
          </a:p>
        </p:txBody>
      </p:sp>
      <p:sp>
        <p:nvSpPr>
          <p:cNvPr id="1651" name="Google Shape;1651;p9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your choice whether there are gaps or not.</a:t>
            </a:r>
            <a:endParaRPr/>
          </a:p>
        </p:txBody>
      </p:sp>
      <p:pic>
        <p:nvPicPr>
          <p:cNvPr id="1652" name="Google Shape;165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033" y="35206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53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659" name="Google Shape;1659;p100"/>
          <p:cNvSpPr txBox="1"/>
          <p:nvPr/>
        </p:nvSpPr>
        <p:spPr>
          <a:xfrm>
            <a:off x="255325" y="617850"/>
            <a:ext cx="43956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this bar chart to answer the following questions: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was the most popular colour in each year?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Compare the number of students who liked yellow best in each year group.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How many more Year 7 students than year 10 students liked green best?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How many students were in each year group?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925" y="738638"/>
            <a:ext cx="4076251" cy="284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This bar chart shows the different ways that students travel to school.</a:t>
            </a:r>
            <a:br>
              <a:rPr lang="en-GB" sz="1800"/>
            </a:br>
            <a:r>
              <a:rPr lang="en-GB" sz="1800"/>
              <a:t>Label the two axes and complete the bar chart based on the clues.</a:t>
            </a:r>
            <a:endParaRPr sz="1800"/>
          </a:p>
        </p:txBody>
      </p:sp>
      <p:sp>
        <p:nvSpPr>
          <p:cNvPr id="1666" name="Google Shape;166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667" name="Google Shape;1667;p101"/>
          <p:cNvSpPr txBox="1"/>
          <p:nvPr/>
        </p:nvSpPr>
        <p:spPr>
          <a:xfrm>
            <a:off x="610500" y="1404150"/>
            <a:ext cx="43956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most popular way to travel is walking.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least common way to travel is on a scooter.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Twice as many people walk as cycle.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of people who travel by car is three-quarters of the number of people who walk.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Twelve people travel by bus.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8" name="Google Shape;166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400" y="1890074"/>
            <a:ext cx="3451601" cy="18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01"/>
          <p:cNvSpPr txBox="1"/>
          <p:nvPr/>
        </p:nvSpPr>
        <p:spPr>
          <a:xfrm rot="5400000">
            <a:off x="5512287" y="3927473"/>
            <a:ext cx="66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0" name="Google Shape;1670;p101"/>
          <p:cNvCxnSpPr/>
          <p:nvPr/>
        </p:nvCxnSpPr>
        <p:spPr>
          <a:xfrm flipH="1" rot="10800000">
            <a:off x="5280869" y="3754800"/>
            <a:ext cx="3434100" cy="2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676" name="Google Shape;1676;p102"/>
          <p:cNvSpPr txBox="1"/>
          <p:nvPr/>
        </p:nvSpPr>
        <p:spPr>
          <a:xfrm>
            <a:off x="255325" y="617850"/>
            <a:ext cx="4395600" cy="4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Use this bar chart to answer the following questions: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was the most popular colour in each year?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Year 7: red, Year 10: black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Compare the number of students who liked yellow best in each year group.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more student liked yellow in year 7 than year 10.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7" name="Google Shape;167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925" y="738638"/>
            <a:ext cx="4076251" cy="284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1683" name="Google Shape;1683;p103"/>
          <p:cNvSpPr txBox="1"/>
          <p:nvPr/>
        </p:nvSpPr>
        <p:spPr>
          <a:xfrm>
            <a:off x="255325" y="617850"/>
            <a:ext cx="43956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questions can you answer by using the bar chart?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more Year 7 students than year 10 students liked green best?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None, it was equal.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students were in each year group?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Year 7: 192 students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Year 10: 191 students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4" name="Google Shape;168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925" y="738638"/>
            <a:ext cx="4076251" cy="284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This bar chart shows the different ways that students travel to school.</a:t>
            </a:r>
            <a:br>
              <a:rPr lang="en-GB" sz="1800"/>
            </a:br>
            <a:r>
              <a:rPr lang="en-GB" sz="1800"/>
              <a:t>Label the two axes and complete the bar chart based on the clues.</a:t>
            </a:r>
            <a:endParaRPr sz="1800"/>
          </a:p>
        </p:txBody>
      </p:sp>
      <p:sp>
        <p:nvSpPr>
          <p:cNvPr id="1690" name="Google Shape;1690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charts</a:t>
            </a:r>
            <a:endParaRPr/>
          </a:p>
        </p:txBody>
      </p:sp>
      <p:pic>
        <p:nvPicPr>
          <p:cNvPr id="1691" name="Google Shape;169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700" y="1768608"/>
            <a:ext cx="3451601" cy="18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04"/>
          <p:cNvSpPr/>
          <p:nvPr/>
        </p:nvSpPr>
        <p:spPr>
          <a:xfrm>
            <a:off x="2887200" y="2717325"/>
            <a:ext cx="307200" cy="9348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04"/>
          <p:cNvSpPr txBox="1"/>
          <p:nvPr/>
        </p:nvSpPr>
        <p:spPr>
          <a:xfrm rot="5400000">
            <a:off x="3254475" y="3821125"/>
            <a:ext cx="82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Walk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4" name="Google Shape;1694;p104"/>
          <p:cNvCxnSpPr/>
          <p:nvPr/>
        </p:nvCxnSpPr>
        <p:spPr>
          <a:xfrm>
            <a:off x="2541112" y="3655387"/>
            <a:ext cx="3502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104"/>
          <p:cNvSpPr txBox="1"/>
          <p:nvPr/>
        </p:nvSpPr>
        <p:spPr>
          <a:xfrm rot="5400000">
            <a:off x="3857025" y="3867025"/>
            <a:ext cx="91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Cycle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6" name="Google Shape;1696;p104"/>
          <p:cNvSpPr txBox="1"/>
          <p:nvPr/>
        </p:nvSpPr>
        <p:spPr>
          <a:xfrm rot="5400000">
            <a:off x="4562775" y="3809725"/>
            <a:ext cx="80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7" name="Google Shape;1697;p104"/>
          <p:cNvSpPr txBox="1"/>
          <p:nvPr/>
        </p:nvSpPr>
        <p:spPr>
          <a:xfrm rot="5400000">
            <a:off x="5069100" y="3893725"/>
            <a:ext cx="96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Scooter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8" name="Google Shape;1698;p104"/>
          <p:cNvSpPr txBox="1"/>
          <p:nvPr/>
        </p:nvSpPr>
        <p:spPr>
          <a:xfrm>
            <a:off x="2258500" y="3095000"/>
            <a:ext cx="28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9" name="Google Shape;1699;p104"/>
          <p:cNvSpPr txBox="1"/>
          <p:nvPr/>
        </p:nvSpPr>
        <p:spPr>
          <a:xfrm>
            <a:off x="2206431" y="2774250"/>
            <a:ext cx="41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0" name="Google Shape;1700;p104"/>
          <p:cNvSpPr txBox="1"/>
          <p:nvPr/>
        </p:nvSpPr>
        <p:spPr>
          <a:xfrm>
            <a:off x="2206356" y="2453506"/>
            <a:ext cx="41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1" name="Google Shape;1701;p104"/>
          <p:cNvSpPr txBox="1"/>
          <p:nvPr/>
        </p:nvSpPr>
        <p:spPr>
          <a:xfrm>
            <a:off x="2132356" y="2111650"/>
            <a:ext cx="49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2" name="Google Shape;1702;p104"/>
          <p:cNvSpPr txBox="1"/>
          <p:nvPr/>
        </p:nvSpPr>
        <p:spPr>
          <a:xfrm>
            <a:off x="2132331" y="1814481"/>
            <a:ext cx="49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3" name="Google Shape;1703;p104"/>
          <p:cNvSpPr txBox="1"/>
          <p:nvPr/>
        </p:nvSpPr>
        <p:spPr>
          <a:xfrm rot="-5400000">
            <a:off x="1248000" y="1954675"/>
            <a:ext cx="136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4" name="Google Shape;1704;p104"/>
          <p:cNvSpPr txBox="1"/>
          <p:nvPr/>
        </p:nvSpPr>
        <p:spPr>
          <a:xfrm>
            <a:off x="3420225" y="4456675"/>
            <a:ext cx="211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Methods of travel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5" name="Google Shape;1705;p104"/>
          <p:cNvSpPr txBox="1"/>
          <p:nvPr/>
        </p:nvSpPr>
        <p:spPr>
          <a:xfrm rot="5400000">
            <a:off x="2771150" y="3851273"/>
            <a:ext cx="66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6" name="Google Shape;1706;p104"/>
          <p:cNvCxnSpPr/>
          <p:nvPr/>
        </p:nvCxnSpPr>
        <p:spPr>
          <a:xfrm rot="10800000">
            <a:off x="2556375" y="1571975"/>
            <a:ext cx="0" cy="210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 and bar charts both represent data through </a:t>
            </a:r>
            <a:r>
              <a:rPr b="1" lang="en-GB"/>
              <a:t>frequency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Pictograms use icons to show the </a:t>
            </a:r>
            <a:r>
              <a:rPr b="1" lang="en-GB"/>
              <a:t>frequency</a:t>
            </a:r>
            <a:r>
              <a:rPr lang="en-GB"/>
              <a:t>, where a key is given to support.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Bar charts represent </a:t>
            </a:r>
            <a:r>
              <a:rPr b="1" lang="en-GB"/>
              <a:t>frequency</a:t>
            </a:r>
            <a:r>
              <a:rPr lang="en-GB"/>
              <a:t> using the height (or length if the chart is horizontal) of a bar. There are gaps between each ba</a:t>
            </a:r>
            <a:r>
              <a:rPr lang="en-GB"/>
              <a:t>r.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05"/>
          <p:cNvSpPr txBox="1"/>
          <p:nvPr>
            <p:ph type="title"/>
          </p:nvPr>
        </p:nvSpPr>
        <p:spPr>
          <a:xfrm>
            <a:off x="1684800" y="157525"/>
            <a:ext cx="634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pictograms and bar charts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18" name="Google Shape;1718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