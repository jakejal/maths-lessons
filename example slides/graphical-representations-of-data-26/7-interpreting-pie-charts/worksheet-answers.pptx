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7560000" cy="10692000"/>
  <p:notesSz cx="6858000" cy="9144000"/>
  <p:embeddedFontLst>
    <p:embeddedFont>
      <p:font typeface="Lexend" panose="00000000000000000000"/>
      <p:regular r:id="rId9"/>
    </p:embeddedFont>
    <p:embeddedFont>
      <p:font typeface="Kalam" panose="02000000000000000000"/>
      <p:regular r:id="rId10"/>
    </p:embeddedFont>
    <p:embeddedFont>
      <p:font typeface="Lexend Medium" panose="00000000000000000000"/>
      <p:regular r:id="rId11"/>
    </p:embeddedFont>
    <p:embeddedFont>
      <p:font typeface="Lexend Light" panose="00000000000000000000"/>
      <p:regular r:id="rId12"/>
    </p:embeddedFont>
  </p:embeddedFontLst>
  <p:custDataLst>
    <p:tags r:id="rId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B4E31D9-935D-44B5-8014-35BE8FF6FE66}">
  <a:tblStyle styleId="{DB4E31D9-935D-44B5-8014-35BE8FF6FE6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4FCF4"/>
          </a:solidFill>
        </a:fill>
      </a:tcStyle>
    </a:wholeTbl>
    <a:band1H>
      <a:tcTxStyle b="off" i="off"/>
      <a:tcStyle>
        <a:fill>
          <a:solidFill>
            <a:srgbClr val="E8FA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FAE7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EF2BD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EF2BD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BEF2BD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BEF2BD"/>
          </a:solidFill>
        </a:fill>
      </a:tcStyle>
    </a:firstRow>
    <a:neCell>
      <a:tcTxStyle b="off" i="off"/>
    </a:neCell>
    <a:nwCell>
      <a:tcTxStyle b="off" i="off"/>
    </a:nwCell>
  </a:tblStyle>
  <a:tblStyle styleId="{C9900159-0B8B-49DC-9F3E-FC3CC235CB8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2.fntdata" /><Relationship Id="rId11" Type="http://schemas.openxmlformats.org/officeDocument/2006/relationships/font" Target="fonts/font3.fntdata" /><Relationship Id="rId12" Type="http://schemas.openxmlformats.org/officeDocument/2006/relationships/font" Target="fonts/font4.fntdata" /><Relationship Id="rId13" Type="http://schemas.openxmlformats.org/officeDocument/2006/relationships/presProps" Target="presProps.xml" /><Relationship Id="rId14" Type="http://schemas.openxmlformats.org/officeDocument/2006/relationships/viewProps" Target="viewProps.xml" /><Relationship Id="rId15" Type="http://schemas.openxmlformats.org/officeDocument/2006/relationships/theme" Target="theme/theme1.xml" /><Relationship Id="rId16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font" Target="fonts/font1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8" name="Shape 188"/>
        <p:cNvGrpSpPr/>
        <p:nvPr/>
      </p:nvGrpSpPr>
      <p:grpSpPr>
        <a:xfrm>
          <a:off x="0" y="0"/>
          <a:ext cx="0" cy="0"/>
        </a:xfrm>
      </p:grpSpPr>
      <p:sp>
        <p:nvSpPr>
          <p:cNvPr id="189" name="Google Shape;189;g292f65bd4af_0_19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92f65bd4af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3" name="Shape 203"/>
        <p:cNvGrpSpPr/>
        <p:nvPr/>
      </p:nvGrpSpPr>
      <p:grpSpPr>
        <a:xfrm>
          <a:off x="0" y="0"/>
          <a:ext cx="0" cy="0"/>
        </a:xfrm>
      </p:grpSpPr>
      <p:sp>
        <p:nvSpPr>
          <p:cNvPr id="204" name="Google Shape;204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0" name="Shape 240"/>
        <p:cNvGrpSpPr/>
        <p:nvPr/>
      </p:nvGrpSpPr>
      <p:grpSpPr>
        <a:xfrm>
          <a:off x="0" y="0"/>
          <a:ext cx="0" cy="0"/>
        </a:xfrm>
      </p:grpSpPr>
      <p:sp>
        <p:nvSpPr>
          <p:cNvPr id="241" name="Google Shape;241;g292f65bd4af_0_5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92f65bd4af_0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8.png" /><Relationship Id="rId4" Type="http://schemas.openxmlformats.org/officeDocument/2006/relationships/image" Target="../media/image9.png" /><Relationship Id="rId5" Type="http://schemas.openxmlformats.org/officeDocument/2006/relationships/image" Target="../media/image10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1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12.png" /><Relationship Id="rId4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5763526" y="6108266"/>
            <a:ext cx="11904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0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20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r>
              <a:rPr lang="en-GB" sz="2000">
                <a:solidFill>
                  <a:srgbClr val="F3EEFB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F3EEFB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6002050" y="6176477"/>
            <a:ext cx="932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2091526" y="3629351"/>
            <a:ext cx="11904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0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20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r>
              <a:rPr lang="en-GB" sz="2000">
                <a:solidFill>
                  <a:srgbClr val="F3EEFB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F3EEFB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330050" y="3697561"/>
            <a:ext cx="932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Calculating frequencies from the size of a sector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7" name="Google Shape;177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Interpreting pie charts</a:t>
            </a:r>
            <a:endParaRPr/>
          </a:p>
        </p:txBody>
      </p:sp>
      <p:graphicFrame>
        <p:nvGraphicFramePr>
          <p:cNvPr id="178" name="Google Shape;178;p20"/>
          <p:cNvGraphicFramePr>
            <a:graphicFrameLocks noGrp="1"/>
          </p:cNvGraphicFramePr>
          <p:nvPr/>
        </p:nvGraphicFramePr>
        <p:xfrm>
          <a:off x="467994" y="1703902"/>
          <a:ext cx="2952000" cy="1842380"/>
        </p:xfrm>
        <a:graphic>
          <a:graphicData uri="http://schemas.openxmlformats.org/drawingml/2006/table">
            <a:tbl>
              <a:tblPr firstRow="1" bandRow="1">
                <a:noFill/>
                <a:tableStyleId>{DB4E31D9-935D-44B5-8014-35BE8FF6FE66}</a:tableStyleId>
              </a:tblPr>
              <a:tblGrid>
                <a:gridCol w="1220750"/>
                <a:gridCol w="1003475"/>
                <a:gridCol w="727775"/>
              </a:tblGrid>
              <a:tr h="1483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subject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maths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English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science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other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90</a:t>
                      </a:r>
                      <a:endParaRPr sz="1200" u="none" strike="noStrike" cap="non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9" name="Google Shape;179;p20"/>
          <p:cNvSpPr/>
          <p:nvPr/>
        </p:nvSpPr>
        <p:spPr>
          <a:xfrm rot="10800000" flipH="1">
            <a:off x="2091526" y="3586678"/>
            <a:ext cx="1190381" cy="145325"/>
          </a:xfrm>
          <a:custGeom>
            <a:rect l="l" t="t" r="r" b="b"/>
            <a:pathLst>
              <a:path w="23810" h="5813" extrusionOk="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/>
        </p:txBody>
      </p:sp>
      <p:sp>
        <p:nvSpPr>
          <p:cNvPr id="180" name="Google Shape;180;p20"/>
          <p:cNvSpPr txBox="1"/>
          <p:nvPr/>
        </p:nvSpPr>
        <p:spPr>
          <a:xfrm>
            <a:off x="3780000" y="1649548"/>
            <a:ext cx="3312000" cy="2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group of students were asked what their favourite subject was.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 students voted for “science”.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this set of data.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Calculate all other frequencies by dividing using this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Calculate the total number of students who were asked.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1" name="Google Shape;181;p20"/>
          <p:cNvGraphicFramePr>
            <a:graphicFrameLocks noGrp="1"/>
          </p:cNvGraphicFramePr>
          <p:nvPr/>
        </p:nvGraphicFramePr>
        <p:xfrm>
          <a:off x="4139994" y="4192727"/>
          <a:ext cx="2952000" cy="1842380"/>
        </p:xfrm>
        <a:graphic>
          <a:graphicData uri="http://schemas.openxmlformats.org/drawingml/2006/table">
            <a:tbl>
              <a:tblPr firstRow="1" bandRow="1">
                <a:noFill/>
                <a:tableStyleId>{DB4E31D9-935D-44B5-8014-35BE8FF6FE66}</a:tableStyleId>
              </a:tblPr>
              <a:tblGrid>
                <a:gridCol w="1220750"/>
                <a:gridCol w="1003475"/>
                <a:gridCol w="727775"/>
              </a:tblGrid>
              <a:tr h="108675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activity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cake sale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concert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117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charity race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face painting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120</a:t>
                      </a:r>
                      <a:endParaRPr sz="1200" u="none" strike="noStrike" cap="non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20"/>
          <p:cNvSpPr/>
          <p:nvPr/>
        </p:nvSpPr>
        <p:spPr>
          <a:xfrm rot="10800000" flipH="1">
            <a:off x="5763526" y="6065594"/>
            <a:ext cx="1190381" cy="145325"/>
          </a:xfrm>
          <a:custGeom>
            <a:rect l="l" t="t" r="r" b="b"/>
            <a:pathLst>
              <a:path w="23810" h="5813" extrusionOk="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/>
        </p:txBody>
      </p:sp>
      <p:sp>
        <p:nvSpPr>
          <p:cNvPr id="183" name="Google Shape;183;p20"/>
          <p:cNvSpPr txBox="1"/>
          <p:nvPr/>
        </p:nvSpPr>
        <p:spPr>
          <a:xfrm>
            <a:off x="468000" y="4192724"/>
            <a:ext cx="3312000" cy="15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Oakfield Academy are organising a fair to raise money to improve environmental efficiency of their school.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data shows votes of students for what they will do during the fair.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Calculate all missing frequencies.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4" name="Google Shape;184;p20"/>
          <p:cNvGraphicFramePr>
            <a:graphicFrameLocks noGrp="1"/>
          </p:cNvGraphicFramePr>
          <p:nvPr/>
        </p:nvGraphicFramePr>
        <p:xfrm>
          <a:off x="467994" y="6384503"/>
          <a:ext cx="2952000" cy="2174280"/>
        </p:xfrm>
        <a:graphic>
          <a:graphicData uri="http://schemas.openxmlformats.org/drawingml/2006/table">
            <a:tbl>
              <a:tblPr firstRow="1" bandRow="1">
                <a:noFill/>
                <a:tableStyleId>{DB4E31D9-935D-44B5-8014-35BE8FF6FE66}</a:tableStyleId>
              </a:tblPr>
              <a:tblGrid>
                <a:gridCol w="1220750"/>
                <a:gridCol w="1003475"/>
                <a:gridCol w="727775"/>
              </a:tblGrid>
              <a:tr h="1483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Tuesday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Wednesday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156°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Thursday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Friday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5" name="Google Shape;185;p20"/>
          <p:cNvSpPr txBox="1"/>
          <p:nvPr/>
        </p:nvSpPr>
        <p:spPr>
          <a:xfrm>
            <a:off x="468000" y="8605575"/>
            <a:ext cx="29520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 pie chart shows the suggested days of the week the fair could be run 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 the table by:                                                     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908400" y="9465375"/>
            <a:ext cx="32316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measuring all missing angles,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calculating all missing frequencies.                                                      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>
          <a:blip r:embed="rId3">
            <a:alphaModFix/>
          </a:blip>
          <a:srcRect l="10505" t="5409" r="10505" b="12000"/>
          <a:stretch>
            <a:fillRect/>
          </a:stretch>
        </p:blipFill>
        <p:spPr>
          <a:xfrm>
            <a:off x="4147975" y="6567375"/>
            <a:ext cx="2936050" cy="331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1" name="Shape 191"/>
        <p:cNvGrpSpPr/>
        <p:nvPr/>
      </p:nvGrpSpPr>
      <p:grpSpPr>
        <a:xfrm>
          <a:off x="0" y="0"/>
          <a:ext cx="0" cy="0"/>
        </a:xfrm>
      </p:grpSpPr>
      <p:sp>
        <p:nvSpPr>
          <p:cNvPr id="192" name="Google Shape;19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Interpreting pie charts</a:t>
            </a:r>
            <a:endParaRPr/>
          </a:p>
        </p:txBody>
      </p:sp>
      <p:pic>
        <p:nvPicPr>
          <p:cNvPr id="193" name="Google Shape;193;p21"/>
          <p:cNvPicPr preferRelativeResize="0"/>
          <p:nvPr/>
        </p:nvPicPr>
        <p:blipFill>
          <a:blip r:embed="rId3">
            <a:alphaModFix/>
          </a:blip>
          <a:srcRect l="9885" t="9885" r="9877" b="9877"/>
          <a:stretch>
            <a:fillRect/>
          </a:stretch>
        </p:blipFill>
        <p:spPr>
          <a:xfrm>
            <a:off x="4148238" y="3602876"/>
            <a:ext cx="2064075" cy="2222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4" name="Google Shape;194;p21"/>
          <p:cNvGraphicFramePr>
            <a:graphicFrameLocks noGrp="1"/>
          </p:cNvGraphicFramePr>
          <p:nvPr/>
        </p:nvGraphicFramePr>
        <p:xfrm>
          <a:off x="493094" y="135927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{DB4E31D9-935D-44B5-8014-35BE8FF6FE66}</a:tableStyleId>
              </a:tblPr>
              <a:tblGrid>
                <a:gridCol w="1095675"/>
                <a:gridCol w="609150"/>
                <a:gridCol w="833250"/>
              </a:tblGrid>
              <a:tr h="2803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colour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purple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115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360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95" name="Google Shape;195;p21"/>
          <p:cNvPicPr preferRelativeResize="0"/>
          <p:nvPr/>
        </p:nvPicPr>
        <p:blipFill>
          <a:blip r:embed="rId4">
            <a:alphaModFix/>
          </a:blip>
          <a:srcRect l="9903" t="9903" r="9903" b="9903"/>
          <a:stretch>
            <a:fillRect/>
          </a:stretch>
        </p:blipFill>
        <p:spPr>
          <a:xfrm>
            <a:off x="4139998" y="1008175"/>
            <a:ext cx="2080575" cy="2103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" name="Google Shape;196;p21"/>
          <p:cNvGraphicFramePr>
            <a:graphicFrameLocks noGrp="1"/>
          </p:cNvGraphicFramePr>
          <p:nvPr/>
        </p:nvGraphicFramePr>
        <p:xfrm>
          <a:off x="493094" y="414367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{DB4E31D9-935D-44B5-8014-35BE8FF6FE66}</a:tableStyleId>
              </a:tblPr>
              <a:tblGrid>
                <a:gridCol w="1095675"/>
                <a:gridCol w="609150"/>
                <a:gridCol w="833250"/>
              </a:tblGrid>
              <a:tr h="2803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vehicle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195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bike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bus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360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7" name="Google Shape;197;p21"/>
          <p:cNvGraphicFramePr>
            <a:graphicFrameLocks noGrp="1"/>
          </p:cNvGraphicFramePr>
          <p:nvPr/>
        </p:nvGraphicFramePr>
        <p:xfrm>
          <a:off x="493106" y="692810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{DB4E31D9-935D-44B5-8014-35BE8FF6FE66}</a:tableStyleId>
              </a:tblPr>
              <a:tblGrid>
                <a:gridCol w="1130500"/>
                <a:gridCol w="628500"/>
                <a:gridCol w="859725"/>
              </a:tblGrid>
              <a:tr h="2803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vote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198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undecided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360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98" name="Google Shape;19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9700" y="6315700"/>
            <a:ext cx="2541150" cy="259294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/>
          <p:nvPr/>
        </p:nvSpPr>
        <p:spPr>
          <a:xfrm rot="-4324873">
            <a:off x="4944978" y="7573806"/>
            <a:ext cx="210616" cy="21061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68000" y="720000"/>
            <a:ext cx="4449600" cy="1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Fill in all missing information for each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" name="Google Shape;201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" name="Google Shape;20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6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Comparing pie charts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09" name="Google Shape;209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Interpreting pie charts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68000" y="995475"/>
            <a:ext cx="64227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headteacher is comparing the exam results of two classes.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" name="Google Shape;2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259" y="1479305"/>
            <a:ext cx="3152167" cy="167819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3" name="Google Shape;213;p22"/>
          <p:cNvSpPr txBox="1"/>
          <p:nvPr/>
        </p:nvSpPr>
        <p:spPr>
          <a:xfrm>
            <a:off x="689269" y="1266380"/>
            <a:ext cx="15759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Class 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265285" y="1266380"/>
            <a:ext cx="15759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Class 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1158706" y="2508572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2386621" y="2228107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3077775" y="2228107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835184" y="1937857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4009436" y="1479296"/>
            <a:ext cx="30825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headteacher says “more students passed the exam in Class R”.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headteacher may be incorrect. Can you explain why?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1362881" y="2200175"/>
            <a:ext cx="117600" cy="117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689250" y="3189825"/>
            <a:ext cx="15669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Class size of 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2292923" y="3189825"/>
            <a:ext cx="15669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Class size of 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689250" y="3599100"/>
            <a:ext cx="17463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Three-quarters of 12 is 8.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2292927" y="3599100"/>
            <a:ext cx="15669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Half of 30 is 15.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4140000" y="2508575"/>
            <a:ext cx="2952000" cy="19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higher proportion of students in Class R (three-quarters) passed the exam than Class P (half).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However, Class R could be a lot smaller than class P so that the three-quarters of a small class is smaller than half of the bigger Class P.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6" name="Google Shape;2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259" y="5338031"/>
            <a:ext cx="3152167" cy="167818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7" name="Google Shape;227;p22"/>
          <p:cNvSpPr txBox="1"/>
          <p:nvPr/>
        </p:nvSpPr>
        <p:spPr>
          <a:xfrm>
            <a:off x="2265285" y="5125107"/>
            <a:ext cx="15759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Class 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1158706" y="6367293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2386621" y="6086829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3077775" y="6086829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835184" y="5796580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1362881" y="6058898"/>
            <a:ext cx="117600" cy="117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4607839" y="6478704"/>
            <a:ext cx="23664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Class P had 10 more students.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4009436" y="5321628"/>
            <a:ext cx="30825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both classes, 15 students passed the exam.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ratio tables below to work out which class had more students.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689269" y="5125107"/>
            <a:ext cx="15759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Class 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6" name="Google Shape;236;p22"/>
          <p:cNvGraphicFramePr>
            <a:graphicFrameLocks noGrp="1"/>
          </p:cNvGraphicFramePr>
          <p:nvPr/>
        </p:nvGraphicFramePr>
        <p:xfrm>
          <a:off x="468000" y="727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{C9900159-0B8B-49DC-9F3E-FC3CC235CB89}</a:tableStyleId>
              </a:tblPr>
              <a:tblGrid>
                <a:gridCol w="1212150"/>
                <a:gridCol w="938775"/>
                <a:gridCol w="801075"/>
              </a:tblGrid>
              <a:tr h="280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pass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fail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270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7" name="Google Shape;237;p22"/>
          <p:cNvSpPr txBox="1"/>
          <p:nvPr/>
        </p:nvSpPr>
        <p:spPr>
          <a:xfrm>
            <a:off x="468000" y="7082919"/>
            <a:ext cx="29520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Class 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8" name="Google Shape;238;p22"/>
          <p:cNvGraphicFramePr>
            <a:graphicFrameLocks noGrp="1"/>
          </p:cNvGraphicFramePr>
          <p:nvPr/>
        </p:nvGraphicFramePr>
        <p:xfrm>
          <a:off x="4139988" y="727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{C9900159-0B8B-49DC-9F3E-FC3CC235CB89}</a:tableStyleId>
              </a:tblPr>
              <a:tblGrid>
                <a:gridCol w="1212150"/>
                <a:gridCol w="938750"/>
                <a:gridCol w="801075"/>
              </a:tblGrid>
              <a:tr h="280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pass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fail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180°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239" name="Google Shape;239;p22"/>
          <p:cNvSpPr txBox="1"/>
          <p:nvPr/>
        </p:nvSpPr>
        <p:spPr>
          <a:xfrm>
            <a:off x="4140000" y="7082919"/>
            <a:ext cx="29520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Class 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3" name="Shape 243"/>
        <p:cNvGrpSpPr/>
        <p:nvPr/>
      </p:nvGrpSpPr>
      <p:grpSpPr>
        <a:xfrm>
          <a:off x="0" y="0"/>
          <a:ext cx="0" cy="0"/>
        </a:xfrm>
      </p:grpSpPr>
      <p:sp>
        <p:nvSpPr>
          <p:cNvPr id="244" name="Google Shape;244;p2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245" name="Google Shape;245;p23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Interpreting pie charts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468000" y="720000"/>
            <a:ext cx="2590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People in Leeds city centre were asked whether they support Leeds United, and whether they would watch Leeds United’s next football match.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Two pie charts were drawn, one to show supporters, and one to show non-supporters.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468000" y="2864484"/>
            <a:ext cx="66240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 two pie charts represents the group of people who support Leeds United? Explain how you know.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0" name="Google Shape;2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078" y="766136"/>
            <a:ext cx="3908923" cy="20146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23"/>
          <p:cNvGrpSpPr/>
          <p:nvPr/>
        </p:nvGrpSpPr>
        <p:grpSpPr>
          <a:xfrm>
            <a:off x="3183111" y="766183"/>
            <a:ext cx="263119" cy="263119"/>
            <a:chOff x="1020916" y="1442088"/>
            <a:chExt cx="457200" cy="457200"/>
          </a:xfrm>
        </p:grpSpPr>
        <p:pic>
          <p:nvPicPr>
            <p:cNvPr id="252" name="Google Shape;252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2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4" name="Google Shape;254;p23"/>
          <p:cNvSpPr txBox="1"/>
          <p:nvPr/>
        </p:nvSpPr>
        <p:spPr>
          <a:xfrm>
            <a:off x="3486102" y="1773458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won’t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5" name="Google Shape;255;p23"/>
          <p:cNvGrpSpPr/>
          <p:nvPr/>
        </p:nvGrpSpPr>
        <p:grpSpPr>
          <a:xfrm>
            <a:off x="6828918" y="766183"/>
            <a:ext cx="263119" cy="263119"/>
            <a:chOff x="1020916" y="1442088"/>
            <a:chExt cx="457200" cy="457200"/>
          </a:xfrm>
        </p:grpSpPr>
        <p:pic>
          <p:nvPicPr>
            <p:cNvPr id="256" name="Google Shape;256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8" name="Google Shape;258;p23"/>
          <p:cNvSpPr txBox="1"/>
          <p:nvPr/>
        </p:nvSpPr>
        <p:spPr>
          <a:xfrm>
            <a:off x="4161834" y="1279465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5480688" y="1011630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won’t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6113244" y="1773461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468000" y="3212375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Pie chart b is more likely to represent people who support Leeds United, as they are more likely to watch their matches than someone who doesn’t support the team.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468000" y="4497475"/>
            <a:ext cx="2645400" cy="11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minor sector of each group both represent 80 people.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which group were more people interviewed, and by how many people?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ratio tables to help.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3" name="Google Shape;2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078" y="4470978"/>
            <a:ext cx="3908923" cy="20146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23"/>
          <p:cNvGrpSpPr/>
          <p:nvPr/>
        </p:nvGrpSpPr>
        <p:grpSpPr>
          <a:xfrm>
            <a:off x="3183111" y="4471025"/>
            <a:ext cx="263119" cy="263119"/>
            <a:chOff x="1020916" y="1442088"/>
            <a:chExt cx="457200" cy="457200"/>
          </a:xfrm>
        </p:grpSpPr>
        <p:pic>
          <p:nvPicPr>
            <p:cNvPr id="265" name="Google Shape;265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2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7" name="Google Shape;267;p23"/>
          <p:cNvSpPr txBox="1"/>
          <p:nvPr/>
        </p:nvSpPr>
        <p:spPr>
          <a:xfrm>
            <a:off x="5507147" y="4734111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won’t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3486102" y="5478300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won’t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6113244" y="5478302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0" name="Google Shape;270;p23"/>
          <p:cNvGrpSpPr/>
          <p:nvPr/>
        </p:nvGrpSpPr>
        <p:grpSpPr>
          <a:xfrm>
            <a:off x="6828918" y="4471025"/>
            <a:ext cx="263119" cy="263119"/>
            <a:chOff x="1020916" y="1442088"/>
            <a:chExt cx="457200" cy="457200"/>
          </a:xfrm>
        </p:grpSpPr>
        <p:pic>
          <p:nvPicPr>
            <p:cNvPr id="271" name="Google Shape;27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2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3" name="Google Shape;273;p23"/>
          <p:cNvSpPr txBox="1"/>
          <p:nvPr/>
        </p:nvSpPr>
        <p:spPr>
          <a:xfrm>
            <a:off x="4161834" y="4984307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74" name="Google Shape;274;p23"/>
          <p:cNvGraphicFramePr>
            <a:graphicFrameLocks noGrp="1"/>
          </p:cNvGraphicFramePr>
          <p:nvPr/>
        </p:nvGraphicFramePr>
        <p:xfrm>
          <a:off x="468000" y="70042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{C9900159-0B8B-49DC-9F3E-FC3CC235CB89}</a:tableStyleId>
              </a:tblPr>
              <a:tblGrid>
                <a:gridCol w="1212150"/>
                <a:gridCol w="938775"/>
                <a:gridCol w="801075"/>
              </a:tblGrid>
              <a:tr h="280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watch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won’t watch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120°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240°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graphicFrame>
        <p:nvGraphicFramePr>
          <p:cNvPr id="275" name="Google Shape;275;p23"/>
          <p:cNvGraphicFramePr>
            <a:graphicFrameLocks noGrp="1"/>
          </p:cNvGraphicFramePr>
          <p:nvPr/>
        </p:nvGraphicFramePr>
        <p:xfrm>
          <a:off x="4140000" y="70042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{C9900159-0B8B-49DC-9F3E-FC3CC235CB89}</a:tableStyleId>
              </a:tblPr>
              <a:tblGrid>
                <a:gridCol w="1212150"/>
                <a:gridCol w="938775"/>
                <a:gridCol w="801075"/>
              </a:tblGrid>
              <a:tr h="280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watch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won’t watch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300°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60°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480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76" name="Google Shape;276;p23"/>
          <p:cNvSpPr txBox="1"/>
          <p:nvPr/>
        </p:nvSpPr>
        <p:spPr>
          <a:xfrm>
            <a:off x="1203472" y="8027425"/>
            <a:ext cx="51531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480 - 240 = 240 more people were interviewed in group b.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77" name="Google Shape;277;p23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8" name="Google Shape;278;p23"/>
          <p:cNvSpPr txBox="1"/>
          <p:nvPr/>
        </p:nvSpPr>
        <p:spPr>
          <a:xfrm>
            <a:off x="468075" y="6760150"/>
            <a:ext cx="29520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group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4140075" y="6760150"/>
            <a:ext cx="29520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group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86</Paragraphs>
  <Slides>4</Slides>
  <Notes>4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simple-light-2</vt:lpstr>
      <vt:lpstr>Interpreting pie charts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2023-12-08T09:41:34.648</cp:lastPrinted>
  <dcterms:created xsi:type="dcterms:W3CDTF">2023-12-08T09:41:34Z</dcterms:created>
  <dcterms:modified xsi:type="dcterms:W3CDTF">2023-12-08T09:41:44Z</dcterms:modified>
</cp:coreProperties>
</file>