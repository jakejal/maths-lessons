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1D2025-0711-4614-9E20-ACEAB21110A9}">
  <a:tblStyle styleId="{6B1D2025-0711-4614-9E20-ACEAB21110A9}" styleName="Table_0">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F4FCF4"/>
          </a:solidFill>
        </a:fill>
      </a:tcStyle>
    </a:wholeTbl>
    <a:band1H>
      <a:tcTxStyle b="off" i="off"/>
      <a:tcStyle>
        <a:fill>
          <a:solidFill>
            <a:srgbClr val="E8FAE7"/>
          </a:solidFill>
        </a:fill>
      </a:tcStyle>
    </a:band1H>
    <a:band2H>
      <a:tcTxStyle b="off" i="off"/>
    </a:band2H>
    <a:band1V>
      <a:tcTxStyle b="off" i="off"/>
      <a:tcStyle>
        <a:fill>
          <a:solidFill>
            <a:srgbClr val="E8FAE7"/>
          </a:solidFill>
        </a:fill>
      </a:tcStyle>
    </a:band1V>
    <a:band2V>
      <a:tcTxStyle b="off" i="off"/>
    </a:band2V>
    <a:lastCol>
      <a:tcTxStyle b="on" i="off">
        <a:font>
          <a:latin typeface="Arial"/>
          <a:ea typeface="Arial"/>
          <a:cs typeface="Arial"/>
        </a:font>
        <a:srgbClr val="FFFFFF"/>
      </a:tcTxStyle>
      <a:tcStyle>
        <a:fill>
          <a:solidFill>
            <a:srgbClr val="BEF2BD"/>
          </a:solidFill>
        </a:fill>
      </a:tcStyle>
    </a:lastCol>
    <a:firstCol>
      <a:tcTxStyle b="on" i="off">
        <a:font>
          <a:latin typeface="Arial"/>
          <a:ea typeface="Arial"/>
          <a:cs typeface="Arial"/>
        </a:font>
        <a:srgbClr val="FFFFFF"/>
      </a:tcTxStyle>
      <a:tcStyle>
        <a:fill>
          <a:solidFill>
            <a:srgbClr val="BEF2BD"/>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BEF2BD"/>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BEF2BD"/>
          </a:solidFill>
        </a:fill>
      </a:tcStyle>
    </a:firstRow>
    <a:neCell>
      <a:tcTxStyle b="off" i="off"/>
    </a:neCell>
    <a:nwCell>
      <a:tcTxStyle b="off" i="off"/>
    </a:nwCell>
  </a:tblStyle>
  <a:tblStyle styleId="{8FE87B28-7372-46B9-B6C0-65CDB115E127}"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89f5886c12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89f5886c12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89f5886c1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89f5886c1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89f5886c1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89f5886c1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89f5886c1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289f5886c1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289f5886c1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289f5886c1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289f5886c12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289f5886c1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89f5886c12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89f5886c1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289f5886c12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289f5886c12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89f5886c12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289f5886c12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g289f5886c12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1" name="Google Shape;901;g289f5886c12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89f5886c12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9" name="Google Shape;939;g289f5886c12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289f5886c12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289f5886c12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289f5886c12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289f5886c12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289f5886c12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289f5886c12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289f5886c12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289f5886c12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289f5886c12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289f5886c12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289f5886c12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289f5886c12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89f5886c12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89f5886c12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89f5886c12_0_5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289f5886c12_0_5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89f5886c12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89f5886c12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289f5886c12_0_5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289f5886c12_0_5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289f5886c12_0_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289f5886c12_0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289f5886c1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0" name="Google Shape;1160;g289f5886c1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1" name="Shape 1171"/>
        <p:cNvGrpSpPr/>
        <p:nvPr/>
      </p:nvGrpSpPr>
      <p:grpSpPr>
        <a:xfrm>
          <a:off x="0" y="0"/>
          <a:ext cx="0" cy="0"/>
          <a:chOff x="0" y="0"/>
          <a:chExt cx="0" cy="0"/>
        </a:xfrm>
      </p:grpSpPr>
      <p:sp>
        <p:nvSpPr>
          <p:cNvPr id="1172" name="Google Shape;1172;g289f5886c12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3" name="Google Shape;1173;g289f5886c12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289f5886c12_0_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289f5886c12_0_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g289f5886c12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5" name="Google Shape;1195;g289f5886c12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289f5886c12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289f5886c12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1e924a88130_7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1e924a88130_7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1e924a88130_5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6" name="Google Shape;1256;g1e924a88130_5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1e924a88130_7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3" name="Google Shape;1273;g1e924a88130_7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g289f5886c12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9" name="Google Shape;1299;g289f5886c12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289f5886c12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289f5886c12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289f5886c12_0_8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289f5886c12_0_8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g289f5886c12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1" name="Google Shape;1351;g289f5886c12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289f5886c12_0_9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289f5886c12_0_9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g1e924a88130_5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7" name="Google Shape;1387;g1e924a88130_5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g289f5886c12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6" name="Google Shape;1406;g289f5886c12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g289f5886c12_0_9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6" name="Google Shape;1426;g289f5886c12_0_9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2" name="Shape 1442"/>
        <p:cNvGrpSpPr/>
        <p:nvPr/>
      </p:nvGrpSpPr>
      <p:grpSpPr>
        <a:xfrm>
          <a:off x="0" y="0"/>
          <a:ext cx="0" cy="0"/>
          <a:chOff x="0" y="0"/>
          <a:chExt cx="0" cy="0"/>
        </a:xfrm>
      </p:grpSpPr>
      <p:sp>
        <p:nvSpPr>
          <p:cNvPr id="1443" name="Google Shape;1443;g1e924a88130_5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4" name="Google Shape;1444;g1e924a88130_5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289f5886c12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1" name="Google Shape;1461;g289f5886c12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3" name="Google Shape;1483;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9" name="Google Shape;1489;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9.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8.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1.pn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25.png"/><Relationship Id="rId6" Type="http://schemas.openxmlformats.org/officeDocument/2006/relationships/image" Target="../media/image13.png"/><Relationship Id="rId7"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60.png"/><Relationship Id="rId5" Type="http://schemas.openxmlformats.org/officeDocument/2006/relationships/image" Target="../media/image28.png"/><Relationship Id="rId6" Type="http://schemas.openxmlformats.org/officeDocument/2006/relationships/image" Target="../media/image31.png"/><Relationship Id="rId7" Type="http://schemas.openxmlformats.org/officeDocument/2006/relationships/image" Target="../media/image1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0.png"/><Relationship Id="rId4" Type="http://schemas.openxmlformats.org/officeDocument/2006/relationships/image" Target="../media/image21.png"/><Relationship Id="rId9"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32.png"/><Relationship Id="rId7" Type="http://schemas.openxmlformats.org/officeDocument/2006/relationships/image" Target="../media/image28.png"/><Relationship Id="rId8" Type="http://schemas.openxmlformats.org/officeDocument/2006/relationships/image" Target="../media/image3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0.png"/><Relationship Id="rId4" Type="http://schemas.openxmlformats.org/officeDocument/2006/relationships/image" Target="../media/image29.png"/><Relationship Id="rId11" Type="http://schemas.openxmlformats.org/officeDocument/2006/relationships/image" Target="../media/image19.png"/><Relationship Id="rId10" Type="http://schemas.openxmlformats.org/officeDocument/2006/relationships/image" Target="../media/image37.png"/><Relationship Id="rId9" Type="http://schemas.openxmlformats.org/officeDocument/2006/relationships/image" Target="../media/image31.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32.png"/><Relationship Id="rId8" Type="http://schemas.openxmlformats.org/officeDocument/2006/relationships/image" Target="../media/image2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2.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4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0.xml"/><Relationship Id="rId3" Type="http://schemas.openxmlformats.org/officeDocument/2006/relationships/image" Target="../media/image43.png"/><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5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 Id="rId3" Type="http://schemas.openxmlformats.org/officeDocument/2006/relationships/image" Target="../media/image51.png"/><Relationship Id="rId4" Type="http://schemas.openxmlformats.org/officeDocument/2006/relationships/image" Target="../media/image5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 Id="rId3"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4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6.xml"/><Relationship Id="rId3" Type="http://schemas.openxmlformats.org/officeDocument/2006/relationships/image" Target="../media/image52.png"/><Relationship Id="rId4" Type="http://schemas.openxmlformats.org/officeDocument/2006/relationships/image" Target="../media/image5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1.xml"/><Relationship Id="rId3" Type="http://schemas.openxmlformats.org/officeDocument/2006/relationships/image" Target="../media/image5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5.xml"/><Relationship Id="rId3"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6.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5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 Id="rId3"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xml"/><Relationship Id="rId3" Type="http://schemas.openxmlformats.org/officeDocument/2006/relationships/image" Target="../media/image57.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1.xml"/><Relationship Id="rId3" Type="http://schemas.openxmlformats.org/officeDocument/2006/relationships/image" Target="../media/image57.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xml"/><Relationship Id="rId3" Type="http://schemas.openxmlformats.org/officeDocument/2006/relationships/image" Target="../media/image5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3.xml"/><Relationship Id="rId3" Type="http://schemas.openxmlformats.org/officeDocument/2006/relationships/image" Target="../media/image57.png"/><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4.xml"/><Relationship Id="rId3" Type="http://schemas.openxmlformats.org/officeDocument/2006/relationships/image" Target="../media/image6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5.xml"/><Relationship Id="rId3" Type="http://schemas.openxmlformats.org/officeDocument/2006/relationships/image" Target="../media/image6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6.xml"/><Relationship Id="rId3" Type="http://schemas.openxmlformats.org/officeDocument/2006/relationships/image" Target="../media/image59.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7.xml"/><Relationship Id="rId3" Type="http://schemas.openxmlformats.org/officeDocument/2006/relationships/image" Target="../media/image59.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8.xml"/><Relationship Id="rId3" Type="http://schemas.openxmlformats.org/officeDocument/2006/relationships/image" Target="../media/image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9.xml"/><Relationship Id="rId3" Type="http://schemas.openxmlformats.org/officeDocument/2006/relationships/image" Target="../media/image6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0.xml"/><Relationship Id="rId3" Type="http://schemas.openxmlformats.org/officeDocument/2006/relationships/image" Target="../media/image6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1.xml"/><Relationship Id="rId3" Type="http://schemas.openxmlformats.org/officeDocument/2006/relationships/image" Target="../media/image59.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2.xml"/><Relationship Id="rId3" Type="http://schemas.openxmlformats.org/officeDocument/2006/relationships/image" Target="../media/image59.png"/><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3.xml"/><Relationship Id="rId3" Type="http://schemas.openxmlformats.org/officeDocument/2006/relationships/image" Target="../media/image59.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Interpreting pie charts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Graphical representations of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interpret pie charts.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1" type="subTitle"/>
          </p:nvPr>
        </p:nvSpPr>
        <p:spPr>
          <a:xfrm>
            <a:off x="324000" y="667850"/>
            <a:ext cx="72081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1"/>
                </a:solidFill>
                <a:highlight>
                  <a:srgbClr val="FFFFFF"/>
                </a:highlight>
              </a:rPr>
              <a:t>A pie chart (pie graph) is a circular graph where sectors represent different groups proportionally.  </a:t>
            </a:r>
            <a:endParaRPr sz="1800">
              <a:solidFill>
                <a:schemeClr val="dk1"/>
              </a:solidFill>
            </a:endParaRPr>
          </a:p>
        </p:txBody>
      </p:sp>
      <p:sp>
        <p:nvSpPr>
          <p:cNvPr id="767" name="Google Shape;767;p67"/>
          <p:cNvSpPr txBox="1"/>
          <p:nvPr>
            <p:ph idx="2" type="subTitle"/>
          </p:nvPr>
        </p:nvSpPr>
        <p:spPr>
          <a:xfrm>
            <a:off x="324000" y="1474557"/>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1"/>
                </a:solidFill>
              </a:rPr>
              <a:t>The frequency is the number of times an event occurs; or the number of individuals (people, animals etc.) with some specific property. </a:t>
            </a:r>
            <a:endParaRPr sz="1800">
              <a:solidFill>
                <a:schemeClr val="dk1"/>
              </a:solidFill>
            </a:endParaRPr>
          </a:p>
        </p:txBody>
      </p:sp>
      <p:sp>
        <p:nvSpPr>
          <p:cNvPr id="768" name="Google Shape;768;p67"/>
          <p:cNvSpPr txBox="1"/>
          <p:nvPr>
            <p:ph idx="3" type="subTitle"/>
          </p:nvPr>
        </p:nvSpPr>
        <p:spPr>
          <a:xfrm>
            <a:off x="324000" y="2314182"/>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1"/>
                </a:solidFill>
              </a:rPr>
              <a:t>A sector is the region formed between two radii and their connecting arc.  </a:t>
            </a:r>
            <a:endParaRPr sz="1800">
              <a:solidFill>
                <a:schemeClr val="dk1"/>
              </a:solidFill>
            </a:endParaRPr>
          </a:p>
        </p:txBody>
      </p:sp>
      <p:sp>
        <p:nvSpPr>
          <p:cNvPr id="769" name="Google Shape;769;p67"/>
          <p:cNvSpPr txBox="1"/>
          <p:nvPr>
            <p:ph idx="4" type="subTitle"/>
          </p:nvPr>
        </p:nvSpPr>
        <p:spPr>
          <a:xfrm>
            <a:off x="324000" y="2789188"/>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1"/>
                </a:solidFill>
                <a:highlight>
                  <a:srgbClr val="FFFFFF"/>
                </a:highlight>
              </a:rPr>
              <a:t>P</a:t>
            </a:r>
            <a:r>
              <a:rPr lang="en-GB" sz="1800">
                <a:solidFill>
                  <a:schemeClr val="dk1"/>
                </a:solidFill>
                <a:highlight>
                  <a:srgbClr val="FFFFFF"/>
                </a:highlight>
              </a:rPr>
              <a:t>roportion is a part to whole (sometimes part to part) comparison. If two things are proportional then the ratio of part to whole is maintained and the multiplicative relationship between parts is also maintained. </a:t>
            </a:r>
            <a:endParaRPr sz="1800">
              <a:solidFill>
                <a:schemeClr val="dk1"/>
              </a:solidFill>
            </a:endParaRPr>
          </a:p>
        </p:txBody>
      </p:sp>
      <p:sp>
        <p:nvSpPr>
          <p:cNvPr id="770" name="Google Shape;770;p67"/>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dk1"/>
                </a:solidFill>
              </a:rPr>
              <a:t>Degrees are the most common unit of measurement for angle. One whole turn is equal to 360 degrees, written 360°.</a:t>
            </a:r>
            <a:endParaRPr sz="1800">
              <a:solidFill>
                <a:schemeClr val="dk1"/>
              </a:solidFill>
            </a:endParaRPr>
          </a:p>
        </p:txBody>
      </p:sp>
      <p:pic>
        <p:nvPicPr>
          <p:cNvPr id="771" name="Google Shape;771;p67"/>
          <p:cNvPicPr preferRelativeResize="0"/>
          <p:nvPr/>
        </p:nvPicPr>
        <p:blipFill>
          <a:blip r:embed="rId3">
            <a:alphaModFix/>
          </a:blip>
          <a:stretch>
            <a:fillRect/>
          </a:stretch>
        </p:blipFill>
        <p:spPr>
          <a:xfrm>
            <a:off x="7592925" y="667850"/>
            <a:ext cx="755725" cy="7559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sp>
        <p:nvSpPr>
          <p:cNvPr id="777" name="Google Shape;777;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pie charts</a:t>
            </a:r>
            <a:endParaRPr/>
          </a:p>
        </p:txBody>
      </p:sp>
      <p:sp>
        <p:nvSpPr>
          <p:cNvPr id="778" name="Google Shape;778;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Interpreting pie charts</a:t>
            </a:r>
            <a:endParaRPr/>
          </a:p>
        </p:txBody>
      </p:sp>
      <p:pic>
        <p:nvPicPr>
          <p:cNvPr id="779" name="Google Shape;779;p68"/>
          <p:cNvPicPr preferRelativeResize="0"/>
          <p:nvPr/>
        </p:nvPicPr>
        <p:blipFill>
          <a:blip r:embed="rId3">
            <a:alphaModFix/>
          </a:blip>
          <a:stretch>
            <a:fillRect/>
          </a:stretch>
        </p:blipFill>
        <p:spPr>
          <a:xfrm>
            <a:off x="408319" y="2059731"/>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9"/>
          <p:cNvSpPr txBox="1"/>
          <p:nvPr>
            <p:ph idx="1" type="body"/>
          </p:nvPr>
        </p:nvSpPr>
        <p:spPr>
          <a:xfrm>
            <a:off x="324000" y="683100"/>
            <a:ext cx="84960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table below shows all the angles, but not all the frequencies. Show a method to find these missing frequencies.</a:t>
            </a:r>
            <a:endParaRPr sz="2000"/>
          </a:p>
        </p:txBody>
      </p:sp>
      <p:sp>
        <p:nvSpPr>
          <p:cNvPr id="785" name="Google Shape;785;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graphicFrame>
        <p:nvGraphicFramePr>
          <p:cNvPr id="786" name="Google Shape;786;p69"/>
          <p:cNvGraphicFramePr/>
          <p:nvPr/>
        </p:nvGraphicFramePr>
        <p:xfrm>
          <a:off x="532969" y="1571001"/>
          <a:ext cx="3000000" cy="3000000"/>
        </p:xfrm>
        <a:graphic>
          <a:graphicData uri="http://schemas.openxmlformats.org/drawingml/2006/table">
            <a:tbl>
              <a:tblPr bandRow="1" firstRow="1">
                <a:noFill/>
                <a:tableStyleId>{6B1D2025-0711-4614-9E20-ACEAB21110A9}</a:tableStyleId>
              </a:tblPr>
              <a:tblGrid>
                <a:gridCol w="1220725"/>
                <a:gridCol w="1373525"/>
                <a:gridCol w="848850"/>
              </a:tblGrid>
              <a:tr h="298975">
                <a:tc gridSpan="3">
                  <a:txBody>
                    <a:bodyPr/>
                    <a:lstStyle/>
                    <a:p>
                      <a:pPr indent="0" lvl="0" marL="0" rtl="0" algn="ctr">
                        <a:spcBef>
                          <a:spcPts val="0"/>
                        </a:spcBef>
                        <a:spcAft>
                          <a:spcPts val="0"/>
                        </a:spcAft>
                        <a:buNone/>
                      </a:pPr>
                      <a:r>
                        <a:rPr b="0" lang="en-GB" sz="1800">
                          <a:solidFill>
                            <a:schemeClr val="lt1"/>
                          </a:solidFill>
                          <a:latin typeface="Lexend"/>
                          <a:ea typeface="Lexend"/>
                          <a:cs typeface="Lexend"/>
                          <a:sym typeface="Lexend"/>
                        </a:rPr>
                        <a:t>teachers from parts of the UK</a:t>
                      </a:r>
                      <a:endParaRPr b="0"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hMerge="1"/>
                <a:tc hMerge="1"/>
              </a:tr>
              <a:tr h="298975">
                <a:tc>
                  <a:txBody>
                    <a:bodyPr/>
                    <a:lstStyle/>
                    <a:p>
                      <a:pPr indent="0" lvl="0" marL="0" marR="0" rtl="0" algn="l">
                        <a:lnSpc>
                          <a:spcPct val="100000"/>
                        </a:lnSpc>
                        <a:spcBef>
                          <a:spcPts val="0"/>
                        </a:spcBef>
                        <a:spcAft>
                          <a:spcPts val="0"/>
                        </a:spcAft>
                        <a:buClr>
                          <a:srgbClr val="000000"/>
                        </a:buClr>
                        <a:buSzPts val="1800"/>
                        <a:buFont typeface="Arial"/>
                        <a:buNone/>
                      </a:pPr>
                      <a:r>
                        <a:rPr b="0" lang="en-GB" sz="1800">
                          <a:solidFill>
                            <a:schemeClr val="lt1"/>
                          </a:solidFill>
                          <a:latin typeface="Lexend"/>
                          <a:ea typeface="Lexend"/>
                          <a:cs typeface="Lexend"/>
                          <a:sym typeface="Lexend"/>
                        </a:rPr>
                        <a:t>location</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solidFill>
                            <a:schemeClr val="lt1"/>
                          </a:solidFill>
                          <a:latin typeface="Lexend"/>
                          <a:ea typeface="Lexend"/>
                          <a:cs typeface="Lexend"/>
                          <a:sym typeface="Lexend"/>
                        </a:rPr>
                        <a:t>frequency</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solidFill>
                            <a:schemeClr val="lt1"/>
                          </a:solidFill>
                          <a:latin typeface="Lexend"/>
                          <a:ea typeface="Lexend"/>
                          <a:cs typeface="Lexend"/>
                          <a:sym typeface="Lexend"/>
                        </a:rPr>
                        <a:t>angles</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England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1800">
                          <a:latin typeface="Lexend"/>
                          <a:ea typeface="Lexend"/>
                          <a:cs typeface="Lexend"/>
                          <a:sym typeface="Lexend"/>
                        </a:rPr>
                        <a:t>176</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N. Ireland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1800">
                          <a:latin typeface="Lexend"/>
                          <a:ea typeface="Lexend"/>
                          <a:cs typeface="Lexend"/>
                          <a:sym typeface="Lexend"/>
                        </a:rPr>
                        <a:t>20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Scotland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1800">
                          <a:latin typeface="Lexend"/>
                          <a:ea typeface="Lexend"/>
                          <a:cs typeface="Lexend"/>
                          <a:sym typeface="Lexend"/>
                        </a:rPr>
                        <a:t>104</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Wales</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lang="en-GB" sz="1800">
                          <a:latin typeface="Lexend"/>
                          <a:ea typeface="Lexend"/>
                          <a:cs typeface="Lexend"/>
                          <a:sym typeface="Lexend"/>
                        </a:rPr>
                        <a:t>60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597975">
                <a:tc>
                  <a:txBody>
                    <a:bodyPr/>
                    <a:lstStyle/>
                    <a:p>
                      <a:pPr indent="0" lvl="0" marL="0" marR="0" rtl="0" algn="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bl>
          </a:graphicData>
        </a:graphic>
      </p:graphicFrame>
      <p:sp>
        <p:nvSpPr>
          <p:cNvPr id="787" name="Google Shape;787;p69"/>
          <p:cNvSpPr/>
          <p:nvPr/>
        </p:nvSpPr>
        <p:spPr>
          <a:xfrm flipH="1" rot="10800000">
            <a:off x="2376350" y="4014324"/>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788" name="Google Shape;788;p69"/>
          <p:cNvSpPr txBox="1"/>
          <p:nvPr>
            <p:ph idx="1" type="body"/>
          </p:nvPr>
        </p:nvSpPr>
        <p:spPr>
          <a:xfrm>
            <a:off x="4055800" y="1660688"/>
            <a:ext cx="47640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If you don’t know one of the following:</a:t>
            </a:r>
            <a:endParaRPr sz="2000"/>
          </a:p>
        </p:txBody>
      </p:sp>
      <p:sp>
        <p:nvSpPr>
          <p:cNvPr id="789" name="Google Shape;789;p69"/>
          <p:cNvSpPr txBox="1"/>
          <p:nvPr>
            <p:ph idx="1" type="body"/>
          </p:nvPr>
        </p:nvSpPr>
        <p:spPr>
          <a:xfrm>
            <a:off x="4868775" y="2016376"/>
            <a:ext cx="3951000" cy="27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the total frequency</a:t>
            </a:r>
            <a:endParaRPr sz="2000"/>
          </a:p>
          <a:p>
            <a:pPr indent="0" lvl="0" marL="0" rtl="0" algn="l">
              <a:lnSpc>
                <a:spcPct val="100000"/>
              </a:lnSpc>
              <a:spcBef>
                <a:spcPts val="0"/>
              </a:spcBef>
              <a:spcAft>
                <a:spcPts val="0"/>
              </a:spcAft>
              <a:buNone/>
            </a:pPr>
            <a:r>
              <a:rPr lang="en-GB" sz="2000"/>
              <a:t>any of the other frequencies</a:t>
            </a:r>
            <a:endParaRPr sz="2000"/>
          </a:p>
        </p:txBody>
      </p:sp>
      <p:sp>
        <p:nvSpPr>
          <p:cNvPr id="790" name="Google Shape;790;p69"/>
          <p:cNvSpPr txBox="1"/>
          <p:nvPr>
            <p:ph idx="1" type="body"/>
          </p:nvPr>
        </p:nvSpPr>
        <p:spPr>
          <a:xfrm>
            <a:off x="4055800" y="2794038"/>
            <a:ext cx="47640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Then you cannot calculate anything new.</a:t>
            </a:r>
            <a:endParaRPr sz="2000"/>
          </a:p>
        </p:txBody>
      </p:sp>
      <p:sp>
        <p:nvSpPr>
          <p:cNvPr id="791" name="Google Shape;791;p69"/>
          <p:cNvSpPr txBox="1"/>
          <p:nvPr>
            <p:ph idx="1" type="body"/>
          </p:nvPr>
        </p:nvSpPr>
        <p:spPr>
          <a:xfrm>
            <a:off x="1843550" y="3065875"/>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15</a:t>
            </a:r>
            <a:endParaRPr sz="1800"/>
          </a:p>
        </p:txBody>
      </p:sp>
      <p:sp>
        <p:nvSpPr>
          <p:cNvPr id="792" name="Google Shape;792;p69"/>
          <p:cNvSpPr txBox="1"/>
          <p:nvPr>
            <p:ph idx="1" type="body"/>
          </p:nvPr>
        </p:nvSpPr>
        <p:spPr>
          <a:xfrm>
            <a:off x="4055800" y="3601906"/>
            <a:ext cx="47640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But the moment you know one frequency (or the total frequency), then you can calculate all the rest.</a:t>
            </a:r>
            <a:endParaRPr sz="2000"/>
          </a:p>
        </p:txBody>
      </p:sp>
      <p:sp>
        <p:nvSpPr>
          <p:cNvPr id="793" name="Google Shape;793;p69"/>
          <p:cNvSpPr txBox="1"/>
          <p:nvPr>
            <p:ph idx="1" type="body"/>
          </p:nvPr>
        </p:nvSpPr>
        <p:spPr>
          <a:xfrm>
            <a:off x="2241925" y="4136880"/>
            <a:ext cx="14592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Unknown </a:t>
            </a:r>
            <a:r>
              <a:rPr lang="en-GB" sz="1800">
                <a:solidFill>
                  <a:schemeClr val="accent4"/>
                </a:solidFill>
              </a:rPr>
              <a:t>multiplier</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graphicFrame>
        <p:nvGraphicFramePr>
          <p:cNvPr id="799" name="Google Shape;799;p70"/>
          <p:cNvGraphicFramePr/>
          <p:nvPr/>
        </p:nvGraphicFramePr>
        <p:xfrm>
          <a:off x="406193" y="1449127"/>
          <a:ext cx="3000000" cy="3000000"/>
        </p:xfrm>
        <a:graphic>
          <a:graphicData uri="http://schemas.openxmlformats.org/drawingml/2006/table">
            <a:tbl>
              <a:tblPr bandRow="1" firstRow="1">
                <a:noFill/>
                <a:tableStyleId>{6B1D2025-0711-4614-9E20-ACEAB21110A9}</a:tableStyleId>
              </a:tblPr>
              <a:tblGrid>
                <a:gridCol w="1220725"/>
                <a:gridCol w="1373525"/>
                <a:gridCol w="848850"/>
              </a:tblGrid>
              <a:tr h="298975">
                <a:tc gridSpan="3">
                  <a:txBody>
                    <a:bodyPr/>
                    <a:lstStyle/>
                    <a:p>
                      <a:pPr indent="0" lvl="0" marL="0" marR="0" rtl="0" algn="ctr">
                        <a:lnSpc>
                          <a:spcPct val="100000"/>
                        </a:lnSpc>
                        <a:spcBef>
                          <a:spcPts val="0"/>
                        </a:spcBef>
                        <a:spcAft>
                          <a:spcPts val="0"/>
                        </a:spcAft>
                        <a:buNone/>
                      </a:pPr>
                      <a:r>
                        <a:rPr b="0" lang="en-GB" sz="1800">
                          <a:latin typeface="Lexend"/>
                          <a:ea typeface="Lexend"/>
                          <a:cs typeface="Lexend"/>
                          <a:sym typeface="Lexend"/>
                        </a:rPr>
                        <a:t>teachers from parts of the UK</a:t>
                      </a:r>
                      <a:endParaRPr b="0"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hMerge="1"/>
                <a:tc hMerge="1"/>
              </a:tr>
              <a:tr h="298975">
                <a:tc>
                  <a:txBody>
                    <a:bodyPr/>
                    <a:lstStyle/>
                    <a:p>
                      <a:pPr indent="0" lvl="0" marL="0" marR="0" rtl="0" algn="ctr">
                        <a:lnSpc>
                          <a:spcPct val="100000"/>
                        </a:lnSpc>
                        <a:spcBef>
                          <a:spcPts val="0"/>
                        </a:spcBef>
                        <a:spcAft>
                          <a:spcPts val="0"/>
                        </a:spcAft>
                        <a:buClr>
                          <a:srgbClr val="000000"/>
                        </a:buClr>
                        <a:buSzPts val="1800"/>
                        <a:buFont typeface="Arial"/>
                        <a:buNone/>
                      </a:pPr>
                      <a:r>
                        <a:rPr lang="en-GB" sz="1800">
                          <a:solidFill>
                            <a:schemeClr val="lt1"/>
                          </a:solidFill>
                          <a:latin typeface="Lexend"/>
                          <a:ea typeface="Lexend"/>
                          <a:cs typeface="Lexend"/>
                          <a:sym typeface="Lexend"/>
                        </a:rPr>
                        <a:t>l</a:t>
                      </a:r>
                      <a:r>
                        <a:rPr b="0" lang="en-GB" sz="1800">
                          <a:solidFill>
                            <a:schemeClr val="lt1"/>
                          </a:solidFill>
                          <a:latin typeface="Lexend"/>
                          <a:ea typeface="Lexend"/>
                          <a:cs typeface="Lexend"/>
                          <a:sym typeface="Lexend"/>
                        </a:rPr>
                        <a:t>ocation</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solidFill>
                            <a:schemeClr val="lt1"/>
                          </a:solidFill>
                          <a:latin typeface="Lexend"/>
                          <a:ea typeface="Lexend"/>
                          <a:cs typeface="Lexend"/>
                          <a:sym typeface="Lexend"/>
                        </a:rPr>
                        <a:t>frequency</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solidFill>
                            <a:schemeClr val="lt1"/>
                          </a:solidFill>
                          <a:latin typeface="Lexend"/>
                          <a:ea typeface="Lexend"/>
                          <a:cs typeface="Lexend"/>
                          <a:sym typeface="Lexend"/>
                        </a:rPr>
                        <a:t>angles</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England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176</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N. Ireland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Scotland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104</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Wales</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597975">
                <a:tc>
                  <a:txBody>
                    <a:bodyPr/>
                    <a:lstStyle/>
                    <a:p>
                      <a:pPr indent="0" lvl="0" marL="0" marR="0" rtl="0" algn="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bl>
          </a:graphicData>
        </a:graphic>
      </p:graphicFrame>
      <p:sp>
        <p:nvSpPr>
          <p:cNvPr id="800" name="Google Shape;800;p70"/>
          <p:cNvSpPr/>
          <p:nvPr/>
        </p:nvSpPr>
        <p:spPr>
          <a:xfrm flipH="1" rot="10800000">
            <a:off x="2227706" y="3851160"/>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801" name="Google Shape;801;p70"/>
          <p:cNvSpPr txBox="1"/>
          <p:nvPr>
            <p:ph idx="1" type="body"/>
          </p:nvPr>
        </p:nvSpPr>
        <p:spPr>
          <a:xfrm>
            <a:off x="2157600" y="4193224"/>
            <a:ext cx="14592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Unknown </a:t>
            </a:r>
            <a:r>
              <a:rPr lang="en-GB" sz="1800">
                <a:solidFill>
                  <a:schemeClr val="accent4"/>
                </a:solidFill>
              </a:rPr>
              <a:t>multiplier</a:t>
            </a:r>
            <a:endParaRPr sz="1800"/>
          </a:p>
        </p:txBody>
      </p:sp>
      <p:sp>
        <p:nvSpPr>
          <p:cNvPr id="802" name="Google Shape;802;p70"/>
          <p:cNvSpPr txBox="1"/>
          <p:nvPr>
            <p:ph idx="1" type="body"/>
          </p:nvPr>
        </p:nvSpPr>
        <p:spPr>
          <a:xfrm>
            <a:off x="4312114" y="1753925"/>
            <a:ext cx="47793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Step 1 is to find the </a:t>
            </a:r>
            <a:r>
              <a:rPr lang="en-GB" sz="2000">
                <a:solidFill>
                  <a:schemeClr val="accent4"/>
                </a:solidFill>
              </a:rPr>
              <a:t>multiplier</a:t>
            </a:r>
            <a:r>
              <a:rPr lang="en-GB" sz="2000"/>
              <a:t>.</a:t>
            </a:r>
            <a:endParaRPr sz="2000"/>
          </a:p>
        </p:txBody>
      </p:sp>
      <p:sp>
        <p:nvSpPr>
          <p:cNvPr id="803" name="Google Shape;803;p70"/>
          <p:cNvSpPr txBox="1"/>
          <p:nvPr>
            <p:ph idx="1" type="body"/>
          </p:nvPr>
        </p:nvSpPr>
        <p:spPr>
          <a:xfrm>
            <a:off x="4287411" y="3052363"/>
            <a:ext cx="47793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So, you can also divide the angle by the frequency to get the </a:t>
            </a:r>
            <a:r>
              <a:rPr lang="en-GB" sz="2000">
                <a:solidFill>
                  <a:schemeClr val="accent4"/>
                </a:solidFill>
              </a:rPr>
              <a:t>multiplier</a:t>
            </a:r>
            <a:r>
              <a:rPr lang="en-GB" sz="2000"/>
              <a:t>.</a:t>
            </a:r>
            <a:endParaRPr sz="2000"/>
          </a:p>
        </p:txBody>
      </p:sp>
      <p:sp>
        <p:nvSpPr>
          <p:cNvPr id="804" name="Google Shape;804;p70"/>
          <p:cNvSpPr txBox="1"/>
          <p:nvPr>
            <p:ph idx="1" type="body"/>
          </p:nvPr>
        </p:nvSpPr>
        <p:spPr>
          <a:xfrm>
            <a:off x="1843550" y="2944000"/>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15</a:t>
            </a:r>
            <a:endParaRPr sz="1800"/>
          </a:p>
        </p:txBody>
      </p:sp>
      <p:sp>
        <p:nvSpPr>
          <p:cNvPr id="805" name="Google Shape;805;p70"/>
          <p:cNvSpPr txBox="1"/>
          <p:nvPr>
            <p:ph idx="1" type="body"/>
          </p:nvPr>
        </p:nvSpPr>
        <p:spPr>
          <a:xfrm>
            <a:off x="4312114" y="2288338"/>
            <a:ext cx="47793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You can </a:t>
            </a:r>
            <a:r>
              <a:rPr lang="en-GB" sz="2000"/>
              <a:t>multiply the frequency by the </a:t>
            </a:r>
            <a:r>
              <a:rPr lang="en-GB" sz="2000">
                <a:solidFill>
                  <a:schemeClr val="accent4"/>
                </a:solidFill>
              </a:rPr>
              <a:t>multiplier</a:t>
            </a:r>
            <a:r>
              <a:rPr lang="en-GB" sz="2000"/>
              <a:t> to get the angle.</a:t>
            </a:r>
            <a:endParaRPr sz="2000"/>
          </a:p>
        </p:txBody>
      </p:sp>
      <p:sp>
        <p:nvSpPr>
          <p:cNvPr id="806" name="Google Shape;806;p70"/>
          <p:cNvSpPr txBox="1"/>
          <p:nvPr>
            <p:ph idx="1" type="body"/>
          </p:nvPr>
        </p:nvSpPr>
        <p:spPr>
          <a:xfrm>
            <a:off x="4716400" y="3936725"/>
            <a:ext cx="41034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60 ÷ 15 = 4</a:t>
            </a:r>
            <a:endParaRPr sz="2000">
              <a:latin typeface="Kalam"/>
              <a:ea typeface="Kalam"/>
              <a:cs typeface="Kalam"/>
              <a:sym typeface="Kalam"/>
            </a:endParaRPr>
          </a:p>
        </p:txBody>
      </p:sp>
      <p:sp>
        <p:nvSpPr>
          <p:cNvPr id="807" name="Google Shape;807;p70"/>
          <p:cNvSpPr txBox="1"/>
          <p:nvPr>
            <p:ph idx="1" type="body"/>
          </p:nvPr>
        </p:nvSpPr>
        <p:spPr>
          <a:xfrm>
            <a:off x="2236749" y="3969327"/>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a:t>
            </a:r>
            <a:r>
              <a:rPr lang="en-GB" sz="2000">
                <a:latin typeface="Kalam"/>
                <a:ea typeface="Kalam"/>
                <a:cs typeface="Kalam"/>
                <a:sym typeface="Kalam"/>
              </a:rPr>
              <a:t>4</a:t>
            </a:r>
            <a:endParaRPr sz="2000">
              <a:latin typeface="Kalam"/>
              <a:ea typeface="Kalam"/>
              <a:cs typeface="Kalam"/>
              <a:sym typeface="Kalam"/>
            </a:endParaRPr>
          </a:p>
        </p:txBody>
      </p:sp>
      <p:sp>
        <p:nvSpPr>
          <p:cNvPr id="808" name="Google Shape;808;p70"/>
          <p:cNvSpPr txBox="1"/>
          <p:nvPr/>
        </p:nvSpPr>
        <p:spPr>
          <a:xfrm>
            <a:off x="234570" y="551511"/>
            <a:ext cx="80817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Lexend"/>
                <a:ea typeface="Lexend"/>
                <a:cs typeface="Lexend"/>
                <a:sym typeface="Lexend"/>
              </a:rPr>
              <a:t>The table below shows all the angles, but not all the frequencies. Show a method to find these missing frequencies.</a:t>
            </a:r>
            <a:endParaRPr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0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graphicFrame>
        <p:nvGraphicFramePr>
          <p:cNvPr id="813" name="Google Shape;813;p71"/>
          <p:cNvGraphicFramePr/>
          <p:nvPr/>
        </p:nvGraphicFramePr>
        <p:xfrm>
          <a:off x="532969" y="1068127"/>
          <a:ext cx="3000000" cy="3000000"/>
        </p:xfrm>
        <a:graphic>
          <a:graphicData uri="http://schemas.openxmlformats.org/drawingml/2006/table">
            <a:tbl>
              <a:tblPr bandRow="1" firstRow="1">
                <a:noFill/>
                <a:tableStyleId>{6B1D2025-0711-4614-9E20-ACEAB21110A9}</a:tableStyleId>
              </a:tblPr>
              <a:tblGrid>
                <a:gridCol w="1220725"/>
                <a:gridCol w="1373525"/>
                <a:gridCol w="848850"/>
              </a:tblGrid>
              <a:tr h="298975">
                <a:tc gridSpan="3">
                  <a:txBody>
                    <a:bodyPr/>
                    <a:lstStyle/>
                    <a:p>
                      <a:pPr indent="0" lvl="0" marL="0" marR="0" rtl="0" algn="ctr">
                        <a:lnSpc>
                          <a:spcPct val="100000"/>
                        </a:lnSpc>
                        <a:spcBef>
                          <a:spcPts val="0"/>
                        </a:spcBef>
                        <a:spcAft>
                          <a:spcPts val="0"/>
                        </a:spcAft>
                        <a:buNone/>
                      </a:pPr>
                      <a:r>
                        <a:rPr b="0" lang="en-GB" sz="1800">
                          <a:latin typeface="Lexend"/>
                          <a:ea typeface="Lexend"/>
                          <a:cs typeface="Lexend"/>
                          <a:sym typeface="Lexend"/>
                        </a:rPr>
                        <a:t>teachers from parts of the UK</a:t>
                      </a:r>
                      <a:endParaRPr b="0"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hMerge="1"/>
                <a:tc hMerge="1"/>
              </a:tr>
              <a:tr h="298975">
                <a:tc>
                  <a:txBody>
                    <a:bodyPr/>
                    <a:lstStyle/>
                    <a:p>
                      <a:pPr indent="0" lvl="0" marL="0" marR="0" rtl="0" algn="ctr">
                        <a:lnSpc>
                          <a:spcPct val="100000"/>
                        </a:lnSpc>
                        <a:spcBef>
                          <a:spcPts val="0"/>
                        </a:spcBef>
                        <a:spcAft>
                          <a:spcPts val="0"/>
                        </a:spcAft>
                        <a:buClr>
                          <a:srgbClr val="000000"/>
                        </a:buClr>
                        <a:buSzPts val="1800"/>
                        <a:buFont typeface="Arial"/>
                        <a:buNone/>
                      </a:pPr>
                      <a:r>
                        <a:rPr lang="en-GB" sz="1800">
                          <a:solidFill>
                            <a:schemeClr val="lt1"/>
                          </a:solidFill>
                          <a:latin typeface="Lexend"/>
                          <a:ea typeface="Lexend"/>
                          <a:cs typeface="Lexend"/>
                          <a:sym typeface="Lexend"/>
                        </a:rPr>
                        <a:t>l</a:t>
                      </a:r>
                      <a:r>
                        <a:rPr b="0" lang="en-GB" sz="1800">
                          <a:solidFill>
                            <a:schemeClr val="lt1"/>
                          </a:solidFill>
                          <a:latin typeface="Lexend"/>
                          <a:ea typeface="Lexend"/>
                          <a:cs typeface="Lexend"/>
                          <a:sym typeface="Lexend"/>
                        </a:rPr>
                        <a:t>ocation</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solidFill>
                            <a:schemeClr val="lt1"/>
                          </a:solidFill>
                          <a:latin typeface="Lexend"/>
                          <a:ea typeface="Lexend"/>
                          <a:cs typeface="Lexend"/>
                          <a:sym typeface="Lexend"/>
                        </a:rPr>
                        <a:t>frequency</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solidFill>
                            <a:schemeClr val="lt1"/>
                          </a:solidFill>
                          <a:latin typeface="Lexend"/>
                          <a:ea typeface="Lexend"/>
                          <a:cs typeface="Lexend"/>
                          <a:sym typeface="Lexend"/>
                        </a:rPr>
                        <a:t>angles</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England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176</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N. Ireland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Scotland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104</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Wales</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597975">
                <a:tc>
                  <a:txBody>
                    <a:bodyPr/>
                    <a:lstStyle/>
                    <a:p>
                      <a:pPr indent="0" lvl="0" marL="0" marR="0" rtl="0" algn="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bl>
          </a:graphicData>
        </a:graphic>
      </p:graphicFrame>
      <p:sp>
        <p:nvSpPr>
          <p:cNvPr id="814" name="Google Shape;814;p71"/>
          <p:cNvSpPr txBox="1"/>
          <p:nvPr>
            <p:ph idx="1" type="body"/>
          </p:nvPr>
        </p:nvSpPr>
        <p:spPr>
          <a:xfrm>
            <a:off x="1843550" y="2264013"/>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26</a:t>
            </a:r>
            <a:endParaRPr sz="1800">
              <a:latin typeface="Kalam"/>
              <a:ea typeface="Kalam"/>
              <a:cs typeface="Kalam"/>
              <a:sym typeface="Kalam"/>
            </a:endParaRPr>
          </a:p>
        </p:txBody>
      </p:sp>
      <p:sp>
        <p:nvSpPr>
          <p:cNvPr id="815" name="Google Shape;815;p71"/>
          <p:cNvSpPr txBox="1"/>
          <p:nvPr>
            <p:ph idx="1" type="body"/>
          </p:nvPr>
        </p:nvSpPr>
        <p:spPr>
          <a:xfrm>
            <a:off x="1843550" y="2563978"/>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15</a:t>
            </a:r>
            <a:endParaRPr sz="1800"/>
          </a:p>
        </p:txBody>
      </p:sp>
      <p:sp>
        <p:nvSpPr>
          <p:cNvPr id="816" name="Google Shape;816;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sp>
        <p:nvSpPr>
          <p:cNvPr id="817" name="Google Shape;817;p71"/>
          <p:cNvSpPr/>
          <p:nvPr/>
        </p:nvSpPr>
        <p:spPr>
          <a:xfrm flipH="1" rot="10800000">
            <a:off x="2376350" y="3519194"/>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818" name="Google Shape;818;p71"/>
          <p:cNvSpPr txBox="1"/>
          <p:nvPr>
            <p:ph idx="1" type="body"/>
          </p:nvPr>
        </p:nvSpPr>
        <p:spPr>
          <a:xfrm>
            <a:off x="4040450" y="1372925"/>
            <a:ext cx="47793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Step 2 is to use the </a:t>
            </a:r>
            <a:r>
              <a:rPr lang="en-GB" sz="2000">
                <a:solidFill>
                  <a:schemeClr val="accent4"/>
                </a:solidFill>
              </a:rPr>
              <a:t>multiplier</a:t>
            </a:r>
            <a:r>
              <a:rPr lang="en-GB" sz="2000"/>
              <a:t> to find the frequencies.</a:t>
            </a:r>
            <a:endParaRPr sz="2000"/>
          </a:p>
        </p:txBody>
      </p:sp>
      <p:sp>
        <p:nvSpPr>
          <p:cNvPr id="819" name="Google Shape;819;p71"/>
          <p:cNvSpPr txBox="1"/>
          <p:nvPr>
            <p:ph idx="1" type="body"/>
          </p:nvPr>
        </p:nvSpPr>
        <p:spPr>
          <a:xfrm>
            <a:off x="2376350" y="3664525"/>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4</a:t>
            </a:r>
            <a:endParaRPr sz="2000">
              <a:latin typeface="Kalam"/>
              <a:ea typeface="Kalam"/>
              <a:cs typeface="Kalam"/>
              <a:sym typeface="Kalam"/>
            </a:endParaRPr>
          </a:p>
        </p:txBody>
      </p:sp>
      <p:sp>
        <p:nvSpPr>
          <p:cNvPr id="820" name="Google Shape;820;p71"/>
          <p:cNvSpPr txBox="1"/>
          <p:nvPr>
            <p:ph idx="1" type="body"/>
          </p:nvPr>
        </p:nvSpPr>
        <p:spPr>
          <a:xfrm>
            <a:off x="4040450" y="2238188"/>
            <a:ext cx="47793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You can divide an angle by the </a:t>
            </a:r>
            <a:r>
              <a:rPr lang="en-GB" sz="2000">
                <a:solidFill>
                  <a:srgbClr val="7E5CD2"/>
                </a:solidFill>
              </a:rPr>
              <a:t>multiplier</a:t>
            </a:r>
            <a:r>
              <a:rPr lang="en-GB" sz="2000"/>
              <a:t> in order to calculate the corresponding frequency.</a:t>
            </a:r>
            <a:endParaRPr sz="2000"/>
          </a:p>
        </p:txBody>
      </p:sp>
      <p:sp>
        <p:nvSpPr>
          <p:cNvPr id="821" name="Google Shape;821;p71"/>
          <p:cNvSpPr/>
          <p:nvPr/>
        </p:nvSpPr>
        <p:spPr>
          <a:xfrm flipH="1">
            <a:off x="2376369" y="884506"/>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822" name="Google Shape;822;p71"/>
          <p:cNvSpPr txBox="1"/>
          <p:nvPr>
            <p:ph idx="1" type="body"/>
          </p:nvPr>
        </p:nvSpPr>
        <p:spPr>
          <a:xfrm>
            <a:off x="2376350" y="605800"/>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a:t>
            </a:r>
            <a:r>
              <a:rPr lang="en-GB" sz="2000">
                <a:latin typeface="Kalam"/>
                <a:ea typeface="Kalam"/>
                <a:cs typeface="Kalam"/>
                <a:sym typeface="Kalam"/>
              </a:rPr>
              <a:t> 4</a:t>
            </a:r>
            <a:endParaRPr sz="2000">
              <a:latin typeface="Kalam"/>
              <a:ea typeface="Kalam"/>
              <a:cs typeface="Kalam"/>
              <a:sym typeface="Kalam"/>
            </a:endParaRPr>
          </a:p>
        </p:txBody>
      </p:sp>
      <p:sp>
        <p:nvSpPr>
          <p:cNvPr id="823" name="Google Shape;823;p71"/>
          <p:cNvSpPr txBox="1"/>
          <p:nvPr>
            <p:ph idx="1" type="body"/>
          </p:nvPr>
        </p:nvSpPr>
        <p:spPr>
          <a:xfrm>
            <a:off x="1798273" y="1671900"/>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176 ÷ 4 =</a:t>
            </a:r>
            <a:endParaRPr sz="1800">
              <a:latin typeface="Kalam"/>
              <a:ea typeface="Kalam"/>
              <a:cs typeface="Kalam"/>
              <a:sym typeface="Kalam"/>
            </a:endParaRPr>
          </a:p>
        </p:txBody>
      </p:sp>
      <p:sp>
        <p:nvSpPr>
          <p:cNvPr id="824" name="Google Shape;824;p71"/>
          <p:cNvSpPr txBox="1"/>
          <p:nvPr>
            <p:ph idx="1" type="body"/>
          </p:nvPr>
        </p:nvSpPr>
        <p:spPr>
          <a:xfrm>
            <a:off x="2804767" y="1664605"/>
            <a:ext cx="2952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44</a:t>
            </a:r>
            <a:endParaRPr sz="1800">
              <a:latin typeface="Kalam"/>
              <a:ea typeface="Kalam"/>
              <a:cs typeface="Kalam"/>
              <a:sym typeface="Kalam"/>
            </a:endParaRPr>
          </a:p>
        </p:txBody>
      </p:sp>
      <p:sp>
        <p:nvSpPr>
          <p:cNvPr id="825" name="Google Shape;825;p71"/>
          <p:cNvSpPr txBox="1"/>
          <p:nvPr>
            <p:ph idx="1" type="body"/>
          </p:nvPr>
        </p:nvSpPr>
        <p:spPr>
          <a:xfrm>
            <a:off x="1843550" y="1965829"/>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5</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2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graphicFrame>
        <p:nvGraphicFramePr>
          <p:cNvPr id="830" name="Google Shape;830;p72"/>
          <p:cNvGraphicFramePr/>
          <p:nvPr/>
        </p:nvGraphicFramePr>
        <p:xfrm>
          <a:off x="532969" y="1068127"/>
          <a:ext cx="3000000" cy="3000000"/>
        </p:xfrm>
        <a:graphic>
          <a:graphicData uri="http://schemas.openxmlformats.org/drawingml/2006/table">
            <a:tbl>
              <a:tblPr bandRow="1" firstRow="1">
                <a:noFill/>
                <a:tableStyleId>{6B1D2025-0711-4614-9E20-ACEAB21110A9}</a:tableStyleId>
              </a:tblPr>
              <a:tblGrid>
                <a:gridCol w="1220725"/>
                <a:gridCol w="1373525"/>
                <a:gridCol w="848850"/>
              </a:tblGrid>
              <a:tr h="298975">
                <a:tc gridSpan="3">
                  <a:txBody>
                    <a:bodyPr/>
                    <a:lstStyle/>
                    <a:p>
                      <a:pPr indent="0" lvl="0" marL="0" marR="0" rtl="0" algn="ctr">
                        <a:lnSpc>
                          <a:spcPct val="100000"/>
                        </a:lnSpc>
                        <a:spcBef>
                          <a:spcPts val="0"/>
                        </a:spcBef>
                        <a:spcAft>
                          <a:spcPts val="0"/>
                        </a:spcAft>
                        <a:buNone/>
                      </a:pPr>
                      <a:r>
                        <a:rPr b="0" lang="en-GB" sz="1800">
                          <a:latin typeface="Lexend"/>
                          <a:ea typeface="Lexend"/>
                          <a:cs typeface="Lexend"/>
                          <a:sym typeface="Lexend"/>
                        </a:rPr>
                        <a:t>teachers from parts of the UK</a:t>
                      </a:r>
                      <a:endParaRPr b="0"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hMerge="1"/>
                <a:tc hMerge="1"/>
              </a:tr>
              <a:tr h="298975">
                <a:tc>
                  <a:txBody>
                    <a:bodyPr/>
                    <a:lstStyle/>
                    <a:p>
                      <a:pPr indent="0" lvl="0" marL="0" marR="0" rtl="0" algn="ctr">
                        <a:lnSpc>
                          <a:spcPct val="100000"/>
                        </a:lnSpc>
                        <a:spcBef>
                          <a:spcPts val="0"/>
                        </a:spcBef>
                        <a:spcAft>
                          <a:spcPts val="0"/>
                        </a:spcAft>
                        <a:buClr>
                          <a:srgbClr val="000000"/>
                        </a:buClr>
                        <a:buSzPts val="1800"/>
                        <a:buFont typeface="Arial"/>
                        <a:buNone/>
                      </a:pPr>
                      <a:r>
                        <a:rPr lang="en-GB" sz="1800">
                          <a:solidFill>
                            <a:schemeClr val="lt1"/>
                          </a:solidFill>
                          <a:latin typeface="Lexend"/>
                          <a:ea typeface="Lexend"/>
                          <a:cs typeface="Lexend"/>
                          <a:sym typeface="Lexend"/>
                        </a:rPr>
                        <a:t>l</a:t>
                      </a:r>
                      <a:r>
                        <a:rPr b="0" lang="en-GB" sz="1800">
                          <a:solidFill>
                            <a:schemeClr val="lt1"/>
                          </a:solidFill>
                          <a:latin typeface="Lexend"/>
                          <a:ea typeface="Lexend"/>
                          <a:cs typeface="Lexend"/>
                          <a:sym typeface="Lexend"/>
                        </a:rPr>
                        <a:t>ocation</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solidFill>
                            <a:schemeClr val="lt1"/>
                          </a:solidFill>
                          <a:latin typeface="Lexend"/>
                          <a:ea typeface="Lexend"/>
                          <a:cs typeface="Lexend"/>
                          <a:sym typeface="Lexend"/>
                        </a:rPr>
                        <a:t>frequency</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solidFill>
                            <a:schemeClr val="lt1"/>
                          </a:solidFill>
                          <a:latin typeface="Lexend"/>
                          <a:ea typeface="Lexend"/>
                          <a:cs typeface="Lexend"/>
                          <a:sym typeface="Lexend"/>
                        </a:rPr>
                        <a:t>angles</a:t>
                      </a:r>
                      <a:endParaRPr b="0" sz="1800" u="none" cap="none" strike="noStrike">
                        <a:solidFill>
                          <a:schemeClr val="lt1"/>
                        </a:solidFill>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England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176</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N. Ireland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20</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Scotland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104</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298975">
                <a:tc>
                  <a:txBody>
                    <a:bodyPr/>
                    <a:lstStyle/>
                    <a:p>
                      <a:pPr indent="0" lvl="0" marL="0" rtl="0" algn="l">
                        <a:spcBef>
                          <a:spcPts val="0"/>
                        </a:spcBef>
                        <a:spcAft>
                          <a:spcPts val="0"/>
                        </a:spcAft>
                        <a:buNone/>
                      </a:pPr>
                      <a:r>
                        <a:rPr lang="en-GB" sz="1800">
                          <a:latin typeface="Lexend"/>
                          <a:ea typeface="Lexend"/>
                          <a:cs typeface="Lexend"/>
                          <a:sym typeface="Lexend"/>
                        </a:rPr>
                        <a:t>Wales</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GB" sz="1800">
                          <a:latin typeface="Lexend"/>
                          <a:ea typeface="Lexend"/>
                          <a:cs typeface="Lexend"/>
                          <a:sym typeface="Lexend"/>
                        </a:rPr>
                        <a:t>60</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597975">
                <a:tc>
                  <a:txBody>
                    <a:bodyPr/>
                    <a:lstStyle/>
                    <a:p>
                      <a:pPr indent="0" lvl="0" marL="0" marR="0" rtl="0" algn="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bl>
          </a:graphicData>
        </a:graphic>
      </p:graphicFrame>
      <p:sp>
        <p:nvSpPr>
          <p:cNvPr id="831" name="Google Shape;831;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sp>
        <p:nvSpPr>
          <p:cNvPr id="832" name="Google Shape;832;p72"/>
          <p:cNvSpPr/>
          <p:nvPr/>
        </p:nvSpPr>
        <p:spPr>
          <a:xfrm flipH="1" rot="10800000">
            <a:off x="2376350" y="3519194"/>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833" name="Google Shape;833;p72"/>
          <p:cNvSpPr txBox="1"/>
          <p:nvPr>
            <p:ph idx="1" type="body"/>
          </p:nvPr>
        </p:nvSpPr>
        <p:spPr>
          <a:xfrm>
            <a:off x="4040450" y="1093311"/>
            <a:ext cx="47793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We can check if the values are correct by seeing if the total frequency is the same as:</a:t>
            </a:r>
            <a:endParaRPr sz="2000"/>
          </a:p>
        </p:txBody>
      </p:sp>
      <p:sp>
        <p:nvSpPr>
          <p:cNvPr id="834" name="Google Shape;834;p72"/>
          <p:cNvSpPr txBox="1"/>
          <p:nvPr>
            <p:ph idx="1" type="body"/>
          </p:nvPr>
        </p:nvSpPr>
        <p:spPr>
          <a:xfrm>
            <a:off x="2376350" y="3664525"/>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a:t>
            </a:r>
            <a:r>
              <a:rPr lang="en-GB" sz="2000">
                <a:solidFill>
                  <a:schemeClr val="accent4"/>
                </a:solidFill>
                <a:latin typeface="Kalam"/>
                <a:ea typeface="Kalam"/>
                <a:cs typeface="Kalam"/>
                <a:sym typeface="Kalam"/>
              </a:rPr>
              <a:t>4</a:t>
            </a:r>
            <a:endParaRPr sz="2000">
              <a:solidFill>
                <a:schemeClr val="accent4"/>
              </a:solidFill>
              <a:latin typeface="Kalam"/>
              <a:ea typeface="Kalam"/>
              <a:cs typeface="Kalam"/>
              <a:sym typeface="Kalam"/>
            </a:endParaRPr>
          </a:p>
        </p:txBody>
      </p:sp>
      <p:sp>
        <p:nvSpPr>
          <p:cNvPr id="835" name="Google Shape;835;p72"/>
          <p:cNvSpPr txBox="1"/>
          <p:nvPr>
            <p:ph idx="1" type="body"/>
          </p:nvPr>
        </p:nvSpPr>
        <p:spPr>
          <a:xfrm>
            <a:off x="4662650" y="2187171"/>
            <a:ext cx="4157100" cy="381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360 ÷ the </a:t>
            </a:r>
            <a:r>
              <a:rPr lang="en-GB" sz="2000">
                <a:solidFill>
                  <a:schemeClr val="accent4"/>
                </a:solidFill>
              </a:rPr>
              <a:t>multiplier</a:t>
            </a:r>
            <a:endParaRPr sz="2000">
              <a:solidFill>
                <a:schemeClr val="accent4"/>
              </a:solidFill>
            </a:endParaRPr>
          </a:p>
        </p:txBody>
      </p:sp>
      <p:sp>
        <p:nvSpPr>
          <p:cNvPr id="836" name="Google Shape;836;p72"/>
          <p:cNvSpPr txBox="1"/>
          <p:nvPr>
            <p:ph idx="1" type="body"/>
          </p:nvPr>
        </p:nvSpPr>
        <p:spPr>
          <a:xfrm>
            <a:off x="4662650" y="2690676"/>
            <a:ext cx="4157100" cy="549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Total frequency = 44 + 5 + 26 + 15             </a:t>
            </a:r>
            <a:br>
              <a:rPr lang="en-GB" sz="2000">
                <a:latin typeface="Kalam"/>
                <a:ea typeface="Kalam"/>
                <a:cs typeface="Kalam"/>
                <a:sym typeface="Kalam"/>
              </a:rPr>
            </a:br>
            <a:r>
              <a:rPr lang="en-GB" sz="2000">
                <a:latin typeface="Kalam"/>
                <a:ea typeface="Kalam"/>
                <a:cs typeface="Kalam"/>
                <a:sym typeface="Kalam"/>
              </a:rPr>
              <a:t>                 = 90</a:t>
            </a:r>
            <a:endParaRPr sz="2000">
              <a:solidFill>
                <a:schemeClr val="accent4"/>
              </a:solidFill>
              <a:latin typeface="Kalam"/>
              <a:ea typeface="Kalam"/>
              <a:cs typeface="Kalam"/>
              <a:sym typeface="Kalam"/>
            </a:endParaRPr>
          </a:p>
        </p:txBody>
      </p:sp>
      <p:sp>
        <p:nvSpPr>
          <p:cNvPr id="837" name="Google Shape;837;p72"/>
          <p:cNvSpPr txBox="1"/>
          <p:nvPr>
            <p:ph idx="1" type="body"/>
          </p:nvPr>
        </p:nvSpPr>
        <p:spPr>
          <a:xfrm>
            <a:off x="4662650" y="3384886"/>
            <a:ext cx="4157100" cy="613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360 ÷ the </a:t>
            </a:r>
            <a:r>
              <a:rPr lang="en-GB" sz="2000">
                <a:solidFill>
                  <a:schemeClr val="accent4"/>
                </a:solidFill>
                <a:latin typeface="Kalam"/>
                <a:ea typeface="Kalam"/>
                <a:cs typeface="Kalam"/>
                <a:sym typeface="Kalam"/>
              </a:rPr>
              <a:t>multiplier </a:t>
            </a:r>
            <a:r>
              <a:rPr lang="en-GB" sz="2000">
                <a:latin typeface="Kalam"/>
                <a:ea typeface="Kalam"/>
                <a:cs typeface="Kalam"/>
                <a:sym typeface="Kalam"/>
              </a:rPr>
              <a:t>=</a:t>
            </a:r>
            <a:r>
              <a:rPr lang="en-GB" sz="2000">
                <a:solidFill>
                  <a:schemeClr val="accent4"/>
                </a:solidFill>
              </a:rPr>
              <a:t> </a:t>
            </a:r>
            <a:r>
              <a:rPr lang="en-GB" sz="2000">
                <a:latin typeface="Kalam"/>
                <a:ea typeface="Kalam"/>
                <a:cs typeface="Kalam"/>
                <a:sym typeface="Kalam"/>
              </a:rPr>
              <a:t>360 ÷ </a:t>
            </a:r>
            <a:r>
              <a:rPr lang="en-GB" sz="2000">
                <a:solidFill>
                  <a:schemeClr val="accent4"/>
                </a:solidFill>
                <a:latin typeface="Kalam"/>
                <a:ea typeface="Kalam"/>
                <a:cs typeface="Kalam"/>
                <a:sym typeface="Kalam"/>
              </a:rPr>
              <a:t>4</a:t>
            </a:r>
            <a:r>
              <a:rPr lang="en-GB" sz="2000">
                <a:latin typeface="Kalam"/>
                <a:ea typeface="Kalam"/>
                <a:cs typeface="Kalam"/>
                <a:sym typeface="Kalam"/>
              </a:rPr>
              <a:t> </a:t>
            </a:r>
            <a:br>
              <a:rPr lang="en-GB" sz="2000">
                <a:latin typeface="Kalam"/>
                <a:ea typeface="Kalam"/>
                <a:cs typeface="Kalam"/>
                <a:sym typeface="Kalam"/>
              </a:rPr>
            </a:br>
            <a:r>
              <a:rPr lang="en-GB" sz="2000">
                <a:latin typeface="Kalam"/>
                <a:ea typeface="Kalam"/>
                <a:cs typeface="Kalam"/>
                <a:sym typeface="Kalam"/>
              </a:rPr>
              <a:t>                       = 90  </a:t>
            </a:r>
            <a:r>
              <a:rPr lang="en-GB" sz="2000">
                <a:solidFill>
                  <a:schemeClr val="accent4"/>
                </a:solidFill>
                <a:latin typeface="Kalam"/>
                <a:ea typeface="Kalam"/>
                <a:cs typeface="Kalam"/>
                <a:sym typeface="Kalam"/>
              </a:rPr>
              <a:t>✔</a:t>
            </a:r>
            <a:endParaRPr sz="2000">
              <a:solidFill>
                <a:schemeClr val="accent4"/>
              </a:solidFill>
              <a:latin typeface="Kalam"/>
              <a:ea typeface="Kalam"/>
              <a:cs typeface="Kalam"/>
              <a:sym typeface="Kalam"/>
            </a:endParaRPr>
          </a:p>
        </p:txBody>
      </p:sp>
      <p:sp>
        <p:nvSpPr>
          <p:cNvPr id="838" name="Google Shape;838;p72"/>
          <p:cNvSpPr txBox="1"/>
          <p:nvPr>
            <p:ph idx="1" type="body"/>
          </p:nvPr>
        </p:nvSpPr>
        <p:spPr>
          <a:xfrm>
            <a:off x="1843400" y="2867925"/>
            <a:ext cx="1283700" cy="5979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90</a:t>
            </a:r>
            <a:endParaRPr sz="2000">
              <a:solidFill>
                <a:schemeClr val="accent4"/>
              </a:solidFill>
              <a:latin typeface="Kalam"/>
              <a:ea typeface="Kalam"/>
              <a:cs typeface="Kalam"/>
              <a:sym typeface="Kalam"/>
            </a:endParaRPr>
          </a:p>
        </p:txBody>
      </p:sp>
      <p:sp>
        <p:nvSpPr>
          <p:cNvPr id="839" name="Google Shape;839;p72"/>
          <p:cNvSpPr txBox="1"/>
          <p:nvPr>
            <p:ph idx="1" type="body"/>
          </p:nvPr>
        </p:nvSpPr>
        <p:spPr>
          <a:xfrm>
            <a:off x="1843550" y="2264013"/>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26</a:t>
            </a:r>
            <a:endParaRPr sz="1800">
              <a:latin typeface="Kalam"/>
              <a:ea typeface="Kalam"/>
              <a:cs typeface="Kalam"/>
              <a:sym typeface="Kalam"/>
            </a:endParaRPr>
          </a:p>
        </p:txBody>
      </p:sp>
      <p:sp>
        <p:nvSpPr>
          <p:cNvPr id="840" name="Google Shape;840;p72"/>
          <p:cNvSpPr txBox="1"/>
          <p:nvPr>
            <p:ph idx="1" type="body"/>
          </p:nvPr>
        </p:nvSpPr>
        <p:spPr>
          <a:xfrm>
            <a:off x="1843550" y="1664617"/>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44</a:t>
            </a:r>
            <a:endParaRPr sz="1800">
              <a:latin typeface="Kalam"/>
              <a:ea typeface="Kalam"/>
              <a:cs typeface="Kalam"/>
              <a:sym typeface="Kalam"/>
            </a:endParaRPr>
          </a:p>
        </p:txBody>
      </p:sp>
      <p:sp>
        <p:nvSpPr>
          <p:cNvPr id="841" name="Google Shape;841;p72"/>
          <p:cNvSpPr txBox="1"/>
          <p:nvPr>
            <p:ph idx="1" type="body"/>
          </p:nvPr>
        </p:nvSpPr>
        <p:spPr>
          <a:xfrm>
            <a:off x="1843550" y="1965829"/>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5</a:t>
            </a:r>
            <a:endParaRPr sz="1800">
              <a:latin typeface="Kalam"/>
              <a:ea typeface="Kalam"/>
              <a:cs typeface="Kalam"/>
              <a:sym typeface="Kalam"/>
            </a:endParaRPr>
          </a:p>
        </p:txBody>
      </p:sp>
      <p:sp>
        <p:nvSpPr>
          <p:cNvPr id="842" name="Google Shape;842;p72"/>
          <p:cNvSpPr txBox="1"/>
          <p:nvPr>
            <p:ph idx="1" type="body"/>
          </p:nvPr>
        </p:nvSpPr>
        <p:spPr>
          <a:xfrm>
            <a:off x="1843550" y="2563978"/>
            <a:ext cx="1283700" cy="2991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15</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3"/>
          <p:cNvSpPr txBox="1"/>
          <p:nvPr>
            <p:ph idx="1" type="body"/>
          </p:nvPr>
        </p:nvSpPr>
        <p:spPr>
          <a:xfrm>
            <a:off x="324000" y="7593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calculation finds the </a:t>
            </a:r>
            <a:r>
              <a:rPr lang="en-GB">
                <a:solidFill>
                  <a:schemeClr val="accent4"/>
                </a:solidFill>
              </a:rPr>
              <a:t>multiplier </a:t>
            </a:r>
            <a:r>
              <a:rPr lang="en-GB"/>
              <a:t>for this pie chart table?</a:t>
            </a:r>
            <a:endParaRPr/>
          </a:p>
        </p:txBody>
      </p:sp>
      <p:sp>
        <p:nvSpPr>
          <p:cNvPr id="848" name="Google Shape;848;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graphicFrame>
        <p:nvGraphicFramePr>
          <p:cNvPr id="849" name="Google Shape;849;p73"/>
          <p:cNvGraphicFramePr/>
          <p:nvPr/>
        </p:nvGraphicFramePr>
        <p:xfrm>
          <a:off x="532969" y="1600102"/>
          <a:ext cx="3000000" cy="3000000"/>
        </p:xfrm>
        <a:graphic>
          <a:graphicData uri="http://schemas.openxmlformats.org/drawingml/2006/table">
            <a:tbl>
              <a:tblPr bandRow="1" firstRow="1">
                <a:noFill/>
                <a:tableStyleId>{6B1D2025-0711-4614-9E20-ACEAB21110A9}</a:tableStyleId>
              </a:tblPr>
              <a:tblGrid>
                <a:gridCol w="1784575"/>
                <a:gridCol w="1200300"/>
                <a:gridCol w="976675"/>
              </a:tblGrid>
              <a:tr h="463150">
                <a:tc>
                  <a:txBody>
                    <a:bodyPr/>
                    <a:lstStyle/>
                    <a:p>
                      <a:pPr indent="0" lvl="0" marL="0" rtl="0" algn="l">
                        <a:spcBef>
                          <a:spcPts val="0"/>
                        </a:spcBef>
                        <a:spcAft>
                          <a:spcPts val="0"/>
                        </a:spcAft>
                        <a:buClr>
                          <a:schemeClr val="dk1"/>
                        </a:buClr>
                        <a:buSzPts val="1800"/>
                        <a:buFont typeface="Arial"/>
                        <a:buNone/>
                      </a:pPr>
                      <a:r>
                        <a:rPr b="0" lang="en-GB" sz="1800">
                          <a:solidFill>
                            <a:schemeClr val="lt1"/>
                          </a:solidFill>
                          <a:latin typeface="Lexend"/>
                          <a:ea typeface="Lexend"/>
                          <a:cs typeface="Lexend"/>
                          <a:sym typeface="Lexend"/>
                        </a:rPr>
                        <a:t>rainfall (days)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d</a:t>
                      </a:r>
                      <a:r>
                        <a:rPr lang="en-GB" sz="1800">
                          <a:latin typeface="Lexend"/>
                          <a:ea typeface="Lexend"/>
                          <a:cs typeface="Lexend"/>
                          <a:sym typeface="Lexend"/>
                        </a:rPr>
                        <a:t>ry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60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l</a:t>
                      </a:r>
                      <a:r>
                        <a:rPr lang="en-GB" sz="1800">
                          <a:latin typeface="Lexend"/>
                          <a:ea typeface="Lexend"/>
                          <a:cs typeface="Lexend"/>
                          <a:sym typeface="Lexend"/>
                        </a:rPr>
                        <a:t>ight showers</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168</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rain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120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h</a:t>
                      </a:r>
                      <a:r>
                        <a:rPr lang="en-GB" sz="1800">
                          <a:latin typeface="Lexend"/>
                          <a:ea typeface="Lexend"/>
                          <a:cs typeface="Lexend"/>
                          <a:sym typeface="Lexend"/>
                        </a:rPr>
                        <a:t>eavy rain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12</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marR="0" rtl="0" algn="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grpSp>
        <p:nvGrpSpPr>
          <p:cNvPr id="850" name="Google Shape;850;p73"/>
          <p:cNvGrpSpPr/>
          <p:nvPr/>
        </p:nvGrpSpPr>
        <p:grpSpPr>
          <a:xfrm>
            <a:off x="4981716" y="1600100"/>
            <a:ext cx="457200" cy="457200"/>
            <a:chOff x="1020916" y="1442088"/>
            <a:chExt cx="457200" cy="457200"/>
          </a:xfrm>
        </p:grpSpPr>
        <p:pic>
          <p:nvPicPr>
            <p:cNvPr id="851" name="Google Shape;851;p7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52" name="Google Shape;852;p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853" name="Google Shape;853;p73"/>
          <p:cNvGrpSpPr/>
          <p:nvPr/>
        </p:nvGrpSpPr>
        <p:grpSpPr>
          <a:xfrm>
            <a:off x="4981716" y="2372017"/>
            <a:ext cx="457200" cy="457200"/>
            <a:chOff x="1020916" y="1442088"/>
            <a:chExt cx="457200" cy="457200"/>
          </a:xfrm>
        </p:grpSpPr>
        <p:pic>
          <p:nvPicPr>
            <p:cNvPr id="854" name="Google Shape;854;p7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55" name="Google Shape;855;p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856" name="Google Shape;856;p73"/>
          <p:cNvGrpSpPr/>
          <p:nvPr/>
        </p:nvGrpSpPr>
        <p:grpSpPr>
          <a:xfrm>
            <a:off x="4981716" y="3143933"/>
            <a:ext cx="457200" cy="457200"/>
            <a:chOff x="1020916" y="1442088"/>
            <a:chExt cx="457200" cy="457200"/>
          </a:xfrm>
        </p:grpSpPr>
        <p:pic>
          <p:nvPicPr>
            <p:cNvPr id="857" name="Google Shape;857;p7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58" name="Google Shape;858;p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859" name="Google Shape;859;p73"/>
          <p:cNvGrpSpPr/>
          <p:nvPr/>
        </p:nvGrpSpPr>
        <p:grpSpPr>
          <a:xfrm>
            <a:off x="4981716" y="3915850"/>
            <a:ext cx="457200" cy="457200"/>
            <a:chOff x="1020916" y="1442088"/>
            <a:chExt cx="457200" cy="457200"/>
          </a:xfrm>
        </p:grpSpPr>
        <p:pic>
          <p:nvPicPr>
            <p:cNvPr id="860" name="Google Shape;860;p7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861" name="Google Shape;861;p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862" name="Google Shape;862;p73"/>
          <p:cNvSpPr txBox="1"/>
          <p:nvPr>
            <p:ph idx="1" type="body"/>
          </p:nvPr>
        </p:nvSpPr>
        <p:spPr>
          <a:xfrm>
            <a:off x="5492250" y="1668350"/>
            <a:ext cx="1920300" cy="320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360 ÷ 5 = 72</a:t>
            </a:r>
            <a:endParaRPr/>
          </a:p>
        </p:txBody>
      </p:sp>
      <p:sp>
        <p:nvSpPr>
          <p:cNvPr id="863" name="Google Shape;863;p73"/>
          <p:cNvSpPr txBox="1"/>
          <p:nvPr>
            <p:ph idx="1" type="body"/>
          </p:nvPr>
        </p:nvSpPr>
        <p:spPr>
          <a:xfrm>
            <a:off x="5492250" y="2440275"/>
            <a:ext cx="1920300" cy="320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60 × 5 = 300</a:t>
            </a:r>
            <a:endParaRPr/>
          </a:p>
        </p:txBody>
      </p:sp>
      <p:sp>
        <p:nvSpPr>
          <p:cNvPr id="864" name="Google Shape;864;p73"/>
          <p:cNvSpPr txBox="1"/>
          <p:nvPr>
            <p:ph idx="1" type="body"/>
          </p:nvPr>
        </p:nvSpPr>
        <p:spPr>
          <a:xfrm>
            <a:off x="5492250" y="3212200"/>
            <a:ext cx="1920300" cy="320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60 ÷ 5 = 12</a:t>
            </a:r>
            <a:endParaRPr/>
          </a:p>
        </p:txBody>
      </p:sp>
      <p:sp>
        <p:nvSpPr>
          <p:cNvPr id="865" name="Google Shape;865;p73"/>
          <p:cNvSpPr txBox="1"/>
          <p:nvPr>
            <p:ph idx="1" type="body"/>
          </p:nvPr>
        </p:nvSpPr>
        <p:spPr>
          <a:xfrm>
            <a:off x="5492250" y="3984125"/>
            <a:ext cx="1920300" cy="3207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a:t>4 ÷ 5 = 0.8</a:t>
            </a:r>
            <a:endParaRPr/>
          </a:p>
        </p:txBody>
      </p:sp>
      <p:pic>
        <p:nvPicPr>
          <p:cNvPr id="866" name="Google Shape;866;p73"/>
          <p:cNvPicPr preferRelativeResize="0"/>
          <p:nvPr/>
        </p:nvPicPr>
        <p:blipFill>
          <a:blip r:embed="rId4">
            <a:alphaModFix/>
          </a:blip>
          <a:stretch>
            <a:fillRect/>
          </a:stretch>
        </p:blipFill>
        <p:spPr>
          <a:xfrm>
            <a:off x="6974558" y="3163000"/>
            <a:ext cx="396000" cy="419100"/>
          </a:xfrm>
          <a:prstGeom prst="rect">
            <a:avLst/>
          </a:prstGeom>
          <a:noFill/>
          <a:ln>
            <a:noFill/>
          </a:ln>
        </p:spPr>
      </p:pic>
      <p:sp>
        <p:nvSpPr>
          <p:cNvPr id="867" name="Google Shape;867;p73"/>
          <p:cNvSpPr/>
          <p:nvPr/>
        </p:nvSpPr>
        <p:spPr>
          <a:xfrm flipH="1" rot="10800000">
            <a:off x="2711876" y="4425912"/>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868" name="Google Shape;868;p73"/>
          <p:cNvSpPr txBox="1"/>
          <p:nvPr>
            <p:ph idx="1" type="body"/>
          </p:nvPr>
        </p:nvSpPr>
        <p:spPr>
          <a:xfrm>
            <a:off x="2711876" y="4571244"/>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12</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74"/>
          <p:cNvSpPr txBox="1"/>
          <p:nvPr>
            <p:ph idx="1" type="body"/>
          </p:nvPr>
        </p:nvSpPr>
        <p:spPr>
          <a:xfrm>
            <a:off x="324000" y="7593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was the </a:t>
            </a:r>
            <a:r>
              <a:rPr lang="en-GB"/>
              <a:t>frequency</a:t>
            </a:r>
            <a:r>
              <a:rPr lang="en-GB"/>
              <a:t> of days with “rain”?</a:t>
            </a:r>
            <a:endParaRPr/>
          </a:p>
        </p:txBody>
      </p:sp>
      <p:sp>
        <p:nvSpPr>
          <p:cNvPr id="874" name="Google Shape;874;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sp>
        <p:nvSpPr>
          <p:cNvPr id="875" name="Google Shape;875;p74"/>
          <p:cNvSpPr/>
          <p:nvPr/>
        </p:nvSpPr>
        <p:spPr>
          <a:xfrm flipH="1" rot="10800000">
            <a:off x="2711876" y="4425912"/>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graphicFrame>
        <p:nvGraphicFramePr>
          <p:cNvPr id="876" name="Google Shape;876;p74"/>
          <p:cNvGraphicFramePr/>
          <p:nvPr/>
        </p:nvGraphicFramePr>
        <p:xfrm>
          <a:off x="532969" y="1600102"/>
          <a:ext cx="3000000" cy="3000000"/>
        </p:xfrm>
        <a:graphic>
          <a:graphicData uri="http://schemas.openxmlformats.org/drawingml/2006/table">
            <a:tbl>
              <a:tblPr bandRow="1" firstRow="1">
                <a:noFill/>
                <a:tableStyleId>{6B1D2025-0711-4614-9E20-ACEAB21110A9}</a:tableStyleId>
              </a:tblPr>
              <a:tblGrid>
                <a:gridCol w="1784575"/>
                <a:gridCol w="1200300"/>
                <a:gridCol w="976675"/>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r</a:t>
                      </a:r>
                      <a:r>
                        <a:rPr b="0" lang="en-GB" sz="1800">
                          <a:latin typeface="Lexend"/>
                          <a:ea typeface="Lexend"/>
                          <a:cs typeface="Lexend"/>
                          <a:sym typeface="Lexend"/>
                        </a:rPr>
                        <a:t>ainfall (days)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dry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60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light showers</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168</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rain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120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heavy rain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12</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marR="0" rtl="0" algn="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sp>
        <p:nvSpPr>
          <p:cNvPr id="877" name="Google Shape;877;p74"/>
          <p:cNvSpPr txBox="1"/>
          <p:nvPr>
            <p:ph idx="1" type="body"/>
          </p:nvPr>
        </p:nvSpPr>
        <p:spPr>
          <a:xfrm>
            <a:off x="2711876" y="4571244"/>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12</a:t>
            </a:r>
            <a:endParaRPr sz="2000">
              <a:latin typeface="Kalam"/>
              <a:ea typeface="Kalam"/>
              <a:cs typeface="Kalam"/>
              <a:sym typeface="Kalam"/>
            </a:endParaRPr>
          </a:p>
        </p:txBody>
      </p:sp>
      <p:sp>
        <p:nvSpPr>
          <p:cNvPr id="878" name="Google Shape;878;p74"/>
          <p:cNvSpPr txBox="1"/>
          <p:nvPr>
            <p:ph idx="1" type="body"/>
          </p:nvPr>
        </p:nvSpPr>
        <p:spPr>
          <a:xfrm>
            <a:off x="5069750" y="2191575"/>
            <a:ext cx="3750300" cy="4632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120 ÷ the </a:t>
            </a:r>
            <a:r>
              <a:rPr lang="en-GB" sz="2000">
                <a:solidFill>
                  <a:srgbClr val="9900FF"/>
                </a:solidFill>
                <a:latin typeface="Kalam"/>
                <a:ea typeface="Kalam"/>
                <a:cs typeface="Kalam"/>
                <a:sym typeface="Kalam"/>
              </a:rPr>
              <a:t>multiplier </a:t>
            </a:r>
            <a:r>
              <a:rPr lang="en-GB" sz="2000">
                <a:latin typeface="Kalam"/>
                <a:ea typeface="Kalam"/>
                <a:cs typeface="Kalam"/>
                <a:sym typeface="Kalam"/>
              </a:rPr>
              <a:t>= </a:t>
            </a:r>
            <a:endParaRPr sz="2000">
              <a:latin typeface="Kalam"/>
              <a:ea typeface="Kalam"/>
              <a:cs typeface="Kalam"/>
              <a:sym typeface="Kalam"/>
            </a:endParaRPr>
          </a:p>
        </p:txBody>
      </p:sp>
      <p:sp>
        <p:nvSpPr>
          <p:cNvPr id="879" name="Google Shape;879;p74"/>
          <p:cNvSpPr txBox="1"/>
          <p:nvPr>
            <p:ph idx="1" type="body"/>
          </p:nvPr>
        </p:nvSpPr>
        <p:spPr>
          <a:xfrm>
            <a:off x="2317675" y="2989550"/>
            <a:ext cx="1190400" cy="4632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latin typeface="Kalam"/>
                <a:ea typeface="Kalam"/>
                <a:cs typeface="Kalam"/>
                <a:sym typeface="Kalam"/>
              </a:rPr>
              <a:t>10</a:t>
            </a:r>
            <a:endParaRPr sz="2000">
              <a:latin typeface="Kalam"/>
              <a:ea typeface="Kalam"/>
              <a:cs typeface="Kalam"/>
              <a:sym typeface="Kalam"/>
            </a:endParaRPr>
          </a:p>
        </p:txBody>
      </p:sp>
      <p:sp>
        <p:nvSpPr>
          <p:cNvPr id="880" name="Google Shape;880;p74"/>
          <p:cNvSpPr txBox="1"/>
          <p:nvPr>
            <p:ph idx="1" type="body"/>
          </p:nvPr>
        </p:nvSpPr>
        <p:spPr>
          <a:xfrm>
            <a:off x="5069750" y="1600100"/>
            <a:ext cx="3750300" cy="4632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Rain had an angle of 120°.</a:t>
            </a:r>
            <a:endParaRPr sz="2000">
              <a:latin typeface="Kalam"/>
              <a:ea typeface="Kalam"/>
              <a:cs typeface="Kalam"/>
              <a:sym typeface="Kalam"/>
            </a:endParaRPr>
          </a:p>
        </p:txBody>
      </p:sp>
      <p:sp>
        <p:nvSpPr>
          <p:cNvPr id="881" name="Google Shape;881;p74"/>
          <p:cNvSpPr txBox="1"/>
          <p:nvPr>
            <p:ph idx="1" type="body"/>
          </p:nvPr>
        </p:nvSpPr>
        <p:spPr>
          <a:xfrm>
            <a:off x="5069750" y="2654775"/>
            <a:ext cx="3750300" cy="4632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120 ÷ 12 = 10</a:t>
            </a:r>
            <a:endParaRPr sz="2000">
              <a:latin typeface="Kalam"/>
              <a:ea typeface="Kalam"/>
              <a:cs typeface="Kalam"/>
              <a:sym typeface="Kalam"/>
            </a:endParaRPr>
          </a:p>
        </p:txBody>
      </p:sp>
      <p:sp>
        <p:nvSpPr>
          <p:cNvPr id="882" name="Google Shape;882;p74"/>
          <p:cNvSpPr/>
          <p:nvPr/>
        </p:nvSpPr>
        <p:spPr>
          <a:xfrm flipH="1">
            <a:off x="2711895" y="1424043"/>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883" name="Google Shape;883;p74"/>
          <p:cNvSpPr txBox="1"/>
          <p:nvPr>
            <p:ph idx="1" type="body"/>
          </p:nvPr>
        </p:nvSpPr>
        <p:spPr>
          <a:xfrm>
            <a:off x="2711876" y="1145337"/>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a:t>
            </a:r>
            <a:r>
              <a:rPr lang="en-GB" sz="2000">
                <a:latin typeface="Kalam"/>
                <a:ea typeface="Kalam"/>
                <a:cs typeface="Kalam"/>
                <a:sym typeface="Kalam"/>
              </a:rPr>
              <a:t> 12</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75"/>
          <p:cNvSpPr txBox="1"/>
          <p:nvPr>
            <p:ph idx="1" type="body"/>
          </p:nvPr>
        </p:nvSpPr>
        <p:spPr>
          <a:xfrm>
            <a:off x="324000" y="683100"/>
            <a:ext cx="84960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You can also calculate frequencies by measuring the angles of a pie chart using a protractor.</a:t>
            </a:r>
            <a:endParaRPr sz="2000"/>
          </a:p>
        </p:txBody>
      </p:sp>
      <p:sp>
        <p:nvSpPr>
          <p:cNvPr id="889" name="Google Shape;889;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sp>
        <p:nvSpPr>
          <p:cNvPr id="890" name="Google Shape;890;p75"/>
          <p:cNvSpPr txBox="1"/>
          <p:nvPr>
            <p:ph idx="1" type="body"/>
          </p:nvPr>
        </p:nvSpPr>
        <p:spPr>
          <a:xfrm>
            <a:off x="476400" y="1772400"/>
            <a:ext cx="30456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total of 72 people were asked what their preferred shopping location was.</a:t>
            </a:r>
            <a:endParaRPr sz="1800"/>
          </a:p>
        </p:txBody>
      </p:sp>
      <p:graphicFrame>
        <p:nvGraphicFramePr>
          <p:cNvPr id="891" name="Google Shape;891;p75"/>
          <p:cNvGraphicFramePr/>
          <p:nvPr/>
        </p:nvGraphicFramePr>
        <p:xfrm>
          <a:off x="609169" y="2932877"/>
          <a:ext cx="3000000" cy="3000000"/>
        </p:xfrm>
        <a:graphic>
          <a:graphicData uri="http://schemas.openxmlformats.org/drawingml/2006/table">
            <a:tbl>
              <a:tblPr bandRow="1" firstRow="1">
                <a:noFill/>
                <a:tableStyleId>{6B1D2025-0711-4614-9E20-ACEAB21110A9}</a:tableStyleId>
              </a:tblPr>
              <a:tblGrid>
                <a:gridCol w="1468225"/>
                <a:gridCol w="1423275"/>
                <a:gridCol w="946100"/>
              </a:tblGrid>
              <a:tr h="321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location</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in-town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out-of-town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online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marR="0" rtl="0" algn="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bl>
          </a:graphicData>
        </a:graphic>
      </p:graphicFrame>
      <p:sp>
        <p:nvSpPr>
          <p:cNvPr id="892" name="Google Shape;892;p75"/>
          <p:cNvSpPr/>
          <p:nvPr/>
        </p:nvSpPr>
        <p:spPr>
          <a:xfrm>
            <a:off x="660606" y="1751369"/>
            <a:ext cx="1182900" cy="3228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3" name="Google Shape;893;p75"/>
          <p:cNvSpPr txBox="1"/>
          <p:nvPr>
            <p:ph idx="1" type="body"/>
          </p:nvPr>
        </p:nvSpPr>
        <p:spPr>
          <a:xfrm>
            <a:off x="2077400" y="4217475"/>
            <a:ext cx="1423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72</a:t>
            </a:r>
            <a:endParaRPr sz="1800"/>
          </a:p>
        </p:txBody>
      </p:sp>
      <p:sp>
        <p:nvSpPr>
          <p:cNvPr id="894" name="Google Shape;894;p75"/>
          <p:cNvSpPr txBox="1"/>
          <p:nvPr>
            <p:ph idx="1" type="body"/>
          </p:nvPr>
        </p:nvSpPr>
        <p:spPr>
          <a:xfrm>
            <a:off x="3500675" y="4217475"/>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360°</a:t>
            </a:r>
            <a:endParaRPr sz="1800"/>
          </a:p>
        </p:txBody>
      </p:sp>
      <p:pic>
        <p:nvPicPr>
          <p:cNvPr id="895" name="Google Shape;895;p75"/>
          <p:cNvPicPr preferRelativeResize="0"/>
          <p:nvPr/>
        </p:nvPicPr>
        <p:blipFill rotWithShape="1">
          <a:blip r:embed="rId3">
            <a:alphaModFix/>
          </a:blip>
          <a:srcRect b="3410" l="3410" r="3410" t="3410"/>
          <a:stretch/>
        </p:blipFill>
        <p:spPr>
          <a:xfrm rot="-5400000">
            <a:off x="4929000" y="1217475"/>
            <a:ext cx="3567025" cy="3408650"/>
          </a:xfrm>
          <a:prstGeom prst="rect">
            <a:avLst/>
          </a:prstGeom>
          <a:noFill/>
          <a:ln>
            <a:noFill/>
          </a:ln>
        </p:spPr>
      </p:pic>
      <p:sp>
        <p:nvSpPr>
          <p:cNvPr id="896" name="Google Shape;896;p75"/>
          <p:cNvSpPr txBox="1"/>
          <p:nvPr>
            <p:ph idx="1" type="body"/>
          </p:nvPr>
        </p:nvSpPr>
        <p:spPr>
          <a:xfrm>
            <a:off x="5296917" y="2337875"/>
            <a:ext cx="10983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in-town</a:t>
            </a:r>
            <a:endParaRPr sz="1800"/>
          </a:p>
        </p:txBody>
      </p:sp>
      <p:sp>
        <p:nvSpPr>
          <p:cNvPr id="897" name="Google Shape;897;p75"/>
          <p:cNvSpPr txBox="1"/>
          <p:nvPr>
            <p:ph idx="1" type="body"/>
          </p:nvPr>
        </p:nvSpPr>
        <p:spPr>
          <a:xfrm>
            <a:off x="6642349" y="2238000"/>
            <a:ext cx="14232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out-of-town</a:t>
            </a:r>
            <a:endParaRPr sz="1800"/>
          </a:p>
        </p:txBody>
      </p:sp>
      <p:sp>
        <p:nvSpPr>
          <p:cNvPr id="898" name="Google Shape;898;p75"/>
          <p:cNvSpPr txBox="1"/>
          <p:nvPr>
            <p:ph idx="1" type="body"/>
          </p:nvPr>
        </p:nvSpPr>
        <p:spPr>
          <a:xfrm>
            <a:off x="5828099" y="3501300"/>
            <a:ext cx="14232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online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pic>
        <p:nvPicPr>
          <p:cNvPr id="903" name="Google Shape;903;p76"/>
          <p:cNvPicPr preferRelativeResize="0"/>
          <p:nvPr/>
        </p:nvPicPr>
        <p:blipFill rotWithShape="1">
          <a:blip r:embed="rId3">
            <a:alphaModFix/>
          </a:blip>
          <a:srcRect b="3410" l="3410" r="3410" t="3410"/>
          <a:stretch/>
        </p:blipFill>
        <p:spPr>
          <a:xfrm rot="-5400000">
            <a:off x="4897925" y="1240800"/>
            <a:ext cx="3567025" cy="3408650"/>
          </a:xfrm>
          <a:prstGeom prst="rect">
            <a:avLst/>
          </a:prstGeom>
          <a:noFill/>
          <a:ln>
            <a:noFill/>
          </a:ln>
        </p:spPr>
      </p:pic>
      <p:sp>
        <p:nvSpPr>
          <p:cNvPr id="904" name="Google Shape;904;p76"/>
          <p:cNvSpPr txBox="1"/>
          <p:nvPr>
            <p:ph idx="1" type="body"/>
          </p:nvPr>
        </p:nvSpPr>
        <p:spPr>
          <a:xfrm>
            <a:off x="324000" y="683100"/>
            <a:ext cx="84960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Using your protractor, measure the size of one angle at a time.</a:t>
            </a:r>
            <a:endParaRPr sz="2000"/>
          </a:p>
        </p:txBody>
      </p:sp>
      <p:sp>
        <p:nvSpPr>
          <p:cNvPr id="905" name="Google Shape;905;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graphicFrame>
        <p:nvGraphicFramePr>
          <p:cNvPr id="906" name="Google Shape;906;p76"/>
          <p:cNvGraphicFramePr/>
          <p:nvPr/>
        </p:nvGraphicFramePr>
        <p:xfrm>
          <a:off x="323994" y="1166752"/>
          <a:ext cx="3000000" cy="3000000"/>
        </p:xfrm>
        <a:graphic>
          <a:graphicData uri="http://schemas.openxmlformats.org/drawingml/2006/table">
            <a:tbl>
              <a:tblPr bandRow="1" firstRow="1">
                <a:noFill/>
                <a:tableStyleId>{6B1D2025-0711-4614-9E20-ACEAB21110A9}</a:tableStyleId>
              </a:tblPr>
              <a:tblGrid>
                <a:gridCol w="1468225"/>
                <a:gridCol w="1423275"/>
                <a:gridCol w="946100"/>
              </a:tblGrid>
              <a:tr h="321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location</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in-town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out-of-town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online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marR="0" rtl="0" algn="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bl>
          </a:graphicData>
        </a:graphic>
      </p:graphicFrame>
      <p:sp>
        <p:nvSpPr>
          <p:cNvPr id="907" name="Google Shape;907;p76"/>
          <p:cNvSpPr txBox="1"/>
          <p:nvPr>
            <p:ph idx="1" type="body"/>
          </p:nvPr>
        </p:nvSpPr>
        <p:spPr>
          <a:xfrm>
            <a:off x="1792225" y="2451350"/>
            <a:ext cx="1423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72</a:t>
            </a:r>
            <a:endParaRPr sz="1800"/>
          </a:p>
        </p:txBody>
      </p:sp>
      <p:sp>
        <p:nvSpPr>
          <p:cNvPr id="908" name="Google Shape;908;p76"/>
          <p:cNvSpPr txBox="1"/>
          <p:nvPr>
            <p:ph idx="1" type="body"/>
          </p:nvPr>
        </p:nvSpPr>
        <p:spPr>
          <a:xfrm>
            <a:off x="3215500" y="2451350"/>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360°</a:t>
            </a:r>
            <a:endParaRPr sz="1800"/>
          </a:p>
        </p:txBody>
      </p:sp>
      <p:sp>
        <p:nvSpPr>
          <p:cNvPr id="909" name="Google Shape;909;p76"/>
          <p:cNvSpPr txBox="1"/>
          <p:nvPr>
            <p:ph idx="1" type="body"/>
          </p:nvPr>
        </p:nvSpPr>
        <p:spPr>
          <a:xfrm>
            <a:off x="5296917" y="2337875"/>
            <a:ext cx="10983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i</a:t>
            </a:r>
            <a:r>
              <a:rPr lang="en-GB" sz="1800"/>
              <a:t>n-town</a:t>
            </a:r>
            <a:endParaRPr sz="1800"/>
          </a:p>
        </p:txBody>
      </p:sp>
      <p:sp>
        <p:nvSpPr>
          <p:cNvPr id="910" name="Google Shape;910;p76"/>
          <p:cNvSpPr txBox="1"/>
          <p:nvPr>
            <p:ph idx="1" type="body"/>
          </p:nvPr>
        </p:nvSpPr>
        <p:spPr>
          <a:xfrm>
            <a:off x="6642349" y="2238000"/>
            <a:ext cx="14232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out-of-town</a:t>
            </a:r>
            <a:endParaRPr sz="1800"/>
          </a:p>
        </p:txBody>
      </p:sp>
      <p:sp>
        <p:nvSpPr>
          <p:cNvPr id="911" name="Google Shape;911;p76"/>
          <p:cNvSpPr txBox="1"/>
          <p:nvPr>
            <p:ph idx="1" type="body"/>
          </p:nvPr>
        </p:nvSpPr>
        <p:spPr>
          <a:xfrm>
            <a:off x="5828099" y="3501300"/>
            <a:ext cx="14232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online</a:t>
            </a:r>
            <a:endParaRPr sz="1800"/>
          </a:p>
        </p:txBody>
      </p:sp>
      <p:sp>
        <p:nvSpPr>
          <p:cNvPr id="912" name="Google Shape;912;p76"/>
          <p:cNvSpPr txBox="1"/>
          <p:nvPr>
            <p:ph idx="1" type="body"/>
          </p:nvPr>
        </p:nvSpPr>
        <p:spPr>
          <a:xfrm>
            <a:off x="324000" y="3053650"/>
            <a:ext cx="43848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Make sure to line up the bottom centre of your protractor with the centre of your circle, and the 0° with one of the radii of the pie chart. </a:t>
            </a:r>
            <a:endParaRPr sz="1800"/>
          </a:p>
        </p:txBody>
      </p:sp>
      <p:grpSp>
        <p:nvGrpSpPr>
          <p:cNvPr id="913" name="Google Shape;913;p76"/>
          <p:cNvGrpSpPr/>
          <p:nvPr/>
        </p:nvGrpSpPr>
        <p:grpSpPr>
          <a:xfrm>
            <a:off x="5170296" y="1456129"/>
            <a:ext cx="3070096" cy="1653167"/>
            <a:chOff x="5705511" y="2134572"/>
            <a:chExt cx="2081703" cy="1120943"/>
          </a:xfrm>
        </p:grpSpPr>
        <p:pic>
          <p:nvPicPr>
            <p:cNvPr id="914" name="Google Shape;914;p76"/>
            <p:cNvPicPr preferRelativeResize="0"/>
            <p:nvPr/>
          </p:nvPicPr>
          <p:blipFill rotWithShape="1">
            <a:blip r:embed="rId4">
              <a:alphaModFix/>
            </a:blip>
            <a:srcRect b="0" l="0" r="0" t="0"/>
            <a:stretch/>
          </p:blipFill>
          <p:spPr>
            <a:xfrm>
              <a:off x="5763511" y="2277698"/>
              <a:ext cx="1933599" cy="977817"/>
            </a:xfrm>
            <a:prstGeom prst="rect">
              <a:avLst/>
            </a:prstGeom>
            <a:noFill/>
            <a:ln>
              <a:noFill/>
            </a:ln>
          </p:spPr>
        </p:pic>
        <p:sp>
          <p:nvSpPr>
            <p:cNvPr id="915" name="Google Shape;915;p76"/>
            <p:cNvSpPr/>
            <p:nvPr/>
          </p:nvSpPr>
          <p:spPr>
            <a:xfrm>
              <a:off x="5705511" y="3095082"/>
              <a:ext cx="208800" cy="9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0°</a:t>
              </a:r>
              <a:endParaRPr b="0" i="0" sz="900" u="none" cap="none" strike="noStrike">
                <a:solidFill>
                  <a:srgbClr val="000000"/>
                </a:solidFill>
                <a:latin typeface="Lexend"/>
                <a:ea typeface="Lexend"/>
                <a:cs typeface="Lexend"/>
                <a:sym typeface="Lexend"/>
              </a:endParaRPr>
            </a:p>
          </p:txBody>
        </p:sp>
        <p:sp>
          <p:nvSpPr>
            <p:cNvPr id="916" name="Google Shape;916;p76"/>
            <p:cNvSpPr/>
            <p:nvPr/>
          </p:nvSpPr>
          <p:spPr>
            <a:xfrm>
              <a:off x="6624720" y="2191726"/>
              <a:ext cx="208800" cy="12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90°</a:t>
              </a:r>
              <a:endParaRPr b="0" i="0" sz="900" u="none" cap="none" strike="noStrike">
                <a:solidFill>
                  <a:srgbClr val="000000"/>
                </a:solidFill>
                <a:latin typeface="Lexend"/>
                <a:ea typeface="Lexend"/>
                <a:cs typeface="Lexend"/>
                <a:sym typeface="Lexend"/>
              </a:endParaRPr>
            </a:p>
          </p:txBody>
        </p:sp>
        <p:sp>
          <p:nvSpPr>
            <p:cNvPr id="917" name="Google Shape;917;p76"/>
            <p:cNvSpPr/>
            <p:nvPr/>
          </p:nvSpPr>
          <p:spPr>
            <a:xfrm flipH="1">
              <a:off x="7578414" y="3095082"/>
              <a:ext cx="208800" cy="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180°</a:t>
              </a:r>
              <a:endParaRPr b="0" i="0" sz="900" u="none" cap="none" strike="noStrike">
                <a:solidFill>
                  <a:srgbClr val="000000"/>
                </a:solidFill>
                <a:latin typeface="Lexend"/>
                <a:ea typeface="Lexend"/>
                <a:cs typeface="Lexend"/>
                <a:sym typeface="Lexend"/>
              </a:endParaRPr>
            </a:p>
          </p:txBody>
        </p:sp>
        <p:sp>
          <p:nvSpPr>
            <p:cNvPr id="918" name="Google Shape;918;p76"/>
            <p:cNvSpPr/>
            <p:nvPr/>
          </p:nvSpPr>
          <p:spPr>
            <a:xfrm flipH="1" rot="-899705">
              <a:off x="7550089" y="2921305"/>
              <a:ext cx="208707" cy="9067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170°</a:t>
              </a:r>
              <a:endParaRPr b="0" i="0" sz="900" u="none" cap="none" strike="noStrike">
                <a:solidFill>
                  <a:srgbClr val="000000"/>
                </a:solidFill>
                <a:latin typeface="Lexend"/>
                <a:ea typeface="Lexend"/>
                <a:cs typeface="Lexend"/>
                <a:sym typeface="Lexend"/>
              </a:endParaRPr>
            </a:p>
          </p:txBody>
        </p:sp>
        <p:sp>
          <p:nvSpPr>
            <p:cNvPr id="919" name="Google Shape;919;p76"/>
            <p:cNvSpPr/>
            <p:nvPr/>
          </p:nvSpPr>
          <p:spPr>
            <a:xfrm flipH="1" rot="-899705">
              <a:off x="7497832" y="2779749"/>
              <a:ext cx="208707" cy="9067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160°</a:t>
              </a:r>
              <a:endParaRPr b="0" i="0" sz="900" u="none" cap="none" strike="noStrike">
                <a:solidFill>
                  <a:srgbClr val="000000"/>
                </a:solidFill>
                <a:latin typeface="Lexend"/>
                <a:ea typeface="Lexend"/>
                <a:cs typeface="Lexend"/>
                <a:sym typeface="Lexend"/>
              </a:endParaRPr>
            </a:p>
          </p:txBody>
        </p:sp>
        <p:sp>
          <p:nvSpPr>
            <p:cNvPr id="920" name="Google Shape;920;p76"/>
            <p:cNvSpPr/>
            <p:nvPr/>
          </p:nvSpPr>
          <p:spPr>
            <a:xfrm flipH="1" rot="-1799392">
              <a:off x="7424609" y="2627483"/>
              <a:ext cx="208864" cy="90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150°</a:t>
              </a:r>
              <a:endParaRPr b="0" i="0" sz="900" u="none" cap="none" strike="noStrike">
                <a:solidFill>
                  <a:srgbClr val="000000"/>
                </a:solidFill>
                <a:latin typeface="Lexend"/>
                <a:ea typeface="Lexend"/>
                <a:cs typeface="Lexend"/>
                <a:sym typeface="Lexend"/>
              </a:endParaRPr>
            </a:p>
          </p:txBody>
        </p:sp>
        <p:sp>
          <p:nvSpPr>
            <p:cNvPr id="921" name="Google Shape;921;p76"/>
            <p:cNvSpPr/>
            <p:nvPr/>
          </p:nvSpPr>
          <p:spPr>
            <a:xfrm flipH="1" rot="-2700000">
              <a:off x="7333801" y="2490445"/>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140°</a:t>
              </a:r>
              <a:endParaRPr b="0" i="0" sz="900" u="none" cap="none" strike="noStrike">
                <a:solidFill>
                  <a:srgbClr val="000000"/>
                </a:solidFill>
                <a:latin typeface="Lexend"/>
                <a:ea typeface="Lexend"/>
                <a:cs typeface="Lexend"/>
                <a:sym typeface="Lexend"/>
              </a:endParaRPr>
            </a:p>
          </p:txBody>
        </p:sp>
        <p:sp>
          <p:nvSpPr>
            <p:cNvPr id="922" name="Google Shape;922;p76"/>
            <p:cNvSpPr/>
            <p:nvPr/>
          </p:nvSpPr>
          <p:spPr>
            <a:xfrm flipH="1" rot="-2700000">
              <a:off x="7223943" y="2386218"/>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130°</a:t>
              </a:r>
              <a:endParaRPr b="0" i="0" sz="900" u="none" cap="none" strike="noStrike">
                <a:solidFill>
                  <a:srgbClr val="000000"/>
                </a:solidFill>
                <a:latin typeface="Lexend"/>
                <a:ea typeface="Lexend"/>
                <a:cs typeface="Lexend"/>
                <a:sym typeface="Lexend"/>
              </a:endParaRPr>
            </a:p>
          </p:txBody>
        </p:sp>
        <p:sp>
          <p:nvSpPr>
            <p:cNvPr id="923" name="Google Shape;923;p76"/>
            <p:cNvSpPr/>
            <p:nvPr/>
          </p:nvSpPr>
          <p:spPr>
            <a:xfrm flipH="1" rot="-2700000">
              <a:off x="7115479" y="2302008"/>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120°</a:t>
              </a:r>
              <a:endParaRPr b="0" i="0" sz="900" u="none" cap="none" strike="noStrike">
                <a:solidFill>
                  <a:srgbClr val="000000"/>
                </a:solidFill>
                <a:latin typeface="Lexend"/>
                <a:ea typeface="Lexend"/>
                <a:cs typeface="Lexend"/>
                <a:sym typeface="Lexend"/>
              </a:endParaRPr>
            </a:p>
          </p:txBody>
        </p:sp>
        <p:sp>
          <p:nvSpPr>
            <p:cNvPr id="924" name="Google Shape;924;p76"/>
            <p:cNvSpPr/>
            <p:nvPr/>
          </p:nvSpPr>
          <p:spPr>
            <a:xfrm flipH="1" rot="-2700000">
              <a:off x="6984735" y="2240472"/>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110°</a:t>
              </a:r>
              <a:endParaRPr b="0" i="0" sz="900" u="none" cap="none" strike="noStrike">
                <a:solidFill>
                  <a:srgbClr val="000000"/>
                </a:solidFill>
                <a:latin typeface="Lexend"/>
                <a:ea typeface="Lexend"/>
                <a:cs typeface="Lexend"/>
                <a:sym typeface="Lexend"/>
              </a:endParaRPr>
            </a:p>
          </p:txBody>
        </p:sp>
        <p:sp>
          <p:nvSpPr>
            <p:cNvPr id="925" name="Google Shape;925;p76"/>
            <p:cNvSpPr/>
            <p:nvPr/>
          </p:nvSpPr>
          <p:spPr>
            <a:xfrm flipH="1" rot="-2700000">
              <a:off x="6834905" y="2195076"/>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100°</a:t>
              </a:r>
              <a:endParaRPr b="0" i="0" sz="900" u="none" cap="none" strike="noStrike">
                <a:solidFill>
                  <a:srgbClr val="000000"/>
                </a:solidFill>
                <a:latin typeface="Lexend"/>
                <a:ea typeface="Lexend"/>
                <a:cs typeface="Lexend"/>
                <a:sym typeface="Lexend"/>
              </a:endParaRPr>
            </a:p>
          </p:txBody>
        </p:sp>
        <p:grpSp>
          <p:nvGrpSpPr>
            <p:cNvPr id="926" name="Google Shape;926;p76"/>
            <p:cNvGrpSpPr/>
            <p:nvPr/>
          </p:nvGrpSpPr>
          <p:grpSpPr>
            <a:xfrm flipH="1">
              <a:off x="5716786" y="2170288"/>
              <a:ext cx="930273" cy="888583"/>
              <a:chOff x="5430598" y="2148858"/>
              <a:chExt cx="930273" cy="888583"/>
            </a:xfrm>
          </p:grpSpPr>
          <p:sp>
            <p:nvSpPr>
              <p:cNvPr id="927" name="Google Shape;927;p76"/>
              <p:cNvSpPr/>
              <p:nvPr/>
            </p:nvSpPr>
            <p:spPr>
              <a:xfrm flipH="1" rot="-899705">
                <a:off x="6144018" y="2921305"/>
                <a:ext cx="208707" cy="90671"/>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10°</a:t>
                </a:r>
                <a:endParaRPr b="0" i="0" sz="900" u="none" cap="none" strike="noStrike">
                  <a:solidFill>
                    <a:srgbClr val="000000"/>
                  </a:solidFill>
                  <a:latin typeface="Lexend"/>
                  <a:ea typeface="Lexend"/>
                  <a:cs typeface="Lexend"/>
                  <a:sym typeface="Lexend"/>
                </a:endParaRPr>
              </a:p>
            </p:txBody>
          </p:sp>
          <p:sp>
            <p:nvSpPr>
              <p:cNvPr id="928" name="Google Shape;928;p76"/>
              <p:cNvSpPr/>
              <p:nvPr/>
            </p:nvSpPr>
            <p:spPr>
              <a:xfrm flipH="1" rot="-899705">
                <a:off x="6101285" y="2782130"/>
                <a:ext cx="208707" cy="90671"/>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20°</a:t>
                </a:r>
                <a:endParaRPr b="0" i="0" sz="900" u="none" cap="none" strike="noStrike">
                  <a:solidFill>
                    <a:srgbClr val="000000"/>
                  </a:solidFill>
                  <a:latin typeface="Lexend"/>
                  <a:ea typeface="Lexend"/>
                  <a:cs typeface="Lexend"/>
                  <a:sym typeface="Lexend"/>
                </a:endParaRPr>
              </a:p>
            </p:txBody>
          </p:sp>
          <p:sp>
            <p:nvSpPr>
              <p:cNvPr id="929" name="Google Shape;929;p76"/>
              <p:cNvSpPr/>
              <p:nvPr/>
            </p:nvSpPr>
            <p:spPr>
              <a:xfrm flipH="1" rot="-1799392">
                <a:off x="6032824" y="2627483"/>
                <a:ext cx="208864" cy="907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30°</a:t>
                </a:r>
                <a:endParaRPr b="0" i="0" sz="900" u="none" cap="none" strike="noStrike">
                  <a:solidFill>
                    <a:srgbClr val="000000"/>
                  </a:solidFill>
                  <a:latin typeface="Lexend"/>
                  <a:ea typeface="Lexend"/>
                  <a:cs typeface="Lexend"/>
                  <a:sym typeface="Lexend"/>
                </a:endParaRPr>
              </a:p>
            </p:txBody>
          </p:sp>
          <p:sp>
            <p:nvSpPr>
              <p:cNvPr id="930" name="Google Shape;930;p76"/>
              <p:cNvSpPr/>
              <p:nvPr/>
            </p:nvSpPr>
            <p:spPr>
              <a:xfrm flipH="1" rot="-2700000">
                <a:off x="5943712" y="2499512"/>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40°</a:t>
                </a:r>
                <a:endParaRPr b="0" i="0" sz="900" u="none" cap="none" strike="noStrike">
                  <a:solidFill>
                    <a:srgbClr val="000000"/>
                  </a:solidFill>
                  <a:latin typeface="Lexend"/>
                  <a:ea typeface="Lexend"/>
                  <a:cs typeface="Lexend"/>
                  <a:sym typeface="Lexend"/>
                </a:endParaRPr>
              </a:p>
            </p:txBody>
          </p:sp>
          <p:sp>
            <p:nvSpPr>
              <p:cNvPr id="931" name="Google Shape;931;p76"/>
              <p:cNvSpPr/>
              <p:nvPr/>
            </p:nvSpPr>
            <p:spPr>
              <a:xfrm flipH="1" rot="-2700000">
                <a:off x="5838614" y="2388371"/>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50°</a:t>
                </a:r>
                <a:endParaRPr b="0" i="0" sz="900" u="none" cap="none" strike="noStrike">
                  <a:solidFill>
                    <a:srgbClr val="000000"/>
                  </a:solidFill>
                  <a:latin typeface="Lexend"/>
                  <a:ea typeface="Lexend"/>
                  <a:cs typeface="Lexend"/>
                  <a:sym typeface="Lexend"/>
                </a:endParaRPr>
              </a:p>
            </p:txBody>
          </p:sp>
          <p:sp>
            <p:nvSpPr>
              <p:cNvPr id="932" name="Google Shape;932;p76"/>
              <p:cNvSpPr/>
              <p:nvPr/>
            </p:nvSpPr>
            <p:spPr>
              <a:xfrm flipH="1" rot="-2700000">
                <a:off x="5719388" y="2302694"/>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60°</a:t>
                </a:r>
                <a:endParaRPr b="0" i="0" sz="900" u="none" cap="none" strike="noStrike">
                  <a:solidFill>
                    <a:srgbClr val="000000"/>
                  </a:solidFill>
                  <a:latin typeface="Lexend"/>
                  <a:ea typeface="Lexend"/>
                  <a:cs typeface="Lexend"/>
                  <a:sym typeface="Lexend"/>
                </a:endParaRPr>
              </a:p>
            </p:txBody>
          </p:sp>
          <p:sp>
            <p:nvSpPr>
              <p:cNvPr id="933" name="Google Shape;933;p76"/>
              <p:cNvSpPr/>
              <p:nvPr/>
            </p:nvSpPr>
            <p:spPr>
              <a:xfrm flipH="1" rot="-2700000">
                <a:off x="5584339" y="2236166"/>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70°</a:t>
                </a:r>
                <a:endParaRPr b="0" i="0" sz="900" u="none" cap="none" strike="noStrike">
                  <a:solidFill>
                    <a:srgbClr val="000000"/>
                  </a:solidFill>
                  <a:latin typeface="Lexend"/>
                  <a:ea typeface="Lexend"/>
                  <a:cs typeface="Lexend"/>
                  <a:sym typeface="Lexend"/>
                </a:endParaRPr>
              </a:p>
            </p:txBody>
          </p:sp>
          <p:sp>
            <p:nvSpPr>
              <p:cNvPr id="934" name="Google Shape;934;p76"/>
              <p:cNvSpPr/>
              <p:nvPr/>
            </p:nvSpPr>
            <p:spPr>
              <a:xfrm flipH="1" rot="-2700000">
                <a:off x="5432129" y="2209362"/>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80°</a:t>
                </a:r>
                <a:endParaRPr b="0" i="0" sz="900" u="none" cap="none" strike="noStrike">
                  <a:solidFill>
                    <a:srgbClr val="000000"/>
                  </a:solidFill>
                  <a:latin typeface="Lexend"/>
                  <a:ea typeface="Lexend"/>
                  <a:cs typeface="Lexend"/>
                  <a:sym typeface="Lexend"/>
                </a:endParaRPr>
              </a:p>
            </p:txBody>
          </p:sp>
        </p:grpSp>
      </p:grpSp>
      <p:cxnSp>
        <p:nvCxnSpPr>
          <p:cNvPr id="935" name="Google Shape;935;p76"/>
          <p:cNvCxnSpPr/>
          <p:nvPr/>
        </p:nvCxnSpPr>
        <p:spPr>
          <a:xfrm>
            <a:off x="6163723" y="1018991"/>
            <a:ext cx="197700" cy="737400"/>
          </a:xfrm>
          <a:prstGeom prst="straightConnector1">
            <a:avLst/>
          </a:prstGeom>
          <a:noFill/>
          <a:ln cap="flat" cmpd="sng" w="38100">
            <a:solidFill>
              <a:srgbClr val="7E5CD2"/>
            </a:solidFill>
            <a:prstDash val="solid"/>
            <a:round/>
            <a:headEnd len="sm" w="sm" type="none"/>
            <a:tailEnd len="med" w="med" type="triangle"/>
          </a:ln>
        </p:spPr>
      </p:cxnSp>
      <p:sp>
        <p:nvSpPr>
          <p:cNvPr id="936" name="Google Shape;936;p76"/>
          <p:cNvSpPr txBox="1"/>
          <p:nvPr>
            <p:ph idx="1" type="body"/>
          </p:nvPr>
        </p:nvSpPr>
        <p:spPr>
          <a:xfrm>
            <a:off x="3215500" y="1487900"/>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75°</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77"/>
          <p:cNvSpPr txBox="1"/>
          <p:nvPr>
            <p:ph idx="1" type="body"/>
          </p:nvPr>
        </p:nvSpPr>
        <p:spPr>
          <a:xfrm>
            <a:off x="324000" y="3053650"/>
            <a:ext cx="38376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Remember to rotate your protractor to align the 0° with a different line each time you measure an angle.</a:t>
            </a:r>
            <a:endParaRPr sz="1800"/>
          </a:p>
        </p:txBody>
      </p:sp>
      <p:pic>
        <p:nvPicPr>
          <p:cNvPr id="942" name="Google Shape;942;p77"/>
          <p:cNvPicPr preferRelativeResize="0"/>
          <p:nvPr/>
        </p:nvPicPr>
        <p:blipFill rotWithShape="1">
          <a:blip r:embed="rId3">
            <a:alphaModFix/>
          </a:blip>
          <a:srcRect b="3410" l="3410" r="3410" t="3410"/>
          <a:stretch/>
        </p:blipFill>
        <p:spPr>
          <a:xfrm rot="-5400000">
            <a:off x="4897925" y="1240800"/>
            <a:ext cx="3567025" cy="3408650"/>
          </a:xfrm>
          <a:prstGeom prst="rect">
            <a:avLst/>
          </a:prstGeom>
          <a:noFill/>
          <a:ln>
            <a:noFill/>
          </a:ln>
        </p:spPr>
      </p:pic>
      <p:sp>
        <p:nvSpPr>
          <p:cNvPr id="943" name="Google Shape;943;p77"/>
          <p:cNvSpPr txBox="1"/>
          <p:nvPr>
            <p:ph idx="1" type="body"/>
          </p:nvPr>
        </p:nvSpPr>
        <p:spPr>
          <a:xfrm>
            <a:off x="324000" y="683100"/>
            <a:ext cx="84960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Using your protractor, measure the size of one angle at a time.</a:t>
            </a:r>
            <a:endParaRPr sz="2000"/>
          </a:p>
        </p:txBody>
      </p:sp>
      <p:sp>
        <p:nvSpPr>
          <p:cNvPr id="944" name="Google Shape;944;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graphicFrame>
        <p:nvGraphicFramePr>
          <p:cNvPr id="945" name="Google Shape;945;p77"/>
          <p:cNvGraphicFramePr/>
          <p:nvPr/>
        </p:nvGraphicFramePr>
        <p:xfrm>
          <a:off x="323994" y="1166752"/>
          <a:ext cx="3000000" cy="3000000"/>
        </p:xfrm>
        <a:graphic>
          <a:graphicData uri="http://schemas.openxmlformats.org/drawingml/2006/table">
            <a:tbl>
              <a:tblPr bandRow="1" firstRow="1">
                <a:noFill/>
                <a:tableStyleId>{6B1D2025-0711-4614-9E20-ACEAB21110A9}</a:tableStyleId>
              </a:tblPr>
              <a:tblGrid>
                <a:gridCol w="1468225"/>
                <a:gridCol w="1423275"/>
                <a:gridCol w="946100"/>
              </a:tblGrid>
              <a:tr h="321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location</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in-town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out-of-town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online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marR="0" rtl="0" algn="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bl>
          </a:graphicData>
        </a:graphic>
      </p:graphicFrame>
      <p:sp>
        <p:nvSpPr>
          <p:cNvPr id="946" name="Google Shape;946;p77"/>
          <p:cNvSpPr txBox="1"/>
          <p:nvPr>
            <p:ph idx="1" type="body"/>
          </p:nvPr>
        </p:nvSpPr>
        <p:spPr>
          <a:xfrm>
            <a:off x="1792225" y="2451350"/>
            <a:ext cx="1423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72</a:t>
            </a:r>
            <a:endParaRPr sz="1800"/>
          </a:p>
        </p:txBody>
      </p:sp>
      <p:sp>
        <p:nvSpPr>
          <p:cNvPr id="947" name="Google Shape;947;p77"/>
          <p:cNvSpPr txBox="1"/>
          <p:nvPr>
            <p:ph idx="1" type="body"/>
          </p:nvPr>
        </p:nvSpPr>
        <p:spPr>
          <a:xfrm>
            <a:off x="3215500" y="2451350"/>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360°</a:t>
            </a:r>
            <a:endParaRPr sz="1800"/>
          </a:p>
        </p:txBody>
      </p:sp>
      <p:sp>
        <p:nvSpPr>
          <p:cNvPr id="948" name="Google Shape;948;p77"/>
          <p:cNvSpPr txBox="1"/>
          <p:nvPr>
            <p:ph idx="1" type="body"/>
          </p:nvPr>
        </p:nvSpPr>
        <p:spPr>
          <a:xfrm>
            <a:off x="5296917" y="2337875"/>
            <a:ext cx="10983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in-town</a:t>
            </a:r>
            <a:endParaRPr sz="1800"/>
          </a:p>
        </p:txBody>
      </p:sp>
      <p:sp>
        <p:nvSpPr>
          <p:cNvPr id="949" name="Google Shape;949;p77"/>
          <p:cNvSpPr txBox="1"/>
          <p:nvPr>
            <p:ph idx="1" type="body"/>
          </p:nvPr>
        </p:nvSpPr>
        <p:spPr>
          <a:xfrm>
            <a:off x="6642349" y="2238000"/>
            <a:ext cx="14232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out-of-town</a:t>
            </a:r>
            <a:endParaRPr sz="1800"/>
          </a:p>
        </p:txBody>
      </p:sp>
      <p:sp>
        <p:nvSpPr>
          <p:cNvPr id="950" name="Google Shape;950;p77"/>
          <p:cNvSpPr txBox="1"/>
          <p:nvPr>
            <p:ph idx="1" type="body"/>
          </p:nvPr>
        </p:nvSpPr>
        <p:spPr>
          <a:xfrm>
            <a:off x="5828099" y="3501300"/>
            <a:ext cx="14232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online</a:t>
            </a:r>
            <a:endParaRPr sz="1800"/>
          </a:p>
        </p:txBody>
      </p:sp>
      <p:sp>
        <p:nvSpPr>
          <p:cNvPr id="951" name="Google Shape;951;p77"/>
          <p:cNvSpPr txBox="1"/>
          <p:nvPr>
            <p:ph idx="1" type="body"/>
          </p:nvPr>
        </p:nvSpPr>
        <p:spPr>
          <a:xfrm>
            <a:off x="3215500" y="1487900"/>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75°</a:t>
            </a:r>
            <a:endParaRPr sz="1800"/>
          </a:p>
        </p:txBody>
      </p:sp>
      <p:grpSp>
        <p:nvGrpSpPr>
          <p:cNvPr id="952" name="Google Shape;952;p77"/>
          <p:cNvGrpSpPr/>
          <p:nvPr/>
        </p:nvGrpSpPr>
        <p:grpSpPr>
          <a:xfrm rot="4499986">
            <a:off x="5793324" y="1959946"/>
            <a:ext cx="3069997" cy="1653114"/>
            <a:chOff x="5705511" y="2134572"/>
            <a:chExt cx="2081703" cy="1120943"/>
          </a:xfrm>
        </p:grpSpPr>
        <p:pic>
          <p:nvPicPr>
            <p:cNvPr id="953" name="Google Shape;953;p77"/>
            <p:cNvPicPr preferRelativeResize="0"/>
            <p:nvPr/>
          </p:nvPicPr>
          <p:blipFill rotWithShape="1">
            <a:blip r:embed="rId4">
              <a:alphaModFix/>
            </a:blip>
            <a:srcRect b="0" l="0" r="0" t="0"/>
            <a:stretch/>
          </p:blipFill>
          <p:spPr>
            <a:xfrm>
              <a:off x="5763511" y="2277698"/>
              <a:ext cx="1933599" cy="977817"/>
            </a:xfrm>
            <a:prstGeom prst="rect">
              <a:avLst/>
            </a:prstGeom>
            <a:noFill/>
            <a:ln>
              <a:noFill/>
            </a:ln>
          </p:spPr>
        </p:pic>
        <p:sp>
          <p:nvSpPr>
            <p:cNvPr id="954" name="Google Shape;954;p77"/>
            <p:cNvSpPr/>
            <p:nvPr/>
          </p:nvSpPr>
          <p:spPr>
            <a:xfrm>
              <a:off x="5705511" y="3095082"/>
              <a:ext cx="208800" cy="9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0°</a:t>
              </a:r>
              <a:endParaRPr b="0" i="0" sz="900" u="none" cap="none" strike="noStrike">
                <a:solidFill>
                  <a:srgbClr val="000000"/>
                </a:solidFill>
                <a:latin typeface="Lexend"/>
                <a:ea typeface="Lexend"/>
                <a:cs typeface="Lexend"/>
                <a:sym typeface="Lexend"/>
              </a:endParaRPr>
            </a:p>
          </p:txBody>
        </p:sp>
        <p:sp>
          <p:nvSpPr>
            <p:cNvPr id="955" name="Google Shape;955;p77"/>
            <p:cNvSpPr/>
            <p:nvPr/>
          </p:nvSpPr>
          <p:spPr>
            <a:xfrm>
              <a:off x="6624720" y="2191726"/>
              <a:ext cx="208800" cy="12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90°</a:t>
              </a:r>
              <a:endParaRPr b="0" i="0" sz="900" u="none" cap="none" strike="noStrike">
                <a:solidFill>
                  <a:srgbClr val="000000"/>
                </a:solidFill>
                <a:latin typeface="Lexend"/>
                <a:ea typeface="Lexend"/>
                <a:cs typeface="Lexend"/>
                <a:sym typeface="Lexend"/>
              </a:endParaRPr>
            </a:p>
          </p:txBody>
        </p:sp>
        <p:sp>
          <p:nvSpPr>
            <p:cNvPr id="956" name="Google Shape;956;p77"/>
            <p:cNvSpPr/>
            <p:nvPr/>
          </p:nvSpPr>
          <p:spPr>
            <a:xfrm flipH="1">
              <a:off x="7578414" y="3095082"/>
              <a:ext cx="208800" cy="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180°</a:t>
              </a:r>
              <a:endParaRPr b="0" i="0" sz="900" u="none" cap="none" strike="noStrike">
                <a:solidFill>
                  <a:srgbClr val="000000"/>
                </a:solidFill>
                <a:latin typeface="Lexend"/>
                <a:ea typeface="Lexend"/>
                <a:cs typeface="Lexend"/>
                <a:sym typeface="Lexend"/>
              </a:endParaRPr>
            </a:p>
          </p:txBody>
        </p:sp>
        <p:sp>
          <p:nvSpPr>
            <p:cNvPr id="957" name="Google Shape;957;p77"/>
            <p:cNvSpPr/>
            <p:nvPr/>
          </p:nvSpPr>
          <p:spPr>
            <a:xfrm flipH="1" rot="-899705">
              <a:off x="7550089" y="2921305"/>
              <a:ext cx="208707" cy="9067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170°</a:t>
              </a:r>
              <a:endParaRPr b="0" i="0" sz="900" u="none" cap="none" strike="noStrike">
                <a:solidFill>
                  <a:srgbClr val="000000"/>
                </a:solidFill>
                <a:latin typeface="Lexend"/>
                <a:ea typeface="Lexend"/>
                <a:cs typeface="Lexend"/>
                <a:sym typeface="Lexend"/>
              </a:endParaRPr>
            </a:p>
          </p:txBody>
        </p:sp>
        <p:sp>
          <p:nvSpPr>
            <p:cNvPr id="958" name="Google Shape;958;p77"/>
            <p:cNvSpPr/>
            <p:nvPr/>
          </p:nvSpPr>
          <p:spPr>
            <a:xfrm flipH="1" rot="-899705">
              <a:off x="7497832" y="2779749"/>
              <a:ext cx="208707" cy="9067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160°</a:t>
              </a:r>
              <a:endParaRPr b="0" i="0" sz="900" u="none" cap="none" strike="noStrike">
                <a:solidFill>
                  <a:srgbClr val="000000"/>
                </a:solidFill>
                <a:latin typeface="Lexend"/>
                <a:ea typeface="Lexend"/>
                <a:cs typeface="Lexend"/>
                <a:sym typeface="Lexend"/>
              </a:endParaRPr>
            </a:p>
          </p:txBody>
        </p:sp>
        <p:sp>
          <p:nvSpPr>
            <p:cNvPr id="959" name="Google Shape;959;p77"/>
            <p:cNvSpPr/>
            <p:nvPr/>
          </p:nvSpPr>
          <p:spPr>
            <a:xfrm flipH="1" rot="-1799392">
              <a:off x="7424609" y="2627483"/>
              <a:ext cx="208864" cy="90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150°</a:t>
              </a:r>
              <a:endParaRPr b="0" i="0" sz="900" u="none" cap="none" strike="noStrike">
                <a:solidFill>
                  <a:srgbClr val="000000"/>
                </a:solidFill>
                <a:latin typeface="Lexend"/>
                <a:ea typeface="Lexend"/>
                <a:cs typeface="Lexend"/>
                <a:sym typeface="Lexend"/>
              </a:endParaRPr>
            </a:p>
          </p:txBody>
        </p:sp>
        <p:sp>
          <p:nvSpPr>
            <p:cNvPr id="960" name="Google Shape;960;p77"/>
            <p:cNvSpPr/>
            <p:nvPr/>
          </p:nvSpPr>
          <p:spPr>
            <a:xfrm flipH="1" rot="-2700000">
              <a:off x="7333801" y="2490445"/>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140°</a:t>
              </a:r>
              <a:endParaRPr b="0" i="0" sz="900" u="none" cap="none" strike="noStrike">
                <a:solidFill>
                  <a:srgbClr val="000000"/>
                </a:solidFill>
                <a:latin typeface="Lexend"/>
                <a:ea typeface="Lexend"/>
                <a:cs typeface="Lexend"/>
                <a:sym typeface="Lexend"/>
              </a:endParaRPr>
            </a:p>
          </p:txBody>
        </p:sp>
        <p:sp>
          <p:nvSpPr>
            <p:cNvPr id="961" name="Google Shape;961;p77"/>
            <p:cNvSpPr/>
            <p:nvPr/>
          </p:nvSpPr>
          <p:spPr>
            <a:xfrm flipH="1" rot="-2700000">
              <a:off x="7223943" y="2386218"/>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130°</a:t>
              </a:r>
              <a:endParaRPr b="0" i="0" sz="900" u="none" cap="none" strike="noStrike">
                <a:solidFill>
                  <a:srgbClr val="000000"/>
                </a:solidFill>
                <a:latin typeface="Lexend"/>
                <a:ea typeface="Lexend"/>
                <a:cs typeface="Lexend"/>
                <a:sym typeface="Lexend"/>
              </a:endParaRPr>
            </a:p>
          </p:txBody>
        </p:sp>
        <p:sp>
          <p:nvSpPr>
            <p:cNvPr id="962" name="Google Shape;962;p77"/>
            <p:cNvSpPr/>
            <p:nvPr/>
          </p:nvSpPr>
          <p:spPr>
            <a:xfrm flipH="1" rot="-2700000">
              <a:off x="7115479" y="2302008"/>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120°</a:t>
              </a:r>
              <a:endParaRPr b="0" i="0" sz="900" u="none" cap="none" strike="noStrike">
                <a:solidFill>
                  <a:srgbClr val="000000"/>
                </a:solidFill>
                <a:latin typeface="Lexend"/>
                <a:ea typeface="Lexend"/>
                <a:cs typeface="Lexend"/>
                <a:sym typeface="Lexend"/>
              </a:endParaRPr>
            </a:p>
          </p:txBody>
        </p:sp>
        <p:sp>
          <p:nvSpPr>
            <p:cNvPr id="963" name="Google Shape;963;p77"/>
            <p:cNvSpPr/>
            <p:nvPr/>
          </p:nvSpPr>
          <p:spPr>
            <a:xfrm flipH="1" rot="-2700000">
              <a:off x="6984735" y="2240472"/>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110°</a:t>
              </a:r>
              <a:endParaRPr b="0" i="0" sz="900" u="none" cap="none" strike="noStrike">
                <a:solidFill>
                  <a:srgbClr val="000000"/>
                </a:solidFill>
                <a:latin typeface="Lexend"/>
                <a:ea typeface="Lexend"/>
                <a:cs typeface="Lexend"/>
                <a:sym typeface="Lexend"/>
              </a:endParaRPr>
            </a:p>
          </p:txBody>
        </p:sp>
        <p:sp>
          <p:nvSpPr>
            <p:cNvPr id="964" name="Google Shape;964;p77"/>
            <p:cNvSpPr/>
            <p:nvPr/>
          </p:nvSpPr>
          <p:spPr>
            <a:xfrm flipH="1" rot="-2700000">
              <a:off x="6834905" y="2195076"/>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100°</a:t>
              </a:r>
              <a:endParaRPr b="0" i="0" sz="900" u="none" cap="none" strike="noStrike">
                <a:solidFill>
                  <a:srgbClr val="000000"/>
                </a:solidFill>
                <a:latin typeface="Lexend"/>
                <a:ea typeface="Lexend"/>
                <a:cs typeface="Lexend"/>
                <a:sym typeface="Lexend"/>
              </a:endParaRPr>
            </a:p>
          </p:txBody>
        </p:sp>
        <p:grpSp>
          <p:nvGrpSpPr>
            <p:cNvPr id="965" name="Google Shape;965;p77"/>
            <p:cNvGrpSpPr/>
            <p:nvPr/>
          </p:nvGrpSpPr>
          <p:grpSpPr>
            <a:xfrm flipH="1">
              <a:off x="5716786" y="2170288"/>
              <a:ext cx="930273" cy="888583"/>
              <a:chOff x="5430598" y="2148858"/>
              <a:chExt cx="930273" cy="888583"/>
            </a:xfrm>
          </p:grpSpPr>
          <p:sp>
            <p:nvSpPr>
              <p:cNvPr id="966" name="Google Shape;966;p77"/>
              <p:cNvSpPr/>
              <p:nvPr/>
            </p:nvSpPr>
            <p:spPr>
              <a:xfrm flipH="1" rot="-899705">
                <a:off x="6144018" y="2921305"/>
                <a:ext cx="208707" cy="90671"/>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10°</a:t>
                </a:r>
                <a:endParaRPr b="0" i="0" sz="900" u="none" cap="none" strike="noStrike">
                  <a:solidFill>
                    <a:srgbClr val="000000"/>
                  </a:solidFill>
                  <a:latin typeface="Lexend"/>
                  <a:ea typeface="Lexend"/>
                  <a:cs typeface="Lexend"/>
                  <a:sym typeface="Lexend"/>
                </a:endParaRPr>
              </a:p>
            </p:txBody>
          </p:sp>
          <p:sp>
            <p:nvSpPr>
              <p:cNvPr id="967" name="Google Shape;967;p77"/>
              <p:cNvSpPr/>
              <p:nvPr/>
            </p:nvSpPr>
            <p:spPr>
              <a:xfrm flipH="1" rot="-899705">
                <a:off x="6101285" y="2782130"/>
                <a:ext cx="208707" cy="90671"/>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20°</a:t>
                </a:r>
                <a:endParaRPr b="0" i="0" sz="900" u="none" cap="none" strike="noStrike">
                  <a:solidFill>
                    <a:srgbClr val="000000"/>
                  </a:solidFill>
                  <a:latin typeface="Lexend"/>
                  <a:ea typeface="Lexend"/>
                  <a:cs typeface="Lexend"/>
                  <a:sym typeface="Lexend"/>
                </a:endParaRPr>
              </a:p>
            </p:txBody>
          </p:sp>
          <p:sp>
            <p:nvSpPr>
              <p:cNvPr id="968" name="Google Shape;968;p77"/>
              <p:cNvSpPr/>
              <p:nvPr/>
            </p:nvSpPr>
            <p:spPr>
              <a:xfrm flipH="1" rot="-1799392">
                <a:off x="6032824" y="2627483"/>
                <a:ext cx="208864" cy="907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30°</a:t>
                </a:r>
                <a:endParaRPr b="0" i="0" sz="900" u="none" cap="none" strike="noStrike">
                  <a:solidFill>
                    <a:srgbClr val="000000"/>
                  </a:solidFill>
                  <a:latin typeface="Lexend"/>
                  <a:ea typeface="Lexend"/>
                  <a:cs typeface="Lexend"/>
                  <a:sym typeface="Lexend"/>
                </a:endParaRPr>
              </a:p>
            </p:txBody>
          </p:sp>
          <p:sp>
            <p:nvSpPr>
              <p:cNvPr id="969" name="Google Shape;969;p77"/>
              <p:cNvSpPr/>
              <p:nvPr/>
            </p:nvSpPr>
            <p:spPr>
              <a:xfrm flipH="1" rot="-2700000">
                <a:off x="5943712" y="2499512"/>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40°</a:t>
                </a:r>
                <a:endParaRPr b="0" i="0" sz="900" u="none" cap="none" strike="noStrike">
                  <a:solidFill>
                    <a:srgbClr val="000000"/>
                  </a:solidFill>
                  <a:latin typeface="Lexend"/>
                  <a:ea typeface="Lexend"/>
                  <a:cs typeface="Lexend"/>
                  <a:sym typeface="Lexend"/>
                </a:endParaRPr>
              </a:p>
            </p:txBody>
          </p:sp>
          <p:sp>
            <p:nvSpPr>
              <p:cNvPr id="970" name="Google Shape;970;p77"/>
              <p:cNvSpPr/>
              <p:nvPr/>
            </p:nvSpPr>
            <p:spPr>
              <a:xfrm flipH="1" rot="-2700000">
                <a:off x="5838614" y="2388371"/>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50°</a:t>
                </a:r>
                <a:endParaRPr b="0" i="0" sz="900" u="none" cap="none" strike="noStrike">
                  <a:solidFill>
                    <a:srgbClr val="000000"/>
                  </a:solidFill>
                  <a:latin typeface="Lexend"/>
                  <a:ea typeface="Lexend"/>
                  <a:cs typeface="Lexend"/>
                  <a:sym typeface="Lexend"/>
                </a:endParaRPr>
              </a:p>
            </p:txBody>
          </p:sp>
          <p:sp>
            <p:nvSpPr>
              <p:cNvPr id="971" name="Google Shape;971;p77"/>
              <p:cNvSpPr/>
              <p:nvPr/>
            </p:nvSpPr>
            <p:spPr>
              <a:xfrm flipH="1" rot="-2700000">
                <a:off x="5719388" y="2302694"/>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60°</a:t>
                </a:r>
                <a:endParaRPr b="0" i="0" sz="900" u="none" cap="none" strike="noStrike">
                  <a:solidFill>
                    <a:srgbClr val="000000"/>
                  </a:solidFill>
                  <a:latin typeface="Lexend"/>
                  <a:ea typeface="Lexend"/>
                  <a:cs typeface="Lexend"/>
                  <a:sym typeface="Lexend"/>
                </a:endParaRPr>
              </a:p>
            </p:txBody>
          </p:sp>
          <p:sp>
            <p:nvSpPr>
              <p:cNvPr id="972" name="Google Shape;972;p77"/>
              <p:cNvSpPr/>
              <p:nvPr/>
            </p:nvSpPr>
            <p:spPr>
              <a:xfrm flipH="1" rot="-2700000">
                <a:off x="5584339" y="2236166"/>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70°</a:t>
                </a:r>
                <a:endParaRPr b="0" i="0" sz="900" u="none" cap="none" strike="noStrike">
                  <a:solidFill>
                    <a:srgbClr val="000000"/>
                  </a:solidFill>
                  <a:latin typeface="Lexend"/>
                  <a:ea typeface="Lexend"/>
                  <a:cs typeface="Lexend"/>
                  <a:sym typeface="Lexend"/>
                </a:endParaRPr>
              </a:p>
            </p:txBody>
          </p:sp>
          <p:sp>
            <p:nvSpPr>
              <p:cNvPr id="973" name="Google Shape;973;p77"/>
              <p:cNvSpPr/>
              <p:nvPr/>
            </p:nvSpPr>
            <p:spPr>
              <a:xfrm flipH="1" rot="-2700000">
                <a:off x="5432129" y="2209362"/>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80°</a:t>
                </a:r>
                <a:endParaRPr b="0" i="0" sz="900" u="none" cap="none" strike="noStrike">
                  <a:solidFill>
                    <a:srgbClr val="000000"/>
                  </a:solidFill>
                  <a:latin typeface="Lexend"/>
                  <a:ea typeface="Lexend"/>
                  <a:cs typeface="Lexend"/>
                  <a:sym typeface="Lexend"/>
                </a:endParaRPr>
              </a:p>
            </p:txBody>
          </p:sp>
        </p:grpSp>
      </p:grpSp>
      <p:cxnSp>
        <p:nvCxnSpPr>
          <p:cNvPr id="974" name="Google Shape;974;p77"/>
          <p:cNvCxnSpPr/>
          <p:nvPr/>
        </p:nvCxnSpPr>
        <p:spPr>
          <a:xfrm rot="7499521">
            <a:off x="8091858" y="3118841"/>
            <a:ext cx="197746" cy="737309"/>
          </a:xfrm>
          <a:prstGeom prst="straightConnector1">
            <a:avLst/>
          </a:prstGeom>
          <a:noFill/>
          <a:ln cap="flat" cmpd="sng" w="38100">
            <a:solidFill>
              <a:srgbClr val="7E5CD2"/>
            </a:solidFill>
            <a:prstDash val="solid"/>
            <a:round/>
            <a:headEnd len="sm" w="sm" type="none"/>
            <a:tailEnd len="med" w="med" type="triangle"/>
          </a:ln>
        </p:spPr>
      </p:cxnSp>
      <p:sp>
        <p:nvSpPr>
          <p:cNvPr id="975" name="Google Shape;975;p77"/>
          <p:cNvSpPr txBox="1"/>
          <p:nvPr>
            <p:ph idx="1" type="body"/>
          </p:nvPr>
        </p:nvSpPr>
        <p:spPr>
          <a:xfrm>
            <a:off x="3215500" y="1808225"/>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12</a:t>
            </a:r>
            <a:r>
              <a:rPr lang="en-GB" sz="1800"/>
              <a:t>5°</a:t>
            </a:r>
            <a:endParaRPr sz="1800"/>
          </a:p>
        </p:txBody>
      </p:sp>
      <p:sp>
        <p:nvSpPr>
          <p:cNvPr id="976" name="Google Shape;976;p77"/>
          <p:cNvSpPr txBox="1"/>
          <p:nvPr>
            <p:ph idx="1" type="body"/>
          </p:nvPr>
        </p:nvSpPr>
        <p:spPr>
          <a:xfrm>
            <a:off x="3215500" y="2130200"/>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160°</a:t>
            </a:r>
            <a:endParaRPr sz="1800"/>
          </a:p>
        </p:txBody>
      </p:sp>
      <p:grpSp>
        <p:nvGrpSpPr>
          <p:cNvPr id="977" name="Google Shape;977;p77"/>
          <p:cNvGrpSpPr/>
          <p:nvPr/>
        </p:nvGrpSpPr>
        <p:grpSpPr>
          <a:xfrm rot="-9599978">
            <a:off x="4903036" y="2729807"/>
            <a:ext cx="3069973" cy="1653101"/>
            <a:chOff x="5705511" y="2134572"/>
            <a:chExt cx="2081703" cy="1120943"/>
          </a:xfrm>
        </p:grpSpPr>
        <p:pic>
          <p:nvPicPr>
            <p:cNvPr id="978" name="Google Shape;978;p77"/>
            <p:cNvPicPr preferRelativeResize="0"/>
            <p:nvPr/>
          </p:nvPicPr>
          <p:blipFill rotWithShape="1">
            <a:blip r:embed="rId4">
              <a:alphaModFix/>
            </a:blip>
            <a:srcRect b="0" l="0" r="0" t="0"/>
            <a:stretch/>
          </p:blipFill>
          <p:spPr>
            <a:xfrm>
              <a:off x="5763511" y="2277698"/>
              <a:ext cx="1933599" cy="977817"/>
            </a:xfrm>
            <a:prstGeom prst="rect">
              <a:avLst/>
            </a:prstGeom>
            <a:noFill/>
            <a:ln>
              <a:noFill/>
            </a:ln>
          </p:spPr>
        </p:pic>
        <p:sp>
          <p:nvSpPr>
            <p:cNvPr id="979" name="Google Shape;979;p77"/>
            <p:cNvSpPr/>
            <p:nvPr/>
          </p:nvSpPr>
          <p:spPr>
            <a:xfrm>
              <a:off x="5705511" y="3095082"/>
              <a:ext cx="208800" cy="9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0°</a:t>
              </a:r>
              <a:endParaRPr b="0" i="0" sz="900" u="none" cap="none" strike="noStrike">
                <a:solidFill>
                  <a:srgbClr val="000000"/>
                </a:solidFill>
                <a:latin typeface="Lexend"/>
                <a:ea typeface="Lexend"/>
                <a:cs typeface="Lexend"/>
                <a:sym typeface="Lexend"/>
              </a:endParaRPr>
            </a:p>
          </p:txBody>
        </p:sp>
        <p:sp>
          <p:nvSpPr>
            <p:cNvPr id="980" name="Google Shape;980;p77"/>
            <p:cNvSpPr/>
            <p:nvPr/>
          </p:nvSpPr>
          <p:spPr>
            <a:xfrm>
              <a:off x="6624720" y="2191726"/>
              <a:ext cx="208800" cy="12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90°</a:t>
              </a:r>
              <a:endParaRPr b="0" i="0" sz="900" u="none" cap="none" strike="noStrike">
                <a:solidFill>
                  <a:srgbClr val="000000"/>
                </a:solidFill>
                <a:latin typeface="Lexend"/>
                <a:ea typeface="Lexend"/>
                <a:cs typeface="Lexend"/>
                <a:sym typeface="Lexend"/>
              </a:endParaRPr>
            </a:p>
          </p:txBody>
        </p:sp>
        <p:sp>
          <p:nvSpPr>
            <p:cNvPr id="981" name="Google Shape;981;p77"/>
            <p:cNvSpPr/>
            <p:nvPr/>
          </p:nvSpPr>
          <p:spPr>
            <a:xfrm flipH="1">
              <a:off x="7578414" y="3095082"/>
              <a:ext cx="208800" cy="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180°</a:t>
              </a:r>
              <a:endParaRPr b="0" i="0" sz="900" u="none" cap="none" strike="noStrike">
                <a:solidFill>
                  <a:srgbClr val="000000"/>
                </a:solidFill>
                <a:latin typeface="Lexend"/>
                <a:ea typeface="Lexend"/>
                <a:cs typeface="Lexend"/>
                <a:sym typeface="Lexend"/>
              </a:endParaRPr>
            </a:p>
          </p:txBody>
        </p:sp>
        <p:sp>
          <p:nvSpPr>
            <p:cNvPr id="982" name="Google Shape;982;p77"/>
            <p:cNvSpPr/>
            <p:nvPr/>
          </p:nvSpPr>
          <p:spPr>
            <a:xfrm flipH="1" rot="-899705">
              <a:off x="7550089" y="2921305"/>
              <a:ext cx="208707" cy="9067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170°</a:t>
              </a:r>
              <a:endParaRPr b="0" i="0" sz="900" u="none" cap="none" strike="noStrike">
                <a:solidFill>
                  <a:srgbClr val="000000"/>
                </a:solidFill>
                <a:latin typeface="Lexend"/>
                <a:ea typeface="Lexend"/>
                <a:cs typeface="Lexend"/>
                <a:sym typeface="Lexend"/>
              </a:endParaRPr>
            </a:p>
          </p:txBody>
        </p:sp>
        <p:sp>
          <p:nvSpPr>
            <p:cNvPr id="983" name="Google Shape;983;p77"/>
            <p:cNvSpPr/>
            <p:nvPr/>
          </p:nvSpPr>
          <p:spPr>
            <a:xfrm flipH="1" rot="-899705">
              <a:off x="7497832" y="2779749"/>
              <a:ext cx="208707" cy="9067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160°</a:t>
              </a:r>
              <a:endParaRPr b="0" i="0" sz="900" u="none" cap="none" strike="noStrike">
                <a:solidFill>
                  <a:srgbClr val="000000"/>
                </a:solidFill>
                <a:latin typeface="Lexend"/>
                <a:ea typeface="Lexend"/>
                <a:cs typeface="Lexend"/>
                <a:sym typeface="Lexend"/>
              </a:endParaRPr>
            </a:p>
          </p:txBody>
        </p:sp>
        <p:sp>
          <p:nvSpPr>
            <p:cNvPr id="984" name="Google Shape;984;p77"/>
            <p:cNvSpPr/>
            <p:nvPr/>
          </p:nvSpPr>
          <p:spPr>
            <a:xfrm flipH="1" rot="-1799392">
              <a:off x="7424609" y="2627483"/>
              <a:ext cx="208864" cy="90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150°</a:t>
              </a:r>
              <a:endParaRPr b="0" i="0" sz="900" u="none" cap="none" strike="noStrike">
                <a:solidFill>
                  <a:srgbClr val="000000"/>
                </a:solidFill>
                <a:latin typeface="Lexend"/>
                <a:ea typeface="Lexend"/>
                <a:cs typeface="Lexend"/>
                <a:sym typeface="Lexend"/>
              </a:endParaRPr>
            </a:p>
          </p:txBody>
        </p:sp>
        <p:sp>
          <p:nvSpPr>
            <p:cNvPr id="985" name="Google Shape;985;p77"/>
            <p:cNvSpPr/>
            <p:nvPr/>
          </p:nvSpPr>
          <p:spPr>
            <a:xfrm flipH="1" rot="-2700000">
              <a:off x="7333801" y="2490445"/>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140°</a:t>
              </a:r>
              <a:endParaRPr b="0" i="0" sz="900" u="none" cap="none" strike="noStrike">
                <a:solidFill>
                  <a:srgbClr val="000000"/>
                </a:solidFill>
                <a:latin typeface="Lexend"/>
                <a:ea typeface="Lexend"/>
                <a:cs typeface="Lexend"/>
                <a:sym typeface="Lexend"/>
              </a:endParaRPr>
            </a:p>
          </p:txBody>
        </p:sp>
        <p:sp>
          <p:nvSpPr>
            <p:cNvPr id="986" name="Google Shape;986;p77"/>
            <p:cNvSpPr/>
            <p:nvPr/>
          </p:nvSpPr>
          <p:spPr>
            <a:xfrm flipH="1" rot="-2700000">
              <a:off x="7223943" y="2386218"/>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130°</a:t>
              </a:r>
              <a:endParaRPr b="0" i="0" sz="900" u="none" cap="none" strike="noStrike">
                <a:solidFill>
                  <a:srgbClr val="000000"/>
                </a:solidFill>
                <a:latin typeface="Lexend"/>
                <a:ea typeface="Lexend"/>
                <a:cs typeface="Lexend"/>
                <a:sym typeface="Lexend"/>
              </a:endParaRPr>
            </a:p>
          </p:txBody>
        </p:sp>
        <p:sp>
          <p:nvSpPr>
            <p:cNvPr id="987" name="Google Shape;987;p77"/>
            <p:cNvSpPr/>
            <p:nvPr/>
          </p:nvSpPr>
          <p:spPr>
            <a:xfrm flipH="1" rot="-2700000">
              <a:off x="7115479" y="2302008"/>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120°</a:t>
              </a:r>
              <a:endParaRPr b="0" i="0" sz="900" u="none" cap="none" strike="noStrike">
                <a:solidFill>
                  <a:srgbClr val="000000"/>
                </a:solidFill>
                <a:latin typeface="Lexend"/>
                <a:ea typeface="Lexend"/>
                <a:cs typeface="Lexend"/>
                <a:sym typeface="Lexend"/>
              </a:endParaRPr>
            </a:p>
          </p:txBody>
        </p:sp>
        <p:sp>
          <p:nvSpPr>
            <p:cNvPr id="988" name="Google Shape;988;p77"/>
            <p:cNvSpPr/>
            <p:nvPr/>
          </p:nvSpPr>
          <p:spPr>
            <a:xfrm flipH="1" rot="-2700000">
              <a:off x="6984735" y="2240472"/>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110°</a:t>
              </a:r>
              <a:endParaRPr b="0" i="0" sz="900" u="none" cap="none" strike="noStrike">
                <a:solidFill>
                  <a:srgbClr val="000000"/>
                </a:solidFill>
                <a:latin typeface="Lexend"/>
                <a:ea typeface="Lexend"/>
                <a:cs typeface="Lexend"/>
                <a:sym typeface="Lexend"/>
              </a:endParaRPr>
            </a:p>
          </p:txBody>
        </p:sp>
        <p:sp>
          <p:nvSpPr>
            <p:cNvPr id="989" name="Google Shape;989;p77"/>
            <p:cNvSpPr/>
            <p:nvPr/>
          </p:nvSpPr>
          <p:spPr>
            <a:xfrm flipH="1" rot="-2700000">
              <a:off x="6834905" y="2195076"/>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100°</a:t>
              </a:r>
              <a:endParaRPr b="0" i="0" sz="900" u="none" cap="none" strike="noStrike">
                <a:solidFill>
                  <a:srgbClr val="000000"/>
                </a:solidFill>
                <a:latin typeface="Lexend"/>
                <a:ea typeface="Lexend"/>
                <a:cs typeface="Lexend"/>
                <a:sym typeface="Lexend"/>
              </a:endParaRPr>
            </a:p>
          </p:txBody>
        </p:sp>
        <p:grpSp>
          <p:nvGrpSpPr>
            <p:cNvPr id="990" name="Google Shape;990;p77"/>
            <p:cNvGrpSpPr/>
            <p:nvPr/>
          </p:nvGrpSpPr>
          <p:grpSpPr>
            <a:xfrm flipH="1">
              <a:off x="5716786" y="2170288"/>
              <a:ext cx="930273" cy="888583"/>
              <a:chOff x="5430598" y="2148858"/>
              <a:chExt cx="930273" cy="888583"/>
            </a:xfrm>
          </p:grpSpPr>
          <p:sp>
            <p:nvSpPr>
              <p:cNvPr id="991" name="Google Shape;991;p77"/>
              <p:cNvSpPr/>
              <p:nvPr/>
            </p:nvSpPr>
            <p:spPr>
              <a:xfrm flipH="1" rot="-899705">
                <a:off x="6144018" y="2921305"/>
                <a:ext cx="208707" cy="90671"/>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10°</a:t>
                </a:r>
                <a:endParaRPr b="0" i="0" sz="900" u="none" cap="none" strike="noStrike">
                  <a:solidFill>
                    <a:srgbClr val="000000"/>
                  </a:solidFill>
                  <a:latin typeface="Lexend"/>
                  <a:ea typeface="Lexend"/>
                  <a:cs typeface="Lexend"/>
                  <a:sym typeface="Lexend"/>
                </a:endParaRPr>
              </a:p>
            </p:txBody>
          </p:sp>
          <p:sp>
            <p:nvSpPr>
              <p:cNvPr id="992" name="Google Shape;992;p77"/>
              <p:cNvSpPr/>
              <p:nvPr/>
            </p:nvSpPr>
            <p:spPr>
              <a:xfrm flipH="1" rot="-899705">
                <a:off x="6101285" y="2782130"/>
                <a:ext cx="208707" cy="90671"/>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20°</a:t>
                </a:r>
                <a:endParaRPr b="0" i="0" sz="900" u="none" cap="none" strike="noStrike">
                  <a:solidFill>
                    <a:srgbClr val="000000"/>
                  </a:solidFill>
                  <a:latin typeface="Lexend"/>
                  <a:ea typeface="Lexend"/>
                  <a:cs typeface="Lexend"/>
                  <a:sym typeface="Lexend"/>
                </a:endParaRPr>
              </a:p>
            </p:txBody>
          </p:sp>
          <p:sp>
            <p:nvSpPr>
              <p:cNvPr id="993" name="Google Shape;993;p77"/>
              <p:cNvSpPr/>
              <p:nvPr/>
            </p:nvSpPr>
            <p:spPr>
              <a:xfrm flipH="1" rot="-1799392">
                <a:off x="6032824" y="2627483"/>
                <a:ext cx="208864" cy="907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30°</a:t>
                </a:r>
                <a:endParaRPr b="0" i="0" sz="900" u="none" cap="none" strike="noStrike">
                  <a:solidFill>
                    <a:srgbClr val="000000"/>
                  </a:solidFill>
                  <a:latin typeface="Lexend"/>
                  <a:ea typeface="Lexend"/>
                  <a:cs typeface="Lexend"/>
                  <a:sym typeface="Lexend"/>
                </a:endParaRPr>
              </a:p>
            </p:txBody>
          </p:sp>
          <p:sp>
            <p:nvSpPr>
              <p:cNvPr id="994" name="Google Shape;994;p77"/>
              <p:cNvSpPr/>
              <p:nvPr/>
            </p:nvSpPr>
            <p:spPr>
              <a:xfrm flipH="1" rot="-2700000">
                <a:off x="5943712" y="2499512"/>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40°</a:t>
                </a:r>
                <a:endParaRPr b="0" i="0" sz="900" u="none" cap="none" strike="noStrike">
                  <a:solidFill>
                    <a:srgbClr val="000000"/>
                  </a:solidFill>
                  <a:latin typeface="Lexend"/>
                  <a:ea typeface="Lexend"/>
                  <a:cs typeface="Lexend"/>
                  <a:sym typeface="Lexend"/>
                </a:endParaRPr>
              </a:p>
            </p:txBody>
          </p:sp>
          <p:sp>
            <p:nvSpPr>
              <p:cNvPr id="995" name="Google Shape;995;p77"/>
              <p:cNvSpPr/>
              <p:nvPr/>
            </p:nvSpPr>
            <p:spPr>
              <a:xfrm flipH="1" rot="-2700000">
                <a:off x="5838614" y="2388371"/>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50°</a:t>
                </a:r>
                <a:endParaRPr b="0" i="0" sz="900" u="none" cap="none" strike="noStrike">
                  <a:solidFill>
                    <a:srgbClr val="000000"/>
                  </a:solidFill>
                  <a:latin typeface="Lexend"/>
                  <a:ea typeface="Lexend"/>
                  <a:cs typeface="Lexend"/>
                  <a:sym typeface="Lexend"/>
                </a:endParaRPr>
              </a:p>
            </p:txBody>
          </p:sp>
          <p:sp>
            <p:nvSpPr>
              <p:cNvPr id="996" name="Google Shape;996;p77"/>
              <p:cNvSpPr/>
              <p:nvPr/>
            </p:nvSpPr>
            <p:spPr>
              <a:xfrm flipH="1" rot="-2700000">
                <a:off x="5719388" y="2302694"/>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60°</a:t>
                </a:r>
                <a:endParaRPr b="0" i="0" sz="900" u="none" cap="none" strike="noStrike">
                  <a:solidFill>
                    <a:srgbClr val="000000"/>
                  </a:solidFill>
                  <a:latin typeface="Lexend"/>
                  <a:ea typeface="Lexend"/>
                  <a:cs typeface="Lexend"/>
                  <a:sym typeface="Lexend"/>
                </a:endParaRPr>
              </a:p>
            </p:txBody>
          </p:sp>
          <p:sp>
            <p:nvSpPr>
              <p:cNvPr id="997" name="Google Shape;997;p77"/>
              <p:cNvSpPr/>
              <p:nvPr/>
            </p:nvSpPr>
            <p:spPr>
              <a:xfrm flipH="1" rot="-2700000">
                <a:off x="5584339" y="2236166"/>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70°</a:t>
                </a:r>
                <a:endParaRPr b="0" i="0" sz="900" u="none" cap="none" strike="noStrike">
                  <a:solidFill>
                    <a:srgbClr val="000000"/>
                  </a:solidFill>
                  <a:latin typeface="Lexend"/>
                  <a:ea typeface="Lexend"/>
                  <a:cs typeface="Lexend"/>
                  <a:sym typeface="Lexend"/>
                </a:endParaRPr>
              </a:p>
            </p:txBody>
          </p:sp>
          <p:sp>
            <p:nvSpPr>
              <p:cNvPr id="998" name="Google Shape;998;p77"/>
              <p:cNvSpPr/>
              <p:nvPr/>
            </p:nvSpPr>
            <p:spPr>
              <a:xfrm flipH="1" rot="-2700000">
                <a:off x="5432129" y="2209362"/>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80°</a:t>
                </a:r>
                <a:endParaRPr b="0" i="0" sz="900" u="none" cap="none" strike="noStrike">
                  <a:solidFill>
                    <a:srgbClr val="000000"/>
                  </a:solidFill>
                  <a:latin typeface="Lexend"/>
                  <a:ea typeface="Lexend"/>
                  <a:cs typeface="Lexend"/>
                  <a:sym typeface="Lexend"/>
                </a:endParaRPr>
              </a:p>
            </p:txBody>
          </p:sp>
        </p:grpSp>
      </p:grpSp>
      <p:cxnSp>
        <p:nvCxnSpPr>
          <p:cNvPr id="999" name="Google Shape;999;p77"/>
          <p:cNvCxnSpPr/>
          <p:nvPr/>
        </p:nvCxnSpPr>
        <p:spPr>
          <a:xfrm>
            <a:off x="4598330" y="2945102"/>
            <a:ext cx="570900" cy="0"/>
          </a:xfrm>
          <a:prstGeom prst="straightConnector1">
            <a:avLst/>
          </a:prstGeom>
          <a:noFill/>
          <a:ln cap="flat" cmpd="sng" w="38100">
            <a:solidFill>
              <a:srgbClr val="7E5CD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78"/>
          <p:cNvSpPr txBox="1"/>
          <p:nvPr>
            <p:ph idx="1" type="body"/>
          </p:nvPr>
        </p:nvSpPr>
        <p:spPr>
          <a:xfrm>
            <a:off x="4278575" y="3352000"/>
            <a:ext cx="45414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Step 3: Check your answer by adding up the frequencies and seeing if the total is equal to the total frequency.</a:t>
            </a:r>
            <a:endParaRPr sz="2000"/>
          </a:p>
        </p:txBody>
      </p:sp>
      <p:sp>
        <p:nvSpPr>
          <p:cNvPr id="1005" name="Google Shape;1005;p78"/>
          <p:cNvSpPr txBox="1"/>
          <p:nvPr>
            <p:ph idx="1" type="body"/>
          </p:nvPr>
        </p:nvSpPr>
        <p:spPr>
          <a:xfrm>
            <a:off x="4278575" y="2199450"/>
            <a:ext cx="45414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Step 2: Use the </a:t>
            </a:r>
            <a:r>
              <a:rPr lang="en-GB" sz="2000">
                <a:solidFill>
                  <a:srgbClr val="7E5CD2"/>
                </a:solidFill>
              </a:rPr>
              <a:t>multiplier</a:t>
            </a:r>
            <a:r>
              <a:rPr lang="en-GB" sz="2000"/>
              <a:t> to divide each of the angles to calculate the frequency.</a:t>
            </a:r>
            <a:endParaRPr sz="2000"/>
          </a:p>
        </p:txBody>
      </p:sp>
      <p:sp>
        <p:nvSpPr>
          <p:cNvPr id="1006" name="Google Shape;1006;p78"/>
          <p:cNvSpPr txBox="1"/>
          <p:nvPr>
            <p:ph idx="1" type="body"/>
          </p:nvPr>
        </p:nvSpPr>
        <p:spPr>
          <a:xfrm>
            <a:off x="324000" y="683100"/>
            <a:ext cx="84960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When you have found all the angles, the process is the same as before.</a:t>
            </a:r>
            <a:endParaRPr sz="2000"/>
          </a:p>
        </p:txBody>
      </p:sp>
      <p:sp>
        <p:nvSpPr>
          <p:cNvPr id="1007" name="Google Shape;1007;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graphicFrame>
        <p:nvGraphicFramePr>
          <p:cNvPr id="1008" name="Google Shape;1008;p78"/>
          <p:cNvGraphicFramePr/>
          <p:nvPr/>
        </p:nvGraphicFramePr>
        <p:xfrm>
          <a:off x="323994" y="1700152"/>
          <a:ext cx="3000000" cy="3000000"/>
        </p:xfrm>
        <a:graphic>
          <a:graphicData uri="http://schemas.openxmlformats.org/drawingml/2006/table">
            <a:tbl>
              <a:tblPr bandRow="1" firstRow="1">
                <a:noFill/>
                <a:tableStyleId>{6B1D2025-0711-4614-9E20-ACEAB21110A9}</a:tableStyleId>
              </a:tblPr>
              <a:tblGrid>
                <a:gridCol w="1468225"/>
                <a:gridCol w="1423275"/>
                <a:gridCol w="946100"/>
              </a:tblGrid>
              <a:tr h="321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location</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in-town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out-of-town</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rtl="0" algn="l">
                        <a:spcBef>
                          <a:spcPts val="0"/>
                        </a:spcBef>
                        <a:spcAft>
                          <a:spcPts val="0"/>
                        </a:spcAft>
                        <a:buNone/>
                      </a:pPr>
                      <a:r>
                        <a:rPr lang="en-GB" sz="1800">
                          <a:latin typeface="Lexend"/>
                          <a:ea typeface="Lexend"/>
                          <a:cs typeface="Lexend"/>
                          <a:sym typeface="Lexend"/>
                        </a:rPr>
                        <a:t>online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r h="321150">
                <a:tc>
                  <a:txBody>
                    <a:bodyPr/>
                    <a:lstStyle/>
                    <a:p>
                      <a:pPr indent="0" lvl="0" marL="0" marR="0" rtl="0" algn="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FFFFF"/>
                    </a:solidFill>
                  </a:tcPr>
                </a:tc>
              </a:tr>
            </a:tbl>
          </a:graphicData>
        </a:graphic>
      </p:graphicFrame>
      <p:sp>
        <p:nvSpPr>
          <p:cNvPr id="1009" name="Google Shape;1009;p78"/>
          <p:cNvSpPr txBox="1"/>
          <p:nvPr>
            <p:ph idx="1" type="body"/>
          </p:nvPr>
        </p:nvSpPr>
        <p:spPr>
          <a:xfrm>
            <a:off x="1792225" y="2984750"/>
            <a:ext cx="1423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72</a:t>
            </a:r>
            <a:endParaRPr sz="1800"/>
          </a:p>
        </p:txBody>
      </p:sp>
      <p:sp>
        <p:nvSpPr>
          <p:cNvPr id="1010" name="Google Shape;1010;p78"/>
          <p:cNvSpPr txBox="1"/>
          <p:nvPr>
            <p:ph idx="1" type="body"/>
          </p:nvPr>
        </p:nvSpPr>
        <p:spPr>
          <a:xfrm>
            <a:off x="3215500" y="2984750"/>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360°</a:t>
            </a:r>
            <a:endParaRPr sz="1800"/>
          </a:p>
        </p:txBody>
      </p:sp>
      <p:sp>
        <p:nvSpPr>
          <p:cNvPr id="1011" name="Google Shape;1011;p78"/>
          <p:cNvSpPr txBox="1"/>
          <p:nvPr>
            <p:ph idx="1" type="body"/>
          </p:nvPr>
        </p:nvSpPr>
        <p:spPr>
          <a:xfrm>
            <a:off x="3215500" y="2021300"/>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75°</a:t>
            </a:r>
            <a:endParaRPr sz="1800"/>
          </a:p>
        </p:txBody>
      </p:sp>
      <p:sp>
        <p:nvSpPr>
          <p:cNvPr id="1012" name="Google Shape;1012;p78"/>
          <p:cNvSpPr txBox="1"/>
          <p:nvPr>
            <p:ph idx="1" type="body"/>
          </p:nvPr>
        </p:nvSpPr>
        <p:spPr>
          <a:xfrm>
            <a:off x="3215500" y="2341625"/>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125°</a:t>
            </a:r>
            <a:endParaRPr sz="1800"/>
          </a:p>
        </p:txBody>
      </p:sp>
      <p:sp>
        <p:nvSpPr>
          <p:cNvPr id="1013" name="Google Shape;1013;p78"/>
          <p:cNvSpPr txBox="1"/>
          <p:nvPr>
            <p:ph idx="1" type="body"/>
          </p:nvPr>
        </p:nvSpPr>
        <p:spPr>
          <a:xfrm>
            <a:off x="3215500" y="2663600"/>
            <a:ext cx="946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160°</a:t>
            </a:r>
            <a:endParaRPr sz="1800"/>
          </a:p>
        </p:txBody>
      </p:sp>
      <p:sp>
        <p:nvSpPr>
          <p:cNvPr id="1014" name="Google Shape;1014;p78"/>
          <p:cNvSpPr txBox="1"/>
          <p:nvPr>
            <p:ph idx="1" type="body"/>
          </p:nvPr>
        </p:nvSpPr>
        <p:spPr>
          <a:xfrm>
            <a:off x="4278575" y="1700150"/>
            <a:ext cx="4541400" cy="278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Step 1: Calculate the </a:t>
            </a:r>
            <a:r>
              <a:rPr lang="en-GB" sz="2000">
                <a:solidFill>
                  <a:schemeClr val="accent4"/>
                </a:solidFill>
              </a:rPr>
              <a:t>multiplier</a:t>
            </a:r>
            <a:r>
              <a:rPr lang="en-GB" sz="2000"/>
              <a:t>.</a:t>
            </a:r>
            <a:endParaRPr sz="2000"/>
          </a:p>
        </p:txBody>
      </p:sp>
      <p:sp>
        <p:nvSpPr>
          <p:cNvPr id="1015" name="Google Shape;1015;p78"/>
          <p:cNvSpPr/>
          <p:nvPr/>
        </p:nvSpPr>
        <p:spPr>
          <a:xfrm flipH="1" rot="10800000">
            <a:off x="2711876" y="3352001"/>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016" name="Google Shape;1016;p78"/>
          <p:cNvSpPr txBox="1"/>
          <p:nvPr>
            <p:ph idx="1" type="body"/>
          </p:nvPr>
        </p:nvSpPr>
        <p:spPr>
          <a:xfrm>
            <a:off x="2711876" y="3497332"/>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5</a:t>
            </a:r>
            <a:endParaRPr sz="2000">
              <a:latin typeface="Kalam"/>
              <a:ea typeface="Kalam"/>
              <a:cs typeface="Kalam"/>
              <a:sym typeface="Kalam"/>
            </a:endParaRPr>
          </a:p>
        </p:txBody>
      </p:sp>
      <p:sp>
        <p:nvSpPr>
          <p:cNvPr id="1017" name="Google Shape;1017;p78"/>
          <p:cNvSpPr/>
          <p:nvPr/>
        </p:nvSpPr>
        <p:spPr>
          <a:xfrm flipH="1">
            <a:off x="2711895" y="1508732"/>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018" name="Google Shape;1018;p78"/>
          <p:cNvSpPr txBox="1"/>
          <p:nvPr>
            <p:ph idx="1" type="body"/>
          </p:nvPr>
        </p:nvSpPr>
        <p:spPr>
          <a:xfrm>
            <a:off x="2711876" y="1230026"/>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a:t>
            </a:r>
            <a:r>
              <a:rPr lang="en-GB" sz="2000">
                <a:latin typeface="Kalam"/>
                <a:ea typeface="Kalam"/>
                <a:cs typeface="Kalam"/>
                <a:sym typeface="Kalam"/>
              </a:rPr>
              <a:t> 5</a:t>
            </a:r>
            <a:endParaRPr sz="2000">
              <a:latin typeface="Kalam"/>
              <a:ea typeface="Kalam"/>
              <a:cs typeface="Kalam"/>
              <a:sym typeface="Kalam"/>
            </a:endParaRPr>
          </a:p>
        </p:txBody>
      </p:sp>
      <p:sp>
        <p:nvSpPr>
          <p:cNvPr id="1019" name="Google Shape;1019;p78"/>
          <p:cNvSpPr txBox="1"/>
          <p:nvPr>
            <p:ph idx="1" type="body"/>
          </p:nvPr>
        </p:nvSpPr>
        <p:spPr>
          <a:xfrm>
            <a:off x="1792225" y="2020902"/>
            <a:ext cx="1423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t>75 ÷ 5 = </a:t>
            </a:r>
            <a:endParaRPr sz="2000"/>
          </a:p>
        </p:txBody>
      </p:sp>
      <p:sp>
        <p:nvSpPr>
          <p:cNvPr id="1020" name="Google Shape;1020;p78"/>
          <p:cNvSpPr txBox="1"/>
          <p:nvPr>
            <p:ph idx="1" type="body"/>
          </p:nvPr>
        </p:nvSpPr>
        <p:spPr>
          <a:xfrm>
            <a:off x="1792225" y="2021302"/>
            <a:ext cx="1423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t>15</a:t>
            </a:r>
            <a:endParaRPr sz="2000"/>
          </a:p>
        </p:txBody>
      </p:sp>
      <p:sp>
        <p:nvSpPr>
          <p:cNvPr id="1021" name="Google Shape;1021;p78"/>
          <p:cNvSpPr txBox="1"/>
          <p:nvPr>
            <p:ph idx="1" type="body"/>
          </p:nvPr>
        </p:nvSpPr>
        <p:spPr>
          <a:xfrm>
            <a:off x="1792225" y="2341627"/>
            <a:ext cx="1423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t>25</a:t>
            </a:r>
            <a:endParaRPr sz="2000"/>
          </a:p>
        </p:txBody>
      </p:sp>
      <p:sp>
        <p:nvSpPr>
          <p:cNvPr id="1022" name="Google Shape;1022;p78"/>
          <p:cNvSpPr txBox="1"/>
          <p:nvPr>
            <p:ph idx="1" type="body"/>
          </p:nvPr>
        </p:nvSpPr>
        <p:spPr>
          <a:xfrm>
            <a:off x="1792225" y="2663602"/>
            <a:ext cx="1423200" cy="3228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t>32</a:t>
            </a:r>
            <a:endParaRPr sz="2000"/>
          </a:p>
        </p:txBody>
      </p:sp>
      <p:sp>
        <p:nvSpPr>
          <p:cNvPr id="1023" name="Google Shape;1023;p78"/>
          <p:cNvSpPr txBox="1"/>
          <p:nvPr>
            <p:ph idx="1" type="body"/>
          </p:nvPr>
        </p:nvSpPr>
        <p:spPr>
          <a:xfrm>
            <a:off x="491625" y="3997200"/>
            <a:ext cx="1559400" cy="3228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15 + 25 + 32 = </a:t>
            </a:r>
            <a:endParaRPr sz="1800"/>
          </a:p>
        </p:txBody>
      </p:sp>
      <p:sp>
        <p:nvSpPr>
          <p:cNvPr id="1024" name="Google Shape;1024;p78"/>
          <p:cNvSpPr txBox="1"/>
          <p:nvPr>
            <p:ph idx="1" type="body"/>
          </p:nvPr>
        </p:nvSpPr>
        <p:spPr>
          <a:xfrm>
            <a:off x="2012575" y="3997200"/>
            <a:ext cx="1559400" cy="3228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None/>
            </a:pPr>
            <a:r>
              <a:rPr lang="en-GB" sz="1800"/>
              <a:t>72</a:t>
            </a:r>
            <a:endParaRPr sz="1800"/>
          </a:p>
        </p:txBody>
      </p:sp>
      <p:pic>
        <p:nvPicPr>
          <p:cNvPr id="1025" name="Google Shape;1025;p78"/>
          <p:cNvPicPr preferRelativeResize="0"/>
          <p:nvPr/>
        </p:nvPicPr>
        <p:blipFill>
          <a:blip r:embed="rId3">
            <a:alphaModFix/>
          </a:blip>
          <a:stretch>
            <a:fillRect/>
          </a:stretch>
        </p:blipFill>
        <p:spPr>
          <a:xfrm>
            <a:off x="2305833" y="39972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1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79"/>
          <p:cNvSpPr txBox="1"/>
          <p:nvPr>
            <p:ph idx="1" type="body"/>
          </p:nvPr>
        </p:nvSpPr>
        <p:spPr>
          <a:xfrm>
            <a:off x="324000" y="759300"/>
            <a:ext cx="8496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What angle is the protractor measuring for strong breeze?</a:t>
            </a:r>
            <a:endParaRPr/>
          </a:p>
        </p:txBody>
      </p:sp>
      <p:sp>
        <p:nvSpPr>
          <p:cNvPr id="1031" name="Google Shape;1031;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graphicFrame>
        <p:nvGraphicFramePr>
          <p:cNvPr id="1032" name="Google Shape;1032;p79"/>
          <p:cNvGraphicFramePr/>
          <p:nvPr/>
        </p:nvGraphicFramePr>
        <p:xfrm>
          <a:off x="380569" y="1225802"/>
          <a:ext cx="3000000" cy="3000000"/>
        </p:xfrm>
        <a:graphic>
          <a:graphicData uri="http://schemas.openxmlformats.org/drawingml/2006/table">
            <a:tbl>
              <a:tblPr bandRow="1" firstRow="1">
                <a:noFill/>
                <a:tableStyleId>{6B1D2025-0711-4614-9E20-ACEAB21110A9}</a:tableStyleId>
              </a:tblPr>
              <a:tblGrid>
                <a:gridCol w="1784575"/>
                <a:gridCol w="1200300"/>
                <a:gridCol w="976675"/>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windspeed</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no wind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48</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breeze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184</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strong breeze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gale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pic>
        <p:nvPicPr>
          <p:cNvPr id="1033" name="Google Shape;1033;p79"/>
          <p:cNvPicPr preferRelativeResize="0"/>
          <p:nvPr/>
        </p:nvPicPr>
        <p:blipFill rotWithShape="1">
          <a:blip r:embed="rId3">
            <a:alphaModFix/>
          </a:blip>
          <a:srcRect b="2344" l="2353" r="2344" t="2353"/>
          <a:stretch/>
        </p:blipFill>
        <p:spPr>
          <a:xfrm rot="-5400000">
            <a:off x="5754175" y="1289950"/>
            <a:ext cx="3090000" cy="3049550"/>
          </a:xfrm>
          <a:prstGeom prst="rect">
            <a:avLst/>
          </a:prstGeom>
          <a:noFill/>
          <a:ln>
            <a:noFill/>
          </a:ln>
        </p:spPr>
      </p:pic>
      <p:sp>
        <p:nvSpPr>
          <p:cNvPr id="1034" name="Google Shape;1034;p79"/>
          <p:cNvSpPr txBox="1"/>
          <p:nvPr>
            <p:ph idx="1" type="body"/>
          </p:nvPr>
        </p:nvSpPr>
        <p:spPr>
          <a:xfrm>
            <a:off x="5420798" y="2384200"/>
            <a:ext cx="20385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n</a:t>
            </a:r>
            <a:r>
              <a:rPr lang="en-GB" sz="1800"/>
              <a:t>o wind</a:t>
            </a:r>
            <a:endParaRPr sz="1800"/>
          </a:p>
        </p:txBody>
      </p:sp>
      <p:sp>
        <p:nvSpPr>
          <p:cNvPr id="1035" name="Google Shape;1035;p79"/>
          <p:cNvSpPr txBox="1"/>
          <p:nvPr>
            <p:ph idx="1" type="body"/>
          </p:nvPr>
        </p:nvSpPr>
        <p:spPr>
          <a:xfrm>
            <a:off x="6781498" y="2063500"/>
            <a:ext cx="20385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breeze</a:t>
            </a:r>
            <a:endParaRPr sz="1800"/>
          </a:p>
        </p:txBody>
      </p:sp>
      <p:sp>
        <p:nvSpPr>
          <p:cNvPr id="1036" name="Google Shape;1036;p79"/>
          <p:cNvSpPr txBox="1"/>
          <p:nvPr>
            <p:ph idx="1" type="body"/>
          </p:nvPr>
        </p:nvSpPr>
        <p:spPr>
          <a:xfrm>
            <a:off x="5908377" y="3270726"/>
            <a:ext cx="20385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strong breeze</a:t>
            </a:r>
            <a:endParaRPr sz="1800"/>
          </a:p>
        </p:txBody>
      </p:sp>
      <p:sp>
        <p:nvSpPr>
          <p:cNvPr id="1037" name="Google Shape;1037;p79"/>
          <p:cNvSpPr txBox="1"/>
          <p:nvPr>
            <p:ph idx="1" type="body"/>
          </p:nvPr>
        </p:nvSpPr>
        <p:spPr>
          <a:xfrm>
            <a:off x="4494525" y="2737225"/>
            <a:ext cx="1762200" cy="320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gale</a:t>
            </a:r>
            <a:endParaRPr sz="1800"/>
          </a:p>
        </p:txBody>
      </p:sp>
      <p:cxnSp>
        <p:nvCxnSpPr>
          <p:cNvPr id="1038" name="Google Shape;1038;p79"/>
          <p:cNvCxnSpPr/>
          <p:nvPr/>
        </p:nvCxnSpPr>
        <p:spPr>
          <a:xfrm rot="-480284">
            <a:off x="5001532" y="3076814"/>
            <a:ext cx="911279" cy="0"/>
          </a:xfrm>
          <a:prstGeom prst="straightConnector1">
            <a:avLst/>
          </a:prstGeom>
          <a:noFill/>
          <a:ln cap="flat" cmpd="sng" w="38100">
            <a:solidFill>
              <a:srgbClr val="7E5CD2"/>
            </a:solidFill>
            <a:prstDash val="solid"/>
            <a:round/>
            <a:headEnd len="sm" w="sm" type="none"/>
            <a:tailEnd len="med" w="med" type="triangle"/>
          </a:ln>
        </p:spPr>
      </p:cxnSp>
      <p:sp>
        <p:nvSpPr>
          <p:cNvPr id="1039" name="Google Shape;1039;p79"/>
          <p:cNvSpPr txBox="1"/>
          <p:nvPr>
            <p:ph idx="1" type="body"/>
          </p:nvPr>
        </p:nvSpPr>
        <p:spPr>
          <a:xfrm>
            <a:off x="3369600" y="2615250"/>
            <a:ext cx="972600" cy="4632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latin typeface="Kalam"/>
                <a:ea typeface="Kalam"/>
                <a:cs typeface="Kalam"/>
                <a:sym typeface="Kalam"/>
              </a:rPr>
              <a:t>120°</a:t>
            </a:r>
            <a:endParaRPr sz="2000">
              <a:latin typeface="Kalam"/>
              <a:ea typeface="Kalam"/>
              <a:cs typeface="Kalam"/>
              <a:sym typeface="Kalam"/>
            </a:endParaRPr>
          </a:p>
        </p:txBody>
      </p:sp>
      <p:grpSp>
        <p:nvGrpSpPr>
          <p:cNvPr id="1040" name="Google Shape;1040;p79"/>
          <p:cNvGrpSpPr/>
          <p:nvPr/>
        </p:nvGrpSpPr>
        <p:grpSpPr>
          <a:xfrm rot="-7679987">
            <a:off x="4667237" y="2246985"/>
            <a:ext cx="3897581" cy="2098747"/>
            <a:chOff x="5705511" y="2134572"/>
            <a:chExt cx="2081703" cy="1120943"/>
          </a:xfrm>
        </p:grpSpPr>
        <p:pic>
          <p:nvPicPr>
            <p:cNvPr id="1041" name="Google Shape;1041;p79"/>
            <p:cNvPicPr preferRelativeResize="0"/>
            <p:nvPr/>
          </p:nvPicPr>
          <p:blipFill rotWithShape="1">
            <a:blip r:embed="rId4">
              <a:alphaModFix/>
            </a:blip>
            <a:srcRect b="0" l="0" r="0" t="0"/>
            <a:stretch/>
          </p:blipFill>
          <p:spPr>
            <a:xfrm>
              <a:off x="5763511" y="2277698"/>
              <a:ext cx="1933599" cy="977817"/>
            </a:xfrm>
            <a:prstGeom prst="rect">
              <a:avLst/>
            </a:prstGeom>
            <a:noFill/>
            <a:ln>
              <a:noFill/>
            </a:ln>
          </p:spPr>
        </p:pic>
        <p:sp>
          <p:nvSpPr>
            <p:cNvPr id="1042" name="Google Shape;1042;p79"/>
            <p:cNvSpPr/>
            <p:nvPr/>
          </p:nvSpPr>
          <p:spPr>
            <a:xfrm>
              <a:off x="5705511" y="3095082"/>
              <a:ext cx="208800" cy="90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0°</a:t>
              </a:r>
              <a:endParaRPr b="0" i="0" sz="900" u="none" cap="none" strike="noStrike">
                <a:solidFill>
                  <a:srgbClr val="000000"/>
                </a:solidFill>
                <a:latin typeface="Lexend"/>
                <a:ea typeface="Lexend"/>
                <a:cs typeface="Lexend"/>
                <a:sym typeface="Lexend"/>
              </a:endParaRPr>
            </a:p>
          </p:txBody>
        </p:sp>
        <p:sp>
          <p:nvSpPr>
            <p:cNvPr id="1043" name="Google Shape;1043;p79"/>
            <p:cNvSpPr/>
            <p:nvPr/>
          </p:nvSpPr>
          <p:spPr>
            <a:xfrm>
              <a:off x="6624720" y="2191726"/>
              <a:ext cx="208800" cy="122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90°</a:t>
              </a:r>
              <a:endParaRPr b="0" i="0" sz="900" u="none" cap="none" strike="noStrike">
                <a:solidFill>
                  <a:srgbClr val="000000"/>
                </a:solidFill>
                <a:latin typeface="Lexend"/>
                <a:ea typeface="Lexend"/>
                <a:cs typeface="Lexend"/>
                <a:sym typeface="Lexend"/>
              </a:endParaRPr>
            </a:p>
          </p:txBody>
        </p:sp>
        <p:sp>
          <p:nvSpPr>
            <p:cNvPr id="1044" name="Google Shape;1044;p79"/>
            <p:cNvSpPr/>
            <p:nvPr/>
          </p:nvSpPr>
          <p:spPr>
            <a:xfrm flipH="1">
              <a:off x="7578414" y="3095082"/>
              <a:ext cx="208800" cy="9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180°</a:t>
              </a:r>
              <a:endParaRPr b="0" i="0" sz="900" u="none" cap="none" strike="noStrike">
                <a:solidFill>
                  <a:srgbClr val="000000"/>
                </a:solidFill>
                <a:latin typeface="Lexend"/>
                <a:ea typeface="Lexend"/>
                <a:cs typeface="Lexend"/>
                <a:sym typeface="Lexend"/>
              </a:endParaRPr>
            </a:p>
          </p:txBody>
        </p:sp>
        <p:sp>
          <p:nvSpPr>
            <p:cNvPr id="1045" name="Google Shape;1045;p79"/>
            <p:cNvSpPr/>
            <p:nvPr/>
          </p:nvSpPr>
          <p:spPr>
            <a:xfrm flipH="1" rot="-899705">
              <a:off x="7550089" y="2921305"/>
              <a:ext cx="208707" cy="9067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170°</a:t>
              </a:r>
              <a:endParaRPr b="0" i="0" sz="900" u="none" cap="none" strike="noStrike">
                <a:solidFill>
                  <a:srgbClr val="000000"/>
                </a:solidFill>
                <a:latin typeface="Lexend"/>
                <a:ea typeface="Lexend"/>
                <a:cs typeface="Lexend"/>
                <a:sym typeface="Lexend"/>
              </a:endParaRPr>
            </a:p>
          </p:txBody>
        </p:sp>
        <p:sp>
          <p:nvSpPr>
            <p:cNvPr id="1046" name="Google Shape;1046;p79"/>
            <p:cNvSpPr/>
            <p:nvPr/>
          </p:nvSpPr>
          <p:spPr>
            <a:xfrm flipH="1" rot="-899705">
              <a:off x="7497832" y="2779749"/>
              <a:ext cx="208707" cy="90671"/>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160°</a:t>
              </a:r>
              <a:endParaRPr b="0" i="0" sz="900" u="none" cap="none" strike="noStrike">
                <a:solidFill>
                  <a:srgbClr val="000000"/>
                </a:solidFill>
                <a:latin typeface="Lexend"/>
                <a:ea typeface="Lexend"/>
                <a:cs typeface="Lexend"/>
                <a:sym typeface="Lexend"/>
              </a:endParaRPr>
            </a:p>
          </p:txBody>
        </p:sp>
        <p:sp>
          <p:nvSpPr>
            <p:cNvPr id="1047" name="Google Shape;1047;p79"/>
            <p:cNvSpPr/>
            <p:nvPr/>
          </p:nvSpPr>
          <p:spPr>
            <a:xfrm flipH="1" rot="-1799392">
              <a:off x="7424609" y="2627483"/>
              <a:ext cx="208864" cy="90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150°</a:t>
              </a:r>
              <a:endParaRPr b="0" i="0" sz="900" u="none" cap="none" strike="noStrike">
                <a:solidFill>
                  <a:srgbClr val="000000"/>
                </a:solidFill>
                <a:latin typeface="Lexend"/>
                <a:ea typeface="Lexend"/>
                <a:cs typeface="Lexend"/>
                <a:sym typeface="Lexend"/>
              </a:endParaRPr>
            </a:p>
          </p:txBody>
        </p:sp>
        <p:sp>
          <p:nvSpPr>
            <p:cNvPr id="1048" name="Google Shape;1048;p79"/>
            <p:cNvSpPr/>
            <p:nvPr/>
          </p:nvSpPr>
          <p:spPr>
            <a:xfrm flipH="1" rot="-2700000">
              <a:off x="7333801" y="2490445"/>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140°</a:t>
              </a:r>
              <a:endParaRPr b="0" i="0" sz="900" u="none" cap="none" strike="noStrike">
                <a:solidFill>
                  <a:srgbClr val="000000"/>
                </a:solidFill>
                <a:latin typeface="Lexend"/>
                <a:ea typeface="Lexend"/>
                <a:cs typeface="Lexend"/>
                <a:sym typeface="Lexend"/>
              </a:endParaRPr>
            </a:p>
          </p:txBody>
        </p:sp>
        <p:sp>
          <p:nvSpPr>
            <p:cNvPr id="1049" name="Google Shape;1049;p79"/>
            <p:cNvSpPr/>
            <p:nvPr/>
          </p:nvSpPr>
          <p:spPr>
            <a:xfrm flipH="1" rot="-2700000">
              <a:off x="7223943" y="2386218"/>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130°</a:t>
              </a:r>
              <a:endParaRPr b="0" i="0" sz="900" u="none" cap="none" strike="noStrike">
                <a:solidFill>
                  <a:srgbClr val="000000"/>
                </a:solidFill>
                <a:latin typeface="Lexend"/>
                <a:ea typeface="Lexend"/>
                <a:cs typeface="Lexend"/>
                <a:sym typeface="Lexend"/>
              </a:endParaRPr>
            </a:p>
          </p:txBody>
        </p:sp>
        <p:sp>
          <p:nvSpPr>
            <p:cNvPr id="1050" name="Google Shape;1050;p79"/>
            <p:cNvSpPr/>
            <p:nvPr/>
          </p:nvSpPr>
          <p:spPr>
            <a:xfrm flipH="1" rot="-2700000">
              <a:off x="7115479" y="2302008"/>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120°</a:t>
              </a:r>
              <a:endParaRPr b="0" i="0" sz="900" u="none" cap="none" strike="noStrike">
                <a:solidFill>
                  <a:srgbClr val="000000"/>
                </a:solidFill>
                <a:latin typeface="Lexend"/>
                <a:ea typeface="Lexend"/>
                <a:cs typeface="Lexend"/>
                <a:sym typeface="Lexend"/>
              </a:endParaRPr>
            </a:p>
          </p:txBody>
        </p:sp>
        <p:sp>
          <p:nvSpPr>
            <p:cNvPr id="1051" name="Google Shape;1051;p79"/>
            <p:cNvSpPr/>
            <p:nvPr/>
          </p:nvSpPr>
          <p:spPr>
            <a:xfrm flipH="1" rot="-2700000">
              <a:off x="6984735" y="2240472"/>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110°</a:t>
              </a:r>
              <a:endParaRPr b="0" i="0" sz="900" u="none" cap="none" strike="noStrike">
                <a:solidFill>
                  <a:srgbClr val="000000"/>
                </a:solidFill>
                <a:latin typeface="Lexend"/>
                <a:ea typeface="Lexend"/>
                <a:cs typeface="Lexend"/>
                <a:sym typeface="Lexend"/>
              </a:endParaRPr>
            </a:p>
          </p:txBody>
        </p:sp>
        <p:sp>
          <p:nvSpPr>
            <p:cNvPr id="1052" name="Google Shape;1052;p79"/>
            <p:cNvSpPr/>
            <p:nvPr/>
          </p:nvSpPr>
          <p:spPr>
            <a:xfrm flipH="1" rot="-2700000">
              <a:off x="6834905" y="2195076"/>
              <a:ext cx="208738" cy="9079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100°</a:t>
              </a:r>
              <a:endParaRPr b="0" i="0" sz="900" u="none" cap="none" strike="noStrike">
                <a:solidFill>
                  <a:srgbClr val="000000"/>
                </a:solidFill>
                <a:latin typeface="Lexend"/>
                <a:ea typeface="Lexend"/>
                <a:cs typeface="Lexend"/>
                <a:sym typeface="Lexend"/>
              </a:endParaRPr>
            </a:p>
          </p:txBody>
        </p:sp>
        <p:grpSp>
          <p:nvGrpSpPr>
            <p:cNvPr id="1053" name="Google Shape;1053;p79"/>
            <p:cNvGrpSpPr/>
            <p:nvPr/>
          </p:nvGrpSpPr>
          <p:grpSpPr>
            <a:xfrm flipH="1">
              <a:off x="5716786" y="2170288"/>
              <a:ext cx="930273" cy="888583"/>
              <a:chOff x="5430598" y="2148858"/>
              <a:chExt cx="930273" cy="888583"/>
            </a:xfrm>
          </p:grpSpPr>
          <p:sp>
            <p:nvSpPr>
              <p:cNvPr id="1054" name="Google Shape;1054;p79"/>
              <p:cNvSpPr/>
              <p:nvPr/>
            </p:nvSpPr>
            <p:spPr>
              <a:xfrm flipH="1" rot="-899705">
                <a:off x="6144018" y="2921305"/>
                <a:ext cx="208707" cy="90671"/>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10°</a:t>
                </a:r>
                <a:endParaRPr b="0" i="0" sz="900" u="none" cap="none" strike="noStrike">
                  <a:solidFill>
                    <a:srgbClr val="000000"/>
                  </a:solidFill>
                  <a:latin typeface="Lexend"/>
                  <a:ea typeface="Lexend"/>
                  <a:cs typeface="Lexend"/>
                  <a:sym typeface="Lexend"/>
                </a:endParaRPr>
              </a:p>
            </p:txBody>
          </p:sp>
          <p:sp>
            <p:nvSpPr>
              <p:cNvPr id="1055" name="Google Shape;1055;p79"/>
              <p:cNvSpPr/>
              <p:nvPr/>
            </p:nvSpPr>
            <p:spPr>
              <a:xfrm flipH="1" rot="-899705">
                <a:off x="6101285" y="2782130"/>
                <a:ext cx="208707" cy="90671"/>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20°</a:t>
                </a:r>
                <a:endParaRPr b="0" i="0" sz="900" u="none" cap="none" strike="noStrike">
                  <a:solidFill>
                    <a:srgbClr val="000000"/>
                  </a:solidFill>
                  <a:latin typeface="Lexend"/>
                  <a:ea typeface="Lexend"/>
                  <a:cs typeface="Lexend"/>
                  <a:sym typeface="Lexend"/>
                </a:endParaRPr>
              </a:p>
            </p:txBody>
          </p:sp>
          <p:sp>
            <p:nvSpPr>
              <p:cNvPr id="1056" name="Google Shape;1056;p79"/>
              <p:cNvSpPr/>
              <p:nvPr/>
            </p:nvSpPr>
            <p:spPr>
              <a:xfrm flipH="1" rot="-1799392">
                <a:off x="6032824" y="2627483"/>
                <a:ext cx="208864" cy="907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30°</a:t>
                </a:r>
                <a:endParaRPr b="0" i="0" sz="900" u="none" cap="none" strike="noStrike">
                  <a:solidFill>
                    <a:srgbClr val="000000"/>
                  </a:solidFill>
                  <a:latin typeface="Lexend"/>
                  <a:ea typeface="Lexend"/>
                  <a:cs typeface="Lexend"/>
                  <a:sym typeface="Lexend"/>
                </a:endParaRPr>
              </a:p>
            </p:txBody>
          </p:sp>
          <p:sp>
            <p:nvSpPr>
              <p:cNvPr id="1057" name="Google Shape;1057;p79"/>
              <p:cNvSpPr/>
              <p:nvPr/>
            </p:nvSpPr>
            <p:spPr>
              <a:xfrm flipH="1" rot="-2700000">
                <a:off x="5943712" y="2499512"/>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40°</a:t>
                </a:r>
                <a:endParaRPr b="0" i="0" sz="900" u="none" cap="none" strike="noStrike">
                  <a:solidFill>
                    <a:srgbClr val="000000"/>
                  </a:solidFill>
                  <a:latin typeface="Lexend"/>
                  <a:ea typeface="Lexend"/>
                  <a:cs typeface="Lexend"/>
                  <a:sym typeface="Lexend"/>
                </a:endParaRPr>
              </a:p>
            </p:txBody>
          </p:sp>
          <p:sp>
            <p:nvSpPr>
              <p:cNvPr id="1058" name="Google Shape;1058;p79"/>
              <p:cNvSpPr/>
              <p:nvPr/>
            </p:nvSpPr>
            <p:spPr>
              <a:xfrm flipH="1" rot="-2700000">
                <a:off x="5838614" y="2388371"/>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50°</a:t>
                </a:r>
                <a:endParaRPr b="0" i="0" sz="900" u="none" cap="none" strike="noStrike">
                  <a:solidFill>
                    <a:srgbClr val="000000"/>
                  </a:solidFill>
                  <a:latin typeface="Lexend"/>
                  <a:ea typeface="Lexend"/>
                  <a:cs typeface="Lexend"/>
                  <a:sym typeface="Lexend"/>
                </a:endParaRPr>
              </a:p>
            </p:txBody>
          </p:sp>
          <p:sp>
            <p:nvSpPr>
              <p:cNvPr id="1059" name="Google Shape;1059;p79"/>
              <p:cNvSpPr/>
              <p:nvPr/>
            </p:nvSpPr>
            <p:spPr>
              <a:xfrm flipH="1" rot="-2700000">
                <a:off x="5719388" y="2302694"/>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60°</a:t>
                </a:r>
                <a:endParaRPr b="0" i="0" sz="900" u="none" cap="none" strike="noStrike">
                  <a:solidFill>
                    <a:srgbClr val="000000"/>
                  </a:solidFill>
                  <a:latin typeface="Lexend"/>
                  <a:ea typeface="Lexend"/>
                  <a:cs typeface="Lexend"/>
                  <a:sym typeface="Lexend"/>
                </a:endParaRPr>
              </a:p>
            </p:txBody>
          </p:sp>
          <p:sp>
            <p:nvSpPr>
              <p:cNvPr id="1060" name="Google Shape;1060;p79"/>
              <p:cNvSpPr/>
              <p:nvPr/>
            </p:nvSpPr>
            <p:spPr>
              <a:xfrm flipH="1" rot="-2700000">
                <a:off x="5584339" y="2236166"/>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70°</a:t>
                </a:r>
                <a:endParaRPr b="0" i="0" sz="900" u="none" cap="none" strike="noStrike">
                  <a:solidFill>
                    <a:srgbClr val="000000"/>
                  </a:solidFill>
                  <a:latin typeface="Lexend"/>
                  <a:ea typeface="Lexend"/>
                  <a:cs typeface="Lexend"/>
                  <a:sym typeface="Lexend"/>
                </a:endParaRPr>
              </a:p>
            </p:txBody>
          </p:sp>
          <p:sp>
            <p:nvSpPr>
              <p:cNvPr id="1061" name="Google Shape;1061;p79"/>
              <p:cNvSpPr/>
              <p:nvPr/>
            </p:nvSpPr>
            <p:spPr>
              <a:xfrm flipH="1" rot="-2700000">
                <a:off x="5432129" y="2209362"/>
                <a:ext cx="208738" cy="90793"/>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r>
                  <a:rPr b="0" i="0" lang="en-GB" sz="900" u="none" cap="none" strike="noStrike">
                    <a:solidFill>
                      <a:srgbClr val="000000"/>
                    </a:solidFill>
                    <a:latin typeface="Lexend"/>
                    <a:ea typeface="Lexend"/>
                    <a:cs typeface="Lexend"/>
                    <a:sym typeface="Lexend"/>
                  </a:rPr>
                  <a:t>80°</a:t>
                </a:r>
                <a:endParaRPr b="0" i="0" sz="900" u="none" cap="none" strike="noStrike">
                  <a:solidFill>
                    <a:srgbClr val="000000"/>
                  </a:solidFill>
                  <a:latin typeface="Lexend"/>
                  <a:ea typeface="Lexend"/>
                  <a:cs typeface="Lexend"/>
                  <a:sym typeface="Lexend"/>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graphicFrame>
        <p:nvGraphicFramePr>
          <p:cNvPr id="1066" name="Google Shape;1066;p80"/>
          <p:cNvGraphicFramePr/>
          <p:nvPr/>
        </p:nvGraphicFramePr>
        <p:xfrm>
          <a:off x="380569" y="1225802"/>
          <a:ext cx="3000000" cy="3000000"/>
        </p:xfrm>
        <a:graphic>
          <a:graphicData uri="http://schemas.openxmlformats.org/drawingml/2006/table">
            <a:tbl>
              <a:tblPr bandRow="1" firstRow="1">
                <a:noFill/>
                <a:tableStyleId>{6B1D2025-0711-4614-9E20-ACEAB21110A9}</a:tableStyleId>
              </a:tblPr>
              <a:tblGrid>
                <a:gridCol w="1784575"/>
                <a:gridCol w="1200300"/>
                <a:gridCol w="976675"/>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windspeed</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no wind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48</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breeze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184</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strong breeze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gale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marR="0" rtl="0" algn="r">
                        <a:lnSpc>
                          <a:spcPct val="100000"/>
                        </a:lnSpc>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sp>
        <p:nvSpPr>
          <p:cNvPr id="1067" name="Google Shape;1067;p80"/>
          <p:cNvSpPr/>
          <p:nvPr/>
        </p:nvSpPr>
        <p:spPr>
          <a:xfrm>
            <a:off x="2165145" y="2615252"/>
            <a:ext cx="2177100" cy="4632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8" name="Google Shape;1068;p80"/>
          <p:cNvSpPr txBox="1"/>
          <p:nvPr>
            <p:ph idx="1" type="body"/>
          </p:nvPr>
        </p:nvSpPr>
        <p:spPr>
          <a:xfrm>
            <a:off x="4494650" y="1225800"/>
            <a:ext cx="432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Calculate the </a:t>
            </a:r>
            <a:r>
              <a:rPr lang="en-GB" sz="2000">
                <a:solidFill>
                  <a:srgbClr val="7E5CD2"/>
                </a:solidFill>
              </a:rPr>
              <a:t>multiplier</a:t>
            </a:r>
            <a:r>
              <a:rPr lang="en-GB" sz="2000"/>
              <a:t> that multiplies the frequency to get the angle.</a:t>
            </a:r>
            <a:endParaRPr sz="2000"/>
          </a:p>
        </p:txBody>
      </p:sp>
      <p:sp>
        <p:nvSpPr>
          <p:cNvPr id="1069" name="Google Shape;1069;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sp>
        <p:nvSpPr>
          <p:cNvPr id="1070" name="Google Shape;1070;p80"/>
          <p:cNvSpPr txBox="1"/>
          <p:nvPr>
            <p:ph idx="1" type="body"/>
          </p:nvPr>
        </p:nvSpPr>
        <p:spPr>
          <a:xfrm>
            <a:off x="3369600" y="2615250"/>
            <a:ext cx="972600" cy="4632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latin typeface="Kalam"/>
                <a:ea typeface="Kalam"/>
                <a:cs typeface="Kalam"/>
                <a:sym typeface="Kalam"/>
              </a:rPr>
              <a:t>120°</a:t>
            </a:r>
            <a:endParaRPr sz="2000">
              <a:latin typeface="Kalam"/>
              <a:ea typeface="Kalam"/>
              <a:cs typeface="Kalam"/>
              <a:sym typeface="Kalam"/>
            </a:endParaRPr>
          </a:p>
        </p:txBody>
      </p:sp>
      <p:sp>
        <p:nvSpPr>
          <p:cNvPr id="1071" name="Google Shape;1071;p80"/>
          <p:cNvSpPr/>
          <p:nvPr/>
        </p:nvSpPr>
        <p:spPr>
          <a:xfrm flipH="1" rot="10800000">
            <a:off x="2711876" y="4043108"/>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072" name="Google Shape;1072;p80"/>
          <p:cNvSpPr txBox="1"/>
          <p:nvPr>
            <p:ph idx="1" type="body"/>
          </p:nvPr>
        </p:nvSpPr>
        <p:spPr>
          <a:xfrm>
            <a:off x="2711876" y="4188440"/>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8</a:t>
            </a:r>
            <a:endParaRPr sz="2000">
              <a:latin typeface="Kalam"/>
              <a:ea typeface="Kalam"/>
              <a:cs typeface="Kalam"/>
              <a:sym typeface="Kalam"/>
            </a:endParaRPr>
          </a:p>
        </p:txBody>
      </p:sp>
      <p:sp>
        <p:nvSpPr>
          <p:cNvPr id="1073" name="Google Shape;1073;p80"/>
          <p:cNvSpPr txBox="1"/>
          <p:nvPr>
            <p:ph idx="1" type="body"/>
          </p:nvPr>
        </p:nvSpPr>
        <p:spPr>
          <a:xfrm>
            <a:off x="4494650" y="2654550"/>
            <a:ext cx="432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120 ÷ 15 = 8</a:t>
            </a:r>
            <a:endParaRPr sz="2000">
              <a:latin typeface="Kalam"/>
              <a:ea typeface="Kalam"/>
              <a:cs typeface="Kalam"/>
              <a:sym typeface="Kalam"/>
            </a:endParaRPr>
          </a:p>
        </p:txBody>
      </p:sp>
      <p:sp>
        <p:nvSpPr>
          <p:cNvPr id="1074" name="Google Shape;1074;p80"/>
          <p:cNvSpPr/>
          <p:nvPr/>
        </p:nvSpPr>
        <p:spPr>
          <a:xfrm flipH="1">
            <a:off x="2711895" y="1042065"/>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075" name="Google Shape;1075;p80"/>
          <p:cNvSpPr txBox="1"/>
          <p:nvPr>
            <p:ph idx="1" type="body"/>
          </p:nvPr>
        </p:nvSpPr>
        <p:spPr>
          <a:xfrm>
            <a:off x="2711876" y="763358"/>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a:t>
            </a:r>
            <a:r>
              <a:rPr lang="en-GB" sz="2000">
                <a:latin typeface="Kalam"/>
                <a:ea typeface="Kalam"/>
                <a:cs typeface="Kalam"/>
                <a:sym typeface="Kalam"/>
              </a:rPr>
              <a:t> 8</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81"/>
          <p:cNvSpPr txBox="1"/>
          <p:nvPr>
            <p:ph idx="1" type="body"/>
          </p:nvPr>
        </p:nvSpPr>
        <p:spPr>
          <a:xfrm>
            <a:off x="4494650" y="1225800"/>
            <a:ext cx="432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Calculate the missing angle for gale.</a:t>
            </a:r>
            <a:endParaRPr sz="2000"/>
          </a:p>
        </p:txBody>
      </p:sp>
      <p:sp>
        <p:nvSpPr>
          <p:cNvPr id="1081" name="Google Shape;1081;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graphicFrame>
        <p:nvGraphicFramePr>
          <p:cNvPr id="1082" name="Google Shape;1082;p81"/>
          <p:cNvGraphicFramePr/>
          <p:nvPr/>
        </p:nvGraphicFramePr>
        <p:xfrm>
          <a:off x="380569" y="1225802"/>
          <a:ext cx="3000000" cy="3000000"/>
        </p:xfrm>
        <a:graphic>
          <a:graphicData uri="http://schemas.openxmlformats.org/drawingml/2006/table">
            <a:tbl>
              <a:tblPr bandRow="1" firstRow="1">
                <a:noFill/>
                <a:tableStyleId>{6B1D2025-0711-4614-9E20-ACEAB21110A9}</a:tableStyleId>
              </a:tblPr>
              <a:tblGrid>
                <a:gridCol w="1784575"/>
                <a:gridCol w="1200300"/>
                <a:gridCol w="976675"/>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windspeed</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no wind</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48</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breeze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184</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strong breeze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gale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sp>
        <p:nvSpPr>
          <p:cNvPr id="1083" name="Google Shape;1083;p81"/>
          <p:cNvSpPr txBox="1"/>
          <p:nvPr>
            <p:ph idx="1" type="body"/>
          </p:nvPr>
        </p:nvSpPr>
        <p:spPr>
          <a:xfrm>
            <a:off x="3369600" y="2615250"/>
            <a:ext cx="972600" cy="4632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latin typeface="Kalam"/>
                <a:ea typeface="Kalam"/>
                <a:cs typeface="Kalam"/>
                <a:sym typeface="Kalam"/>
              </a:rPr>
              <a:t>120°</a:t>
            </a:r>
            <a:endParaRPr sz="2000">
              <a:latin typeface="Kalam"/>
              <a:ea typeface="Kalam"/>
              <a:cs typeface="Kalam"/>
              <a:sym typeface="Kalam"/>
            </a:endParaRPr>
          </a:p>
        </p:txBody>
      </p:sp>
      <p:sp>
        <p:nvSpPr>
          <p:cNvPr id="1084" name="Google Shape;1084;p81"/>
          <p:cNvSpPr/>
          <p:nvPr/>
        </p:nvSpPr>
        <p:spPr>
          <a:xfrm flipH="1" rot="10800000">
            <a:off x="2711876" y="4043108"/>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085" name="Google Shape;1085;p81"/>
          <p:cNvSpPr txBox="1"/>
          <p:nvPr>
            <p:ph idx="1" type="body"/>
          </p:nvPr>
        </p:nvSpPr>
        <p:spPr>
          <a:xfrm>
            <a:off x="2711876" y="4188440"/>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8</a:t>
            </a:r>
            <a:endParaRPr sz="2000">
              <a:latin typeface="Kalam"/>
              <a:ea typeface="Kalam"/>
              <a:cs typeface="Kalam"/>
              <a:sym typeface="Kalam"/>
            </a:endParaRPr>
          </a:p>
        </p:txBody>
      </p:sp>
      <p:sp>
        <p:nvSpPr>
          <p:cNvPr id="1086" name="Google Shape;1086;p81"/>
          <p:cNvSpPr/>
          <p:nvPr/>
        </p:nvSpPr>
        <p:spPr>
          <a:xfrm flipH="1">
            <a:off x="2711895" y="1042065"/>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087" name="Google Shape;1087;p81"/>
          <p:cNvSpPr txBox="1"/>
          <p:nvPr>
            <p:ph idx="1" type="body"/>
          </p:nvPr>
        </p:nvSpPr>
        <p:spPr>
          <a:xfrm>
            <a:off x="2711876" y="763358"/>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8</a:t>
            </a:r>
            <a:endParaRPr sz="2000">
              <a:latin typeface="Kalam"/>
              <a:ea typeface="Kalam"/>
              <a:cs typeface="Kalam"/>
              <a:sym typeface="Kalam"/>
            </a:endParaRPr>
          </a:p>
        </p:txBody>
      </p:sp>
      <p:sp>
        <p:nvSpPr>
          <p:cNvPr id="1088" name="Google Shape;1088;p81"/>
          <p:cNvSpPr txBox="1"/>
          <p:nvPr>
            <p:ph idx="1" type="body"/>
          </p:nvPr>
        </p:nvSpPr>
        <p:spPr>
          <a:xfrm>
            <a:off x="4494650" y="2294550"/>
            <a:ext cx="432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48 + 184 + 120 + </a:t>
            </a:r>
            <a:r>
              <a:rPr lang="en-GB" sz="2000" u="sng">
                <a:latin typeface="Kalam"/>
                <a:ea typeface="Kalam"/>
                <a:cs typeface="Kalam"/>
                <a:sym typeface="Kalam"/>
              </a:rPr>
              <a:t>       </a:t>
            </a:r>
            <a:r>
              <a:rPr lang="en-GB" sz="2000">
                <a:latin typeface="Kalam"/>
                <a:ea typeface="Kalam"/>
                <a:cs typeface="Kalam"/>
                <a:sym typeface="Kalam"/>
              </a:rPr>
              <a:t> = 360</a:t>
            </a:r>
            <a:endParaRPr sz="2000">
              <a:latin typeface="Kalam"/>
              <a:ea typeface="Kalam"/>
              <a:cs typeface="Kalam"/>
              <a:sym typeface="Kalam"/>
            </a:endParaRPr>
          </a:p>
        </p:txBody>
      </p:sp>
      <p:sp>
        <p:nvSpPr>
          <p:cNvPr id="1089" name="Google Shape;1089;p81"/>
          <p:cNvSpPr txBox="1"/>
          <p:nvPr>
            <p:ph idx="1" type="body"/>
          </p:nvPr>
        </p:nvSpPr>
        <p:spPr>
          <a:xfrm>
            <a:off x="6590675" y="2251050"/>
            <a:ext cx="691200" cy="3207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latin typeface="Kalam"/>
                <a:ea typeface="Kalam"/>
                <a:cs typeface="Kalam"/>
                <a:sym typeface="Kalam"/>
              </a:rPr>
              <a:t>8</a:t>
            </a:r>
            <a:endParaRPr sz="2000">
              <a:latin typeface="Kalam"/>
              <a:ea typeface="Kalam"/>
              <a:cs typeface="Kalam"/>
              <a:sym typeface="Kalam"/>
            </a:endParaRPr>
          </a:p>
        </p:txBody>
      </p:sp>
      <p:sp>
        <p:nvSpPr>
          <p:cNvPr id="1090" name="Google Shape;1090;p81"/>
          <p:cNvSpPr txBox="1"/>
          <p:nvPr>
            <p:ph idx="1" type="body"/>
          </p:nvPr>
        </p:nvSpPr>
        <p:spPr>
          <a:xfrm>
            <a:off x="3369600" y="3078450"/>
            <a:ext cx="972600" cy="4632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2000">
                <a:latin typeface="Kalam"/>
                <a:ea typeface="Kalam"/>
                <a:cs typeface="Kalam"/>
                <a:sym typeface="Kalam"/>
              </a:rPr>
              <a:t>8</a:t>
            </a:r>
            <a:r>
              <a:rPr lang="en-GB" sz="2000">
                <a:latin typeface="Kalam"/>
                <a:ea typeface="Kalam"/>
                <a:cs typeface="Kalam"/>
                <a:sym typeface="Kalam"/>
              </a:rPr>
              <a:t>°</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8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Calculating frequencies from the size of a sector</a:t>
            </a:r>
            <a:endParaRPr sz="1800"/>
          </a:p>
        </p:txBody>
      </p:sp>
      <p:sp>
        <p:nvSpPr>
          <p:cNvPr id="1096" name="Google Shape;1096;p82"/>
          <p:cNvSpPr txBox="1"/>
          <p:nvPr>
            <p:ph idx="1" type="body"/>
          </p:nvPr>
        </p:nvSpPr>
        <p:spPr>
          <a:xfrm>
            <a:off x="4432200" y="759300"/>
            <a:ext cx="43878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 A group of students were asked what their favourite subject was.</a:t>
            </a:r>
            <a:br>
              <a:rPr lang="en-GB" sz="1800"/>
            </a:br>
            <a:r>
              <a:rPr lang="en-GB" sz="1800"/>
              <a:t>25 students voted for “science”. </a:t>
            </a:r>
            <a:endParaRPr sz="1800"/>
          </a:p>
          <a:p>
            <a:pPr indent="0" lvl="0" marL="0" rtl="0" algn="l">
              <a:spcBef>
                <a:spcPts val="1000"/>
              </a:spcBef>
              <a:spcAft>
                <a:spcPts val="0"/>
              </a:spcAft>
              <a:buNone/>
            </a:pPr>
            <a:r>
              <a:rPr lang="en-GB" sz="1800"/>
              <a:t>a) Calculate the </a:t>
            </a:r>
            <a:r>
              <a:rPr lang="en-GB" sz="1800">
                <a:solidFill>
                  <a:srgbClr val="7E5CD2"/>
                </a:solidFill>
              </a:rPr>
              <a:t>multiplier</a:t>
            </a:r>
            <a:r>
              <a:rPr lang="en-GB" sz="1800"/>
              <a:t> for this set of data.</a:t>
            </a:r>
            <a:endParaRPr sz="1800"/>
          </a:p>
          <a:p>
            <a:pPr indent="0" lvl="0" marL="0" rtl="0" algn="l">
              <a:spcBef>
                <a:spcPts val="1000"/>
              </a:spcBef>
              <a:spcAft>
                <a:spcPts val="0"/>
              </a:spcAft>
              <a:buNone/>
            </a:pPr>
            <a:r>
              <a:rPr lang="en-GB" sz="1800"/>
              <a:t>b) Calculate all other frequencies by dividing using this </a:t>
            </a:r>
            <a:r>
              <a:rPr lang="en-GB" sz="1800">
                <a:solidFill>
                  <a:srgbClr val="7E5CD2"/>
                </a:solidFill>
              </a:rPr>
              <a:t>multiplier</a:t>
            </a:r>
            <a:r>
              <a:rPr lang="en-GB" sz="1800"/>
              <a:t>.</a:t>
            </a:r>
            <a:endParaRPr sz="1800"/>
          </a:p>
          <a:p>
            <a:pPr indent="0" lvl="0" marL="0" rtl="0" algn="l">
              <a:spcBef>
                <a:spcPts val="1000"/>
              </a:spcBef>
              <a:spcAft>
                <a:spcPts val="1000"/>
              </a:spcAft>
              <a:buNone/>
            </a:pPr>
            <a:r>
              <a:rPr lang="en-GB" sz="1800"/>
              <a:t>c) Calculate the total number of students who were asked.</a:t>
            </a:r>
            <a:endParaRPr sz="1800"/>
          </a:p>
        </p:txBody>
      </p:sp>
      <p:graphicFrame>
        <p:nvGraphicFramePr>
          <p:cNvPr id="1097" name="Google Shape;1097;p82"/>
          <p:cNvGraphicFramePr/>
          <p:nvPr/>
        </p:nvGraphicFramePr>
        <p:xfrm>
          <a:off x="380569" y="770551"/>
          <a:ext cx="3000000" cy="3000000"/>
        </p:xfrm>
        <a:graphic>
          <a:graphicData uri="http://schemas.openxmlformats.org/drawingml/2006/table">
            <a:tbl>
              <a:tblPr bandRow="1" firstRow="1">
                <a:noFill/>
                <a:tableStyleId>{6B1D2025-0711-4614-9E20-ACEAB21110A9}</a:tableStyleId>
              </a:tblPr>
              <a:tblGrid>
                <a:gridCol w="1547700"/>
                <a:gridCol w="1272225"/>
                <a:gridCol w="922700"/>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subject</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maths</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152</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e</a:t>
                      </a:r>
                      <a:r>
                        <a:rPr lang="en-GB" sz="1800">
                          <a:latin typeface="Lexend"/>
                          <a:ea typeface="Lexend"/>
                          <a:cs typeface="Lexend"/>
                          <a:sym typeface="Lexend"/>
                        </a:rPr>
                        <a:t>nglish</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60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science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100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other</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48</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sp>
        <p:nvSpPr>
          <p:cNvPr id="1098" name="Google Shape;1098;p82"/>
          <p:cNvSpPr/>
          <p:nvPr/>
        </p:nvSpPr>
        <p:spPr>
          <a:xfrm flipH="1" rot="10800000">
            <a:off x="2711876" y="3689758"/>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099" name="Google Shape;1099;p82"/>
          <p:cNvSpPr txBox="1"/>
          <p:nvPr>
            <p:ph idx="4294967295" type="body"/>
          </p:nvPr>
        </p:nvSpPr>
        <p:spPr>
          <a:xfrm>
            <a:off x="2711876" y="3835090"/>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a:t>
            </a:r>
            <a:r>
              <a:rPr lang="en-GB" sz="2000" u="sng">
                <a:latin typeface="Kalam"/>
                <a:ea typeface="Kalam"/>
                <a:cs typeface="Kalam"/>
                <a:sym typeface="Kalam"/>
              </a:rPr>
              <a:t>     </a:t>
            </a:r>
            <a:r>
              <a:rPr lang="en-GB" sz="2000">
                <a:solidFill>
                  <a:schemeClr val="lt1"/>
                </a:solidFill>
                <a:latin typeface="Kalam"/>
                <a:ea typeface="Kalam"/>
                <a:cs typeface="Kalam"/>
                <a:sym typeface="Kalam"/>
              </a:rPr>
              <a:t>.</a:t>
            </a:r>
            <a:endParaRPr sz="2000">
              <a:solidFill>
                <a:schemeClr val="lt1"/>
              </a:solidFill>
              <a:latin typeface="Kalam"/>
              <a:ea typeface="Kalam"/>
              <a:cs typeface="Kalam"/>
              <a:sym typeface="Kalam"/>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83"/>
          <p:cNvSpPr txBox="1"/>
          <p:nvPr>
            <p:ph idx="1" type="body"/>
          </p:nvPr>
        </p:nvSpPr>
        <p:spPr>
          <a:xfrm>
            <a:off x="4432200" y="759300"/>
            <a:ext cx="43878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a:t>
            </a:r>
            <a:r>
              <a:rPr lang="en-GB" sz="1800"/>
              <a:t>) Oakfield Academy are organising a fair to raise money to improve environmental efficiency of their school.</a:t>
            </a:r>
            <a:endParaRPr sz="1800"/>
          </a:p>
          <a:p>
            <a:pPr indent="0" lvl="0" marL="0" rtl="0" algn="l">
              <a:spcBef>
                <a:spcPts val="1000"/>
              </a:spcBef>
              <a:spcAft>
                <a:spcPts val="0"/>
              </a:spcAft>
              <a:buNone/>
            </a:pPr>
            <a:r>
              <a:rPr lang="en-GB" sz="1800"/>
              <a:t>The data shows votes of students for what they will do during the fair.</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Calculate all missing frequencies.</a:t>
            </a:r>
            <a:endParaRPr sz="1800"/>
          </a:p>
        </p:txBody>
      </p:sp>
      <p:sp>
        <p:nvSpPr>
          <p:cNvPr id="1105" name="Google Shape;1105;p8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Calculating frequencies from the size of a sector</a:t>
            </a:r>
            <a:endParaRPr sz="1800"/>
          </a:p>
        </p:txBody>
      </p:sp>
      <p:graphicFrame>
        <p:nvGraphicFramePr>
          <p:cNvPr id="1106" name="Google Shape;1106;p83"/>
          <p:cNvGraphicFramePr/>
          <p:nvPr/>
        </p:nvGraphicFramePr>
        <p:xfrm>
          <a:off x="380569" y="770551"/>
          <a:ext cx="3000000" cy="3000000"/>
        </p:xfrm>
        <a:graphic>
          <a:graphicData uri="http://schemas.openxmlformats.org/drawingml/2006/table">
            <a:tbl>
              <a:tblPr bandRow="1" firstRow="1">
                <a:noFill/>
                <a:tableStyleId>{6B1D2025-0711-4614-9E20-ACEAB21110A9}</a:tableStyleId>
              </a:tblPr>
              <a:tblGrid>
                <a:gridCol w="1547700"/>
                <a:gridCol w="1272225"/>
                <a:gridCol w="922700"/>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activity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c</a:t>
                      </a:r>
                      <a:r>
                        <a:rPr lang="en-GB" sz="1800">
                          <a:latin typeface="Lexend"/>
                          <a:ea typeface="Lexend"/>
                          <a:cs typeface="Lexend"/>
                          <a:sym typeface="Lexend"/>
                        </a:rPr>
                        <a:t>ake sale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63</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concert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39</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117</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charity race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f</a:t>
                      </a:r>
                      <a:r>
                        <a:rPr lang="en-GB" sz="1800">
                          <a:latin typeface="Lexend"/>
                          <a:ea typeface="Lexend"/>
                          <a:cs typeface="Lexend"/>
                          <a:sym typeface="Lexend"/>
                        </a:rPr>
                        <a:t>ace painting</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30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sp>
        <p:nvSpPr>
          <p:cNvPr id="1107" name="Google Shape;1107;p83"/>
          <p:cNvSpPr/>
          <p:nvPr/>
        </p:nvSpPr>
        <p:spPr>
          <a:xfrm flipH="1" rot="10800000">
            <a:off x="2711876" y="3689758"/>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108" name="Google Shape;1108;p83"/>
          <p:cNvSpPr txBox="1"/>
          <p:nvPr>
            <p:ph idx="4294967295" type="body"/>
          </p:nvPr>
        </p:nvSpPr>
        <p:spPr>
          <a:xfrm>
            <a:off x="2711876" y="3835090"/>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a:t>
            </a:r>
            <a:r>
              <a:rPr lang="en-GB" sz="2000" u="sng">
                <a:latin typeface="Kalam"/>
                <a:ea typeface="Kalam"/>
                <a:cs typeface="Kalam"/>
                <a:sym typeface="Kalam"/>
              </a:rPr>
              <a:t>     </a:t>
            </a:r>
            <a:r>
              <a:rPr lang="en-GB" sz="2000">
                <a:solidFill>
                  <a:schemeClr val="lt1"/>
                </a:solidFill>
                <a:latin typeface="Kalam"/>
                <a:ea typeface="Kalam"/>
                <a:cs typeface="Kalam"/>
                <a:sym typeface="Kalam"/>
              </a:rPr>
              <a:t>.</a:t>
            </a:r>
            <a:endParaRPr sz="2000">
              <a:solidFill>
                <a:schemeClr val="lt1"/>
              </a:solidFill>
              <a:latin typeface="Kalam"/>
              <a:ea typeface="Kalam"/>
              <a:cs typeface="Kalam"/>
              <a:sym typeface="Kala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84"/>
          <p:cNvSpPr txBox="1"/>
          <p:nvPr>
            <p:ph idx="1" type="body"/>
          </p:nvPr>
        </p:nvSpPr>
        <p:spPr>
          <a:xfrm>
            <a:off x="3495050" y="759300"/>
            <a:ext cx="5325000" cy="340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The pie chart shows the suggested days of the week the fair could be run on.</a:t>
            </a:r>
            <a:br>
              <a:rPr lang="en-GB" sz="1800"/>
            </a:br>
            <a:r>
              <a:rPr lang="en-GB" sz="1800"/>
              <a:t>Compl</a:t>
            </a:r>
            <a:r>
              <a:rPr lang="en-GB" sz="1800"/>
              <a:t>ete the table by:</a:t>
            </a:r>
            <a:endParaRPr sz="1800"/>
          </a:p>
          <a:p>
            <a:pPr indent="0" lvl="0" marL="0" rtl="0" algn="l">
              <a:spcBef>
                <a:spcPts val="1000"/>
              </a:spcBef>
              <a:spcAft>
                <a:spcPts val="0"/>
              </a:spcAft>
              <a:buNone/>
            </a:pPr>
            <a:r>
              <a:rPr lang="en-GB" sz="1800"/>
              <a:t>a) measuring all missing                                                  angles,</a:t>
            </a:r>
            <a:endParaRPr sz="1800"/>
          </a:p>
          <a:p>
            <a:pPr indent="0" lvl="0" marL="0" rtl="0" algn="l">
              <a:spcBef>
                <a:spcPts val="1000"/>
              </a:spcBef>
              <a:spcAft>
                <a:spcPts val="1000"/>
              </a:spcAft>
              <a:buNone/>
            </a:pPr>
            <a:r>
              <a:rPr lang="en-GB" sz="1800"/>
              <a:t>b) calculating all                                                            missing </a:t>
            </a:r>
            <a:r>
              <a:rPr lang="en-GB" sz="1800"/>
              <a:t>frequencies.</a:t>
            </a:r>
            <a:r>
              <a:rPr lang="en-GB" sz="1800"/>
              <a:t> </a:t>
            </a:r>
            <a:r>
              <a:rPr lang="en-GB" sz="1800"/>
              <a:t>                                                         </a:t>
            </a:r>
            <a:endParaRPr sz="1800"/>
          </a:p>
        </p:txBody>
      </p:sp>
      <p:sp>
        <p:nvSpPr>
          <p:cNvPr id="1114" name="Google Shape;1114;p8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Calculating frequencies from the size of a sector</a:t>
            </a:r>
            <a:endParaRPr sz="1800"/>
          </a:p>
        </p:txBody>
      </p:sp>
      <p:graphicFrame>
        <p:nvGraphicFramePr>
          <p:cNvPr id="1115" name="Google Shape;1115;p84"/>
          <p:cNvGraphicFramePr/>
          <p:nvPr/>
        </p:nvGraphicFramePr>
        <p:xfrm>
          <a:off x="380569" y="770551"/>
          <a:ext cx="3000000" cy="3000000"/>
        </p:xfrm>
        <a:graphic>
          <a:graphicData uri="http://schemas.openxmlformats.org/drawingml/2006/table">
            <a:tbl>
              <a:tblPr bandRow="1" firstRow="1">
                <a:noFill/>
                <a:tableStyleId>{6B1D2025-0711-4614-9E20-ACEAB21110A9}</a:tableStyleId>
              </a:tblPr>
              <a:tblGrid>
                <a:gridCol w="1386200"/>
                <a:gridCol w="642675"/>
                <a:gridCol w="991625"/>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day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a:t>
                      </a:r>
                      <a:r>
                        <a:rPr b="0" lang="en-GB" sz="1800">
                          <a:latin typeface="Lexend"/>
                          <a:ea typeface="Lexend"/>
                          <a:cs typeface="Lexend"/>
                          <a:sym typeface="Lexend"/>
                        </a:rPr>
                        <a:t>.</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Monday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Tuesday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Wednesday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156°</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Thursday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54°</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Friday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pic>
        <p:nvPicPr>
          <p:cNvPr id="1116" name="Google Shape;1116;p84"/>
          <p:cNvPicPr preferRelativeResize="0"/>
          <p:nvPr/>
        </p:nvPicPr>
        <p:blipFill rotWithShape="1">
          <a:blip r:embed="rId3">
            <a:alphaModFix/>
          </a:blip>
          <a:srcRect b="12000" l="10505" r="10505" t="5409"/>
          <a:stretch/>
        </p:blipFill>
        <p:spPr>
          <a:xfrm>
            <a:off x="5884000" y="1508875"/>
            <a:ext cx="2936050" cy="3311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pic>
        <p:nvPicPr>
          <p:cNvPr id="1121" name="Google Shape;1121;p85"/>
          <p:cNvPicPr preferRelativeResize="0"/>
          <p:nvPr/>
        </p:nvPicPr>
        <p:blipFill rotWithShape="1">
          <a:blip r:embed="rId3">
            <a:alphaModFix/>
          </a:blip>
          <a:srcRect b="9877" l="9885" r="9877" t="9885"/>
          <a:stretch/>
        </p:blipFill>
        <p:spPr>
          <a:xfrm>
            <a:off x="3504563" y="2550251"/>
            <a:ext cx="2064075" cy="2222075"/>
          </a:xfrm>
          <a:prstGeom prst="rect">
            <a:avLst/>
          </a:prstGeom>
          <a:noFill/>
          <a:ln>
            <a:noFill/>
          </a:ln>
        </p:spPr>
      </p:pic>
      <p:sp>
        <p:nvSpPr>
          <p:cNvPr id="1122" name="Google Shape;1122;p85"/>
          <p:cNvSpPr txBox="1"/>
          <p:nvPr>
            <p:ph idx="1" type="body"/>
          </p:nvPr>
        </p:nvSpPr>
        <p:spPr>
          <a:xfrm>
            <a:off x="324000" y="759300"/>
            <a:ext cx="8496000" cy="170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r>
              <a:rPr lang="en-GB" sz="1800"/>
              <a:t>) Fill in all missing information for </a:t>
            </a:r>
            <a:r>
              <a:rPr lang="en-GB" sz="1800"/>
              <a:t>each</a:t>
            </a:r>
            <a:r>
              <a:rPr lang="en-GB" sz="1800"/>
              <a:t> table and pie chart.</a:t>
            </a:r>
            <a:endParaRPr sz="1800"/>
          </a:p>
        </p:txBody>
      </p:sp>
      <p:sp>
        <p:nvSpPr>
          <p:cNvPr id="1123" name="Google Shape;1123;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Calculating frequencies from the size of a sector</a:t>
            </a:r>
            <a:endParaRPr sz="1800"/>
          </a:p>
        </p:txBody>
      </p:sp>
      <p:graphicFrame>
        <p:nvGraphicFramePr>
          <p:cNvPr id="1124" name="Google Shape;1124;p85"/>
          <p:cNvGraphicFramePr/>
          <p:nvPr/>
        </p:nvGraphicFramePr>
        <p:xfrm>
          <a:off x="349094" y="1169977"/>
          <a:ext cx="3000000" cy="3000000"/>
        </p:xfrm>
        <a:graphic>
          <a:graphicData uri="http://schemas.openxmlformats.org/drawingml/2006/table">
            <a:tbl>
              <a:tblPr bandRow="1" firstRow="1">
                <a:noFill/>
                <a:tableStyleId>{6B1D2025-0711-4614-9E20-ACEAB21110A9}</a:tableStyleId>
              </a:tblPr>
              <a:tblGrid>
                <a:gridCol w="1095675"/>
                <a:gridCol w="609150"/>
                <a:gridCol w="833250"/>
              </a:tblGrid>
              <a:tr h="280350">
                <a:tc>
                  <a:txBody>
                    <a:bodyPr/>
                    <a:lstStyle/>
                    <a:p>
                      <a:pPr indent="0" lvl="0" marL="0" marR="0" rtl="0" algn="l">
                        <a:lnSpc>
                          <a:spcPct val="100000"/>
                        </a:lnSpc>
                        <a:spcBef>
                          <a:spcPts val="0"/>
                        </a:spcBef>
                        <a:spcAft>
                          <a:spcPts val="0"/>
                        </a:spcAft>
                        <a:buClr>
                          <a:srgbClr val="000000"/>
                        </a:buClr>
                        <a:buSzPts val="1800"/>
                        <a:buFont typeface="Arial"/>
                        <a:buNone/>
                      </a:pPr>
                      <a:r>
                        <a:rPr b="0" lang="en-GB" sz="1600">
                          <a:latin typeface="Lexend"/>
                          <a:ea typeface="Lexend"/>
                          <a:cs typeface="Lexend"/>
                          <a:sym typeface="Lexend"/>
                        </a:rPr>
                        <a:t>colour</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freq</a:t>
                      </a:r>
                      <a:r>
                        <a:rPr b="0" lang="en-GB" sz="1600">
                          <a:latin typeface="Lexend"/>
                          <a:ea typeface="Lexend"/>
                          <a:cs typeface="Lexend"/>
                          <a:sym typeface="Lexend"/>
                        </a:rPr>
                        <a:t>.</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angles</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purple</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green</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blue</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8</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r">
                        <a:spcBef>
                          <a:spcPts val="0"/>
                        </a:spcBef>
                        <a:spcAft>
                          <a:spcPts val="0"/>
                        </a:spcAft>
                        <a:buNone/>
                      </a:pPr>
                      <a:r>
                        <a:rPr lang="en-GB" sz="1600">
                          <a:latin typeface="Lexend"/>
                          <a:ea typeface="Lexend"/>
                          <a:cs typeface="Lexend"/>
                          <a:sym typeface="Lexend"/>
                        </a:rPr>
                        <a:t>total</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pic>
        <p:nvPicPr>
          <p:cNvPr id="1125" name="Google Shape;1125;p85"/>
          <p:cNvPicPr preferRelativeResize="0"/>
          <p:nvPr/>
        </p:nvPicPr>
        <p:blipFill rotWithShape="1">
          <a:blip r:embed="rId4">
            <a:alphaModFix/>
          </a:blip>
          <a:srcRect b="9903" l="9903" r="9903" t="9903"/>
          <a:stretch/>
        </p:blipFill>
        <p:spPr>
          <a:xfrm>
            <a:off x="577848" y="2609325"/>
            <a:ext cx="2080575" cy="2103950"/>
          </a:xfrm>
          <a:prstGeom prst="rect">
            <a:avLst/>
          </a:prstGeom>
          <a:noFill/>
          <a:ln>
            <a:noFill/>
          </a:ln>
        </p:spPr>
      </p:pic>
      <p:graphicFrame>
        <p:nvGraphicFramePr>
          <p:cNvPr id="1126" name="Google Shape;1126;p85"/>
          <p:cNvGraphicFramePr/>
          <p:nvPr/>
        </p:nvGraphicFramePr>
        <p:xfrm>
          <a:off x="3267569" y="1169977"/>
          <a:ext cx="3000000" cy="3000000"/>
        </p:xfrm>
        <a:graphic>
          <a:graphicData uri="http://schemas.openxmlformats.org/drawingml/2006/table">
            <a:tbl>
              <a:tblPr bandRow="1" firstRow="1">
                <a:noFill/>
                <a:tableStyleId>{6B1D2025-0711-4614-9E20-ACEAB21110A9}</a:tableStyleId>
              </a:tblPr>
              <a:tblGrid>
                <a:gridCol w="1095675"/>
                <a:gridCol w="609150"/>
                <a:gridCol w="833250"/>
              </a:tblGrid>
              <a:tr h="280350">
                <a:tc>
                  <a:txBody>
                    <a:bodyPr/>
                    <a:lstStyle/>
                    <a:p>
                      <a:pPr indent="0" lvl="0" marL="0" marR="0" rtl="0" algn="l">
                        <a:lnSpc>
                          <a:spcPct val="100000"/>
                        </a:lnSpc>
                        <a:spcBef>
                          <a:spcPts val="0"/>
                        </a:spcBef>
                        <a:spcAft>
                          <a:spcPts val="0"/>
                        </a:spcAft>
                        <a:buClr>
                          <a:srgbClr val="000000"/>
                        </a:buClr>
                        <a:buSzPts val="1800"/>
                        <a:buFont typeface="Arial"/>
                        <a:buNone/>
                      </a:pPr>
                      <a:r>
                        <a:rPr b="0" lang="en-GB" sz="1600">
                          <a:latin typeface="Lexend"/>
                          <a:ea typeface="Lexend"/>
                          <a:cs typeface="Lexend"/>
                          <a:sym typeface="Lexend"/>
                        </a:rPr>
                        <a:t>vehicle</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freq</a:t>
                      </a:r>
                      <a:r>
                        <a:rPr b="0" lang="en-GB" sz="1600">
                          <a:latin typeface="Lexend"/>
                          <a:ea typeface="Lexend"/>
                          <a:cs typeface="Lexend"/>
                          <a:sym typeface="Lexend"/>
                        </a:rPr>
                        <a:t>.</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angles</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car</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13</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bike</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bus</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r">
                        <a:spcBef>
                          <a:spcPts val="0"/>
                        </a:spcBef>
                        <a:spcAft>
                          <a:spcPts val="0"/>
                        </a:spcAft>
                        <a:buNone/>
                      </a:pPr>
                      <a:r>
                        <a:rPr lang="en-GB" sz="1600">
                          <a:latin typeface="Lexend"/>
                          <a:ea typeface="Lexend"/>
                          <a:cs typeface="Lexend"/>
                          <a:sym typeface="Lexend"/>
                        </a:rPr>
                        <a:t>total</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graphicFrame>
        <p:nvGraphicFramePr>
          <p:cNvPr id="1127" name="Google Shape;1127;p85"/>
          <p:cNvGraphicFramePr/>
          <p:nvPr/>
        </p:nvGraphicFramePr>
        <p:xfrm>
          <a:off x="6186057" y="1169977"/>
          <a:ext cx="3000000" cy="3000000"/>
        </p:xfrm>
        <a:graphic>
          <a:graphicData uri="http://schemas.openxmlformats.org/drawingml/2006/table">
            <a:tbl>
              <a:tblPr bandRow="1" firstRow="1">
                <a:noFill/>
                <a:tableStyleId>{6B1D2025-0711-4614-9E20-ACEAB21110A9}</a:tableStyleId>
              </a:tblPr>
              <a:tblGrid>
                <a:gridCol w="1130500"/>
                <a:gridCol w="628500"/>
                <a:gridCol w="859725"/>
              </a:tblGrid>
              <a:tr h="280350">
                <a:tc>
                  <a:txBody>
                    <a:bodyPr/>
                    <a:lstStyle/>
                    <a:p>
                      <a:pPr indent="0" lvl="0" marL="0" marR="0" rtl="0" algn="l">
                        <a:lnSpc>
                          <a:spcPct val="100000"/>
                        </a:lnSpc>
                        <a:spcBef>
                          <a:spcPts val="0"/>
                        </a:spcBef>
                        <a:spcAft>
                          <a:spcPts val="0"/>
                        </a:spcAft>
                        <a:buClr>
                          <a:srgbClr val="000000"/>
                        </a:buClr>
                        <a:buSzPts val="1800"/>
                        <a:buFont typeface="Arial"/>
                        <a:buNone/>
                      </a:pPr>
                      <a:r>
                        <a:rPr b="0" lang="en-GB" sz="1600">
                          <a:latin typeface="Lexend"/>
                          <a:ea typeface="Lexend"/>
                          <a:cs typeface="Lexend"/>
                          <a:sym typeface="Lexend"/>
                        </a:rPr>
                        <a:t>vote</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freq</a:t>
                      </a:r>
                      <a:r>
                        <a:rPr b="0" lang="en-GB" sz="1600">
                          <a:latin typeface="Lexend"/>
                          <a:ea typeface="Lexend"/>
                          <a:cs typeface="Lexend"/>
                          <a:sym typeface="Lexend"/>
                        </a:rPr>
                        <a:t>.</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angles</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yes</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165</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no</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7</a:t>
                      </a:r>
                      <a:r>
                        <a:rPr lang="en-GB" sz="1600">
                          <a:latin typeface="Lexend"/>
                          <a:ea typeface="Lexend"/>
                          <a:cs typeface="Lexend"/>
                          <a:sym typeface="Lexend"/>
                        </a:rPr>
                        <a:t>5</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undecided</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r">
                        <a:spcBef>
                          <a:spcPts val="0"/>
                        </a:spcBef>
                        <a:spcAft>
                          <a:spcPts val="0"/>
                        </a:spcAft>
                        <a:buNone/>
                      </a:pPr>
                      <a:r>
                        <a:rPr lang="en-GB" sz="1600">
                          <a:latin typeface="Lexend"/>
                          <a:ea typeface="Lexend"/>
                          <a:cs typeface="Lexend"/>
                          <a:sym typeface="Lexend"/>
                        </a:rPr>
                        <a:t>total</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pic>
        <p:nvPicPr>
          <p:cNvPr id="1128" name="Google Shape;1128;p85"/>
          <p:cNvPicPr preferRelativeResize="0"/>
          <p:nvPr/>
        </p:nvPicPr>
        <p:blipFill>
          <a:blip r:embed="rId5">
            <a:alphaModFix/>
          </a:blip>
          <a:stretch>
            <a:fillRect/>
          </a:stretch>
        </p:blipFill>
        <p:spPr>
          <a:xfrm>
            <a:off x="6224838" y="2364825"/>
            <a:ext cx="2541150" cy="2592949"/>
          </a:xfrm>
          <a:prstGeom prst="rect">
            <a:avLst/>
          </a:prstGeom>
          <a:noFill/>
          <a:ln>
            <a:noFill/>
          </a:ln>
        </p:spPr>
      </p:pic>
      <p:sp>
        <p:nvSpPr>
          <p:cNvPr id="1129" name="Google Shape;1129;p85"/>
          <p:cNvSpPr/>
          <p:nvPr/>
        </p:nvSpPr>
        <p:spPr>
          <a:xfrm rot="-4324873">
            <a:off x="7260115" y="3622931"/>
            <a:ext cx="210616" cy="210616"/>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Calculating frequencies from the size of a sector</a:t>
            </a:r>
            <a:endParaRPr sz="1800"/>
          </a:p>
        </p:txBody>
      </p:sp>
      <p:graphicFrame>
        <p:nvGraphicFramePr>
          <p:cNvPr id="1135" name="Google Shape;1135;p86"/>
          <p:cNvGraphicFramePr/>
          <p:nvPr/>
        </p:nvGraphicFramePr>
        <p:xfrm>
          <a:off x="380569" y="770551"/>
          <a:ext cx="3000000" cy="3000000"/>
        </p:xfrm>
        <a:graphic>
          <a:graphicData uri="http://schemas.openxmlformats.org/drawingml/2006/table">
            <a:tbl>
              <a:tblPr bandRow="1" firstRow="1">
                <a:noFill/>
                <a:tableStyleId>{6B1D2025-0711-4614-9E20-ACEAB21110A9}</a:tableStyleId>
              </a:tblPr>
              <a:tblGrid>
                <a:gridCol w="1547700"/>
                <a:gridCol w="1272225"/>
                <a:gridCol w="922700"/>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subject</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maths</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38</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152</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English</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15</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60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science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25</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100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other</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12</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48</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total</a:t>
                      </a:r>
                      <a:endParaRPr sz="1800" u="none" cap="none" strike="noStrike">
                        <a:latin typeface="Lexend"/>
                        <a:ea typeface="Lexend"/>
                        <a:cs typeface="Lexend"/>
                        <a:sym typeface="Lexend"/>
                      </a:endParaRPr>
                    </a:p>
                  </a:txBody>
                  <a:tcPr marT="0" marB="0" marR="36000" marL="36000" anchor="ctr">
                    <a:lnL cap="flat" cmpd="sng" w="12700">
                      <a:solidFill>
                        <a:srgbClr val="A5A5A5">
                          <a:alpha val="0"/>
                        </a:srgbClr>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alpha val="0"/>
                        </a:srgbClr>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90</a:t>
                      </a:r>
                      <a:endParaRPr sz="2000" u="none" cap="none" strike="noStrike">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sp>
        <p:nvSpPr>
          <p:cNvPr id="1136" name="Google Shape;1136;p86"/>
          <p:cNvSpPr/>
          <p:nvPr/>
        </p:nvSpPr>
        <p:spPr>
          <a:xfrm flipH="1" rot="10800000">
            <a:off x="2711876" y="3689758"/>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137" name="Google Shape;1137;p86"/>
          <p:cNvSpPr txBox="1"/>
          <p:nvPr>
            <p:ph idx="4294967295" type="body"/>
          </p:nvPr>
        </p:nvSpPr>
        <p:spPr>
          <a:xfrm>
            <a:off x="2711876" y="3835090"/>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a:t>
            </a:r>
            <a:r>
              <a:rPr lang="en-GB" sz="2000" u="sng">
                <a:latin typeface="Kalam"/>
                <a:ea typeface="Kalam"/>
                <a:cs typeface="Kalam"/>
                <a:sym typeface="Kalam"/>
              </a:rPr>
              <a:t>     </a:t>
            </a:r>
            <a:r>
              <a:rPr lang="en-GB" sz="2000">
                <a:solidFill>
                  <a:srgbClr val="F3EEFB"/>
                </a:solidFill>
                <a:latin typeface="Kalam"/>
                <a:ea typeface="Kalam"/>
                <a:cs typeface="Kalam"/>
                <a:sym typeface="Kalam"/>
              </a:rPr>
              <a:t>. </a:t>
            </a:r>
            <a:endParaRPr sz="2000">
              <a:solidFill>
                <a:srgbClr val="F3EEFB"/>
              </a:solidFill>
              <a:latin typeface="Kalam"/>
              <a:ea typeface="Kalam"/>
              <a:cs typeface="Kalam"/>
              <a:sym typeface="Kalam"/>
            </a:endParaRPr>
          </a:p>
        </p:txBody>
      </p:sp>
      <p:sp>
        <p:nvSpPr>
          <p:cNvPr id="1138" name="Google Shape;1138;p86"/>
          <p:cNvSpPr txBox="1"/>
          <p:nvPr>
            <p:ph idx="1" type="body"/>
          </p:nvPr>
        </p:nvSpPr>
        <p:spPr>
          <a:xfrm>
            <a:off x="4432200" y="759300"/>
            <a:ext cx="4387800" cy="3020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t>1) A group of students were asked what their favourite subject was.</a:t>
            </a:r>
            <a:br>
              <a:rPr lang="en-GB" sz="1800"/>
            </a:br>
            <a:r>
              <a:rPr lang="en-GB" sz="1800"/>
              <a:t>25 students voted for “science”. </a:t>
            </a:r>
            <a:endParaRPr sz="1800"/>
          </a:p>
          <a:p>
            <a:pPr indent="0" lvl="0" marL="0" rtl="0" algn="l">
              <a:spcBef>
                <a:spcPts val="1000"/>
              </a:spcBef>
              <a:spcAft>
                <a:spcPts val="0"/>
              </a:spcAft>
              <a:buClr>
                <a:schemeClr val="dk1"/>
              </a:buClr>
              <a:buSzPts val="1100"/>
              <a:buFont typeface="Arial"/>
              <a:buNone/>
            </a:pPr>
            <a:r>
              <a:rPr lang="en-GB" sz="1800"/>
              <a:t>a) Calculate the </a:t>
            </a:r>
            <a:r>
              <a:rPr lang="en-GB" sz="1800">
                <a:solidFill>
                  <a:srgbClr val="7E5CD2"/>
                </a:solidFill>
              </a:rPr>
              <a:t>multiplier</a:t>
            </a:r>
            <a:r>
              <a:rPr lang="en-GB" sz="1800"/>
              <a:t> for this set of data.</a:t>
            </a:r>
            <a:endParaRPr sz="1800"/>
          </a:p>
          <a:p>
            <a:pPr indent="0" lvl="0" marL="0" rtl="0" algn="l">
              <a:spcBef>
                <a:spcPts val="1000"/>
              </a:spcBef>
              <a:spcAft>
                <a:spcPts val="0"/>
              </a:spcAft>
              <a:buNone/>
            </a:pPr>
            <a:r>
              <a:rPr lang="en-GB" sz="1800"/>
              <a:t>b) Calculate all other frequencies by dividing using this </a:t>
            </a:r>
            <a:r>
              <a:rPr lang="en-GB" sz="1800">
                <a:solidFill>
                  <a:srgbClr val="7E5CD2"/>
                </a:solidFill>
              </a:rPr>
              <a:t>multiplier</a:t>
            </a:r>
            <a:r>
              <a:rPr lang="en-GB" sz="1800"/>
              <a:t>.</a:t>
            </a:r>
            <a:endParaRPr sz="1800"/>
          </a:p>
          <a:p>
            <a:pPr indent="0" lvl="0" marL="0" rtl="0" algn="l">
              <a:spcBef>
                <a:spcPts val="1000"/>
              </a:spcBef>
              <a:spcAft>
                <a:spcPts val="1000"/>
              </a:spcAft>
              <a:buNone/>
            </a:pPr>
            <a:r>
              <a:rPr lang="en-GB" sz="1800"/>
              <a:t>c) Calculate the total number of students who were asked.</a:t>
            </a:r>
            <a:endParaRPr sz="1800"/>
          </a:p>
        </p:txBody>
      </p:sp>
      <p:sp>
        <p:nvSpPr>
          <p:cNvPr id="1139" name="Google Shape;1139;p86"/>
          <p:cNvSpPr txBox="1"/>
          <p:nvPr>
            <p:ph idx="1" type="body"/>
          </p:nvPr>
        </p:nvSpPr>
        <p:spPr>
          <a:xfrm>
            <a:off x="2950407" y="3704400"/>
            <a:ext cx="932100" cy="5871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4</a:t>
            </a:r>
            <a:endParaRPr sz="1800">
              <a:latin typeface="Kalam"/>
              <a:ea typeface="Kalam"/>
              <a:cs typeface="Kalam"/>
              <a:sym typeface="Kala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Calculating frequencies from the size of a sector</a:t>
            </a:r>
            <a:endParaRPr sz="1800"/>
          </a:p>
        </p:txBody>
      </p:sp>
      <p:graphicFrame>
        <p:nvGraphicFramePr>
          <p:cNvPr id="1145" name="Google Shape;1145;p87"/>
          <p:cNvGraphicFramePr/>
          <p:nvPr/>
        </p:nvGraphicFramePr>
        <p:xfrm>
          <a:off x="380569" y="770551"/>
          <a:ext cx="3000000" cy="3000000"/>
        </p:xfrm>
        <a:graphic>
          <a:graphicData uri="http://schemas.openxmlformats.org/drawingml/2006/table">
            <a:tbl>
              <a:tblPr bandRow="1" firstRow="1">
                <a:noFill/>
                <a:tableStyleId>{6B1D2025-0711-4614-9E20-ACEAB21110A9}</a:tableStyleId>
              </a:tblPr>
              <a:tblGrid>
                <a:gridCol w="1547700"/>
                <a:gridCol w="1272225"/>
                <a:gridCol w="922700"/>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activity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frequency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cake sale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21</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63</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concert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39</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117</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charity race</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50</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face painting</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10</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30</a:t>
                      </a:r>
                      <a:r>
                        <a:rPr lang="en-GB" sz="1800">
                          <a:solidFill>
                            <a:schemeClr val="dk1"/>
                          </a:solidFill>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120</a:t>
                      </a:r>
                      <a:endParaRPr sz="2000" u="none" cap="none" strike="noStrike">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lang="en-GB" sz="1800" u="none" cap="none" strike="noStrike">
                          <a:latin typeface="Lexend"/>
                          <a:ea typeface="Lexend"/>
                          <a:cs typeface="Lexend"/>
                          <a:sym typeface="Lexend"/>
                        </a:rPr>
                        <a:t>360°</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sp>
        <p:nvSpPr>
          <p:cNvPr id="1146" name="Google Shape;1146;p87"/>
          <p:cNvSpPr txBox="1"/>
          <p:nvPr>
            <p:ph idx="4294967295" type="body"/>
          </p:nvPr>
        </p:nvSpPr>
        <p:spPr>
          <a:xfrm>
            <a:off x="2711876" y="3835090"/>
            <a:ext cx="1190400" cy="2787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 </a:t>
            </a:r>
            <a:r>
              <a:rPr lang="en-GB" sz="2000" u="sng">
                <a:latin typeface="Kalam"/>
                <a:ea typeface="Kalam"/>
                <a:cs typeface="Kalam"/>
                <a:sym typeface="Kalam"/>
              </a:rPr>
              <a:t>     </a:t>
            </a:r>
            <a:r>
              <a:rPr lang="en-GB" sz="2000">
                <a:solidFill>
                  <a:srgbClr val="F3EEFB"/>
                </a:solidFill>
                <a:latin typeface="Kalam"/>
                <a:ea typeface="Kalam"/>
                <a:cs typeface="Kalam"/>
                <a:sym typeface="Kalam"/>
              </a:rPr>
              <a:t>.</a:t>
            </a:r>
            <a:endParaRPr sz="2000">
              <a:solidFill>
                <a:srgbClr val="F3EEFB"/>
              </a:solidFill>
              <a:latin typeface="Kalam"/>
              <a:ea typeface="Kalam"/>
              <a:cs typeface="Kalam"/>
              <a:sym typeface="Kalam"/>
            </a:endParaRPr>
          </a:p>
        </p:txBody>
      </p:sp>
      <p:sp>
        <p:nvSpPr>
          <p:cNvPr id="1147" name="Google Shape;1147;p87"/>
          <p:cNvSpPr/>
          <p:nvPr/>
        </p:nvSpPr>
        <p:spPr>
          <a:xfrm flipH="1" rot="10800000">
            <a:off x="2711876" y="3689758"/>
            <a:ext cx="1190381" cy="145325"/>
          </a:xfrm>
          <a:custGeom>
            <a:rect b="b" l="l" r="r" t="t"/>
            <a:pathLst>
              <a:path extrusionOk="0" h="5813" w="23810">
                <a:moveTo>
                  <a:pt x="0" y="5508"/>
                </a:moveTo>
                <a:cubicBezTo>
                  <a:pt x="1933" y="4592"/>
                  <a:pt x="7631" y="-38"/>
                  <a:pt x="11599" y="13"/>
                </a:cubicBezTo>
                <a:cubicBezTo>
                  <a:pt x="15567" y="64"/>
                  <a:pt x="21775" y="4846"/>
                  <a:pt x="23810" y="5813"/>
                </a:cubicBezTo>
              </a:path>
            </a:pathLst>
          </a:custGeom>
          <a:noFill/>
          <a:ln cap="flat" cmpd="sng" w="38100">
            <a:solidFill>
              <a:schemeClr val="accent4"/>
            </a:solidFill>
            <a:prstDash val="solid"/>
            <a:round/>
            <a:headEnd len="med" w="med" type="none"/>
            <a:tailEnd len="med" w="med" type="stealth"/>
          </a:ln>
        </p:spPr>
      </p:sp>
      <p:sp>
        <p:nvSpPr>
          <p:cNvPr id="1148" name="Google Shape;1148;p87"/>
          <p:cNvSpPr txBox="1"/>
          <p:nvPr>
            <p:ph idx="1" type="body"/>
          </p:nvPr>
        </p:nvSpPr>
        <p:spPr>
          <a:xfrm>
            <a:off x="4432200" y="759300"/>
            <a:ext cx="43878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Oakfield Academy are organising a fair to raise money to improve environmental efficiency of their school.</a:t>
            </a:r>
            <a:endParaRPr sz="1800"/>
          </a:p>
          <a:p>
            <a:pPr indent="0" lvl="0" marL="0" rtl="0" algn="l">
              <a:spcBef>
                <a:spcPts val="1000"/>
              </a:spcBef>
              <a:spcAft>
                <a:spcPts val="0"/>
              </a:spcAft>
              <a:buNone/>
            </a:pPr>
            <a:r>
              <a:rPr lang="en-GB" sz="1800"/>
              <a:t>The data shows votes of students for what they will do during the fair.</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Calculate all missing frequencies.</a:t>
            </a:r>
            <a:endParaRPr sz="1800"/>
          </a:p>
        </p:txBody>
      </p:sp>
      <p:sp>
        <p:nvSpPr>
          <p:cNvPr id="1149" name="Google Shape;1149;p87"/>
          <p:cNvSpPr txBox="1"/>
          <p:nvPr>
            <p:ph idx="1" type="body"/>
          </p:nvPr>
        </p:nvSpPr>
        <p:spPr>
          <a:xfrm>
            <a:off x="2970157" y="3715200"/>
            <a:ext cx="932100" cy="5871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latin typeface="Kalam"/>
                <a:ea typeface="Kalam"/>
                <a:cs typeface="Kalam"/>
                <a:sym typeface="Kalam"/>
              </a:rPr>
              <a:t>3</a:t>
            </a:r>
            <a:endParaRPr sz="1800">
              <a:latin typeface="Kalam"/>
              <a:ea typeface="Kalam"/>
              <a:cs typeface="Kalam"/>
              <a:sym typeface="Kala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Calculating frequencies from the size of a sector</a:t>
            </a:r>
            <a:endParaRPr sz="1800"/>
          </a:p>
        </p:txBody>
      </p:sp>
      <p:graphicFrame>
        <p:nvGraphicFramePr>
          <p:cNvPr id="1155" name="Google Shape;1155;p88"/>
          <p:cNvGraphicFramePr/>
          <p:nvPr/>
        </p:nvGraphicFramePr>
        <p:xfrm>
          <a:off x="380569" y="770551"/>
          <a:ext cx="3000000" cy="3000000"/>
        </p:xfrm>
        <a:graphic>
          <a:graphicData uri="http://schemas.openxmlformats.org/drawingml/2006/table">
            <a:tbl>
              <a:tblPr bandRow="1" firstRow="1">
                <a:noFill/>
                <a:tableStyleId>{6B1D2025-0711-4614-9E20-ACEAB21110A9}</a:tableStyleId>
              </a:tblPr>
              <a:tblGrid>
                <a:gridCol w="1386200"/>
                <a:gridCol w="642675"/>
                <a:gridCol w="991625"/>
              </a:tblGrid>
              <a:tr h="463150">
                <a:tc>
                  <a:txBody>
                    <a:bodyPr/>
                    <a:lstStyle/>
                    <a:p>
                      <a:pPr indent="0" lvl="0" marL="0" marR="0" rtl="0" algn="l">
                        <a:lnSpc>
                          <a:spcPct val="100000"/>
                        </a:lnSpc>
                        <a:spcBef>
                          <a:spcPts val="0"/>
                        </a:spcBef>
                        <a:spcAft>
                          <a:spcPts val="0"/>
                        </a:spcAft>
                        <a:buClr>
                          <a:srgbClr val="000000"/>
                        </a:buClr>
                        <a:buSzPts val="1800"/>
                        <a:buFont typeface="Arial"/>
                        <a:buNone/>
                      </a:pPr>
                      <a:r>
                        <a:rPr b="0" lang="en-GB" sz="1800">
                          <a:latin typeface="Lexend"/>
                          <a:ea typeface="Lexend"/>
                          <a:cs typeface="Lexend"/>
                          <a:sym typeface="Lexend"/>
                        </a:rPr>
                        <a:t>day</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freq</a:t>
                      </a:r>
                      <a:r>
                        <a:rPr b="0" lang="en-GB" sz="1800">
                          <a:latin typeface="Lexend"/>
                          <a:ea typeface="Lexend"/>
                          <a:cs typeface="Lexend"/>
                          <a:sym typeface="Lexend"/>
                        </a:rPr>
                        <a:t>.</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800" u="none" cap="none" strike="noStrike">
                          <a:latin typeface="Lexend"/>
                          <a:ea typeface="Lexend"/>
                          <a:cs typeface="Lexend"/>
                          <a:sym typeface="Lexend"/>
                        </a:rPr>
                        <a:t>angles</a:t>
                      </a:r>
                      <a:endParaRPr b="0"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Monday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15</a:t>
                      </a:r>
                      <a:r>
                        <a:rPr lang="en-GB" sz="1800">
                          <a:solidFill>
                            <a:schemeClr val="dk1"/>
                          </a:solidFill>
                          <a:latin typeface="Kalam"/>
                          <a:ea typeface="Kalam"/>
                          <a:cs typeface="Kalam"/>
                          <a:sym typeface="Kalam"/>
                        </a:rPr>
                        <a:t>°</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Tuesday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35</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105</a:t>
                      </a:r>
                      <a:r>
                        <a:rPr lang="en-GB" sz="1800">
                          <a:solidFill>
                            <a:schemeClr val="dk1"/>
                          </a:solidFill>
                          <a:latin typeface="Kalam"/>
                          <a:ea typeface="Kalam"/>
                          <a:cs typeface="Kalam"/>
                          <a:sym typeface="Kalam"/>
                        </a:rPr>
                        <a:t>°</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Wednesday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52</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156</a:t>
                      </a:r>
                      <a:r>
                        <a:rPr lang="en-GB" sz="1800">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Thursday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18</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Lexend"/>
                          <a:ea typeface="Lexend"/>
                          <a:cs typeface="Lexend"/>
                          <a:sym typeface="Lexend"/>
                        </a:rPr>
                        <a:t>54</a:t>
                      </a:r>
                      <a:r>
                        <a:rPr lang="en-GB" sz="1800">
                          <a:latin typeface="Lexend"/>
                          <a:ea typeface="Lexend"/>
                          <a:cs typeface="Lexend"/>
                          <a:sym typeface="Lexend"/>
                        </a:rPr>
                        <a:t>°</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rtl="0" algn="l">
                        <a:spcBef>
                          <a:spcPts val="0"/>
                        </a:spcBef>
                        <a:spcAft>
                          <a:spcPts val="0"/>
                        </a:spcAft>
                        <a:buNone/>
                      </a:pPr>
                      <a:r>
                        <a:rPr lang="en-GB" sz="1800">
                          <a:latin typeface="Lexend"/>
                          <a:ea typeface="Lexend"/>
                          <a:cs typeface="Lexend"/>
                          <a:sym typeface="Lexend"/>
                        </a:rPr>
                        <a:t>Friday</a:t>
                      </a:r>
                      <a:endParaRPr sz="18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10</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2000">
                          <a:latin typeface="Kalam"/>
                          <a:ea typeface="Kalam"/>
                          <a:cs typeface="Kalam"/>
                          <a:sym typeface="Kalam"/>
                        </a:rPr>
                        <a:t>30</a:t>
                      </a:r>
                      <a:r>
                        <a:rPr lang="en-GB" sz="1800">
                          <a:solidFill>
                            <a:schemeClr val="dk1"/>
                          </a:solidFill>
                          <a:latin typeface="Kalam"/>
                          <a:ea typeface="Kalam"/>
                          <a:cs typeface="Kalam"/>
                          <a:sym typeface="Kalam"/>
                        </a:rPr>
                        <a:t>°</a:t>
                      </a:r>
                      <a:endParaRPr sz="20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4631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pic>
        <p:nvPicPr>
          <p:cNvPr id="1156" name="Google Shape;1156;p88"/>
          <p:cNvPicPr preferRelativeResize="0"/>
          <p:nvPr/>
        </p:nvPicPr>
        <p:blipFill rotWithShape="1">
          <a:blip r:embed="rId3">
            <a:alphaModFix/>
          </a:blip>
          <a:srcRect b="12000" l="10505" r="10505" t="5409"/>
          <a:stretch/>
        </p:blipFill>
        <p:spPr>
          <a:xfrm>
            <a:off x="5884000" y="1508875"/>
            <a:ext cx="2936050" cy="3311525"/>
          </a:xfrm>
          <a:prstGeom prst="rect">
            <a:avLst/>
          </a:prstGeom>
          <a:noFill/>
          <a:ln>
            <a:noFill/>
          </a:ln>
        </p:spPr>
      </p:pic>
      <p:sp>
        <p:nvSpPr>
          <p:cNvPr id="1157" name="Google Shape;1157;p88"/>
          <p:cNvSpPr txBox="1"/>
          <p:nvPr>
            <p:ph idx="1" type="body"/>
          </p:nvPr>
        </p:nvSpPr>
        <p:spPr>
          <a:xfrm>
            <a:off x="3495050" y="759300"/>
            <a:ext cx="5325000" cy="340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The pie chart shows the suggested days of the week the fair could be run on.</a:t>
            </a:r>
            <a:br>
              <a:rPr lang="en-GB" sz="1800"/>
            </a:br>
            <a:r>
              <a:rPr lang="en-GB" sz="1800"/>
              <a:t>Compl</a:t>
            </a:r>
            <a:r>
              <a:rPr lang="en-GB" sz="1800"/>
              <a:t>ete the table by:</a:t>
            </a:r>
            <a:endParaRPr sz="1800"/>
          </a:p>
          <a:p>
            <a:pPr indent="0" lvl="0" marL="0" rtl="0" algn="l">
              <a:spcBef>
                <a:spcPts val="1000"/>
              </a:spcBef>
              <a:spcAft>
                <a:spcPts val="0"/>
              </a:spcAft>
              <a:buNone/>
            </a:pPr>
            <a:r>
              <a:rPr lang="en-GB" sz="1800"/>
              <a:t>a) measuring all missing                                                  angles,</a:t>
            </a:r>
            <a:endParaRPr sz="1800"/>
          </a:p>
          <a:p>
            <a:pPr indent="0" lvl="0" marL="0" rtl="0" algn="l">
              <a:spcBef>
                <a:spcPts val="1000"/>
              </a:spcBef>
              <a:spcAft>
                <a:spcPts val="1000"/>
              </a:spcAft>
              <a:buNone/>
            </a:pPr>
            <a:r>
              <a:rPr lang="en-GB" sz="1800"/>
              <a:t>b) calculating all                                                            missing frequencies. </a:t>
            </a:r>
            <a:r>
              <a:rPr lang="en-GB" sz="1800"/>
              <a:t>                                                         </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pic>
        <p:nvPicPr>
          <p:cNvPr id="1162" name="Google Shape;1162;p89"/>
          <p:cNvPicPr preferRelativeResize="0"/>
          <p:nvPr/>
        </p:nvPicPr>
        <p:blipFill rotWithShape="1">
          <a:blip r:embed="rId3">
            <a:alphaModFix/>
          </a:blip>
          <a:srcRect b="9877" l="9885" r="9877" t="9885"/>
          <a:stretch/>
        </p:blipFill>
        <p:spPr>
          <a:xfrm>
            <a:off x="3504563" y="2550251"/>
            <a:ext cx="2064075" cy="2222075"/>
          </a:xfrm>
          <a:prstGeom prst="rect">
            <a:avLst/>
          </a:prstGeom>
          <a:noFill/>
          <a:ln>
            <a:noFill/>
          </a:ln>
        </p:spPr>
      </p:pic>
      <p:sp>
        <p:nvSpPr>
          <p:cNvPr id="1163" name="Google Shape;1163;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Calculating frequencies from the size of a sector</a:t>
            </a:r>
            <a:endParaRPr sz="1800"/>
          </a:p>
        </p:txBody>
      </p:sp>
      <p:graphicFrame>
        <p:nvGraphicFramePr>
          <p:cNvPr id="1164" name="Google Shape;1164;p89"/>
          <p:cNvGraphicFramePr/>
          <p:nvPr/>
        </p:nvGraphicFramePr>
        <p:xfrm>
          <a:off x="349094" y="1169977"/>
          <a:ext cx="3000000" cy="3000000"/>
        </p:xfrm>
        <a:graphic>
          <a:graphicData uri="http://schemas.openxmlformats.org/drawingml/2006/table">
            <a:tbl>
              <a:tblPr bandRow="1" firstRow="1">
                <a:noFill/>
                <a:tableStyleId>{6B1D2025-0711-4614-9E20-ACEAB21110A9}</a:tableStyleId>
              </a:tblPr>
              <a:tblGrid>
                <a:gridCol w="1095675"/>
                <a:gridCol w="609150"/>
                <a:gridCol w="833250"/>
              </a:tblGrid>
              <a:tr h="280350">
                <a:tc>
                  <a:txBody>
                    <a:bodyPr/>
                    <a:lstStyle/>
                    <a:p>
                      <a:pPr indent="0" lvl="0" marL="0" marR="0" rtl="0" algn="l">
                        <a:lnSpc>
                          <a:spcPct val="100000"/>
                        </a:lnSpc>
                        <a:spcBef>
                          <a:spcPts val="0"/>
                        </a:spcBef>
                        <a:spcAft>
                          <a:spcPts val="0"/>
                        </a:spcAft>
                        <a:buClr>
                          <a:srgbClr val="000000"/>
                        </a:buClr>
                        <a:buSzPts val="1800"/>
                        <a:buFont typeface="Arial"/>
                        <a:buNone/>
                      </a:pPr>
                      <a:r>
                        <a:rPr b="0" lang="en-GB" sz="1600">
                          <a:latin typeface="Lexend"/>
                          <a:ea typeface="Lexend"/>
                          <a:cs typeface="Lexend"/>
                          <a:sym typeface="Lexend"/>
                        </a:rPr>
                        <a:t>colour</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freq</a:t>
                      </a:r>
                      <a:r>
                        <a:rPr b="0" lang="en-GB" sz="1600">
                          <a:latin typeface="Lexend"/>
                          <a:ea typeface="Lexend"/>
                          <a:cs typeface="Lexend"/>
                          <a:sym typeface="Lexend"/>
                        </a:rPr>
                        <a:t>.</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angles</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purple</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41</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205</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green</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23</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115</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blue</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8</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40</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r">
                        <a:spcBef>
                          <a:spcPts val="0"/>
                        </a:spcBef>
                        <a:spcAft>
                          <a:spcPts val="0"/>
                        </a:spcAft>
                        <a:buClr>
                          <a:schemeClr val="dk1"/>
                        </a:buClr>
                        <a:buSzPts val="1100"/>
                        <a:buFont typeface="Arial"/>
                        <a:buNone/>
                      </a:pPr>
                      <a:r>
                        <a:rPr lang="en-GB" sz="1600">
                          <a:solidFill>
                            <a:schemeClr val="dk1"/>
                          </a:solidFill>
                          <a:latin typeface="Lexend"/>
                          <a:ea typeface="Lexend"/>
                          <a:cs typeface="Lexend"/>
                          <a:sym typeface="Lexend"/>
                        </a:rPr>
                        <a:t>total</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72</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Kalam"/>
                          <a:ea typeface="Kalam"/>
                          <a:cs typeface="Kalam"/>
                          <a:sym typeface="Kalam"/>
                        </a:rPr>
                        <a:t>360</a:t>
                      </a:r>
                      <a:r>
                        <a:rPr lang="en-GB" sz="1800">
                          <a:solidFill>
                            <a:schemeClr val="dk1"/>
                          </a:solidFill>
                          <a:latin typeface="Kalam"/>
                          <a:ea typeface="Kalam"/>
                          <a:cs typeface="Kalam"/>
                          <a:sym typeface="Kalam"/>
                        </a:rPr>
                        <a:t>°</a:t>
                      </a:r>
                      <a:endParaRPr sz="16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pic>
        <p:nvPicPr>
          <p:cNvPr id="1165" name="Google Shape;1165;p89"/>
          <p:cNvPicPr preferRelativeResize="0"/>
          <p:nvPr/>
        </p:nvPicPr>
        <p:blipFill rotWithShape="1">
          <a:blip r:embed="rId4">
            <a:alphaModFix/>
          </a:blip>
          <a:srcRect b="9903" l="9903" r="9903" t="9903"/>
          <a:stretch/>
        </p:blipFill>
        <p:spPr>
          <a:xfrm>
            <a:off x="577848" y="2609325"/>
            <a:ext cx="2080575" cy="2103950"/>
          </a:xfrm>
          <a:prstGeom prst="rect">
            <a:avLst/>
          </a:prstGeom>
          <a:noFill/>
          <a:ln>
            <a:noFill/>
          </a:ln>
        </p:spPr>
      </p:pic>
      <p:graphicFrame>
        <p:nvGraphicFramePr>
          <p:cNvPr id="1166" name="Google Shape;1166;p89"/>
          <p:cNvGraphicFramePr/>
          <p:nvPr/>
        </p:nvGraphicFramePr>
        <p:xfrm>
          <a:off x="3267569" y="1169977"/>
          <a:ext cx="3000000" cy="3000000"/>
        </p:xfrm>
        <a:graphic>
          <a:graphicData uri="http://schemas.openxmlformats.org/drawingml/2006/table">
            <a:tbl>
              <a:tblPr bandRow="1" firstRow="1">
                <a:noFill/>
                <a:tableStyleId>{6B1D2025-0711-4614-9E20-ACEAB21110A9}</a:tableStyleId>
              </a:tblPr>
              <a:tblGrid>
                <a:gridCol w="1095675"/>
                <a:gridCol w="609150"/>
                <a:gridCol w="833250"/>
              </a:tblGrid>
              <a:tr h="280350">
                <a:tc>
                  <a:txBody>
                    <a:bodyPr/>
                    <a:lstStyle/>
                    <a:p>
                      <a:pPr indent="0" lvl="0" marL="0" marR="0" rtl="0" algn="l">
                        <a:lnSpc>
                          <a:spcPct val="100000"/>
                        </a:lnSpc>
                        <a:spcBef>
                          <a:spcPts val="0"/>
                        </a:spcBef>
                        <a:spcAft>
                          <a:spcPts val="0"/>
                        </a:spcAft>
                        <a:buClr>
                          <a:srgbClr val="000000"/>
                        </a:buClr>
                        <a:buSzPts val="1800"/>
                        <a:buFont typeface="Arial"/>
                        <a:buNone/>
                      </a:pPr>
                      <a:r>
                        <a:rPr b="0" lang="en-GB" sz="1600">
                          <a:latin typeface="Lexend"/>
                          <a:ea typeface="Lexend"/>
                          <a:cs typeface="Lexend"/>
                          <a:sym typeface="Lexend"/>
                        </a:rPr>
                        <a:t>vehicle</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freq</a:t>
                      </a:r>
                      <a:r>
                        <a:rPr b="0" lang="en-GB" sz="1600">
                          <a:latin typeface="Lexend"/>
                          <a:ea typeface="Lexend"/>
                          <a:cs typeface="Lexend"/>
                          <a:sym typeface="Lexend"/>
                        </a:rPr>
                        <a:t>.</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angles</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car</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13</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195</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bike</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7</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105</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bus</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4</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60</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r">
                        <a:spcBef>
                          <a:spcPts val="0"/>
                        </a:spcBef>
                        <a:spcAft>
                          <a:spcPts val="0"/>
                        </a:spcAft>
                        <a:buClr>
                          <a:schemeClr val="dk1"/>
                        </a:buClr>
                        <a:buSzPts val="1100"/>
                        <a:buFont typeface="Arial"/>
                        <a:buNone/>
                      </a:pPr>
                      <a:r>
                        <a:rPr lang="en-GB" sz="1600">
                          <a:solidFill>
                            <a:schemeClr val="dk1"/>
                          </a:solidFill>
                          <a:latin typeface="Lexend"/>
                          <a:ea typeface="Lexend"/>
                          <a:cs typeface="Lexend"/>
                          <a:sym typeface="Lexend"/>
                        </a:rPr>
                        <a:t>total</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24</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Kalam"/>
                          <a:ea typeface="Kalam"/>
                          <a:cs typeface="Kalam"/>
                          <a:sym typeface="Kalam"/>
                        </a:rPr>
                        <a:t>360</a:t>
                      </a:r>
                      <a:r>
                        <a:rPr lang="en-GB" sz="1800">
                          <a:solidFill>
                            <a:schemeClr val="dk1"/>
                          </a:solidFill>
                          <a:latin typeface="Kalam"/>
                          <a:ea typeface="Kalam"/>
                          <a:cs typeface="Kalam"/>
                          <a:sym typeface="Kalam"/>
                        </a:rPr>
                        <a:t>°</a:t>
                      </a:r>
                      <a:endParaRPr sz="16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graphicFrame>
        <p:nvGraphicFramePr>
          <p:cNvPr id="1167" name="Google Shape;1167;p89"/>
          <p:cNvGraphicFramePr/>
          <p:nvPr/>
        </p:nvGraphicFramePr>
        <p:xfrm>
          <a:off x="6186057" y="1169977"/>
          <a:ext cx="3000000" cy="3000000"/>
        </p:xfrm>
        <a:graphic>
          <a:graphicData uri="http://schemas.openxmlformats.org/drawingml/2006/table">
            <a:tbl>
              <a:tblPr bandRow="1" firstRow="1">
                <a:noFill/>
                <a:tableStyleId>{6B1D2025-0711-4614-9E20-ACEAB21110A9}</a:tableStyleId>
              </a:tblPr>
              <a:tblGrid>
                <a:gridCol w="1130500"/>
                <a:gridCol w="628500"/>
                <a:gridCol w="859725"/>
              </a:tblGrid>
              <a:tr h="280350">
                <a:tc>
                  <a:txBody>
                    <a:bodyPr/>
                    <a:lstStyle/>
                    <a:p>
                      <a:pPr indent="0" lvl="0" marL="0" marR="0" rtl="0" algn="l">
                        <a:lnSpc>
                          <a:spcPct val="100000"/>
                        </a:lnSpc>
                        <a:spcBef>
                          <a:spcPts val="0"/>
                        </a:spcBef>
                        <a:spcAft>
                          <a:spcPts val="0"/>
                        </a:spcAft>
                        <a:buClr>
                          <a:srgbClr val="000000"/>
                        </a:buClr>
                        <a:buSzPts val="1800"/>
                        <a:buFont typeface="Arial"/>
                        <a:buNone/>
                      </a:pPr>
                      <a:r>
                        <a:rPr b="0" lang="en-GB" sz="1600">
                          <a:latin typeface="Lexend"/>
                          <a:ea typeface="Lexend"/>
                          <a:cs typeface="Lexend"/>
                          <a:sym typeface="Lexend"/>
                        </a:rPr>
                        <a:t>vote</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freq</a:t>
                      </a:r>
                      <a:r>
                        <a:rPr b="0" lang="en-GB" sz="1600">
                          <a:latin typeface="Lexend"/>
                          <a:ea typeface="Lexend"/>
                          <a:cs typeface="Lexend"/>
                          <a:sym typeface="Lexend"/>
                        </a:rPr>
                        <a:t>.</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lang="en-GB" sz="1600" u="none" cap="none" strike="noStrike">
                          <a:latin typeface="Lexend"/>
                          <a:ea typeface="Lexend"/>
                          <a:cs typeface="Lexend"/>
                          <a:sym typeface="Lexend"/>
                        </a:rPr>
                        <a:t>angles</a:t>
                      </a:r>
                      <a:endParaRPr b="0" sz="1600" u="none" cap="none" strike="noStrike">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4"/>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yes</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165</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198</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no</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Lexend"/>
                          <a:ea typeface="Lexend"/>
                          <a:cs typeface="Lexend"/>
                          <a:sym typeface="Lexend"/>
                        </a:rPr>
                        <a:t>75</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90</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l">
                        <a:spcBef>
                          <a:spcPts val="0"/>
                        </a:spcBef>
                        <a:spcAft>
                          <a:spcPts val="0"/>
                        </a:spcAft>
                        <a:buNone/>
                      </a:pPr>
                      <a:r>
                        <a:rPr lang="en-GB" sz="1600">
                          <a:latin typeface="Lexend"/>
                          <a:ea typeface="Lexend"/>
                          <a:cs typeface="Lexend"/>
                          <a:sym typeface="Lexend"/>
                        </a:rPr>
                        <a:t>undecided</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60</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72</a:t>
                      </a:r>
                      <a:r>
                        <a:rPr lang="en-GB" sz="1800">
                          <a:solidFill>
                            <a:schemeClr val="dk1"/>
                          </a:solidFill>
                          <a:latin typeface="Kalam"/>
                          <a:ea typeface="Kalam"/>
                          <a:cs typeface="Kalam"/>
                          <a:sym typeface="Kalam"/>
                        </a:rPr>
                        <a:t>°</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r h="280350">
                <a:tc>
                  <a:txBody>
                    <a:bodyPr/>
                    <a:lstStyle/>
                    <a:p>
                      <a:pPr indent="0" lvl="0" marL="0" rtl="0" algn="r">
                        <a:spcBef>
                          <a:spcPts val="0"/>
                        </a:spcBef>
                        <a:spcAft>
                          <a:spcPts val="0"/>
                        </a:spcAft>
                        <a:buClr>
                          <a:schemeClr val="dk1"/>
                        </a:buClr>
                        <a:buSzPts val="1100"/>
                        <a:buFont typeface="Arial"/>
                        <a:buNone/>
                      </a:pPr>
                      <a:r>
                        <a:rPr lang="en-GB" sz="1600">
                          <a:solidFill>
                            <a:schemeClr val="dk1"/>
                          </a:solidFill>
                          <a:latin typeface="Lexend"/>
                          <a:ea typeface="Lexend"/>
                          <a:cs typeface="Lexend"/>
                          <a:sym typeface="Lexend"/>
                        </a:rPr>
                        <a:t>total</a:t>
                      </a:r>
                      <a:endParaRPr sz="1600">
                        <a:latin typeface="Lexend"/>
                        <a:ea typeface="Lexend"/>
                        <a:cs typeface="Lexend"/>
                        <a:sym typeface="Lexend"/>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800">
                          <a:latin typeface="Kalam"/>
                          <a:ea typeface="Kalam"/>
                          <a:cs typeface="Kalam"/>
                          <a:sym typeface="Kalam"/>
                        </a:rPr>
                        <a:t>300</a:t>
                      </a:r>
                      <a:endParaRPr sz="18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c>
                  <a:txBody>
                    <a:bodyPr/>
                    <a:lstStyle/>
                    <a:p>
                      <a:pPr indent="0" lvl="0" marL="0" rtl="0" algn="ctr">
                        <a:spcBef>
                          <a:spcPts val="0"/>
                        </a:spcBef>
                        <a:spcAft>
                          <a:spcPts val="0"/>
                        </a:spcAft>
                        <a:buNone/>
                      </a:pPr>
                      <a:r>
                        <a:rPr lang="en-GB" sz="1600">
                          <a:latin typeface="Kalam"/>
                          <a:ea typeface="Kalam"/>
                          <a:cs typeface="Kalam"/>
                          <a:sym typeface="Kalam"/>
                        </a:rPr>
                        <a:t>360</a:t>
                      </a:r>
                      <a:r>
                        <a:rPr lang="en-GB" sz="1800">
                          <a:solidFill>
                            <a:schemeClr val="dk1"/>
                          </a:solidFill>
                          <a:latin typeface="Kalam"/>
                          <a:ea typeface="Kalam"/>
                          <a:cs typeface="Kalam"/>
                          <a:sym typeface="Kalam"/>
                        </a:rPr>
                        <a:t>°</a:t>
                      </a:r>
                      <a:endParaRPr sz="1600">
                        <a:latin typeface="Kalam"/>
                        <a:ea typeface="Kalam"/>
                        <a:cs typeface="Kalam"/>
                        <a:sym typeface="Kalam"/>
                      </a:endParaRPr>
                    </a:p>
                  </a:txBody>
                  <a:tcPr marT="0" marB="0" marR="36000" marL="36000" anchor="ctr">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F3EEFB"/>
                    </a:solidFill>
                  </a:tcPr>
                </a:tc>
              </a:tr>
            </a:tbl>
          </a:graphicData>
        </a:graphic>
      </p:graphicFrame>
      <p:pic>
        <p:nvPicPr>
          <p:cNvPr id="1168" name="Google Shape;1168;p89"/>
          <p:cNvPicPr preferRelativeResize="0"/>
          <p:nvPr/>
        </p:nvPicPr>
        <p:blipFill>
          <a:blip r:embed="rId5">
            <a:alphaModFix/>
          </a:blip>
          <a:stretch>
            <a:fillRect/>
          </a:stretch>
        </p:blipFill>
        <p:spPr>
          <a:xfrm>
            <a:off x="6224838" y="2364825"/>
            <a:ext cx="2541150" cy="2592949"/>
          </a:xfrm>
          <a:prstGeom prst="rect">
            <a:avLst/>
          </a:prstGeom>
          <a:noFill/>
          <a:ln>
            <a:noFill/>
          </a:ln>
        </p:spPr>
      </p:pic>
      <p:sp>
        <p:nvSpPr>
          <p:cNvPr id="1169" name="Google Shape;1169;p89"/>
          <p:cNvSpPr/>
          <p:nvPr/>
        </p:nvSpPr>
        <p:spPr>
          <a:xfrm rot="-4324873">
            <a:off x="7260115" y="3622931"/>
            <a:ext cx="210616" cy="210616"/>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0" name="Google Shape;1170;p89"/>
          <p:cNvSpPr txBox="1"/>
          <p:nvPr>
            <p:ph idx="1" type="body"/>
          </p:nvPr>
        </p:nvSpPr>
        <p:spPr>
          <a:xfrm>
            <a:off x="324000" y="759300"/>
            <a:ext cx="8496000" cy="170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 Fill in all missing information for each table.</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4" name="Shape 1174"/>
        <p:cNvGrpSpPr/>
        <p:nvPr/>
      </p:nvGrpSpPr>
      <p:grpSpPr>
        <a:xfrm>
          <a:off x="0" y="0"/>
          <a:ext cx="0" cy="0"/>
          <a:chOff x="0" y="0"/>
          <a:chExt cx="0" cy="0"/>
        </a:xfrm>
      </p:grpSpPr>
      <p:sp>
        <p:nvSpPr>
          <p:cNvPr id="1175" name="Google Shape;1175;p9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frequencies from the size of a sector</a:t>
            </a:r>
            <a:endParaRPr/>
          </a:p>
        </p:txBody>
      </p:sp>
      <p:sp>
        <p:nvSpPr>
          <p:cNvPr id="1176" name="Google Shape;1176;p9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pie charts</a:t>
            </a:r>
            <a:endParaRPr/>
          </a:p>
        </p:txBody>
      </p:sp>
      <p:sp>
        <p:nvSpPr>
          <p:cNvPr id="1177" name="Google Shape;1177;p9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Interpreting pie charts</a:t>
            </a:r>
            <a:endParaRPr/>
          </a:p>
        </p:txBody>
      </p:sp>
      <p:pic>
        <p:nvPicPr>
          <p:cNvPr id="1178" name="Google Shape;1178;p90"/>
          <p:cNvPicPr preferRelativeResize="0"/>
          <p:nvPr/>
        </p:nvPicPr>
        <p:blipFill>
          <a:blip r:embed="rId3">
            <a:alphaModFix/>
          </a:blip>
          <a:stretch>
            <a:fillRect/>
          </a:stretch>
        </p:blipFill>
        <p:spPr>
          <a:xfrm>
            <a:off x="408319" y="2988381"/>
            <a:ext cx="450575" cy="446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91"/>
          <p:cNvSpPr txBox="1"/>
          <p:nvPr>
            <p:ph idx="1" type="body"/>
          </p:nvPr>
        </p:nvSpPr>
        <p:spPr>
          <a:xfrm>
            <a:off x="324000" y="683100"/>
            <a:ext cx="8681700" cy="53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Two schools were asked how many of their students walk to school.</a:t>
            </a:r>
            <a:endParaRPr sz="1800"/>
          </a:p>
          <a:p>
            <a:pPr indent="0" lvl="0" marL="0" rtl="0" algn="l">
              <a:spcBef>
                <a:spcPts val="1000"/>
              </a:spcBef>
              <a:spcAft>
                <a:spcPts val="1000"/>
              </a:spcAft>
              <a:buNone/>
            </a:pPr>
            <a:r>
              <a:rPr lang="en-GB" sz="1800"/>
              <a:t>Here are the results represented as pie charts. </a:t>
            </a:r>
            <a:r>
              <a:rPr lang="en-GB" sz="1800"/>
              <a:t>In which school did more students walk to school?</a:t>
            </a:r>
            <a:endParaRPr sz="1800"/>
          </a:p>
        </p:txBody>
      </p:sp>
      <p:sp>
        <p:nvSpPr>
          <p:cNvPr id="1184" name="Google Shape;1184;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pie charts</a:t>
            </a:r>
            <a:endParaRPr/>
          </a:p>
        </p:txBody>
      </p:sp>
      <p:pic>
        <p:nvPicPr>
          <p:cNvPr id="1185" name="Google Shape;1185;p91"/>
          <p:cNvPicPr preferRelativeResize="0"/>
          <p:nvPr/>
        </p:nvPicPr>
        <p:blipFill>
          <a:blip r:embed="rId3">
            <a:alphaModFix/>
          </a:blip>
          <a:stretch>
            <a:fillRect/>
          </a:stretch>
        </p:blipFill>
        <p:spPr>
          <a:xfrm>
            <a:off x="324000" y="2140473"/>
            <a:ext cx="4705525" cy="2622575"/>
          </a:xfrm>
          <a:prstGeom prst="rect">
            <a:avLst/>
          </a:prstGeom>
          <a:noFill/>
          <a:ln cap="flat" cmpd="sng" w="28575">
            <a:solidFill>
              <a:schemeClr val="dk1"/>
            </a:solidFill>
            <a:prstDash val="solid"/>
            <a:round/>
            <a:headEnd len="sm" w="sm" type="none"/>
            <a:tailEnd len="sm" w="sm" type="none"/>
          </a:ln>
        </p:spPr>
      </p:pic>
      <p:sp>
        <p:nvSpPr>
          <p:cNvPr id="1186" name="Google Shape;1186;p91"/>
          <p:cNvSpPr txBox="1"/>
          <p:nvPr>
            <p:ph idx="1" type="body"/>
          </p:nvPr>
        </p:nvSpPr>
        <p:spPr>
          <a:xfrm>
            <a:off x="448800" y="2805107"/>
            <a:ext cx="420300" cy="2565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50</a:t>
            </a:r>
            <a:endParaRPr sz="1800"/>
          </a:p>
        </p:txBody>
      </p:sp>
      <p:sp>
        <p:nvSpPr>
          <p:cNvPr id="1187" name="Google Shape;1187;p91"/>
          <p:cNvSpPr txBox="1"/>
          <p:nvPr>
            <p:ph idx="1" type="body"/>
          </p:nvPr>
        </p:nvSpPr>
        <p:spPr>
          <a:xfrm>
            <a:off x="1595750" y="3980557"/>
            <a:ext cx="420300" cy="2565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1</a:t>
            </a:r>
            <a:r>
              <a:rPr lang="en-GB" sz="1800"/>
              <a:t>50</a:t>
            </a:r>
            <a:endParaRPr sz="1800"/>
          </a:p>
        </p:txBody>
      </p:sp>
      <p:sp>
        <p:nvSpPr>
          <p:cNvPr id="1188" name="Google Shape;1188;p91"/>
          <p:cNvSpPr txBox="1"/>
          <p:nvPr>
            <p:ph idx="1" type="body"/>
          </p:nvPr>
        </p:nvSpPr>
        <p:spPr>
          <a:xfrm>
            <a:off x="3212875" y="3503257"/>
            <a:ext cx="420300" cy="2565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400</a:t>
            </a:r>
            <a:endParaRPr sz="1800"/>
          </a:p>
        </p:txBody>
      </p:sp>
      <p:sp>
        <p:nvSpPr>
          <p:cNvPr id="1189" name="Google Shape;1189;p91"/>
          <p:cNvSpPr txBox="1"/>
          <p:nvPr>
            <p:ph idx="1" type="body"/>
          </p:nvPr>
        </p:nvSpPr>
        <p:spPr>
          <a:xfrm>
            <a:off x="4056450" y="2990332"/>
            <a:ext cx="420300" cy="2565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2</a:t>
            </a:r>
            <a:r>
              <a:rPr lang="en-GB" sz="1800"/>
              <a:t>00</a:t>
            </a:r>
            <a:endParaRPr sz="1800"/>
          </a:p>
        </p:txBody>
      </p:sp>
      <p:sp>
        <p:nvSpPr>
          <p:cNvPr id="1190" name="Google Shape;1190;p91"/>
          <p:cNvSpPr txBox="1"/>
          <p:nvPr>
            <p:ph idx="1" type="body"/>
          </p:nvPr>
        </p:nvSpPr>
        <p:spPr>
          <a:xfrm>
            <a:off x="5220123" y="1545750"/>
            <a:ext cx="36714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Whilst a greater proportion of students in School A walked, compared to School B,</a:t>
            </a:r>
            <a:endParaRPr sz="1800">
              <a:latin typeface="Kalam"/>
              <a:ea typeface="Kalam"/>
              <a:cs typeface="Kalam"/>
              <a:sym typeface="Kalam"/>
            </a:endParaRPr>
          </a:p>
        </p:txBody>
      </p:sp>
      <p:sp>
        <p:nvSpPr>
          <p:cNvPr id="1191" name="Google Shape;1191;p91"/>
          <p:cNvSpPr txBox="1"/>
          <p:nvPr>
            <p:ph idx="1" type="body"/>
          </p:nvPr>
        </p:nvSpPr>
        <p:spPr>
          <a:xfrm>
            <a:off x="5293509" y="2571743"/>
            <a:ext cx="37122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more students in School B walked because School B had significantly more students.</a:t>
            </a:r>
            <a:endParaRPr sz="1800">
              <a:latin typeface="Kalam"/>
              <a:ea typeface="Kalam"/>
              <a:cs typeface="Kalam"/>
              <a:sym typeface="Kalam"/>
            </a:endParaRPr>
          </a:p>
        </p:txBody>
      </p:sp>
      <p:sp>
        <p:nvSpPr>
          <p:cNvPr id="1192" name="Google Shape;1192;p91"/>
          <p:cNvSpPr txBox="1"/>
          <p:nvPr>
            <p:ph idx="1" type="body"/>
          </p:nvPr>
        </p:nvSpPr>
        <p:spPr>
          <a:xfrm>
            <a:off x="5293504" y="3569950"/>
            <a:ext cx="3712200" cy="9144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sz="1800">
                <a:latin typeface="Kalam"/>
                <a:ea typeface="Kalam"/>
                <a:cs typeface="Kalam"/>
                <a:sym typeface="Kalam"/>
              </a:rPr>
              <a:t>The size of School B was more significant than the lower proportion of students who walked represented.</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92"/>
          <p:cNvSpPr txBox="1"/>
          <p:nvPr>
            <p:ph idx="1" type="subTitle"/>
          </p:nvPr>
        </p:nvSpPr>
        <p:spPr>
          <a:xfrm>
            <a:off x="324000" y="1080000"/>
            <a:ext cx="8496000" cy="2505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If two pie charts both have a sector with the same angle, then they always represent the same frequency.</a:t>
            </a:r>
            <a:endParaRPr/>
          </a:p>
        </p:txBody>
      </p:sp>
      <p:sp>
        <p:nvSpPr>
          <p:cNvPr id="1198" name="Google Shape;1198;p9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Because the angle doesn’t represent the frequency</a:t>
            </a:r>
            <a:endParaRPr/>
          </a:p>
        </p:txBody>
      </p:sp>
      <p:sp>
        <p:nvSpPr>
          <p:cNvPr id="1199" name="Google Shape;1199;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pie charts</a:t>
            </a:r>
            <a:endParaRPr/>
          </a:p>
        </p:txBody>
      </p:sp>
      <p:sp>
        <p:nvSpPr>
          <p:cNvPr id="1200" name="Google Shape;1200;p92"/>
          <p:cNvSpPr txBox="1"/>
          <p:nvPr>
            <p:ph idx="3" type="subTitle"/>
          </p:nvPr>
        </p:nvSpPr>
        <p:spPr>
          <a:xfrm>
            <a:off x="980575" y="4040347"/>
            <a:ext cx="7452600" cy="250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Because one pie chart may represent a larger dataset</a:t>
            </a:r>
            <a:endParaRPr/>
          </a:p>
        </p:txBody>
      </p:sp>
      <p:pic>
        <p:nvPicPr>
          <p:cNvPr id="1201" name="Google Shape;1201;p92"/>
          <p:cNvPicPr preferRelativeResize="0"/>
          <p:nvPr/>
        </p:nvPicPr>
        <p:blipFill>
          <a:blip r:embed="rId3">
            <a:alphaModFix/>
          </a:blip>
          <a:stretch>
            <a:fillRect/>
          </a:stretch>
        </p:blipFill>
        <p:spPr>
          <a:xfrm>
            <a:off x="6256808" y="1797000"/>
            <a:ext cx="396000" cy="419100"/>
          </a:xfrm>
          <a:prstGeom prst="rect">
            <a:avLst/>
          </a:prstGeom>
          <a:noFill/>
          <a:ln>
            <a:noFill/>
          </a:ln>
        </p:spPr>
      </p:pic>
      <p:pic>
        <p:nvPicPr>
          <p:cNvPr id="1202" name="Google Shape;1202;p92"/>
          <p:cNvPicPr preferRelativeResize="0"/>
          <p:nvPr/>
        </p:nvPicPr>
        <p:blipFill>
          <a:blip r:embed="rId3">
            <a:alphaModFix/>
          </a:blip>
          <a:stretch>
            <a:fillRect/>
          </a:stretch>
        </p:blipFill>
        <p:spPr>
          <a:xfrm>
            <a:off x="8322754" y="3976928"/>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93"/>
          <p:cNvSpPr txBox="1"/>
          <p:nvPr>
            <p:ph idx="1" type="body"/>
          </p:nvPr>
        </p:nvSpPr>
        <p:spPr>
          <a:xfrm>
            <a:off x="324000" y="2547072"/>
            <a:ext cx="2563200" cy="39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“Do you live more than 5 km away from school?”</a:t>
            </a:r>
            <a:endParaRPr sz="1800"/>
          </a:p>
        </p:txBody>
      </p:sp>
      <p:sp>
        <p:nvSpPr>
          <p:cNvPr id="1208" name="Google Shape;1208;p93"/>
          <p:cNvSpPr txBox="1"/>
          <p:nvPr>
            <p:ph idx="1" type="body"/>
          </p:nvPr>
        </p:nvSpPr>
        <p:spPr>
          <a:xfrm>
            <a:off x="324000" y="683100"/>
            <a:ext cx="2697900" cy="39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Students who walked to school and students who didn’t walk to school were asked at the school gates:</a:t>
            </a:r>
            <a:endParaRPr sz="1800"/>
          </a:p>
        </p:txBody>
      </p:sp>
      <p:sp>
        <p:nvSpPr>
          <p:cNvPr id="1209" name="Google Shape;1209;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pie charts</a:t>
            </a:r>
            <a:endParaRPr/>
          </a:p>
        </p:txBody>
      </p:sp>
      <p:pic>
        <p:nvPicPr>
          <p:cNvPr id="1210" name="Google Shape;1210;p93"/>
          <p:cNvPicPr preferRelativeResize="0"/>
          <p:nvPr/>
        </p:nvPicPr>
        <p:blipFill rotWithShape="1">
          <a:blip r:embed="rId3">
            <a:alphaModFix/>
          </a:blip>
          <a:srcRect b="9104" l="0" r="0" t="9096"/>
          <a:stretch/>
        </p:blipFill>
        <p:spPr>
          <a:xfrm>
            <a:off x="2986050" y="1088212"/>
            <a:ext cx="5798225" cy="2787813"/>
          </a:xfrm>
          <a:prstGeom prst="rect">
            <a:avLst/>
          </a:prstGeom>
          <a:noFill/>
          <a:ln cap="flat" cmpd="sng" w="28575">
            <a:solidFill>
              <a:schemeClr val="dk1"/>
            </a:solidFill>
            <a:prstDash val="solid"/>
            <a:round/>
            <a:headEnd len="sm" w="sm" type="none"/>
            <a:tailEnd len="sm" w="sm" type="none"/>
          </a:ln>
        </p:spPr>
      </p:pic>
      <p:sp>
        <p:nvSpPr>
          <p:cNvPr id="1211" name="Google Shape;1211;p93"/>
          <p:cNvSpPr txBox="1"/>
          <p:nvPr>
            <p:ph idx="1" type="body"/>
          </p:nvPr>
        </p:nvSpPr>
        <p:spPr>
          <a:xfrm>
            <a:off x="6176798" y="1451970"/>
            <a:ext cx="1128600" cy="747300"/>
          </a:xfrm>
          <a:prstGeom prst="rect">
            <a:avLst/>
          </a:prstGeom>
        </p:spPr>
        <p:txBody>
          <a:bodyPr anchorCtr="0" anchor="ctr" bIns="0" lIns="0" spcFirstLastPara="1" rIns="0" wrap="square" tIns="0">
            <a:noAutofit/>
          </a:bodyPr>
          <a:lstStyle/>
          <a:p>
            <a:pPr indent="0" lvl="0" marL="0" rtl="0" algn="r">
              <a:lnSpc>
                <a:spcPct val="85000"/>
              </a:lnSpc>
              <a:spcBef>
                <a:spcPts val="0"/>
              </a:spcBef>
              <a:spcAft>
                <a:spcPts val="0"/>
              </a:spcAft>
              <a:buNone/>
            </a:pPr>
            <a:r>
              <a:rPr lang="en-GB" sz="1800"/>
              <a:t>more</a:t>
            </a:r>
            <a:endParaRPr sz="1800"/>
          </a:p>
          <a:p>
            <a:pPr indent="0" lvl="0" marL="0" rtl="0" algn="r">
              <a:lnSpc>
                <a:spcPct val="85000"/>
              </a:lnSpc>
              <a:spcBef>
                <a:spcPts val="0"/>
              </a:spcBef>
              <a:spcAft>
                <a:spcPts val="0"/>
              </a:spcAft>
              <a:buNone/>
            </a:pPr>
            <a:r>
              <a:rPr lang="en-GB" sz="1800"/>
              <a:t>than</a:t>
            </a:r>
            <a:endParaRPr sz="1800"/>
          </a:p>
          <a:p>
            <a:pPr indent="0" lvl="0" marL="0" rtl="0" algn="r">
              <a:lnSpc>
                <a:spcPct val="85000"/>
              </a:lnSpc>
              <a:spcBef>
                <a:spcPts val="0"/>
              </a:spcBef>
              <a:spcAft>
                <a:spcPts val="0"/>
              </a:spcAft>
              <a:buNone/>
            </a:pPr>
            <a:r>
              <a:rPr lang="en-GB" sz="1800"/>
              <a:t>5 km</a:t>
            </a:r>
            <a:endParaRPr sz="1800"/>
          </a:p>
          <a:p>
            <a:pPr indent="0" lvl="0" marL="0" rtl="0" algn="r">
              <a:lnSpc>
                <a:spcPct val="85000"/>
              </a:lnSpc>
              <a:spcBef>
                <a:spcPts val="0"/>
              </a:spcBef>
              <a:spcAft>
                <a:spcPts val="0"/>
              </a:spcAft>
              <a:buNone/>
            </a:pPr>
            <a:r>
              <a:rPr lang="en-GB" sz="1800"/>
              <a:t>72°</a:t>
            </a:r>
            <a:endParaRPr sz="1800"/>
          </a:p>
        </p:txBody>
      </p:sp>
      <p:sp>
        <p:nvSpPr>
          <p:cNvPr id="1212" name="Google Shape;1212;p93"/>
          <p:cNvSpPr txBox="1"/>
          <p:nvPr>
            <p:ph idx="1" type="body"/>
          </p:nvPr>
        </p:nvSpPr>
        <p:spPr>
          <a:xfrm>
            <a:off x="6750336" y="2649423"/>
            <a:ext cx="1462500" cy="747300"/>
          </a:xfrm>
          <a:prstGeom prst="rect">
            <a:avLst/>
          </a:prstGeom>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GB" sz="1800"/>
              <a:t>5 km or less</a:t>
            </a:r>
            <a:endParaRPr sz="1800"/>
          </a:p>
          <a:p>
            <a:pPr indent="0" lvl="0" marL="0" rtl="0" algn="ctr">
              <a:lnSpc>
                <a:spcPct val="85000"/>
              </a:lnSpc>
              <a:spcBef>
                <a:spcPts val="0"/>
              </a:spcBef>
              <a:spcAft>
                <a:spcPts val="0"/>
              </a:spcAft>
              <a:buNone/>
            </a:pPr>
            <a:r>
              <a:rPr lang="en-GB" sz="1800"/>
              <a:t>288°</a:t>
            </a:r>
            <a:endParaRPr sz="1800"/>
          </a:p>
        </p:txBody>
      </p:sp>
      <p:sp>
        <p:nvSpPr>
          <p:cNvPr id="1213" name="Google Shape;1213;p93"/>
          <p:cNvSpPr txBox="1"/>
          <p:nvPr>
            <p:ph idx="1" type="body"/>
          </p:nvPr>
        </p:nvSpPr>
        <p:spPr>
          <a:xfrm>
            <a:off x="4506350" y="1778325"/>
            <a:ext cx="1110300" cy="7473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5 km or less</a:t>
            </a:r>
            <a:endParaRPr sz="1800"/>
          </a:p>
          <a:p>
            <a:pPr indent="0" lvl="0" marL="0" rtl="0" algn="ctr">
              <a:lnSpc>
                <a:spcPct val="100000"/>
              </a:lnSpc>
              <a:spcBef>
                <a:spcPts val="0"/>
              </a:spcBef>
              <a:spcAft>
                <a:spcPts val="0"/>
              </a:spcAft>
              <a:buClr>
                <a:schemeClr val="dk1"/>
              </a:buClr>
              <a:buSzPts val="1100"/>
              <a:buFont typeface="Arial"/>
              <a:buNone/>
            </a:pPr>
            <a:r>
              <a:rPr lang="en-GB" sz="1800"/>
              <a:t>120°</a:t>
            </a:r>
            <a:endParaRPr sz="1800"/>
          </a:p>
        </p:txBody>
      </p:sp>
      <p:sp>
        <p:nvSpPr>
          <p:cNvPr id="1214" name="Google Shape;1214;p93"/>
          <p:cNvSpPr txBox="1"/>
          <p:nvPr>
            <p:ph idx="1" type="body"/>
          </p:nvPr>
        </p:nvSpPr>
        <p:spPr>
          <a:xfrm>
            <a:off x="3172805" y="2447115"/>
            <a:ext cx="1462500" cy="747300"/>
          </a:xfrm>
          <a:prstGeom prst="rect">
            <a:avLst/>
          </a:prstGeom>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GB" sz="1800"/>
              <a:t>more</a:t>
            </a:r>
            <a:endParaRPr sz="1800"/>
          </a:p>
          <a:p>
            <a:pPr indent="0" lvl="0" marL="0" rtl="0" algn="ctr">
              <a:lnSpc>
                <a:spcPct val="85000"/>
              </a:lnSpc>
              <a:spcBef>
                <a:spcPts val="0"/>
              </a:spcBef>
              <a:spcAft>
                <a:spcPts val="0"/>
              </a:spcAft>
              <a:buNone/>
            </a:pPr>
            <a:r>
              <a:rPr lang="en-GB" sz="1800"/>
              <a:t>than</a:t>
            </a:r>
            <a:endParaRPr sz="1800"/>
          </a:p>
          <a:p>
            <a:pPr indent="0" lvl="0" marL="0" rtl="0" algn="ctr">
              <a:lnSpc>
                <a:spcPct val="85000"/>
              </a:lnSpc>
              <a:spcBef>
                <a:spcPts val="0"/>
              </a:spcBef>
              <a:spcAft>
                <a:spcPts val="0"/>
              </a:spcAft>
              <a:buNone/>
            </a:pPr>
            <a:r>
              <a:rPr lang="en-GB" sz="1800"/>
              <a:t>5 km</a:t>
            </a:r>
            <a:endParaRPr sz="1800"/>
          </a:p>
          <a:p>
            <a:pPr indent="0" lvl="0" marL="0" rtl="0" algn="ctr">
              <a:lnSpc>
                <a:spcPct val="85000"/>
              </a:lnSpc>
              <a:spcBef>
                <a:spcPts val="0"/>
              </a:spcBef>
              <a:spcAft>
                <a:spcPts val="0"/>
              </a:spcAft>
              <a:buNone/>
            </a:pPr>
            <a:r>
              <a:rPr lang="en-GB" sz="1800"/>
              <a:t>240°</a:t>
            </a:r>
            <a:endParaRPr sz="1800"/>
          </a:p>
        </p:txBody>
      </p:sp>
      <p:grpSp>
        <p:nvGrpSpPr>
          <p:cNvPr id="1215" name="Google Shape;1215;p93"/>
          <p:cNvGrpSpPr/>
          <p:nvPr/>
        </p:nvGrpSpPr>
        <p:grpSpPr>
          <a:xfrm>
            <a:off x="2986062" y="1080001"/>
            <a:ext cx="337459" cy="337459"/>
            <a:chOff x="1020916" y="1442088"/>
            <a:chExt cx="457200" cy="457200"/>
          </a:xfrm>
        </p:grpSpPr>
        <p:pic>
          <p:nvPicPr>
            <p:cNvPr id="1216" name="Google Shape;1216;p9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17" name="Google Shape;1217;p9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18" name="Google Shape;1218;p93"/>
          <p:cNvGrpSpPr/>
          <p:nvPr/>
        </p:nvGrpSpPr>
        <p:grpSpPr>
          <a:xfrm>
            <a:off x="8446936" y="1080001"/>
            <a:ext cx="337459" cy="337459"/>
            <a:chOff x="1020916" y="1442088"/>
            <a:chExt cx="457200" cy="457200"/>
          </a:xfrm>
        </p:grpSpPr>
        <p:pic>
          <p:nvPicPr>
            <p:cNvPr id="1219" name="Google Shape;1219;p9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0" name="Google Shape;1220;p9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94"/>
          <p:cNvSpPr txBox="1"/>
          <p:nvPr>
            <p:ph idx="1" type="body"/>
          </p:nvPr>
        </p:nvSpPr>
        <p:spPr>
          <a:xfrm>
            <a:off x="324000" y="683100"/>
            <a:ext cx="2383200" cy="39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Match the description</a:t>
            </a:r>
            <a:r>
              <a:rPr lang="en-GB" sz="1800"/>
              <a:t> to the correct </a:t>
            </a:r>
            <a:r>
              <a:rPr lang="en-GB" sz="1800"/>
              <a:t>pie chart:</a:t>
            </a:r>
            <a:endParaRPr sz="1800"/>
          </a:p>
        </p:txBody>
      </p:sp>
      <p:sp>
        <p:nvSpPr>
          <p:cNvPr id="1226" name="Google Shape;1226;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pie charts</a:t>
            </a:r>
            <a:endParaRPr/>
          </a:p>
        </p:txBody>
      </p:sp>
      <p:pic>
        <p:nvPicPr>
          <p:cNvPr id="1227" name="Google Shape;1227;p94"/>
          <p:cNvPicPr preferRelativeResize="0"/>
          <p:nvPr/>
        </p:nvPicPr>
        <p:blipFill rotWithShape="1">
          <a:blip r:embed="rId3">
            <a:alphaModFix/>
          </a:blip>
          <a:srcRect b="9104" l="0" r="0" t="9096"/>
          <a:stretch/>
        </p:blipFill>
        <p:spPr>
          <a:xfrm>
            <a:off x="2986050" y="1088212"/>
            <a:ext cx="5798225" cy="2787813"/>
          </a:xfrm>
          <a:prstGeom prst="rect">
            <a:avLst/>
          </a:prstGeom>
          <a:noFill/>
          <a:ln cap="flat" cmpd="sng" w="28575">
            <a:solidFill>
              <a:schemeClr val="dk1"/>
            </a:solidFill>
            <a:prstDash val="solid"/>
            <a:round/>
            <a:headEnd len="sm" w="sm" type="none"/>
            <a:tailEnd len="sm" w="sm" type="none"/>
          </a:ln>
        </p:spPr>
      </p:pic>
      <p:sp>
        <p:nvSpPr>
          <p:cNvPr id="1228" name="Google Shape;1228;p94"/>
          <p:cNvSpPr txBox="1"/>
          <p:nvPr>
            <p:ph idx="1" type="body"/>
          </p:nvPr>
        </p:nvSpPr>
        <p:spPr>
          <a:xfrm>
            <a:off x="6176798" y="1451970"/>
            <a:ext cx="1128600" cy="747300"/>
          </a:xfrm>
          <a:prstGeom prst="rect">
            <a:avLst/>
          </a:prstGeom>
        </p:spPr>
        <p:txBody>
          <a:bodyPr anchorCtr="0" anchor="ctr" bIns="0" lIns="0" spcFirstLastPara="1" rIns="0" wrap="square" tIns="0">
            <a:noAutofit/>
          </a:bodyPr>
          <a:lstStyle/>
          <a:p>
            <a:pPr indent="0" lvl="0" marL="0" rtl="0" algn="r">
              <a:lnSpc>
                <a:spcPct val="85000"/>
              </a:lnSpc>
              <a:spcBef>
                <a:spcPts val="0"/>
              </a:spcBef>
              <a:spcAft>
                <a:spcPts val="0"/>
              </a:spcAft>
              <a:buNone/>
            </a:pPr>
            <a:r>
              <a:rPr lang="en-GB" sz="1800"/>
              <a:t>more</a:t>
            </a:r>
            <a:endParaRPr sz="1800"/>
          </a:p>
          <a:p>
            <a:pPr indent="0" lvl="0" marL="0" rtl="0" algn="r">
              <a:lnSpc>
                <a:spcPct val="85000"/>
              </a:lnSpc>
              <a:spcBef>
                <a:spcPts val="0"/>
              </a:spcBef>
              <a:spcAft>
                <a:spcPts val="0"/>
              </a:spcAft>
              <a:buNone/>
            </a:pPr>
            <a:r>
              <a:rPr lang="en-GB" sz="1800"/>
              <a:t>than</a:t>
            </a:r>
            <a:endParaRPr sz="1800"/>
          </a:p>
          <a:p>
            <a:pPr indent="0" lvl="0" marL="0" rtl="0" algn="r">
              <a:lnSpc>
                <a:spcPct val="85000"/>
              </a:lnSpc>
              <a:spcBef>
                <a:spcPts val="0"/>
              </a:spcBef>
              <a:spcAft>
                <a:spcPts val="0"/>
              </a:spcAft>
              <a:buNone/>
            </a:pPr>
            <a:r>
              <a:rPr lang="en-GB" sz="1800"/>
              <a:t>5 km</a:t>
            </a:r>
            <a:endParaRPr sz="1800"/>
          </a:p>
          <a:p>
            <a:pPr indent="0" lvl="0" marL="0" rtl="0" algn="r">
              <a:lnSpc>
                <a:spcPct val="85000"/>
              </a:lnSpc>
              <a:spcBef>
                <a:spcPts val="0"/>
              </a:spcBef>
              <a:spcAft>
                <a:spcPts val="0"/>
              </a:spcAft>
              <a:buNone/>
            </a:pPr>
            <a:r>
              <a:rPr lang="en-GB" sz="1800"/>
              <a:t>72°</a:t>
            </a:r>
            <a:endParaRPr sz="1800"/>
          </a:p>
        </p:txBody>
      </p:sp>
      <p:sp>
        <p:nvSpPr>
          <p:cNvPr id="1229" name="Google Shape;1229;p94"/>
          <p:cNvSpPr txBox="1"/>
          <p:nvPr>
            <p:ph idx="1" type="body"/>
          </p:nvPr>
        </p:nvSpPr>
        <p:spPr>
          <a:xfrm>
            <a:off x="6750336" y="2649423"/>
            <a:ext cx="1462500" cy="747300"/>
          </a:xfrm>
          <a:prstGeom prst="rect">
            <a:avLst/>
          </a:prstGeom>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GB" sz="1800"/>
              <a:t>5 km or less</a:t>
            </a:r>
            <a:endParaRPr sz="1800"/>
          </a:p>
          <a:p>
            <a:pPr indent="0" lvl="0" marL="0" rtl="0" algn="ctr">
              <a:lnSpc>
                <a:spcPct val="85000"/>
              </a:lnSpc>
              <a:spcBef>
                <a:spcPts val="0"/>
              </a:spcBef>
              <a:spcAft>
                <a:spcPts val="0"/>
              </a:spcAft>
              <a:buNone/>
            </a:pPr>
            <a:r>
              <a:rPr lang="en-GB" sz="1800"/>
              <a:t>288°</a:t>
            </a:r>
            <a:endParaRPr sz="1800"/>
          </a:p>
        </p:txBody>
      </p:sp>
      <p:sp>
        <p:nvSpPr>
          <p:cNvPr id="1230" name="Google Shape;1230;p94"/>
          <p:cNvSpPr txBox="1"/>
          <p:nvPr>
            <p:ph idx="1" type="body"/>
          </p:nvPr>
        </p:nvSpPr>
        <p:spPr>
          <a:xfrm>
            <a:off x="4506350" y="1778325"/>
            <a:ext cx="1110300" cy="7473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5 km or less</a:t>
            </a:r>
            <a:endParaRPr sz="1800"/>
          </a:p>
          <a:p>
            <a:pPr indent="0" lvl="0" marL="0" rtl="0" algn="ctr">
              <a:lnSpc>
                <a:spcPct val="100000"/>
              </a:lnSpc>
              <a:spcBef>
                <a:spcPts val="0"/>
              </a:spcBef>
              <a:spcAft>
                <a:spcPts val="0"/>
              </a:spcAft>
              <a:buClr>
                <a:schemeClr val="dk1"/>
              </a:buClr>
              <a:buSzPts val="1100"/>
              <a:buFont typeface="Arial"/>
              <a:buNone/>
            </a:pPr>
            <a:r>
              <a:rPr lang="en-GB" sz="1800"/>
              <a:t>120°</a:t>
            </a:r>
            <a:endParaRPr sz="1800"/>
          </a:p>
        </p:txBody>
      </p:sp>
      <p:sp>
        <p:nvSpPr>
          <p:cNvPr id="1231" name="Google Shape;1231;p94"/>
          <p:cNvSpPr txBox="1"/>
          <p:nvPr>
            <p:ph idx="1" type="body"/>
          </p:nvPr>
        </p:nvSpPr>
        <p:spPr>
          <a:xfrm>
            <a:off x="3172805" y="2447115"/>
            <a:ext cx="1462500" cy="747300"/>
          </a:xfrm>
          <a:prstGeom prst="rect">
            <a:avLst/>
          </a:prstGeom>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GB" sz="1800"/>
              <a:t>more</a:t>
            </a:r>
            <a:endParaRPr sz="1800"/>
          </a:p>
          <a:p>
            <a:pPr indent="0" lvl="0" marL="0" rtl="0" algn="ctr">
              <a:lnSpc>
                <a:spcPct val="85000"/>
              </a:lnSpc>
              <a:spcBef>
                <a:spcPts val="0"/>
              </a:spcBef>
              <a:spcAft>
                <a:spcPts val="0"/>
              </a:spcAft>
              <a:buNone/>
            </a:pPr>
            <a:r>
              <a:rPr lang="en-GB" sz="1800"/>
              <a:t>than</a:t>
            </a:r>
            <a:endParaRPr sz="1800"/>
          </a:p>
          <a:p>
            <a:pPr indent="0" lvl="0" marL="0" rtl="0" algn="ctr">
              <a:lnSpc>
                <a:spcPct val="85000"/>
              </a:lnSpc>
              <a:spcBef>
                <a:spcPts val="0"/>
              </a:spcBef>
              <a:spcAft>
                <a:spcPts val="0"/>
              </a:spcAft>
              <a:buNone/>
            </a:pPr>
            <a:r>
              <a:rPr lang="en-GB" sz="1800"/>
              <a:t>5 km</a:t>
            </a:r>
            <a:endParaRPr sz="1800"/>
          </a:p>
          <a:p>
            <a:pPr indent="0" lvl="0" marL="0" rtl="0" algn="ctr">
              <a:lnSpc>
                <a:spcPct val="85000"/>
              </a:lnSpc>
              <a:spcBef>
                <a:spcPts val="0"/>
              </a:spcBef>
              <a:spcAft>
                <a:spcPts val="0"/>
              </a:spcAft>
              <a:buNone/>
            </a:pPr>
            <a:r>
              <a:rPr lang="en-GB" sz="1800"/>
              <a:t>240°</a:t>
            </a:r>
            <a:endParaRPr sz="1800"/>
          </a:p>
        </p:txBody>
      </p:sp>
      <p:grpSp>
        <p:nvGrpSpPr>
          <p:cNvPr id="1232" name="Google Shape;1232;p94"/>
          <p:cNvGrpSpPr/>
          <p:nvPr/>
        </p:nvGrpSpPr>
        <p:grpSpPr>
          <a:xfrm>
            <a:off x="2986062" y="1080001"/>
            <a:ext cx="337459" cy="337459"/>
            <a:chOff x="1020916" y="1442088"/>
            <a:chExt cx="457200" cy="457200"/>
          </a:xfrm>
        </p:grpSpPr>
        <p:pic>
          <p:nvPicPr>
            <p:cNvPr id="1233" name="Google Shape;1233;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4" name="Google Shape;1234;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35" name="Google Shape;1235;p94"/>
          <p:cNvGrpSpPr/>
          <p:nvPr/>
        </p:nvGrpSpPr>
        <p:grpSpPr>
          <a:xfrm>
            <a:off x="8446936" y="1080001"/>
            <a:ext cx="337459" cy="337459"/>
            <a:chOff x="1020916" y="1442088"/>
            <a:chExt cx="457200" cy="457200"/>
          </a:xfrm>
        </p:grpSpPr>
        <p:pic>
          <p:nvPicPr>
            <p:cNvPr id="1236" name="Google Shape;1236;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7" name="Google Shape;1237;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38" name="Google Shape;1238;p94"/>
          <p:cNvGrpSpPr/>
          <p:nvPr/>
        </p:nvGrpSpPr>
        <p:grpSpPr>
          <a:xfrm>
            <a:off x="324012" y="2077201"/>
            <a:ext cx="337459" cy="337459"/>
            <a:chOff x="1020916" y="1442088"/>
            <a:chExt cx="457200" cy="457200"/>
          </a:xfrm>
        </p:grpSpPr>
        <p:pic>
          <p:nvPicPr>
            <p:cNvPr id="1239" name="Google Shape;1239;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0" name="Google Shape;1240;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241" name="Google Shape;1241;p94"/>
          <p:cNvSpPr txBox="1"/>
          <p:nvPr>
            <p:ph idx="1" type="body"/>
          </p:nvPr>
        </p:nvSpPr>
        <p:spPr>
          <a:xfrm>
            <a:off x="661475" y="2084375"/>
            <a:ext cx="1853400" cy="39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Students who walked to the school</a:t>
            </a:r>
            <a:endParaRPr sz="1800"/>
          </a:p>
        </p:txBody>
      </p:sp>
      <p:grpSp>
        <p:nvGrpSpPr>
          <p:cNvPr id="1242" name="Google Shape;1242;p94"/>
          <p:cNvGrpSpPr/>
          <p:nvPr/>
        </p:nvGrpSpPr>
        <p:grpSpPr>
          <a:xfrm>
            <a:off x="324012" y="3449851"/>
            <a:ext cx="337459" cy="337459"/>
            <a:chOff x="1020916" y="1442088"/>
            <a:chExt cx="457200" cy="457200"/>
          </a:xfrm>
        </p:grpSpPr>
        <p:pic>
          <p:nvPicPr>
            <p:cNvPr id="1243" name="Google Shape;1243;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4" name="Google Shape;1244;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245" name="Google Shape;1245;p94"/>
          <p:cNvSpPr txBox="1"/>
          <p:nvPr>
            <p:ph idx="1" type="body"/>
          </p:nvPr>
        </p:nvSpPr>
        <p:spPr>
          <a:xfrm>
            <a:off x="661475" y="3457025"/>
            <a:ext cx="1853400" cy="39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Students who didn’t walk to school</a:t>
            </a:r>
            <a:endParaRPr sz="1800"/>
          </a:p>
        </p:txBody>
      </p:sp>
      <p:sp>
        <p:nvSpPr>
          <p:cNvPr id="1246" name="Google Shape;1246;p94"/>
          <p:cNvSpPr txBox="1"/>
          <p:nvPr>
            <p:ph idx="1" type="body"/>
          </p:nvPr>
        </p:nvSpPr>
        <p:spPr>
          <a:xfrm>
            <a:off x="6532835" y="4007450"/>
            <a:ext cx="2383200" cy="39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Students who walked to the school</a:t>
            </a:r>
            <a:endParaRPr sz="2000">
              <a:latin typeface="Kalam"/>
              <a:ea typeface="Kalam"/>
              <a:cs typeface="Kalam"/>
              <a:sym typeface="Kalam"/>
            </a:endParaRPr>
          </a:p>
        </p:txBody>
      </p:sp>
      <p:grpSp>
        <p:nvGrpSpPr>
          <p:cNvPr id="1247" name="Google Shape;1247;p94"/>
          <p:cNvGrpSpPr/>
          <p:nvPr/>
        </p:nvGrpSpPr>
        <p:grpSpPr>
          <a:xfrm>
            <a:off x="6196122" y="4037176"/>
            <a:ext cx="337459" cy="337459"/>
            <a:chOff x="1020916" y="1442088"/>
            <a:chExt cx="457200" cy="457200"/>
          </a:xfrm>
        </p:grpSpPr>
        <p:pic>
          <p:nvPicPr>
            <p:cNvPr id="1248" name="Google Shape;1248;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9" name="Google Shape;1249;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250" name="Google Shape;1250;p94"/>
          <p:cNvGrpSpPr/>
          <p:nvPr/>
        </p:nvGrpSpPr>
        <p:grpSpPr>
          <a:xfrm>
            <a:off x="3044787" y="4003863"/>
            <a:ext cx="337459" cy="337459"/>
            <a:chOff x="1020916" y="1442088"/>
            <a:chExt cx="457200" cy="457200"/>
          </a:xfrm>
        </p:grpSpPr>
        <p:pic>
          <p:nvPicPr>
            <p:cNvPr id="1251" name="Google Shape;1251;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52" name="Google Shape;1252;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253" name="Google Shape;1253;p94"/>
          <p:cNvSpPr txBox="1"/>
          <p:nvPr>
            <p:ph idx="1" type="body"/>
          </p:nvPr>
        </p:nvSpPr>
        <p:spPr>
          <a:xfrm>
            <a:off x="3382250" y="4011050"/>
            <a:ext cx="2311200" cy="39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Students who didn’t walk to school</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3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pie charts</a:t>
            </a:r>
            <a:endParaRPr/>
          </a:p>
        </p:txBody>
      </p:sp>
      <p:pic>
        <p:nvPicPr>
          <p:cNvPr id="1259" name="Google Shape;1259;p95"/>
          <p:cNvPicPr preferRelativeResize="0"/>
          <p:nvPr/>
        </p:nvPicPr>
        <p:blipFill rotWithShape="1">
          <a:blip r:embed="rId3">
            <a:alphaModFix/>
          </a:blip>
          <a:srcRect b="9104" l="0" r="0" t="9096"/>
          <a:stretch/>
        </p:blipFill>
        <p:spPr>
          <a:xfrm>
            <a:off x="2986050" y="1088212"/>
            <a:ext cx="5798225" cy="2787813"/>
          </a:xfrm>
          <a:prstGeom prst="rect">
            <a:avLst/>
          </a:prstGeom>
          <a:noFill/>
          <a:ln cap="flat" cmpd="sng" w="28575">
            <a:solidFill>
              <a:schemeClr val="dk1"/>
            </a:solidFill>
            <a:prstDash val="solid"/>
            <a:round/>
            <a:headEnd len="sm" w="sm" type="none"/>
            <a:tailEnd len="sm" w="sm" type="none"/>
          </a:ln>
        </p:spPr>
      </p:pic>
      <p:sp>
        <p:nvSpPr>
          <p:cNvPr id="1260" name="Google Shape;1260;p95"/>
          <p:cNvSpPr txBox="1"/>
          <p:nvPr>
            <p:ph idx="1" type="body"/>
          </p:nvPr>
        </p:nvSpPr>
        <p:spPr>
          <a:xfrm>
            <a:off x="6176798" y="1451970"/>
            <a:ext cx="1128600" cy="747300"/>
          </a:xfrm>
          <a:prstGeom prst="rect">
            <a:avLst/>
          </a:prstGeom>
        </p:spPr>
        <p:txBody>
          <a:bodyPr anchorCtr="0" anchor="ctr" bIns="0" lIns="0" spcFirstLastPara="1" rIns="0" wrap="square" tIns="0">
            <a:noAutofit/>
          </a:bodyPr>
          <a:lstStyle/>
          <a:p>
            <a:pPr indent="0" lvl="0" marL="0" rtl="0" algn="r">
              <a:lnSpc>
                <a:spcPct val="85000"/>
              </a:lnSpc>
              <a:spcBef>
                <a:spcPts val="0"/>
              </a:spcBef>
              <a:spcAft>
                <a:spcPts val="0"/>
              </a:spcAft>
              <a:buNone/>
            </a:pPr>
            <a:r>
              <a:rPr lang="en-GB" sz="1800"/>
              <a:t>more</a:t>
            </a:r>
            <a:endParaRPr sz="1800"/>
          </a:p>
          <a:p>
            <a:pPr indent="0" lvl="0" marL="0" rtl="0" algn="r">
              <a:lnSpc>
                <a:spcPct val="85000"/>
              </a:lnSpc>
              <a:spcBef>
                <a:spcPts val="0"/>
              </a:spcBef>
              <a:spcAft>
                <a:spcPts val="0"/>
              </a:spcAft>
              <a:buNone/>
            </a:pPr>
            <a:r>
              <a:rPr lang="en-GB" sz="1800"/>
              <a:t>than</a:t>
            </a:r>
            <a:endParaRPr sz="1800"/>
          </a:p>
          <a:p>
            <a:pPr indent="0" lvl="0" marL="0" rtl="0" algn="r">
              <a:lnSpc>
                <a:spcPct val="85000"/>
              </a:lnSpc>
              <a:spcBef>
                <a:spcPts val="0"/>
              </a:spcBef>
              <a:spcAft>
                <a:spcPts val="0"/>
              </a:spcAft>
              <a:buNone/>
            </a:pPr>
            <a:r>
              <a:rPr lang="en-GB" sz="1800"/>
              <a:t>5 km</a:t>
            </a:r>
            <a:endParaRPr sz="1800"/>
          </a:p>
          <a:p>
            <a:pPr indent="0" lvl="0" marL="0" rtl="0" algn="r">
              <a:lnSpc>
                <a:spcPct val="85000"/>
              </a:lnSpc>
              <a:spcBef>
                <a:spcPts val="0"/>
              </a:spcBef>
              <a:spcAft>
                <a:spcPts val="0"/>
              </a:spcAft>
              <a:buNone/>
            </a:pPr>
            <a:r>
              <a:rPr lang="en-GB" sz="1800"/>
              <a:t>72°</a:t>
            </a:r>
            <a:endParaRPr sz="1800"/>
          </a:p>
        </p:txBody>
      </p:sp>
      <p:sp>
        <p:nvSpPr>
          <p:cNvPr id="1261" name="Google Shape;1261;p95"/>
          <p:cNvSpPr txBox="1"/>
          <p:nvPr>
            <p:ph idx="1" type="body"/>
          </p:nvPr>
        </p:nvSpPr>
        <p:spPr>
          <a:xfrm>
            <a:off x="6750336" y="2649423"/>
            <a:ext cx="1462500" cy="747300"/>
          </a:xfrm>
          <a:prstGeom prst="rect">
            <a:avLst/>
          </a:prstGeom>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GB" sz="1800"/>
              <a:t>5 km or less</a:t>
            </a:r>
            <a:endParaRPr sz="1800"/>
          </a:p>
          <a:p>
            <a:pPr indent="0" lvl="0" marL="0" rtl="0" algn="ctr">
              <a:lnSpc>
                <a:spcPct val="85000"/>
              </a:lnSpc>
              <a:spcBef>
                <a:spcPts val="0"/>
              </a:spcBef>
              <a:spcAft>
                <a:spcPts val="0"/>
              </a:spcAft>
              <a:buNone/>
            </a:pPr>
            <a:r>
              <a:rPr lang="en-GB" sz="1800"/>
              <a:t>288°</a:t>
            </a:r>
            <a:endParaRPr sz="1800"/>
          </a:p>
        </p:txBody>
      </p:sp>
      <p:sp>
        <p:nvSpPr>
          <p:cNvPr id="1262" name="Google Shape;1262;p95"/>
          <p:cNvSpPr txBox="1"/>
          <p:nvPr>
            <p:ph idx="1" type="body"/>
          </p:nvPr>
        </p:nvSpPr>
        <p:spPr>
          <a:xfrm>
            <a:off x="4506350" y="1778325"/>
            <a:ext cx="1110300" cy="7473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5 km or less</a:t>
            </a:r>
            <a:endParaRPr sz="1800"/>
          </a:p>
          <a:p>
            <a:pPr indent="0" lvl="0" marL="0" rtl="0" algn="ctr">
              <a:lnSpc>
                <a:spcPct val="100000"/>
              </a:lnSpc>
              <a:spcBef>
                <a:spcPts val="0"/>
              </a:spcBef>
              <a:spcAft>
                <a:spcPts val="0"/>
              </a:spcAft>
              <a:buClr>
                <a:schemeClr val="dk1"/>
              </a:buClr>
              <a:buSzPts val="1100"/>
              <a:buFont typeface="Arial"/>
              <a:buNone/>
            </a:pPr>
            <a:r>
              <a:rPr lang="en-GB" sz="1800"/>
              <a:t>120°</a:t>
            </a:r>
            <a:endParaRPr sz="1800"/>
          </a:p>
        </p:txBody>
      </p:sp>
      <p:sp>
        <p:nvSpPr>
          <p:cNvPr id="1263" name="Google Shape;1263;p95"/>
          <p:cNvSpPr txBox="1"/>
          <p:nvPr>
            <p:ph idx="1" type="body"/>
          </p:nvPr>
        </p:nvSpPr>
        <p:spPr>
          <a:xfrm>
            <a:off x="3172805" y="2447115"/>
            <a:ext cx="1462500" cy="747300"/>
          </a:xfrm>
          <a:prstGeom prst="rect">
            <a:avLst/>
          </a:prstGeom>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GB" sz="1800"/>
              <a:t>more</a:t>
            </a:r>
            <a:endParaRPr sz="1800"/>
          </a:p>
          <a:p>
            <a:pPr indent="0" lvl="0" marL="0" rtl="0" algn="ctr">
              <a:lnSpc>
                <a:spcPct val="85000"/>
              </a:lnSpc>
              <a:spcBef>
                <a:spcPts val="0"/>
              </a:spcBef>
              <a:spcAft>
                <a:spcPts val="0"/>
              </a:spcAft>
              <a:buNone/>
            </a:pPr>
            <a:r>
              <a:rPr lang="en-GB" sz="1800"/>
              <a:t>than</a:t>
            </a:r>
            <a:endParaRPr sz="1800"/>
          </a:p>
          <a:p>
            <a:pPr indent="0" lvl="0" marL="0" rtl="0" algn="ctr">
              <a:lnSpc>
                <a:spcPct val="85000"/>
              </a:lnSpc>
              <a:spcBef>
                <a:spcPts val="0"/>
              </a:spcBef>
              <a:spcAft>
                <a:spcPts val="0"/>
              </a:spcAft>
              <a:buNone/>
            </a:pPr>
            <a:r>
              <a:rPr lang="en-GB" sz="1800"/>
              <a:t>5 km</a:t>
            </a:r>
            <a:endParaRPr sz="1800"/>
          </a:p>
          <a:p>
            <a:pPr indent="0" lvl="0" marL="0" rtl="0" algn="ctr">
              <a:lnSpc>
                <a:spcPct val="85000"/>
              </a:lnSpc>
              <a:spcBef>
                <a:spcPts val="0"/>
              </a:spcBef>
              <a:spcAft>
                <a:spcPts val="0"/>
              </a:spcAft>
              <a:buNone/>
            </a:pPr>
            <a:r>
              <a:rPr lang="en-GB" sz="1800"/>
              <a:t>240°</a:t>
            </a:r>
            <a:endParaRPr sz="1800"/>
          </a:p>
        </p:txBody>
      </p:sp>
      <p:sp>
        <p:nvSpPr>
          <p:cNvPr id="1264" name="Google Shape;1264;p95"/>
          <p:cNvSpPr txBox="1"/>
          <p:nvPr>
            <p:ph idx="1" type="body"/>
          </p:nvPr>
        </p:nvSpPr>
        <p:spPr>
          <a:xfrm>
            <a:off x="6488322" y="765900"/>
            <a:ext cx="2295900" cy="294900"/>
          </a:xfrm>
          <a:prstGeom prst="rect">
            <a:avLst/>
          </a:prstGeom>
        </p:spPr>
        <p:txBody>
          <a:bodyPr anchorCtr="0" anchor="t" bIns="0" lIns="0" spcFirstLastPara="1" rIns="0" wrap="square" tIns="0">
            <a:noAutofit/>
          </a:bodyPr>
          <a:lstStyle/>
          <a:p>
            <a:pPr indent="0" lvl="0" marL="0" rtl="0" algn="r">
              <a:spcBef>
                <a:spcPts val="0"/>
              </a:spcBef>
              <a:spcAft>
                <a:spcPts val="1000"/>
              </a:spcAft>
              <a:buNone/>
            </a:pPr>
            <a:r>
              <a:rPr lang="en-GB" sz="1800"/>
              <a:t>Walked to school</a:t>
            </a:r>
            <a:endParaRPr sz="1800"/>
          </a:p>
        </p:txBody>
      </p:sp>
      <p:sp>
        <p:nvSpPr>
          <p:cNvPr id="1265" name="Google Shape;1265;p95"/>
          <p:cNvSpPr txBox="1"/>
          <p:nvPr>
            <p:ph idx="1" type="body"/>
          </p:nvPr>
        </p:nvSpPr>
        <p:spPr>
          <a:xfrm>
            <a:off x="2986051" y="765900"/>
            <a:ext cx="2385300" cy="29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Didn’t walk to school</a:t>
            </a:r>
            <a:endParaRPr sz="1800"/>
          </a:p>
        </p:txBody>
      </p:sp>
      <p:sp>
        <p:nvSpPr>
          <p:cNvPr id="1266" name="Google Shape;1266;p95"/>
          <p:cNvSpPr txBox="1"/>
          <p:nvPr>
            <p:ph idx="1" type="body"/>
          </p:nvPr>
        </p:nvSpPr>
        <p:spPr>
          <a:xfrm>
            <a:off x="5089430" y="1078275"/>
            <a:ext cx="734700" cy="2949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lang="en-GB" sz="1800"/>
              <a:t>sector x</a:t>
            </a:r>
            <a:endParaRPr sz="1800"/>
          </a:p>
        </p:txBody>
      </p:sp>
      <p:sp>
        <p:nvSpPr>
          <p:cNvPr id="1267" name="Google Shape;1267;p95"/>
          <p:cNvSpPr txBox="1"/>
          <p:nvPr>
            <p:ph idx="1" type="body"/>
          </p:nvPr>
        </p:nvSpPr>
        <p:spPr>
          <a:xfrm>
            <a:off x="5949986" y="1078275"/>
            <a:ext cx="734700" cy="2949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lang="en-GB" sz="1800"/>
              <a:t>sector y</a:t>
            </a:r>
            <a:endParaRPr sz="1800"/>
          </a:p>
        </p:txBody>
      </p:sp>
      <p:cxnSp>
        <p:nvCxnSpPr>
          <p:cNvPr id="1268" name="Google Shape;1268;p95"/>
          <p:cNvCxnSpPr/>
          <p:nvPr/>
        </p:nvCxnSpPr>
        <p:spPr>
          <a:xfrm flipH="1">
            <a:off x="5207375" y="1540800"/>
            <a:ext cx="232200" cy="232200"/>
          </a:xfrm>
          <a:prstGeom prst="straightConnector1">
            <a:avLst/>
          </a:prstGeom>
          <a:noFill/>
          <a:ln cap="flat" cmpd="sng" w="38100">
            <a:solidFill>
              <a:schemeClr val="dk2"/>
            </a:solidFill>
            <a:prstDash val="solid"/>
            <a:round/>
            <a:headEnd len="med" w="med" type="none"/>
            <a:tailEnd len="med" w="med" type="none"/>
          </a:ln>
        </p:spPr>
      </p:cxnSp>
      <p:cxnSp>
        <p:nvCxnSpPr>
          <p:cNvPr id="1269" name="Google Shape;1269;p95"/>
          <p:cNvCxnSpPr/>
          <p:nvPr/>
        </p:nvCxnSpPr>
        <p:spPr>
          <a:xfrm>
            <a:off x="6343997" y="1540800"/>
            <a:ext cx="232200" cy="232200"/>
          </a:xfrm>
          <a:prstGeom prst="straightConnector1">
            <a:avLst/>
          </a:prstGeom>
          <a:noFill/>
          <a:ln cap="flat" cmpd="sng" w="38100">
            <a:solidFill>
              <a:schemeClr val="dk2"/>
            </a:solidFill>
            <a:prstDash val="solid"/>
            <a:round/>
            <a:headEnd len="med" w="med" type="none"/>
            <a:tailEnd len="med" w="med" type="none"/>
          </a:ln>
        </p:spPr>
      </p:cxnSp>
      <p:sp>
        <p:nvSpPr>
          <p:cNvPr id="1270" name="Google Shape;1270;p95"/>
          <p:cNvSpPr txBox="1"/>
          <p:nvPr>
            <p:ph idx="1" type="body"/>
          </p:nvPr>
        </p:nvSpPr>
        <p:spPr>
          <a:xfrm>
            <a:off x="324000" y="994500"/>
            <a:ext cx="2514600" cy="741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Sector x and sector y both represent the same number of students.</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Which pie chart represents a larger number of students: those that didn’t walk to school, or those that did?</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Comparing pie charts</a:t>
            </a:r>
            <a:endParaRPr/>
          </a:p>
        </p:txBody>
      </p:sp>
      <p:pic>
        <p:nvPicPr>
          <p:cNvPr id="1276" name="Google Shape;1276;p96"/>
          <p:cNvPicPr preferRelativeResize="0"/>
          <p:nvPr/>
        </p:nvPicPr>
        <p:blipFill rotWithShape="1">
          <a:blip r:embed="rId3">
            <a:alphaModFix/>
          </a:blip>
          <a:srcRect b="9104" l="0" r="0" t="9096"/>
          <a:stretch/>
        </p:blipFill>
        <p:spPr>
          <a:xfrm>
            <a:off x="2986050" y="1088212"/>
            <a:ext cx="5798225" cy="2787813"/>
          </a:xfrm>
          <a:prstGeom prst="rect">
            <a:avLst/>
          </a:prstGeom>
          <a:noFill/>
          <a:ln cap="flat" cmpd="sng" w="28575">
            <a:solidFill>
              <a:schemeClr val="dk1"/>
            </a:solidFill>
            <a:prstDash val="solid"/>
            <a:round/>
            <a:headEnd len="sm" w="sm" type="none"/>
            <a:tailEnd len="sm" w="sm" type="none"/>
          </a:ln>
        </p:spPr>
      </p:pic>
      <p:sp>
        <p:nvSpPr>
          <p:cNvPr id="1277" name="Google Shape;1277;p96"/>
          <p:cNvSpPr txBox="1"/>
          <p:nvPr>
            <p:ph idx="1" type="body"/>
          </p:nvPr>
        </p:nvSpPr>
        <p:spPr>
          <a:xfrm>
            <a:off x="6705085" y="1380537"/>
            <a:ext cx="620700" cy="747300"/>
          </a:xfrm>
          <a:prstGeom prst="rect">
            <a:avLst/>
          </a:prstGeom>
        </p:spPr>
        <p:txBody>
          <a:bodyPr anchorCtr="0" anchor="ctr" bIns="0" lIns="0" spcFirstLastPara="1" rIns="0" wrap="square" tIns="0">
            <a:noAutofit/>
          </a:bodyPr>
          <a:lstStyle/>
          <a:p>
            <a:pPr indent="0" lvl="0" marL="0" rtl="0" algn="r">
              <a:lnSpc>
                <a:spcPct val="85000"/>
              </a:lnSpc>
              <a:spcBef>
                <a:spcPts val="0"/>
              </a:spcBef>
              <a:spcAft>
                <a:spcPts val="0"/>
              </a:spcAft>
              <a:buNone/>
            </a:pPr>
            <a:r>
              <a:rPr lang="en-GB" sz="1800"/>
              <a:t>more</a:t>
            </a:r>
            <a:endParaRPr sz="1800"/>
          </a:p>
          <a:p>
            <a:pPr indent="0" lvl="0" marL="0" rtl="0" algn="r">
              <a:lnSpc>
                <a:spcPct val="85000"/>
              </a:lnSpc>
              <a:spcBef>
                <a:spcPts val="0"/>
              </a:spcBef>
              <a:spcAft>
                <a:spcPts val="0"/>
              </a:spcAft>
              <a:buNone/>
            </a:pPr>
            <a:r>
              <a:rPr lang="en-GB" sz="1800"/>
              <a:t>than</a:t>
            </a:r>
            <a:endParaRPr sz="1800"/>
          </a:p>
          <a:p>
            <a:pPr indent="0" lvl="0" marL="0" rtl="0" algn="r">
              <a:lnSpc>
                <a:spcPct val="85000"/>
              </a:lnSpc>
              <a:spcBef>
                <a:spcPts val="0"/>
              </a:spcBef>
              <a:spcAft>
                <a:spcPts val="0"/>
              </a:spcAft>
              <a:buNone/>
            </a:pPr>
            <a:r>
              <a:rPr lang="en-GB" sz="1800"/>
              <a:t>5 km</a:t>
            </a:r>
            <a:endParaRPr sz="1800"/>
          </a:p>
          <a:p>
            <a:pPr indent="0" lvl="0" marL="0" rtl="0" algn="r">
              <a:lnSpc>
                <a:spcPct val="85000"/>
              </a:lnSpc>
              <a:spcBef>
                <a:spcPts val="0"/>
              </a:spcBef>
              <a:spcAft>
                <a:spcPts val="0"/>
              </a:spcAft>
              <a:buNone/>
            </a:pPr>
            <a:r>
              <a:rPr lang="en-GB" sz="1800"/>
              <a:t>72°</a:t>
            </a:r>
            <a:endParaRPr sz="1800"/>
          </a:p>
        </p:txBody>
      </p:sp>
      <p:sp>
        <p:nvSpPr>
          <p:cNvPr id="1278" name="Google Shape;1278;p96"/>
          <p:cNvSpPr txBox="1"/>
          <p:nvPr>
            <p:ph idx="1" type="body"/>
          </p:nvPr>
        </p:nvSpPr>
        <p:spPr>
          <a:xfrm>
            <a:off x="6750336" y="2649423"/>
            <a:ext cx="1462500" cy="747300"/>
          </a:xfrm>
          <a:prstGeom prst="rect">
            <a:avLst/>
          </a:prstGeom>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GB" sz="1800"/>
              <a:t>5 km or less</a:t>
            </a:r>
            <a:endParaRPr sz="1800"/>
          </a:p>
          <a:p>
            <a:pPr indent="0" lvl="0" marL="0" rtl="0" algn="ctr">
              <a:lnSpc>
                <a:spcPct val="85000"/>
              </a:lnSpc>
              <a:spcBef>
                <a:spcPts val="0"/>
              </a:spcBef>
              <a:spcAft>
                <a:spcPts val="0"/>
              </a:spcAft>
              <a:buNone/>
            </a:pPr>
            <a:r>
              <a:rPr lang="en-GB" sz="1800"/>
              <a:t>288°</a:t>
            </a:r>
            <a:endParaRPr sz="1800"/>
          </a:p>
        </p:txBody>
      </p:sp>
      <p:sp>
        <p:nvSpPr>
          <p:cNvPr id="1279" name="Google Shape;1279;p96"/>
          <p:cNvSpPr txBox="1"/>
          <p:nvPr>
            <p:ph idx="1" type="body"/>
          </p:nvPr>
        </p:nvSpPr>
        <p:spPr>
          <a:xfrm>
            <a:off x="4506350" y="1778325"/>
            <a:ext cx="1110300" cy="7473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5 km or less</a:t>
            </a:r>
            <a:endParaRPr sz="1800"/>
          </a:p>
          <a:p>
            <a:pPr indent="0" lvl="0" marL="0" rtl="0" algn="ctr">
              <a:lnSpc>
                <a:spcPct val="100000"/>
              </a:lnSpc>
              <a:spcBef>
                <a:spcPts val="0"/>
              </a:spcBef>
              <a:spcAft>
                <a:spcPts val="0"/>
              </a:spcAft>
              <a:buClr>
                <a:schemeClr val="dk1"/>
              </a:buClr>
              <a:buSzPts val="1100"/>
              <a:buFont typeface="Arial"/>
              <a:buNone/>
            </a:pPr>
            <a:r>
              <a:rPr lang="en-GB" sz="1800"/>
              <a:t>120°</a:t>
            </a:r>
            <a:endParaRPr sz="1800"/>
          </a:p>
        </p:txBody>
      </p:sp>
      <p:sp>
        <p:nvSpPr>
          <p:cNvPr id="1280" name="Google Shape;1280;p96"/>
          <p:cNvSpPr txBox="1"/>
          <p:nvPr>
            <p:ph idx="1" type="body"/>
          </p:nvPr>
        </p:nvSpPr>
        <p:spPr>
          <a:xfrm>
            <a:off x="3172805" y="2447115"/>
            <a:ext cx="1462500" cy="747300"/>
          </a:xfrm>
          <a:prstGeom prst="rect">
            <a:avLst/>
          </a:prstGeom>
        </p:spPr>
        <p:txBody>
          <a:bodyPr anchorCtr="0" anchor="ctr" bIns="0" lIns="0" spcFirstLastPara="1" rIns="0" wrap="square" tIns="0">
            <a:noAutofit/>
          </a:bodyPr>
          <a:lstStyle/>
          <a:p>
            <a:pPr indent="0" lvl="0" marL="0" rtl="0" algn="ctr">
              <a:lnSpc>
                <a:spcPct val="85000"/>
              </a:lnSpc>
              <a:spcBef>
                <a:spcPts val="0"/>
              </a:spcBef>
              <a:spcAft>
                <a:spcPts val="0"/>
              </a:spcAft>
              <a:buNone/>
            </a:pPr>
            <a:r>
              <a:rPr lang="en-GB" sz="1800"/>
              <a:t>more</a:t>
            </a:r>
            <a:endParaRPr sz="1800"/>
          </a:p>
          <a:p>
            <a:pPr indent="0" lvl="0" marL="0" rtl="0" algn="ctr">
              <a:lnSpc>
                <a:spcPct val="85000"/>
              </a:lnSpc>
              <a:spcBef>
                <a:spcPts val="0"/>
              </a:spcBef>
              <a:spcAft>
                <a:spcPts val="0"/>
              </a:spcAft>
              <a:buNone/>
            </a:pPr>
            <a:r>
              <a:rPr lang="en-GB" sz="1800"/>
              <a:t>than</a:t>
            </a:r>
            <a:endParaRPr sz="1800"/>
          </a:p>
          <a:p>
            <a:pPr indent="0" lvl="0" marL="0" rtl="0" algn="ctr">
              <a:lnSpc>
                <a:spcPct val="85000"/>
              </a:lnSpc>
              <a:spcBef>
                <a:spcPts val="0"/>
              </a:spcBef>
              <a:spcAft>
                <a:spcPts val="0"/>
              </a:spcAft>
              <a:buNone/>
            </a:pPr>
            <a:r>
              <a:rPr lang="en-GB" sz="1800"/>
              <a:t>5 km</a:t>
            </a:r>
            <a:endParaRPr sz="1800"/>
          </a:p>
          <a:p>
            <a:pPr indent="0" lvl="0" marL="0" rtl="0" algn="ctr">
              <a:lnSpc>
                <a:spcPct val="85000"/>
              </a:lnSpc>
              <a:spcBef>
                <a:spcPts val="0"/>
              </a:spcBef>
              <a:spcAft>
                <a:spcPts val="0"/>
              </a:spcAft>
              <a:buNone/>
            </a:pPr>
            <a:r>
              <a:rPr lang="en-GB" sz="1800"/>
              <a:t>240°</a:t>
            </a:r>
            <a:endParaRPr sz="1800"/>
          </a:p>
        </p:txBody>
      </p:sp>
      <p:sp>
        <p:nvSpPr>
          <p:cNvPr id="1281" name="Google Shape;1281;p96"/>
          <p:cNvSpPr txBox="1"/>
          <p:nvPr>
            <p:ph idx="1" type="body"/>
          </p:nvPr>
        </p:nvSpPr>
        <p:spPr>
          <a:xfrm>
            <a:off x="6488322" y="765900"/>
            <a:ext cx="2295900" cy="294900"/>
          </a:xfrm>
          <a:prstGeom prst="rect">
            <a:avLst/>
          </a:prstGeom>
        </p:spPr>
        <p:txBody>
          <a:bodyPr anchorCtr="0" anchor="t" bIns="0" lIns="0" spcFirstLastPara="1" rIns="0" wrap="square" tIns="0">
            <a:noAutofit/>
          </a:bodyPr>
          <a:lstStyle/>
          <a:p>
            <a:pPr indent="0" lvl="0" marL="0" rtl="0" algn="r">
              <a:spcBef>
                <a:spcPts val="0"/>
              </a:spcBef>
              <a:spcAft>
                <a:spcPts val="1000"/>
              </a:spcAft>
              <a:buNone/>
            </a:pPr>
            <a:r>
              <a:rPr lang="en-GB" sz="1800"/>
              <a:t>Walked to school</a:t>
            </a:r>
            <a:endParaRPr sz="1800"/>
          </a:p>
        </p:txBody>
      </p:sp>
      <p:sp>
        <p:nvSpPr>
          <p:cNvPr id="1282" name="Google Shape;1282;p96"/>
          <p:cNvSpPr txBox="1"/>
          <p:nvPr>
            <p:ph idx="1" type="body"/>
          </p:nvPr>
        </p:nvSpPr>
        <p:spPr>
          <a:xfrm>
            <a:off x="2986051" y="765900"/>
            <a:ext cx="2385300" cy="29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Didn’t walk to school</a:t>
            </a:r>
            <a:endParaRPr sz="1800"/>
          </a:p>
        </p:txBody>
      </p:sp>
      <p:sp>
        <p:nvSpPr>
          <p:cNvPr id="1283" name="Google Shape;1283;p96"/>
          <p:cNvSpPr txBox="1"/>
          <p:nvPr>
            <p:ph idx="1" type="body"/>
          </p:nvPr>
        </p:nvSpPr>
        <p:spPr>
          <a:xfrm>
            <a:off x="2958488" y="3957668"/>
            <a:ext cx="5211300" cy="741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There’s a greater proportion leftover here from the 10 students, and so the “walked to school” pie chart represents a larger total frequency.</a:t>
            </a:r>
            <a:endParaRPr sz="2000">
              <a:latin typeface="Kalam"/>
              <a:ea typeface="Kalam"/>
              <a:cs typeface="Kalam"/>
              <a:sym typeface="Kalam"/>
            </a:endParaRPr>
          </a:p>
        </p:txBody>
      </p:sp>
      <p:sp>
        <p:nvSpPr>
          <p:cNvPr id="1284" name="Google Shape;1284;p96"/>
          <p:cNvSpPr txBox="1"/>
          <p:nvPr>
            <p:ph idx="1" type="body"/>
          </p:nvPr>
        </p:nvSpPr>
        <p:spPr>
          <a:xfrm>
            <a:off x="5846502" y="1726072"/>
            <a:ext cx="1422600" cy="419100"/>
          </a:xfrm>
          <a:prstGeom prst="rect">
            <a:avLst/>
          </a:prstGeom>
        </p:spPr>
        <p:txBody>
          <a:bodyPr anchorCtr="0" anchor="t" bIns="0" lIns="0" spcFirstLastPara="1" rIns="0" wrap="square" tIns="0">
            <a:noAutofit/>
          </a:bodyPr>
          <a:lstStyle/>
          <a:p>
            <a:pPr indent="0" lvl="0" marL="0" rtl="0" algn="ctr">
              <a:lnSpc>
                <a:spcPct val="85000"/>
              </a:lnSpc>
              <a:spcBef>
                <a:spcPts val="0"/>
              </a:spcBef>
              <a:spcAft>
                <a:spcPts val="0"/>
              </a:spcAft>
              <a:buNone/>
            </a:pPr>
            <a:r>
              <a:rPr lang="en-GB" sz="1600">
                <a:latin typeface="Kalam"/>
                <a:ea typeface="Kalam"/>
                <a:cs typeface="Kalam"/>
                <a:sym typeface="Kalam"/>
              </a:rPr>
              <a:t>10</a:t>
            </a:r>
            <a:endParaRPr sz="1600">
              <a:latin typeface="Kalam"/>
              <a:ea typeface="Kalam"/>
              <a:cs typeface="Kalam"/>
              <a:sym typeface="Kalam"/>
            </a:endParaRPr>
          </a:p>
          <a:p>
            <a:pPr indent="0" lvl="0" marL="0" rtl="0" algn="ctr">
              <a:lnSpc>
                <a:spcPct val="85000"/>
              </a:lnSpc>
              <a:spcBef>
                <a:spcPts val="0"/>
              </a:spcBef>
              <a:spcAft>
                <a:spcPts val="0"/>
              </a:spcAft>
              <a:buNone/>
            </a:pPr>
            <a:r>
              <a:rPr lang="en-GB" sz="1600">
                <a:latin typeface="Kalam"/>
                <a:ea typeface="Kalam"/>
                <a:cs typeface="Kalam"/>
                <a:sym typeface="Kalam"/>
              </a:rPr>
              <a:t>students</a:t>
            </a:r>
            <a:endParaRPr sz="1600">
              <a:latin typeface="Kalam"/>
              <a:ea typeface="Kalam"/>
              <a:cs typeface="Kalam"/>
              <a:sym typeface="Kalam"/>
            </a:endParaRPr>
          </a:p>
        </p:txBody>
      </p:sp>
      <p:sp>
        <p:nvSpPr>
          <p:cNvPr id="1285" name="Google Shape;1285;p96"/>
          <p:cNvSpPr txBox="1"/>
          <p:nvPr>
            <p:ph idx="1" type="body"/>
          </p:nvPr>
        </p:nvSpPr>
        <p:spPr>
          <a:xfrm>
            <a:off x="4455325" y="1295871"/>
            <a:ext cx="796500" cy="741000"/>
          </a:xfrm>
          <a:prstGeom prst="rect">
            <a:avLst/>
          </a:prstGeom>
        </p:spPr>
        <p:txBody>
          <a:bodyPr anchorCtr="0" anchor="t" bIns="0" lIns="0" spcFirstLastPara="1" rIns="0" wrap="square" tIns="0">
            <a:noAutofit/>
          </a:bodyPr>
          <a:lstStyle/>
          <a:p>
            <a:pPr indent="0" lvl="0" marL="0" rtl="0" algn="ctr">
              <a:lnSpc>
                <a:spcPct val="100000"/>
              </a:lnSpc>
              <a:spcBef>
                <a:spcPts val="0"/>
              </a:spcBef>
              <a:spcAft>
                <a:spcPts val="0"/>
              </a:spcAft>
              <a:buNone/>
            </a:pPr>
            <a:r>
              <a:rPr lang="en-GB" sz="1600">
                <a:latin typeface="Kalam"/>
                <a:ea typeface="Kalam"/>
                <a:cs typeface="Kalam"/>
                <a:sym typeface="Kalam"/>
              </a:rPr>
              <a:t>10 students</a:t>
            </a:r>
            <a:endParaRPr sz="1600">
              <a:latin typeface="Kalam"/>
              <a:ea typeface="Kalam"/>
              <a:cs typeface="Kalam"/>
              <a:sym typeface="Kalam"/>
            </a:endParaRPr>
          </a:p>
        </p:txBody>
      </p:sp>
      <p:cxnSp>
        <p:nvCxnSpPr>
          <p:cNvPr id="1286" name="Google Shape;1286;p96"/>
          <p:cNvCxnSpPr/>
          <p:nvPr/>
        </p:nvCxnSpPr>
        <p:spPr>
          <a:xfrm flipH="1" rot="10800000">
            <a:off x="6186525" y="2725500"/>
            <a:ext cx="396000" cy="1235400"/>
          </a:xfrm>
          <a:prstGeom prst="straightConnector1">
            <a:avLst/>
          </a:prstGeom>
          <a:noFill/>
          <a:ln cap="flat" cmpd="sng" w="38100">
            <a:solidFill>
              <a:schemeClr val="dk2"/>
            </a:solidFill>
            <a:prstDash val="solid"/>
            <a:round/>
            <a:headEnd len="med" w="med" type="none"/>
            <a:tailEnd len="med" w="med" type="none"/>
          </a:ln>
        </p:spPr>
      </p:cxnSp>
      <p:pic>
        <p:nvPicPr>
          <p:cNvPr id="1287" name="Google Shape;1287;p96"/>
          <p:cNvPicPr preferRelativeResize="0"/>
          <p:nvPr/>
        </p:nvPicPr>
        <p:blipFill>
          <a:blip r:embed="rId4">
            <a:alphaModFix/>
          </a:blip>
          <a:stretch>
            <a:fillRect/>
          </a:stretch>
        </p:blipFill>
        <p:spPr>
          <a:xfrm>
            <a:off x="8383946" y="1088200"/>
            <a:ext cx="396000" cy="419100"/>
          </a:xfrm>
          <a:prstGeom prst="rect">
            <a:avLst/>
          </a:prstGeom>
          <a:noFill/>
          <a:ln>
            <a:noFill/>
          </a:ln>
        </p:spPr>
      </p:pic>
      <p:sp>
        <p:nvSpPr>
          <p:cNvPr id="1288" name="Google Shape;1288;p96"/>
          <p:cNvSpPr txBox="1"/>
          <p:nvPr>
            <p:ph idx="1" type="body"/>
          </p:nvPr>
        </p:nvSpPr>
        <p:spPr>
          <a:xfrm>
            <a:off x="5089430" y="1078275"/>
            <a:ext cx="734700" cy="2949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lang="en-GB" sz="1800"/>
              <a:t>sector x</a:t>
            </a:r>
            <a:endParaRPr sz="1800"/>
          </a:p>
        </p:txBody>
      </p:sp>
      <p:sp>
        <p:nvSpPr>
          <p:cNvPr id="1289" name="Google Shape;1289;p96"/>
          <p:cNvSpPr txBox="1"/>
          <p:nvPr>
            <p:ph idx="1" type="body"/>
          </p:nvPr>
        </p:nvSpPr>
        <p:spPr>
          <a:xfrm>
            <a:off x="5949986" y="1078275"/>
            <a:ext cx="734700" cy="294900"/>
          </a:xfrm>
          <a:prstGeom prst="rect">
            <a:avLst/>
          </a:prstGeom>
        </p:spPr>
        <p:txBody>
          <a:bodyPr anchorCtr="0" anchor="t" bIns="0" lIns="0" spcFirstLastPara="1" rIns="0" wrap="square" tIns="0">
            <a:noAutofit/>
          </a:bodyPr>
          <a:lstStyle/>
          <a:p>
            <a:pPr indent="0" lvl="0" marL="0" rtl="0" algn="ctr">
              <a:lnSpc>
                <a:spcPct val="80000"/>
              </a:lnSpc>
              <a:spcBef>
                <a:spcPts val="0"/>
              </a:spcBef>
              <a:spcAft>
                <a:spcPts val="0"/>
              </a:spcAft>
              <a:buNone/>
            </a:pPr>
            <a:r>
              <a:rPr lang="en-GB" sz="1800"/>
              <a:t>sector y</a:t>
            </a:r>
            <a:endParaRPr sz="1800"/>
          </a:p>
        </p:txBody>
      </p:sp>
      <p:cxnSp>
        <p:nvCxnSpPr>
          <p:cNvPr id="1290" name="Google Shape;1290;p96"/>
          <p:cNvCxnSpPr/>
          <p:nvPr/>
        </p:nvCxnSpPr>
        <p:spPr>
          <a:xfrm flipH="1">
            <a:off x="5207375" y="1540800"/>
            <a:ext cx="232200" cy="232200"/>
          </a:xfrm>
          <a:prstGeom prst="straightConnector1">
            <a:avLst/>
          </a:prstGeom>
          <a:noFill/>
          <a:ln cap="flat" cmpd="sng" w="38100">
            <a:solidFill>
              <a:schemeClr val="dk2"/>
            </a:solidFill>
            <a:prstDash val="solid"/>
            <a:round/>
            <a:headEnd len="med" w="med" type="none"/>
            <a:tailEnd len="med" w="med" type="none"/>
          </a:ln>
        </p:spPr>
      </p:cxnSp>
      <p:cxnSp>
        <p:nvCxnSpPr>
          <p:cNvPr id="1291" name="Google Shape;1291;p96"/>
          <p:cNvCxnSpPr>
            <a:endCxn id="1284" idx="0"/>
          </p:cNvCxnSpPr>
          <p:nvPr/>
        </p:nvCxnSpPr>
        <p:spPr>
          <a:xfrm>
            <a:off x="6343902" y="1540672"/>
            <a:ext cx="213900" cy="185400"/>
          </a:xfrm>
          <a:prstGeom prst="straightConnector1">
            <a:avLst/>
          </a:prstGeom>
          <a:noFill/>
          <a:ln cap="flat" cmpd="sng" w="38100">
            <a:solidFill>
              <a:schemeClr val="dk2"/>
            </a:solidFill>
            <a:prstDash val="solid"/>
            <a:round/>
            <a:headEnd len="med" w="med" type="none"/>
            <a:tailEnd len="med" w="med" type="none"/>
          </a:ln>
        </p:spPr>
      </p:cxnSp>
      <p:sp>
        <p:nvSpPr>
          <p:cNvPr id="1292" name="Google Shape;1292;p96"/>
          <p:cNvSpPr txBox="1"/>
          <p:nvPr>
            <p:ph idx="1" type="body"/>
          </p:nvPr>
        </p:nvSpPr>
        <p:spPr>
          <a:xfrm>
            <a:off x="324003" y="1088200"/>
            <a:ext cx="2662200" cy="741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Let’s say both sector x and sector y represent 10 students.</a:t>
            </a:r>
            <a:endParaRPr sz="2000">
              <a:latin typeface="Kalam"/>
              <a:ea typeface="Kalam"/>
              <a:cs typeface="Kalam"/>
              <a:sym typeface="Kalam"/>
            </a:endParaRPr>
          </a:p>
        </p:txBody>
      </p:sp>
      <p:cxnSp>
        <p:nvCxnSpPr>
          <p:cNvPr id="1293" name="Google Shape;1293;p96"/>
          <p:cNvCxnSpPr/>
          <p:nvPr/>
        </p:nvCxnSpPr>
        <p:spPr>
          <a:xfrm flipH="1" rot="10800000">
            <a:off x="2491338" y="2190289"/>
            <a:ext cx="2095200" cy="418200"/>
          </a:xfrm>
          <a:prstGeom prst="straightConnector1">
            <a:avLst/>
          </a:prstGeom>
          <a:noFill/>
          <a:ln cap="flat" cmpd="sng" w="38100">
            <a:solidFill>
              <a:schemeClr val="dk2"/>
            </a:solidFill>
            <a:prstDash val="solid"/>
            <a:round/>
            <a:headEnd len="med" w="med" type="none"/>
            <a:tailEnd len="med" w="med" type="none"/>
          </a:ln>
        </p:spPr>
      </p:cxnSp>
      <p:sp>
        <p:nvSpPr>
          <p:cNvPr id="1294" name="Google Shape;1294;p96"/>
          <p:cNvSpPr txBox="1"/>
          <p:nvPr>
            <p:ph idx="1" type="body"/>
          </p:nvPr>
        </p:nvSpPr>
        <p:spPr>
          <a:xfrm>
            <a:off x="324000" y="2222836"/>
            <a:ext cx="2563200" cy="741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Those 10 students represent a large proportion of the total pie chart. </a:t>
            </a:r>
            <a:endParaRPr sz="2000">
              <a:latin typeface="Kalam"/>
              <a:ea typeface="Kalam"/>
              <a:cs typeface="Kalam"/>
              <a:sym typeface="Kalam"/>
            </a:endParaRPr>
          </a:p>
        </p:txBody>
      </p:sp>
      <p:cxnSp>
        <p:nvCxnSpPr>
          <p:cNvPr id="1295" name="Google Shape;1295;p96"/>
          <p:cNvCxnSpPr/>
          <p:nvPr/>
        </p:nvCxnSpPr>
        <p:spPr>
          <a:xfrm flipH="1" rot="10800000">
            <a:off x="2651588" y="3235814"/>
            <a:ext cx="889200" cy="640200"/>
          </a:xfrm>
          <a:prstGeom prst="straightConnector1">
            <a:avLst/>
          </a:prstGeom>
          <a:noFill/>
          <a:ln cap="flat" cmpd="sng" w="38100">
            <a:solidFill>
              <a:schemeClr val="dk2"/>
            </a:solidFill>
            <a:prstDash val="solid"/>
            <a:round/>
            <a:headEnd len="med" w="med" type="none"/>
            <a:tailEnd len="med" w="med" type="none"/>
          </a:ln>
        </p:spPr>
      </p:cxnSp>
      <p:sp>
        <p:nvSpPr>
          <p:cNvPr id="1296" name="Google Shape;1296;p96"/>
          <p:cNvSpPr txBox="1"/>
          <p:nvPr>
            <p:ph idx="1" type="body"/>
          </p:nvPr>
        </p:nvSpPr>
        <p:spPr>
          <a:xfrm>
            <a:off x="324000" y="3570513"/>
            <a:ext cx="2563200" cy="7410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latin typeface="Kalam"/>
                <a:ea typeface="Kalam"/>
                <a:cs typeface="Kalam"/>
                <a:sym typeface="Kalam"/>
              </a:rPr>
              <a:t>This means there are fewer other students represented by this part of the pie chart.</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7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7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0" name="Shape 1300"/>
        <p:cNvGrpSpPr/>
        <p:nvPr/>
      </p:nvGrpSpPr>
      <p:grpSpPr>
        <a:xfrm>
          <a:off x="0" y="0"/>
          <a:ext cx="0" cy="0"/>
          <a:chOff x="0" y="0"/>
          <a:chExt cx="0" cy="0"/>
        </a:xfrm>
      </p:grpSpPr>
      <p:sp>
        <p:nvSpPr>
          <p:cNvPr id="1301" name="Google Shape;1301;p97"/>
          <p:cNvSpPr txBox="1"/>
          <p:nvPr>
            <p:ph idx="1" type="body"/>
          </p:nvPr>
        </p:nvSpPr>
        <p:spPr>
          <a:xfrm>
            <a:off x="324000" y="683100"/>
            <a:ext cx="8496000" cy="23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 headteacher is comparing the exam results of two classes.</a:t>
            </a:r>
            <a:endParaRPr sz="1800"/>
          </a:p>
        </p:txBody>
      </p:sp>
      <p:sp>
        <p:nvSpPr>
          <p:cNvPr id="1302" name="Google Shape;1302;p9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pic>
        <p:nvPicPr>
          <p:cNvPr id="1303" name="Google Shape;1303;p97"/>
          <p:cNvPicPr preferRelativeResize="0"/>
          <p:nvPr/>
        </p:nvPicPr>
        <p:blipFill>
          <a:blip r:embed="rId3">
            <a:alphaModFix/>
          </a:blip>
          <a:stretch>
            <a:fillRect/>
          </a:stretch>
        </p:blipFill>
        <p:spPr>
          <a:xfrm>
            <a:off x="607788" y="1379861"/>
            <a:ext cx="4042974" cy="2152450"/>
          </a:xfrm>
          <a:prstGeom prst="rect">
            <a:avLst/>
          </a:prstGeom>
          <a:noFill/>
          <a:ln cap="flat" cmpd="sng" w="19050">
            <a:solidFill>
              <a:schemeClr val="dk1"/>
            </a:solidFill>
            <a:prstDash val="solid"/>
            <a:round/>
            <a:headEnd len="sm" w="sm" type="none"/>
            <a:tailEnd len="sm" w="sm" type="none"/>
          </a:ln>
        </p:spPr>
      </p:pic>
      <p:sp>
        <p:nvSpPr>
          <p:cNvPr id="1304" name="Google Shape;1304;p97"/>
          <p:cNvSpPr txBox="1"/>
          <p:nvPr>
            <p:ph idx="1" type="body"/>
          </p:nvPr>
        </p:nvSpPr>
        <p:spPr>
          <a:xfrm>
            <a:off x="607800" y="11067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R</a:t>
            </a:r>
            <a:endParaRPr sz="1800"/>
          </a:p>
        </p:txBody>
      </p:sp>
      <p:sp>
        <p:nvSpPr>
          <p:cNvPr id="1305" name="Google Shape;1305;p97"/>
          <p:cNvSpPr txBox="1"/>
          <p:nvPr>
            <p:ph idx="1" type="body"/>
          </p:nvPr>
        </p:nvSpPr>
        <p:spPr>
          <a:xfrm>
            <a:off x="2629200" y="11067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P</a:t>
            </a:r>
            <a:endParaRPr sz="1800"/>
          </a:p>
        </p:txBody>
      </p:sp>
      <p:sp>
        <p:nvSpPr>
          <p:cNvPr id="1306" name="Google Shape;1306;p97"/>
          <p:cNvSpPr txBox="1"/>
          <p:nvPr>
            <p:ph idx="1" type="body"/>
          </p:nvPr>
        </p:nvSpPr>
        <p:spPr>
          <a:xfrm>
            <a:off x="1209900" y="27000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307" name="Google Shape;1307;p97"/>
          <p:cNvSpPr txBox="1"/>
          <p:nvPr>
            <p:ph idx="1" type="body"/>
          </p:nvPr>
        </p:nvSpPr>
        <p:spPr>
          <a:xfrm>
            <a:off x="2784825" y="23402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308" name="Google Shape;1308;p97"/>
          <p:cNvSpPr txBox="1"/>
          <p:nvPr>
            <p:ph idx="1" type="body"/>
          </p:nvPr>
        </p:nvSpPr>
        <p:spPr>
          <a:xfrm>
            <a:off x="3671300" y="23402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309" name="Google Shape;1309;p97"/>
          <p:cNvSpPr txBox="1"/>
          <p:nvPr>
            <p:ph idx="1" type="body"/>
          </p:nvPr>
        </p:nvSpPr>
        <p:spPr>
          <a:xfrm>
            <a:off x="794950" y="19680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310" name="Google Shape;1310;p97"/>
          <p:cNvSpPr txBox="1"/>
          <p:nvPr>
            <p:ph idx="1" type="body"/>
          </p:nvPr>
        </p:nvSpPr>
        <p:spPr>
          <a:xfrm>
            <a:off x="4866250" y="1379850"/>
            <a:ext cx="3953700" cy="89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headteacher says “more students </a:t>
            </a:r>
            <a:r>
              <a:rPr lang="en-GB" sz="1800"/>
              <a:t>passed</a:t>
            </a:r>
            <a:r>
              <a:rPr lang="en-GB" sz="1800"/>
              <a:t> the exam in Class R”.</a:t>
            </a:r>
            <a:endParaRPr sz="1800"/>
          </a:p>
          <a:p>
            <a:pPr indent="0" lvl="0" marL="0" rtl="0" algn="l">
              <a:spcBef>
                <a:spcPts val="1000"/>
              </a:spcBef>
              <a:spcAft>
                <a:spcPts val="1000"/>
              </a:spcAft>
              <a:buNone/>
            </a:pPr>
            <a:r>
              <a:rPr lang="en-GB" sz="1800"/>
              <a:t>The headteacher may be incorrect. Can you explain why?</a:t>
            </a:r>
            <a:endParaRPr sz="1800"/>
          </a:p>
        </p:txBody>
      </p:sp>
      <p:sp>
        <p:nvSpPr>
          <p:cNvPr id="1311" name="Google Shape;1311;p97"/>
          <p:cNvSpPr/>
          <p:nvPr/>
        </p:nvSpPr>
        <p:spPr>
          <a:xfrm>
            <a:off x="1471775" y="2304450"/>
            <a:ext cx="150900" cy="150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pic>
        <p:nvPicPr>
          <p:cNvPr id="1317" name="Google Shape;1317;p98"/>
          <p:cNvPicPr preferRelativeResize="0"/>
          <p:nvPr/>
        </p:nvPicPr>
        <p:blipFill>
          <a:blip r:embed="rId3">
            <a:alphaModFix/>
          </a:blip>
          <a:stretch>
            <a:fillRect/>
          </a:stretch>
        </p:blipFill>
        <p:spPr>
          <a:xfrm>
            <a:off x="607788" y="1075061"/>
            <a:ext cx="4042974" cy="2152450"/>
          </a:xfrm>
          <a:prstGeom prst="rect">
            <a:avLst/>
          </a:prstGeom>
          <a:noFill/>
          <a:ln cap="flat" cmpd="sng" w="19050">
            <a:solidFill>
              <a:schemeClr val="dk1"/>
            </a:solidFill>
            <a:prstDash val="solid"/>
            <a:round/>
            <a:headEnd len="sm" w="sm" type="none"/>
            <a:tailEnd len="sm" w="sm" type="none"/>
          </a:ln>
        </p:spPr>
      </p:pic>
      <p:sp>
        <p:nvSpPr>
          <p:cNvPr id="1318" name="Google Shape;1318;p98"/>
          <p:cNvSpPr txBox="1"/>
          <p:nvPr>
            <p:ph idx="1" type="body"/>
          </p:nvPr>
        </p:nvSpPr>
        <p:spPr>
          <a:xfrm>
            <a:off x="607800" y="8019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R</a:t>
            </a:r>
            <a:endParaRPr sz="1800"/>
          </a:p>
        </p:txBody>
      </p:sp>
      <p:sp>
        <p:nvSpPr>
          <p:cNvPr id="1319" name="Google Shape;1319;p98"/>
          <p:cNvSpPr txBox="1"/>
          <p:nvPr>
            <p:ph idx="1" type="body"/>
          </p:nvPr>
        </p:nvSpPr>
        <p:spPr>
          <a:xfrm>
            <a:off x="2629200" y="8019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P</a:t>
            </a:r>
            <a:endParaRPr sz="1800"/>
          </a:p>
        </p:txBody>
      </p:sp>
      <p:sp>
        <p:nvSpPr>
          <p:cNvPr id="1320" name="Google Shape;1320;p98"/>
          <p:cNvSpPr txBox="1"/>
          <p:nvPr>
            <p:ph idx="1" type="body"/>
          </p:nvPr>
        </p:nvSpPr>
        <p:spPr>
          <a:xfrm>
            <a:off x="1209900" y="23952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321" name="Google Shape;1321;p98"/>
          <p:cNvSpPr txBox="1"/>
          <p:nvPr>
            <p:ph idx="1" type="body"/>
          </p:nvPr>
        </p:nvSpPr>
        <p:spPr>
          <a:xfrm>
            <a:off x="2784825" y="20354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322" name="Google Shape;1322;p98"/>
          <p:cNvSpPr txBox="1"/>
          <p:nvPr>
            <p:ph idx="1" type="body"/>
          </p:nvPr>
        </p:nvSpPr>
        <p:spPr>
          <a:xfrm>
            <a:off x="3671300" y="20354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323" name="Google Shape;1323;p98"/>
          <p:cNvSpPr txBox="1"/>
          <p:nvPr>
            <p:ph idx="1" type="body"/>
          </p:nvPr>
        </p:nvSpPr>
        <p:spPr>
          <a:xfrm>
            <a:off x="794950" y="16632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324" name="Google Shape;1324;p98"/>
          <p:cNvSpPr txBox="1"/>
          <p:nvPr>
            <p:ph idx="1" type="body"/>
          </p:nvPr>
        </p:nvSpPr>
        <p:spPr>
          <a:xfrm>
            <a:off x="4866250" y="760819"/>
            <a:ext cx="3953700" cy="89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both classes, 15 </a:t>
            </a:r>
            <a:r>
              <a:rPr lang="en-GB" sz="1800"/>
              <a:t>students passed the exam.</a:t>
            </a:r>
            <a:endParaRPr sz="1800"/>
          </a:p>
          <a:p>
            <a:pPr indent="0" lvl="0" marL="0" rtl="0" algn="l">
              <a:spcBef>
                <a:spcPts val="1000"/>
              </a:spcBef>
              <a:spcAft>
                <a:spcPts val="1000"/>
              </a:spcAft>
              <a:buNone/>
            </a:pPr>
            <a:r>
              <a:rPr lang="en-GB" sz="1800"/>
              <a:t>Complete the ratio tables below to work out which class had more students.</a:t>
            </a:r>
            <a:endParaRPr sz="1800"/>
          </a:p>
        </p:txBody>
      </p:sp>
      <p:sp>
        <p:nvSpPr>
          <p:cNvPr id="1325" name="Google Shape;1325;p98"/>
          <p:cNvSpPr/>
          <p:nvPr/>
        </p:nvSpPr>
        <p:spPr>
          <a:xfrm>
            <a:off x="1471775" y="1999650"/>
            <a:ext cx="150900" cy="150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6" name="Google Shape;1326;p98"/>
          <p:cNvSpPr txBox="1"/>
          <p:nvPr>
            <p:ph idx="1" type="body"/>
          </p:nvPr>
        </p:nvSpPr>
        <p:spPr>
          <a:xfrm>
            <a:off x="324000" y="683100"/>
            <a:ext cx="4326900" cy="23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a:t>
            </a:r>
            <a:endParaRPr sz="1800"/>
          </a:p>
        </p:txBody>
      </p:sp>
      <p:graphicFrame>
        <p:nvGraphicFramePr>
          <p:cNvPr id="1327" name="Google Shape;1327;p98"/>
          <p:cNvGraphicFramePr/>
          <p:nvPr/>
        </p:nvGraphicFramePr>
        <p:xfrm>
          <a:off x="607800" y="3724672"/>
          <a:ext cx="3000000" cy="3000000"/>
        </p:xfrm>
        <a:graphic>
          <a:graphicData uri="http://schemas.openxmlformats.org/drawingml/2006/table">
            <a:tbl>
              <a:tblPr>
                <a:noFill/>
                <a:tableStyleId>{8FE87B28-7372-46B9-B6C0-65CDB115E127}</a:tableStyleId>
              </a:tblPr>
              <a:tblGrid>
                <a:gridCol w="1246275"/>
                <a:gridCol w="965200"/>
                <a:gridCol w="823625"/>
              </a:tblGrid>
              <a:tr h="280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pass</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fail</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0" marB="0" marR="0" marL="0" anchor="ctr">
                    <a:solidFill>
                      <a:srgbClr val="037B7D"/>
                    </a:solidFill>
                  </a:tcPr>
                </a:tc>
              </a:tr>
              <a:tr h="315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tcPr>
                </a:tc>
              </a:tr>
              <a:tr h="315000">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tc>
              </a:tr>
            </a:tbl>
          </a:graphicData>
        </a:graphic>
      </p:graphicFrame>
      <p:sp>
        <p:nvSpPr>
          <p:cNvPr id="1328" name="Google Shape;1328;p98"/>
          <p:cNvSpPr txBox="1"/>
          <p:nvPr>
            <p:ph idx="4294967295" type="body"/>
          </p:nvPr>
        </p:nvSpPr>
        <p:spPr>
          <a:xfrm>
            <a:off x="607875" y="3419672"/>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R</a:t>
            </a:r>
            <a:endParaRPr sz="1800"/>
          </a:p>
        </p:txBody>
      </p:sp>
      <p:graphicFrame>
        <p:nvGraphicFramePr>
          <p:cNvPr id="1329" name="Google Shape;1329;p98"/>
          <p:cNvGraphicFramePr/>
          <p:nvPr/>
        </p:nvGraphicFramePr>
        <p:xfrm>
          <a:off x="4256813" y="3724672"/>
          <a:ext cx="3000000" cy="3000000"/>
        </p:xfrm>
        <a:graphic>
          <a:graphicData uri="http://schemas.openxmlformats.org/drawingml/2006/table">
            <a:tbl>
              <a:tblPr>
                <a:noFill/>
                <a:tableStyleId>{8FE87B28-7372-46B9-B6C0-65CDB115E127}</a:tableStyleId>
              </a:tblPr>
              <a:tblGrid>
                <a:gridCol w="1246275"/>
                <a:gridCol w="965200"/>
                <a:gridCol w="823625"/>
              </a:tblGrid>
              <a:tr h="280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pass</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fail</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0" marB="0" marR="0" marL="0" anchor="ctr">
                    <a:solidFill>
                      <a:srgbClr val="037B7D"/>
                    </a:solidFill>
                  </a:tcPr>
                </a:tc>
              </a:tr>
              <a:tr h="315000">
                <a:tc>
                  <a:txBody>
                    <a:bodyPr/>
                    <a:lstStyle/>
                    <a:p>
                      <a:pPr indent="0" lvl="0" marL="0" rtl="0" algn="ctr">
                        <a:spcBef>
                          <a:spcPts val="0"/>
                        </a:spcBef>
                        <a:spcAft>
                          <a:spcPts val="0"/>
                        </a:spcAft>
                        <a:buNone/>
                      </a:pPr>
                      <a:r>
                        <a:rPr lang="en-GB" sz="1800">
                          <a:latin typeface="Lexend"/>
                          <a:ea typeface="Lexend"/>
                          <a:cs typeface="Lexend"/>
                          <a:sym typeface="Lexend"/>
                        </a:rPr>
                        <a:t>180°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180°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tcPr>
                </a:tc>
              </a:tr>
              <a:tr h="315000">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tc>
              </a:tr>
            </a:tbl>
          </a:graphicData>
        </a:graphic>
      </p:graphicFrame>
      <p:sp>
        <p:nvSpPr>
          <p:cNvPr id="1330" name="Google Shape;1330;p98"/>
          <p:cNvSpPr txBox="1"/>
          <p:nvPr>
            <p:ph idx="4294967295" type="body"/>
          </p:nvPr>
        </p:nvSpPr>
        <p:spPr>
          <a:xfrm>
            <a:off x="4256888" y="3419672"/>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P</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99"/>
          <p:cNvSpPr txBox="1"/>
          <p:nvPr>
            <p:ph idx="1" type="body"/>
          </p:nvPr>
        </p:nvSpPr>
        <p:spPr>
          <a:xfrm>
            <a:off x="324000" y="683100"/>
            <a:ext cx="3322200" cy="23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People in Leeds city centre were asked whether they support Leeds United, and whether they would watch Leeds United’s next football match.</a:t>
            </a:r>
            <a:endParaRPr sz="1800"/>
          </a:p>
          <a:p>
            <a:pPr indent="0" lvl="0" marL="0" rtl="0" algn="l">
              <a:spcBef>
                <a:spcPts val="1000"/>
              </a:spcBef>
              <a:spcAft>
                <a:spcPts val="1000"/>
              </a:spcAft>
              <a:buNone/>
            </a:pPr>
            <a:r>
              <a:rPr lang="en-GB" sz="1800"/>
              <a:t>Two pie charts were drawn, one to show supporters, and one to show non-supporters.</a:t>
            </a:r>
            <a:endParaRPr sz="1800"/>
          </a:p>
        </p:txBody>
      </p:sp>
      <p:sp>
        <p:nvSpPr>
          <p:cNvPr id="1336" name="Google Shape;1336;p99"/>
          <p:cNvSpPr txBox="1"/>
          <p:nvPr>
            <p:ph idx="1" type="body"/>
          </p:nvPr>
        </p:nvSpPr>
        <p:spPr>
          <a:xfrm>
            <a:off x="324000" y="4204200"/>
            <a:ext cx="8496000" cy="23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of the two pie charts represents the group of people who support Leeds United? Explain how you know.</a:t>
            </a:r>
            <a:endParaRPr sz="1800"/>
          </a:p>
        </p:txBody>
      </p:sp>
      <p:sp>
        <p:nvSpPr>
          <p:cNvPr id="1337" name="Google Shape;1337;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pic>
        <p:nvPicPr>
          <p:cNvPr id="1338" name="Google Shape;1338;p99"/>
          <p:cNvPicPr preferRelativeResize="0"/>
          <p:nvPr/>
        </p:nvPicPr>
        <p:blipFill>
          <a:blip r:embed="rId3">
            <a:alphaModFix/>
          </a:blip>
          <a:stretch>
            <a:fillRect/>
          </a:stretch>
        </p:blipFill>
        <p:spPr>
          <a:xfrm>
            <a:off x="3806387" y="742275"/>
            <a:ext cx="5013625" cy="2584000"/>
          </a:xfrm>
          <a:prstGeom prst="rect">
            <a:avLst/>
          </a:prstGeom>
          <a:noFill/>
          <a:ln>
            <a:noFill/>
          </a:ln>
        </p:spPr>
      </p:pic>
      <p:grpSp>
        <p:nvGrpSpPr>
          <p:cNvPr id="1339" name="Google Shape;1339;p99"/>
          <p:cNvGrpSpPr/>
          <p:nvPr/>
        </p:nvGrpSpPr>
        <p:grpSpPr>
          <a:xfrm>
            <a:off x="3806387" y="742276"/>
            <a:ext cx="337459" cy="337459"/>
            <a:chOff x="1020916" y="1442088"/>
            <a:chExt cx="457200" cy="457200"/>
          </a:xfrm>
        </p:grpSpPr>
        <p:pic>
          <p:nvPicPr>
            <p:cNvPr id="1340" name="Google Shape;1340;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1" name="Google Shape;1341;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1342" name="Google Shape;1342;p99"/>
          <p:cNvSpPr txBox="1"/>
          <p:nvPr>
            <p:ph idx="1" type="body"/>
          </p:nvPr>
        </p:nvSpPr>
        <p:spPr>
          <a:xfrm>
            <a:off x="4195050" y="2034275"/>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
            </a:r>
            <a:r>
              <a:rPr lang="en-GB" sz="1800"/>
              <a:t>on’t</a:t>
            </a:r>
            <a:endParaRPr sz="1800"/>
          </a:p>
          <a:p>
            <a:pPr indent="0" lvl="0" marL="0" rtl="0" algn="ctr">
              <a:lnSpc>
                <a:spcPct val="100000"/>
              </a:lnSpc>
              <a:spcBef>
                <a:spcPts val="0"/>
              </a:spcBef>
              <a:spcAft>
                <a:spcPts val="0"/>
              </a:spcAft>
              <a:buNone/>
            </a:pPr>
            <a:r>
              <a:rPr lang="en-GB" sz="1800"/>
              <a:t>watch</a:t>
            </a:r>
            <a:endParaRPr sz="1800"/>
          </a:p>
        </p:txBody>
      </p:sp>
      <p:grpSp>
        <p:nvGrpSpPr>
          <p:cNvPr id="1343" name="Google Shape;1343;p99"/>
          <p:cNvGrpSpPr/>
          <p:nvPr/>
        </p:nvGrpSpPr>
        <p:grpSpPr>
          <a:xfrm>
            <a:off x="8482537" y="742276"/>
            <a:ext cx="337459" cy="337459"/>
            <a:chOff x="1020916" y="1442088"/>
            <a:chExt cx="457200" cy="457200"/>
          </a:xfrm>
        </p:grpSpPr>
        <p:pic>
          <p:nvPicPr>
            <p:cNvPr id="1344" name="Google Shape;1344;p9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45" name="Google Shape;1345;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346" name="Google Shape;1346;p99"/>
          <p:cNvSpPr txBox="1"/>
          <p:nvPr>
            <p:ph idx="1" type="body"/>
          </p:nvPr>
        </p:nvSpPr>
        <p:spPr>
          <a:xfrm>
            <a:off x="5061750" y="1400675"/>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p:txBody>
      </p:sp>
      <p:sp>
        <p:nvSpPr>
          <p:cNvPr id="1347" name="Google Shape;1347;p99"/>
          <p:cNvSpPr txBox="1"/>
          <p:nvPr>
            <p:ph idx="1" type="body"/>
          </p:nvPr>
        </p:nvSpPr>
        <p:spPr>
          <a:xfrm>
            <a:off x="6753327" y="1057147"/>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p:txBody>
      </p:sp>
      <p:sp>
        <p:nvSpPr>
          <p:cNvPr id="1348" name="Google Shape;1348;p99"/>
          <p:cNvSpPr txBox="1"/>
          <p:nvPr>
            <p:ph idx="1" type="body"/>
          </p:nvPr>
        </p:nvSpPr>
        <p:spPr>
          <a:xfrm>
            <a:off x="7564650" y="2034278"/>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10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pic>
        <p:nvPicPr>
          <p:cNvPr id="1354" name="Google Shape;1354;p100"/>
          <p:cNvPicPr preferRelativeResize="0"/>
          <p:nvPr/>
        </p:nvPicPr>
        <p:blipFill>
          <a:blip r:embed="rId3">
            <a:alphaModFix/>
          </a:blip>
          <a:stretch>
            <a:fillRect/>
          </a:stretch>
        </p:blipFill>
        <p:spPr>
          <a:xfrm>
            <a:off x="350310" y="683723"/>
            <a:ext cx="5013625" cy="2584000"/>
          </a:xfrm>
          <a:prstGeom prst="rect">
            <a:avLst/>
          </a:prstGeom>
          <a:noFill/>
          <a:ln>
            <a:noFill/>
          </a:ln>
        </p:spPr>
      </p:pic>
      <p:grpSp>
        <p:nvGrpSpPr>
          <p:cNvPr id="1355" name="Google Shape;1355;p100"/>
          <p:cNvGrpSpPr/>
          <p:nvPr/>
        </p:nvGrpSpPr>
        <p:grpSpPr>
          <a:xfrm>
            <a:off x="350310" y="683723"/>
            <a:ext cx="337459" cy="337459"/>
            <a:chOff x="1020916" y="1442088"/>
            <a:chExt cx="457200" cy="457200"/>
          </a:xfrm>
        </p:grpSpPr>
        <p:pic>
          <p:nvPicPr>
            <p:cNvPr id="1356" name="Google Shape;1356;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57" name="Google Shape;1357;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1358" name="Google Shape;1358;p100"/>
          <p:cNvSpPr txBox="1"/>
          <p:nvPr>
            <p:ph idx="1" type="body"/>
          </p:nvPr>
        </p:nvSpPr>
        <p:spPr>
          <a:xfrm>
            <a:off x="738973" y="1975723"/>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a:p>
            <a:pPr indent="0" lvl="0" marL="0" rtl="0" algn="ctr">
              <a:lnSpc>
                <a:spcPct val="100000"/>
              </a:lnSpc>
              <a:spcBef>
                <a:spcPts val="0"/>
              </a:spcBef>
              <a:spcAft>
                <a:spcPts val="0"/>
              </a:spcAft>
              <a:buNone/>
            </a:pPr>
            <a:r>
              <a:rPr lang="en-GB" sz="1800"/>
              <a:t>240°</a:t>
            </a:r>
            <a:endParaRPr sz="1800"/>
          </a:p>
        </p:txBody>
      </p:sp>
      <p:grpSp>
        <p:nvGrpSpPr>
          <p:cNvPr id="1359" name="Google Shape;1359;p100"/>
          <p:cNvGrpSpPr/>
          <p:nvPr/>
        </p:nvGrpSpPr>
        <p:grpSpPr>
          <a:xfrm>
            <a:off x="5026460" y="683723"/>
            <a:ext cx="337459" cy="337459"/>
            <a:chOff x="1020916" y="1442088"/>
            <a:chExt cx="457200" cy="457200"/>
          </a:xfrm>
        </p:grpSpPr>
        <p:pic>
          <p:nvPicPr>
            <p:cNvPr id="1360" name="Google Shape;1360;p10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61" name="Google Shape;1361;p10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362" name="Google Shape;1362;p100"/>
          <p:cNvSpPr txBox="1"/>
          <p:nvPr>
            <p:ph idx="1" type="body"/>
          </p:nvPr>
        </p:nvSpPr>
        <p:spPr>
          <a:xfrm>
            <a:off x="1605673" y="1342123"/>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p:txBody>
      </p:sp>
      <p:sp>
        <p:nvSpPr>
          <p:cNvPr id="1363" name="Google Shape;1363;p100"/>
          <p:cNvSpPr txBox="1"/>
          <p:nvPr>
            <p:ph idx="1" type="body"/>
          </p:nvPr>
        </p:nvSpPr>
        <p:spPr>
          <a:xfrm>
            <a:off x="3288253" y="998595"/>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p:txBody>
      </p:sp>
      <p:sp>
        <p:nvSpPr>
          <p:cNvPr id="1364" name="Google Shape;1364;p100"/>
          <p:cNvSpPr txBox="1"/>
          <p:nvPr>
            <p:ph idx="1" type="body"/>
          </p:nvPr>
        </p:nvSpPr>
        <p:spPr>
          <a:xfrm>
            <a:off x="4108573" y="1975726"/>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a:p>
            <a:pPr indent="0" lvl="0" marL="0" rtl="0" algn="ctr">
              <a:lnSpc>
                <a:spcPct val="100000"/>
              </a:lnSpc>
              <a:spcBef>
                <a:spcPts val="0"/>
              </a:spcBef>
              <a:spcAft>
                <a:spcPts val="0"/>
              </a:spcAft>
              <a:buNone/>
            </a:pPr>
            <a:r>
              <a:rPr lang="en-GB" sz="1800"/>
              <a:t>300°</a:t>
            </a:r>
            <a:endParaRPr sz="1800"/>
          </a:p>
        </p:txBody>
      </p:sp>
      <p:graphicFrame>
        <p:nvGraphicFramePr>
          <p:cNvPr id="1365" name="Google Shape;1365;p100"/>
          <p:cNvGraphicFramePr/>
          <p:nvPr/>
        </p:nvGraphicFramePr>
        <p:xfrm>
          <a:off x="5774400" y="1051372"/>
          <a:ext cx="3000000" cy="3000000"/>
        </p:xfrm>
        <a:graphic>
          <a:graphicData uri="http://schemas.openxmlformats.org/drawingml/2006/table">
            <a:tbl>
              <a:tblPr>
                <a:noFill/>
                <a:tableStyleId>{8FE87B28-7372-46B9-B6C0-65CDB115E127}</a:tableStyleId>
              </a:tblPr>
              <a:tblGrid>
                <a:gridCol w="1246275"/>
                <a:gridCol w="965200"/>
                <a:gridCol w="823625"/>
              </a:tblGrid>
              <a:tr h="280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watch</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a:t>
                      </a:r>
                      <a:r>
                        <a:rPr lang="en-GB" sz="1800">
                          <a:solidFill>
                            <a:schemeClr val="lt1"/>
                          </a:solidFill>
                          <a:latin typeface="Lexend"/>
                          <a:ea typeface="Lexend"/>
                          <a:cs typeface="Lexend"/>
                          <a:sym typeface="Lexend"/>
                        </a:rPr>
                        <a:t>on’t watch</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0" marB="0" marR="0" marL="0" anchor="ctr">
                    <a:solidFill>
                      <a:srgbClr val="037B7D"/>
                    </a:solidFill>
                  </a:tcPr>
                </a:tc>
              </a:tr>
              <a:tr h="315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tcPr>
                </a:tc>
              </a:tr>
              <a:tr h="315000">
                <a:tc>
                  <a:txBody>
                    <a:bodyPr/>
                    <a:lstStyle/>
                    <a:p>
                      <a:pPr indent="0" lvl="0" marL="0" rtl="0" algn="ctr">
                        <a:spcBef>
                          <a:spcPts val="0"/>
                        </a:spcBef>
                        <a:spcAft>
                          <a:spcPts val="0"/>
                        </a:spcAft>
                        <a:buNone/>
                      </a:pPr>
                      <a:r>
                        <a:rPr lang="en-GB" sz="1800">
                          <a:latin typeface="Lexend"/>
                          <a:ea typeface="Lexend"/>
                          <a:cs typeface="Lexend"/>
                          <a:sym typeface="Lexend"/>
                        </a:rPr>
                        <a:t>80</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tc>
              </a:tr>
            </a:tbl>
          </a:graphicData>
        </a:graphic>
      </p:graphicFrame>
      <p:sp>
        <p:nvSpPr>
          <p:cNvPr id="1366" name="Google Shape;1366;p100"/>
          <p:cNvSpPr txBox="1"/>
          <p:nvPr>
            <p:ph idx="4294967295" type="body"/>
          </p:nvPr>
        </p:nvSpPr>
        <p:spPr>
          <a:xfrm>
            <a:off x="5774475" y="746372"/>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group a</a:t>
            </a:r>
            <a:endParaRPr sz="1800"/>
          </a:p>
        </p:txBody>
      </p:sp>
      <p:graphicFrame>
        <p:nvGraphicFramePr>
          <p:cNvPr id="1367" name="Google Shape;1367;p100"/>
          <p:cNvGraphicFramePr/>
          <p:nvPr/>
        </p:nvGraphicFramePr>
        <p:xfrm>
          <a:off x="5774400" y="2915997"/>
          <a:ext cx="3000000" cy="3000000"/>
        </p:xfrm>
        <a:graphic>
          <a:graphicData uri="http://schemas.openxmlformats.org/drawingml/2006/table">
            <a:tbl>
              <a:tblPr>
                <a:noFill/>
                <a:tableStyleId>{8FE87B28-7372-46B9-B6C0-65CDB115E127}</a:tableStyleId>
              </a:tblPr>
              <a:tblGrid>
                <a:gridCol w="1246275"/>
                <a:gridCol w="965200"/>
                <a:gridCol w="823625"/>
              </a:tblGrid>
              <a:tr h="280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watch</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won’t watch</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0" marB="0" marR="0" marL="0" anchor="ctr">
                    <a:solidFill>
                      <a:srgbClr val="037B7D"/>
                    </a:solidFill>
                  </a:tcPr>
                </a:tc>
              </a:tr>
              <a:tr h="315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tcPr>
                </a:tc>
              </a:tr>
              <a:tr h="3150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Lexend"/>
                          <a:ea typeface="Lexend"/>
                          <a:cs typeface="Lexend"/>
                          <a:sym typeface="Lexend"/>
                        </a:rPr>
                        <a:t>80</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tc>
              </a:tr>
            </a:tbl>
          </a:graphicData>
        </a:graphic>
      </p:graphicFrame>
      <p:sp>
        <p:nvSpPr>
          <p:cNvPr id="1368" name="Google Shape;1368;p100"/>
          <p:cNvSpPr txBox="1"/>
          <p:nvPr>
            <p:ph idx="4294967295" type="body"/>
          </p:nvPr>
        </p:nvSpPr>
        <p:spPr>
          <a:xfrm>
            <a:off x="5774475" y="2610997"/>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group b</a:t>
            </a:r>
            <a:endParaRPr sz="1800"/>
          </a:p>
        </p:txBody>
      </p:sp>
      <p:sp>
        <p:nvSpPr>
          <p:cNvPr id="1369" name="Google Shape;1369;p100"/>
          <p:cNvSpPr txBox="1"/>
          <p:nvPr>
            <p:ph idx="1" type="body"/>
          </p:nvPr>
        </p:nvSpPr>
        <p:spPr>
          <a:xfrm>
            <a:off x="324000" y="3395047"/>
            <a:ext cx="5450400" cy="117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4) The minor sector of each group both represent 80 people.</a:t>
            </a:r>
            <a:endParaRPr sz="1800"/>
          </a:p>
          <a:p>
            <a:pPr indent="0" lvl="0" marL="0" rtl="0" algn="l">
              <a:lnSpc>
                <a:spcPct val="100000"/>
              </a:lnSpc>
              <a:spcBef>
                <a:spcPts val="0"/>
              </a:spcBef>
              <a:spcAft>
                <a:spcPts val="0"/>
              </a:spcAft>
              <a:buNone/>
            </a:pPr>
            <a:r>
              <a:rPr lang="en-GB" sz="1800"/>
              <a:t>In which group were more people interviewed, and by how many people?</a:t>
            </a:r>
            <a:endParaRPr sz="1800"/>
          </a:p>
          <a:p>
            <a:pPr indent="0" lvl="0" marL="0" rtl="0" algn="l">
              <a:lnSpc>
                <a:spcPct val="100000"/>
              </a:lnSpc>
              <a:spcBef>
                <a:spcPts val="0"/>
              </a:spcBef>
              <a:spcAft>
                <a:spcPts val="0"/>
              </a:spcAft>
              <a:buNone/>
            </a:pPr>
            <a:r>
              <a:rPr lang="en-GB" sz="1800"/>
              <a:t>Fill in the ratio tables to help you.</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sp>
        <p:nvSpPr>
          <p:cNvPr id="1374" name="Google Shape;1374;p10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 headteacher is comparing the exam results of two classes.</a:t>
            </a:r>
            <a:endParaRPr sz="1800"/>
          </a:p>
        </p:txBody>
      </p:sp>
      <p:sp>
        <p:nvSpPr>
          <p:cNvPr id="1375" name="Google Shape;1375;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pic>
        <p:nvPicPr>
          <p:cNvPr id="1376" name="Google Shape;1376;p101"/>
          <p:cNvPicPr preferRelativeResize="0"/>
          <p:nvPr/>
        </p:nvPicPr>
        <p:blipFill>
          <a:blip r:embed="rId3">
            <a:alphaModFix/>
          </a:blip>
          <a:stretch>
            <a:fillRect/>
          </a:stretch>
        </p:blipFill>
        <p:spPr>
          <a:xfrm>
            <a:off x="607788" y="1379861"/>
            <a:ext cx="4042974" cy="2152450"/>
          </a:xfrm>
          <a:prstGeom prst="rect">
            <a:avLst/>
          </a:prstGeom>
          <a:noFill/>
          <a:ln cap="flat" cmpd="sng" w="19050">
            <a:solidFill>
              <a:schemeClr val="dk1"/>
            </a:solidFill>
            <a:prstDash val="solid"/>
            <a:round/>
            <a:headEnd len="sm" w="sm" type="none"/>
            <a:tailEnd len="sm" w="sm" type="none"/>
          </a:ln>
        </p:spPr>
      </p:pic>
      <p:sp>
        <p:nvSpPr>
          <p:cNvPr id="1377" name="Google Shape;1377;p101"/>
          <p:cNvSpPr txBox="1"/>
          <p:nvPr>
            <p:ph idx="1" type="body"/>
          </p:nvPr>
        </p:nvSpPr>
        <p:spPr>
          <a:xfrm>
            <a:off x="607800" y="11067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R</a:t>
            </a:r>
            <a:endParaRPr sz="1800"/>
          </a:p>
        </p:txBody>
      </p:sp>
      <p:sp>
        <p:nvSpPr>
          <p:cNvPr id="1378" name="Google Shape;1378;p101"/>
          <p:cNvSpPr txBox="1"/>
          <p:nvPr>
            <p:ph idx="1" type="body"/>
          </p:nvPr>
        </p:nvSpPr>
        <p:spPr>
          <a:xfrm>
            <a:off x="2629200" y="11067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P</a:t>
            </a:r>
            <a:endParaRPr sz="1800"/>
          </a:p>
        </p:txBody>
      </p:sp>
      <p:sp>
        <p:nvSpPr>
          <p:cNvPr id="1379" name="Google Shape;1379;p101"/>
          <p:cNvSpPr txBox="1"/>
          <p:nvPr>
            <p:ph idx="1" type="body"/>
          </p:nvPr>
        </p:nvSpPr>
        <p:spPr>
          <a:xfrm>
            <a:off x="1209900" y="27000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380" name="Google Shape;1380;p101"/>
          <p:cNvSpPr txBox="1"/>
          <p:nvPr>
            <p:ph idx="1" type="body"/>
          </p:nvPr>
        </p:nvSpPr>
        <p:spPr>
          <a:xfrm>
            <a:off x="2784825" y="23402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381" name="Google Shape;1381;p101"/>
          <p:cNvSpPr txBox="1"/>
          <p:nvPr>
            <p:ph idx="1" type="body"/>
          </p:nvPr>
        </p:nvSpPr>
        <p:spPr>
          <a:xfrm>
            <a:off x="3671300" y="23402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382" name="Google Shape;1382;p101"/>
          <p:cNvSpPr txBox="1"/>
          <p:nvPr>
            <p:ph idx="1" type="body"/>
          </p:nvPr>
        </p:nvSpPr>
        <p:spPr>
          <a:xfrm>
            <a:off x="794950" y="19680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383" name="Google Shape;1383;p101"/>
          <p:cNvSpPr txBox="1"/>
          <p:nvPr>
            <p:ph idx="1" type="body"/>
          </p:nvPr>
        </p:nvSpPr>
        <p:spPr>
          <a:xfrm>
            <a:off x="4866250" y="1379850"/>
            <a:ext cx="3953700" cy="89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headteacher says “more students passed the exam in Class R”.</a:t>
            </a:r>
            <a:endParaRPr sz="1800"/>
          </a:p>
          <a:p>
            <a:pPr indent="0" lvl="0" marL="0" rtl="0" algn="l">
              <a:spcBef>
                <a:spcPts val="1000"/>
              </a:spcBef>
              <a:spcAft>
                <a:spcPts val="1000"/>
              </a:spcAft>
              <a:buNone/>
            </a:pPr>
            <a:r>
              <a:rPr lang="en-GB" sz="1800"/>
              <a:t>The headteacher may be incorrect. Can you explain why?</a:t>
            </a:r>
            <a:endParaRPr sz="1800"/>
          </a:p>
        </p:txBody>
      </p:sp>
      <p:sp>
        <p:nvSpPr>
          <p:cNvPr id="1384" name="Google Shape;1384;p101"/>
          <p:cNvSpPr/>
          <p:nvPr/>
        </p:nvSpPr>
        <p:spPr>
          <a:xfrm>
            <a:off x="1471775" y="2304450"/>
            <a:ext cx="150900" cy="150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10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A headteacher is comparing the exam results of two classes.</a:t>
            </a:r>
            <a:endParaRPr sz="1800"/>
          </a:p>
        </p:txBody>
      </p:sp>
      <p:sp>
        <p:nvSpPr>
          <p:cNvPr id="1390" name="Google Shape;1390;p10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pic>
        <p:nvPicPr>
          <p:cNvPr id="1391" name="Google Shape;1391;p102"/>
          <p:cNvPicPr preferRelativeResize="0"/>
          <p:nvPr/>
        </p:nvPicPr>
        <p:blipFill>
          <a:blip r:embed="rId3">
            <a:alphaModFix/>
          </a:blip>
          <a:stretch>
            <a:fillRect/>
          </a:stretch>
        </p:blipFill>
        <p:spPr>
          <a:xfrm>
            <a:off x="607788" y="1379861"/>
            <a:ext cx="4042974" cy="2152450"/>
          </a:xfrm>
          <a:prstGeom prst="rect">
            <a:avLst/>
          </a:prstGeom>
          <a:noFill/>
          <a:ln cap="flat" cmpd="sng" w="19050">
            <a:solidFill>
              <a:schemeClr val="dk1"/>
            </a:solidFill>
            <a:prstDash val="solid"/>
            <a:round/>
            <a:headEnd len="sm" w="sm" type="none"/>
            <a:tailEnd len="sm" w="sm" type="none"/>
          </a:ln>
        </p:spPr>
      </p:pic>
      <p:sp>
        <p:nvSpPr>
          <p:cNvPr id="1392" name="Google Shape;1392;p102"/>
          <p:cNvSpPr txBox="1"/>
          <p:nvPr>
            <p:ph idx="1" type="body"/>
          </p:nvPr>
        </p:nvSpPr>
        <p:spPr>
          <a:xfrm>
            <a:off x="607800" y="11067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R</a:t>
            </a:r>
            <a:endParaRPr sz="1800"/>
          </a:p>
        </p:txBody>
      </p:sp>
      <p:sp>
        <p:nvSpPr>
          <p:cNvPr id="1393" name="Google Shape;1393;p102"/>
          <p:cNvSpPr txBox="1"/>
          <p:nvPr>
            <p:ph idx="1" type="body"/>
          </p:nvPr>
        </p:nvSpPr>
        <p:spPr>
          <a:xfrm>
            <a:off x="2629200" y="11067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P</a:t>
            </a:r>
            <a:endParaRPr sz="1800"/>
          </a:p>
        </p:txBody>
      </p:sp>
      <p:sp>
        <p:nvSpPr>
          <p:cNvPr id="1394" name="Google Shape;1394;p102"/>
          <p:cNvSpPr txBox="1"/>
          <p:nvPr>
            <p:ph idx="1" type="body"/>
          </p:nvPr>
        </p:nvSpPr>
        <p:spPr>
          <a:xfrm>
            <a:off x="1209900" y="27000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395" name="Google Shape;1395;p102"/>
          <p:cNvSpPr txBox="1"/>
          <p:nvPr>
            <p:ph idx="1" type="body"/>
          </p:nvPr>
        </p:nvSpPr>
        <p:spPr>
          <a:xfrm>
            <a:off x="2784825" y="23402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396" name="Google Shape;1396;p102"/>
          <p:cNvSpPr txBox="1"/>
          <p:nvPr>
            <p:ph idx="1" type="body"/>
          </p:nvPr>
        </p:nvSpPr>
        <p:spPr>
          <a:xfrm>
            <a:off x="3671300" y="23402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397" name="Google Shape;1397;p102"/>
          <p:cNvSpPr txBox="1"/>
          <p:nvPr>
            <p:ph idx="1" type="body"/>
          </p:nvPr>
        </p:nvSpPr>
        <p:spPr>
          <a:xfrm>
            <a:off x="794950" y="19680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398" name="Google Shape;1398;p102"/>
          <p:cNvSpPr/>
          <p:nvPr/>
        </p:nvSpPr>
        <p:spPr>
          <a:xfrm>
            <a:off x="1471775" y="2304450"/>
            <a:ext cx="150900" cy="150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9" name="Google Shape;1399;p102"/>
          <p:cNvSpPr txBox="1"/>
          <p:nvPr>
            <p:ph idx="4294967295" type="body"/>
          </p:nvPr>
        </p:nvSpPr>
        <p:spPr>
          <a:xfrm>
            <a:off x="4824000" y="1338401"/>
            <a:ext cx="38448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A higher proportion of students in Class R (three-quarters) passed the exam than Class P (half).</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 </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However, Class R could be a lot smaller than class P so that the three-quarters of a small class is smaller than half of the bigger Class P. </a:t>
            </a:r>
            <a:endParaRPr sz="2000">
              <a:latin typeface="Kalam"/>
              <a:ea typeface="Kalam"/>
              <a:cs typeface="Kalam"/>
              <a:sym typeface="Kalam"/>
            </a:endParaRPr>
          </a:p>
        </p:txBody>
      </p:sp>
      <p:sp>
        <p:nvSpPr>
          <p:cNvPr id="1400" name="Google Shape;1400;p102"/>
          <p:cNvSpPr txBox="1"/>
          <p:nvPr>
            <p:ph idx="4294967295" type="body"/>
          </p:nvPr>
        </p:nvSpPr>
        <p:spPr>
          <a:xfrm>
            <a:off x="607800" y="3532301"/>
            <a:ext cx="20214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Class size of 12</a:t>
            </a:r>
            <a:endParaRPr sz="2000">
              <a:latin typeface="Kalam"/>
              <a:ea typeface="Kalam"/>
              <a:cs typeface="Kalam"/>
              <a:sym typeface="Kalam"/>
            </a:endParaRPr>
          </a:p>
        </p:txBody>
      </p:sp>
      <p:sp>
        <p:nvSpPr>
          <p:cNvPr id="1401" name="Google Shape;1401;p102"/>
          <p:cNvSpPr txBox="1"/>
          <p:nvPr>
            <p:ph idx="4294967295" type="body"/>
          </p:nvPr>
        </p:nvSpPr>
        <p:spPr>
          <a:xfrm>
            <a:off x="2629200" y="3532301"/>
            <a:ext cx="2021400" cy="45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Class size of 30</a:t>
            </a:r>
            <a:endParaRPr sz="2000">
              <a:latin typeface="Kalam"/>
              <a:ea typeface="Kalam"/>
              <a:cs typeface="Kalam"/>
              <a:sym typeface="Kalam"/>
            </a:endParaRPr>
          </a:p>
        </p:txBody>
      </p:sp>
      <p:sp>
        <p:nvSpPr>
          <p:cNvPr id="1402" name="Google Shape;1402;p102"/>
          <p:cNvSpPr txBox="1"/>
          <p:nvPr>
            <p:ph idx="4294967295" type="body"/>
          </p:nvPr>
        </p:nvSpPr>
        <p:spPr>
          <a:xfrm>
            <a:off x="607800" y="4060301"/>
            <a:ext cx="2021400" cy="4518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sz="2000">
                <a:latin typeface="Kalam"/>
                <a:ea typeface="Kalam"/>
                <a:cs typeface="Kalam"/>
                <a:sym typeface="Kalam"/>
              </a:rPr>
              <a:t>Three-quarters of 12 is 8.</a:t>
            </a:r>
            <a:endParaRPr sz="2000">
              <a:latin typeface="Kalam"/>
              <a:ea typeface="Kalam"/>
              <a:cs typeface="Kalam"/>
              <a:sym typeface="Kalam"/>
            </a:endParaRPr>
          </a:p>
        </p:txBody>
      </p:sp>
      <p:sp>
        <p:nvSpPr>
          <p:cNvPr id="1403" name="Google Shape;1403;p102"/>
          <p:cNvSpPr txBox="1"/>
          <p:nvPr>
            <p:ph idx="4294967295" type="body"/>
          </p:nvPr>
        </p:nvSpPr>
        <p:spPr>
          <a:xfrm>
            <a:off x="2715900" y="4060301"/>
            <a:ext cx="2021400" cy="4518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None/>
            </a:pPr>
            <a:r>
              <a:rPr lang="en-GB" sz="2000">
                <a:latin typeface="Kalam"/>
                <a:ea typeface="Kalam"/>
                <a:cs typeface="Kalam"/>
                <a:sym typeface="Kalam"/>
              </a:rPr>
              <a:t>Half of 30 is 15.</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10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pic>
        <p:nvPicPr>
          <p:cNvPr id="1409" name="Google Shape;1409;p103"/>
          <p:cNvPicPr preferRelativeResize="0"/>
          <p:nvPr/>
        </p:nvPicPr>
        <p:blipFill>
          <a:blip r:embed="rId3">
            <a:alphaModFix/>
          </a:blip>
          <a:stretch>
            <a:fillRect/>
          </a:stretch>
        </p:blipFill>
        <p:spPr>
          <a:xfrm>
            <a:off x="607788" y="1075061"/>
            <a:ext cx="4042974" cy="2152450"/>
          </a:xfrm>
          <a:prstGeom prst="rect">
            <a:avLst/>
          </a:prstGeom>
          <a:noFill/>
          <a:ln cap="flat" cmpd="sng" w="19050">
            <a:solidFill>
              <a:schemeClr val="dk1"/>
            </a:solidFill>
            <a:prstDash val="solid"/>
            <a:round/>
            <a:headEnd len="sm" w="sm" type="none"/>
            <a:tailEnd len="sm" w="sm" type="none"/>
          </a:ln>
        </p:spPr>
      </p:pic>
      <p:sp>
        <p:nvSpPr>
          <p:cNvPr id="1410" name="Google Shape;1410;p103"/>
          <p:cNvSpPr txBox="1"/>
          <p:nvPr>
            <p:ph idx="1" type="body"/>
          </p:nvPr>
        </p:nvSpPr>
        <p:spPr>
          <a:xfrm>
            <a:off x="2629200" y="8019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P</a:t>
            </a:r>
            <a:endParaRPr sz="1800"/>
          </a:p>
        </p:txBody>
      </p:sp>
      <p:sp>
        <p:nvSpPr>
          <p:cNvPr id="1411" name="Google Shape;1411;p103"/>
          <p:cNvSpPr txBox="1"/>
          <p:nvPr>
            <p:ph idx="1" type="body"/>
          </p:nvPr>
        </p:nvSpPr>
        <p:spPr>
          <a:xfrm>
            <a:off x="1209900" y="23952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412" name="Google Shape;1412;p103"/>
          <p:cNvSpPr txBox="1"/>
          <p:nvPr>
            <p:ph idx="1" type="body"/>
          </p:nvPr>
        </p:nvSpPr>
        <p:spPr>
          <a:xfrm>
            <a:off x="2784825" y="20354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pass</a:t>
            </a:r>
            <a:endParaRPr sz="1800"/>
          </a:p>
        </p:txBody>
      </p:sp>
      <p:sp>
        <p:nvSpPr>
          <p:cNvPr id="1413" name="Google Shape;1413;p103"/>
          <p:cNvSpPr txBox="1"/>
          <p:nvPr>
            <p:ph idx="1" type="body"/>
          </p:nvPr>
        </p:nvSpPr>
        <p:spPr>
          <a:xfrm>
            <a:off x="3671300" y="2035475"/>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414" name="Google Shape;1414;p103"/>
          <p:cNvSpPr txBox="1"/>
          <p:nvPr>
            <p:ph idx="1" type="body"/>
          </p:nvPr>
        </p:nvSpPr>
        <p:spPr>
          <a:xfrm>
            <a:off x="794950" y="1663200"/>
            <a:ext cx="8172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fail</a:t>
            </a:r>
            <a:endParaRPr sz="1800"/>
          </a:p>
        </p:txBody>
      </p:sp>
      <p:sp>
        <p:nvSpPr>
          <p:cNvPr id="1415" name="Google Shape;1415;p103"/>
          <p:cNvSpPr txBox="1"/>
          <p:nvPr>
            <p:ph idx="1" type="body"/>
          </p:nvPr>
        </p:nvSpPr>
        <p:spPr>
          <a:xfrm>
            <a:off x="4866250" y="760819"/>
            <a:ext cx="3953700" cy="89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In both classes, 15 students passed the exam.</a:t>
            </a:r>
            <a:endParaRPr sz="1800"/>
          </a:p>
          <a:p>
            <a:pPr indent="0" lvl="0" marL="0" rtl="0" algn="l">
              <a:spcBef>
                <a:spcPts val="1000"/>
              </a:spcBef>
              <a:spcAft>
                <a:spcPts val="1000"/>
              </a:spcAft>
              <a:buNone/>
            </a:pPr>
            <a:r>
              <a:rPr lang="en-GB" sz="1800"/>
              <a:t>Complete the ratio tables below to work out which class had more students.</a:t>
            </a:r>
            <a:endParaRPr sz="1800"/>
          </a:p>
        </p:txBody>
      </p:sp>
      <p:sp>
        <p:nvSpPr>
          <p:cNvPr id="1416" name="Google Shape;1416;p103"/>
          <p:cNvSpPr/>
          <p:nvPr/>
        </p:nvSpPr>
        <p:spPr>
          <a:xfrm>
            <a:off x="1471775" y="1999650"/>
            <a:ext cx="150900" cy="150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7" name="Google Shape;1417;p103"/>
          <p:cNvSpPr txBox="1"/>
          <p:nvPr>
            <p:ph idx="1" type="body"/>
          </p:nvPr>
        </p:nvSpPr>
        <p:spPr>
          <a:xfrm>
            <a:off x="324000" y="683100"/>
            <a:ext cx="4326900" cy="23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endParaRPr sz="1800"/>
          </a:p>
        </p:txBody>
      </p:sp>
      <p:graphicFrame>
        <p:nvGraphicFramePr>
          <p:cNvPr id="1418" name="Google Shape;1418;p103"/>
          <p:cNvGraphicFramePr/>
          <p:nvPr/>
        </p:nvGraphicFramePr>
        <p:xfrm>
          <a:off x="607800" y="3724672"/>
          <a:ext cx="3000000" cy="3000000"/>
        </p:xfrm>
        <a:graphic>
          <a:graphicData uri="http://schemas.openxmlformats.org/drawingml/2006/table">
            <a:tbl>
              <a:tblPr>
                <a:noFill/>
                <a:tableStyleId>{8FE87B28-7372-46B9-B6C0-65CDB115E127}</a:tableStyleId>
              </a:tblPr>
              <a:tblGrid>
                <a:gridCol w="1246275"/>
                <a:gridCol w="965200"/>
                <a:gridCol w="823625"/>
              </a:tblGrid>
              <a:tr h="280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pass</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fail</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0" marB="0" marR="0" marL="0" anchor="ctr">
                    <a:solidFill>
                      <a:srgbClr val="037B7D"/>
                    </a:solidFill>
                  </a:tcPr>
                </a:tc>
              </a:tr>
              <a:tr h="315000">
                <a:tc>
                  <a:txBody>
                    <a:bodyPr/>
                    <a:lstStyle/>
                    <a:p>
                      <a:pPr indent="0" lvl="0" marL="0" rtl="0" algn="ctr">
                        <a:spcBef>
                          <a:spcPts val="0"/>
                        </a:spcBef>
                        <a:spcAft>
                          <a:spcPts val="0"/>
                        </a:spcAft>
                        <a:buNone/>
                      </a:pPr>
                      <a:r>
                        <a:rPr lang="en-GB" sz="1800">
                          <a:latin typeface="Kalam"/>
                          <a:ea typeface="Kalam"/>
                          <a:cs typeface="Kalam"/>
                          <a:sym typeface="Kalam"/>
                        </a:rPr>
                        <a:t>270</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90</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tcPr>
                </a:tc>
              </a:tr>
              <a:tr h="315000">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Kalam"/>
                          <a:ea typeface="Kalam"/>
                          <a:cs typeface="Kalam"/>
                          <a:sym typeface="Kalam"/>
                        </a:rPr>
                        <a:t>5</a:t>
                      </a:r>
                      <a:endParaRPr sz="1800">
                        <a:latin typeface="Kalam"/>
                        <a:ea typeface="Kalam"/>
                        <a:cs typeface="Kalam"/>
                        <a:sym typeface="Kalam"/>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Kalam"/>
                          <a:ea typeface="Kalam"/>
                          <a:cs typeface="Kalam"/>
                          <a:sym typeface="Kalam"/>
                        </a:rPr>
                        <a:t>20</a:t>
                      </a:r>
                      <a:endParaRPr sz="1800">
                        <a:latin typeface="Kalam"/>
                        <a:ea typeface="Kalam"/>
                        <a:cs typeface="Kalam"/>
                        <a:sym typeface="Kalam"/>
                      </a:endParaRPr>
                    </a:p>
                  </a:txBody>
                  <a:tcPr marT="0" marB="0" marR="0" marL="0" anchor="ctr"/>
                </a:tc>
              </a:tr>
            </a:tbl>
          </a:graphicData>
        </a:graphic>
      </p:graphicFrame>
      <p:sp>
        <p:nvSpPr>
          <p:cNvPr id="1419" name="Google Shape;1419;p103"/>
          <p:cNvSpPr txBox="1"/>
          <p:nvPr>
            <p:ph idx="4294967295" type="body"/>
          </p:nvPr>
        </p:nvSpPr>
        <p:spPr>
          <a:xfrm>
            <a:off x="607875" y="3419672"/>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R</a:t>
            </a:r>
            <a:endParaRPr sz="1800"/>
          </a:p>
        </p:txBody>
      </p:sp>
      <p:graphicFrame>
        <p:nvGraphicFramePr>
          <p:cNvPr id="1420" name="Google Shape;1420;p103"/>
          <p:cNvGraphicFramePr/>
          <p:nvPr/>
        </p:nvGraphicFramePr>
        <p:xfrm>
          <a:off x="4256813" y="3724672"/>
          <a:ext cx="3000000" cy="3000000"/>
        </p:xfrm>
        <a:graphic>
          <a:graphicData uri="http://schemas.openxmlformats.org/drawingml/2006/table">
            <a:tbl>
              <a:tblPr>
                <a:noFill/>
                <a:tableStyleId>{8FE87B28-7372-46B9-B6C0-65CDB115E127}</a:tableStyleId>
              </a:tblPr>
              <a:tblGrid>
                <a:gridCol w="1246275"/>
                <a:gridCol w="965200"/>
                <a:gridCol w="823625"/>
              </a:tblGrid>
              <a:tr h="280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pass</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fail</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0" marB="0" marR="0" marL="0" anchor="ctr">
                    <a:solidFill>
                      <a:srgbClr val="037B7D"/>
                    </a:solidFill>
                  </a:tcPr>
                </a:tc>
              </a:tr>
              <a:tr h="315000">
                <a:tc>
                  <a:txBody>
                    <a:bodyPr/>
                    <a:lstStyle/>
                    <a:p>
                      <a:pPr indent="0" lvl="0" marL="0" rtl="0" algn="ctr">
                        <a:spcBef>
                          <a:spcPts val="0"/>
                        </a:spcBef>
                        <a:spcAft>
                          <a:spcPts val="0"/>
                        </a:spcAft>
                        <a:buNone/>
                      </a:pPr>
                      <a:r>
                        <a:rPr lang="en-GB" sz="1800">
                          <a:latin typeface="Lexend"/>
                          <a:ea typeface="Lexend"/>
                          <a:cs typeface="Lexend"/>
                          <a:sym typeface="Lexend"/>
                        </a:rPr>
                        <a:t>180°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180°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tcPr>
                </a:tc>
              </a:tr>
              <a:tr h="315000">
                <a:tc>
                  <a:txBody>
                    <a:bodyPr/>
                    <a:lstStyle/>
                    <a:p>
                      <a:pPr indent="0" lvl="0" marL="0" rtl="0" algn="ctr">
                        <a:spcBef>
                          <a:spcPts val="0"/>
                        </a:spcBef>
                        <a:spcAft>
                          <a:spcPts val="0"/>
                        </a:spcAft>
                        <a:buNone/>
                      </a:pPr>
                      <a:r>
                        <a:rPr lang="en-GB" sz="1800">
                          <a:latin typeface="Lexend"/>
                          <a:ea typeface="Lexend"/>
                          <a:cs typeface="Lexend"/>
                          <a:sym typeface="Lexend"/>
                        </a:rPr>
                        <a:t>15</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Kalam"/>
                          <a:ea typeface="Kalam"/>
                          <a:cs typeface="Kalam"/>
                          <a:sym typeface="Kalam"/>
                        </a:rPr>
                        <a:t>15</a:t>
                      </a:r>
                      <a:endParaRPr sz="1800">
                        <a:latin typeface="Kalam"/>
                        <a:ea typeface="Kalam"/>
                        <a:cs typeface="Kalam"/>
                        <a:sym typeface="Kalam"/>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Kalam"/>
                          <a:ea typeface="Kalam"/>
                          <a:cs typeface="Kalam"/>
                          <a:sym typeface="Kalam"/>
                        </a:rPr>
                        <a:t>30</a:t>
                      </a:r>
                      <a:endParaRPr sz="1800">
                        <a:latin typeface="Kalam"/>
                        <a:ea typeface="Kalam"/>
                        <a:cs typeface="Kalam"/>
                        <a:sym typeface="Kalam"/>
                      </a:endParaRPr>
                    </a:p>
                  </a:txBody>
                  <a:tcPr marT="0" marB="0" marR="0" marL="0" anchor="ctr"/>
                </a:tc>
              </a:tr>
            </a:tbl>
          </a:graphicData>
        </a:graphic>
      </p:graphicFrame>
      <p:sp>
        <p:nvSpPr>
          <p:cNvPr id="1421" name="Google Shape;1421;p103"/>
          <p:cNvSpPr txBox="1"/>
          <p:nvPr>
            <p:ph idx="4294967295" type="body"/>
          </p:nvPr>
        </p:nvSpPr>
        <p:spPr>
          <a:xfrm>
            <a:off x="5633763" y="2538097"/>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2000">
                <a:latin typeface="Kalam"/>
                <a:ea typeface="Kalam"/>
                <a:cs typeface="Kalam"/>
                <a:sym typeface="Kalam"/>
              </a:rPr>
              <a:t>Class P had 10 more students.</a:t>
            </a:r>
            <a:endParaRPr sz="2000">
              <a:latin typeface="Kalam"/>
              <a:ea typeface="Kalam"/>
              <a:cs typeface="Kalam"/>
              <a:sym typeface="Kalam"/>
            </a:endParaRPr>
          </a:p>
        </p:txBody>
      </p:sp>
      <p:sp>
        <p:nvSpPr>
          <p:cNvPr id="1422" name="Google Shape;1422;p103"/>
          <p:cNvSpPr txBox="1"/>
          <p:nvPr>
            <p:ph idx="4294967295" type="body"/>
          </p:nvPr>
        </p:nvSpPr>
        <p:spPr>
          <a:xfrm>
            <a:off x="4256888" y="3419672"/>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P</a:t>
            </a:r>
            <a:endParaRPr sz="1800"/>
          </a:p>
        </p:txBody>
      </p:sp>
      <p:sp>
        <p:nvSpPr>
          <p:cNvPr id="1423" name="Google Shape;1423;p103"/>
          <p:cNvSpPr txBox="1"/>
          <p:nvPr>
            <p:ph idx="1" type="body"/>
          </p:nvPr>
        </p:nvSpPr>
        <p:spPr>
          <a:xfrm>
            <a:off x="607800" y="801964"/>
            <a:ext cx="2021400" cy="2316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Class R</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7" name="Shape 1427"/>
        <p:cNvGrpSpPr/>
        <p:nvPr/>
      </p:nvGrpSpPr>
      <p:grpSpPr>
        <a:xfrm>
          <a:off x="0" y="0"/>
          <a:ext cx="0" cy="0"/>
          <a:chOff x="0" y="0"/>
          <a:chExt cx="0" cy="0"/>
        </a:xfrm>
      </p:grpSpPr>
      <p:sp>
        <p:nvSpPr>
          <p:cNvPr id="1428" name="Google Shape;1428;p10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sp>
        <p:nvSpPr>
          <p:cNvPr id="1429" name="Google Shape;1429;p104"/>
          <p:cNvSpPr txBox="1"/>
          <p:nvPr>
            <p:ph idx="1" type="body"/>
          </p:nvPr>
        </p:nvSpPr>
        <p:spPr>
          <a:xfrm>
            <a:off x="324000" y="683100"/>
            <a:ext cx="3322200" cy="23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People in Leeds city centre were asked whether they support Leeds United, and whether they would watch Leeds United’s next football match.</a:t>
            </a:r>
            <a:endParaRPr sz="1800"/>
          </a:p>
          <a:p>
            <a:pPr indent="0" lvl="0" marL="0" rtl="0" algn="l">
              <a:spcBef>
                <a:spcPts val="1000"/>
              </a:spcBef>
              <a:spcAft>
                <a:spcPts val="1000"/>
              </a:spcAft>
              <a:buNone/>
            </a:pPr>
            <a:r>
              <a:rPr lang="en-GB" sz="1800"/>
              <a:t>Two pie charts were drawn, one to show supporters, and one to show non-supporters.</a:t>
            </a:r>
            <a:endParaRPr sz="1800"/>
          </a:p>
        </p:txBody>
      </p:sp>
      <p:sp>
        <p:nvSpPr>
          <p:cNvPr id="1430" name="Google Shape;1430;p104"/>
          <p:cNvSpPr txBox="1"/>
          <p:nvPr>
            <p:ph idx="1" type="body"/>
          </p:nvPr>
        </p:nvSpPr>
        <p:spPr>
          <a:xfrm>
            <a:off x="324000" y="4204200"/>
            <a:ext cx="8496000" cy="23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of the two pie charts represents the group of people who support Leeds United? Explain how you know.</a:t>
            </a:r>
            <a:endParaRPr sz="1800"/>
          </a:p>
        </p:txBody>
      </p:sp>
      <p:pic>
        <p:nvPicPr>
          <p:cNvPr id="1431" name="Google Shape;1431;p104"/>
          <p:cNvPicPr preferRelativeResize="0"/>
          <p:nvPr/>
        </p:nvPicPr>
        <p:blipFill>
          <a:blip r:embed="rId3">
            <a:alphaModFix/>
          </a:blip>
          <a:stretch>
            <a:fillRect/>
          </a:stretch>
        </p:blipFill>
        <p:spPr>
          <a:xfrm>
            <a:off x="3806387" y="742275"/>
            <a:ext cx="5013625" cy="2584000"/>
          </a:xfrm>
          <a:prstGeom prst="rect">
            <a:avLst/>
          </a:prstGeom>
          <a:noFill/>
          <a:ln>
            <a:noFill/>
          </a:ln>
        </p:spPr>
      </p:pic>
      <p:grpSp>
        <p:nvGrpSpPr>
          <p:cNvPr id="1432" name="Google Shape;1432;p104"/>
          <p:cNvGrpSpPr/>
          <p:nvPr/>
        </p:nvGrpSpPr>
        <p:grpSpPr>
          <a:xfrm>
            <a:off x="3806387" y="742276"/>
            <a:ext cx="337459" cy="337459"/>
            <a:chOff x="1020916" y="1442088"/>
            <a:chExt cx="457200" cy="457200"/>
          </a:xfrm>
        </p:grpSpPr>
        <p:pic>
          <p:nvPicPr>
            <p:cNvPr id="1433" name="Google Shape;1433;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34" name="Google Shape;1434;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1435" name="Google Shape;1435;p104"/>
          <p:cNvSpPr txBox="1"/>
          <p:nvPr>
            <p:ph idx="1" type="body"/>
          </p:nvPr>
        </p:nvSpPr>
        <p:spPr>
          <a:xfrm>
            <a:off x="4195050" y="2034275"/>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p:txBody>
      </p:sp>
      <p:grpSp>
        <p:nvGrpSpPr>
          <p:cNvPr id="1436" name="Google Shape;1436;p104"/>
          <p:cNvGrpSpPr/>
          <p:nvPr/>
        </p:nvGrpSpPr>
        <p:grpSpPr>
          <a:xfrm>
            <a:off x="8482537" y="742276"/>
            <a:ext cx="337459" cy="337459"/>
            <a:chOff x="1020916" y="1442088"/>
            <a:chExt cx="457200" cy="457200"/>
          </a:xfrm>
        </p:grpSpPr>
        <p:pic>
          <p:nvPicPr>
            <p:cNvPr id="1437" name="Google Shape;1437;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38" name="Google Shape;1438;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439" name="Google Shape;1439;p104"/>
          <p:cNvSpPr txBox="1"/>
          <p:nvPr>
            <p:ph idx="1" type="body"/>
          </p:nvPr>
        </p:nvSpPr>
        <p:spPr>
          <a:xfrm>
            <a:off x="5061750" y="1400675"/>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p:txBody>
      </p:sp>
      <p:sp>
        <p:nvSpPr>
          <p:cNvPr id="1440" name="Google Shape;1440;p104"/>
          <p:cNvSpPr txBox="1"/>
          <p:nvPr>
            <p:ph idx="1" type="body"/>
          </p:nvPr>
        </p:nvSpPr>
        <p:spPr>
          <a:xfrm>
            <a:off x="6753327" y="1057147"/>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p:txBody>
      </p:sp>
      <p:sp>
        <p:nvSpPr>
          <p:cNvPr id="1441" name="Google Shape;1441;p104"/>
          <p:cNvSpPr txBox="1"/>
          <p:nvPr>
            <p:ph idx="1" type="body"/>
          </p:nvPr>
        </p:nvSpPr>
        <p:spPr>
          <a:xfrm>
            <a:off x="7564650" y="2034278"/>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10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sp>
        <p:nvSpPr>
          <p:cNvPr id="1447" name="Google Shape;1447;p105"/>
          <p:cNvSpPr txBox="1"/>
          <p:nvPr>
            <p:ph idx="1" type="body"/>
          </p:nvPr>
        </p:nvSpPr>
        <p:spPr>
          <a:xfrm>
            <a:off x="324000" y="683100"/>
            <a:ext cx="3322200" cy="23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a:t>
            </a:r>
            <a:endParaRPr sz="1800"/>
          </a:p>
          <a:p>
            <a:pPr indent="0" lvl="0" marL="0" rtl="0" algn="l">
              <a:lnSpc>
                <a:spcPct val="100000"/>
              </a:lnSpc>
              <a:spcBef>
                <a:spcPts val="1000"/>
              </a:spcBef>
              <a:spcAft>
                <a:spcPts val="0"/>
              </a:spcAft>
              <a:buNone/>
            </a:pPr>
            <a:r>
              <a:rPr lang="en-GB" sz="2000">
                <a:solidFill>
                  <a:srgbClr val="000000"/>
                </a:solidFill>
                <a:latin typeface="Kalam"/>
                <a:ea typeface="Kalam"/>
                <a:cs typeface="Kalam"/>
                <a:sym typeface="Kalam"/>
              </a:rPr>
              <a:t>Pie chart b is more likely to represent people who support Leeds United, as they are more likely to watch their matches than someone who doesn’t support the team.</a:t>
            </a:r>
            <a:endParaRPr sz="2000">
              <a:solidFill>
                <a:srgbClr val="000000"/>
              </a:solidFill>
              <a:latin typeface="Kalam"/>
              <a:ea typeface="Kalam"/>
              <a:cs typeface="Kalam"/>
              <a:sym typeface="Kalam"/>
            </a:endParaRPr>
          </a:p>
          <a:p>
            <a:pPr indent="0" lvl="0" marL="0" rtl="0" algn="l">
              <a:spcBef>
                <a:spcPts val="0"/>
              </a:spcBef>
              <a:spcAft>
                <a:spcPts val="1000"/>
              </a:spcAft>
              <a:buNone/>
            </a:pPr>
            <a:r>
              <a:t/>
            </a:r>
            <a:endParaRPr sz="1800"/>
          </a:p>
        </p:txBody>
      </p:sp>
      <p:pic>
        <p:nvPicPr>
          <p:cNvPr id="1448" name="Google Shape;1448;p105"/>
          <p:cNvPicPr preferRelativeResize="0"/>
          <p:nvPr/>
        </p:nvPicPr>
        <p:blipFill>
          <a:blip r:embed="rId3">
            <a:alphaModFix/>
          </a:blip>
          <a:stretch>
            <a:fillRect/>
          </a:stretch>
        </p:blipFill>
        <p:spPr>
          <a:xfrm>
            <a:off x="3806387" y="742275"/>
            <a:ext cx="5013625" cy="2584000"/>
          </a:xfrm>
          <a:prstGeom prst="rect">
            <a:avLst/>
          </a:prstGeom>
          <a:noFill/>
          <a:ln>
            <a:noFill/>
          </a:ln>
        </p:spPr>
      </p:pic>
      <p:grpSp>
        <p:nvGrpSpPr>
          <p:cNvPr id="1449" name="Google Shape;1449;p105"/>
          <p:cNvGrpSpPr/>
          <p:nvPr/>
        </p:nvGrpSpPr>
        <p:grpSpPr>
          <a:xfrm>
            <a:off x="3806387" y="742276"/>
            <a:ext cx="337459" cy="337459"/>
            <a:chOff x="1020916" y="1442088"/>
            <a:chExt cx="457200" cy="457200"/>
          </a:xfrm>
        </p:grpSpPr>
        <p:pic>
          <p:nvPicPr>
            <p:cNvPr id="1450" name="Google Shape;1450;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51" name="Google Shape;1451;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1452" name="Google Shape;1452;p105"/>
          <p:cNvSpPr txBox="1"/>
          <p:nvPr>
            <p:ph idx="1" type="body"/>
          </p:nvPr>
        </p:nvSpPr>
        <p:spPr>
          <a:xfrm>
            <a:off x="4195050" y="2034275"/>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p:txBody>
      </p:sp>
      <p:grpSp>
        <p:nvGrpSpPr>
          <p:cNvPr id="1453" name="Google Shape;1453;p105"/>
          <p:cNvGrpSpPr/>
          <p:nvPr/>
        </p:nvGrpSpPr>
        <p:grpSpPr>
          <a:xfrm>
            <a:off x="8482537" y="742276"/>
            <a:ext cx="337459" cy="337459"/>
            <a:chOff x="1020916" y="1442088"/>
            <a:chExt cx="457200" cy="457200"/>
          </a:xfrm>
        </p:grpSpPr>
        <p:pic>
          <p:nvPicPr>
            <p:cNvPr id="1454" name="Google Shape;1454;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55" name="Google Shape;1455;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456" name="Google Shape;1456;p105"/>
          <p:cNvSpPr txBox="1"/>
          <p:nvPr>
            <p:ph idx="1" type="body"/>
          </p:nvPr>
        </p:nvSpPr>
        <p:spPr>
          <a:xfrm>
            <a:off x="5061750" y="1400675"/>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p:txBody>
      </p:sp>
      <p:sp>
        <p:nvSpPr>
          <p:cNvPr id="1457" name="Google Shape;1457;p105"/>
          <p:cNvSpPr txBox="1"/>
          <p:nvPr>
            <p:ph idx="1" type="body"/>
          </p:nvPr>
        </p:nvSpPr>
        <p:spPr>
          <a:xfrm>
            <a:off x="6753327" y="1057147"/>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p:txBody>
      </p:sp>
      <p:sp>
        <p:nvSpPr>
          <p:cNvPr id="1458" name="Google Shape;1458;p105"/>
          <p:cNvSpPr txBox="1"/>
          <p:nvPr>
            <p:ph idx="1" type="body"/>
          </p:nvPr>
        </p:nvSpPr>
        <p:spPr>
          <a:xfrm>
            <a:off x="7564650" y="2034278"/>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sp>
        <p:nvSpPr>
          <p:cNvPr id="1463" name="Google Shape;1463;p10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Comparing pie charts</a:t>
            </a:r>
            <a:endParaRPr sz="1800"/>
          </a:p>
        </p:txBody>
      </p:sp>
      <p:pic>
        <p:nvPicPr>
          <p:cNvPr id="1464" name="Google Shape;1464;p106"/>
          <p:cNvPicPr preferRelativeResize="0"/>
          <p:nvPr/>
        </p:nvPicPr>
        <p:blipFill>
          <a:blip r:embed="rId3">
            <a:alphaModFix/>
          </a:blip>
          <a:stretch>
            <a:fillRect/>
          </a:stretch>
        </p:blipFill>
        <p:spPr>
          <a:xfrm>
            <a:off x="350310" y="683723"/>
            <a:ext cx="5013625" cy="2584000"/>
          </a:xfrm>
          <a:prstGeom prst="rect">
            <a:avLst/>
          </a:prstGeom>
          <a:noFill/>
          <a:ln>
            <a:noFill/>
          </a:ln>
        </p:spPr>
      </p:pic>
      <p:grpSp>
        <p:nvGrpSpPr>
          <p:cNvPr id="1465" name="Google Shape;1465;p106"/>
          <p:cNvGrpSpPr/>
          <p:nvPr/>
        </p:nvGrpSpPr>
        <p:grpSpPr>
          <a:xfrm>
            <a:off x="350310" y="683723"/>
            <a:ext cx="337459" cy="337459"/>
            <a:chOff x="1020916" y="1442088"/>
            <a:chExt cx="457200" cy="457200"/>
          </a:xfrm>
        </p:grpSpPr>
        <p:pic>
          <p:nvPicPr>
            <p:cNvPr id="1466" name="Google Shape;1466;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67" name="Google Shape;1467;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1468" name="Google Shape;1468;p106"/>
          <p:cNvSpPr txBox="1"/>
          <p:nvPr>
            <p:ph idx="1" type="body"/>
          </p:nvPr>
        </p:nvSpPr>
        <p:spPr>
          <a:xfrm>
            <a:off x="738973" y="1975723"/>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a:p>
            <a:pPr indent="0" lvl="0" marL="0" rtl="0" algn="ctr">
              <a:lnSpc>
                <a:spcPct val="100000"/>
              </a:lnSpc>
              <a:spcBef>
                <a:spcPts val="0"/>
              </a:spcBef>
              <a:spcAft>
                <a:spcPts val="0"/>
              </a:spcAft>
              <a:buNone/>
            </a:pPr>
            <a:r>
              <a:rPr lang="en-GB" sz="1800"/>
              <a:t>240°</a:t>
            </a:r>
            <a:endParaRPr sz="1800"/>
          </a:p>
        </p:txBody>
      </p:sp>
      <p:grpSp>
        <p:nvGrpSpPr>
          <p:cNvPr id="1469" name="Google Shape;1469;p106"/>
          <p:cNvGrpSpPr/>
          <p:nvPr/>
        </p:nvGrpSpPr>
        <p:grpSpPr>
          <a:xfrm>
            <a:off x="5026460" y="683723"/>
            <a:ext cx="337459" cy="337459"/>
            <a:chOff x="1020916" y="1442088"/>
            <a:chExt cx="457200" cy="457200"/>
          </a:xfrm>
        </p:grpSpPr>
        <p:pic>
          <p:nvPicPr>
            <p:cNvPr id="1470" name="Google Shape;1470;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71" name="Google Shape;1471;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1472" name="Google Shape;1472;p106"/>
          <p:cNvSpPr txBox="1"/>
          <p:nvPr>
            <p:ph idx="1" type="body"/>
          </p:nvPr>
        </p:nvSpPr>
        <p:spPr>
          <a:xfrm>
            <a:off x="1605673" y="1342123"/>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a:p>
            <a:pPr indent="0" lvl="0" marL="0" rtl="0" algn="ctr">
              <a:lnSpc>
                <a:spcPct val="100000"/>
              </a:lnSpc>
              <a:spcBef>
                <a:spcPts val="0"/>
              </a:spcBef>
              <a:spcAft>
                <a:spcPts val="0"/>
              </a:spcAft>
              <a:buNone/>
            </a:pPr>
            <a:r>
              <a:rPr lang="en-GB" sz="1800">
                <a:latin typeface="Kalam"/>
                <a:ea typeface="Kalam"/>
                <a:cs typeface="Kalam"/>
                <a:sym typeface="Kalam"/>
              </a:rPr>
              <a:t>120°</a:t>
            </a:r>
            <a:endParaRPr sz="1800">
              <a:latin typeface="Kalam"/>
              <a:ea typeface="Kalam"/>
              <a:cs typeface="Kalam"/>
              <a:sym typeface="Kalam"/>
            </a:endParaRPr>
          </a:p>
        </p:txBody>
      </p:sp>
      <p:sp>
        <p:nvSpPr>
          <p:cNvPr id="1473" name="Google Shape;1473;p106"/>
          <p:cNvSpPr txBox="1"/>
          <p:nvPr>
            <p:ph idx="1" type="body"/>
          </p:nvPr>
        </p:nvSpPr>
        <p:spPr>
          <a:xfrm>
            <a:off x="3335406" y="998595"/>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won’t</a:t>
            </a:r>
            <a:endParaRPr sz="1800"/>
          </a:p>
          <a:p>
            <a:pPr indent="0" lvl="0" marL="0" rtl="0" algn="ctr">
              <a:lnSpc>
                <a:spcPct val="100000"/>
              </a:lnSpc>
              <a:spcBef>
                <a:spcPts val="0"/>
              </a:spcBef>
              <a:spcAft>
                <a:spcPts val="0"/>
              </a:spcAft>
              <a:buNone/>
            </a:pPr>
            <a:r>
              <a:rPr lang="en-GB" sz="1800"/>
              <a:t>watch</a:t>
            </a:r>
            <a:endParaRPr sz="1800"/>
          </a:p>
          <a:p>
            <a:pPr indent="0" lvl="0" marL="0" rtl="0" algn="ctr">
              <a:lnSpc>
                <a:spcPct val="100000"/>
              </a:lnSpc>
              <a:spcBef>
                <a:spcPts val="0"/>
              </a:spcBef>
              <a:spcAft>
                <a:spcPts val="0"/>
              </a:spcAft>
              <a:buNone/>
            </a:pPr>
            <a:r>
              <a:rPr lang="en-GB" sz="1800">
                <a:latin typeface="Kalam"/>
                <a:ea typeface="Kalam"/>
                <a:cs typeface="Kalam"/>
                <a:sym typeface="Kalam"/>
              </a:rPr>
              <a:t>60°</a:t>
            </a:r>
            <a:endParaRPr sz="1800">
              <a:latin typeface="Kalam"/>
              <a:ea typeface="Kalam"/>
              <a:cs typeface="Kalam"/>
              <a:sym typeface="Kalam"/>
            </a:endParaRPr>
          </a:p>
        </p:txBody>
      </p:sp>
      <p:sp>
        <p:nvSpPr>
          <p:cNvPr id="1474" name="Google Shape;1474;p106"/>
          <p:cNvSpPr txBox="1"/>
          <p:nvPr>
            <p:ph idx="1" type="body"/>
          </p:nvPr>
        </p:nvSpPr>
        <p:spPr>
          <a:xfrm>
            <a:off x="4108573" y="1975726"/>
            <a:ext cx="866700" cy="633600"/>
          </a:xfrm>
          <a:prstGeom prst="rect">
            <a:avLst/>
          </a:prstGeom>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t>watch</a:t>
            </a:r>
            <a:endParaRPr sz="1800"/>
          </a:p>
          <a:p>
            <a:pPr indent="0" lvl="0" marL="0" rtl="0" algn="ctr">
              <a:lnSpc>
                <a:spcPct val="100000"/>
              </a:lnSpc>
              <a:spcBef>
                <a:spcPts val="0"/>
              </a:spcBef>
              <a:spcAft>
                <a:spcPts val="0"/>
              </a:spcAft>
              <a:buNone/>
            </a:pPr>
            <a:r>
              <a:rPr lang="en-GB" sz="1800"/>
              <a:t>300°</a:t>
            </a:r>
            <a:endParaRPr sz="1800"/>
          </a:p>
        </p:txBody>
      </p:sp>
      <p:graphicFrame>
        <p:nvGraphicFramePr>
          <p:cNvPr id="1475" name="Google Shape;1475;p106"/>
          <p:cNvGraphicFramePr/>
          <p:nvPr/>
        </p:nvGraphicFramePr>
        <p:xfrm>
          <a:off x="5774400" y="1051372"/>
          <a:ext cx="3000000" cy="3000000"/>
        </p:xfrm>
        <a:graphic>
          <a:graphicData uri="http://schemas.openxmlformats.org/drawingml/2006/table">
            <a:tbl>
              <a:tblPr>
                <a:noFill/>
                <a:tableStyleId>{8FE87B28-7372-46B9-B6C0-65CDB115E127}</a:tableStyleId>
              </a:tblPr>
              <a:tblGrid>
                <a:gridCol w="1246275"/>
                <a:gridCol w="965200"/>
                <a:gridCol w="823625"/>
              </a:tblGrid>
              <a:tr h="280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watch</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won’t watch</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0" marB="0" marR="0" marL="0" anchor="ctr">
                    <a:solidFill>
                      <a:srgbClr val="037B7D"/>
                    </a:solidFill>
                  </a:tcPr>
                </a:tc>
              </a:tr>
              <a:tr h="315000">
                <a:tc>
                  <a:txBody>
                    <a:bodyPr/>
                    <a:lstStyle/>
                    <a:p>
                      <a:pPr indent="0" lvl="0" marL="0" rtl="0" algn="ctr">
                        <a:spcBef>
                          <a:spcPts val="0"/>
                        </a:spcBef>
                        <a:spcAft>
                          <a:spcPts val="0"/>
                        </a:spcAft>
                        <a:buNone/>
                      </a:pPr>
                      <a:r>
                        <a:rPr lang="en-GB" sz="1800">
                          <a:latin typeface="Kalam"/>
                          <a:ea typeface="Kalam"/>
                          <a:cs typeface="Kalam"/>
                          <a:sym typeface="Kalam"/>
                        </a:rPr>
                        <a:t>120°</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240°</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tcPr>
                </a:tc>
              </a:tr>
              <a:tr h="315000">
                <a:tc>
                  <a:txBody>
                    <a:bodyPr/>
                    <a:lstStyle/>
                    <a:p>
                      <a:pPr indent="0" lvl="0" marL="0" rtl="0" algn="ctr">
                        <a:spcBef>
                          <a:spcPts val="0"/>
                        </a:spcBef>
                        <a:spcAft>
                          <a:spcPts val="0"/>
                        </a:spcAft>
                        <a:buNone/>
                      </a:pPr>
                      <a:r>
                        <a:rPr lang="en-GB" sz="1800">
                          <a:latin typeface="Lexend"/>
                          <a:ea typeface="Lexend"/>
                          <a:cs typeface="Lexend"/>
                          <a:sym typeface="Lexend"/>
                        </a:rPr>
                        <a:t>80</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Kalam"/>
                          <a:ea typeface="Kalam"/>
                          <a:cs typeface="Kalam"/>
                          <a:sym typeface="Kalam"/>
                        </a:rPr>
                        <a:t>160</a:t>
                      </a:r>
                      <a:endParaRPr sz="1800">
                        <a:latin typeface="Kalam"/>
                        <a:ea typeface="Kalam"/>
                        <a:cs typeface="Kalam"/>
                        <a:sym typeface="Kalam"/>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Kalam"/>
                          <a:ea typeface="Kalam"/>
                          <a:cs typeface="Kalam"/>
                          <a:sym typeface="Kalam"/>
                        </a:rPr>
                        <a:t>240</a:t>
                      </a:r>
                      <a:endParaRPr sz="1800">
                        <a:latin typeface="Kalam"/>
                        <a:ea typeface="Kalam"/>
                        <a:cs typeface="Kalam"/>
                        <a:sym typeface="Kalam"/>
                      </a:endParaRPr>
                    </a:p>
                  </a:txBody>
                  <a:tcPr marT="0" marB="0" marR="0" marL="0" anchor="ctr"/>
                </a:tc>
              </a:tr>
            </a:tbl>
          </a:graphicData>
        </a:graphic>
      </p:graphicFrame>
      <p:sp>
        <p:nvSpPr>
          <p:cNvPr id="1476" name="Google Shape;1476;p106"/>
          <p:cNvSpPr txBox="1"/>
          <p:nvPr>
            <p:ph idx="4294967295" type="body"/>
          </p:nvPr>
        </p:nvSpPr>
        <p:spPr>
          <a:xfrm>
            <a:off x="5774475" y="746372"/>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group a</a:t>
            </a:r>
            <a:endParaRPr sz="1800"/>
          </a:p>
        </p:txBody>
      </p:sp>
      <p:graphicFrame>
        <p:nvGraphicFramePr>
          <p:cNvPr id="1477" name="Google Shape;1477;p106"/>
          <p:cNvGraphicFramePr/>
          <p:nvPr/>
        </p:nvGraphicFramePr>
        <p:xfrm>
          <a:off x="5774400" y="2915997"/>
          <a:ext cx="3000000" cy="3000000"/>
        </p:xfrm>
        <a:graphic>
          <a:graphicData uri="http://schemas.openxmlformats.org/drawingml/2006/table">
            <a:tbl>
              <a:tblPr>
                <a:noFill/>
                <a:tableStyleId>{8FE87B28-7372-46B9-B6C0-65CDB115E127}</a:tableStyleId>
              </a:tblPr>
              <a:tblGrid>
                <a:gridCol w="1246275"/>
                <a:gridCol w="965200"/>
                <a:gridCol w="823625"/>
              </a:tblGrid>
              <a:tr h="280000">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watch</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won’t watch</a:t>
                      </a:r>
                      <a:endParaRPr sz="1800">
                        <a:solidFill>
                          <a:schemeClr val="lt1"/>
                        </a:solidFill>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solidFill>
                      <a:srgbClr val="037B7D"/>
                    </a:solidFill>
                  </a:tcPr>
                </a:tc>
                <a:tc>
                  <a:txBody>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total</a:t>
                      </a:r>
                      <a:endParaRPr sz="1800">
                        <a:solidFill>
                          <a:schemeClr val="lt1"/>
                        </a:solidFill>
                        <a:latin typeface="Lexend"/>
                        <a:ea typeface="Lexend"/>
                        <a:cs typeface="Lexend"/>
                        <a:sym typeface="Lexend"/>
                      </a:endParaRPr>
                    </a:p>
                  </a:txBody>
                  <a:tcPr marT="0" marB="0" marR="0" marL="0" anchor="ctr">
                    <a:solidFill>
                      <a:srgbClr val="037B7D"/>
                    </a:solidFill>
                  </a:tcPr>
                </a:tc>
              </a:tr>
              <a:tr h="315000">
                <a:tc>
                  <a:txBody>
                    <a:bodyPr/>
                    <a:lstStyle/>
                    <a:p>
                      <a:pPr indent="0" lvl="0" marL="0" rtl="0" algn="ctr">
                        <a:spcBef>
                          <a:spcPts val="0"/>
                        </a:spcBef>
                        <a:spcAft>
                          <a:spcPts val="0"/>
                        </a:spcAft>
                        <a:buNone/>
                      </a:pPr>
                      <a:r>
                        <a:rPr lang="en-GB" sz="1800">
                          <a:latin typeface="Kalam"/>
                          <a:ea typeface="Kalam"/>
                          <a:cs typeface="Kalam"/>
                          <a:sym typeface="Kalam"/>
                        </a:rPr>
                        <a:t>300°</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Kalam"/>
                          <a:ea typeface="Kalam"/>
                          <a:cs typeface="Kalam"/>
                          <a:sym typeface="Kalam"/>
                        </a:rPr>
                        <a:t>60°</a:t>
                      </a:r>
                      <a:endParaRPr sz="18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360°</a:t>
                      </a:r>
                      <a:endParaRPr sz="18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tcPr>
                </a:tc>
              </a:tr>
              <a:tr h="315000">
                <a:tc>
                  <a:txBody>
                    <a:bodyPr/>
                    <a:lstStyle/>
                    <a:p>
                      <a:pPr indent="0" lvl="0" marL="0" rtl="0" algn="ctr">
                        <a:spcBef>
                          <a:spcPts val="0"/>
                        </a:spcBef>
                        <a:spcAft>
                          <a:spcPts val="0"/>
                        </a:spcAft>
                        <a:buNone/>
                      </a:pPr>
                      <a:r>
                        <a:rPr lang="en-GB" sz="1800">
                          <a:latin typeface="Kalam"/>
                          <a:ea typeface="Kalam"/>
                          <a:cs typeface="Kalam"/>
                          <a:sym typeface="Kalam"/>
                        </a:rPr>
                        <a:t>400</a:t>
                      </a:r>
                      <a:endParaRPr sz="1800">
                        <a:latin typeface="Kalam"/>
                        <a:ea typeface="Kalam"/>
                        <a:cs typeface="Kalam"/>
                        <a:sym typeface="Kalam"/>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Lexend"/>
                          <a:ea typeface="Lexend"/>
                          <a:cs typeface="Lexend"/>
                          <a:sym typeface="Lexend"/>
                        </a:rPr>
                        <a:t>80</a:t>
                      </a:r>
                      <a:endParaRPr sz="1800">
                        <a:latin typeface="Lexend"/>
                        <a:ea typeface="Lexend"/>
                        <a:cs typeface="Lexend"/>
                        <a:sym typeface="Lexend"/>
                      </a:endParaRPr>
                    </a:p>
                  </a:txBody>
                  <a:tcPr marT="0" marB="0" marR="0" marL="0"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GB" sz="1800">
                          <a:latin typeface="Kalam"/>
                          <a:ea typeface="Kalam"/>
                          <a:cs typeface="Kalam"/>
                          <a:sym typeface="Kalam"/>
                        </a:rPr>
                        <a:t>480</a:t>
                      </a:r>
                      <a:endParaRPr sz="1800">
                        <a:latin typeface="Kalam"/>
                        <a:ea typeface="Kalam"/>
                        <a:cs typeface="Kalam"/>
                        <a:sym typeface="Kalam"/>
                      </a:endParaRPr>
                    </a:p>
                  </a:txBody>
                  <a:tcPr marT="0" marB="0" marR="0" marL="0" anchor="ctr"/>
                </a:tc>
              </a:tr>
            </a:tbl>
          </a:graphicData>
        </a:graphic>
      </p:graphicFrame>
      <p:sp>
        <p:nvSpPr>
          <p:cNvPr id="1478" name="Google Shape;1478;p106"/>
          <p:cNvSpPr txBox="1"/>
          <p:nvPr>
            <p:ph idx="4294967295" type="body"/>
          </p:nvPr>
        </p:nvSpPr>
        <p:spPr>
          <a:xfrm>
            <a:off x="5774475" y="2610997"/>
            <a:ext cx="3035100" cy="305100"/>
          </a:xfrm>
          <a:prstGeom prst="rect">
            <a:avLst/>
          </a:prstGeom>
        </p:spPr>
        <p:txBody>
          <a:bodyPr anchorCtr="0" anchor="t" bIns="0" lIns="0" spcFirstLastPara="1" rIns="0" wrap="square" tIns="0">
            <a:noAutofit/>
          </a:bodyPr>
          <a:lstStyle/>
          <a:p>
            <a:pPr indent="0" lvl="0" marL="0" rtl="0" algn="ctr">
              <a:spcBef>
                <a:spcPts val="0"/>
              </a:spcBef>
              <a:spcAft>
                <a:spcPts val="1000"/>
              </a:spcAft>
              <a:buNone/>
            </a:pPr>
            <a:r>
              <a:rPr lang="en-GB" sz="1800"/>
              <a:t>group b</a:t>
            </a:r>
            <a:endParaRPr sz="1800"/>
          </a:p>
        </p:txBody>
      </p:sp>
      <p:sp>
        <p:nvSpPr>
          <p:cNvPr id="1479" name="Google Shape;1479;p106"/>
          <p:cNvSpPr txBox="1"/>
          <p:nvPr>
            <p:ph idx="1" type="body"/>
          </p:nvPr>
        </p:nvSpPr>
        <p:spPr>
          <a:xfrm>
            <a:off x="324000" y="3395047"/>
            <a:ext cx="5450400" cy="11787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4) The minor sector of each group both represent 80 people.</a:t>
            </a:r>
            <a:endParaRPr sz="1800"/>
          </a:p>
          <a:p>
            <a:pPr indent="0" lvl="0" marL="0" rtl="0" algn="l">
              <a:lnSpc>
                <a:spcPct val="100000"/>
              </a:lnSpc>
              <a:spcBef>
                <a:spcPts val="0"/>
              </a:spcBef>
              <a:spcAft>
                <a:spcPts val="0"/>
              </a:spcAft>
              <a:buNone/>
            </a:pPr>
            <a:r>
              <a:rPr lang="en-GB" sz="1800"/>
              <a:t>In which group were more people interviewed, and by how many people?</a:t>
            </a:r>
            <a:endParaRPr sz="1800"/>
          </a:p>
          <a:p>
            <a:pPr indent="0" lvl="0" marL="0" rtl="0" algn="l">
              <a:lnSpc>
                <a:spcPct val="100000"/>
              </a:lnSpc>
              <a:spcBef>
                <a:spcPts val="0"/>
              </a:spcBef>
              <a:spcAft>
                <a:spcPts val="0"/>
              </a:spcAft>
              <a:buNone/>
            </a:pPr>
            <a:r>
              <a:rPr lang="en-GB" sz="1800"/>
              <a:t>Fill in the ratio tables to help.</a:t>
            </a:r>
            <a:endParaRPr sz="1800"/>
          </a:p>
        </p:txBody>
      </p:sp>
      <p:sp>
        <p:nvSpPr>
          <p:cNvPr id="1480" name="Google Shape;1480;p106"/>
          <p:cNvSpPr txBox="1"/>
          <p:nvPr>
            <p:ph idx="1" type="body"/>
          </p:nvPr>
        </p:nvSpPr>
        <p:spPr>
          <a:xfrm>
            <a:off x="5728943" y="4170225"/>
            <a:ext cx="3181800" cy="633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latin typeface="Kalam"/>
                <a:ea typeface="Kalam"/>
                <a:cs typeface="Kalam"/>
                <a:sym typeface="Kalam"/>
              </a:rPr>
              <a:t>480 - 240 = 240 more people were interviewed in group b.</a:t>
            </a:r>
            <a:endParaRPr sz="1800">
              <a:latin typeface="Kalam"/>
              <a:ea typeface="Kalam"/>
              <a:cs typeface="Kalam"/>
              <a:sym typeface="Kala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107"/>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Interpreting pie charts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486" name="Google Shape;1486;p107"/>
          <p:cNvSpPr txBox="1"/>
          <p:nvPr>
            <p:ph idx="1" type="body"/>
          </p:nvPr>
        </p:nvSpPr>
        <p:spPr>
          <a:xfrm>
            <a:off x="324000" y="775200"/>
            <a:ext cx="84960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Calculating the multiplier is important when dividing the angle of a sector of a pie chart in order to find the frequency that sector represents.</a:t>
            </a:r>
            <a:endParaRPr sz="2000"/>
          </a:p>
          <a:p>
            <a:pPr indent="0" lvl="0" marL="0" rtl="0" algn="l">
              <a:spcBef>
                <a:spcPts val="1000"/>
              </a:spcBef>
              <a:spcAft>
                <a:spcPts val="0"/>
              </a:spcAft>
              <a:buNone/>
            </a:pPr>
            <a:r>
              <a:rPr lang="en-GB" sz="2000"/>
              <a:t>A protractor can be used to find the sector of an angle so that the frequency can be found.</a:t>
            </a:r>
            <a:endParaRPr sz="2000"/>
          </a:p>
          <a:p>
            <a:pPr indent="0" lvl="0" marL="0" rtl="0" algn="l">
              <a:spcBef>
                <a:spcPts val="1000"/>
              </a:spcBef>
              <a:spcAft>
                <a:spcPts val="1000"/>
              </a:spcAft>
              <a:buNone/>
            </a:pPr>
            <a:r>
              <a:rPr lang="en-GB" sz="2000"/>
              <a:t>Even if two pie charts have a sector of equal angle, they may represent different frequencies as each pie chart may have a different total.</a:t>
            </a:r>
            <a:endParaRPr sz="20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108"/>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492" name="Google Shape;1492;p108"/>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