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8134fe2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8134fe2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88134fe2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8134fe2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8bfe84465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8bfe84465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88bfe8446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88bfe844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88bfe8446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88bfe8446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88bfe84465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88bfe84465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8bfe84465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8bfe84465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88bfe844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88bfe844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88bfe84465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88bfe84465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88bfe84465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88bfe84465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88bfe84465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88bfe84465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88bfe84465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88bfe84465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88bfe84465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88bfe84465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88bfe84465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88bfe84465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88bfe84465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88bfe84465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88bfe84465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88bfe84465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88bfe84465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88bfe84465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88bfe84465_1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88bfe84465_1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88bfe84465_1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88bfe84465_1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8bcbbfe76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8bcbbfe76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bcbbfe76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bcbbfe76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8bcbbfe76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8bcbbfe76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8bcbbfe76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8bcbbfe76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88134fe2c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88134fe2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88bfe8446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88bfe8446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88bfe8446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88bfe8446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8bcbbfe76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8bcbbfe76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88bfe8446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88bfe8446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88bfe8446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88bfe844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88bfe8446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88bfe8446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88bfe84465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88bfe84465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88bfe84465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8bfe84465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88bfe84465_1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88bfe84465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88bfe84465_1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88bfe84465_1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88bfe84465_1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88bfe84465_1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88bfe84465_1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88bfe84465_1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88bfe84465_1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88bfe84465_1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88bfe84465_1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88bfe84465_1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8bcbbfe767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8bcbbfe76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0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0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0.png"/><Relationship Id="rId4" Type="http://schemas.openxmlformats.org/officeDocument/2006/relationships/image" Target="../media/image26.png"/><Relationship Id="rId11" Type="http://schemas.openxmlformats.org/officeDocument/2006/relationships/image" Target="../media/image17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interpret scatter graphs using data points shown.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905500"/>
            <a:ext cx="8496000" cy="8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Interpolation</a:t>
            </a:r>
            <a:r>
              <a:rPr b="0" lang="en-GB"/>
              <a:t> is the process of estimating unknown values that are inside the range of existing data.</a:t>
            </a:r>
            <a:endParaRPr b="0"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24000" y="2571750"/>
            <a:ext cx="8383800" cy="9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Extrapolation </a:t>
            </a:r>
            <a:r>
              <a:rPr b="0" lang="en-GB"/>
              <a:t>is the process of estimating unknown values that are outside the range of existing data.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Observing trends in scatter graphs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trends and interpolation to make predictions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1" y="20592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scatter graph shows data from the Met Office about the weather in Heathrow for each month from 1941 to 2022.</a:t>
            </a:r>
            <a:endParaRPr sz="18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782" name="Google Shape;782;p69"/>
          <p:cNvSpPr txBox="1"/>
          <p:nvPr/>
        </p:nvSpPr>
        <p:spPr>
          <a:xfrm>
            <a:off x="2138188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/>
        </p:nvSpPr>
        <p:spPr>
          <a:xfrm rot="-5400000">
            <a:off x="294050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4" name="Google Shape;784;p69"/>
          <p:cNvGrpSpPr/>
          <p:nvPr/>
        </p:nvGrpSpPr>
        <p:grpSpPr>
          <a:xfrm>
            <a:off x="1878175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785" name="Google Shape;785;p69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6" name="Google Shape;786;p69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87" name="Google Shape;787;p69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5917500" y="1637400"/>
            <a:ext cx="28815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What observations </a:t>
            </a:r>
            <a:r>
              <a:rPr lang="en-GB" sz="1700"/>
              <a:t>could</a:t>
            </a:r>
            <a:r>
              <a:rPr lang="en-GB" sz="1700"/>
              <a:t> we make from this data?</a:t>
            </a:r>
            <a:endParaRPr sz="1700"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5938500" y="2647950"/>
            <a:ext cx="28815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Does there appear to be a connection between the two variables?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interpret what points in different sections of the graph tell us about the variables for those months.</a:t>
            </a:r>
            <a:endParaRPr sz="1800"/>
          </a:p>
        </p:txBody>
      </p:sp>
      <p:sp>
        <p:nvSpPr>
          <p:cNvPr id="795" name="Google Shape;79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796" name="Google Shape;796;p70"/>
          <p:cNvSpPr txBox="1"/>
          <p:nvPr/>
        </p:nvSpPr>
        <p:spPr>
          <a:xfrm>
            <a:off x="3012984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0"/>
          <p:cNvSpPr txBox="1"/>
          <p:nvPr/>
        </p:nvSpPr>
        <p:spPr>
          <a:xfrm rot="-5400000">
            <a:off x="1168846" y="24442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8" name="Google Shape;798;p70"/>
          <p:cNvGrpSpPr/>
          <p:nvPr/>
        </p:nvGrpSpPr>
        <p:grpSpPr>
          <a:xfrm>
            <a:off x="2752971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799" name="Google Shape;799;p70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0" name="Google Shape;800;p70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01" name="Google Shape;801;p7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41797" y="4012999"/>
            <a:ext cx="17439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</a:t>
            </a:r>
            <a:r>
              <a:rPr lang="en-GB" sz="1600"/>
              <a:t>amounts of sunshine</a:t>
            </a:r>
            <a:r>
              <a:rPr lang="en-GB" sz="1600"/>
              <a:t> and </a:t>
            </a: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temperatures</a:t>
            </a:r>
            <a:endParaRPr sz="1600"/>
          </a:p>
        </p:txBody>
      </p:sp>
      <p:sp>
        <p:nvSpPr>
          <p:cNvPr id="803" name="Google Shape;803;p70"/>
          <p:cNvSpPr/>
          <p:nvPr/>
        </p:nvSpPr>
        <p:spPr>
          <a:xfrm>
            <a:off x="2898900" y="3062650"/>
            <a:ext cx="1337400" cy="135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4" name="Google Shape;804;p70"/>
          <p:cNvCxnSpPr>
            <a:stCxn id="802" idx="3"/>
          </p:cNvCxnSpPr>
          <p:nvPr/>
        </p:nvCxnSpPr>
        <p:spPr>
          <a:xfrm flipH="1" rot="10800000">
            <a:off x="2085697" y="4234399"/>
            <a:ext cx="796800" cy="19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6930350" y="1790600"/>
            <a:ext cx="18897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amounts of sunshine and </a:t>
            </a: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temperatures</a:t>
            </a:r>
            <a:endParaRPr sz="1600"/>
          </a:p>
        </p:txBody>
      </p:sp>
      <p:cxnSp>
        <p:nvCxnSpPr>
          <p:cNvPr id="806" name="Google Shape;806;p70"/>
          <p:cNvCxnSpPr/>
          <p:nvPr/>
        </p:nvCxnSpPr>
        <p:spPr>
          <a:xfrm flipH="1" rot="10800000">
            <a:off x="6183921" y="2229025"/>
            <a:ext cx="712200" cy="5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70"/>
          <p:cNvSpPr/>
          <p:nvPr/>
        </p:nvSpPr>
        <p:spPr>
          <a:xfrm>
            <a:off x="4230034" y="1784334"/>
            <a:ext cx="1913400" cy="1278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/>
          <p:nvPr/>
        </p:nvSpPr>
        <p:spPr>
          <a:xfrm>
            <a:off x="2898900" y="1784350"/>
            <a:ext cx="1337400" cy="1278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33049" y="1646275"/>
            <a:ext cx="18288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amounts of sunshine and </a:t>
            </a: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temperatures</a:t>
            </a:r>
            <a:endParaRPr sz="1600"/>
          </a:p>
        </p:txBody>
      </p:sp>
      <p:cxnSp>
        <p:nvCxnSpPr>
          <p:cNvPr id="810" name="Google Shape;810;p70"/>
          <p:cNvCxnSpPr>
            <a:stCxn id="809" idx="3"/>
          </p:cNvCxnSpPr>
          <p:nvPr/>
        </p:nvCxnSpPr>
        <p:spPr>
          <a:xfrm>
            <a:off x="2161849" y="2059375"/>
            <a:ext cx="774300" cy="16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70"/>
          <p:cNvSpPr/>
          <p:nvPr/>
        </p:nvSpPr>
        <p:spPr>
          <a:xfrm>
            <a:off x="4245084" y="3062617"/>
            <a:ext cx="1889700" cy="135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body"/>
          </p:nvPr>
        </p:nvSpPr>
        <p:spPr>
          <a:xfrm>
            <a:off x="6889975" y="3544800"/>
            <a:ext cx="18897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amounts of sunshine and </a:t>
            </a: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temperatures</a:t>
            </a:r>
            <a:endParaRPr sz="1600"/>
          </a:p>
        </p:txBody>
      </p:sp>
      <p:cxnSp>
        <p:nvCxnSpPr>
          <p:cNvPr id="813" name="Google Shape;813;p70"/>
          <p:cNvCxnSpPr>
            <a:endCxn id="812" idx="1"/>
          </p:cNvCxnSpPr>
          <p:nvPr/>
        </p:nvCxnSpPr>
        <p:spPr>
          <a:xfrm>
            <a:off x="6172375" y="3551400"/>
            <a:ext cx="717600" cy="40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1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Most of the points for this data are in these two zones.</a:t>
            </a:r>
            <a:endParaRPr sz="1800"/>
          </a:p>
        </p:txBody>
      </p:sp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820" name="Google Shape;820;p71"/>
          <p:cNvSpPr txBox="1"/>
          <p:nvPr/>
        </p:nvSpPr>
        <p:spPr>
          <a:xfrm>
            <a:off x="3012984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 rot="-5400000">
            <a:off x="1168846" y="24442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2" name="Google Shape;822;p71"/>
          <p:cNvGrpSpPr/>
          <p:nvPr/>
        </p:nvGrpSpPr>
        <p:grpSpPr>
          <a:xfrm>
            <a:off x="2752971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823" name="Google Shape;823;p71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4" name="Google Shape;824;p71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5" name="Google Shape;825;p71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341797" y="4012999"/>
            <a:ext cx="17439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amounts of sunshine and </a:t>
            </a:r>
            <a:r>
              <a:rPr lang="en-GB" sz="1600">
                <a:solidFill>
                  <a:schemeClr val="accent4"/>
                </a:solidFill>
              </a:rPr>
              <a:t>low</a:t>
            </a:r>
            <a:r>
              <a:rPr lang="en-GB" sz="1600"/>
              <a:t> temperatures</a:t>
            </a:r>
            <a:endParaRPr sz="1600"/>
          </a:p>
        </p:txBody>
      </p:sp>
      <p:sp>
        <p:nvSpPr>
          <p:cNvPr id="827" name="Google Shape;827;p71"/>
          <p:cNvSpPr/>
          <p:nvPr/>
        </p:nvSpPr>
        <p:spPr>
          <a:xfrm>
            <a:off x="2898900" y="3062650"/>
            <a:ext cx="1337400" cy="1351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8" name="Google Shape;828;p71"/>
          <p:cNvCxnSpPr>
            <a:stCxn id="826" idx="3"/>
          </p:cNvCxnSpPr>
          <p:nvPr/>
        </p:nvCxnSpPr>
        <p:spPr>
          <a:xfrm flipH="1" rot="10800000">
            <a:off x="2085697" y="4234399"/>
            <a:ext cx="796800" cy="19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6930350" y="1790600"/>
            <a:ext cx="1889700" cy="8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amounts of sunshine and </a:t>
            </a:r>
            <a:r>
              <a:rPr lang="en-GB" sz="1600">
                <a:solidFill>
                  <a:schemeClr val="accent4"/>
                </a:solidFill>
              </a:rPr>
              <a:t>high</a:t>
            </a:r>
            <a:r>
              <a:rPr lang="en-GB" sz="1600"/>
              <a:t> temperatures</a:t>
            </a:r>
            <a:endParaRPr sz="1600"/>
          </a:p>
        </p:txBody>
      </p:sp>
      <p:cxnSp>
        <p:nvCxnSpPr>
          <p:cNvPr id="830" name="Google Shape;830;p71"/>
          <p:cNvCxnSpPr/>
          <p:nvPr/>
        </p:nvCxnSpPr>
        <p:spPr>
          <a:xfrm flipH="1" rot="10800000">
            <a:off x="6183921" y="2229025"/>
            <a:ext cx="712200" cy="5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71"/>
          <p:cNvSpPr/>
          <p:nvPr/>
        </p:nvSpPr>
        <p:spPr>
          <a:xfrm>
            <a:off x="4230034" y="1784334"/>
            <a:ext cx="1913400" cy="1278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The upward trend suggests</a:t>
            </a:r>
            <a:r>
              <a:rPr lang="en-GB" sz="1700"/>
              <a:t> that months with more hours of sunshine tended to be warmer than months with fewer hours of sunshine.</a:t>
            </a:r>
            <a:endParaRPr sz="1700"/>
          </a:p>
        </p:txBody>
      </p:sp>
      <p:sp>
        <p:nvSpPr>
          <p:cNvPr id="837" name="Google Shape;83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838" name="Google Shape;838;p72"/>
          <p:cNvSpPr txBox="1"/>
          <p:nvPr/>
        </p:nvSpPr>
        <p:spPr>
          <a:xfrm>
            <a:off x="3012984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2"/>
          <p:cNvSpPr txBox="1"/>
          <p:nvPr/>
        </p:nvSpPr>
        <p:spPr>
          <a:xfrm rot="-5400000">
            <a:off x="1168846" y="24442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0" name="Google Shape;840;p72"/>
          <p:cNvGrpSpPr/>
          <p:nvPr/>
        </p:nvGrpSpPr>
        <p:grpSpPr>
          <a:xfrm>
            <a:off x="2752971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841" name="Google Shape;841;p72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42" name="Google Shape;842;p72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3" name="Google Shape;843;p72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44" name="Google Shape;844;p72"/>
          <p:cNvSpPr/>
          <p:nvPr/>
        </p:nvSpPr>
        <p:spPr>
          <a:xfrm rot="3335032">
            <a:off x="3930791" y="1359606"/>
            <a:ext cx="938961" cy="3159642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d349af48-4506-4159-8fbd-a30d3766ee9e&quot; data-equatio-type=&quot;desmos&quot;&gt;&lt;mglyph src=&quot;https://equatio-api.texthelp.com/desmos/get/06-10-2023/d349af48-4506-4159-8fbd-a30d3766ee9e&quot; alt=&quot;Equatio Desmos Graph&quot;/&gt;&lt;/math&gt;" id="849" name="Google Shape;849;p7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525" y="1662302"/>
            <a:ext cx="3980600" cy="29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scatter graph shows some other data from the Met Office about the weather in Heathrow for each month from 1941 to 2022.</a:t>
            </a:r>
            <a:endParaRPr sz="1700"/>
          </a:p>
        </p:txBody>
      </p:sp>
      <p:sp>
        <p:nvSpPr>
          <p:cNvPr id="851" name="Google Shape;85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852" name="Google Shape;852;p73"/>
          <p:cNvSpPr txBox="1"/>
          <p:nvPr/>
        </p:nvSpPr>
        <p:spPr>
          <a:xfrm>
            <a:off x="2277600" y="4494375"/>
            <a:ext cx="27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3"/>
          <p:cNvSpPr txBox="1"/>
          <p:nvPr/>
        </p:nvSpPr>
        <p:spPr>
          <a:xfrm rot="-5400000">
            <a:off x="-607000" y="2790875"/>
            <a:ext cx="32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4" name="Google Shape;854;p73"/>
          <p:cNvCxnSpPr/>
          <p:nvPr/>
        </p:nvCxnSpPr>
        <p:spPr>
          <a:xfrm rot="10800000">
            <a:off x="1412145" y="1439858"/>
            <a:ext cx="0" cy="318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73"/>
          <p:cNvCxnSpPr/>
          <p:nvPr/>
        </p:nvCxnSpPr>
        <p:spPr>
          <a:xfrm>
            <a:off x="1405504" y="4411404"/>
            <a:ext cx="39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6" name="Google Shape;856;p73"/>
          <p:cNvSpPr txBox="1"/>
          <p:nvPr>
            <p:ph idx="1" type="body"/>
          </p:nvPr>
        </p:nvSpPr>
        <p:spPr>
          <a:xfrm>
            <a:off x="5688900" y="1637400"/>
            <a:ext cx="28815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What observations </a:t>
            </a:r>
            <a:r>
              <a:rPr lang="en-GB" sz="1700"/>
              <a:t>could</a:t>
            </a:r>
            <a:r>
              <a:rPr lang="en-GB" sz="1700"/>
              <a:t> we make from this data?</a:t>
            </a:r>
            <a:endParaRPr sz="1700"/>
          </a:p>
        </p:txBody>
      </p:sp>
      <p:sp>
        <p:nvSpPr>
          <p:cNvPr id="857" name="Google Shape;857;p73"/>
          <p:cNvSpPr txBox="1"/>
          <p:nvPr>
            <p:ph idx="1" type="body"/>
          </p:nvPr>
        </p:nvSpPr>
        <p:spPr>
          <a:xfrm>
            <a:off x="5709900" y="2647950"/>
            <a:ext cx="28815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Does there appear to be a connection between the two variables?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d349af48-4506-4159-8fbd-a30d3766ee9e&quot; data-equatio-type=&quot;desmos&quot;&gt;&lt;mglyph src=&quot;https://equatio-api.texthelp.com/desmos/get/06-10-2023/d349af48-4506-4159-8fbd-a30d3766ee9e&quot; alt=&quot;Equatio Desmos Graph&quot;/&gt;&lt;/math&gt;" id="862" name="Google Shape;862;p7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525" y="1662302"/>
            <a:ext cx="3980600" cy="29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4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data appears to have a slight downward trend which suggests that months with more rainfall tended to have fewer hours of sunshine. </a:t>
            </a:r>
            <a:endParaRPr sz="1800"/>
          </a:p>
        </p:txBody>
      </p:sp>
      <p:sp>
        <p:nvSpPr>
          <p:cNvPr id="864" name="Google Shape;86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cxnSp>
        <p:nvCxnSpPr>
          <p:cNvPr id="865" name="Google Shape;865;p74"/>
          <p:cNvCxnSpPr/>
          <p:nvPr/>
        </p:nvCxnSpPr>
        <p:spPr>
          <a:xfrm rot="10800000">
            <a:off x="1412145" y="1439858"/>
            <a:ext cx="0" cy="318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6" name="Google Shape;866;p74"/>
          <p:cNvCxnSpPr/>
          <p:nvPr/>
        </p:nvCxnSpPr>
        <p:spPr>
          <a:xfrm>
            <a:off x="1405504" y="4411404"/>
            <a:ext cx="39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5688900" y="1789800"/>
            <a:ext cx="27621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 trend is weaker than in the previous example.</a:t>
            </a:r>
            <a:endParaRPr sz="1800"/>
          </a:p>
        </p:txBody>
      </p:sp>
      <p:sp>
        <p:nvSpPr>
          <p:cNvPr id="868" name="Google Shape;868;p74"/>
          <p:cNvSpPr txBox="1"/>
          <p:nvPr/>
        </p:nvSpPr>
        <p:spPr>
          <a:xfrm rot="-5400000">
            <a:off x="-607000" y="2790875"/>
            <a:ext cx="32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4"/>
          <p:cNvSpPr txBox="1"/>
          <p:nvPr/>
        </p:nvSpPr>
        <p:spPr>
          <a:xfrm>
            <a:off x="2277600" y="4494375"/>
            <a:ext cx="27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4"/>
          <p:cNvSpPr txBox="1"/>
          <p:nvPr>
            <p:ph idx="1" type="body"/>
          </p:nvPr>
        </p:nvSpPr>
        <p:spPr>
          <a:xfrm>
            <a:off x="5688900" y="2780400"/>
            <a:ext cx="29748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connection between the variables is less clear.</a:t>
            </a:r>
            <a:endParaRPr sz="1800"/>
          </a:p>
        </p:txBody>
      </p:sp>
      <p:sp>
        <p:nvSpPr>
          <p:cNvPr id="871" name="Google Shape;871;p74"/>
          <p:cNvSpPr/>
          <p:nvPr/>
        </p:nvSpPr>
        <p:spPr>
          <a:xfrm rot="7798648">
            <a:off x="1916611" y="2110908"/>
            <a:ext cx="1037065" cy="257935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d42fd687-4371-4b5c-921a-0b5c0d1fe810&quot; data-equatio-type=&quot;desmos&quot;&gt;&lt;mglyph src=&quot;https://equatio-api.texthelp.com/desmos/get/06-10-2023/d42fd687-4371-4b5c-921a-0b5c0d1fe810&quot; alt=&quot;Equatio Desmos Graph&quot;/&gt;&lt;/math&gt;" id="876" name="Google Shape;876;p75" title="Equatio Desmos Graph"/>
          <p:cNvPicPr preferRelativeResize="0"/>
          <p:nvPr/>
        </p:nvPicPr>
        <p:blipFill rotWithShape="1">
          <a:blip r:embed="rId3">
            <a:alphaModFix/>
          </a:blip>
          <a:srcRect b="2234" l="2219" r="0" t="4646"/>
          <a:stretch/>
        </p:blipFill>
        <p:spPr>
          <a:xfrm>
            <a:off x="1257551" y="1662300"/>
            <a:ext cx="4052628" cy="289442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5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scatter graph shows some other data from the Met Office about the weather in Heathrow for each month from 1941 to 2022.</a:t>
            </a:r>
            <a:endParaRPr sz="1700"/>
          </a:p>
        </p:txBody>
      </p:sp>
      <p:sp>
        <p:nvSpPr>
          <p:cNvPr id="878" name="Google Shape;87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879" name="Google Shape;879;p75"/>
          <p:cNvSpPr txBox="1"/>
          <p:nvPr/>
        </p:nvSpPr>
        <p:spPr>
          <a:xfrm>
            <a:off x="2277600" y="4494375"/>
            <a:ext cx="27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0" name="Google Shape;880;p75"/>
          <p:cNvCxnSpPr/>
          <p:nvPr/>
        </p:nvCxnSpPr>
        <p:spPr>
          <a:xfrm rot="10800000">
            <a:off x="1412145" y="1439858"/>
            <a:ext cx="0" cy="318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75"/>
          <p:cNvCxnSpPr/>
          <p:nvPr/>
        </p:nvCxnSpPr>
        <p:spPr>
          <a:xfrm>
            <a:off x="1405504" y="4411404"/>
            <a:ext cx="408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2" name="Google Shape;882;p75"/>
          <p:cNvSpPr txBox="1"/>
          <p:nvPr>
            <p:ph idx="1" type="body"/>
          </p:nvPr>
        </p:nvSpPr>
        <p:spPr>
          <a:xfrm>
            <a:off x="5688900" y="1637400"/>
            <a:ext cx="28815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What observations </a:t>
            </a:r>
            <a:r>
              <a:rPr lang="en-GB" sz="1700"/>
              <a:t>could</a:t>
            </a:r>
            <a:r>
              <a:rPr lang="en-GB" sz="1700"/>
              <a:t> we make from this data?</a:t>
            </a:r>
            <a:endParaRPr sz="1700"/>
          </a:p>
        </p:txBody>
      </p:sp>
      <p:sp>
        <p:nvSpPr>
          <p:cNvPr id="883" name="Google Shape;883;p75"/>
          <p:cNvSpPr txBox="1"/>
          <p:nvPr>
            <p:ph idx="1" type="body"/>
          </p:nvPr>
        </p:nvSpPr>
        <p:spPr>
          <a:xfrm>
            <a:off x="5709900" y="2647950"/>
            <a:ext cx="28815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Does there appear to be a connection between the two variables?</a:t>
            </a:r>
            <a:endParaRPr sz="1700"/>
          </a:p>
        </p:txBody>
      </p:sp>
      <p:sp>
        <p:nvSpPr>
          <p:cNvPr id="884" name="Google Shape;884;p75"/>
          <p:cNvSpPr txBox="1"/>
          <p:nvPr/>
        </p:nvSpPr>
        <p:spPr>
          <a:xfrm rot="-5400000">
            <a:off x="-355154" y="26728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d42fd687-4371-4b5c-921a-0b5c0d1fe810&quot; data-equatio-type=&quot;desmos&quot;&gt;&lt;mglyph src=&quot;https://equatio-api.texthelp.com/desmos/get/06-10-2023/d42fd687-4371-4b5c-921a-0b5c0d1fe810&quot; alt=&quot;Equatio Desmos Graph&quot;/&gt;&lt;/math&gt;" id="889" name="Google Shape;889;p76" title="Equatio Desmos Graph"/>
          <p:cNvPicPr preferRelativeResize="0"/>
          <p:nvPr/>
        </p:nvPicPr>
        <p:blipFill rotWithShape="1">
          <a:blip r:embed="rId3">
            <a:alphaModFix/>
          </a:blip>
          <a:srcRect b="2234" l="2219" r="0" t="4646"/>
          <a:stretch/>
        </p:blipFill>
        <p:spPr>
          <a:xfrm>
            <a:off x="1257551" y="1662300"/>
            <a:ext cx="4052628" cy="28944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6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There does not appear to be a trend in this data.</a:t>
            </a:r>
            <a:br>
              <a:rPr lang="en-GB" sz="1700"/>
            </a:br>
            <a:r>
              <a:rPr lang="en-GB" sz="1700"/>
              <a:t>There is not a clear connection between the variables.</a:t>
            </a:r>
            <a:endParaRPr sz="1700"/>
          </a:p>
        </p:txBody>
      </p:sp>
      <p:sp>
        <p:nvSpPr>
          <p:cNvPr id="891" name="Google Shape;89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892" name="Google Shape;892;p76"/>
          <p:cNvSpPr txBox="1"/>
          <p:nvPr/>
        </p:nvSpPr>
        <p:spPr>
          <a:xfrm>
            <a:off x="2277600" y="4494375"/>
            <a:ext cx="27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3" name="Google Shape;893;p76"/>
          <p:cNvCxnSpPr/>
          <p:nvPr/>
        </p:nvCxnSpPr>
        <p:spPr>
          <a:xfrm rot="10800000">
            <a:off x="1412145" y="1439858"/>
            <a:ext cx="0" cy="318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4" name="Google Shape;894;p76"/>
          <p:cNvCxnSpPr/>
          <p:nvPr/>
        </p:nvCxnSpPr>
        <p:spPr>
          <a:xfrm>
            <a:off x="1405504" y="4411404"/>
            <a:ext cx="408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76"/>
          <p:cNvSpPr txBox="1"/>
          <p:nvPr/>
        </p:nvSpPr>
        <p:spPr>
          <a:xfrm rot="-5400000">
            <a:off x="-355154" y="26728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ce9a6605-9bfc-412f-b06a-6cebb71f5893&quot; data-equatio-type=&quot;desmos&quot;&gt;&lt;mglyph src=&quot;https://equatio-api.texthelp.com/desmos/get/06-10-2023/ce9a6605-9bfc-412f-b06a-6cebb71f5893&quot; alt=&quot;Equatio Desmos Graph&quot;/&gt;&lt;/math&gt;" id="900" name="Google Shape;900;p77" title="Equatio Desmos Graph"/>
          <p:cNvPicPr preferRelativeResize="0"/>
          <p:nvPr/>
        </p:nvPicPr>
        <p:blipFill rotWithShape="1">
          <a:blip r:embed="rId3">
            <a:alphaModFix/>
          </a:blip>
          <a:srcRect b="0" l="11707" r="0" t="0"/>
          <a:stretch/>
        </p:blipFill>
        <p:spPr>
          <a:xfrm>
            <a:off x="5383700" y="1525225"/>
            <a:ext cx="3172900" cy="26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statement best describes the trend in this scatter graph?</a:t>
            </a:r>
            <a:endParaRPr sz="2000"/>
          </a:p>
        </p:txBody>
      </p:sp>
      <p:sp>
        <p:nvSpPr>
          <p:cNvPr id="902" name="Google Shape;902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03" name="Google Shape;903;p77"/>
          <p:cNvSpPr txBox="1"/>
          <p:nvPr>
            <p:ph idx="1" type="subTitle"/>
          </p:nvPr>
        </p:nvSpPr>
        <p:spPr>
          <a:xfrm>
            <a:off x="1034425" y="1837775"/>
            <a:ext cx="3776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Warmer months tended to have more days with air frost.</a:t>
            </a:r>
            <a:endParaRPr sz="1700"/>
          </a:p>
        </p:txBody>
      </p:sp>
      <p:sp>
        <p:nvSpPr>
          <p:cNvPr id="904" name="Google Shape;904;p77"/>
          <p:cNvSpPr txBox="1"/>
          <p:nvPr>
            <p:ph idx="3" type="subTitle"/>
          </p:nvPr>
        </p:nvSpPr>
        <p:spPr>
          <a:xfrm>
            <a:off x="1034425" y="2794250"/>
            <a:ext cx="37764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Warmer months tended to have fewer days with air frost.</a:t>
            </a:r>
            <a:endParaRPr sz="1700"/>
          </a:p>
        </p:txBody>
      </p:sp>
      <p:sp>
        <p:nvSpPr>
          <p:cNvPr id="905" name="Google Shape;905;p77"/>
          <p:cNvSpPr txBox="1"/>
          <p:nvPr>
            <p:ph idx="4" type="subTitle"/>
          </p:nvPr>
        </p:nvSpPr>
        <p:spPr>
          <a:xfrm>
            <a:off x="1034425" y="3766975"/>
            <a:ext cx="37764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There does not appear to be a connection between the variables.</a:t>
            </a:r>
            <a:endParaRPr sz="1700"/>
          </a:p>
        </p:txBody>
      </p:sp>
      <p:sp>
        <p:nvSpPr>
          <p:cNvPr id="906" name="Google Shape;906;p77"/>
          <p:cNvSpPr txBox="1"/>
          <p:nvPr/>
        </p:nvSpPr>
        <p:spPr>
          <a:xfrm>
            <a:off x="5677896" y="4220425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minimum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7" name="Google Shape;907;p77"/>
          <p:cNvCxnSpPr/>
          <p:nvPr/>
        </p:nvCxnSpPr>
        <p:spPr>
          <a:xfrm rot="10800000">
            <a:off x="5619715" y="1356975"/>
            <a:ext cx="0" cy="2850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77"/>
          <p:cNvCxnSpPr/>
          <p:nvPr/>
        </p:nvCxnSpPr>
        <p:spPr>
          <a:xfrm>
            <a:off x="5375425" y="4083325"/>
            <a:ext cx="345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77"/>
          <p:cNvSpPr txBox="1"/>
          <p:nvPr/>
        </p:nvSpPr>
        <p:spPr>
          <a:xfrm rot="-5400000">
            <a:off x="3683150" y="2510325"/>
            <a:ext cx="312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days with air frost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008" y="30506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af2ee20f-c352-41ce-aebe-1bec126a5be6&quot; data-equatio-type=&quot;desmos&quot;&gt;&lt;mglyph src=&quot;https://equatio-api.texthelp.com/desmos/get/06-10-2023/af2ee20f-c352-41ce-aebe-1bec126a5be6&quot; alt=&quot;Equatio Desmos Graph&quot;/&gt;&lt;/math&gt;" id="915" name="Google Shape;915;p7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693" y="1528110"/>
            <a:ext cx="3571876" cy="26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statement best describes the trend in this scatter graph?</a:t>
            </a:r>
            <a:endParaRPr sz="2000"/>
          </a:p>
        </p:txBody>
      </p:sp>
      <p:sp>
        <p:nvSpPr>
          <p:cNvPr id="917" name="Google Shape;917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18" name="Google Shape;918;p78"/>
          <p:cNvSpPr txBox="1"/>
          <p:nvPr>
            <p:ph idx="1" type="subTitle"/>
          </p:nvPr>
        </p:nvSpPr>
        <p:spPr>
          <a:xfrm>
            <a:off x="1034425" y="1837775"/>
            <a:ext cx="3537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Months with more rainfall</a:t>
            </a:r>
            <a:r>
              <a:rPr lang="en-GB" sz="1600"/>
              <a:t> tended to have more days with air frost.</a:t>
            </a:r>
            <a:endParaRPr sz="1600"/>
          </a:p>
        </p:txBody>
      </p:sp>
      <p:sp>
        <p:nvSpPr>
          <p:cNvPr id="919" name="Google Shape;919;p78"/>
          <p:cNvSpPr txBox="1"/>
          <p:nvPr>
            <p:ph idx="3" type="subTitle"/>
          </p:nvPr>
        </p:nvSpPr>
        <p:spPr>
          <a:xfrm>
            <a:off x="1034425" y="2794250"/>
            <a:ext cx="35376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Months with more rainfall tended to have fewer days with air frost.</a:t>
            </a:r>
            <a:endParaRPr sz="1600"/>
          </a:p>
        </p:txBody>
      </p:sp>
      <p:sp>
        <p:nvSpPr>
          <p:cNvPr id="920" name="Google Shape;920;p78"/>
          <p:cNvSpPr txBox="1"/>
          <p:nvPr>
            <p:ph idx="4" type="subTitle"/>
          </p:nvPr>
        </p:nvSpPr>
        <p:spPr>
          <a:xfrm>
            <a:off x="1034425" y="3766975"/>
            <a:ext cx="35376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There does not appear to be a connection between the variables.</a:t>
            </a:r>
            <a:endParaRPr sz="1600"/>
          </a:p>
        </p:txBody>
      </p:sp>
      <p:sp>
        <p:nvSpPr>
          <p:cNvPr id="921" name="Google Shape;921;p78"/>
          <p:cNvSpPr txBox="1"/>
          <p:nvPr/>
        </p:nvSpPr>
        <p:spPr>
          <a:xfrm>
            <a:off x="6154000" y="4220425"/>
            <a:ext cx="21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2" name="Google Shape;922;p78"/>
          <p:cNvCxnSpPr/>
          <p:nvPr/>
        </p:nvCxnSpPr>
        <p:spPr>
          <a:xfrm rot="10800000">
            <a:off x="5467315" y="1356975"/>
            <a:ext cx="0" cy="2850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78"/>
          <p:cNvCxnSpPr/>
          <p:nvPr/>
        </p:nvCxnSpPr>
        <p:spPr>
          <a:xfrm>
            <a:off x="5223025" y="4083325"/>
            <a:ext cx="3453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78"/>
          <p:cNvSpPr txBox="1"/>
          <p:nvPr/>
        </p:nvSpPr>
        <p:spPr>
          <a:xfrm rot="-5400000">
            <a:off x="3530750" y="2510325"/>
            <a:ext cx="312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days with air frost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5" name="Google Shape;92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608" y="41690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930" name="Google Shape;930;p79" title="Equatio Desmos Graph"/>
          <p:cNvPicPr preferRelativeResize="0"/>
          <p:nvPr/>
        </p:nvPicPr>
        <p:blipFill rotWithShape="1">
          <a:blip r:embed="rId3">
            <a:alphaModFix/>
          </a:blip>
          <a:srcRect b="2987" l="1613" r="0" t="0"/>
          <a:stretch/>
        </p:blipFill>
        <p:spPr>
          <a:xfrm>
            <a:off x="839975" y="1213173"/>
            <a:ext cx="4514026" cy="33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9"/>
          <p:cNvSpPr txBox="1"/>
          <p:nvPr>
            <p:ph idx="1" type="body"/>
          </p:nvPr>
        </p:nvSpPr>
        <p:spPr>
          <a:xfrm>
            <a:off x="324000" y="759300"/>
            <a:ext cx="84960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Trends in data can sometimes distinguish one group of data from another.</a:t>
            </a:r>
            <a:endParaRPr sz="1800"/>
          </a:p>
        </p:txBody>
      </p:sp>
      <p:sp>
        <p:nvSpPr>
          <p:cNvPr id="932" name="Google Shape;93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33" name="Google Shape;933;p79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9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9"/>
          <p:cNvSpPr txBox="1"/>
          <p:nvPr>
            <p:ph idx="1" type="body"/>
          </p:nvPr>
        </p:nvSpPr>
        <p:spPr>
          <a:xfrm>
            <a:off x="5765100" y="2780400"/>
            <a:ext cx="28815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What observations could we make from this data?</a:t>
            </a:r>
            <a:endParaRPr sz="1700"/>
          </a:p>
        </p:txBody>
      </p:sp>
      <p:sp>
        <p:nvSpPr>
          <p:cNvPr id="936" name="Google Shape;936;p79"/>
          <p:cNvSpPr txBox="1"/>
          <p:nvPr>
            <p:ph idx="1" type="body"/>
          </p:nvPr>
        </p:nvSpPr>
        <p:spPr>
          <a:xfrm>
            <a:off x="5786100" y="3562350"/>
            <a:ext cx="28815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Do there appear to be any differences between the data </a:t>
            </a:r>
            <a:r>
              <a:rPr lang="en-GB" sz="1700"/>
              <a:t>for the two towns</a:t>
            </a:r>
            <a:r>
              <a:rPr lang="en-GB" sz="1700"/>
              <a:t>?</a:t>
            </a:r>
            <a:endParaRPr sz="1700"/>
          </a:p>
        </p:txBody>
      </p:sp>
      <p:cxnSp>
        <p:nvCxnSpPr>
          <p:cNvPr id="937" name="Google Shape;937;p79"/>
          <p:cNvCxnSpPr/>
          <p:nvPr/>
        </p:nvCxnSpPr>
        <p:spPr>
          <a:xfrm rot="10800000">
            <a:off x="1007953" y="1181858"/>
            <a:ext cx="0" cy="34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79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9" name="Google Shape;939;p79"/>
          <p:cNvSpPr/>
          <p:nvPr/>
        </p:nvSpPr>
        <p:spPr>
          <a:xfrm>
            <a:off x="5582400" y="16686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9"/>
          <p:cNvSpPr/>
          <p:nvPr/>
        </p:nvSpPr>
        <p:spPr>
          <a:xfrm>
            <a:off x="5550300" y="20216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9"/>
          <p:cNvSpPr txBox="1"/>
          <p:nvPr>
            <p:ph idx="1" type="body"/>
          </p:nvPr>
        </p:nvSpPr>
        <p:spPr>
          <a:xfrm>
            <a:off x="5760375" y="15818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942" name="Google Shape;942;p79"/>
          <p:cNvSpPr txBox="1"/>
          <p:nvPr>
            <p:ph idx="1" type="body"/>
          </p:nvPr>
        </p:nvSpPr>
        <p:spPr>
          <a:xfrm>
            <a:off x="5760375" y="19861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</a:t>
            </a:r>
            <a:r>
              <a:rPr lang="en-GB" sz="1600"/>
              <a:t> (north Scotland)</a:t>
            </a:r>
            <a:endParaRPr sz="1600"/>
          </a:p>
        </p:txBody>
      </p:sp>
      <p:sp>
        <p:nvSpPr>
          <p:cNvPr id="943" name="Google Shape;943;p79"/>
          <p:cNvSpPr txBox="1"/>
          <p:nvPr>
            <p:ph idx="1" type="body"/>
          </p:nvPr>
        </p:nvSpPr>
        <p:spPr>
          <a:xfrm>
            <a:off x="5430000" y="12654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948" name="Google Shape;948;p80" title="Equatio Desmos Graph"/>
          <p:cNvPicPr preferRelativeResize="0"/>
          <p:nvPr/>
        </p:nvPicPr>
        <p:blipFill rotWithShape="1">
          <a:blip r:embed="rId3">
            <a:alphaModFix/>
          </a:blip>
          <a:srcRect b="2987" l="1613" r="0" t="0"/>
          <a:stretch/>
        </p:blipFill>
        <p:spPr>
          <a:xfrm>
            <a:off x="839975" y="1213173"/>
            <a:ext cx="4514026" cy="33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0"/>
          <p:cNvSpPr txBox="1"/>
          <p:nvPr>
            <p:ph idx="1" type="body"/>
          </p:nvPr>
        </p:nvSpPr>
        <p:spPr>
          <a:xfrm>
            <a:off x="324000" y="759300"/>
            <a:ext cx="84960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Heathrow tends to have had warmer maximum temperatures than Lerwick.</a:t>
            </a:r>
            <a:endParaRPr sz="1800"/>
          </a:p>
        </p:txBody>
      </p:sp>
      <p:sp>
        <p:nvSpPr>
          <p:cNvPr id="950" name="Google Shape;950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51" name="Google Shape;951;p80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0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80"/>
          <p:cNvCxnSpPr/>
          <p:nvPr/>
        </p:nvCxnSpPr>
        <p:spPr>
          <a:xfrm rot="10800000">
            <a:off x="1007953" y="1181858"/>
            <a:ext cx="0" cy="34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80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5" name="Google Shape;955;p80"/>
          <p:cNvSpPr/>
          <p:nvPr/>
        </p:nvSpPr>
        <p:spPr>
          <a:xfrm>
            <a:off x="5582400" y="17448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0"/>
          <p:cNvSpPr/>
          <p:nvPr/>
        </p:nvSpPr>
        <p:spPr>
          <a:xfrm>
            <a:off x="5550300" y="20978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0"/>
          <p:cNvSpPr txBox="1"/>
          <p:nvPr>
            <p:ph idx="1" type="body"/>
          </p:nvPr>
        </p:nvSpPr>
        <p:spPr>
          <a:xfrm>
            <a:off x="5760375" y="16580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958" name="Google Shape;958;p80"/>
          <p:cNvSpPr txBox="1"/>
          <p:nvPr>
            <p:ph idx="1" type="body"/>
          </p:nvPr>
        </p:nvSpPr>
        <p:spPr>
          <a:xfrm>
            <a:off x="5760375" y="20623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959" name="Google Shape;959;p80"/>
          <p:cNvSpPr txBox="1"/>
          <p:nvPr>
            <p:ph idx="1" type="body"/>
          </p:nvPr>
        </p:nvSpPr>
        <p:spPr>
          <a:xfrm>
            <a:off x="5430000" y="13416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960" name="Google Shape;960;p80"/>
          <p:cNvSpPr/>
          <p:nvPr/>
        </p:nvSpPr>
        <p:spPr>
          <a:xfrm>
            <a:off x="1519075" y="1461148"/>
            <a:ext cx="3723300" cy="1431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965" name="Google Shape;965;p81" title="Equatio Desmos Graph"/>
          <p:cNvPicPr preferRelativeResize="0"/>
          <p:nvPr/>
        </p:nvPicPr>
        <p:blipFill rotWithShape="1">
          <a:blip r:embed="rId3">
            <a:alphaModFix/>
          </a:blip>
          <a:srcRect b="2987" l="1613" r="0" t="0"/>
          <a:stretch/>
        </p:blipFill>
        <p:spPr>
          <a:xfrm>
            <a:off x="839975" y="1213173"/>
            <a:ext cx="4514026" cy="33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1"/>
          <p:cNvSpPr txBox="1"/>
          <p:nvPr>
            <p:ph idx="1" type="body"/>
          </p:nvPr>
        </p:nvSpPr>
        <p:spPr>
          <a:xfrm>
            <a:off x="324000" y="759300"/>
            <a:ext cx="84960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Lerwick has had more months with fewer hours of sunshine than Heathrow.</a:t>
            </a:r>
            <a:endParaRPr sz="1800"/>
          </a:p>
        </p:txBody>
      </p:sp>
      <p:sp>
        <p:nvSpPr>
          <p:cNvPr id="967" name="Google Shape;96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68" name="Google Shape;968;p81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1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0" name="Google Shape;970;p81"/>
          <p:cNvCxnSpPr/>
          <p:nvPr/>
        </p:nvCxnSpPr>
        <p:spPr>
          <a:xfrm rot="10800000">
            <a:off x="1007953" y="1181858"/>
            <a:ext cx="0" cy="34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81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81"/>
          <p:cNvSpPr/>
          <p:nvPr/>
        </p:nvSpPr>
        <p:spPr>
          <a:xfrm>
            <a:off x="5582400" y="17448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1"/>
          <p:cNvSpPr/>
          <p:nvPr/>
        </p:nvSpPr>
        <p:spPr>
          <a:xfrm>
            <a:off x="5550300" y="20978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1"/>
          <p:cNvSpPr txBox="1"/>
          <p:nvPr>
            <p:ph idx="1" type="body"/>
          </p:nvPr>
        </p:nvSpPr>
        <p:spPr>
          <a:xfrm>
            <a:off x="5760375" y="16580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975" name="Google Shape;975;p81"/>
          <p:cNvSpPr txBox="1"/>
          <p:nvPr>
            <p:ph idx="1" type="body"/>
          </p:nvPr>
        </p:nvSpPr>
        <p:spPr>
          <a:xfrm>
            <a:off x="5760375" y="20623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976" name="Google Shape;976;p81"/>
          <p:cNvSpPr txBox="1"/>
          <p:nvPr>
            <p:ph idx="1" type="body"/>
          </p:nvPr>
        </p:nvSpPr>
        <p:spPr>
          <a:xfrm>
            <a:off x="5430000" y="13416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977" name="Google Shape;977;p81"/>
          <p:cNvSpPr/>
          <p:nvPr/>
        </p:nvSpPr>
        <p:spPr>
          <a:xfrm>
            <a:off x="1007950" y="3422175"/>
            <a:ext cx="677100" cy="98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982" name="Google Shape;982;p82" title="Equatio Desmos Graph"/>
          <p:cNvPicPr preferRelativeResize="0"/>
          <p:nvPr/>
        </p:nvPicPr>
        <p:blipFill rotWithShape="1">
          <a:blip r:embed="rId3">
            <a:alphaModFix/>
          </a:blip>
          <a:srcRect b="2996" l="1613" r="0" t="7821"/>
          <a:stretch/>
        </p:blipFill>
        <p:spPr>
          <a:xfrm>
            <a:off x="839975" y="1482600"/>
            <a:ext cx="4514026" cy="30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2"/>
          <p:cNvSpPr txBox="1"/>
          <p:nvPr>
            <p:ph idx="1" type="body"/>
          </p:nvPr>
        </p:nvSpPr>
        <p:spPr>
          <a:xfrm>
            <a:off x="324000" y="7717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A new datapoint records</a:t>
            </a:r>
            <a:r>
              <a:rPr lang="en-GB" sz="1700"/>
              <a:t> 220 hours of sunshine and a mean maximum daily temperature of  11℃. Which town is it most likely to be from?</a:t>
            </a:r>
            <a:endParaRPr sz="1900"/>
          </a:p>
        </p:txBody>
      </p:sp>
      <p:sp>
        <p:nvSpPr>
          <p:cNvPr id="984" name="Google Shape;98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985" name="Google Shape;985;p82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2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7" name="Google Shape;987;p82"/>
          <p:cNvCxnSpPr/>
          <p:nvPr/>
        </p:nvCxnSpPr>
        <p:spPr>
          <a:xfrm rot="10800000">
            <a:off x="1007953" y="1401758"/>
            <a:ext cx="0" cy="322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82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82"/>
          <p:cNvSpPr/>
          <p:nvPr/>
        </p:nvSpPr>
        <p:spPr>
          <a:xfrm>
            <a:off x="3737432" y="3131098"/>
            <a:ext cx="342300" cy="342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2"/>
          <p:cNvSpPr txBox="1"/>
          <p:nvPr>
            <p:ph idx="1" type="body"/>
          </p:nvPr>
        </p:nvSpPr>
        <p:spPr>
          <a:xfrm>
            <a:off x="6550600" y="3396275"/>
            <a:ext cx="9558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Lerwick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82"/>
          <p:cNvSpPr/>
          <p:nvPr/>
        </p:nvSpPr>
        <p:spPr>
          <a:xfrm>
            <a:off x="5582400" y="19734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2"/>
          <p:cNvSpPr/>
          <p:nvPr/>
        </p:nvSpPr>
        <p:spPr>
          <a:xfrm>
            <a:off x="5550300" y="23264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2"/>
          <p:cNvSpPr txBox="1"/>
          <p:nvPr>
            <p:ph idx="1" type="body"/>
          </p:nvPr>
        </p:nvSpPr>
        <p:spPr>
          <a:xfrm>
            <a:off x="5760375" y="18866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994" name="Google Shape;994;p82"/>
          <p:cNvSpPr txBox="1"/>
          <p:nvPr>
            <p:ph idx="1" type="body"/>
          </p:nvPr>
        </p:nvSpPr>
        <p:spPr>
          <a:xfrm>
            <a:off x="5760375" y="22909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995" name="Google Shape;995;p82"/>
          <p:cNvSpPr txBox="1"/>
          <p:nvPr>
            <p:ph idx="1" type="body"/>
          </p:nvPr>
        </p:nvSpPr>
        <p:spPr>
          <a:xfrm>
            <a:off x="5430000" y="15702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996" name="Google Shape;996;p82"/>
          <p:cNvSpPr/>
          <p:nvPr/>
        </p:nvSpPr>
        <p:spPr>
          <a:xfrm>
            <a:off x="3785275" y="4312875"/>
            <a:ext cx="231900" cy="190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2"/>
          <p:cNvSpPr/>
          <p:nvPr/>
        </p:nvSpPr>
        <p:spPr>
          <a:xfrm>
            <a:off x="883717" y="3256852"/>
            <a:ext cx="231900" cy="115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8" name="Google Shape;998;p82"/>
          <p:cNvCxnSpPr>
            <a:stCxn id="997" idx="3"/>
            <a:endCxn id="989" idx="2"/>
          </p:cNvCxnSpPr>
          <p:nvPr/>
        </p:nvCxnSpPr>
        <p:spPr>
          <a:xfrm flipH="1" rot="10800000">
            <a:off x="1115617" y="3302152"/>
            <a:ext cx="2621700" cy="1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82"/>
          <p:cNvCxnSpPr>
            <a:stCxn id="989" idx="4"/>
            <a:endCxn id="996" idx="0"/>
          </p:cNvCxnSpPr>
          <p:nvPr/>
        </p:nvCxnSpPr>
        <p:spPr>
          <a:xfrm flipH="1">
            <a:off x="3901082" y="3473398"/>
            <a:ext cx="7500" cy="83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1004" name="Google Shape;1004;p83" title="Equatio Desmos Graph"/>
          <p:cNvPicPr preferRelativeResize="0"/>
          <p:nvPr/>
        </p:nvPicPr>
        <p:blipFill rotWithShape="1">
          <a:blip r:embed="rId3">
            <a:alphaModFix/>
          </a:blip>
          <a:srcRect b="2996" l="1613" r="0" t="7821"/>
          <a:stretch/>
        </p:blipFill>
        <p:spPr>
          <a:xfrm>
            <a:off x="839975" y="1482600"/>
            <a:ext cx="4514026" cy="30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3"/>
          <p:cNvSpPr txBox="1"/>
          <p:nvPr>
            <p:ph idx="1" type="body"/>
          </p:nvPr>
        </p:nvSpPr>
        <p:spPr>
          <a:xfrm>
            <a:off x="324000" y="759300"/>
            <a:ext cx="8237700" cy="6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A new datapoint records 150 hours of sunshine and a mean maximum daily temperature of  18℃. Which town is it most likely to be from?</a:t>
            </a:r>
            <a:endParaRPr sz="1900"/>
          </a:p>
        </p:txBody>
      </p:sp>
      <p:sp>
        <p:nvSpPr>
          <p:cNvPr id="1006" name="Google Shape;100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1007" name="Google Shape;1007;p83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3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9" name="Google Shape;1009;p83"/>
          <p:cNvCxnSpPr/>
          <p:nvPr/>
        </p:nvCxnSpPr>
        <p:spPr>
          <a:xfrm rot="10800000">
            <a:off x="1007953" y="1401758"/>
            <a:ext cx="0" cy="322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83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83"/>
          <p:cNvSpPr/>
          <p:nvPr/>
        </p:nvSpPr>
        <p:spPr>
          <a:xfrm>
            <a:off x="2850825" y="2488190"/>
            <a:ext cx="280800" cy="280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3"/>
          <p:cNvSpPr txBox="1"/>
          <p:nvPr>
            <p:ph idx="1" type="body"/>
          </p:nvPr>
        </p:nvSpPr>
        <p:spPr>
          <a:xfrm>
            <a:off x="6550600" y="3396275"/>
            <a:ext cx="12003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Heathrow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83"/>
          <p:cNvSpPr/>
          <p:nvPr/>
        </p:nvSpPr>
        <p:spPr>
          <a:xfrm>
            <a:off x="5582400" y="19734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3"/>
          <p:cNvSpPr/>
          <p:nvPr/>
        </p:nvSpPr>
        <p:spPr>
          <a:xfrm>
            <a:off x="5550300" y="23264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3"/>
          <p:cNvSpPr txBox="1"/>
          <p:nvPr>
            <p:ph idx="1" type="body"/>
          </p:nvPr>
        </p:nvSpPr>
        <p:spPr>
          <a:xfrm>
            <a:off x="5760375" y="18866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1016" name="Google Shape;1016;p83"/>
          <p:cNvSpPr txBox="1"/>
          <p:nvPr>
            <p:ph idx="1" type="body"/>
          </p:nvPr>
        </p:nvSpPr>
        <p:spPr>
          <a:xfrm>
            <a:off x="5760375" y="22909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1017" name="Google Shape;1017;p83"/>
          <p:cNvSpPr txBox="1"/>
          <p:nvPr>
            <p:ph idx="1" type="body"/>
          </p:nvPr>
        </p:nvSpPr>
        <p:spPr>
          <a:xfrm>
            <a:off x="5430000" y="15702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1018" name="Google Shape;1018;p83"/>
          <p:cNvSpPr/>
          <p:nvPr/>
        </p:nvSpPr>
        <p:spPr>
          <a:xfrm>
            <a:off x="883717" y="2579146"/>
            <a:ext cx="231900" cy="115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9" name="Google Shape;1019;p83"/>
          <p:cNvCxnSpPr>
            <a:stCxn id="1018" idx="3"/>
            <a:endCxn id="1011" idx="2"/>
          </p:cNvCxnSpPr>
          <p:nvPr/>
        </p:nvCxnSpPr>
        <p:spPr>
          <a:xfrm flipH="1" rot="10800000">
            <a:off x="1115617" y="2628646"/>
            <a:ext cx="1735200" cy="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0" name="Google Shape;1020;p83"/>
          <p:cNvSpPr/>
          <p:nvPr/>
        </p:nvSpPr>
        <p:spPr>
          <a:xfrm>
            <a:off x="2870875" y="4353503"/>
            <a:ext cx="231900" cy="190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1" name="Google Shape;1021;p83"/>
          <p:cNvCxnSpPr>
            <a:stCxn id="1011" idx="4"/>
            <a:endCxn id="1020" idx="0"/>
          </p:cNvCxnSpPr>
          <p:nvPr/>
        </p:nvCxnSpPr>
        <p:spPr>
          <a:xfrm flipH="1">
            <a:off x="2986725" y="2768990"/>
            <a:ext cx="4500" cy="158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1026" name="Google Shape;1026;p84" title="Equatio Desmos Graph"/>
          <p:cNvPicPr preferRelativeResize="0"/>
          <p:nvPr/>
        </p:nvPicPr>
        <p:blipFill rotWithShape="1">
          <a:blip r:embed="rId3">
            <a:alphaModFix/>
          </a:blip>
          <a:srcRect b="2996" l="1613" r="0" t="7821"/>
          <a:stretch/>
        </p:blipFill>
        <p:spPr>
          <a:xfrm>
            <a:off x="839975" y="1482600"/>
            <a:ext cx="4514026" cy="30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4"/>
          <p:cNvSpPr txBox="1"/>
          <p:nvPr>
            <p:ph idx="1" type="body"/>
          </p:nvPr>
        </p:nvSpPr>
        <p:spPr>
          <a:xfrm>
            <a:off x="324000" y="759300"/>
            <a:ext cx="8237700" cy="6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A new datapoint records only 10 hours of sunshine in the month. </a:t>
            </a:r>
            <a:br>
              <a:rPr lang="en-GB" sz="1700"/>
            </a:br>
            <a:r>
              <a:rPr lang="en-GB" sz="1700"/>
              <a:t>Which town is it most likely to be from?</a:t>
            </a:r>
            <a:endParaRPr sz="1900"/>
          </a:p>
        </p:txBody>
      </p:sp>
      <p:sp>
        <p:nvSpPr>
          <p:cNvPr id="1028" name="Google Shape;102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1029" name="Google Shape;1029;p84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4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1" name="Google Shape;1031;p84"/>
          <p:cNvCxnSpPr/>
          <p:nvPr/>
        </p:nvCxnSpPr>
        <p:spPr>
          <a:xfrm rot="10800000">
            <a:off x="1007953" y="1401758"/>
            <a:ext cx="0" cy="322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84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3" name="Google Shape;1033;p84"/>
          <p:cNvSpPr txBox="1"/>
          <p:nvPr>
            <p:ph idx="1" type="body"/>
          </p:nvPr>
        </p:nvSpPr>
        <p:spPr>
          <a:xfrm>
            <a:off x="6550600" y="3396275"/>
            <a:ext cx="12003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Lerwick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4"/>
          <p:cNvSpPr/>
          <p:nvPr/>
        </p:nvSpPr>
        <p:spPr>
          <a:xfrm>
            <a:off x="5582400" y="19734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4"/>
          <p:cNvSpPr/>
          <p:nvPr/>
        </p:nvSpPr>
        <p:spPr>
          <a:xfrm>
            <a:off x="5550300" y="23264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4"/>
          <p:cNvSpPr txBox="1"/>
          <p:nvPr>
            <p:ph idx="1" type="body"/>
          </p:nvPr>
        </p:nvSpPr>
        <p:spPr>
          <a:xfrm>
            <a:off x="5760375" y="18866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1037" name="Google Shape;1037;p84"/>
          <p:cNvSpPr txBox="1"/>
          <p:nvPr>
            <p:ph idx="1" type="body"/>
          </p:nvPr>
        </p:nvSpPr>
        <p:spPr>
          <a:xfrm>
            <a:off x="5760375" y="22909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1038" name="Google Shape;1038;p84"/>
          <p:cNvSpPr txBox="1"/>
          <p:nvPr>
            <p:ph idx="1" type="body"/>
          </p:nvPr>
        </p:nvSpPr>
        <p:spPr>
          <a:xfrm>
            <a:off x="5430000" y="15702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1039" name="Google Shape;1039;p84"/>
          <p:cNvSpPr/>
          <p:nvPr/>
        </p:nvSpPr>
        <p:spPr>
          <a:xfrm>
            <a:off x="1064625" y="1637400"/>
            <a:ext cx="180000" cy="2856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91e04bf5-7c22-4715-8004-5cc00ef66815&quot; data-equatio-type=&quot;desmos&quot;&gt;&lt;mglyph src=&quot;https://equatio-api.texthelp.com/desmos/get/06-10-2023/91e04bf5-7c22-4715-8004-5cc00ef66815&quot; alt=&quot;Equatio Desmos Graph&quot;/&gt;&lt;/math&gt;" id="1044" name="Google Shape;1044;p85" title="Equatio Desmos Graph"/>
          <p:cNvPicPr preferRelativeResize="0"/>
          <p:nvPr/>
        </p:nvPicPr>
        <p:blipFill rotWithShape="1">
          <a:blip r:embed="rId3">
            <a:alphaModFix/>
          </a:blip>
          <a:srcRect b="2996" l="1613" r="0" t="7821"/>
          <a:stretch/>
        </p:blipFill>
        <p:spPr>
          <a:xfrm>
            <a:off x="839975" y="1482600"/>
            <a:ext cx="4514026" cy="30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85"/>
          <p:cNvSpPr txBox="1"/>
          <p:nvPr>
            <p:ph idx="1" type="body"/>
          </p:nvPr>
        </p:nvSpPr>
        <p:spPr>
          <a:xfrm>
            <a:off x="324000" y="759300"/>
            <a:ext cx="8237700" cy="6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A new datapoint records a mean maximum daily temperature of  22℃. </a:t>
            </a:r>
            <a:br>
              <a:rPr lang="en-GB" sz="1700"/>
            </a:br>
            <a:r>
              <a:rPr lang="en-GB" sz="1700"/>
              <a:t>Which town is it most likely to be from?</a:t>
            </a:r>
            <a:endParaRPr sz="1900"/>
          </a:p>
        </p:txBody>
      </p:sp>
      <p:sp>
        <p:nvSpPr>
          <p:cNvPr id="1046" name="Google Shape;104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1047" name="Google Shape;1047;p85"/>
          <p:cNvSpPr txBox="1"/>
          <p:nvPr/>
        </p:nvSpPr>
        <p:spPr>
          <a:xfrm>
            <a:off x="1124397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5"/>
          <p:cNvSpPr txBox="1"/>
          <p:nvPr/>
        </p:nvSpPr>
        <p:spPr>
          <a:xfrm rot="-5400000">
            <a:off x="-719741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9" name="Google Shape;1049;p85"/>
          <p:cNvCxnSpPr/>
          <p:nvPr/>
        </p:nvCxnSpPr>
        <p:spPr>
          <a:xfrm rot="10800000">
            <a:off x="1007953" y="1401758"/>
            <a:ext cx="0" cy="322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85"/>
          <p:cNvCxnSpPr/>
          <p:nvPr/>
        </p:nvCxnSpPr>
        <p:spPr>
          <a:xfrm>
            <a:off x="1001312" y="4411404"/>
            <a:ext cx="4332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1" name="Google Shape;1051;p85"/>
          <p:cNvSpPr txBox="1"/>
          <p:nvPr>
            <p:ph idx="1" type="body"/>
          </p:nvPr>
        </p:nvSpPr>
        <p:spPr>
          <a:xfrm>
            <a:off x="6550600" y="3396275"/>
            <a:ext cx="12003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Heathrow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2" name="Google Shape;1052;p85"/>
          <p:cNvSpPr/>
          <p:nvPr/>
        </p:nvSpPr>
        <p:spPr>
          <a:xfrm>
            <a:off x="5582400" y="19734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5"/>
          <p:cNvSpPr/>
          <p:nvPr/>
        </p:nvSpPr>
        <p:spPr>
          <a:xfrm>
            <a:off x="5550300" y="2326425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5"/>
          <p:cNvSpPr txBox="1"/>
          <p:nvPr>
            <p:ph idx="1" type="body"/>
          </p:nvPr>
        </p:nvSpPr>
        <p:spPr>
          <a:xfrm>
            <a:off x="5760375" y="1886696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 (south England)</a:t>
            </a:r>
            <a:endParaRPr sz="1600"/>
          </a:p>
        </p:txBody>
      </p:sp>
      <p:sp>
        <p:nvSpPr>
          <p:cNvPr id="1055" name="Google Shape;1055;p85"/>
          <p:cNvSpPr txBox="1"/>
          <p:nvPr>
            <p:ph idx="1" type="body"/>
          </p:nvPr>
        </p:nvSpPr>
        <p:spPr>
          <a:xfrm>
            <a:off x="5760375" y="2290945"/>
            <a:ext cx="28815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 (north Scotland)</a:t>
            </a:r>
            <a:endParaRPr sz="1600"/>
          </a:p>
        </p:txBody>
      </p:sp>
      <p:sp>
        <p:nvSpPr>
          <p:cNvPr id="1056" name="Google Shape;1056;p85"/>
          <p:cNvSpPr txBox="1"/>
          <p:nvPr>
            <p:ph idx="1" type="body"/>
          </p:nvPr>
        </p:nvSpPr>
        <p:spPr>
          <a:xfrm>
            <a:off x="5430000" y="1570275"/>
            <a:ext cx="5274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key:</a:t>
            </a:r>
            <a:endParaRPr sz="1600"/>
          </a:p>
        </p:txBody>
      </p:sp>
      <p:sp>
        <p:nvSpPr>
          <p:cNvPr id="1057" name="Google Shape;1057;p85"/>
          <p:cNvSpPr/>
          <p:nvPr/>
        </p:nvSpPr>
        <p:spPr>
          <a:xfrm rot="5400000">
            <a:off x="2949100" y="71225"/>
            <a:ext cx="218100" cy="4305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6"/>
          <p:cNvSpPr txBox="1"/>
          <p:nvPr>
            <p:ph idx="1" type="body"/>
          </p:nvPr>
        </p:nvSpPr>
        <p:spPr>
          <a:xfrm>
            <a:off x="324000" y="759300"/>
            <a:ext cx="84744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 The scatter graph shows data from the Met Office about the weather in Stornoway </a:t>
            </a:r>
            <a:br>
              <a:rPr lang="en-GB" sz="1600"/>
            </a:br>
            <a:r>
              <a:rPr lang="en-GB" sz="1600"/>
              <a:t>     for each month from 1941 to 2022.</a:t>
            </a:r>
            <a:endParaRPr sz="1600"/>
          </a:p>
        </p:txBody>
      </p:sp>
      <p:sp>
        <p:nvSpPr>
          <p:cNvPr id="1063" name="Google Shape;106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133099ea-eba7-4fa8-88c4-b7ecbede6d50&quot; data-equatio-type=&quot;desmos&quot;&gt;&lt;mglyph src=&quot;https://equatio-api.texthelp.com/desmos/get/12-10-2023/133099ea-eba7-4fa8-88c4-b7ecbede6d50&quot; alt=&quot;Equatio Desmos Graph&quot;/&gt;&lt;/math&gt;" id="1064" name="Google Shape;1064;p86" title="Equatio Desmos Graph"/>
          <p:cNvPicPr preferRelativeResize="0"/>
          <p:nvPr/>
        </p:nvPicPr>
        <p:blipFill rotWithShape="1">
          <a:blip r:embed="rId3">
            <a:alphaModFix/>
          </a:blip>
          <a:srcRect b="6564" l="6950" r="0" t="8509"/>
          <a:stretch/>
        </p:blipFill>
        <p:spPr>
          <a:xfrm>
            <a:off x="5590929" y="1976629"/>
            <a:ext cx="3083200" cy="21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86"/>
          <p:cNvSpPr txBox="1"/>
          <p:nvPr/>
        </p:nvSpPr>
        <p:spPr>
          <a:xfrm rot="-5400000">
            <a:off x="4360204" y="2664578"/>
            <a:ext cx="19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6"/>
          <p:cNvSpPr txBox="1"/>
          <p:nvPr/>
        </p:nvSpPr>
        <p:spPr>
          <a:xfrm>
            <a:off x="6222054" y="4010879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6"/>
          <p:cNvSpPr txBox="1"/>
          <p:nvPr>
            <p:ph idx="1" type="body"/>
          </p:nvPr>
        </p:nvSpPr>
        <p:spPr>
          <a:xfrm>
            <a:off x="628800" y="1327525"/>
            <a:ext cx="7796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Write ‘true’ or ‘false’ for each statement below, based on the scatter graph.</a:t>
            </a:r>
            <a:endParaRPr sz="1600"/>
          </a:p>
        </p:txBody>
      </p:sp>
      <p:sp>
        <p:nvSpPr>
          <p:cNvPr id="1068" name="Google Shape;1068;p86"/>
          <p:cNvSpPr txBox="1"/>
          <p:nvPr>
            <p:ph idx="1" type="body"/>
          </p:nvPr>
        </p:nvSpPr>
        <p:spPr>
          <a:xfrm>
            <a:off x="324000" y="1876367"/>
            <a:ext cx="5051400" cy="5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Months with more rain tended to have </a:t>
            </a:r>
            <a:br>
              <a:rPr lang="en-GB" sz="1600"/>
            </a:br>
            <a:r>
              <a:rPr lang="en-GB" sz="1600"/>
              <a:t>     less sunshine.</a:t>
            </a:r>
            <a:endParaRPr sz="1600"/>
          </a:p>
        </p:txBody>
      </p:sp>
      <p:sp>
        <p:nvSpPr>
          <p:cNvPr id="1069" name="Google Shape;1069;p86"/>
          <p:cNvSpPr txBox="1"/>
          <p:nvPr>
            <p:ph idx="1" type="body"/>
          </p:nvPr>
        </p:nvSpPr>
        <p:spPr>
          <a:xfrm>
            <a:off x="324000" y="2760767"/>
            <a:ext cx="5051400" cy="5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Months with more sunshine tended to have </a:t>
            </a:r>
            <a:br>
              <a:rPr lang="en-GB" sz="1600"/>
            </a:br>
            <a:r>
              <a:rPr lang="en-GB" sz="1600"/>
              <a:t>     less rain.</a:t>
            </a:r>
            <a:endParaRPr sz="1600"/>
          </a:p>
        </p:txBody>
      </p:sp>
      <p:sp>
        <p:nvSpPr>
          <p:cNvPr id="1070" name="Google Shape;1070;p86"/>
          <p:cNvSpPr txBox="1"/>
          <p:nvPr>
            <p:ph idx="1" type="body"/>
          </p:nvPr>
        </p:nvSpPr>
        <p:spPr>
          <a:xfrm>
            <a:off x="324000" y="3625750"/>
            <a:ext cx="505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Some months recorded no sunshine.</a:t>
            </a:r>
            <a:endParaRPr sz="1600"/>
          </a:p>
        </p:txBody>
      </p:sp>
      <p:sp>
        <p:nvSpPr>
          <p:cNvPr id="1071" name="Google Shape;1071;p86"/>
          <p:cNvSpPr txBox="1"/>
          <p:nvPr>
            <p:ph idx="1" type="body"/>
          </p:nvPr>
        </p:nvSpPr>
        <p:spPr>
          <a:xfrm>
            <a:off x="324000" y="4317183"/>
            <a:ext cx="49863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All of the months that had more than 150 mm </a:t>
            </a:r>
            <a:br>
              <a:rPr lang="en-GB" sz="1600"/>
            </a:br>
            <a:r>
              <a:rPr lang="en-GB" sz="1600"/>
              <a:t>    of rain also had less than 200 hours of sunshine.</a:t>
            </a:r>
            <a:endParaRPr sz="1600"/>
          </a:p>
        </p:txBody>
      </p:sp>
      <p:cxnSp>
        <p:nvCxnSpPr>
          <p:cNvPr id="1072" name="Google Shape;1072;p86"/>
          <p:cNvCxnSpPr/>
          <p:nvPr/>
        </p:nvCxnSpPr>
        <p:spPr>
          <a:xfrm rot="10800000">
            <a:off x="5767525" y="1770817"/>
            <a:ext cx="0" cy="222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86"/>
          <p:cNvCxnSpPr/>
          <p:nvPr/>
        </p:nvCxnSpPr>
        <p:spPr>
          <a:xfrm>
            <a:off x="5759574" y="3987865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7"/>
          <p:cNvSpPr txBox="1"/>
          <p:nvPr>
            <p:ph idx="1" type="body"/>
          </p:nvPr>
        </p:nvSpPr>
        <p:spPr>
          <a:xfrm>
            <a:off x="324000" y="759300"/>
            <a:ext cx="6457200" cy="6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 The scatter graph shows data from the Met Office about the </a:t>
            </a:r>
            <a:br>
              <a:rPr lang="en-GB" sz="1600"/>
            </a:br>
            <a:r>
              <a:rPr lang="en-GB" sz="1600"/>
              <a:t>      weather in two towns for each month from 1941 to 2022.</a:t>
            </a:r>
            <a:endParaRPr sz="1600"/>
          </a:p>
        </p:txBody>
      </p:sp>
      <p:sp>
        <p:nvSpPr>
          <p:cNvPr id="1079" name="Google Shape;1079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1080" name="Google Shape;1080;p87"/>
          <p:cNvSpPr txBox="1"/>
          <p:nvPr/>
        </p:nvSpPr>
        <p:spPr>
          <a:xfrm>
            <a:off x="6069654" y="4310468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7"/>
          <p:cNvSpPr txBox="1"/>
          <p:nvPr>
            <p:ph idx="1" type="body"/>
          </p:nvPr>
        </p:nvSpPr>
        <p:spPr>
          <a:xfrm>
            <a:off x="455225" y="1651200"/>
            <a:ext cx="4554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Which town tends to get more rainfall?</a:t>
            </a:r>
            <a:endParaRPr sz="1600"/>
          </a:p>
        </p:txBody>
      </p:sp>
      <p:sp>
        <p:nvSpPr>
          <p:cNvPr id="1082" name="Google Shape;1082;p87"/>
          <p:cNvSpPr txBox="1"/>
          <p:nvPr/>
        </p:nvSpPr>
        <p:spPr>
          <a:xfrm rot="-5400000">
            <a:off x="4586529" y="2794218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7"/>
          <p:cNvSpPr txBox="1"/>
          <p:nvPr/>
        </p:nvSpPr>
        <p:spPr>
          <a:xfrm>
            <a:off x="5633684" y="4234256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7"/>
          <p:cNvSpPr/>
          <p:nvPr/>
        </p:nvSpPr>
        <p:spPr>
          <a:xfrm>
            <a:off x="7639800" y="11352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3daffef6-f0f5-45aa-bd56-1780c4e03ed3&quot; data-equatio-type=&quot;desmos&quot;&gt;&lt;mglyph src=&quot;https://equatio-api.texthelp.com/desmos/get/12-10-2023/3daffef6-f0f5-45aa-bd56-1780c4e03ed3&quot; alt=&quot;Equatio Desmos Graph&quot;/&gt;&lt;/math&gt;" id="1085" name="Google Shape;1085;p87" title="Equatio Desmos Graph"/>
          <p:cNvPicPr preferRelativeResize="0"/>
          <p:nvPr/>
        </p:nvPicPr>
        <p:blipFill rotWithShape="1">
          <a:blip r:embed="rId3">
            <a:alphaModFix/>
          </a:blip>
          <a:srcRect b="2914" l="6525" r="32376" t="5157"/>
          <a:stretch/>
        </p:blipFill>
        <p:spPr>
          <a:xfrm>
            <a:off x="5767675" y="1566637"/>
            <a:ext cx="2461600" cy="277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87"/>
          <p:cNvSpPr txBox="1"/>
          <p:nvPr>
            <p:ph idx="1" type="body"/>
          </p:nvPr>
        </p:nvSpPr>
        <p:spPr>
          <a:xfrm>
            <a:off x="455225" y="2307725"/>
            <a:ext cx="4554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Which town tends to be warmer?</a:t>
            </a:r>
            <a:endParaRPr sz="1600"/>
          </a:p>
        </p:txBody>
      </p:sp>
      <p:sp>
        <p:nvSpPr>
          <p:cNvPr id="1087" name="Google Shape;1087;p87"/>
          <p:cNvSpPr txBox="1"/>
          <p:nvPr>
            <p:ph idx="1" type="body"/>
          </p:nvPr>
        </p:nvSpPr>
        <p:spPr>
          <a:xfrm>
            <a:off x="455225" y="2964850"/>
            <a:ext cx="45549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A new data point records 5℃ and 100 mm. </a:t>
            </a:r>
            <a:br>
              <a:rPr lang="en-GB" sz="1600"/>
            </a:br>
            <a:r>
              <a:rPr lang="en-GB" sz="1600"/>
              <a:t>    Which town is it more likely to be?</a:t>
            </a:r>
            <a:endParaRPr sz="1600"/>
          </a:p>
        </p:txBody>
      </p:sp>
      <p:sp>
        <p:nvSpPr>
          <p:cNvPr id="1088" name="Google Shape;1088;p87"/>
          <p:cNvSpPr txBox="1"/>
          <p:nvPr>
            <p:ph idx="1" type="body"/>
          </p:nvPr>
        </p:nvSpPr>
        <p:spPr>
          <a:xfrm>
            <a:off x="455225" y="3926150"/>
            <a:ext cx="45549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A new data point records 20℃ and 100 mm. </a:t>
            </a:r>
            <a:br>
              <a:rPr lang="en-GB" sz="1600"/>
            </a:br>
            <a:r>
              <a:rPr lang="en-GB" sz="1600"/>
              <a:t>    Which town is it more likely to be?</a:t>
            </a:r>
            <a:endParaRPr sz="1600"/>
          </a:p>
        </p:txBody>
      </p:sp>
      <p:sp>
        <p:nvSpPr>
          <p:cNvPr id="1089" name="Google Shape;1089;p87"/>
          <p:cNvSpPr/>
          <p:nvPr/>
        </p:nvSpPr>
        <p:spPr>
          <a:xfrm>
            <a:off x="7618283" y="1378158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7"/>
          <p:cNvSpPr txBox="1"/>
          <p:nvPr>
            <p:ph idx="4294967295" type="body"/>
          </p:nvPr>
        </p:nvSpPr>
        <p:spPr>
          <a:xfrm>
            <a:off x="7828358" y="1090833"/>
            <a:ext cx="1074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</a:t>
            </a:r>
            <a:endParaRPr sz="1600"/>
          </a:p>
        </p:txBody>
      </p:sp>
      <p:sp>
        <p:nvSpPr>
          <p:cNvPr id="1091" name="Google Shape;1091;p87"/>
          <p:cNvSpPr txBox="1"/>
          <p:nvPr>
            <p:ph idx="4294967295" type="body"/>
          </p:nvPr>
        </p:nvSpPr>
        <p:spPr>
          <a:xfrm>
            <a:off x="7828358" y="1342683"/>
            <a:ext cx="1074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</a:t>
            </a:r>
            <a:endParaRPr sz="1600"/>
          </a:p>
        </p:txBody>
      </p:sp>
      <p:cxnSp>
        <p:nvCxnSpPr>
          <p:cNvPr id="1092" name="Google Shape;1092;p87"/>
          <p:cNvCxnSpPr/>
          <p:nvPr/>
        </p:nvCxnSpPr>
        <p:spPr>
          <a:xfrm rot="10800000">
            <a:off x="5971525" y="1380700"/>
            <a:ext cx="0" cy="286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87"/>
          <p:cNvCxnSpPr/>
          <p:nvPr/>
        </p:nvCxnSpPr>
        <p:spPr>
          <a:xfrm>
            <a:off x="5964896" y="4237837"/>
            <a:ext cx="2424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8"/>
          <p:cNvSpPr txBox="1"/>
          <p:nvPr>
            <p:ph idx="1" type="body"/>
          </p:nvPr>
        </p:nvSpPr>
        <p:spPr>
          <a:xfrm>
            <a:off x="324000" y="759300"/>
            <a:ext cx="8474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 The scatter graph shows data from the Met Office about the weather in Stornoway </a:t>
            </a:r>
            <a:br>
              <a:rPr lang="en-GB" sz="1600"/>
            </a:br>
            <a:r>
              <a:rPr lang="en-GB" sz="1600"/>
              <a:t>     for each month from 1941 to 2022.</a:t>
            </a:r>
            <a:endParaRPr sz="1600"/>
          </a:p>
        </p:txBody>
      </p:sp>
      <p:sp>
        <p:nvSpPr>
          <p:cNvPr id="1099" name="Google Shape;1099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133099ea-eba7-4fa8-88c4-b7ecbede6d50&quot; data-equatio-type=&quot;desmos&quot;&gt;&lt;mglyph src=&quot;https://equatio-api.texthelp.com/desmos/get/12-10-2023/133099ea-eba7-4fa8-88c4-b7ecbede6d50&quot; alt=&quot;Equatio Desmos Graph&quot;/&gt;&lt;/math&gt;" id="1100" name="Google Shape;1100;p88" title="Equatio Desmos Graph"/>
          <p:cNvPicPr preferRelativeResize="0"/>
          <p:nvPr/>
        </p:nvPicPr>
        <p:blipFill rotWithShape="1">
          <a:blip r:embed="rId3">
            <a:alphaModFix/>
          </a:blip>
          <a:srcRect b="6564" l="6950" r="0" t="8509"/>
          <a:stretch/>
        </p:blipFill>
        <p:spPr>
          <a:xfrm>
            <a:off x="5590929" y="1976629"/>
            <a:ext cx="3083200" cy="21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8"/>
          <p:cNvSpPr txBox="1"/>
          <p:nvPr/>
        </p:nvSpPr>
        <p:spPr>
          <a:xfrm rot="-5400000">
            <a:off x="4360204" y="2664578"/>
            <a:ext cx="19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8"/>
          <p:cNvSpPr txBox="1"/>
          <p:nvPr/>
        </p:nvSpPr>
        <p:spPr>
          <a:xfrm>
            <a:off x="6222054" y="4010879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8"/>
          <p:cNvSpPr txBox="1"/>
          <p:nvPr>
            <p:ph idx="1" type="body"/>
          </p:nvPr>
        </p:nvSpPr>
        <p:spPr>
          <a:xfrm>
            <a:off x="628800" y="1327525"/>
            <a:ext cx="7796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Write ‘true’ or ‘false’ for each statement below, based on the scatter graph.</a:t>
            </a:r>
            <a:endParaRPr sz="1600"/>
          </a:p>
        </p:txBody>
      </p:sp>
      <p:sp>
        <p:nvSpPr>
          <p:cNvPr id="1104" name="Google Shape;1104;p88"/>
          <p:cNvSpPr txBox="1"/>
          <p:nvPr>
            <p:ph idx="1" type="body"/>
          </p:nvPr>
        </p:nvSpPr>
        <p:spPr>
          <a:xfrm>
            <a:off x="324000" y="1876367"/>
            <a:ext cx="5051400" cy="5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Months with more rain tended to have </a:t>
            </a:r>
            <a:br>
              <a:rPr lang="en-GB" sz="1600"/>
            </a:br>
            <a:r>
              <a:rPr lang="en-GB" sz="1600"/>
              <a:t>     less sunshine.</a:t>
            </a:r>
            <a:endParaRPr sz="1600"/>
          </a:p>
        </p:txBody>
      </p:sp>
      <p:sp>
        <p:nvSpPr>
          <p:cNvPr id="1105" name="Google Shape;1105;p88"/>
          <p:cNvSpPr txBox="1"/>
          <p:nvPr>
            <p:ph idx="1" type="body"/>
          </p:nvPr>
        </p:nvSpPr>
        <p:spPr>
          <a:xfrm>
            <a:off x="324000" y="2760767"/>
            <a:ext cx="5051400" cy="5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Months with more sunshine tended to have </a:t>
            </a:r>
            <a:br>
              <a:rPr lang="en-GB" sz="1600"/>
            </a:br>
            <a:r>
              <a:rPr lang="en-GB" sz="1600"/>
              <a:t>     less rain.</a:t>
            </a:r>
            <a:endParaRPr sz="1600"/>
          </a:p>
        </p:txBody>
      </p:sp>
      <p:sp>
        <p:nvSpPr>
          <p:cNvPr id="1106" name="Google Shape;1106;p88"/>
          <p:cNvSpPr txBox="1"/>
          <p:nvPr>
            <p:ph idx="1" type="body"/>
          </p:nvPr>
        </p:nvSpPr>
        <p:spPr>
          <a:xfrm>
            <a:off x="324000" y="3625750"/>
            <a:ext cx="505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Some months recorded no sunshine.</a:t>
            </a:r>
            <a:endParaRPr sz="1600"/>
          </a:p>
        </p:txBody>
      </p:sp>
      <p:sp>
        <p:nvSpPr>
          <p:cNvPr id="1107" name="Google Shape;1107;p88"/>
          <p:cNvSpPr txBox="1"/>
          <p:nvPr>
            <p:ph idx="1" type="body"/>
          </p:nvPr>
        </p:nvSpPr>
        <p:spPr>
          <a:xfrm>
            <a:off x="324000" y="4317183"/>
            <a:ext cx="49863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All of the months that had more than 150 mm </a:t>
            </a:r>
            <a:br>
              <a:rPr lang="en-GB" sz="1600"/>
            </a:br>
            <a:r>
              <a:rPr lang="en-GB" sz="1600"/>
              <a:t>    of rain also had less than 200 hours of sunshine.</a:t>
            </a:r>
            <a:endParaRPr sz="1600"/>
          </a:p>
        </p:txBody>
      </p:sp>
      <p:cxnSp>
        <p:nvCxnSpPr>
          <p:cNvPr id="1108" name="Google Shape;1108;p88"/>
          <p:cNvCxnSpPr/>
          <p:nvPr/>
        </p:nvCxnSpPr>
        <p:spPr>
          <a:xfrm rot="10800000">
            <a:off x="5767525" y="1770817"/>
            <a:ext cx="0" cy="222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88"/>
          <p:cNvCxnSpPr/>
          <p:nvPr/>
        </p:nvCxnSpPr>
        <p:spPr>
          <a:xfrm>
            <a:off x="5759574" y="3987865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0" name="Google Shape;1110;p88"/>
          <p:cNvSpPr txBox="1"/>
          <p:nvPr>
            <p:ph idx="1" type="body"/>
          </p:nvPr>
        </p:nvSpPr>
        <p:spPr>
          <a:xfrm>
            <a:off x="2053333" y="2113896"/>
            <a:ext cx="50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8"/>
          <p:cNvSpPr txBox="1"/>
          <p:nvPr>
            <p:ph idx="1" type="body"/>
          </p:nvPr>
        </p:nvSpPr>
        <p:spPr>
          <a:xfrm>
            <a:off x="1580617" y="2997180"/>
            <a:ext cx="50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8"/>
          <p:cNvSpPr txBox="1"/>
          <p:nvPr>
            <p:ph idx="1" type="body"/>
          </p:nvPr>
        </p:nvSpPr>
        <p:spPr>
          <a:xfrm>
            <a:off x="5373800" y="4544713"/>
            <a:ext cx="50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8"/>
          <p:cNvSpPr txBox="1"/>
          <p:nvPr>
            <p:ph idx="1" type="body"/>
          </p:nvPr>
        </p:nvSpPr>
        <p:spPr>
          <a:xfrm>
            <a:off x="4209499" y="3598975"/>
            <a:ext cx="61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9"/>
          <p:cNvSpPr txBox="1"/>
          <p:nvPr>
            <p:ph idx="1" type="body"/>
          </p:nvPr>
        </p:nvSpPr>
        <p:spPr>
          <a:xfrm>
            <a:off x="324000" y="759300"/>
            <a:ext cx="82377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 The scatter graph shows data from the Met Office about the </a:t>
            </a:r>
            <a:br>
              <a:rPr lang="en-GB" sz="1600"/>
            </a:br>
            <a:r>
              <a:rPr lang="en-GB" sz="1600"/>
              <a:t>      weather in two towns for each month from 1941 to 2022.</a:t>
            </a:r>
            <a:endParaRPr sz="1600"/>
          </a:p>
        </p:txBody>
      </p:sp>
      <p:sp>
        <p:nvSpPr>
          <p:cNvPr id="1119" name="Google Shape;111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Observing trends in scatter graphs</a:t>
            </a:r>
            <a:endParaRPr/>
          </a:p>
        </p:txBody>
      </p:sp>
      <p:sp>
        <p:nvSpPr>
          <p:cNvPr id="1120" name="Google Shape;1120;p89"/>
          <p:cNvSpPr txBox="1"/>
          <p:nvPr/>
        </p:nvSpPr>
        <p:spPr>
          <a:xfrm>
            <a:off x="6069654" y="4310468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9"/>
          <p:cNvSpPr txBox="1"/>
          <p:nvPr>
            <p:ph idx="1" type="body"/>
          </p:nvPr>
        </p:nvSpPr>
        <p:spPr>
          <a:xfrm>
            <a:off x="455225" y="1651200"/>
            <a:ext cx="4554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Which town tends to get more rainfall?</a:t>
            </a:r>
            <a:endParaRPr sz="1600"/>
          </a:p>
        </p:txBody>
      </p:sp>
      <p:sp>
        <p:nvSpPr>
          <p:cNvPr id="1122" name="Google Shape;1122;p89"/>
          <p:cNvSpPr txBox="1"/>
          <p:nvPr/>
        </p:nvSpPr>
        <p:spPr>
          <a:xfrm rot="-5400000">
            <a:off x="4586529" y="2794218"/>
            <a:ext cx="20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9"/>
          <p:cNvSpPr txBox="1"/>
          <p:nvPr/>
        </p:nvSpPr>
        <p:spPr>
          <a:xfrm>
            <a:off x="5633684" y="4234256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9"/>
          <p:cNvSpPr/>
          <p:nvPr/>
        </p:nvSpPr>
        <p:spPr>
          <a:xfrm>
            <a:off x="7639800" y="1135200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3daffef6-f0f5-45aa-bd56-1780c4e03ed3&quot; data-equatio-type=&quot;desmos&quot;&gt;&lt;mglyph src=&quot;https://equatio-api.texthelp.com/desmos/get/12-10-2023/3daffef6-f0f5-45aa-bd56-1780c4e03ed3&quot; alt=&quot;Equatio Desmos Graph&quot;/&gt;&lt;/math&gt;" id="1125" name="Google Shape;1125;p89" title="Equatio Desmos Graph"/>
          <p:cNvPicPr preferRelativeResize="0"/>
          <p:nvPr/>
        </p:nvPicPr>
        <p:blipFill rotWithShape="1">
          <a:blip r:embed="rId3">
            <a:alphaModFix/>
          </a:blip>
          <a:srcRect b="2914" l="6525" r="32376" t="5157"/>
          <a:stretch/>
        </p:blipFill>
        <p:spPr>
          <a:xfrm>
            <a:off x="5767675" y="1566637"/>
            <a:ext cx="2461600" cy="277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89"/>
          <p:cNvSpPr txBox="1"/>
          <p:nvPr>
            <p:ph idx="1" type="body"/>
          </p:nvPr>
        </p:nvSpPr>
        <p:spPr>
          <a:xfrm>
            <a:off x="455225" y="2307725"/>
            <a:ext cx="4554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Which town tends to get warmer?</a:t>
            </a:r>
            <a:endParaRPr sz="1600"/>
          </a:p>
        </p:txBody>
      </p:sp>
      <p:sp>
        <p:nvSpPr>
          <p:cNvPr id="1127" name="Google Shape;1127;p89"/>
          <p:cNvSpPr txBox="1"/>
          <p:nvPr>
            <p:ph idx="1" type="body"/>
          </p:nvPr>
        </p:nvSpPr>
        <p:spPr>
          <a:xfrm>
            <a:off x="455225" y="2964850"/>
            <a:ext cx="45549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A new data point records 5℃ and 100 mm. </a:t>
            </a:r>
            <a:br>
              <a:rPr lang="en-GB" sz="1600"/>
            </a:br>
            <a:r>
              <a:rPr lang="en-GB" sz="1600"/>
              <a:t>    Which town is it more likely to be?</a:t>
            </a:r>
            <a:endParaRPr sz="1600"/>
          </a:p>
        </p:txBody>
      </p:sp>
      <p:sp>
        <p:nvSpPr>
          <p:cNvPr id="1128" name="Google Shape;1128;p89"/>
          <p:cNvSpPr txBox="1"/>
          <p:nvPr>
            <p:ph idx="1" type="body"/>
          </p:nvPr>
        </p:nvSpPr>
        <p:spPr>
          <a:xfrm>
            <a:off x="455225" y="3926150"/>
            <a:ext cx="4814400" cy="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A new data point records 20℃ and 100 mm. </a:t>
            </a:r>
            <a:br>
              <a:rPr lang="en-GB" sz="1600"/>
            </a:br>
            <a:r>
              <a:rPr lang="en-GB" sz="1600"/>
              <a:t>    Which town is it more likely to be?</a:t>
            </a:r>
            <a:endParaRPr sz="1600"/>
          </a:p>
        </p:txBody>
      </p:sp>
      <p:sp>
        <p:nvSpPr>
          <p:cNvPr id="1129" name="Google Shape;1129;p89"/>
          <p:cNvSpPr/>
          <p:nvPr/>
        </p:nvSpPr>
        <p:spPr>
          <a:xfrm>
            <a:off x="7618283" y="1378158"/>
            <a:ext cx="180000" cy="180000"/>
          </a:xfrm>
          <a:prstGeom prst="mathMultiply">
            <a:avLst>
              <a:gd fmla="val 23520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9"/>
          <p:cNvSpPr txBox="1"/>
          <p:nvPr>
            <p:ph idx="4294967295" type="body"/>
          </p:nvPr>
        </p:nvSpPr>
        <p:spPr>
          <a:xfrm>
            <a:off x="7828358" y="1090833"/>
            <a:ext cx="1074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Heathrow</a:t>
            </a:r>
            <a:endParaRPr sz="1600"/>
          </a:p>
        </p:txBody>
      </p:sp>
      <p:sp>
        <p:nvSpPr>
          <p:cNvPr id="1131" name="Google Shape;1131;p89"/>
          <p:cNvSpPr txBox="1"/>
          <p:nvPr>
            <p:ph idx="4294967295" type="body"/>
          </p:nvPr>
        </p:nvSpPr>
        <p:spPr>
          <a:xfrm>
            <a:off x="7828358" y="1342683"/>
            <a:ext cx="1074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Lerwick</a:t>
            </a:r>
            <a:endParaRPr sz="1600"/>
          </a:p>
        </p:txBody>
      </p:sp>
      <p:cxnSp>
        <p:nvCxnSpPr>
          <p:cNvPr id="1132" name="Google Shape;1132;p89"/>
          <p:cNvCxnSpPr/>
          <p:nvPr/>
        </p:nvCxnSpPr>
        <p:spPr>
          <a:xfrm rot="10800000">
            <a:off x="5971525" y="1380700"/>
            <a:ext cx="0" cy="286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89"/>
          <p:cNvCxnSpPr/>
          <p:nvPr/>
        </p:nvCxnSpPr>
        <p:spPr>
          <a:xfrm>
            <a:off x="5964896" y="4237837"/>
            <a:ext cx="2424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4" name="Google Shape;1134;p89"/>
          <p:cNvSpPr txBox="1"/>
          <p:nvPr>
            <p:ph idx="1" type="body"/>
          </p:nvPr>
        </p:nvSpPr>
        <p:spPr>
          <a:xfrm>
            <a:off x="969599" y="1891667"/>
            <a:ext cx="1002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Lerwick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89"/>
          <p:cNvSpPr txBox="1"/>
          <p:nvPr>
            <p:ph idx="1" type="body"/>
          </p:nvPr>
        </p:nvSpPr>
        <p:spPr>
          <a:xfrm>
            <a:off x="948433" y="2545717"/>
            <a:ext cx="115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Heathrow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89"/>
          <p:cNvSpPr txBox="1"/>
          <p:nvPr>
            <p:ph idx="1" type="body"/>
          </p:nvPr>
        </p:nvSpPr>
        <p:spPr>
          <a:xfrm>
            <a:off x="971708" y="3461392"/>
            <a:ext cx="115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Lerwick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89"/>
          <p:cNvSpPr txBox="1"/>
          <p:nvPr>
            <p:ph idx="1" type="body"/>
          </p:nvPr>
        </p:nvSpPr>
        <p:spPr>
          <a:xfrm>
            <a:off x="971708" y="4451158"/>
            <a:ext cx="115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Heathrow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Observing trends in scatter graphs</a:t>
            </a:r>
            <a:endParaRPr/>
          </a:p>
        </p:txBody>
      </p:sp>
      <p:sp>
        <p:nvSpPr>
          <p:cNvPr id="1143" name="Google Shape;1143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trends and interpolation to make predictions</a:t>
            </a:r>
            <a:endParaRPr/>
          </a:p>
        </p:txBody>
      </p:sp>
      <p:sp>
        <p:nvSpPr>
          <p:cNvPr id="1144" name="Google Shape;1144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  <p:pic>
        <p:nvPicPr>
          <p:cNvPr id="1145" name="Google Shape;114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1" y="29883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1"/>
          <p:cNvSpPr txBox="1"/>
          <p:nvPr>
            <p:ph idx="1" type="body"/>
          </p:nvPr>
        </p:nvSpPr>
        <p:spPr>
          <a:xfrm>
            <a:off x="324000" y="759300"/>
            <a:ext cx="82377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Trends in bivariate data can be used to make predictions about one variable based on the other. </a:t>
            </a:r>
            <a:endParaRPr sz="1800"/>
          </a:p>
        </p:txBody>
      </p:sp>
      <p:sp>
        <p:nvSpPr>
          <p:cNvPr id="1151" name="Google Shape;115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grpSp>
        <p:nvGrpSpPr>
          <p:cNvPr id="1152" name="Google Shape;1152;p91"/>
          <p:cNvGrpSpPr/>
          <p:nvPr/>
        </p:nvGrpSpPr>
        <p:grpSpPr>
          <a:xfrm>
            <a:off x="3137841" y="2344735"/>
            <a:ext cx="2868327" cy="2260248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153" name="Google Shape;1153;p91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54" name="Google Shape;1154;p91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5" name="Google Shape;1155;p91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56" name="Google Shape;1156;p91"/>
          <p:cNvSpPr txBox="1"/>
          <p:nvPr>
            <p:ph idx="1" type="body"/>
          </p:nvPr>
        </p:nvSpPr>
        <p:spPr>
          <a:xfrm>
            <a:off x="324000" y="1515900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predictions are between values that are </a:t>
            </a:r>
            <a:r>
              <a:rPr lang="en-GB" sz="1800">
                <a:solidFill>
                  <a:schemeClr val="accent5"/>
                </a:solidFill>
              </a:rPr>
              <a:t>inside</a:t>
            </a:r>
            <a:r>
              <a:rPr lang="en-GB" sz="1800"/>
              <a:t> the range of existing data, the process is called </a:t>
            </a:r>
            <a:r>
              <a:rPr b="1" lang="en-GB" sz="1800"/>
              <a:t>interpolation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57" name="Google Shape;1157;p91"/>
          <p:cNvSpPr/>
          <p:nvPr/>
        </p:nvSpPr>
        <p:spPr>
          <a:xfrm rot="-2211878">
            <a:off x="3231305" y="3158657"/>
            <a:ext cx="1956240" cy="57816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1"/>
          <p:cNvSpPr txBox="1"/>
          <p:nvPr>
            <p:ph idx="1" type="body"/>
          </p:nvPr>
        </p:nvSpPr>
        <p:spPr>
          <a:xfrm>
            <a:off x="6235314" y="2655392"/>
            <a:ext cx="25536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interpolation</a:t>
            </a:r>
            <a:r>
              <a:rPr lang="en-GB" sz="1600"/>
              <a:t>: estimating values inside this range </a:t>
            </a:r>
            <a:endParaRPr sz="1600"/>
          </a:p>
        </p:txBody>
      </p:sp>
      <p:cxnSp>
        <p:nvCxnSpPr>
          <p:cNvPr id="1159" name="Google Shape;1159;p91"/>
          <p:cNvCxnSpPr/>
          <p:nvPr/>
        </p:nvCxnSpPr>
        <p:spPr>
          <a:xfrm flipH="1" rot="10800000">
            <a:off x="5162325" y="2838325"/>
            <a:ext cx="1042500" cy="16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91"/>
          <p:cNvSpPr txBox="1"/>
          <p:nvPr>
            <p:ph idx="1" type="body"/>
          </p:nvPr>
        </p:nvSpPr>
        <p:spPr>
          <a:xfrm>
            <a:off x="999775" y="2659503"/>
            <a:ext cx="14625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chemeClr val="accent5"/>
                </a:solidFill>
              </a:rPr>
              <a:t>inter</a:t>
            </a:r>
            <a:r>
              <a:rPr b="1" lang="en-GB" sz="1600"/>
              <a:t>polation</a:t>
            </a:r>
            <a:endParaRPr sz="1600"/>
          </a:p>
        </p:txBody>
      </p:sp>
      <p:sp>
        <p:nvSpPr>
          <p:cNvPr id="1161" name="Google Shape;1161;p91"/>
          <p:cNvSpPr txBox="1"/>
          <p:nvPr>
            <p:ph idx="1" type="body"/>
          </p:nvPr>
        </p:nvSpPr>
        <p:spPr>
          <a:xfrm>
            <a:off x="652800" y="3159717"/>
            <a:ext cx="6984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inside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1162" name="Google Shape;1162;p91"/>
          <p:cNvCxnSpPr/>
          <p:nvPr/>
        </p:nvCxnSpPr>
        <p:spPr>
          <a:xfrm flipH="1">
            <a:off x="1002125" y="2910168"/>
            <a:ext cx="143100" cy="2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2"/>
          <p:cNvSpPr txBox="1"/>
          <p:nvPr>
            <p:ph idx="1" type="body"/>
          </p:nvPr>
        </p:nvSpPr>
        <p:spPr>
          <a:xfrm>
            <a:off x="4771075" y="1620000"/>
            <a:ext cx="4039200" cy="10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range of maximum daily temperatures might we predict for a month with 200 hours of sunshine?</a:t>
            </a:r>
            <a:endParaRPr sz="2000"/>
          </a:p>
        </p:txBody>
      </p:sp>
      <p:sp>
        <p:nvSpPr>
          <p:cNvPr id="1168" name="Google Shape;116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169" name="Google Shape;1169;p92"/>
          <p:cNvSpPr txBox="1"/>
          <p:nvPr/>
        </p:nvSpPr>
        <p:spPr>
          <a:xfrm>
            <a:off x="1120684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92"/>
          <p:cNvSpPr txBox="1"/>
          <p:nvPr/>
        </p:nvSpPr>
        <p:spPr>
          <a:xfrm rot="-5400000">
            <a:off x="-723454" y="24442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1" name="Google Shape;1171;p92"/>
          <p:cNvGrpSpPr/>
          <p:nvPr/>
        </p:nvGrpSpPr>
        <p:grpSpPr>
          <a:xfrm>
            <a:off x="860671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172" name="Google Shape;1172;p92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73" name="Google Shape;1173;p92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74" name="Google Shape;1174;p92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75" name="Google Shape;1175;p92"/>
          <p:cNvSpPr/>
          <p:nvPr/>
        </p:nvSpPr>
        <p:spPr>
          <a:xfrm>
            <a:off x="2925600" y="4391000"/>
            <a:ext cx="263100" cy="181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2"/>
          <p:cNvSpPr/>
          <p:nvPr/>
        </p:nvSpPr>
        <p:spPr>
          <a:xfrm>
            <a:off x="841875" y="2097150"/>
            <a:ext cx="178800" cy="10077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7" name="Google Shape;1177;p92"/>
          <p:cNvCxnSpPr/>
          <p:nvPr/>
        </p:nvCxnSpPr>
        <p:spPr>
          <a:xfrm flipH="1" rot="10800000">
            <a:off x="3057200" y="2128817"/>
            <a:ext cx="6300" cy="952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8" name="Google Shape;1178;p92"/>
          <p:cNvCxnSpPr/>
          <p:nvPr/>
        </p:nvCxnSpPr>
        <p:spPr>
          <a:xfrm rot="10800000">
            <a:off x="3051150" y="3112700"/>
            <a:ext cx="6000" cy="127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92"/>
          <p:cNvCxnSpPr/>
          <p:nvPr/>
        </p:nvCxnSpPr>
        <p:spPr>
          <a:xfrm>
            <a:off x="989350" y="3068792"/>
            <a:ext cx="2061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92"/>
          <p:cNvCxnSpPr/>
          <p:nvPr/>
        </p:nvCxnSpPr>
        <p:spPr>
          <a:xfrm>
            <a:off x="1041487" y="2159017"/>
            <a:ext cx="2061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1" name="Google Shape;1181;p92"/>
          <p:cNvSpPr txBox="1"/>
          <p:nvPr>
            <p:ph idx="1" type="body"/>
          </p:nvPr>
        </p:nvSpPr>
        <p:spPr>
          <a:xfrm>
            <a:off x="4824001" y="2794350"/>
            <a:ext cx="3073800" cy="4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Between 15℃ and 25℃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92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scatter graph shows data from the Met Office about the weather in Heathrow for each month from 1941 to 2022.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188" name="Google Shape;1188;p93"/>
          <p:cNvSpPr txBox="1"/>
          <p:nvPr/>
        </p:nvSpPr>
        <p:spPr>
          <a:xfrm>
            <a:off x="1120684" y="44943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3"/>
          <p:cNvSpPr txBox="1"/>
          <p:nvPr/>
        </p:nvSpPr>
        <p:spPr>
          <a:xfrm rot="-5400000">
            <a:off x="-723454" y="24442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0" name="Google Shape;1190;p93"/>
          <p:cNvGrpSpPr/>
          <p:nvPr/>
        </p:nvGrpSpPr>
        <p:grpSpPr>
          <a:xfrm>
            <a:off x="860671" y="14398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191" name="Google Shape;1191;p9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92" name="Google Shape;1192;p93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3" name="Google Shape;1193;p93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94" name="Google Shape;1194;p93"/>
          <p:cNvSpPr/>
          <p:nvPr/>
        </p:nvSpPr>
        <p:spPr>
          <a:xfrm>
            <a:off x="812950" y="3402577"/>
            <a:ext cx="263100" cy="181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5" name="Google Shape;1195;p93"/>
          <p:cNvCxnSpPr/>
          <p:nvPr/>
        </p:nvCxnSpPr>
        <p:spPr>
          <a:xfrm>
            <a:off x="1382000" y="3511100"/>
            <a:ext cx="847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6" name="Google Shape;1196;p93"/>
          <p:cNvCxnSpPr>
            <a:stCxn id="1194" idx="3"/>
          </p:cNvCxnSpPr>
          <p:nvPr/>
        </p:nvCxnSpPr>
        <p:spPr>
          <a:xfrm>
            <a:off x="1076050" y="3493477"/>
            <a:ext cx="216000" cy="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93"/>
          <p:cNvCxnSpPr>
            <a:endCxn id="1198" idx="1"/>
          </p:cNvCxnSpPr>
          <p:nvPr/>
        </p:nvCxnSpPr>
        <p:spPr>
          <a:xfrm>
            <a:off x="1353275" y="3527250"/>
            <a:ext cx="0" cy="93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93"/>
          <p:cNvCxnSpPr/>
          <p:nvPr/>
        </p:nvCxnSpPr>
        <p:spPr>
          <a:xfrm>
            <a:off x="2284723" y="3527072"/>
            <a:ext cx="0" cy="893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0" name="Google Shape;1200;p93"/>
          <p:cNvSpPr txBox="1"/>
          <p:nvPr>
            <p:ph idx="1" type="body"/>
          </p:nvPr>
        </p:nvSpPr>
        <p:spPr>
          <a:xfrm>
            <a:off x="4821885" y="3370083"/>
            <a:ext cx="3073800" cy="4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Between 35 and 125 hours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3"/>
          <p:cNvSpPr txBox="1"/>
          <p:nvPr>
            <p:ph idx="1" type="body"/>
          </p:nvPr>
        </p:nvSpPr>
        <p:spPr>
          <a:xfrm>
            <a:off x="324000" y="759300"/>
            <a:ext cx="84960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scatter graph shows data from the Met Office about the weather in Heathrow for each month from 1941 to 2022.</a:t>
            </a:r>
            <a:endParaRPr sz="1800"/>
          </a:p>
        </p:txBody>
      </p:sp>
      <p:sp>
        <p:nvSpPr>
          <p:cNvPr id="1202" name="Google Shape;1202;p93"/>
          <p:cNvSpPr txBox="1"/>
          <p:nvPr>
            <p:ph idx="1" type="body"/>
          </p:nvPr>
        </p:nvSpPr>
        <p:spPr>
          <a:xfrm>
            <a:off x="4815925" y="1640925"/>
            <a:ext cx="4039200" cy="15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mean maximum daily temperature for a month was 10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range of sunshine duration might we predict for this month?</a:t>
            </a:r>
            <a:endParaRPr sz="2000"/>
          </a:p>
        </p:txBody>
      </p:sp>
      <p:sp>
        <p:nvSpPr>
          <p:cNvPr id="1198" name="Google Shape;1198;p93"/>
          <p:cNvSpPr/>
          <p:nvPr/>
        </p:nvSpPr>
        <p:spPr>
          <a:xfrm>
            <a:off x="1353275" y="4372650"/>
            <a:ext cx="933300" cy="181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range of maximum daily temperatures might we predict for a month with 50 hours of sunshine?</a:t>
            </a:r>
            <a:endParaRPr sz="2400"/>
          </a:p>
        </p:txBody>
      </p:sp>
      <p:sp>
        <p:nvSpPr>
          <p:cNvPr id="1208" name="Google Shape;1208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09" name="Google Shape;1209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etween 5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10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10" name="Google Shape;1210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between 8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15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11" name="Google Shape;1211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between 12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22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12" name="Google Shape;1212;p94"/>
          <p:cNvSpPr txBox="1"/>
          <p:nvPr/>
        </p:nvSpPr>
        <p:spPr>
          <a:xfrm>
            <a:off x="4917984" y="44181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4"/>
          <p:cNvSpPr txBox="1"/>
          <p:nvPr/>
        </p:nvSpPr>
        <p:spPr>
          <a:xfrm rot="-5400000">
            <a:off x="3073846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4" name="Google Shape;1214;p94"/>
          <p:cNvGrpSpPr/>
          <p:nvPr/>
        </p:nvGrpSpPr>
        <p:grpSpPr>
          <a:xfrm>
            <a:off x="4657971" y="13636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215" name="Google Shape;1215;p94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16" name="Google Shape;1216;p94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7" name="Google Shape;1217;p94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218" name="Google Shape;121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258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range of maximum daily temperatures might we predict for a month with 100 hours of sunshine?</a:t>
            </a:r>
            <a:endParaRPr sz="2400"/>
          </a:p>
        </p:txBody>
      </p:sp>
      <p:sp>
        <p:nvSpPr>
          <p:cNvPr id="1224" name="Google Shape;12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25" name="Google Shape;12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between 5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10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26" name="Google Shape;12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between 8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15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27" name="Google Shape;12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between 12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 and 22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endParaRPr sz="1800"/>
          </a:p>
        </p:txBody>
      </p:sp>
      <p:sp>
        <p:nvSpPr>
          <p:cNvPr id="1228" name="Google Shape;1228;p95"/>
          <p:cNvSpPr txBox="1"/>
          <p:nvPr/>
        </p:nvSpPr>
        <p:spPr>
          <a:xfrm>
            <a:off x="4917984" y="44181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5"/>
          <p:cNvSpPr txBox="1"/>
          <p:nvPr/>
        </p:nvSpPr>
        <p:spPr>
          <a:xfrm rot="-5400000">
            <a:off x="3073846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0" name="Google Shape;1230;p95"/>
          <p:cNvGrpSpPr/>
          <p:nvPr/>
        </p:nvGrpSpPr>
        <p:grpSpPr>
          <a:xfrm>
            <a:off x="4657971" y="13636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231" name="Google Shape;1231;p95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32" name="Google Shape;1232;p95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3" name="Google Shape;1233;p95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234" name="Google Shape;123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258" y="28648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range of sunshine duration might we predict for a month with a mean </a:t>
            </a:r>
            <a:r>
              <a:rPr lang="en-GB" sz="1800"/>
              <a:t>maximum daily temperature of 20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℃</a:t>
            </a:r>
            <a:r>
              <a:rPr lang="en-GB" sz="1800"/>
              <a:t>?</a:t>
            </a:r>
            <a:endParaRPr sz="2400"/>
          </a:p>
        </p:txBody>
      </p:sp>
      <p:sp>
        <p:nvSpPr>
          <p:cNvPr id="1240" name="Google Shape;1240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41" name="Google Shape;1241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30</a:t>
            </a:r>
            <a:r>
              <a:rPr lang="en-GB" sz="1800"/>
              <a:t> to 120 hours</a:t>
            </a:r>
            <a:endParaRPr sz="1800"/>
          </a:p>
        </p:txBody>
      </p:sp>
      <p:sp>
        <p:nvSpPr>
          <p:cNvPr id="1242" name="Google Shape;1242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120 to 200 hours</a:t>
            </a:r>
            <a:endParaRPr sz="1800"/>
          </a:p>
        </p:txBody>
      </p:sp>
      <p:sp>
        <p:nvSpPr>
          <p:cNvPr id="1243" name="Google Shape;1243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190</a:t>
            </a:r>
            <a:r>
              <a:rPr lang="en-GB" sz="1800"/>
              <a:t> to 270 hours</a:t>
            </a:r>
            <a:endParaRPr sz="1800"/>
          </a:p>
        </p:txBody>
      </p:sp>
      <p:sp>
        <p:nvSpPr>
          <p:cNvPr id="1244" name="Google Shape;1244;p96"/>
          <p:cNvSpPr txBox="1"/>
          <p:nvPr/>
        </p:nvSpPr>
        <p:spPr>
          <a:xfrm>
            <a:off x="4917984" y="4418169"/>
            <a:ext cx="34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6"/>
          <p:cNvSpPr txBox="1"/>
          <p:nvPr/>
        </p:nvSpPr>
        <p:spPr>
          <a:xfrm rot="-5400000">
            <a:off x="3073846" y="2596650"/>
            <a:ext cx="259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6" name="Google Shape;1246;p96"/>
          <p:cNvGrpSpPr/>
          <p:nvPr/>
        </p:nvGrpSpPr>
        <p:grpSpPr>
          <a:xfrm>
            <a:off x="4657971" y="1363658"/>
            <a:ext cx="4039329" cy="3183000"/>
            <a:chOff x="1878175" y="1439858"/>
            <a:chExt cx="4039329" cy="3183000"/>
          </a:xfrm>
        </p:grpSpPr>
        <p:pic>
          <p:nvPicPr>
            <p:cNvPr descr="&lt;math xmlns=&quot;http://www.w3.org/1998/Math/MathML&quot; data-is-equatio=&quot;1&quot; data-equatio-url=&quot;https://equatio-api.texthelp.com/desmos/get/06-10-2023/0ad91f8f-0f8a-41bb-9e5b-d7f76bd77d97&quot; data-equatio-type=&quot;desmos&quot;&gt;&lt;mglyph src=&quot;https://equatio-api.texthelp.com/desmos/get/06-10-2023/0ad91f8f-0f8a-41bb-9e5b-d7f76bd77d97&quot; alt=&quot;Equatio Desmos Graph&quot;/&gt;&lt;/math&gt;" id="1247" name="Google Shape;1247;p96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0" l="0" r="5132" t="2619"/>
            <a:stretch/>
          </p:blipFill>
          <p:spPr>
            <a:xfrm>
              <a:off x="1878175" y="1652567"/>
              <a:ext cx="3824300" cy="294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48" name="Google Shape;1248;p96"/>
            <p:cNvCxnSpPr/>
            <p:nvPr/>
          </p:nvCxnSpPr>
          <p:spPr>
            <a:xfrm rot="10800000">
              <a:off x="2021745" y="1439858"/>
              <a:ext cx="0" cy="318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9" name="Google Shape;1249;p96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250" name="Google Shape;125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333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7"/>
          <p:cNvSpPr/>
          <p:nvPr/>
        </p:nvSpPr>
        <p:spPr>
          <a:xfrm>
            <a:off x="5241975" y="1493950"/>
            <a:ext cx="3513000" cy="1212600"/>
          </a:xfrm>
          <a:prstGeom prst="wedgeRoundRectCallout">
            <a:avLst>
              <a:gd fmla="val -1402" name="adj1"/>
              <a:gd fmla="val 80696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0-2023/522044d1-0eda-4b70-9d2d-653054a67588&quot; data-equatio-type=&quot;desmos&quot;&gt;&lt;mglyph src=&quot;https://equatio-api.texthelp.com/desmos/get/06-10-2023/522044d1-0eda-4b70-9d2d-653054a67588&quot; alt=&quot;Equatio Desmos Graph&quot;/&gt;&lt;/math&gt;" id="1256" name="Google Shape;1256;p9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26" y="1539875"/>
            <a:ext cx="3986186" cy="298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7"/>
          <p:cNvSpPr txBox="1"/>
          <p:nvPr>
            <p:ph idx="1" type="body"/>
          </p:nvPr>
        </p:nvSpPr>
        <p:spPr>
          <a:xfrm>
            <a:off x="324000" y="759300"/>
            <a:ext cx="8237700" cy="6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 is using the data to predict how warm it could get if a month had a larger duration of sunshine.</a:t>
            </a:r>
            <a:endParaRPr sz="2000"/>
          </a:p>
        </p:txBody>
      </p:sp>
      <p:sp>
        <p:nvSpPr>
          <p:cNvPr id="1258" name="Google Shape;125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59" name="Google Shape;1259;p97"/>
          <p:cNvSpPr txBox="1"/>
          <p:nvPr/>
        </p:nvSpPr>
        <p:spPr>
          <a:xfrm>
            <a:off x="1082549" y="4464600"/>
            <a:ext cx="351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7"/>
          <p:cNvSpPr txBox="1"/>
          <p:nvPr/>
        </p:nvSpPr>
        <p:spPr>
          <a:xfrm rot="-5400000">
            <a:off x="-749950" y="2704174"/>
            <a:ext cx="270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1" name="Google Shape;1261;p97"/>
          <p:cNvCxnSpPr/>
          <p:nvPr/>
        </p:nvCxnSpPr>
        <p:spPr>
          <a:xfrm rot="10800000">
            <a:off x="975129" y="1646454"/>
            <a:ext cx="0" cy="293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97"/>
          <p:cNvCxnSpPr/>
          <p:nvPr/>
        </p:nvCxnSpPr>
        <p:spPr>
          <a:xfrm>
            <a:off x="969002" y="4410987"/>
            <a:ext cx="395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97"/>
          <p:cNvSpPr/>
          <p:nvPr/>
        </p:nvSpPr>
        <p:spPr>
          <a:xfrm rot="-1979980">
            <a:off x="742160" y="2678905"/>
            <a:ext cx="4288199" cy="533301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7"/>
          <p:cNvSpPr txBox="1"/>
          <p:nvPr>
            <p:ph idx="1" type="body"/>
          </p:nvPr>
        </p:nvSpPr>
        <p:spPr>
          <a:xfrm>
            <a:off x="5431975" y="1554254"/>
            <a:ext cx="33231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If </a:t>
            </a:r>
            <a:r>
              <a:rPr lang="en-GB" sz="1600"/>
              <a:t>next</a:t>
            </a:r>
            <a:r>
              <a:rPr lang="en-GB" sz="1600"/>
              <a:t> June has 450 hours of sunshine, we would expect the mean maximum temperature to be between 40℃ and 50℃.</a:t>
            </a:r>
            <a:endParaRPr sz="1600"/>
          </a:p>
        </p:txBody>
      </p:sp>
      <p:pic>
        <p:nvPicPr>
          <p:cNvPr id="1265" name="Google Shape;126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995551" y="2899400"/>
            <a:ext cx="622500" cy="8152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6" name="Google Shape;1266;p97"/>
          <p:cNvCxnSpPr/>
          <p:nvPr/>
        </p:nvCxnSpPr>
        <p:spPr>
          <a:xfrm rot="10800000">
            <a:off x="4339850" y="2359817"/>
            <a:ext cx="0" cy="202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97"/>
          <p:cNvCxnSpPr/>
          <p:nvPr/>
        </p:nvCxnSpPr>
        <p:spPr>
          <a:xfrm>
            <a:off x="969000" y="2271413"/>
            <a:ext cx="3439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8" name="Google Shape;1268;p97"/>
          <p:cNvCxnSpPr/>
          <p:nvPr/>
        </p:nvCxnSpPr>
        <p:spPr>
          <a:xfrm>
            <a:off x="969175" y="1717925"/>
            <a:ext cx="3337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69" name="Google Shape;1269;p97"/>
          <p:cNvSpPr txBox="1"/>
          <p:nvPr/>
        </p:nvSpPr>
        <p:spPr>
          <a:xfrm>
            <a:off x="5204900" y="3762275"/>
            <a:ext cx="3439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problems could there be with Laura’s prediction?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522044d1-0eda-4b70-9d2d-653054a67588&quot; data-equatio-type=&quot;desmos&quot;&gt;&lt;mglyph src=&quot;https://equatio-api.texthelp.com/desmos/get/06-10-2023/522044d1-0eda-4b70-9d2d-653054a67588&quot; alt=&quot;Equatio Desmos Graph&quot;/&gt;&lt;/math&gt;" id="1274" name="Google Shape;1274;p9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26" y="1539875"/>
            <a:ext cx="3986186" cy="298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98"/>
          <p:cNvSpPr txBox="1"/>
          <p:nvPr>
            <p:ph idx="1" type="body"/>
          </p:nvPr>
        </p:nvSpPr>
        <p:spPr>
          <a:xfrm>
            <a:off x="324000" y="759300"/>
            <a:ext cx="8496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data does not show any months with more than 310 hours of sunshine. </a:t>
            </a:r>
            <a:br>
              <a:rPr lang="en-GB" sz="1700"/>
            </a:br>
            <a:r>
              <a:rPr lang="en-GB" sz="1700"/>
              <a:t>So it is difficult to predict how temperature will respond beyond this point.</a:t>
            </a:r>
            <a:endParaRPr sz="2100"/>
          </a:p>
        </p:txBody>
      </p:sp>
      <p:sp>
        <p:nvSpPr>
          <p:cNvPr id="1276" name="Google Shape;127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77" name="Google Shape;1277;p98"/>
          <p:cNvSpPr txBox="1"/>
          <p:nvPr/>
        </p:nvSpPr>
        <p:spPr>
          <a:xfrm>
            <a:off x="1082549" y="4464600"/>
            <a:ext cx="351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8"/>
          <p:cNvSpPr txBox="1"/>
          <p:nvPr/>
        </p:nvSpPr>
        <p:spPr>
          <a:xfrm rot="-5400000">
            <a:off x="-749950" y="2704174"/>
            <a:ext cx="270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98"/>
          <p:cNvCxnSpPr/>
          <p:nvPr/>
        </p:nvCxnSpPr>
        <p:spPr>
          <a:xfrm rot="10800000">
            <a:off x="975129" y="1646454"/>
            <a:ext cx="0" cy="293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0" name="Google Shape;1280;p98"/>
          <p:cNvCxnSpPr/>
          <p:nvPr/>
        </p:nvCxnSpPr>
        <p:spPr>
          <a:xfrm>
            <a:off x="969002" y="4410987"/>
            <a:ext cx="395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1" name="Google Shape;1281;p98"/>
          <p:cNvSpPr/>
          <p:nvPr/>
        </p:nvSpPr>
        <p:spPr>
          <a:xfrm rot="-1980201">
            <a:off x="3067767" y="1955381"/>
            <a:ext cx="1825816" cy="829783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8"/>
          <p:cNvSpPr txBox="1"/>
          <p:nvPr>
            <p:ph idx="1" type="body"/>
          </p:nvPr>
        </p:nvSpPr>
        <p:spPr>
          <a:xfrm>
            <a:off x="5306975" y="1831050"/>
            <a:ext cx="3513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temperature might continue to increase in the same way.</a:t>
            </a:r>
            <a:endParaRPr sz="2100"/>
          </a:p>
        </p:txBody>
      </p:sp>
      <p:sp>
        <p:nvSpPr>
          <p:cNvPr id="1283" name="Google Shape;1283;p98"/>
          <p:cNvSpPr txBox="1"/>
          <p:nvPr>
            <p:ph idx="1" type="body"/>
          </p:nvPr>
        </p:nvSpPr>
        <p:spPr>
          <a:xfrm>
            <a:off x="5306975" y="2753550"/>
            <a:ext cx="3513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temperature might increase at a slower rate.</a:t>
            </a:r>
            <a:endParaRPr sz="2100"/>
          </a:p>
        </p:txBody>
      </p:sp>
      <p:sp>
        <p:nvSpPr>
          <p:cNvPr id="1284" name="Google Shape;1284;p98"/>
          <p:cNvSpPr txBox="1"/>
          <p:nvPr>
            <p:ph idx="1" type="body"/>
          </p:nvPr>
        </p:nvSpPr>
        <p:spPr>
          <a:xfrm>
            <a:off x="5306975" y="3627600"/>
            <a:ext cx="3513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temperature might reach a maximum level.</a:t>
            </a:r>
            <a:endParaRPr sz="2100"/>
          </a:p>
        </p:txBody>
      </p:sp>
      <p:sp>
        <p:nvSpPr>
          <p:cNvPr id="1285" name="Google Shape;1285;p98"/>
          <p:cNvSpPr/>
          <p:nvPr/>
        </p:nvSpPr>
        <p:spPr>
          <a:xfrm rot="-1261">
            <a:off x="3188925" y="2682529"/>
            <a:ext cx="1635300" cy="5571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8"/>
          <p:cNvSpPr/>
          <p:nvPr/>
        </p:nvSpPr>
        <p:spPr>
          <a:xfrm rot="-791738">
            <a:off x="3177625" y="2429474"/>
            <a:ext cx="1666399" cy="829489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522044d1-0eda-4b70-9d2d-653054a67588&quot; data-equatio-type=&quot;desmos&quot;&gt;&lt;mglyph src=&quot;https://equatio-api.texthelp.com/desmos/get/06-10-2023/522044d1-0eda-4b70-9d2d-653054a67588&quot; alt=&quot;Equatio Desmos Graph&quot;/&gt;&lt;/math&gt;" id="1291" name="Google Shape;1291;p9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26" y="1539875"/>
            <a:ext cx="3986186" cy="2989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99"/>
          <p:cNvSpPr txBox="1"/>
          <p:nvPr>
            <p:ph idx="1" type="body"/>
          </p:nvPr>
        </p:nvSpPr>
        <p:spPr>
          <a:xfrm>
            <a:off x="324000" y="759300"/>
            <a:ext cx="82377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When predictions are made </a:t>
            </a:r>
            <a:r>
              <a:rPr lang="en-GB" sz="1900">
                <a:solidFill>
                  <a:schemeClr val="accent5"/>
                </a:solidFill>
              </a:rPr>
              <a:t>outside</a:t>
            </a:r>
            <a:r>
              <a:rPr lang="en-GB" sz="1900"/>
              <a:t> the range of existing data, the process is called </a:t>
            </a:r>
            <a:r>
              <a:rPr b="1" lang="en-GB" sz="1900"/>
              <a:t>extrapolation</a:t>
            </a:r>
            <a:r>
              <a:rPr lang="en-GB" sz="1900"/>
              <a:t>.</a:t>
            </a:r>
            <a:endParaRPr sz="2300"/>
          </a:p>
        </p:txBody>
      </p:sp>
      <p:sp>
        <p:nvSpPr>
          <p:cNvPr id="1293" name="Google Shape;129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294" name="Google Shape;1294;p99"/>
          <p:cNvSpPr txBox="1"/>
          <p:nvPr/>
        </p:nvSpPr>
        <p:spPr>
          <a:xfrm>
            <a:off x="1082549" y="4464600"/>
            <a:ext cx="351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9"/>
          <p:cNvSpPr txBox="1"/>
          <p:nvPr/>
        </p:nvSpPr>
        <p:spPr>
          <a:xfrm rot="-5400000">
            <a:off x="-749950" y="2704174"/>
            <a:ext cx="270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6" name="Google Shape;1296;p99"/>
          <p:cNvCxnSpPr/>
          <p:nvPr/>
        </p:nvCxnSpPr>
        <p:spPr>
          <a:xfrm rot="10800000">
            <a:off x="975129" y="1646454"/>
            <a:ext cx="0" cy="293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7" name="Google Shape;1297;p99"/>
          <p:cNvCxnSpPr/>
          <p:nvPr/>
        </p:nvCxnSpPr>
        <p:spPr>
          <a:xfrm>
            <a:off x="969002" y="4410987"/>
            <a:ext cx="395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8" name="Google Shape;1298;p99"/>
          <p:cNvSpPr/>
          <p:nvPr/>
        </p:nvSpPr>
        <p:spPr>
          <a:xfrm rot="-1980201">
            <a:off x="3067767" y="1955381"/>
            <a:ext cx="1825816" cy="829783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9"/>
          <p:cNvSpPr txBox="1"/>
          <p:nvPr>
            <p:ph idx="1" type="body"/>
          </p:nvPr>
        </p:nvSpPr>
        <p:spPr>
          <a:xfrm>
            <a:off x="5325900" y="3150050"/>
            <a:ext cx="2667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extrapolation</a:t>
            </a:r>
            <a:r>
              <a:rPr lang="en-GB" sz="1600"/>
              <a:t>: estimating values outside this range </a:t>
            </a:r>
            <a:endParaRPr sz="1600"/>
          </a:p>
        </p:txBody>
      </p:sp>
      <p:cxnSp>
        <p:nvCxnSpPr>
          <p:cNvPr id="1300" name="Google Shape;1300;p99"/>
          <p:cNvCxnSpPr/>
          <p:nvPr/>
        </p:nvCxnSpPr>
        <p:spPr>
          <a:xfrm>
            <a:off x="4320000" y="2420475"/>
            <a:ext cx="1005900" cy="80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99"/>
          <p:cNvSpPr txBox="1"/>
          <p:nvPr>
            <p:ph idx="1" type="body"/>
          </p:nvPr>
        </p:nvSpPr>
        <p:spPr>
          <a:xfrm>
            <a:off x="6121375" y="1573203"/>
            <a:ext cx="1462500" cy="3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chemeClr val="accent5"/>
                </a:solidFill>
              </a:rPr>
              <a:t>extra</a:t>
            </a:r>
            <a:r>
              <a:rPr b="1" lang="en-GB" sz="1600"/>
              <a:t>polation</a:t>
            </a:r>
            <a:endParaRPr sz="1600"/>
          </a:p>
        </p:txBody>
      </p:sp>
      <p:sp>
        <p:nvSpPr>
          <p:cNvPr id="1302" name="Google Shape;1302;p99"/>
          <p:cNvSpPr txBox="1"/>
          <p:nvPr>
            <p:ph idx="1" type="body"/>
          </p:nvPr>
        </p:nvSpPr>
        <p:spPr>
          <a:xfrm>
            <a:off x="5774400" y="2073425"/>
            <a:ext cx="7689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outside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1303" name="Google Shape;1303;p99"/>
          <p:cNvCxnSpPr/>
          <p:nvPr/>
        </p:nvCxnSpPr>
        <p:spPr>
          <a:xfrm flipH="1">
            <a:off x="6123725" y="1823868"/>
            <a:ext cx="143100" cy="2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0-2023/522044d1-0eda-4b70-9d2d-653054a67588&quot; data-equatio-type=&quot;desmos&quot;&gt;&lt;mglyph src=&quot;https://equatio-api.texthelp.com/desmos/get/06-10-2023/522044d1-0eda-4b70-9d2d-653054a67588&quot; alt=&quot;Equatio Desmos Graph&quot;/&gt;&lt;/math&gt;" id="1308" name="Google Shape;1308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525" y="2016800"/>
            <a:ext cx="3136024" cy="2352047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0"/>
          <p:cNvSpPr txBox="1"/>
          <p:nvPr>
            <p:ph idx="1" type="body"/>
          </p:nvPr>
        </p:nvSpPr>
        <p:spPr>
          <a:xfrm>
            <a:off x="324000" y="759300"/>
            <a:ext cx="82377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/>
              <a:t>Extrapolation</a:t>
            </a:r>
            <a:r>
              <a:rPr lang="en-GB" sz="1900"/>
              <a:t> is less reliable than </a:t>
            </a:r>
            <a:r>
              <a:rPr b="1" lang="en-GB" sz="1900"/>
              <a:t>interpolation</a:t>
            </a:r>
            <a:r>
              <a:rPr lang="en-GB" sz="1900"/>
              <a:t> because it involves speculating about values beyond what has previously been observed.</a:t>
            </a:r>
            <a:endParaRPr sz="2300"/>
          </a:p>
        </p:txBody>
      </p:sp>
      <p:sp>
        <p:nvSpPr>
          <p:cNvPr id="1310" name="Google Shape;131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cxnSp>
        <p:nvCxnSpPr>
          <p:cNvPr id="1311" name="Google Shape;1311;p100"/>
          <p:cNvCxnSpPr/>
          <p:nvPr/>
        </p:nvCxnSpPr>
        <p:spPr>
          <a:xfrm rot="10800000">
            <a:off x="3056986" y="2100725"/>
            <a:ext cx="0" cy="231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100"/>
          <p:cNvCxnSpPr/>
          <p:nvPr/>
        </p:nvCxnSpPr>
        <p:spPr>
          <a:xfrm>
            <a:off x="3052166" y="4275577"/>
            <a:ext cx="311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100"/>
          <p:cNvSpPr/>
          <p:nvPr/>
        </p:nvSpPr>
        <p:spPr>
          <a:xfrm rot="-1980378">
            <a:off x="4687599" y="2169055"/>
            <a:ext cx="1436304" cy="953097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0"/>
          <p:cNvSpPr txBox="1"/>
          <p:nvPr>
            <p:ph idx="1" type="body"/>
          </p:nvPr>
        </p:nvSpPr>
        <p:spPr>
          <a:xfrm>
            <a:off x="6240300" y="3302450"/>
            <a:ext cx="25797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extrapolation</a:t>
            </a:r>
            <a:r>
              <a:rPr lang="en-GB" sz="1600"/>
              <a:t>: estimating values outside this range </a:t>
            </a:r>
            <a:endParaRPr sz="1600"/>
          </a:p>
        </p:txBody>
      </p:sp>
      <p:cxnSp>
        <p:nvCxnSpPr>
          <p:cNvPr id="1315" name="Google Shape;1315;p100"/>
          <p:cNvCxnSpPr/>
          <p:nvPr/>
        </p:nvCxnSpPr>
        <p:spPr>
          <a:xfrm>
            <a:off x="5615726" y="2888328"/>
            <a:ext cx="637800" cy="48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100"/>
          <p:cNvSpPr txBox="1"/>
          <p:nvPr>
            <p:ph idx="1" type="body"/>
          </p:nvPr>
        </p:nvSpPr>
        <p:spPr>
          <a:xfrm>
            <a:off x="329830" y="2388050"/>
            <a:ext cx="25797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inter</a:t>
            </a:r>
            <a:r>
              <a:rPr b="1" lang="en-GB" sz="1600"/>
              <a:t>polation</a:t>
            </a:r>
            <a:r>
              <a:rPr lang="en-GB" sz="1600"/>
              <a:t>: estimating values inside this range </a:t>
            </a:r>
            <a:endParaRPr sz="1600"/>
          </a:p>
        </p:txBody>
      </p:sp>
      <p:cxnSp>
        <p:nvCxnSpPr>
          <p:cNvPr id="1317" name="Google Shape;1317;p100"/>
          <p:cNvCxnSpPr/>
          <p:nvPr/>
        </p:nvCxnSpPr>
        <p:spPr>
          <a:xfrm>
            <a:off x="2708525" y="2913125"/>
            <a:ext cx="687600" cy="60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100"/>
          <p:cNvSpPr/>
          <p:nvPr/>
        </p:nvSpPr>
        <p:spPr>
          <a:xfrm rot="-1980310">
            <a:off x="3063604" y="3296969"/>
            <a:ext cx="1656647" cy="533301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1"/>
          <p:cNvSpPr txBox="1"/>
          <p:nvPr>
            <p:ph idx="1" type="body"/>
          </p:nvPr>
        </p:nvSpPr>
        <p:spPr>
          <a:xfrm>
            <a:off x="324000" y="759300"/>
            <a:ext cx="8237700" cy="8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word describes </a:t>
            </a:r>
            <a:r>
              <a:rPr lang="en-GB"/>
              <a:t>the process of estimating unknown values that are </a:t>
            </a:r>
            <a:r>
              <a:rPr lang="en-GB">
                <a:solidFill>
                  <a:schemeClr val="accent5"/>
                </a:solidFill>
              </a:rPr>
              <a:t>inside</a:t>
            </a:r>
            <a:r>
              <a:rPr lang="en-GB"/>
              <a:t> the range of existing data.</a:t>
            </a:r>
            <a:endParaRPr/>
          </a:p>
        </p:txBody>
      </p:sp>
      <p:sp>
        <p:nvSpPr>
          <p:cNvPr id="1324" name="Google Shape;132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325" name="Google Shape;1325;p101"/>
          <p:cNvSpPr txBox="1"/>
          <p:nvPr>
            <p:ph idx="1" type="body"/>
          </p:nvPr>
        </p:nvSpPr>
        <p:spPr>
          <a:xfrm>
            <a:off x="3786150" y="2402575"/>
            <a:ext cx="15717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interpolation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02"/>
          <p:cNvSpPr txBox="1"/>
          <p:nvPr>
            <p:ph idx="1" type="body"/>
          </p:nvPr>
        </p:nvSpPr>
        <p:spPr>
          <a:xfrm>
            <a:off x="324000" y="759300"/>
            <a:ext cx="8237700" cy="8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word describes the process of estimating unknown values that are </a:t>
            </a:r>
            <a:r>
              <a:rPr lang="en-GB">
                <a:solidFill>
                  <a:schemeClr val="accent5"/>
                </a:solidFill>
              </a:rPr>
              <a:t>out</a:t>
            </a:r>
            <a:r>
              <a:rPr lang="en-GB">
                <a:solidFill>
                  <a:schemeClr val="accent5"/>
                </a:solidFill>
              </a:rPr>
              <a:t>side</a:t>
            </a:r>
            <a:r>
              <a:rPr lang="en-GB"/>
              <a:t> the range of existing data.</a:t>
            </a:r>
            <a:endParaRPr/>
          </a:p>
        </p:txBody>
      </p:sp>
      <p:sp>
        <p:nvSpPr>
          <p:cNvPr id="1331" name="Google Shape;1331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332" name="Google Shape;1332;p102"/>
          <p:cNvSpPr txBox="1"/>
          <p:nvPr>
            <p:ph idx="1" type="body"/>
          </p:nvPr>
        </p:nvSpPr>
        <p:spPr>
          <a:xfrm>
            <a:off x="3786150" y="2402575"/>
            <a:ext cx="15717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extra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polation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03"/>
          <p:cNvSpPr txBox="1"/>
          <p:nvPr>
            <p:ph idx="1" type="subTitle"/>
          </p:nvPr>
        </p:nvSpPr>
        <p:spPr>
          <a:xfrm>
            <a:off x="324000" y="1080000"/>
            <a:ext cx="84960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Extrapolation </a:t>
            </a:r>
            <a:r>
              <a:rPr lang="en-GB" sz="1800"/>
              <a:t>is as reliable as </a:t>
            </a:r>
            <a:r>
              <a:rPr b="1" lang="en-GB" sz="1800"/>
              <a:t>interpolation</a:t>
            </a:r>
            <a:r>
              <a:rPr lang="en-GB" sz="1800"/>
              <a:t> for predicting unknown values in bivariate data.</a:t>
            </a:r>
            <a:endParaRPr sz="1800"/>
          </a:p>
        </p:txBody>
      </p:sp>
      <p:sp>
        <p:nvSpPr>
          <p:cNvPr id="1338" name="Google Shape;133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sp>
        <p:nvSpPr>
          <p:cNvPr id="1339" name="Google Shape;1339;p10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trend in the data will continue in the same way for values beyond what has previously been observed.</a:t>
            </a:r>
            <a:endParaRPr sz="1800"/>
          </a:p>
        </p:txBody>
      </p:sp>
      <p:sp>
        <p:nvSpPr>
          <p:cNvPr id="1340" name="Google Shape;1340;p10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It is difficult to predict whether a</a:t>
            </a:r>
            <a:r>
              <a:rPr lang="en-GB" sz="1800"/>
              <a:t> trend will continue in the same way for values beyond what has previously been observed.</a:t>
            </a:r>
            <a:endParaRPr/>
          </a:p>
        </p:txBody>
      </p:sp>
      <p:pic>
        <p:nvPicPr>
          <p:cNvPr id="1341" name="Google Shape;134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59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35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a22c3d9d-a1de-41e5-957f-97e27d43a6f1&quot; data-equatio-type=&quot;desmos&quot;&gt;&lt;mglyph src=&quot;https://equatio-api.texthelp.com/desmos/get/12-10-2023/a22c3d9d-a1de-41e5-957f-97e27d43a6f1&quot; alt=&quot;Equatio Desmos Graph&quot;/&gt;&lt;/math&gt;" id="1348" name="Google Shape;1348;p104" title="Equatio Desmos Graph"/>
          <p:cNvPicPr preferRelativeResize="0"/>
          <p:nvPr/>
        </p:nvPicPr>
        <p:blipFill rotWithShape="1">
          <a:blip r:embed="rId3">
            <a:alphaModFix/>
          </a:blip>
          <a:srcRect b="1782" l="14038" r="16671" t="15709"/>
          <a:stretch/>
        </p:blipFill>
        <p:spPr>
          <a:xfrm>
            <a:off x="5219115" y="1297412"/>
            <a:ext cx="3432520" cy="3065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9" name="Google Shape;1349;p104"/>
          <p:cNvCxnSpPr/>
          <p:nvPr/>
        </p:nvCxnSpPr>
        <p:spPr>
          <a:xfrm rot="10800000">
            <a:off x="5830010" y="1164331"/>
            <a:ext cx="0" cy="32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104"/>
          <p:cNvCxnSpPr/>
          <p:nvPr/>
        </p:nvCxnSpPr>
        <p:spPr>
          <a:xfrm>
            <a:off x="5269914" y="4210640"/>
            <a:ext cx="354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1" name="Google Shape;1351;p104"/>
          <p:cNvSpPr txBox="1"/>
          <p:nvPr/>
        </p:nvSpPr>
        <p:spPr>
          <a:xfrm rot="-5400000">
            <a:off x="3729475" y="2453463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4"/>
          <p:cNvSpPr txBox="1"/>
          <p:nvPr/>
        </p:nvSpPr>
        <p:spPr>
          <a:xfrm>
            <a:off x="5828651" y="4271580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minimum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04"/>
          <p:cNvSpPr txBox="1"/>
          <p:nvPr>
            <p:ph idx="4294967295" type="body"/>
          </p:nvPr>
        </p:nvSpPr>
        <p:spPr>
          <a:xfrm>
            <a:off x="324000" y="759300"/>
            <a:ext cx="4878300" cy="5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scatter graph shows data about the weather in Armagh for each month from 1941 to 2022.</a:t>
            </a:r>
            <a:endParaRPr sz="1600"/>
          </a:p>
        </p:txBody>
      </p:sp>
      <p:sp>
        <p:nvSpPr>
          <p:cNvPr id="1354" name="Google Shape;1354;p104"/>
          <p:cNvSpPr txBox="1"/>
          <p:nvPr>
            <p:ph idx="4294967295" type="body"/>
          </p:nvPr>
        </p:nvSpPr>
        <p:spPr>
          <a:xfrm>
            <a:off x="324000" y="1540266"/>
            <a:ext cx="4121400" cy="10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Given the following minimum daily temperatures, estimate the range of maximum daily temperatures.</a:t>
            </a:r>
            <a:endParaRPr sz="1600"/>
          </a:p>
        </p:txBody>
      </p:sp>
      <p:sp>
        <p:nvSpPr>
          <p:cNvPr id="1355" name="Google Shape;1355;p104"/>
          <p:cNvSpPr txBox="1"/>
          <p:nvPr>
            <p:ph idx="4294967295" type="body"/>
          </p:nvPr>
        </p:nvSpPr>
        <p:spPr>
          <a:xfrm>
            <a:off x="365100" y="2691841"/>
            <a:ext cx="4039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m</a:t>
            </a:r>
            <a:r>
              <a:rPr lang="en-GB" sz="1600"/>
              <a:t>inimum: 10</a:t>
            </a:r>
            <a:r>
              <a:rPr lang="en-GB" sz="1600"/>
              <a:t>℃</a:t>
            </a:r>
            <a:endParaRPr sz="1600"/>
          </a:p>
        </p:txBody>
      </p:sp>
      <p:sp>
        <p:nvSpPr>
          <p:cNvPr id="1356" name="Google Shape;1356;p104"/>
          <p:cNvSpPr txBox="1"/>
          <p:nvPr>
            <p:ph idx="4294967295" type="body"/>
          </p:nvPr>
        </p:nvSpPr>
        <p:spPr>
          <a:xfrm>
            <a:off x="365100" y="3445141"/>
            <a:ext cx="4039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r>
              <a:rPr lang="en-GB" sz="1600"/>
              <a:t>minimum: 5℃</a:t>
            </a:r>
            <a:endParaRPr sz="1600"/>
          </a:p>
        </p:txBody>
      </p:sp>
      <p:sp>
        <p:nvSpPr>
          <p:cNvPr id="1357" name="Google Shape;1357;p104"/>
          <p:cNvSpPr txBox="1"/>
          <p:nvPr>
            <p:ph idx="4294967295" type="body"/>
          </p:nvPr>
        </p:nvSpPr>
        <p:spPr>
          <a:xfrm>
            <a:off x="365100" y="4198441"/>
            <a:ext cx="4039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minimum: 0℃</a:t>
            </a:r>
            <a:endParaRPr sz="1600"/>
          </a:p>
        </p:txBody>
      </p:sp>
      <p:sp>
        <p:nvSpPr>
          <p:cNvPr id="1358" name="Google Shape;1358;p104"/>
          <p:cNvSpPr txBox="1"/>
          <p:nvPr>
            <p:ph idx="4294967295" type="body"/>
          </p:nvPr>
        </p:nvSpPr>
        <p:spPr>
          <a:xfrm>
            <a:off x="669900" y="2996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359" name="Google Shape;1359;p104"/>
          <p:cNvSpPr txBox="1"/>
          <p:nvPr>
            <p:ph idx="4294967295" type="body"/>
          </p:nvPr>
        </p:nvSpPr>
        <p:spPr>
          <a:xfrm>
            <a:off x="1764800" y="2996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360" name="Google Shape;1360;p104"/>
          <p:cNvSpPr txBox="1"/>
          <p:nvPr>
            <p:ph idx="4294967295" type="body"/>
          </p:nvPr>
        </p:nvSpPr>
        <p:spPr>
          <a:xfrm>
            <a:off x="3085400" y="2996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361" name="Google Shape;1361;p104"/>
          <p:cNvSpPr txBox="1"/>
          <p:nvPr>
            <p:ph idx="4294967295" type="body"/>
          </p:nvPr>
        </p:nvSpPr>
        <p:spPr>
          <a:xfrm>
            <a:off x="3901515" y="2996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  <p:sp>
        <p:nvSpPr>
          <p:cNvPr id="1362" name="Google Shape;1362;p104"/>
          <p:cNvSpPr txBox="1"/>
          <p:nvPr>
            <p:ph idx="4294967295" type="body"/>
          </p:nvPr>
        </p:nvSpPr>
        <p:spPr>
          <a:xfrm>
            <a:off x="669900" y="3758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363" name="Google Shape;1363;p104"/>
          <p:cNvSpPr txBox="1"/>
          <p:nvPr>
            <p:ph idx="4294967295" type="body"/>
          </p:nvPr>
        </p:nvSpPr>
        <p:spPr>
          <a:xfrm>
            <a:off x="1764800" y="3758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364" name="Google Shape;1364;p104"/>
          <p:cNvSpPr txBox="1"/>
          <p:nvPr>
            <p:ph idx="4294967295" type="body"/>
          </p:nvPr>
        </p:nvSpPr>
        <p:spPr>
          <a:xfrm>
            <a:off x="3085400" y="3758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365" name="Google Shape;1365;p104"/>
          <p:cNvSpPr txBox="1"/>
          <p:nvPr>
            <p:ph idx="4294967295" type="body"/>
          </p:nvPr>
        </p:nvSpPr>
        <p:spPr>
          <a:xfrm>
            <a:off x="3901515" y="3758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  <p:sp>
        <p:nvSpPr>
          <p:cNvPr id="1366" name="Google Shape;1366;p104"/>
          <p:cNvSpPr txBox="1"/>
          <p:nvPr>
            <p:ph idx="4294967295" type="body"/>
          </p:nvPr>
        </p:nvSpPr>
        <p:spPr>
          <a:xfrm>
            <a:off x="669900" y="4520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367" name="Google Shape;1367;p104"/>
          <p:cNvSpPr txBox="1"/>
          <p:nvPr>
            <p:ph idx="4294967295" type="body"/>
          </p:nvPr>
        </p:nvSpPr>
        <p:spPr>
          <a:xfrm>
            <a:off x="1764800" y="4520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368" name="Google Shape;1368;p104"/>
          <p:cNvSpPr txBox="1"/>
          <p:nvPr>
            <p:ph idx="4294967295" type="body"/>
          </p:nvPr>
        </p:nvSpPr>
        <p:spPr>
          <a:xfrm>
            <a:off x="3085400" y="4520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369" name="Google Shape;1369;p104"/>
          <p:cNvSpPr txBox="1"/>
          <p:nvPr>
            <p:ph idx="4294967295" type="body"/>
          </p:nvPr>
        </p:nvSpPr>
        <p:spPr>
          <a:xfrm>
            <a:off x="3901515" y="4520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  <p:sp>
        <p:nvSpPr>
          <p:cNvPr id="1370" name="Google Shape;1370;p104"/>
          <p:cNvSpPr txBox="1"/>
          <p:nvPr>
            <p:ph idx="4294967295" type="body"/>
          </p:nvPr>
        </p:nvSpPr>
        <p:spPr>
          <a:xfrm>
            <a:off x="2704400" y="2996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1" name="Google Shape;1371;p104"/>
          <p:cNvSpPr txBox="1"/>
          <p:nvPr>
            <p:ph idx="4294967295" type="body"/>
          </p:nvPr>
        </p:nvSpPr>
        <p:spPr>
          <a:xfrm>
            <a:off x="2704400" y="3758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104"/>
          <p:cNvSpPr txBox="1"/>
          <p:nvPr>
            <p:ph idx="4294967295" type="body"/>
          </p:nvPr>
        </p:nvSpPr>
        <p:spPr>
          <a:xfrm>
            <a:off x="2704400" y="4520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104"/>
          <p:cNvSpPr txBox="1"/>
          <p:nvPr>
            <p:ph idx="4294967295" type="body"/>
          </p:nvPr>
        </p:nvSpPr>
        <p:spPr>
          <a:xfrm>
            <a:off x="3542600" y="4520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104"/>
          <p:cNvSpPr txBox="1"/>
          <p:nvPr>
            <p:ph idx="4294967295" type="body"/>
          </p:nvPr>
        </p:nvSpPr>
        <p:spPr>
          <a:xfrm>
            <a:off x="3542600" y="3758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104"/>
          <p:cNvSpPr txBox="1"/>
          <p:nvPr>
            <p:ph idx="4294967295" type="body"/>
          </p:nvPr>
        </p:nvSpPr>
        <p:spPr>
          <a:xfrm>
            <a:off x="3542600" y="2996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___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trends and interpolation to make predictions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a22c3d9d-a1de-41e5-957f-97e27d43a6f1&quot; data-equatio-type=&quot;desmos&quot;&gt;&lt;mglyph src=&quot;https://equatio-api.texthelp.com/desmos/get/12-10-2023/a22c3d9d-a1de-41e5-957f-97e27d43a6f1&quot; alt=&quot;Equatio Desmos Graph&quot;/&gt;&lt;/math&gt;" id="1381" name="Google Shape;1381;p105" title="Equatio Desmos Graph"/>
          <p:cNvPicPr preferRelativeResize="0"/>
          <p:nvPr/>
        </p:nvPicPr>
        <p:blipFill rotWithShape="1">
          <a:blip r:embed="rId3">
            <a:alphaModFix/>
          </a:blip>
          <a:srcRect b="1782" l="14038" r="16671" t="15709"/>
          <a:stretch/>
        </p:blipFill>
        <p:spPr>
          <a:xfrm>
            <a:off x="5219115" y="1297412"/>
            <a:ext cx="3432520" cy="3065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2" name="Google Shape;1382;p105"/>
          <p:cNvCxnSpPr/>
          <p:nvPr/>
        </p:nvCxnSpPr>
        <p:spPr>
          <a:xfrm rot="10800000">
            <a:off x="5830010" y="1164331"/>
            <a:ext cx="0" cy="32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105"/>
          <p:cNvCxnSpPr/>
          <p:nvPr/>
        </p:nvCxnSpPr>
        <p:spPr>
          <a:xfrm>
            <a:off x="5269914" y="4210640"/>
            <a:ext cx="354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4" name="Google Shape;1384;p105"/>
          <p:cNvSpPr txBox="1"/>
          <p:nvPr/>
        </p:nvSpPr>
        <p:spPr>
          <a:xfrm rot="-5400000">
            <a:off x="3729475" y="2453463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5"/>
          <p:cNvSpPr txBox="1"/>
          <p:nvPr/>
        </p:nvSpPr>
        <p:spPr>
          <a:xfrm>
            <a:off x="5828651" y="4271580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of daily minimum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5"/>
          <p:cNvSpPr txBox="1"/>
          <p:nvPr>
            <p:ph idx="4294967295" type="body"/>
          </p:nvPr>
        </p:nvSpPr>
        <p:spPr>
          <a:xfrm>
            <a:off x="324000" y="759300"/>
            <a:ext cx="4878300" cy="5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scatter graph shows data about the weather in Armagh for each month from 1941 to 2022.</a:t>
            </a:r>
            <a:endParaRPr sz="1600"/>
          </a:p>
        </p:txBody>
      </p:sp>
      <p:sp>
        <p:nvSpPr>
          <p:cNvPr id="1387" name="Google Shape;1387;p105"/>
          <p:cNvSpPr txBox="1"/>
          <p:nvPr>
            <p:ph idx="4294967295" type="body"/>
          </p:nvPr>
        </p:nvSpPr>
        <p:spPr>
          <a:xfrm>
            <a:off x="324000" y="1540266"/>
            <a:ext cx="4121400" cy="10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Given the following minimum daily temperatures, estimate the range of maximum daily temperatures.</a:t>
            </a:r>
            <a:endParaRPr sz="1600"/>
          </a:p>
        </p:txBody>
      </p:sp>
      <p:sp>
        <p:nvSpPr>
          <p:cNvPr id="1388" name="Google Shape;1388;p105"/>
          <p:cNvSpPr txBox="1"/>
          <p:nvPr>
            <p:ph idx="4294967295" type="body"/>
          </p:nvPr>
        </p:nvSpPr>
        <p:spPr>
          <a:xfrm>
            <a:off x="365100" y="2691845"/>
            <a:ext cx="40392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minimum: 10℃</a:t>
            </a:r>
            <a:endParaRPr sz="1600"/>
          </a:p>
        </p:txBody>
      </p:sp>
      <p:sp>
        <p:nvSpPr>
          <p:cNvPr id="1389" name="Google Shape;1389;p105"/>
          <p:cNvSpPr txBox="1"/>
          <p:nvPr>
            <p:ph idx="4294967295" type="body"/>
          </p:nvPr>
        </p:nvSpPr>
        <p:spPr>
          <a:xfrm>
            <a:off x="365100" y="3445141"/>
            <a:ext cx="4039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minimum: 5℃</a:t>
            </a:r>
            <a:endParaRPr sz="1600"/>
          </a:p>
        </p:txBody>
      </p:sp>
      <p:sp>
        <p:nvSpPr>
          <p:cNvPr id="1390" name="Google Shape;1390;p105"/>
          <p:cNvSpPr txBox="1"/>
          <p:nvPr>
            <p:ph idx="4294967295" type="body"/>
          </p:nvPr>
        </p:nvSpPr>
        <p:spPr>
          <a:xfrm>
            <a:off x="365100" y="4198441"/>
            <a:ext cx="4039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minimum: 0℃</a:t>
            </a:r>
            <a:endParaRPr sz="1600"/>
          </a:p>
        </p:txBody>
      </p:sp>
      <p:sp>
        <p:nvSpPr>
          <p:cNvPr id="1391" name="Google Shape;1391;p105"/>
          <p:cNvSpPr txBox="1"/>
          <p:nvPr>
            <p:ph idx="1" type="body"/>
          </p:nvPr>
        </p:nvSpPr>
        <p:spPr>
          <a:xfrm>
            <a:off x="2761700" y="2996600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2" name="Google Shape;1392;p105"/>
          <p:cNvSpPr txBox="1"/>
          <p:nvPr>
            <p:ph idx="1" type="body"/>
          </p:nvPr>
        </p:nvSpPr>
        <p:spPr>
          <a:xfrm>
            <a:off x="3546175" y="2996600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3" name="Google Shape;1393;p105"/>
          <p:cNvSpPr txBox="1"/>
          <p:nvPr>
            <p:ph idx="1" type="body"/>
          </p:nvPr>
        </p:nvSpPr>
        <p:spPr>
          <a:xfrm>
            <a:off x="2750631" y="3732148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4" name="Google Shape;1394;p105"/>
          <p:cNvSpPr txBox="1"/>
          <p:nvPr>
            <p:ph idx="1" type="body"/>
          </p:nvPr>
        </p:nvSpPr>
        <p:spPr>
          <a:xfrm>
            <a:off x="3535093" y="3735079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5" name="Google Shape;1395;p105"/>
          <p:cNvSpPr txBox="1"/>
          <p:nvPr>
            <p:ph idx="1" type="body"/>
          </p:nvPr>
        </p:nvSpPr>
        <p:spPr>
          <a:xfrm>
            <a:off x="2761703" y="4466794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105"/>
          <p:cNvSpPr txBox="1"/>
          <p:nvPr>
            <p:ph idx="1" type="body"/>
          </p:nvPr>
        </p:nvSpPr>
        <p:spPr>
          <a:xfrm>
            <a:off x="3622365" y="4469725"/>
            <a:ext cx="32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7" name="Google Shape;1397;p105"/>
          <p:cNvSpPr txBox="1"/>
          <p:nvPr>
            <p:ph idx="4294967295" type="body"/>
          </p:nvPr>
        </p:nvSpPr>
        <p:spPr>
          <a:xfrm>
            <a:off x="669900" y="2996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398" name="Google Shape;1398;p105"/>
          <p:cNvSpPr txBox="1"/>
          <p:nvPr>
            <p:ph idx="4294967295" type="body"/>
          </p:nvPr>
        </p:nvSpPr>
        <p:spPr>
          <a:xfrm>
            <a:off x="1764800" y="2996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399" name="Google Shape;1399;p105"/>
          <p:cNvSpPr txBox="1"/>
          <p:nvPr>
            <p:ph idx="4294967295" type="body"/>
          </p:nvPr>
        </p:nvSpPr>
        <p:spPr>
          <a:xfrm>
            <a:off x="3085400" y="2996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400" name="Google Shape;1400;p105"/>
          <p:cNvSpPr txBox="1"/>
          <p:nvPr>
            <p:ph idx="4294967295" type="body"/>
          </p:nvPr>
        </p:nvSpPr>
        <p:spPr>
          <a:xfrm>
            <a:off x="3901515" y="2996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  <p:sp>
        <p:nvSpPr>
          <p:cNvPr id="1401" name="Google Shape;1401;p105"/>
          <p:cNvSpPr txBox="1"/>
          <p:nvPr>
            <p:ph idx="4294967295" type="body"/>
          </p:nvPr>
        </p:nvSpPr>
        <p:spPr>
          <a:xfrm>
            <a:off x="669900" y="3758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402" name="Google Shape;1402;p105"/>
          <p:cNvSpPr txBox="1"/>
          <p:nvPr>
            <p:ph idx="4294967295" type="body"/>
          </p:nvPr>
        </p:nvSpPr>
        <p:spPr>
          <a:xfrm>
            <a:off x="1764800" y="3758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403" name="Google Shape;1403;p105"/>
          <p:cNvSpPr txBox="1"/>
          <p:nvPr>
            <p:ph idx="4294967295" type="body"/>
          </p:nvPr>
        </p:nvSpPr>
        <p:spPr>
          <a:xfrm>
            <a:off x="3085400" y="3758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404" name="Google Shape;1404;p105"/>
          <p:cNvSpPr txBox="1"/>
          <p:nvPr>
            <p:ph idx="4294967295" type="body"/>
          </p:nvPr>
        </p:nvSpPr>
        <p:spPr>
          <a:xfrm>
            <a:off x="3901515" y="3758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  <p:sp>
        <p:nvSpPr>
          <p:cNvPr id="1405" name="Google Shape;1405;p105"/>
          <p:cNvSpPr txBox="1"/>
          <p:nvPr>
            <p:ph idx="4294967295" type="body"/>
          </p:nvPr>
        </p:nvSpPr>
        <p:spPr>
          <a:xfrm>
            <a:off x="669900" y="4520650"/>
            <a:ext cx="1095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maximum:</a:t>
            </a:r>
            <a:endParaRPr sz="1600"/>
          </a:p>
        </p:txBody>
      </p:sp>
      <p:sp>
        <p:nvSpPr>
          <p:cNvPr id="1406" name="Google Shape;1406;p105"/>
          <p:cNvSpPr txBox="1"/>
          <p:nvPr>
            <p:ph idx="4294967295" type="body"/>
          </p:nvPr>
        </p:nvSpPr>
        <p:spPr>
          <a:xfrm>
            <a:off x="1764800" y="4520650"/>
            <a:ext cx="89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between</a:t>
            </a:r>
            <a:endParaRPr sz="1600"/>
          </a:p>
        </p:txBody>
      </p:sp>
      <p:sp>
        <p:nvSpPr>
          <p:cNvPr id="1407" name="Google Shape;1407;p105"/>
          <p:cNvSpPr txBox="1"/>
          <p:nvPr>
            <p:ph idx="4294967295" type="body"/>
          </p:nvPr>
        </p:nvSpPr>
        <p:spPr>
          <a:xfrm>
            <a:off x="3085400" y="4520650"/>
            <a:ext cx="4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and</a:t>
            </a:r>
            <a:endParaRPr sz="1600"/>
          </a:p>
        </p:txBody>
      </p:sp>
      <p:sp>
        <p:nvSpPr>
          <p:cNvPr id="1408" name="Google Shape;1408;p105"/>
          <p:cNvSpPr txBox="1"/>
          <p:nvPr>
            <p:ph idx="4294967295" type="body"/>
          </p:nvPr>
        </p:nvSpPr>
        <p:spPr>
          <a:xfrm>
            <a:off x="3901515" y="4520650"/>
            <a:ext cx="29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℃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general trend may be observed from a scatter graph.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Scatter graphs can be used to estimate a second value when the first value is known, using </a:t>
            </a:r>
            <a:r>
              <a:rPr b="1" lang="en-GB"/>
              <a:t>interpolation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Extrapolation</a:t>
            </a:r>
            <a:r>
              <a:rPr lang="en-GB"/>
              <a:t> may not be valid as this is outside the data set.</a:t>
            </a:r>
            <a:endParaRPr/>
          </a:p>
        </p:txBody>
      </p:sp>
      <p:sp>
        <p:nvSpPr>
          <p:cNvPr id="1414" name="Google Shape;1414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0" name="Google Shape;1420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