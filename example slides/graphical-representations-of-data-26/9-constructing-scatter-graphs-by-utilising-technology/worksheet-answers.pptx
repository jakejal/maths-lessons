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3"/>
    <p:sldMasterId id="2147483666" r:id="rId4"/>
  </p:sldMasterIdLst>
  <p:notesMasterIdLst>
    <p:notesMasterId r:id="rId5"/>
  </p:notesMasterIdLst>
  <p:sldIdLst>
    <p:sldId id="256" r:id="rId6"/>
    <p:sldId id="257" r:id="rId7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docs.google.com/spreadsheets/u/0/d/1FOc_HO6_3yRSWBWKXN05DVuDTopo8oi1N-8Zx0wzC_w/edit" TargetMode="External"/><Relationship Id="rId4" Type="http://schemas.openxmlformats.org/officeDocument/2006/relationships/image" Target="../media/image10.png"/><Relationship Id="rId5" Type="http://schemas.openxmlformats.org/officeDocument/2006/relationships/hyperlink" Target="https://docs.google.com/spreadsheets/u/0/d/1FOc_HO6_3yRSWBWKXN05DVuDTopo8oi1N-8Zx0wzC_w/edit" TargetMode="External"/><Relationship Id="rId6" Type="http://schemas.openxmlformats.org/officeDocument/2006/relationships/image" Target="../media/image8.png"/><Relationship Id="rId7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docs.google.com/spreadsheets/d/1JugNx9qcB3CIGlM1izwsJgTTNZTbeYmpWDmxWmn5ypI/edit?usp=sharing" TargetMode="External"/><Relationship Id="rId4" Type="http://schemas.openxmlformats.org/officeDocument/2006/relationships/image" Target="../media/image13.png"/><Relationship Id="rId5" Type="http://schemas.openxmlformats.org/officeDocument/2006/relationships/hyperlink" Target="https://docs.google.com/spreadsheets/d/1JugNx9qcB3CIGlM1izwsJgTTNZTbeYmpWDmxWmn5ypI/edit?usp=sharing" TargetMode="External"/><Relationship Id="rId6" Type="http://schemas.openxmlformats.org/officeDocument/2006/relationships/image" Target="../media/image11.png"/><Relationship Id="rId7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/>
        </p:nvSpPr>
        <p:spPr>
          <a:xfrm>
            <a:off x="374756" y="1697459"/>
            <a:ext cx="6409500" cy="7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Access the data for this task by clicking here: </a:t>
            </a: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Bradford weather data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🖇</a:t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20"/>
          <p:cNvSpPr txBox="1"/>
          <p:nvPr/>
        </p:nvSpPr>
        <p:spPr>
          <a:xfrm>
            <a:off x="544581" y="2006759"/>
            <a:ext cx="64542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Construct a scatter graph with the horizontal axis showing total rainfall and the vertical axis showing mean daily minimum temperature. </a:t>
            </a:r>
            <a:endParaRPr sz="1200"/>
          </a:p>
        </p:txBody>
      </p:sp>
      <p:sp>
        <p:nvSpPr>
          <p:cNvPr id="173" name="Google Shape;173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4" name="Google Shape;174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Constructing scatter graphs by utilising technology</a:t>
            </a:r>
            <a:endParaRPr/>
          </a:p>
        </p:txBody>
      </p:sp>
      <p:pic>
        <p:nvPicPr>
          <p:cNvPr id="175" name="Google Shape;175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93750" y="2798250"/>
            <a:ext cx="4955835" cy="2993825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0"/>
          <p:cNvSpPr txBox="1"/>
          <p:nvPr/>
        </p:nvSpPr>
        <p:spPr>
          <a:xfrm>
            <a:off x="468000" y="145137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Constructing a scatter graph using a spreadsheet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403125" y="6124200"/>
            <a:ext cx="66888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The scatter graphs below were plotted using the weather dataset.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Access the data for this task by clicking here: </a:t>
            </a: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Bradford weather data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🖇</a:t>
            </a:r>
            <a:endParaRPr sz="1200"/>
          </a:p>
        </p:txBody>
      </p:sp>
      <p:sp>
        <p:nvSpPr>
          <p:cNvPr id="178" name="Google Shape;178;p20"/>
          <p:cNvSpPr txBox="1"/>
          <p:nvPr/>
        </p:nvSpPr>
        <p:spPr>
          <a:xfrm>
            <a:off x="573659" y="6662100"/>
            <a:ext cx="65184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Plot different scatter graphs to work out which variables go on the horizontal axis in each of the graphs below.</a:t>
            </a:r>
            <a:endParaRPr sz="1200"/>
          </a:p>
        </p:txBody>
      </p:sp>
      <p:pic>
        <p:nvPicPr>
          <p:cNvPr id="179" name="Google Shape;179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66775" y="7505198"/>
            <a:ext cx="2561100" cy="1551577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0"/>
          <p:cNvSpPr txBox="1"/>
          <p:nvPr/>
        </p:nvSpPr>
        <p:spPr>
          <a:xfrm>
            <a:off x="924075" y="8980569"/>
            <a:ext cx="3609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total sunshine duration (hours)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81" name="Google Shape;181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299475" y="7484647"/>
            <a:ext cx="2792574" cy="1690435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 txBox="1"/>
          <p:nvPr/>
        </p:nvSpPr>
        <p:spPr>
          <a:xfrm rot="-5400000">
            <a:off x="3269069" y="8031631"/>
            <a:ext cx="17181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total sunshine duration (hours)</a:t>
            </a:r>
            <a:endParaRPr sz="1100"/>
          </a:p>
        </p:txBody>
      </p:sp>
      <p:sp>
        <p:nvSpPr>
          <p:cNvPr id="183" name="Google Shape;183;p20"/>
          <p:cNvSpPr txBox="1"/>
          <p:nvPr/>
        </p:nvSpPr>
        <p:spPr>
          <a:xfrm>
            <a:off x="4550552" y="9040106"/>
            <a:ext cx="256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mean maximum daily temperature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 rot="-5400000">
            <a:off x="-214275" y="7969112"/>
            <a:ext cx="17073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mean maximum daily temperature (℃)</a:t>
            </a:r>
            <a:endParaRPr sz="1100"/>
          </a:p>
        </p:txBody>
      </p:sp>
      <p:cxnSp>
        <p:nvCxnSpPr>
          <p:cNvPr id="185" name="Google Shape;185;p20"/>
          <p:cNvCxnSpPr/>
          <p:nvPr/>
        </p:nvCxnSpPr>
        <p:spPr>
          <a:xfrm>
            <a:off x="466425" y="9972000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6" name="Google Shape;186;p20"/>
          <p:cNvSpPr txBox="1"/>
          <p:nvPr/>
        </p:nvSpPr>
        <p:spPr>
          <a:xfrm>
            <a:off x="374750" y="9548700"/>
            <a:ext cx="7226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600">
                <a:solidFill>
                  <a:srgbClr val="808080"/>
                </a:solidFill>
                <a:latin typeface="Lexend"/>
                <a:ea typeface="Lexend"/>
                <a:cs typeface="Lexend"/>
                <a:sym typeface="Lexend"/>
              </a:rPr>
              <a:t>Google Sheets is a trademark of Google LLC and this content is not endorsed by or affiliated with Google in any way.</a:t>
            </a:r>
            <a:endParaRPr sz="600">
              <a:solidFill>
                <a:srgbClr val="99999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92" name="Google Shape;192;p21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Constructing scatter graphs by utilising technology</a:t>
            </a:r>
            <a:endParaRPr/>
          </a:p>
        </p:txBody>
      </p:sp>
      <p:sp>
        <p:nvSpPr>
          <p:cNvPr id="193" name="Google Shape;193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</a:t>
            </a: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1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95" name="Google Shape;195;p21"/>
          <p:cNvSpPr txBox="1"/>
          <p:nvPr/>
        </p:nvSpPr>
        <p:spPr>
          <a:xfrm>
            <a:off x="468000" y="8640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Constructing a scatter graph using Desmos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1"/>
          <p:cNvSpPr txBox="1"/>
          <p:nvPr/>
        </p:nvSpPr>
        <p:spPr>
          <a:xfrm>
            <a:off x="488266" y="1468625"/>
            <a:ext cx="6471300" cy="14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Access the data for this task by clicking here:  </a:t>
            </a: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UK weather data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🖇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1"/>
          <p:cNvSpPr txBox="1"/>
          <p:nvPr/>
        </p:nvSpPr>
        <p:spPr>
          <a:xfrm>
            <a:off x="589516" y="1632499"/>
            <a:ext cx="65226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Construct a scatter graph for Bradford’s data, with the horizontal axis showing total rainfall and the vertical axis showing total sunshine duration.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/>
          </a:p>
        </p:txBody>
      </p:sp>
      <p:pic>
        <p:nvPicPr>
          <p:cNvPr descr="&lt;math xmlns=&quot;http://www.w3.org/1998/Math/MathML&quot; data-is-equatio=&quot;1&quot; data-equatio-url=&quot;https://equatio-api.texthelp.com/desmos/get/11-10-2023/55ed8f57-a903-4eb8-8968-4e0298dc0ac7&quot; data-equatio-type=&quot;desmos&quot;&gt;&lt;mglyph src=&quot;https://equatio-api.texthelp.com/desmos/get/11-10-2023/55ed8f57-a903-4eb8-8968-4e0298dc0ac7&quot; alt=&quot;Equatio Desmos Graph&quot;/&gt;&lt;/math&gt;" id="198" name="Google Shape;198;p21" title="Equatio Desmos Graph"/>
          <p:cNvPicPr preferRelativeResize="0"/>
          <p:nvPr/>
        </p:nvPicPr>
        <p:blipFill rotWithShape="1">
          <a:blip r:embed="rId4">
            <a:alphaModFix/>
          </a:blip>
          <a:srcRect b="3278" l="1584" r="0" t="0"/>
          <a:stretch/>
        </p:blipFill>
        <p:spPr>
          <a:xfrm>
            <a:off x="2606400" y="2221924"/>
            <a:ext cx="2347200" cy="173002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/>
        </p:nvSpPr>
        <p:spPr>
          <a:xfrm>
            <a:off x="476400" y="4264500"/>
            <a:ext cx="6471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Access the data for this task by clicking here:  </a:t>
            </a: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UK weather data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🖇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1"/>
          <p:cNvSpPr txBox="1"/>
          <p:nvPr/>
        </p:nvSpPr>
        <p:spPr>
          <a:xfrm>
            <a:off x="577650" y="4428374"/>
            <a:ext cx="65226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Construct a scatter graph for Armargh’s data, with the horizontal axis showing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total sunshine duration and the vertical axis showing the mean of the daily 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maximum temperature. </a:t>
            </a:r>
            <a:endParaRPr sz="1200"/>
          </a:p>
        </p:txBody>
      </p:sp>
      <p:pic>
        <p:nvPicPr>
          <p:cNvPr descr="&lt;math xmlns=&quot;http://www.w3.org/1998/Math/MathML&quot; data-is-equatio=&quot;1&quot; data-equatio-url=&quot;https://equatio-api.texthelp.com/desmos/get/11-10-2023/a264dde7-8de1-40a2-a44e-e590e6f9cad0&quot; data-equatio-type=&quot;desmos&quot;&gt;&lt;mglyph src=&quot;https://equatio-api.texthelp.com/desmos/get/11-10-2023/a264dde7-8de1-40a2-a44e-e590e6f9cad0&quot; alt=&quot;Equatio Desmos Graph&quot;/&gt;&lt;/math&gt;" id="201" name="Google Shape;201;p21" title="Equatio Desmos Graph"/>
          <p:cNvPicPr preferRelativeResize="0"/>
          <p:nvPr/>
        </p:nvPicPr>
        <p:blipFill rotWithShape="1">
          <a:blip r:embed="rId6">
            <a:alphaModFix/>
          </a:blip>
          <a:srcRect b="2257" l="1912" r="0" t="0"/>
          <a:stretch/>
        </p:blipFill>
        <p:spPr>
          <a:xfrm>
            <a:off x="2626666" y="5248180"/>
            <a:ext cx="2347200" cy="1754133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1"/>
          <p:cNvSpPr txBox="1"/>
          <p:nvPr/>
        </p:nvSpPr>
        <p:spPr>
          <a:xfrm>
            <a:off x="584725" y="7066025"/>
            <a:ext cx="64713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On the same graph plot the same data for Lerwick and make sure the points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are a different colour to Armargh’s data. </a:t>
            </a:r>
            <a:endParaRPr sz="1200"/>
          </a:p>
        </p:txBody>
      </p:sp>
      <p:pic>
        <p:nvPicPr>
          <p:cNvPr descr="&lt;math xmlns=&quot;http://www.w3.org/1998/Math/MathML&quot; data-is-equatio=&quot;1&quot; data-equatio-url=&quot;https://equatio-api.texthelp.com/desmos/get/11-10-2023/2945ccbb-d474-4bf9-ab6e-117151233f94&quot; data-equatio-type=&quot;desmos&quot;&gt;&lt;mglyph src=&quot;https://equatio-api.texthelp.com/desmos/get/11-10-2023/2945ccbb-d474-4bf9-ab6e-117151233f94&quot; alt=&quot;Equatio Desmos Graph&quot;/&gt;&lt;/math&gt;" id="203" name="Google Shape;203;p21" title="Equatio Desmos Graph"/>
          <p:cNvPicPr preferRelativeResize="0"/>
          <p:nvPr/>
        </p:nvPicPr>
        <p:blipFill rotWithShape="1">
          <a:blip r:embed="rId7">
            <a:alphaModFix/>
          </a:blip>
          <a:srcRect b="2591" l="2400" r="0" t="0"/>
          <a:stretch/>
        </p:blipFill>
        <p:spPr>
          <a:xfrm>
            <a:off x="2606400" y="7659357"/>
            <a:ext cx="2541600" cy="1902622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 txBox="1"/>
          <p:nvPr/>
        </p:nvSpPr>
        <p:spPr>
          <a:xfrm>
            <a:off x="601272" y="9580625"/>
            <a:ext cx="4233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Which town tends to get the warmest?</a:t>
            </a:r>
            <a:endParaRPr sz="1200"/>
          </a:p>
        </p:txBody>
      </p:sp>
      <p:sp>
        <p:nvSpPr>
          <p:cNvPr id="205" name="Google Shape;205;p21"/>
          <p:cNvSpPr txBox="1"/>
          <p:nvPr/>
        </p:nvSpPr>
        <p:spPr>
          <a:xfrm>
            <a:off x="3843975" y="9587379"/>
            <a:ext cx="109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Amargh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06" name="Google Shape;206;p21"/>
          <p:cNvCxnSpPr/>
          <p:nvPr/>
        </p:nvCxnSpPr>
        <p:spPr>
          <a:xfrm>
            <a:off x="466425" y="9972000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7" name="Google Shape;207;p21"/>
          <p:cNvSpPr txBox="1"/>
          <p:nvPr/>
        </p:nvSpPr>
        <p:spPr>
          <a:xfrm>
            <a:off x="465800" y="10084350"/>
            <a:ext cx="7135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80808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80808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600">
                <a:solidFill>
                  <a:srgbClr val="808080"/>
                </a:solidFill>
                <a:latin typeface="Lexend"/>
                <a:ea typeface="Lexend"/>
                <a:cs typeface="Lexend"/>
                <a:sym typeface="Lexend"/>
              </a:rPr>
              <a:t>Google Sheets is a trademark of Google LLC and this content is not endorsed by or affiliated with Google in any way.</a:t>
            </a:r>
            <a:endParaRPr sz="600">
              <a:solidFill>
                <a:srgbClr val="80808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LD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