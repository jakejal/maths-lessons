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8134fe2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8134fe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88134fe2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88134fe2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8134fe2c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8134fe2c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88cb2935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88cb2935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8b5ac44d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8b5ac44d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8b5ac44d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8b5ac44d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8b5ac44d4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8b5ac44d4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8b5ac44d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8b5ac44d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8b5ac44d4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8b5ac44d4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b5ac44d4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b5ac44d4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8b5ac44d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8b5ac44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8b5ac44d4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8b5ac44d4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8b5ac44d4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8b5ac44d4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8b5ac44d4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8b5ac44d4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8b5ac44d4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8b5ac44d4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8b5ac44d4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b5ac44d4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8b5ac44d47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8b5ac44d4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8b5ac44d4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8b5ac44d4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8b5ac44d4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8b5ac44d4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8b5ac44d4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8b5ac44d4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8b5ac44d47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8b5ac44d4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88134fe2c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88134fe2c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88134fe2c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88134fe2c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8b7882948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8b7882948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8b7882948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8b788294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8b7882948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8b7882948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8b7882948e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8b7882948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8b7882948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8b7882948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8b7882948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8b7882948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8b7882948e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8b7882948e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8b7882948e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8b7882948e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8b7882948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8b7882948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8b7882948e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8b7882948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8b7882948e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8b7882948e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8b7882948e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8b7882948e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8b7882948e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8b7882948e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8b7882948e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8b7882948e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86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6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6.png"/><Relationship Id="rId4" Type="http://schemas.openxmlformats.org/officeDocument/2006/relationships/image" Target="../media/image26.png"/><Relationship Id="rId11" Type="http://schemas.openxmlformats.org/officeDocument/2006/relationships/image" Target="../media/image15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hyperlink" Target="https://docs.google.com/spreadsheets/d/1SAEttqaogdLXEBSO4AMXJnixwdXXS-uxfZ68y6enW70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Relationship Id="rId6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59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spreadsheets/d/1SAEttqaogdLXEBSO4AMXJnixwdXXS-uxfZ68y6enW70/edit?usp=shar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google.com/spreadsheets/d/1SAEttqaogdLXEBSO4AMXJnixwdXXS-uxfZ68y6enW70/edit?usp=sharing" TargetMode="External"/><Relationship Id="rId4" Type="http://schemas.openxmlformats.org/officeDocument/2006/relationships/image" Target="../media/image65.png"/><Relationship Id="rId5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google.com/spreadsheets/d/1SAEttqaogdLXEBSO4AMXJnixwdXXS-uxfZ68y6enW70/edit?usp=sharing" TargetMode="External"/><Relationship Id="rId4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google.com/spreadsheets/d/1SAEttqaogdLXEBSO4AMXJnixwdXXS-uxfZ68y6enW70/edit?usp=sharing" TargetMode="External"/><Relationship Id="rId4" Type="http://schemas.openxmlformats.org/officeDocument/2006/relationships/image" Target="../media/image65.png"/><Relationship Id="rId5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ocs.google.com/spreadsheets/d/19MnU7cvPmNLigvYOGDcBkaJtl5Ev9C0ZDxvhav20x-8/edit?usp=shar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8.png"/><Relationship Id="rId4" Type="http://schemas.openxmlformats.org/officeDocument/2006/relationships/image" Target="../media/image76.png"/><Relationship Id="rId5" Type="http://schemas.openxmlformats.org/officeDocument/2006/relationships/image" Target="../media/image75.png"/><Relationship Id="rId6" Type="http://schemas.openxmlformats.org/officeDocument/2006/relationships/image" Target="../media/image7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9.png"/><Relationship Id="rId4" Type="http://schemas.openxmlformats.org/officeDocument/2006/relationships/image" Target="../media/image7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cs.google.com/spreadsheets/d/19MnU7cvPmNLigvYOGDcBkaJtl5Ev9C0ZDxvhav20x-8/edit?usp=sharing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ocs.google.com/spreadsheets/d/19MnU7cvPmNLigvYOGDcBkaJtl5Ev9C0ZDxvhav20x-8/edit?usp=sharing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cs.google.com/spreadsheets/d/19MnU7cvPmNLigvYOGDcBkaJtl5Ev9C0ZDxvhav20x-8/edit?usp=sharing" TargetMode="External"/><Relationship Id="rId4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cs.google.com/spreadsheets/d/19MnU7cvPmNLigvYOGDcBkaJtl5Ev9C0ZDxvhav20x-8/edit?usp=sharing" TargetMode="External"/><Relationship Id="rId4" Type="http://schemas.openxmlformats.org/officeDocument/2006/relationships/image" Target="../media/image8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construct scatter graphs from data presented in a number of different ways using technology.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7246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>
                <a:solidFill>
                  <a:schemeClr val="dk1"/>
                </a:solidFill>
              </a:rPr>
              <a:t>A scatter graph is a visual representation for bivariate data. It can be useful when determining the nature of the relationship between the two variables. </a:t>
            </a:r>
            <a:endParaRPr sz="2000"/>
          </a:p>
        </p:txBody>
      </p:sp>
      <p:pic>
        <p:nvPicPr>
          <p:cNvPr id="767" name="Google Shape;76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750" y="956075"/>
            <a:ext cx="1085725" cy="10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98" y="20592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496000" cy="3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Scatter graphs </a:t>
            </a:r>
            <a:r>
              <a:rPr lang="en-GB" sz="1800"/>
              <a:t>tend to be more</a:t>
            </a:r>
            <a:r>
              <a:rPr lang="en-GB" sz="1800"/>
              <a:t> useful when dealing </a:t>
            </a:r>
            <a:r>
              <a:rPr lang="en-GB" sz="1800">
                <a:solidFill>
                  <a:schemeClr val="accent4"/>
                </a:solidFill>
              </a:rPr>
              <a:t>large amounts of data</a:t>
            </a:r>
            <a:r>
              <a:rPr lang="en-GB" sz="1800"/>
              <a:t> than when dealing with small amounts of data.</a:t>
            </a:r>
            <a:endParaRPr sz="18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1507172"/>
            <a:ext cx="8237700" cy="232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Constructing scatter graphs by hand can be a </a:t>
            </a:r>
            <a:r>
              <a:rPr lang="en-GB" sz="1800">
                <a:solidFill>
                  <a:schemeClr val="accent4"/>
                </a:solidFill>
              </a:rPr>
              <a:t>slow</a:t>
            </a:r>
            <a:r>
              <a:rPr lang="en-GB" sz="1800"/>
              <a:t> process.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Scatter graphs plotted by hand can also be </a:t>
            </a:r>
            <a:r>
              <a:rPr lang="en-GB" sz="1800">
                <a:solidFill>
                  <a:schemeClr val="accent4"/>
                </a:solidFill>
              </a:rPr>
              <a:t>inaccurate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It can be </a:t>
            </a:r>
            <a:r>
              <a:rPr lang="en-GB" sz="1800">
                <a:solidFill>
                  <a:schemeClr val="accent4"/>
                </a:solidFill>
              </a:rPr>
              <a:t>impractical</a:t>
            </a:r>
            <a:r>
              <a:rPr lang="en-GB" sz="1800"/>
              <a:t> to plot a scatter graph by hand for large amounts of data.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4"/>
                </a:solidFill>
              </a:rPr>
              <a:t>Technology</a:t>
            </a:r>
            <a:r>
              <a:rPr lang="en-GB" sz="1800"/>
              <a:t> can be a useful way to plot scatter graphs quickly and accurately.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"/>
          <p:cNvSpPr txBox="1"/>
          <p:nvPr>
            <p:ph idx="1" type="body"/>
          </p:nvPr>
        </p:nvSpPr>
        <p:spPr>
          <a:xfrm>
            <a:off x="324000" y="759300"/>
            <a:ext cx="8237700" cy="4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Spreadsheet</a:t>
            </a:r>
            <a:r>
              <a:rPr lang="en-GB" sz="1800"/>
              <a:t> software can plot scatter graphs quickly and accurately.</a:t>
            </a:r>
            <a:br>
              <a:rPr lang="en-GB" sz="1800"/>
            </a:br>
            <a:endParaRPr sz="1800"/>
          </a:p>
        </p:txBody>
      </p:sp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789" name="Google Shape;789;p70"/>
          <p:cNvSpPr txBox="1"/>
          <p:nvPr>
            <p:ph idx="1" type="body"/>
          </p:nvPr>
        </p:nvSpPr>
        <p:spPr>
          <a:xfrm>
            <a:off x="334950" y="1392952"/>
            <a:ext cx="8237700" cy="7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Examples of spreadsheet software include Google Sheets, Microsoft Excel and Apple Numbers. But there are others.</a:t>
            </a:r>
            <a:br>
              <a:rPr lang="en-GB" sz="1800"/>
            </a:br>
            <a:endParaRPr sz="1800"/>
          </a:p>
        </p:txBody>
      </p:sp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34950" y="2333178"/>
            <a:ext cx="8237700" cy="11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While the demonstrations in this lesson use Google Sheets, other software usually have the same functions. However, the buttons might be in different places.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1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796" name="Google Shape;79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797" name="Google Shape;797;p71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1"/>
          <p:cNvSpPr txBox="1"/>
          <p:nvPr/>
        </p:nvSpPr>
        <p:spPr>
          <a:xfrm>
            <a:off x="250725" y="1507075"/>
            <a:ext cx="72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Access the data by clicking here: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Bradford weather data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200"/>
          </a:p>
        </p:txBody>
      </p:sp>
      <p:sp>
        <p:nvSpPr>
          <p:cNvPr id="799" name="Google Shape;799;p71"/>
          <p:cNvSpPr txBox="1"/>
          <p:nvPr/>
        </p:nvSpPr>
        <p:spPr>
          <a:xfrm>
            <a:off x="417600" y="4721700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2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805" name="Google Shape;80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806" name="Google Shape;806;p72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2"/>
          <p:cNvSpPr txBox="1"/>
          <p:nvPr>
            <p:ph idx="1" type="body"/>
          </p:nvPr>
        </p:nvSpPr>
        <p:spPr>
          <a:xfrm>
            <a:off x="324000" y="1620000"/>
            <a:ext cx="8299200" cy="3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first two columns show the </a:t>
            </a:r>
            <a:r>
              <a:rPr lang="en-GB" sz="1800">
                <a:solidFill>
                  <a:schemeClr val="accent4"/>
                </a:solidFill>
              </a:rPr>
              <a:t>year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month</a:t>
            </a:r>
            <a:r>
              <a:rPr lang="en-GB" sz="1800"/>
              <a:t> for each row of data. </a:t>
            </a:r>
            <a:endParaRPr sz="1800"/>
          </a:p>
        </p:txBody>
      </p:sp>
      <p:sp>
        <p:nvSpPr>
          <p:cNvPr id="808" name="Google Shape;808;p72"/>
          <p:cNvSpPr/>
          <p:nvPr/>
        </p:nvSpPr>
        <p:spPr>
          <a:xfrm>
            <a:off x="1031575" y="2839400"/>
            <a:ext cx="1798200" cy="190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2"/>
          <p:cNvSpPr txBox="1"/>
          <p:nvPr/>
        </p:nvSpPr>
        <p:spPr>
          <a:xfrm>
            <a:off x="366675" y="4674975"/>
            <a:ext cx="61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3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815" name="Google Shape;81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816" name="Google Shape;816;p73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3"/>
          <p:cNvSpPr txBox="1"/>
          <p:nvPr>
            <p:ph idx="1" type="body"/>
          </p:nvPr>
        </p:nvSpPr>
        <p:spPr>
          <a:xfrm>
            <a:off x="324000" y="162000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maximum</a:t>
            </a:r>
            <a:r>
              <a:rPr lang="en-GB" sz="1800"/>
              <a:t> temperature (℃) for each day was recorded.</a:t>
            </a:r>
            <a:br>
              <a:rPr lang="en-GB" sz="1800"/>
            </a:br>
            <a:r>
              <a:rPr lang="en-GB" sz="1800"/>
              <a:t>This column shows the mean for each month.</a:t>
            </a:r>
            <a:endParaRPr sz="1800"/>
          </a:p>
        </p:txBody>
      </p:sp>
      <p:sp>
        <p:nvSpPr>
          <p:cNvPr id="818" name="Google Shape;818;p73"/>
          <p:cNvSpPr/>
          <p:nvPr/>
        </p:nvSpPr>
        <p:spPr>
          <a:xfrm>
            <a:off x="2844218" y="2839400"/>
            <a:ext cx="1253400" cy="190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3"/>
          <p:cNvSpPr txBox="1"/>
          <p:nvPr/>
        </p:nvSpPr>
        <p:spPr>
          <a:xfrm>
            <a:off x="427775" y="4674975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4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825" name="Google Shape;82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826" name="Google Shape;826;p74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4"/>
          <p:cNvSpPr txBox="1"/>
          <p:nvPr>
            <p:ph idx="1" type="body"/>
          </p:nvPr>
        </p:nvSpPr>
        <p:spPr>
          <a:xfrm>
            <a:off x="324000" y="1620000"/>
            <a:ext cx="82992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minimum</a:t>
            </a:r>
            <a:r>
              <a:rPr lang="en-GB" sz="1800"/>
              <a:t> temperature </a:t>
            </a:r>
            <a:r>
              <a:rPr lang="en-GB" sz="1800"/>
              <a:t>(℃) </a:t>
            </a:r>
            <a:r>
              <a:rPr lang="en-GB" sz="1800"/>
              <a:t>for each day was recorded. </a:t>
            </a:r>
            <a:br>
              <a:rPr lang="en-GB" sz="1800"/>
            </a:br>
            <a:r>
              <a:rPr lang="en-GB" sz="1800"/>
              <a:t>This column shows the mean for each month.</a:t>
            </a:r>
            <a:endParaRPr sz="1800"/>
          </a:p>
        </p:txBody>
      </p:sp>
      <p:sp>
        <p:nvSpPr>
          <p:cNvPr id="828" name="Google Shape;828;p74"/>
          <p:cNvSpPr/>
          <p:nvPr/>
        </p:nvSpPr>
        <p:spPr>
          <a:xfrm>
            <a:off x="4106400" y="2839400"/>
            <a:ext cx="1323600" cy="190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4"/>
          <p:cNvSpPr txBox="1"/>
          <p:nvPr/>
        </p:nvSpPr>
        <p:spPr>
          <a:xfrm>
            <a:off x="590750" y="475782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5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835" name="Google Shape;83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836" name="Google Shape;836;p75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5"/>
          <p:cNvSpPr txBox="1"/>
          <p:nvPr>
            <p:ph idx="1" type="body"/>
          </p:nvPr>
        </p:nvSpPr>
        <p:spPr>
          <a:xfrm>
            <a:off x="324000" y="162000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column shows the total amount of </a:t>
            </a:r>
            <a:r>
              <a:rPr lang="en-GB" sz="1800">
                <a:solidFill>
                  <a:schemeClr val="accent4"/>
                </a:solidFill>
              </a:rPr>
              <a:t>rainfall</a:t>
            </a:r>
            <a:r>
              <a:rPr lang="en-GB" sz="1800"/>
              <a:t> for the entire of each month.</a:t>
            </a:r>
            <a:endParaRPr sz="1800"/>
          </a:p>
        </p:txBody>
      </p:sp>
      <p:sp>
        <p:nvSpPr>
          <p:cNvPr id="838" name="Google Shape;838;p75"/>
          <p:cNvSpPr/>
          <p:nvPr/>
        </p:nvSpPr>
        <p:spPr>
          <a:xfrm>
            <a:off x="5430455" y="2839400"/>
            <a:ext cx="1323600" cy="190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529625" y="4744200"/>
            <a:ext cx="602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6"/>
          <p:cNvSpPr txBox="1"/>
          <p:nvPr>
            <p:ph idx="1" type="body"/>
          </p:nvPr>
        </p:nvSpPr>
        <p:spPr>
          <a:xfrm>
            <a:off x="324000" y="759300"/>
            <a:ext cx="82377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lesson will explore a large dataset from The Met Office, about weather in Bradford from 1941 to 2022.</a:t>
            </a:r>
            <a:endParaRPr sz="1800"/>
          </a:p>
        </p:txBody>
      </p:sp>
      <p:sp>
        <p:nvSpPr>
          <p:cNvPr id="845" name="Google Shape;84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pic>
        <p:nvPicPr>
          <p:cNvPr id="846" name="Google Shape;846;p76"/>
          <p:cNvPicPr preferRelativeResize="0"/>
          <p:nvPr/>
        </p:nvPicPr>
        <p:blipFill rotWithShape="1">
          <a:blip r:embed="rId3">
            <a:alphaModFix/>
          </a:blip>
          <a:srcRect b="29522" l="0" r="0" t="0"/>
          <a:stretch/>
        </p:blipFill>
        <p:spPr>
          <a:xfrm>
            <a:off x="612500" y="2582675"/>
            <a:ext cx="7486650" cy="21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6"/>
          <p:cNvSpPr txBox="1"/>
          <p:nvPr>
            <p:ph idx="1" type="body"/>
          </p:nvPr>
        </p:nvSpPr>
        <p:spPr>
          <a:xfrm>
            <a:off x="324000" y="1620000"/>
            <a:ext cx="8496000" cy="7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column shows the total number of hours of visible </a:t>
            </a:r>
            <a:r>
              <a:rPr lang="en-GB" sz="1800">
                <a:solidFill>
                  <a:schemeClr val="accent4"/>
                </a:solidFill>
              </a:rPr>
              <a:t>sunshine</a:t>
            </a:r>
            <a:r>
              <a:rPr lang="en-GB" sz="1800"/>
              <a:t> for each month.</a:t>
            </a:r>
            <a:endParaRPr sz="1800"/>
          </a:p>
        </p:txBody>
      </p:sp>
      <p:sp>
        <p:nvSpPr>
          <p:cNvPr id="848" name="Google Shape;848;p76"/>
          <p:cNvSpPr/>
          <p:nvPr/>
        </p:nvSpPr>
        <p:spPr>
          <a:xfrm>
            <a:off x="6747346" y="2839400"/>
            <a:ext cx="1323600" cy="1904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6"/>
          <p:cNvSpPr txBox="1"/>
          <p:nvPr/>
        </p:nvSpPr>
        <p:spPr>
          <a:xfrm>
            <a:off x="488875" y="4798575"/>
            <a:ext cx="599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77"/>
          <p:cNvPicPr preferRelativeResize="0"/>
          <p:nvPr/>
        </p:nvPicPr>
        <p:blipFill rotWithShape="1">
          <a:blip r:embed="rId3">
            <a:alphaModFix/>
          </a:blip>
          <a:srcRect b="19413" l="0" r="0" t="0"/>
          <a:stretch/>
        </p:blipFill>
        <p:spPr>
          <a:xfrm>
            <a:off x="4320000" y="1179425"/>
            <a:ext cx="3974349" cy="36146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5" name="Google Shape;85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325" y="1179425"/>
            <a:ext cx="3953150" cy="36250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6" name="Google Shape;856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324" y="1179425"/>
            <a:ext cx="3975025" cy="362889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7" name="Google Shape;857;p77"/>
          <p:cNvPicPr preferRelativeResize="0"/>
          <p:nvPr/>
        </p:nvPicPr>
        <p:blipFill rotWithShape="1">
          <a:blip r:embed="rId6">
            <a:alphaModFix/>
          </a:blip>
          <a:srcRect b="0" l="0" r="537" t="398"/>
          <a:stretch/>
        </p:blipFill>
        <p:spPr>
          <a:xfrm>
            <a:off x="4327162" y="1180452"/>
            <a:ext cx="3953150" cy="36256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8" name="Google Shape;858;p77"/>
          <p:cNvSpPr txBox="1"/>
          <p:nvPr>
            <p:ph idx="1" type="body"/>
          </p:nvPr>
        </p:nvSpPr>
        <p:spPr>
          <a:xfrm>
            <a:off x="324000" y="759300"/>
            <a:ext cx="821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</a:t>
            </a:r>
            <a:r>
              <a:rPr lang="en-GB" sz="1800"/>
              <a:t>lot a scatter graph to represent total rainfall and total sunshine hours.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59" name="Google Shape;85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860" name="Google Shape;860;p77"/>
          <p:cNvSpPr txBox="1"/>
          <p:nvPr>
            <p:ph idx="1" type="body"/>
          </p:nvPr>
        </p:nvSpPr>
        <p:spPr>
          <a:xfrm>
            <a:off x="442550" y="1468800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 select the data we are using:</a:t>
            </a:r>
            <a:endParaRPr sz="1800"/>
          </a:p>
        </p:txBody>
      </p:sp>
      <p:sp>
        <p:nvSpPr>
          <p:cNvPr id="861" name="Google Shape;861;p77"/>
          <p:cNvSpPr txBox="1"/>
          <p:nvPr>
            <p:ph idx="1" type="body"/>
          </p:nvPr>
        </p:nvSpPr>
        <p:spPr>
          <a:xfrm>
            <a:off x="441930" y="1953273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the </a:t>
            </a:r>
            <a:r>
              <a:rPr lang="en-GB" sz="1600">
                <a:solidFill>
                  <a:schemeClr val="accent4"/>
                </a:solidFill>
              </a:rPr>
              <a:t>E column heading</a:t>
            </a:r>
            <a:endParaRPr sz="1800"/>
          </a:p>
        </p:txBody>
      </p:sp>
      <p:sp>
        <p:nvSpPr>
          <p:cNvPr id="862" name="Google Shape;862;p77"/>
          <p:cNvSpPr txBox="1"/>
          <p:nvPr>
            <p:ph idx="1" type="body"/>
          </p:nvPr>
        </p:nvSpPr>
        <p:spPr>
          <a:xfrm>
            <a:off x="444489" y="251181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hold the </a:t>
            </a:r>
            <a:r>
              <a:rPr lang="en-GB" sz="1600">
                <a:solidFill>
                  <a:schemeClr val="accent4"/>
                </a:solidFill>
              </a:rPr>
              <a:t>ctrl</a:t>
            </a:r>
            <a:r>
              <a:rPr lang="en-GB" sz="1600"/>
              <a:t> key </a:t>
            </a:r>
            <a:endParaRPr sz="1800"/>
          </a:p>
        </p:txBody>
      </p:sp>
      <p:sp>
        <p:nvSpPr>
          <p:cNvPr id="863" name="Google Shape;863;p77"/>
          <p:cNvSpPr txBox="1"/>
          <p:nvPr>
            <p:ph idx="1" type="body"/>
          </p:nvPr>
        </p:nvSpPr>
        <p:spPr>
          <a:xfrm>
            <a:off x="449064" y="306388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the </a:t>
            </a:r>
            <a:r>
              <a:rPr lang="en-GB" sz="1600">
                <a:solidFill>
                  <a:schemeClr val="accent4"/>
                </a:solidFill>
              </a:rPr>
              <a:t>F column heading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4" name="Google Shape;864;p77"/>
          <p:cNvSpPr txBox="1"/>
          <p:nvPr>
            <p:ph idx="1" type="body"/>
          </p:nvPr>
        </p:nvSpPr>
        <p:spPr>
          <a:xfrm>
            <a:off x="442550" y="3754800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 insert a scatter graph:</a:t>
            </a:r>
            <a:endParaRPr sz="1800"/>
          </a:p>
        </p:txBody>
      </p:sp>
      <p:sp>
        <p:nvSpPr>
          <p:cNvPr id="865" name="Google Shape;865;p77"/>
          <p:cNvSpPr txBox="1"/>
          <p:nvPr>
            <p:ph idx="1" type="body"/>
          </p:nvPr>
        </p:nvSpPr>
        <p:spPr>
          <a:xfrm>
            <a:off x="441930" y="4239273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insert </a:t>
            </a:r>
            <a:r>
              <a:rPr lang="en-GB" sz="1600"/>
              <a:t>and </a:t>
            </a:r>
            <a:r>
              <a:rPr lang="en-GB" sz="1600">
                <a:solidFill>
                  <a:schemeClr val="accent4"/>
                </a:solidFill>
              </a:rPr>
              <a:t>chart</a:t>
            </a:r>
            <a:endParaRPr sz="1800"/>
          </a:p>
        </p:txBody>
      </p:sp>
      <p:sp>
        <p:nvSpPr>
          <p:cNvPr id="866" name="Google Shape;866;p77"/>
          <p:cNvSpPr txBox="1"/>
          <p:nvPr/>
        </p:nvSpPr>
        <p:spPr>
          <a:xfrm>
            <a:off x="376850" y="4559975"/>
            <a:ext cx="586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78"/>
          <p:cNvPicPr preferRelativeResize="0"/>
          <p:nvPr/>
        </p:nvPicPr>
        <p:blipFill rotWithShape="1">
          <a:blip r:embed="rId3">
            <a:alphaModFix/>
          </a:blip>
          <a:srcRect b="0" l="0" r="685" t="0"/>
          <a:stretch/>
        </p:blipFill>
        <p:spPr>
          <a:xfrm>
            <a:off x="3873547" y="1620000"/>
            <a:ext cx="4928029" cy="268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2" name="Google Shape;87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748" y="1620000"/>
            <a:ext cx="4913815" cy="268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3" name="Google Shape;873;p78"/>
          <p:cNvSpPr txBox="1"/>
          <p:nvPr>
            <p:ph idx="1" type="body"/>
          </p:nvPr>
        </p:nvSpPr>
        <p:spPr>
          <a:xfrm>
            <a:off x="324000" y="759300"/>
            <a:ext cx="821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may automatically choose to plot a scatter graph for you.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74" name="Google Shape;87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875" name="Google Shape;875;p78"/>
          <p:cNvSpPr txBox="1"/>
          <p:nvPr>
            <p:ph idx="1" type="body"/>
          </p:nvPr>
        </p:nvSpPr>
        <p:spPr>
          <a:xfrm>
            <a:off x="324000" y="1577412"/>
            <a:ext cx="3264000" cy="16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not, you can select scatter graph by clicking </a:t>
            </a:r>
            <a:r>
              <a:rPr lang="en-GB" sz="1800">
                <a:solidFill>
                  <a:schemeClr val="accent4"/>
                </a:solidFill>
              </a:rPr>
              <a:t>chart type</a:t>
            </a:r>
            <a:r>
              <a:rPr lang="en-GB" sz="1800"/>
              <a:t> and selecting </a:t>
            </a:r>
            <a:r>
              <a:rPr lang="en-GB" sz="1800">
                <a:solidFill>
                  <a:schemeClr val="accent4"/>
                </a:solidFill>
              </a:rPr>
              <a:t>scatter</a:t>
            </a:r>
            <a:r>
              <a:rPr lang="en-GB" sz="1800"/>
              <a:t>.</a:t>
            </a:r>
            <a:endParaRPr sz="2000"/>
          </a:p>
        </p:txBody>
      </p:sp>
      <p:sp>
        <p:nvSpPr>
          <p:cNvPr id="876" name="Google Shape;876;p78"/>
          <p:cNvSpPr/>
          <p:nvPr/>
        </p:nvSpPr>
        <p:spPr>
          <a:xfrm>
            <a:off x="7558109" y="2045276"/>
            <a:ext cx="1214400" cy="329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8"/>
          <p:cNvSpPr/>
          <p:nvPr/>
        </p:nvSpPr>
        <p:spPr>
          <a:xfrm>
            <a:off x="7587281" y="2712637"/>
            <a:ext cx="402000" cy="3795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8"/>
          <p:cNvSpPr txBox="1"/>
          <p:nvPr/>
        </p:nvSpPr>
        <p:spPr>
          <a:xfrm>
            <a:off x="468525" y="454257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79"/>
          <p:cNvPicPr preferRelativeResize="0"/>
          <p:nvPr/>
        </p:nvPicPr>
        <p:blipFill rotWithShape="1">
          <a:blip r:embed="rId3">
            <a:alphaModFix/>
          </a:blip>
          <a:srcRect b="0" l="0" r="685" t="0"/>
          <a:stretch/>
        </p:blipFill>
        <p:spPr>
          <a:xfrm>
            <a:off x="3851096" y="1621550"/>
            <a:ext cx="4928029" cy="268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4" name="Google Shape;884;p79"/>
          <p:cNvSpPr/>
          <p:nvPr/>
        </p:nvSpPr>
        <p:spPr>
          <a:xfrm>
            <a:off x="7547709" y="2721782"/>
            <a:ext cx="1214400" cy="3291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5" name="Google Shape;885;p79"/>
          <p:cNvGrpSpPr/>
          <p:nvPr/>
        </p:nvGrpSpPr>
        <p:grpSpPr>
          <a:xfrm>
            <a:off x="3832432" y="1621550"/>
            <a:ext cx="4971892" cy="2684301"/>
            <a:chOff x="3836844" y="-2950800"/>
            <a:chExt cx="4971892" cy="2684301"/>
          </a:xfrm>
        </p:grpSpPr>
        <p:pic>
          <p:nvPicPr>
            <p:cNvPr id="886" name="Google Shape;886;p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36844" y="-2950800"/>
              <a:ext cx="4971892" cy="268430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87" name="Google Shape;887;p79"/>
            <p:cNvSpPr/>
            <p:nvPr/>
          </p:nvSpPr>
          <p:spPr>
            <a:xfrm>
              <a:off x="7558100" y="-1246700"/>
              <a:ext cx="1081200" cy="1683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8" name="Google Shape;888;p79"/>
          <p:cNvGrpSpPr/>
          <p:nvPr/>
        </p:nvGrpSpPr>
        <p:grpSpPr>
          <a:xfrm>
            <a:off x="3845096" y="1621550"/>
            <a:ext cx="4932893" cy="2684300"/>
            <a:chOff x="8897259" y="-621075"/>
            <a:chExt cx="4932893" cy="2684300"/>
          </a:xfrm>
        </p:grpSpPr>
        <p:pic>
          <p:nvPicPr>
            <p:cNvPr id="889" name="Google Shape;889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897259" y="-621075"/>
              <a:ext cx="4932893" cy="2684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90" name="Google Shape;890;p79"/>
            <p:cNvSpPr/>
            <p:nvPr/>
          </p:nvSpPr>
          <p:spPr>
            <a:xfrm>
              <a:off x="12590350" y="1013300"/>
              <a:ext cx="1214400" cy="3207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1" name="Google Shape;891;p79"/>
          <p:cNvGrpSpPr/>
          <p:nvPr/>
        </p:nvGrpSpPr>
        <p:grpSpPr>
          <a:xfrm>
            <a:off x="3825613" y="1622550"/>
            <a:ext cx="4971875" cy="2682308"/>
            <a:chOff x="8890725" y="2063225"/>
            <a:chExt cx="4971875" cy="2682308"/>
          </a:xfrm>
        </p:grpSpPr>
        <p:pic>
          <p:nvPicPr>
            <p:cNvPr id="892" name="Google Shape;892;p7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890725" y="2063225"/>
              <a:ext cx="4971875" cy="2682308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93" name="Google Shape;893;p79"/>
            <p:cNvSpPr/>
            <p:nvPr/>
          </p:nvSpPr>
          <p:spPr>
            <a:xfrm>
              <a:off x="12583225" y="4162900"/>
              <a:ext cx="1033500" cy="1683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94" name="Google Shape;894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2437" y="1620000"/>
            <a:ext cx="4971877" cy="268739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5" name="Google Shape;895;p79"/>
          <p:cNvSpPr txBox="1"/>
          <p:nvPr>
            <p:ph idx="1" type="body"/>
          </p:nvPr>
        </p:nvSpPr>
        <p:spPr>
          <a:xfrm>
            <a:off x="324000" y="759300"/>
            <a:ext cx="8215200" cy="6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In this example, the software has chosen rainfall for the horizontal axis and sunshine for the vertical axis.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96" name="Google Shape;89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897" name="Google Shape;897;p79"/>
          <p:cNvSpPr txBox="1"/>
          <p:nvPr>
            <p:ph idx="1" type="body"/>
          </p:nvPr>
        </p:nvSpPr>
        <p:spPr>
          <a:xfrm>
            <a:off x="340282" y="1621200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 switch the axis:</a:t>
            </a:r>
            <a:endParaRPr sz="1800"/>
          </a:p>
        </p:txBody>
      </p:sp>
      <p:sp>
        <p:nvSpPr>
          <p:cNvPr id="898" name="Google Shape;898;p79"/>
          <p:cNvSpPr txBox="1"/>
          <p:nvPr>
            <p:ph idx="1" type="body"/>
          </p:nvPr>
        </p:nvSpPr>
        <p:spPr>
          <a:xfrm>
            <a:off x="339661" y="2105673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x-axis </a:t>
            </a:r>
            <a:r>
              <a:rPr lang="en-GB" sz="1600"/>
              <a:t>for the horizontal axis</a:t>
            </a:r>
            <a:endParaRPr sz="1800"/>
          </a:p>
        </p:txBody>
      </p:sp>
      <p:sp>
        <p:nvSpPr>
          <p:cNvPr id="899" name="Google Shape;899;p79"/>
          <p:cNvSpPr txBox="1"/>
          <p:nvPr>
            <p:ph idx="1" type="body"/>
          </p:nvPr>
        </p:nvSpPr>
        <p:spPr>
          <a:xfrm>
            <a:off x="342220" y="289281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total sunshine duration</a:t>
            </a:r>
            <a:r>
              <a:rPr lang="en-GB" sz="1600"/>
              <a:t> </a:t>
            </a:r>
            <a:endParaRPr sz="1800"/>
          </a:p>
        </p:txBody>
      </p:sp>
      <p:sp>
        <p:nvSpPr>
          <p:cNvPr id="900" name="Google Shape;900;p79"/>
          <p:cNvSpPr txBox="1"/>
          <p:nvPr>
            <p:ph idx="1" type="body"/>
          </p:nvPr>
        </p:nvSpPr>
        <p:spPr>
          <a:xfrm>
            <a:off x="346800" y="3444869"/>
            <a:ext cx="3392700" cy="5637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series </a:t>
            </a:r>
            <a:r>
              <a:rPr lang="en-GB" sz="1600"/>
              <a:t>for the vertical axis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79"/>
          <p:cNvSpPr txBox="1"/>
          <p:nvPr>
            <p:ph idx="1" type="body"/>
          </p:nvPr>
        </p:nvSpPr>
        <p:spPr>
          <a:xfrm>
            <a:off x="346795" y="415500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total rainfall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2" name="Google Shape;902;p79"/>
          <p:cNvSpPr txBox="1"/>
          <p:nvPr/>
        </p:nvSpPr>
        <p:spPr>
          <a:xfrm>
            <a:off x="376850" y="460367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437" y="1620000"/>
            <a:ext cx="4971877" cy="268739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08" name="Google Shape;908;p80"/>
          <p:cNvGrpSpPr/>
          <p:nvPr/>
        </p:nvGrpSpPr>
        <p:grpSpPr>
          <a:xfrm>
            <a:off x="4824000" y="1388775"/>
            <a:ext cx="2028050" cy="3431619"/>
            <a:chOff x="4824000" y="1388775"/>
            <a:chExt cx="2028050" cy="3431619"/>
          </a:xfrm>
        </p:grpSpPr>
        <p:pic>
          <p:nvPicPr>
            <p:cNvPr id="909" name="Google Shape;909;p80"/>
            <p:cNvPicPr preferRelativeResize="0"/>
            <p:nvPr/>
          </p:nvPicPr>
          <p:blipFill rotWithShape="1">
            <a:blip r:embed="rId4">
              <a:alphaModFix/>
            </a:blip>
            <a:srcRect b="20886" l="0" r="0" t="0"/>
            <a:stretch/>
          </p:blipFill>
          <p:spPr>
            <a:xfrm>
              <a:off x="4824000" y="1388775"/>
              <a:ext cx="2028050" cy="3431619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10" name="Google Shape;910;p80"/>
            <p:cNvSpPr/>
            <p:nvPr/>
          </p:nvSpPr>
          <p:spPr>
            <a:xfrm>
              <a:off x="5880825" y="1728950"/>
              <a:ext cx="805800" cy="3207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1" name="Google Shape;911;p80"/>
          <p:cNvSpPr txBox="1"/>
          <p:nvPr>
            <p:ph idx="1" type="body"/>
          </p:nvPr>
        </p:nvSpPr>
        <p:spPr>
          <a:xfrm>
            <a:off x="324000" y="759300"/>
            <a:ext cx="8215200" cy="4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this example, the software has labelled the axis automatically.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12" name="Google Shape;91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 sz="2200"/>
          </a:p>
        </p:txBody>
      </p:sp>
      <p:sp>
        <p:nvSpPr>
          <p:cNvPr id="913" name="Google Shape;913;p80"/>
          <p:cNvSpPr txBox="1"/>
          <p:nvPr>
            <p:ph idx="1" type="body"/>
          </p:nvPr>
        </p:nvSpPr>
        <p:spPr>
          <a:xfrm>
            <a:off x="340282" y="1621200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To change the labels on the axis:</a:t>
            </a:r>
            <a:endParaRPr sz="1800"/>
          </a:p>
        </p:txBody>
      </p:sp>
      <p:sp>
        <p:nvSpPr>
          <p:cNvPr id="914" name="Google Shape;914;p80"/>
          <p:cNvSpPr txBox="1"/>
          <p:nvPr>
            <p:ph idx="1" type="body"/>
          </p:nvPr>
        </p:nvSpPr>
        <p:spPr>
          <a:xfrm>
            <a:off x="339661" y="2105673"/>
            <a:ext cx="33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customise</a:t>
            </a:r>
            <a:endParaRPr sz="1800"/>
          </a:p>
        </p:txBody>
      </p:sp>
      <p:sp>
        <p:nvSpPr>
          <p:cNvPr id="915" name="Google Shape;915;p80"/>
          <p:cNvSpPr txBox="1"/>
          <p:nvPr>
            <p:ph idx="1" type="body"/>
          </p:nvPr>
        </p:nvSpPr>
        <p:spPr>
          <a:xfrm>
            <a:off x="342220" y="258801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chart and axis titles</a:t>
            </a:r>
            <a:r>
              <a:rPr lang="en-GB" sz="1600"/>
              <a:t> </a:t>
            </a:r>
            <a:endParaRPr sz="1800"/>
          </a:p>
        </p:txBody>
      </p:sp>
      <p:sp>
        <p:nvSpPr>
          <p:cNvPr id="916" name="Google Shape;916;p80"/>
          <p:cNvSpPr txBox="1"/>
          <p:nvPr>
            <p:ph idx="1" type="body"/>
          </p:nvPr>
        </p:nvSpPr>
        <p:spPr>
          <a:xfrm>
            <a:off x="346800" y="3063869"/>
            <a:ext cx="3392700" cy="5637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for title type selector, </a:t>
            </a:r>
            <a:r>
              <a:rPr lang="en-GB" sz="1600"/>
              <a:t>click </a:t>
            </a:r>
            <a:r>
              <a:rPr lang="en-GB" sz="1600">
                <a:solidFill>
                  <a:schemeClr val="accent4"/>
                </a:solidFill>
              </a:rPr>
              <a:t>horizontal axis title</a:t>
            </a:r>
            <a:r>
              <a:rPr lang="en-GB" sz="1600">
                <a:solidFill>
                  <a:schemeClr val="accent4"/>
                </a:solidFill>
              </a:rPr>
              <a:t> </a:t>
            </a:r>
            <a:endParaRPr sz="1800"/>
          </a:p>
        </p:txBody>
      </p:sp>
      <p:sp>
        <p:nvSpPr>
          <p:cNvPr id="917" name="Google Shape;917;p80"/>
          <p:cNvSpPr txBox="1"/>
          <p:nvPr>
            <p:ph idx="1" type="body"/>
          </p:nvPr>
        </p:nvSpPr>
        <p:spPr>
          <a:xfrm>
            <a:off x="346795" y="3774006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</a:t>
            </a:r>
            <a:r>
              <a:rPr lang="en-GB" sz="1600"/>
              <a:t>ype the axis title here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18" name="Google Shape;918;p80"/>
          <p:cNvGrpSpPr/>
          <p:nvPr/>
        </p:nvGrpSpPr>
        <p:grpSpPr>
          <a:xfrm>
            <a:off x="4844450" y="1302400"/>
            <a:ext cx="1987150" cy="3500891"/>
            <a:chOff x="7016150" y="1277250"/>
            <a:chExt cx="1987150" cy="3500891"/>
          </a:xfrm>
        </p:grpSpPr>
        <p:pic>
          <p:nvPicPr>
            <p:cNvPr id="919" name="Google Shape;919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16150" y="1277250"/>
              <a:ext cx="1987150" cy="350089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20" name="Google Shape;920;p80"/>
            <p:cNvSpPr/>
            <p:nvPr/>
          </p:nvSpPr>
          <p:spPr>
            <a:xfrm>
              <a:off x="7056300" y="2309975"/>
              <a:ext cx="1278000" cy="3207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1" name="Google Shape;921;p80"/>
          <p:cNvGrpSpPr/>
          <p:nvPr/>
        </p:nvGrpSpPr>
        <p:grpSpPr>
          <a:xfrm>
            <a:off x="4843300" y="1309825"/>
            <a:ext cx="2122800" cy="3253399"/>
            <a:chOff x="9069975" y="1344475"/>
            <a:chExt cx="2122800" cy="3253399"/>
          </a:xfrm>
        </p:grpSpPr>
        <p:pic>
          <p:nvPicPr>
            <p:cNvPr id="922" name="Google Shape;922;p80"/>
            <p:cNvPicPr preferRelativeResize="0"/>
            <p:nvPr/>
          </p:nvPicPr>
          <p:blipFill rotWithShape="1">
            <a:blip r:embed="rId6">
              <a:alphaModFix/>
            </a:blip>
            <a:srcRect b="36744" l="0" r="0" t="0"/>
            <a:stretch/>
          </p:blipFill>
          <p:spPr>
            <a:xfrm>
              <a:off x="9069975" y="1344475"/>
              <a:ext cx="2122800" cy="3253399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23" name="Google Shape;923;p80"/>
            <p:cNvSpPr/>
            <p:nvPr/>
          </p:nvSpPr>
          <p:spPr>
            <a:xfrm>
              <a:off x="9167400" y="3296650"/>
              <a:ext cx="1278000" cy="2640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80"/>
          <p:cNvGrpSpPr/>
          <p:nvPr/>
        </p:nvGrpSpPr>
        <p:grpSpPr>
          <a:xfrm>
            <a:off x="4824000" y="1299225"/>
            <a:ext cx="2170471" cy="3253401"/>
            <a:chOff x="11259450" y="1277250"/>
            <a:chExt cx="2170471" cy="3253401"/>
          </a:xfrm>
        </p:grpSpPr>
        <p:pic>
          <p:nvPicPr>
            <p:cNvPr id="925" name="Google Shape;925;p80"/>
            <p:cNvPicPr preferRelativeResize="0"/>
            <p:nvPr/>
          </p:nvPicPr>
          <p:blipFill rotWithShape="1">
            <a:blip r:embed="rId7">
              <a:alphaModFix/>
            </a:blip>
            <a:srcRect b="16832" l="0" r="0" t="0"/>
            <a:stretch/>
          </p:blipFill>
          <p:spPr>
            <a:xfrm>
              <a:off x="11259450" y="1277250"/>
              <a:ext cx="2170471" cy="325340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26" name="Google Shape;926;p80"/>
            <p:cNvSpPr/>
            <p:nvPr/>
          </p:nvSpPr>
          <p:spPr>
            <a:xfrm>
              <a:off x="11259450" y="3296650"/>
              <a:ext cx="1587300" cy="5637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7" name="Google Shape;927;p80"/>
          <p:cNvSpPr txBox="1"/>
          <p:nvPr>
            <p:ph idx="1" type="body"/>
          </p:nvPr>
        </p:nvSpPr>
        <p:spPr>
          <a:xfrm>
            <a:off x="353995" y="4341681"/>
            <a:ext cx="33927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r</a:t>
            </a:r>
            <a:r>
              <a:rPr lang="en-GB" sz="1600"/>
              <a:t>epeat for the vertical axis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8" name="Google Shape;928;p80"/>
          <p:cNvSpPr txBox="1"/>
          <p:nvPr/>
        </p:nvSpPr>
        <p:spPr>
          <a:xfrm>
            <a:off x="275000" y="48204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8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option do you click to insert a scatter graph?</a:t>
            </a:r>
            <a:endParaRPr sz="2000"/>
          </a:p>
        </p:txBody>
      </p:sp>
      <p:sp>
        <p:nvSpPr>
          <p:cNvPr id="934" name="Google Shape;934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35" name="Google Shape;935;p81"/>
          <p:cNvSpPr txBox="1"/>
          <p:nvPr>
            <p:ph idx="1" type="subTitle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sheet</a:t>
            </a:r>
            <a:endParaRPr/>
          </a:p>
        </p:txBody>
      </p:sp>
      <p:sp>
        <p:nvSpPr>
          <p:cNvPr id="936" name="Google Shape;936;p81"/>
          <p:cNvSpPr txBox="1"/>
          <p:nvPr>
            <p:ph idx="3" type="subTitle"/>
          </p:nvPr>
        </p:nvSpPr>
        <p:spPr>
          <a:xfrm>
            <a:off x="1034425" y="2489443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chart</a:t>
            </a:r>
            <a:endParaRPr/>
          </a:p>
        </p:txBody>
      </p:sp>
      <p:sp>
        <p:nvSpPr>
          <p:cNvPr id="937" name="Google Shape;937;p81"/>
          <p:cNvSpPr txBox="1"/>
          <p:nvPr>
            <p:ph idx="4" type="subTitle"/>
          </p:nvPr>
        </p:nvSpPr>
        <p:spPr>
          <a:xfrm>
            <a:off x="1034425" y="3309758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image</a:t>
            </a:r>
            <a:endParaRPr/>
          </a:p>
        </p:txBody>
      </p:sp>
      <p:sp>
        <p:nvSpPr>
          <p:cNvPr id="938" name="Google Shape;938;p81"/>
          <p:cNvSpPr txBox="1"/>
          <p:nvPr>
            <p:ph idx="5" type="subTitle"/>
          </p:nvPr>
        </p:nvSpPr>
        <p:spPr>
          <a:xfrm>
            <a:off x="1034425" y="4113827"/>
            <a:ext cx="18528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</a:t>
            </a:r>
            <a:endParaRPr/>
          </a:p>
        </p:txBody>
      </p:sp>
      <p:pic>
        <p:nvPicPr>
          <p:cNvPr id="939" name="Google Shape;939;p81"/>
          <p:cNvPicPr preferRelativeResize="0"/>
          <p:nvPr/>
        </p:nvPicPr>
        <p:blipFill rotWithShape="1">
          <a:blip r:embed="rId3">
            <a:alphaModFix/>
          </a:blip>
          <a:srcRect b="18890" l="0" r="0" t="0"/>
          <a:stretch/>
        </p:blipFill>
        <p:spPr>
          <a:xfrm>
            <a:off x="4825070" y="1621679"/>
            <a:ext cx="3187202" cy="318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0" name="Google Shape;94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903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1"/>
          <p:cNvSpPr txBox="1"/>
          <p:nvPr/>
        </p:nvSpPr>
        <p:spPr>
          <a:xfrm>
            <a:off x="356475" y="48393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8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click to choose a variable for the horizontal axis?</a:t>
            </a:r>
            <a:endParaRPr sz="2000"/>
          </a:p>
        </p:txBody>
      </p:sp>
      <p:sp>
        <p:nvSpPr>
          <p:cNvPr id="947" name="Google Shape;947;p8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48" name="Google Shape;948;p82"/>
          <p:cNvSpPr txBox="1"/>
          <p:nvPr>
            <p:ph idx="1" type="subTitle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chart type</a:t>
            </a:r>
            <a:endParaRPr/>
          </a:p>
        </p:txBody>
      </p:sp>
      <p:sp>
        <p:nvSpPr>
          <p:cNvPr id="949" name="Google Shape;949;p82"/>
          <p:cNvSpPr txBox="1"/>
          <p:nvPr>
            <p:ph idx="3" type="subTitle"/>
          </p:nvPr>
        </p:nvSpPr>
        <p:spPr>
          <a:xfrm>
            <a:off x="1034425" y="2489443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x-axis</a:t>
            </a:r>
            <a:endParaRPr/>
          </a:p>
        </p:txBody>
      </p:sp>
      <p:sp>
        <p:nvSpPr>
          <p:cNvPr id="950" name="Google Shape;950;p82"/>
          <p:cNvSpPr txBox="1"/>
          <p:nvPr>
            <p:ph idx="4" type="subTitle"/>
          </p:nvPr>
        </p:nvSpPr>
        <p:spPr>
          <a:xfrm>
            <a:off x="1034425" y="3309758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series</a:t>
            </a:r>
            <a:endParaRPr/>
          </a:p>
        </p:txBody>
      </p:sp>
      <p:sp>
        <p:nvSpPr>
          <p:cNvPr id="951" name="Google Shape;951;p82"/>
          <p:cNvSpPr txBox="1"/>
          <p:nvPr>
            <p:ph idx="5" type="subTitle"/>
          </p:nvPr>
        </p:nvSpPr>
        <p:spPr>
          <a:xfrm>
            <a:off x="1034425" y="4113825"/>
            <a:ext cx="2906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</a:t>
            </a:r>
            <a:r>
              <a:rPr lang="en-GB"/>
              <a:t>witch rows/columns</a:t>
            </a:r>
            <a:endParaRPr/>
          </a:p>
        </p:txBody>
      </p:sp>
      <p:pic>
        <p:nvPicPr>
          <p:cNvPr id="952" name="Google Shape;952;p82"/>
          <p:cNvPicPr preferRelativeResize="0"/>
          <p:nvPr/>
        </p:nvPicPr>
        <p:blipFill rotWithShape="1">
          <a:blip r:embed="rId3">
            <a:alphaModFix/>
          </a:blip>
          <a:srcRect b="13764" l="72945" r="0" t="8384"/>
          <a:stretch/>
        </p:blipFill>
        <p:spPr>
          <a:xfrm>
            <a:off x="4824011" y="1620000"/>
            <a:ext cx="2034740" cy="3164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3" name="Google Shape;95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83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2"/>
          <p:cNvSpPr txBox="1"/>
          <p:nvPr/>
        </p:nvSpPr>
        <p:spPr>
          <a:xfrm>
            <a:off x="346300" y="474765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click to choose a variable for the vertical axis?</a:t>
            </a:r>
            <a:endParaRPr sz="2000"/>
          </a:p>
        </p:txBody>
      </p:sp>
      <p:sp>
        <p:nvSpPr>
          <p:cNvPr id="960" name="Google Shape;960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61" name="Google Shape;961;p83"/>
          <p:cNvSpPr txBox="1"/>
          <p:nvPr>
            <p:ph idx="1" type="subTitle"/>
          </p:nvPr>
        </p:nvSpPr>
        <p:spPr>
          <a:xfrm>
            <a:off x="1034425" y="16853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chart type</a:t>
            </a:r>
            <a:endParaRPr/>
          </a:p>
        </p:txBody>
      </p:sp>
      <p:sp>
        <p:nvSpPr>
          <p:cNvPr id="962" name="Google Shape;962;p83"/>
          <p:cNvSpPr txBox="1"/>
          <p:nvPr>
            <p:ph idx="3" type="subTitle"/>
          </p:nvPr>
        </p:nvSpPr>
        <p:spPr>
          <a:xfrm>
            <a:off x="1034425" y="2489443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x-axis</a:t>
            </a:r>
            <a:endParaRPr/>
          </a:p>
        </p:txBody>
      </p:sp>
      <p:sp>
        <p:nvSpPr>
          <p:cNvPr id="963" name="Google Shape;963;p83"/>
          <p:cNvSpPr txBox="1"/>
          <p:nvPr>
            <p:ph idx="4" type="subTitle"/>
          </p:nvPr>
        </p:nvSpPr>
        <p:spPr>
          <a:xfrm>
            <a:off x="1034425" y="3309758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series</a:t>
            </a:r>
            <a:endParaRPr/>
          </a:p>
        </p:txBody>
      </p:sp>
      <p:sp>
        <p:nvSpPr>
          <p:cNvPr id="964" name="Google Shape;964;p83"/>
          <p:cNvSpPr txBox="1"/>
          <p:nvPr>
            <p:ph idx="5" type="subTitle"/>
          </p:nvPr>
        </p:nvSpPr>
        <p:spPr>
          <a:xfrm>
            <a:off x="1034425" y="4113825"/>
            <a:ext cx="2906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switch rows/columns</a:t>
            </a:r>
            <a:endParaRPr/>
          </a:p>
        </p:txBody>
      </p:sp>
      <p:pic>
        <p:nvPicPr>
          <p:cNvPr id="965" name="Google Shape;96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3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83"/>
          <p:cNvPicPr preferRelativeResize="0"/>
          <p:nvPr/>
        </p:nvPicPr>
        <p:blipFill rotWithShape="1">
          <a:blip r:embed="rId4">
            <a:alphaModFix/>
          </a:blip>
          <a:srcRect b="13764" l="72945" r="0" t="8384"/>
          <a:stretch/>
        </p:blipFill>
        <p:spPr>
          <a:xfrm>
            <a:off x="4824011" y="1620000"/>
            <a:ext cx="2034740" cy="3164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7" name="Google Shape;967;p83"/>
          <p:cNvSpPr txBox="1"/>
          <p:nvPr/>
        </p:nvSpPr>
        <p:spPr>
          <a:xfrm>
            <a:off x="295375" y="479857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73" name="Google Shape;973;p84"/>
          <p:cNvSpPr txBox="1"/>
          <p:nvPr/>
        </p:nvSpPr>
        <p:spPr>
          <a:xfrm>
            <a:off x="250725" y="745075"/>
            <a:ext cx="852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Access the data for this task by clicking here: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Bradford weather data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endParaRPr sz="1600"/>
          </a:p>
        </p:txBody>
      </p:sp>
      <p:sp>
        <p:nvSpPr>
          <p:cNvPr id="974" name="Google Shape;974;p84"/>
          <p:cNvSpPr txBox="1"/>
          <p:nvPr/>
        </p:nvSpPr>
        <p:spPr>
          <a:xfrm>
            <a:off x="469200" y="1130575"/>
            <a:ext cx="8303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scatter graph with the horizontal axis showing total rainfall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the vertical axis showing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daily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minimum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temperature. </a:t>
            </a:r>
            <a:endParaRPr sz="1600"/>
          </a:p>
        </p:txBody>
      </p:sp>
      <p:sp>
        <p:nvSpPr>
          <p:cNvPr id="975" name="Google Shape;975;p84"/>
          <p:cNvSpPr txBox="1"/>
          <p:nvPr/>
        </p:nvSpPr>
        <p:spPr>
          <a:xfrm>
            <a:off x="509250" y="45348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81" name="Google Shape;981;p85"/>
          <p:cNvSpPr txBox="1"/>
          <p:nvPr/>
        </p:nvSpPr>
        <p:spPr>
          <a:xfrm>
            <a:off x="250725" y="745075"/>
            <a:ext cx="856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scatter graphs below were plotting using the same dataset as Q1.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Access the data for this task by clicking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Bradford weather data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🖇</a:t>
            </a:r>
            <a:endParaRPr sz="1600"/>
          </a:p>
        </p:txBody>
      </p:sp>
      <p:sp>
        <p:nvSpPr>
          <p:cNvPr id="982" name="Google Shape;982;p85"/>
          <p:cNvSpPr txBox="1"/>
          <p:nvPr/>
        </p:nvSpPr>
        <p:spPr>
          <a:xfrm>
            <a:off x="469200" y="1359175"/>
            <a:ext cx="835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Plot different scatter graphs to work out which variables go on the horizontal axis in each of the graphs below.</a:t>
            </a:r>
            <a:endParaRPr sz="1600"/>
          </a:p>
        </p:txBody>
      </p:sp>
      <p:cxnSp>
        <p:nvCxnSpPr>
          <p:cNvPr id="983" name="Google Shape;983;p85"/>
          <p:cNvCxnSpPr/>
          <p:nvPr/>
        </p:nvCxnSpPr>
        <p:spPr>
          <a:xfrm flipH="1" rot="10800000">
            <a:off x="895400" y="4639600"/>
            <a:ext cx="2981400" cy="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85"/>
          <p:cNvCxnSpPr/>
          <p:nvPr/>
        </p:nvCxnSpPr>
        <p:spPr>
          <a:xfrm>
            <a:off x="5717250" y="4653450"/>
            <a:ext cx="275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5" name="Google Shape;985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75" y="2337375"/>
            <a:ext cx="3124249" cy="18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287" y="2354787"/>
            <a:ext cx="3069223" cy="18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5"/>
          <p:cNvSpPr txBox="1"/>
          <p:nvPr/>
        </p:nvSpPr>
        <p:spPr>
          <a:xfrm rot="-5400000">
            <a:off x="4129475" y="2773425"/>
            <a:ext cx="2144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/>
          </a:p>
        </p:txBody>
      </p:sp>
      <p:sp>
        <p:nvSpPr>
          <p:cNvPr id="988" name="Google Shape;988;p85"/>
          <p:cNvSpPr txBox="1"/>
          <p:nvPr/>
        </p:nvSpPr>
        <p:spPr>
          <a:xfrm rot="-5400000">
            <a:off x="-645825" y="2773900"/>
            <a:ext cx="2431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maximum daily temperature (℃)</a:t>
            </a:r>
            <a:endParaRPr/>
          </a:p>
        </p:txBody>
      </p:sp>
      <p:sp>
        <p:nvSpPr>
          <p:cNvPr id="989" name="Google Shape;989;p85"/>
          <p:cNvSpPr txBox="1"/>
          <p:nvPr/>
        </p:nvSpPr>
        <p:spPr>
          <a:xfrm>
            <a:off x="397225" y="4677400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995" name="Google Shape;995;p86"/>
          <p:cNvSpPr txBox="1"/>
          <p:nvPr/>
        </p:nvSpPr>
        <p:spPr>
          <a:xfrm>
            <a:off x="250725" y="745075"/>
            <a:ext cx="82455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Access the data for this task by clicking here: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Bradford weather data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6"/>
          <p:cNvSpPr txBox="1"/>
          <p:nvPr/>
        </p:nvSpPr>
        <p:spPr>
          <a:xfrm>
            <a:off x="469200" y="1130575"/>
            <a:ext cx="8303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scatter graph with the horizontal axis showing total rainfall and the vertical axis showing mean daily minimum temperature. </a:t>
            </a:r>
            <a:endParaRPr sz="1600"/>
          </a:p>
        </p:txBody>
      </p:sp>
      <p:pic>
        <p:nvPicPr>
          <p:cNvPr id="997" name="Google Shape;99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4088" y="1825825"/>
            <a:ext cx="4955835" cy="29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6"/>
          <p:cNvSpPr txBox="1"/>
          <p:nvPr/>
        </p:nvSpPr>
        <p:spPr>
          <a:xfrm>
            <a:off x="285175" y="48204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 scatter graph using a spreadsheet</a:t>
            </a:r>
            <a:endParaRPr/>
          </a:p>
        </p:txBody>
      </p:sp>
      <p:sp>
        <p:nvSpPr>
          <p:cNvPr id="1004" name="Google Shape;1004;p87"/>
          <p:cNvSpPr txBox="1"/>
          <p:nvPr/>
        </p:nvSpPr>
        <p:spPr>
          <a:xfrm>
            <a:off x="250725" y="745075"/>
            <a:ext cx="856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The scatter graphs below were plotted using the weather dataset.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Access the data for this task by clicking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Bradford weather data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/>
          </a:p>
        </p:txBody>
      </p:sp>
      <p:sp>
        <p:nvSpPr>
          <p:cNvPr id="1005" name="Google Shape;1005;p87"/>
          <p:cNvSpPr txBox="1"/>
          <p:nvPr/>
        </p:nvSpPr>
        <p:spPr>
          <a:xfrm>
            <a:off x="469200" y="1359175"/>
            <a:ext cx="835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Plot different scatter graphs to work out which variables go on the horizontal axis in each of the graphs below.</a:t>
            </a:r>
            <a:endParaRPr sz="1600"/>
          </a:p>
        </p:txBody>
      </p:sp>
      <p:pic>
        <p:nvPicPr>
          <p:cNvPr id="1006" name="Google Shape;100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75" y="2337375"/>
            <a:ext cx="3124249" cy="18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87"/>
          <p:cNvSpPr txBox="1"/>
          <p:nvPr/>
        </p:nvSpPr>
        <p:spPr>
          <a:xfrm>
            <a:off x="771675" y="4230100"/>
            <a:ext cx="360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 sunshine duration (hours)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08" name="Google Shape;100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6287" y="2354787"/>
            <a:ext cx="3069223" cy="18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87"/>
          <p:cNvSpPr txBox="1"/>
          <p:nvPr/>
        </p:nvSpPr>
        <p:spPr>
          <a:xfrm rot="-5400000">
            <a:off x="4129475" y="2773425"/>
            <a:ext cx="2144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600"/>
          </a:p>
        </p:txBody>
      </p:sp>
      <p:sp>
        <p:nvSpPr>
          <p:cNvPr id="1010" name="Google Shape;1010;p87"/>
          <p:cNvSpPr txBox="1"/>
          <p:nvPr/>
        </p:nvSpPr>
        <p:spPr>
          <a:xfrm>
            <a:off x="5975788" y="4077700"/>
            <a:ext cx="2202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maximum daily temperature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87"/>
          <p:cNvSpPr txBox="1"/>
          <p:nvPr/>
        </p:nvSpPr>
        <p:spPr>
          <a:xfrm rot="-5400000">
            <a:off x="-645825" y="2773900"/>
            <a:ext cx="2431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maximum daily temperature (℃)</a:t>
            </a:r>
            <a:endParaRPr/>
          </a:p>
        </p:txBody>
      </p:sp>
      <p:sp>
        <p:nvSpPr>
          <p:cNvPr id="1012" name="Google Shape;1012;p87"/>
          <p:cNvSpPr txBox="1"/>
          <p:nvPr/>
        </p:nvSpPr>
        <p:spPr>
          <a:xfrm>
            <a:off x="336100" y="466722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spreadsheet software</a:t>
            </a:r>
            <a:endParaRPr/>
          </a:p>
        </p:txBody>
      </p:sp>
      <p:sp>
        <p:nvSpPr>
          <p:cNvPr id="1018" name="Google Shape;1018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019" name="Google Shape;1019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  <p:pic>
        <p:nvPicPr>
          <p:cNvPr id="1020" name="Google Shape;102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48" y="29883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9"/>
          <p:cNvSpPr txBox="1"/>
          <p:nvPr>
            <p:ph idx="1" type="body"/>
          </p:nvPr>
        </p:nvSpPr>
        <p:spPr>
          <a:xfrm>
            <a:off x="324000" y="759300"/>
            <a:ext cx="82377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Desmos can also be used to plot a scatter graph.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26" name="Google Shape;102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027" name="Google Shape;1027;p89"/>
          <p:cNvSpPr txBox="1"/>
          <p:nvPr/>
        </p:nvSpPr>
        <p:spPr>
          <a:xfrm>
            <a:off x="324000" y="1368900"/>
            <a:ext cx="82377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get started: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9"/>
          <p:cNvSpPr txBox="1"/>
          <p:nvPr/>
        </p:nvSpPr>
        <p:spPr>
          <a:xfrm>
            <a:off x="324000" y="1881354"/>
            <a:ext cx="82377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Open up a web browser and go to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desmos.com</a:t>
            </a:r>
            <a:endParaRPr sz="20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and press the ‘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graphing calculator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’ button.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9"/>
          <p:cNvSpPr txBox="1"/>
          <p:nvPr/>
        </p:nvSpPr>
        <p:spPr>
          <a:xfrm>
            <a:off x="250725" y="2954875"/>
            <a:ext cx="7740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a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separate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browser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tab, also load up the large data set available at this link: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UK weather data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/>
          </a:p>
        </p:txBody>
      </p:sp>
      <p:sp>
        <p:nvSpPr>
          <p:cNvPr id="1030" name="Google Shape;1030;p89"/>
          <p:cNvSpPr txBox="1"/>
          <p:nvPr/>
        </p:nvSpPr>
        <p:spPr>
          <a:xfrm>
            <a:off x="448150" y="4320000"/>
            <a:ext cx="58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350" y="1620000"/>
            <a:ext cx="3996000" cy="31596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6" name="Google Shape;103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037" name="Google Shape;1037;p90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the spreadsheet: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0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Plot a scatter graph to represent </a:t>
            </a:r>
            <a:r>
              <a:rPr lang="en-GB" sz="1800"/>
              <a:t>total sunshine duration and mean of the daily minimum temperature for Bradford.</a:t>
            </a:r>
            <a:endParaRPr sz="2000"/>
          </a:p>
        </p:txBody>
      </p:sp>
      <p:sp>
        <p:nvSpPr>
          <p:cNvPr id="1039" name="Google Shape;1039;p90"/>
          <p:cNvSpPr txBox="1"/>
          <p:nvPr/>
        </p:nvSpPr>
        <p:spPr>
          <a:xfrm>
            <a:off x="324000" y="32167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select the data columns as previously shown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0"/>
          <p:cNvSpPr txBox="1"/>
          <p:nvPr/>
        </p:nvSpPr>
        <p:spPr>
          <a:xfrm>
            <a:off x="328350" y="4197825"/>
            <a:ext cx="3996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copy the data by holding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ctrl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key and pressing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4061332"/>
            <a:ext cx="3995999" cy="7203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2" name="Google Shape;1042;p90"/>
          <p:cNvSpPr txBox="1"/>
          <p:nvPr/>
        </p:nvSpPr>
        <p:spPr>
          <a:xfrm>
            <a:off x="324000" y="2073750"/>
            <a:ext cx="39960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ake sure the Bradford tab is selected at the bottom of the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0"/>
          <p:cNvSpPr txBox="1"/>
          <p:nvPr/>
        </p:nvSpPr>
        <p:spPr>
          <a:xfrm>
            <a:off x="336100" y="47817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91"/>
          <p:cNvGrpSpPr/>
          <p:nvPr/>
        </p:nvGrpSpPr>
        <p:grpSpPr>
          <a:xfrm>
            <a:off x="4519025" y="1650549"/>
            <a:ext cx="4300976" cy="2470200"/>
            <a:chOff x="4519025" y="1650549"/>
            <a:chExt cx="4300976" cy="2470200"/>
          </a:xfrm>
        </p:grpSpPr>
        <p:pic>
          <p:nvPicPr>
            <p:cNvPr id="1049" name="Google Shape;1049;p91"/>
            <p:cNvPicPr preferRelativeResize="0"/>
            <p:nvPr/>
          </p:nvPicPr>
          <p:blipFill rotWithShape="1">
            <a:blip r:embed="rId3">
              <a:alphaModFix/>
            </a:blip>
            <a:srcRect b="29308" l="0" r="6768" t="0"/>
            <a:stretch/>
          </p:blipFill>
          <p:spPr>
            <a:xfrm>
              <a:off x="4588525" y="1650549"/>
              <a:ext cx="4231476" cy="2470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50" name="Google Shape;1050;p91"/>
            <p:cNvSpPr/>
            <p:nvPr/>
          </p:nvSpPr>
          <p:spPr>
            <a:xfrm>
              <a:off x="4519025" y="1942289"/>
              <a:ext cx="1933200" cy="3180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1" name="Google Shape;105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8525" y="1639650"/>
            <a:ext cx="4231476" cy="233011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2" name="Google Shape;105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053" name="Google Shape;1053;p91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Desmos: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1"/>
          <p:cNvSpPr txBox="1"/>
          <p:nvPr/>
        </p:nvSpPr>
        <p:spPr>
          <a:xfrm>
            <a:off x="324000" y="21499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click the first open cell in the side panel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1"/>
          <p:cNvSpPr txBox="1"/>
          <p:nvPr/>
        </p:nvSpPr>
        <p:spPr>
          <a:xfrm>
            <a:off x="328350" y="3207225"/>
            <a:ext cx="3996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paste the data by holding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ctrl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key and pressing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1"/>
          <p:cNvSpPr txBox="1"/>
          <p:nvPr/>
        </p:nvSpPr>
        <p:spPr>
          <a:xfrm>
            <a:off x="328350" y="4194575"/>
            <a:ext cx="39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Desmos automatically displays the data as a scatter graph.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1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Plot a scatter graph to represent total sunshine duration and mean of the daily minimum temperature for Bradford.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063" name="Google Shape;1063;p92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label the axis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2"/>
          <p:cNvSpPr txBox="1"/>
          <p:nvPr/>
        </p:nvSpPr>
        <p:spPr>
          <a:xfrm>
            <a:off x="324000" y="2149950"/>
            <a:ext cx="3996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click spanner symbol in the top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2"/>
          <p:cNvSpPr txBox="1"/>
          <p:nvPr/>
        </p:nvSpPr>
        <p:spPr>
          <a:xfrm>
            <a:off x="328350" y="3207225"/>
            <a:ext cx="3996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ype in the label boxes for the x-axis and y-axis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2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Plot a scatter graph to represent total sunshine duration and mean of the daily minimum temperature for Bradford.</a:t>
            </a:r>
            <a:endParaRPr sz="2000"/>
          </a:p>
        </p:txBody>
      </p:sp>
      <p:pic>
        <p:nvPicPr>
          <p:cNvPr id="1067" name="Google Shape;106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725" y="2480433"/>
            <a:ext cx="323850" cy="285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0" y="1537650"/>
            <a:ext cx="2331037" cy="3208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9" name="Google Shape;1069;p92"/>
          <p:cNvSpPr/>
          <p:nvPr/>
        </p:nvSpPr>
        <p:spPr>
          <a:xfrm>
            <a:off x="6737725" y="2953750"/>
            <a:ext cx="1027800" cy="962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0" name="Google Shape;1070;p92"/>
          <p:cNvGrpSpPr/>
          <p:nvPr/>
        </p:nvGrpSpPr>
        <p:grpSpPr>
          <a:xfrm>
            <a:off x="324000" y="2454750"/>
            <a:ext cx="4148250" cy="365700"/>
            <a:chOff x="324000" y="2454750"/>
            <a:chExt cx="4148250" cy="365700"/>
          </a:xfrm>
        </p:grpSpPr>
        <p:sp>
          <p:nvSpPr>
            <p:cNvPr id="1071" name="Google Shape;1071;p92"/>
            <p:cNvSpPr txBox="1"/>
            <p:nvPr/>
          </p:nvSpPr>
          <p:spPr>
            <a:xfrm>
              <a:off x="324000" y="2454750"/>
              <a:ext cx="3996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right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92"/>
            <p:cNvSpPr txBox="1"/>
            <p:nvPr/>
          </p:nvSpPr>
          <p:spPr>
            <a:xfrm>
              <a:off x="1369950" y="2454750"/>
              <a:ext cx="3102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corner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078" name="Google Shape;1078;p93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change the colour of the points: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3"/>
          <p:cNvSpPr txBox="1"/>
          <p:nvPr/>
        </p:nvSpPr>
        <p:spPr>
          <a:xfrm>
            <a:off x="324000" y="2149950"/>
            <a:ext cx="111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3"/>
          <p:cNvSpPr txBox="1"/>
          <p:nvPr/>
        </p:nvSpPr>
        <p:spPr>
          <a:xfrm>
            <a:off x="328350" y="3512025"/>
            <a:ext cx="3996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t/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Plot a scatter graph to represent total sunshine duration and mean of the daily minimum temperature for Bradford.</a:t>
            </a:r>
            <a:endParaRPr sz="2000"/>
          </a:p>
        </p:txBody>
      </p:sp>
      <p:pic>
        <p:nvPicPr>
          <p:cNvPr id="1082" name="Google Shape;1082;p93"/>
          <p:cNvPicPr preferRelativeResize="0"/>
          <p:nvPr/>
        </p:nvPicPr>
        <p:blipFill rotWithShape="1">
          <a:blip r:embed="rId3">
            <a:alphaModFix/>
          </a:blip>
          <a:srcRect b="0" l="3550" r="8576" t="0"/>
          <a:stretch/>
        </p:blipFill>
        <p:spPr>
          <a:xfrm>
            <a:off x="4572000" y="1620000"/>
            <a:ext cx="4218098" cy="270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y_1&quot;&gt;&lt;msub&gt;&lt;mi&gt;y&lt;/mi&gt;&lt;mn&gt;1&lt;/mn&gt;&lt;/msub&gt;&lt;/math&gt;" id="1083" name="Google Shape;1083;p93" title="y sub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125" y="2505075"/>
            <a:ext cx="283775" cy="2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5325" y="2138052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3"/>
          <p:cNvSpPr/>
          <p:nvPr/>
        </p:nvSpPr>
        <p:spPr>
          <a:xfrm>
            <a:off x="4894250" y="1981650"/>
            <a:ext cx="283800" cy="2658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6" name="Google Shape;1086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174421"/>
            <a:ext cx="2558950" cy="2368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7" name="Google Shape;1087;p93"/>
          <p:cNvSpPr txBox="1"/>
          <p:nvPr/>
        </p:nvSpPr>
        <p:spPr>
          <a:xfrm>
            <a:off x="324000" y="24547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ext to        until an options box appears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8" name="Google Shape;1088;p93"/>
          <p:cNvGrpSpPr/>
          <p:nvPr/>
        </p:nvGrpSpPr>
        <p:grpSpPr>
          <a:xfrm>
            <a:off x="782475" y="2149950"/>
            <a:ext cx="3516450" cy="304800"/>
            <a:chOff x="782475" y="2149950"/>
            <a:chExt cx="3516450" cy="304800"/>
          </a:xfrm>
        </p:grpSpPr>
        <p:sp>
          <p:nvSpPr>
            <p:cNvPr id="1089" name="Google Shape;1089;p93"/>
            <p:cNvSpPr txBox="1"/>
            <p:nvPr/>
          </p:nvSpPr>
          <p:spPr>
            <a:xfrm>
              <a:off x="1336350" y="2149950"/>
              <a:ext cx="61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93"/>
            <p:cNvSpPr txBox="1"/>
            <p:nvPr/>
          </p:nvSpPr>
          <p:spPr>
            <a:xfrm>
              <a:off x="1832750" y="2149950"/>
              <a:ext cx="590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hold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93"/>
            <p:cNvSpPr txBox="1"/>
            <p:nvPr/>
          </p:nvSpPr>
          <p:spPr>
            <a:xfrm>
              <a:off x="2365700" y="2149950"/>
              <a:ext cx="480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93"/>
            <p:cNvSpPr txBox="1"/>
            <p:nvPr/>
          </p:nvSpPr>
          <p:spPr>
            <a:xfrm>
              <a:off x="3180825" y="2149950"/>
              <a:ext cx="1118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symbol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93"/>
            <p:cNvSpPr txBox="1"/>
            <p:nvPr/>
          </p:nvSpPr>
          <p:spPr>
            <a:xfrm>
              <a:off x="782475" y="2149950"/>
              <a:ext cx="61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click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4" name="Google Shape;1094;p93"/>
          <p:cNvSpPr txBox="1"/>
          <p:nvPr/>
        </p:nvSpPr>
        <p:spPr>
          <a:xfrm>
            <a:off x="782475" y="3512025"/>
            <a:ext cx="36942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select a colour for the points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4"/>
          <p:cNvPicPr preferRelativeResize="0"/>
          <p:nvPr/>
        </p:nvPicPr>
        <p:blipFill rotWithShape="1">
          <a:blip r:embed="rId3">
            <a:alphaModFix/>
          </a:blip>
          <a:srcRect b="17945" l="0" r="0" t="0"/>
          <a:stretch/>
        </p:blipFill>
        <p:spPr>
          <a:xfrm>
            <a:off x="4320000" y="1534725"/>
            <a:ext cx="3996000" cy="3260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0" name="Google Shape;110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999" y="4042934"/>
            <a:ext cx="3996001" cy="75179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1" name="Google Shape;110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102" name="Google Shape;1102;p94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the spreadsheet: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4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On the same graph, plot total sunshine duration and mean of the daily minimum temperature data for Lerwick.</a:t>
            </a:r>
            <a:endParaRPr sz="2000"/>
          </a:p>
        </p:txBody>
      </p:sp>
      <p:sp>
        <p:nvSpPr>
          <p:cNvPr id="1104" name="Google Shape;1104;p94"/>
          <p:cNvSpPr txBox="1"/>
          <p:nvPr/>
        </p:nvSpPr>
        <p:spPr>
          <a:xfrm>
            <a:off x="324000" y="32167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highlight and copy the data as previously shown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/>
        </p:nvSpPr>
        <p:spPr>
          <a:xfrm>
            <a:off x="324000" y="20737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make sure the Lerwick tab is selected at the bottom of the screen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4"/>
          <p:cNvSpPr txBox="1"/>
          <p:nvPr/>
        </p:nvSpPr>
        <p:spPr>
          <a:xfrm>
            <a:off x="254625" y="4706900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2" y="1639550"/>
            <a:ext cx="4248000" cy="28277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2" name="Google Shape;111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39550"/>
            <a:ext cx="4189114" cy="2680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3" name="Google Shape;111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 sz="2200"/>
          </a:p>
        </p:txBody>
      </p:sp>
      <p:sp>
        <p:nvSpPr>
          <p:cNvPr id="1114" name="Google Shape;1114;p95"/>
          <p:cNvSpPr txBox="1"/>
          <p:nvPr/>
        </p:nvSpPr>
        <p:spPr>
          <a:xfrm>
            <a:off x="324000" y="1673700"/>
            <a:ext cx="399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Desmos: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5"/>
          <p:cNvSpPr txBox="1"/>
          <p:nvPr/>
        </p:nvSpPr>
        <p:spPr>
          <a:xfrm>
            <a:off x="324000" y="2149950"/>
            <a:ext cx="39960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click the second open cell in the side panel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5"/>
          <p:cNvSpPr txBox="1"/>
          <p:nvPr/>
        </p:nvSpPr>
        <p:spPr>
          <a:xfrm>
            <a:off x="328350" y="3207225"/>
            <a:ext cx="3996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paste the data by holding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ctrl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key and pressing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5"/>
          <p:cNvSpPr txBox="1"/>
          <p:nvPr>
            <p:ph idx="1" type="body"/>
          </p:nvPr>
        </p:nvSpPr>
        <p:spPr>
          <a:xfrm>
            <a:off x="324000" y="768825"/>
            <a:ext cx="821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On the same graph, plot </a:t>
            </a:r>
            <a:r>
              <a:rPr lang="en-GB" sz="1800"/>
              <a:t>total sunshine duration and mean of the daily minimum temperature data for Lerwick.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2000"/>
          </a:p>
        </p:txBody>
      </p:sp>
      <p:sp>
        <p:nvSpPr>
          <p:cNvPr id="1118" name="Google Shape;1118;p95"/>
          <p:cNvSpPr/>
          <p:nvPr/>
        </p:nvSpPr>
        <p:spPr>
          <a:xfrm>
            <a:off x="4519025" y="3780000"/>
            <a:ext cx="1150200" cy="266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do you copy data, after the columns have been highlighted?</a:t>
            </a:r>
            <a:endParaRPr sz="2000"/>
          </a:p>
        </p:txBody>
      </p:sp>
      <p:sp>
        <p:nvSpPr>
          <p:cNvPr id="1124" name="Google Shape;1124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25" name="Google Shape;1125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</a:t>
            </a:r>
            <a:r>
              <a:rPr lang="en-GB"/>
              <a:t>ress ctrl and then press c</a:t>
            </a:r>
            <a:endParaRPr/>
          </a:p>
        </p:txBody>
      </p:sp>
      <p:sp>
        <p:nvSpPr>
          <p:cNvPr id="1126" name="Google Shape;1126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r>
              <a:rPr lang="en-GB"/>
              <a:t>old ctrl and press c</a:t>
            </a:r>
            <a:endParaRPr/>
          </a:p>
        </p:txBody>
      </p:sp>
      <p:sp>
        <p:nvSpPr>
          <p:cNvPr id="1127" name="Google Shape;1127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press ctrl and then press v</a:t>
            </a:r>
            <a:endParaRPr/>
          </a:p>
        </p:txBody>
      </p:sp>
      <p:sp>
        <p:nvSpPr>
          <p:cNvPr id="1128" name="Google Shape;1128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hold ctrl and press v</a:t>
            </a:r>
            <a:endParaRPr/>
          </a:p>
        </p:txBody>
      </p:sp>
      <p:pic>
        <p:nvPicPr>
          <p:cNvPr id="1129" name="Google Shape;11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05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do you paste data, after the columns have been highlighted?</a:t>
            </a:r>
            <a:endParaRPr sz="2000"/>
          </a:p>
        </p:txBody>
      </p:sp>
      <p:sp>
        <p:nvSpPr>
          <p:cNvPr id="1135" name="Google Shape;1135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36" name="Google Shape;1136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ctrl and then press c</a:t>
            </a:r>
            <a:endParaRPr/>
          </a:p>
        </p:txBody>
      </p:sp>
      <p:sp>
        <p:nvSpPr>
          <p:cNvPr id="1137" name="Google Shape;1137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hold ctrl and press c</a:t>
            </a:r>
            <a:endParaRPr/>
          </a:p>
        </p:txBody>
      </p:sp>
      <p:sp>
        <p:nvSpPr>
          <p:cNvPr id="1138" name="Google Shape;1138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ctrl and then press v</a:t>
            </a:r>
            <a:endParaRPr/>
          </a:p>
        </p:txBody>
      </p:sp>
      <p:sp>
        <p:nvSpPr>
          <p:cNvPr id="1139" name="Google Shape;1139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hold ctrl and press v</a:t>
            </a:r>
            <a:endParaRPr/>
          </a:p>
        </p:txBody>
      </p:sp>
      <p:pic>
        <p:nvPicPr>
          <p:cNvPr id="1140" name="Google Shape;114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8"/>
          <p:cNvSpPr txBox="1"/>
          <p:nvPr>
            <p:ph idx="1" type="subTitle"/>
          </p:nvPr>
        </p:nvSpPr>
        <p:spPr>
          <a:xfrm>
            <a:off x="324000" y="1080000"/>
            <a:ext cx="8496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After you paste bivariate data into Desmos, you need to then click ‘insert’ and ‘chart’ to plot a scatter graph.</a:t>
            </a:r>
            <a:endParaRPr sz="1800"/>
          </a:p>
        </p:txBody>
      </p:sp>
      <p:sp>
        <p:nvSpPr>
          <p:cNvPr id="1146" name="Google Shape;114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47" name="Google Shape;1147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Desmos plots a scatter graph automatically when you paste in the data.</a:t>
            </a:r>
            <a:endParaRPr sz="1800"/>
          </a:p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need to tell Desmos that you want to plot a chart with the data before choosing scatter graph.</a:t>
            </a:r>
            <a:endParaRPr sz="1800"/>
          </a:p>
        </p:txBody>
      </p:sp>
      <p:pic>
        <p:nvPicPr>
          <p:cNvPr id="1149" name="Google Shape;114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108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833" y="3286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9"/>
          <p:cNvSpPr txBox="1"/>
          <p:nvPr>
            <p:ph idx="1" type="body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</a:t>
            </a:r>
            <a:r>
              <a:rPr lang="en-GB" sz="1600"/>
              <a:t> Access the data for this task by clicking here: </a:t>
            </a:r>
            <a:r>
              <a:rPr lang="en-GB" sz="20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UK weather data</a:t>
            </a:r>
            <a:r>
              <a:rPr lang="en-GB" sz="1600"/>
              <a:t>🖇</a:t>
            </a:r>
            <a:endParaRPr/>
          </a:p>
        </p:txBody>
      </p:sp>
      <p:sp>
        <p:nvSpPr>
          <p:cNvPr id="1156" name="Google Shape;1156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57" name="Google Shape;1157;p99"/>
          <p:cNvSpPr txBox="1"/>
          <p:nvPr/>
        </p:nvSpPr>
        <p:spPr>
          <a:xfrm>
            <a:off x="452886" y="1122418"/>
            <a:ext cx="830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scatter graph for Bradford’s data, with the horizontal axis showing total rainfall and the vertical axis showing total sunshine duration.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600"/>
          </a:p>
        </p:txBody>
      </p:sp>
      <p:sp>
        <p:nvSpPr>
          <p:cNvPr id="1158" name="Google Shape;1158;p99"/>
          <p:cNvSpPr txBox="1"/>
          <p:nvPr/>
        </p:nvSpPr>
        <p:spPr>
          <a:xfrm>
            <a:off x="499075" y="4389800"/>
            <a:ext cx="586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0"/>
          <p:cNvSpPr txBox="1"/>
          <p:nvPr>
            <p:ph idx="1" type="body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2)</a:t>
            </a:r>
            <a:r>
              <a:rPr lang="en-GB" sz="1600"/>
              <a:t> Access the data for this task by clicking here: </a:t>
            </a:r>
            <a:r>
              <a:rPr lang="en-GB" sz="20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UK weather data</a:t>
            </a:r>
            <a:r>
              <a:rPr lang="en-GB" sz="1600"/>
              <a:t>🖇</a:t>
            </a:r>
            <a:endParaRPr/>
          </a:p>
        </p:txBody>
      </p:sp>
      <p:sp>
        <p:nvSpPr>
          <p:cNvPr id="1164" name="Google Shape;1164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65" name="Google Shape;1165;p100"/>
          <p:cNvSpPr txBox="1"/>
          <p:nvPr/>
        </p:nvSpPr>
        <p:spPr>
          <a:xfrm>
            <a:off x="452886" y="1274818"/>
            <a:ext cx="830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scatter graph for Armagh’s data, with the horizontal axis showing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total sunshine duration and the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vertical axis showing the mean of the daily 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maximum temperature. </a:t>
            </a:r>
            <a:endParaRPr sz="1600"/>
          </a:p>
        </p:txBody>
      </p:sp>
      <p:sp>
        <p:nvSpPr>
          <p:cNvPr id="1166" name="Google Shape;1166;p100"/>
          <p:cNvSpPr txBox="1"/>
          <p:nvPr/>
        </p:nvSpPr>
        <p:spPr>
          <a:xfrm>
            <a:off x="452886" y="2342843"/>
            <a:ext cx="8303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On the same graph plot the same data for Lerwick and make sure the points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are a different colour to Armagh’s data. </a:t>
            </a:r>
            <a:endParaRPr sz="1600"/>
          </a:p>
        </p:txBody>
      </p:sp>
      <p:sp>
        <p:nvSpPr>
          <p:cNvPr id="1167" name="Google Shape;1167;p100"/>
          <p:cNvSpPr txBox="1"/>
          <p:nvPr/>
        </p:nvSpPr>
        <p:spPr>
          <a:xfrm>
            <a:off x="452872" y="3240000"/>
            <a:ext cx="42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Which town tends to get the warmest?</a:t>
            </a:r>
            <a:endParaRPr sz="1600"/>
          </a:p>
        </p:txBody>
      </p:sp>
      <p:sp>
        <p:nvSpPr>
          <p:cNvPr id="1168" name="Google Shape;1168;p100"/>
          <p:cNvSpPr txBox="1"/>
          <p:nvPr/>
        </p:nvSpPr>
        <p:spPr>
          <a:xfrm>
            <a:off x="478700" y="4715725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01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Access the data for this task by clicking here: </a:t>
            </a:r>
            <a:r>
              <a:rPr lang="en-GB" sz="20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UK weather data</a:t>
            </a:r>
            <a:r>
              <a:rPr lang="en-GB" sz="1600"/>
              <a:t>🖇</a:t>
            </a:r>
            <a:endParaRPr/>
          </a:p>
        </p:txBody>
      </p:sp>
      <p:sp>
        <p:nvSpPr>
          <p:cNvPr id="1174" name="Google Shape;117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75" name="Google Shape;1175;p101"/>
          <p:cNvSpPr txBox="1"/>
          <p:nvPr/>
        </p:nvSpPr>
        <p:spPr>
          <a:xfrm>
            <a:off x="452886" y="1122418"/>
            <a:ext cx="830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a scatter graph for Bradford’s data, with the horizontal axis showing total rainfall and the vertical axis showing total sunshine duration.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600"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55ed8f57-a903-4eb8-8968-4e0298dc0ac7&quot; data-equatio-type=&quot;desmos&quot;&gt;&lt;mglyph src=&quot;https://equatio-api.texthelp.com/desmos/get/11-10-2023/55ed8f57-a903-4eb8-8968-4e0298dc0ac7&quot; alt=&quot;Equatio Desmos Graph&quot;/&gt;&lt;/math&gt;" id="1176" name="Google Shape;1176;p101" title="Equatio Desmos Graph"/>
          <p:cNvPicPr preferRelativeResize="0"/>
          <p:nvPr/>
        </p:nvPicPr>
        <p:blipFill rotWithShape="1">
          <a:blip r:embed="rId4">
            <a:alphaModFix/>
          </a:blip>
          <a:srcRect b="3278" l="1584" r="0" t="0"/>
          <a:stretch/>
        </p:blipFill>
        <p:spPr>
          <a:xfrm>
            <a:off x="2814425" y="2160000"/>
            <a:ext cx="3515150" cy="25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101"/>
          <p:cNvSpPr txBox="1"/>
          <p:nvPr/>
        </p:nvSpPr>
        <p:spPr>
          <a:xfrm>
            <a:off x="397225" y="482040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Access the data for this task by clicking here: </a:t>
            </a:r>
            <a:r>
              <a:rPr lang="en-GB" sz="20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UK weather data</a:t>
            </a:r>
            <a:r>
              <a:rPr lang="en-GB" sz="1600"/>
              <a:t>🖇</a:t>
            </a:r>
            <a:endParaRPr/>
          </a:p>
        </p:txBody>
      </p:sp>
      <p:sp>
        <p:nvSpPr>
          <p:cNvPr id="1183" name="Google Shape;118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84" name="Google Shape;1184;p102"/>
          <p:cNvSpPr txBox="1"/>
          <p:nvPr/>
        </p:nvSpPr>
        <p:spPr>
          <a:xfrm>
            <a:off x="452886" y="1274818"/>
            <a:ext cx="830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Construct a scatter graph for Armagh’s data, with the horizontal axis showing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total sunshine duration and the vertical axis showing the mean of the daily 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maximum temperature. </a:t>
            </a:r>
            <a:endParaRPr sz="1600"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a264dde7-8de1-40a2-a44e-e590e6f9cad0&quot; data-equatio-type=&quot;desmos&quot;&gt;&lt;mglyph src=&quot;https://equatio-api.texthelp.com/desmos/get/11-10-2023/a264dde7-8de1-40a2-a44e-e590e6f9cad0&quot; alt=&quot;Equatio Desmos Graph&quot;/&gt;&lt;/math&gt;" id="1185" name="Google Shape;1185;p102" title="Equatio Desmos Graph"/>
          <p:cNvPicPr preferRelativeResize="0"/>
          <p:nvPr/>
        </p:nvPicPr>
        <p:blipFill rotWithShape="1">
          <a:blip r:embed="rId4">
            <a:alphaModFix/>
          </a:blip>
          <a:srcRect b="2257" l="1912" r="0" t="0"/>
          <a:stretch/>
        </p:blipFill>
        <p:spPr>
          <a:xfrm>
            <a:off x="3704050" y="2053075"/>
            <a:ext cx="3702950" cy="27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102"/>
          <p:cNvSpPr txBox="1"/>
          <p:nvPr/>
        </p:nvSpPr>
        <p:spPr>
          <a:xfrm>
            <a:off x="468525" y="4756475"/>
            <a:ext cx="58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2945ccbb-d474-4bf9-ab6e-117151233f94&quot; data-equatio-type=&quot;desmos&quot;&gt;&lt;mglyph src=&quot;https://equatio-api.texthelp.com/desmos/get/11-10-2023/2945ccbb-d474-4bf9-ab6e-117151233f94&quot; alt=&quot;Equatio Desmos Graph&quot;/&gt;&lt;/math&gt;" id="1191" name="Google Shape;1191;p103" title="Equatio Desmos Graph"/>
          <p:cNvPicPr preferRelativeResize="0"/>
          <p:nvPr/>
        </p:nvPicPr>
        <p:blipFill rotWithShape="1">
          <a:blip r:embed="rId3">
            <a:alphaModFix/>
          </a:blip>
          <a:srcRect b="2591" l="2400" r="0" t="0"/>
          <a:stretch/>
        </p:blipFill>
        <p:spPr>
          <a:xfrm>
            <a:off x="2553850" y="1469919"/>
            <a:ext cx="3702950" cy="2772006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using Desmos</a:t>
            </a:r>
            <a:endParaRPr/>
          </a:p>
        </p:txBody>
      </p:sp>
      <p:sp>
        <p:nvSpPr>
          <p:cNvPr id="1193" name="Google Shape;1193;p103"/>
          <p:cNvSpPr txBox="1"/>
          <p:nvPr/>
        </p:nvSpPr>
        <p:spPr>
          <a:xfrm>
            <a:off x="452886" y="741418"/>
            <a:ext cx="8303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On the same graph plot the same data for Lerwick and make sure the points 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are a different colour to Armagh’s data. </a:t>
            </a:r>
            <a:endParaRPr sz="1600"/>
          </a:p>
        </p:txBody>
      </p:sp>
      <p:sp>
        <p:nvSpPr>
          <p:cNvPr id="1194" name="Google Shape;1194;p103"/>
          <p:cNvSpPr txBox="1"/>
          <p:nvPr/>
        </p:nvSpPr>
        <p:spPr>
          <a:xfrm>
            <a:off x="448872" y="4322825"/>
            <a:ext cx="42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Which town tends to get the warmest?</a:t>
            </a:r>
            <a:endParaRPr sz="1600"/>
          </a:p>
        </p:txBody>
      </p:sp>
      <p:sp>
        <p:nvSpPr>
          <p:cNvPr id="1195" name="Google Shape;1195;p103"/>
          <p:cNvSpPr txBox="1"/>
          <p:nvPr/>
        </p:nvSpPr>
        <p:spPr>
          <a:xfrm>
            <a:off x="4682172" y="4298354"/>
            <a:ext cx="10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Amargh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103"/>
          <p:cNvSpPr txBox="1"/>
          <p:nvPr/>
        </p:nvSpPr>
        <p:spPr>
          <a:xfrm>
            <a:off x="387025" y="4695350"/>
            <a:ext cx="58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Google Sheets is a trademark of Google LLC and this content is not endorsed by or affiliated with Google in any way.</a:t>
            </a:r>
            <a:endParaRPr sz="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0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Scatter graphs can be constructed quickly using spreadsheets.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Scatter graphs can be constructed quickly using Desmos.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Changing which axis is used for which variable affects how the scatter graph appears.</a:t>
            </a:r>
            <a:endParaRPr/>
          </a:p>
        </p:txBody>
      </p:sp>
      <p:sp>
        <p:nvSpPr>
          <p:cNvPr id="1202" name="Google Shape;1202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 by utilising technology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08" name="Google Shape;1208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