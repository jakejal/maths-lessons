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0CF90C-73A7-4071-BA08-0B8014CA7B59}">
  <a:tblStyle styleId="{A50CF90C-73A7-4071-BA08-0B8014CA7B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29863F9-3DAB-4C01-8AC1-EB170548E63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9eca294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9eca294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87fa167e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87fa167e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1e876925a9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1e876925a9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1e876925a97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1e876925a97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1e876925a97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1e876925a97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89eca294c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89eca294c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289eca294c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289eca294c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289eca294c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89eca294c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89eca294c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89eca294c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89eca294c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89eca294c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89eca294c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89eca294c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89eca294c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89eca294c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89eca294c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89eca294c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289eca294c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289eca294c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289eca294c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289eca294c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89eca294c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89eca294c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89eca294c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89eca294c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89eca294c5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89eca294c5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1e876925a97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1e876925a97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1e876925a97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1e876925a97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1e876925a97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1e876925a97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e876925a97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e876925a97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1e876925a97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1e876925a97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89eca294c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89eca294c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89eca294c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89eca294c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89eca294c5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89eca294c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89eca294c5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89eca294c5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89eca294c5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89eca294c5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89eca294c5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89eca294c5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89eca294c5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89eca294c5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289eca294c5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89eca294c5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289eca294c5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289eca294c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89eca294c5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89eca294c5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89eca294c5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289eca294c5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89eca294c5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89eca294c5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289eca294c5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289eca294c5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89eca294c5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89eca294c5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Relationship Id="rId4" Type="http://schemas.openxmlformats.org/officeDocument/2006/relationships/image" Target="../media/image74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4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4.png"/><Relationship Id="rId4" Type="http://schemas.openxmlformats.org/officeDocument/2006/relationships/image" Target="../media/image32.png"/><Relationship Id="rId11" Type="http://schemas.openxmlformats.org/officeDocument/2006/relationships/image" Target="../media/image23.png"/><Relationship Id="rId10" Type="http://schemas.openxmlformats.org/officeDocument/2006/relationships/image" Target="../media/image39.png"/><Relationship Id="rId9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37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4.png"/><Relationship Id="rId4" Type="http://schemas.openxmlformats.org/officeDocument/2006/relationships/image" Target="../media/image5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Relationship Id="rId4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2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bar charts by hand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227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construct bar charts from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b="1" lang="en-GB" sz="2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</a:rPr>
              <a:t>frequency is the number of times an event occurs; or the number of individuals (people, animals etc.) with some specific property. </a:t>
            </a:r>
            <a:endParaRPr sz="20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2238725"/>
            <a:ext cx="7055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highlight>
                  <a:srgbClr val="FFFFFF"/>
                </a:highlight>
              </a:rPr>
              <a:t>A bar chart (bar graph) is a graph consisting of bars visually representing the frequency of objects or groups. </a:t>
            </a:r>
            <a:endParaRPr sz="20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highlight>
                  <a:srgbClr val="FFFFFF"/>
                </a:highlight>
              </a:rPr>
              <a:t>Data are a collection of information. </a:t>
            </a:r>
            <a:endParaRPr sz="2000"/>
          </a:p>
        </p:txBody>
      </p:sp>
      <p:pic>
        <p:nvPicPr>
          <p:cNvPr id="769" name="Google Shape;76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275" y="2103700"/>
            <a:ext cx="992275" cy="9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bar charts</a:t>
            </a:r>
            <a:endParaRPr/>
          </a:p>
        </p:txBody>
      </p:sp>
      <p:sp>
        <p:nvSpPr>
          <p:cNvPr id="775" name="Google Shape;775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776" name="Google Shape;776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bar charts by hand</a:t>
            </a:r>
            <a:endParaRPr/>
          </a:p>
        </p:txBody>
      </p:sp>
      <p:pic>
        <p:nvPicPr>
          <p:cNvPr id="777" name="Google Shape;7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6" y="205973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type="title"/>
          </p:nvPr>
        </p:nvSpPr>
        <p:spPr>
          <a:xfrm>
            <a:off x="324000" y="53340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</a:t>
            </a:r>
            <a:endParaRPr/>
          </a:p>
        </p:txBody>
      </p:sp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6105050" y="2789225"/>
            <a:ext cx="2487300" cy="4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put the multiples of the key along the top, then it is easier to count.</a:t>
            </a:r>
            <a:endParaRPr sz="1800"/>
          </a:p>
        </p:txBody>
      </p:sp>
      <p:sp>
        <p:nvSpPr>
          <p:cNvPr id="784" name="Google Shape;784;p69"/>
          <p:cNvSpPr txBox="1"/>
          <p:nvPr/>
        </p:nvSpPr>
        <p:spPr>
          <a:xfrm>
            <a:off x="5864730" y="1678275"/>
            <a:ext cx="12423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merits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9"/>
          <p:cNvSpPr txBox="1"/>
          <p:nvPr/>
        </p:nvSpPr>
        <p:spPr>
          <a:xfrm>
            <a:off x="5343729" y="1362300"/>
            <a:ext cx="6234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Key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9"/>
          <p:cNvSpPr/>
          <p:nvPr/>
        </p:nvSpPr>
        <p:spPr>
          <a:xfrm>
            <a:off x="5497575" y="1714129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7" name="Google Shape;787;p69"/>
          <p:cNvGrpSpPr/>
          <p:nvPr/>
        </p:nvGrpSpPr>
        <p:grpSpPr>
          <a:xfrm>
            <a:off x="347113" y="1010225"/>
            <a:ext cx="4300312" cy="3057350"/>
            <a:chOff x="347113" y="476825"/>
            <a:chExt cx="4300312" cy="3057350"/>
          </a:xfrm>
        </p:grpSpPr>
        <p:cxnSp>
          <p:nvCxnSpPr>
            <p:cNvPr id="788" name="Google Shape;788;p69"/>
            <p:cNvCxnSpPr/>
            <p:nvPr/>
          </p:nvCxnSpPr>
          <p:spPr>
            <a:xfrm>
              <a:off x="1529530" y="900275"/>
              <a:ext cx="0" cy="2586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9" name="Google Shape;789;p69"/>
            <p:cNvCxnSpPr/>
            <p:nvPr/>
          </p:nvCxnSpPr>
          <p:spPr>
            <a:xfrm>
              <a:off x="442625" y="1380931"/>
              <a:ext cx="4204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69"/>
            <p:cNvCxnSpPr/>
            <p:nvPr/>
          </p:nvCxnSpPr>
          <p:spPr>
            <a:xfrm>
              <a:off x="442625" y="1924800"/>
              <a:ext cx="4204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1" name="Google Shape;791;p69"/>
            <p:cNvCxnSpPr/>
            <p:nvPr/>
          </p:nvCxnSpPr>
          <p:spPr>
            <a:xfrm>
              <a:off x="442625" y="2481425"/>
              <a:ext cx="4204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2" name="Google Shape;792;p69"/>
            <p:cNvCxnSpPr/>
            <p:nvPr/>
          </p:nvCxnSpPr>
          <p:spPr>
            <a:xfrm>
              <a:off x="442625" y="3022800"/>
              <a:ext cx="4204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93" name="Google Shape;793;p69"/>
            <p:cNvSpPr txBox="1"/>
            <p:nvPr/>
          </p:nvSpPr>
          <p:spPr>
            <a:xfrm>
              <a:off x="347225" y="886200"/>
              <a:ext cx="1034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Week 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4" name="Google Shape;794;p69"/>
            <p:cNvSpPr txBox="1"/>
            <p:nvPr/>
          </p:nvSpPr>
          <p:spPr>
            <a:xfrm>
              <a:off x="347113" y="1434231"/>
              <a:ext cx="1034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Week 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5" name="Google Shape;795;p69"/>
            <p:cNvSpPr txBox="1"/>
            <p:nvPr/>
          </p:nvSpPr>
          <p:spPr>
            <a:xfrm>
              <a:off x="347113" y="1967631"/>
              <a:ext cx="1034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Week 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6" name="Google Shape;796;p69"/>
            <p:cNvSpPr txBox="1"/>
            <p:nvPr/>
          </p:nvSpPr>
          <p:spPr>
            <a:xfrm>
              <a:off x="347113" y="2523925"/>
              <a:ext cx="1034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Week 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7" name="Google Shape;797;p69"/>
            <p:cNvSpPr txBox="1"/>
            <p:nvPr/>
          </p:nvSpPr>
          <p:spPr>
            <a:xfrm>
              <a:off x="347113" y="3072475"/>
              <a:ext cx="1034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Week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8" name="Google Shape;798;p69"/>
            <p:cNvSpPr/>
            <p:nvPr/>
          </p:nvSpPr>
          <p:spPr>
            <a:xfrm>
              <a:off x="1533725" y="98410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9" name="Google Shape;799;p69"/>
            <p:cNvSpPr/>
            <p:nvPr/>
          </p:nvSpPr>
          <p:spPr>
            <a:xfrm>
              <a:off x="1533725" y="3155861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0" name="Google Shape;800;p69"/>
            <p:cNvSpPr/>
            <p:nvPr/>
          </p:nvSpPr>
          <p:spPr>
            <a:xfrm>
              <a:off x="1792850" y="98410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1" name="Google Shape;801;p69"/>
            <p:cNvSpPr/>
            <p:nvPr/>
          </p:nvSpPr>
          <p:spPr>
            <a:xfrm>
              <a:off x="1792737" y="3155861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2" name="Google Shape;802;p69"/>
            <p:cNvSpPr/>
            <p:nvPr/>
          </p:nvSpPr>
          <p:spPr>
            <a:xfrm>
              <a:off x="2051862" y="98410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3" name="Google Shape;803;p69"/>
            <p:cNvSpPr/>
            <p:nvPr/>
          </p:nvSpPr>
          <p:spPr>
            <a:xfrm>
              <a:off x="2302791" y="98410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4" name="Google Shape;804;p69"/>
            <p:cNvSpPr/>
            <p:nvPr/>
          </p:nvSpPr>
          <p:spPr>
            <a:xfrm>
              <a:off x="2554059" y="98410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5" name="Google Shape;805;p69"/>
            <p:cNvSpPr/>
            <p:nvPr/>
          </p:nvSpPr>
          <p:spPr>
            <a:xfrm>
              <a:off x="2812958" y="98410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6" name="Google Shape;806;p69"/>
            <p:cNvSpPr/>
            <p:nvPr/>
          </p:nvSpPr>
          <p:spPr>
            <a:xfrm>
              <a:off x="2051636" y="3156086"/>
              <a:ext cx="1221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7" name="Google Shape;807;p69"/>
            <p:cNvSpPr/>
            <p:nvPr/>
          </p:nvSpPr>
          <p:spPr>
            <a:xfrm>
              <a:off x="1533725" y="151750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8" name="Google Shape;808;p69"/>
            <p:cNvSpPr/>
            <p:nvPr/>
          </p:nvSpPr>
          <p:spPr>
            <a:xfrm>
              <a:off x="1792850" y="151750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9" name="Google Shape;809;p69"/>
            <p:cNvSpPr/>
            <p:nvPr/>
          </p:nvSpPr>
          <p:spPr>
            <a:xfrm>
              <a:off x="2051862" y="151750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0" name="Google Shape;810;p69"/>
            <p:cNvSpPr/>
            <p:nvPr/>
          </p:nvSpPr>
          <p:spPr>
            <a:xfrm>
              <a:off x="1533725" y="2066167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1" name="Google Shape;811;p69"/>
            <p:cNvSpPr/>
            <p:nvPr/>
          </p:nvSpPr>
          <p:spPr>
            <a:xfrm>
              <a:off x="1792850" y="2066167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2" name="Google Shape;812;p69"/>
            <p:cNvSpPr/>
            <p:nvPr/>
          </p:nvSpPr>
          <p:spPr>
            <a:xfrm>
              <a:off x="2051862" y="2066167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3" name="Google Shape;813;p69"/>
            <p:cNvSpPr/>
            <p:nvPr/>
          </p:nvSpPr>
          <p:spPr>
            <a:xfrm>
              <a:off x="2302791" y="2066167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4" name="Google Shape;814;p69"/>
            <p:cNvSpPr/>
            <p:nvPr/>
          </p:nvSpPr>
          <p:spPr>
            <a:xfrm>
              <a:off x="2302791" y="151750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5" name="Google Shape;815;p69"/>
            <p:cNvSpPr/>
            <p:nvPr/>
          </p:nvSpPr>
          <p:spPr>
            <a:xfrm>
              <a:off x="1533725" y="2629979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6" name="Google Shape;816;p69"/>
            <p:cNvSpPr/>
            <p:nvPr/>
          </p:nvSpPr>
          <p:spPr>
            <a:xfrm>
              <a:off x="1792850" y="2629979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7" name="Google Shape;817;p69"/>
            <p:cNvSpPr/>
            <p:nvPr/>
          </p:nvSpPr>
          <p:spPr>
            <a:xfrm>
              <a:off x="2051862" y="2629979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8" name="Google Shape;818;p69"/>
            <p:cNvSpPr/>
            <p:nvPr/>
          </p:nvSpPr>
          <p:spPr>
            <a:xfrm>
              <a:off x="2552655" y="1516667"/>
              <a:ext cx="1911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9" name="Google Shape;819;p69"/>
            <p:cNvSpPr/>
            <p:nvPr/>
          </p:nvSpPr>
          <p:spPr>
            <a:xfrm>
              <a:off x="2305076" y="2628699"/>
              <a:ext cx="546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20" name="Google Shape;820;p69"/>
            <p:cNvCxnSpPr/>
            <p:nvPr/>
          </p:nvCxnSpPr>
          <p:spPr>
            <a:xfrm>
              <a:off x="442625" y="877830"/>
              <a:ext cx="4204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69"/>
            <p:cNvCxnSpPr/>
            <p:nvPr/>
          </p:nvCxnSpPr>
          <p:spPr>
            <a:xfrm>
              <a:off x="1783775" y="813950"/>
              <a:ext cx="0" cy="6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2" name="Google Shape;822;p69"/>
            <p:cNvCxnSpPr/>
            <p:nvPr/>
          </p:nvCxnSpPr>
          <p:spPr>
            <a:xfrm>
              <a:off x="2047011" y="813950"/>
              <a:ext cx="0" cy="6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3" name="Google Shape;823;p69"/>
            <p:cNvCxnSpPr/>
            <p:nvPr/>
          </p:nvCxnSpPr>
          <p:spPr>
            <a:xfrm>
              <a:off x="2298702" y="816259"/>
              <a:ext cx="0" cy="6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p69"/>
            <p:cNvCxnSpPr/>
            <p:nvPr/>
          </p:nvCxnSpPr>
          <p:spPr>
            <a:xfrm>
              <a:off x="2551548" y="816259"/>
              <a:ext cx="0" cy="6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5" name="Google Shape;825;p69"/>
            <p:cNvCxnSpPr/>
            <p:nvPr/>
          </p:nvCxnSpPr>
          <p:spPr>
            <a:xfrm>
              <a:off x="2809011" y="816259"/>
              <a:ext cx="0" cy="6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p69"/>
            <p:cNvCxnSpPr/>
            <p:nvPr/>
          </p:nvCxnSpPr>
          <p:spPr>
            <a:xfrm>
              <a:off x="3067630" y="822032"/>
              <a:ext cx="0" cy="6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7" name="Google Shape;827;p69"/>
            <p:cNvSpPr txBox="1"/>
            <p:nvPr/>
          </p:nvSpPr>
          <p:spPr>
            <a:xfrm>
              <a:off x="1626752" y="476825"/>
              <a:ext cx="3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8" name="Google Shape;828;p69"/>
            <p:cNvSpPr txBox="1"/>
            <p:nvPr/>
          </p:nvSpPr>
          <p:spPr>
            <a:xfrm>
              <a:off x="1896916" y="477980"/>
              <a:ext cx="3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9" name="Google Shape;829;p69"/>
            <p:cNvSpPr txBox="1"/>
            <p:nvPr/>
          </p:nvSpPr>
          <p:spPr>
            <a:xfrm>
              <a:off x="2072398" y="483750"/>
              <a:ext cx="459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0" name="Google Shape;830;p69"/>
            <p:cNvSpPr txBox="1"/>
            <p:nvPr/>
          </p:nvSpPr>
          <p:spPr>
            <a:xfrm>
              <a:off x="2341407" y="483750"/>
              <a:ext cx="459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1" name="Google Shape;831;p69"/>
            <p:cNvSpPr txBox="1"/>
            <p:nvPr/>
          </p:nvSpPr>
          <p:spPr>
            <a:xfrm>
              <a:off x="2593098" y="484905"/>
              <a:ext cx="459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2" name="Google Shape;832;p69"/>
            <p:cNvSpPr txBox="1"/>
            <p:nvPr/>
          </p:nvSpPr>
          <p:spPr>
            <a:xfrm>
              <a:off x="2855243" y="484905"/>
              <a:ext cx="459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3" name="Google Shape;833;p69"/>
          <p:cNvSpPr txBox="1"/>
          <p:nvPr>
            <p:ph idx="1" type="body"/>
          </p:nvPr>
        </p:nvSpPr>
        <p:spPr>
          <a:xfrm>
            <a:off x="347125" y="697500"/>
            <a:ext cx="8538600" cy="4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a </a:t>
            </a:r>
            <a:r>
              <a:rPr lang="en-GB"/>
              <a:t>pictogram </a:t>
            </a:r>
            <a:r>
              <a:rPr lang="en-GB"/>
              <a:t>showing</a:t>
            </a:r>
            <a:r>
              <a:rPr lang="en-GB"/>
              <a:t> merits collected by our class.</a:t>
            </a:r>
            <a:endParaRPr/>
          </a:p>
        </p:txBody>
      </p:sp>
      <p:pic>
        <p:nvPicPr>
          <p:cNvPr id="834" name="Google Shape;83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087709" y="367756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bar charts</a:t>
            </a:r>
            <a:endParaRPr/>
          </a:p>
        </p:txBody>
      </p:sp>
      <p:pic>
        <p:nvPicPr>
          <p:cNvPr id="836" name="Google Shape;836;p6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5898873" y="2687400"/>
            <a:ext cx="2775977" cy="1632601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69"/>
          <p:cNvSpPr txBox="1"/>
          <p:nvPr/>
        </p:nvSpPr>
        <p:spPr>
          <a:xfrm>
            <a:off x="4220375" y="42344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0"/>
          <p:cNvSpPr/>
          <p:nvPr/>
        </p:nvSpPr>
        <p:spPr>
          <a:xfrm rot="-5400000">
            <a:off x="3121748" y="2219306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3" name="Google Shape;843;p7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868825" y="930325"/>
            <a:ext cx="2775977" cy="16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bar charts</a:t>
            </a:r>
            <a:endParaRPr/>
          </a:p>
        </p:txBody>
      </p:sp>
      <p:sp>
        <p:nvSpPr>
          <p:cNvPr id="845" name="Google Shape;845;p70"/>
          <p:cNvSpPr txBox="1"/>
          <p:nvPr>
            <p:ph idx="1" type="body"/>
          </p:nvPr>
        </p:nvSpPr>
        <p:spPr>
          <a:xfrm>
            <a:off x="5156450" y="1242275"/>
            <a:ext cx="1978800" cy="4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Alex’s pictogram, it looks like a bar chart!</a:t>
            </a:r>
            <a:endParaRPr sz="1800"/>
          </a:p>
        </p:txBody>
      </p:sp>
      <p:cxnSp>
        <p:nvCxnSpPr>
          <p:cNvPr id="846" name="Google Shape;846;p70"/>
          <p:cNvCxnSpPr/>
          <p:nvPr/>
        </p:nvCxnSpPr>
        <p:spPr>
          <a:xfrm rot="-5400000">
            <a:off x="270102" y="2533748"/>
            <a:ext cx="3205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70"/>
          <p:cNvCxnSpPr/>
          <p:nvPr/>
        </p:nvCxnSpPr>
        <p:spPr>
          <a:xfrm rot="-5400000">
            <a:off x="813972" y="2533748"/>
            <a:ext cx="3205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70"/>
          <p:cNvCxnSpPr/>
          <p:nvPr/>
        </p:nvCxnSpPr>
        <p:spPr>
          <a:xfrm rot="-5400000">
            <a:off x="1370599" y="2533748"/>
            <a:ext cx="3205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70"/>
          <p:cNvCxnSpPr/>
          <p:nvPr/>
        </p:nvCxnSpPr>
        <p:spPr>
          <a:xfrm rot="-5400000">
            <a:off x="1911975" y="2533748"/>
            <a:ext cx="3205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0" name="Google Shape;850;p70"/>
          <p:cNvSpPr txBox="1"/>
          <p:nvPr/>
        </p:nvSpPr>
        <p:spPr>
          <a:xfrm rot="-5400000">
            <a:off x="1091769" y="3483844"/>
            <a:ext cx="10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Week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0"/>
          <p:cNvSpPr txBox="1"/>
          <p:nvPr/>
        </p:nvSpPr>
        <p:spPr>
          <a:xfrm rot="-5400000">
            <a:off x="1639800" y="3483956"/>
            <a:ext cx="10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Week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0"/>
          <p:cNvSpPr txBox="1"/>
          <p:nvPr/>
        </p:nvSpPr>
        <p:spPr>
          <a:xfrm rot="-5400000">
            <a:off x="2173200" y="3483956"/>
            <a:ext cx="10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Week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0"/>
          <p:cNvSpPr txBox="1"/>
          <p:nvPr/>
        </p:nvSpPr>
        <p:spPr>
          <a:xfrm rot="-5400000">
            <a:off x="2729494" y="3483956"/>
            <a:ext cx="10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Week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0"/>
          <p:cNvSpPr txBox="1"/>
          <p:nvPr/>
        </p:nvSpPr>
        <p:spPr>
          <a:xfrm rot="-5400000">
            <a:off x="3278044" y="3483956"/>
            <a:ext cx="10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Week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0"/>
          <p:cNvSpPr/>
          <p:nvPr/>
        </p:nvSpPr>
        <p:spPr>
          <a:xfrm rot="-5400000">
            <a:off x="1475873" y="2791744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0"/>
          <p:cNvSpPr/>
          <p:nvPr/>
        </p:nvSpPr>
        <p:spPr>
          <a:xfrm rot="-5400000">
            <a:off x="3647630" y="2791744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0"/>
          <p:cNvSpPr/>
          <p:nvPr/>
        </p:nvSpPr>
        <p:spPr>
          <a:xfrm rot="-5400000">
            <a:off x="1475873" y="2532618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0"/>
          <p:cNvSpPr/>
          <p:nvPr/>
        </p:nvSpPr>
        <p:spPr>
          <a:xfrm rot="-5400000">
            <a:off x="3647630" y="2532731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0"/>
          <p:cNvSpPr/>
          <p:nvPr/>
        </p:nvSpPr>
        <p:spPr>
          <a:xfrm rot="-5400000">
            <a:off x="1475873" y="2273606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0"/>
          <p:cNvSpPr/>
          <p:nvPr/>
        </p:nvSpPr>
        <p:spPr>
          <a:xfrm rot="-5400000">
            <a:off x="1475873" y="2022678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0"/>
          <p:cNvSpPr/>
          <p:nvPr/>
        </p:nvSpPr>
        <p:spPr>
          <a:xfrm rot="-5400000">
            <a:off x="1475873" y="1771410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0"/>
          <p:cNvSpPr/>
          <p:nvPr/>
        </p:nvSpPr>
        <p:spPr>
          <a:xfrm rot="-5400000">
            <a:off x="1475873" y="1512511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0"/>
          <p:cNvSpPr/>
          <p:nvPr/>
        </p:nvSpPr>
        <p:spPr>
          <a:xfrm rot="-5400000">
            <a:off x="3713555" y="2339532"/>
            <a:ext cx="1221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0"/>
          <p:cNvSpPr/>
          <p:nvPr/>
        </p:nvSpPr>
        <p:spPr>
          <a:xfrm rot="-5400000">
            <a:off x="2009273" y="2791744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0"/>
          <p:cNvSpPr/>
          <p:nvPr/>
        </p:nvSpPr>
        <p:spPr>
          <a:xfrm rot="-5400000">
            <a:off x="2009273" y="2532618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0"/>
          <p:cNvSpPr/>
          <p:nvPr/>
        </p:nvSpPr>
        <p:spPr>
          <a:xfrm rot="-5400000">
            <a:off x="2009273" y="2273606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0"/>
          <p:cNvSpPr/>
          <p:nvPr/>
        </p:nvSpPr>
        <p:spPr>
          <a:xfrm rot="-5400000">
            <a:off x="2557936" y="2791744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0"/>
          <p:cNvSpPr/>
          <p:nvPr/>
        </p:nvSpPr>
        <p:spPr>
          <a:xfrm rot="-5400000">
            <a:off x="2557936" y="2532618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0"/>
          <p:cNvSpPr/>
          <p:nvPr/>
        </p:nvSpPr>
        <p:spPr>
          <a:xfrm rot="-5400000">
            <a:off x="2557936" y="2273606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0"/>
          <p:cNvSpPr/>
          <p:nvPr/>
        </p:nvSpPr>
        <p:spPr>
          <a:xfrm rot="-5400000">
            <a:off x="2557936" y="2022678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0"/>
          <p:cNvSpPr/>
          <p:nvPr/>
        </p:nvSpPr>
        <p:spPr>
          <a:xfrm rot="-5400000">
            <a:off x="2009273" y="2022678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0"/>
          <p:cNvSpPr/>
          <p:nvPr/>
        </p:nvSpPr>
        <p:spPr>
          <a:xfrm rot="-5400000">
            <a:off x="3121748" y="2791744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0"/>
          <p:cNvSpPr/>
          <p:nvPr/>
        </p:nvSpPr>
        <p:spPr>
          <a:xfrm rot="-5400000">
            <a:off x="3121748" y="2532618"/>
            <a:ext cx="2535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0"/>
          <p:cNvSpPr/>
          <p:nvPr/>
        </p:nvSpPr>
        <p:spPr>
          <a:xfrm rot="-5400000">
            <a:off x="3121748" y="2273606"/>
            <a:ext cx="253500" cy="253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0"/>
          <p:cNvSpPr/>
          <p:nvPr/>
        </p:nvSpPr>
        <p:spPr>
          <a:xfrm rot="-5400000">
            <a:off x="2039636" y="1804014"/>
            <a:ext cx="191100" cy="253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6" name="Google Shape;876;p70"/>
          <p:cNvCxnSpPr/>
          <p:nvPr/>
        </p:nvCxnSpPr>
        <p:spPr>
          <a:xfrm rot="-5400000">
            <a:off x="-233000" y="2533748"/>
            <a:ext cx="3205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7" name="Google Shape;877;p70"/>
          <p:cNvCxnSpPr/>
          <p:nvPr/>
        </p:nvCxnSpPr>
        <p:spPr>
          <a:xfrm rot="10800000">
            <a:off x="1337519" y="2763394"/>
            <a:ext cx="0" cy="6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8" name="Google Shape;878;p70"/>
          <p:cNvCxnSpPr/>
          <p:nvPr/>
        </p:nvCxnSpPr>
        <p:spPr>
          <a:xfrm rot="10800000">
            <a:off x="1337519" y="2500157"/>
            <a:ext cx="0" cy="6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70"/>
          <p:cNvCxnSpPr/>
          <p:nvPr/>
        </p:nvCxnSpPr>
        <p:spPr>
          <a:xfrm rot="10800000">
            <a:off x="1339828" y="2248466"/>
            <a:ext cx="0" cy="6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70"/>
          <p:cNvCxnSpPr/>
          <p:nvPr/>
        </p:nvCxnSpPr>
        <p:spPr>
          <a:xfrm rot="10800000">
            <a:off x="1339828" y="1995621"/>
            <a:ext cx="0" cy="6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70"/>
          <p:cNvCxnSpPr/>
          <p:nvPr/>
        </p:nvCxnSpPr>
        <p:spPr>
          <a:xfrm rot="10800000">
            <a:off x="1339828" y="1738157"/>
            <a:ext cx="0" cy="6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70"/>
          <p:cNvCxnSpPr/>
          <p:nvPr/>
        </p:nvCxnSpPr>
        <p:spPr>
          <a:xfrm rot="10800000">
            <a:off x="1345601" y="1479539"/>
            <a:ext cx="0" cy="6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70"/>
          <p:cNvSpPr txBox="1"/>
          <p:nvPr/>
        </p:nvSpPr>
        <p:spPr>
          <a:xfrm>
            <a:off x="1071238" y="2583237"/>
            <a:ext cx="33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0"/>
          <p:cNvSpPr txBox="1"/>
          <p:nvPr/>
        </p:nvSpPr>
        <p:spPr>
          <a:xfrm>
            <a:off x="1074064" y="2310086"/>
            <a:ext cx="33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0"/>
          <p:cNvSpPr txBox="1"/>
          <p:nvPr/>
        </p:nvSpPr>
        <p:spPr>
          <a:xfrm>
            <a:off x="957446" y="2063056"/>
            <a:ext cx="45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0"/>
          <p:cNvSpPr txBox="1"/>
          <p:nvPr/>
        </p:nvSpPr>
        <p:spPr>
          <a:xfrm>
            <a:off x="956981" y="1814306"/>
            <a:ext cx="45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16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0"/>
          <p:cNvSpPr txBox="1"/>
          <p:nvPr/>
        </p:nvSpPr>
        <p:spPr>
          <a:xfrm>
            <a:off x="948159" y="1553848"/>
            <a:ext cx="45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0"/>
          <p:cNvSpPr txBox="1"/>
          <p:nvPr/>
        </p:nvSpPr>
        <p:spPr>
          <a:xfrm>
            <a:off x="948161" y="1276623"/>
            <a:ext cx="45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24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9" name="Google Shape;88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9200" y="181431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70"/>
          <p:cNvSpPr txBox="1"/>
          <p:nvPr/>
        </p:nvSpPr>
        <p:spPr>
          <a:xfrm>
            <a:off x="7644800" y="27564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1" name="Google Shape;891;p70"/>
          <p:cNvCxnSpPr/>
          <p:nvPr/>
        </p:nvCxnSpPr>
        <p:spPr>
          <a:xfrm>
            <a:off x="1352025" y="3049175"/>
            <a:ext cx="2596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bar charts</a:t>
            </a:r>
            <a:endParaRPr/>
          </a:p>
        </p:txBody>
      </p:sp>
      <p:sp>
        <p:nvSpPr>
          <p:cNvPr id="897" name="Google Shape;897;p71"/>
          <p:cNvSpPr txBox="1"/>
          <p:nvPr>
            <p:ph idx="1" type="body"/>
          </p:nvPr>
        </p:nvSpPr>
        <p:spPr>
          <a:xfrm rot="-5400000">
            <a:off x="3455575" y="946800"/>
            <a:ext cx="1469400" cy="4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Frequency</a:t>
            </a:r>
            <a:endParaRPr sz="1800"/>
          </a:p>
        </p:txBody>
      </p:sp>
      <p:pic>
        <p:nvPicPr>
          <p:cNvPr id="898" name="Google Shape;898;p71" title="Chart"/>
          <p:cNvPicPr preferRelativeResize="0"/>
          <p:nvPr/>
        </p:nvPicPr>
        <p:blipFill rotWithShape="1">
          <a:blip r:embed="rId3">
            <a:alphaModFix/>
          </a:blip>
          <a:srcRect b="14704" l="11229" r="0" t="0"/>
          <a:stretch/>
        </p:blipFill>
        <p:spPr>
          <a:xfrm>
            <a:off x="4264994" y="669250"/>
            <a:ext cx="4016475" cy="23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71"/>
          <p:cNvSpPr txBox="1"/>
          <p:nvPr/>
        </p:nvSpPr>
        <p:spPr>
          <a:xfrm>
            <a:off x="338425" y="3423825"/>
            <a:ext cx="8271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vertical axis shows the frequency. (On a horizontal bar chart frequency will be on the horizontal axis instead.)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bars are the same width.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equal gaps between the bars.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0" name="Google Shape;900;p71"/>
          <p:cNvSpPr txBox="1"/>
          <p:nvPr/>
        </p:nvSpPr>
        <p:spPr>
          <a:xfrm>
            <a:off x="262350" y="3085025"/>
            <a:ext cx="827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are the features of a bar chart?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1" name="Google Shape;901;p71"/>
          <p:cNvCxnSpPr/>
          <p:nvPr/>
        </p:nvCxnSpPr>
        <p:spPr>
          <a:xfrm>
            <a:off x="657075" y="2504900"/>
            <a:ext cx="2628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02" name="Google Shape;902;p71"/>
          <p:cNvGrpSpPr/>
          <p:nvPr/>
        </p:nvGrpSpPr>
        <p:grpSpPr>
          <a:xfrm>
            <a:off x="262359" y="678425"/>
            <a:ext cx="3042376" cy="2522251"/>
            <a:chOff x="262359" y="678425"/>
            <a:chExt cx="3042376" cy="2522251"/>
          </a:xfrm>
        </p:grpSpPr>
        <p:sp>
          <p:nvSpPr>
            <p:cNvPr id="903" name="Google Shape;903;p71"/>
            <p:cNvSpPr txBox="1"/>
            <p:nvPr/>
          </p:nvSpPr>
          <p:spPr>
            <a:xfrm rot="-5400000">
              <a:off x="388265" y="2498863"/>
              <a:ext cx="103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Week 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4" name="Google Shape;904;p71"/>
            <p:cNvSpPr txBox="1"/>
            <p:nvPr/>
          </p:nvSpPr>
          <p:spPr>
            <a:xfrm rot="-5400000">
              <a:off x="936296" y="2498976"/>
              <a:ext cx="103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Week 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5" name="Google Shape;905;p71"/>
            <p:cNvSpPr txBox="1"/>
            <p:nvPr/>
          </p:nvSpPr>
          <p:spPr>
            <a:xfrm rot="-5400000">
              <a:off x="1498192" y="2498976"/>
              <a:ext cx="103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Week 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6" name="Google Shape;906;p71"/>
            <p:cNvSpPr txBox="1"/>
            <p:nvPr/>
          </p:nvSpPr>
          <p:spPr>
            <a:xfrm rot="-5400000">
              <a:off x="2061610" y="2498976"/>
              <a:ext cx="103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Week 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7" name="Google Shape;907;p71"/>
            <p:cNvSpPr txBox="1"/>
            <p:nvPr/>
          </p:nvSpPr>
          <p:spPr>
            <a:xfrm rot="-5400000">
              <a:off x="2603035" y="2498976"/>
              <a:ext cx="103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Week 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8" name="Google Shape;908;p71"/>
            <p:cNvSpPr/>
            <p:nvPr/>
          </p:nvSpPr>
          <p:spPr>
            <a:xfrm rot="-5400000">
              <a:off x="790073" y="225834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9" name="Google Shape;909;p71"/>
            <p:cNvSpPr/>
            <p:nvPr/>
          </p:nvSpPr>
          <p:spPr>
            <a:xfrm rot="-5400000">
              <a:off x="2961830" y="225834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0" name="Google Shape;910;p71"/>
            <p:cNvSpPr/>
            <p:nvPr/>
          </p:nvSpPr>
          <p:spPr>
            <a:xfrm rot="-5400000">
              <a:off x="790073" y="1999218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1" name="Google Shape;911;p71"/>
            <p:cNvSpPr/>
            <p:nvPr/>
          </p:nvSpPr>
          <p:spPr>
            <a:xfrm rot="-5400000">
              <a:off x="2961830" y="1999331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2" name="Google Shape;912;p71"/>
            <p:cNvSpPr/>
            <p:nvPr/>
          </p:nvSpPr>
          <p:spPr>
            <a:xfrm rot="-5400000">
              <a:off x="790073" y="1740206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3" name="Google Shape;913;p71"/>
            <p:cNvSpPr/>
            <p:nvPr/>
          </p:nvSpPr>
          <p:spPr>
            <a:xfrm rot="-5400000">
              <a:off x="790073" y="1489278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4" name="Google Shape;914;p71"/>
            <p:cNvSpPr/>
            <p:nvPr/>
          </p:nvSpPr>
          <p:spPr>
            <a:xfrm rot="-5400000">
              <a:off x="790073" y="1238010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5" name="Google Shape;915;p71"/>
            <p:cNvSpPr/>
            <p:nvPr/>
          </p:nvSpPr>
          <p:spPr>
            <a:xfrm rot="-5400000">
              <a:off x="790073" y="979111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6" name="Google Shape;916;p71"/>
            <p:cNvSpPr/>
            <p:nvPr/>
          </p:nvSpPr>
          <p:spPr>
            <a:xfrm rot="-5400000">
              <a:off x="3027755" y="1806132"/>
              <a:ext cx="1221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7" name="Google Shape;917;p71"/>
            <p:cNvSpPr/>
            <p:nvPr/>
          </p:nvSpPr>
          <p:spPr>
            <a:xfrm rot="-5400000">
              <a:off x="1323473" y="225834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8" name="Google Shape;918;p71"/>
            <p:cNvSpPr/>
            <p:nvPr/>
          </p:nvSpPr>
          <p:spPr>
            <a:xfrm rot="-5400000">
              <a:off x="1323473" y="1999218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9" name="Google Shape;919;p71"/>
            <p:cNvSpPr/>
            <p:nvPr/>
          </p:nvSpPr>
          <p:spPr>
            <a:xfrm rot="-5400000">
              <a:off x="1323473" y="1740206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0" name="Google Shape;920;p71"/>
            <p:cNvSpPr/>
            <p:nvPr/>
          </p:nvSpPr>
          <p:spPr>
            <a:xfrm rot="-5400000">
              <a:off x="1872136" y="225834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1" name="Google Shape;921;p71"/>
            <p:cNvSpPr/>
            <p:nvPr/>
          </p:nvSpPr>
          <p:spPr>
            <a:xfrm rot="-5400000">
              <a:off x="1872136" y="1999218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2" name="Google Shape;922;p71"/>
            <p:cNvSpPr/>
            <p:nvPr/>
          </p:nvSpPr>
          <p:spPr>
            <a:xfrm rot="-5400000">
              <a:off x="1872136" y="1740206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3" name="Google Shape;923;p71"/>
            <p:cNvSpPr/>
            <p:nvPr/>
          </p:nvSpPr>
          <p:spPr>
            <a:xfrm rot="-5400000">
              <a:off x="1872136" y="1489278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4" name="Google Shape;924;p71"/>
            <p:cNvSpPr/>
            <p:nvPr/>
          </p:nvSpPr>
          <p:spPr>
            <a:xfrm rot="-5400000">
              <a:off x="1323473" y="1489278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5" name="Google Shape;925;p71"/>
            <p:cNvSpPr/>
            <p:nvPr/>
          </p:nvSpPr>
          <p:spPr>
            <a:xfrm rot="-5400000">
              <a:off x="2435948" y="2258344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6" name="Google Shape;926;p71"/>
            <p:cNvSpPr/>
            <p:nvPr/>
          </p:nvSpPr>
          <p:spPr>
            <a:xfrm rot="-5400000">
              <a:off x="2435948" y="1999218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7" name="Google Shape;927;p71"/>
            <p:cNvSpPr/>
            <p:nvPr/>
          </p:nvSpPr>
          <p:spPr>
            <a:xfrm rot="-5400000">
              <a:off x="2435948" y="1740206"/>
              <a:ext cx="2535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8" name="Google Shape;928;p71"/>
            <p:cNvSpPr/>
            <p:nvPr/>
          </p:nvSpPr>
          <p:spPr>
            <a:xfrm rot="-5400000">
              <a:off x="1353836" y="1270614"/>
              <a:ext cx="1911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9" name="Google Shape;929;p71"/>
            <p:cNvSpPr/>
            <p:nvPr/>
          </p:nvSpPr>
          <p:spPr>
            <a:xfrm rot="-5400000">
              <a:off x="2534118" y="1586443"/>
              <a:ext cx="54600" cy="2535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30" name="Google Shape;930;p71"/>
            <p:cNvCxnSpPr/>
            <p:nvPr/>
          </p:nvCxnSpPr>
          <p:spPr>
            <a:xfrm rot="10800000">
              <a:off x="683800" y="678425"/>
              <a:ext cx="0" cy="1886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1" name="Google Shape;931;p71"/>
            <p:cNvCxnSpPr/>
            <p:nvPr/>
          </p:nvCxnSpPr>
          <p:spPr>
            <a:xfrm rot="10800000">
              <a:off x="651719" y="2229994"/>
              <a:ext cx="0" cy="6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2" name="Google Shape;932;p71"/>
            <p:cNvCxnSpPr/>
            <p:nvPr/>
          </p:nvCxnSpPr>
          <p:spPr>
            <a:xfrm rot="10800000">
              <a:off x="651719" y="1966757"/>
              <a:ext cx="0" cy="6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3" name="Google Shape;933;p71"/>
            <p:cNvCxnSpPr/>
            <p:nvPr/>
          </p:nvCxnSpPr>
          <p:spPr>
            <a:xfrm rot="10800000">
              <a:off x="654028" y="1715066"/>
              <a:ext cx="0" cy="6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4" name="Google Shape;934;p71"/>
            <p:cNvCxnSpPr/>
            <p:nvPr/>
          </p:nvCxnSpPr>
          <p:spPr>
            <a:xfrm rot="10800000">
              <a:off x="654028" y="1462221"/>
              <a:ext cx="0" cy="6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5" name="Google Shape;935;p71"/>
            <p:cNvCxnSpPr/>
            <p:nvPr/>
          </p:nvCxnSpPr>
          <p:spPr>
            <a:xfrm rot="10800000">
              <a:off x="654028" y="1204757"/>
              <a:ext cx="0" cy="6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6" name="Google Shape;936;p71"/>
            <p:cNvCxnSpPr/>
            <p:nvPr/>
          </p:nvCxnSpPr>
          <p:spPr>
            <a:xfrm rot="10800000">
              <a:off x="659801" y="946139"/>
              <a:ext cx="0" cy="63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37" name="Google Shape;937;p71"/>
            <p:cNvSpPr txBox="1"/>
            <p:nvPr/>
          </p:nvSpPr>
          <p:spPr>
            <a:xfrm>
              <a:off x="385438" y="2049837"/>
              <a:ext cx="3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8" name="Google Shape;938;p71"/>
            <p:cNvSpPr txBox="1"/>
            <p:nvPr/>
          </p:nvSpPr>
          <p:spPr>
            <a:xfrm>
              <a:off x="388264" y="1776686"/>
              <a:ext cx="3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9" name="Google Shape;939;p71"/>
            <p:cNvSpPr txBox="1"/>
            <p:nvPr/>
          </p:nvSpPr>
          <p:spPr>
            <a:xfrm>
              <a:off x="271646" y="1529656"/>
              <a:ext cx="459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0" name="Google Shape;940;p71"/>
            <p:cNvSpPr txBox="1"/>
            <p:nvPr/>
          </p:nvSpPr>
          <p:spPr>
            <a:xfrm>
              <a:off x="271181" y="1280906"/>
              <a:ext cx="459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1" name="Google Shape;941;p71"/>
            <p:cNvSpPr txBox="1"/>
            <p:nvPr/>
          </p:nvSpPr>
          <p:spPr>
            <a:xfrm>
              <a:off x="262359" y="1020448"/>
              <a:ext cx="459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2" name="Google Shape;942;p71"/>
            <p:cNvSpPr txBox="1"/>
            <p:nvPr/>
          </p:nvSpPr>
          <p:spPr>
            <a:xfrm>
              <a:off x="262361" y="743223"/>
              <a:ext cx="459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72"/>
          <p:cNvSpPr txBox="1"/>
          <p:nvPr>
            <p:ph idx="1" type="body"/>
          </p:nvPr>
        </p:nvSpPr>
        <p:spPr>
          <a:xfrm>
            <a:off x="324000" y="721125"/>
            <a:ext cx="8114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Fill in the label.</a:t>
            </a:r>
            <a:endParaRPr sz="1800"/>
          </a:p>
        </p:txBody>
      </p:sp>
      <p:sp>
        <p:nvSpPr>
          <p:cNvPr id="948" name="Google Shape;94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bar charts</a:t>
            </a:r>
            <a:endParaRPr/>
          </a:p>
        </p:txBody>
      </p:sp>
      <p:pic>
        <p:nvPicPr>
          <p:cNvPr id="949" name="Google Shape;94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850" y="1244973"/>
            <a:ext cx="4798275" cy="2910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0" name="Google Shape;950;p72"/>
          <p:cNvCxnSpPr/>
          <p:nvPr/>
        </p:nvCxnSpPr>
        <p:spPr>
          <a:xfrm>
            <a:off x="389200" y="1709400"/>
            <a:ext cx="157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1" name="Google Shape;951;p72"/>
          <p:cNvSpPr txBox="1"/>
          <p:nvPr/>
        </p:nvSpPr>
        <p:spPr>
          <a:xfrm>
            <a:off x="617800" y="1281300"/>
            <a:ext cx="14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Frequency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2" name="Google Shape;952;p72"/>
          <p:cNvSpPr txBox="1"/>
          <p:nvPr/>
        </p:nvSpPr>
        <p:spPr>
          <a:xfrm>
            <a:off x="5361025" y="4155025"/>
            <a:ext cx="161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Type of tree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73"/>
          <p:cNvSpPr txBox="1"/>
          <p:nvPr>
            <p:ph idx="1" type="body"/>
          </p:nvPr>
        </p:nvSpPr>
        <p:spPr>
          <a:xfrm>
            <a:off x="324000" y="721125"/>
            <a:ext cx="8114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many sycamore trees were there in this woodland?</a:t>
            </a:r>
            <a:endParaRPr sz="1800"/>
          </a:p>
        </p:txBody>
      </p:sp>
      <p:sp>
        <p:nvSpPr>
          <p:cNvPr id="958" name="Google Shape;95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bar charts</a:t>
            </a:r>
            <a:endParaRPr/>
          </a:p>
        </p:txBody>
      </p:sp>
      <p:pic>
        <p:nvPicPr>
          <p:cNvPr id="959" name="Google Shape;95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850" y="1244973"/>
            <a:ext cx="4798275" cy="29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73"/>
          <p:cNvSpPr txBox="1"/>
          <p:nvPr/>
        </p:nvSpPr>
        <p:spPr>
          <a:xfrm rot="-5400000">
            <a:off x="1167750" y="1593000"/>
            <a:ext cx="14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3"/>
          <p:cNvSpPr txBox="1"/>
          <p:nvPr/>
        </p:nvSpPr>
        <p:spPr>
          <a:xfrm>
            <a:off x="5361025" y="4155025"/>
            <a:ext cx="161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Type of tree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3"/>
          <p:cNvSpPr txBox="1"/>
          <p:nvPr/>
        </p:nvSpPr>
        <p:spPr>
          <a:xfrm>
            <a:off x="7133400" y="1964425"/>
            <a:ext cx="1686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 sycamore trees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74"/>
          <p:cNvSpPr txBox="1"/>
          <p:nvPr>
            <p:ph idx="1" type="body"/>
          </p:nvPr>
        </p:nvSpPr>
        <p:spPr>
          <a:xfrm>
            <a:off x="324000" y="759300"/>
            <a:ext cx="8237700" cy="10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vertical axis on a bar chart is the frequency.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Choosing the scale is very </a:t>
            </a:r>
            <a:r>
              <a:rPr lang="en-GB"/>
              <a:t>important</a:t>
            </a:r>
            <a:r>
              <a:rPr lang="en-GB"/>
              <a:t>.</a:t>
            </a:r>
            <a:endParaRPr/>
          </a:p>
        </p:txBody>
      </p:sp>
      <p:sp>
        <p:nvSpPr>
          <p:cNvPr id="968" name="Google Shape;96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bar charts</a:t>
            </a:r>
            <a:endParaRPr/>
          </a:p>
        </p:txBody>
      </p:sp>
      <p:graphicFrame>
        <p:nvGraphicFramePr>
          <p:cNvPr id="969" name="Google Shape;969;p74"/>
          <p:cNvGraphicFramePr/>
          <p:nvPr/>
        </p:nvGraphicFramePr>
        <p:xfrm>
          <a:off x="324000" y="197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{A50CF90C-73A7-4071-BA08-0B8014CA7B59}</a:tableStyleId>
              </a:tblPr>
              <a:tblGrid>
                <a:gridCol w="1360800"/>
                <a:gridCol w="138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 Airports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Gatwick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Heathrow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Luton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Stansted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70" name="Google Shape;970;p74"/>
          <p:cNvSpPr txBox="1"/>
          <p:nvPr/>
        </p:nvSpPr>
        <p:spPr>
          <a:xfrm>
            <a:off x="3319775" y="1900200"/>
            <a:ext cx="520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data is about the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number of terminals at four London airports.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4"/>
          <p:cNvSpPr txBox="1"/>
          <p:nvPr/>
        </p:nvSpPr>
        <p:spPr>
          <a:xfrm>
            <a:off x="3319775" y="2870550"/>
            <a:ext cx="520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scale would you use on the vertical axis for this data?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4"/>
          <p:cNvSpPr txBox="1"/>
          <p:nvPr/>
        </p:nvSpPr>
        <p:spPr>
          <a:xfrm>
            <a:off x="3319775" y="3731700"/>
            <a:ext cx="550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greatest number is 4, so going up in ones would be fine.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Number of terminals at four London airports</a:t>
            </a:r>
            <a:endParaRPr/>
          </a:p>
        </p:txBody>
      </p:sp>
      <p:sp>
        <p:nvSpPr>
          <p:cNvPr id="978" name="Google Shape;97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bar charts</a:t>
            </a:r>
            <a:endParaRPr/>
          </a:p>
        </p:txBody>
      </p:sp>
      <p:sp>
        <p:nvSpPr>
          <p:cNvPr id="979" name="Google Shape;979;p75"/>
          <p:cNvSpPr txBox="1"/>
          <p:nvPr/>
        </p:nvSpPr>
        <p:spPr>
          <a:xfrm rot="-5400000">
            <a:off x="1129775" y="1711925"/>
            <a:ext cx="140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5"/>
          <p:cNvSpPr txBox="1"/>
          <p:nvPr/>
        </p:nvSpPr>
        <p:spPr>
          <a:xfrm>
            <a:off x="5609375" y="4089150"/>
            <a:ext cx="11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Airports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1" name="Google Shape;98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2775" y="1240625"/>
            <a:ext cx="4855900" cy="29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76"/>
          <p:cNvSpPr txBox="1"/>
          <p:nvPr>
            <p:ph idx="1" type="body"/>
          </p:nvPr>
        </p:nvSpPr>
        <p:spPr>
          <a:xfrm>
            <a:off x="324000" y="759300"/>
            <a:ext cx="8237700" cy="10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vertical axis on a bar chart is the frequency.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Choosing the scale is very important.</a:t>
            </a:r>
            <a:endParaRPr/>
          </a:p>
        </p:txBody>
      </p:sp>
      <p:sp>
        <p:nvSpPr>
          <p:cNvPr id="987" name="Google Shape;98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bar charts</a:t>
            </a:r>
            <a:endParaRPr/>
          </a:p>
        </p:txBody>
      </p:sp>
      <p:graphicFrame>
        <p:nvGraphicFramePr>
          <p:cNvPr id="988" name="Google Shape;988;p76"/>
          <p:cNvGraphicFramePr/>
          <p:nvPr/>
        </p:nvGraphicFramePr>
        <p:xfrm>
          <a:off x="324000" y="197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{A50CF90C-73A7-4071-BA08-0B8014CA7B59}</a:tableStyleId>
              </a:tblPr>
              <a:tblGrid>
                <a:gridCol w="1360800"/>
                <a:gridCol w="138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 Airports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Gatwick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Heathrow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Luton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Stansted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89" name="Google Shape;989;p76"/>
          <p:cNvSpPr txBox="1"/>
          <p:nvPr/>
        </p:nvSpPr>
        <p:spPr>
          <a:xfrm>
            <a:off x="3369600" y="1900200"/>
            <a:ext cx="515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data is about the number of airlines at four London airports.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6"/>
          <p:cNvSpPr txBox="1"/>
          <p:nvPr/>
        </p:nvSpPr>
        <p:spPr>
          <a:xfrm>
            <a:off x="3369600" y="2641950"/>
            <a:ext cx="515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scale would you use on the vertical axis for this data?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6"/>
          <p:cNvSpPr txBox="1"/>
          <p:nvPr/>
        </p:nvSpPr>
        <p:spPr>
          <a:xfrm>
            <a:off x="3369601" y="3503100"/>
            <a:ext cx="545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Depending on space you could go up in 4s but you could go up in 10s.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Number of airlines at four London airports</a:t>
            </a:r>
            <a:endParaRPr/>
          </a:p>
        </p:txBody>
      </p:sp>
      <p:sp>
        <p:nvSpPr>
          <p:cNvPr id="997" name="Google Shape;997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bar charts</a:t>
            </a:r>
            <a:endParaRPr/>
          </a:p>
        </p:txBody>
      </p:sp>
      <p:sp>
        <p:nvSpPr>
          <p:cNvPr id="998" name="Google Shape;998;p77"/>
          <p:cNvSpPr txBox="1"/>
          <p:nvPr/>
        </p:nvSpPr>
        <p:spPr>
          <a:xfrm rot="-5400000">
            <a:off x="1129775" y="1711925"/>
            <a:ext cx="140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77"/>
          <p:cNvSpPr txBox="1"/>
          <p:nvPr/>
        </p:nvSpPr>
        <p:spPr>
          <a:xfrm>
            <a:off x="5609375" y="4317750"/>
            <a:ext cx="11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Airports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0" name="Google Shape;100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2775" y="1295850"/>
            <a:ext cx="4564350" cy="312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8"/>
          <p:cNvSpPr txBox="1"/>
          <p:nvPr>
            <p:ph idx="1" type="body"/>
          </p:nvPr>
        </p:nvSpPr>
        <p:spPr>
          <a:xfrm>
            <a:off x="324000" y="759300"/>
            <a:ext cx="8237700" cy="10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vertical axis on a bar chart is the frequency.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Choosing the scale is very important.</a:t>
            </a:r>
            <a:endParaRPr/>
          </a:p>
        </p:txBody>
      </p:sp>
      <p:sp>
        <p:nvSpPr>
          <p:cNvPr id="1006" name="Google Shape;100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bar charts</a:t>
            </a:r>
            <a:endParaRPr/>
          </a:p>
        </p:txBody>
      </p:sp>
      <p:graphicFrame>
        <p:nvGraphicFramePr>
          <p:cNvPr id="1007" name="Google Shape;1007;p78"/>
          <p:cNvGraphicFramePr/>
          <p:nvPr/>
        </p:nvGraphicFramePr>
        <p:xfrm>
          <a:off x="324000" y="197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{A50CF90C-73A7-4071-BA08-0B8014CA7B59}</a:tableStyleId>
              </a:tblPr>
              <a:tblGrid>
                <a:gridCol w="1360800"/>
                <a:gridCol w="138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 Airports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Gatwick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Heathrow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Luton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Stansted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08" name="Google Shape;1008;p78"/>
          <p:cNvSpPr txBox="1"/>
          <p:nvPr/>
        </p:nvSpPr>
        <p:spPr>
          <a:xfrm>
            <a:off x="3394124" y="1900200"/>
            <a:ext cx="516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data is about the number of destinations served by four London airports.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8"/>
          <p:cNvSpPr txBox="1"/>
          <p:nvPr/>
        </p:nvSpPr>
        <p:spPr>
          <a:xfrm>
            <a:off x="3394124" y="2641950"/>
            <a:ext cx="516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scale would you use on the vertical axis for this data?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8"/>
          <p:cNvSpPr txBox="1"/>
          <p:nvPr/>
        </p:nvSpPr>
        <p:spPr>
          <a:xfrm>
            <a:off x="3383850" y="3452075"/>
            <a:ext cx="543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greatest number is 224 and the lowest is 126, that is nearly 100 different. You could go up in steps of 25.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Number of destinations travelled to by four London airports</a:t>
            </a:r>
            <a:endParaRPr/>
          </a:p>
        </p:txBody>
      </p:sp>
      <p:sp>
        <p:nvSpPr>
          <p:cNvPr id="1016" name="Google Shape;101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bar charts</a:t>
            </a:r>
            <a:endParaRPr/>
          </a:p>
        </p:txBody>
      </p:sp>
      <p:sp>
        <p:nvSpPr>
          <p:cNvPr id="1017" name="Google Shape;1017;p79"/>
          <p:cNvSpPr txBox="1"/>
          <p:nvPr/>
        </p:nvSpPr>
        <p:spPr>
          <a:xfrm rot="-5400000">
            <a:off x="1129775" y="1711925"/>
            <a:ext cx="140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8" name="Google Shape;101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2775" y="1126150"/>
            <a:ext cx="4032551" cy="3457637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79"/>
          <p:cNvSpPr txBox="1"/>
          <p:nvPr/>
        </p:nvSpPr>
        <p:spPr>
          <a:xfrm>
            <a:off x="3759300" y="4443550"/>
            <a:ext cx="11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Airports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Why would </a:t>
            </a:r>
            <a:r>
              <a:rPr lang="en-GB"/>
              <a:t>having</a:t>
            </a:r>
            <a:r>
              <a:rPr lang="en-GB"/>
              <a:t> a vertical scale which increases by 1 each time not be advisable for this data?</a:t>
            </a:r>
            <a:endParaRPr/>
          </a:p>
        </p:txBody>
      </p:sp>
      <p:sp>
        <p:nvSpPr>
          <p:cNvPr id="1025" name="Google Shape;102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bar charts</a:t>
            </a:r>
            <a:endParaRPr/>
          </a:p>
        </p:txBody>
      </p:sp>
      <p:graphicFrame>
        <p:nvGraphicFramePr>
          <p:cNvPr id="1026" name="Google Shape;1026;p80"/>
          <p:cNvGraphicFramePr/>
          <p:nvPr/>
        </p:nvGraphicFramePr>
        <p:xfrm>
          <a:off x="1186350" y="175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{A50CF90C-73A7-4071-BA08-0B8014CA7B59}</a:tableStyleId>
              </a:tblPr>
              <a:tblGrid>
                <a:gridCol w="1360800"/>
                <a:gridCol w="138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books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pages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ook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ook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ook 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ook 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27" name="Google Shape;1027;p80"/>
          <p:cNvSpPr txBox="1"/>
          <p:nvPr/>
        </p:nvSpPr>
        <p:spPr>
          <a:xfrm>
            <a:off x="4572000" y="1899600"/>
            <a:ext cx="422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considered: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would take up a lot of space.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data ranges between 37 and 73.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81"/>
          <p:cNvSpPr txBox="1"/>
          <p:nvPr>
            <p:ph idx="1" type="body"/>
          </p:nvPr>
        </p:nvSpPr>
        <p:spPr>
          <a:xfrm>
            <a:off x="36215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Complete the vertical scale.</a:t>
            </a:r>
            <a:endParaRPr/>
          </a:p>
        </p:txBody>
      </p:sp>
      <p:sp>
        <p:nvSpPr>
          <p:cNvPr id="1033" name="Google Shape;1033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bar charts</a:t>
            </a:r>
            <a:endParaRPr/>
          </a:p>
        </p:txBody>
      </p:sp>
      <p:pic>
        <p:nvPicPr>
          <p:cNvPr id="1034" name="Google Shape;103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0925" y="1381069"/>
            <a:ext cx="4806576" cy="31748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81"/>
          <p:cNvSpPr txBox="1"/>
          <p:nvPr/>
        </p:nvSpPr>
        <p:spPr>
          <a:xfrm>
            <a:off x="3159356" y="2365712"/>
            <a:ext cx="54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Complete the frequency table and bar chart.</a:t>
            </a:r>
            <a:endParaRPr/>
          </a:p>
        </p:txBody>
      </p:sp>
      <p:sp>
        <p:nvSpPr>
          <p:cNvPr id="1041" name="Google Shape;1041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bar charts</a:t>
            </a:r>
            <a:endParaRPr/>
          </a:p>
        </p:txBody>
      </p:sp>
      <p:graphicFrame>
        <p:nvGraphicFramePr>
          <p:cNvPr id="1042" name="Google Shape;1042;p82"/>
          <p:cNvGraphicFramePr/>
          <p:nvPr/>
        </p:nvGraphicFramePr>
        <p:xfrm>
          <a:off x="507150" y="1439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{D29863F9-3DAB-4C01-8AC1-EB170548E63A}</a:tableStyleId>
              </a:tblPr>
              <a:tblGrid>
                <a:gridCol w="1302600"/>
                <a:gridCol w="13576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weets per pack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3" name="Google Shape;1043;p82"/>
          <p:cNvSpPr/>
          <p:nvPr/>
        </p:nvSpPr>
        <p:spPr>
          <a:xfrm>
            <a:off x="1884250" y="2700000"/>
            <a:ext cx="1191000" cy="4323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2"/>
          <p:cNvSpPr txBox="1"/>
          <p:nvPr/>
        </p:nvSpPr>
        <p:spPr>
          <a:xfrm>
            <a:off x="6317850" y="4273525"/>
            <a:ext cx="207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Sweets per pack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5" name="Google Shape;104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4510" y="1443726"/>
            <a:ext cx="4822415" cy="29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83"/>
          <p:cNvSpPr/>
          <p:nvPr/>
        </p:nvSpPr>
        <p:spPr>
          <a:xfrm>
            <a:off x="1939600" y="1378225"/>
            <a:ext cx="419700" cy="317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Complete the vertical </a:t>
            </a:r>
            <a:r>
              <a:rPr lang="en-GB"/>
              <a:t>scale</a:t>
            </a:r>
            <a:r>
              <a:rPr lang="en-GB"/>
              <a:t>.</a:t>
            </a:r>
            <a:endParaRPr/>
          </a:p>
        </p:txBody>
      </p:sp>
      <p:pic>
        <p:nvPicPr>
          <p:cNvPr id="1052" name="Google Shape;105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7836" y="1378806"/>
            <a:ext cx="4806576" cy="3174824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bar charts</a:t>
            </a:r>
            <a:endParaRPr/>
          </a:p>
        </p:txBody>
      </p:sp>
      <p:sp>
        <p:nvSpPr>
          <p:cNvPr id="1054" name="Google Shape;1054;p83"/>
          <p:cNvSpPr txBox="1"/>
          <p:nvPr/>
        </p:nvSpPr>
        <p:spPr>
          <a:xfrm>
            <a:off x="2244956" y="2365712"/>
            <a:ext cx="54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3"/>
          <p:cNvSpPr txBox="1"/>
          <p:nvPr/>
        </p:nvSpPr>
        <p:spPr>
          <a:xfrm>
            <a:off x="2287481" y="3627287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6" name="Google Shape;1056;p83"/>
          <p:cNvSpPr txBox="1"/>
          <p:nvPr/>
        </p:nvSpPr>
        <p:spPr>
          <a:xfrm>
            <a:off x="2219106" y="3197862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7" name="Google Shape;1057;p83"/>
          <p:cNvSpPr txBox="1"/>
          <p:nvPr/>
        </p:nvSpPr>
        <p:spPr>
          <a:xfrm>
            <a:off x="2219106" y="2781362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8" name="Google Shape;1058;p83"/>
          <p:cNvSpPr txBox="1"/>
          <p:nvPr/>
        </p:nvSpPr>
        <p:spPr>
          <a:xfrm>
            <a:off x="2244956" y="1935437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9" name="Google Shape;1059;p83"/>
          <p:cNvSpPr txBox="1"/>
          <p:nvPr/>
        </p:nvSpPr>
        <p:spPr>
          <a:xfrm>
            <a:off x="2244956" y="1502650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0" name="Google Shape;1060;p83"/>
          <p:cNvSpPr txBox="1"/>
          <p:nvPr/>
        </p:nvSpPr>
        <p:spPr>
          <a:xfrm rot="-5400000">
            <a:off x="1435981" y="1932931"/>
            <a:ext cx="133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Frequency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84"/>
          <p:cNvSpPr/>
          <p:nvPr/>
        </p:nvSpPr>
        <p:spPr>
          <a:xfrm>
            <a:off x="3369600" y="1328675"/>
            <a:ext cx="419700" cy="294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Complete the frequency table and bar </a:t>
            </a:r>
            <a:r>
              <a:rPr lang="en-GB"/>
              <a:t>chart</a:t>
            </a:r>
            <a:r>
              <a:rPr lang="en-GB"/>
              <a:t>.</a:t>
            </a:r>
            <a:endParaRPr/>
          </a:p>
        </p:txBody>
      </p:sp>
      <p:sp>
        <p:nvSpPr>
          <p:cNvPr id="1067" name="Google Shape;1067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bar charts</a:t>
            </a:r>
            <a:endParaRPr/>
          </a:p>
        </p:txBody>
      </p:sp>
      <p:pic>
        <p:nvPicPr>
          <p:cNvPr id="1068" name="Google Shape;106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3565" y="1328675"/>
            <a:ext cx="4822296" cy="294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9" name="Google Shape;1069;p84"/>
          <p:cNvGraphicFramePr/>
          <p:nvPr/>
        </p:nvGraphicFramePr>
        <p:xfrm>
          <a:off x="507150" y="1439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{D29863F9-3DAB-4C01-8AC1-EB170548E63A}</a:tableStyleId>
              </a:tblPr>
              <a:tblGrid>
                <a:gridCol w="1302600"/>
                <a:gridCol w="13576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weets per pack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0" name="Google Shape;1070;p84"/>
          <p:cNvSpPr txBox="1"/>
          <p:nvPr/>
        </p:nvSpPr>
        <p:spPr>
          <a:xfrm>
            <a:off x="6317850" y="4273525"/>
            <a:ext cx="207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Sweets per pack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4"/>
          <p:cNvSpPr txBox="1"/>
          <p:nvPr/>
        </p:nvSpPr>
        <p:spPr>
          <a:xfrm>
            <a:off x="3747431" y="3454563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2" name="Google Shape;1072;p84"/>
          <p:cNvSpPr txBox="1"/>
          <p:nvPr/>
        </p:nvSpPr>
        <p:spPr>
          <a:xfrm>
            <a:off x="3746176" y="3193526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3" name="Google Shape;1073;p84"/>
          <p:cNvSpPr txBox="1"/>
          <p:nvPr/>
        </p:nvSpPr>
        <p:spPr>
          <a:xfrm>
            <a:off x="3755113" y="2955293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4" name="Google Shape;1074;p84"/>
          <p:cNvSpPr txBox="1"/>
          <p:nvPr/>
        </p:nvSpPr>
        <p:spPr>
          <a:xfrm>
            <a:off x="3747431" y="2711330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5" name="Google Shape;1075;p84"/>
          <p:cNvSpPr txBox="1"/>
          <p:nvPr/>
        </p:nvSpPr>
        <p:spPr>
          <a:xfrm>
            <a:off x="3671231" y="2467367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6" name="Google Shape;1076;p84"/>
          <p:cNvSpPr txBox="1"/>
          <p:nvPr/>
        </p:nvSpPr>
        <p:spPr>
          <a:xfrm>
            <a:off x="3671231" y="2215722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7" name="Google Shape;1077;p84"/>
          <p:cNvSpPr txBox="1"/>
          <p:nvPr/>
        </p:nvSpPr>
        <p:spPr>
          <a:xfrm>
            <a:off x="3685362" y="1961896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8" name="Google Shape;1078;p84"/>
          <p:cNvSpPr txBox="1"/>
          <p:nvPr/>
        </p:nvSpPr>
        <p:spPr>
          <a:xfrm>
            <a:off x="3685362" y="1710866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9" name="Google Shape;1079;p84"/>
          <p:cNvSpPr txBox="1"/>
          <p:nvPr/>
        </p:nvSpPr>
        <p:spPr>
          <a:xfrm>
            <a:off x="3685362" y="1444473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0" name="Google Shape;1080;p84"/>
          <p:cNvSpPr txBox="1"/>
          <p:nvPr/>
        </p:nvSpPr>
        <p:spPr>
          <a:xfrm>
            <a:off x="3646954" y="1215873"/>
            <a:ext cx="5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1" name="Google Shape;1081;p84"/>
          <p:cNvSpPr txBox="1"/>
          <p:nvPr/>
        </p:nvSpPr>
        <p:spPr>
          <a:xfrm rot="-5400000">
            <a:off x="2842825" y="1635575"/>
            <a:ext cx="133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Frequency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bar charts</a:t>
            </a:r>
            <a:endParaRPr sz="1600"/>
          </a:p>
        </p:txBody>
      </p:sp>
      <p:sp>
        <p:nvSpPr>
          <p:cNvPr id="1087" name="Google Shape;1087;p8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1088" name="Google Shape;1088;p8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bar charts by hand</a:t>
            </a:r>
            <a:endParaRPr/>
          </a:p>
        </p:txBody>
      </p:sp>
      <p:pic>
        <p:nvPicPr>
          <p:cNvPr id="1089" name="Google Shape;108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0" y="299601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1095" name="Google Shape;1095;p86"/>
          <p:cNvSpPr txBox="1"/>
          <p:nvPr>
            <p:ph idx="1" type="body"/>
          </p:nvPr>
        </p:nvSpPr>
        <p:spPr>
          <a:xfrm>
            <a:off x="324000" y="733800"/>
            <a:ext cx="8237700" cy="12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local authority want to know if secondary school students are eating the recommended five portions of fruit and vegetables a day.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96" name="Google Shape;1096;p86"/>
          <p:cNvPicPr preferRelativeResize="0"/>
          <p:nvPr/>
        </p:nvPicPr>
        <p:blipFill rotWithShape="1">
          <a:blip r:embed="rId3">
            <a:alphaModFix/>
          </a:blip>
          <a:srcRect b="0" l="0" r="52581" t="0"/>
          <a:stretch/>
        </p:blipFill>
        <p:spPr>
          <a:xfrm>
            <a:off x="5931224" y="1897988"/>
            <a:ext cx="963200" cy="1054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86"/>
          <p:cNvPicPr preferRelativeResize="0"/>
          <p:nvPr/>
        </p:nvPicPr>
        <p:blipFill rotWithShape="1">
          <a:blip r:embed="rId4">
            <a:alphaModFix/>
          </a:blip>
          <a:srcRect b="8852" l="22572" r="16355" t="8338"/>
          <a:stretch/>
        </p:blipFill>
        <p:spPr>
          <a:xfrm>
            <a:off x="6602500" y="1887966"/>
            <a:ext cx="963208" cy="130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86"/>
          <p:cNvPicPr preferRelativeResize="0"/>
          <p:nvPr/>
        </p:nvPicPr>
        <p:blipFill rotWithShape="1">
          <a:blip r:embed="rId5">
            <a:alphaModFix/>
          </a:blip>
          <a:srcRect b="8862" l="26435" r="26094" t="12216"/>
          <a:stretch/>
        </p:blipFill>
        <p:spPr>
          <a:xfrm>
            <a:off x="7468525" y="1593462"/>
            <a:ext cx="751275" cy="12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86"/>
          <p:cNvPicPr preferRelativeResize="0"/>
          <p:nvPr/>
        </p:nvPicPr>
        <p:blipFill rotWithShape="1">
          <a:blip r:embed="rId6">
            <a:alphaModFix/>
          </a:blip>
          <a:srcRect b="11595" l="26831" r="23562" t="10059"/>
          <a:stretch/>
        </p:blipFill>
        <p:spPr>
          <a:xfrm>
            <a:off x="5422375" y="1815288"/>
            <a:ext cx="605825" cy="956916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86"/>
          <p:cNvSpPr txBox="1"/>
          <p:nvPr/>
        </p:nvSpPr>
        <p:spPr>
          <a:xfrm>
            <a:off x="324000" y="2103300"/>
            <a:ext cx="48270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collect data from the four similarly sized secondary schools in the area about how many students are eating the recommended amount.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1106" name="Google Shape;1106;p87"/>
          <p:cNvSpPr txBox="1"/>
          <p:nvPr>
            <p:ph idx="1" type="body"/>
          </p:nvPr>
        </p:nvSpPr>
        <p:spPr>
          <a:xfrm>
            <a:off x="324000" y="733800"/>
            <a:ext cx="82377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data collected are displayed in the frequency table.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07" name="Google Shape;1107;p87"/>
          <p:cNvGraphicFramePr/>
          <p:nvPr/>
        </p:nvGraphicFramePr>
        <p:xfrm>
          <a:off x="387775" y="1494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{A50CF90C-73A7-4071-BA08-0B8014CA7B59}</a:tableStyleId>
              </a:tblPr>
              <a:tblGrid>
                <a:gridCol w="2718175"/>
                <a:gridCol w="146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chool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Oakfield Academy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St. George’s School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Millington School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Acorn Park Academy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88"/>
          <p:cNvSpPr txBox="1"/>
          <p:nvPr>
            <p:ph idx="1" type="body"/>
          </p:nvPr>
        </p:nvSpPr>
        <p:spPr>
          <a:xfrm>
            <a:off x="6291063" y="1369800"/>
            <a:ext cx="23760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school do you think the local authority is concerned about and why?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3" name="Google Shape;111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pic>
        <p:nvPicPr>
          <p:cNvPr id="1114" name="Google Shape;1114;p88" title="Chart"/>
          <p:cNvPicPr preferRelativeResize="0"/>
          <p:nvPr/>
        </p:nvPicPr>
        <p:blipFill rotWithShape="1">
          <a:blip r:embed="rId3">
            <a:alphaModFix/>
          </a:blip>
          <a:srcRect b="11079" l="7380" r="3270" t="0"/>
          <a:stretch/>
        </p:blipFill>
        <p:spPr>
          <a:xfrm>
            <a:off x="772675" y="1437975"/>
            <a:ext cx="5189250" cy="319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88"/>
          <p:cNvSpPr txBox="1"/>
          <p:nvPr/>
        </p:nvSpPr>
        <p:spPr>
          <a:xfrm>
            <a:off x="6324163" y="3171250"/>
            <a:ext cx="207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Millington School, as the other three are fairly similar.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6" name="Google Shape;1116;p88"/>
          <p:cNvSpPr txBox="1"/>
          <p:nvPr/>
        </p:nvSpPr>
        <p:spPr>
          <a:xfrm>
            <a:off x="883950" y="666450"/>
            <a:ext cx="5511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Number of students who eat the recommended number of fruit and vegetables per day at four secondary schools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8"/>
          <p:cNvSpPr txBox="1"/>
          <p:nvPr/>
        </p:nvSpPr>
        <p:spPr>
          <a:xfrm rot="-5400000">
            <a:off x="-133650" y="1949000"/>
            <a:ext cx="141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88"/>
          <p:cNvSpPr txBox="1"/>
          <p:nvPr/>
        </p:nvSpPr>
        <p:spPr>
          <a:xfrm>
            <a:off x="4818025" y="4477875"/>
            <a:ext cx="114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Schools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They decide to collect some further data at each school.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1125" name="Google Shape;1125;p89"/>
          <p:cNvSpPr txBox="1"/>
          <p:nvPr/>
        </p:nvSpPr>
        <p:spPr>
          <a:xfrm>
            <a:off x="266300" y="1358400"/>
            <a:ext cx="643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data do you think they might collect?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9"/>
          <p:cNvSpPr txBox="1"/>
          <p:nvPr/>
        </p:nvSpPr>
        <p:spPr>
          <a:xfrm>
            <a:off x="1147100" y="2150800"/>
            <a:ext cx="5971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considered: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hich fruit and vegetables they are eating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reakdown by year group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here they are eating the fruit and vegetables (i.e. home or school)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They collect the data by year group at each school.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2" name="Google Shape;1132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1133" name="Google Shape;1133;p90"/>
          <p:cNvSpPr txBox="1"/>
          <p:nvPr>
            <p:ph idx="1" type="body"/>
          </p:nvPr>
        </p:nvSpPr>
        <p:spPr>
          <a:xfrm>
            <a:off x="5950500" y="1230625"/>
            <a:ext cx="2611200" cy="20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stacked bar chart allows the data to be seen by year group within each school.</a:t>
            </a:r>
            <a:endParaRPr sz="1800"/>
          </a:p>
        </p:txBody>
      </p:sp>
      <p:sp>
        <p:nvSpPr>
          <p:cNvPr id="1134" name="Google Shape;1134;p90"/>
          <p:cNvSpPr txBox="1"/>
          <p:nvPr/>
        </p:nvSpPr>
        <p:spPr>
          <a:xfrm rot="-5400000">
            <a:off x="-330575" y="1435475"/>
            <a:ext cx="14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90"/>
          <p:cNvSpPr txBox="1"/>
          <p:nvPr/>
        </p:nvSpPr>
        <p:spPr>
          <a:xfrm>
            <a:off x="3939275" y="4474050"/>
            <a:ext cx="14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School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6" name="Google Shape;113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75" y="1080000"/>
            <a:ext cx="4825901" cy="350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They collect the data by year group at each school.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2" name="Google Shape;11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1143" name="Google Shape;1143;p91"/>
          <p:cNvSpPr txBox="1"/>
          <p:nvPr>
            <p:ph idx="1" type="body"/>
          </p:nvPr>
        </p:nvSpPr>
        <p:spPr>
          <a:xfrm>
            <a:off x="324000" y="1333050"/>
            <a:ext cx="2611200" cy="20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comparison bar chart allows us to compare the year groups between schools more </a:t>
            </a:r>
            <a:r>
              <a:rPr lang="en-GB" sz="1800"/>
              <a:t>easily.</a:t>
            </a:r>
            <a:endParaRPr sz="1800"/>
          </a:p>
        </p:txBody>
      </p:sp>
      <p:sp>
        <p:nvSpPr>
          <p:cNvPr id="1144" name="Google Shape;1144;p91"/>
          <p:cNvSpPr txBox="1"/>
          <p:nvPr/>
        </p:nvSpPr>
        <p:spPr>
          <a:xfrm>
            <a:off x="276600" y="3027000"/>
            <a:ext cx="281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school’s year 8 students are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eating the recommended fruit and veg the most?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91"/>
          <p:cNvSpPr txBox="1"/>
          <p:nvPr/>
        </p:nvSpPr>
        <p:spPr>
          <a:xfrm>
            <a:off x="324000" y="4320000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Acorn Park Academy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46" name="Google Shape;114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0275" y="1172675"/>
            <a:ext cx="4737927" cy="344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91"/>
          <p:cNvSpPr txBox="1"/>
          <p:nvPr/>
        </p:nvSpPr>
        <p:spPr>
          <a:xfrm rot="-5400000">
            <a:off x="2683800" y="1521525"/>
            <a:ext cx="14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91"/>
          <p:cNvSpPr txBox="1"/>
          <p:nvPr/>
        </p:nvSpPr>
        <p:spPr>
          <a:xfrm>
            <a:off x="6770050" y="4507150"/>
            <a:ext cx="14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School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They collect the data by year group at each school.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4" name="Google Shape;115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1155" name="Google Shape;1155;p92"/>
          <p:cNvSpPr txBox="1"/>
          <p:nvPr>
            <p:ph idx="1" type="body"/>
          </p:nvPr>
        </p:nvSpPr>
        <p:spPr>
          <a:xfrm>
            <a:off x="324000" y="4162800"/>
            <a:ext cx="82377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this further data, which year group do you think the local authority will focus their efforts on at Millington School?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6" name="Google Shape;1156;p92"/>
          <p:cNvSpPr txBox="1"/>
          <p:nvPr/>
        </p:nvSpPr>
        <p:spPr>
          <a:xfrm>
            <a:off x="5774400" y="4460925"/>
            <a:ext cx="101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Year 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57" name="Google Shape;1157;p92"/>
          <p:cNvPicPr preferRelativeResize="0"/>
          <p:nvPr/>
        </p:nvPicPr>
        <p:blipFill rotWithShape="1">
          <a:blip r:embed="rId3">
            <a:alphaModFix/>
          </a:blip>
          <a:srcRect b="0" l="0" r="14944" t="0"/>
          <a:stretch/>
        </p:blipFill>
        <p:spPr>
          <a:xfrm>
            <a:off x="4677550" y="1062000"/>
            <a:ext cx="3455474" cy="295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92"/>
          <p:cNvPicPr preferRelativeResize="0"/>
          <p:nvPr/>
        </p:nvPicPr>
        <p:blipFill rotWithShape="1">
          <a:blip r:embed="rId4">
            <a:alphaModFix/>
          </a:blip>
          <a:srcRect b="0" l="0" r="14944" t="0"/>
          <a:stretch/>
        </p:blipFill>
        <p:spPr>
          <a:xfrm>
            <a:off x="542075" y="1080000"/>
            <a:ext cx="3455474" cy="295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92"/>
          <p:cNvSpPr txBox="1"/>
          <p:nvPr/>
        </p:nvSpPr>
        <p:spPr>
          <a:xfrm rot="-5400000">
            <a:off x="-361325" y="1212150"/>
            <a:ext cx="149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Frequency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92"/>
          <p:cNvSpPr txBox="1"/>
          <p:nvPr/>
        </p:nvSpPr>
        <p:spPr>
          <a:xfrm>
            <a:off x="2069950" y="3849600"/>
            <a:ext cx="149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School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2"/>
          <p:cNvSpPr txBox="1"/>
          <p:nvPr/>
        </p:nvSpPr>
        <p:spPr>
          <a:xfrm rot="-5400000">
            <a:off x="3772350" y="1243175"/>
            <a:ext cx="149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Frequency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2"/>
          <p:cNvSpPr txBox="1"/>
          <p:nvPr/>
        </p:nvSpPr>
        <p:spPr>
          <a:xfrm>
            <a:off x="6203625" y="3880625"/>
            <a:ext cx="149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School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3" name="Google Shape;1163;p92"/>
          <p:cNvPicPr preferRelativeResize="0"/>
          <p:nvPr/>
        </p:nvPicPr>
        <p:blipFill rotWithShape="1">
          <a:blip r:embed="rId4">
            <a:alphaModFix/>
          </a:blip>
          <a:srcRect b="33717" l="85213" r="908" t="33749"/>
          <a:stretch/>
        </p:blipFill>
        <p:spPr>
          <a:xfrm>
            <a:off x="2535812" y="1200149"/>
            <a:ext cx="563775" cy="95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92"/>
          <p:cNvPicPr preferRelativeResize="0"/>
          <p:nvPr/>
        </p:nvPicPr>
        <p:blipFill rotWithShape="1">
          <a:blip r:embed="rId4">
            <a:alphaModFix/>
          </a:blip>
          <a:srcRect b="33717" l="85213" r="908" t="33749"/>
          <a:stretch/>
        </p:blipFill>
        <p:spPr>
          <a:xfrm>
            <a:off x="6633537" y="1200149"/>
            <a:ext cx="563775" cy="95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1170" name="Google Shape;1170;p93"/>
          <p:cNvSpPr txBox="1"/>
          <p:nvPr/>
        </p:nvSpPr>
        <p:spPr>
          <a:xfrm rot="-5400000">
            <a:off x="-76925" y="1745708"/>
            <a:ext cx="150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93"/>
          <p:cNvSpPr txBox="1"/>
          <p:nvPr/>
        </p:nvSpPr>
        <p:spPr>
          <a:xfrm>
            <a:off x="5774400" y="1352400"/>
            <a:ext cx="272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grade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has decreased in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frequency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every year?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93"/>
          <p:cNvSpPr txBox="1"/>
          <p:nvPr/>
        </p:nvSpPr>
        <p:spPr>
          <a:xfrm>
            <a:off x="6489150" y="2313602"/>
            <a:ext cx="11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Grade 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73" name="Google Shape;117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400" y="1352225"/>
            <a:ext cx="4635140" cy="3353449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93"/>
          <p:cNvSpPr txBox="1"/>
          <p:nvPr/>
        </p:nvSpPr>
        <p:spPr>
          <a:xfrm>
            <a:off x="4600079" y="4221783"/>
            <a:ext cx="150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Grades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93"/>
          <p:cNvSpPr txBox="1"/>
          <p:nvPr/>
        </p:nvSpPr>
        <p:spPr>
          <a:xfrm>
            <a:off x="267600" y="613500"/>
            <a:ext cx="815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comparison bar chart shows the number of each grade awarded in 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levels in England.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1181" name="Google Shape;1181;p94"/>
          <p:cNvSpPr txBox="1"/>
          <p:nvPr/>
        </p:nvSpPr>
        <p:spPr>
          <a:xfrm>
            <a:off x="5698200" y="693325"/>
            <a:ext cx="3045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data is about the number of children with each shoe size in a year 8 class.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bars are in a random shoe size order. Does it matter?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2" name="Google Shape;118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026" y="857988"/>
            <a:ext cx="4852560" cy="308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94"/>
          <p:cNvSpPr txBox="1"/>
          <p:nvPr/>
        </p:nvSpPr>
        <p:spPr>
          <a:xfrm rot="-5400000">
            <a:off x="-246624" y="1485151"/>
            <a:ext cx="13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94"/>
          <p:cNvSpPr txBox="1"/>
          <p:nvPr/>
        </p:nvSpPr>
        <p:spPr>
          <a:xfrm>
            <a:off x="4141976" y="3729851"/>
            <a:ext cx="13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Shoe size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94"/>
          <p:cNvSpPr txBox="1"/>
          <p:nvPr/>
        </p:nvSpPr>
        <p:spPr>
          <a:xfrm>
            <a:off x="5663550" y="3094525"/>
            <a:ext cx="3267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can clearly see that size 6 is the most common.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1191" name="Google Shape;1191;p95"/>
          <p:cNvSpPr txBox="1"/>
          <p:nvPr/>
        </p:nvSpPr>
        <p:spPr>
          <a:xfrm>
            <a:off x="285750" y="513325"/>
            <a:ext cx="857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2" name="Google Shape;119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625" y="949998"/>
            <a:ext cx="5008962" cy="308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95"/>
          <p:cNvSpPr txBox="1"/>
          <p:nvPr/>
        </p:nvSpPr>
        <p:spPr>
          <a:xfrm>
            <a:off x="5698200" y="769525"/>
            <a:ext cx="304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we order the bars from smallest to largest, is it clearer?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95"/>
          <p:cNvSpPr txBox="1"/>
          <p:nvPr/>
        </p:nvSpPr>
        <p:spPr>
          <a:xfrm>
            <a:off x="5698200" y="1885950"/>
            <a:ext cx="3267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allows you to see the distribution more easily.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 year 8 students are the same age, we would expect this shape.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5" name="Google Shape;1195;p95"/>
          <p:cNvSpPr txBox="1"/>
          <p:nvPr/>
        </p:nvSpPr>
        <p:spPr>
          <a:xfrm rot="-5400000">
            <a:off x="-281856" y="1561351"/>
            <a:ext cx="13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5"/>
          <p:cNvSpPr txBox="1"/>
          <p:nvPr/>
        </p:nvSpPr>
        <p:spPr>
          <a:xfrm>
            <a:off x="4182944" y="3816293"/>
            <a:ext cx="13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Shoe size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grpSp>
        <p:nvGrpSpPr>
          <p:cNvPr id="1202" name="Google Shape;1202;p96"/>
          <p:cNvGrpSpPr/>
          <p:nvPr/>
        </p:nvGrpSpPr>
        <p:grpSpPr>
          <a:xfrm>
            <a:off x="3577894" y="759301"/>
            <a:ext cx="5097456" cy="3791699"/>
            <a:chOff x="3577894" y="759301"/>
            <a:chExt cx="5097456" cy="3791699"/>
          </a:xfrm>
        </p:grpSpPr>
        <p:pic>
          <p:nvPicPr>
            <p:cNvPr id="1203" name="Google Shape;1203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62599" y="810000"/>
              <a:ext cx="4712751" cy="3452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96"/>
            <p:cNvSpPr txBox="1"/>
            <p:nvPr/>
          </p:nvSpPr>
          <p:spPr>
            <a:xfrm rot="-5400000">
              <a:off x="3113944" y="1223251"/>
              <a:ext cx="1389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Frequency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5" name="Google Shape;1205;p96"/>
            <p:cNvSpPr txBox="1"/>
            <p:nvPr/>
          </p:nvSpPr>
          <p:spPr>
            <a:xfrm rot="1416">
              <a:off x="7772819" y="4089150"/>
              <a:ext cx="728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Pets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6" name="Google Shape;1206;p96"/>
          <p:cNvSpPr txBox="1"/>
          <p:nvPr/>
        </p:nvSpPr>
        <p:spPr>
          <a:xfrm>
            <a:off x="324000" y="835050"/>
            <a:ext cx="30654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Often the data collected is about non-numerical data.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example: colours, animals, food etc.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96"/>
          <p:cNvSpPr txBox="1"/>
          <p:nvPr/>
        </p:nvSpPr>
        <p:spPr>
          <a:xfrm>
            <a:off x="224375" y="3477450"/>
            <a:ext cx="3687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his type of data often doesn’t have a relevant order.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8" name="Google Shape;1208;p96"/>
          <p:cNvSpPr txBox="1"/>
          <p:nvPr/>
        </p:nvSpPr>
        <p:spPr>
          <a:xfrm>
            <a:off x="224375" y="2571750"/>
            <a:ext cx="277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Should the bars be in some sort of order?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9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same data is being represented, regardless of order.</a:t>
            </a:r>
            <a:endParaRPr sz="1800"/>
          </a:p>
        </p:txBody>
      </p:sp>
      <p:sp>
        <p:nvSpPr>
          <p:cNvPr id="1214" name="Google Shape;1214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1215" name="Google Shape;1215;p97"/>
          <p:cNvSpPr txBox="1"/>
          <p:nvPr>
            <p:ph idx="1" type="subTitle"/>
          </p:nvPr>
        </p:nvSpPr>
        <p:spPr>
          <a:xfrm>
            <a:off x="324000" y="1080000"/>
            <a:ext cx="788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bars of a bar chart always need to be in a particular order.</a:t>
            </a:r>
            <a:endParaRPr sz="1800"/>
          </a:p>
        </p:txBody>
      </p:sp>
      <p:sp>
        <p:nvSpPr>
          <p:cNvPr id="1216" name="Google Shape;1216;p97"/>
          <p:cNvSpPr txBox="1"/>
          <p:nvPr>
            <p:ph idx="3" type="subTitle"/>
          </p:nvPr>
        </p:nvSpPr>
        <p:spPr>
          <a:xfrm>
            <a:off x="980575" y="39641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Sometimes there is a known relevant order, but not always.</a:t>
            </a:r>
            <a:endParaRPr sz="1800"/>
          </a:p>
        </p:txBody>
      </p:sp>
      <p:pic>
        <p:nvPicPr>
          <p:cNvPr id="1217" name="Google Shape;121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140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608" y="42438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Decide whether each data set </a:t>
            </a:r>
            <a:r>
              <a:rPr lang="en-GB"/>
              <a:t>should be ordered or not.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Colours of karate belts</a:t>
            </a:r>
            <a:endParaRPr/>
          </a:p>
          <a:p>
            <a:pPr indent="-368300" lvl="1" marL="9144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Types of animals at a zoo</a:t>
            </a:r>
            <a:endParaRPr/>
          </a:p>
          <a:p>
            <a:pPr indent="-368300" lvl="1" marL="9144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Types of pen</a:t>
            </a:r>
            <a:endParaRPr/>
          </a:p>
          <a:p>
            <a:pPr indent="-368300" lvl="1" marL="9144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Movie genres</a:t>
            </a:r>
            <a:endParaRPr/>
          </a:p>
          <a:p>
            <a:pPr indent="-368300" lvl="1" marL="914400" rtl="0" algn="l">
              <a:spcBef>
                <a:spcPts val="1000"/>
              </a:spcBef>
              <a:spcAft>
                <a:spcPts val="1000"/>
              </a:spcAft>
              <a:buSzPts val="2200"/>
              <a:buAutoNum type="alphaLcParenR"/>
            </a:pPr>
            <a:r>
              <a:rPr lang="en-GB"/>
              <a:t>Clothing sizes</a:t>
            </a:r>
            <a:endParaRPr/>
          </a:p>
        </p:txBody>
      </p:sp>
      <p:sp>
        <p:nvSpPr>
          <p:cNvPr id="1224" name="Google Shape;1224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bar charts in a data investigation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Jacob wants to see if there is any trend to his step count. He collects data over a two week period. Week one is displayed,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add week two to the bar chart.</a:t>
            </a:r>
            <a:endParaRPr sz="1800"/>
          </a:p>
        </p:txBody>
      </p:sp>
      <p:sp>
        <p:nvSpPr>
          <p:cNvPr id="1230" name="Google Shape;1230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pic>
        <p:nvPicPr>
          <p:cNvPr id="1231" name="Google Shape;123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425" y="1682691"/>
            <a:ext cx="4684349" cy="30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p99"/>
          <p:cNvSpPr txBox="1"/>
          <p:nvPr/>
        </p:nvSpPr>
        <p:spPr>
          <a:xfrm rot="-5400000">
            <a:off x="215469" y="2166801"/>
            <a:ext cx="13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99"/>
          <p:cNvSpPr txBox="1"/>
          <p:nvPr/>
        </p:nvSpPr>
        <p:spPr>
          <a:xfrm>
            <a:off x="5466126" y="4428200"/>
            <a:ext cx="8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34" name="Google Shape;1234;p99"/>
          <p:cNvGraphicFramePr/>
          <p:nvPr/>
        </p:nvGraphicFramePr>
        <p:xfrm>
          <a:off x="6554075" y="153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{A50CF90C-73A7-4071-BA08-0B8014CA7B59}</a:tableStyleId>
              </a:tblPr>
              <a:tblGrid>
                <a:gridCol w="708000"/>
                <a:gridCol w="84575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solidFill>
                      <a:schemeClr val="accent5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8 600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8 900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8 700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9 300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4 700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Jacob wants to see if there is any trend to his step count. He collects data over a two week period. Week one is displayed.</a:t>
            </a:r>
            <a:br>
              <a:rPr lang="en-GB" sz="1800"/>
            </a:b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 startAt="2"/>
            </a:pPr>
            <a:r>
              <a:rPr lang="en-GB" sz="1800"/>
              <a:t>What comments can you make regarding Jacob’s daily step count? Justify your comments.</a:t>
            </a:r>
            <a:endParaRPr sz="1800"/>
          </a:p>
        </p:txBody>
      </p:sp>
      <p:sp>
        <p:nvSpPr>
          <p:cNvPr id="1240" name="Google Shape;1240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01"/>
          <p:cNvSpPr txBox="1"/>
          <p:nvPr>
            <p:ph idx="1" type="body"/>
          </p:nvPr>
        </p:nvSpPr>
        <p:spPr>
          <a:xfrm>
            <a:off x="324000" y="627375"/>
            <a:ext cx="8237700" cy="4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Decide whether each data set should be ordered or not.</a:t>
            </a:r>
            <a:endParaRPr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Colours of karate belts</a:t>
            </a:r>
            <a:br>
              <a:rPr lang="en-GB"/>
            </a:br>
            <a:endParaRPr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Animals at a zoo</a:t>
            </a:r>
            <a:br>
              <a:rPr lang="en-GB"/>
            </a:br>
            <a:endParaRPr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Types of pen</a:t>
            </a:r>
            <a:br>
              <a:rPr lang="en-GB"/>
            </a:br>
            <a:endParaRPr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Movie genres</a:t>
            </a:r>
            <a:br>
              <a:rPr lang="en-GB"/>
            </a:br>
            <a:endParaRPr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Clothing sizes</a:t>
            </a:r>
            <a:endParaRPr/>
          </a:p>
        </p:txBody>
      </p:sp>
      <p:sp>
        <p:nvSpPr>
          <p:cNvPr id="1246" name="Google Shape;1246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1247" name="Google Shape;1247;p101"/>
          <p:cNvSpPr txBox="1"/>
          <p:nvPr/>
        </p:nvSpPr>
        <p:spPr>
          <a:xfrm>
            <a:off x="2046175" y="1274225"/>
            <a:ext cx="43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Ordered as there is a ranking system.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8" name="Google Shape;1248;p101"/>
          <p:cNvSpPr txBox="1"/>
          <p:nvPr/>
        </p:nvSpPr>
        <p:spPr>
          <a:xfrm>
            <a:off x="2153850" y="1827288"/>
            <a:ext cx="43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ordered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9" name="Google Shape;1249;p101"/>
          <p:cNvSpPr txBox="1"/>
          <p:nvPr/>
        </p:nvSpPr>
        <p:spPr>
          <a:xfrm>
            <a:off x="2153850" y="2568875"/>
            <a:ext cx="43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ordered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0" name="Google Shape;1250;p101"/>
          <p:cNvSpPr txBox="1"/>
          <p:nvPr/>
        </p:nvSpPr>
        <p:spPr>
          <a:xfrm>
            <a:off x="2217625" y="3310450"/>
            <a:ext cx="43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ordered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1" name="Google Shape;1251;p101"/>
          <p:cNvSpPr txBox="1"/>
          <p:nvPr/>
        </p:nvSpPr>
        <p:spPr>
          <a:xfrm>
            <a:off x="2217625" y="3992000"/>
            <a:ext cx="43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Ordered e.g. XS, S, M, L, XL, XXL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Jacob wants to see if there is any trend to his step count. He collects data over a two week period. Week one is displayed,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add week two to the bar chart.</a:t>
            </a:r>
            <a:endParaRPr sz="1800"/>
          </a:p>
        </p:txBody>
      </p:sp>
      <p:sp>
        <p:nvSpPr>
          <p:cNvPr id="1257" name="Google Shape;1257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pic>
        <p:nvPicPr>
          <p:cNvPr id="1258" name="Google Shape;125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425" y="1717225"/>
            <a:ext cx="4603770" cy="3020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102"/>
          <p:cNvSpPr txBox="1"/>
          <p:nvPr/>
        </p:nvSpPr>
        <p:spPr>
          <a:xfrm rot="-5400000">
            <a:off x="215469" y="2166801"/>
            <a:ext cx="13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102"/>
          <p:cNvSpPr txBox="1"/>
          <p:nvPr/>
        </p:nvSpPr>
        <p:spPr>
          <a:xfrm>
            <a:off x="5466326" y="4414950"/>
            <a:ext cx="8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61" name="Google Shape;1261;p102"/>
          <p:cNvGraphicFramePr/>
          <p:nvPr/>
        </p:nvGraphicFramePr>
        <p:xfrm>
          <a:off x="6554075" y="153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{A50CF90C-73A7-4071-BA08-0B8014CA7B59}</a:tableStyleId>
              </a:tblPr>
              <a:tblGrid>
                <a:gridCol w="708000"/>
                <a:gridCol w="84575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solidFill>
                      <a:schemeClr val="accent5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8 600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8 900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8 700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9 300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4 500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4 700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</a:t>
            </a:r>
            <a:r>
              <a:rPr lang="en-GB" sz="1800"/>
              <a:t>Jacob wants to see if there is any trend to his step count. He collects data over a two week period. Using your bar chart:</a:t>
            </a:r>
            <a:br>
              <a:rPr lang="en-GB" sz="1800"/>
            </a:b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What comments can you make regarding Jacob’s daily step count? Justify your comments.</a:t>
            </a:r>
            <a:endParaRPr sz="1800"/>
          </a:p>
        </p:txBody>
      </p:sp>
      <p:sp>
        <p:nvSpPr>
          <p:cNvPr id="1267" name="Google Shape;1267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charts in a data investigation</a:t>
            </a:r>
            <a:endParaRPr/>
          </a:p>
        </p:txBody>
      </p:sp>
      <p:sp>
        <p:nvSpPr>
          <p:cNvPr id="1268" name="Google Shape;1268;p103"/>
          <p:cNvSpPr txBox="1"/>
          <p:nvPr/>
        </p:nvSpPr>
        <p:spPr>
          <a:xfrm>
            <a:off x="363325" y="2308950"/>
            <a:ext cx="84567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responded with: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His daily step count is lower at the weekend. This may be because he isn’t walking around a school building.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daily step counts are similar between the two weeks, this may be due to him following the same timetable during the week and the same hobbies at the weekend.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0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charts are a data representation.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They are fairly simple to understand.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vertical axis represents frequency and the bars have equal gaps between them.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If the data has a relevant order, the bars should follow that order.</a:t>
            </a:r>
            <a:endParaRPr/>
          </a:p>
        </p:txBody>
      </p:sp>
      <p:sp>
        <p:nvSpPr>
          <p:cNvPr id="1274" name="Google Shape;1274;p10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bar charts by hand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80" name="Google Shape;1280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