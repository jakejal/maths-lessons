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1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5143500"/>
  <p:notesSz cx="6858000" cy="9144000"/>
  <p:embeddedFontLst>
    <p:embeddedFont>
      <p:font typeface="Lexend" panose="00000000000000000000"/>
      <p:regular r:id="rId34"/>
    </p:embeddedFont>
    <p:embeddedFont>
      <p:font typeface="Lexend Medium" panose="00000000000000000000"/>
      <p:regular r:id="rId35"/>
    </p:embeddedFont>
    <p:embeddedFont>
      <p:font typeface="Kalam" panose="02000000000000000000"/>
      <p:regular r:id="rId36"/>
    </p:embeddedFont>
    <p:embeddedFont>
      <p:font typeface="Lexend Light" panose="00000000000000000000"/>
      <p:regular r:id="rId37"/>
    </p:embeddedFont>
  </p:embeddedFontLst>
  <p:custDataLst>
    <p:tags r:id="rId33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4FE5E90-89FA-4B46-A919-A5256DBC45A0}">
  <a:tblStyle styleId="{54FE5E90-89FA-4B46-A919-A5256DBC45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tags" Target="tags/tag1.xml" /><Relationship Id="rId34" Type="http://schemas.openxmlformats.org/officeDocument/2006/relationships/font" Target="fonts/font1.fntdata" /><Relationship Id="rId35" Type="http://schemas.openxmlformats.org/officeDocument/2006/relationships/font" Target="fonts/font2.fntdata" /><Relationship Id="rId36" Type="http://schemas.openxmlformats.org/officeDocument/2006/relationships/font" Target="fonts/font3.fntdata" /><Relationship Id="rId37" Type="http://schemas.openxmlformats.org/officeDocument/2006/relationships/font" Target="fonts/font4.fntdata" /><Relationship Id="rId38" Type="http://schemas.openxmlformats.org/officeDocument/2006/relationships/presProps" Target="presProps.xml" /><Relationship Id="rId39" Type="http://schemas.openxmlformats.org/officeDocument/2006/relationships/viewProps" Target="viewProps.xml" /><Relationship Id="rId4" Type="http://schemas.openxmlformats.org/officeDocument/2006/relationships/slide" Target="slides/slide2.xml" /><Relationship Id="rId40" Type="http://schemas.openxmlformats.org/officeDocument/2006/relationships/theme" Target="theme/theme1.xml" /><Relationship Id="rId41" Type="http://schemas.openxmlformats.org/officeDocument/2006/relationships/tableStyles" Target="tableStyles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sp>
        <p:nvSpPr>
          <p:cNvPr id="747" name="Google Shape;747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288134fe2cc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88134fe2cc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5" name="Shape 775"/>
        <p:cNvGrpSpPr/>
        <p:nvPr/>
      </p:nvGrpSpPr>
      <p:grpSpPr>
        <a:xfrm>
          <a:off x="0" y="0"/>
          <a:ext cx="0" cy="0"/>
        </a:xfrm>
      </p:grpSpPr>
      <p:sp>
        <p:nvSpPr>
          <p:cNvPr id="776" name="Google Shape;776;g288134fe2cc_0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88134fe2cc_0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3" name="Shape 783"/>
        <p:cNvGrpSpPr/>
        <p:nvPr/>
      </p:nvGrpSpPr>
      <p:grpSpPr>
        <a:xfrm>
          <a:off x="0" y="0"/>
          <a:ext cx="0" cy="0"/>
        </a:xfrm>
      </p:grpSpPr>
      <p:sp>
        <p:nvSpPr>
          <p:cNvPr id="784" name="Google Shape;784;g1e93869b39d_0_8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1e93869b39d_0_8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91" name="Shape 791"/>
        <p:cNvGrpSpPr/>
        <p:nvPr/>
      </p:nvGrpSpPr>
      <p:grpSpPr>
        <a:xfrm>
          <a:off x="0" y="0"/>
          <a:ext cx="0" cy="0"/>
        </a:xfrm>
      </p:grpSpPr>
      <p:sp>
        <p:nvSpPr>
          <p:cNvPr id="792" name="Google Shape;792;g1e93869b39d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1e93869b39d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09" name="Shape 809"/>
        <p:cNvGrpSpPr/>
        <p:nvPr/>
      </p:nvGrpSpPr>
      <p:grpSpPr>
        <a:xfrm>
          <a:off x="0" y="0"/>
          <a:ext cx="0" cy="0"/>
        </a:xfrm>
      </p:grpSpPr>
      <p:sp>
        <p:nvSpPr>
          <p:cNvPr id="810" name="Google Shape;810;g28c6433ae01_0_30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28c6433ae01_0_30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22" name="Shape 822"/>
        <p:cNvGrpSpPr/>
        <p:nvPr/>
      </p:nvGrpSpPr>
      <p:grpSpPr>
        <a:xfrm>
          <a:off x="0" y="0"/>
          <a:ext cx="0" cy="0"/>
        </a:xfrm>
      </p:grpSpPr>
      <p:sp>
        <p:nvSpPr>
          <p:cNvPr id="823" name="Google Shape;823;g1e93869b39d_0_17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1e93869b39d_0_17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35" name="Shape 835"/>
        <p:cNvGrpSpPr/>
        <p:nvPr/>
      </p:nvGrpSpPr>
      <p:grpSpPr>
        <a:xfrm>
          <a:off x="0" y="0"/>
          <a:ext cx="0" cy="0"/>
        </a:xfrm>
      </p:grpSpPr>
      <p:sp>
        <p:nvSpPr>
          <p:cNvPr id="836" name="Google Shape;836;g1e93869b39d_0_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1e93869b39d_0_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48" name="Shape 848"/>
        <p:cNvGrpSpPr/>
        <p:nvPr/>
      </p:nvGrpSpPr>
      <p:grpSpPr>
        <a:xfrm>
          <a:off x="0" y="0"/>
          <a:ext cx="0" cy="0"/>
        </a:xfrm>
      </p:grpSpPr>
      <p:sp>
        <p:nvSpPr>
          <p:cNvPr id="849" name="Google Shape;849;g1e93869b39d_0_13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1e93869b39d_0_1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58" name="Shape 858"/>
        <p:cNvGrpSpPr/>
        <p:nvPr/>
      </p:nvGrpSpPr>
      <p:grpSpPr>
        <a:xfrm>
          <a:off x="0" y="0"/>
          <a:ext cx="0" cy="0"/>
        </a:xfrm>
      </p:grpSpPr>
      <p:sp>
        <p:nvSpPr>
          <p:cNvPr id="859" name="Google Shape;859;g1e93869b39d_0_14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1e93869b39d_0_1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68" name="Shape 868"/>
        <p:cNvGrpSpPr/>
        <p:nvPr/>
      </p:nvGrpSpPr>
      <p:grpSpPr>
        <a:xfrm>
          <a:off x="0" y="0"/>
          <a:ext cx="0" cy="0"/>
        </a:xfrm>
      </p:grpSpPr>
      <p:sp>
        <p:nvSpPr>
          <p:cNvPr id="869" name="Google Shape;869;g1e93869b39d_0_16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1e93869b39d_0_16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6" name="Shape 876"/>
        <p:cNvGrpSpPr/>
        <p:nvPr/>
      </p:nvGrpSpPr>
      <p:grpSpPr>
        <a:xfrm>
          <a:off x="0" y="0"/>
          <a:ext cx="0" cy="0"/>
        </a:xfrm>
      </p:grpSpPr>
      <p:sp>
        <p:nvSpPr>
          <p:cNvPr id="877" name="Google Shape;877;g1e93869b39d_0_20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1e93869b39d_0_20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84" name="Shape 884"/>
        <p:cNvGrpSpPr/>
        <p:nvPr/>
      </p:nvGrpSpPr>
      <p:grpSpPr>
        <a:xfrm>
          <a:off x="0" y="0"/>
          <a:ext cx="0" cy="0"/>
        </a:xfrm>
      </p:grpSpPr>
      <p:sp>
        <p:nvSpPr>
          <p:cNvPr id="885" name="Google Shape;885;g1e93869b39d_0_18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1e93869b39d_0_18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98" name="Shape 898"/>
        <p:cNvGrpSpPr/>
        <p:nvPr/>
      </p:nvGrpSpPr>
      <p:grpSpPr>
        <a:xfrm>
          <a:off x="0" y="0"/>
          <a:ext cx="0" cy="0"/>
        </a:xfrm>
      </p:grpSpPr>
      <p:sp>
        <p:nvSpPr>
          <p:cNvPr id="899" name="Google Shape;899;g1e93869b39d_0_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1e93869b39d_0_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10" name="Shape 910"/>
        <p:cNvGrpSpPr/>
        <p:nvPr/>
      </p:nvGrpSpPr>
      <p:grpSpPr>
        <a:xfrm>
          <a:off x="0" y="0"/>
          <a:ext cx="0" cy="0"/>
        </a:xfrm>
      </p:grpSpPr>
      <p:sp>
        <p:nvSpPr>
          <p:cNvPr id="911" name="Google Shape;911;g1e93869b39d_0_1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1e93869b39d_0_1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26" name="Shape 926"/>
        <p:cNvGrpSpPr/>
        <p:nvPr/>
      </p:nvGrpSpPr>
      <p:grpSpPr>
        <a:xfrm>
          <a:off x="0" y="0"/>
          <a:ext cx="0" cy="0"/>
        </a:xfrm>
      </p:grpSpPr>
      <p:sp>
        <p:nvSpPr>
          <p:cNvPr id="927" name="Google Shape;927;g1e93869b39d_0_1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1e93869b39d_0_1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41" name="Shape 941"/>
        <p:cNvGrpSpPr/>
        <p:nvPr/>
      </p:nvGrpSpPr>
      <p:grpSpPr>
        <a:xfrm>
          <a:off x="0" y="0"/>
          <a:ext cx="0" cy="0"/>
        </a:xfrm>
      </p:grpSpPr>
      <p:sp>
        <p:nvSpPr>
          <p:cNvPr id="942" name="Google Shape;942;g1e93869b39d_0_2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1e93869b39d_0_2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49" name="Shape 949"/>
        <p:cNvGrpSpPr/>
        <p:nvPr/>
      </p:nvGrpSpPr>
      <p:grpSpPr>
        <a:xfrm>
          <a:off x="0" y="0"/>
          <a:ext cx="0" cy="0"/>
        </a:xfrm>
      </p:grpSpPr>
      <p:sp>
        <p:nvSpPr>
          <p:cNvPr id="950" name="Google Shape;950;g28c6433ae01_0_6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28c6433ae01_0_6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63" name="Shape 963"/>
        <p:cNvGrpSpPr/>
        <p:nvPr/>
      </p:nvGrpSpPr>
      <p:grpSpPr>
        <a:xfrm>
          <a:off x="0" y="0"/>
          <a:ext cx="0" cy="0"/>
        </a:xfrm>
      </p:grpSpPr>
      <p:sp>
        <p:nvSpPr>
          <p:cNvPr id="964" name="Google Shape;964;g28c6433ae01_0_7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28c6433ae01_0_7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85" name="Shape 985"/>
        <p:cNvGrpSpPr/>
        <p:nvPr/>
      </p:nvGrpSpPr>
      <p:grpSpPr>
        <a:xfrm>
          <a:off x="0" y="0"/>
          <a:ext cx="0" cy="0"/>
        </a:xfrm>
      </p:grpSpPr>
      <p:sp>
        <p:nvSpPr>
          <p:cNvPr id="986" name="Google Shape;986;g28c6433ae01_0_9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28c6433ae01_0_9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95" name="Shape 995"/>
        <p:cNvGrpSpPr/>
        <p:nvPr/>
      </p:nvGrpSpPr>
      <p:grpSpPr>
        <a:xfrm>
          <a:off x="0" y="0"/>
          <a:ext cx="0" cy="0"/>
        </a:xfrm>
      </p:grpSpPr>
      <p:sp>
        <p:nvSpPr>
          <p:cNvPr id="996" name="Google Shape;996;g28c6433ae01_0_10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28c6433ae01_0_1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08" name="Shape 1008"/>
        <p:cNvGrpSpPr/>
        <p:nvPr/>
      </p:nvGrpSpPr>
      <p:grpSpPr>
        <a:xfrm>
          <a:off x="0" y="0"/>
          <a:ext cx="0" cy="0"/>
        </a:xfrm>
      </p:grpSpPr>
      <p:sp>
        <p:nvSpPr>
          <p:cNvPr id="1009" name="Google Shape;1009;g28c6433ae01_0_17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28c6433ae01_0_1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18" name="Shape 1018"/>
        <p:cNvGrpSpPr/>
        <p:nvPr/>
      </p:nvGrpSpPr>
      <p:grpSpPr>
        <a:xfrm>
          <a:off x="0" y="0"/>
          <a:ext cx="0" cy="0"/>
        </a:xfrm>
      </p:grpSpPr>
      <p:sp>
        <p:nvSpPr>
          <p:cNvPr id="1019" name="Google Shape;1019;g28c6433ae01_0_28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28c6433ae01_0_28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31" name="Shape 1031"/>
        <p:cNvGrpSpPr/>
        <p:nvPr/>
      </p:nvGrpSpPr>
      <p:grpSpPr>
        <a:xfrm>
          <a:off x="0" y="0"/>
          <a:ext cx="0" cy="0"/>
        </a:xfrm>
      </p:grpSpPr>
      <p:sp>
        <p:nvSpPr>
          <p:cNvPr id="1032" name="Google Shape;1032;g28c6433ae01_0_1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28c6433ae01_0_1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46" name="Shape 1046"/>
        <p:cNvGrpSpPr/>
        <p:nvPr/>
      </p:nvGrpSpPr>
      <p:grpSpPr>
        <a:xfrm>
          <a:off x="0" y="0"/>
          <a:ext cx="0" cy="0"/>
        </a:xfrm>
      </p:grpSpPr>
      <p:sp>
        <p:nvSpPr>
          <p:cNvPr id="1047" name="Google Shape;1047;g28c6433ae01_0_2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28c6433ae01_0_2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65" name="Shape 1065"/>
        <p:cNvGrpSpPr/>
        <p:nvPr/>
      </p:nvGrpSpPr>
      <p:grpSpPr>
        <a:xfrm>
          <a:off x="0" y="0"/>
          <a:ext cx="0" cy="0"/>
        </a:xfrm>
      </p:grpSpPr>
      <p:sp>
        <p:nvSpPr>
          <p:cNvPr id="1066" name="Google Shape;1066;g28c6433ae01_0_23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28c6433ae01_0_23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86" name="Shape 1086"/>
        <p:cNvGrpSpPr/>
        <p:nvPr/>
      </p:nvGrpSpPr>
      <p:grpSpPr>
        <a:xfrm>
          <a:off x="0" y="0"/>
          <a:ext cx="0" cy="0"/>
        </a:xfrm>
      </p:grpSpPr>
      <p:sp>
        <p:nvSpPr>
          <p:cNvPr id="1087" name="Google Shape;1087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92" name="Shape 1092"/>
        <p:cNvGrpSpPr/>
        <p:nvPr/>
      </p:nvGrpSpPr>
      <p:grpSpPr>
        <a:xfrm>
          <a:off x="0" y="0"/>
          <a:ext cx="0" cy="0"/>
        </a:xfrm>
      </p:grpSpPr>
      <p:sp>
        <p:nvSpPr>
          <p:cNvPr id="1093" name="Google Shape;1093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image" Target="../media/image42.png" /><Relationship Id="rId64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43.png" /><Relationship Id="rId4" Type="http://schemas.openxmlformats.org/officeDocument/2006/relationships/image" Target="../media/image44.png" /><Relationship Id="rId5" Type="http://schemas.openxmlformats.org/officeDocument/2006/relationships/image" Target="../media/image45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6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7.png" /><Relationship Id="rId4" Type="http://schemas.openxmlformats.org/officeDocument/2006/relationships/image" Target="../media/image48.png" /><Relationship Id="rId5" Type="http://schemas.openxmlformats.org/officeDocument/2006/relationships/image" Target="../media/image49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3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50.png" /><Relationship Id="rId4" Type="http://schemas.openxmlformats.org/officeDocument/2006/relationships/image" Target="../media/image4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3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50.png" /><Relationship Id="rId4" Type="http://schemas.openxmlformats.org/officeDocument/2006/relationships/image" Target="../media/image48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51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52.png" /><Relationship Id="rId4" Type="http://schemas.openxmlformats.org/officeDocument/2006/relationships/image" Target="../media/image51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52.png" /><Relationship Id="rId4" Type="http://schemas.openxmlformats.org/officeDocument/2006/relationships/image" Target="../media/image51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53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53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54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55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48.png" /><Relationship Id="rId4" Type="http://schemas.openxmlformats.org/officeDocument/2006/relationships/image" Target="../media/image54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55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46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56.png" /><Relationship Id="rId4" Type="http://schemas.openxmlformats.org/officeDocument/2006/relationships/image" Target="../media/image57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58.png" /><Relationship Id="rId4" Type="http://schemas.openxmlformats.org/officeDocument/2006/relationships/image" Target="../media/image57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59.png" /><Relationship Id="rId4" Type="http://schemas.openxmlformats.org/officeDocument/2006/relationships/image" Target="../media/image57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60.png" /><Relationship Id="rId4" Type="http://schemas.openxmlformats.org/officeDocument/2006/relationships/image" Target="../media/image57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0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48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61.png" /><Relationship Id="rId4" Type="http://schemas.openxmlformats.org/officeDocument/2006/relationships/image" Target="../media/image62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63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63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63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 /><Relationship Id="rId2" Type="http://schemas.openxmlformats.org/officeDocument/2006/relationships/notesSlide" Target="../notesSlides/notesSlide29.xm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30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6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graphical representations of data</a:t>
            </a:r>
            <a:endParaRPr/>
          </a:p>
        </p:txBody>
      </p:sp>
      <p:sp>
        <p:nvSpPr>
          <p:cNvPr id="751" name="Google Shape;751;p6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Graphical representations of data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6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use my understanding of various graphical representations to solve problems.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7"/>
          <p:cNvSpPr txBox="1"/>
          <p:nvPr/>
        </p:nvSpPr>
        <p:spPr>
          <a:xfrm>
            <a:off x="324000" y="940975"/>
            <a:ext cx="65763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A bar chart (bar graph) is a graph consisting of bars visually representing the frequency of objects or groups.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67" name="Google Shape;767;p67"/>
          <p:cNvGrpSpPr/>
          <p:nvPr/>
        </p:nvGrpSpPr>
        <p:grpSpPr>
          <a:xfrm>
            <a:off x="6556075" y="808075"/>
            <a:ext cx="1324106" cy="1321574"/>
            <a:chOff x="7089475" y="3551275"/>
            <a:chExt cx="1324106" cy="1321574"/>
          </a:xfrm>
        </p:grpSpPr>
        <p:pic>
          <p:nvPicPr>
            <p:cNvPr id="768" name="Google Shape;768;p6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327973" y="3684175"/>
              <a:ext cx="872990" cy="897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9" name="Google Shape;769;p67"/>
            <p:cNvSpPr txBox="1"/>
            <p:nvPr/>
          </p:nvSpPr>
          <p:spPr>
            <a:xfrm rot="-5400000">
              <a:off x="6787225" y="3853525"/>
              <a:ext cx="1052100" cy="44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b="1">
                  <a:latin typeface="Lexend"/>
                  <a:ea typeface="Lexend"/>
                  <a:cs typeface="Lexend"/>
                  <a:sym typeface="Lexend"/>
                </a:rPr>
                <a:t>frequency</a:t>
              </a:r>
              <a:endParaRPr sz="12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70" name="Google Shape;770;p67"/>
            <p:cNvSpPr txBox="1"/>
            <p:nvPr/>
          </p:nvSpPr>
          <p:spPr>
            <a:xfrm>
              <a:off x="7361481" y="4425249"/>
              <a:ext cx="1052100" cy="44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categories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71" name="Google Shape;771;p67"/>
          <p:cNvSpPr txBox="1"/>
          <p:nvPr/>
        </p:nvSpPr>
        <p:spPr>
          <a:xfrm>
            <a:off x="324000" y="2286625"/>
            <a:ext cx="62322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pie chart (pie graph) is a circular graph where sectors represent different groups proportionally.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2" name="Google Shape;772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5775" y="2321983"/>
            <a:ext cx="903651" cy="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7"/>
          <p:cNvSpPr txBox="1"/>
          <p:nvPr/>
        </p:nvSpPr>
        <p:spPr>
          <a:xfrm>
            <a:off x="324000" y="3546425"/>
            <a:ext cx="6232200" cy="11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scatter graph is a visual representation for bivariate data. It can be useful when determining the nature of the relationship between the variables.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4" name="Google Shape;774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7125" y="3450398"/>
            <a:ext cx="1324100" cy="1381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8" name="Shape 778"/>
        <p:cNvGrpSpPr/>
        <p:nvPr/>
      </p:nvGrpSpPr>
      <p:grpSpPr>
        <a:xfrm>
          <a:off x="0" y="0"/>
          <a:ext cx="0" cy="0"/>
        </a:xfrm>
      </p:grpSpPr>
      <p:sp>
        <p:nvSpPr>
          <p:cNvPr id="779" name="Google Shape;779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Problems with different representations of data</a:t>
            </a:r>
            <a:endParaRPr/>
          </a:p>
        </p:txBody>
      </p:sp>
      <p:sp>
        <p:nvSpPr>
          <p:cNvPr id="780" name="Google Shape;780;p68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Responding to additional data</a:t>
            </a:r>
            <a:endParaRPr/>
          </a:p>
        </p:txBody>
      </p:sp>
      <p:sp>
        <p:nvSpPr>
          <p:cNvPr id="781" name="Google Shape;781;p68"/>
          <p:cNvSpPr txBox="1"/>
          <p:nvPr>
            <p:ph type="title" idx="3"/>
          </p:nvPr>
        </p:nvSpPr>
        <p:spPr>
          <a:xfrm>
            <a:off x="324000" y="657600"/>
            <a:ext cx="63813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graphical representations of data</a:t>
            </a:r>
            <a:endParaRPr/>
          </a:p>
        </p:txBody>
      </p:sp>
      <p:pic>
        <p:nvPicPr>
          <p:cNvPr id="782" name="Google Shape;78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67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6" name="Shape 786"/>
        <p:cNvGrpSpPr/>
        <p:nvPr/>
      </p:nvGrpSpPr>
      <p:grpSpPr>
        <a:xfrm>
          <a:off x="0" y="0"/>
          <a:ext cx="0" cy="0"/>
        </a:xfrm>
      </p:grpSpPr>
      <p:sp>
        <p:nvSpPr>
          <p:cNvPr id="787" name="Google Shape;787;p69"/>
          <p:cNvSpPr txBox="1"/>
          <p:nvPr>
            <p:ph type="body" idx="1"/>
          </p:nvPr>
        </p:nvSpPr>
        <p:spPr>
          <a:xfrm>
            <a:off x="324000" y="759300"/>
            <a:ext cx="8496000" cy="107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Bar charts, pie charts and scatter graphs are common ways to represent data visually. However, they are </a:t>
            </a:r>
            <a:r>
              <a:rPr lang="en-GB" sz="2000">
                <a:solidFill>
                  <a:schemeClr val="accent4"/>
                </a:solidFill>
              </a:rPr>
              <a:t>not the only types</a:t>
            </a:r>
            <a:r>
              <a:rPr lang="en-GB" sz="2000"/>
              <a:t> of graphs.</a:t>
            </a:r>
            <a:endParaRPr sz="2000"/>
          </a:p>
        </p:txBody>
      </p:sp>
      <p:sp>
        <p:nvSpPr>
          <p:cNvPr id="788" name="Google Shape;788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Problems with different representations of data</a:t>
            </a:r>
            <a:endParaRPr/>
          </a:p>
        </p:txBody>
      </p:sp>
      <p:sp>
        <p:nvSpPr>
          <p:cNvPr id="789" name="Google Shape;789;p69"/>
          <p:cNvSpPr txBox="1"/>
          <p:nvPr>
            <p:ph type="body" idx="1"/>
          </p:nvPr>
        </p:nvSpPr>
        <p:spPr>
          <a:xfrm>
            <a:off x="321875" y="2012369"/>
            <a:ext cx="8496000" cy="76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Data can sometimes be presented using variations of these graphs or in other </a:t>
            </a:r>
            <a:r>
              <a:rPr lang="en-GB" sz="2000">
                <a:solidFill>
                  <a:schemeClr val="accent4"/>
                </a:solidFill>
              </a:rPr>
              <a:t>unusual</a:t>
            </a:r>
            <a:r>
              <a:rPr lang="en-GB" sz="2000"/>
              <a:t> ways.</a:t>
            </a:r>
            <a:endParaRPr sz="2000"/>
          </a:p>
        </p:txBody>
      </p:sp>
      <p:sp>
        <p:nvSpPr>
          <p:cNvPr id="790" name="Google Shape;790;p69"/>
          <p:cNvSpPr txBox="1"/>
          <p:nvPr>
            <p:ph type="body" idx="1"/>
          </p:nvPr>
        </p:nvSpPr>
        <p:spPr>
          <a:xfrm>
            <a:off x="323992" y="2921000"/>
            <a:ext cx="8496000" cy="82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An important skill for solving problems with data is to be able to </a:t>
            </a:r>
            <a:r>
              <a:rPr lang="en-GB" sz="2000">
                <a:solidFill>
                  <a:schemeClr val="accent4"/>
                </a:solidFill>
              </a:rPr>
              <a:t>interpret data</a:t>
            </a:r>
            <a:r>
              <a:rPr lang="en-GB" sz="2000"/>
              <a:t> when it is presented in novel ways. 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94" name="Shape 794"/>
        <p:cNvGrpSpPr/>
        <p:nvPr/>
      </p:nvGrpSpPr>
      <p:grpSpPr>
        <a:xfrm>
          <a:off x="0" y="0"/>
          <a:ext cx="0" cy="0"/>
        </a:xfrm>
      </p:grpSpPr>
      <p:sp>
        <p:nvSpPr>
          <p:cNvPr id="795" name="Google Shape;795;p70"/>
          <p:cNvSpPr txBox="1"/>
          <p:nvPr>
            <p:ph type="body" idx="1"/>
          </p:nvPr>
        </p:nvSpPr>
        <p:spPr>
          <a:xfrm>
            <a:off x="324000" y="759300"/>
            <a:ext cx="8496000" cy="32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The graph shows data about the population of Benin in 2016.</a:t>
            </a:r>
            <a:endParaRPr sz="1600"/>
          </a:p>
        </p:txBody>
      </p:sp>
      <p:sp>
        <p:nvSpPr>
          <p:cNvPr id="796" name="Google Shape;796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Problems with different representations of data</a:t>
            </a:r>
            <a:endParaRPr/>
          </a:p>
        </p:txBody>
      </p:sp>
      <p:pic>
        <p:nvPicPr>
          <p:cNvPr id="797" name="Google Shape;797;p70"/>
          <p:cNvPicPr preferRelativeResize="0"/>
          <p:nvPr/>
        </p:nvPicPr>
        <p:blipFill>
          <a:blip r:embed="rId3">
            <a:alphaModFix/>
          </a:blip>
          <a:srcRect t="5802" b="3387"/>
          <a:stretch>
            <a:fillRect/>
          </a:stretch>
        </p:blipFill>
        <p:spPr>
          <a:xfrm>
            <a:off x="4572000" y="1731628"/>
            <a:ext cx="4237050" cy="26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70"/>
          <p:cNvSpPr txBox="1"/>
          <p:nvPr>
            <p:ph type="body" idx="1"/>
          </p:nvPr>
        </p:nvSpPr>
        <p:spPr>
          <a:xfrm>
            <a:off x="324000" y="1719483"/>
            <a:ext cx="3996000" cy="32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There are more men than women.</a:t>
            </a:r>
            <a:endParaRPr sz="1600"/>
          </a:p>
        </p:txBody>
      </p:sp>
      <p:sp>
        <p:nvSpPr>
          <p:cNvPr id="799" name="Google Shape;799;p70"/>
          <p:cNvSpPr txBox="1"/>
          <p:nvPr>
            <p:ph type="body" idx="1"/>
          </p:nvPr>
        </p:nvSpPr>
        <p:spPr>
          <a:xfrm>
            <a:off x="324000" y="2459175"/>
            <a:ext cx="3996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The biggest population group is babies and toddlers.</a:t>
            </a:r>
            <a:endParaRPr sz="1600"/>
          </a:p>
        </p:txBody>
      </p:sp>
      <p:sp>
        <p:nvSpPr>
          <p:cNvPr id="800" name="Google Shape;800;p70"/>
          <p:cNvSpPr txBox="1"/>
          <p:nvPr>
            <p:ph type="body" idx="1"/>
          </p:nvPr>
        </p:nvSpPr>
        <p:spPr>
          <a:xfrm>
            <a:off x="324000" y="3430377"/>
            <a:ext cx="3996000" cy="3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There are not many elderly people.</a:t>
            </a:r>
            <a:endParaRPr sz="1600"/>
          </a:p>
        </p:txBody>
      </p:sp>
      <p:sp>
        <p:nvSpPr>
          <p:cNvPr id="801" name="Google Shape;801;p70"/>
          <p:cNvSpPr txBox="1"/>
          <p:nvPr>
            <p:ph type="body" idx="1"/>
          </p:nvPr>
        </p:nvSpPr>
        <p:spPr>
          <a:xfrm>
            <a:off x="324000" y="4186150"/>
            <a:ext cx="3996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The biggest population group is working-age men.</a:t>
            </a:r>
            <a:endParaRPr sz="1600"/>
          </a:p>
        </p:txBody>
      </p:sp>
      <p:sp>
        <p:nvSpPr>
          <p:cNvPr id="802" name="Google Shape;802;p70"/>
          <p:cNvSpPr txBox="1"/>
          <p:nvPr/>
        </p:nvSpPr>
        <p:spPr>
          <a:xfrm>
            <a:off x="239675" y="1018600"/>
            <a:ext cx="8569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Determine whether each of the following statements are true, based on this data.</a:t>
            </a:r>
            <a:endParaRPr sz="1600"/>
          </a:p>
        </p:txBody>
      </p:sp>
      <p:sp>
        <p:nvSpPr>
          <p:cNvPr id="803" name="Google Shape;803;p70"/>
          <p:cNvSpPr txBox="1"/>
          <p:nvPr>
            <p:ph type="body" idx="1"/>
          </p:nvPr>
        </p:nvSpPr>
        <p:spPr>
          <a:xfrm>
            <a:off x="5246126" y="1539106"/>
            <a:ext cx="571800" cy="32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male</a:t>
            </a:r>
            <a:endParaRPr sz="1600"/>
          </a:p>
        </p:txBody>
      </p:sp>
      <p:sp>
        <p:nvSpPr>
          <p:cNvPr id="804" name="Google Shape;804;p70"/>
          <p:cNvSpPr txBox="1"/>
          <p:nvPr>
            <p:ph type="body" idx="1"/>
          </p:nvPr>
        </p:nvSpPr>
        <p:spPr>
          <a:xfrm>
            <a:off x="7421799" y="1524300"/>
            <a:ext cx="762900" cy="32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female</a:t>
            </a:r>
            <a:endParaRPr sz="1600"/>
          </a:p>
        </p:txBody>
      </p:sp>
      <p:pic>
        <p:nvPicPr>
          <p:cNvPr id="805" name="Google Shape;805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9283" y="25528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56013" y="1653538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0358" y="34945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9588" y="4379879"/>
            <a:ext cx="396000" cy="41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12" name="Shape 812"/>
        <p:cNvGrpSpPr/>
        <p:nvPr/>
      </p:nvGrpSpPr>
      <p:grpSpPr>
        <a:xfrm>
          <a:off x="0" y="0"/>
          <a:ext cx="0" cy="0"/>
        </a:xfrm>
      </p:grpSpPr>
      <p:pic>
        <p:nvPicPr>
          <p:cNvPr id="813" name="Google Shape;813;p71"/>
          <p:cNvPicPr preferRelativeResize="0"/>
          <p:nvPr/>
        </p:nvPicPr>
        <p:blipFill>
          <a:blip r:embed="rId3">
            <a:alphaModFix/>
          </a:blip>
          <a:srcRect t="6420" b="3408"/>
          <a:stretch>
            <a:fillRect/>
          </a:stretch>
        </p:blipFill>
        <p:spPr>
          <a:xfrm>
            <a:off x="4824800" y="1826397"/>
            <a:ext cx="3995200" cy="2510478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1"/>
          <p:cNvSpPr txBox="1"/>
          <p:nvPr>
            <p:ph type="title"/>
          </p:nvPr>
        </p:nvSpPr>
        <p:spPr>
          <a:xfrm>
            <a:off x="324000" y="748782"/>
            <a:ext cx="8179200" cy="71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graph shows data about the population of Qatar in 2016.</a:t>
            </a:r>
            <a:br>
              <a:rPr lang="en-GB" sz="2000"/>
            </a:br>
            <a:r>
              <a:rPr lang="en-GB" sz="2000"/>
              <a:t>Which statement is true about Qatar in 2016?</a:t>
            </a:r>
            <a:endParaRPr sz="2600"/>
          </a:p>
        </p:txBody>
      </p:sp>
      <p:sp>
        <p:nvSpPr>
          <p:cNvPr id="815" name="Google Shape;815;p7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Problems with different representations of data</a:t>
            </a:r>
            <a:endParaRPr/>
          </a:p>
        </p:txBody>
      </p:sp>
      <p:sp>
        <p:nvSpPr>
          <p:cNvPr id="816" name="Google Shape;816;p71"/>
          <p:cNvSpPr txBox="1"/>
          <p:nvPr>
            <p:ph type="subTitle" idx="1"/>
          </p:nvPr>
        </p:nvSpPr>
        <p:spPr>
          <a:xfrm>
            <a:off x="1034425" y="1837775"/>
            <a:ext cx="3537600" cy="71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There were more men than women.</a:t>
            </a:r>
            <a:endParaRPr sz="1800"/>
          </a:p>
        </p:txBody>
      </p:sp>
      <p:sp>
        <p:nvSpPr>
          <p:cNvPr id="817" name="Google Shape;817;p71"/>
          <p:cNvSpPr txBox="1"/>
          <p:nvPr>
            <p:ph type="subTitle" idx="3"/>
          </p:nvPr>
        </p:nvSpPr>
        <p:spPr>
          <a:xfrm>
            <a:off x="1034425" y="2794249"/>
            <a:ext cx="3537600" cy="65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There were more women than men.</a:t>
            </a:r>
            <a:endParaRPr sz="1800"/>
          </a:p>
        </p:txBody>
      </p:sp>
      <p:sp>
        <p:nvSpPr>
          <p:cNvPr id="818" name="Google Shape;818;p71"/>
          <p:cNvSpPr txBox="1"/>
          <p:nvPr>
            <p:ph type="subTitle" idx="4"/>
          </p:nvPr>
        </p:nvSpPr>
        <p:spPr>
          <a:xfrm>
            <a:off x="1034425" y="3766975"/>
            <a:ext cx="3789600" cy="105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There were approximately the same number of men and women.</a:t>
            </a:r>
            <a:endParaRPr sz="1800"/>
          </a:p>
        </p:txBody>
      </p:sp>
      <p:sp>
        <p:nvSpPr>
          <p:cNvPr id="819" name="Google Shape;819;p71"/>
          <p:cNvSpPr txBox="1"/>
          <p:nvPr>
            <p:ph type="body" idx="4294967295"/>
          </p:nvPr>
        </p:nvSpPr>
        <p:spPr>
          <a:xfrm>
            <a:off x="5488501" y="1575705"/>
            <a:ext cx="571800" cy="32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male</a:t>
            </a:r>
            <a:endParaRPr sz="1600"/>
          </a:p>
        </p:txBody>
      </p:sp>
      <p:sp>
        <p:nvSpPr>
          <p:cNvPr id="820" name="Google Shape;820;p71"/>
          <p:cNvSpPr txBox="1"/>
          <p:nvPr>
            <p:ph type="body" idx="4294967295"/>
          </p:nvPr>
        </p:nvSpPr>
        <p:spPr>
          <a:xfrm>
            <a:off x="7364399" y="1575434"/>
            <a:ext cx="762900" cy="32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female</a:t>
            </a:r>
            <a:endParaRPr sz="1600"/>
          </a:p>
        </p:txBody>
      </p:sp>
      <p:pic>
        <p:nvPicPr>
          <p:cNvPr id="821" name="Google Shape;821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4008" y="198068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25" name="Shape 825"/>
        <p:cNvGrpSpPr/>
        <p:nvPr/>
      </p:nvGrpSpPr>
      <p:grpSpPr>
        <a:xfrm>
          <a:off x="0" y="0"/>
          <a:ext cx="0" cy="0"/>
        </a:xfrm>
      </p:grpSpPr>
      <p:pic>
        <p:nvPicPr>
          <p:cNvPr id="826" name="Google Shape;826;p72"/>
          <p:cNvPicPr preferRelativeResize="0"/>
          <p:nvPr/>
        </p:nvPicPr>
        <p:blipFill>
          <a:blip r:embed="rId3">
            <a:alphaModFix/>
          </a:blip>
          <a:srcRect t="6420" b="3408"/>
          <a:stretch>
            <a:fillRect/>
          </a:stretch>
        </p:blipFill>
        <p:spPr>
          <a:xfrm>
            <a:off x="4824800" y="1826397"/>
            <a:ext cx="3995200" cy="2510478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2"/>
          <p:cNvSpPr txBox="1"/>
          <p:nvPr>
            <p:ph type="title"/>
          </p:nvPr>
        </p:nvSpPr>
        <p:spPr>
          <a:xfrm>
            <a:off x="324000" y="748782"/>
            <a:ext cx="8179200" cy="71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graph shows data about the population of Qatar in 2016.</a:t>
            </a:r>
            <a:br>
              <a:rPr lang="en-GB" sz="2000"/>
            </a:br>
            <a:r>
              <a:rPr lang="en-GB" sz="2000"/>
              <a:t>Which is the biggest population group in this data?</a:t>
            </a:r>
            <a:endParaRPr sz="2600"/>
          </a:p>
        </p:txBody>
      </p:sp>
      <p:sp>
        <p:nvSpPr>
          <p:cNvPr id="828" name="Google Shape;828;p7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Problems with different representations of data</a:t>
            </a:r>
            <a:endParaRPr/>
          </a:p>
        </p:txBody>
      </p:sp>
      <p:sp>
        <p:nvSpPr>
          <p:cNvPr id="829" name="Google Shape;829;p72"/>
          <p:cNvSpPr txBox="1"/>
          <p:nvPr>
            <p:ph type="subTitle" idx="1"/>
          </p:nvPr>
        </p:nvSpPr>
        <p:spPr>
          <a:xfrm>
            <a:off x="1034425" y="1837775"/>
            <a:ext cx="3537600" cy="71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babies and toddlers</a:t>
            </a:r>
            <a:endParaRPr sz="2000"/>
          </a:p>
        </p:txBody>
      </p:sp>
      <p:sp>
        <p:nvSpPr>
          <p:cNvPr id="830" name="Google Shape;830;p72"/>
          <p:cNvSpPr txBox="1"/>
          <p:nvPr>
            <p:ph type="subTitle" idx="3"/>
          </p:nvPr>
        </p:nvSpPr>
        <p:spPr>
          <a:xfrm>
            <a:off x="1034425" y="2794249"/>
            <a:ext cx="3537600" cy="65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working-age men</a:t>
            </a:r>
            <a:endParaRPr sz="2000"/>
          </a:p>
        </p:txBody>
      </p:sp>
      <p:sp>
        <p:nvSpPr>
          <p:cNvPr id="831" name="Google Shape;831;p72"/>
          <p:cNvSpPr txBox="1"/>
          <p:nvPr>
            <p:ph type="subTitle" idx="4"/>
          </p:nvPr>
        </p:nvSpPr>
        <p:spPr>
          <a:xfrm>
            <a:off x="1034425" y="3766974"/>
            <a:ext cx="35178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elderly women</a:t>
            </a:r>
            <a:endParaRPr sz="2000"/>
          </a:p>
        </p:txBody>
      </p:sp>
      <p:sp>
        <p:nvSpPr>
          <p:cNvPr id="832" name="Google Shape;832;p72"/>
          <p:cNvSpPr txBox="1"/>
          <p:nvPr>
            <p:ph type="body" idx="4294967295"/>
          </p:nvPr>
        </p:nvSpPr>
        <p:spPr>
          <a:xfrm>
            <a:off x="5488501" y="1575705"/>
            <a:ext cx="571800" cy="32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male</a:t>
            </a:r>
            <a:endParaRPr sz="1600"/>
          </a:p>
        </p:txBody>
      </p:sp>
      <p:sp>
        <p:nvSpPr>
          <p:cNvPr id="833" name="Google Shape;833;p72"/>
          <p:cNvSpPr txBox="1"/>
          <p:nvPr>
            <p:ph type="body" idx="4294967295"/>
          </p:nvPr>
        </p:nvSpPr>
        <p:spPr>
          <a:xfrm>
            <a:off x="7364399" y="1575434"/>
            <a:ext cx="762900" cy="32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female</a:t>
            </a:r>
            <a:endParaRPr sz="1600"/>
          </a:p>
        </p:txBody>
      </p:sp>
      <p:pic>
        <p:nvPicPr>
          <p:cNvPr id="834" name="Google Shape;834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6858" y="27942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38" name="Shape 838"/>
        <p:cNvGrpSpPr/>
        <p:nvPr/>
      </p:nvGrpSpPr>
      <p:grpSpPr>
        <a:xfrm>
          <a:off x="0" y="0"/>
          <a:ext cx="0" cy="0"/>
        </a:xfrm>
      </p:grpSpPr>
      <p:sp>
        <p:nvSpPr>
          <p:cNvPr id="839" name="Google Shape;839;p73"/>
          <p:cNvSpPr txBox="1"/>
          <p:nvPr>
            <p:ph type="body" idx="1"/>
          </p:nvPr>
        </p:nvSpPr>
        <p:spPr>
          <a:xfrm>
            <a:off x="324000" y="759300"/>
            <a:ext cx="8496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graph shows data from the Met Office about the average rainfall (mm) per month in Aberporth, from 1941 to 2022.</a:t>
            </a:r>
            <a:endParaRPr sz="1800"/>
          </a:p>
        </p:txBody>
      </p:sp>
      <p:sp>
        <p:nvSpPr>
          <p:cNvPr id="840" name="Google Shape;840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Problems with different representations of data</a:t>
            </a:r>
            <a:endParaRPr/>
          </a:p>
        </p:txBody>
      </p:sp>
      <p:sp>
        <p:nvSpPr>
          <p:cNvPr id="841" name="Google Shape;841;p73"/>
          <p:cNvSpPr txBox="1"/>
          <p:nvPr>
            <p:ph type="body" idx="1"/>
          </p:nvPr>
        </p:nvSpPr>
        <p:spPr>
          <a:xfrm>
            <a:off x="334583" y="1620000"/>
            <a:ext cx="3996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Which month tends to be the wettest?</a:t>
            </a:r>
            <a:endParaRPr sz="1600"/>
          </a:p>
        </p:txBody>
      </p:sp>
      <p:pic>
        <p:nvPicPr>
          <p:cNvPr id="842" name="Google Shape;84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2529" y="1518600"/>
            <a:ext cx="3453395" cy="331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73"/>
          <p:cNvSpPr txBox="1"/>
          <p:nvPr>
            <p:ph type="body" idx="1"/>
          </p:nvPr>
        </p:nvSpPr>
        <p:spPr>
          <a:xfrm>
            <a:off x="334583" y="2700000"/>
            <a:ext cx="3996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Which month tends to be the driest?</a:t>
            </a:r>
            <a:endParaRPr sz="1600"/>
          </a:p>
        </p:txBody>
      </p:sp>
      <p:sp>
        <p:nvSpPr>
          <p:cNvPr id="844" name="Google Shape;844;p73"/>
          <p:cNvSpPr txBox="1"/>
          <p:nvPr>
            <p:ph type="body" idx="1"/>
          </p:nvPr>
        </p:nvSpPr>
        <p:spPr>
          <a:xfrm>
            <a:off x="324000" y="3773400"/>
            <a:ext cx="3996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Which month tends to be wetter: February or August?</a:t>
            </a:r>
            <a:endParaRPr sz="1600"/>
          </a:p>
        </p:txBody>
      </p:sp>
      <p:sp>
        <p:nvSpPr>
          <p:cNvPr id="845" name="Google Shape;845;p73"/>
          <p:cNvSpPr txBox="1"/>
          <p:nvPr>
            <p:ph type="body" idx="1"/>
          </p:nvPr>
        </p:nvSpPr>
        <p:spPr>
          <a:xfrm>
            <a:off x="1568375" y="1918488"/>
            <a:ext cx="1164000" cy="4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November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46" name="Google Shape;846;p73"/>
          <p:cNvSpPr txBox="1"/>
          <p:nvPr>
            <p:ph type="body" idx="1"/>
          </p:nvPr>
        </p:nvSpPr>
        <p:spPr>
          <a:xfrm>
            <a:off x="1852175" y="3002225"/>
            <a:ext cx="880200" cy="4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April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47" name="Google Shape;847;p73"/>
          <p:cNvSpPr txBox="1"/>
          <p:nvPr>
            <p:ph type="body" idx="1"/>
          </p:nvPr>
        </p:nvSpPr>
        <p:spPr>
          <a:xfrm>
            <a:off x="1244700" y="4320000"/>
            <a:ext cx="1221300" cy="4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August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51" name="Shape 851"/>
        <p:cNvGrpSpPr/>
        <p:nvPr/>
      </p:nvGrpSpPr>
      <p:grpSpPr>
        <a:xfrm>
          <a:off x="0" y="0"/>
          <a:ext cx="0" cy="0"/>
        </a:xfrm>
      </p:grpSpPr>
      <p:sp>
        <p:nvSpPr>
          <p:cNvPr id="852" name="Google Shape;852;p74"/>
          <p:cNvSpPr txBox="1"/>
          <p:nvPr>
            <p:ph type="body" idx="1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same data can be displayed using </a:t>
            </a:r>
            <a:r>
              <a:rPr lang="en-GB" sz="1800">
                <a:solidFill>
                  <a:schemeClr val="accent4"/>
                </a:solidFill>
              </a:rPr>
              <a:t>multiple</a:t>
            </a:r>
            <a:r>
              <a:rPr lang="en-GB" sz="1800"/>
              <a:t> different representations.</a:t>
            </a:r>
            <a:endParaRPr sz="1800"/>
          </a:p>
        </p:txBody>
      </p:sp>
      <p:sp>
        <p:nvSpPr>
          <p:cNvPr id="853" name="Google Shape;853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Problems with different representations of data</a:t>
            </a:r>
            <a:endParaRPr/>
          </a:p>
        </p:txBody>
      </p:sp>
      <p:pic>
        <p:nvPicPr>
          <p:cNvPr id="854" name="Google Shape;85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804" y="2285850"/>
            <a:ext cx="4200546" cy="256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1701" y="2170517"/>
            <a:ext cx="2784594" cy="2670175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74"/>
          <p:cNvSpPr txBox="1"/>
          <p:nvPr>
            <p:ph type="body" idx="1"/>
          </p:nvPr>
        </p:nvSpPr>
        <p:spPr>
          <a:xfrm>
            <a:off x="324000" y="113895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Using multiple representations for the same data is </a:t>
            </a:r>
            <a:r>
              <a:rPr lang="en-GB" sz="1800">
                <a:solidFill>
                  <a:schemeClr val="accent4"/>
                </a:solidFill>
              </a:rPr>
              <a:t>not</a:t>
            </a:r>
            <a:r>
              <a:rPr lang="en-GB" sz="1800"/>
              <a:t> </a:t>
            </a:r>
            <a:r>
              <a:rPr lang="en-GB" sz="1800">
                <a:solidFill>
                  <a:schemeClr val="accent4"/>
                </a:solidFill>
              </a:rPr>
              <a:t>always necessary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857" name="Google Shape;857;p74"/>
          <p:cNvSpPr txBox="1"/>
          <p:nvPr>
            <p:ph type="body" idx="1"/>
          </p:nvPr>
        </p:nvSpPr>
        <p:spPr>
          <a:xfrm>
            <a:off x="324000" y="1490325"/>
            <a:ext cx="8496000" cy="66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It may be better to choose a graph that presents what you want to see about the data in the </a:t>
            </a:r>
            <a:r>
              <a:rPr lang="en-GB" sz="1800">
                <a:solidFill>
                  <a:schemeClr val="accent4"/>
                </a:solidFill>
              </a:rPr>
              <a:t>clearest</a:t>
            </a:r>
            <a:r>
              <a:rPr lang="en-GB" sz="1800"/>
              <a:t> way.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61" name="Shape 861"/>
        <p:cNvGrpSpPr/>
        <p:nvPr/>
      </p:nvGrpSpPr>
      <p:grpSpPr>
        <a:xfrm>
          <a:off x="0" y="0"/>
          <a:ext cx="0" cy="0"/>
        </a:xfrm>
      </p:grpSpPr>
      <p:sp>
        <p:nvSpPr>
          <p:cNvPr id="862" name="Google Shape;862;p75"/>
          <p:cNvSpPr txBox="1"/>
          <p:nvPr>
            <p:ph type="body" idx="1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could be the advantages of using each type of chart?</a:t>
            </a:r>
            <a:endParaRPr sz="1800"/>
          </a:p>
        </p:txBody>
      </p:sp>
      <p:sp>
        <p:nvSpPr>
          <p:cNvPr id="863" name="Google Shape;863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Problems with different representations of data</a:t>
            </a:r>
            <a:endParaRPr/>
          </a:p>
        </p:txBody>
      </p:sp>
      <p:pic>
        <p:nvPicPr>
          <p:cNvPr id="864" name="Google Shape;86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804" y="2285850"/>
            <a:ext cx="4200546" cy="256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1701" y="2170517"/>
            <a:ext cx="2784594" cy="2670175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75"/>
          <p:cNvSpPr txBox="1"/>
          <p:nvPr>
            <p:ph type="body" idx="1"/>
          </p:nvPr>
        </p:nvSpPr>
        <p:spPr>
          <a:xfrm>
            <a:off x="324000" y="121515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Bar chart: easier to compare one month with another.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7" name="Google Shape;867;p75"/>
          <p:cNvSpPr txBox="1"/>
          <p:nvPr>
            <p:ph type="body" idx="1"/>
          </p:nvPr>
        </p:nvSpPr>
        <p:spPr>
          <a:xfrm>
            <a:off x="324000" y="1718925"/>
            <a:ext cx="8496000" cy="45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Radar chart: shows the year as a cycle, linking December with January.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71" name="Shape 871"/>
        <p:cNvGrpSpPr/>
        <p:nvPr/>
      </p:nvGrpSpPr>
      <p:grpSpPr>
        <a:xfrm>
          <a:off x="0" y="0"/>
          <a:ext cx="0" cy="0"/>
        </a:xfrm>
      </p:grpSpPr>
      <p:sp>
        <p:nvSpPr>
          <p:cNvPr id="872" name="Google Shape;872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Problems with different representations of data</a:t>
            </a:r>
            <a:endParaRPr/>
          </a:p>
        </p:txBody>
      </p:sp>
      <p:sp>
        <p:nvSpPr>
          <p:cNvPr id="873" name="Google Shape;873;p76"/>
          <p:cNvSpPr txBox="1"/>
          <p:nvPr>
            <p:ph type="body" idx="1"/>
          </p:nvPr>
        </p:nvSpPr>
        <p:spPr>
          <a:xfrm>
            <a:off x="324000" y="759300"/>
            <a:ext cx="8237700" cy="4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Based on the data below, which month tends to be the </a:t>
            </a:r>
            <a:r>
              <a:rPr lang="en-GB" sz="2000">
                <a:solidFill>
                  <a:schemeClr val="accent4"/>
                </a:solidFill>
              </a:rPr>
              <a:t>wettest</a:t>
            </a:r>
            <a:r>
              <a:rPr lang="en-GB" sz="2000"/>
              <a:t>?</a:t>
            </a:r>
            <a:endParaRPr sz="2000"/>
          </a:p>
        </p:txBody>
      </p:sp>
      <p:pic>
        <p:nvPicPr>
          <p:cNvPr id="874" name="Google Shape;87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6389" y="1306500"/>
            <a:ext cx="3571225" cy="3408074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76"/>
          <p:cNvSpPr txBox="1"/>
          <p:nvPr>
            <p:ph type="body" idx="1"/>
          </p:nvPr>
        </p:nvSpPr>
        <p:spPr>
          <a:xfrm>
            <a:off x="1428900" y="2874888"/>
            <a:ext cx="1164000" cy="4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October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79" name="Shape 879"/>
        <p:cNvGrpSpPr/>
        <p:nvPr/>
      </p:nvGrpSpPr>
      <p:grpSpPr>
        <a:xfrm>
          <a:off x="0" y="0"/>
          <a:ext cx="0" cy="0"/>
        </a:xfrm>
      </p:grpSpPr>
      <p:sp>
        <p:nvSpPr>
          <p:cNvPr id="880" name="Google Shape;880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Problems with different representations of data</a:t>
            </a:r>
            <a:endParaRPr/>
          </a:p>
        </p:txBody>
      </p:sp>
      <p:sp>
        <p:nvSpPr>
          <p:cNvPr id="881" name="Google Shape;881;p77"/>
          <p:cNvSpPr txBox="1"/>
          <p:nvPr>
            <p:ph type="body" idx="1"/>
          </p:nvPr>
        </p:nvSpPr>
        <p:spPr>
          <a:xfrm>
            <a:off x="324000" y="759300"/>
            <a:ext cx="8237700" cy="4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Based on the data below, which month tends to be the </a:t>
            </a:r>
            <a:r>
              <a:rPr lang="en-GB" sz="2000">
                <a:solidFill>
                  <a:schemeClr val="accent4"/>
                </a:solidFill>
              </a:rPr>
              <a:t>dryest</a:t>
            </a:r>
            <a:r>
              <a:rPr lang="en-GB" sz="2000"/>
              <a:t>?</a:t>
            </a:r>
            <a:endParaRPr sz="2000"/>
          </a:p>
        </p:txBody>
      </p:sp>
      <p:pic>
        <p:nvPicPr>
          <p:cNvPr id="882" name="Google Shape;88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6389" y="1306500"/>
            <a:ext cx="3571225" cy="3408074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77"/>
          <p:cNvSpPr txBox="1"/>
          <p:nvPr>
            <p:ph type="body" idx="1"/>
          </p:nvPr>
        </p:nvSpPr>
        <p:spPr>
          <a:xfrm>
            <a:off x="6424250" y="3679213"/>
            <a:ext cx="1164000" cy="4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May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87" name="Shape 887"/>
        <p:cNvGrpSpPr/>
        <p:nvPr/>
      </p:nvGrpSpPr>
      <p:grpSpPr>
        <a:xfrm>
          <a:off x="0" y="0"/>
          <a:ext cx="0" cy="0"/>
        </a:xfrm>
      </p:grpSpPr>
      <p:pic>
        <p:nvPicPr>
          <p:cNvPr id="888" name="Google Shape;888;p78"/>
          <p:cNvPicPr preferRelativeResize="0"/>
          <p:nvPr/>
        </p:nvPicPr>
        <p:blipFill>
          <a:blip r:embed="rId3">
            <a:alphaModFix/>
          </a:blip>
          <a:srcRect l="642" t="6729" r="543" b="3664"/>
          <a:stretch>
            <a:fillRect/>
          </a:stretch>
        </p:blipFill>
        <p:spPr>
          <a:xfrm>
            <a:off x="4595400" y="1796325"/>
            <a:ext cx="4213056" cy="2662450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7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Problems with different representations of data</a:t>
            </a:r>
            <a:endParaRPr/>
          </a:p>
        </p:txBody>
      </p:sp>
      <p:sp>
        <p:nvSpPr>
          <p:cNvPr id="890" name="Google Shape;890;p78"/>
          <p:cNvSpPr txBox="1"/>
          <p:nvPr>
            <p:ph type="body" idx="4294967295"/>
          </p:nvPr>
        </p:nvSpPr>
        <p:spPr>
          <a:xfrm>
            <a:off x="324000" y="759300"/>
            <a:ext cx="8496000" cy="32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The graph shows data about the population of Japan in 2016.</a:t>
            </a:r>
            <a:endParaRPr sz="1600"/>
          </a:p>
        </p:txBody>
      </p:sp>
      <p:sp>
        <p:nvSpPr>
          <p:cNvPr id="891" name="Google Shape;891;p78"/>
          <p:cNvSpPr txBox="1"/>
          <p:nvPr>
            <p:ph type="body" idx="4294967295"/>
          </p:nvPr>
        </p:nvSpPr>
        <p:spPr>
          <a:xfrm>
            <a:off x="552600" y="1696200"/>
            <a:ext cx="39960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There are significantly more men than women.</a:t>
            </a:r>
            <a:endParaRPr sz="1600"/>
          </a:p>
        </p:txBody>
      </p:sp>
      <p:sp>
        <p:nvSpPr>
          <p:cNvPr id="892" name="Google Shape;892;p78"/>
          <p:cNvSpPr txBox="1"/>
          <p:nvPr>
            <p:ph type="body" idx="4294967295"/>
          </p:nvPr>
        </p:nvSpPr>
        <p:spPr>
          <a:xfrm>
            <a:off x="552600" y="2535375"/>
            <a:ext cx="3996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The biggest population group is school-age children.</a:t>
            </a:r>
            <a:endParaRPr sz="1600"/>
          </a:p>
        </p:txBody>
      </p:sp>
      <p:sp>
        <p:nvSpPr>
          <p:cNvPr id="893" name="Google Shape;893;p78"/>
          <p:cNvSpPr txBox="1"/>
          <p:nvPr>
            <p:ph type="body" idx="4294967295"/>
          </p:nvPr>
        </p:nvSpPr>
        <p:spPr>
          <a:xfrm>
            <a:off x="552600" y="3398624"/>
            <a:ext cx="39960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There are not many people over 90 years old.</a:t>
            </a:r>
            <a:endParaRPr sz="1600"/>
          </a:p>
        </p:txBody>
      </p:sp>
      <p:sp>
        <p:nvSpPr>
          <p:cNvPr id="894" name="Google Shape;894;p78"/>
          <p:cNvSpPr txBox="1"/>
          <p:nvPr>
            <p:ph type="body" idx="4294967295"/>
          </p:nvPr>
        </p:nvSpPr>
        <p:spPr>
          <a:xfrm>
            <a:off x="552600" y="4262350"/>
            <a:ext cx="3996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The number of babies born has gone down over time.</a:t>
            </a:r>
            <a:endParaRPr sz="1600"/>
          </a:p>
        </p:txBody>
      </p:sp>
      <p:sp>
        <p:nvSpPr>
          <p:cNvPr id="895" name="Google Shape;895;p78"/>
          <p:cNvSpPr txBox="1"/>
          <p:nvPr/>
        </p:nvSpPr>
        <p:spPr>
          <a:xfrm>
            <a:off x="472225" y="1018600"/>
            <a:ext cx="833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 the statements below which are true, based on this data.</a:t>
            </a:r>
            <a:endParaRPr sz="1600"/>
          </a:p>
        </p:txBody>
      </p:sp>
      <p:sp>
        <p:nvSpPr>
          <p:cNvPr id="896" name="Google Shape;896;p78"/>
          <p:cNvSpPr txBox="1"/>
          <p:nvPr>
            <p:ph type="body" idx="4294967295"/>
          </p:nvPr>
        </p:nvSpPr>
        <p:spPr>
          <a:xfrm>
            <a:off x="5246126" y="1539106"/>
            <a:ext cx="571800" cy="32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male</a:t>
            </a:r>
            <a:endParaRPr sz="1600"/>
          </a:p>
        </p:txBody>
      </p:sp>
      <p:sp>
        <p:nvSpPr>
          <p:cNvPr id="897" name="Google Shape;897;p78"/>
          <p:cNvSpPr txBox="1"/>
          <p:nvPr>
            <p:ph type="body" idx="4294967295"/>
          </p:nvPr>
        </p:nvSpPr>
        <p:spPr>
          <a:xfrm>
            <a:off x="7421799" y="1524300"/>
            <a:ext cx="762900" cy="32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female</a:t>
            </a:r>
            <a:endParaRPr sz="1600"/>
          </a:p>
        </p:txBody>
      </p:sp>
    </p:spTree>
  </p:cSld>
  <p:clrMapOvr>
    <a:masterClrMapping/>
  </p:clrMapOvr>
  <p:transition/>
  <p:timing/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01" name="Shape 901"/>
        <p:cNvGrpSpPr/>
        <p:nvPr/>
      </p:nvGrpSpPr>
      <p:grpSpPr>
        <a:xfrm>
          <a:off x="0" y="0"/>
          <a:ext cx="0" cy="0"/>
        </a:xfrm>
      </p:grpSpPr>
      <p:sp>
        <p:nvSpPr>
          <p:cNvPr id="902" name="Google Shape;902;p7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Problems with different representations of data</a:t>
            </a:r>
            <a:endParaRPr/>
          </a:p>
        </p:txBody>
      </p:sp>
      <p:sp>
        <p:nvSpPr>
          <p:cNvPr id="903" name="Google Shape;903;p79"/>
          <p:cNvSpPr txBox="1"/>
          <p:nvPr>
            <p:ph type="body" idx="4294967295"/>
          </p:nvPr>
        </p:nvSpPr>
        <p:spPr>
          <a:xfrm>
            <a:off x="324000" y="759300"/>
            <a:ext cx="80004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2) The graph shows data from the Met Office about the average rainfall (mm) </a:t>
            </a:r>
            <a:br>
              <a:rPr lang="en-GB" sz="1600"/>
            </a:br>
            <a:r>
              <a:rPr lang="en-GB" sz="1600"/>
              <a:t>     per month in two towns, from 1941 to 2022.</a:t>
            </a:r>
            <a:endParaRPr sz="1600"/>
          </a:p>
        </p:txBody>
      </p:sp>
      <p:sp>
        <p:nvSpPr>
          <p:cNvPr id="904" name="Google Shape;904;p79"/>
          <p:cNvSpPr txBox="1"/>
          <p:nvPr>
            <p:ph type="body" idx="4294967295"/>
          </p:nvPr>
        </p:nvSpPr>
        <p:spPr>
          <a:xfrm>
            <a:off x="5667343" y="4472400"/>
            <a:ext cx="11916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Eastbourne</a:t>
            </a:r>
            <a:endParaRPr sz="1600"/>
          </a:p>
        </p:txBody>
      </p:sp>
      <p:sp>
        <p:nvSpPr>
          <p:cNvPr id="905" name="Google Shape;905;p79"/>
          <p:cNvSpPr txBox="1"/>
          <p:nvPr>
            <p:ph type="body" idx="4294967295"/>
          </p:nvPr>
        </p:nvSpPr>
        <p:spPr>
          <a:xfrm>
            <a:off x="324000" y="1616276"/>
            <a:ext cx="4878300" cy="277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a) Which town tends to get more rainfall?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b) Which town tends to have its wettest month </a:t>
            </a:r>
            <a:br>
              <a:rPr lang="en-GB" sz="1600"/>
            </a:br>
            <a:r>
              <a:rPr lang="en-GB" sz="1600"/>
              <a:t>     of the year in November?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c) Which tends to be wetter: </a:t>
            </a:r>
            <a:br>
              <a:rPr lang="en-GB" sz="1600"/>
            </a:br>
            <a:r>
              <a:rPr lang="en-GB" sz="1600"/>
              <a:t>    February in Eastbourne or July in Stornoway?</a:t>
            </a:r>
            <a:endParaRPr sz="1600"/>
          </a:p>
        </p:txBody>
      </p:sp>
      <p:sp>
        <p:nvSpPr>
          <p:cNvPr id="906" name="Google Shape;906;p79"/>
          <p:cNvSpPr txBox="1"/>
          <p:nvPr>
            <p:ph type="body" idx="4294967295"/>
          </p:nvPr>
        </p:nvSpPr>
        <p:spPr>
          <a:xfrm>
            <a:off x="7403060" y="4472400"/>
            <a:ext cx="11916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Stornoway</a:t>
            </a:r>
            <a:endParaRPr sz="1600"/>
          </a:p>
        </p:txBody>
      </p:sp>
      <p:pic>
        <p:nvPicPr>
          <p:cNvPr id="907" name="Google Shape;907;p79"/>
          <p:cNvPicPr preferRelativeResize="0"/>
          <p:nvPr/>
        </p:nvPicPr>
        <p:blipFill>
          <a:blip r:embed="rId3">
            <a:alphaModFix/>
          </a:blip>
          <a:srcRect b="1980"/>
          <a:stretch>
            <a:fillRect/>
          </a:stretch>
        </p:blipFill>
        <p:spPr>
          <a:xfrm>
            <a:off x="5183875" y="1237556"/>
            <a:ext cx="3499001" cy="3151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8" name="Google Shape;908;p79"/>
          <p:cNvCxnSpPr/>
          <p:nvPr/>
        </p:nvCxnSpPr>
        <p:spPr>
          <a:xfrm>
            <a:off x="5305292" y="4609150"/>
            <a:ext cx="3522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9" name="Google Shape;909;p79"/>
          <p:cNvCxnSpPr/>
          <p:nvPr/>
        </p:nvCxnSpPr>
        <p:spPr>
          <a:xfrm>
            <a:off x="7087525" y="4609150"/>
            <a:ext cx="316200" cy="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13" name="Shape 913"/>
        <p:cNvGrpSpPr/>
        <p:nvPr/>
      </p:nvGrpSpPr>
      <p:grpSpPr>
        <a:xfrm>
          <a:off x="0" y="0"/>
          <a:ext cx="0" cy="0"/>
        </a:xfrm>
      </p:grpSpPr>
      <p:sp>
        <p:nvSpPr>
          <p:cNvPr id="914" name="Google Shape;914;p80"/>
          <p:cNvSpPr txBox="1"/>
          <p:nvPr>
            <p:ph type="body" idx="4294967295"/>
          </p:nvPr>
        </p:nvSpPr>
        <p:spPr>
          <a:xfrm>
            <a:off x="552600" y="3398624"/>
            <a:ext cx="39960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There are not many people over 90 years old.</a:t>
            </a:r>
            <a:endParaRPr sz="1600"/>
          </a:p>
        </p:txBody>
      </p:sp>
      <p:sp>
        <p:nvSpPr>
          <p:cNvPr id="915" name="Google Shape;915;p80"/>
          <p:cNvSpPr txBox="1"/>
          <p:nvPr>
            <p:ph type="body" idx="4294967295"/>
          </p:nvPr>
        </p:nvSpPr>
        <p:spPr>
          <a:xfrm>
            <a:off x="552600" y="1696200"/>
            <a:ext cx="39960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There are significantly more men than women.</a:t>
            </a:r>
            <a:endParaRPr sz="1600"/>
          </a:p>
        </p:txBody>
      </p:sp>
      <p:sp>
        <p:nvSpPr>
          <p:cNvPr id="916" name="Google Shape;916;p8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Problems with different representations of data</a:t>
            </a:r>
            <a:endParaRPr/>
          </a:p>
        </p:txBody>
      </p:sp>
      <p:pic>
        <p:nvPicPr>
          <p:cNvPr id="917" name="Google Shape;91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9358" y="349606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80"/>
          <p:cNvPicPr preferRelativeResize="0"/>
          <p:nvPr/>
        </p:nvPicPr>
        <p:blipFill>
          <a:blip r:embed="rId4">
            <a:alphaModFix/>
          </a:blip>
          <a:srcRect l="642" t="6729" r="543" b="3664"/>
          <a:stretch>
            <a:fillRect/>
          </a:stretch>
        </p:blipFill>
        <p:spPr>
          <a:xfrm>
            <a:off x="4595400" y="1796325"/>
            <a:ext cx="4213056" cy="2662450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80"/>
          <p:cNvSpPr txBox="1"/>
          <p:nvPr>
            <p:ph type="body" idx="4294967295"/>
          </p:nvPr>
        </p:nvSpPr>
        <p:spPr>
          <a:xfrm>
            <a:off x="324000" y="759300"/>
            <a:ext cx="8496000" cy="32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The graph shows data about the population of Japan in 2016.</a:t>
            </a:r>
            <a:endParaRPr sz="1600"/>
          </a:p>
        </p:txBody>
      </p:sp>
      <p:sp>
        <p:nvSpPr>
          <p:cNvPr id="920" name="Google Shape;920;p80"/>
          <p:cNvSpPr txBox="1"/>
          <p:nvPr>
            <p:ph type="body" idx="4294967295"/>
          </p:nvPr>
        </p:nvSpPr>
        <p:spPr>
          <a:xfrm>
            <a:off x="552600" y="2535375"/>
            <a:ext cx="3996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The biggest population group is school-age children.</a:t>
            </a:r>
            <a:endParaRPr sz="1600"/>
          </a:p>
        </p:txBody>
      </p:sp>
      <p:sp>
        <p:nvSpPr>
          <p:cNvPr id="921" name="Google Shape;921;p80"/>
          <p:cNvSpPr txBox="1"/>
          <p:nvPr>
            <p:ph type="body" idx="4294967295"/>
          </p:nvPr>
        </p:nvSpPr>
        <p:spPr>
          <a:xfrm>
            <a:off x="552600" y="4262350"/>
            <a:ext cx="3996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The number of babies born has gone down over time.</a:t>
            </a:r>
            <a:endParaRPr sz="1600"/>
          </a:p>
        </p:txBody>
      </p:sp>
      <p:sp>
        <p:nvSpPr>
          <p:cNvPr id="922" name="Google Shape;922;p80"/>
          <p:cNvSpPr txBox="1"/>
          <p:nvPr/>
        </p:nvSpPr>
        <p:spPr>
          <a:xfrm>
            <a:off x="472225" y="1018600"/>
            <a:ext cx="833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 the statements below which are true, based on this data.</a:t>
            </a:r>
            <a:endParaRPr sz="1600"/>
          </a:p>
        </p:txBody>
      </p:sp>
      <p:sp>
        <p:nvSpPr>
          <p:cNvPr id="923" name="Google Shape;923;p80"/>
          <p:cNvSpPr txBox="1"/>
          <p:nvPr>
            <p:ph type="body" idx="4294967295"/>
          </p:nvPr>
        </p:nvSpPr>
        <p:spPr>
          <a:xfrm>
            <a:off x="5246126" y="1539106"/>
            <a:ext cx="571800" cy="32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male</a:t>
            </a:r>
            <a:endParaRPr sz="1600"/>
          </a:p>
        </p:txBody>
      </p:sp>
      <p:sp>
        <p:nvSpPr>
          <p:cNvPr id="924" name="Google Shape;924;p80"/>
          <p:cNvSpPr txBox="1"/>
          <p:nvPr>
            <p:ph type="body" idx="4294967295"/>
          </p:nvPr>
        </p:nvSpPr>
        <p:spPr>
          <a:xfrm>
            <a:off x="7421799" y="1524300"/>
            <a:ext cx="762900" cy="32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female</a:t>
            </a:r>
            <a:endParaRPr sz="1600"/>
          </a:p>
        </p:txBody>
      </p:sp>
      <p:pic>
        <p:nvPicPr>
          <p:cNvPr id="925" name="Google Shape;92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8083" y="43595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29" name="Shape 929"/>
        <p:cNvGrpSpPr/>
        <p:nvPr/>
      </p:nvGrpSpPr>
      <p:grpSpPr>
        <a:xfrm>
          <a:off x="0" y="0"/>
          <a:ext cx="0" cy="0"/>
        </a:xfrm>
      </p:grpSpPr>
      <p:sp>
        <p:nvSpPr>
          <p:cNvPr id="930" name="Google Shape;930;p8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Problems with different representations of data</a:t>
            </a:r>
            <a:endParaRPr/>
          </a:p>
        </p:txBody>
      </p:sp>
      <p:sp>
        <p:nvSpPr>
          <p:cNvPr id="931" name="Google Shape;931;p81"/>
          <p:cNvSpPr txBox="1"/>
          <p:nvPr>
            <p:ph type="body" idx="4294967295"/>
          </p:nvPr>
        </p:nvSpPr>
        <p:spPr>
          <a:xfrm>
            <a:off x="324000" y="759300"/>
            <a:ext cx="80004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2) The graph shows data from the Met Office about the average rainfall (mm) </a:t>
            </a:r>
            <a:br>
              <a:rPr lang="en-GB" sz="1600"/>
            </a:br>
            <a:r>
              <a:rPr lang="en-GB" sz="1600"/>
              <a:t>     per month in two towns, from 1941 to 2022.</a:t>
            </a:r>
            <a:endParaRPr sz="1600"/>
          </a:p>
        </p:txBody>
      </p:sp>
      <p:sp>
        <p:nvSpPr>
          <p:cNvPr id="932" name="Google Shape;932;p81"/>
          <p:cNvSpPr txBox="1"/>
          <p:nvPr>
            <p:ph type="body" idx="4294967295"/>
          </p:nvPr>
        </p:nvSpPr>
        <p:spPr>
          <a:xfrm>
            <a:off x="5667343" y="4472400"/>
            <a:ext cx="11916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Eastbourne</a:t>
            </a:r>
            <a:endParaRPr sz="1600"/>
          </a:p>
        </p:txBody>
      </p:sp>
      <p:sp>
        <p:nvSpPr>
          <p:cNvPr id="933" name="Google Shape;933;p81"/>
          <p:cNvSpPr txBox="1"/>
          <p:nvPr>
            <p:ph type="body" idx="4294967295"/>
          </p:nvPr>
        </p:nvSpPr>
        <p:spPr>
          <a:xfrm>
            <a:off x="324000" y="1616276"/>
            <a:ext cx="4878300" cy="277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a) Which town tends to get more rainfall?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600"/>
              <a:t>b) Which town tends to have its wettest month </a:t>
            </a:r>
            <a:br>
              <a:rPr lang="en-GB" sz="1600"/>
            </a:br>
            <a:r>
              <a:rPr lang="en-GB" sz="1600"/>
              <a:t>     of the year in November?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c) Which tends to be wetter: </a:t>
            </a:r>
            <a:br>
              <a:rPr lang="en-GB" sz="1600"/>
            </a:br>
            <a:r>
              <a:rPr lang="en-GB" sz="1600"/>
              <a:t>    Eastbourne in February or Stornoway in July?</a:t>
            </a:r>
            <a:endParaRPr sz="1600"/>
          </a:p>
        </p:txBody>
      </p:sp>
      <p:sp>
        <p:nvSpPr>
          <p:cNvPr id="934" name="Google Shape;934;p81"/>
          <p:cNvSpPr txBox="1"/>
          <p:nvPr>
            <p:ph type="body" idx="4294967295"/>
          </p:nvPr>
        </p:nvSpPr>
        <p:spPr>
          <a:xfrm>
            <a:off x="7403060" y="4472400"/>
            <a:ext cx="11916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Stornoway</a:t>
            </a:r>
            <a:endParaRPr sz="1600"/>
          </a:p>
        </p:txBody>
      </p:sp>
      <p:pic>
        <p:nvPicPr>
          <p:cNvPr id="935" name="Google Shape;935;p81"/>
          <p:cNvPicPr preferRelativeResize="0"/>
          <p:nvPr/>
        </p:nvPicPr>
        <p:blipFill>
          <a:blip r:embed="rId3">
            <a:alphaModFix/>
          </a:blip>
          <a:srcRect b="1980"/>
          <a:stretch>
            <a:fillRect/>
          </a:stretch>
        </p:blipFill>
        <p:spPr>
          <a:xfrm>
            <a:off x="5183875" y="1237556"/>
            <a:ext cx="3499001" cy="3151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6" name="Google Shape;936;p81"/>
          <p:cNvCxnSpPr/>
          <p:nvPr/>
        </p:nvCxnSpPr>
        <p:spPr>
          <a:xfrm>
            <a:off x="5305292" y="4609150"/>
            <a:ext cx="3522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7" name="Google Shape;937;p81"/>
          <p:cNvCxnSpPr/>
          <p:nvPr/>
        </p:nvCxnSpPr>
        <p:spPr>
          <a:xfrm>
            <a:off x="7087525" y="4609150"/>
            <a:ext cx="316200" cy="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38" name="Google Shape;938;p81"/>
          <p:cNvSpPr txBox="1"/>
          <p:nvPr>
            <p:ph type="body" idx="4294967295"/>
          </p:nvPr>
        </p:nvSpPr>
        <p:spPr>
          <a:xfrm>
            <a:off x="1827075" y="1918500"/>
            <a:ext cx="1191600" cy="4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Stornoway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9" name="Google Shape;939;p81"/>
          <p:cNvSpPr txBox="1"/>
          <p:nvPr>
            <p:ph type="body" idx="4294967295"/>
          </p:nvPr>
        </p:nvSpPr>
        <p:spPr>
          <a:xfrm>
            <a:off x="1827075" y="3131350"/>
            <a:ext cx="1191600" cy="4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Eastbourne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0" name="Google Shape;940;p81"/>
          <p:cNvSpPr txBox="1"/>
          <p:nvPr>
            <p:ph type="body" idx="4294967295"/>
          </p:nvPr>
        </p:nvSpPr>
        <p:spPr>
          <a:xfrm>
            <a:off x="1504975" y="4344200"/>
            <a:ext cx="2179800" cy="4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Stornoway in July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44" name="Shape 944"/>
        <p:cNvGrpSpPr/>
        <p:nvPr/>
      </p:nvGrpSpPr>
      <p:grpSpPr>
        <a:xfrm>
          <a:off x="0" y="0"/>
          <a:ext cx="0" cy="0"/>
        </a:xfrm>
      </p:grpSpPr>
      <p:sp>
        <p:nvSpPr>
          <p:cNvPr id="945" name="Google Shape;945;p82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Problems with different representations of data</a:t>
            </a:r>
            <a:endParaRPr/>
          </a:p>
        </p:txBody>
      </p:sp>
      <p:sp>
        <p:nvSpPr>
          <p:cNvPr id="946" name="Google Shape;946;p82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Responding to additional data</a:t>
            </a:r>
            <a:endParaRPr/>
          </a:p>
        </p:txBody>
      </p:sp>
      <p:sp>
        <p:nvSpPr>
          <p:cNvPr id="947" name="Google Shape;947;p82"/>
          <p:cNvSpPr txBox="1"/>
          <p:nvPr>
            <p:ph type="title" idx="3"/>
          </p:nvPr>
        </p:nvSpPr>
        <p:spPr>
          <a:xfrm>
            <a:off x="324000" y="657600"/>
            <a:ext cx="63813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graphical representations of data</a:t>
            </a:r>
            <a:endParaRPr/>
          </a:p>
        </p:txBody>
      </p:sp>
      <p:pic>
        <p:nvPicPr>
          <p:cNvPr id="948" name="Google Shape;94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10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52" name="Shape 952"/>
        <p:cNvGrpSpPr/>
        <p:nvPr/>
      </p:nvGrpSpPr>
      <p:grpSpPr>
        <a:xfrm>
          <a:off x="0" y="0"/>
          <a:ext cx="0" cy="0"/>
        </a:xfrm>
      </p:grpSpPr>
      <p:pic>
        <p:nvPicPr>
          <p:cNvPr id="953" name="Google Shape;95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1074" y="2129370"/>
            <a:ext cx="4908750" cy="2669864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83"/>
          <p:cNvSpPr txBox="1"/>
          <p:nvPr>
            <p:ph type="body" idx="1"/>
          </p:nvPr>
        </p:nvSpPr>
        <p:spPr>
          <a:xfrm>
            <a:off x="324000" y="759300"/>
            <a:ext cx="8496000" cy="31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Jacob claims that summers tend to be getting wetter every year.</a:t>
            </a:r>
            <a:endParaRPr sz="1800"/>
          </a:p>
        </p:txBody>
      </p:sp>
      <p:sp>
        <p:nvSpPr>
          <p:cNvPr id="955" name="Google Shape;955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Responding to additional data</a:t>
            </a:r>
            <a:endParaRPr/>
          </a:p>
        </p:txBody>
      </p:sp>
      <p:sp>
        <p:nvSpPr>
          <p:cNvPr id="956" name="Google Shape;956;p83"/>
          <p:cNvSpPr txBox="1"/>
          <p:nvPr>
            <p:ph type="body" idx="1"/>
          </p:nvPr>
        </p:nvSpPr>
        <p:spPr>
          <a:xfrm>
            <a:off x="324000" y="2032200"/>
            <a:ext cx="3045600" cy="6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Why might this data not fully support his claim?</a:t>
            </a:r>
            <a:endParaRPr sz="1800"/>
          </a:p>
        </p:txBody>
      </p:sp>
      <p:sp>
        <p:nvSpPr>
          <p:cNvPr id="957" name="Google Shape;957;p83"/>
          <p:cNvSpPr txBox="1"/>
          <p:nvPr>
            <p:ph type="body" idx="1"/>
          </p:nvPr>
        </p:nvSpPr>
        <p:spPr>
          <a:xfrm>
            <a:off x="324000" y="2711650"/>
            <a:ext cx="3045600" cy="6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graph only shows five years of data.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8" name="Google Shape;958;p83"/>
          <p:cNvSpPr txBox="1"/>
          <p:nvPr>
            <p:ph type="body" idx="1"/>
          </p:nvPr>
        </p:nvSpPr>
        <p:spPr>
          <a:xfrm>
            <a:off x="324000" y="3695900"/>
            <a:ext cx="3045600" cy="6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How could he be more sure about his claim?</a:t>
            </a:r>
            <a:endParaRPr sz="1800"/>
          </a:p>
        </p:txBody>
      </p:sp>
      <p:sp>
        <p:nvSpPr>
          <p:cNvPr id="959" name="Google Shape;959;p83"/>
          <p:cNvSpPr txBox="1"/>
          <p:nvPr>
            <p:ph type="body" idx="1"/>
          </p:nvPr>
        </p:nvSpPr>
        <p:spPr>
          <a:xfrm>
            <a:off x="324000" y="4433300"/>
            <a:ext cx="3045600" cy="37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Collect more data.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60" name="Google Shape;960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09200" y="1397028"/>
            <a:ext cx="610800" cy="752397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83"/>
          <p:cNvSpPr txBox="1"/>
          <p:nvPr>
            <p:ph type="body" idx="1"/>
          </p:nvPr>
        </p:nvSpPr>
        <p:spPr>
          <a:xfrm>
            <a:off x="328225" y="1071052"/>
            <a:ext cx="8496000" cy="31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He presents rainfall data for each August in Bradford from 1998 to 2002.</a:t>
            </a:r>
            <a:endParaRPr sz="1800"/>
          </a:p>
        </p:txBody>
      </p:sp>
      <p:sp>
        <p:nvSpPr>
          <p:cNvPr id="962" name="Google Shape;962;p83"/>
          <p:cNvSpPr txBox="1"/>
          <p:nvPr>
            <p:ph type="body" idx="1"/>
          </p:nvPr>
        </p:nvSpPr>
        <p:spPr>
          <a:xfrm>
            <a:off x="332458" y="1388544"/>
            <a:ext cx="8496000" cy="31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graph appears to support his claim.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66" name="Shape 966"/>
        <p:cNvGrpSpPr/>
        <p:nvPr/>
      </p:nvGrpSpPr>
      <p:grpSpPr>
        <a:xfrm>
          <a:off x="0" y="0"/>
          <a:ext cx="0" cy="0"/>
        </a:xfrm>
      </p:grpSpPr>
      <p:pic>
        <p:nvPicPr>
          <p:cNvPr id="967" name="Google Shape;967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1075" y="2162218"/>
            <a:ext cx="4908750" cy="2648141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84"/>
          <p:cNvSpPr txBox="1"/>
          <p:nvPr>
            <p:ph type="body" idx="1"/>
          </p:nvPr>
        </p:nvSpPr>
        <p:spPr>
          <a:xfrm>
            <a:off x="324000" y="759300"/>
            <a:ext cx="81207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Jacob investigates his claim further by collecting rainfall data for the next four years.</a:t>
            </a:r>
            <a:endParaRPr sz="1800"/>
          </a:p>
        </p:txBody>
      </p:sp>
      <p:sp>
        <p:nvSpPr>
          <p:cNvPr id="969" name="Google Shape;969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Responding to additional data</a:t>
            </a:r>
            <a:endParaRPr/>
          </a:p>
        </p:txBody>
      </p:sp>
      <p:sp>
        <p:nvSpPr>
          <p:cNvPr id="970" name="Google Shape;970;p84"/>
          <p:cNvSpPr txBox="1"/>
          <p:nvPr>
            <p:ph type="body" idx="1"/>
          </p:nvPr>
        </p:nvSpPr>
        <p:spPr>
          <a:xfrm>
            <a:off x="324000" y="1445883"/>
            <a:ext cx="7687800" cy="37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Plot these new points on the graph.</a:t>
            </a:r>
            <a:endParaRPr sz="1800"/>
          </a:p>
        </p:txBody>
      </p:sp>
      <p:pic>
        <p:nvPicPr>
          <p:cNvPr id="971" name="Google Shape;971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09200" y="1397028"/>
            <a:ext cx="610800" cy="75239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72" name="Google Shape;972;p84"/>
          <p:cNvGraphicFramePr>
            <a:graphicFrameLocks noGrp="1"/>
          </p:cNvGraphicFramePr>
          <p:nvPr/>
        </p:nvGraphicFramePr>
        <p:xfrm>
          <a:off x="550325" y="20115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{54FE5E90-89FA-4B46-A919-A5256DBC45A0}</a:tableStyleId>
              </a:tblPr>
              <a:tblGrid>
                <a:gridCol w="896775"/>
                <a:gridCol w="17143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rainfall in August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9.6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189.9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47.5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92.7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73" name="Google Shape;973;p84"/>
          <p:cNvSpPr/>
          <p:nvPr/>
        </p:nvSpPr>
        <p:spPr>
          <a:xfrm>
            <a:off x="6716921" y="4265764"/>
            <a:ext cx="57300" cy="573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84"/>
          <p:cNvSpPr/>
          <p:nvPr/>
        </p:nvSpPr>
        <p:spPr>
          <a:xfrm>
            <a:off x="7249367" y="2374635"/>
            <a:ext cx="57300" cy="573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84"/>
          <p:cNvSpPr/>
          <p:nvPr/>
        </p:nvSpPr>
        <p:spPr>
          <a:xfrm>
            <a:off x="7773146" y="3861234"/>
            <a:ext cx="57300" cy="573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84"/>
          <p:cNvSpPr/>
          <p:nvPr/>
        </p:nvSpPr>
        <p:spPr>
          <a:xfrm>
            <a:off x="8280560" y="3392218"/>
            <a:ext cx="57300" cy="573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84"/>
          <p:cNvSpPr/>
          <p:nvPr/>
        </p:nvSpPr>
        <p:spPr>
          <a:xfrm>
            <a:off x="537950" y="2716857"/>
            <a:ext cx="2635200" cy="3495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84"/>
          <p:cNvSpPr/>
          <p:nvPr/>
        </p:nvSpPr>
        <p:spPr>
          <a:xfrm>
            <a:off x="537950" y="3152890"/>
            <a:ext cx="2635200" cy="3495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84"/>
          <p:cNvSpPr/>
          <p:nvPr/>
        </p:nvSpPr>
        <p:spPr>
          <a:xfrm>
            <a:off x="537950" y="3565640"/>
            <a:ext cx="2635200" cy="3495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84"/>
          <p:cNvSpPr/>
          <p:nvPr/>
        </p:nvSpPr>
        <p:spPr>
          <a:xfrm>
            <a:off x="537950" y="4001673"/>
            <a:ext cx="2635200" cy="3495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81" name="Google Shape;981;p84"/>
          <p:cNvCxnSpPr/>
          <p:nvPr/>
        </p:nvCxnSpPr>
        <p:spPr>
          <a:xfrm rot="10800000">
            <a:off x="6206995" y="3104455"/>
            <a:ext cx="528900" cy="1169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2" name="Google Shape;982;p84"/>
          <p:cNvCxnSpPr>
            <a:stCxn id="973" idx="7"/>
            <a:endCxn id="974" idx="3"/>
          </p:cNvCxnSpPr>
          <p:nvPr/>
        </p:nvCxnSpPr>
        <p:spPr>
          <a:xfrm rot="10800000" flipH="1">
            <a:off x="6765829" y="2423455"/>
            <a:ext cx="492000" cy="1850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3" name="Google Shape;983;p84"/>
          <p:cNvCxnSpPr>
            <a:stCxn id="975" idx="1"/>
            <a:endCxn id="974" idx="5"/>
          </p:cNvCxnSpPr>
          <p:nvPr/>
        </p:nvCxnSpPr>
        <p:spPr>
          <a:xfrm rot="10800000">
            <a:off x="7298237" y="2423626"/>
            <a:ext cx="483300" cy="1446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4" name="Google Shape;984;p84"/>
          <p:cNvCxnSpPr>
            <a:stCxn id="975" idx="7"/>
            <a:endCxn id="976" idx="3"/>
          </p:cNvCxnSpPr>
          <p:nvPr/>
        </p:nvCxnSpPr>
        <p:spPr>
          <a:xfrm rot="10800000" flipH="1">
            <a:off x="7822054" y="3441226"/>
            <a:ext cx="466800" cy="4284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88" name="Shape 988"/>
        <p:cNvGrpSpPr/>
        <p:nvPr/>
      </p:nvGrpSpPr>
      <p:grpSpPr>
        <a:xfrm>
          <a:off x="0" y="0"/>
          <a:ext cx="0" cy="0"/>
        </a:xfrm>
      </p:grpSpPr>
      <p:pic>
        <p:nvPicPr>
          <p:cNvPr id="989" name="Google Shape;98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58" y="2138275"/>
            <a:ext cx="4887200" cy="2651776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Responding to additional data</a:t>
            </a:r>
            <a:endParaRPr/>
          </a:p>
        </p:txBody>
      </p:sp>
      <p:pic>
        <p:nvPicPr>
          <p:cNvPr id="991" name="Google Shape;991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09200" y="1397028"/>
            <a:ext cx="610800" cy="752397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85"/>
          <p:cNvSpPr txBox="1"/>
          <p:nvPr/>
        </p:nvSpPr>
        <p:spPr>
          <a:xfrm>
            <a:off x="239333" y="1345417"/>
            <a:ext cx="77511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might this additional data affect Jacob’s claim that summers are getting wetter every year?</a:t>
            </a:r>
            <a:endParaRPr/>
          </a:p>
        </p:txBody>
      </p:sp>
      <p:sp>
        <p:nvSpPr>
          <p:cNvPr id="993" name="Google Shape;993;p85"/>
          <p:cNvSpPr txBox="1"/>
          <p:nvPr>
            <p:ph type="body" idx="1"/>
          </p:nvPr>
        </p:nvSpPr>
        <p:spPr>
          <a:xfrm>
            <a:off x="324000" y="759300"/>
            <a:ext cx="77511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Jacob investigates his claim further by collecting rainfall data for the next four years.</a:t>
            </a:r>
            <a:endParaRPr sz="1800"/>
          </a:p>
        </p:txBody>
      </p:sp>
      <p:sp>
        <p:nvSpPr>
          <p:cNvPr id="994" name="Google Shape;994;p85"/>
          <p:cNvSpPr txBox="1"/>
          <p:nvPr>
            <p:ph type="body" idx="1"/>
          </p:nvPr>
        </p:nvSpPr>
        <p:spPr>
          <a:xfrm>
            <a:off x="324000" y="2330650"/>
            <a:ext cx="3242100" cy="215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shows that the amount of rainfall in August has increased and decreased between 1998 and 2006, meaning that it has not gotten wetter every year.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98" name="Shape 998"/>
        <p:cNvGrpSpPr/>
        <p:nvPr/>
      </p:nvGrpSpPr>
      <p:grpSpPr>
        <a:xfrm>
          <a:off x="0" y="0"/>
          <a:ext cx="0" cy="0"/>
        </a:xfrm>
      </p:grpSpPr>
      <p:pic>
        <p:nvPicPr>
          <p:cNvPr id="999" name="Google Shape;99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1700" y="2152187"/>
            <a:ext cx="4856101" cy="2697262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86"/>
          <p:cNvSpPr txBox="1"/>
          <p:nvPr>
            <p:ph type="body" idx="1"/>
          </p:nvPr>
        </p:nvSpPr>
        <p:spPr>
          <a:xfrm>
            <a:off x="324000" y="759300"/>
            <a:ext cx="8496000" cy="37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He presents rainfall data for each August in Bradford from 1998 to 2022.</a:t>
            </a:r>
            <a:endParaRPr sz="1800"/>
          </a:p>
        </p:txBody>
      </p:sp>
      <p:sp>
        <p:nvSpPr>
          <p:cNvPr id="1001" name="Google Shape;100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Responding to additional data</a:t>
            </a:r>
            <a:endParaRPr/>
          </a:p>
        </p:txBody>
      </p:sp>
      <p:sp>
        <p:nvSpPr>
          <p:cNvPr id="1002" name="Google Shape;1002;p86"/>
          <p:cNvSpPr txBox="1"/>
          <p:nvPr>
            <p:ph type="body" idx="1"/>
          </p:nvPr>
        </p:nvSpPr>
        <p:spPr>
          <a:xfrm>
            <a:off x="324000" y="1105108"/>
            <a:ext cx="8496000" cy="6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There are some consecutive years where the amount of rainfall </a:t>
            </a:r>
            <a:r>
              <a:rPr lang="en-GB" sz="1800">
                <a:solidFill>
                  <a:schemeClr val="accent5"/>
                </a:solidFill>
              </a:rPr>
              <a:t>increased</a:t>
            </a:r>
            <a:r>
              <a:rPr lang="en-GB" sz="1800"/>
              <a:t> each year.</a:t>
            </a:r>
            <a:endParaRPr sz="1800"/>
          </a:p>
        </p:txBody>
      </p:sp>
      <p:pic>
        <p:nvPicPr>
          <p:cNvPr id="1003" name="Google Shape;1003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09200" y="1397028"/>
            <a:ext cx="610800" cy="752397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86"/>
          <p:cNvSpPr/>
          <p:nvPr/>
        </p:nvSpPr>
        <p:spPr>
          <a:xfrm>
            <a:off x="4085250" y="2924300"/>
            <a:ext cx="783300" cy="11853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86"/>
          <p:cNvSpPr txBox="1"/>
          <p:nvPr>
            <p:ph type="body" idx="1"/>
          </p:nvPr>
        </p:nvSpPr>
        <p:spPr>
          <a:xfrm>
            <a:off x="324000" y="2798425"/>
            <a:ext cx="3045600" cy="107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Only looking at small amounts of data can create false impressions.</a:t>
            </a:r>
            <a:endParaRPr sz="1800"/>
          </a:p>
        </p:txBody>
      </p:sp>
      <p:sp>
        <p:nvSpPr>
          <p:cNvPr id="1006" name="Google Shape;1006;p86"/>
          <p:cNvSpPr txBox="1"/>
          <p:nvPr>
            <p:ph type="body" idx="1"/>
          </p:nvPr>
        </p:nvSpPr>
        <p:spPr>
          <a:xfrm>
            <a:off x="313417" y="1760483"/>
            <a:ext cx="7687800" cy="6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But there are are also some consecutive years where the amount of rainfall </a:t>
            </a:r>
            <a:r>
              <a:rPr lang="en-GB" sz="1800">
                <a:solidFill>
                  <a:schemeClr val="accent5"/>
                </a:solidFill>
              </a:rPr>
              <a:t>decreased</a:t>
            </a:r>
            <a:r>
              <a:rPr lang="en-GB" sz="1800"/>
              <a:t> each year.</a:t>
            </a:r>
            <a:endParaRPr sz="1800"/>
          </a:p>
        </p:txBody>
      </p:sp>
      <p:sp>
        <p:nvSpPr>
          <p:cNvPr id="1007" name="Google Shape;1007;p86"/>
          <p:cNvSpPr/>
          <p:nvPr/>
        </p:nvSpPr>
        <p:spPr>
          <a:xfrm>
            <a:off x="6925808" y="2894642"/>
            <a:ext cx="783300" cy="11853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11" name="Shape 1011"/>
        <p:cNvGrpSpPr/>
        <p:nvPr/>
      </p:nvGrpSpPr>
      <p:grpSpPr>
        <a:xfrm>
          <a:off x="0" y="0"/>
          <a:ext cx="0" cy="0"/>
        </a:xfrm>
      </p:grpSpPr>
      <p:sp>
        <p:nvSpPr>
          <p:cNvPr id="1012" name="Google Shape;1012;p87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The data is enough to show that the claim is definitely correct.</a:t>
            </a:r>
            <a:endParaRPr sz="1900"/>
          </a:p>
        </p:txBody>
      </p:sp>
      <p:sp>
        <p:nvSpPr>
          <p:cNvPr id="1013" name="Google Shape;1013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Responding to additional data</a:t>
            </a:r>
            <a:endParaRPr/>
          </a:p>
        </p:txBody>
      </p:sp>
      <p:sp>
        <p:nvSpPr>
          <p:cNvPr id="1014" name="Google Shape;1014;p87"/>
          <p:cNvSpPr txBox="1"/>
          <p:nvPr>
            <p:ph type="subTitle" idx="1"/>
          </p:nvPr>
        </p:nvSpPr>
        <p:spPr>
          <a:xfrm>
            <a:off x="324000" y="1080000"/>
            <a:ext cx="8227500" cy="54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 small amount of data is enough to be certain about a claim.</a:t>
            </a:r>
            <a:r>
              <a:rPr lang="en-GB"/>
              <a:t> </a:t>
            </a:r>
            <a:endParaRPr/>
          </a:p>
        </p:txBody>
      </p:sp>
      <p:sp>
        <p:nvSpPr>
          <p:cNvPr id="1015" name="Google Shape;1015;p87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Including more data might give a different impression.</a:t>
            </a:r>
            <a:endParaRPr sz="1900"/>
          </a:p>
        </p:txBody>
      </p:sp>
      <p:pic>
        <p:nvPicPr>
          <p:cNvPr id="1016" name="Google Shape;1016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033" y="19504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1208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21" name="Shape 1021"/>
        <p:cNvGrpSpPr/>
        <p:nvPr/>
      </p:nvGrpSpPr>
      <p:grpSpPr>
        <a:xfrm>
          <a:off x="0" y="0"/>
          <a:ext cx="0" cy="0"/>
        </a:xfrm>
      </p:grpSpPr>
      <p:sp>
        <p:nvSpPr>
          <p:cNvPr id="1022" name="Google Shape;1022;p88"/>
          <p:cNvSpPr txBox="1"/>
          <p:nvPr>
            <p:ph type="body" idx="1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Sam investigates which genre of book is more popular: fiction or nonfiction.</a:t>
            </a:r>
            <a:endParaRPr sz="1800"/>
          </a:p>
        </p:txBody>
      </p:sp>
      <p:sp>
        <p:nvSpPr>
          <p:cNvPr id="1023" name="Google Shape;102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Responding to additional data</a:t>
            </a:r>
            <a:endParaRPr/>
          </a:p>
        </p:txBody>
      </p:sp>
      <p:pic>
        <p:nvPicPr>
          <p:cNvPr id="1024" name="Google Shape;1024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4000" y="2571750"/>
            <a:ext cx="3649189" cy="224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88"/>
          <p:cNvSpPr txBox="1"/>
          <p:nvPr>
            <p:ph type="body" idx="1"/>
          </p:nvPr>
        </p:nvSpPr>
        <p:spPr>
          <a:xfrm>
            <a:off x="324000" y="2578483"/>
            <a:ext cx="4248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could Sam do to be more confident about their conclusion?</a:t>
            </a:r>
            <a:endParaRPr sz="1800"/>
          </a:p>
        </p:txBody>
      </p:sp>
      <p:sp>
        <p:nvSpPr>
          <p:cNvPr id="1026" name="Google Shape;1026;p88"/>
          <p:cNvSpPr txBox="1"/>
          <p:nvPr>
            <p:ph type="body" idx="1"/>
          </p:nvPr>
        </p:nvSpPr>
        <p:spPr>
          <a:xfrm>
            <a:off x="323850" y="3402153"/>
            <a:ext cx="4248300" cy="45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Ask more people.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7" name="Google Shape;1027;p88"/>
          <p:cNvSpPr txBox="1"/>
          <p:nvPr>
            <p:ph type="body" idx="1"/>
          </p:nvPr>
        </p:nvSpPr>
        <p:spPr>
          <a:xfrm>
            <a:off x="323850" y="4018350"/>
            <a:ext cx="4248300" cy="72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Collect a greater amount of data for the bar chart.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28" name="Google Shape;1028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209310" y="1741887"/>
            <a:ext cx="580700" cy="836226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88"/>
          <p:cNvSpPr txBox="1"/>
          <p:nvPr>
            <p:ph type="body" idx="1"/>
          </p:nvPr>
        </p:nvSpPr>
        <p:spPr>
          <a:xfrm>
            <a:off x="324000" y="1190074"/>
            <a:ext cx="8496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Sam asks five people whether they prefer reading fiction or nonfiction and then presents the data in a bar chart.</a:t>
            </a:r>
            <a:endParaRPr sz="1800"/>
          </a:p>
        </p:txBody>
      </p:sp>
      <p:sp>
        <p:nvSpPr>
          <p:cNvPr id="1030" name="Google Shape;1030;p88"/>
          <p:cNvSpPr txBox="1"/>
          <p:nvPr>
            <p:ph type="body" idx="1"/>
          </p:nvPr>
        </p:nvSpPr>
        <p:spPr>
          <a:xfrm>
            <a:off x="324000" y="1942991"/>
            <a:ext cx="8496000" cy="4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Sam concludes that fiction is a more popular genre than nonfiction.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34" name="Shape 1034"/>
        <p:cNvGrpSpPr/>
        <p:nvPr/>
      </p:nvGrpSpPr>
      <p:grpSpPr>
        <a:xfrm>
          <a:off x="0" y="0"/>
          <a:ext cx="0" cy="0"/>
        </a:xfrm>
      </p:grpSpPr>
      <p:sp>
        <p:nvSpPr>
          <p:cNvPr id="1035" name="Google Shape;1035;p89"/>
          <p:cNvSpPr txBox="1"/>
          <p:nvPr>
            <p:ph type="body" idx="1"/>
          </p:nvPr>
        </p:nvSpPr>
        <p:spPr>
          <a:xfrm>
            <a:off x="324000" y="759300"/>
            <a:ext cx="8496000" cy="107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Sofia investigates whether there is a connection between sunshine and </a:t>
            </a:r>
            <a:br>
              <a:rPr lang="en-GB" sz="1600"/>
            </a:br>
            <a:r>
              <a:rPr lang="en-GB" sz="1600"/>
              <a:t>    temperature. She collects weather data in Bradford for each March from 2017 to </a:t>
            </a:r>
            <a:br>
              <a:rPr lang="en-GB" sz="1600"/>
            </a:br>
            <a:r>
              <a:rPr lang="en-GB" sz="1600"/>
              <a:t>    2022 and plots a scatter graph. She concludes that there is no connection between </a:t>
            </a:r>
            <a:br>
              <a:rPr lang="en-GB" sz="1600"/>
            </a:br>
            <a:r>
              <a:rPr lang="en-GB" sz="1600"/>
              <a:t>    the variables.</a:t>
            </a:r>
            <a:endParaRPr sz="1600"/>
          </a:p>
        </p:txBody>
      </p:sp>
      <p:sp>
        <p:nvSpPr>
          <p:cNvPr id="1036" name="Google Shape;1036;p8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Responding to additional data</a:t>
            </a:r>
            <a:endParaRPr/>
          </a:p>
        </p:txBody>
      </p:sp>
      <p:sp>
        <p:nvSpPr>
          <p:cNvPr id="1037" name="Google Shape;1037;p89"/>
          <p:cNvSpPr txBox="1"/>
          <p:nvPr>
            <p:ph type="body" idx="1"/>
          </p:nvPr>
        </p:nvSpPr>
        <p:spPr>
          <a:xfrm>
            <a:off x="4362600" y="1813350"/>
            <a:ext cx="4290900" cy="107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a) The table shows data from 2012 to 2016. </a:t>
            </a:r>
            <a:br>
              <a:rPr lang="en-GB" sz="1600"/>
            </a:br>
            <a:r>
              <a:rPr lang="en-GB" sz="1600"/>
              <a:t>     Plot the points on the scatter graph.</a:t>
            </a:r>
            <a:endParaRPr sz="1600"/>
          </a:p>
        </p:txBody>
      </p:sp>
      <p:sp>
        <p:nvSpPr>
          <p:cNvPr id="1038" name="Google Shape;1038;p89"/>
          <p:cNvSpPr txBox="1"/>
          <p:nvPr>
            <p:ph type="body" idx="1"/>
          </p:nvPr>
        </p:nvSpPr>
        <p:spPr>
          <a:xfrm>
            <a:off x="4362600" y="4089900"/>
            <a:ext cx="4354500" cy="61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 How might these additional points affect </a:t>
            </a:r>
            <a:br>
              <a:rPr lang="en-GB" sz="1600"/>
            </a:br>
            <a:r>
              <a:rPr lang="en-GB" sz="1600"/>
              <a:t>     Sofia’s conclusion?</a:t>
            </a:r>
            <a:endParaRPr sz="1600"/>
          </a:p>
        </p:txBody>
      </p:sp>
      <p:sp>
        <p:nvSpPr>
          <p:cNvPr id="1039" name="Google Shape;1039;p89"/>
          <p:cNvSpPr txBox="1"/>
          <p:nvPr/>
        </p:nvSpPr>
        <p:spPr>
          <a:xfrm>
            <a:off x="869320" y="4391611"/>
            <a:ext cx="3469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89"/>
          <p:cNvSpPr txBox="1"/>
          <p:nvPr/>
        </p:nvSpPr>
        <p:spPr>
          <a:xfrm rot="-5400000">
            <a:off x="-766593" y="2758442"/>
            <a:ext cx="2595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41" name="Google Shape;1041;p89"/>
          <p:cNvGrpSpPr/>
          <p:nvPr/>
        </p:nvGrpSpPr>
        <p:grpSpPr>
          <a:xfrm>
            <a:off x="788888" y="1832089"/>
            <a:ext cx="3389888" cy="2595686"/>
            <a:chOff x="5207125" y="1554850"/>
            <a:chExt cx="3731712" cy="2857426"/>
          </a:xfrm>
        </p:grpSpPr>
        <p:pic>
          <p:nvPicPr>
            <p:cNvPr id="1042" name="Google Shape;1042;p89" descr="&lt;math xmlns=&quot;http://www.w3.org/1998/Math/MathML&quot; data-is-equatio=&quot;1&quot; data-equatio-url=&quot;https://equatio-api.texthelp.com/desmos/get/13-10-2023/35118a9a-b292-485d-942e-5d99155b0d14&quot; data-equatio-type=&quot;desmos&quot;&gt;&lt;mglyph src=&quot;https://equatio-api.texthelp.com/desmos/get/13-10-2023/35118a9a-b292-485d-942e-5d99155b0d14&quot; alt=&quot;Equatio Desmos Graph&quot;/&gt;&lt;/math&gt;" title="Equatio Desmos Graph"/>
            <p:cNvPicPr preferRelativeResize="0"/>
            <p:nvPr/>
          </p:nvPicPr>
          <p:blipFill>
            <a:blip r:embed="rId3">
              <a:alphaModFix/>
            </a:blip>
            <a:srcRect l="3466" t="4194" r="6019" b="3418"/>
            <a:stretch>
              <a:fillRect/>
            </a:stretch>
          </p:blipFill>
          <p:spPr>
            <a:xfrm>
              <a:off x="5207125" y="1707636"/>
              <a:ext cx="3533350" cy="270463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43" name="Google Shape;1043;p89"/>
            <p:cNvCxnSpPr/>
            <p:nvPr/>
          </p:nvCxnSpPr>
          <p:spPr>
            <a:xfrm rot="10800000" flipH="1">
              <a:off x="5340670" y="1554850"/>
              <a:ext cx="0" cy="27627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44" name="Google Shape;1044;p89"/>
            <p:cNvCxnSpPr/>
            <p:nvPr/>
          </p:nvCxnSpPr>
          <p:spPr>
            <a:xfrm>
              <a:off x="5332537" y="4295581"/>
              <a:ext cx="36063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aphicFrame>
        <p:nvGraphicFramePr>
          <p:cNvPr id="1045" name="Google Shape;1045;p89"/>
          <p:cNvGraphicFramePr>
            <a:graphicFrameLocks noGrp="1"/>
          </p:cNvGraphicFramePr>
          <p:nvPr/>
        </p:nvGraphicFramePr>
        <p:xfrm>
          <a:off x="4362625" y="24245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{54FE5E90-89FA-4B46-A919-A5256DBC45A0}</a:tableStyleId>
              </a:tblPr>
              <a:tblGrid>
                <a:gridCol w="1547450"/>
                <a:gridCol w="627800"/>
                <a:gridCol w="531050"/>
                <a:gridCol w="544825"/>
                <a:gridCol w="586325"/>
                <a:gridCol w="5863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sunshine (hours)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temperature</a:t>
                      </a:r>
                      <a:b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(℃)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9.5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49" name="Shape 1049"/>
        <p:cNvGrpSpPr/>
        <p:nvPr/>
      </p:nvGrpSpPr>
      <p:grpSpPr>
        <a:xfrm>
          <a:off x="0" y="0"/>
          <a:ext cx="0" cy="0"/>
        </a:xfrm>
      </p:grpSpPr>
      <p:sp>
        <p:nvSpPr>
          <p:cNvPr id="1050" name="Google Shape;1050;p90"/>
          <p:cNvSpPr txBox="1"/>
          <p:nvPr>
            <p:ph type="body" idx="1"/>
          </p:nvPr>
        </p:nvSpPr>
        <p:spPr>
          <a:xfrm>
            <a:off x="324000" y="759300"/>
            <a:ext cx="8550600" cy="93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Sofia investigates whether there is a connection between sunshine and </a:t>
            </a:r>
            <a:br>
              <a:rPr lang="en-GB" sz="1600"/>
            </a:br>
            <a:r>
              <a:rPr lang="en-GB" sz="1600"/>
              <a:t>    temperature. She collects weather data in Bradford for each March from 2017 to </a:t>
            </a:r>
            <a:br>
              <a:rPr lang="en-GB" sz="1600"/>
            </a:br>
            <a:r>
              <a:rPr lang="en-GB" sz="1600"/>
              <a:t>    2022 and plots a scatter graph. She concludes that there is no connection between </a:t>
            </a:r>
            <a:br>
              <a:rPr lang="en-GB" sz="1600"/>
            </a:br>
            <a:r>
              <a:rPr lang="en-GB" sz="1600"/>
              <a:t>    the variables.</a:t>
            </a:r>
            <a:endParaRPr sz="1600"/>
          </a:p>
        </p:txBody>
      </p:sp>
      <p:sp>
        <p:nvSpPr>
          <p:cNvPr id="1051" name="Google Shape;1051;p9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Responding to additional data</a:t>
            </a:r>
            <a:endParaRPr/>
          </a:p>
        </p:txBody>
      </p:sp>
      <p:sp>
        <p:nvSpPr>
          <p:cNvPr id="1052" name="Google Shape;1052;p90"/>
          <p:cNvSpPr txBox="1"/>
          <p:nvPr/>
        </p:nvSpPr>
        <p:spPr>
          <a:xfrm>
            <a:off x="869320" y="4391611"/>
            <a:ext cx="3469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90"/>
          <p:cNvSpPr txBox="1"/>
          <p:nvPr/>
        </p:nvSpPr>
        <p:spPr>
          <a:xfrm rot="-5400000">
            <a:off x="-766593" y="2758442"/>
            <a:ext cx="2595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54" name="Google Shape;1054;p90"/>
          <p:cNvGrpSpPr/>
          <p:nvPr/>
        </p:nvGrpSpPr>
        <p:grpSpPr>
          <a:xfrm>
            <a:off x="788888" y="1832089"/>
            <a:ext cx="3389888" cy="2595686"/>
            <a:chOff x="5207125" y="1554850"/>
            <a:chExt cx="3731712" cy="2857426"/>
          </a:xfrm>
        </p:grpSpPr>
        <p:pic>
          <p:nvPicPr>
            <p:cNvPr id="1055" name="Google Shape;1055;p90" descr="&lt;math xmlns=&quot;http://www.w3.org/1998/Math/MathML&quot; data-is-equatio=&quot;1&quot; data-equatio-url=&quot;https://equatio-api.texthelp.com/desmos/get/13-10-2023/35118a9a-b292-485d-942e-5d99155b0d14&quot; data-equatio-type=&quot;desmos&quot;&gt;&lt;mglyph src=&quot;https://equatio-api.texthelp.com/desmos/get/13-10-2023/35118a9a-b292-485d-942e-5d99155b0d14&quot; alt=&quot;Equatio Desmos Graph&quot;/&gt;&lt;/math&gt;" title="Equatio Desmos Graph"/>
            <p:cNvPicPr preferRelativeResize="0"/>
            <p:nvPr/>
          </p:nvPicPr>
          <p:blipFill>
            <a:blip r:embed="rId3">
              <a:alphaModFix/>
            </a:blip>
            <a:srcRect l="3466" t="4194" r="6019" b="3418"/>
            <a:stretch>
              <a:fillRect/>
            </a:stretch>
          </p:blipFill>
          <p:spPr>
            <a:xfrm>
              <a:off x="5207125" y="1707636"/>
              <a:ext cx="3533350" cy="270463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56" name="Google Shape;1056;p90"/>
            <p:cNvCxnSpPr/>
            <p:nvPr/>
          </p:nvCxnSpPr>
          <p:spPr>
            <a:xfrm rot="10800000" flipH="1">
              <a:off x="5340670" y="1554850"/>
              <a:ext cx="0" cy="27627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57" name="Google Shape;1057;p90"/>
            <p:cNvCxnSpPr/>
            <p:nvPr/>
          </p:nvCxnSpPr>
          <p:spPr>
            <a:xfrm>
              <a:off x="5332537" y="4295581"/>
              <a:ext cx="36063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058" name="Google Shape;1058;p90"/>
          <p:cNvSpPr/>
          <p:nvPr/>
        </p:nvSpPr>
        <p:spPr>
          <a:xfrm>
            <a:off x="2481675" y="2924600"/>
            <a:ext cx="67500" cy="67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90"/>
          <p:cNvSpPr/>
          <p:nvPr/>
        </p:nvSpPr>
        <p:spPr>
          <a:xfrm>
            <a:off x="2452262" y="2848400"/>
            <a:ext cx="67500" cy="67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90"/>
          <p:cNvSpPr/>
          <p:nvPr/>
        </p:nvSpPr>
        <p:spPr>
          <a:xfrm>
            <a:off x="2759737" y="2616850"/>
            <a:ext cx="67500" cy="67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90"/>
          <p:cNvSpPr/>
          <p:nvPr/>
        </p:nvSpPr>
        <p:spPr>
          <a:xfrm>
            <a:off x="1880925" y="3678775"/>
            <a:ext cx="67500" cy="67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90"/>
          <p:cNvSpPr/>
          <p:nvPr/>
        </p:nvSpPr>
        <p:spPr>
          <a:xfrm>
            <a:off x="3340701" y="2311467"/>
            <a:ext cx="67500" cy="67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90"/>
          <p:cNvSpPr txBox="1"/>
          <p:nvPr>
            <p:ph type="body" idx="1"/>
          </p:nvPr>
        </p:nvSpPr>
        <p:spPr>
          <a:xfrm>
            <a:off x="4362600" y="1813350"/>
            <a:ext cx="4290900" cy="107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a) The table shows data from 2012 to 2016. </a:t>
            </a:r>
            <a:br>
              <a:rPr lang="en-GB" sz="1600"/>
            </a:br>
            <a:r>
              <a:rPr lang="en-GB" sz="1600"/>
              <a:t>     Plot the points on the scatter graph.</a:t>
            </a:r>
            <a:endParaRPr sz="1600"/>
          </a:p>
        </p:txBody>
      </p:sp>
      <p:graphicFrame>
        <p:nvGraphicFramePr>
          <p:cNvPr id="1064" name="Google Shape;1064;p90"/>
          <p:cNvGraphicFramePr>
            <a:graphicFrameLocks noGrp="1"/>
          </p:cNvGraphicFramePr>
          <p:nvPr/>
        </p:nvGraphicFramePr>
        <p:xfrm>
          <a:off x="4362625" y="24245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{54FE5E90-89FA-4B46-A919-A5256DBC45A0}</a:tableStyleId>
              </a:tblPr>
              <a:tblGrid>
                <a:gridCol w="1547450"/>
                <a:gridCol w="627800"/>
                <a:gridCol w="531050"/>
                <a:gridCol w="544825"/>
                <a:gridCol w="586325"/>
                <a:gridCol w="5863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sunshine (hours)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temperature</a:t>
                      </a:r>
                      <a:b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(℃)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9.5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68" name="Shape 1068"/>
        <p:cNvGrpSpPr/>
        <p:nvPr/>
      </p:nvGrpSpPr>
      <p:grpSpPr>
        <a:xfrm>
          <a:off x="0" y="0"/>
          <a:ext cx="0" cy="0"/>
        </a:xfrm>
      </p:grpSpPr>
      <p:sp>
        <p:nvSpPr>
          <p:cNvPr id="1069" name="Google Shape;1069;p9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Responding to additional data</a:t>
            </a:r>
            <a:endParaRPr/>
          </a:p>
        </p:txBody>
      </p:sp>
      <p:sp>
        <p:nvSpPr>
          <p:cNvPr id="1070" name="Google Shape;1070;p91"/>
          <p:cNvSpPr txBox="1"/>
          <p:nvPr/>
        </p:nvSpPr>
        <p:spPr>
          <a:xfrm>
            <a:off x="869320" y="3401011"/>
            <a:ext cx="3469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91"/>
          <p:cNvSpPr txBox="1"/>
          <p:nvPr/>
        </p:nvSpPr>
        <p:spPr>
          <a:xfrm rot="-5400000">
            <a:off x="-766593" y="1767842"/>
            <a:ext cx="2595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72" name="Google Shape;1072;p91"/>
          <p:cNvGrpSpPr/>
          <p:nvPr/>
        </p:nvGrpSpPr>
        <p:grpSpPr>
          <a:xfrm>
            <a:off x="788888" y="841489"/>
            <a:ext cx="3389888" cy="2595686"/>
            <a:chOff x="5207125" y="1554850"/>
            <a:chExt cx="3731712" cy="2857426"/>
          </a:xfrm>
        </p:grpSpPr>
        <p:pic>
          <p:nvPicPr>
            <p:cNvPr id="1073" name="Google Shape;1073;p91" descr="&lt;math xmlns=&quot;http://www.w3.org/1998/Math/MathML&quot; data-is-equatio=&quot;1&quot; data-equatio-url=&quot;https://equatio-api.texthelp.com/desmos/get/13-10-2023/35118a9a-b292-485d-942e-5d99155b0d14&quot; data-equatio-type=&quot;desmos&quot;&gt;&lt;mglyph src=&quot;https://equatio-api.texthelp.com/desmos/get/13-10-2023/35118a9a-b292-485d-942e-5d99155b0d14&quot; alt=&quot;Equatio Desmos Graph&quot;/&gt;&lt;/math&gt;" title="Equatio Desmos Graph"/>
            <p:cNvPicPr preferRelativeResize="0"/>
            <p:nvPr/>
          </p:nvPicPr>
          <p:blipFill>
            <a:blip r:embed="rId3">
              <a:alphaModFix/>
            </a:blip>
            <a:srcRect l="3466" t="4194" r="6019" b="3418"/>
            <a:stretch>
              <a:fillRect/>
            </a:stretch>
          </p:blipFill>
          <p:spPr>
            <a:xfrm>
              <a:off x="5207125" y="1707636"/>
              <a:ext cx="3533350" cy="270463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74" name="Google Shape;1074;p91"/>
            <p:cNvCxnSpPr/>
            <p:nvPr/>
          </p:nvCxnSpPr>
          <p:spPr>
            <a:xfrm rot="10800000" flipH="1">
              <a:off x="5340670" y="1554850"/>
              <a:ext cx="0" cy="27627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75" name="Google Shape;1075;p91"/>
            <p:cNvCxnSpPr/>
            <p:nvPr/>
          </p:nvCxnSpPr>
          <p:spPr>
            <a:xfrm>
              <a:off x="5332537" y="4295581"/>
              <a:ext cx="36063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076" name="Google Shape;1076;p91"/>
          <p:cNvSpPr/>
          <p:nvPr/>
        </p:nvSpPr>
        <p:spPr>
          <a:xfrm>
            <a:off x="2481675" y="1934000"/>
            <a:ext cx="67500" cy="67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91"/>
          <p:cNvSpPr/>
          <p:nvPr/>
        </p:nvSpPr>
        <p:spPr>
          <a:xfrm>
            <a:off x="2452262" y="1857800"/>
            <a:ext cx="67500" cy="67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91"/>
          <p:cNvSpPr/>
          <p:nvPr/>
        </p:nvSpPr>
        <p:spPr>
          <a:xfrm>
            <a:off x="2759737" y="1626250"/>
            <a:ext cx="67500" cy="67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91"/>
          <p:cNvSpPr/>
          <p:nvPr/>
        </p:nvSpPr>
        <p:spPr>
          <a:xfrm>
            <a:off x="1880925" y="2688175"/>
            <a:ext cx="67500" cy="67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91"/>
          <p:cNvSpPr/>
          <p:nvPr/>
        </p:nvSpPr>
        <p:spPr>
          <a:xfrm>
            <a:off x="3340701" y="1320867"/>
            <a:ext cx="67500" cy="67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91"/>
          <p:cNvSpPr txBox="1"/>
          <p:nvPr>
            <p:ph type="body" idx="1"/>
          </p:nvPr>
        </p:nvSpPr>
        <p:spPr>
          <a:xfrm>
            <a:off x="4362600" y="889500"/>
            <a:ext cx="4354500" cy="61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 How might these additional points affect </a:t>
            </a:r>
            <a:br>
              <a:rPr lang="en-GB" sz="1600"/>
            </a:br>
            <a:r>
              <a:rPr lang="en-GB" sz="1600"/>
              <a:t>     Sofia’s conclusion?</a:t>
            </a:r>
            <a:endParaRPr sz="1600"/>
          </a:p>
        </p:txBody>
      </p:sp>
      <p:sp>
        <p:nvSpPr>
          <p:cNvPr id="1082" name="Google Shape;1082;p91"/>
          <p:cNvSpPr txBox="1"/>
          <p:nvPr>
            <p:ph type="body" idx="4294967295"/>
          </p:nvPr>
        </p:nvSpPr>
        <p:spPr>
          <a:xfrm>
            <a:off x="4571625" y="1635900"/>
            <a:ext cx="42483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looks more likely that there could be a connection between the variables.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3" name="Google Shape;1083;p91"/>
          <p:cNvSpPr txBox="1"/>
          <p:nvPr>
            <p:ph type="body" idx="4294967295"/>
          </p:nvPr>
        </p:nvSpPr>
        <p:spPr>
          <a:xfrm>
            <a:off x="4571625" y="2658000"/>
            <a:ext cx="42483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Months with more sunshine tend to have higher temperatures.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4" name="Google Shape;1084;p91"/>
          <p:cNvSpPr txBox="1"/>
          <p:nvPr>
            <p:ph type="body" idx="4294967295"/>
          </p:nvPr>
        </p:nvSpPr>
        <p:spPr>
          <a:xfrm>
            <a:off x="4572000" y="3635233"/>
            <a:ext cx="4248300" cy="69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More data could it make even clearer whether there is a connection.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5" name="Google Shape;1085;p91"/>
          <p:cNvSpPr/>
          <p:nvPr/>
        </p:nvSpPr>
        <p:spPr>
          <a:xfrm rot="-2213591">
            <a:off x="1175920" y="1742259"/>
            <a:ext cx="2656560" cy="56928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89" name="Shape 1089"/>
        <p:cNvGrpSpPr/>
        <p:nvPr/>
      </p:nvGrpSpPr>
      <p:grpSpPr>
        <a:xfrm>
          <a:off x="0" y="0"/>
          <a:ext cx="0" cy="0"/>
        </a:xfrm>
      </p:grpSpPr>
      <p:sp>
        <p:nvSpPr>
          <p:cNvPr id="1090" name="Google Shape;1090;p92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Char char="●"/>
            </a:pPr>
            <a:r>
              <a:rPr lang="en-GB"/>
              <a:t>Data can be presented in various formats.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457200" lvl="0" indent="-368300" algn="l" rtl="0">
              <a:spcBef>
                <a:spcPts val="1000"/>
              </a:spcBef>
              <a:spcAft>
                <a:spcPct val="0"/>
              </a:spcAft>
              <a:buSzPts val="2200"/>
              <a:buChar char="●"/>
            </a:pPr>
            <a:r>
              <a:rPr lang="en-GB"/>
              <a:t>Multiple representations may be unnecessary.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457200" lvl="0" indent="-368300" algn="l" rtl="0">
              <a:spcBef>
                <a:spcPts val="1000"/>
              </a:spcBef>
              <a:spcAft>
                <a:spcPct val="0"/>
              </a:spcAft>
              <a:buSzPts val="2200"/>
              <a:buChar char="●"/>
            </a:pPr>
            <a:r>
              <a:rPr lang="en-GB"/>
              <a:t>A fuller picture can be obtained when considering more data.</a:t>
            </a:r>
            <a:endParaRPr/>
          </a:p>
        </p:txBody>
      </p:sp>
      <p:sp>
        <p:nvSpPr>
          <p:cNvPr id="1091" name="Google Shape;1091;p92"/>
          <p:cNvSpPr txBox="1"/>
          <p:nvPr>
            <p:ph type="title"/>
          </p:nvPr>
        </p:nvSpPr>
        <p:spPr>
          <a:xfrm>
            <a:off x="1684800" y="157525"/>
            <a:ext cx="66138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graphical representations of data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95" name="Shape 1095"/>
        <p:cNvGrpSpPr/>
        <p:nvPr/>
      </p:nvGrpSpPr>
      <p:grpSpPr>
        <a:xfrm>
          <a:off x="0" y="0"/>
          <a:ext cx="0" cy="0"/>
        </a:xfrm>
      </p:grpSpPr>
      <p:sp>
        <p:nvSpPr>
          <p:cNvPr id="1096" name="Google Shape;1096;p93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097" name="Google Shape;1097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155</Paragraphs>
  <Slides>30</Slides>
  <Notes>30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baseType="lpstr" size="38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Problem solving with graphical representations of data</vt:lpstr>
      <vt:lpstr>PowerPoint Presentation</vt:lpstr>
      <vt:lpstr>PowerPoint Presentation</vt:lpstr>
      <vt:lpstr>PowerPoint Presentation</vt:lpstr>
      <vt:lpstr>Problems with different representations of data</vt:lpstr>
      <vt:lpstr>Problems with different representations of data</vt:lpstr>
      <vt:lpstr>Problems with different representations of data</vt:lpstr>
      <vt:lpstr>The graph shows data about the population of Qatar in 2016.Which statement is true about Qatar in 2016?</vt:lpstr>
      <vt:lpstr>The graph shows data about the population of Qatar in 2016.Which is the biggest population group in this data?</vt:lpstr>
      <vt:lpstr>Problems with different representations of data</vt:lpstr>
      <vt:lpstr>Problems with different representations of data</vt:lpstr>
      <vt:lpstr>Problems with different representations of data</vt:lpstr>
      <vt:lpstr>Problems with different representations of data</vt:lpstr>
      <vt:lpstr>Problems with different representations of data</vt:lpstr>
      <vt:lpstr>PowerPoint Presentation</vt:lpstr>
      <vt:lpstr>PowerPoint Presentation</vt:lpstr>
      <vt:lpstr>PowerPoint Presentation</vt:lpstr>
      <vt:lpstr>PowerPoint Presentation</vt:lpstr>
      <vt:lpstr>Problems with different representations of data</vt:lpstr>
      <vt:lpstr>Responding to additional data</vt:lpstr>
      <vt:lpstr>Responding to additional data</vt:lpstr>
      <vt:lpstr>Responding to additional data</vt:lpstr>
      <vt:lpstr>Responding to additional data</vt:lpstr>
      <vt:lpstr>Responding to additional data</vt:lpstr>
      <vt:lpstr>Responding to additional data</vt:lpstr>
      <vt:lpstr>PowerPoint Presentation</vt:lpstr>
      <vt:lpstr>PowerPoint Presentation</vt:lpstr>
      <vt:lpstr>PowerPoint Presentation</vt:lpstr>
      <vt:lpstr>Problem solving with graphical representations of data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2023-12-08T09:40:33.541</cp:lastPrinted>
  <dcterms:created xsi:type="dcterms:W3CDTF">2023-12-08T09:40:33Z</dcterms:created>
  <dcterms:modified xsi:type="dcterms:W3CDTF">2023-12-08T09:43:37Z</dcterms:modified>
</cp:coreProperties>
</file>