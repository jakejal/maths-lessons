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A04532F7-625C-486E-A5A9-223EE1A809DA}">
  <a:tblStyle styleId="{A04532F7-625C-486E-A5A9-223EE1A809D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  <a:tblStyle styleId="{4F4C6450-D3F3-4675-A025-901FD648AF87}" styleName="Table_1">
    <a:wholeTbl>
      <a:tcTxStyle>
        <a:font>
          <a:latin typeface="Arial"/>
          <a:ea typeface="Arial"/>
          <a:cs typeface="Arial"/>
        </a:font>
        <a:srgbClr val="000000"/>
      </a:tcTx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9" name="Shape 189"/>
        <p:cNvGrpSpPr/>
        <p:nvPr/>
      </p:nvGrpSpPr>
      <p:grpSpPr>
        <a:xfrm>
          <a:off x="0" y="0"/>
          <a:ext cx="0" cy="0"/>
        </a:xfrm>
      </p:grpSpPr>
      <p:sp>
        <p:nvSpPr>
          <p:cNvPr id="190" name="Google Shape;190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9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pic>
        <p:nvPicPr>
          <p:cNvPr id="171" name="Google Shape;171;p20" descr="&lt;math xmlns=&quot;http://www.w3.org/1998/Math/MathML&quot; data-is-equatio=&quot;1&quot; data-equatio-url=&quot;https://equatio-api.texthelp.com/desmos/get/11-10-2023/9dea36d4-aa46-4b51-bf2f-ff71d38affae&quot; data-equatio-type=&quot;desmos&quot;&gt;&lt;mglyph src=&quot;https://equatio-api.texthelp.com/desmos/get/11-10-2023/9dea36d4-aa46-4b51-bf2f-ff71d38affae&quot; alt=&quot;Equatio Desmos Graph&quot;/&gt;&lt;/math&gt;" title="Equatio Desmos Graph"/>
          <p:cNvPicPr preferRelativeResize="0"/>
          <p:nvPr/>
        </p:nvPicPr>
        <p:blipFill>
          <a:blip r:embed="rId3">
            <a:alphaModFix/>
          </a:blip>
          <a:srcRect l="866" t="19659" r="25109"/>
          <a:stretch>
            <a:fillRect/>
          </a:stretch>
        </p:blipFill>
        <p:spPr>
          <a:xfrm>
            <a:off x="3416757" y="6760118"/>
            <a:ext cx="3489374" cy="2840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 descr="&lt;math xmlns=&quot;http://www.w3.org/1998/Math/MathML&quot; data-is-equatio=&quot;1&quot; data-equatio-url=&quot;https://equatio-api.texthelp.com/desmos/get/11-10-2023/ce5967c3-838c-4f61-aa9f-ddcb99b7e299&quot; data-equatio-type=&quot;desmos&quot;&gt;&lt;mglyph src=&quot;https://equatio-api.texthelp.com/desmos/get/11-10-2023/ce5967c3-838c-4f61-aa9f-ddcb99b7e299&quot; alt=&quot;Equatio Desmos Graph&quot;/&gt;&lt;/math&gt;" title="Equatio Desmos Graph"/>
          <p:cNvPicPr preferRelativeResize="0"/>
          <p:nvPr/>
        </p:nvPicPr>
        <p:blipFill>
          <a:blip r:embed="rId4">
            <a:alphaModFix/>
          </a:blip>
          <a:srcRect l="850" t="8053" r="19683" b="2460"/>
          <a:stretch>
            <a:fillRect/>
          </a:stretch>
        </p:blipFill>
        <p:spPr>
          <a:xfrm>
            <a:off x="3398111" y="2481558"/>
            <a:ext cx="3540014" cy="29896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3" name="Google Shape;173;p20"/>
          <p:cNvCxnSpPr/>
          <p:nvPr/>
        </p:nvCxnSpPr>
        <p:spPr>
          <a:xfrm>
            <a:off x="3629461" y="5321783"/>
            <a:ext cx="34623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4" name="Google Shape;174;p20"/>
          <p:cNvCxnSpPr/>
          <p:nvPr/>
        </p:nvCxnSpPr>
        <p:spPr>
          <a:xfrm rot="10800000" flipH="1">
            <a:off x="3629111" y="2297909"/>
            <a:ext cx="0" cy="3025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5" name="Google Shape;175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6" name="Google Shape;176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Constructing scatter graphs</a:t>
            </a:r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468000" y="145137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Plotting bivariate data on a scatter graph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468000" y="1865900"/>
            <a:ext cx="6624000" cy="5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The table shows weather data from Bradford, for five months in 2021.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Plot this data on a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scatter graph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9" name="Google Shape;179;p20"/>
          <p:cNvGraphicFramePr>
            <a:graphicFrameLocks noGrp="1"/>
          </p:cNvGraphicFramePr>
          <p:nvPr/>
        </p:nvGraphicFramePr>
        <p:xfrm>
          <a:off x="645550" y="2519300"/>
          <a:ext cx="2248675" cy="2590770"/>
        </p:xfrm>
        <a:graphic>
          <a:graphicData uri="http://schemas.openxmlformats.org/drawingml/2006/table">
            <a:tbl>
              <a:tblPr>
                <a:noFill/>
                <a:tableStyleId>{A04532F7-625C-486E-A5A9-223EE1A809DA}</a:tableStyleId>
              </a:tblPr>
              <a:tblGrid>
                <a:gridCol w="630825"/>
                <a:gridCol w="714100"/>
                <a:gridCol w="90375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Month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 rainfall (mm)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 sunshine (hours)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Feb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66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Apr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216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Jun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22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173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Aug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126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Oct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93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86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80" name="Google Shape;180;p20"/>
          <p:cNvSpPr txBox="1"/>
          <p:nvPr/>
        </p:nvSpPr>
        <p:spPr>
          <a:xfrm>
            <a:off x="4625550" y="5386225"/>
            <a:ext cx="1512000" cy="3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total rainfall (mm)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 rot="-5400000">
            <a:off x="2412350" y="3634975"/>
            <a:ext cx="1698900" cy="3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total sunshine (hours)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468000" y="5942500"/>
            <a:ext cx="66240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Jacob runs a series of long-distance races.</a:t>
            </a:r>
            <a:b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For each race, he records his time and the elevation (steepness) of the course.</a:t>
            </a:r>
            <a:b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Plot Jacob’s data on the </a:t>
            </a:r>
            <a:r>
              <a:rPr lang="en-GB" sz="11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scatter graph</a:t>
            </a: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3" name="Google Shape;183;p20"/>
          <p:cNvCxnSpPr/>
          <p:nvPr/>
        </p:nvCxnSpPr>
        <p:spPr>
          <a:xfrm>
            <a:off x="3705908" y="9452923"/>
            <a:ext cx="33627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4" name="Google Shape;184;p20"/>
          <p:cNvSpPr txBox="1"/>
          <p:nvPr/>
        </p:nvSpPr>
        <p:spPr>
          <a:xfrm>
            <a:off x="4941150" y="9488635"/>
            <a:ext cx="1272600" cy="3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elevation (m)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5" name="Google Shape;185;p20"/>
          <p:cNvCxnSpPr/>
          <p:nvPr/>
        </p:nvCxnSpPr>
        <p:spPr>
          <a:xfrm rot="10800000" flipH="1">
            <a:off x="3719174" y="6567130"/>
            <a:ext cx="0" cy="28914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6" name="Google Shape;186;p20"/>
          <p:cNvSpPr txBox="1"/>
          <p:nvPr/>
        </p:nvSpPr>
        <p:spPr>
          <a:xfrm rot="-5400000">
            <a:off x="2916131" y="7872918"/>
            <a:ext cx="795300" cy="3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time (s)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7" name="Google Shape;187;p20"/>
          <p:cNvGraphicFramePr>
            <a:graphicFrameLocks noGrp="1"/>
          </p:cNvGraphicFramePr>
          <p:nvPr/>
        </p:nvGraphicFramePr>
        <p:xfrm>
          <a:off x="645538" y="6803660"/>
          <a:ext cx="2248675" cy="2286000"/>
        </p:xfrm>
        <a:graphic>
          <a:graphicData uri="http://schemas.openxmlformats.org/drawingml/2006/table">
            <a:tbl>
              <a:tblPr>
                <a:noFill/>
                <a:tableStyleId>{A04532F7-625C-486E-A5A9-223EE1A809DA}</a:tableStyleId>
              </a:tblPr>
              <a:tblGrid>
                <a:gridCol w="1257725"/>
                <a:gridCol w="99095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elevation (m)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time (s)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1756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1644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1735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115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1911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96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1870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cxnSp>
        <p:nvCxnSpPr>
          <p:cNvPr id="188" name="Google Shape;188;p20"/>
          <p:cNvCxnSpPr/>
          <p:nvPr/>
        </p:nvCxnSpPr>
        <p:spPr>
          <a:xfrm>
            <a:off x="400300" y="9972000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2" name="Shape 192"/>
        <p:cNvGrpSpPr/>
        <p:nvPr/>
      </p:nvGrpSpPr>
      <p:grpSpPr>
        <a:xfrm>
          <a:off x="0" y="0"/>
          <a:ext cx="0" cy="0"/>
        </a:xfrm>
      </p:grpSpPr>
      <p:pic>
        <p:nvPicPr>
          <p:cNvPr id="193" name="Google Shape;193;p21" descr="&lt;math xmlns=&quot;http://www.w3.org/1998/Math/MathML&quot; data-is-equatio=&quot;1&quot; data-equatio-url=&quot;https://equatio-api.texthelp.com/desmos/get/11-10-2023/5eabd478-3ba0-47b6-b96a-04fddcd11097&quot; data-equatio-type=&quot;desmos&quot;&gt;&lt;mglyph src=&quot;https://equatio-api.texthelp.com/desmos/get/11-10-2023/5eabd478-3ba0-47b6-b96a-04fddcd11097&quot; alt=&quot;Equatio Desmos Graph&quot;/&gt;&lt;/math&gt;" title="Equatio Desmos Graph"/>
          <p:cNvPicPr preferRelativeResize="0"/>
          <p:nvPr/>
        </p:nvPicPr>
        <p:blipFill>
          <a:blip r:embed="rId3">
            <a:alphaModFix/>
          </a:blip>
          <a:srcRect l="4581" t="3216" r="39204" b="3561"/>
          <a:stretch>
            <a:fillRect/>
          </a:stretch>
        </p:blipFill>
        <p:spPr>
          <a:xfrm>
            <a:off x="3521348" y="6008206"/>
            <a:ext cx="3048376" cy="3371348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195" name="Google Shape;195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Constructing scatter graphs</a:t>
            </a: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468000" y="864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Deciding which axis to use for each variable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1"/>
          <p:cNvSpPr txBox="1"/>
          <p:nvPr/>
        </p:nvSpPr>
        <p:spPr>
          <a:xfrm>
            <a:off x="466825" y="1352675"/>
            <a:ext cx="6624000" cy="6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For each pair of </a:t>
            </a:r>
            <a:r>
              <a:rPr lang="en-GB" sz="11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bivariate</a:t>
            </a: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data, determine which is the </a:t>
            </a:r>
            <a:r>
              <a:rPr lang="en-GB" sz="11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independent</a:t>
            </a: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variable and </a:t>
            </a:r>
            <a:b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which is the </a:t>
            </a:r>
            <a:r>
              <a:rPr lang="en-GB" sz="11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dependent</a:t>
            </a: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variable. 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1"/>
          <p:cNvSpPr txBox="1"/>
          <p:nvPr/>
        </p:nvSpPr>
        <p:spPr>
          <a:xfrm>
            <a:off x="619225" y="2049300"/>
            <a:ext cx="3115500" cy="6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Example: ice cream sales</a:t>
            </a:r>
            <a:b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 maximum temperature of day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1"/>
          <p:cNvSpPr txBox="1"/>
          <p:nvPr/>
        </p:nvSpPr>
        <p:spPr>
          <a:xfrm>
            <a:off x="619225" y="2745925"/>
            <a:ext cx="4810200" cy="20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amount of water in a kettle (ml)</a:t>
            </a:r>
            <a:b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time it take for the kettle to boil (s)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time it takes to complete a running course (s)</a:t>
            </a:r>
            <a:b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steepness of the running course (m)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age of a child (years)</a:t>
            </a:r>
            <a:b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height of the child (m)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number of floods reported in a month </a:t>
            </a:r>
            <a:b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amount of rainfall in the month (mm)</a:t>
            </a:r>
            <a:b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1"/>
          <p:cNvSpPr txBox="1"/>
          <p:nvPr/>
        </p:nvSpPr>
        <p:spPr>
          <a:xfrm>
            <a:off x="2534450" y="2042188"/>
            <a:ext cx="9453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100" b="1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dependent</a:t>
            </a:r>
            <a:endParaRPr sz="1100" b="1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3" name="Google Shape;203;p21"/>
          <p:cNvSpPr txBox="1"/>
          <p:nvPr/>
        </p:nvSpPr>
        <p:spPr>
          <a:xfrm>
            <a:off x="3595715" y="2230454"/>
            <a:ext cx="11922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100" b="1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independent</a:t>
            </a:r>
            <a:endParaRPr sz="1100" b="1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4" name="Google Shape;204;p21"/>
          <p:cNvSpPr txBox="1"/>
          <p:nvPr/>
        </p:nvSpPr>
        <p:spPr>
          <a:xfrm>
            <a:off x="476400" y="5255100"/>
            <a:ext cx="6624000" cy="6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The data below shows the age and heights for a sample of six children.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Plot the data on a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scatter graph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05" name="Google Shape;205;p21"/>
          <p:cNvGraphicFramePr>
            <a:graphicFrameLocks noGrp="1"/>
          </p:cNvGraphicFramePr>
          <p:nvPr/>
        </p:nvGraphicFramePr>
        <p:xfrm>
          <a:off x="741684" y="6019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{4F4C6450-D3F3-4675-A025-901FD648AF87}</a:tableStyleId>
              </a:tblPr>
              <a:tblGrid>
                <a:gridCol w="876925"/>
                <a:gridCol w="915850"/>
              </a:tblGrid>
              <a:tr h="492500"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ages (years)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height (cm)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2200"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2200"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2200"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112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2200"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2200"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124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2200"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138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cxnSp>
        <p:nvCxnSpPr>
          <p:cNvPr id="206" name="Google Shape;206;p21"/>
          <p:cNvCxnSpPr/>
          <p:nvPr/>
        </p:nvCxnSpPr>
        <p:spPr>
          <a:xfrm>
            <a:off x="3782091" y="9218887"/>
            <a:ext cx="30222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7" name="Google Shape;207;p21"/>
          <p:cNvCxnSpPr/>
          <p:nvPr/>
        </p:nvCxnSpPr>
        <p:spPr>
          <a:xfrm rot="10800000" flipH="1">
            <a:off x="3781688" y="5786917"/>
            <a:ext cx="0" cy="34362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8" name="Google Shape;208;p21"/>
          <p:cNvSpPr txBox="1"/>
          <p:nvPr/>
        </p:nvSpPr>
        <p:spPr>
          <a:xfrm>
            <a:off x="3377263" y="2926181"/>
            <a:ext cx="8415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100" b="1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dependent</a:t>
            </a:r>
            <a:endParaRPr sz="1100" b="1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3267274" y="2731675"/>
            <a:ext cx="10608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100" b="1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independent</a:t>
            </a:r>
            <a:endParaRPr sz="1100" b="1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4131542" y="3247319"/>
            <a:ext cx="8415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100" b="1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dependent</a:t>
            </a:r>
            <a:endParaRPr sz="1100" b="1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3495991" y="3440960"/>
            <a:ext cx="10608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100" b="1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independent</a:t>
            </a:r>
            <a:endParaRPr sz="1100" b="1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2581127" y="3953979"/>
            <a:ext cx="8415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100" b="1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dependent</a:t>
            </a:r>
            <a:endParaRPr sz="1100" b="1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2500675" y="3755943"/>
            <a:ext cx="10608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100" b="1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independent</a:t>
            </a:r>
            <a:endParaRPr sz="1100" b="1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4" name="Google Shape;214;p21"/>
          <p:cNvSpPr txBox="1"/>
          <p:nvPr/>
        </p:nvSpPr>
        <p:spPr>
          <a:xfrm>
            <a:off x="3605178" y="4275185"/>
            <a:ext cx="8415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100" b="1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dependent</a:t>
            </a:r>
            <a:endParaRPr sz="1100" b="1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5" name="Google Shape;215;p21"/>
          <p:cNvSpPr txBox="1"/>
          <p:nvPr/>
        </p:nvSpPr>
        <p:spPr>
          <a:xfrm>
            <a:off x="3560811" y="4474999"/>
            <a:ext cx="10608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100" b="1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independent</a:t>
            </a:r>
            <a:endParaRPr sz="1100" b="1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16" name="Google Shape;216;p21"/>
          <p:cNvCxnSpPr/>
          <p:nvPr/>
        </p:nvCxnSpPr>
        <p:spPr>
          <a:xfrm>
            <a:off x="400300" y="9972000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31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8">
      <vt:lpstr>Arial</vt:lpstr>
      <vt:lpstr>Lexend</vt:lpstr>
      <vt:lpstr>Kalam</vt:lpstr>
      <vt:lpstr>Lexend Medium</vt:lpstr>
      <vt:lpstr>Lexend Light</vt:lpstr>
      <vt:lpstr>simple-light-2</vt:lpstr>
      <vt:lpstr>Constructing scatter graphs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2023-12-08T09:42:00.169</cp:lastPrinted>
  <dcterms:created xsi:type="dcterms:W3CDTF">2023-12-08T09:42:00Z</dcterms:created>
  <dcterms:modified xsi:type="dcterms:W3CDTF">2023-12-08T09:42:10Z</dcterms:modified>
</cp:coreProperties>
</file>