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AAFE14-23DC-4687-BDF1-7A3166B6B996}">
  <a:tblStyle styleId="{BEAAFE14-23DC-4687-BDF1-7A3166B6B99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AF6A870-9295-4C54-85F9-78C4EF6547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8134fe27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8134fe27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88134fe2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88134fe2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886299f73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886299f7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886299f73b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886299f73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886299f73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886299f73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886299f73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886299f73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886299f73b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886299f73b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886299f73b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886299f73b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886299f73b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886299f73b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886299f73b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886299f73b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8b3e8878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8b3e8878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8b3e88787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8b3e88787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8b3e88787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8b3e88787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88134fe27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88134fe27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88134fe27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88134fe27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886299f73b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886299f73b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886299f73b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886299f73b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886299f73b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886299f73b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886299f73b_0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886299f73b_0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886299f73b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886299f73b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886299f73b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886299f73b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886299f73b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886299f73b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886299f73b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886299f73b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886299f73b_0_9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886299f73b_0_9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886299f73b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886299f73b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2886299f73b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886299f73b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2886299f73b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2886299f73b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886299f73b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886299f73b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886299f73b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886299f73b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8b3e88787c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8b3e88787c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8b3e88787c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8b3e88787c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28b3e88787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8b3e88787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8b3e88787c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8b3e88787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886299f73b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886299f73b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8b3e88787c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8b3e88787c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2886299f73b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2886299f73b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8b3e88787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8b3e88787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8b3e88787c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8b3e88787c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8b3e88787c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8b3e88787c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70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0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0.png"/><Relationship Id="rId4" Type="http://schemas.openxmlformats.org/officeDocument/2006/relationships/image" Target="../media/image33.png"/><Relationship Id="rId11" Type="http://schemas.openxmlformats.org/officeDocument/2006/relationships/image" Target="../media/image25.png"/><Relationship Id="rId10" Type="http://schemas.openxmlformats.org/officeDocument/2006/relationships/image" Target="../media/image36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45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45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png"/><Relationship Id="rId4" Type="http://schemas.openxmlformats.org/officeDocument/2006/relationships/image" Target="../media/image6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Relationship Id="rId4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5.png"/><Relationship Id="rId4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Relationship Id="rId4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8.png"/><Relationship Id="rId4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5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Relationship Id="rId4" Type="http://schemas.openxmlformats.org/officeDocument/2006/relationships/image" Target="../media/image6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4.png"/><Relationship Id="rId4" Type="http://schemas.openxmlformats.org/officeDocument/2006/relationships/image" Target="../media/image6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construct scatter graphs from data presented in a number of different ways.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870025"/>
            <a:ext cx="69333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b="1" lang="en-GB" sz="1800"/>
              <a:t>s</a:t>
            </a:r>
            <a:r>
              <a:rPr b="1" lang="en-GB" sz="1800"/>
              <a:t>catter graph</a:t>
            </a:r>
            <a:r>
              <a:rPr lang="en-GB" sz="1800">
                <a:solidFill>
                  <a:schemeClr val="dk1"/>
                </a:solidFill>
              </a:rPr>
              <a:t> is a visual representation for bivariate data. It can be useful when determining the nature of the relationship between the variables. 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69800" y="895700"/>
            <a:ext cx="8496000" cy="7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Bivariate data</a:t>
            </a:r>
            <a:r>
              <a:rPr lang="en-GB" sz="1800"/>
              <a:t> </a:t>
            </a:r>
            <a:r>
              <a:rPr lang="en-GB" sz="1800">
                <a:solidFill>
                  <a:schemeClr val="dk1"/>
                </a:solidFill>
              </a:rPr>
              <a:t>has two variables, where each data point for one variable has a corresponding data point for the other variable.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072981"/>
            <a:ext cx="6696900" cy="7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 </a:t>
            </a:r>
            <a:r>
              <a:rPr b="1" lang="en-GB" sz="1800"/>
              <a:t>independent</a:t>
            </a:r>
            <a:r>
              <a:rPr lang="en-GB" sz="1800"/>
              <a:t> (</a:t>
            </a:r>
            <a:r>
              <a:rPr b="1" lang="en-GB" sz="1800"/>
              <a:t>explanatory</a:t>
            </a:r>
            <a:r>
              <a:rPr lang="en-GB" sz="1800"/>
              <a:t>) variable is a measure that is predicted to have an effect on another variable.</a:t>
            </a:r>
            <a:endParaRPr sz="1800"/>
          </a:p>
        </p:txBody>
      </p:sp>
      <p:sp>
        <p:nvSpPr>
          <p:cNvPr id="769" name="Google Shape;769;p67"/>
          <p:cNvSpPr txBox="1"/>
          <p:nvPr>
            <p:ph idx="4" type="subTitle"/>
          </p:nvPr>
        </p:nvSpPr>
        <p:spPr>
          <a:xfrm>
            <a:off x="324000" y="3986356"/>
            <a:ext cx="6696900" cy="7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</a:t>
            </a:r>
            <a:r>
              <a:rPr b="1" lang="en-GB" sz="1800"/>
              <a:t>dependent</a:t>
            </a:r>
            <a:r>
              <a:rPr lang="en-GB" sz="1800"/>
              <a:t> (</a:t>
            </a:r>
            <a:r>
              <a:rPr b="1" lang="en-GB" sz="1800"/>
              <a:t>response</a:t>
            </a:r>
            <a:r>
              <a:rPr lang="en-GB" sz="1800"/>
              <a:t>) variable is a measure whose value is predicted to be affected by an </a:t>
            </a:r>
            <a:r>
              <a:rPr b="1" lang="en-GB" sz="1800"/>
              <a:t>explanatory</a:t>
            </a:r>
            <a:r>
              <a:rPr lang="en-GB" sz="1800"/>
              <a:t> variable.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70" name="Google Shape;77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1349" y="1423200"/>
            <a:ext cx="1704451" cy="17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bivariate data on a scatter graph</a:t>
            </a:r>
            <a:endParaRPr/>
          </a:p>
        </p:txBody>
      </p:sp>
      <p:sp>
        <p:nvSpPr>
          <p:cNvPr id="776" name="Google Shape;776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777" name="Google Shape;777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</a:t>
            </a:r>
            <a:endParaRPr/>
          </a:p>
        </p:txBody>
      </p:sp>
      <p:pic>
        <p:nvPicPr>
          <p:cNvPr id="778" name="Google Shape;7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23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759300"/>
            <a:ext cx="788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Alex, Andeep, Izzy and Sam compete in a sport competition. </a:t>
            </a:r>
            <a:endParaRPr sz="2000"/>
          </a:p>
        </p:txBody>
      </p:sp>
      <p:sp>
        <p:nvSpPr>
          <p:cNvPr id="784" name="Google Shape;78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bivariate data on a scatter graph</a:t>
            </a:r>
            <a:endParaRPr/>
          </a:p>
        </p:txBody>
      </p:sp>
      <p:grpSp>
        <p:nvGrpSpPr>
          <p:cNvPr id="785" name="Google Shape;785;p69"/>
          <p:cNvGrpSpPr/>
          <p:nvPr/>
        </p:nvGrpSpPr>
        <p:grpSpPr>
          <a:xfrm>
            <a:off x="3782009" y="3086264"/>
            <a:ext cx="4739638" cy="541354"/>
            <a:chOff x="4433650" y="4498886"/>
            <a:chExt cx="4091185" cy="467289"/>
          </a:xfrm>
        </p:grpSpPr>
        <p:pic>
          <p:nvPicPr>
            <p:cNvPr descr="&lt;math xmlns=&quot;http://www.w3.org/1998/Math/MathML&quot; data-is-equatio=&quot;1&quot; data-equatio-url=&quot;https://equatio-api.texthelp.com/desmos/get/05-10-2023/b1e42110-fb3f-482b-b7eb-43d24922bd19&quot; data-equatio-type=&quot;desmos&quot;&gt;&lt;mglyph src=&quot;https://equatio-api.texthelp.com/desmos/get/05-10-2023/b1e42110-fb3f-482b-b7eb-43d24922bd19&quot; alt=&quot;Equatio Desmos Graph&quot;/&gt;&lt;/math&gt;" id="786" name="Google Shape;786;p69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704" l="4010" r="4640" t="95559"/>
            <a:stretch/>
          </p:blipFill>
          <p:spPr>
            <a:xfrm>
              <a:off x="4433650" y="4509300"/>
              <a:ext cx="3933824" cy="1206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87" name="Google Shape;787;p69"/>
            <p:cNvCxnSpPr/>
            <p:nvPr/>
          </p:nvCxnSpPr>
          <p:spPr>
            <a:xfrm>
              <a:off x="4454735" y="4498886"/>
              <a:ext cx="4070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8" name="Google Shape;788;p69"/>
            <p:cNvSpPr txBox="1"/>
            <p:nvPr/>
          </p:nvSpPr>
          <p:spPr>
            <a:xfrm>
              <a:off x="6851675" y="4571975"/>
              <a:ext cx="16269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long jump (m)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89" name="Google Shape;78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896493" y="2505626"/>
            <a:ext cx="584697" cy="565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284777" y="2512868"/>
            <a:ext cx="478042" cy="551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641840" y="2508511"/>
            <a:ext cx="434320" cy="56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48057" y="2512410"/>
            <a:ext cx="383490" cy="552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4243" y="3040876"/>
            <a:ext cx="749789" cy="725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1923270" y="1842443"/>
            <a:ext cx="530488" cy="684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27267" y="1919447"/>
            <a:ext cx="522855" cy="60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62886" y="3138639"/>
            <a:ext cx="475036" cy="684061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9"/>
          <p:cNvSpPr txBox="1"/>
          <p:nvPr/>
        </p:nvSpPr>
        <p:spPr>
          <a:xfrm>
            <a:off x="333321" y="3848975"/>
            <a:ext cx="1194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 txBox="1"/>
          <p:nvPr/>
        </p:nvSpPr>
        <p:spPr>
          <a:xfrm>
            <a:off x="1637923" y="2553575"/>
            <a:ext cx="1194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/>
        </p:nvSpPr>
        <p:spPr>
          <a:xfrm>
            <a:off x="1900005" y="3859718"/>
            <a:ext cx="852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554029" y="2564318"/>
            <a:ext cx="10374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324500" y="4410125"/>
            <a:ext cx="6441900" cy="4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observations could we make from this data?</a:t>
            </a:r>
            <a:endParaRPr sz="2000"/>
          </a:p>
        </p:txBody>
      </p: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324000" y="1119366"/>
            <a:ext cx="788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plot their </a:t>
            </a:r>
            <a:r>
              <a:rPr lang="en-GB" sz="2000">
                <a:solidFill>
                  <a:schemeClr val="accent4"/>
                </a:solidFill>
              </a:rPr>
              <a:t>long jump</a:t>
            </a:r>
            <a:r>
              <a:rPr lang="en-GB" sz="2000"/>
              <a:t> distances on a graph.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bivariate data on a scatter graph</a:t>
            </a:r>
            <a:endParaRPr/>
          </a:p>
        </p:txBody>
      </p: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5337650" y="3743700"/>
            <a:ext cx="31674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observations could we make from this data?</a:t>
            </a:r>
            <a:endParaRPr sz="2000"/>
          </a:p>
        </p:txBody>
      </p:sp>
      <p:grpSp>
        <p:nvGrpSpPr>
          <p:cNvPr id="809" name="Google Shape;809;p70"/>
          <p:cNvGrpSpPr/>
          <p:nvPr/>
        </p:nvGrpSpPr>
        <p:grpSpPr>
          <a:xfrm>
            <a:off x="3903281" y="1341035"/>
            <a:ext cx="2049868" cy="3250802"/>
            <a:chOff x="2847975" y="1201425"/>
            <a:chExt cx="1966488" cy="3118574"/>
          </a:xfrm>
        </p:grpSpPr>
        <p:pic>
          <p:nvPicPr>
            <p:cNvPr descr="&lt;math xmlns=&quot;http://www.w3.org/1998/Math/MathML&quot; data-is-equatio=&quot;1&quot; data-equatio-url=&quot;https://equatio-api.texthelp.com/desmos/get/05-10-2023/b1e42110-fb3f-482b-b7eb-43d24922bd19&quot; data-equatio-type=&quot;desmos&quot;&gt;&lt;mglyph src=&quot;https://equatio-api.texthelp.com/desmos/get/05-10-2023/b1e42110-fb3f-482b-b7eb-43d24922bd19&quot; alt=&quot;Equatio Desmos Graph&quot;/&gt;&lt;/math&gt;" id="810" name="Google Shape;810;p70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3520" l="370" r="95253" t="5280"/>
            <a:stretch/>
          </p:blipFill>
          <p:spPr>
            <a:xfrm>
              <a:off x="2847975" y="1374475"/>
              <a:ext cx="188424" cy="29455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1" name="Google Shape;811;p70"/>
            <p:cNvCxnSpPr/>
            <p:nvPr/>
          </p:nvCxnSpPr>
          <p:spPr>
            <a:xfrm rot="10800000">
              <a:off x="3036404" y="1201431"/>
              <a:ext cx="0" cy="308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12" name="Google Shape;812;p70"/>
            <p:cNvSpPr txBox="1"/>
            <p:nvPr/>
          </p:nvSpPr>
          <p:spPr>
            <a:xfrm>
              <a:off x="3027063" y="1201425"/>
              <a:ext cx="17874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high jump (cm)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3" name="Google Shape;81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146489" y="3038652"/>
            <a:ext cx="430133" cy="496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49306" y="3557696"/>
            <a:ext cx="526098" cy="509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6310" y="1823711"/>
            <a:ext cx="345058" cy="4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4156240" y="2449676"/>
            <a:ext cx="390792" cy="503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14243" y="3040876"/>
            <a:ext cx="749789" cy="725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1923270" y="1842443"/>
            <a:ext cx="530488" cy="684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27267" y="1919447"/>
            <a:ext cx="522855" cy="602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2886" y="3138639"/>
            <a:ext cx="475036" cy="684061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0"/>
          <p:cNvSpPr txBox="1"/>
          <p:nvPr/>
        </p:nvSpPr>
        <p:spPr>
          <a:xfrm>
            <a:off x="333321" y="3848975"/>
            <a:ext cx="1194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 txBox="1"/>
          <p:nvPr/>
        </p:nvSpPr>
        <p:spPr>
          <a:xfrm>
            <a:off x="1637923" y="2553575"/>
            <a:ext cx="11940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 txBox="1"/>
          <p:nvPr/>
        </p:nvSpPr>
        <p:spPr>
          <a:xfrm>
            <a:off x="1900005" y="3859718"/>
            <a:ext cx="8523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554029" y="2564318"/>
            <a:ext cx="10374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 txBox="1"/>
          <p:nvPr>
            <p:ph idx="1" type="body"/>
          </p:nvPr>
        </p:nvSpPr>
        <p:spPr>
          <a:xfrm>
            <a:off x="324000" y="772698"/>
            <a:ext cx="788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plot their </a:t>
            </a:r>
            <a:r>
              <a:rPr lang="en-GB" sz="2000">
                <a:solidFill>
                  <a:schemeClr val="accent4"/>
                </a:solidFill>
              </a:rPr>
              <a:t>high</a:t>
            </a:r>
            <a:r>
              <a:rPr lang="en-GB" sz="2000">
                <a:solidFill>
                  <a:schemeClr val="accent4"/>
                </a:solidFill>
              </a:rPr>
              <a:t> jump</a:t>
            </a:r>
            <a:r>
              <a:rPr lang="en-GB" sz="2000"/>
              <a:t> distances on another graph.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1"/>
          <p:cNvSpPr txBox="1"/>
          <p:nvPr>
            <p:ph idx="1" type="body"/>
          </p:nvPr>
        </p:nvSpPr>
        <p:spPr>
          <a:xfrm>
            <a:off x="324000" y="759300"/>
            <a:ext cx="8496000" cy="4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look at both graphs side-by-side. </a:t>
            </a:r>
            <a:endParaRPr sz="2000"/>
          </a:p>
        </p:txBody>
      </p:sp>
      <p:sp>
        <p:nvSpPr>
          <p:cNvPr id="831" name="Google Shape;83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bivariate data on a scatter graph</a:t>
            </a:r>
            <a:endParaRPr/>
          </a:p>
        </p:txBody>
      </p:sp>
      <p:grpSp>
        <p:nvGrpSpPr>
          <p:cNvPr id="832" name="Google Shape;832;p71"/>
          <p:cNvGrpSpPr/>
          <p:nvPr/>
        </p:nvGrpSpPr>
        <p:grpSpPr>
          <a:xfrm>
            <a:off x="3369600" y="3083549"/>
            <a:ext cx="4091185" cy="467289"/>
            <a:chOff x="4433650" y="4498886"/>
            <a:chExt cx="4091185" cy="467289"/>
          </a:xfrm>
        </p:grpSpPr>
        <p:pic>
          <p:nvPicPr>
            <p:cNvPr descr="&lt;math xmlns=&quot;http://www.w3.org/1998/Math/MathML&quot; data-is-equatio=&quot;1&quot; data-equatio-url=&quot;https://equatio-api.texthelp.com/desmos/get/05-10-2023/b1e42110-fb3f-482b-b7eb-43d24922bd19&quot; data-equatio-type=&quot;desmos&quot;&gt;&lt;mglyph src=&quot;https://equatio-api.texthelp.com/desmos/get/05-10-2023/b1e42110-fb3f-482b-b7eb-43d24922bd19&quot; alt=&quot;Equatio Desmos Graph&quot;/&gt;&lt;/math&gt;" id="833" name="Google Shape;833;p71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704" l="4010" r="4640" t="95559"/>
            <a:stretch/>
          </p:blipFill>
          <p:spPr>
            <a:xfrm>
              <a:off x="4433650" y="4509300"/>
              <a:ext cx="3933824" cy="1206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34" name="Google Shape;834;p71"/>
            <p:cNvCxnSpPr/>
            <p:nvPr/>
          </p:nvCxnSpPr>
          <p:spPr>
            <a:xfrm>
              <a:off x="4454735" y="4498886"/>
              <a:ext cx="40701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5" name="Google Shape;835;p71"/>
            <p:cNvSpPr txBox="1"/>
            <p:nvPr/>
          </p:nvSpPr>
          <p:spPr>
            <a:xfrm>
              <a:off x="6851675" y="4571975"/>
              <a:ext cx="16269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long jump (m)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36" name="Google Shape;83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94825" y="2582363"/>
            <a:ext cx="504705" cy="48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666798" y="2588614"/>
            <a:ext cx="412641" cy="47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838202" y="2584852"/>
            <a:ext cx="374900" cy="483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7800" y="2588219"/>
            <a:ext cx="331026" cy="4766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0" name="Google Shape;840;p71"/>
          <p:cNvGrpSpPr/>
          <p:nvPr/>
        </p:nvGrpSpPr>
        <p:grpSpPr>
          <a:xfrm>
            <a:off x="508563" y="1341035"/>
            <a:ext cx="1863186" cy="3327002"/>
            <a:chOff x="1418852" y="1128324"/>
            <a:chExt cx="1787400" cy="3191675"/>
          </a:xfrm>
        </p:grpSpPr>
        <p:pic>
          <p:nvPicPr>
            <p:cNvPr descr="&lt;math xmlns=&quot;http://www.w3.org/1998/Math/MathML&quot; data-is-equatio=&quot;1&quot; data-equatio-url=&quot;https://equatio-api.texthelp.com/desmos/get/05-10-2023/b1e42110-fb3f-482b-b7eb-43d24922bd19&quot; data-equatio-type=&quot;desmos&quot;&gt;&lt;mglyph src=&quot;https://equatio-api.texthelp.com/desmos/get/05-10-2023/b1e42110-fb3f-482b-b7eb-43d24922bd19&quot; alt=&quot;Equatio Desmos Graph&quot;/&gt;&lt;/math&gt;" id="841" name="Google Shape;841;p71" title="Equatio Desmos Graph"/>
            <p:cNvPicPr preferRelativeResize="0"/>
            <p:nvPr/>
          </p:nvPicPr>
          <p:blipFill rotWithShape="1">
            <a:blip r:embed="rId3">
              <a:alphaModFix/>
            </a:blip>
            <a:srcRect b="3520" l="370" r="95253" t="5280"/>
            <a:stretch/>
          </p:blipFill>
          <p:spPr>
            <a:xfrm>
              <a:off x="2847975" y="1374475"/>
              <a:ext cx="188424" cy="29455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42" name="Google Shape;842;p71"/>
            <p:cNvCxnSpPr/>
            <p:nvPr/>
          </p:nvCxnSpPr>
          <p:spPr>
            <a:xfrm rot="10800000">
              <a:off x="3036404" y="1201431"/>
              <a:ext cx="0" cy="3088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3" name="Google Shape;843;p71"/>
            <p:cNvSpPr txBox="1"/>
            <p:nvPr/>
          </p:nvSpPr>
          <p:spPr>
            <a:xfrm>
              <a:off x="1418852" y="1128324"/>
              <a:ext cx="1787400" cy="39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high jump (cm)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44" name="Google Shape;84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241489" y="3114852"/>
            <a:ext cx="430133" cy="496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244306" y="3633896"/>
            <a:ext cx="526098" cy="509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1310" y="1899911"/>
            <a:ext cx="345058" cy="4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2251240" y="2525876"/>
            <a:ext cx="390792" cy="503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1"/>
          <p:cNvSpPr txBox="1"/>
          <p:nvPr>
            <p:ph idx="1" type="body"/>
          </p:nvPr>
        </p:nvSpPr>
        <p:spPr>
          <a:xfrm>
            <a:off x="3369600" y="3925800"/>
            <a:ext cx="54504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</a:t>
            </a:r>
            <a:r>
              <a:rPr lang="en-GB" sz="2000">
                <a:solidFill>
                  <a:schemeClr val="accent4"/>
                </a:solidFill>
              </a:rPr>
              <a:t>connections</a:t>
            </a:r>
            <a:r>
              <a:rPr lang="en-GB" sz="2000"/>
              <a:t> could be made between the two sets of data?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324000" y="759300"/>
            <a:ext cx="8630400" cy="8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Each person has two values of data that can be combined to make a pair of </a:t>
            </a:r>
            <a:r>
              <a:rPr b="1" lang="en-GB" sz="2000">
                <a:solidFill>
                  <a:srgbClr val="000000"/>
                </a:solidFill>
              </a:rPr>
              <a:t>bivariate data</a:t>
            </a:r>
            <a:r>
              <a:rPr lang="en-GB" sz="2000">
                <a:solidFill>
                  <a:srgbClr val="000000"/>
                </a:solidFill>
              </a:rPr>
              <a:t>.</a:t>
            </a:r>
            <a:endParaRPr sz="2000"/>
          </a:p>
        </p:txBody>
      </p:sp>
      <p:sp>
        <p:nvSpPr>
          <p:cNvPr id="854" name="Google Shape;85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bivariate data on a scatter graph</a:t>
            </a:r>
            <a:endParaRPr/>
          </a:p>
        </p:txBody>
      </p:sp>
      <p:sp>
        <p:nvSpPr>
          <p:cNvPr id="855" name="Google Shape;855;p72"/>
          <p:cNvSpPr txBox="1"/>
          <p:nvPr>
            <p:ph idx="1" type="body"/>
          </p:nvPr>
        </p:nvSpPr>
        <p:spPr>
          <a:xfrm>
            <a:off x="324000" y="3121500"/>
            <a:ext cx="8237700" cy="166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000000"/>
                </a:solidFill>
              </a:rPr>
              <a:t>Bivariate data</a:t>
            </a:r>
            <a:r>
              <a:rPr lang="en-GB" sz="2000">
                <a:solidFill>
                  <a:srgbClr val="000000"/>
                </a:solidFill>
              </a:rPr>
              <a:t> </a:t>
            </a:r>
            <a:r>
              <a:rPr lang="en-GB" sz="2000"/>
              <a:t>compares the values of two variables by pairing each value of one of the variables with a value of the other.</a:t>
            </a:r>
            <a:br>
              <a:rPr lang="en-GB" sz="2000">
                <a:solidFill>
                  <a:srgbClr val="000000"/>
                </a:solidFill>
              </a:rPr>
            </a:b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Bivariate </a:t>
            </a:r>
            <a:r>
              <a:rPr lang="en-GB" sz="2000"/>
              <a:t>data can be represented together in the same graph by plotting a </a:t>
            </a:r>
            <a:r>
              <a:rPr b="1" lang="en-GB" sz="2000"/>
              <a:t>scatter graph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856" name="Google Shape;85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992008" y="1849946"/>
            <a:ext cx="522855" cy="602992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2"/>
          <p:cNvSpPr txBox="1"/>
          <p:nvPr/>
        </p:nvSpPr>
        <p:spPr>
          <a:xfrm>
            <a:off x="2946142" y="2494817"/>
            <a:ext cx="10374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2"/>
          <p:cNvSpPr txBox="1"/>
          <p:nvPr/>
        </p:nvSpPr>
        <p:spPr>
          <a:xfrm>
            <a:off x="3635671" y="2043759"/>
            <a:ext cx="21780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long jump: 4.8 m</a:t>
            </a:r>
            <a:br>
              <a:rPr lang="en-GB" sz="1600"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high jump: 148 cm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10-2023/6754644b-5f39-4527-81f5-92c4fa763219&quot; data-equatio-type=&quot;desmos&quot;&gt;&lt;mglyph src=&quot;https://equatio-api.texthelp.com/desmos/get/05-10-2023/6754644b-5f39-4527-81f5-92c4fa763219&quot; alt=&quot;Equatio Desmos Graph&quot;/&gt;&lt;/math&gt;" id="863" name="Google Shape;863;p73" title="Equatio Desmos Graph"/>
          <p:cNvPicPr preferRelativeResize="0"/>
          <p:nvPr/>
        </p:nvPicPr>
        <p:blipFill rotWithShape="1">
          <a:blip r:embed="rId3">
            <a:alphaModFix/>
          </a:blip>
          <a:srcRect b="768" l="258" r="3909" t="5466"/>
          <a:stretch/>
        </p:blipFill>
        <p:spPr>
          <a:xfrm>
            <a:off x="4587600" y="1657675"/>
            <a:ext cx="3772060" cy="276772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3"/>
          <p:cNvSpPr txBox="1"/>
          <p:nvPr>
            <p:ph idx="1" type="body"/>
          </p:nvPr>
        </p:nvSpPr>
        <p:spPr>
          <a:xfrm>
            <a:off x="324000" y="759300"/>
            <a:ext cx="79914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Bivariate</a:t>
            </a:r>
            <a:r>
              <a:rPr lang="en-GB" sz="2000"/>
              <a:t> data can be represented on a </a:t>
            </a:r>
            <a:r>
              <a:rPr b="1" lang="en-GB" sz="2000"/>
              <a:t>scatter graph</a:t>
            </a:r>
            <a:r>
              <a:rPr lang="en-GB" sz="2000"/>
              <a:t> by plotting </a:t>
            </a:r>
            <a:r>
              <a:rPr lang="en-GB" sz="2000">
                <a:solidFill>
                  <a:schemeClr val="accent4"/>
                </a:solidFill>
              </a:rPr>
              <a:t>points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65" name="Google Shape;86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bivariate data on a scatter graph</a:t>
            </a:r>
            <a:endParaRPr/>
          </a:p>
        </p:txBody>
      </p:sp>
      <p:cxnSp>
        <p:nvCxnSpPr>
          <p:cNvPr id="866" name="Google Shape;866;p73"/>
          <p:cNvCxnSpPr/>
          <p:nvPr/>
        </p:nvCxnSpPr>
        <p:spPr>
          <a:xfrm rot="10800000">
            <a:off x="4761132" y="1496795"/>
            <a:ext cx="0" cy="281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7" name="Google Shape;867;p73"/>
          <p:cNvCxnSpPr/>
          <p:nvPr/>
        </p:nvCxnSpPr>
        <p:spPr>
          <a:xfrm>
            <a:off x="4751635" y="4302798"/>
            <a:ext cx="370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8" name="Google Shape;868;p73"/>
          <p:cNvSpPr txBox="1"/>
          <p:nvPr/>
        </p:nvSpPr>
        <p:spPr>
          <a:xfrm>
            <a:off x="6790147" y="4369421"/>
            <a:ext cx="16293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long jump (m)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3"/>
          <p:cNvSpPr txBox="1"/>
          <p:nvPr/>
        </p:nvSpPr>
        <p:spPr>
          <a:xfrm>
            <a:off x="2975275" y="1572991"/>
            <a:ext cx="1866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high jump (cm)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70" name="Google Shape;870;p73"/>
          <p:cNvGraphicFramePr/>
          <p:nvPr/>
        </p:nvGraphicFramePr>
        <p:xfrm>
          <a:off x="331141" y="2296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{BEAAFE14-23DC-4687-BDF1-7A3166B6B996}</a:tableStyleId>
              </a:tblPr>
              <a:tblGrid>
                <a:gridCol w="1008850"/>
                <a:gridCol w="1190400"/>
                <a:gridCol w="1182875"/>
              </a:tblGrid>
              <a:tr h="71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long jump (m)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jump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Alex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Andeep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1" name="Google Shape;871;p73"/>
          <p:cNvSpPr/>
          <p:nvPr/>
        </p:nvSpPr>
        <p:spPr>
          <a:xfrm>
            <a:off x="1340000" y="3043503"/>
            <a:ext cx="2341200" cy="359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3"/>
          <p:cNvSpPr/>
          <p:nvPr/>
        </p:nvSpPr>
        <p:spPr>
          <a:xfrm>
            <a:off x="1340000" y="3479221"/>
            <a:ext cx="2341200" cy="359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3"/>
          <p:cNvSpPr/>
          <p:nvPr/>
        </p:nvSpPr>
        <p:spPr>
          <a:xfrm>
            <a:off x="1340000" y="3907778"/>
            <a:ext cx="2341200" cy="359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/>
          <p:nvPr/>
        </p:nvSpPr>
        <p:spPr>
          <a:xfrm>
            <a:off x="6070500" y="2972088"/>
            <a:ext cx="186300" cy="186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3"/>
          <p:cNvSpPr/>
          <p:nvPr/>
        </p:nvSpPr>
        <p:spPr>
          <a:xfrm>
            <a:off x="7118112" y="2535173"/>
            <a:ext cx="186300" cy="186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3"/>
          <p:cNvSpPr/>
          <p:nvPr/>
        </p:nvSpPr>
        <p:spPr>
          <a:xfrm>
            <a:off x="7650087" y="2000050"/>
            <a:ext cx="186300" cy="186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3"/>
          <p:cNvSpPr txBox="1"/>
          <p:nvPr>
            <p:ph idx="1" type="body"/>
          </p:nvPr>
        </p:nvSpPr>
        <p:spPr>
          <a:xfrm>
            <a:off x="304800" y="4526050"/>
            <a:ext cx="52863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Each point represents a pair of </a:t>
            </a:r>
            <a:r>
              <a:rPr b="1" lang="en-GB" sz="1800"/>
              <a:t>bivariate</a:t>
            </a:r>
            <a:r>
              <a:rPr lang="en-GB" sz="1800"/>
              <a:t> data.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10-2023/6754644b-5f39-4527-81f5-92c4fa763219&quot; data-equatio-type=&quot;desmos&quot;&gt;&lt;mglyph src=&quot;https://equatio-api.texthelp.com/desmos/get/05-10-2023/6754644b-5f39-4527-81f5-92c4fa763219&quot; alt=&quot;Equatio Desmos Graph&quot;/&gt;&lt;/math&gt;" id="882" name="Google Shape;882;p74" title="Equatio Desmos Graph"/>
          <p:cNvPicPr preferRelativeResize="0"/>
          <p:nvPr/>
        </p:nvPicPr>
        <p:blipFill rotWithShape="1">
          <a:blip r:embed="rId3">
            <a:alphaModFix/>
          </a:blip>
          <a:srcRect b="768" l="258" r="3909" t="5466"/>
          <a:stretch/>
        </p:blipFill>
        <p:spPr>
          <a:xfrm>
            <a:off x="4587600" y="1657675"/>
            <a:ext cx="3772060" cy="276772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74"/>
          <p:cNvSpPr txBox="1"/>
          <p:nvPr>
            <p:ph idx="1" type="body"/>
          </p:nvPr>
        </p:nvSpPr>
        <p:spPr>
          <a:xfrm>
            <a:off x="324000" y="759300"/>
            <a:ext cx="8496000" cy="7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Data can be added to the </a:t>
            </a:r>
            <a:r>
              <a:rPr b="1" lang="en-GB" sz="2000"/>
              <a:t>scatter graph</a:t>
            </a:r>
            <a:r>
              <a:rPr lang="en-GB" sz="2000"/>
              <a:t> by plotting points.</a:t>
            </a:r>
            <a:endParaRPr sz="2000"/>
          </a:p>
        </p:txBody>
      </p:sp>
      <p:sp>
        <p:nvSpPr>
          <p:cNvPr id="884" name="Google Shape;88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bivariate data on a scatter graph</a:t>
            </a:r>
            <a:endParaRPr/>
          </a:p>
        </p:txBody>
      </p:sp>
      <p:cxnSp>
        <p:nvCxnSpPr>
          <p:cNvPr id="885" name="Google Shape;885;p74"/>
          <p:cNvCxnSpPr/>
          <p:nvPr/>
        </p:nvCxnSpPr>
        <p:spPr>
          <a:xfrm rot="10800000">
            <a:off x="4761132" y="1496795"/>
            <a:ext cx="0" cy="281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74"/>
          <p:cNvCxnSpPr/>
          <p:nvPr/>
        </p:nvCxnSpPr>
        <p:spPr>
          <a:xfrm>
            <a:off x="4751635" y="4302798"/>
            <a:ext cx="370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7" name="Google Shape;887;p74"/>
          <p:cNvSpPr txBox="1"/>
          <p:nvPr/>
        </p:nvSpPr>
        <p:spPr>
          <a:xfrm>
            <a:off x="6760997" y="4460996"/>
            <a:ext cx="16293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long jump (m)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4"/>
          <p:cNvSpPr txBox="1"/>
          <p:nvPr/>
        </p:nvSpPr>
        <p:spPr>
          <a:xfrm>
            <a:off x="2975275" y="1572991"/>
            <a:ext cx="1866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high jump (cm)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9" name="Google Shape;889;p74"/>
          <p:cNvCxnSpPr/>
          <p:nvPr/>
        </p:nvCxnSpPr>
        <p:spPr>
          <a:xfrm rot="10800000">
            <a:off x="8088810" y="4208256"/>
            <a:ext cx="300" cy="223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74"/>
          <p:cNvSpPr txBox="1"/>
          <p:nvPr/>
        </p:nvSpPr>
        <p:spPr>
          <a:xfrm>
            <a:off x="7845510" y="4369425"/>
            <a:ext cx="486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5.9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1" name="Google Shape;891;p74"/>
          <p:cNvCxnSpPr/>
          <p:nvPr/>
        </p:nvCxnSpPr>
        <p:spPr>
          <a:xfrm rot="10800000">
            <a:off x="4577338" y="3398582"/>
            <a:ext cx="285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2" name="Google Shape;892;p74"/>
          <p:cNvSpPr txBox="1"/>
          <p:nvPr/>
        </p:nvSpPr>
        <p:spPr>
          <a:xfrm>
            <a:off x="4119952" y="3288773"/>
            <a:ext cx="57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135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93" name="Google Shape;893;p74"/>
          <p:cNvGraphicFramePr/>
          <p:nvPr/>
        </p:nvGraphicFramePr>
        <p:xfrm>
          <a:off x="323988" y="2292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{BEAAFE14-23DC-4687-BDF1-7A3166B6B996}</a:tableStyleId>
              </a:tblPr>
              <a:tblGrid>
                <a:gridCol w="1008850"/>
                <a:gridCol w="1190400"/>
                <a:gridCol w="1182875"/>
              </a:tblGrid>
              <a:tr h="71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long jump (m)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jump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Jacob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Laura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4" name="Google Shape;894;p74"/>
          <p:cNvSpPr/>
          <p:nvPr/>
        </p:nvSpPr>
        <p:spPr>
          <a:xfrm>
            <a:off x="8046315" y="3366400"/>
            <a:ext cx="75300" cy="7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4"/>
          <p:cNvSpPr/>
          <p:nvPr/>
        </p:nvSpPr>
        <p:spPr>
          <a:xfrm>
            <a:off x="7001737" y="2387932"/>
            <a:ext cx="75300" cy="75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6" name="Google Shape;896;p74"/>
          <p:cNvCxnSpPr/>
          <p:nvPr/>
        </p:nvCxnSpPr>
        <p:spPr>
          <a:xfrm rot="10800000">
            <a:off x="4583964" y="2424067"/>
            <a:ext cx="285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74"/>
          <p:cNvCxnSpPr/>
          <p:nvPr/>
        </p:nvCxnSpPr>
        <p:spPr>
          <a:xfrm rot="10800000">
            <a:off x="7041601" y="4208250"/>
            <a:ext cx="300" cy="223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74"/>
          <p:cNvSpPr/>
          <p:nvPr/>
        </p:nvSpPr>
        <p:spPr>
          <a:xfrm>
            <a:off x="1332850" y="3048475"/>
            <a:ext cx="2341200" cy="359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4"/>
          <p:cNvSpPr/>
          <p:nvPr/>
        </p:nvSpPr>
        <p:spPr>
          <a:xfrm>
            <a:off x="1332850" y="3471343"/>
            <a:ext cx="2341200" cy="359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5"/>
          <p:cNvSpPr txBox="1"/>
          <p:nvPr>
            <p:ph idx="1" type="body"/>
          </p:nvPr>
        </p:nvSpPr>
        <p:spPr>
          <a:xfrm>
            <a:off x="324000" y="759300"/>
            <a:ext cx="82377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person’s data is highlighted in the scatter graph?</a:t>
            </a:r>
            <a:endParaRPr/>
          </a:p>
        </p:txBody>
      </p:sp>
      <p:sp>
        <p:nvSpPr>
          <p:cNvPr id="905" name="Google Shape;90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bivariate data on a scatter graph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5-10-2023/6754644b-5f39-4527-81f5-92c4fa763219&quot; data-equatio-type=&quot;desmos&quot;&gt;&lt;mglyph src=&quot;https://equatio-api.texthelp.com/desmos/get/05-10-2023/6754644b-5f39-4527-81f5-92c4fa763219&quot; alt=&quot;Equatio Desmos Graph&quot;/&gt;&lt;/math&gt;" id="906" name="Google Shape;906;p75" title="Equatio Desmos Graph"/>
          <p:cNvPicPr preferRelativeResize="0"/>
          <p:nvPr/>
        </p:nvPicPr>
        <p:blipFill rotWithShape="1">
          <a:blip r:embed="rId3">
            <a:alphaModFix/>
          </a:blip>
          <a:srcRect b="768" l="258" r="3909" t="5466"/>
          <a:stretch/>
        </p:blipFill>
        <p:spPr>
          <a:xfrm>
            <a:off x="4676710" y="1662703"/>
            <a:ext cx="3772060" cy="2767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7" name="Google Shape;907;p75"/>
          <p:cNvCxnSpPr/>
          <p:nvPr/>
        </p:nvCxnSpPr>
        <p:spPr>
          <a:xfrm rot="10800000">
            <a:off x="4850242" y="1501822"/>
            <a:ext cx="0" cy="281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75"/>
          <p:cNvCxnSpPr/>
          <p:nvPr/>
        </p:nvCxnSpPr>
        <p:spPr>
          <a:xfrm>
            <a:off x="4840745" y="4307825"/>
            <a:ext cx="370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9" name="Google Shape;909;p75"/>
          <p:cNvSpPr txBox="1"/>
          <p:nvPr/>
        </p:nvSpPr>
        <p:spPr>
          <a:xfrm>
            <a:off x="6879257" y="4374448"/>
            <a:ext cx="16293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long jump (m)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5"/>
          <p:cNvSpPr txBox="1"/>
          <p:nvPr/>
        </p:nvSpPr>
        <p:spPr>
          <a:xfrm>
            <a:off x="3216785" y="1349419"/>
            <a:ext cx="18660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high jump (cm)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5"/>
          <p:cNvSpPr/>
          <p:nvPr/>
        </p:nvSpPr>
        <p:spPr>
          <a:xfrm>
            <a:off x="6390305" y="3376028"/>
            <a:ext cx="66000" cy="65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5"/>
          <p:cNvSpPr/>
          <p:nvPr/>
        </p:nvSpPr>
        <p:spPr>
          <a:xfrm>
            <a:off x="7966185" y="2397934"/>
            <a:ext cx="66000" cy="65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5"/>
          <p:cNvSpPr/>
          <p:nvPr/>
        </p:nvSpPr>
        <p:spPr>
          <a:xfrm>
            <a:off x="7446998" y="3216634"/>
            <a:ext cx="66000" cy="65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5"/>
          <p:cNvSpPr/>
          <p:nvPr/>
        </p:nvSpPr>
        <p:spPr>
          <a:xfrm>
            <a:off x="8073275" y="2869231"/>
            <a:ext cx="204600" cy="2046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5" name="Google Shape;915;p75"/>
          <p:cNvGraphicFramePr/>
          <p:nvPr/>
        </p:nvGraphicFramePr>
        <p:xfrm>
          <a:off x="543738" y="209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{BEAAFE14-23DC-4687-BDF1-7A3166B6B996}</a:tableStyleId>
              </a:tblPr>
              <a:tblGrid>
                <a:gridCol w="1008850"/>
                <a:gridCol w="1190400"/>
                <a:gridCol w="1182875"/>
              </a:tblGrid>
              <a:tr h="71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long jump (m)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jump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Izzy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Sophia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6" name="Google Shape;916;p75"/>
          <p:cNvSpPr txBox="1"/>
          <p:nvPr>
            <p:ph idx="1" type="body"/>
          </p:nvPr>
        </p:nvSpPr>
        <p:spPr>
          <a:xfrm>
            <a:off x="1847326" y="4318551"/>
            <a:ext cx="7959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Aisha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7" name="Google Shape;917;p75"/>
          <p:cNvSpPr/>
          <p:nvPr/>
        </p:nvSpPr>
        <p:spPr>
          <a:xfrm>
            <a:off x="1561450" y="3277075"/>
            <a:ext cx="2341200" cy="359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6"/>
          <p:cNvSpPr txBox="1"/>
          <p:nvPr>
            <p:ph idx="1" type="body"/>
          </p:nvPr>
        </p:nvSpPr>
        <p:spPr>
          <a:xfrm>
            <a:off x="324000" y="759300"/>
            <a:ext cx="8237700" cy="6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table shows </a:t>
            </a:r>
            <a:r>
              <a:rPr lang="en-GB" sz="1600"/>
              <a:t>weather</a:t>
            </a:r>
            <a:r>
              <a:rPr lang="en-GB" sz="1600"/>
              <a:t> data from Bradford, for five months in 2021.</a:t>
            </a:r>
            <a:br>
              <a:rPr lang="en-GB" sz="1600"/>
            </a:br>
            <a:r>
              <a:rPr lang="en-GB" sz="1600"/>
              <a:t>    Plot this data on a </a:t>
            </a:r>
            <a:r>
              <a:rPr b="1" lang="en-GB" sz="1600"/>
              <a:t>scatter graph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923" name="Google Shape;923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bivariate data on a scatter graph</a:t>
            </a:r>
            <a:endParaRPr/>
          </a:p>
        </p:txBody>
      </p:sp>
      <p:graphicFrame>
        <p:nvGraphicFramePr>
          <p:cNvPr id="924" name="Google Shape;924;p76"/>
          <p:cNvGraphicFramePr/>
          <p:nvPr/>
        </p:nvGraphicFramePr>
        <p:xfrm>
          <a:off x="56055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042875"/>
                <a:gridCol w="1220600"/>
                <a:gridCol w="114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sunshine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11-10-2023/ac2c5b79-ef90-449e-982e-9d228e988380&quot; data-equatio-type=&quot;desmos&quot;&gt;&lt;mglyph src=&quot;https://equatio-api.texthelp.com/desmos/get/11-10-2023/ac2c5b79-ef90-449e-982e-9d228e988380&quot; alt=&quot;Equatio Desmos Graph&quot;/&gt;&lt;/math&gt;" id="925" name="Google Shape;925;p76" title="Equatio Desmos Graph"/>
          <p:cNvPicPr preferRelativeResize="0"/>
          <p:nvPr/>
        </p:nvPicPr>
        <p:blipFill rotWithShape="1">
          <a:blip r:embed="rId3">
            <a:alphaModFix/>
          </a:blip>
          <a:srcRect b="2574" l="926" r="19916" t="7723"/>
          <a:stretch/>
        </p:blipFill>
        <p:spPr>
          <a:xfrm>
            <a:off x="4788750" y="1620000"/>
            <a:ext cx="3497476" cy="2972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6" name="Google Shape;926;p76"/>
          <p:cNvCxnSpPr/>
          <p:nvPr/>
        </p:nvCxnSpPr>
        <p:spPr>
          <a:xfrm>
            <a:off x="5012175" y="4460225"/>
            <a:ext cx="3462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7" name="Google Shape;927;p76"/>
          <p:cNvSpPr txBox="1"/>
          <p:nvPr/>
        </p:nvSpPr>
        <p:spPr>
          <a:xfrm>
            <a:off x="5622296" y="4526850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8" name="Google Shape;928;p76"/>
          <p:cNvCxnSpPr/>
          <p:nvPr/>
        </p:nvCxnSpPr>
        <p:spPr>
          <a:xfrm rot="10800000">
            <a:off x="5011825" y="1436350"/>
            <a:ext cx="0" cy="302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9" name="Google Shape;929;p76"/>
          <p:cNvSpPr txBox="1"/>
          <p:nvPr/>
        </p:nvSpPr>
        <p:spPr>
          <a:xfrm rot="-5400000">
            <a:off x="3338846" y="2909340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b61369b1-49ff-4276-9681-984370d07f9f&quot; data-equatio-type=&quot;desmos&quot;&gt;&lt;mglyph src=&quot;https://equatio-api.texthelp.com/desmos/get/11-10-2023/b61369b1-49ff-4276-9681-984370d07f9f&quot; alt=&quot;Equatio Desmos Graph&quot;/&gt;&lt;/math&gt;" id="934" name="Google Shape;934;p77" title="Equatio Desmos Graph"/>
          <p:cNvPicPr preferRelativeResize="0"/>
          <p:nvPr/>
        </p:nvPicPr>
        <p:blipFill rotWithShape="1">
          <a:blip r:embed="rId3">
            <a:alphaModFix/>
          </a:blip>
          <a:srcRect b="970" l="1234" r="25279" t="18136"/>
          <a:stretch/>
        </p:blipFill>
        <p:spPr>
          <a:xfrm>
            <a:off x="4550385" y="1736475"/>
            <a:ext cx="3440732" cy="2840651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7"/>
          <p:cNvSpPr txBox="1"/>
          <p:nvPr>
            <p:ph idx="1" type="body"/>
          </p:nvPr>
        </p:nvSpPr>
        <p:spPr>
          <a:xfrm>
            <a:off x="324000" y="759300"/>
            <a:ext cx="8371500" cy="9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</a:t>
            </a:r>
            <a:r>
              <a:rPr lang="en-GB" sz="1600"/>
              <a:t> Jacob runs a series of long-distance races.</a:t>
            </a:r>
            <a:br>
              <a:rPr lang="en-GB" sz="1600"/>
            </a:br>
            <a:r>
              <a:rPr lang="en-GB" sz="1600"/>
              <a:t>    For each race, he records his time and the elevation of the course.</a:t>
            </a:r>
            <a:br>
              <a:rPr lang="en-GB" sz="1600"/>
            </a:br>
            <a:r>
              <a:rPr lang="en-GB" sz="1600"/>
              <a:t>    Plot Jacob’s data on the scatter graph.</a:t>
            </a:r>
            <a:endParaRPr sz="1600"/>
          </a:p>
        </p:txBody>
      </p:sp>
      <p:sp>
        <p:nvSpPr>
          <p:cNvPr id="936" name="Google Shape;936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bivariate data on a scatter graph</a:t>
            </a:r>
            <a:endParaRPr/>
          </a:p>
        </p:txBody>
      </p:sp>
      <p:cxnSp>
        <p:nvCxnSpPr>
          <p:cNvPr id="937" name="Google Shape;937;p77"/>
          <p:cNvCxnSpPr/>
          <p:nvPr/>
        </p:nvCxnSpPr>
        <p:spPr>
          <a:xfrm>
            <a:off x="4808983" y="4461632"/>
            <a:ext cx="3462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8" name="Google Shape;938;p77"/>
          <p:cNvSpPr txBox="1"/>
          <p:nvPr/>
        </p:nvSpPr>
        <p:spPr>
          <a:xfrm>
            <a:off x="5399424" y="4522353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elevation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(m)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9" name="Google Shape;939;p77"/>
          <p:cNvCxnSpPr/>
          <p:nvPr/>
        </p:nvCxnSpPr>
        <p:spPr>
          <a:xfrm rot="10800000">
            <a:off x="4822249" y="1575839"/>
            <a:ext cx="0" cy="289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0" name="Google Shape;940;p77"/>
          <p:cNvSpPr txBox="1"/>
          <p:nvPr/>
        </p:nvSpPr>
        <p:spPr>
          <a:xfrm rot="-5400000">
            <a:off x="3900577" y="3032081"/>
            <a:ext cx="9516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(s)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1" name="Google Shape;941;p77"/>
          <p:cNvGraphicFramePr/>
          <p:nvPr/>
        </p:nvGraphicFramePr>
        <p:xfrm>
          <a:off x="587450" y="186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556100"/>
                <a:gridCol w="122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levation (m)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ce5967c3-838c-4f61-aa9f-ddcb99b7e299&quot; data-equatio-type=&quot;desmos&quot;&gt;&lt;mglyph src=&quot;https://equatio-api.texthelp.com/desmos/get/11-10-2023/ce5967c3-838c-4f61-aa9f-ddcb99b7e299&quot; alt=&quot;Equatio Desmos Graph&quot;/&gt;&lt;/math&gt;" id="946" name="Google Shape;946;p78" title="Equatio Desmos Graph"/>
          <p:cNvPicPr preferRelativeResize="0"/>
          <p:nvPr/>
        </p:nvPicPr>
        <p:blipFill rotWithShape="1">
          <a:blip r:embed="rId3">
            <a:alphaModFix/>
          </a:blip>
          <a:srcRect b="2460" l="850" r="19683" t="8053"/>
          <a:stretch/>
        </p:blipFill>
        <p:spPr>
          <a:xfrm>
            <a:off x="4780825" y="1620000"/>
            <a:ext cx="3540014" cy="2989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</a:t>
            </a:r>
            <a:r>
              <a:rPr lang="en-GB" sz="1600"/>
              <a:t> The table shows weather data in Bradford, for five months in 2021.</a:t>
            </a:r>
            <a:br>
              <a:rPr lang="en-GB" sz="1600"/>
            </a:br>
            <a:r>
              <a:rPr lang="en-GB" sz="1600"/>
              <a:t>    Plot this data on a </a:t>
            </a:r>
            <a:r>
              <a:rPr b="1" lang="en-GB" sz="1600"/>
              <a:t>scatter graph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948" name="Google Shape;948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bivariate data on a scatter graph</a:t>
            </a:r>
            <a:endParaRPr/>
          </a:p>
        </p:txBody>
      </p:sp>
      <p:cxnSp>
        <p:nvCxnSpPr>
          <p:cNvPr id="949" name="Google Shape;949;p78"/>
          <p:cNvCxnSpPr/>
          <p:nvPr/>
        </p:nvCxnSpPr>
        <p:spPr>
          <a:xfrm>
            <a:off x="5012175" y="4460225"/>
            <a:ext cx="3462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0" name="Google Shape;950;p78"/>
          <p:cNvSpPr txBox="1"/>
          <p:nvPr/>
        </p:nvSpPr>
        <p:spPr>
          <a:xfrm>
            <a:off x="5622296" y="4526850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1" name="Google Shape;951;p78"/>
          <p:cNvCxnSpPr/>
          <p:nvPr/>
        </p:nvCxnSpPr>
        <p:spPr>
          <a:xfrm rot="10800000">
            <a:off x="5011825" y="1436350"/>
            <a:ext cx="0" cy="302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2" name="Google Shape;952;p78"/>
          <p:cNvSpPr txBox="1"/>
          <p:nvPr/>
        </p:nvSpPr>
        <p:spPr>
          <a:xfrm rot="-5400000">
            <a:off x="3338846" y="2909340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3" name="Google Shape;953;p78"/>
          <p:cNvGraphicFramePr/>
          <p:nvPr/>
        </p:nvGraphicFramePr>
        <p:xfrm>
          <a:off x="56055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042875"/>
                <a:gridCol w="1220600"/>
                <a:gridCol w="1143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sunshine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b61369b1-49ff-4276-9681-984370d07f9f&quot; data-equatio-type=&quot;desmos&quot;&gt;&lt;mglyph src=&quot;https://equatio-api.texthelp.com/desmos/get/11-10-2023/b61369b1-49ff-4276-9681-984370d07f9f&quot; alt=&quot;Equatio Desmos Graph&quot;/&gt;&lt;/math&gt;" id="958" name="Google Shape;958;p79" title="Equatio Desmos Graph"/>
          <p:cNvPicPr preferRelativeResize="0"/>
          <p:nvPr/>
        </p:nvPicPr>
        <p:blipFill rotWithShape="1">
          <a:blip r:embed="rId3">
            <a:alphaModFix/>
          </a:blip>
          <a:srcRect b="970" l="1234" r="25279" t="18136"/>
          <a:stretch/>
        </p:blipFill>
        <p:spPr>
          <a:xfrm>
            <a:off x="4575232" y="1744758"/>
            <a:ext cx="3440732" cy="2840651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</a:t>
            </a:r>
            <a:r>
              <a:rPr lang="en-GB" sz="1600"/>
              <a:t> Jacob runs a series of long-distance races.</a:t>
            </a:r>
            <a:br>
              <a:rPr lang="en-GB" sz="1600"/>
            </a:br>
            <a:r>
              <a:rPr lang="en-GB" sz="1600"/>
              <a:t>    For each race, he records his time and the elevation of the course.</a:t>
            </a:r>
            <a:br>
              <a:rPr lang="en-GB" sz="1600"/>
            </a:br>
            <a:r>
              <a:rPr lang="en-GB" sz="1600"/>
              <a:t>    Plot Jacob’s data on the </a:t>
            </a:r>
            <a:r>
              <a:rPr b="1" lang="en-GB" sz="1600"/>
              <a:t>scatter graph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960" name="Google Shape;960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bivariate data on a scatter graph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9dea36d4-aa46-4b51-bf2f-ff71d38affae&quot; data-equatio-type=&quot;desmos&quot;&gt;&lt;mglyph src=&quot;https://equatio-api.texthelp.com/desmos/get/11-10-2023/9dea36d4-aa46-4b51-bf2f-ff71d38affae&quot; alt=&quot;Equatio Desmos Graph&quot;/&gt;&lt;/math&gt;" id="961" name="Google Shape;961;p79" title="Equatio Desmos Graph"/>
          <p:cNvPicPr preferRelativeResize="0"/>
          <p:nvPr/>
        </p:nvPicPr>
        <p:blipFill rotWithShape="1">
          <a:blip r:embed="rId4">
            <a:alphaModFix/>
          </a:blip>
          <a:srcRect b="0" l="866" r="25109" t="19659"/>
          <a:stretch/>
        </p:blipFill>
        <p:spPr>
          <a:xfrm>
            <a:off x="4536903" y="1760578"/>
            <a:ext cx="3489374" cy="2840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2" name="Google Shape;962;p79"/>
          <p:cNvCxnSpPr/>
          <p:nvPr/>
        </p:nvCxnSpPr>
        <p:spPr>
          <a:xfrm>
            <a:off x="4808983" y="4461632"/>
            <a:ext cx="3462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3" name="Google Shape;963;p79"/>
          <p:cNvSpPr txBox="1"/>
          <p:nvPr/>
        </p:nvSpPr>
        <p:spPr>
          <a:xfrm>
            <a:off x="5399424" y="4522353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elevation (m)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4" name="Google Shape;964;p79"/>
          <p:cNvCxnSpPr/>
          <p:nvPr/>
        </p:nvCxnSpPr>
        <p:spPr>
          <a:xfrm rot="10800000">
            <a:off x="4822249" y="1575839"/>
            <a:ext cx="0" cy="2891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5" name="Google Shape;965;p79"/>
          <p:cNvSpPr txBox="1"/>
          <p:nvPr/>
        </p:nvSpPr>
        <p:spPr>
          <a:xfrm rot="-5400000">
            <a:off x="3900577" y="3032081"/>
            <a:ext cx="9516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time (s)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6" name="Google Shape;966;p79"/>
          <p:cNvGraphicFramePr/>
          <p:nvPr/>
        </p:nvGraphicFramePr>
        <p:xfrm>
          <a:off x="587450" y="186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556100"/>
                <a:gridCol w="1226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elevation (m)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1644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bivariate data on a scatter graph</a:t>
            </a:r>
            <a:endParaRPr/>
          </a:p>
        </p:txBody>
      </p:sp>
      <p:sp>
        <p:nvSpPr>
          <p:cNvPr id="972" name="Google Shape;972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973" name="Google Shape;973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</a:t>
            </a:r>
            <a:endParaRPr/>
          </a:p>
        </p:txBody>
      </p:sp>
      <p:pic>
        <p:nvPicPr>
          <p:cNvPr id="974" name="Google Shape;97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198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8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Lucas conducts an experiment where he times how long a kettle takes to boil for different volumes of water.</a:t>
            </a:r>
            <a:endParaRPr sz="2000"/>
          </a:p>
        </p:txBody>
      </p:sp>
      <p:sp>
        <p:nvSpPr>
          <p:cNvPr id="980" name="Google Shape;98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pic>
        <p:nvPicPr>
          <p:cNvPr id="981" name="Google Shape;98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59196" y="3661525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310" y="3779994"/>
            <a:ext cx="960220" cy="799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83" name="Google Shape;983;p81"/>
          <p:cNvGraphicFramePr/>
          <p:nvPr/>
        </p:nvGraphicFramePr>
        <p:xfrm>
          <a:off x="1684725" y="1714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4" name="Google Shape;984;p81"/>
          <p:cNvSpPr/>
          <p:nvPr/>
        </p:nvSpPr>
        <p:spPr>
          <a:xfrm>
            <a:off x="2713609" y="3525153"/>
            <a:ext cx="3709200" cy="1182600"/>
          </a:xfrm>
          <a:prstGeom prst="wedgeRoundRectCallout">
            <a:avLst>
              <a:gd fmla="val 74636" name="adj1"/>
              <a:gd fmla="val 12694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volume of water appears to be affecting the amount of time it takes for the kettle to boil.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1"/>
          <p:cNvSpPr txBox="1"/>
          <p:nvPr>
            <p:ph idx="1" type="body"/>
          </p:nvPr>
        </p:nvSpPr>
        <p:spPr>
          <a:xfrm>
            <a:off x="1251234" y="2913975"/>
            <a:ext cx="6639000" cy="4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observations could Lucas make from this data?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82"/>
          <p:cNvSpPr txBox="1"/>
          <p:nvPr>
            <p:ph idx="1" type="body"/>
          </p:nvPr>
        </p:nvSpPr>
        <p:spPr>
          <a:xfrm>
            <a:off x="324000" y="759300"/>
            <a:ext cx="82377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some cases with </a:t>
            </a:r>
            <a:r>
              <a:rPr b="1" lang="en-GB" sz="2000"/>
              <a:t>bivariate data</a:t>
            </a:r>
            <a:r>
              <a:rPr lang="en-GB" sz="2000"/>
              <a:t>, we might predict that one variable is affecting the values of the other.</a:t>
            </a:r>
            <a:endParaRPr sz="2000"/>
          </a:p>
        </p:txBody>
      </p:sp>
      <p:sp>
        <p:nvSpPr>
          <p:cNvPr id="991" name="Google Shape;99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992" name="Google Shape;992;p82"/>
          <p:cNvSpPr txBox="1"/>
          <p:nvPr>
            <p:ph idx="1" type="body"/>
          </p:nvPr>
        </p:nvSpPr>
        <p:spPr>
          <a:xfrm>
            <a:off x="1217907" y="3677057"/>
            <a:ext cx="26640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explanatory</a:t>
            </a:r>
            <a:r>
              <a:rPr lang="en-GB" sz="2000"/>
              <a:t> variable</a:t>
            </a:r>
            <a:endParaRPr sz="2000"/>
          </a:p>
        </p:txBody>
      </p:sp>
      <p:sp>
        <p:nvSpPr>
          <p:cNvPr id="993" name="Google Shape;993;p82"/>
          <p:cNvSpPr txBox="1"/>
          <p:nvPr>
            <p:ph idx="1" type="body"/>
          </p:nvPr>
        </p:nvSpPr>
        <p:spPr>
          <a:xfrm>
            <a:off x="5646127" y="3670775"/>
            <a:ext cx="22566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response</a:t>
            </a:r>
            <a:r>
              <a:rPr lang="en-GB" sz="2000"/>
              <a:t> variable</a:t>
            </a:r>
            <a:endParaRPr sz="2000"/>
          </a:p>
        </p:txBody>
      </p:sp>
      <p:sp>
        <p:nvSpPr>
          <p:cNvPr id="994" name="Google Shape;994;p82"/>
          <p:cNvSpPr/>
          <p:nvPr/>
        </p:nvSpPr>
        <p:spPr>
          <a:xfrm>
            <a:off x="4232728" y="3611332"/>
            <a:ext cx="1031100" cy="46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2"/>
          <p:cNvSpPr txBox="1"/>
          <p:nvPr>
            <p:ph idx="1" type="body"/>
          </p:nvPr>
        </p:nvSpPr>
        <p:spPr>
          <a:xfrm>
            <a:off x="324000" y="1744029"/>
            <a:ext cx="82377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these cases, we can describe the variable that is predicted to be </a:t>
            </a:r>
            <a:r>
              <a:rPr lang="en-GB" sz="2000">
                <a:solidFill>
                  <a:schemeClr val="accent5"/>
                </a:solidFill>
              </a:rPr>
              <a:t>affecting</a:t>
            </a:r>
            <a:r>
              <a:rPr lang="en-GB" sz="2000"/>
              <a:t> the other as the </a:t>
            </a:r>
            <a:r>
              <a:rPr b="1" lang="en-GB" sz="2000"/>
              <a:t>explanatory</a:t>
            </a:r>
            <a:r>
              <a:rPr lang="en-GB" sz="2000"/>
              <a:t> variable.</a:t>
            </a:r>
            <a:endParaRPr sz="2000"/>
          </a:p>
        </p:txBody>
      </p:sp>
      <p:sp>
        <p:nvSpPr>
          <p:cNvPr id="996" name="Google Shape;996;p82"/>
          <p:cNvSpPr txBox="1"/>
          <p:nvPr>
            <p:ph idx="1" type="body"/>
          </p:nvPr>
        </p:nvSpPr>
        <p:spPr>
          <a:xfrm>
            <a:off x="324000" y="2724165"/>
            <a:ext cx="8237700" cy="4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variable that is being </a:t>
            </a:r>
            <a:r>
              <a:rPr lang="en-GB" sz="2000">
                <a:solidFill>
                  <a:schemeClr val="accent5"/>
                </a:solidFill>
              </a:rPr>
              <a:t>affected</a:t>
            </a:r>
            <a:r>
              <a:rPr lang="en-GB" sz="2000"/>
              <a:t> is the </a:t>
            </a:r>
            <a:r>
              <a:rPr b="1" lang="en-GB" sz="2000"/>
              <a:t>response</a:t>
            </a:r>
            <a:r>
              <a:rPr lang="en-GB" sz="2000"/>
              <a:t> variable.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002" name="Google Shape;1002;p83"/>
          <p:cNvSpPr txBox="1"/>
          <p:nvPr>
            <p:ph idx="1" type="body"/>
          </p:nvPr>
        </p:nvSpPr>
        <p:spPr>
          <a:xfrm>
            <a:off x="1895502" y="3342350"/>
            <a:ext cx="20502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of water in a kettle</a:t>
            </a:r>
            <a:endParaRPr sz="1800"/>
          </a:p>
        </p:txBody>
      </p:sp>
      <p:sp>
        <p:nvSpPr>
          <p:cNvPr id="1003" name="Google Shape;1003;p83"/>
          <p:cNvSpPr txBox="1"/>
          <p:nvPr>
            <p:ph idx="1" type="body"/>
          </p:nvPr>
        </p:nvSpPr>
        <p:spPr>
          <a:xfrm>
            <a:off x="5488703" y="3342360"/>
            <a:ext cx="21321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 it takes for the kettle to boil</a:t>
            </a:r>
            <a:endParaRPr sz="1800"/>
          </a:p>
        </p:txBody>
      </p:sp>
      <p:sp>
        <p:nvSpPr>
          <p:cNvPr id="1004" name="Google Shape;1004;p83"/>
          <p:cNvSpPr txBox="1"/>
          <p:nvPr>
            <p:ph idx="1" type="body"/>
          </p:nvPr>
        </p:nvSpPr>
        <p:spPr>
          <a:xfrm>
            <a:off x="1140575" y="4381150"/>
            <a:ext cx="25320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explanatory</a:t>
            </a:r>
            <a:r>
              <a:rPr lang="en-GB" sz="1800"/>
              <a:t> </a:t>
            </a:r>
            <a:r>
              <a:rPr lang="en-GB" sz="1800"/>
              <a:t>variable</a:t>
            </a:r>
            <a:endParaRPr sz="1800"/>
          </a:p>
        </p:txBody>
      </p:sp>
      <p:sp>
        <p:nvSpPr>
          <p:cNvPr id="1005" name="Google Shape;1005;p83"/>
          <p:cNvSpPr/>
          <p:nvPr/>
        </p:nvSpPr>
        <p:spPr>
          <a:xfrm>
            <a:off x="4085685" y="3410435"/>
            <a:ext cx="1031100" cy="46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6" name="Google Shape;100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59196" y="1985125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83"/>
          <p:cNvSpPr/>
          <p:nvPr/>
        </p:nvSpPr>
        <p:spPr>
          <a:xfrm>
            <a:off x="2713609" y="1848753"/>
            <a:ext cx="3709200" cy="1182600"/>
          </a:xfrm>
          <a:prstGeom prst="wedgeRoundRectCallout">
            <a:avLst>
              <a:gd fmla="val 74636" name="adj1"/>
              <a:gd fmla="val 12694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volume of water appears to be affecting the amount of time it takes for the kettle to boil.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8" name="Google Shape;100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310" y="2103594"/>
            <a:ext cx="960220" cy="799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9" name="Google Shape;1009;p83"/>
          <p:cNvGraphicFramePr/>
          <p:nvPr/>
        </p:nvGraphicFramePr>
        <p:xfrm>
          <a:off x="1684725" y="800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0" name="Google Shape;1010;p83"/>
          <p:cNvSpPr txBox="1"/>
          <p:nvPr>
            <p:ph idx="1" type="body"/>
          </p:nvPr>
        </p:nvSpPr>
        <p:spPr>
          <a:xfrm>
            <a:off x="5950938" y="4380240"/>
            <a:ext cx="23472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response</a:t>
            </a:r>
            <a:r>
              <a:rPr lang="en-GB" sz="1800"/>
              <a:t> variable</a:t>
            </a:r>
            <a:endParaRPr sz="1800"/>
          </a:p>
        </p:txBody>
      </p:sp>
      <p:cxnSp>
        <p:nvCxnSpPr>
          <p:cNvPr id="1011" name="Google Shape;1011;p83"/>
          <p:cNvCxnSpPr/>
          <p:nvPr/>
        </p:nvCxnSpPr>
        <p:spPr>
          <a:xfrm flipH="1" rot="10800000">
            <a:off x="2275950" y="4040175"/>
            <a:ext cx="100200" cy="31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83"/>
          <p:cNvCxnSpPr/>
          <p:nvPr/>
        </p:nvCxnSpPr>
        <p:spPr>
          <a:xfrm rot="10800000">
            <a:off x="6245350" y="4066275"/>
            <a:ext cx="960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8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Alternatively, one variable could be described as </a:t>
            </a:r>
            <a:r>
              <a:rPr b="1" lang="en-GB" sz="2000"/>
              <a:t>independent</a:t>
            </a:r>
            <a:r>
              <a:rPr lang="en-GB" sz="2000"/>
              <a:t> and the other as </a:t>
            </a:r>
            <a:r>
              <a:rPr b="1" lang="en-GB" sz="2000"/>
              <a:t>dependent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018" name="Google Shape;101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019" name="Google Shape;1019;p84"/>
          <p:cNvSpPr txBox="1"/>
          <p:nvPr>
            <p:ph idx="1" type="body"/>
          </p:nvPr>
        </p:nvSpPr>
        <p:spPr>
          <a:xfrm>
            <a:off x="1002416" y="3261725"/>
            <a:ext cx="27957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independent</a:t>
            </a:r>
            <a:r>
              <a:rPr lang="en-GB" sz="2000"/>
              <a:t> variable</a:t>
            </a:r>
            <a:endParaRPr sz="2000"/>
          </a:p>
        </p:txBody>
      </p:sp>
      <p:sp>
        <p:nvSpPr>
          <p:cNvPr id="1020" name="Google Shape;1020;p84"/>
          <p:cNvSpPr txBox="1"/>
          <p:nvPr>
            <p:ph idx="1" type="body"/>
          </p:nvPr>
        </p:nvSpPr>
        <p:spPr>
          <a:xfrm>
            <a:off x="5593716" y="3213575"/>
            <a:ext cx="25407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dependent</a:t>
            </a:r>
            <a:r>
              <a:rPr lang="en-GB" sz="2000"/>
              <a:t> variable</a:t>
            </a:r>
            <a:endParaRPr sz="2000"/>
          </a:p>
        </p:txBody>
      </p:sp>
      <p:sp>
        <p:nvSpPr>
          <p:cNvPr id="1021" name="Google Shape;1021;p84"/>
          <p:cNvSpPr/>
          <p:nvPr/>
        </p:nvSpPr>
        <p:spPr>
          <a:xfrm>
            <a:off x="4180307" y="3196000"/>
            <a:ext cx="1031100" cy="46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4"/>
          <p:cNvSpPr txBox="1"/>
          <p:nvPr>
            <p:ph idx="1" type="body"/>
          </p:nvPr>
        </p:nvSpPr>
        <p:spPr>
          <a:xfrm>
            <a:off x="324000" y="1744029"/>
            <a:ext cx="82377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these cases, it is predicted that the value of the </a:t>
            </a:r>
            <a:r>
              <a:rPr b="1" lang="en-GB" sz="2000"/>
              <a:t>dependent</a:t>
            </a:r>
            <a:r>
              <a:rPr lang="en-GB" sz="2000"/>
              <a:t> variable is </a:t>
            </a:r>
            <a:r>
              <a:rPr lang="en-GB" sz="2000">
                <a:solidFill>
                  <a:schemeClr val="accent5"/>
                </a:solidFill>
              </a:rPr>
              <a:t>affected by</a:t>
            </a:r>
            <a:r>
              <a:rPr lang="en-GB" sz="2000"/>
              <a:t> changes to the </a:t>
            </a:r>
            <a:r>
              <a:rPr b="1" lang="en-GB" sz="2000"/>
              <a:t>independent</a:t>
            </a:r>
            <a:r>
              <a:rPr lang="en-GB" sz="2000"/>
              <a:t> variable.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028" name="Google Shape;1028;p85"/>
          <p:cNvSpPr txBox="1"/>
          <p:nvPr>
            <p:ph idx="1" type="body"/>
          </p:nvPr>
        </p:nvSpPr>
        <p:spPr>
          <a:xfrm>
            <a:off x="1895500" y="980150"/>
            <a:ext cx="20592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of water in a kettle</a:t>
            </a:r>
            <a:endParaRPr sz="1800"/>
          </a:p>
        </p:txBody>
      </p:sp>
      <p:sp>
        <p:nvSpPr>
          <p:cNvPr id="1029" name="Google Shape;1029;p85"/>
          <p:cNvSpPr txBox="1"/>
          <p:nvPr>
            <p:ph idx="1" type="body"/>
          </p:nvPr>
        </p:nvSpPr>
        <p:spPr>
          <a:xfrm>
            <a:off x="5488703" y="980159"/>
            <a:ext cx="21321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 it takes for the kettle to boil</a:t>
            </a:r>
            <a:endParaRPr sz="1800"/>
          </a:p>
        </p:txBody>
      </p:sp>
      <p:sp>
        <p:nvSpPr>
          <p:cNvPr id="1030" name="Google Shape;1030;p85"/>
          <p:cNvSpPr txBox="1"/>
          <p:nvPr>
            <p:ph idx="1" type="body"/>
          </p:nvPr>
        </p:nvSpPr>
        <p:spPr>
          <a:xfrm>
            <a:off x="1140575" y="1942750"/>
            <a:ext cx="25320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independent</a:t>
            </a:r>
            <a:r>
              <a:rPr lang="en-GB" sz="1800"/>
              <a:t> variable</a:t>
            </a:r>
            <a:endParaRPr sz="1800"/>
          </a:p>
        </p:txBody>
      </p:sp>
      <p:sp>
        <p:nvSpPr>
          <p:cNvPr id="1031" name="Google Shape;1031;p85"/>
          <p:cNvSpPr/>
          <p:nvPr/>
        </p:nvSpPr>
        <p:spPr>
          <a:xfrm>
            <a:off x="4085685" y="1048235"/>
            <a:ext cx="1031100" cy="46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2" name="Google Shape;103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59196" y="3432925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5"/>
          <p:cNvSpPr/>
          <p:nvPr/>
        </p:nvSpPr>
        <p:spPr>
          <a:xfrm>
            <a:off x="2713600" y="2756499"/>
            <a:ext cx="3709200" cy="799800"/>
          </a:xfrm>
          <a:prstGeom prst="wedgeRoundRectCallout">
            <a:avLst>
              <a:gd fmla="val 74943" name="adj1"/>
              <a:gd fmla="val 70874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can choose how much water I put in the kettle.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4" name="Google Shape;1034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310" y="3551394"/>
            <a:ext cx="960220" cy="7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85"/>
          <p:cNvSpPr txBox="1"/>
          <p:nvPr>
            <p:ph idx="1" type="body"/>
          </p:nvPr>
        </p:nvSpPr>
        <p:spPr>
          <a:xfrm>
            <a:off x="5950938" y="1941840"/>
            <a:ext cx="23472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dependent</a:t>
            </a:r>
            <a:r>
              <a:rPr lang="en-GB" sz="1800"/>
              <a:t> variable</a:t>
            </a:r>
            <a:endParaRPr sz="1800"/>
          </a:p>
        </p:txBody>
      </p:sp>
      <p:cxnSp>
        <p:nvCxnSpPr>
          <p:cNvPr id="1036" name="Google Shape;1036;p85"/>
          <p:cNvCxnSpPr/>
          <p:nvPr/>
        </p:nvCxnSpPr>
        <p:spPr>
          <a:xfrm flipH="1" rot="10800000">
            <a:off x="2275950" y="1601775"/>
            <a:ext cx="100200" cy="31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85"/>
          <p:cNvCxnSpPr/>
          <p:nvPr/>
        </p:nvCxnSpPr>
        <p:spPr>
          <a:xfrm rot="10800000">
            <a:off x="6245350" y="1627875"/>
            <a:ext cx="960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85"/>
          <p:cNvSpPr/>
          <p:nvPr/>
        </p:nvSpPr>
        <p:spPr>
          <a:xfrm>
            <a:off x="2359425" y="3793601"/>
            <a:ext cx="4440600" cy="887700"/>
          </a:xfrm>
          <a:prstGeom prst="wedgeRoundRectCallout">
            <a:avLst>
              <a:gd fmla="val 60690" name="adj1"/>
              <a:gd fmla="val -16988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time it takes for the kettle to boil depends on how much water I put in it.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044" name="Google Shape;1044;p86"/>
          <p:cNvSpPr txBox="1"/>
          <p:nvPr>
            <p:ph idx="1" type="body"/>
          </p:nvPr>
        </p:nvSpPr>
        <p:spPr>
          <a:xfrm>
            <a:off x="1895500" y="2123150"/>
            <a:ext cx="1802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</a:t>
            </a:r>
            <a:r>
              <a:rPr lang="en-GB" sz="1800"/>
              <a:t>ce cream sales</a:t>
            </a:r>
            <a:endParaRPr sz="1800"/>
          </a:p>
        </p:txBody>
      </p:sp>
      <p:sp>
        <p:nvSpPr>
          <p:cNvPr id="1045" name="Google Shape;1045;p86"/>
          <p:cNvSpPr txBox="1"/>
          <p:nvPr>
            <p:ph idx="1" type="body"/>
          </p:nvPr>
        </p:nvSpPr>
        <p:spPr>
          <a:xfrm>
            <a:off x="5488700" y="2123150"/>
            <a:ext cx="28872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r>
              <a:rPr lang="en-GB" sz="1800"/>
              <a:t>aximum temperature</a:t>
            </a:r>
            <a:endParaRPr sz="1800"/>
          </a:p>
        </p:txBody>
      </p:sp>
      <p:sp>
        <p:nvSpPr>
          <p:cNvPr id="1046" name="Google Shape;1046;p86"/>
          <p:cNvSpPr txBox="1"/>
          <p:nvPr>
            <p:ph idx="1" type="body"/>
          </p:nvPr>
        </p:nvSpPr>
        <p:spPr>
          <a:xfrm>
            <a:off x="1140575" y="2933350"/>
            <a:ext cx="25320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independent</a:t>
            </a:r>
            <a:r>
              <a:rPr lang="en-GB" sz="1800"/>
              <a:t> variable</a:t>
            </a:r>
            <a:endParaRPr sz="1800"/>
          </a:p>
        </p:txBody>
      </p:sp>
      <p:sp>
        <p:nvSpPr>
          <p:cNvPr id="1047" name="Google Shape;1047;p86"/>
          <p:cNvSpPr/>
          <p:nvPr/>
        </p:nvSpPr>
        <p:spPr>
          <a:xfrm>
            <a:off x="4085685" y="2038835"/>
            <a:ext cx="1031100" cy="46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86"/>
          <p:cNvSpPr txBox="1"/>
          <p:nvPr>
            <p:ph idx="1" type="body"/>
          </p:nvPr>
        </p:nvSpPr>
        <p:spPr>
          <a:xfrm>
            <a:off x="5950938" y="2932440"/>
            <a:ext cx="23472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dependent</a:t>
            </a:r>
            <a:r>
              <a:rPr lang="en-GB" sz="1800"/>
              <a:t> variable</a:t>
            </a:r>
            <a:endParaRPr sz="1800"/>
          </a:p>
        </p:txBody>
      </p:sp>
      <p:cxnSp>
        <p:nvCxnSpPr>
          <p:cNvPr id="1049" name="Google Shape;1049;p86"/>
          <p:cNvCxnSpPr/>
          <p:nvPr/>
        </p:nvCxnSpPr>
        <p:spPr>
          <a:xfrm flipH="1" rot="10800000">
            <a:off x="2275950" y="2592375"/>
            <a:ext cx="100200" cy="31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86"/>
          <p:cNvCxnSpPr/>
          <p:nvPr/>
        </p:nvCxnSpPr>
        <p:spPr>
          <a:xfrm rot="10800000">
            <a:off x="6245350" y="2618475"/>
            <a:ext cx="960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1" name="Google Shape;1051;p86"/>
          <p:cNvSpPr txBox="1"/>
          <p:nvPr>
            <p:ph idx="1" type="body"/>
          </p:nvPr>
        </p:nvSpPr>
        <p:spPr>
          <a:xfrm>
            <a:off x="324000" y="759300"/>
            <a:ext cx="8496000" cy="6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Sophia and Aisha are analysing some </a:t>
            </a:r>
            <a:r>
              <a:rPr b="1" lang="en-GB" sz="1800"/>
              <a:t>bivariate</a:t>
            </a:r>
            <a:r>
              <a:rPr lang="en-GB" sz="1800"/>
              <a:t> data about ice cream sales in a day and the maximum temperature for each day.</a:t>
            </a:r>
            <a:endParaRPr sz="1800"/>
          </a:p>
        </p:txBody>
      </p:sp>
      <p:sp>
        <p:nvSpPr>
          <p:cNvPr id="1052" name="Google Shape;1052;p86"/>
          <p:cNvSpPr/>
          <p:nvPr/>
        </p:nvSpPr>
        <p:spPr>
          <a:xfrm>
            <a:off x="1767600" y="3446700"/>
            <a:ext cx="3204000" cy="949500"/>
          </a:xfrm>
          <a:prstGeom prst="wedgeRoundRectCallout">
            <a:avLst>
              <a:gd fmla="val -59716" name="adj1"/>
              <a:gd fmla="val 67341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This would suggest that if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a vendor sells more ice creams then the day may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get hotter.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3" name="Google Shape;105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7067" y="4165634"/>
            <a:ext cx="543547" cy="60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2501" y="4000187"/>
            <a:ext cx="419456" cy="792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6"/>
          <p:cNvSpPr/>
          <p:nvPr/>
        </p:nvSpPr>
        <p:spPr>
          <a:xfrm>
            <a:off x="5661800" y="3629800"/>
            <a:ext cx="1959000" cy="721500"/>
          </a:xfrm>
          <a:prstGeom prst="wedgeRoundRectCallout">
            <a:avLst>
              <a:gd fmla="val 54257" name="adj1"/>
              <a:gd fmla="val 67044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That does not seem right.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6"/>
          <p:cNvSpPr txBox="1"/>
          <p:nvPr>
            <p:ph idx="1" type="body"/>
          </p:nvPr>
        </p:nvSpPr>
        <p:spPr>
          <a:xfrm>
            <a:off x="324000" y="1476200"/>
            <a:ext cx="8496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are trying to decide which is the </a:t>
            </a:r>
            <a:r>
              <a:rPr b="1" lang="en-GB" sz="1800"/>
              <a:t>dependent</a:t>
            </a:r>
            <a:r>
              <a:rPr lang="en-GB" sz="1800"/>
              <a:t> and </a:t>
            </a:r>
            <a:r>
              <a:rPr b="1" lang="en-GB" sz="1800"/>
              <a:t>independent</a:t>
            </a:r>
            <a:r>
              <a:rPr lang="en-GB" sz="1800"/>
              <a:t> variable.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062" name="Google Shape;1062;p87"/>
          <p:cNvSpPr txBox="1"/>
          <p:nvPr>
            <p:ph idx="1" type="body"/>
          </p:nvPr>
        </p:nvSpPr>
        <p:spPr>
          <a:xfrm>
            <a:off x="324000" y="759300"/>
            <a:ext cx="8496000" cy="6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Sophia and Aisha are analysing some </a:t>
            </a:r>
            <a:r>
              <a:rPr b="1" lang="en-GB" sz="1800"/>
              <a:t>bivariate</a:t>
            </a:r>
            <a:r>
              <a:rPr lang="en-GB" sz="1800"/>
              <a:t> data about ice cream sales in a day and the maximum temperature for each day.</a:t>
            </a:r>
            <a:endParaRPr sz="1800"/>
          </a:p>
        </p:txBody>
      </p:sp>
      <p:sp>
        <p:nvSpPr>
          <p:cNvPr id="1063" name="Google Shape;1063;p87"/>
          <p:cNvSpPr txBox="1"/>
          <p:nvPr>
            <p:ph idx="1" type="body"/>
          </p:nvPr>
        </p:nvSpPr>
        <p:spPr>
          <a:xfrm>
            <a:off x="324000" y="1476200"/>
            <a:ext cx="84960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are trying to decide which is the </a:t>
            </a:r>
            <a:r>
              <a:rPr b="1" lang="en-GB" sz="1800"/>
              <a:t>dependent</a:t>
            </a:r>
            <a:r>
              <a:rPr lang="en-GB" sz="1800"/>
              <a:t> and </a:t>
            </a:r>
            <a:r>
              <a:rPr b="1" lang="en-GB" sz="1800"/>
              <a:t>independent</a:t>
            </a:r>
            <a:r>
              <a:rPr lang="en-GB" sz="1800"/>
              <a:t> variable.</a:t>
            </a:r>
            <a:endParaRPr sz="1800"/>
          </a:p>
        </p:txBody>
      </p:sp>
      <p:sp>
        <p:nvSpPr>
          <p:cNvPr id="1064" name="Google Shape;1064;p87"/>
          <p:cNvSpPr txBox="1"/>
          <p:nvPr>
            <p:ph idx="1" type="body"/>
          </p:nvPr>
        </p:nvSpPr>
        <p:spPr>
          <a:xfrm>
            <a:off x="1895500" y="2123150"/>
            <a:ext cx="1802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ice cream sales</a:t>
            </a:r>
            <a:endParaRPr sz="1800"/>
          </a:p>
        </p:txBody>
      </p:sp>
      <p:sp>
        <p:nvSpPr>
          <p:cNvPr id="1065" name="Google Shape;1065;p87"/>
          <p:cNvSpPr txBox="1"/>
          <p:nvPr>
            <p:ph idx="1" type="body"/>
          </p:nvPr>
        </p:nvSpPr>
        <p:spPr>
          <a:xfrm>
            <a:off x="1216775" y="2933350"/>
            <a:ext cx="25320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dependent</a:t>
            </a:r>
            <a:r>
              <a:rPr lang="en-GB" sz="1800"/>
              <a:t> variable</a:t>
            </a:r>
            <a:endParaRPr sz="1800"/>
          </a:p>
        </p:txBody>
      </p:sp>
      <p:sp>
        <p:nvSpPr>
          <p:cNvPr id="1066" name="Google Shape;1066;p87"/>
          <p:cNvSpPr/>
          <p:nvPr/>
        </p:nvSpPr>
        <p:spPr>
          <a:xfrm flipH="1">
            <a:off x="4085685" y="2038835"/>
            <a:ext cx="1031100" cy="46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7"/>
          <p:cNvSpPr txBox="1"/>
          <p:nvPr>
            <p:ph idx="1" type="body"/>
          </p:nvPr>
        </p:nvSpPr>
        <p:spPr>
          <a:xfrm>
            <a:off x="5825201" y="2932450"/>
            <a:ext cx="24729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independent</a:t>
            </a:r>
            <a:r>
              <a:rPr lang="en-GB" sz="1800"/>
              <a:t> variable</a:t>
            </a:r>
            <a:endParaRPr sz="1800"/>
          </a:p>
        </p:txBody>
      </p:sp>
      <p:cxnSp>
        <p:nvCxnSpPr>
          <p:cNvPr id="1068" name="Google Shape;1068;p87"/>
          <p:cNvCxnSpPr/>
          <p:nvPr/>
        </p:nvCxnSpPr>
        <p:spPr>
          <a:xfrm flipH="1" rot="10800000">
            <a:off x="2275950" y="2592375"/>
            <a:ext cx="100200" cy="31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87"/>
          <p:cNvCxnSpPr/>
          <p:nvPr/>
        </p:nvCxnSpPr>
        <p:spPr>
          <a:xfrm rot="10800000">
            <a:off x="6245350" y="2618475"/>
            <a:ext cx="96000" cy="28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0" name="Google Shape;1070;p87"/>
          <p:cNvSpPr/>
          <p:nvPr/>
        </p:nvSpPr>
        <p:spPr>
          <a:xfrm>
            <a:off x="1767600" y="3446700"/>
            <a:ext cx="3204000" cy="949500"/>
          </a:xfrm>
          <a:prstGeom prst="wedgeRoundRectCallout">
            <a:avLst>
              <a:gd fmla="val -59716" name="adj1"/>
              <a:gd fmla="val 67341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This would suggest that if the day is hotter then a vendor may sell more ice creams.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1" name="Google Shape;107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7067" y="4165634"/>
            <a:ext cx="543547" cy="60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2501" y="4000187"/>
            <a:ext cx="419456" cy="792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87"/>
          <p:cNvSpPr/>
          <p:nvPr/>
        </p:nvSpPr>
        <p:spPr>
          <a:xfrm>
            <a:off x="5661800" y="3629800"/>
            <a:ext cx="1959000" cy="721500"/>
          </a:xfrm>
          <a:prstGeom prst="wedgeRoundRectCallout">
            <a:avLst>
              <a:gd fmla="val 54257" name="adj1"/>
              <a:gd fmla="val 67044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That seems more reasonable.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7"/>
          <p:cNvSpPr txBox="1"/>
          <p:nvPr>
            <p:ph idx="1" type="body"/>
          </p:nvPr>
        </p:nvSpPr>
        <p:spPr>
          <a:xfrm>
            <a:off x="5488700" y="2123150"/>
            <a:ext cx="28872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maximum temperature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080" name="Google Shape;1080;p88"/>
          <p:cNvSpPr txBox="1"/>
          <p:nvPr>
            <p:ph idx="1" type="body"/>
          </p:nvPr>
        </p:nvSpPr>
        <p:spPr>
          <a:xfrm>
            <a:off x="324000" y="759300"/>
            <a:ext cx="8496000" cy="6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Sometimes it is not clear which is the </a:t>
            </a:r>
            <a:r>
              <a:rPr b="1" lang="en-GB" sz="1800"/>
              <a:t>independent</a:t>
            </a:r>
            <a:r>
              <a:rPr lang="en-GB" sz="1800"/>
              <a:t> variable and which is the </a:t>
            </a:r>
            <a:r>
              <a:rPr b="1" lang="en-GB" sz="1800"/>
              <a:t>dependent</a:t>
            </a:r>
            <a:r>
              <a:rPr lang="en-GB" sz="1800"/>
              <a:t> variable.</a:t>
            </a:r>
            <a:endParaRPr sz="1800"/>
          </a:p>
        </p:txBody>
      </p:sp>
      <p:sp>
        <p:nvSpPr>
          <p:cNvPr id="1081" name="Google Shape;1081;p88"/>
          <p:cNvSpPr txBox="1"/>
          <p:nvPr>
            <p:ph idx="1" type="body"/>
          </p:nvPr>
        </p:nvSpPr>
        <p:spPr>
          <a:xfrm>
            <a:off x="324000" y="2924000"/>
            <a:ext cx="84960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It is not always the case that two variables are connected.</a:t>
            </a:r>
            <a:endParaRPr sz="1800"/>
          </a:p>
        </p:txBody>
      </p:sp>
      <p:sp>
        <p:nvSpPr>
          <p:cNvPr id="1082" name="Google Shape;1082;p88"/>
          <p:cNvSpPr txBox="1"/>
          <p:nvPr>
            <p:ph idx="1" type="body"/>
          </p:nvPr>
        </p:nvSpPr>
        <p:spPr>
          <a:xfrm>
            <a:off x="2581300" y="2046950"/>
            <a:ext cx="14370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</a:t>
            </a:r>
            <a:r>
              <a:rPr lang="en-GB" sz="1800"/>
              <a:t>ind speed</a:t>
            </a:r>
            <a:endParaRPr sz="1800"/>
          </a:p>
        </p:txBody>
      </p:sp>
      <p:sp>
        <p:nvSpPr>
          <p:cNvPr id="1083" name="Google Shape;1083;p88"/>
          <p:cNvSpPr txBox="1"/>
          <p:nvPr>
            <p:ph idx="1" type="body"/>
          </p:nvPr>
        </p:nvSpPr>
        <p:spPr>
          <a:xfrm>
            <a:off x="5260100" y="2046950"/>
            <a:ext cx="1802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mount</a:t>
            </a:r>
            <a:r>
              <a:rPr lang="en-GB" sz="1800"/>
              <a:t> of rain</a:t>
            </a:r>
            <a:endParaRPr sz="1800"/>
          </a:p>
        </p:txBody>
      </p:sp>
      <p:sp>
        <p:nvSpPr>
          <p:cNvPr id="1084" name="Google Shape;1084;p88"/>
          <p:cNvSpPr txBox="1"/>
          <p:nvPr>
            <p:ph idx="1" type="body"/>
          </p:nvPr>
        </p:nvSpPr>
        <p:spPr>
          <a:xfrm>
            <a:off x="324000" y="3412300"/>
            <a:ext cx="8496000" cy="6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Even if they seem to be connected,</a:t>
            </a:r>
            <a:r>
              <a:rPr lang="en-GB" sz="1800"/>
              <a:t> it does not necessarily mean that one is having an effect the other. </a:t>
            </a:r>
            <a:endParaRPr sz="1800"/>
          </a:p>
        </p:txBody>
      </p:sp>
      <p:sp>
        <p:nvSpPr>
          <p:cNvPr id="1085" name="Google Shape;1085;p88"/>
          <p:cNvSpPr txBox="1"/>
          <p:nvPr>
            <p:ph idx="1" type="body"/>
          </p:nvPr>
        </p:nvSpPr>
        <p:spPr>
          <a:xfrm>
            <a:off x="324000" y="1696200"/>
            <a:ext cx="1802400" cy="31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Example:</a:t>
            </a:r>
            <a:endParaRPr sz="1800"/>
          </a:p>
        </p:txBody>
      </p:sp>
      <p:sp>
        <p:nvSpPr>
          <p:cNvPr id="1086" name="Google Shape;1086;p88"/>
          <p:cNvSpPr txBox="1"/>
          <p:nvPr>
            <p:ph idx="1" type="body"/>
          </p:nvPr>
        </p:nvSpPr>
        <p:spPr>
          <a:xfrm>
            <a:off x="324000" y="4135900"/>
            <a:ext cx="8496000" cy="6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these cases, we may avoid defining the variables using the terms </a:t>
            </a:r>
            <a:r>
              <a:rPr b="1" lang="en-GB" sz="1800"/>
              <a:t>independent/explanatory</a:t>
            </a:r>
            <a:r>
              <a:rPr lang="en-GB" sz="1800"/>
              <a:t> and </a:t>
            </a:r>
            <a:r>
              <a:rPr b="1" lang="en-GB" sz="1800"/>
              <a:t>dependent/response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89"/>
          <p:cNvSpPr txBox="1"/>
          <p:nvPr>
            <p:ph type="title"/>
          </p:nvPr>
        </p:nvSpPr>
        <p:spPr>
          <a:xfrm>
            <a:off x="324000" y="810000"/>
            <a:ext cx="80394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two terms describe a variable that is predicted to be </a:t>
            </a:r>
            <a:r>
              <a:rPr lang="en-GB" sz="2000">
                <a:solidFill>
                  <a:schemeClr val="accent5"/>
                </a:solidFill>
              </a:rPr>
              <a:t>affected by</a:t>
            </a:r>
            <a:r>
              <a:rPr lang="en-GB" sz="2000"/>
              <a:t> another variable?</a:t>
            </a:r>
            <a:endParaRPr sz="2000"/>
          </a:p>
        </p:txBody>
      </p:sp>
      <p:sp>
        <p:nvSpPr>
          <p:cNvPr id="1092" name="Google Shape;1092;p8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093" name="Google Shape;1093;p89"/>
          <p:cNvSpPr txBox="1"/>
          <p:nvPr>
            <p:ph idx="1" type="subTitle"/>
          </p:nvPr>
        </p:nvSpPr>
        <p:spPr>
          <a:xfrm>
            <a:off x="1034425" y="1685375"/>
            <a:ext cx="3204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dependent</a:t>
            </a:r>
            <a:r>
              <a:rPr lang="en-GB" sz="2000"/>
              <a:t> variable</a:t>
            </a:r>
            <a:endParaRPr sz="2000"/>
          </a:p>
        </p:txBody>
      </p:sp>
      <p:sp>
        <p:nvSpPr>
          <p:cNvPr id="1094" name="Google Shape;1094;p89"/>
          <p:cNvSpPr txBox="1"/>
          <p:nvPr>
            <p:ph idx="3" type="subTitle"/>
          </p:nvPr>
        </p:nvSpPr>
        <p:spPr>
          <a:xfrm>
            <a:off x="1034425" y="2489443"/>
            <a:ext cx="320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e</a:t>
            </a:r>
            <a:r>
              <a:rPr b="1" lang="en-GB" sz="2000"/>
              <a:t>xplanatory</a:t>
            </a:r>
            <a:r>
              <a:rPr lang="en-GB" sz="2000"/>
              <a:t> </a:t>
            </a:r>
            <a:r>
              <a:rPr lang="en-GB" sz="2000"/>
              <a:t>variable</a:t>
            </a:r>
            <a:endParaRPr sz="2000"/>
          </a:p>
        </p:txBody>
      </p:sp>
      <p:sp>
        <p:nvSpPr>
          <p:cNvPr id="1095" name="Google Shape;1095;p89"/>
          <p:cNvSpPr txBox="1"/>
          <p:nvPr>
            <p:ph idx="4" type="subTitle"/>
          </p:nvPr>
        </p:nvSpPr>
        <p:spPr>
          <a:xfrm>
            <a:off x="1034425" y="3309758"/>
            <a:ext cx="3186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i</a:t>
            </a:r>
            <a:r>
              <a:rPr b="1" lang="en-GB" sz="2000"/>
              <a:t>ndependent</a:t>
            </a:r>
            <a:r>
              <a:rPr lang="en-GB" sz="2000"/>
              <a:t> </a:t>
            </a:r>
            <a:r>
              <a:rPr lang="en-GB" sz="2000"/>
              <a:t>variable</a:t>
            </a:r>
            <a:endParaRPr sz="2000"/>
          </a:p>
        </p:txBody>
      </p:sp>
      <p:sp>
        <p:nvSpPr>
          <p:cNvPr id="1096" name="Google Shape;1096;p89"/>
          <p:cNvSpPr txBox="1"/>
          <p:nvPr>
            <p:ph idx="5" type="subTitle"/>
          </p:nvPr>
        </p:nvSpPr>
        <p:spPr>
          <a:xfrm>
            <a:off x="1034425" y="4113827"/>
            <a:ext cx="32049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r</a:t>
            </a:r>
            <a:r>
              <a:rPr b="1" lang="en-GB" sz="2000"/>
              <a:t>esponse</a:t>
            </a:r>
            <a:r>
              <a:rPr lang="en-GB" sz="2000"/>
              <a:t> </a:t>
            </a:r>
            <a:r>
              <a:rPr lang="en-GB" sz="2000"/>
              <a:t>variable</a:t>
            </a:r>
            <a:endParaRPr sz="2000"/>
          </a:p>
        </p:txBody>
      </p:sp>
      <p:pic>
        <p:nvPicPr>
          <p:cNvPr id="1097" name="Google Shape;109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2383" y="16853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90"/>
          <p:cNvSpPr txBox="1"/>
          <p:nvPr>
            <p:ph type="title"/>
          </p:nvPr>
        </p:nvSpPr>
        <p:spPr>
          <a:xfrm>
            <a:off x="324000" y="810000"/>
            <a:ext cx="80394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two terms describe a variable that is predicted to be </a:t>
            </a:r>
            <a:r>
              <a:rPr lang="en-GB" sz="2000">
                <a:solidFill>
                  <a:schemeClr val="accent5"/>
                </a:solidFill>
              </a:rPr>
              <a:t>affecting</a:t>
            </a:r>
            <a:r>
              <a:rPr lang="en-GB" sz="2000"/>
              <a:t> another variable?</a:t>
            </a:r>
            <a:endParaRPr sz="2000"/>
          </a:p>
        </p:txBody>
      </p:sp>
      <p:sp>
        <p:nvSpPr>
          <p:cNvPr id="1104" name="Google Shape;1104;p9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105" name="Google Shape;1105;p90"/>
          <p:cNvSpPr txBox="1"/>
          <p:nvPr>
            <p:ph idx="1" type="subTitle"/>
          </p:nvPr>
        </p:nvSpPr>
        <p:spPr>
          <a:xfrm>
            <a:off x="1034425" y="1685375"/>
            <a:ext cx="3204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dependent</a:t>
            </a:r>
            <a:r>
              <a:rPr lang="en-GB" sz="2000"/>
              <a:t> variable</a:t>
            </a:r>
            <a:endParaRPr sz="2000"/>
          </a:p>
        </p:txBody>
      </p:sp>
      <p:sp>
        <p:nvSpPr>
          <p:cNvPr id="1106" name="Google Shape;1106;p90"/>
          <p:cNvSpPr txBox="1"/>
          <p:nvPr>
            <p:ph idx="3" type="subTitle"/>
          </p:nvPr>
        </p:nvSpPr>
        <p:spPr>
          <a:xfrm>
            <a:off x="1034425" y="2489443"/>
            <a:ext cx="320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explanatory</a:t>
            </a:r>
            <a:r>
              <a:rPr lang="en-GB" sz="2000"/>
              <a:t> variable</a:t>
            </a:r>
            <a:endParaRPr sz="2000"/>
          </a:p>
        </p:txBody>
      </p:sp>
      <p:sp>
        <p:nvSpPr>
          <p:cNvPr id="1107" name="Google Shape;1107;p90"/>
          <p:cNvSpPr txBox="1"/>
          <p:nvPr>
            <p:ph idx="4" type="subTitle"/>
          </p:nvPr>
        </p:nvSpPr>
        <p:spPr>
          <a:xfrm>
            <a:off x="1034425" y="3309758"/>
            <a:ext cx="3186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independent</a:t>
            </a:r>
            <a:r>
              <a:rPr lang="en-GB" sz="2000"/>
              <a:t> variable</a:t>
            </a:r>
            <a:endParaRPr sz="2000"/>
          </a:p>
        </p:txBody>
      </p:sp>
      <p:sp>
        <p:nvSpPr>
          <p:cNvPr id="1108" name="Google Shape;1108;p90"/>
          <p:cNvSpPr txBox="1"/>
          <p:nvPr>
            <p:ph idx="5" type="subTitle"/>
          </p:nvPr>
        </p:nvSpPr>
        <p:spPr>
          <a:xfrm>
            <a:off x="1034425" y="4113827"/>
            <a:ext cx="32049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response</a:t>
            </a:r>
            <a:r>
              <a:rPr lang="en-GB" sz="2000"/>
              <a:t> variable</a:t>
            </a:r>
            <a:endParaRPr sz="2000"/>
          </a:p>
        </p:txBody>
      </p:sp>
      <p:pic>
        <p:nvPicPr>
          <p:cNvPr id="1109" name="Google Shape;110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608" y="24503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608" y="32625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1"/>
          <p:cNvSpPr txBox="1"/>
          <p:nvPr>
            <p:ph type="title"/>
          </p:nvPr>
        </p:nvSpPr>
        <p:spPr>
          <a:xfrm>
            <a:off x="324000" y="748782"/>
            <a:ext cx="8179200" cy="7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athlete times how long it takes to complete obstacle courses of varying lengths. Which is the </a:t>
            </a:r>
            <a:r>
              <a:rPr b="1" lang="en-GB" sz="2000"/>
              <a:t>dependent</a:t>
            </a:r>
            <a:r>
              <a:rPr lang="en-GB" sz="2000"/>
              <a:t> variable?</a:t>
            </a:r>
            <a:endParaRPr sz="2000"/>
          </a:p>
        </p:txBody>
      </p:sp>
      <p:sp>
        <p:nvSpPr>
          <p:cNvPr id="1116" name="Google Shape;1116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117" name="Google Shape;1117;p91"/>
          <p:cNvSpPr txBox="1"/>
          <p:nvPr>
            <p:ph idx="1" type="subTitle"/>
          </p:nvPr>
        </p:nvSpPr>
        <p:spPr>
          <a:xfrm>
            <a:off x="1034425" y="1837775"/>
            <a:ext cx="2956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course length</a:t>
            </a:r>
            <a:endParaRPr sz="2000"/>
          </a:p>
        </p:txBody>
      </p:sp>
      <p:sp>
        <p:nvSpPr>
          <p:cNvPr id="1118" name="Google Shape;1118;p91"/>
          <p:cNvSpPr txBox="1"/>
          <p:nvPr>
            <p:ph idx="3" type="subTitle"/>
          </p:nvPr>
        </p:nvSpPr>
        <p:spPr>
          <a:xfrm>
            <a:off x="1034425" y="2794250"/>
            <a:ext cx="3224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ime to complete</a:t>
            </a:r>
            <a:endParaRPr sz="2000"/>
          </a:p>
        </p:txBody>
      </p:sp>
      <p:sp>
        <p:nvSpPr>
          <p:cNvPr id="1119" name="Google Shape;1119;p91"/>
          <p:cNvSpPr txBox="1"/>
          <p:nvPr>
            <p:ph idx="4" type="subTitle"/>
          </p:nvPr>
        </p:nvSpPr>
        <p:spPr>
          <a:xfrm>
            <a:off x="1034425" y="3766974"/>
            <a:ext cx="29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neither</a:t>
            </a:r>
            <a:endParaRPr sz="2000"/>
          </a:p>
        </p:txBody>
      </p:sp>
      <p:pic>
        <p:nvPicPr>
          <p:cNvPr id="1120" name="Google Shape;112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60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1" name="Google Shape;1121;p91"/>
          <p:cNvGraphicFramePr/>
          <p:nvPr/>
        </p:nvGraphicFramePr>
        <p:xfrm>
          <a:off x="4591863" y="1898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{BEAAFE14-23DC-4687-BDF1-7A3166B6B996}</a:tableStyleId>
              </a:tblPr>
              <a:tblGrid>
                <a:gridCol w="1779975"/>
                <a:gridCol w="1768700"/>
              </a:tblGrid>
              <a:tr h="71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course length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(m)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ime to complete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(s)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127" name="Google Shape;1127;p92"/>
          <p:cNvSpPr txBox="1"/>
          <p:nvPr>
            <p:ph idx="1" type="body"/>
          </p:nvPr>
        </p:nvSpPr>
        <p:spPr>
          <a:xfrm>
            <a:off x="324000" y="759300"/>
            <a:ext cx="8237700" cy="4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Lucas wants to plot his data on a </a:t>
            </a:r>
            <a:r>
              <a:rPr b="1" lang="en-GB" sz="2000"/>
              <a:t>scatter graph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128" name="Google Shape;112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71" y="3668400"/>
            <a:ext cx="798316" cy="8961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9" name="Google Shape;1129;p92"/>
          <p:cNvGraphicFramePr/>
          <p:nvPr/>
        </p:nvGraphicFramePr>
        <p:xfrm>
          <a:off x="1684725" y="1257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30" name="Google Shape;1130;p92"/>
          <p:cNvSpPr/>
          <p:nvPr/>
        </p:nvSpPr>
        <p:spPr>
          <a:xfrm>
            <a:off x="1705650" y="2613750"/>
            <a:ext cx="2363100" cy="997800"/>
          </a:xfrm>
          <a:prstGeom prst="wedgeRoundRectCallout">
            <a:avLst>
              <a:gd fmla="val -60604" name="adj1"/>
              <a:gd fmla="val 88470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Which data should I label on each axis?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5-10-2023/b1e42110-fb3f-482b-b7eb-43d24922bd19&quot; data-equatio-type=&quot;desmos&quot;&gt;&lt;mglyph src=&quot;https://equatio-api.texthelp.com/desmos/get/05-10-2023/b1e42110-fb3f-482b-b7eb-43d24922bd19&quot; alt=&quot;Equatio Desmos Graph&quot;/&gt;&lt;/math&gt;" id="1131" name="Google Shape;1131;p92" title="Equatio Desmos Graph"/>
          <p:cNvPicPr preferRelativeResize="0"/>
          <p:nvPr/>
        </p:nvPicPr>
        <p:blipFill rotWithShape="1">
          <a:blip r:embed="rId4">
            <a:alphaModFix/>
          </a:blip>
          <a:srcRect b="4173" l="4506" r="4633" t="5287"/>
          <a:stretch/>
        </p:blipFill>
        <p:spPr>
          <a:xfrm>
            <a:off x="4824000" y="2460650"/>
            <a:ext cx="2926172" cy="218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2" name="Google Shape;1132;p92"/>
          <p:cNvCxnSpPr/>
          <p:nvPr/>
        </p:nvCxnSpPr>
        <p:spPr>
          <a:xfrm rot="10800000">
            <a:off x="4831800" y="2331202"/>
            <a:ext cx="0" cy="2310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3" name="Google Shape;1133;p92"/>
          <p:cNvCxnSpPr/>
          <p:nvPr/>
        </p:nvCxnSpPr>
        <p:spPr>
          <a:xfrm>
            <a:off x="4824008" y="4633410"/>
            <a:ext cx="304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139" name="Google Shape;1139;p93"/>
          <p:cNvSpPr txBox="1"/>
          <p:nvPr>
            <p:ph idx="1" type="body"/>
          </p:nvPr>
        </p:nvSpPr>
        <p:spPr>
          <a:xfrm>
            <a:off x="324000" y="759300"/>
            <a:ext cx="8496000" cy="10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plotting </a:t>
            </a:r>
            <a:r>
              <a:rPr b="1" lang="en-GB" sz="2000"/>
              <a:t>bivariate</a:t>
            </a:r>
            <a:r>
              <a:rPr lang="en-GB" sz="2000"/>
              <a:t> data consisting of an </a:t>
            </a:r>
            <a:r>
              <a:rPr b="1" lang="en-GB" sz="2000"/>
              <a:t>independent</a:t>
            </a:r>
            <a:r>
              <a:rPr lang="en-GB" sz="2000"/>
              <a:t> variable and </a:t>
            </a:r>
            <a:r>
              <a:rPr b="1" lang="en-GB" sz="2000"/>
              <a:t>dependent</a:t>
            </a:r>
            <a:r>
              <a:rPr lang="en-GB" sz="2000"/>
              <a:t> variable, the order of the axes is important.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05-10-2023/b1e42110-fb3f-482b-b7eb-43d24922bd19&quot; data-equatio-type=&quot;desmos&quot;&gt;&lt;mglyph src=&quot;https://equatio-api.texthelp.com/desmos/get/05-10-2023/b1e42110-fb3f-482b-b7eb-43d24922bd19&quot; alt=&quot;Equatio Desmos Graph&quot;/&gt;&lt;/math&gt;" id="1140" name="Google Shape;1140;p93" title="Equatio Desmos Graph"/>
          <p:cNvPicPr preferRelativeResize="0"/>
          <p:nvPr/>
        </p:nvPicPr>
        <p:blipFill rotWithShape="1">
          <a:blip r:embed="rId3">
            <a:alphaModFix/>
          </a:blip>
          <a:srcRect b="4173" l="4506" r="4633" t="5287"/>
          <a:stretch/>
        </p:blipFill>
        <p:spPr>
          <a:xfrm>
            <a:off x="3482100" y="2879271"/>
            <a:ext cx="2095558" cy="15661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1" name="Google Shape;1141;p93"/>
          <p:cNvCxnSpPr/>
          <p:nvPr/>
        </p:nvCxnSpPr>
        <p:spPr>
          <a:xfrm rot="10800000">
            <a:off x="3487686" y="2786664"/>
            <a:ext cx="0" cy="165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93"/>
          <p:cNvCxnSpPr/>
          <p:nvPr/>
        </p:nvCxnSpPr>
        <p:spPr>
          <a:xfrm>
            <a:off x="3482106" y="4435284"/>
            <a:ext cx="217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3" name="Google Shape;1143;p93"/>
          <p:cNvSpPr txBox="1"/>
          <p:nvPr>
            <p:ph idx="1" type="body"/>
          </p:nvPr>
        </p:nvSpPr>
        <p:spPr>
          <a:xfrm>
            <a:off x="324000" y="1590549"/>
            <a:ext cx="8237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5"/>
                </a:solidFill>
              </a:rPr>
              <a:t>horizontal</a:t>
            </a:r>
            <a:r>
              <a:rPr lang="en-GB" sz="2000"/>
              <a:t> axis is used for the </a:t>
            </a:r>
            <a:r>
              <a:rPr b="1" lang="en-GB" sz="2000"/>
              <a:t>independent</a:t>
            </a:r>
            <a:r>
              <a:rPr lang="en-GB" sz="2000"/>
              <a:t> variable.</a:t>
            </a:r>
            <a:endParaRPr sz="2000"/>
          </a:p>
        </p:txBody>
      </p:sp>
      <p:sp>
        <p:nvSpPr>
          <p:cNvPr id="1144" name="Google Shape;1144;p93"/>
          <p:cNvSpPr txBox="1"/>
          <p:nvPr>
            <p:ph idx="1" type="body"/>
          </p:nvPr>
        </p:nvSpPr>
        <p:spPr>
          <a:xfrm>
            <a:off x="324667" y="2069333"/>
            <a:ext cx="8237700" cy="44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5"/>
                </a:solidFill>
              </a:rPr>
              <a:t>vertical</a:t>
            </a:r>
            <a:r>
              <a:rPr lang="en-GB" sz="2000"/>
              <a:t> axis is used for the </a:t>
            </a:r>
            <a:r>
              <a:rPr b="1" lang="en-GB" sz="2000"/>
              <a:t>dependent</a:t>
            </a:r>
            <a:r>
              <a:rPr lang="en-GB" sz="2000"/>
              <a:t> variable.</a:t>
            </a:r>
            <a:endParaRPr sz="2000"/>
          </a:p>
        </p:txBody>
      </p:sp>
      <p:sp>
        <p:nvSpPr>
          <p:cNvPr id="1145" name="Google Shape;1145;p93"/>
          <p:cNvSpPr txBox="1"/>
          <p:nvPr>
            <p:ph idx="1" type="body"/>
          </p:nvPr>
        </p:nvSpPr>
        <p:spPr>
          <a:xfrm>
            <a:off x="3415075" y="4519650"/>
            <a:ext cx="2229600" cy="2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independent</a:t>
            </a:r>
            <a:r>
              <a:rPr lang="en-GB" sz="1600"/>
              <a:t> variable</a:t>
            </a:r>
            <a:endParaRPr sz="1600"/>
          </a:p>
        </p:txBody>
      </p:sp>
      <p:sp>
        <p:nvSpPr>
          <p:cNvPr id="1146" name="Google Shape;1146;p93"/>
          <p:cNvSpPr txBox="1"/>
          <p:nvPr>
            <p:ph idx="1" type="body"/>
          </p:nvPr>
        </p:nvSpPr>
        <p:spPr>
          <a:xfrm>
            <a:off x="1434125" y="3140925"/>
            <a:ext cx="2048100" cy="26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dependent</a:t>
            </a:r>
            <a:r>
              <a:rPr lang="en-GB" sz="1600"/>
              <a:t> variable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id="1151" name="Google Shape;1151;p94" title="Equatio Desmos Graph"/>
          <p:cNvPicPr preferRelativeResize="0"/>
          <p:nvPr/>
        </p:nvPicPr>
        <p:blipFill rotWithShape="1">
          <a:blip r:embed="rId3">
            <a:alphaModFix/>
          </a:blip>
          <a:srcRect b="8056" l="5549" r="42050" t="26010"/>
          <a:stretch/>
        </p:blipFill>
        <p:spPr>
          <a:xfrm>
            <a:off x="3688800" y="2058200"/>
            <a:ext cx="2494700" cy="23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pic>
        <p:nvPicPr>
          <p:cNvPr id="1153" name="Google Shape;115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71" y="3668400"/>
            <a:ext cx="798316" cy="896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4" name="Google Shape;1154;p94"/>
          <p:cNvCxnSpPr/>
          <p:nvPr/>
        </p:nvCxnSpPr>
        <p:spPr>
          <a:xfrm rot="10800000">
            <a:off x="3688800" y="1894702"/>
            <a:ext cx="0" cy="25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5" name="Google Shape;1155;p94"/>
          <p:cNvCxnSpPr/>
          <p:nvPr/>
        </p:nvCxnSpPr>
        <p:spPr>
          <a:xfrm>
            <a:off x="3681008" y="4404810"/>
            <a:ext cx="270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6" name="Google Shape;1156;p94"/>
          <p:cNvSpPr txBox="1"/>
          <p:nvPr>
            <p:ph idx="1" type="body"/>
          </p:nvPr>
        </p:nvSpPr>
        <p:spPr>
          <a:xfrm>
            <a:off x="1895488" y="751550"/>
            <a:ext cx="20556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of water in a kettle</a:t>
            </a:r>
            <a:endParaRPr sz="1800"/>
          </a:p>
        </p:txBody>
      </p:sp>
      <p:sp>
        <p:nvSpPr>
          <p:cNvPr id="1157" name="Google Shape;1157;p94"/>
          <p:cNvSpPr txBox="1"/>
          <p:nvPr>
            <p:ph idx="1" type="body"/>
          </p:nvPr>
        </p:nvSpPr>
        <p:spPr>
          <a:xfrm>
            <a:off x="5488703" y="751560"/>
            <a:ext cx="2132100" cy="74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 it takes for the kettle to boil</a:t>
            </a:r>
            <a:endParaRPr sz="1800"/>
          </a:p>
        </p:txBody>
      </p:sp>
      <p:sp>
        <p:nvSpPr>
          <p:cNvPr id="1158" name="Google Shape;1158;p94"/>
          <p:cNvSpPr txBox="1"/>
          <p:nvPr>
            <p:ph idx="1" type="body"/>
          </p:nvPr>
        </p:nvSpPr>
        <p:spPr>
          <a:xfrm>
            <a:off x="454775" y="1790350"/>
            <a:ext cx="25320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independent</a:t>
            </a:r>
            <a:r>
              <a:rPr lang="en-GB" sz="1800"/>
              <a:t> variable</a:t>
            </a:r>
            <a:endParaRPr sz="1800"/>
          </a:p>
        </p:txBody>
      </p:sp>
      <p:sp>
        <p:nvSpPr>
          <p:cNvPr id="1159" name="Google Shape;1159;p94"/>
          <p:cNvSpPr/>
          <p:nvPr/>
        </p:nvSpPr>
        <p:spPr>
          <a:xfrm>
            <a:off x="4085685" y="819634"/>
            <a:ext cx="1031100" cy="46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4"/>
          <p:cNvSpPr txBox="1"/>
          <p:nvPr>
            <p:ph idx="1" type="body"/>
          </p:nvPr>
        </p:nvSpPr>
        <p:spPr>
          <a:xfrm>
            <a:off x="6560538" y="1713240"/>
            <a:ext cx="2347200" cy="4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dependent</a:t>
            </a:r>
            <a:r>
              <a:rPr lang="en-GB" sz="1800"/>
              <a:t> variable</a:t>
            </a:r>
            <a:endParaRPr sz="1800"/>
          </a:p>
        </p:txBody>
      </p:sp>
      <p:cxnSp>
        <p:nvCxnSpPr>
          <p:cNvPr id="1161" name="Google Shape;1161;p94"/>
          <p:cNvCxnSpPr>
            <a:stCxn id="1158" idx="0"/>
          </p:cNvCxnSpPr>
          <p:nvPr/>
        </p:nvCxnSpPr>
        <p:spPr>
          <a:xfrm flipH="1" rot="10800000">
            <a:off x="1720775" y="1368250"/>
            <a:ext cx="205200" cy="42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94"/>
          <p:cNvCxnSpPr/>
          <p:nvPr/>
        </p:nvCxnSpPr>
        <p:spPr>
          <a:xfrm rot="10800000">
            <a:off x="6384950" y="1357750"/>
            <a:ext cx="408300" cy="37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3" name="Google Shape;1163;p94"/>
          <p:cNvSpPr txBox="1"/>
          <p:nvPr>
            <p:ph idx="1" type="body"/>
          </p:nvPr>
        </p:nvSpPr>
        <p:spPr>
          <a:xfrm>
            <a:off x="4439221" y="4557200"/>
            <a:ext cx="11649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(l)</a:t>
            </a:r>
            <a:endParaRPr sz="1800"/>
          </a:p>
        </p:txBody>
      </p:sp>
      <p:sp>
        <p:nvSpPr>
          <p:cNvPr id="1164" name="Google Shape;1164;p94"/>
          <p:cNvSpPr txBox="1"/>
          <p:nvPr>
            <p:ph idx="1" type="body"/>
          </p:nvPr>
        </p:nvSpPr>
        <p:spPr>
          <a:xfrm>
            <a:off x="2480824" y="2419350"/>
            <a:ext cx="9507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</a:t>
            </a:r>
            <a:r>
              <a:rPr lang="en-GB" sz="1800"/>
              <a:t> (s)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db5ee8a9-f6da-4ed8-97f8-18812f0ea3ef&quot; data-equatio-type=&quot;desmos&quot;&gt;&lt;mglyph src=&quot;https://equatio-api.texthelp.com/desmos/get/11-10-2023/db5ee8a9-f6da-4ed8-97f8-18812f0ea3ef&quot; alt=&quot;Equatio Desmos Graph&quot;/&gt;&lt;/math&gt;" id="1169" name="Google Shape;1169;p95" title="Equatio Desmos Graph"/>
          <p:cNvPicPr preferRelativeResize="0"/>
          <p:nvPr/>
        </p:nvPicPr>
        <p:blipFill rotWithShape="1">
          <a:blip r:embed="rId3">
            <a:alphaModFix/>
          </a:blip>
          <a:srcRect b="9182" l="2971" r="55182" t="30915"/>
          <a:stretch/>
        </p:blipFill>
        <p:spPr>
          <a:xfrm>
            <a:off x="3375475" y="1967498"/>
            <a:ext cx="2708400" cy="260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pic>
        <p:nvPicPr>
          <p:cNvPr id="1171" name="Google Shape;117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71" y="3668400"/>
            <a:ext cx="798316" cy="896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2" name="Google Shape;1172;p95"/>
          <p:cNvCxnSpPr/>
          <p:nvPr/>
        </p:nvCxnSpPr>
        <p:spPr>
          <a:xfrm rot="10800000">
            <a:off x="3688800" y="1894702"/>
            <a:ext cx="0" cy="25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95"/>
          <p:cNvCxnSpPr/>
          <p:nvPr/>
        </p:nvCxnSpPr>
        <p:spPr>
          <a:xfrm>
            <a:off x="3681008" y="4404810"/>
            <a:ext cx="270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4" name="Google Shape;1174;p95"/>
          <p:cNvSpPr txBox="1"/>
          <p:nvPr>
            <p:ph idx="1" type="body"/>
          </p:nvPr>
        </p:nvSpPr>
        <p:spPr>
          <a:xfrm>
            <a:off x="4439221" y="4557200"/>
            <a:ext cx="11649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(l)</a:t>
            </a:r>
            <a:endParaRPr sz="1800"/>
          </a:p>
        </p:txBody>
      </p:sp>
      <p:sp>
        <p:nvSpPr>
          <p:cNvPr id="1175" name="Google Shape;1175;p95"/>
          <p:cNvSpPr txBox="1"/>
          <p:nvPr>
            <p:ph idx="1" type="body"/>
          </p:nvPr>
        </p:nvSpPr>
        <p:spPr>
          <a:xfrm>
            <a:off x="2480824" y="2419350"/>
            <a:ext cx="9507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 (s)</a:t>
            </a:r>
            <a:endParaRPr sz="1800"/>
          </a:p>
        </p:txBody>
      </p:sp>
      <p:graphicFrame>
        <p:nvGraphicFramePr>
          <p:cNvPr id="1176" name="Google Shape;1176;p95"/>
          <p:cNvGraphicFramePr/>
          <p:nvPr/>
        </p:nvGraphicFramePr>
        <p:xfrm>
          <a:off x="1684725" y="87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7" name="Google Shape;1177;p95"/>
          <p:cNvSpPr/>
          <p:nvPr/>
        </p:nvSpPr>
        <p:spPr>
          <a:xfrm>
            <a:off x="403850" y="1992400"/>
            <a:ext cx="1977600" cy="1105500"/>
          </a:xfrm>
          <a:prstGeom prst="wedgeRoundRectCallout">
            <a:avLst>
              <a:gd fmla="val -20158" name="adj1"/>
              <a:gd fmla="val 97883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I’ve plotted my points but there are two missing.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95"/>
          <p:cNvSpPr txBox="1"/>
          <p:nvPr>
            <p:ph idx="1" type="body"/>
          </p:nvPr>
        </p:nvSpPr>
        <p:spPr>
          <a:xfrm>
            <a:off x="6357300" y="3015100"/>
            <a:ext cx="2494800" cy="14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axis for time only goes up to 150 but there are two times greater than this.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95"/>
          <p:cNvSpPr txBox="1"/>
          <p:nvPr>
            <p:ph idx="1" type="body"/>
          </p:nvPr>
        </p:nvSpPr>
        <p:spPr>
          <a:xfrm>
            <a:off x="6389400" y="1992400"/>
            <a:ext cx="2487600" cy="10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Why are there two points missing from the </a:t>
            </a:r>
            <a:r>
              <a:rPr b="1" lang="en-GB" sz="1600"/>
              <a:t>scatter graph</a:t>
            </a:r>
            <a:r>
              <a:rPr lang="en-GB" sz="1600"/>
              <a:t>?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bbac3504-e7ee-4ecf-be62-2197501fb004&quot; data-equatio-type=&quot;desmos&quot;&gt;&lt;mglyph src=&quot;https://equatio-api.texthelp.com/desmos/get/11-10-2023/bbac3504-e7ee-4ecf-be62-2197501fb004&quot; alt=&quot;Equatio Desmos Graph&quot;/&gt;&lt;/math&gt;" id="1184" name="Google Shape;1184;p96" title="Equatio Desmos Graph"/>
          <p:cNvPicPr preferRelativeResize="0"/>
          <p:nvPr/>
        </p:nvPicPr>
        <p:blipFill rotWithShape="1">
          <a:blip r:embed="rId3">
            <a:alphaModFix/>
          </a:blip>
          <a:srcRect b="0" l="0" r="35835" t="18837"/>
          <a:stretch/>
        </p:blipFill>
        <p:spPr>
          <a:xfrm>
            <a:off x="3425275" y="2026875"/>
            <a:ext cx="2743300" cy="260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pic>
        <p:nvPicPr>
          <p:cNvPr id="1186" name="Google Shape;1186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71" y="3668400"/>
            <a:ext cx="798316" cy="896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7" name="Google Shape;1187;p96"/>
          <p:cNvCxnSpPr/>
          <p:nvPr/>
        </p:nvCxnSpPr>
        <p:spPr>
          <a:xfrm rot="10800000">
            <a:off x="3688800" y="1894702"/>
            <a:ext cx="0" cy="25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8" name="Google Shape;1188;p96"/>
          <p:cNvCxnSpPr/>
          <p:nvPr/>
        </p:nvCxnSpPr>
        <p:spPr>
          <a:xfrm>
            <a:off x="3681008" y="4404810"/>
            <a:ext cx="270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9" name="Google Shape;1189;p96"/>
          <p:cNvSpPr txBox="1"/>
          <p:nvPr>
            <p:ph idx="1" type="body"/>
          </p:nvPr>
        </p:nvSpPr>
        <p:spPr>
          <a:xfrm>
            <a:off x="4439221" y="4557200"/>
            <a:ext cx="11649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(l)</a:t>
            </a:r>
            <a:endParaRPr sz="1800"/>
          </a:p>
        </p:txBody>
      </p:sp>
      <p:sp>
        <p:nvSpPr>
          <p:cNvPr id="1190" name="Google Shape;1190;p96"/>
          <p:cNvSpPr txBox="1"/>
          <p:nvPr>
            <p:ph idx="1" type="body"/>
          </p:nvPr>
        </p:nvSpPr>
        <p:spPr>
          <a:xfrm>
            <a:off x="2480824" y="2419350"/>
            <a:ext cx="9507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 (s)</a:t>
            </a:r>
            <a:endParaRPr sz="1800"/>
          </a:p>
        </p:txBody>
      </p:sp>
      <p:graphicFrame>
        <p:nvGraphicFramePr>
          <p:cNvPr id="1191" name="Google Shape;1191;p96"/>
          <p:cNvGraphicFramePr/>
          <p:nvPr/>
        </p:nvGraphicFramePr>
        <p:xfrm>
          <a:off x="1684725" y="87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92" name="Google Shape;1192;p96"/>
          <p:cNvSpPr/>
          <p:nvPr/>
        </p:nvSpPr>
        <p:spPr>
          <a:xfrm>
            <a:off x="403850" y="1992400"/>
            <a:ext cx="1977600" cy="1105500"/>
          </a:xfrm>
          <a:prstGeom prst="wedgeRoundRectCallout">
            <a:avLst>
              <a:gd fmla="val -20158" name="adj1"/>
              <a:gd fmla="val 97883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I’ve plotted my points but they are all bunched together.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96"/>
          <p:cNvSpPr txBox="1"/>
          <p:nvPr>
            <p:ph idx="1" type="body"/>
          </p:nvPr>
        </p:nvSpPr>
        <p:spPr>
          <a:xfrm>
            <a:off x="6357300" y="3015100"/>
            <a:ext cx="2494800" cy="11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axes go up to numbers far beyond the limits of the data.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4" name="Google Shape;1194;p96"/>
          <p:cNvSpPr txBox="1"/>
          <p:nvPr>
            <p:ph idx="1" type="body"/>
          </p:nvPr>
        </p:nvSpPr>
        <p:spPr>
          <a:xfrm>
            <a:off x="6389400" y="1992400"/>
            <a:ext cx="2430600" cy="10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Why is there so much unused space on the scatter graph?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id="1199" name="Google Shape;1199;p97" title="Equatio Desmos Graph"/>
          <p:cNvPicPr preferRelativeResize="0"/>
          <p:nvPr/>
        </p:nvPicPr>
        <p:blipFill rotWithShape="1">
          <a:blip r:embed="rId3">
            <a:alphaModFix/>
          </a:blip>
          <a:srcRect b="4417" l="5544" r="42053" t="26012"/>
          <a:stretch/>
        </p:blipFill>
        <p:spPr>
          <a:xfrm>
            <a:off x="3688700" y="2058200"/>
            <a:ext cx="2494800" cy="248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id="1200" name="Google Shape;1200;p97" title="Equatio Desmos Graph"/>
          <p:cNvPicPr preferRelativeResize="0"/>
          <p:nvPr/>
        </p:nvPicPr>
        <p:blipFill rotWithShape="1">
          <a:blip r:embed="rId3">
            <a:alphaModFix/>
          </a:blip>
          <a:srcRect b="8056" l="5549" r="42050" t="26010"/>
          <a:stretch/>
        </p:blipFill>
        <p:spPr>
          <a:xfrm>
            <a:off x="3688800" y="2058200"/>
            <a:ext cx="2494700" cy="23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pic>
        <p:nvPicPr>
          <p:cNvPr id="1202" name="Google Shape;1202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71" y="3668400"/>
            <a:ext cx="798316" cy="896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3" name="Google Shape;1203;p97"/>
          <p:cNvCxnSpPr/>
          <p:nvPr/>
        </p:nvCxnSpPr>
        <p:spPr>
          <a:xfrm rot="10800000">
            <a:off x="3688800" y="1894702"/>
            <a:ext cx="0" cy="25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97"/>
          <p:cNvCxnSpPr/>
          <p:nvPr/>
        </p:nvCxnSpPr>
        <p:spPr>
          <a:xfrm>
            <a:off x="3681008" y="4404810"/>
            <a:ext cx="270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5" name="Google Shape;1205;p97"/>
          <p:cNvSpPr txBox="1"/>
          <p:nvPr>
            <p:ph idx="1" type="body"/>
          </p:nvPr>
        </p:nvSpPr>
        <p:spPr>
          <a:xfrm>
            <a:off x="4439221" y="4557200"/>
            <a:ext cx="11649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(l)</a:t>
            </a:r>
            <a:endParaRPr sz="1800"/>
          </a:p>
        </p:txBody>
      </p:sp>
      <p:sp>
        <p:nvSpPr>
          <p:cNvPr id="1206" name="Google Shape;1206;p97"/>
          <p:cNvSpPr txBox="1"/>
          <p:nvPr>
            <p:ph idx="1" type="body"/>
          </p:nvPr>
        </p:nvSpPr>
        <p:spPr>
          <a:xfrm>
            <a:off x="2480824" y="2419350"/>
            <a:ext cx="9507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 (s)</a:t>
            </a:r>
            <a:endParaRPr sz="1800"/>
          </a:p>
        </p:txBody>
      </p:sp>
      <p:graphicFrame>
        <p:nvGraphicFramePr>
          <p:cNvPr id="1207" name="Google Shape;1207;p97"/>
          <p:cNvGraphicFramePr/>
          <p:nvPr/>
        </p:nvGraphicFramePr>
        <p:xfrm>
          <a:off x="1684725" y="87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8" name="Google Shape;1208;p97"/>
          <p:cNvSpPr/>
          <p:nvPr/>
        </p:nvSpPr>
        <p:spPr>
          <a:xfrm>
            <a:off x="403850" y="2100150"/>
            <a:ext cx="1977600" cy="997800"/>
          </a:xfrm>
          <a:prstGeom prst="wedgeRoundRectCallout">
            <a:avLst>
              <a:gd fmla="val -20158" name="adj1"/>
              <a:gd fmla="val 97883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What scale should I choose for each axis?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97"/>
          <p:cNvSpPr txBox="1"/>
          <p:nvPr>
            <p:ph idx="1" type="body"/>
          </p:nvPr>
        </p:nvSpPr>
        <p:spPr>
          <a:xfrm>
            <a:off x="6401425" y="2252550"/>
            <a:ext cx="24948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maximum water: 1.5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0" name="Google Shape;1210;p97"/>
          <p:cNvSpPr txBox="1"/>
          <p:nvPr>
            <p:ph idx="1" type="body"/>
          </p:nvPr>
        </p:nvSpPr>
        <p:spPr>
          <a:xfrm>
            <a:off x="6401425" y="2724150"/>
            <a:ext cx="24948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large squares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1" name="Google Shape;1211;p97"/>
          <p:cNvSpPr txBox="1"/>
          <p:nvPr>
            <p:ph idx="1" type="body"/>
          </p:nvPr>
        </p:nvSpPr>
        <p:spPr>
          <a:xfrm>
            <a:off x="6397683" y="3183475"/>
            <a:ext cx="18840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interval size: 0.5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97"/>
          <p:cNvSpPr/>
          <p:nvPr/>
        </p:nvSpPr>
        <p:spPr>
          <a:xfrm>
            <a:off x="6750450" y="883875"/>
            <a:ext cx="708900" cy="41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3" name="Google Shape;1213;p97"/>
          <p:cNvCxnSpPr/>
          <p:nvPr/>
        </p:nvCxnSpPr>
        <p:spPr>
          <a:xfrm>
            <a:off x="3702452" y="4395703"/>
            <a:ext cx="23523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id="1218" name="Google Shape;1218;p98" title="Equatio Desmos Graph"/>
          <p:cNvPicPr preferRelativeResize="0"/>
          <p:nvPr/>
        </p:nvPicPr>
        <p:blipFill rotWithShape="1">
          <a:blip r:embed="rId3">
            <a:alphaModFix/>
          </a:blip>
          <a:srcRect b="4417" l="0" r="42052" t="26012"/>
          <a:stretch/>
        </p:blipFill>
        <p:spPr>
          <a:xfrm>
            <a:off x="3424650" y="2058190"/>
            <a:ext cx="2758850" cy="2484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id="1219" name="Google Shape;1219;p98" title="Equatio Desmos Graph"/>
          <p:cNvPicPr preferRelativeResize="0"/>
          <p:nvPr/>
        </p:nvPicPr>
        <p:blipFill rotWithShape="1">
          <a:blip r:embed="rId3">
            <a:alphaModFix/>
          </a:blip>
          <a:srcRect b="4417" l="5544" r="42053" t="26012"/>
          <a:stretch/>
        </p:blipFill>
        <p:spPr>
          <a:xfrm>
            <a:off x="3688700" y="2058200"/>
            <a:ext cx="2494800" cy="24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pic>
        <p:nvPicPr>
          <p:cNvPr id="1221" name="Google Shape;1221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071" y="3668400"/>
            <a:ext cx="798316" cy="896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2" name="Google Shape;1222;p98"/>
          <p:cNvCxnSpPr/>
          <p:nvPr/>
        </p:nvCxnSpPr>
        <p:spPr>
          <a:xfrm rot="10800000">
            <a:off x="3688800" y="1894702"/>
            <a:ext cx="0" cy="25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3" name="Google Shape;1223;p98"/>
          <p:cNvCxnSpPr/>
          <p:nvPr/>
        </p:nvCxnSpPr>
        <p:spPr>
          <a:xfrm>
            <a:off x="3681008" y="4404810"/>
            <a:ext cx="270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4" name="Google Shape;1224;p98"/>
          <p:cNvSpPr txBox="1"/>
          <p:nvPr>
            <p:ph idx="1" type="body"/>
          </p:nvPr>
        </p:nvSpPr>
        <p:spPr>
          <a:xfrm>
            <a:off x="4439221" y="4557200"/>
            <a:ext cx="11649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(l)</a:t>
            </a:r>
            <a:endParaRPr sz="1800"/>
          </a:p>
        </p:txBody>
      </p:sp>
      <p:sp>
        <p:nvSpPr>
          <p:cNvPr id="1225" name="Google Shape;1225;p98"/>
          <p:cNvSpPr txBox="1"/>
          <p:nvPr>
            <p:ph idx="1" type="body"/>
          </p:nvPr>
        </p:nvSpPr>
        <p:spPr>
          <a:xfrm>
            <a:off x="2480824" y="2419350"/>
            <a:ext cx="9507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 (s)</a:t>
            </a:r>
            <a:endParaRPr sz="1800"/>
          </a:p>
        </p:txBody>
      </p:sp>
      <p:graphicFrame>
        <p:nvGraphicFramePr>
          <p:cNvPr id="1226" name="Google Shape;1226;p98"/>
          <p:cNvGraphicFramePr/>
          <p:nvPr/>
        </p:nvGraphicFramePr>
        <p:xfrm>
          <a:off x="1684725" y="87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7" name="Google Shape;1227;p98"/>
          <p:cNvSpPr/>
          <p:nvPr/>
        </p:nvSpPr>
        <p:spPr>
          <a:xfrm>
            <a:off x="403850" y="2100150"/>
            <a:ext cx="1977600" cy="997800"/>
          </a:xfrm>
          <a:prstGeom prst="wedgeRoundRectCallout">
            <a:avLst>
              <a:gd fmla="val -20158" name="adj1"/>
              <a:gd fmla="val 97883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What scale should I choose for each axis?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8"/>
          <p:cNvSpPr txBox="1"/>
          <p:nvPr>
            <p:ph idx="1" type="body"/>
          </p:nvPr>
        </p:nvSpPr>
        <p:spPr>
          <a:xfrm>
            <a:off x="6401425" y="2252550"/>
            <a:ext cx="24948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maximum time: 237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9" name="Google Shape;1229;p98"/>
          <p:cNvSpPr txBox="1"/>
          <p:nvPr>
            <p:ph idx="1" type="body"/>
          </p:nvPr>
        </p:nvSpPr>
        <p:spPr>
          <a:xfrm>
            <a:off x="6401425" y="2724150"/>
            <a:ext cx="24948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large squares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98"/>
          <p:cNvSpPr txBox="1"/>
          <p:nvPr>
            <p:ph idx="1" type="body"/>
          </p:nvPr>
        </p:nvSpPr>
        <p:spPr>
          <a:xfrm>
            <a:off x="6397683" y="3183475"/>
            <a:ext cx="18840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interval size: 100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1" name="Google Shape;1231;p98"/>
          <p:cNvSpPr/>
          <p:nvPr/>
        </p:nvSpPr>
        <p:spPr>
          <a:xfrm>
            <a:off x="6737950" y="1302950"/>
            <a:ext cx="708900" cy="419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2" name="Google Shape;1232;p98"/>
          <p:cNvCxnSpPr/>
          <p:nvPr/>
        </p:nvCxnSpPr>
        <p:spPr>
          <a:xfrm rot="10800000">
            <a:off x="3694170" y="2126203"/>
            <a:ext cx="0" cy="2269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id="1237" name="Google Shape;1237;p99" title="Equatio Desmos Graph"/>
          <p:cNvPicPr preferRelativeResize="0"/>
          <p:nvPr/>
        </p:nvPicPr>
        <p:blipFill rotWithShape="1">
          <a:blip r:embed="rId3">
            <a:alphaModFix/>
          </a:blip>
          <a:srcRect b="4417" l="0" r="42052" t="26012"/>
          <a:stretch/>
        </p:blipFill>
        <p:spPr>
          <a:xfrm>
            <a:off x="3424650" y="2058190"/>
            <a:ext cx="2758850" cy="2484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f8bd832a-5abc-4812-bb75-739b65f4c396&quot; data-equatio-type=&quot;desmos&quot;&gt;&lt;mglyph src=&quot;https://equatio-api.texthelp.com/desmos/get/05-10-2023/f8bd832a-5abc-4812-bb75-739b65f4c396&quot; alt=&quot;Equatio Desmos Graph&quot;/&gt;&lt;/math&gt;" id="1238" name="Google Shape;1238;p99" title="Equatio Desmos Graph"/>
          <p:cNvPicPr preferRelativeResize="0"/>
          <p:nvPr/>
        </p:nvPicPr>
        <p:blipFill rotWithShape="1">
          <a:blip r:embed="rId3">
            <a:alphaModFix/>
          </a:blip>
          <a:srcRect b="4417" l="5544" r="42053" t="26012"/>
          <a:stretch/>
        </p:blipFill>
        <p:spPr>
          <a:xfrm>
            <a:off x="3688700" y="2058200"/>
            <a:ext cx="2494800" cy="248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101f5345-b8aa-4165-8279-8a204d43fcdc&quot; data-equatio-type=&quot;desmos&quot;&gt;&lt;mglyph src=&quot;https://equatio-api.texthelp.com/desmos/get/05-10-2023/101f5345-b8aa-4165-8279-8a204d43fcdc&quot; alt=&quot;Equatio Desmos Graph&quot;/&gt;&lt;/math&gt;" id="1239" name="Google Shape;1239;p99" title="Equatio Desmos Graph"/>
          <p:cNvPicPr preferRelativeResize="0"/>
          <p:nvPr/>
        </p:nvPicPr>
        <p:blipFill rotWithShape="1">
          <a:blip r:embed="rId4">
            <a:alphaModFix/>
          </a:blip>
          <a:srcRect b="4418" l="0" r="41731" t="25885"/>
          <a:stretch/>
        </p:blipFill>
        <p:spPr>
          <a:xfrm>
            <a:off x="3426220" y="2052939"/>
            <a:ext cx="2769022" cy="24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pic>
        <p:nvPicPr>
          <p:cNvPr id="1241" name="Google Shape;1241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071" y="3668400"/>
            <a:ext cx="798316" cy="8961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2" name="Google Shape;1242;p99"/>
          <p:cNvCxnSpPr/>
          <p:nvPr/>
        </p:nvCxnSpPr>
        <p:spPr>
          <a:xfrm rot="10800000">
            <a:off x="3688800" y="1894702"/>
            <a:ext cx="0" cy="251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3" name="Google Shape;1243;p99"/>
          <p:cNvCxnSpPr/>
          <p:nvPr/>
        </p:nvCxnSpPr>
        <p:spPr>
          <a:xfrm>
            <a:off x="3681008" y="4404810"/>
            <a:ext cx="270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4" name="Google Shape;1244;p99"/>
          <p:cNvSpPr txBox="1"/>
          <p:nvPr>
            <p:ph idx="1" type="body"/>
          </p:nvPr>
        </p:nvSpPr>
        <p:spPr>
          <a:xfrm>
            <a:off x="4439221" y="4557200"/>
            <a:ext cx="11649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volume (l)</a:t>
            </a:r>
            <a:endParaRPr sz="1800"/>
          </a:p>
        </p:txBody>
      </p:sp>
      <p:sp>
        <p:nvSpPr>
          <p:cNvPr id="1245" name="Google Shape;1245;p99"/>
          <p:cNvSpPr txBox="1"/>
          <p:nvPr>
            <p:ph idx="1" type="body"/>
          </p:nvPr>
        </p:nvSpPr>
        <p:spPr>
          <a:xfrm>
            <a:off x="2480824" y="2419350"/>
            <a:ext cx="950700" cy="3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time (s)</a:t>
            </a:r>
            <a:endParaRPr sz="1800"/>
          </a:p>
        </p:txBody>
      </p:sp>
      <p:graphicFrame>
        <p:nvGraphicFramePr>
          <p:cNvPr id="1246" name="Google Shape;1246;p99"/>
          <p:cNvGraphicFramePr/>
          <p:nvPr/>
        </p:nvGraphicFramePr>
        <p:xfrm>
          <a:off x="1684725" y="876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{3AF6A870-9295-4C54-85F9-78C4EF6547CB}</a:tableStyleId>
              </a:tblPr>
              <a:tblGrid>
                <a:gridCol w="1446600"/>
                <a:gridCol w="721325"/>
                <a:gridCol w="721325"/>
                <a:gridCol w="721325"/>
                <a:gridCol w="721325"/>
                <a:gridCol w="721325"/>
                <a:gridCol w="721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(l)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7" name="Google Shape;1247;p99"/>
          <p:cNvSpPr/>
          <p:nvPr/>
        </p:nvSpPr>
        <p:spPr>
          <a:xfrm>
            <a:off x="403850" y="2100150"/>
            <a:ext cx="1977600" cy="997800"/>
          </a:xfrm>
          <a:prstGeom prst="wedgeRoundRectCallout">
            <a:avLst>
              <a:gd fmla="val -20158" name="adj1"/>
              <a:gd fmla="val 97883" name="adj2"/>
              <a:gd fmla="val 0" name="adj3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Now the scatter graph is ready to plot the data.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00"/>
          <p:cNvSpPr txBox="1"/>
          <p:nvPr>
            <p:ph type="title"/>
          </p:nvPr>
        </p:nvSpPr>
        <p:spPr>
          <a:xfrm>
            <a:off x="324000" y="748774"/>
            <a:ext cx="8179200" cy="8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variable from this data should go on the horizontal axis of a </a:t>
            </a:r>
            <a:r>
              <a:rPr b="1" lang="en-GB" sz="2000"/>
              <a:t>scatter graph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253" name="Google Shape;125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254" name="Google Shape;1254;p100"/>
          <p:cNvSpPr txBox="1"/>
          <p:nvPr>
            <p:ph idx="1" type="subTitle"/>
          </p:nvPr>
        </p:nvSpPr>
        <p:spPr>
          <a:xfrm>
            <a:off x="1034425" y="1837775"/>
            <a:ext cx="2956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course length</a:t>
            </a:r>
            <a:endParaRPr sz="2000"/>
          </a:p>
        </p:txBody>
      </p:sp>
      <p:sp>
        <p:nvSpPr>
          <p:cNvPr id="1255" name="Google Shape;1255;p100"/>
          <p:cNvSpPr txBox="1"/>
          <p:nvPr>
            <p:ph idx="3" type="subTitle"/>
          </p:nvPr>
        </p:nvSpPr>
        <p:spPr>
          <a:xfrm>
            <a:off x="1034425" y="2794250"/>
            <a:ext cx="3224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time to complete</a:t>
            </a:r>
            <a:endParaRPr sz="2000"/>
          </a:p>
        </p:txBody>
      </p:sp>
      <p:sp>
        <p:nvSpPr>
          <p:cNvPr id="1256" name="Google Shape;1256;p100"/>
          <p:cNvSpPr txBox="1"/>
          <p:nvPr>
            <p:ph idx="4" type="subTitle"/>
          </p:nvPr>
        </p:nvSpPr>
        <p:spPr>
          <a:xfrm>
            <a:off x="1034425" y="3766974"/>
            <a:ext cx="29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either</a:t>
            </a:r>
            <a:endParaRPr sz="2000"/>
          </a:p>
        </p:txBody>
      </p:sp>
      <p:pic>
        <p:nvPicPr>
          <p:cNvPr id="1257" name="Google Shape;125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883" y="1791525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8" name="Google Shape;1258;p100"/>
          <p:cNvGraphicFramePr/>
          <p:nvPr/>
        </p:nvGraphicFramePr>
        <p:xfrm>
          <a:off x="5201463" y="1669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{BEAAFE14-23DC-4687-BDF1-7A3166B6B996}</a:tableStyleId>
              </a:tblPr>
              <a:tblGrid>
                <a:gridCol w="1779975"/>
                <a:gridCol w="1768700"/>
              </a:tblGrid>
              <a:tr h="71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course length (m)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to complete (s)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01"/>
          <p:cNvSpPr txBox="1"/>
          <p:nvPr>
            <p:ph idx="1" type="subTitle"/>
          </p:nvPr>
        </p:nvSpPr>
        <p:spPr>
          <a:xfrm>
            <a:off x="1034425" y="1837775"/>
            <a:ext cx="2030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Going up in 20s</a:t>
            </a:r>
            <a:endParaRPr sz="2000"/>
          </a:p>
        </p:txBody>
      </p:sp>
      <p:sp>
        <p:nvSpPr>
          <p:cNvPr id="1264" name="Google Shape;1264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265" name="Google Shape;1265;p101"/>
          <p:cNvSpPr txBox="1"/>
          <p:nvPr>
            <p:ph type="title"/>
          </p:nvPr>
        </p:nvSpPr>
        <p:spPr>
          <a:xfrm>
            <a:off x="324000" y="748783"/>
            <a:ext cx="8179200" cy="7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Which would be the most appropriate scale for the vertical axis for this data?</a:t>
            </a:r>
            <a:endParaRPr/>
          </a:p>
        </p:txBody>
      </p:sp>
      <p:sp>
        <p:nvSpPr>
          <p:cNvPr id="1266" name="Google Shape;1266;p101"/>
          <p:cNvSpPr txBox="1"/>
          <p:nvPr>
            <p:ph idx="3" type="subTitle"/>
          </p:nvPr>
        </p:nvSpPr>
        <p:spPr>
          <a:xfrm>
            <a:off x="1034425" y="2794250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Going up in 50s</a:t>
            </a:r>
            <a:endParaRPr/>
          </a:p>
        </p:txBody>
      </p:sp>
      <p:sp>
        <p:nvSpPr>
          <p:cNvPr id="1267" name="Google Shape;1267;p101"/>
          <p:cNvSpPr txBox="1"/>
          <p:nvPr>
            <p:ph idx="4" type="subTitle"/>
          </p:nvPr>
        </p:nvSpPr>
        <p:spPr>
          <a:xfrm>
            <a:off x="1034425" y="3766975"/>
            <a:ext cx="2493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Going up in 200s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ce5967c3-838c-4f61-aa9f-ddcb99b7e299&quot; data-equatio-type=&quot;desmos&quot;&gt;&lt;mglyph src=&quot;https://equatio-api.texthelp.com/desmos/get/11-10-2023/ce5967c3-838c-4f61-aa9f-ddcb99b7e299&quot; alt=&quot;Equatio Desmos Graph&quot;/&gt;&lt;/math&gt;" id="1268" name="Google Shape;1268;p101" title="Equatio Desmos Graph"/>
          <p:cNvPicPr preferRelativeResize="0"/>
          <p:nvPr/>
        </p:nvPicPr>
        <p:blipFill rotWithShape="1">
          <a:blip r:embed="rId3">
            <a:alphaModFix/>
          </a:blip>
          <a:srcRect b="6935" l="6039" r="81974" t="37132"/>
          <a:stretch/>
        </p:blipFill>
        <p:spPr>
          <a:xfrm>
            <a:off x="7675225" y="1620000"/>
            <a:ext cx="781092" cy="2733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9" name="Google Shape;1269;p101"/>
          <p:cNvCxnSpPr/>
          <p:nvPr/>
        </p:nvCxnSpPr>
        <p:spPr>
          <a:xfrm flipH="1" rot="10800000">
            <a:off x="7675575" y="4348300"/>
            <a:ext cx="996300" cy="5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0" name="Google Shape;1270;p101"/>
          <p:cNvCxnSpPr/>
          <p:nvPr/>
        </p:nvCxnSpPr>
        <p:spPr>
          <a:xfrm rot="10800000">
            <a:off x="7675225" y="1329525"/>
            <a:ext cx="0" cy="302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1" name="Google Shape;1271;p101"/>
          <p:cNvSpPr txBox="1"/>
          <p:nvPr/>
        </p:nvSpPr>
        <p:spPr>
          <a:xfrm rot="-5400000">
            <a:off x="5621246" y="2726315"/>
            <a:ext cx="26109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total sunshine (hours)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2" name="Google Shape;1272;p101"/>
          <p:cNvCxnSpPr/>
          <p:nvPr/>
        </p:nvCxnSpPr>
        <p:spPr>
          <a:xfrm rot="10800000">
            <a:off x="7527975" y="3679008"/>
            <a:ext cx="14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3" name="Google Shape;1273;p101"/>
          <p:cNvCxnSpPr/>
          <p:nvPr/>
        </p:nvCxnSpPr>
        <p:spPr>
          <a:xfrm rot="10800000">
            <a:off x="7527975" y="3005373"/>
            <a:ext cx="14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101"/>
          <p:cNvCxnSpPr/>
          <p:nvPr/>
        </p:nvCxnSpPr>
        <p:spPr>
          <a:xfrm rot="10800000">
            <a:off x="7531288" y="2327855"/>
            <a:ext cx="14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5" name="Google Shape;1275;p101"/>
          <p:cNvCxnSpPr/>
          <p:nvPr/>
        </p:nvCxnSpPr>
        <p:spPr>
          <a:xfrm rot="10800000">
            <a:off x="7531288" y="1650330"/>
            <a:ext cx="14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6" name="Google Shape;1276;p101"/>
          <p:cNvCxnSpPr/>
          <p:nvPr/>
        </p:nvCxnSpPr>
        <p:spPr>
          <a:xfrm rot="10800000">
            <a:off x="7527625" y="4350858"/>
            <a:ext cx="14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7" name="Google Shape;1277;p101"/>
          <p:cNvSpPr txBox="1"/>
          <p:nvPr/>
        </p:nvSpPr>
        <p:spPr>
          <a:xfrm>
            <a:off x="7263567" y="4158255"/>
            <a:ext cx="2241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78" name="Google Shape;1278;p101"/>
          <p:cNvGraphicFramePr/>
          <p:nvPr/>
        </p:nvGraphicFramePr>
        <p:xfrm>
          <a:off x="4573700" y="13094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{BEAAFE14-23DC-4687-BDF1-7A3166B6B996}</a:tableStyleId>
              </a:tblPr>
              <a:tblGrid>
                <a:gridCol w="15923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sunlight (hours)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189.5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143.1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147.6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64.5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46.2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34.4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9" name="Google Shape;1279;p101"/>
          <p:cNvSpPr txBox="1"/>
          <p:nvPr/>
        </p:nvSpPr>
        <p:spPr>
          <a:xfrm>
            <a:off x="7161847" y="3498400"/>
            <a:ext cx="4554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0" name="Google Shape;1280;p101"/>
          <p:cNvSpPr txBox="1"/>
          <p:nvPr/>
        </p:nvSpPr>
        <p:spPr>
          <a:xfrm>
            <a:off x="7056774" y="2820875"/>
            <a:ext cx="60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1" name="Google Shape;1281;p101"/>
          <p:cNvSpPr txBox="1"/>
          <p:nvPr/>
        </p:nvSpPr>
        <p:spPr>
          <a:xfrm>
            <a:off x="7081622" y="2143358"/>
            <a:ext cx="60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2" name="Google Shape;1282;p101"/>
          <p:cNvSpPr txBox="1"/>
          <p:nvPr/>
        </p:nvSpPr>
        <p:spPr>
          <a:xfrm>
            <a:off x="7005422" y="1465840"/>
            <a:ext cx="601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83" name="Google Shape;1283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1596" y="27771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02"/>
          <p:cNvSpPr txBox="1"/>
          <p:nvPr>
            <p:ph idx="1" type="body"/>
          </p:nvPr>
        </p:nvSpPr>
        <p:spPr>
          <a:xfrm>
            <a:off x="324000" y="759300"/>
            <a:ext cx="8496000" cy="6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</a:t>
            </a:r>
            <a:r>
              <a:rPr lang="en-GB" sz="1600"/>
              <a:t>For each pair of </a:t>
            </a:r>
            <a:r>
              <a:rPr b="1" lang="en-GB" sz="1600"/>
              <a:t>bivariate</a:t>
            </a:r>
            <a:r>
              <a:rPr lang="en-GB" sz="1600"/>
              <a:t> data, determine which is the </a:t>
            </a:r>
            <a:r>
              <a:rPr b="1" lang="en-GB" sz="1600"/>
              <a:t>independent</a:t>
            </a:r>
            <a:r>
              <a:rPr lang="en-GB" sz="1600"/>
              <a:t> variable and </a:t>
            </a:r>
            <a:br>
              <a:rPr lang="en-GB" sz="1600"/>
            </a:br>
            <a:r>
              <a:rPr lang="en-GB" sz="1600"/>
              <a:t>    which is the </a:t>
            </a:r>
            <a:r>
              <a:rPr b="1" lang="en-GB" sz="1600"/>
              <a:t>dependent</a:t>
            </a:r>
            <a:r>
              <a:rPr lang="en-GB" sz="1600"/>
              <a:t> variable. </a:t>
            </a:r>
            <a:endParaRPr/>
          </a:p>
        </p:txBody>
      </p:sp>
      <p:sp>
        <p:nvSpPr>
          <p:cNvPr id="1289" name="Google Shape;1289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290" name="Google Shape;1290;p102"/>
          <p:cNvSpPr txBox="1"/>
          <p:nvPr>
            <p:ph idx="1" type="body"/>
          </p:nvPr>
        </p:nvSpPr>
        <p:spPr>
          <a:xfrm>
            <a:off x="324000" y="1455925"/>
            <a:ext cx="3996000" cy="6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Example: </a:t>
            </a:r>
            <a:r>
              <a:rPr lang="en-GB" sz="1600"/>
              <a:t>ice cream sales</a:t>
            </a:r>
            <a:br>
              <a:rPr lang="en-GB" sz="1600"/>
            </a:br>
            <a:r>
              <a:rPr lang="en-GB" sz="1600"/>
              <a:t>                </a:t>
            </a:r>
            <a:r>
              <a:rPr lang="en-GB" sz="1300"/>
              <a:t> </a:t>
            </a:r>
            <a:r>
              <a:rPr lang="en-GB" sz="1600"/>
              <a:t>maximum temperature of day</a:t>
            </a:r>
            <a:endParaRPr sz="1600"/>
          </a:p>
        </p:txBody>
      </p:sp>
      <p:sp>
        <p:nvSpPr>
          <p:cNvPr id="1291" name="Google Shape;1291;p102"/>
          <p:cNvSpPr txBox="1"/>
          <p:nvPr>
            <p:ph idx="1" type="body"/>
          </p:nvPr>
        </p:nvSpPr>
        <p:spPr>
          <a:xfrm>
            <a:off x="324000" y="2211350"/>
            <a:ext cx="6169500" cy="26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a) amount of water in a kettle (ml)</a:t>
            </a:r>
            <a:br>
              <a:rPr lang="en-GB" sz="1600"/>
            </a:br>
            <a:r>
              <a:rPr lang="en-GB" sz="1600"/>
              <a:t>     time it take for the kettle to boil (s)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b) time it takes to complete a running course (s)</a:t>
            </a:r>
            <a:br>
              <a:rPr lang="en-GB" sz="1600"/>
            </a:br>
            <a:r>
              <a:rPr lang="en-GB" sz="1600"/>
              <a:t>     steepness of the running course (m)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c) age of a child (years)</a:t>
            </a:r>
            <a:br>
              <a:rPr lang="en-GB" sz="1600"/>
            </a:br>
            <a:r>
              <a:rPr lang="en-GB" sz="1600"/>
              <a:t>     height of the child (m)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d) number of floods reported in a month </a:t>
            </a:r>
            <a:br>
              <a:rPr lang="en-GB" sz="1600"/>
            </a:br>
            <a:r>
              <a:rPr lang="en-GB" sz="1600"/>
              <a:t>     amount of rainfall in the month (mm)</a:t>
            </a:r>
            <a:br>
              <a:rPr lang="en-GB" sz="1600"/>
            </a:br>
            <a:r>
              <a:rPr lang="en-GB" sz="1600"/>
              <a:t>    </a:t>
            </a:r>
            <a:endParaRPr sz="1600"/>
          </a:p>
        </p:txBody>
      </p:sp>
      <p:sp>
        <p:nvSpPr>
          <p:cNvPr id="1292" name="Google Shape;1292;p102"/>
          <p:cNvSpPr txBox="1"/>
          <p:nvPr>
            <p:ph idx="1" type="body"/>
          </p:nvPr>
        </p:nvSpPr>
        <p:spPr>
          <a:xfrm>
            <a:off x="2918674" y="1425689"/>
            <a:ext cx="12126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3" name="Google Shape;1293;p102"/>
          <p:cNvSpPr txBox="1"/>
          <p:nvPr>
            <p:ph idx="1" type="body"/>
          </p:nvPr>
        </p:nvSpPr>
        <p:spPr>
          <a:xfrm>
            <a:off x="4326719" y="1713935"/>
            <a:ext cx="15291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1b1ccfa3-bd22-4ff3-9d49-49fa513ed828&quot; data-equatio-type=&quot;desmos&quot;&gt;&lt;mglyph src=&quot;https://equatio-api.texthelp.com/desmos/get/11-10-2023/1b1ccfa3-bd22-4ff3-9d49-49fa513ed828&quot; alt=&quot;Equatio Desmos Graph&quot;/&gt;&lt;/math&gt;" id="1298" name="Google Shape;1298;p103" title="Equatio Desmos Graph"/>
          <p:cNvPicPr preferRelativeResize="0"/>
          <p:nvPr/>
        </p:nvPicPr>
        <p:blipFill rotWithShape="1">
          <a:blip r:embed="rId3">
            <a:alphaModFix/>
          </a:blip>
          <a:srcRect b="7747" l="9098" r="39202" t="3205"/>
          <a:stretch/>
        </p:blipFill>
        <p:spPr>
          <a:xfrm>
            <a:off x="4824000" y="1581425"/>
            <a:ext cx="2468024" cy="283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103"/>
          <p:cNvSpPr txBox="1"/>
          <p:nvPr>
            <p:ph idx="1" type="body"/>
          </p:nvPr>
        </p:nvSpPr>
        <p:spPr>
          <a:xfrm>
            <a:off x="324000" y="759300"/>
            <a:ext cx="8496000" cy="6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</a:t>
            </a:r>
            <a:r>
              <a:rPr lang="en-GB" sz="1600"/>
              <a:t> The data below shows the age and heights for a sample of six children.</a:t>
            </a:r>
            <a:br>
              <a:rPr lang="en-GB" sz="1600"/>
            </a:br>
            <a:r>
              <a:rPr lang="en-GB" sz="1600"/>
              <a:t>    Plot the data on a </a:t>
            </a:r>
            <a:r>
              <a:rPr b="1" lang="en-GB" sz="1600"/>
              <a:t>scatter graph</a:t>
            </a:r>
            <a:r>
              <a:rPr lang="en-GB" sz="1600"/>
              <a:t>.</a:t>
            </a:r>
            <a:endParaRPr/>
          </a:p>
        </p:txBody>
      </p:sp>
      <p:sp>
        <p:nvSpPr>
          <p:cNvPr id="1300" name="Google Shape;1300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graphicFrame>
        <p:nvGraphicFramePr>
          <p:cNvPr id="1301" name="Google Shape;1301;p103"/>
          <p:cNvGraphicFramePr/>
          <p:nvPr/>
        </p:nvGraphicFramePr>
        <p:xfrm>
          <a:off x="931000" y="14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{BEAAFE14-23DC-4687-BDF1-7A3166B6B996}</a:tableStyleId>
              </a:tblPr>
              <a:tblGrid>
                <a:gridCol w="997675"/>
                <a:gridCol w="1041950"/>
              </a:tblGrid>
              <a:tr h="49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ges (years)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eight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02" name="Google Shape;1302;p103"/>
          <p:cNvCxnSpPr/>
          <p:nvPr/>
        </p:nvCxnSpPr>
        <p:spPr>
          <a:xfrm>
            <a:off x="4829675" y="4412592"/>
            <a:ext cx="2661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3" name="Google Shape;1303;p103"/>
          <p:cNvCxnSpPr/>
          <p:nvPr/>
        </p:nvCxnSpPr>
        <p:spPr>
          <a:xfrm rot="10800000">
            <a:off x="4829321" y="1390817"/>
            <a:ext cx="0" cy="302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04"/>
          <p:cNvSpPr txBox="1"/>
          <p:nvPr>
            <p:ph idx="1" type="body"/>
          </p:nvPr>
        </p:nvSpPr>
        <p:spPr>
          <a:xfrm>
            <a:off x="324000" y="759300"/>
            <a:ext cx="8496000" cy="6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For each pair of </a:t>
            </a:r>
            <a:r>
              <a:rPr b="1" lang="en-GB" sz="1600"/>
              <a:t>bivariate</a:t>
            </a:r>
            <a:r>
              <a:rPr lang="en-GB" sz="1600"/>
              <a:t> data, determine which is the </a:t>
            </a:r>
            <a:r>
              <a:rPr b="1" lang="en-GB" sz="1600"/>
              <a:t>independent</a:t>
            </a:r>
            <a:r>
              <a:rPr lang="en-GB" sz="1600"/>
              <a:t> variable and 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which is the </a:t>
            </a:r>
            <a:r>
              <a:rPr b="1" lang="en-GB" sz="1600"/>
              <a:t>dependent</a:t>
            </a:r>
            <a:r>
              <a:rPr lang="en-GB" sz="1600"/>
              <a:t> variable. </a:t>
            </a:r>
            <a:endParaRPr/>
          </a:p>
        </p:txBody>
      </p:sp>
      <p:sp>
        <p:nvSpPr>
          <p:cNvPr id="1309" name="Google Shape;1309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sp>
        <p:nvSpPr>
          <p:cNvPr id="1310" name="Google Shape;1310;p104"/>
          <p:cNvSpPr txBox="1"/>
          <p:nvPr>
            <p:ph idx="1" type="body"/>
          </p:nvPr>
        </p:nvSpPr>
        <p:spPr>
          <a:xfrm>
            <a:off x="552600" y="1498995"/>
            <a:ext cx="3996000" cy="63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Example: ice cream sales</a:t>
            </a:r>
            <a:br>
              <a:rPr lang="en-GB" sz="1600"/>
            </a:br>
            <a:r>
              <a:rPr lang="en-GB" sz="1600"/>
              <a:t>                maximum temperature of day</a:t>
            </a:r>
            <a:endParaRPr sz="1600"/>
          </a:p>
        </p:txBody>
      </p:sp>
      <p:sp>
        <p:nvSpPr>
          <p:cNvPr id="1311" name="Google Shape;1311;p104"/>
          <p:cNvSpPr txBox="1"/>
          <p:nvPr>
            <p:ph idx="1" type="body"/>
          </p:nvPr>
        </p:nvSpPr>
        <p:spPr>
          <a:xfrm>
            <a:off x="364600" y="2178220"/>
            <a:ext cx="5062200" cy="26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a) amount of water in a kettle (ml)</a:t>
            </a:r>
            <a:br>
              <a:rPr lang="en-GB" sz="1600"/>
            </a:br>
            <a:r>
              <a:rPr lang="en-GB" sz="1600"/>
              <a:t>     time it take for the kettle to boil (s)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b) time it takes to complete a running course (s)</a:t>
            </a:r>
            <a:br>
              <a:rPr lang="en-GB" sz="1600"/>
            </a:br>
            <a:r>
              <a:rPr lang="en-GB" sz="1600"/>
              <a:t>    steepness of the running course (m)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c) age of a child (years)</a:t>
            </a:r>
            <a:br>
              <a:rPr lang="en-GB" sz="1600"/>
            </a:br>
            <a:r>
              <a:rPr lang="en-GB" sz="1600"/>
              <a:t>    height of the child (m)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d) number of floods reported in a month </a:t>
            </a:r>
            <a:br>
              <a:rPr lang="en-GB" sz="1600"/>
            </a:br>
            <a:r>
              <a:rPr lang="en-GB" sz="1600"/>
              <a:t>    amount of rainfall in the month (mm)</a:t>
            </a:r>
            <a:br>
              <a:rPr lang="en-GB" sz="1600"/>
            </a:br>
            <a:r>
              <a:rPr lang="en-GB" sz="1600"/>
              <a:t>    </a:t>
            </a:r>
            <a:endParaRPr sz="1600"/>
          </a:p>
        </p:txBody>
      </p:sp>
      <p:sp>
        <p:nvSpPr>
          <p:cNvPr id="1312" name="Google Shape;1312;p104"/>
          <p:cNvSpPr txBox="1"/>
          <p:nvPr>
            <p:ph idx="1" type="body"/>
          </p:nvPr>
        </p:nvSpPr>
        <p:spPr>
          <a:xfrm>
            <a:off x="3147274" y="1468759"/>
            <a:ext cx="12126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3" name="Google Shape;1313;p104"/>
          <p:cNvSpPr txBox="1"/>
          <p:nvPr>
            <p:ph idx="1" type="body"/>
          </p:nvPr>
        </p:nvSpPr>
        <p:spPr>
          <a:xfrm>
            <a:off x="4555319" y="1757004"/>
            <a:ext cx="15291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4" name="Google Shape;1314;p104"/>
          <p:cNvSpPr txBox="1"/>
          <p:nvPr>
            <p:ph idx="1" type="body"/>
          </p:nvPr>
        </p:nvSpPr>
        <p:spPr>
          <a:xfrm>
            <a:off x="4318424" y="2441884"/>
            <a:ext cx="12126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104"/>
          <p:cNvSpPr txBox="1"/>
          <p:nvPr>
            <p:ph idx="1" type="body"/>
          </p:nvPr>
        </p:nvSpPr>
        <p:spPr>
          <a:xfrm>
            <a:off x="4050069" y="2145377"/>
            <a:ext cx="15291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6" name="Google Shape;1316;p104"/>
          <p:cNvSpPr txBox="1"/>
          <p:nvPr>
            <p:ph idx="1" type="body"/>
          </p:nvPr>
        </p:nvSpPr>
        <p:spPr>
          <a:xfrm>
            <a:off x="5333874" y="2844409"/>
            <a:ext cx="12126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104"/>
          <p:cNvSpPr txBox="1"/>
          <p:nvPr>
            <p:ph idx="1" type="body"/>
          </p:nvPr>
        </p:nvSpPr>
        <p:spPr>
          <a:xfrm>
            <a:off x="4379719" y="3132654"/>
            <a:ext cx="15291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104"/>
          <p:cNvSpPr txBox="1"/>
          <p:nvPr>
            <p:ph idx="1" type="body"/>
          </p:nvPr>
        </p:nvSpPr>
        <p:spPr>
          <a:xfrm>
            <a:off x="3061124" y="3806861"/>
            <a:ext cx="12126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104"/>
          <p:cNvSpPr txBox="1"/>
          <p:nvPr>
            <p:ph idx="1" type="body"/>
          </p:nvPr>
        </p:nvSpPr>
        <p:spPr>
          <a:xfrm>
            <a:off x="2945169" y="3526920"/>
            <a:ext cx="15291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104"/>
          <p:cNvSpPr txBox="1"/>
          <p:nvPr>
            <p:ph idx="1" type="body"/>
          </p:nvPr>
        </p:nvSpPr>
        <p:spPr>
          <a:xfrm>
            <a:off x="4537091" y="4202376"/>
            <a:ext cx="12126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1" name="Google Shape;1321;p104"/>
          <p:cNvSpPr txBox="1"/>
          <p:nvPr>
            <p:ph idx="1" type="body"/>
          </p:nvPr>
        </p:nvSpPr>
        <p:spPr>
          <a:xfrm>
            <a:off x="4480771" y="4498904"/>
            <a:ext cx="1529100" cy="2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independent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5eabd478-3ba0-47b6-b96a-04fddcd11097&quot; data-equatio-type=&quot;desmos&quot;&gt;&lt;mglyph src=&quot;https://equatio-api.texthelp.com/desmos/get/11-10-2023/5eabd478-3ba0-47b6-b96a-04fddcd11097&quot; alt=&quot;Equatio Desmos Graph&quot;/&gt;&lt;/math&gt;" id="1326" name="Google Shape;1326;p105" title="Equatio Desmos Graph"/>
          <p:cNvPicPr preferRelativeResize="0"/>
          <p:nvPr/>
        </p:nvPicPr>
        <p:blipFill rotWithShape="1">
          <a:blip r:embed="rId3">
            <a:alphaModFix/>
          </a:blip>
          <a:srcRect b="3561" l="4581" r="39204" t="3216"/>
          <a:stretch/>
        </p:blipFill>
        <p:spPr>
          <a:xfrm>
            <a:off x="4608450" y="1581425"/>
            <a:ext cx="2683574" cy="29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The data below shows the age and heights for a sample of six children.</a:t>
            </a:r>
            <a:br>
              <a:rPr lang="en-GB" sz="1600"/>
            </a:br>
            <a:r>
              <a:rPr lang="en-GB" sz="1600"/>
              <a:t>    Plot the data on a </a:t>
            </a:r>
            <a:r>
              <a:rPr b="1" lang="en-GB" sz="1600"/>
              <a:t>scatter graph</a:t>
            </a:r>
            <a:r>
              <a:rPr lang="en-GB" sz="1600"/>
              <a:t>.</a:t>
            </a:r>
            <a:endParaRPr/>
          </a:p>
        </p:txBody>
      </p:sp>
      <p:sp>
        <p:nvSpPr>
          <p:cNvPr id="1328" name="Google Shape;1328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Deciding which axis to use for each variable</a:t>
            </a:r>
            <a:endParaRPr/>
          </a:p>
        </p:txBody>
      </p:sp>
      <p:graphicFrame>
        <p:nvGraphicFramePr>
          <p:cNvPr id="1329" name="Google Shape;1329;p105"/>
          <p:cNvGraphicFramePr/>
          <p:nvPr/>
        </p:nvGraphicFramePr>
        <p:xfrm>
          <a:off x="931000" y="14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{BEAAFE14-23DC-4687-BDF1-7A3166B6B996}</a:tableStyleId>
              </a:tblPr>
              <a:tblGrid>
                <a:gridCol w="997675"/>
                <a:gridCol w="1041950"/>
              </a:tblGrid>
              <a:tr h="492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ages (years)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(cm)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30" name="Google Shape;1330;p105"/>
          <p:cNvCxnSpPr/>
          <p:nvPr/>
        </p:nvCxnSpPr>
        <p:spPr>
          <a:xfrm>
            <a:off x="4829675" y="4412592"/>
            <a:ext cx="2661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1" name="Google Shape;1331;p105"/>
          <p:cNvCxnSpPr/>
          <p:nvPr/>
        </p:nvCxnSpPr>
        <p:spPr>
          <a:xfrm rot="10800000">
            <a:off x="4829321" y="1390817"/>
            <a:ext cx="0" cy="302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2" name="Google Shape;1332;p105"/>
          <p:cNvSpPr txBox="1"/>
          <p:nvPr>
            <p:ph idx="1" type="body"/>
          </p:nvPr>
        </p:nvSpPr>
        <p:spPr>
          <a:xfrm rot="-5400000">
            <a:off x="3817200" y="2771554"/>
            <a:ext cx="1260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height (cm)</a:t>
            </a:r>
            <a:endParaRPr/>
          </a:p>
        </p:txBody>
      </p:sp>
      <p:sp>
        <p:nvSpPr>
          <p:cNvPr id="1333" name="Google Shape;1333;p105"/>
          <p:cNvSpPr txBox="1"/>
          <p:nvPr>
            <p:ph idx="1" type="body"/>
          </p:nvPr>
        </p:nvSpPr>
        <p:spPr>
          <a:xfrm>
            <a:off x="5417400" y="4524154"/>
            <a:ext cx="1260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age (years)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1b1ccfa3-bd22-4ff3-9d49-49fa513ed828&quot; data-equatio-type=&quot;desmos&quot;&gt;&lt;mglyph src=&quot;https://equatio-api.texthelp.com/desmos/get/11-10-2023/1b1ccfa3-bd22-4ff3-9d49-49fa513ed828&quot; alt=&quot;Equatio Desmos Graph&quot;/&gt;&lt;/math&gt;" id="1334" name="Google Shape;1334;p105" title="Equatio Desmos Graph"/>
          <p:cNvPicPr preferRelativeResize="0"/>
          <p:nvPr/>
        </p:nvPicPr>
        <p:blipFill rotWithShape="1">
          <a:blip r:embed="rId4">
            <a:alphaModFix/>
          </a:blip>
          <a:srcRect b="7747" l="9098" r="39202" t="3205"/>
          <a:stretch/>
        </p:blipFill>
        <p:spPr>
          <a:xfrm>
            <a:off x="4824000" y="1581425"/>
            <a:ext cx="2468024" cy="283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0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 presented as a paired list can be represented as a </a:t>
            </a:r>
            <a:r>
              <a:rPr b="1" lang="en-GB"/>
              <a:t>scatter graph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Data presented in a table can be presented as a </a:t>
            </a:r>
            <a:r>
              <a:rPr b="1" lang="en-GB"/>
              <a:t>scatter graph</a:t>
            </a:r>
            <a:r>
              <a:rPr lang="en-GB"/>
              <a:t>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/>
              <a:t>independent </a:t>
            </a:r>
            <a:r>
              <a:rPr lang="en-GB"/>
              <a:t>variable</a:t>
            </a:r>
            <a:r>
              <a:rPr lang="en-GB"/>
              <a:t> is placed on the horizontal axis.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</a:t>
            </a:r>
            <a:r>
              <a:rPr b="1" lang="en-GB"/>
              <a:t>dependent</a:t>
            </a:r>
            <a:r>
              <a:rPr lang="en-GB"/>
              <a:t> variable is placed on the vertical axis.</a:t>
            </a:r>
            <a:endParaRPr/>
          </a:p>
        </p:txBody>
      </p:sp>
      <p:sp>
        <p:nvSpPr>
          <p:cNvPr id="1340" name="Google Shape;1340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scatter graphs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46" name="Google Shape;1346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