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9D6C8B-A2D8-4AE7-B1AD-38E5A4E41500}">
  <a:tblStyle styleId="{579D6C8B-A2D8-4AE7-B1AD-38E5A4E4150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4FCF4"/>
          </a:solidFill>
        </a:fill>
      </a:tcStyle>
    </a:wholeTbl>
    <a:band1H>
      <a:tcTxStyle/>
      <a:tcStyle>
        <a:fill>
          <a:solidFill>
            <a:srgbClr val="E8FAE7"/>
          </a:solidFill>
        </a:fill>
      </a:tcStyle>
    </a:band1H>
    <a:band2H>
      <a:tcTxStyle/>
    </a:band2H>
    <a:band1V>
      <a:tcTxStyle/>
      <a:tcStyle>
        <a:fill>
          <a:solidFill>
            <a:srgbClr val="E8FA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BEF2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BEF2BD"/>
          </a:solidFill>
        </a:fill>
      </a:tcStyle>
    </a:firstRow>
    <a:neCell>
      <a:tcTxStyle/>
    </a:neCell>
    <a:nwCell>
      <a:tcTxStyle/>
    </a:nwCell>
  </a:tblStyle>
  <a:tblStyle styleId="{38CB2A64-1F5D-4884-9514-59BAD5F34B6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4FCF4"/>
          </a:solidFill>
        </a:fill>
      </a:tcStyle>
    </a:wholeTbl>
    <a:band1H>
      <a:tcTxStyle b="off" i="off"/>
      <a:tcStyle>
        <a:fill>
          <a:solidFill>
            <a:srgbClr val="E8FA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FAE7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BEF2BD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BEF2BD"/>
          </a:solidFill>
        </a:fill>
      </a:tcStyle>
    </a:firstRow>
    <a:neCell>
      <a:tcTxStyle b="off" i="off"/>
    </a:neCell>
    <a:nwCell>
      <a:tcTxStyle b="off" i="off"/>
    </a:nwCell>
  </a:tblStyle>
  <a:tblStyle styleId="{5F72EB86-3403-411A-AEE5-1875D929660E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ea1bf506bc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ea1bf506b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Introduction to pie charts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Constructing pie charts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4375" y="7130850"/>
            <a:ext cx="46812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Alex collects data on the number of days in January (31 days) that had snowfall.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wants to represent this data on a pie chart with 8 equal-sized sectors.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Explain why it is impossible for Alex to represent this data in a pie chart with 8 equal-sized sectors.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whether it is possible for Alex to represent this data in a pie chart with any number of equal-sized sectors.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7388" y="7130850"/>
            <a:ext cx="1119474" cy="10791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6" name="Google Shape;176;p20"/>
          <p:cNvGraphicFramePr/>
          <p:nvPr/>
        </p:nvGraphicFramePr>
        <p:xfrm>
          <a:off x="5381044" y="82905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{579D6C8B-A2D8-4AE7-B1AD-38E5A4E41500}</a:tableStyleId>
              </a:tblPr>
              <a:tblGrid>
                <a:gridCol w="827375"/>
                <a:gridCol w="884775"/>
              </a:tblGrid>
              <a:tr h="13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snowfall?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1119549" y="8626350"/>
            <a:ext cx="3018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31 ÷ 8 does not give an integer answer.</a:t>
            </a: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886111" y="9633025"/>
            <a:ext cx="6196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is only possible if the pie chart is split into a multiple of 31 sectors.</a:t>
            </a:r>
            <a:endParaRPr sz="1200"/>
          </a:p>
        </p:txBody>
      </p:sp>
      <p:sp>
        <p:nvSpPr>
          <p:cNvPr id="179" name="Google Shape;179;p20"/>
          <p:cNvSpPr txBox="1"/>
          <p:nvPr/>
        </p:nvSpPr>
        <p:spPr>
          <a:xfrm>
            <a:off x="2223638" y="3956400"/>
            <a:ext cx="48678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Aisha collects data on the number of days that had over 2 hours of sun per day on 160 days between April and September.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following table of results is represented in a pie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draws a pie chart.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sectors of her pie chart represent the number of days that did have over 2 hours of sunshine.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sectors does Aisha’s pie chart have in total?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0" name="Google Shape;180;p20"/>
          <p:cNvGraphicFramePr/>
          <p:nvPr/>
        </p:nvGraphicFramePr>
        <p:xfrm>
          <a:off x="468558" y="39830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{579D6C8B-A2D8-4AE7-B1AD-38E5A4E41500}</a:tableStyleId>
              </a:tblPr>
              <a:tblGrid>
                <a:gridCol w="886475"/>
                <a:gridCol w="834375"/>
              </a:tblGrid>
              <a:tr h="34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over 2 hours?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20"/>
          <p:cNvSpPr txBox="1"/>
          <p:nvPr/>
        </p:nvSpPr>
        <p:spPr>
          <a:xfrm>
            <a:off x="494713" y="5490025"/>
            <a:ext cx="3507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135 ÷ 27 = 5 days per sector</a:t>
            </a:r>
            <a:endParaRPr sz="1200"/>
          </a:p>
        </p:txBody>
      </p:sp>
      <p:sp>
        <p:nvSpPr>
          <p:cNvPr id="182" name="Google Shape;182;p20"/>
          <p:cNvSpPr txBox="1"/>
          <p:nvPr/>
        </p:nvSpPr>
        <p:spPr>
          <a:xfrm>
            <a:off x="3420562" y="5499775"/>
            <a:ext cx="26490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160 total days ÷ 5 = 32 total sectors</a:t>
            </a:r>
            <a:endParaRPr sz="1200"/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5379846" y="17867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{579D6C8B-A2D8-4AE7-B1AD-38E5A4E41500}</a:tableStyleId>
              </a:tblPr>
              <a:tblGrid>
                <a:gridCol w="798800"/>
                <a:gridCol w="913350"/>
              </a:tblGrid>
              <a:tr h="25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air frost?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18000" marL="1800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18000" marL="1800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/>
                    </a:p>
                  </a:txBody>
                  <a:tcPr marT="45725" marB="45725" marR="18000" marL="1800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/>
                    </a:p>
                  </a:txBody>
                  <a:tcPr marT="45725" marB="45725" marR="18000" marL="1800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/>
                    </a:p>
                  </a:txBody>
                  <a:tcPr marT="45725" marB="45725" marR="18000" marL="1800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200"/>
                    </a:p>
                  </a:txBody>
                  <a:tcPr marT="45725" marB="45725" marR="18000" marL="1800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20"/>
          <p:cNvSpPr txBox="1"/>
          <p:nvPr/>
        </p:nvSpPr>
        <p:spPr>
          <a:xfrm>
            <a:off x="850075" y="2877125"/>
            <a:ext cx="4683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150 ÷ 6 = 25 sectors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8000" y="1634400"/>
            <a:ext cx="4867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Izzy collects data on whether there was air frost on 150 days between October and February.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following table of results is represented in a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sector of the pie chart represents 6 days worth of data.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many sectors should there be altogether?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772917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angles for pie charts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85971" y="1216500"/>
            <a:ext cx="29340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calculations to represent these frequencies as angles on a pie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3" name="Google Shape;193;p21"/>
          <p:cNvGraphicFramePr/>
          <p:nvPr/>
        </p:nvGraphicFramePr>
        <p:xfrm>
          <a:off x="508831" y="23216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{38CB2A64-1F5D-4884-9514-59BAD5F34B6A}</a:tableStyleId>
              </a:tblPr>
              <a:tblGrid>
                <a:gridCol w="1032125"/>
                <a:gridCol w="1161325"/>
                <a:gridCol w="717700"/>
              </a:tblGrid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weather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185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cloud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110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65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21"/>
          <p:cNvSpPr txBox="1"/>
          <p:nvPr/>
        </p:nvSpPr>
        <p:spPr>
          <a:xfrm>
            <a:off x="763929" y="1984449"/>
            <a:ext cx="2378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360° ÷ 72 = 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1854362" y="4296975"/>
            <a:ext cx="11904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5    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 flipH="1" rot="10800000">
            <a:off x="1951650" y="4107267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97" name="Google Shape;197;p21"/>
          <p:cNvSpPr txBox="1"/>
          <p:nvPr/>
        </p:nvSpPr>
        <p:spPr>
          <a:xfrm>
            <a:off x="4147121" y="3502500"/>
            <a:ext cx="29340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represent these frequencies as angles on a pie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8" name="Google Shape;198;p21"/>
          <p:cNvGraphicFramePr/>
          <p:nvPr/>
        </p:nvGraphicFramePr>
        <p:xfrm>
          <a:off x="4169982" y="46076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{38CB2A64-1F5D-4884-9514-59BAD5F34B6A}</a:tableStyleId>
              </a:tblPr>
              <a:tblGrid>
                <a:gridCol w="1032125"/>
                <a:gridCol w="1161325"/>
                <a:gridCol w="717700"/>
              </a:tblGrid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meal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breakfast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72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lunch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138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dinner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150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 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21"/>
          <p:cNvSpPr txBox="1"/>
          <p:nvPr/>
        </p:nvSpPr>
        <p:spPr>
          <a:xfrm>
            <a:off x="4425079" y="4270449"/>
            <a:ext cx="2378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360° ÷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612800" y="6735375"/>
            <a:ext cx="11904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/>
              <a:t>_____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 flipH="1" rot="10800000">
            <a:off x="5612800" y="6393267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02" name="Google Shape;202;p21"/>
          <p:cNvSpPr txBox="1"/>
          <p:nvPr/>
        </p:nvSpPr>
        <p:spPr>
          <a:xfrm>
            <a:off x="503400" y="6067850"/>
            <a:ext cx="32988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Complete the calculations to represent these frequencies as angles on a pie chart.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Hint: The multiplier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a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non-integer.</a:t>
            </a:r>
            <a:endParaRPr sz="1200"/>
          </a:p>
        </p:txBody>
      </p:sp>
      <p:graphicFrame>
        <p:nvGraphicFramePr>
          <p:cNvPr id="203" name="Google Shape;203;p21"/>
          <p:cNvGraphicFramePr/>
          <p:nvPr/>
        </p:nvGraphicFramePr>
        <p:xfrm>
          <a:off x="508819" y="69822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{38CB2A64-1F5D-4884-9514-59BAD5F34B6A}</a:tableStyleId>
              </a:tblPr>
              <a:tblGrid>
                <a:gridCol w="1032125"/>
                <a:gridCol w="1161325"/>
                <a:gridCol w="717700"/>
              </a:tblGrid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weather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         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cloud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21"/>
          <p:cNvSpPr txBox="1"/>
          <p:nvPr/>
        </p:nvSpPr>
        <p:spPr>
          <a:xfrm>
            <a:off x="2050521" y="8984033"/>
            <a:ext cx="2514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 flipH="1" rot="10800000">
            <a:off x="1951638" y="8767867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06" name="Google Shape;206;p21"/>
          <p:cNvSpPr txBox="1"/>
          <p:nvPr/>
        </p:nvSpPr>
        <p:spPr>
          <a:xfrm>
            <a:off x="6066800" y="6701992"/>
            <a:ext cx="402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391200" y="4157916"/>
            <a:ext cx="3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956252" y="4157916"/>
            <a:ext cx="3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2701252" y="7330254"/>
            <a:ext cx="7125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701225" y="7677137"/>
            <a:ext cx="7125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2707379" y="8024020"/>
            <a:ext cx="7125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2086676" y="8898545"/>
            <a:ext cx="4230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2423262" y="8878976"/>
            <a:ext cx="205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2665919" y="8792225"/>
            <a:ext cx="423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2665919" y="8945955"/>
            <a:ext cx="423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656009" y="8806343"/>
            <a:ext cx="2826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_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7" name="Google Shape;217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/>
        </p:nvSpPr>
        <p:spPr>
          <a:xfrm>
            <a:off x="468000" y="772917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Constructing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pie charts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5" name="Google Shape;225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467999" y="1116615"/>
            <a:ext cx="29520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both the frequency and the angles required to represent the data on a pie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pie chart has been fully constructed, but not labelled.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Label each sector of the pie chart                                           with the correct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Key Stage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8" name="Google Shape;228;p22"/>
          <p:cNvGraphicFramePr/>
          <p:nvPr/>
        </p:nvGraphicFramePr>
        <p:xfrm>
          <a:off x="656538" y="283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{5F72EB86-3403-411A-AEE5-1875D929660E}</a:tableStyleId>
              </a:tblPr>
              <a:tblGrid>
                <a:gridCol w="855975"/>
                <a:gridCol w="855975"/>
                <a:gridCol w="862975"/>
              </a:tblGrid>
              <a:tr h="15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Key Stage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KS3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228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142.5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KS4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144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576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22"/>
          <p:cNvSpPr/>
          <p:nvPr/>
        </p:nvSpPr>
        <p:spPr>
          <a:xfrm>
            <a:off x="656550" y="3744465"/>
            <a:ext cx="85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" name="Google Shape;230;p22"/>
          <p:cNvGrpSpPr/>
          <p:nvPr/>
        </p:nvGrpSpPr>
        <p:grpSpPr>
          <a:xfrm>
            <a:off x="623664" y="4011819"/>
            <a:ext cx="2640456" cy="2640456"/>
            <a:chOff x="4873400" y="874825"/>
            <a:chExt cx="3549000" cy="3549000"/>
          </a:xfrm>
        </p:grpSpPr>
        <p:sp>
          <p:nvSpPr>
            <p:cNvPr id="231" name="Google Shape;231;p22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2" name="Google Shape;232;p22"/>
            <p:cNvCxnSpPr/>
            <p:nvPr/>
          </p:nvCxnSpPr>
          <p:spPr>
            <a:xfrm rot="10800000">
              <a:off x="4873400" y="2649325"/>
              <a:ext cx="1774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3" name="Google Shape;233;p22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11072" r="11064" t="0"/>
          <a:stretch/>
        </p:blipFill>
        <p:spPr>
          <a:xfrm rot="-5400000">
            <a:off x="539387" y="3856078"/>
            <a:ext cx="2809225" cy="29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753738" y="4934563"/>
            <a:ext cx="7599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KS1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465583" y="4437422"/>
            <a:ext cx="7599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KS2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2099742" y="5330167"/>
            <a:ext cx="7599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KS3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016045" y="5674929"/>
            <a:ext cx="7599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KS4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4140000" y="1116615"/>
            <a:ext cx="1264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The table shows both the angles required to represent this data on a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0" name="Google Shape;240;p22"/>
          <p:cNvGraphicFramePr/>
          <p:nvPr/>
        </p:nvGraphicFramePr>
        <p:xfrm>
          <a:off x="5445475" y="111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{5F72EB86-3403-411A-AEE5-1875D929660E}</a:tableStyleId>
              </a:tblPr>
              <a:tblGrid>
                <a:gridCol w="819925"/>
                <a:gridCol w="826600"/>
              </a:tblGrid>
              <a:tr h="22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Key Stage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Primary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Secondary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College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0" marB="0" marR="0" marL="0" anchor="b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22"/>
          <p:cNvSpPr txBox="1"/>
          <p:nvPr/>
        </p:nvSpPr>
        <p:spPr>
          <a:xfrm>
            <a:off x="4140000" y="2426290"/>
            <a:ext cx="295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Construct this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2" name="Google Shape;242;p22"/>
          <p:cNvGrpSpPr/>
          <p:nvPr/>
        </p:nvGrpSpPr>
        <p:grpSpPr>
          <a:xfrm>
            <a:off x="4290182" y="2682619"/>
            <a:ext cx="2651813" cy="2651813"/>
            <a:chOff x="4873400" y="874825"/>
            <a:chExt cx="3549000" cy="3549000"/>
          </a:xfrm>
        </p:grpSpPr>
        <p:sp>
          <p:nvSpPr>
            <p:cNvPr id="243" name="Google Shape;243;p22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244" name="Google Shape;244;p22"/>
            <p:cNvCxnSpPr/>
            <p:nvPr/>
          </p:nvCxnSpPr>
          <p:spPr>
            <a:xfrm rot="10800000">
              <a:off x="4873400" y="2649325"/>
              <a:ext cx="1774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5" name="Google Shape;245;p22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pic>
        <p:nvPicPr>
          <p:cNvPr id="246" name="Google Shape;2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3861207" y="2532482"/>
            <a:ext cx="3509585" cy="29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4899122" y="3281862"/>
            <a:ext cx="13812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Primary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5570929" y="4188995"/>
            <a:ext cx="13812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Secondary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4334689" y="4188995"/>
            <a:ext cx="13812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College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467999" y="6900690"/>
            <a:ext cx="29520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table shows both the frequency and most of the angles required to represent the data on a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Construct this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5444700" y="1937540"/>
            <a:ext cx="815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2" name="Google Shape;252;p22"/>
          <p:cNvGraphicFramePr/>
          <p:nvPr/>
        </p:nvGraphicFramePr>
        <p:xfrm>
          <a:off x="468000" y="797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{5F72EB86-3403-411A-AEE5-1875D929660E}</a:tableStyleId>
              </a:tblPr>
              <a:tblGrid>
                <a:gridCol w="981325"/>
                <a:gridCol w="981325"/>
                <a:gridCol w="989350"/>
              </a:tblGrid>
              <a:tr h="32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Footwear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Trainers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Boots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68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170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Flip-Flops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Other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144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53" name="Google Shape;253;p22"/>
          <p:cNvGrpSpPr/>
          <p:nvPr/>
        </p:nvGrpSpPr>
        <p:grpSpPr>
          <a:xfrm>
            <a:off x="4216991" y="6760480"/>
            <a:ext cx="2798032" cy="2798032"/>
            <a:chOff x="4873400" y="874825"/>
            <a:chExt cx="3549000" cy="3549000"/>
          </a:xfrm>
        </p:grpSpPr>
        <p:sp>
          <p:nvSpPr>
            <p:cNvPr id="254" name="Google Shape;254;p22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22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6" name="Google Shape;25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033117" y="6386315"/>
            <a:ext cx="3166167" cy="355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4542821" y="7437277"/>
            <a:ext cx="10737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Trainers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5721771" y="8200896"/>
            <a:ext cx="10737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Boots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 rot="-4227961">
            <a:off x="4659049" y="9320027"/>
            <a:ext cx="1177153" cy="31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Flip-Flops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4365335" y="8340071"/>
            <a:ext cx="10737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Other</a:t>
            </a:r>
            <a:endParaRPr/>
          </a:p>
        </p:txBody>
      </p:sp>
      <p:sp>
        <p:nvSpPr>
          <p:cNvPr id="261" name="Google Shape;261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