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59124C-0E11-48AA-9B86-E389934B79CD}">
  <a:tblStyle styleId="{F459124C-0E11-48AA-9B86-E389934B79C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CF4"/>
          </a:solidFill>
        </a:fill>
      </a:tcStyle>
    </a:wholeTbl>
    <a:band1H>
      <a:tcTxStyle/>
      <a:tcStyle>
        <a:fill>
          <a:solidFill>
            <a:srgbClr val="E8FAE7"/>
          </a:solidFill>
        </a:fill>
      </a:tcStyle>
    </a:band1H>
    <a:band2H>
      <a:tcTxStyle/>
    </a:band2H>
    <a:band1V>
      <a:tcTxStyle/>
      <a:tcStyle>
        <a:fill>
          <a:solidFill>
            <a:srgbClr val="E8FA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C288BE3-D51D-4129-B10E-FF086D51FDA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CF4"/>
          </a:solidFill>
        </a:fill>
      </a:tcStyle>
    </a:wholeTbl>
    <a:band1H>
      <a:tcTxStyle b="off" i="off"/>
      <a:tcStyle>
        <a:fill>
          <a:solidFill>
            <a:srgbClr val="E8FA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A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3CFB392-2045-4163-971B-35FCE3392696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8b59b0012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8b59b0012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e8761cb86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1e8761cb86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e8761cb86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g1e8761cb86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1e8761cb865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6" name="Google Shape;866;g1e8761cb86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1e8761cb865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1e8761cb865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e8761cb865_0_5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e8761cb865_0_5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8b59b00129_5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g28b59b00129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89d46f6d46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g289d46f6d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8a2fc0c3a4_0_2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8a2fc0c3a4_0_2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8a2fc0c3a4_0_2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8a2fc0c3a4_0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e8761cb865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g1e8761cb865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1e8761cb865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1e8761cb865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1e8761cb865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1e8761cb865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e8761cb86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g1e8761cb865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1e8761cb86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1e8761cb86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e8761cb86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g1e8761cb86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e8761cb865_0_5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g1e8761cb865_0_5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8a2fc0c3a4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g28a2fc0c3a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8a2fc0c3a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g28a2fc0c3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8a2fc0c3a4_0_2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g28a2fc0c3a4_0_2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8a2fc0c3a4_0_1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g28a2fc0c3a4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28a2fc0c3a4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9" name="Google Shape;1159;g28a2fc0c3a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8a2fc0c3a4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g28a2fc0c3a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8a2fc0c3a4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g28a2fc0c3a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8a2fc0c3a4_0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g28a2fc0c3a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8a2fc0c3a4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g28a2fc0c3a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8a2fc0c3a4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g28a2fc0c3a4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888c6b473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1" name="Google Shape;1291;g2888c6b473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89d46f6d46_0_17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0" name="Google Shape;1300;g289d46f6d46_0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3718753a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33718753a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your ruler and draw a line from the centre of the circle until you reach its circumference on the left. Keep your protractor as still as possible.</a:t>
            </a:r>
            <a:r>
              <a:rPr lang="en-GB" sz="1200">
                <a:solidFill>
                  <a:schemeClr val="dk1"/>
                </a:solidFill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your first angle value and find it on your protractor.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3718753a7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3718753a7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Keep your protractor as still as possible.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your first angle value and find it on your protractor.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3718753a76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4" name="Google Shape;1354;g33718753a7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Overlay the bottom centre of your protractor with the centre of the circle again. But this time, line up the 0° with the most recent line you just drew.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your second angle value and find it on your protractor.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 that location with a dot or a cross.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protractor and draw another line from centre to circumference.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289d46f6d46_0_2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8" name="Google Shape;1368;g289d46f6d46_0_2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sector you have created represents the second group of data in the table.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example, it is the green group.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 this sector green. The unlabelled sector should be the correct size for this last group.</a:t>
            </a:r>
            <a:endParaRPr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89d46f6d46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289d46f6d46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89d46f6d46_0_2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g289d46f6d46_0_2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89d46f6d46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g289d46f6d46_0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89d46f6d46_0_2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g289d46f6d46_0_2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89d46f6d46_0_2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g289d46f6d46_0_2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89d46f6d46_0_2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g289d46f6d46_0_2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89d46f6d46_0_2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g289d46f6d46_0_2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1e8761cb865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g1e8761cb865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99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9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9.png"/><Relationship Id="rId4" Type="http://schemas.openxmlformats.org/officeDocument/2006/relationships/image" Target="../media/image27.png"/><Relationship Id="rId11" Type="http://schemas.openxmlformats.org/officeDocument/2006/relationships/image" Target="../media/image14.png"/><Relationship Id="rId10" Type="http://schemas.openxmlformats.org/officeDocument/2006/relationships/image" Target="../media/image35.png"/><Relationship Id="rId9" Type="http://schemas.openxmlformats.org/officeDocument/2006/relationships/image" Target="../media/image32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99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99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_1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4"/>
          <p:cNvSpPr/>
          <p:nvPr/>
        </p:nvSpPr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sp>
      <p:pic>
        <p:nvPicPr>
          <p:cNvPr id="749" name="Google Shape;749;p6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64"/>
          <p:cNvSpPr/>
          <p:nvPr/>
        </p:nvSpPr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sp>
      <p:pic>
        <p:nvPicPr>
          <p:cNvPr id="751" name="Google Shape;751;p6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4"/>
          <p:cNvPicPr preferRelativeResize="0"/>
          <p:nvPr/>
        </p:nvPicPr>
        <p:blipFill rotWithShape="1">
          <a:blip r:embed="rId5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3" name="Google Shape;753;p64"/>
          <p:cNvCxnSpPr>
            <a:endCxn id="754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4" name="Google Shape;754;p64"/>
          <p:cNvSpPr/>
          <p:nvPr/>
        </p:nvSpPr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sp>
      <p:pic>
        <p:nvPicPr>
          <p:cNvPr id="755" name="Google Shape;755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7" name="Google Shape;757;p6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8" name="Google Shape;758;p6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8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8" name="Google Shape;768;p6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0" name="Google Shape;77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2">
    <p:bg>
      <p:bgPr>
        <a:solidFill>
          <a:srgbClr val="F3EEFB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6" name="Google Shape;776;p6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8" name="Google Shape;77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 1">
  <p:cSld name="TITLE_AND_TWO_COLUMNS_1_1_5_1_2_1_1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2">
  <p:cSld name="CUSTOM_3_2_2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6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/>
          <p:nvPr/>
        </p:nvSpPr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sp>
      <p:pic>
        <p:nvPicPr>
          <p:cNvPr id="789" name="Google Shape;789;p6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8"/>
          <p:cNvSpPr/>
          <p:nvPr/>
        </p:nvSpPr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sp>
      <p:pic>
        <p:nvPicPr>
          <p:cNvPr id="791" name="Google Shape;791;p6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8"/>
          <p:cNvPicPr preferRelativeResize="0"/>
          <p:nvPr/>
        </p:nvPicPr>
        <p:blipFill rotWithShape="1">
          <a:blip r:embed="rId5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3" name="Google Shape;793;p68"/>
          <p:cNvCxnSpPr>
            <a:endCxn id="794" idx="2"/>
          </p:cNvCxnSpPr>
          <p:nvPr/>
        </p:nvCxnSpPr>
        <p:spPr>
          <a:xfrm>
            <a:off x="647802" y="1841897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68"/>
          <p:cNvSpPr/>
          <p:nvPr/>
        </p:nvSpPr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sp>
      <p:pic>
        <p:nvPicPr>
          <p:cNvPr id="795" name="Google Shape;795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7" name="Google Shape;797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8" name="Google Shape;798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9" name="Google Shape;799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1" name="Google Shape;801;p68"/>
          <p:cNvPicPr preferRelativeResize="0"/>
          <p:nvPr/>
        </p:nvPicPr>
        <p:blipFill rotWithShape="1">
          <a:blip r:embed="rId8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 1">
  <p:cSld name="TITLE_AND_TWO_COLUMNS_1_1_5_1_3_1_2_2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8" name="Google Shape;808;p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11" name="Google Shape;81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 1">
  <p:cSld name="TITLE_AND_TWO_COLUMNS_1_1_5_1_3_1_2_1_1">
    <p:bg>
      <p:bgPr>
        <a:solidFill>
          <a:srgbClr val="EBEDFE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6" name="Google Shape;816;p70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8" name="Google Shape;818;p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9" name="Google Shape;81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27" name="Google Shape;82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2" name="Google Shape;832;p72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i="0" sz="2000" u="none" cap="none" strike="noStrike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4" name="Google Shape;834;p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i="0" sz="900" u="none" cap="none" strike="noStrik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5" name="Google Shape;83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7.png"/><Relationship Id="rId4" Type="http://schemas.openxmlformats.org/officeDocument/2006/relationships/image" Target="../media/image72.png"/><Relationship Id="rId5" Type="http://schemas.openxmlformats.org/officeDocument/2006/relationships/image" Target="../media/image6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1.png"/><Relationship Id="rId4" Type="http://schemas.openxmlformats.org/officeDocument/2006/relationships/image" Target="../media/image73.png"/><Relationship Id="rId5" Type="http://schemas.openxmlformats.org/officeDocument/2006/relationships/image" Target="../media/image6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1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8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84.png"/><Relationship Id="rId5" Type="http://schemas.openxmlformats.org/officeDocument/2006/relationships/image" Target="../media/image8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9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1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0.png"/><Relationship Id="rId4" Type="http://schemas.openxmlformats.org/officeDocument/2006/relationships/image" Target="../media/image42.png"/><Relationship Id="rId5" Type="http://schemas.openxmlformats.org/officeDocument/2006/relationships/image" Target="../media/image8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841" name="Google Shape;84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representations of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I can construct pie charts from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"/>
          <p:cNvSpPr txBox="1"/>
          <p:nvPr>
            <p:ph idx="2" type="subTitle"/>
          </p:nvPr>
        </p:nvSpPr>
        <p:spPr>
          <a:xfrm>
            <a:off x="324000" y="993650"/>
            <a:ext cx="47175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0" lang="en-GB"/>
              <a:t>A </a:t>
            </a:r>
            <a:r>
              <a:rPr lang="en-GB"/>
              <a:t>sector</a:t>
            </a:r>
            <a:r>
              <a:rPr b="0" lang="en-GB"/>
              <a:t> is the region formed between two radii and their connecting arc. </a:t>
            </a:r>
            <a:endParaRPr b="0"/>
          </a:p>
        </p:txBody>
      </p:sp>
      <p:pic>
        <p:nvPicPr>
          <p:cNvPr id="857" name="Google Shape;85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199986">
            <a:off x="5571801" y="1455297"/>
            <a:ext cx="2917349" cy="2752734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6"/>
          <p:cNvSpPr txBox="1"/>
          <p:nvPr>
            <p:ph idx="2" type="subTitle"/>
          </p:nvPr>
        </p:nvSpPr>
        <p:spPr>
          <a:xfrm>
            <a:off x="4252421" y="2985400"/>
            <a:ext cx="827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0" lang="en-GB" sz="1800"/>
              <a:t>sector</a:t>
            </a:r>
            <a:endParaRPr b="0" sz="1800"/>
          </a:p>
        </p:txBody>
      </p:sp>
      <p:cxnSp>
        <p:nvCxnSpPr>
          <p:cNvPr id="859" name="Google Shape;859;p76"/>
          <p:cNvCxnSpPr/>
          <p:nvPr/>
        </p:nvCxnSpPr>
        <p:spPr>
          <a:xfrm flipH="1" rot="10800000">
            <a:off x="5041519" y="2739768"/>
            <a:ext cx="12771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0" name="Google Shape;860;p76"/>
          <p:cNvSpPr txBox="1"/>
          <p:nvPr>
            <p:ph idx="2" type="subTitle"/>
          </p:nvPr>
        </p:nvSpPr>
        <p:spPr>
          <a:xfrm>
            <a:off x="5934821" y="4313000"/>
            <a:ext cx="827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0" lang="en-GB" sz="1800"/>
              <a:t>radius</a:t>
            </a:r>
            <a:endParaRPr b="0" sz="1800"/>
          </a:p>
        </p:txBody>
      </p:sp>
      <p:cxnSp>
        <p:nvCxnSpPr>
          <p:cNvPr id="861" name="Google Shape;861;p76"/>
          <p:cNvCxnSpPr/>
          <p:nvPr/>
        </p:nvCxnSpPr>
        <p:spPr>
          <a:xfrm flipH="1" rot="10800000">
            <a:off x="6410744" y="3327218"/>
            <a:ext cx="114000" cy="103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7708071" y="901500"/>
            <a:ext cx="827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b="0" lang="en-GB" sz="1800"/>
              <a:t>sector</a:t>
            </a:r>
            <a:endParaRPr b="0" sz="1800"/>
          </a:p>
        </p:txBody>
      </p:sp>
      <p:cxnSp>
        <p:nvCxnSpPr>
          <p:cNvPr id="863" name="Google Shape;863;p76"/>
          <p:cNvCxnSpPr/>
          <p:nvPr/>
        </p:nvCxnSpPr>
        <p:spPr>
          <a:xfrm flipH="1">
            <a:off x="7440575" y="1221000"/>
            <a:ext cx="648600" cy="100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 txBox="1"/>
          <p:nvPr>
            <p:ph idx="2" type="subTitle"/>
          </p:nvPr>
        </p:nvSpPr>
        <p:spPr>
          <a:xfrm>
            <a:off x="324000" y="1981825"/>
            <a:ext cx="6494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 sz="1800"/>
              <a:t>A pie chart (pie graph) </a:t>
            </a:r>
            <a:r>
              <a:rPr lang="en-GB" sz="1800"/>
              <a:t>is a circular graph where sectors represent different groups proportionally.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69" name="Google Shape;869;p77"/>
          <p:cNvSpPr txBox="1"/>
          <p:nvPr>
            <p:ph idx="3" type="subTitle"/>
          </p:nvPr>
        </p:nvSpPr>
        <p:spPr>
          <a:xfrm>
            <a:off x="324000" y="31000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b="1" lang="en-GB" sz="18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frequency is the number of times an event occurs; or the number of individuals (people, animals etc.) with some specific property. </a:t>
            </a:r>
            <a:endParaRPr sz="1800"/>
          </a:p>
        </p:txBody>
      </p:sp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6714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 sz="1800"/>
              <a:t>An </a:t>
            </a:r>
            <a:r>
              <a:rPr lang="en-GB" sz="1800"/>
              <a:t>angle is a measure of turn, it is often displayed as the rotation between two line segments. </a:t>
            </a:r>
            <a:endParaRPr sz="1800"/>
          </a:p>
        </p:txBody>
      </p:sp>
      <p:sp>
        <p:nvSpPr>
          <p:cNvPr id="871" name="Google Shape;871;p77"/>
          <p:cNvSpPr txBox="1"/>
          <p:nvPr>
            <p:ph idx="4" type="subTitle"/>
          </p:nvPr>
        </p:nvSpPr>
        <p:spPr>
          <a:xfrm>
            <a:off x="324000" y="40105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 sz="1800">
                <a:solidFill>
                  <a:schemeClr val="dk1"/>
                </a:solidFill>
              </a:rPr>
              <a:t>Degrees are the most common unit of measurement for angle. One whole turn is equal to 360 degrees, written 360° </a:t>
            </a:r>
            <a:endParaRPr sz="1800"/>
          </a:p>
        </p:txBody>
      </p:sp>
      <p:pic>
        <p:nvPicPr>
          <p:cNvPr id="872" name="Google Shape;87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11855">
            <a:off x="7151975" y="724000"/>
            <a:ext cx="903825" cy="91104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7"/>
          <p:cNvSpPr txBox="1"/>
          <p:nvPr>
            <p:ph idx="2" type="subTitle"/>
          </p:nvPr>
        </p:nvSpPr>
        <p:spPr>
          <a:xfrm>
            <a:off x="7755871" y="1538450"/>
            <a:ext cx="827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angle</a:t>
            </a:r>
            <a:endParaRPr b="0" sz="1800"/>
          </a:p>
        </p:txBody>
      </p:sp>
      <p:cxnSp>
        <p:nvCxnSpPr>
          <p:cNvPr id="874" name="Google Shape;874;p77"/>
          <p:cNvCxnSpPr/>
          <p:nvPr/>
        </p:nvCxnSpPr>
        <p:spPr>
          <a:xfrm rot="10800000">
            <a:off x="7189771" y="1431350"/>
            <a:ext cx="642300" cy="30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75" name="Google Shape;87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1985" y="1971638"/>
            <a:ext cx="974422" cy="9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881" name="Google Shape;881;p7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882" name="Google Shape;882;p7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pie charts</a:t>
            </a:r>
            <a:endParaRPr/>
          </a:p>
        </p:txBody>
      </p:sp>
      <p:pic>
        <p:nvPicPr>
          <p:cNvPr id="883" name="Google Shape;88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344" y="174863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9"/>
          <p:cNvSpPr txBox="1"/>
          <p:nvPr>
            <p:ph idx="1" type="body"/>
          </p:nvPr>
        </p:nvSpPr>
        <p:spPr>
          <a:xfrm>
            <a:off x="324000" y="759300"/>
            <a:ext cx="5655300" cy="4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is a pie chart.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90" name="Google Shape;890;p7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0282" y="1063075"/>
            <a:ext cx="2997843" cy="30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892" name="Google Shape;892;p79"/>
          <p:cNvSpPr txBox="1"/>
          <p:nvPr>
            <p:ph idx="1" type="body"/>
          </p:nvPr>
        </p:nvSpPr>
        <p:spPr>
          <a:xfrm>
            <a:off x="6786750" y="2946250"/>
            <a:ext cx="1344900" cy="4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sector 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93" name="Google Shape;893;p79"/>
          <p:cNvSpPr txBox="1"/>
          <p:nvPr>
            <p:ph idx="1" type="body"/>
          </p:nvPr>
        </p:nvSpPr>
        <p:spPr>
          <a:xfrm>
            <a:off x="6253365" y="1567030"/>
            <a:ext cx="1344900" cy="4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sector C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94" name="Google Shape;894;p79"/>
          <p:cNvSpPr txBox="1"/>
          <p:nvPr>
            <p:ph idx="1" type="body"/>
          </p:nvPr>
        </p:nvSpPr>
        <p:spPr>
          <a:xfrm>
            <a:off x="5979265" y="2247785"/>
            <a:ext cx="1344900" cy="4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sector B</a:t>
            </a:r>
            <a:endParaRPr sz="1800"/>
          </a:p>
        </p:txBody>
      </p:sp>
      <p:sp>
        <p:nvSpPr>
          <p:cNvPr id="895" name="Google Shape;895;p79"/>
          <p:cNvSpPr txBox="1"/>
          <p:nvPr>
            <p:ph idx="1" type="body"/>
          </p:nvPr>
        </p:nvSpPr>
        <p:spPr>
          <a:xfrm>
            <a:off x="7459190" y="1836320"/>
            <a:ext cx="1344900" cy="4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sector D</a:t>
            </a:r>
            <a:endParaRPr sz="1800"/>
          </a:p>
        </p:txBody>
      </p:sp>
      <p:sp>
        <p:nvSpPr>
          <p:cNvPr id="896" name="Google Shape;896;p79"/>
          <p:cNvSpPr/>
          <p:nvPr/>
        </p:nvSpPr>
        <p:spPr>
          <a:xfrm>
            <a:off x="7461925" y="2401238"/>
            <a:ext cx="168000" cy="16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9"/>
          <p:cNvSpPr txBox="1"/>
          <p:nvPr/>
        </p:nvSpPr>
        <p:spPr>
          <a:xfrm>
            <a:off x="324000" y="1982775"/>
            <a:ext cx="5227800" cy="1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whole pie chart represents the total frequency (or amount), everything in the dataset. 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9"/>
          <p:cNvSpPr txBox="1"/>
          <p:nvPr/>
        </p:nvSpPr>
        <p:spPr>
          <a:xfrm>
            <a:off x="242850" y="1202475"/>
            <a:ext cx="6253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what is the purpose of a pie chart?                          What does it represent?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9"/>
          <p:cNvSpPr txBox="1"/>
          <p:nvPr/>
        </p:nvSpPr>
        <p:spPr>
          <a:xfrm>
            <a:off x="324000" y="3240000"/>
            <a:ext cx="57858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size of each sector is proportional to the frequency (or value) of the group/category it represents - the bigger the sector, the higher the frequency (or amount).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80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1713" y="681448"/>
            <a:ext cx="2571775" cy="247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80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1713" y="681451"/>
            <a:ext cx="2571775" cy="247952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80"/>
          <p:cNvSpPr txBox="1"/>
          <p:nvPr>
            <p:ph idx="1" type="body"/>
          </p:nvPr>
        </p:nvSpPr>
        <p:spPr>
          <a:xfrm>
            <a:off x="324000" y="759300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 teacher asked a class of 10 students what their favourite colour was. These were the results.</a:t>
            </a:r>
            <a:endParaRPr sz="1800"/>
          </a:p>
        </p:txBody>
      </p:sp>
      <p:sp>
        <p:nvSpPr>
          <p:cNvPr id="907" name="Google Shape;90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908" name="Google Shape;908;p80"/>
          <p:cNvSpPr txBox="1"/>
          <p:nvPr>
            <p:ph idx="1" type="body"/>
          </p:nvPr>
        </p:nvSpPr>
        <p:spPr>
          <a:xfrm>
            <a:off x="324000" y="17830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845AD9"/>
                </a:solidFill>
              </a:rPr>
              <a:t>purple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909" name="Google Shape;909;p80"/>
          <p:cNvSpPr txBox="1"/>
          <p:nvPr>
            <p:ph idx="1" type="body"/>
          </p:nvPr>
        </p:nvSpPr>
        <p:spPr>
          <a:xfrm>
            <a:off x="1327670" y="17830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845AD9"/>
                </a:solidFill>
              </a:rPr>
              <a:t>purple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910" name="Google Shape;910;p80"/>
          <p:cNvSpPr txBox="1"/>
          <p:nvPr>
            <p:ph idx="1" type="body"/>
          </p:nvPr>
        </p:nvSpPr>
        <p:spPr>
          <a:xfrm>
            <a:off x="2331341" y="17830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845AD9"/>
                </a:solidFill>
              </a:rPr>
              <a:t>purple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911" name="Google Shape;911;p80"/>
          <p:cNvSpPr txBox="1"/>
          <p:nvPr>
            <p:ph idx="1" type="body"/>
          </p:nvPr>
        </p:nvSpPr>
        <p:spPr>
          <a:xfrm>
            <a:off x="3335011" y="17830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845AD9"/>
                </a:solidFill>
              </a:rPr>
              <a:t>purple</a:t>
            </a:r>
            <a:endParaRPr sz="2000">
              <a:solidFill>
                <a:srgbClr val="845AD9"/>
              </a:solidFill>
            </a:endParaRPr>
          </a:p>
        </p:txBody>
      </p:sp>
      <p:sp>
        <p:nvSpPr>
          <p:cNvPr id="912" name="Google Shape;912;p80"/>
          <p:cNvSpPr txBox="1"/>
          <p:nvPr>
            <p:ph idx="1" type="body"/>
          </p:nvPr>
        </p:nvSpPr>
        <p:spPr>
          <a:xfrm>
            <a:off x="792385" y="22156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037B7D"/>
                </a:solidFill>
              </a:rPr>
              <a:t>green</a:t>
            </a:r>
            <a:endParaRPr sz="2000">
              <a:solidFill>
                <a:srgbClr val="037B7D"/>
              </a:solidFill>
            </a:endParaRPr>
          </a:p>
        </p:txBody>
      </p:sp>
      <p:sp>
        <p:nvSpPr>
          <p:cNvPr id="913" name="Google Shape;913;p80"/>
          <p:cNvSpPr txBox="1"/>
          <p:nvPr>
            <p:ph idx="1" type="body"/>
          </p:nvPr>
        </p:nvSpPr>
        <p:spPr>
          <a:xfrm>
            <a:off x="1829506" y="22156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037B7D"/>
                </a:solidFill>
              </a:rPr>
              <a:t>green</a:t>
            </a:r>
            <a:endParaRPr sz="2000">
              <a:solidFill>
                <a:srgbClr val="037B7D"/>
              </a:solidFill>
            </a:endParaRPr>
          </a:p>
        </p:txBody>
      </p:sp>
      <p:sp>
        <p:nvSpPr>
          <p:cNvPr id="914" name="Google Shape;914;p80"/>
          <p:cNvSpPr txBox="1"/>
          <p:nvPr>
            <p:ph idx="1" type="body"/>
          </p:nvPr>
        </p:nvSpPr>
        <p:spPr>
          <a:xfrm>
            <a:off x="2866626" y="22156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037B7D"/>
                </a:solidFill>
              </a:rPr>
              <a:t>green</a:t>
            </a:r>
            <a:endParaRPr sz="2000">
              <a:solidFill>
                <a:srgbClr val="037B7D"/>
              </a:solidFill>
            </a:endParaRPr>
          </a:p>
        </p:txBody>
      </p:sp>
      <p:sp>
        <p:nvSpPr>
          <p:cNvPr id="915" name="Google Shape;915;p80"/>
          <p:cNvSpPr txBox="1"/>
          <p:nvPr>
            <p:ph idx="1" type="body"/>
          </p:nvPr>
        </p:nvSpPr>
        <p:spPr>
          <a:xfrm>
            <a:off x="1327670" y="26482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chemeClr val="accent3"/>
                </a:solidFill>
              </a:rPr>
              <a:t>pink</a:t>
            </a:r>
            <a:endParaRPr sz="2000">
              <a:solidFill>
                <a:schemeClr val="accent3"/>
              </a:solidFill>
            </a:endParaRPr>
          </a:p>
        </p:txBody>
      </p:sp>
      <p:sp>
        <p:nvSpPr>
          <p:cNvPr id="916" name="Google Shape;916;p80"/>
          <p:cNvSpPr txBox="1"/>
          <p:nvPr>
            <p:ph idx="1" type="body"/>
          </p:nvPr>
        </p:nvSpPr>
        <p:spPr>
          <a:xfrm>
            <a:off x="2331341" y="26482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D02AA7"/>
                </a:solidFill>
              </a:rPr>
              <a:t>pink</a:t>
            </a:r>
            <a:endParaRPr sz="2000">
              <a:solidFill>
                <a:srgbClr val="D02AA7"/>
              </a:solidFill>
            </a:endParaRPr>
          </a:p>
        </p:txBody>
      </p:sp>
      <p:sp>
        <p:nvSpPr>
          <p:cNvPr id="917" name="Google Shape;917;p80"/>
          <p:cNvSpPr txBox="1"/>
          <p:nvPr>
            <p:ph idx="1" type="body"/>
          </p:nvPr>
        </p:nvSpPr>
        <p:spPr>
          <a:xfrm>
            <a:off x="324000" y="3706500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The teacher then created a pie chart, split into 10 sectors, to visually represent this data.</a:t>
            </a:r>
            <a:endParaRPr sz="1800"/>
          </a:p>
        </p:txBody>
      </p:sp>
      <p:sp>
        <p:nvSpPr>
          <p:cNvPr id="918" name="Google Shape;918;p80"/>
          <p:cNvSpPr txBox="1"/>
          <p:nvPr>
            <p:ph idx="1" type="body"/>
          </p:nvPr>
        </p:nvSpPr>
        <p:spPr>
          <a:xfrm>
            <a:off x="1829506" y="3080869"/>
            <a:ext cx="90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374CF1"/>
                </a:solidFill>
              </a:rPr>
              <a:t>blue</a:t>
            </a:r>
            <a:endParaRPr sz="2000">
              <a:solidFill>
                <a:srgbClr val="374CF1"/>
              </a:solidFill>
            </a:endParaRPr>
          </a:p>
        </p:txBody>
      </p:sp>
      <p:sp>
        <p:nvSpPr>
          <p:cNvPr id="919" name="Google Shape;919;p80"/>
          <p:cNvSpPr txBox="1"/>
          <p:nvPr>
            <p:ph idx="1" type="body"/>
          </p:nvPr>
        </p:nvSpPr>
        <p:spPr>
          <a:xfrm>
            <a:off x="6249575" y="3925600"/>
            <a:ext cx="2464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sectors, because 4 people chose purple.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80"/>
          <p:cNvSpPr txBox="1"/>
          <p:nvPr>
            <p:ph idx="1" type="body"/>
          </p:nvPr>
        </p:nvSpPr>
        <p:spPr>
          <a:xfrm>
            <a:off x="5815050" y="3228925"/>
            <a:ext cx="2901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How many sectors should the teacher fill in purple?</a:t>
            </a:r>
            <a:endParaRPr sz="1800"/>
          </a:p>
        </p:txBody>
      </p:sp>
      <p:pic>
        <p:nvPicPr>
          <p:cNvPr id="921" name="Google Shape;921;p80" title="Chart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1725" y="681461"/>
            <a:ext cx="2571751" cy="2479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2" name="Google Shape;922;p80"/>
          <p:cNvGrpSpPr/>
          <p:nvPr/>
        </p:nvGrpSpPr>
        <p:grpSpPr>
          <a:xfrm>
            <a:off x="6181470" y="725020"/>
            <a:ext cx="2282426" cy="2347606"/>
            <a:chOff x="6181470" y="725020"/>
            <a:chExt cx="2282426" cy="2347606"/>
          </a:xfrm>
        </p:grpSpPr>
        <p:sp>
          <p:nvSpPr>
            <p:cNvPr id="923" name="Google Shape;923;p80"/>
            <p:cNvSpPr txBox="1"/>
            <p:nvPr/>
          </p:nvSpPr>
          <p:spPr>
            <a:xfrm rot="4320350">
              <a:off x="7110389" y="2407657"/>
              <a:ext cx="900232" cy="361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exend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green</a:t>
              </a:r>
              <a:endParaRPr/>
            </a:p>
          </p:txBody>
        </p:sp>
        <p:sp>
          <p:nvSpPr>
            <p:cNvPr id="924" name="Google Shape;924;p80"/>
            <p:cNvSpPr txBox="1"/>
            <p:nvPr/>
          </p:nvSpPr>
          <p:spPr>
            <a:xfrm rot="2159958">
              <a:off x="7437932" y="2122301"/>
              <a:ext cx="900344" cy="361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exend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purple</a:t>
              </a:r>
              <a:endParaRPr/>
            </a:p>
          </p:txBody>
        </p:sp>
        <p:sp>
          <p:nvSpPr>
            <p:cNvPr id="925" name="Google Shape;925;p80"/>
            <p:cNvSpPr txBox="1"/>
            <p:nvPr/>
          </p:nvSpPr>
          <p:spPr>
            <a:xfrm>
              <a:off x="7563596" y="1706675"/>
              <a:ext cx="9003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exend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purple</a:t>
              </a:r>
              <a:endParaRPr/>
            </a:p>
          </p:txBody>
        </p:sp>
        <p:sp>
          <p:nvSpPr>
            <p:cNvPr id="926" name="Google Shape;926;p80"/>
            <p:cNvSpPr txBox="1"/>
            <p:nvPr/>
          </p:nvSpPr>
          <p:spPr>
            <a:xfrm rot="-2159958">
              <a:off x="7436932" y="1286537"/>
              <a:ext cx="900344" cy="361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exend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purple</a:t>
              </a:r>
              <a:endParaRPr/>
            </a:p>
          </p:txBody>
        </p:sp>
        <p:sp>
          <p:nvSpPr>
            <p:cNvPr id="927" name="Google Shape;927;p80"/>
            <p:cNvSpPr txBox="1"/>
            <p:nvPr/>
          </p:nvSpPr>
          <p:spPr>
            <a:xfrm rot="-4320350">
              <a:off x="7067296" y="1028151"/>
              <a:ext cx="900232" cy="361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exend"/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purple</a:t>
              </a:r>
              <a:endParaRPr/>
            </a:p>
          </p:txBody>
        </p:sp>
        <p:grpSp>
          <p:nvGrpSpPr>
            <p:cNvPr id="928" name="Google Shape;928;p80"/>
            <p:cNvGrpSpPr/>
            <p:nvPr/>
          </p:nvGrpSpPr>
          <p:grpSpPr>
            <a:xfrm flipH="1">
              <a:off x="6181470" y="725020"/>
              <a:ext cx="1257584" cy="2347606"/>
              <a:chOff x="4947371" y="725020"/>
              <a:chExt cx="1257584" cy="2347606"/>
            </a:xfrm>
          </p:grpSpPr>
          <p:sp>
            <p:nvSpPr>
              <p:cNvPr id="929" name="Google Shape;929;p80"/>
              <p:cNvSpPr txBox="1"/>
              <p:nvPr/>
            </p:nvSpPr>
            <p:spPr>
              <a:xfrm rot="4320350">
                <a:off x="4851448" y="2407657"/>
                <a:ext cx="900232" cy="361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Lexend"/>
                  <a:buNone/>
                </a:pPr>
                <a:r>
                  <a:rPr b="0" i="0" lang="en-GB" sz="1600" u="none" cap="none" strike="noStrike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green</a:t>
                </a:r>
                <a:endParaRPr/>
              </a:p>
            </p:txBody>
          </p:sp>
          <p:sp>
            <p:nvSpPr>
              <p:cNvPr id="930" name="Google Shape;930;p80"/>
              <p:cNvSpPr txBox="1"/>
              <p:nvPr/>
            </p:nvSpPr>
            <p:spPr>
              <a:xfrm rot="2159958">
                <a:off x="5192845" y="2108447"/>
                <a:ext cx="900344" cy="3619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Lexend"/>
                  <a:buNone/>
                </a:pPr>
                <a:r>
                  <a:rPr b="0" i="0" lang="en-GB" sz="1600" u="none" cap="none" strike="noStrike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green</a:t>
                </a:r>
                <a:endParaRPr/>
              </a:p>
            </p:txBody>
          </p:sp>
          <p:sp>
            <p:nvSpPr>
              <p:cNvPr id="931" name="Google Shape;931;p80"/>
              <p:cNvSpPr txBox="1"/>
              <p:nvPr/>
            </p:nvSpPr>
            <p:spPr>
              <a:xfrm>
                <a:off x="5304655" y="1706675"/>
                <a:ext cx="900300" cy="36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Lexend"/>
                  <a:buNone/>
                </a:pPr>
                <a:r>
                  <a:rPr b="0" i="0" lang="en-GB" sz="1600" u="none" cap="none" strike="noStrike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pink</a:t>
                </a:r>
                <a:endParaRPr/>
              </a:p>
            </p:txBody>
          </p:sp>
          <p:sp>
            <p:nvSpPr>
              <p:cNvPr id="932" name="Google Shape;932;p80"/>
              <p:cNvSpPr txBox="1"/>
              <p:nvPr/>
            </p:nvSpPr>
            <p:spPr>
              <a:xfrm rot="-2159958">
                <a:off x="5177991" y="1286537"/>
                <a:ext cx="900344" cy="3619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Lexend"/>
                  <a:buNone/>
                </a:pPr>
                <a:r>
                  <a:rPr b="0" i="0" lang="en-GB" sz="1600" u="none" cap="none" strike="noStrike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pink</a:t>
                </a:r>
                <a:endParaRPr/>
              </a:p>
            </p:txBody>
          </p:sp>
          <p:sp>
            <p:nvSpPr>
              <p:cNvPr id="933" name="Google Shape;933;p80"/>
              <p:cNvSpPr txBox="1"/>
              <p:nvPr/>
            </p:nvSpPr>
            <p:spPr>
              <a:xfrm rot="-4320350">
                <a:off x="4808355" y="1028151"/>
                <a:ext cx="900232" cy="361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Lexend"/>
                  <a:buNone/>
                </a:pPr>
                <a:r>
                  <a:rPr b="0" i="0" lang="en-GB" sz="1600" u="none" cap="none" strike="noStrike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blue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81"/>
          <p:cNvPicPr preferRelativeResize="0"/>
          <p:nvPr/>
        </p:nvPicPr>
        <p:blipFill rotWithShape="1">
          <a:blip r:embed="rId3">
            <a:alphaModFix/>
          </a:blip>
          <a:srcRect b="3427" l="3436" r="3427" t="3436"/>
          <a:stretch/>
        </p:blipFill>
        <p:spPr>
          <a:xfrm>
            <a:off x="6600725" y="2603150"/>
            <a:ext cx="1891568" cy="19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81"/>
          <p:cNvSpPr txBox="1"/>
          <p:nvPr>
            <p:ph idx="1" type="body"/>
          </p:nvPr>
        </p:nvSpPr>
        <p:spPr>
          <a:xfrm>
            <a:off x="944900" y="716375"/>
            <a:ext cx="4787700" cy="15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If the frequency of the data and the number of sectors in the pie chart are different, you have to use </a:t>
            </a:r>
            <a:r>
              <a:rPr lang="en-GB" sz="1800">
                <a:solidFill>
                  <a:schemeClr val="accent4"/>
                </a:solidFill>
              </a:rPr>
              <a:t>proportional </a:t>
            </a:r>
            <a:r>
              <a:rPr lang="en-GB" sz="1800">
                <a:solidFill>
                  <a:schemeClr val="accent4"/>
                </a:solidFill>
              </a:rPr>
              <a:t>reasoning</a:t>
            </a:r>
            <a:r>
              <a:rPr lang="en-GB" sz="1800"/>
              <a:t> </a:t>
            </a:r>
            <a:r>
              <a:rPr lang="en-GB" sz="1800"/>
              <a:t>to find out how many pieces of data go into one sector!</a:t>
            </a:r>
            <a:endParaRPr/>
          </a:p>
        </p:txBody>
      </p:sp>
      <p:sp>
        <p:nvSpPr>
          <p:cNvPr id="940" name="Google Shape;94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Introduction to pie charts</a:t>
            </a:r>
            <a:endParaRPr/>
          </a:p>
        </p:txBody>
      </p:sp>
      <p:graphicFrame>
        <p:nvGraphicFramePr>
          <p:cNvPr id="941" name="Google Shape;941;p81"/>
          <p:cNvGraphicFramePr/>
          <p:nvPr/>
        </p:nvGraphicFramePr>
        <p:xfrm>
          <a:off x="5732538" y="7489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543725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solidFill>
                            <a:srgbClr val="845AD9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solidFill>
                            <a:srgbClr val="037B7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solidFill>
                            <a:schemeClr val="accent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pink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solidFill>
                            <a:srgbClr val="374CF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42" name="Google Shape;942;p81"/>
          <p:cNvSpPr txBox="1"/>
          <p:nvPr>
            <p:ph idx="1" type="body"/>
          </p:nvPr>
        </p:nvSpPr>
        <p:spPr>
          <a:xfrm>
            <a:off x="1285600" y="2666875"/>
            <a:ext cx="546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frequency would one sector represent?</a:t>
            </a:r>
            <a:endParaRPr sz="1800"/>
          </a:p>
        </p:txBody>
      </p:sp>
      <p:sp>
        <p:nvSpPr>
          <p:cNvPr id="943" name="Google Shape;943;p81"/>
          <p:cNvSpPr txBox="1"/>
          <p:nvPr>
            <p:ph idx="1" type="body"/>
          </p:nvPr>
        </p:nvSpPr>
        <p:spPr>
          <a:xfrm>
            <a:off x="4890625" y="3395316"/>
            <a:ext cx="171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sector represents a frequency of 15.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44" name="Google Shape;944;p81"/>
          <p:cNvGraphicFramePr/>
          <p:nvPr/>
        </p:nvGraphicFramePr>
        <p:xfrm>
          <a:off x="652551" y="3329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822475"/>
                <a:gridCol w="1319575"/>
                <a:gridCol w="1029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sectors</a:t>
                      </a:r>
                      <a:endParaRPr b="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45" name="Google Shape;945;p81"/>
          <p:cNvSpPr txBox="1"/>
          <p:nvPr/>
        </p:nvSpPr>
        <p:spPr>
          <a:xfrm>
            <a:off x="2474721" y="4071501"/>
            <a:ext cx="1320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6" name="Google Shape;946;p81"/>
          <p:cNvSpPr txBox="1"/>
          <p:nvPr/>
        </p:nvSpPr>
        <p:spPr>
          <a:xfrm>
            <a:off x="2474721" y="3700676"/>
            <a:ext cx="1320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180</a:t>
            </a:r>
            <a:endParaRPr/>
          </a:p>
        </p:txBody>
      </p:sp>
      <p:sp>
        <p:nvSpPr>
          <p:cNvPr id="947" name="Google Shape;947;p81"/>
          <p:cNvSpPr txBox="1"/>
          <p:nvPr/>
        </p:nvSpPr>
        <p:spPr>
          <a:xfrm>
            <a:off x="3794599" y="3700676"/>
            <a:ext cx="1029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/>
          </a:p>
        </p:txBody>
      </p:sp>
      <p:sp>
        <p:nvSpPr>
          <p:cNvPr id="948" name="Google Shape;948;p81"/>
          <p:cNvSpPr txBox="1"/>
          <p:nvPr/>
        </p:nvSpPr>
        <p:spPr>
          <a:xfrm>
            <a:off x="3794849" y="4071501"/>
            <a:ext cx="1028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1"/>
          <p:cNvSpPr txBox="1"/>
          <p:nvPr>
            <p:ph idx="1" type="body"/>
          </p:nvPr>
        </p:nvSpPr>
        <p:spPr>
          <a:xfrm>
            <a:off x="324000" y="3101400"/>
            <a:ext cx="98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Andeep</a:t>
            </a:r>
            <a:endParaRPr sz="1800"/>
          </a:p>
        </p:txBody>
      </p:sp>
      <p:sp>
        <p:nvSpPr>
          <p:cNvPr id="950" name="Google Shape;950;p81"/>
          <p:cNvSpPr txBox="1"/>
          <p:nvPr/>
        </p:nvSpPr>
        <p:spPr>
          <a:xfrm>
            <a:off x="652551" y="4071491"/>
            <a:ext cx="1822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one sector</a:t>
            </a:r>
            <a:endParaRPr/>
          </a:p>
        </p:txBody>
      </p:sp>
      <p:grpSp>
        <p:nvGrpSpPr>
          <p:cNvPr id="951" name="Google Shape;951;p81"/>
          <p:cNvGrpSpPr/>
          <p:nvPr/>
        </p:nvGrpSpPr>
        <p:grpSpPr>
          <a:xfrm>
            <a:off x="3288975" y="4401651"/>
            <a:ext cx="944900" cy="401800"/>
            <a:chOff x="3136575" y="3319588"/>
            <a:chExt cx="944900" cy="401800"/>
          </a:xfrm>
        </p:grpSpPr>
        <p:sp>
          <p:nvSpPr>
            <p:cNvPr id="952" name="Google Shape;952;p81"/>
            <p:cNvSpPr/>
            <p:nvPr/>
          </p:nvSpPr>
          <p:spPr>
            <a:xfrm rot="10800000">
              <a:off x="3136575" y="3319588"/>
              <a:ext cx="944900" cy="149074"/>
            </a:xfrm>
            <a:custGeom>
              <a:rect b="b" l="l" r="r" t="t"/>
              <a:pathLst>
                <a:path extrusionOk="0" h="5813" w="23810">
                  <a:moveTo>
                    <a:pt x="0" y="5508"/>
                  </a:moveTo>
                  <a:cubicBezTo>
                    <a:pt x="1933" y="4592"/>
                    <a:pt x="7631" y="-38"/>
                    <a:pt x="11599" y="13"/>
                  </a:cubicBezTo>
                  <a:cubicBezTo>
                    <a:pt x="15567" y="64"/>
                    <a:pt x="21775" y="4846"/>
                    <a:pt x="23810" y="5813"/>
                  </a:cubicBezTo>
                </a:path>
              </a:pathLst>
            </a:cu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953" name="Google Shape;953;p81"/>
            <p:cNvSpPr txBox="1"/>
            <p:nvPr/>
          </p:nvSpPr>
          <p:spPr>
            <a:xfrm flipH="1">
              <a:off x="3219926" y="3442688"/>
              <a:ext cx="778200" cy="27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 15 </a:t>
              </a:r>
              <a:endParaRPr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954" name="Google Shape;954;p81"/>
          <p:cNvPicPr preferRelativeResize="0"/>
          <p:nvPr/>
        </p:nvPicPr>
        <p:blipFill rotWithShape="1">
          <a:blip r:embed="rId4">
            <a:alphaModFix/>
          </a:blip>
          <a:srcRect b="0" l="19673" r="19679" t="0"/>
          <a:stretch/>
        </p:blipFill>
        <p:spPr>
          <a:xfrm>
            <a:off x="324000" y="2393722"/>
            <a:ext cx="638349" cy="707676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1"/>
          <p:cNvSpPr/>
          <p:nvPr/>
        </p:nvSpPr>
        <p:spPr>
          <a:xfrm>
            <a:off x="3809950" y="2589700"/>
            <a:ext cx="1243200" cy="48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6" name="Google Shape;956;p8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42050" y="637837"/>
            <a:ext cx="5175475" cy="20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2"/>
          <p:cNvSpPr txBox="1"/>
          <p:nvPr>
            <p:ph idx="1" type="body"/>
          </p:nvPr>
        </p:nvSpPr>
        <p:spPr>
          <a:xfrm>
            <a:off x="324000" y="759300"/>
            <a:ext cx="472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 headteacher collects information from all students at the school.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headteacher then represents all this data in a pie chart with 9 sectors.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Each sector represents 20 students.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How many students are at this school?</a:t>
            </a:r>
            <a:endParaRPr sz="1800"/>
          </a:p>
        </p:txBody>
      </p:sp>
      <p:sp>
        <p:nvSpPr>
          <p:cNvPr id="962" name="Google Shape;96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pie charts</a:t>
            </a:r>
            <a:endParaRPr/>
          </a:p>
        </p:txBody>
      </p:sp>
      <p:pic>
        <p:nvPicPr>
          <p:cNvPr id="963" name="Google Shape;963;p82"/>
          <p:cNvPicPr preferRelativeResize="0"/>
          <p:nvPr/>
        </p:nvPicPr>
        <p:blipFill rotWithShape="1">
          <a:blip r:embed="rId3">
            <a:alphaModFix/>
          </a:blip>
          <a:srcRect b="4085" l="4095" r="4085" t="4095"/>
          <a:stretch/>
        </p:blipFill>
        <p:spPr>
          <a:xfrm>
            <a:off x="5458950" y="1125400"/>
            <a:ext cx="3217674" cy="31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2"/>
          <p:cNvSpPr txBox="1"/>
          <p:nvPr>
            <p:ph idx="1" type="body"/>
          </p:nvPr>
        </p:nvSpPr>
        <p:spPr>
          <a:xfrm>
            <a:off x="6390975" y="1473250"/>
            <a:ext cx="67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5" name="Google Shape;965;p82"/>
          <p:cNvSpPr txBox="1"/>
          <p:nvPr>
            <p:ph idx="1" type="body"/>
          </p:nvPr>
        </p:nvSpPr>
        <p:spPr>
          <a:xfrm>
            <a:off x="7069875" y="1473250"/>
            <a:ext cx="67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6" name="Google Shape;966;p82"/>
          <p:cNvSpPr txBox="1"/>
          <p:nvPr>
            <p:ph idx="1" type="body"/>
          </p:nvPr>
        </p:nvSpPr>
        <p:spPr>
          <a:xfrm>
            <a:off x="5526375" y="3306550"/>
            <a:ext cx="154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7" name="Google Shape;967;p82"/>
          <p:cNvSpPr txBox="1"/>
          <p:nvPr>
            <p:ph idx="1" type="body"/>
          </p:nvPr>
        </p:nvSpPr>
        <p:spPr>
          <a:xfrm>
            <a:off x="7069865" y="3306550"/>
            <a:ext cx="154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82"/>
          <p:cNvSpPr txBox="1"/>
          <p:nvPr>
            <p:ph idx="1" type="body"/>
          </p:nvPr>
        </p:nvSpPr>
        <p:spPr>
          <a:xfrm>
            <a:off x="6674932" y="3443985"/>
            <a:ext cx="785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82"/>
          <p:cNvSpPr txBox="1"/>
          <p:nvPr>
            <p:ph idx="1" type="body"/>
          </p:nvPr>
        </p:nvSpPr>
        <p:spPr>
          <a:xfrm>
            <a:off x="5715000" y="2571750"/>
            <a:ext cx="596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82"/>
          <p:cNvSpPr txBox="1"/>
          <p:nvPr>
            <p:ph idx="1" type="body"/>
          </p:nvPr>
        </p:nvSpPr>
        <p:spPr>
          <a:xfrm>
            <a:off x="7828817" y="2571750"/>
            <a:ext cx="596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82"/>
          <p:cNvSpPr txBox="1"/>
          <p:nvPr>
            <p:ph idx="1" type="body"/>
          </p:nvPr>
        </p:nvSpPr>
        <p:spPr>
          <a:xfrm>
            <a:off x="6012024" y="1836950"/>
            <a:ext cx="46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82"/>
          <p:cNvSpPr txBox="1"/>
          <p:nvPr>
            <p:ph idx="1" type="body"/>
          </p:nvPr>
        </p:nvSpPr>
        <p:spPr>
          <a:xfrm>
            <a:off x="7662470" y="1836950"/>
            <a:ext cx="4653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82"/>
          <p:cNvSpPr txBox="1"/>
          <p:nvPr>
            <p:ph idx="1" type="body"/>
          </p:nvPr>
        </p:nvSpPr>
        <p:spPr>
          <a:xfrm>
            <a:off x="1526054" y="3823900"/>
            <a:ext cx="2693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× 9 = 180 students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979" name="Google Shape;979;p83"/>
          <p:cNvSpPr txBox="1"/>
          <p:nvPr>
            <p:ph idx="1" type="body"/>
          </p:nvPr>
        </p:nvSpPr>
        <p:spPr>
          <a:xfrm>
            <a:off x="324000" y="3627600"/>
            <a:ext cx="4080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teacher wants each sector of data to represent 4 students.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How many sectors are needed?</a:t>
            </a:r>
            <a:endParaRPr sz="1800"/>
          </a:p>
        </p:txBody>
      </p:sp>
      <p:graphicFrame>
        <p:nvGraphicFramePr>
          <p:cNvPr id="980" name="Google Shape;980;p83"/>
          <p:cNvGraphicFramePr/>
          <p:nvPr/>
        </p:nvGraphicFramePr>
        <p:xfrm>
          <a:off x="668038" y="22199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543725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b="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981" name="Google Shape;981;p83"/>
          <p:cNvSpPr txBox="1"/>
          <p:nvPr>
            <p:ph idx="1" type="body"/>
          </p:nvPr>
        </p:nvSpPr>
        <p:spPr>
          <a:xfrm>
            <a:off x="324000" y="759300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 teacher asked a class if they wanted the class noticeboard to be decorated in their favourite colour.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table show the results.</a:t>
            </a:r>
            <a:endParaRPr sz="1800"/>
          </a:p>
        </p:txBody>
      </p:sp>
      <p:graphicFrame>
        <p:nvGraphicFramePr>
          <p:cNvPr id="982" name="Google Shape;982;p83"/>
          <p:cNvGraphicFramePr/>
          <p:nvPr/>
        </p:nvGraphicFramePr>
        <p:xfrm>
          <a:off x="4433750" y="22199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298825"/>
                <a:gridCol w="1418325"/>
                <a:gridCol w="991925"/>
              </a:tblGrid>
              <a:tr h="35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E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EEF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E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EEF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frequency</a:t>
                      </a:r>
                      <a:endParaRPr b="0"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EEF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sectors</a:t>
                      </a:r>
                      <a:endParaRPr b="0"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otal 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EEF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35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983" name="Google Shape;983;p83"/>
          <p:cNvSpPr txBox="1"/>
          <p:nvPr/>
        </p:nvSpPr>
        <p:spPr>
          <a:xfrm>
            <a:off x="5732700" y="3008525"/>
            <a:ext cx="1418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students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3"/>
          <p:cNvSpPr txBox="1"/>
          <p:nvPr/>
        </p:nvSpPr>
        <p:spPr>
          <a:xfrm>
            <a:off x="5732700" y="2637700"/>
            <a:ext cx="1418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 students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3"/>
          <p:cNvSpPr txBox="1"/>
          <p:nvPr/>
        </p:nvSpPr>
        <p:spPr>
          <a:xfrm>
            <a:off x="7150900" y="2637700"/>
            <a:ext cx="991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86" name="Google Shape;986;p83"/>
          <p:cNvGrpSpPr/>
          <p:nvPr/>
        </p:nvGrpSpPr>
        <p:grpSpPr>
          <a:xfrm flipH="1" rot="5400000">
            <a:off x="8120354" y="2650588"/>
            <a:ext cx="753868" cy="634367"/>
            <a:chOff x="9682975" y="3468497"/>
            <a:chExt cx="1190381" cy="634367"/>
          </a:xfrm>
        </p:grpSpPr>
        <p:sp>
          <p:nvSpPr>
            <p:cNvPr id="987" name="Google Shape;987;p83"/>
            <p:cNvSpPr/>
            <p:nvPr/>
          </p:nvSpPr>
          <p:spPr>
            <a:xfrm>
              <a:off x="9682975" y="3957539"/>
              <a:ext cx="1190381" cy="145325"/>
            </a:xfrm>
            <a:custGeom>
              <a:rect b="b" l="l" r="r" t="t"/>
              <a:pathLst>
                <a:path extrusionOk="0" h="5813" w="23810">
                  <a:moveTo>
                    <a:pt x="0" y="5508"/>
                  </a:moveTo>
                  <a:cubicBezTo>
                    <a:pt x="1933" y="4592"/>
                    <a:pt x="7631" y="-38"/>
                    <a:pt x="11599" y="13"/>
                  </a:cubicBezTo>
                  <a:cubicBezTo>
                    <a:pt x="15567" y="64"/>
                    <a:pt x="21775" y="4846"/>
                    <a:pt x="23810" y="5813"/>
                  </a:cubicBezTo>
                </a:path>
              </a:pathLst>
            </a:cu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988" name="Google Shape;988;p83"/>
            <p:cNvSpPr txBox="1"/>
            <p:nvPr/>
          </p:nvSpPr>
          <p:spPr>
            <a:xfrm flipH="1" rot="5400000">
              <a:off x="10059332" y="3546497"/>
              <a:ext cx="4626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 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11</a:t>
              </a:r>
              <a:endParaRPr b="0" i="0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89" name="Google Shape;989;p83"/>
          <p:cNvSpPr txBox="1"/>
          <p:nvPr/>
        </p:nvSpPr>
        <p:spPr>
          <a:xfrm>
            <a:off x="4433750" y="3008525"/>
            <a:ext cx="1298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20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 one sector</a:t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83"/>
          <p:cNvSpPr txBox="1"/>
          <p:nvPr/>
        </p:nvSpPr>
        <p:spPr>
          <a:xfrm>
            <a:off x="7150900" y="3008525"/>
            <a:ext cx="9918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83"/>
          <p:cNvSpPr txBox="1"/>
          <p:nvPr>
            <p:ph idx="1" type="body"/>
          </p:nvPr>
        </p:nvSpPr>
        <p:spPr>
          <a:xfrm>
            <a:off x="5732449" y="3605600"/>
            <a:ext cx="2410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sectors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Description automatically generated with medium confidence" id="996" name="Google Shape;99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664" y="1726984"/>
            <a:ext cx="1127192" cy="1090831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4"/>
          <p:cNvSpPr txBox="1"/>
          <p:nvPr>
            <p:ph idx="1" type="body"/>
          </p:nvPr>
        </p:nvSpPr>
        <p:spPr>
          <a:xfrm>
            <a:off x="323998" y="690720"/>
            <a:ext cx="84963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</a:t>
            </a:r>
            <a:r>
              <a:rPr lang="en-GB" sz="1800"/>
              <a:t>) Izzy collects data on whether there was air frost on 150 days between October and February.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following table of results is represented in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1800"/>
            </a:br>
            <a:r>
              <a:rPr lang="en-GB" sz="1800"/>
              <a:t>Each sector of the pie chart represents 6 days worth of data. </a:t>
            </a:r>
            <a:br>
              <a:rPr lang="en-GB" sz="1800"/>
            </a:br>
            <a:r>
              <a:rPr lang="en-GB" sz="1800"/>
              <a:t>How</a:t>
            </a:r>
            <a:r>
              <a:rPr lang="en-GB" sz="1800"/>
              <a:t> many sectors should there be altogether?</a:t>
            </a:r>
            <a:endParaRPr/>
          </a:p>
        </p:txBody>
      </p:sp>
      <p:sp>
        <p:nvSpPr>
          <p:cNvPr id="998" name="Google Shape;99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Introduction to pie charts</a:t>
            </a:r>
            <a:endParaRPr/>
          </a:p>
        </p:txBody>
      </p:sp>
      <p:graphicFrame>
        <p:nvGraphicFramePr>
          <p:cNvPr id="999" name="Google Shape;999;p84"/>
          <p:cNvGraphicFramePr/>
          <p:nvPr/>
        </p:nvGraphicFramePr>
        <p:xfrm>
          <a:off x="3442196" y="17269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543725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air frost?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0" name="Google Shape;1000;p84"/>
          <p:cNvSpPr txBox="1"/>
          <p:nvPr>
            <p:ph idx="1" type="body"/>
          </p:nvPr>
        </p:nvSpPr>
        <p:spPr>
          <a:xfrm>
            <a:off x="2479650" y="2839513"/>
            <a:ext cx="81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Izzy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Description automatically generated with medium confidence" id="1005" name="Google Shape;100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136" y="1719564"/>
            <a:ext cx="617430" cy="1165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85"/>
          <p:cNvSpPr txBox="1"/>
          <p:nvPr>
            <p:ph idx="1" type="body"/>
          </p:nvPr>
        </p:nvSpPr>
        <p:spPr>
          <a:xfrm>
            <a:off x="323998" y="690720"/>
            <a:ext cx="84963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</a:t>
            </a:r>
            <a:r>
              <a:rPr lang="en-GB" sz="1800"/>
              <a:t>) Aisha collects data on the number of days that had over 2 hours of sun per day on 160 days between April and September.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following table of results is represented in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1800"/>
            </a:b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Aisha draws a pie chart. </a:t>
            </a:r>
            <a:r>
              <a:rPr lang="en-GB" sz="1800"/>
              <a:t>27</a:t>
            </a:r>
            <a:r>
              <a:rPr lang="en-GB" sz="1800"/>
              <a:t> sectors of her pie chart represent the number of days that did have over 2 hours of sunshine. </a:t>
            </a:r>
            <a:br>
              <a:rPr lang="en-GB" sz="1800"/>
            </a:br>
            <a:r>
              <a:rPr lang="en-GB" sz="1800"/>
              <a:t>How many sectors does Aisha’s pie chart have in total?</a:t>
            </a:r>
            <a:endParaRPr/>
          </a:p>
        </p:txBody>
      </p:sp>
      <p:sp>
        <p:nvSpPr>
          <p:cNvPr id="1007" name="Google Shape;1007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Introduction to pie charts</a:t>
            </a:r>
            <a:endParaRPr/>
          </a:p>
        </p:txBody>
      </p:sp>
      <p:graphicFrame>
        <p:nvGraphicFramePr>
          <p:cNvPr id="1008" name="Google Shape;1008;p85"/>
          <p:cNvGraphicFramePr/>
          <p:nvPr/>
        </p:nvGraphicFramePr>
        <p:xfrm>
          <a:off x="3176471" y="1670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over 2 hours?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9" name="Google Shape;1009;p85"/>
          <p:cNvSpPr txBox="1"/>
          <p:nvPr>
            <p:ph idx="1" type="body"/>
          </p:nvPr>
        </p:nvSpPr>
        <p:spPr>
          <a:xfrm>
            <a:off x="2155300" y="2856404"/>
            <a:ext cx="81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Aisha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Description automatically generated with medium confidence" id="1014" name="Google Shape;1014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729" y="780184"/>
            <a:ext cx="894177" cy="10358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6"/>
          <p:cNvSpPr txBox="1"/>
          <p:nvPr>
            <p:ph idx="1" type="body"/>
          </p:nvPr>
        </p:nvSpPr>
        <p:spPr>
          <a:xfrm>
            <a:off x="323998" y="690720"/>
            <a:ext cx="58140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</a:t>
            </a:r>
            <a:r>
              <a:rPr lang="en-GB" sz="1800"/>
              <a:t>) Alex collects data on the number of days in January (31 days) that had snowfall.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Alex wants to represent this data on a pie chart with 8 equal-sized sectors.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a) Explain why it is impossible for Alex to represent this data in a pie chart with 8 equal-sized sectors.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b) Explain whether it is possible for Alex to represent this data in a pie chart with any number of equal-sized sectors.</a:t>
            </a:r>
            <a:endParaRPr/>
          </a:p>
        </p:txBody>
      </p:sp>
      <p:sp>
        <p:nvSpPr>
          <p:cNvPr id="1016" name="Google Shape;1016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Introduction to pie charts</a:t>
            </a:r>
            <a:endParaRPr/>
          </a:p>
        </p:txBody>
      </p:sp>
      <p:graphicFrame>
        <p:nvGraphicFramePr>
          <p:cNvPr id="1017" name="Google Shape;1017;p86"/>
          <p:cNvGraphicFramePr/>
          <p:nvPr/>
        </p:nvGraphicFramePr>
        <p:xfrm>
          <a:off x="6138144" y="2397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296000"/>
                <a:gridCol w="1385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snowfall?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18" name="Google Shape;101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095" y="640324"/>
            <a:ext cx="1597906" cy="1540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6"/>
          <p:cNvSpPr txBox="1"/>
          <p:nvPr>
            <p:ph idx="1" type="body"/>
          </p:nvPr>
        </p:nvSpPr>
        <p:spPr>
          <a:xfrm>
            <a:off x="6407000" y="1816029"/>
            <a:ext cx="81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Alex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1025" name="Google Shape;1025;p87"/>
          <p:cNvSpPr txBox="1"/>
          <p:nvPr/>
        </p:nvSpPr>
        <p:spPr>
          <a:xfrm>
            <a:off x="3442198" y="4474572"/>
            <a:ext cx="2887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150 ÷ 6 = 25 sectors</a:t>
            </a:r>
            <a:endParaRPr/>
          </a:p>
        </p:txBody>
      </p:sp>
      <p:sp>
        <p:nvSpPr>
          <p:cNvPr id="1026" name="Google Shape;1026;p87"/>
          <p:cNvSpPr txBox="1"/>
          <p:nvPr>
            <p:ph idx="1" type="body"/>
          </p:nvPr>
        </p:nvSpPr>
        <p:spPr>
          <a:xfrm>
            <a:off x="324000" y="690723"/>
            <a:ext cx="84963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</a:t>
            </a:r>
            <a:r>
              <a:rPr lang="en-GB" sz="1800"/>
              <a:t>) Izzy collects data on whether there was air frost on 150 days between October and February.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following table of results is represented in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1800"/>
            </a:br>
            <a:r>
              <a:rPr lang="en-GB" sz="1800"/>
              <a:t>Each sector of the pie chart represents 6 days worth of data. </a:t>
            </a:r>
            <a:br>
              <a:rPr lang="en-GB" sz="1800"/>
            </a:br>
            <a:r>
              <a:rPr lang="en-GB" sz="1800"/>
              <a:t>How</a:t>
            </a:r>
            <a:r>
              <a:rPr lang="en-GB" sz="1800"/>
              <a:t> many sectors should there be altogether?</a:t>
            </a:r>
            <a:endParaRPr/>
          </a:p>
        </p:txBody>
      </p:sp>
      <p:graphicFrame>
        <p:nvGraphicFramePr>
          <p:cNvPr id="1027" name="Google Shape;1027;p87"/>
          <p:cNvGraphicFramePr/>
          <p:nvPr/>
        </p:nvGraphicFramePr>
        <p:xfrm>
          <a:off x="3442196" y="17269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543725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air frost?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pic>
        <p:nvPicPr>
          <p:cNvPr descr="A black background with a black square&#10;&#10;Description automatically generated with medium confidence" id="1028" name="Google Shape;102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664" y="1726984"/>
            <a:ext cx="1127192" cy="1090831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7"/>
          <p:cNvSpPr txBox="1"/>
          <p:nvPr>
            <p:ph idx="1" type="body"/>
          </p:nvPr>
        </p:nvSpPr>
        <p:spPr>
          <a:xfrm>
            <a:off x="2479650" y="2839513"/>
            <a:ext cx="81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Izzy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1035" name="Google Shape;1035;p88"/>
          <p:cNvSpPr txBox="1"/>
          <p:nvPr/>
        </p:nvSpPr>
        <p:spPr>
          <a:xfrm>
            <a:off x="494150" y="4445700"/>
            <a:ext cx="3507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135 ÷ 27 = 5 days per sector</a:t>
            </a:r>
            <a:endParaRPr/>
          </a:p>
        </p:txBody>
      </p:sp>
      <p:sp>
        <p:nvSpPr>
          <p:cNvPr id="1036" name="Google Shape;1036;p88"/>
          <p:cNvSpPr txBox="1"/>
          <p:nvPr/>
        </p:nvSpPr>
        <p:spPr>
          <a:xfrm>
            <a:off x="4436372" y="4461584"/>
            <a:ext cx="3902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160 total days ÷ 5 = 32 total sectors</a:t>
            </a:r>
            <a:endParaRPr/>
          </a:p>
        </p:txBody>
      </p:sp>
      <p:pic>
        <p:nvPicPr>
          <p:cNvPr descr="A black background with a black square&#10;&#10;Description automatically generated with medium confidence" id="1037" name="Google Shape;103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136" y="1719564"/>
            <a:ext cx="617430" cy="11658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8" name="Google Shape;1038;p88"/>
          <p:cNvGraphicFramePr/>
          <p:nvPr/>
        </p:nvGraphicFramePr>
        <p:xfrm>
          <a:off x="3176471" y="16700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over 2 hours?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1039" name="Google Shape;1039;p88"/>
          <p:cNvSpPr txBox="1"/>
          <p:nvPr>
            <p:ph idx="1" type="body"/>
          </p:nvPr>
        </p:nvSpPr>
        <p:spPr>
          <a:xfrm>
            <a:off x="323998" y="690720"/>
            <a:ext cx="84963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</a:t>
            </a:r>
            <a:r>
              <a:rPr lang="en-GB" sz="1800"/>
              <a:t>) Aisha collects data on the number of days that had over 2 hours of sun per day on 160 days between April and September.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following table of results is represented in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lang="en-GB" sz="1800"/>
            </a:b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Aisha draws a pie chart. </a:t>
            </a:r>
            <a:r>
              <a:rPr lang="en-GB" sz="1800"/>
              <a:t>27</a:t>
            </a:r>
            <a:r>
              <a:rPr lang="en-GB" sz="1800"/>
              <a:t> sectors of her pie chart represent the number of days that did have over 2 hours of sunshine. </a:t>
            </a:r>
            <a:br>
              <a:rPr lang="en-GB" sz="1800"/>
            </a:br>
            <a:r>
              <a:rPr lang="en-GB" sz="1800"/>
              <a:t>How many sectors does Aisha’s pie chart have in total?</a:t>
            </a:r>
            <a:endParaRPr/>
          </a:p>
        </p:txBody>
      </p:sp>
      <p:sp>
        <p:nvSpPr>
          <p:cNvPr id="1040" name="Google Shape;1040;p88"/>
          <p:cNvSpPr txBox="1"/>
          <p:nvPr>
            <p:ph idx="1" type="body"/>
          </p:nvPr>
        </p:nvSpPr>
        <p:spPr>
          <a:xfrm>
            <a:off x="2155300" y="2856404"/>
            <a:ext cx="81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Aisha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Description automatically generated with medium confidence" id="1045" name="Google Shape;1045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729" y="780184"/>
            <a:ext cx="894177" cy="10358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Introduction to pie charts</a:t>
            </a:r>
            <a:endParaRPr/>
          </a:p>
        </p:txBody>
      </p:sp>
      <p:graphicFrame>
        <p:nvGraphicFramePr>
          <p:cNvPr id="1047" name="Google Shape;1047;p89"/>
          <p:cNvGraphicFramePr/>
          <p:nvPr/>
        </p:nvGraphicFramePr>
        <p:xfrm>
          <a:off x="6138144" y="2397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{F459124C-0E11-48AA-9B86-E389934B79CD}</a:tableStyleId>
              </a:tblPr>
              <a:tblGrid>
                <a:gridCol w="1296000"/>
                <a:gridCol w="1385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snowfall?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pic>
        <p:nvPicPr>
          <p:cNvPr id="1048" name="Google Shape;1048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095" y="640324"/>
            <a:ext cx="1597906" cy="1540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89"/>
          <p:cNvSpPr txBox="1"/>
          <p:nvPr>
            <p:ph idx="1" type="body"/>
          </p:nvPr>
        </p:nvSpPr>
        <p:spPr>
          <a:xfrm>
            <a:off x="323998" y="690720"/>
            <a:ext cx="58140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</a:t>
            </a:r>
            <a:r>
              <a:rPr lang="en-GB" sz="1800"/>
              <a:t>) Alex collects data on the number of days in January (31 days) that had snowfall.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Alex wants to represent this data on a pie chart with 8 equal-sized sectors.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a) Explain why it is impossible for Alex to represent this data in a pie chart with 8 equal-sized sectors.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b) Explain whether it is possible for Alex to represent this data in a pie chart with any number of equal-sized sectors.</a:t>
            </a:r>
            <a:endParaRPr/>
          </a:p>
        </p:txBody>
      </p:sp>
      <p:sp>
        <p:nvSpPr>
          <p:cNvPr id="1050" name="Google Shape;1050;p89"/>
          <p:cNvSpPr txBox="1"/>
          <p:nvPr/>
        </p:nvSpPr>
        <p:spPr>
          <a:xfrm>
            <a:off x="1085998" y="3029240"/>
            <a:ext cx="5052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31 ÷ 8 does not give an integer answer.</a:t>
            </a:r>
            <a:endParaRPr/>
          </a:p>
        </p:txBody>
      </p:sp>
      <p:sp>
        <p:nvSpPr>
          <p:cNvPr id="1051" name="Google Shape;1051;p89"/>
          <p:cNvSpPr txBox="1"/>
          <p:nvPr/>
        </p:nvSpPr>
        <p:spPr>
          <a:xfrm>
            <a:off x="6100843" y="3592328"/>
            <a:ext cx="2362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only possible if the pie chart is split into a multiple of 31 sectors.</a:t>
            </a:r>
            <a:endParaRPr/>
          </a:p>
        </p:txBody>
      </p:sp>
      <p:sp>
        <p:nvSpPr>
          <p:cNvPr id="1052" name="Google Shape;1052;p89"/>
          <p:cNvSpPr txBox="1"/>
          <p:nvPr>
            <p:ph idx="1" type="body"/>
          </p:nvPr>
        </p:nvSpPr>
        <p:spPr>
          <a:xfrm>
            <a:off x="6407000" y="1816029"/>
            <a:ext cx="815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Alex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1058" name="Google Shape;1058;p9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059" name="Google Shape;1059;p9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pie charts</a:t>
            </a:r>
            <a:endParaRPr/>
          </a:p>
        </p:txBody>
      </p:sp>
      <p:pic>
        <p:nvPicPr>
          <p:cNvPr id="1060" name="Google Shape;106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64" y="276608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6" name="Google Shape;1066;p91"/>
          <p:cNvGraphicFramePr/>
          <p:nvPr/>
        </p:nvGraphicFramePr>
        <p:xfrm>
          <a:off x="346869" y="2843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67" name="Google Shape;1067;p91"/>
          <p:cNvSpPr txBox="1"/>
          <p:nvPr>
            <p:ph idx="1" type="body"/>
          </p:nvPr>
        </p:nvSpPr>
        <p:spPr>
          <a:xfrm>
            <a:off x="324000" y="675473"/>
            <a:ext cx="8496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T</a:t>
            </a:r>
            <a:r>
              <a:rPr lang="en-GB" sz="1800"/>
              <a:t>o draw a pie chart for any set of data (especially larger datasets), we need to start by calculating </a:t>
            </a:r>
            <a:r>
              <a:rPr lang="en-GB" sz="1800"/>
              <a:t>the </a:t>
            </a:r>
            <a:r>
              <a:rPr lang="en-GB" sz="1800"/>
              <a:t>angle for each sector. Then you have to:</a:t>
            </a:r>
            <a:endParaRPr sz="1800"/>
          </a:p>
        </p:txBody>
      </p:sp>
      <p:sp>
        <p:nvSpPr>
          <p:cNvPr id="1068" name="Google Shape;1068;p91"/>
          <p:cNvSpPr txBox="1"/>
          <p:nvPr>
            <p:ph idx="1" type="body"/>
          </p:nvPr>
        </p:nvSpPr>
        <p:spPr>
          <a:xfrm>
            <a:off x="4023600" y="3920175"/>
            <a:ext cx="4796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2) use the fact that a full pie chart contains 360°.</a:t>
            </a:r>
            <a:endParaRPr sz="1800"/>
          </a:p>
        </p:txBody>
      </p:sp>
      <p:sp>
        <p:nvSpPr>
          <p:cNvPr id="1069" name="Google Shape;106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graphicFrame>
        <p:nvGraphicFramePr>
          <p:cNvPr id="1070" name="Google Shape;1070;p91"/>
          <p:cNvGraphicFramePr/>
          <p:nvPr/>
        </p:nvGraphicFramePr>
        <p:xfrm>
          <a:off x="346869" y="13597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transport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</a:t>
                      </a:r>
                      <a:r>
                        <a:rPr b="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b="0"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71" name="Google Shape;1071;p91"/>
          <p:cNvSpPr txBox="1"/>
          <p:nvPr>
            <p:ph idx="1" type="body"/>
          </p:nvPr>
        </p:nvSpPr>
        <p:spPr>
          <a:xfrm>
            <a:off x="4023600" y="1503900"/>
            <a:ext cx="47964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 find the total frequency or total value of your dataset </a:t>
            </a:r>
            <a:r>
              <a:rPr lang="en-GB" sz="1800"/>
              <a:t>(in this case total distance)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It helps to add this as an extra row to your table.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In this example, the total distance is                    </a:t>
            </a:r>
            <a:r>
              <a:rPr lang="en-GB" sz="1800">
                <a:solidFill>
                  <a:srgbClr val="037B7D"/>
                </a:solidFill>
              </a:rPr>
              <a:t>11 + 8 + 16 + 5 = 40</a:t>
            </a:r>
            <a:endParaRPr sz="1800">
              <a:solidFill>
                <a:srgbClr val="037B7D"/>
              </a:solidFill>
            </a:endParaRPr>
          </a:p>
        </p:txBody>
      </p:sp>
      <p:grpSp>
        <p:nvGrpSpPr>
          <p:cNvPr id="1072" name="Google Shape;1072;p91"/>
          <p:cNvGrpSpPr/>
          <p:nvPr/>
        </p:nvGrpSpPr>
        <p:grpSpPr>
          <a:xfrm>
            <a:off x="315225" y="3222924"/>
            <a:ext cx="1858800" cy="438276"/>
            <a:chOff x="315225" y="3527724"/>
            <a:chExt cx="1858800" cy="438276"/>
          </a:xfrm>
        </p:grpSpPr>
        <p:sp>
          <p:nvSpPr>
            <p:cNvPr id="1073" name="Google Shape;1073;p91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91"/>
            <p:cNvSpPr/>
            <p:nvPr/>
          </p:nvSpPr>
          <p:spPr>
            <a:xfrm>
              <a:off x="315225" y="3856200"/>
              <a:ext cx="1858800" cy="10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9" name="Google Shape;1079;p92"/>
          <p:cNvGraphicFramePr/>
          <p:nvPr/>
        </p:nvGraphicFramePr>
        <p:xfrm>
          <a:off x="346869" y="1131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transport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istance </a:t>
                      </a:r>
                      <a:r>
                        <a:rPr b="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0" name="Google Shape;1080;p92"/>
          <p:cNvGraphicFramePr/>
          <p:nvPr/>
        </p:nvGraphicFramePr>
        <p:xfrm>
          <a:off x="3726669" y="1131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715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1" name="Google Shape;108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082" name="Google Shape;1082;p92"/>
          <p:cNvSpPr txBox="1"/>
          <p:nvPr/>
        </p:nvSpPr>
        <p:spPr>
          <a:xfrm>
            <a:off x="346875" y="3017175"/>
            <a:ext cx="1783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p92"/>
          <p:cNvCxnSpPr/>
          <p:nvPr/>
        </p:nvCxnSpPr>
        <p:spPr>
          <a:xfrm rot="10800000">
            <a:off x="5518925" y="1406325"/>
            <a:ext cx="448500" cy="28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4" name="Google Shape;1084;p92"/>
          <p:cNvSpPr txBox="1"/>
          <p:nvPr>
            <p:ph idx="1" type="body"/>
          </p:nvPr>
        </p:nvSpPr>
        <p:spPr>
          <a:xfrm>
            <a:off x="5967425" y="1502825"/>
            <a:ext cx="2666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It also helps to draw an extra angles column.</a:t>
            </a:r>
            <a:endParaRPr sz="2000"/>
          </a:p>
        </p:txBody>
      </p:sp>
      <p:sp>
        <p:nvSpPr>
          <p:cNvPr id="1085" name="Google Shape;1085;p92"/>
          <p:cNvSpPr txBox="1"/>
          <p:nvPr>
            <p:ph idx="1" type="body"/>
          </p:nvPr>
        </p:nvSpPr>
        <p:spPr>
          <a:xfrm>
            <a:off x="5967425" y="2700000"/>
            <a:ext cx="26667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This modifies the frequency table into a ratio table, which allows us to apply proportional reasoning.</a:t>
            </a:r>
            <a:endParaRPr sz="2000"/>
          </a:p>
        </p:txBody>
      </p:sp>
      <p:grpSp>
        <p:nvGrpSpPr>
          <p:cNvPr id="1086" name="Google Shape;1086;p92"/>
          <p:cNvGrpSpPr/>
          <p:nvPr/>
        </p:nvGrpSpPr>
        <p:grpSpPr>
          <a:xfrm>
            <a:off x="309752" y="2999490"/>
            <a:ext cx="1858800" cy="438276"/>
            <a:chOff x="315225" y="3527724"/>
            <a:chExt cx="1858800" cy="438276"/>
          </a:xfrm>
        </p:grpSpPr>
        <p:sp>
          <p:nvSpPr>
            <p:cNvPr id="1087" name="Google Shape;1087;p92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92"/>
            <p:cNvSpPr/>
            <p:nvPr/>
          </p:nvSpPr>
          <p:spPr>
            <a:xfrm>
              <a:off x="315225" y="3856200"/>
              <a:ext cx="1858800" cy="10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3" name="Google Shape;1093;p93"/>
          <p:cNvGraphicFramePr/>
          <p:nvPr/>
        </p:nvGraphicFramePr>
        <p:xfrm>
          <a:off x="346869" y="1131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transport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istance </a:t>
                      </a:r>
                      <a:r>
                        <a:rPr b="0"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94" name="Google Shape;1094;p93"/>
          <p:cNvSpPr/>
          <p:nvPr/>
        </p:nvSpPr>
        <p:spPr>
          <a:xfrm flipH="1" rot="10800000">
            <a:off x="2985950" y="3399475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graphicFrame>
        <p:nvGraphicFramePr>
          <p:cNvPr id="1095" name="Google Shape;1095;p93"/>
          <p:cNvGraphicFramePr/>
          <p:nvPr/>
        </p:nvGraphicFramePr>
        <p:xfrm>
          <a:off x="3726669" y="11319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715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96" name="Google Shape;109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097" name="Google Shape;1097;p93"/>
          <p:cNvSpPr txBox="1"/>
          <p:nvPr>
            <p:ph idx="1" type="body"/>
          </p:nvPr>
        </p:nvSpPr>
        <p:spPr>
          <a:xfrm>
            <a:off x="324000" y="721200"/>
            <a:ext cx="8574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total pie chart of 360° represents all 40 pieces of data.</a:t>
            </a:r>
            <a:endParaRPr sz="1800"/>
          </a:p>
        </p:txBody>
      </p:sp>
      <p:sp>
        <p:nvSpPr>
          <p:cNvPr id="1098" name="Google Shape;1098;p93"/>
          <p:cNvSpPr txBox="1"/>
          <p:nvPr>
            <p:ph idx="1" type="body"/>
          </p:nvPr>
        </p:nvSpPr>
        <p:spPr>
          <a:xfrm>
            <a:off x="5518600" y="3012757"/>
            <a:ext cx="33015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multiplier is 9.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means we multiply a distance by 9 to get its associated angle.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93"/>
          <p:cNvSpPr txBox="1"/>
          <p:nvPr>
            <p:ph idx="1" type="body"/>
          </p:nvPr>
        </p:nvSpPr>
        <p:spPr>
          <a:xfrm>
            <a:off x="5889125" y="2223000"/>
            <a:ext cx="2931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360 ÷ 40 = 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93"/>
          <p:cNvSpPr txBox="1"/>
          <p:nvPr>
            <p:ph idx="1" type="body"/>
          </p:nvPr>
        </p:nvSpPr>
        <p:spPr>
          <a:xfrm>
            <a:off x="3811367" y="1873675"/>
            <a:ext cx="2271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× </a:t>
            </a:r>
            <a:r>
              <a:rPr lang="en-GB" sz="20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72°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1" name="Google Shape;1101;p93"/>
          <p:cNvSpPr txBox="1"/>
          <p:nvPr>
            <p:ph idx="1" type="body"/>
          </p:nvPr>
        </p:nvSpPr>
        <p:spPr>
          <a:xfrm>
            <a:off x="3811367" y="2240175"/>
            <a:ext cx="2271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 × </a:t>
            </a:r>
            <a:r>
              <a:rPr lang="en-GB" sz="20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144°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2" name="Google Shape;1102;p93"/>
          <p:cNvSpPr txBox="1"/>
          <p:nvPr>
            <p:ph idx="1" type="body"/>
          </p:nvPr>
        </p:nvSpPr>
        <p:spPr>
          <a:xfrm>
            <a:off x="3811367" y="2615275"/>
            <a:ext cx="2271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× </a:t>
            </a:r>
            <a:r>
              <a:rPr lang="en-GB" sz="20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45°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3" name="Google Shape;1103;p93"/>
          <p:cNvSpPr txBox="1"/>
          <p:nvPr/>
        </p:nvSpPr>
        <p:spPr>
          <a:xfrm>
            <a:off x="438375" y="4161250"/>
            <a:ext cx="4016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99 + 72 + 144 + 45 = 360°,               which confirms it is a full pie chart.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93"/>
          <p:cNvSpPr txBox="1"/>
          <p:nvPr>
            <p:ph idx="1" type="body"/>
          </p:nvPr>
        </p:nvSpPr>
        <p:spPr>
          <a:xfrm>
            <a:off x="3811150" y="1502825"/>
            <a:ext cx="22719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 × </a:t>
            </a:r>
            <a:r>
              <a:rPr lang="en-GB" sz="20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99°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5" name="Google Shape;1105;p93"/>
          <p:cNvSpPr txBox="1"/>
          <p:nvPr/>
        </p:nvSpPr>
        <p:spPr>
          <a:xfrm>
            <a:off x="4420750" y="2986075"/>
            <a:ext cx="643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360°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93"/>
          <p:cNvSpPr txBox="1"/>
          <p:nvPr>
            <p:ph idx="1" type="body"/>
          </p:nvPr>
        </p:nvSpPr>
        <p:spPr>
          <a:xfrm>
            <a:off x="5518600" y="1175400"/>
            <a:ext cx="3379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multiplier links the total distance of 40 to the total angle of 360°?</a:t>
            </a:r>
            <a:endParaRPr sz="1800"/>
          </a:p>
        </p:txBody>
      </p:sp>
      <p:sp>
        <p:nvSpPr>
          <p:cNvPr id="1107" name="Google Shape;1107;p93"/>
          <p:cNvSpPr/>
          <p:nvPr/>
        </p:nvSpPr>
        <p:spPr>
          <a:xfrm>
            <a:off x="3760875" y="1536050"/>
            <a:ext cx="1657200" cy="1404300"/>
          </a:xfrm>
          <a:prstGeom prst="roundRect">
            <a:avLst>
              <a:gd fmla="val 8163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3"/>
          <p:cNvSpPr txBox="1"/>
          <p:nvPr/>
        </p:nvSpPr>
        <p:spPr>
          <a:xfrm>
            <a:off x="2302000" y="3595950"/>
            <a:ext cx="25833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Unknown multiplier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3"/>
          <p:cNvSpPr txBox="1"/>
          <p:nvPr/>
        </p:nvSpPr>
        <p:spPr>
          <a:xfrm>
            <a:off x="2302000" y="3605014"/>
            <a:ext cx="25833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9</a:t>
            </a:r>
            <a:endParaRPr b="0" i="0" sz="2000" u="none" cap="none" strike="noStrike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10" name="Google Shape;1110;p93"/>
          <p:cNvGrpSpPr/>
          <p:nvPr/>
        </p:nvGrpSpPr>
        <p:grpSpPr>
          <a:xfrm>
            <a:off x="309752" y="2999490"/>
            <a:ext cx="1858800" cy="438276"/>
            <a:chOff x="315225" y="3527724"/>
            <a:chExt cx="1858800" cy="438276"/>
          </a:xfrm>
        </p:grpSpPr>
        <p:sp>
          <p:nvSpPr>
            <p:cNvPr id="1111" name="Google Shape;1111;p93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93"/>
            <p:cNvSpPr/>
            <p:nvPr/>
          </p:nvSpPr>
          <p:spPr>
            <a:xfrm>
              <a:off x="315225" y="3856200"/>
              <a:ext cx="1858800" cy="10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3" name="Google Shape;1113;p93"/>
          <p:cNvSpPr/>
          <p:nvPr/>
        </p:nvSpPr>
        <p:spPr>
          <a:xfrm>
            <a:off x="2182875" y="2977525"/>
            <a:ext cx="2872500" cy="370800"/>
          </a:xfrm>
          <a:prstGeom prst="roundRect">
            <a:avLst>
              <a:gd fmla="val 8163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93"/>
          <p:cNvSpPr txBox="1"/>
          <p:nvPr/>
        </p:nvSpPr>
        <p:spPr>
          <a:xfrm>
            <a:off x="346875" y="3017175"/>
            <a:ext cx="1783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textcolor{#037b7d}{360\div132\ =}&quot;&gt;&lt;mstyle mathcolor=&quot;#037b7d&quot;&gt;&lt;mn&gt;360&lt;/mn&gt;&lt;mo&gt;÷&lt;/mo&gt;&lt;mn&gt;132&lt;/mn&gt;&lt;mtext&gt;&lt;/mtext&gt;&lt;mo&gt;=&lt;/mo&gt;&lt;/mstyle&gt;&lt;/math&gt;" id="1119" name="Google Shape;1119;p94" title="360 divided by 132 equals"/>
          <p:cNvPicPr preferRelativeResize="0"/>
          <p:nvPr/>
        </p:nvPicPr>
        <p:blipFill rotWithShape="1">
          <a:blip r:embed="rId3">
            <a:alphaModFix/>
          </a:blip>
          <a:srcRect b="0" l="86627" r="0" t="0"/>
          <a:stretch/>
        </p:blipFill>
        <p:spPr>
          <a:xfrm>
            <a:off x="4597974" y="1473125"/>
            <a:ext cx="171425" cy="17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037b7d}{360\div132\ =}&quot;&gt;&lt;mstyle mathcolor=&quot;#037b7d&quot;&gt;&lt;mn&gt;360&lt;/mn&gt;&lt;mo&gt;÷&lt;/mo&gt;&lt;mn&gt;132&lt;/mn&gt;&lt;mtext&gt;&lt;/mtext&gt;&lt;mo&gt;=&lt;/mo&gt;&lt;/mstyle&gt;&lt;/math&gt;" id="1120" name="Google Shape;1120;p94" title="360 divided by 132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338" y="1473134"/>
            <a:ext cx="1281900" cy="17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11}&quot;&gt;&lt;mfrac&gt;&lt;mn&gt;30&lt;/mn&gt;&lt;mn&gt;11&lt;/mn&gt;&lt;/mfrac&gt;&lt;/math&gt;" id="1121" name="Google Shape;1121;p94" title="30 over 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8559" y="1304531"/>
            <a:ext cx="279311" cy="503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60}{132}&quot;&gt;&lt;mfrac&gt;&lt;mn&gt;360&lt;/mn&gt;&lt;mn&gt;132&lt;/mn&gt;&lt;/mfrac&gt;&lt;/math&gt;" id="1122" name="Google Shape;1122;p94" title="360 over 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6184" y="1297181"/>
            <a:ext cx="400591" cy="51084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3" name="Google Shape;1123;p94"/>
          <p:cNvGraphicFramePr/>
          <p:nvPr/>
        </p:nvGraphicFramePr>
        <p:xfrm>
          <a:off x="270669" y="1990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836000"/>
                <a:gridCol w="154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fuel-type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petrol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diesel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electric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4" name="Google Shape;1124;p94"/>
          <p:cNvGraphicFramePr/>
          <p:nvPr/>
        </p:nvGraphicFramePr>
        <p:xfrm>
          <a:off x="3650469" y="1990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715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25" name="Google Shape;112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126" name="Google Shape;1126;p94"/>
          <p:cNvSpPr txBox="1"/>
          <p:nvPr>
            <p:ph idx="1" type="body"/>
          </p:nvPr>
        </p:nvSpPr>
        <p:spPr>
          <a:xfrm>
            <a:off x="324000" y="665784"/>
            <a:ext cx="8496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Sometimes</a:t>
            </a:r>
            <a:r>
              <a:rPr lang="en-GB" sz="1800"/>
              <a:t> the multiplier will be a fraction. It is possible to use division to find the multiplier.</a:t>
            </a:r>
            <a:endParaRPr sz="1800"/>
          </a:p>
        </p:txBody>
      </p:sp>
      <p:sp>
        <p:nvSpPr>
          <p:cNvPr id="1127" name="Google Shape;1127;p94"/>
          <p:cNvSpPr txBox="1"/>
          <p:nvPr>
            <p:ph idx="1" type="body"/>
          </p:nvPr>
        </p:nvSpPr>
        <p:spPr>
          <a:xfrm>
            <a:off x="5594800" y="1402450"/>
            <a:ext cx="3225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angles on a pie chart, round to the nearest half degree.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can’t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more precise than this using your protractor.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94"/>
          <p:cNvSpPr txBox="1"/>
          <p:nvPr>
            <p:ph idx="1" type="body"/>
          </p:nvPr>
        </p:nvSpPr>
        <p:spPr>
          <a:xfrm>
            <a:off x="3735173" y="2732650"/>
            <a:ext cx="1631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94"/>
          <p:cNvSpPr txBox="1"/>
          <p:nvPr>
            <p:ph idx="1" type="body"/>
          </p:nvPr>
        </p:nvSpPr>
        <p:spPr>
          <a:xfrm>
            <a:off x="3735173" y="3099150"/>
            <a:ext cx="1631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43.5°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94"/>
          <p:cNvSpPr txBox="1"/>
          <p:nvPr>
            <p:ph idx="1" type="body"/>
          </p:nvPr>
        </p:nvSpPr>
        <p:spPr>
          <a:xfrm>
            <a:off x="3735173" y="3474250"/>
            <a:ext cx="1631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94"/>
          <p:cNvSpPr txBox="1"/>
          <p:nvPr/>
        </p:nvSpPr>
        <p:spPr>
          <a:xfrm>
            <a:off x="5440375" y="3536938"/>
            <a:ext cx="33798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</a:t>
            </a:r>
            <a:r>
              <a:rPr b="0" i="0" lang="en-GB" sz="19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+ 150 + 4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</a:t>
            </a:r>
            <a:r>
              <a:rPr b="0" i="0" lang="en-GB" sz="19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+ 3 = 36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b="0" i="0" lang="en-GB" sz="19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b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94"/>
          <p:cNvSpPr txBox="1"/>
          <p:nvPr>
            <p:ph idx="1" type="body"/>
          </p:nvPr>
        </p:nvSpPr>
        <p:spPr>
          <a:xfrm>
            <a:off x="3734950" y="2361800"/>
            <a:ext cx="1631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163.5°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94"/>
          <p:cNvSpPr txBox="1"/>
          <p:nvPr/>
        </p:nvSpPr>
        <p:spPr>
          <a:xfrm>
            <a:off x="4239600" y="3845050"/>
            <a:ext cx="1152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360°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94"/>
          <p:cNvSpPr/>
          <p:nvPr/>
        </p:nvSpPr>
        <p:spPr>
          <a:xfrm>
            <a:off x="4023827" y="2400250"/>
            <a:ext cx="1045500" cy="1404300"/>
          </a:xfrm>
          <a:prstGeom prst="roundRect">
            <a:avLst>
              <a:gd fmla="val 8163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4"/>
          <p:cNvSpPr txBox="1"/>
          <p:nvPr/>
        </p:nvSpPr>
        <p:spPr>
          <a:xfrm>
            <a:off x="2225800" y="4454934"/>
            <a:ext cx="25833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Unknown multiplier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6" name="Google Shape;1136;p94"/>
          <p:cNvGrpSpPr/>
          <p:nvPr/>
        </p:nvGrpSpPr>
        <p:grpSpPr>
          <a:xfrm>
            <a:off x="3306042" y="4431981"/>
            <a:ext cx="369889" cy="301654"/>
            <a:chOff x="3382242" y="4431981"/>
            <a:chExt cx="369889" cy="301654"/>
          </a:xfrm>
        </p:grpSpPr>
        <p:sp>
          <p:nvSpPr>
            <p:cNvPr id="1137" name="Google Shape;1137;p94"/>
            <p:cNvSpPr txBox="1"/>
            <p:nvPr/>
          </p:nvSpPr>
          <p:spPr>
            <a:xfrm>
              <a:off x="3382242" y="4431981"/>
              <a:ext cx="2355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</a:t>
              </a:r>
              <a:endParaRPr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1}&quot;&gt;&lt;mfrac&gt;&lt;mn&gt;30&lt;/mn&gt;&lt;mn&gt;11&lt;/mn&gt;&lt;/mfrac&gt;&lt;/math&gt;" id="1138" name="Google Shape;1138;p94" title="30 over 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0859" y="4442921"/>
              <a:ext cx="161272" cy="2907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9" name="Google Shape;1139;p94"/>
          <p:cNvGrpSpPr/>
          <p:nvPr/>
        </p:nvGrpSpPr>
        <p:grpSpPr>
          <a:xfrm>
            <a:off x="3235498" y="2395517"/>
            <a:ext cx="628200" cy="301654"/>
            <a:chOff x="3382242" y="4431981"/>
            <a:chExt cx="628200" cy="301654"/>
          </a:xfrm>
        </p:grpSpPr>
        <p:sp>
          <p:nvSpPr>
            <p:cNvPr id="1140" name="Google Shape;1140;p94"/>
            <p:cNvSpPr txBox="1"/>
            <p:nvPr/>
          </p:nvSpPr>
          <p:spPr>
            <a:xfrm>
              <a:off x="3382242" y="4431981"/>
              <a:ext cx="628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</a:t>
              </a: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≈</a:t>
              </a:r>
              <a:endParaRPr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1}&quot;&gt;&lt;mfrac&gt;&lt;mn&gt;30&lt;/mn&gt;&lt;mn&gt;11&lt;/mn&gt;&lt;/mfrac&gt;&lt;/math&gt;" id="1141" name="Google Shape;1141;p94" title="30 over 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0859" y="4442921"/>
              <a:ext cx="161272" cy="2907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2" name="Google Shape;1142;p94"/>
          <p:cNvGrpSpPr/>
          <p:nvPr/>
        </p:nvGrpSpPr>
        <p:grpSpPr>
          <a:xfrm>
            <a:off x="3235497" y="2766861"/>
            <a:ext cx="687600" cy="301654"/>
            <a:chOff x="3382241" y="4431981"/>
            <a:chExt cx="687600" cy="301654"/>
          </a:xfrm>
        </p:grpSpPr>
        <p:sp>
          <p:nvSpPr>
            <p:cNvPr id="1143" name="Google Shape;1143;p94"/>
            <p:cNvSpPr txBox="1"/>
            <p:nvPr/>
          </p:nvSpPr>
          <p:spPr>
            <a:xfrm>
              <a:off x="3382241" y="4431981"/>
              <a:ext cx="6876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    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=</a:t>
              </a: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1}&quot;&gt;&lt;mfrac&gt;&lt;mn&gt;30&lt;/mn&gt;&lt;mn&gt;11&lt;/mn&gt;&lt;/mfrac&gt;&lt;/math&gt;" id="1144" name="Google Shape;1144;p94" title="30 over 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0859" y="4442921"/>
              <a:ext cx="161272" cy="2907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5" name="Google Shape;1145;p94"/>
          <p:cNvGrpSpPr/>
          <p:nvPr/>
        </p:nvGrpSpPr>
        <p:grpSpPr>
          <a:xfrm>
            <a:off x="3235497" y="3138206"/>
            <a:ext cx="654900" cy="301654"/>
            <a:chOff x="3382241" y="4431981"/>
            <a:chExt cx="654900" cy="301654"/>
          </a:xfrm>
        </p:grpSpPr>
        <p:sp>
          <p:nvSpPr>
            <p:cNvPr id="1146" name="Google Shape;1146;p94"/>
            <p:cNvSpPr txBox="1"/>
            <p:nvPr/>
          </p:nvSpPr>
          <p:spPr>
            <a:xfrm>
              <a:off x="3382241" y="4431981"/>
              <a:ext cx="6549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    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≈</a:t>
              </a: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1}&quot;&gt;&lt;mfrac&gt;&lt;mn&gt;30&lt;/mn&gt;&lt;mn&gt;11&lt;/mn&gt;&lt;/mfrac&gt;&lt;/math&gt;" id="1147" name="Google Shape;1147;p94" title="30 over 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0859" y="4442921"/>
              <a:ext cx="161272" cy="2907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8" name="Google Shape;1148;p94"/>
          <p:cNvGrpSpPr/>
          <p:nvPr/>
        </p:nvGrpSpPr>
        <p:grpSpPr>
          <a:xfrm>
            <a:off x="3235498" y="3509550"/>
            <a:ext cx="687600" cy="301654"/>
            <a:chOff x="3382242" y="4431981"/>
            <a:chExt cx="687600" cy="301654"/>
          </a:xfrm>
        </p:grpSpPr>
        <p:sp>
          <p:nvSpPr>
            <p:cNvPr id="1149" name="Google Shape;1149;p94"/>
            <p:cNvSpPr txBox="1"/>
            <p:nvPr/>
          </p:nvSpPr>
          <p:spPr>
            <a:xfrm>
              <a:off x="3382242" y="4431981"/>
              <a:ext cx="6876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i="0" lang="en-GB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     </a:t>
              </a:r>
              <a:r>
                <a:rPr lang="en-GB" sz="2000">
                  <a:latin typeface="Times New Roman"/>
                  <a:ea typeface="Times New Roman"/>
                  <a:cs typeface="Times New Roman"/>
                  <a:sym typeface="Times New Roman"/>
                </a:rPr>
                <a:t>≈</a:t>
              </a:r>
              <a:endParaRPr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1}&quot;&gt;&lt;mfrac&gt;&lt;mn&gt;30&lt;/mn&gt;&lt;mn&gt;11&lt;/mn&gt;&lt;/mfrac&gt;&lt;/math&gt;" id="1150" name="Google Shape;1150;p94" title="30 over 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0859" y="4442921"/>
              <a:ext cx="161272" cy="290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1" name="Google Shape;1151;p94"/>
          <p:cNvSpPr/>
          <p:nvPr/>
        </p:nvSpPr>
        <p:spPr>
          <a:xfrm flipH="1" rot="10800000">
            <a:off x="2909750" y="4237675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grpSp>
        <p:nvGrpSpPr>
          <p:cNvPr id="1152" name="Google Shape;1152;p94"/>
          <p:cNvGrpSpPr/>
          <p:nvPr/>
        </p:nvGrpSpPr>
        <p:grpSpPr>
          <a:xfrm>
            <a:off x="239024" y="3859749"/>
            <a:ext cx="1858800" cy="438276"/>
            <a:chOff x="315225" y="3527724"/>
            <a:chExt cx="1858800" cy="438276"/>
          </a:xfrm>
        </p:grpSpPr>
        <p:sp>
          <p:nvSpPr>
            <p:cNvPr id="1153" name="Google Shape;1153;p94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94"/>
            <p:cNvSpPr/>
            <p:nvPr/>
          </p:nvSpPr>
          <p:spPr>
            <a:xfrm>
              <a:off x="315225" y="3856200"/>
              <a:ext cx="1858800" cy="10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5" name="Google Shape;1155;p94"/>
          <p:cNvSpPr/>
          <p:nvPr/>
        </p:nvSpPr>
        <p:spPr>
          <a:xfrm>
            <a:off x="4800600" y="3962400"/>
            <a:ext cx="3686100" cy="77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Sometimes if rounding is needed the values won’t sum to exactly 360°, but it should be close.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94"/>
          <p:cNvSpPr txBox="1"/>
          <p:nvPr/>
        </p:nvSpPr>
        <p:spPr>
          <a:xfrm>
            <a:off x="270675" y="3896939"/>
            <a:ext cx="1783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5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What is always the first step in representing these frequencies as angles on a pie chart?</a:t>
            </a:r>
            <a:endParaRPr sz="1800"/>
          </a:p>
        </p:txBody>
      </p:sp>
      <p:sp>
        <p:nvSpPr>
          <p:cNvPr id="1162" name="Google Shape;116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163" name="Google Shape;1163;p95"/>
          <p:cNvSpPr txBox="1"/>
          <p:nvPr>
            <p:ph idx="1" type="body"/>
          </p:nvPr>
        </p:nvSpPr>
        <p:spPr>
          <a:xfrm>
            <a:off x="4654984" y="2858575"/>
            <a:ext cx="379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Calculating the total frequency</a:t>
            </a:r>
            <a:endParaRPr sz="1800"/>
          </a:p>
        </p:txBody>
      </p:sp>
      <p:grpSp>
        <p:nvGrpSpPr>
          <p:cNvPr id="1164" name="Google Shape;1164;p95"/>
          <p:cNvGrpSpPr/>
          <p:nvPr/>
        </p:nvGrpSpPr>
        <p:grpSpPr>
          <a:xfrm>
            <a:off x="4089600" y="2057825"/>
            <a:ext cx="457200" cy="457200"/>
            <a:chOff x="1020916" y="1442088"/>
            <a:chExt cx="457200" cy="457200"/>
          </a:xfrm>
        </p:grpSpPr>
        <p:pic>
          <p:nvPicPr>
            <p:cNvPr id="1165" name="Google Shape;1165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6" name="Google Shape;116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7" name="Google Shape;1167;p95"/>
          <p:cNvGrpSpPr/>
          <p:nvPr/>
        </p:nvGrpSpPr>
        <p:grpSpPr>
          <a:xfrm>
            <a:off x="4089600" y="2790325"/>
            <a:ext cx="457200" cy="457200"/>
            <a:chOff x="1020916" y="1442088"/>
            <a:chExt cx="457200" cy="457200"/>
          </a:xfrm>
        </p:grpSpPr>
        <p:pic>
          <p:nvPicPr>
            <p:cNvPr id="1168" name="Google Shape;1168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9" name="Google Shape;116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0" name="Google Shape;1170;p95"/>
          <p:cNvGrpSpPr/>
          <p:nvPr/>
        </p:nvGrpSpPr>
        <p:grpSpPr>
          <a:xfrm>
            <a:off x="4089600" y="3522825"/>
            <a:ext cx="457200" cy="457200"/>
            <a:chOff x="1020916" y="1442088"/>
            <a:chExt cx="457200" cy="457200"/>
          </a:xfrm>
        </p:grpSpPr>
        <p:pic>
          <p:nvPicPr>
            <p:cNvPr id="1171" name="Google Shape;1171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3" name="Google Shape;1173;p95"/>
          <p:cNvSpPr txBox="1"/>
          <p:nvPr>
            <p:ph idx="1" type="body"/>
          </p:nvPr>
        </p:nvSpPr>
        <p:spPr>
          <a:xfrm>
            <a:off x="4654984" y="2126075"/>
            <a:ext cx="379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Dividing each number by 360°</a:t>
            </a:r>
            <a:endParaRPr sz="1800"/>
          </a:p>
        </p:txBody>
      </p:sp>
      <p:sp>
        <p:nvSpPr>
          <p:cNvPr id="1174" name="Google Shape;1174;p95"/>
          <p:cNvSpPr txBox="1"/>
          <p:nvPr>
            <p:ph idx="1" type="body"/>
          </p:nvPr>
        </p:nvSpPr>
        <p:spPr>
          <a:xfrm>
            <a:off x="4654984" y="3591075"/>
            <a:ext cx="379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Writing it as a fraction</a:t>
            </a:r>
            <a:endParaRPr sz="1800"/>
          </a:p>
        </p:txBody>
      </p:sp>
      <p:pic>
        <p:nvPicPr>
          <p:cNvPr id="1175" name="Google Shape;1175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5992" y="2809375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6" name="Google Shape;1176;p95"/>
          <p:cNvGraphicFramePr/>
          <p:nvPr/>
        </p:nvGraphicFramePr>
        <p:xfrm>
          <a:off x="346869" y="2057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337925"/>
                <a:gridCol w="1389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shopping method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 store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market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online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mixture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7" name="Google Shape;1177;p95"/>
          <p:cNvGraphicFramePr/>
          <p:nvPr/>
        </p:nvGraphicFramePr>
        <p:xfrm>
          <a:off x="3074519" y="2057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861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grpSp>
        <p:nvGrpSpPr>
          <p:cNvPr id="1178" name="Google Shape;1178;p95"/>
          <p:cNvGrpSpPr/>
          <p:nvPr/>
        </p:nvGrpSpPr>
        <p:grpSpPr>
          <a:xfrm>
            <a:off x="302621" y="4195910"/>
            <a:ext cx="1367891" cy="671395"/>
            <a:chOff x="305544" y="3527724"/>
            <a:chExt cx="1858800" cy="438276"/>
          </a:xfrm>
        </p:grpSpPr>
        <p:sp>
          <p:nvSpPr>
            <p:cNvPr id="1179" name="Google Shape;1179;p95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95"/>
            <p:cNvSpPr/>
            <p:nvPr/>
          </p:nvSpPr>
          <p:spPr>
            <a:xfrm>
              <a:off x="305544" y="3856200"/>
              <a:ext cx="1858800" cy="1098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1" name="Google Shape;1181;p95"/>
          <p:cNvSpPr txBox="1"/>
          <p:nvPr/>
        </p:nvSpPr>
        <p:spPr>
          <a:xfrm>
            <a:off x="4784009" y="3063690"/>
            <a:ext cx="3735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 + 12 + 27 + 19 = 90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6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We want to calculate a multiplier that links the</a:t>
            </a:r>
            <a:r>
              <a:rPr lang="en-GB" sz="1800"/>
              <a:t> total f</a:t>
            </a:r>
            <a:r>
              <a:rPr lang="en-GB" sz="1800"/>
              <a:t>re</a:t>
            </a:r>
            <a:r>
              <a:rPr lang="en-GB" sz="1800"/>
              <a:t>quency to the total angle in a pie chart, 360°.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Which of these calculations finds the multiplier?</a:t>
            </a:r>
            <a:endParaRPr sz="1800"/>
          </a:p>
        </p:txBody>
      </p:sp>
      <p:sp>
        <p:nvSpPr>
          <p:cNvPr id="1187" name="Google Shape;118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graphicFrame>
        <p:nvGraphicFramePr>
          <p:cNvPr id="1188" name="Google Shape;1188;p96"/>
          <p:cNvGraphicFramePr/>
          <p:nvPr/>
        </p:nvGraphicFramePr>
        <p:xfrm>
          <a:off x="346869" y="2057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337925"/>
                <a:gridCol w="1389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shopping method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 store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market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online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mixture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b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grpSp>
        <p:nvGrpSpPr>
          <p:cNvPr id="1189" name="Google Shape;1189;p96"/>
          <p:cNvGrpSpPr/>
          <p:nvPr/>
        </p:nvGrpSpPr>
        <p:grpSpPr>
          <a:xfrm>
            <a:off x="4088716" y="2057825"/>
            <a:ext cx="457200" cy="457200"/>
            <a:chOff x="1020916" y="1442088"/>
            <a:chExt cx="457200" cy="457200"/>
          </a:xfrm>
        </p:grpSpPr>
        <p:pic>
          <p:nvPicPr>
            <p:cNvPr id="1190" name="Google Shape;1190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96"/>
          <p:cNvGrpSpPr/>
          <p:nvPr/>
        </p:nvGrpSpPr>
        <p:grpSpPr>
          <a:xfrm>
            <a:off x="4088716" y="2790325"/>
            <a:ext cx="457200" cy="457200"/>
            <a:chOff x="1020916" y="1442088"/>
            <a:chExt cx="457200" cy="457200"/>
          </a:xfrm>
        </p:grpSpPr>
        <p:pic>
          <p:nvPicPr>
            <p:cNvPr id="1193" name="Google Shape;1193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6"/>
          <p:cNvGrpSpPr/>
          <p:nvPr/>
        </p:nvGrpSpPr>
        <p:grpSpPr>
          <a:xfrm>
            <a:off x="4088716" y="3522825"/>
            <a:ext cx="457200" cy="457200"/>
            <a:chOff x="1020916" y="1442088"/>
            <a:chExt cx="457200" cy="457200"/>
          </a:xfrm>
        </p:grpSpPr>
        <p:pic>
          <p:nvPicPr>
            <p:cNvPr id="1196" name="Google Shape;1196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8" name="Google Shape;1198;p96"/>
          <p:cNvSpPr txBox="1"/>
          <p:nvPr>
            <p:ph idx="1" type="body"/>
          </p:nvPr>
        </p:nvSpPr>
        <p:spPr>
          <a:xfrm>
            <a:off x="4671600" y="2126075"/>
            <a:ext cx="39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90 lots of 360° = 90 × 360 = 32400°</a:t>
            </a:r>
            <a:endParaRPr sz="1800"/>
          </a:p>
        </p:txBody>
      </p:sp>
      <p:sp>
        <p:nvSpPr>
          <p:cNvPr id="1199" name="Google Shape;1199;p96"/>
          <p:cNvSpPr txBox="1"/>
          <p:nvPr>
            <p:ph idx="1" type="body"/>
          </p:nvPr>
        </p:nvSpPr>
        <p:spPr>
          <a:xfrm>
            <a:off x="4671600" y="3591075"/>
            <a:ext cx="432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360° divided by 90 pieces of data       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                                  360 ÷ 90 = 4°</a:t>
            </a:r>
            <a:endParaRPr sz="1800"/>
          </a:p>
        </p:txBody>
      </p:sp>
      <p:pic>
        <p:nvPicPr>
          <p:cNvPr id="1200" name="Google Shape;1200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9196" y="3911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2}{90}=\frac{16}{45}&quot;&gt;&lt;mfrac&gt;&lt;mn&gt;32&lt;/mn&gt;&lt;mn&gt;90&lt;/mn&gt;&lt;/mfrac&gt;&lt;mo&gt;=&lt;/mo&gt;&lt;mfrac&gt;&lt;mn&gt;16&lt;/mn&gt;&lt;mn&gt;45&lt;/mn&gt;&lt;/mfrac&gt;&lt;/math&gt;" id="1201" name="Google Shape;1201;p96" title="32 over 90 equals 16 over 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496" y="2751250"/>
            <a:ext cx="963630" cy="5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6"/>
          <p:cNvSpPr txBox="1"/>
          <p:nvPr>
            <p:ph idx="1" type="body"/>
          </p:nvPr>
        </p:nvSpPr>
        <p:spPr>
          <a:xfrm>
            <a:off x="4671600" y="2858575"/>
            <a:ext cx="2399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simplify the fraction</a:t>
            </a:r>
            <a:endParaRPr sz="1800"/>
          </a:p>
        </p:txBody>
      </p:sp>
      <p:graphicFrame>
        <p:nvGraphicFramePr>
          <p:cNvPr id="1203" name="Google Shape;1203;p96"/>
          <p:cNvGraphicFramePr/>
          <p:nvPr/>
        </p:nvGraphicFramePr>
        <p:xfrm>
          <a:off x="3074519" y="2057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861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1204" name="Google Shape;1204;p96"/>
          <p:cNvSpPr txBox="1"/>
          <p:nvPr>
            <p:ph idx="1" type="body"/>
          </p:nvPr>
        </p:nvSpPr>
        <p:spPr>
          <a:xfrm>
            <a:off x="3247675" y="4181300"/>
            <a:ext cx="68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360°</a:t>
            </a:r>
            <a:endParaRPr sz="1800"/>
          </a:p>
        </p:txBody>
      </p:sp>
      <p:sp>
        <p:nvSpPr>
          <p:cNvPr id="1205" name="Google Shape;1205;p96"/>
          <p:cNvSpPr txBox="1"/>
          <p:nvPr>
            <p:ph idx="1" type="body"/>
          </p:nvPr>
        </p:nvSpPr>
        <p:spPr>
          <a:xfrm>
            <a:off x="2584025" y="4181300"/>
            <a:ext cx="94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× 4°=</a:t>
            </a:r>
            <a:endParaRPr sz="1800"/>
          </a:p>
        </p:txBody>
      </p:sp>
      <p:sp>
        <p:nvSpPr>
          <p:cNvPr id="1206" name="Google Shape;1206;p96"/>
          <p:cNvSpPr txBox="1"/>
          <p:nvPr/>
        </p:nvSpPr>
        <p:spPr>
          <a:xfrm>
            <a:off x="995200" y="4260127"/>
            <a:ext cx="726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7" name="Google Shape;1207;p96"/>
          <p:cNvGrpSpPr/>
          <p:nvPr/>
        </p:nvGrpSpPr>
        <p:grpSpPr>
          <a:xfrm>
            <a:off x="302621" y="4195910"/>
            <a:ext cx="1367891" cy="671395"/>
            <a:chOff x="305544" y="3527724"/>
            <a:chExt cx="1858800" cy="438276"/>
          </a:xfrm>
        </p:grpSpPr>
        <p:sp>
          <p:nvSpPr>
            <p:cNvPr id="1208" name="Google Shape;1208;p96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96"/>
            <p:cNvSpPr/>
            <p:nvPr/>
          </p:nvSpPr>
          <p:spPr>
            <a:xfrm>
              <a:off x="305544" y="3856200"/>
              <a:ext cx="1858800" cy="1098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97"/>
          <p:cNvSpPr/>
          <p:nvPr/>
        </p:nvSpPr>
        <p:spPr>
          <a:xfrm flipH="1" rot="10800000">
            <a:off x="6752863" y="4149525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215" name="Google Shape;1215;p97"/>
          <p:cNvSpPr txBox="1"/>
          <p:nvPr>
            <p:ph idx="1" type="body"/>
          </p:nvPr>
        </p:nvSpPr>
        <p:spPr>
          <a:xfrm>
            <a:off x="324000" y="759300"/>
            <a:ext cx="4248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1) Complete the calculations to represent these frequencies as angles on a pie chart.</a:t>
            </a:r>
            <a:endParaRPr sz="1800"/>
          </a:p>
        </p:txBody>
      </p:sp>
      <p:sp>
        <p:nvSpPr>
          <p:cNvPr id="1216" name="Google Shape;1216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graphicFrame>
        <p:nvGraphicFramePr>
          <p:cNvPr id="1217" name="Google Shape;1217;p97"/>
          <p:cNvGraphicFramePr/>
          <p:nvPr/>
        </p:nvGraphicFramePr>
        <p:xfrm>
          <a:off x="346869" y="2248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0725"/>
                <a:gridCol w="1373525"/>
                <a:gridCol w="848850"/>
              </a:tblGrid>
              <a:tr h="2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218" name="Google Shape;1218;p97"/>
          <p:cNvCxnSpPr/>
          <p:nvPr/>
        </p:nvCxnSpPr>
        <p:spPr>
          <a:xfrm>
            <a:off x="4572000" y="346675"/>
            <a:ext cx="0" cy="4234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9" name="Google Shape;1219;p97"/>
          <p:cNvSpPr txBox="1"/>
          <p:nvPr>
            <p:ph idx="1" type="body"/>
          </p:nvPr>
        </p:nvSpPr>
        <p:spPr>
          <a:xfrm>
            <a:off x="877050" y="1812645"/>
            <a:ext cx="344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360° ÷ 72 = 5°</a:t>
            </a:r>
            <a:endParaRPr sz="1800"/>
          </a:p>
        </p:txBody>
      </p:sp>
      <p:sp>
        <p:nvSpPr>
          <p:cNvPr id="1220" name="Google Shape;1220;p97"/>
          <p:cNvSpPr txBox="1"/>
          <p:nvPr>
            <p:ph idx="1" type="body"/>
          </p:nvPr>
        </p:nvSpPr>
        <p:spPr>
          <a:xfrm>
            <a:off x="5377050" y="1812645"/>
            <a:ext cx="344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360° ÷ </a:t>
            </a:r>
            <a:r>
              <a:rPr lang="en-GB" sz="1800" u="sng"/>
              <a:t>         </a:t>
            </a:r>
            <a:r>
              <a:rPr lang="en-GB" sz="1800"/>
              <a:t> = </a:t>
            </a:r>
            <a:r>
              <a:rPr lang="en-GB" sz="1800" u="sng"/>
              <a:t>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</p:txBody>
      </p:sp>
      <p:sp>
        <p:nvSpPr>
          <p:cNvPr id="1221" name="Google Shape;1221;p97"/>
          <p:cNvSpPr txBox="1"/>
          <p:nvPr>
            <p:ph idx="1" type="body"/>
          </p:nvPr>
        </p:nvSpPr>
        <p:spPr>
          <a:xfrm>
            <a:off x="4824000" y="759300"/>
            <a:ext cx="4248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2) Complete the calculations to represent these frequencies as angles on a pie chart.</a:t>
            </a:r>
            <a:endParaRPr sz="1800"/>
          </a:p>
        </p:txBody>
      </p:sp>
      <p:graphicFrame>
        <p:nvGraphicFramePr>
          <p:cNvPr id="1222" name="Google Shape;1222;p97"/>
          <p:cNvGraphicFramePr/>
          <p:nvPr/>
        </p:nvGraphicFramePr>
        <p:xfrm>
          <a:off x="4823994" y="2248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62525"/>
                <a:gridCol w="1420550"/>
                <a:gridCol w="877900"/>
              </a:tblGrid>
              <a:tr h="2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breakfast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lunch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dinner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ota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23" name="Google Shape;1223;p97"/>
          <p:cNvSpPr txBox="1"/>
          <p:nvPr/>
        </p:nvSpPr>
        <p:spPr>
          <a:xfrm>
            <a:off x="2194724" y="4263033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    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7"/>
          <p:cNvSpPr txBox="1"/>
          <p:nvPr/>
        </p:nvSpPr>
        <p:spPr>
          <a:xfrm>
            <a:off x="6068921" y="4263033"/>
            <a:ext cx="20361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  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7"/>
          <p:cNvSpPr/>
          <p:nvPr/>
        </p:nvSpPr>
        <p:spPr>
          <a:xfrm flipH="1" rot="10800000">
            <a:off x="2292013" y="4149525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grpSp>
        <p:nvGrpSpPr>
          <p:cNvPr id="1226" name="Google Shape;1226;p97"/>
          <p:cNvGrpSpPr/>
          <p:nvPr/>
        </p:nvGrpSpPr>
        <p:grpSpPr>
          <a:xfrm>
            <a:off x="316875" y="3719328"/>
            <a:ext cx="1243537" cy="498316"/>
            <a:chOff x="315231" y="3527724"/>
            <a:chExt cx="1858800" cy="451373"/>
          </a:xfrm>
        </p:grpSpPr>
        <p:sp>
          <p:nvSpPr>
            <p:cNvPr id="1227" name="Google Shape;1227;p97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97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9" name="Google Shape;1229;p97"/>
          <p:cNvGrpSpPr/>
          <p:nvPr/>
        </p:nvGrpSpPr>
        <p:grpSpPr>
          <a:xfrm>
            <a:off x="4794433" y="3719256"/>
            <a:ext cx="1278297" cy="498316"/>
            <a:chOff x="315231" y="3527724"/>
            <a:chExt cx="1858800" cy="451373"/>
          </a:xfrm>
        </p:grpSpPr>
        <p:sp>
          <p:nvSpPr>
            <p:cNvPr id="1230" name="Google Shape;1230;p97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97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" name="Google Shape;1236;p98"/>
          <p:cNvGraphicFramePr/>
          <p:nvPr/>
        </p:nvGraphicFramePr>
        <p:xfrm>
          <a:off x="346869" y="15202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3150"/>
                <a:gridCol w="1256950"/>
                <a:gridCol w="1980000"/>
              </a:tblGrid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37" name="Google Shape;1237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238" name="Google Shape;1238;p98"/>
          <p:cNvSpPr txBox="1"/>
          <p:nvPr/>
        </p:nvSpPr>
        <p:spPr>
          <a:xfrm>
            <a:off x="324000" y="759300"/>
            <a:ext cx="84963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Complete the calculations to represent these frequencies as angles on a pie chart. Hint: The multiplier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non-integer.</a:t>
            </a:r>
            <a:endParaRPr/>
          </a:p>
        </p:txBody>
      </p:sp>
      <p:sp>
        <p:nvSpPr>
          <p:cNvPr id="1239" name="Google Shape;1239;p98"/>
          <p:cNvSpPr txBox="1"/>
          <p:nvPr/>
        </p:nvSpPr>
        <p:spPr>
          <a:xfrm>
            <a:off x="2211165" y="4450070"/>
            <a:ext cx="753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  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8"/>
          <p:cNvSpPr/>
          <p:nvPr/>
        </p:nvSpPr>
        <p:spPr>
          <a:xfrm flipH="1" rot="10800000">
            <a:off x="2292013" y="4320000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grpSp>
        <p:nvGrpSpPr>
          <p:cNvPr id="1241" name="Google Shape;1241;p98"/>
          <p:cNvGrpSpPr/>
          <p:nvPr/>
        </p:nvGrpSpPr>
        <p:grpSpPr>
          <a:xfrm>
            <a:off x="309748" y="3637113"/>
            <a:ext cx="1243537" cy="587507"/>
            <a:chOff x="315231" y="3527724"/>
            <a:chExt cx="1858800" cy="451373"/>
          </a:xfrm>
        </p:grpSpPr>
        <p:sp>
          <p:nvSpPr>
            <p:cNvPr id="1242" name="Google Shape;1242;p98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98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graphicFrame>
        <p:nvGraphicFramePr>
          <p:cNvPr id="1249" name="Google Shape;1249;p99"/>
          <p:cNvGraphicFramePr/>
          <p:nvPr/>
        </p:nvGraphicFramePr>
        <p:xfrm>
          <a:off x="346869" y="22417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0725"/>
                <a:gridCol w="1373525"/>
                <a:gridCol w="848850"/>
              </a:tblGrid>
              <a:tr h="2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185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110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65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29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cxnSp>
        <p:nvCxnSpPr>
          <p:cNvPr id="1250" name="Google Shape;1250;p99"/>
          <p:cNvCxnSpPr/>
          <p:nvPr/>
        </p:nvCxnSpPr>
        <p:spPr>
          <a:xfrm>
            <a:off x="4572000" y="575275"/>
            <a:ext cx="0" cy="42345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1" name="Google Shape;1251;p99"/>
          <p:cNvSpPr txBox="1"/>
          <p:nvPr>
            <p:ph idx="1" type="body"/>
          </p:nvPr>
        </p:nvSpPr>
        <p:spPr>
          <a:xfrm>
            <a:off x="2194725" y="3704797"/>
            <a:ext cx="69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× 5° = </a:t>
            </a:r>
            <a:endParaRPr sz="1800"/>
          </a:p>
        </p:txBody>
      </p:sp>
      <p:sp>
        <p:nvSpPr>
          <p:cNvPr id="1252" name="Google Shape;1252;p99"/>
          <p:cNvSpPr txBox="1"/>
          <p:nvPr>
            <p:ph idx="1" type="body"/>
          </p:nvPr>
        </p:nvSpPr>
        <p:spPr>
          <a:xfrm>
            <a:off x="5377050" y="1798784"/>
            <a:ext cx="344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360° ÷ </a:t>
            </a:r>
            <a:r>
              <a:rPr lang="en-GB" sz="1800" u="sng"/>
              <a:t>         </a:t>
            </a:r>
            <a:r>
              <a:rPr lang="en-GB" sz="1800"/>
              <a:t> = </a:t>
            </a:r>
            <a:r>
              <a:rPr lang="en-GB" sz="1800" u="sng"/>
              <a:t>         </a:t>
            </a:r>
            <a:r>
              <a:rPr lang="en-GB" sz="1800" u="sng">
                <a:solidFill>
                  <a:srgbClr val="E6F2F2"/>
                </a:solidFill>
              </a:rPr>
              <a:t>.</a:t>
            </a:r>
            <a:endParaRPr sz="1800" u="sng">
              <a:solidFill>
                <a:srgbClr val="E6F2F2"/>
              </a:solidFill>
            </a:endParaRPr>
          </a:p>
        </p:txBody>
      </p:sp>
      <p:sp>
        <p:nvSpPr>
          <p:cNvPr id="1253" name="Google Shape;1253;p99"/>
          <p:cNvSpPr txBox="1"/>
          <p:nvPr>
            <p:ph idx="1" type="body"/>
          </p:nvPr>
        </p:nvSpPr>
        <p:spPr>
          <a:xfrm>
            <a:off x="877050" y="1798784"/>
            <a:ext cx="344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360° ÷ 72 = 5°</a:t>
            </a:r>
            <a:endParaRPr sz="1800"/>
          </a:p>
        </p:txBody>
      </p:sp>
      <p:sp>
        <p:nvSpPr>
          <p:cNvPr id="1254" name="Google Shape;1254;p99"/>
          <p:cNvSpPr txBox="1"/>
          <p:nvPr>
            <p:ph idx="1" type="body"/>
          </p:nvPr>
        </p:nvSpPr>
        <p:spPr>
          <a:xfrm>
            <a:off x="4824000" y="759300"/>
            <a:ext cx="4248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2) Complete the calculations to represent these frequencies as angles on a pie chart.</a:t>
            </a:r>
            <a:endParaRPr sz="1800"/>
          </a:p>
        </p:txBody>
      </p:sp>
      <p:graphicFrame>
        <p:nvGraphicFramePr>
          <p:cNvPr id="1255" name="Google Shape;1255;p99"/>
          <p:cNvGraphicFramePr/>
          <p:nvPr/>
        </p:nvGraphicFramePr>
        <p:xfrm>
          <a:off x="4823994" y="22417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62525"/>
                <a:gridCol w="1420550"/>
                <a:gridCol w="877900"/>
              </a:tblGrid>
              <a:tr h="2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meal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breakfast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lunch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138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16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dinner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150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29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800" u="none" cap="none" strike="noStrike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1256" name="Google Shape;1256;p99"/>
          <p:cNvSpPr txBox="1"/>
          <p:nvPr>
            <p:ph idx="1" type="body"/>
          </p:nvPr>
        </p:nvSpPr>
        <p:spPr>
          <a:xfrm>
            <a:off x="324000" y="759300"/>
            <a:ext cx="42480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1) Complete the calculations to represent these frequencies as angles on a pie chart.</a:t>
            </a:r>
            <a:endParaRPr sz="1800"/>
          </a:p>
        </p:txBody>
      </p:sp>
      <p:sp>
        <p:nvSpPr>
          <p:cNvPr id="1257" name="Google Shape;1257;p99"/>
          <p:cNvSpPr txBox="1"/>
          <p:nvPr/>
        </p:nvSpPr>
        <p:spPr>
          <a:xfrm>
            <a:off x="6761325" y="1722497"/>
            <a:ext cx="5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99"/>
          <p:cNvSpPr txBox="1"/>
          <p:nvPr/>
        </p:nvSpPr>
        <p:spPr>
          <a:xfrm>
            <a:off x="7608400" y="1722497"/>
            <a:ext cx="5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99"/>
          <p:cNvSpPr txBox="1"/>
          <p:nvPr/>
        </p:nvSpPr>
        <p:spPr>
          <a:xfrm>
            <a:off x="2194724" y="4339233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    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9"/>
          <p:cNvSpPr txBox="1"/>
          <p:nvPr/>
        </p:nvSpPr>
        <p:spPr>
          <a:xfrm>
            <a:off x="6761325" y="4339233"/>
            <a:ext cx="1182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b="0" i="0" lang="en-GB" sz="20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1" name="Google Shape;1261;p99"/>
          <p:cNvGrpSpPr/>
          <p:nvPr/>
        </p:nvGrpSpPr>
        <p:grpSpPr>
          <a:xfrm>
            <a:off x="316875" y="3712204"/>
            <a:ext cx="1243537" cy="498316"/>
            <a:chOff x="315231" y="3527724"/>
            <a:chExt cx="1858800" cy="451373"/>
          </a:xfrm>
        </p:grpSpPr>
        <p:sp>
          <p:nvSpPr>
            <p:cNvPr id="1262" name="Google Shape;1262;p99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99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99"/>
          <p:cNvGrpSpPr/>
          <p:nvPr/>
        </p:nvGrpSpPr>
        <p:grpSpPr>
          <a:xfrm>
            <a:off x="4794433" y="3712132"/>
            <a:ext cx="1278297" cy="498316"/>
            <a:chOff x="315231" y="3527724"/>
            <a:chExt cx="1858800" cy="451373"/>
          </a:xfrm>
        </p:grpSpPr>
        <p:sp>
          <p:nvSpPr>
            <p:cNvPr id="1265" name="Google Shape;1265;p99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99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7" name="Google Shape;1267;p99"/>
          <p:cNvSpPr/>
          <p:nvPr/>
        </p:nvSpPr>
        <p:spPr>
          <a:xfrm flipH="1" rot="10800000">
            <a:off x="6752863" y="4149525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268" name="Google Shape;1268;p99"/>
          <p:cNvSpPr/>
          <p:nvPr/>
        </p:nvSpPr>
        <p:spPr>
          <a:xfrm flipH="1" rot="10800000">
            <a:off x="2292013" y="4149525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ts val="2000"/>
              <a:buNone/>
            </a:pPr>
            <a:r>
              <a:rPr lang="en-GB"/>
              <a:t>Calculating angles for pie charts</a:t>
            </a:r>
            <a:endParaRPr/>
          </a:p>
        </p:txBody>
      </p:sp>
      <p:graphicFrame>
        <p:nvGraphicFramePr>
          <p:cNvPr id="1274" name="Google Shape;1274;p100"/>
          <p:cNvGraphicFramePr/>
          <p:nvPr/>
        </p:nvGraphicFramePr>
        <p:xfrm>
          <a:off x="346869" y="15202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3150"/>
                <a:gridCol w="1256950"/>
                <a:gridCol w="1980000"/>
              </a:tblGrid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weather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7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</a:t>
                      </a: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25" marB="45725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1275" name="Google Shape;1275;p100"/>
          <p:cNvSpPr txBox="1"/>
          <p:nvPr/>
        </p:nvSpPr>
        <p:spPr>
          <a:xfrm>
            <a:off x="324000" y="759300"/>
            <a:ext cx="84963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Complete the calculations to represent these frequencies as angles on a pie chart. Hint: The multiplier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non-integer.</a:t>
            </a:r>
            <a:endParaRPr/>
          </a:p>
        </p:txBody>
      </p:sp>
      <p:sp>
        <p:nvSpPr>
          <p:cNvPr id="1276" name="Google Shape;1276;p100"/>
          <p:cNvSpPr txBox="1"/>
          <p:nvPr/>
        </p:nvSpPr>
        <p:spPr>
          <a:xfrm>
            <a:off x="2211165" y="4526270"/>
            <a:ext cx="7536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   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7" name="Google Shape;1277;p100"/>
          <p:cNvGrpSpPr/>
          <p:nvPr/>
        </p:nvGrpSpPr>
        <p:grpSpPr>
          <a:xfrm>
            <a:off x="309752" y="3643534"/>
            <a:ext cx="1243537" cy="655213"/>
            <a:chOff x="315231" y="3527724"/>
            <a:chExt cx="1858800" cy="451373"/>
          </a:xfrm>
        </p:grpSpPr>
        <p:sp>
          <p:nvSpPr>
            <p:cNvPr id="1278" name="Google Shape;1278;p100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100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rgbClr val="E6F2F2"/>
            </a:solidFill>
            <a:ln cap="flat" cmpd="sng" w="9525">
              <a:solidFill>
                <a:srgbClr val="E6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0" name="Google Shape;1280;p100"/>
          <p:cNvSpPr/>
          <p:nvPr/>
        </p:nvSpPr>
        <p:spPr>
          <a:xfrm flipH="1" rot="10800000">
            <a:off x="2292013" y="4243800"/>
            <a:ext cx="1190381" cy="145325"/>
          </a:xfrm>
          <a:custGeom>
            <a:rect b="b" l="l" r="r" t="t"/>
            <a:pathLst>
              <a:path extrusionOk="0" h="5813" w="2381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281" name="Google Shape;1281;p100"/>
          <p:cNvSpPr txBox="1"/>
          <p:nvPr/>
        </p:nvSpPr>
        <p:spPr>
          <a:xfrm>
            <a:off x="2671450" y="4450075"/>
            <a:ext cx="624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2" name="Google Shape;1282;p100"/>
          <p:cNvSpPr txBox="1"/>
          <p:nvPr/>
        </p:nvSpPr>
        <p:spPr>
          <a:xfrm>
            <a:off x="2826975" y="2047700"/>
            <a:ext cx="19800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100"/>
          <p:cNvSpPr txBox="1"/>
          <p:nvPr/>
        </p:nvSpPr>
        <p:spPr>
          <a:xfrm>
            <a:off x="2826900" y="2575175"/>
            <a:ext cx="19800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100"/>
          <p:cNvSpPr txBox="1"/>
          <p:nvPr/>
        </p:nvSpPr>
        <p:spPr>
          <a:xfrm>
            <a:off x="2844000" y="3102650"/>
            <a:ext cx="19800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100"/>
          <p:cNvSpPr txBox="1"/>
          <p:nvPr/>
        </p:nvSpPr>
        <p:spPr>
          <a:xfrm>
            <a:off x="3167905" y="4421211"/>
            <a:ext cx="3030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100"/>
          <p:cNvSpPr txBox="1"/>
          <p:nvPr/>
        </p:nvSpPr>
        <p:spPr>
          <a:xfrm>
            <a:off x="3525818" y="4293257"/>
            <a:ext cx="624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9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100"/>
          <p:cNvSpPr txBox="1"/>
          <p:nvPr/>
        </p:nvSpPr>
        <p:spPr>
          <a:xfrm>
            <a:off x="3525818" y="4520002"/>
            <a:ext cx="624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100"/>
          <p:cNvSpPr txBox="1"/>
          <p:nvPr/>
        </p:nvSpPr>
        <p:spPr>
          <a:xfrm>
            <a:off x="3511200" y="4314080"/>
            <a:ext cx="4170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_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Introduction to pie charts</a:t>
            </a:r>
            <a:endParaRPr/>
          </a:p>
        </p:txBody>
      </p:sp>
      <p:sp>
        <p:nvSpPr>
          <p:cNvPr id="1294" name="Google Shape;1294;p10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Calculating angles for pie charts</a:t>
            </a:r>
            <a:endParaRPr/>
          </a:p>
        </p:txBody>
      </p:sp>
      <p:sp>
        <p:nvSpPr>
          <p:cNvPr id="1295" name="Google Shape;1295;p10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pie charts</a:t>
            </a:r>
            <a:endParaRPr/>
          </a:p>
        </p:txBody>
      </p:sp>
      <p:pic>
        <p:nvPicPr>
          <p:cNvPr id="1296" name="Google Shape;129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64" y="3700481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2"/>
          <p:cNvSpPr txBox="1"/>
          <p:nvPr>
            <p:ph idx="1" type="body"/>
          </p:nvPr>
        </p:nvSpPr>
        <p:spPr>
          <a:xfrm>
            <a:off x="324000" y="759300"/>
            <a:ext cx="8496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For this part of the lesson, it is essential that you have a:</a:t>
            </a:r>
            <a:endParaRPr sz="1800"/>
          </a:p>
        </p:txBody>
      </p:sp>
      <p:sp>
        <p:nvSpPr>
          <p:cNvPr id="1303" name="Google Shape;1303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pie charts</a:t>
            </a:r>
            <a:endParaRPr/>
          </a:p>
        </p:txBody>
      </p:sp>
      <p:sp>
        <p:nvSpPr>
          <p:cNvPr id="1304" name="Google Shape;1304;p102"/>
          <p:cNvSpPr txBox="1"/>
          <p:nvPr>
            <p:ph idx="1" type="body"/>
          </p:nvPr>
        </p:nvSpPr>
        <p:spPr>
          <a:xfrm>
            <a:off x="317277" y="1632764"/>
            <a:ext cx="1538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ruler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t/>
            </a:r>
            <a:endParaRPr sz="1800"/>
          </a:p>
        </p:txBody>
      </p:sp>
      <p:pic>
        <p:nvPicPr>
          <p:cNvPr id="1305" name="Google Shape;1305;p102"/>
          <p:cNvPicPr preferRelativeResize="0"/>
          <p:nvPr/>
        </p:nvPicPr>
        <p:blipFill rotWithShape="1">
          <a:blip r:embed="rId3">
            <a:alphaModFix/>
          </a:blip>
          <a:srcRect b="28690" l="0" r="0" t="28690"/>
          <a:stretch/>
        </p:blipFill>
        <p:spPr>
          <a:xfrm rot="376842">
            <a:off x="297464" y="1880294"/>
            <a:ext cx="3380298" cy="96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3664975" y="1231250"/>
            <a:ext cx="5154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Before constructing the pie chart, you need a circle with its centre labelled with an x.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7" name="Google Shape;1307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948" y="3420706"/>
            <a:ext cx="2851672" cy="1444692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2"/>
          <p:cNvSpPr/>
          <p:nvPr/>
        </p:nvSpPr>
        <p:spPr>
          <a:xfrm>
            <a:off x="244409" y="4627487"/>
            <a:ext cx="307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102"/>
          <p:cNvSpPr/>
          <p:nvPr/>
        </p:nvSpPr>
        <p:spPr>
          <a:xfrm>
            <a:off x="1600059" y="3295217"/>
            <a:ext cx="3078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2"/>
          <p:cNvSpPr/>
          <p:nvPr/>
        </p:nvSpPr>
        <p:spPr>
          <a:xfrm flipH="1">
            <a:off x="3006705" y="4627487"/>
            <a:ext cx="3078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2"/>
          <p:cNvSpPr/>
          <p:nvPr/>
        </p:nvSpPr>
        <p:spPr>
          <a:xfrm flipH="1" rot="-898260">
            <a:off x="2964825" y="4371134"/>
            <a:ext cx="307746" cy="13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2"/>
          <p:cNvSpPr/>
          <p:nvPr/>
        </p:nvSpPr>
        <p:spPr>
          <a:xfrm flipH="1" rot="-898260">
            <a:off x="2887756" y="4162367"/>
            <a:ext cx="307746" cy="133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02"/>
          <p:cNvSpPr/>
          <p:nvPr/>
        </p:nvSpPr>
        <p:spPr>
          <a:xfrm flipH="1" rot="-1799233">
            <a:off x="2779883" y="3937806"/>
            <a:ext cx="307919" cy="13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2"/>
          <p:cNvSpPr/>
          <p:nvPr/>
        </p:nvSpPr>
        <p:spPr>
          <a:xfrm flipH="1" rot="-2700000">
            <a:off x="2645726" y="3735803"/>
            <a:ext cx="308016" cy="134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102"/>
          <p:cNvSpPr/>
          <p:nvPr/>
        </p:nvSpPr>
        <p:spPr>
          <a:xfrm flipH="1" rot="-2700000">
            <a:off x="2483708" y="3582089"/>
            <a:ext cx="308016" cy="134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102"/>
          <p:cNvSpPr/>
          <p:nvPr/>
        </p:nvSpPr>
        <p:spPr>
          <a:xfrm flipH="1" rot="-2700000">
            <a:off x="2323745" y="3457896"/>
            <a:ext cx="308016" cy="134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102"/>
          <p:cNvSpPr/>
          <p:nvPr/>
        </p:nvSpPr>
        <p:spPr>
          <a:xfrm flipH="1" rot="-2700000">
            <a:off x="2130924" y="3367143"/>
            <a:ext cx="308016" cy="134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2"/>
          <p:cNvSpPr/>
          <p:nvPr/>
        </p:nvSpPr>
        <p:spPr>
          <a:xfrm flipH="1" rot="-2700000">
            <a:off x="1909954" y="3300193"/>
            <a:ext cx="308016" cy="134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b="0" i="0" sz="9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9" name="Google Shape;1319;p102"/>
          <p:cNvGrpSpPr/>
          <p:nvPr/>
        </p:nvGrpSpPr>
        <p:grpSpPr>
          <a:xfrm flipH="1">
            <a:off x="261037" y="3263600"/>
            <a:ext cx="1371967" cy="1310482"/>
            <a:chOff x="5430598" y="2148858"/>
            <a:chExt cx="930273" cy="888583"/>
          </a:xfrm>
        </p:grpSpPr>
        <p:sp>
          <p:nvSpPr>
            <p:cNvPr id="1320" name="Google Shape;1320;p102"/>
            <p:cNvSpPr/>
            <p:nvPr/>
          </p:nvSpPr>
          <p:spPr>
            <a:xfrm flipH="1" rot="-899705">
              <a:off x="6144018" y="2921305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102"/>
            <p:cNvSpPr/>
            <p:nvPr/>
          </p:nvSpPr>
          <p:spPr>
            <a:xfrm flipH="1" rot="-899705">
              <a:off x="6101285" y="2782130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102"/>
            <p:cNvSpPr/>
            <p:nvPr/>
          </p:nvSpPr>
          <p:spPr>
            <a:xfrm flipH="1" rot="-1799392">
              <a:off x="6032824" y="2627483"/>
              <a:ext cx="208864" cy="9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102"/>
            <p:cNvSpPr/>
            <p:nvPr/>
          </p:nvSpPr>
          <p:spPr>
            <a:xfrm flipH="1" rot="-2700000">
              <a:off x="5943712" y="2499512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102"/>
            <p:cNvSpPr/>
            <p:nvPr/>
          </p:nvSpPr>
          <p:spPr>
            <a:xfrm flipH="1" rot="-2700000">
              <a:off x="5838614" y="2388371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50°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5" name="Google Shape;1325;p102"/>
            <p:cNvSpPr/>
            <p:nvPr/>
          </p:nvSpPr>
          <p:spPr>
            <a:xfrm flipH="1" rot="-2700000">
              <a:off x="5719388" y="2302694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6" name="Google Shape;1326;p102"/>
            <p:cNvSpPr/>
            <p:nvPr/>
          </p:nvSpPr>
          <p:spPr>
            <a:xfrm flipH="1" rot="-2700000">
              <a:off x="5584339" y="2236166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102"/>
            <p:cNvSpPr/>
            <p:nvPr/>
          </p:nvSpPr>
          <p:spPr>
            <a:xfrm flipH="1" rot="-2700000">
              <a:off x="5432129" y="2209362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2"/>
          <p:cNvGrpSpPr/>
          <p:nvPr/>
        </p:nvGrpSpPr>
        <p:grpSpPr>
          <a:xfrm>
            <a:off x="4843709" y="2231201"/>
            <a:ext cx="2701654" cy="2672411"/>
            <a:chOff x="4824000" y="2586000"/>
            <a:chExt cx="2434800" cy="2388000"/>
          </a:xfrm>
        </p:grpSpPr>
        <p:sp>
          <p:nvSpPr>
            <p:cNvPr id="1329" name="Google Shape;1329;p102"/>
            <p:cNvSpPr/>
            <p:nvPr/>
          </p:nvSpPr>
          <p:spPr>
            <a:xfrm>
              <a:off x="4824000" y="2586000"/>
              <a:ext cx="2434800" cy="2388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0" name="Google Shape;1330;p102"/>
            <p:cNvSpPr/>
            <p:nvPr/>
          </p:nvSpPr>
          <p:spPr>
            <a:xfrm>
              <a:off x="5949527" y="3689874"/>
              <a:ext cx="183900" cy="1803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1" name="Google Shape;1331;p102"/>
          <p:cNvSpPr txBox="1"/>
          <p:nvPr/>
        </p:nvSpPr>
        <p:spPr>
          <a:xfrm>
            <a:off x="217264" y="2700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protractor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3"/>
          <p:cNvSpPr txBox="1"/>
          <p:nvPr>
            <p:ph idx="1" type="body"/>
          </p:nvPr>
        </p:nvSpPr>
        <p:spPr>
          <a:xfrm>
            <a:off x="324000" y="759300"/>
            <a:ext cx="82377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Let’s first measure an angle of 120 for the purple sector.</a:t>
            </a:r>
            <a:endParaRPr/>
          </a:p>
        </p:txBody>
      </p:sp>
      <p:sp>
        <p:nvSpPr>
          <p:cNvPr id="1337" name="Google Shape;1337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pic>
        <p:nvPicPr>
          <p:cNvPr id="1338" name="Google Shape;133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350" y="1534075"/>
            <a:ext cx="4462900" cy="32863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9" name="Google Shape;1339;p103"/>
          <p:cNvGraphicFramePr/>
          <p:nvPr/>
        </p:nvGraphicFramePr>
        <p:xfrm>
          <a:off x="323994" y="3026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0725"/>
                <a:gridCol w="1373525"/>
                <a:gridCol w="848850"/>
              </a:tblGrid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40" name="Google Shape;1340;p103"/>
          <p:cNvSpPr/>
          <p:nvPr/>
        </p:nvSpPr>
        <p:spPr>
          <a:xfrm>
            <a:off x="280125" y="3315855"/>
            <a:ext cx="3504300" cy="31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3"/>
          <p:cNvSpPr txBox="1"/>
          <p:nvPr/>
        </p:nvSpPr>
        <p:spPr>
          <a:xfrm>
            <a:off x="216851" y="1236975"/>
            <a:ext cx="837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m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ark an angle of 120 degrees.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3"/>
          <p:cNvSpPr txBox="1"/>
          <p:nvPr/>
        </p:nvSpPr>
        <p:spPr>
          <a:xfrm>
            <a:off x="335400" y="1992850"/>
            <a:ext cx="41421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pie chart with the angles given below.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4"/>
          <p:cNvSpPr txBox="1"/>
          <p:nvPr>
            <p:ph idx="1" type="body"/>
          </p:nvPr>
        </p:nvSpPr>
        <p:spPr>
          <a:xfrm>
            <a:off x="324000" y="759300"/>
            <a:ext cx="82095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 a line from the centre of the </a:t>
            </a:r>
            <a:r>
              <a:rPr lang="en-GB"/>
              <a:t>circle to the marked angle to create the first sector. </a:t>
            </a:r>
            <a:br>
              <a:rPr lang="en-GB"/>
            </a:br>
            <a:br>
              <a:rPr lang="en-GB"/>
            </a:br>
            <a:r>
              <a:rPr lang="en-GB"/>
              <a:t>Label the sector as purple.</a:t>
            </a:r>
            <a:endParaRPr/>
          </a:p>
        </p:txBody>
      </p:sp>
      <p:sp>
        <p:nvSpPr>
          <p:cNvPr id="1348" name="Google Shape;1348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pie charts</a:t>
            </a:r>
            <a:endParaRPr/>
          </a:p>
        </p:txBody>
      </p:sp>
      <p:graphicFrame>
        <p:nvGraphicFramePr>
          <p:cNvPr id="1349" name="Google Shape;1349;p104"/>
          <p:cNvGraphicFramePr/>
          <p:nvPr/>
        </p:nvGraphicFramePr>
        <p:xfrm>
          <a:off x="323994" y="3026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0725"/>
                <a:gridCol w="1373525"/>
                <a:gridCol w="848850"/>
              </a:tblGrid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50" name="Google Shape;135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578" y="1668538"/>
            <a:ext cx="4268176" cy="3142921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4"/>
          <p:cNvSpPr/>
          <p:nvPr/>
        </p:nvSpPr>
        <p:spPr>
          <a:xfrm>
            <a:off x="280125" y="3315855"/>
            <a:ext cx="3504300" cy="31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pie charts</a:t>
            </a:r>
            <a:endParaRPr/>
          </a:p>
        </p:txBody>
      </p:sp>
      <p:graphicFrame>
        <p:nvGraphicFramePr>
          <p:cNvPr id="1357" name="Google Shape;1357;p105"/>
          <p:cNvGraphicFramePr/>
          <p:nvPr/>
        </p:nvGraphicFramePr>
        <p:xfrm>
          <a:off x="346869" y="9521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0725"/>
                <a:gridCol w="1373525"/>
                <a:gridCol w="848850"/>
              </a:tblGrid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79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58" name="Google Shape;1358;p105"/>
          <p:cNvSpPr txBox="1"/>
          <p:nvPr/>
        </p:nvSpPr>
        <p:spPr>
          <a:xfrm>
            <a:off x="324000" y="2934470"/>
            <a:ext cx="4248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/>
          </a:p>
        </p:txBody>
      </p:sp>
      <p:sp>
        <p:nvSpPr>
          <p:cNvPr id="1359" name="Google Shape;1359;p105"/>
          <p:cNvSpPr txBox="1"/>
          <p:nvPr/>
        </p:nvSpPr>
        <p:spPr>
          <a:xfrm>
            <a:off x="576000" y="5186186"/>
            <a:ext cx="4248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/>
          </a:p>
        </p:txBody>
      </p:sp>
      <p:grpSp>
        <p:nvGrpSpPr>
          <p:cNvPr id="1360" name="Google Shape;1360;p105"/>
          <p:cNvGrpSpPr/>
          <p:nvPr/>
        </p:nvGrpSpPr>
        <p:grpSpPr>
          <a:xfrm>
            <a:off x="323992" y="2159910"/>
            <a:ext cx="1227552" cy="655213"/>
            <a:chOff x="315231" y="3527724"/>
            <a:chExt cx="1858800" cy="451373"/>
          </a:xfrm>
        </p:grpSpPr>
        <p:sp>
          <p:nvSpPr>
            <p:cNvPr id="1361" name="Google Shape;1361;p105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105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63" name="Google Shape;136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15050"/>
            <a:ext cx="4267199" cy="41695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5"/>
          <p:cNvSpPr txBox="1"/>
          <p:nvPr/>
        </p:nvSpPr>
        <p:spPr>
          <a:xfrm>
            <a:off x="324000" y="3073275"/>
            <a:ext cx="42480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we can plot the </a:t>
            </a:r>
            <a:r>
              <a:rPr lang="en-GB" sz="2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green sector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measuring an angle of 180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previous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line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05"/>
          <p:cNvSpPr/>
          <p:nvPr/>
        </p:nvSpPr>
        <p:spPr>
          <a:xfrm>
            <a:off x="339299" y="1550158"/>
            <a:ext cx="3443100" cy="309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06"/>
          <p:cNvSpPr txBox="1"/>
          <p:nvPr>
            <p:ph idx="1" type="body"/>
          </p:nvPr>
        </p:nvSpPr>
        <p:spPr>
          <a:xfrm>
            <a:off x="323999" y="620760"/>
            <a:ext cx="84732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2200"/>
              <a:buNone/>
            </a:pPr>
            <a:r>
              <a:rPr lang="en-GB" sz="1800"/>
              <a:t>Construct a pie chart with the angles given below.</a:t>
            </a:r>
            <a:endParaRPr sz="1800"/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/>
              <a:t>Constructing pie charts</a:t>
            </a:r>
            <a:endParaRPr/>
          </a:p>
        </p:txBody>
      </p:sp>
      <p:graphicFrame>
        <p:nvGraphicFramePr>
          <p:cNvPr id="1372" name="Google Shape;1372;p106"/>
          <p:cNvGraphicFramePr/>
          <p:nvPr/>
        </p:nvGraphicFramePr>
        <p:xfrm>
          <a:off x="346869" y="9521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{EC288BE3-D51D-4129-B10E-FF086D51FDA5}</a:tableStyleId>
              </a:tblPr>
              <a:tblGrid>
                <a:gridCol w="1220725"/>
                <a:gridCol w="1373525"/>
                <a:gridCol w="848850"/>
              </a:tblGrid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b="0"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373" name="Google Shape;1373;p106"/>
          <p:cNvGrpSpPr/>
          <p:nvPr/>
        </p:nvGrpSpPr>
        <p:grpSpPr>
          <a:xfrm>
            <a:off x="4873400" y="874825"/>
            <a:ext cx="3549000" cy="3549000"/>
            <a:chOff x="4873400" y="874825"/>
            <a:chExt cx="3549000" cy="3549000"/>
          </a:xfrm>
        </p:grpSpPr>
        <p:sp>
          <p:nvSpPr>
            <p:cNvPr id="1374" name="Google Shape;1374;p106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106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6" name="Google Shape;1376;p106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77" name="Google Shape;1377;p106"/>
          <p:cNvSpPr/>
          <p:nvPr/>
        </p:nvSpPr>
        <p:spPr>
          <a:xfrm>
            <a:off x="7114338" y="1468647"/>
            <a:ext cx="267900" cy="267900"/>
          </a:xfrm>
          <a:prstGeom prst="mathMultiply">
            <a:avLst>
              <a:gd fmla="val 1951" name="adj1"/>
            </a:avLst>
          </a:prstGeom>
          <a:noFill/>
          <a:ln cap="flat" cmpd="sng" w="9525">
            <a:solidFill>
              <a:srgbClr val="7E5C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8" name="Google Shape;1378;p106"/>
          <p:cNvCxnSpPr/>
          <p:nvPr/>
        </p:nvCxnSpPr>
        <p:spPr>
          <a:xfrm flipH="1" rot="10800000">
            <a:off x="6643699" y="1124097"/>
            <a:ext cx="876300" cy="1520100"/>
          </a:xfrm>
          <a:prstGeom prst="straightConnector1">
            <a:avLst/>
          </a:prstGeom>
          <a:noFill/>
          <a:ln cap="flat" cmpd="sng" w="38100">
            <a:solidFill>
              <a:srgbClr val="7E5C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9" name="Google Shape;1379;p106"/>
          <p:cNvSpPr txBox="1"/>
          <p:nvPr/>
        </p:nvSpPr>
        <p:spPr>
          <a:xfrm>
            <a:off x="5748857" y="1802222"/>
            <a:ext cx="1712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purple</a:t>
            </a:r>
            <a:endParaRPr/>
          </a:p>
        </p:txBody>
      </p:sp>
      <p:sp>
        <p:nvSpPr>
          <p:cNvPr id="1380" name="Google Shape;1380;p106"/>
          <p:cNvSpPr/>
          <p:nvPr/>
        </p:nvSpPr>
        <p:spPr>
          <a:xfrm>
            <a:off x="346869" y="1849144"/>
            <a:ext cx="3424800" cy="297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06"/>
          <p:cNvSpPr txBox="1"/>
          <p:nvPr/>
        </p:nvSpPr>
        <p:spPr>
          <a:xfrm>
            <a:off x="324000" y="2934470"/>
            <a:ext cx="4248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the final sector by measuring the angle.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0° must always line up with the line you just drew – in this case the green line.</a:t>
            </a:r>
            <a:endParaRPr/>
          </a:p>
        </p:txBody>
      </p:sp>
      <p:cxnSp>
        <p:nvCxnSpPr>
          <p:cNvPr id="1382" name="Google Shape;1382;p106"/>
          <p:cNvCxnSpPr/>
          <p:nvPr/>
        </p:nvCxnSpPr>
        <p:spPr>
          <a:xfrm flipH="1" rot="10800000">
            <a:off x="5748857" y="2678658"/>
            <a:ext cx="876300" cy="1520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3" name="Google Shape;1383;p106"/>
          <p:cNvSpPr/>
          <p:nvPr/>
        </p:nvSpPr>
        <p:spPr>
          <a:xfrm>
            <a:off x="5911843" y="3553238"/>
            <a:ext cx="267900" cy="267900"/>
          </a:xfrm>
          <a:prstGeom prst="mathMultiply">
            <a:avLst>
              <a:gd fmla="val 1951" name="adj1"/>
            </a:avLst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106"/>
          <p:cNvSpPr txBox="1"/>
          <p:nvPr/>
        </p:nvSpPr>
        <p:spPr>
          <a:xfrm>
            <a:off x="6897295" y="2893322"/>
            <a:ext cx="1712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endParaRPr/>
          </a:p>
        </p:txBody>
      </p:sp>
      <p:grpSp>
        <p:nvGrpSpPr>
          <p:cNvPr id="1385" name="Google Shape;1385;p106"/>
          <p:cNvGrpSpPr/>
          <p:nvPr/>
        </p:nvGrpSpPr>
        <p:grpSpPr>
          <a:xfrm rot="-3600100">
            <a:off x="4552540" y="1466042"/>
            <a:ext cx="3070250" cy="1653252"/>
            <a:chOff x="5705511" y="2134572"/>
            <a:chExt cx="2081703" cy="1120944"/>
          </a:xfrm>
        </p:grpSpPr>
        <p:pic>
          <p:nvPicPr>
            <p:cNvPr id="1386" name="Google Shape;1386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63511" y="2277699"/>
              <a:ext cx="1933599" cy="977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7" name="Google Shape;1387;p106"/>
            <p:cNvSpPr/>
            <p:nvPr/>
          </p:nvSpPr>
          <p:spPr>
            <a:xfrm>
              <a:off x="5705511" y="3095082"/>
              <a:ext cx="208800" cy="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106"/>
            <p:cNvSpPr/>
            <p:nvPr/>
          </p:nvSpPr>
          <p:spPr>
            <a:xfrm>
              <a:off x="6624720" y="2191726"/>
              <a:ext cx="208800" cy="1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106"/>
            <p:cNvSpPr/>
            <p:nvPr/>
          </p:nvSpPr>
          <p:spPr>
            <a:xfrm flipH="1">
              <a:off x="7578414" y="3095082"/>
              <a:ext cx="208800" cy="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106"/>
            <p:cNvSpPr/>
            <p:nvPr/>
          </p:nvSpPr>
          <p:spPr>
            <a:xfrm flipH="1" rot="-899705">
              <a:off x="7550089" y="2921305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170°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106"/>
            <p:cNvSpPr/>
            <p:nvPr/>
          </p:nvSpPr>
          <p:spPr>
            <a:xfrm flipH="1" rot="-899705">
              <a:off x="7497832" y="2779749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106"/>
            <p:cNvSpPr/>
            <p:nvPr/>
          </p:nvSpPr>
          <p:spPr>
            <a:xfrm flipH="1" rot="-1799392">
              <a:off x="7424609" y="2627483"/>
              <a:ext cx="208864" cy="9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150°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3" name="Google Shape;1393;p106"/>
            <p:cNvSpPr/>
            <p:nvPr/>
          </p:nvSpPr>
          <p:spPr>
            <a:xfrm flipH="1" rot="-2700000">
              <a:off x="7333801" y="2490445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140°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4" name="Google Shape;1394;p106"/>
            <p:cNvSpPr/>
            <p:nvPr/>
          </p:nvSpPr>
          <p:spPr>
            <a:xfrm flipH="1" rot="-2700000">
              <a:off x="7223943" y="2386218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130°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106"/>
            <p:cNvSpPr/>
            <p:nvPr/>
          </p:nvSpPr>
          <p:spPr>
            <a:xfrm flipH="1" rot="-2700000">
              <a:off x="7115479" y="2302008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106"/>
            <p:cNvSpPr/>
            <p:nvPr/>
          </p:nvSpPr>
          <p:spPr>
            <a:xfrm flipH="1" rot="-2700000">
              <a:off x="6984735" y="2240472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110°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7" name="Google Shape;1397;p106"/>
            <p:cNvSpPr/>
            <p:nvPr/>
          </p:nvSpPr>
          <p:spPr>
            <a:xfrm flipH="1" rot="-2700000">
              <a:off x="6834905" y="2195076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100°</a:t>
              </a:r>
              <a:endParaRPr b="0" i="0" sz="9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98" name="Google Shape;1398;p106"/>
            <p:cNvGrpSpPr/>
            <p:nvPr/>
          </p:nvGrpSpPr>
          <p:grpSpPr>
            <a:xfrm flipH="1">
              <a:off x="5716786" y="2170288"/>
              <a:ext cx="930273" cy="888583"/>
              <a:chOff x="5430598" y="2148858"/>
              <a:chExt cx="930273" cy="888583"/>
            </a:xfrm>
          </p:grpSpPr>
          <p:sp>
            <p:nvSpPr>
              <p:cNvPr id="1399" name="Google Shape;1399;p106"/>
              <p:cNvSpPr/>
              <p:nvPr/>
            </p:nvSpPr>
            <p:spPr>
              <a:xfrm flipH="1" rot="-899705">
                <a:off x="6144018" y="2921305"/>
                <a:ext cx="208707" cy="9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0" name="Google Shape;1400;p106"/>
              <p:cNvSpPr/>
              <p:nvPr/>
            </p:nvSpPr>
            <p:spPr>
              <a:xfrm flipH="1" rot="-899705">
                <a:off x="6101285" y="2782130"/>
                <a:ext cx="208707" cy="9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1" name="Google Shape;1401;p106"/>
              <p:cNvSpPr/>
              <p:nvPr/>
            </p:nvSpPr>
            <p:spPr>
              <a:xfrm flipH="1" rot="-1799392">
                <a:off x="6032824" y="2627483"/>
                <a:ext cx="208864" cy="90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30°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2" name="Google Shape;1402;p106"/>
              <p:cNvSpPr/>
              <p:nvPr/>
            </p:nvSpPr>
            <p:spPr>
              <a:xfrm flipH="1" rot="-2700000">
                <a:off x="5943712" y="2499512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40°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3" name="Google Shape;1403;p106"/>
              <p:cNvSpPr/>
              <p:nvPr/>
            </p:nvSpPr>
            <p:spPr>
              <a:xfrm flipH="1" rot="-2700000">
                <a:off x="5838614" y="2388371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50°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4" name="Google Shape;1404;p106"/>
              <p:cNvSpPr/>
              <p:nvPr/>
            </p:nvSpPr>
            <p:spPr>
              <a:xfrm flipH="1" rot="-2700000">
                <a:off x="5719388" y="2302694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5" name="Google Shape;1405;p106"/>
              <p:cNvSpPr/>
              <p:nvPr/>
            </p:nvSpPr>
            <p:spPr>
              <a:xfrm flipH="1" rot="-2700000">
                <a:off x="5584339" y="2236166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70°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6" name="Google Shape;1406;p106"/>
              <p:cNvSpPr/>
              <p:nvPr/>
            </p:nvSpPr>
            <p:spPr>
              <a:xfrm flipH="1" rot="-2700000">
                <a:off x="5432129" y="2209362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GB" sz="90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80°</a:t>
                </a:r>
                <a:endParaRPr b="0" i="0" sz="9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07" name="Google Shape;1407;p106"/>
          <p:cNvSpPr txBox="1"/>
          <p:nvPr/>
        </p:nvSpPr>
        <p:spPr>
          <a:xfrm>
            <a:off x="324000" y="4395287"/>
            <a:ext cx="699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angle is 60°, which matches the angle for the blue group.</a:t>
            </a:r>
            <a:endParaRPr/>
          </a:p>
        </p:txBody>
      </p:sp>
      <p:sp>
        <p:nvSpPr>
          <p:cNvPr id="1408" name="Google Shape;1408;p106"/>
          <p:cNvSpPr txBox="1"/>
          <p:nvPr/>
        </p:nvSpPr>
        <p:spPr>
          <a:xfrm>
            <a:off x="5311023" y="2961149"/>
            <a:ext cx="1712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/>
          </a:p>
        </p:txBody>
      </p:sp>
      <p:cxnSp>
        <p:nvCxnSpPr>
          <p:cNvPr id="1409" name="Google Shape;1409;p106"/>
          <p:cNvCxnSpPr/>
          <p:nvPr/>
        </p:nvCxnSpPr>
        <p:spPr>
          <a:xfrm flipH="1" rot="10800000">
            <a:off x="4586425" y="2735650"/>
            <a:ext cx="678900" cy="16905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med" w="med" type="none"/>
          </a:ln>
        </p:spPr>
      </p:cxnSp>
      <p:grpSp>
        <p:nvGrpSpPr>
          <p:cNvPr id="1410" name="Google Shape;1410;p106"/>
          <p:cNvGrpSpPr/>
          <p:nvPr/>
        </p:nvGrpSpPr>
        <p:grpSpPr>
          <a:xfrm>
            <a:off x="323992" y="2159910"/>
            <a:ext cx="1227552" cy="655213"/>
            <a:chOff x="315231" y="3527724"/>
            <a:chExt cx="1858800" cy="451373"/>
          </a:xfrm>
        </p:grpSpPr>
        <p:sp>
          <p:nvSpPr>
            <p:cNvPr id="1411" name="Google Shape;1411;p106"/>
            <p:cNvSpPr/>
            <p:nvPr/>
          </p:nvSpPr>
          <p:spPr>
            <a:xfrm>
              <a:off x="324000" y="3527724"/>
              <a:ext cx="53400" cy="375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2" name="Google Shape;1412;p106"/>
            <p:cNvSpPr/>
            <p:nvPr/>
          </p:nvSpPr>
          <p:spPr>
            <a:xfrm>
              <a:off x="315231" y="3847397"/>
              <a:ext cx="1858800" cy="131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07"/>
          <p:cNvSpPr txBox="1"/>
          <p:nvPr>
            <p:ph idx="1" type="body"/>
          </p:nvPr>
        </p:nvSpPr>
        <p:spPr>
          <a:xfrm>
            <a:off x="324000" y="759300"/>
            <a:ext cx="25098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Izzy </a:t>
            </a:r>
            <a:r>
              <a:rPr lang="en-GB" sz="2000"/>
              <a:t>wants to plot the angle of 55°.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2000"/>
              <a:t>Which of these locations is most accurate?</a:t>
            </a:r>
            <a:endParaRPr/>
          </a:p>
        </p:txBody>
      </p:sp>
      <p:sp>
        <p:nvSpPr>
          <p:cNvPr id="1418" name="Google Shape;141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419" name="Google Shape;1419;p107"/>
          <p:cNvGrpSpPr/>
          <p:nvPr/>
        </p:nvGrpSpPr>
        <p:grpSpPr>
          <a:xfrm>
            <a:off x="5418931" y="2094814"/>
            <a:ext cx="2548537" cy="2548537"/>
            <a:chOff x="4873400" y="874825"/>
            <a:chExt cx="3549000" cy="3549000"/>
          </a:xfrm>
        </p:grpSpPr>
        <p:sp>
          <p:nvSpPr>
            <p:cNvPr id="1420" name="Google Shape;1420;p107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1" name="Google Shape;1421;p107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2" name="Google Shape;1422;p107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3" name="Google Shape;1423;p107"/>
          <p:cNvGrpSpPr/>
          <p:nvPr/>
        </p:nvGrpSpPr>
        <p:grpSpPr>
          <a:xfrm>
            <a:off x="4620759" y="1331194"/>
            <a:ext cx="4201918" cy="2262628"/>
            <a:chOff x="5705511" y="2134572"/>
            <a:chExt cx="2081703" cy="1120945"/>
          </a:xfrm>
        </p:grpSpPr>
        <p:pic>
          <p:nvPicPr>
            <p:cNvPr id="1424" name="Google Shape;1424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63511" y="2277699"/>
              <a:ext cx="1933599" cy="977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5" name="Google Shape;1425;p107"/>
            <p:cNvSpPr/>
            <p:nvPr/>
          </p:nvSpPr>
          <p:spPr>
            <a:xfrm>
              <a:off x="5705511" y="3095082"/>
              <a:ext cx="208800" cy="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6" name="Google Shape;1426;p107"/>
            <p:cNvSpPr/>
            <p:nvPr/>
          </p:nvSpPr>
          <p:spPr>
            <a:xfrm>
              <a:off x="6624720" y="2191726"/>
              <a:ext cx="208800" cy="1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7" name="Google Shape;1427;p107"/>
            <p:cNvSpPr/>
            <p:nvPr/>
          </p:nvSpPr>
          <p:spPr>
            <a:xfrm flipH="1">
              <a:off x="7578414" y="3095082"/>
              <a:ext cx="208800" cy="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180°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8" name="Google Shape;1428;p107"/>
            <p:cNvSpPr/>
            <p:nvPr/>
          </p:nvSpPr>
          <p:spPr>
            <a:xfrm flipH="1" rot="-899705">
              <a:off x="7550089" y="2921305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170°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9" name="Google Shape;1429;p107"/>
            <p:cNvSpPr/>
            <p:nvPr/>
          </p:nvSpPr>
          <p:spPr>
            <a:xfrm flipH="1" rot="-899705">
              <a:off x="7497832" y="2779749"/>
              <a:ext cx="208707" cy="90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0" name="Google Shape;1430;p107"/>
            <p:cNvSpPr/>
            <p:nvPr/>
          </p:nvSpPr>
          <p:spPr>
            <a:xfrm flipH="1" rot="-1799392">
              <a:off x="7424609" y="2627483"/>
              <a:ext cx="208864" cy="90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150°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1" name="Google Shape;1431;p107"/>
            <p:cNvSpPr/>
            <p:nvPr/>
          </p:nvSpPr>
          <p:spPr>
            <a:xfrm flipH="1" rot="-2700000">
              <a:off x="7333801" y="2490445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140°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2" name="Google Shape;1432;p107"/>
            <p:cNvSpPr/>
            <p:nvPr/>
          </p:nvSpPr>
          <p:spPr>
            <a:xfrm flipH="1" rot="-2700000">
              <a:off x="7223943" y="2386218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130°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3" name="Google Shape;1433;p107"/>
            <p:cNvSpPr/>
            <p:nvPr/>
          </p:nvSpPr>
          <p:spPr>
            <a:xfrm flipH="1" rot="-2700000">
              <a:off x="7115479" y="2302008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4" name="Google Shape;1434;p107"/>
            <p:cNvSpPr/>
            <p:nvPr/>
          </p:nvSpPr>
          <p:spPr>
            <a:xfrm flipH="1" rot="-2700000">
              <a:off x="6984735" y="2240472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110°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5" name="Google Shape;1435;p107"/>
            <p:cNvSpPr/>
            <p:nvPr/>
          </p:nvSpPr>
          <p:spPr>
            <a:xfrm flipH="1" rot="-2700000">
              <a:off x="6834905" y="2195076"/>
              <a:ext cx="208738" cy="907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100°</a:t>
              </a:r>
              <a:endParaRPr b="0" i="0" sz="10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6" name="Google Shape;1436;p107"/>
            <p:cNvGrpSpPr/>
            <p:nvPr/>
          </p:nvGrpSpPr>
          <p:grpSpPr>
            <a:xfrm flipH="1">
              <a:off x="5716786" y="2170288"/>
              <a:ext cx="930273" cy="888583"/>
              <a:chOff x="5430598" y="2148858"/>
              <a:chExt cx="930273" cy="888583"/>
            </a:xfrm>
          </p:grpSpPr>
          <p:sp>
            <p:nvSpPr>
              <p:cNvPr id="1437" name="Google Shape;1437;p107"/>
              <p:cNvSpPr/>
              <p:nvPr/>
            </p:nvSpPr>
            <p:spPr>
              <a:xfrm flipH="1" rot="-899705">
                <a:off x="6144018" y="2921305"/>
                <a:ext cx="208707" cy="9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8" name="Google Shape;1438;p107"/>
              <p:cNvSpPr/>
              <p:nvPr/>
            </p:nvSpPr>
            <p:spPr>
              <a:xfrm flipH="1" rot="-899705">
                <a:off x="6101285" y="2782130"/>
                <a:ext cx="208707" cy="90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9" name="Google Shape;1439;p107"/>
              <p:cNvSpPr/>
              <p:nvPr/>
            </p:nvSpPr>
            <p:spPr>
              <a:xfrm flipH="1" rot="-1799392">
                <a:off x="6032824" y="2627483"/>
                <a:ext cx="208864" cy="90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30°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0" name="Google Shape;1440;p107"/>
              <p:cNvSpPr/>
              <p:nvPr/>
            </p:nvSpPr>
            <p:spPr>
              <a:xfrm flipH="1" rot="-2700000">
                <a:off x="5943712" y="2499512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40°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1" name="Google Shape;1441;p107"/>
              <p:cNvSpPr/>
              <p:nvPr/>
            </p:nvSpPr>
            <p:spPr>
              <a:xfrm flipH="1" rot="-2700000">
                <a:off x="5838614" y="2388371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50°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2" name="Google Shape;1442;p107"/>
              <p:cNvSpPr/>
              <p:nvPr/>
            </p:nvSpPr>
            <p:spPr>
              <a:xfrm flipH="1" rot="-2700000">
                <a:off x="5719388" y="2302694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3" name="Google Shape;1443;p107"/>
              <p:cNvSpPr/>
              <p:nvPr/>
            </p:nvSpPr>
            <p:spPr>
              <a:xfrm flipH="1" rot="-2700000">
                <a:off x="5584339" y="2236166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70°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44" name="Google Shape;1444;p107"/>
              <p:cNvSpPr/>
              <p:nvPr/>
            </p:nvSpPr>
            <p:spPr>
              <a:xfrm flipH="1" rot="-2700000">
                <a:off x="5432129" y="2209362"/>
                <a:ext cx="208738" cy="907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GB" sz="1050" u="none" cap="none" strike="noStrike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80°</a:t>
                </a:r>
                <a:endParaRPr b="0" i="0" sz="105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45" name="Google Shape;1445;p107"/>
          <p:cNvGrpSpPr/>
          <p:nvPr/>
        </p:nvGrpSpPr>
        <p:grpSpPr>
          <a:xfrm>
            <a:off x="4940755" y="1350938"/>
            <a:ext cx="730181" cy="772092"/>
            <a:chOff x="4940755" y="1350938"/>
            <a:chExt cx="730181" cy="772092"/>
          </a:xfrm>
        </p:grpSpPr>
        <p:cxnSp>
          <p:nvCxnSpPr>
            <p:cNvPr id="1446" name="Google Shape;1446;p107"/>
            <p:cNvCxnSpPr/>
            <p:nvPr/>
          </p:nvCxnSpPr>
          <p:spPr>
            <a:xfrm rot="2700000">
              <a:off x="4837678" y="1874180"/>
              <a:ext cx="703854" cy="0"/>
            </a:xfrm>
            <a:prstGeom prst="straightConnector1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7" name="Google Shape;1447;p107"/>
            <p:cNvCxnSpPr/>
            <p:nvPr/>
          </p:nvCxnSpPr>
          <p:spPr>
            <a:xfrm rot="3300119">
              <a:off x="5117428" y="1639088"/>
              <a:ext cx="703515" cy="0"/>
            </a:xfrm>
            <a:prstGeom prst="straightConnector1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448" name="Google Shape;1448;p107"/>
          <p:cNvGrpSpPr/>
          <p:nvPr/>
        </p:nvGrpSpPr>
        <p:grpSpPr>
          <a:xfrm flipH="1">
            <a:off x="7674647" y="1369343"/>
            <a:ext cx="730181" cy="772092"/>
            <a:chOff x="4940755" y="1350938"/>
            <a:chExt cx="730181" cy="772092"/>
          </a:xfrm>
        </p:grpSpPr>
        <p:cxnSp>
          <p:nvCxnSpPr>
            <p:cNvPr id="1449" name="Google Shape;1449;p107"/>
            <p:cNvCxnSpPr/>
            <p:nvPr/>
          </p:nvCxnSpPr>
          <p:spPr>
            <a:xfrm rot="2700000">
              <a:off x="4837678" y="1874180"/>
              <a:ext cx="703854" cy="0"/>
            </a:xfrm>
            <a:prstGeom prst="straightConnector1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50" name="Google Shape;1450;p107"/>
            <p:cNvCxnSpPr/>
            <p:nvPr/>
          </p:nvCxnSpPr>
          <p:spPr>
            <a:xfrm rot="3300119">
              <a:off x="5117428" y="1639088"/>
              <a:ext cx="703515" cy="0"/>
            </a:xfrm>
            <a:prstGeom prst="straightConnector1">
              <a:avLst/>
            </a:prstGeom>
            <a:noFill/>
            <a:ln cap="flat" cmpd="sng" w="38100">
              <a:solidFill>
                <a:srgbClr val="374CF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451" name="Google Shape;1451;p107"/>
          <p:cNvGrpSpPr/>
          <p:nvPr/>
        </p:nvGrpSpPr>
        <p:grpSpPr>
          <a:xfrm>
            <a:off x="4615887" y="1308731"/>
            <a:ext cx="331927" cy="331927"/>
            <a:chOff x="1020916" y="1442088"/>
            <a:chExt cx="457200" cy="457200"/>
          </a:xfrm>
        </p:grpSpPr>
        <p:pic>
          <p:nvPicPr>
            <p:cNvPr id="1452" name="Google Shape;1452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3" name="Google Shape;1453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4" name="Google Shape;1454;p107"/>
          <p:cNvGrpSpPr/>
          <p:nvPr/>
        </p:nvGrpSpPr>
        <p:grpSpPr>
          <a:xfrm>
            <a:off x="5069136" y="999895"/>
            <a:ext cx="331927" cy="331927"/>
            <a:chOff x="1020916" y="1442088"/>
            <a:chExt cx="457200" cy="457200"/>
          </a:xfrm>
        </p:grpSpPr>
        <p:pic>
          <p:nvPicPr>
            <p:cNvPr id="1455" name="Google Shape;1455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6" name="Google Shape;1456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7" name="Google Shape;1457;p107"/>
          <p:cNvGrpSpPr/>
          <p:nvPr/>
        </p:nvGrpSpPr>
        <p:grpSpPr>
          <a:xfrm flipH="1">
            <a:off x="7952330" y="999895"/>
            <a:ext cx="785176" cy="640763"/>
            <a:chOff x="8139308" y="999895"/>
            <a:chExt cx="785176" cy="640763"/>
          </a:xfrm>
        </p:grpSpPr>
        <p:grpSp>
          <p:nvGrpSpPr>
            <p:cNvPr id="1458" name="Google Shape;1458;p107"/>
            <p:cNvGrpSpPr/>
            <p:nvPr/>
          </p:nvGrpSpPr>
          <p:grpSpPr>
            <a:xfrm>
              <a:off x="8139308" y="1308731"/>
              <a:ext cx="331927" cy="331927"/>
              <a:chOff x="1020916" y="1442088"/>
              <a:chExt cx="457200" cy="457200"/>
            </a:xfrm>
          </p:grpSpPr>
          <p:pic>
            <p:nvPicPr>
              <p:cNvPr id="1459" name="Google Shape;1459;p10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0" name="Google Shape;1460;p107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61" name="Google Shape;1461;p107"/>
            <p:cNvGrpSpPr/>
            <p:nvPr/>
          </p:nvGrpSpPr>
          <p:grpSpPr>
            <a:xfrm>
              <a:off x="8592557" y="999895"/>
              <a:ext cx="331927" cy="331927"/>
              <a:chOff x="1020916" y="1442088"/>
              <a:chExt cx="457200" cy="457200"/>
            </a:xfrm>
          </p:grpSpPr>
          <p:pic>
            <p:nvPicPr>
              <p:cNvPr id="1462" name="Google Shape;1462;p10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3" name="Google Shape;1463;p107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1464" name="Google Shape;1464;p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8853" y="84264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107"/>
          <p:cNvSpPr txBox="1"/>
          <p:nvPr/>
        </p:nvSpPr>
        <p:spPr>
          <a:xfrm>
            <a:off x="324000" y="2867788"/>
            <a:ext cx="4299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Remember to always start at 0° and find your angle clockwise.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08"/>
          <p:cNvSpPr txBox="1"/>
          <p:nvPr>
            <p:ph idx="1" type="body"/>
          </p:nvPr>
        </p:nvSpPr>
        <p:spPr>
          <a:xfrm>
            <a:off x="323848" y="646422"/>
            <a:ext cx="62328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1) The table shows both the frequency and the angles required to represent the data on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The pie chart has been fully constructed, but not labelled. 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Label each sector of the pie chart                                           with the correct Key Stage.</a:t>
            </a:r>
            <a:endParaRPr/>
          </a:p>
        </p:txBody>
      </p:sp>
      <p:sp>
        <p:nvSpPr>
          <p:cNvPr id="1471" name="Google Shape;1471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472" name="Google Shape;1472;p108"/>
          <p:cNvGrpSpPr/>
          <p:nvPr/>
        </p:nvGrpSpPr>
        <p:grpSpPr>
          <a:xfrm>
            <a:off x="5604072" y="1206353"/>
            <a:ext cx="2987903" cy="2987903"/>
            <a:chOff x="4873400" y="874825"/>
            <a:chExt cx="3549000" cy="3549000"/>
          </a:xfrm>
        </p:grpSpPr>
        <p:sp>
          <p:nvSpPr>
            <p:cNvPr id="1473" name="Google Shape;1473;p108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4" name="Google Shape;1474;p108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5" name="Google Shape;1475;p108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476" name="Google Shape;1476;p108"/>
          <p:cNvGraphicFramePr/>
          <p:nvPr/>
        </p:nvGraphicFramePr>
        <p:xfrm>
          <a:off x="323850" y="312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{D3CFB392-2045-4163-971B-35FCE3392696}</a:tableStyleId>
              </a:tblPr>
              <a:tblGrid>
                <a:gridCol w="1162050"/>
                <a:gridCol w="1162050"/>
                <a:gridCol w="117157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KS1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KS3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228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142.5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576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77" name="Google Shape;1477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056742" y="1030128"/>
            <a:ext cx="4082734" cy="33404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08"/>
          <p:cNvSpPr/>
          <p:nvPr/>
        </p:nvSpPr>
        <p:spPr>
          <a:xfrm>
            <a:off x="323850" y="4529625"/>
            <a:ext cx="1162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09"/>
          <p:cNvSpPr txBox="1"/>
          <p:nvPr>
            <p:ph idx="1" type="body"/>
          </p:nvPr>
        </p:nvSpPr>
        <p:spPr>
          <a:xfrm>
            <a:off x="323849" y="759301"/>
            <a:ext cx="30645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2) The table shows both the angles required to represent this data on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Construct the pie chart.</a:t>
            </a:r>
            <a:endParaRPr/>
          </a:p>
        </p:txBody>
      </p:sp>
      <p:sp>
        <p:nvSpPr>
          <p:cNvPr id="1484" name="Google Shape;1484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485" name="Google Shape;1485;p109"/>
          <p:cNvGrpSpPr/>
          <p:nvPr/>
        </p:nvGrpSpPr>
        <p:grpSpPr>
          <a:xfrm>
            <a:off x="5065355" y="1206353"/>
            <a:ext cx="2987903" cy="2987903"/>
            <a:chOff x="4873400" y="874825"/>
            <a:chExt cx="3549000" cy="3549000"/>
          </a:xfrm>
        </p:grpSpPr>
        <p:sp>
          <p:nvSpPr>
            <p:cNvPr id="1486" name="Google Shape;1486;p109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7" name="Google Shape;1487;p109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8" name="Google Shape;1488;p109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489" name="Google Shape;1489;p109"/>
          <p:cNvGraphicFramePr/>
          <p:nvPr/>
        </p:nvGraphicFramePr>
        <p:xfrm>
          <a:off x="323850" y="312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{D3CFB392-2045-4163-971B-35FCE3392696}</a:tableStyleId>
              </a:tblPr>
              <a:tblGrid>
                <a:gridCol w="1162050"/>
                <a:gridCol w="1171575"/>
              </a:tblGrid>
              <a:tr h="22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Primary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Secondary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College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0" name="Google Shape;1490;p109"/>
          <p:cNvSpPr/>
          <p:nvPr/>
        </p:nvSpPr>
        <p:spPr>
          <a:xfrm>
            <a:off x="324000" y="4255700"/>
            <a:ext cx="1162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10"/>
          <p:cNvSpPr txBox="1"/>
          <p:nvPr>
            <p:ph idx="1" type="body"/>
          </p:nvPr>
        </p:nvSpPr>
        <p:spPr>
          <a:xfrm>
            <a:off x="323849" y="759301"/>
            <a:ext cx="39078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3) The table shows both the frequency and most of the angles required to represent the data on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Construct the pie chart.</a:t>
            </a:r>
            <a:endParaRPr/>
          </a:p>
        </p:txBody>
      </p:sp>
      <p:sp>
        <p:nvSpPr>
          <p:cNvPr id="1496" name="Google Shape;1496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497" name="Google Shape;1497;p110"/>
          <p:cNvGrpSpPr/>
          <p:nvPr/>
        </p:nvGrpSpPr>
        <p:grpSpPr>
          <a:xfrm>
            <a:off x="5065355" y="1206353"/>
            <a:ext cx="2987903" cy="2987903"/>
            <a:chOff x="4873400" y="874825"/>
            <a:chExt cx="3549000" cy="3549000"/>
          </a:xfrm>
        </p:grpSpPr>
        <p:sp>
          <p:nvSpPr>
            <p:cNvPr id="1498" name="Google Shape;1498;p110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9" name="Google Shape;1499;p110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500" name="Google Shape;1500;p110"/>
          <p:cNvGraphicFramePr/>
          <p:nvPr/>
        </p:nvGraphicFramePr>
        <p:xfrm>
          <a:off x="323850" y="312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{D3CFB392-2045-4163-971B-35FCE3392696}</a:tableStyleId>
              </a:tblPr>
              <a:tblGrid>
                <a:gridCol w="1162050"/>
                <a:gridCol w="1162050"/>
                <a:gridCol w="117157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Footwear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Trainers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Boots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0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b="0" sz="16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1" name="Google Shape;1501;p110"/>
          <p:cNvSpPr/>
          <p:nvPr/>
        </p:nvSpPr>
        <p:spPr>
          <a:xfrm>
            <a:off x="323850" y="4529625"/>
            <a:ext cx="1162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507" name="Google Shape;1507;p111"/>
          <p:cNvGrpSpPr/>
          <p:nvPr/>
        </p:nvGrpSpPr>
        <p:grpSpPr>
          <a:xfrm>
            <a:off x="5604072" y="1206353"/>
            <a:ext cx="2987903" cy="2987903"/>
            <a:chOff x="4873400" y="874825"/>
            <a:chExt cx="3549000" cy="3549000"/>
          </a:xfrm>
        </p:grpSpPr>
        <p:sp>
          <p:nvSpPr>
            <p:cNvPr id="1508" name="Google Shape;1508;p111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9" name="Google Shape;1509;p111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0" name="Google Shape;1510;p111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1" name="Google Shape;1511;p111"/>
          <p:cNvSpPr txBox="1"/>
          <p:nvPr/>
        </p:nvSpPr>
        <p:spPr>
          <a:xfrm>
            <a:off x="323848" y="646422"/>
            <a:ext cx="62328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The table shows both the frequency and the angles required to represent the data on a pie chart.</a:t>
            </a:r>
            <a:endParaRPr/>
          </a:p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pie chart has been fully constructed, but not labelled. </a:t>
            </a:r>
            <a:endParaRPr/>
          </a:p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 each sector of the pie chart                                           with the correct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 Stage</a:t>
            </a:r>
            <a:r>
              <a:rPr b="0" i="0" lang="en-GB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pic>
        <p:nvPicPr>
          <p:cNvPr id="1512" name="Google Shape;1512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5056742" y="1030128"/>
            <a:ext cx="4082734" cy="33404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111"/>
          <p:cNvSpPr txBox="1"/>
          <p:nvPr/>
        </p:nvSpPr>
        <p:spPr>
          <a:xfrm>
            <a:off x="5751234" y="2250513"/>
            <a:ext cx="8598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KS1</a:t>
            </a:r>
            <a:endParaRPr/>
          </a:p>
        </p:txBody>
      </p:sp>
      <p:sp>
        <p:nvSpPr>
          <p:cNvPr id="1514" name="Google Shape;1514;p111"/>
          <p:cNvSpPr txBox="1"/>
          <p:nvPr/>
        </p:nvSpPr>
        <p:spPr>
          <a:xfrm>
            <a:off x="6556743" y="1687956"/>
            <a:ext cx="8598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KS2</a:t>
            </a:r>
            <a:endParaRPr/>
          </a:p>
        </p:txBody>
      </p:sp>
      <p:sp>
        <p:nvSpPr>
          <p:cNvPr id="1515" name="Google Shape;1515;p111"/>
          <p:cNvSpPr txBox="1"/>
          <p:nvPr/>
        </p:nvSpPr>
        <p:spPr>
          <a:xfrm>
            <a:off x="7274343" y="2698171"/>
            <a:ext cx="8598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KS3</a:t>
            </a:r>
            <a:endParaRPr/>
          </a:p>
        </p:txBody>
      </p:sp>
      <p:sp>
        <p:nvSpPr>
          <p:cNvPr id="1516" name="Google Shape;1516;p111"/>
          <p:cNvSpPr txBox="1"/>
          <p:nvPr/>
        </p:nvSpPr>
        <p:spPr>
          <a:xfrm>
            <a:off x="6048055" y="3088298"/>
            <a:ext cx="8598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KS4</a:t>
            </a:r>
            <a:endParaRPr/>
          </a:p>
        </p:txBody>
      </p:sp>
      <p:graphicFrame>
        <p:nvGraphicFramePr>
          <p:cNvPr id="1517" name="Google Shape;1517;p111"/>
          <p:cNvGraphicFramePr/>
          <p:nvPr/>
        </p:nvGraphicFramePr>
        <p:xfrm>
          <a:off x="323850" y="312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{D3CFB392-2045-4163-971B-35FCE3392696}</a:tableStyleId>
              </a:tblPr>
              <a:tblGrid>
                <a:gridCol w="1162050"/>
                <a:gridCol w="1162050"/>
                <a:gridCol w="117157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KS1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KS3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228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142.5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KS4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576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8" name="Google Shape;1518;p111"/>
          <p:cNvSpPr/>
          <p:nvPr/>
        </p:nvSpPr>
        <p:spPr>
          <a:xfrm>
            <a:off x="323850" y="4529625"/>
            <a:ext cx="1162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524" name="Google Shape;1524;p112"/>
          <p:cNvGrpSpPr/>
          <p:nvPr/>
        </p:nvGrpSpPr>
        <p:grpSpPr>
          <a:xfrm>
            <a:off x="5065355" y="1206353"/>
            <a:ext cx="2987903" cy="2987903"/>
            <a:chOff x="4873400" y="874825"/>
            <a:chExt cx="3549000" cy="3549000"/>
          </a:xfrm>
        </p:grpSpPr>
        <p:sp>
          <p:nvSpPr>
            <p:cNvPr id="1525" name="Google Shape;1525;p112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526" name="Google Shape;1526;p112"/>
            <p:cNvCxnSpPr/>
            <p:nvPr/>
          </p:nvCxnSpPr>
          <p:spPr>
            <a:xfrm rot="10800000">
              <a:off x="4873400" y="2649325"/>
              <a:ext cx="1774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7" name="Google Shape;1527;p112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528" name="Google Shape;1528;p112"/>
          <p:cNvSpPr txBox="1"/>
          <p:nvPr>
            <p:ph idx="1" type="body"/>
          </p:nvPr>
        </p:nvSpPr>
        <p:spPr>
          <a:xfrm>
            <a:off x="323849" y="759301"/>
            <a:ext cx="30645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2) The table shows both the angles required to represent this data on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Construct this pie chart.</a:t>
            </a:r>
            <a:endParaRPr/>
          </a:p>
        </p:txBody>
      </p:sp>
      <p:pic>
        <p:nvPicPr>
          <p:cNvPr id="1529" name="Google Shape;1529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582124" y="1037215"/>
            <a:ext cx="3954535" cy="33262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112"/>
          <p:cNvSpPr txBox="1"/>
          <p:nvPr/>
        </p:nvSpPr>
        <p:spPr>
          <a:xfrm>
            <a:off x="5751631" y="1881596"/>
            <a:ext cx="15564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Primary</a:t>
            </a:r>
            <a:endParaRPr/>
          </a:p>
        </p:txBody>
      </p:sp>
      <p:sp>
        <p:nvSpPr>
          <p:cNvPr id="1531" name="Google Shape;1531;p112"/>
          <p:cNvSpPr txBox="1"/>
          <p:nvPr/>
        </p:nvSpPr>
        <p:spPr>
          <a:xfrm>
            <a:off x="6508608" y="2903737"/>
            <a:ext cx="15564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Secondary</a:t>
            </a:r>
            <a:endParaRPr/>
          </a:p>
        </p:txBody>
      </p:sp>
      <p:sp>
        <p:nvSpPr>
          <p:cNvPr id="1532" name="Google Shape;1532;p112"/>
          <p:cNvSpPr txBox="1"/>
          <p:nvPr/>
        </p:nvSpPr>
        <p:spPr>
          <a:xfrm>
            <a:off x="5115641" y="2903737"/>
            <a:ext cx="15564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College</a:t>
            </a:r>
            <a:endParaRPr/>
          </a:p>
        </p:txBody>
      </p:sp>
      <p:graphicFrame>
        <p:nvGraphicFramePr>
          <p:cNvPr id="1533" name="Google Shape;1533;p112"/>
          <p:cNvGraphicFramePr/>
          <p:nvPr/>
        </p:nvGraphicFramePr>
        <p:xfrm>
          <a:off x="323850" y="312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{D3CFB392-2045-4163-971B-35FCE3392696}</a:tableStyleId>
              </a:tblPr>
              <a:tblGrid>
                <a:gridCol w="1162050"/>
                <a:gridCol w="1171575"/>
              </a:tblGrid>
              <a:tr h="22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Key Stage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Primary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Secondary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College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4" name="Google Shape;1534;p112"/>
          <p:cNvSpPr/>
          <p:nvPr/>
        </p:nvSpPr>
        <p:spPr>
          <a:xfrm>
            <a:off x="324000" y="4255700"/>
            <a:ext cx="1162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</a:pPr>
            <a:r>
              <a:rPr lang="en-GB"/>
              <a:t>Constructing pie charts</a:t>
            </a:r>
            <a:endParaRPr/>
          </a:p>
        </p:txBody>
      </p:sp>
      <p:grpSp>
        <p:nvGrpSpPr>
          <p:cNvPr id="1540" name="Google Shape;1540;p113"/>
          <p:cNvGrpSpPr/>
          <p:nvPr/>
        </p:nvGrpSpPr>
        <p:grpSpPr>
          <a:xfrm>
            <a:off x="5065355" y="1206353"/>
            <a:ext cx="2987903" cy="2987903"/>
            <a:chOff x="4873400" y="874825"/>
            <a:chExt cx="3549000" cy="3549000"/>
          </a:xfrm>
        </p:grpSpPr>
        <p:sp>
          <p:nvSpPr>
            <p:cNvPr id="1541" name="Google Shape;1541;p113"/>
            <p:cNvSpPr/>
            <p:nvPr/>
          </p:nvSpPr>
          <p:spPr>
            <a:xfrm>
              <a:off x="4873400" y="874825"/>
              <a:ext cx="3549000" cy="3549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113"/>
            <p:cNvSpPr/>
            <p:nvPr/>
          </p:nvSpPr>
          <p:spPr>
            <a:xfrm>
              <a:off x="6514000" y="2515425"/>
              <a:ext cx="267900" cy="267900"/>
            </a:xfrm>
            <a:prstGeom prst="mathMultiply">
              <a:avLst>
                <a:gd fmla="val 1951" name="adj1"/>
              </a:avLst>
            </a:prstGeom>
            <a:solidFill>
              <a:schemeClr val="dk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543" name="Google Shape;1543;p113"/>
          <p:cNvGraphicFramePr/>
          <p:nvPr/>
        </p:nvGraphicFramePr>
        <p:xfrm>
          <a:off x="323850" y="312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{D3CFB392-2045-4163-971B-35FCE3392696}</a:tableStyleId>
              </a:tblPr>
              <a:tblGrid>
                <a:gridCol w="1162050"/>
                <a:gridCol w="1162050"/>
                <a:gridCol w="117157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Footwear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Trainers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Boots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600" u="none" cap="none" strike="noStrike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170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Flip-Flops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6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GB" sz="16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525" marB="0" marR="9525" marL="95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4" name="Google Shape;1544;p113"/>
          <p:cNvSpPr txBox="1"/>
          <p:nvPr>
            <p:ph idx="1" type="body"/>
          </p:nvPr>
        </p:nvSpPr>
        <p:spPr>
          <a:xfrm>
            <a:off x="323849" y="759301"/>
            <a:ext cx="39078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3) The table shows both the frequency and most of the angles required to represent the data on a pie chart.</a:t>
            </a:r>
            <a:endParaRPr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 sz="1800"/>
              <a:t>Construct this pie chart.</a:t>
            </a:r>
            <a:endParaRPr/>
          </a:p>
        </p:txBody>
      </p:sp>
      <p:pic>
        <p:nvPicPr>
          <p:cNvPr id="1545" name="Google Shape;154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868920" y="806788"/>
            <a:ext cx="3380942" cy="379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113"/>
          <p:cNvSpPr txBox="1"/>
          <p:nvPr/>
        </p:nvSpPr>
        <p:spPr>
          <a:xfrm>
            <a:off x="5413198" y="1929044"/>
            <a:ext cx="1146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Trainers</a:t>
            </a:r>
            <a:endParaRPr/>
          </a:p>
        </p:txBody>
      </p:sp>
      <p:sp>
        <p:nvSpPr>
          <p:cNvPr id="1547" name="Google Shape;1547;p113"/>
          <p:cNvSpPr txBox="1"/>
          <p:nvPr/>
        </p:nvSpPr>
        <p:spPr>
          <a:xfrm>
            <a:off x="6672123" y="2744462"/>
            <a:ext cx="1146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Boots</a:t>
            </a:r>
            <a:endParaRPr/>
          </a:p>
        </p:txBody>
      </p:sp>
      <p:sp>
        <p:nvSpPr>
          <p:cNvPr id="1548" name="Google Shape;1548;p113"/>
          <p:cNvSpPr txBox="1"/>
          <p:nvPr/>
        </p:nvSpPr>
        <p:spPr>
          <a:xfrm rot="-4227227">
            <a:off x="5537346" y="3939540"/>
            <a:ext cx="1257147" cy="337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Flip-Flops</a:t>
            </a:r>
            <a:endParaRPr/>
          </a:p>
        </p:txBody>
      </p:sp>
      <p:sp>
        <p:nvSpPr>
          <p:cNvPr id="1549" name="Google Shape;1549;p113"/>
          <p:cNvSpPr txBox="1"/>
          <p:nvPr/>
        </p:nvSpPr>
        <p:spPr>
          <a:xfrm>
            <a:off x="5223672" y="2893078"/>
            <a:ext cx="1146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89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Other</a:t>
            </a:r>
            <a:endParaRPr/>
          </a:p>
        </p:txBody>
      </p:sp>
      <p:sp>
        <p:nvSpPr>
          <p:cNvPr id="1550" name="Google Shape;1550;p113"/>
          <p:cNvSpPr/>
          <p:nvPr/>
        </p:nvSpPr>
        <p:spPr>
          <a:xfrm>
            <a:off x="323850" y="4529625"/>
            <a:ext cx="11622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14"/>
          <p:cNvSpPr txBox="1"/>
          <p:nvPr>
            <p:ph idx="1" type="body"/>
          </p:nvPr>
        </p:nvSpPr>
        <p:spPr>
          <a:xfrm>
            <a:off x="324000" y="810000"/>
            <a:ext cx="84960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Pie charts can be </a:t>
            </a:r>
            <a:r>
              <a:rPr lang="en-GB"/>
              <a:t>constructed by filling in pre-made sectors of a circle proportional to the frequency of data in a dataset.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GB"/>
              <a:t>The angles of a pie chart representing a dataset can be found through proportional reasoning by comparing the total frequencies of the dataset to the total angle of a pie chart, 360°.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None/>
            </a:pPr>
            <a:r>
              <a:rPr lang="en-GB"/>
              <a:t>A pie chart can be constructed from scratch by using a protractor to measure the angles.</a:t>
            </a:r>
            <a:endParaRPr/>
          </a:p>
        </p:txBody>
      </p:sp>
      <p:sp>
        <p:nvSpPr>
          <p:cNvPr id="1556" name="Google Shape;1556;p11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Constructing pie charts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1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62" name="Google Shape;1562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