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23C591-D075-4BBB-BE7C-51F814C70CB9}">
  <a:tblStyle styleId="{8C23C591-D075-4BBB-BE7C-51F814C70C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3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4bf869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4bf869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84bf8699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84bf8699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84bf8699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84bf8699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984bf8699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984bf8699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984bf8699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984bf869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984bf8699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984bf8699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984bf8699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984bf8699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984bf8699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984bf8699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984bf8699f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984bf8699f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84bf8699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84bf8699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984bf8699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984bf8699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984bf8699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984bf8699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984bf8699f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984bf8699f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984bf8699f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84bf8699f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984bf8699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984bf8699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984bf8699f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984bf8699f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84bf8699f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84bf8699f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984bf8699f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984bf8699f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984bf8699f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984bf8699f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984bf8699f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984bf8699f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84bf8699f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84bf8699f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984bf8699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984bf8699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84bf8699f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84bf8699f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984bf8699f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84bf8699f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984bf8699f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984bf8699f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984bf8699f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84bf8699f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984bf8699f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984bf8699f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984bf8699f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984bf8699f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984bf8699f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984bf8699f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984bf8699f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984bf8699f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29925ed567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29925ed567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9925ed5675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9925ed5675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9925ed5675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9925ed5675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3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4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9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5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6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Relationship Id="rId5" Type="http://schemas.openxmlformats.org/officeDocument/2006/relationships/image" Target="../media/image6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intercept point from a graph and from two coordinate pairs.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2233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intercept is the coordinate where a line or curve meets a given axis. </a:t>
            </a:r>
            <a:r>
              <a:rPr lang="en-GB"/>
              <a:t>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gradient is a measure of how steep a line is. It is calculated by finding the rate of change in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-direction with respect to the positive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-direction.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240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relationship between two variables is linear if, when plotted on a pair of axes, a straight line is formed.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tables of values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7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82377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in the graphs below?</a:t>
            </a:r>
            <a:endParaRPr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49900"/>
            <a:ext cx="3201546" cy="337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5" name="Google Shape;785;p69"/>
          <p:cNvSpPr txBox="1"/>
          <p:nvPr/>
        </p:nvSpPr>
        <p:spPr>
          <a:xfrm>
            <a:off x="3707925" y="1757700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graphs are straight lines.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3707925" y="2149050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all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have the same positive gradient.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3707925" y="3467100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have different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‘heights’ on the graph.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3707925" y="3855375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translations of one another.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3707925" y="2540400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all parallel.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3707925" y="1449900"/>
            <a:ext cx="1927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Similarities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 txBox="1"/>
          <p:nvPr/>
        </p:nvSpPr>
        <p:spPr>
          <a:xfrm>
            <a:off x="3707925" y="3099225"/>
            <a:ext cx="1927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Differences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/>
        </p:nvSpPr>
        <p:spPr>
          <a:xfrm>
            <a:off x="3707925" y="4243650"/>
            <a:ext cx="5467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cross the axes at different points.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324000" y="759300"/>
            <a:ext cx="75213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call the coordinate where a graph crosses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axis,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intercept.</a:t>
            </a:r>
            <a:endParaRPr sz="1900"/>
          </a:p>
        </p:txBody>
      </p:sp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89425"/>
            <a:ext cx="2974024" cy="3130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3470469" y="1383900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any </a:t>
            </a:r>
            <a:r>
              <a:rPr lang="en-GB" sz="2000">
                <a:solidFill>
                  <a:schemeClr val="accent4"/>
                </a:solidFill>
              </a:rPr>
              <a:t>linear</a:t>
            </a:r>
            <a:r>
              <a:rPr lang="en-GB" sz="2000"/>
              <a:t> relationship is plotted, it forms a straight line.</a:t>
            </a:r>
            <a:endParaRPr sz="1900"/>
          </a:p>
        </p:txBody>
      </p:sp>
      <p:sp>
        <p:nvSpPr>
          <p:cNvPr id="801" name="Google Shape;801;p70"/>
          <p:cNvSpPr txBox="1"/>
          <p:nvPr>
            <p:ph idx="1" type="body"/>
          </p:nvPr>
        </p:nvSpPr>
        <p:spPr>
          <a:xfrm>
            <a:off x="3470469" y="2252275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Almost</a:t>
            </a:r>
            <a:r>
              <a:rPr lang="en-GB" sz="2000"/>
              <a:t> all straight lines will have a coordinate where they cross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-axis. </a:t>
            </a:r>
            <a:endParaRPr sz="1900"/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470475" y="3650050"/>
            <a:ext cx="53496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Where are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-intercepts on these graphs?</a:t>
            </a:r>
            <a:endParaRPr sz="1900"/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681200"/>
            <a:ext cx="2563200" cy="315375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470469" y="4403400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are their coordinates?</a:t>
            </a:r>
            <a:endParaRPr sz="1900"/>
          </a:p>
        </p:txBody>
      </p:sp>
      <p:sp>
        <p:nvSpPr>
          <p:cNvPr id="805" name="Google Shape;805;p70"/>
          <p:cNvSpPr/>
          <p:nvPr/>
        </p:nvSpPr>
        <p:spPr>
          <a:xfrm>
            <a:off x="655675" y="2305050"/>
            <a:ext cx="82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0"/>
          <p:cNvSpPr/>
          <p:nvPr/>
        </p:nvSpPr>
        <p:spPr>
          <a:xfrm>
            <a:off x="655675" y="3050550"/>
            <a:ext cx="822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70"/>
          <p:cNvSpPr/>
          <p:nvPr/>
        </p:nvSpPr>
        <p:spPr>
          <a:xfrm>
            <a:off x="655675" y="3780000"/>
            <a:ext cx="99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8" name="Google Shape;808;p70"/>
          <p:cNvSpPr/>
          <p:nvPr/>
        </p:nvSpPr>
        <p:spPr>
          <a:xfrm>
            <a:off x="1478296" y="4509450"/>
            <a:ext cx="99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470469" y="3163463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Vertical lines are an exception.</a:t>
            </a:r>
            <a:r>
              <a:rPr lang="en-GB" sz="2000"/>
              <a:t>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324000" y="810000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 about these coordinates?</a:t>
            </a:r>
            <a:endParaRPr sz="1900"/>
          </a:p>
        </p:txBody>
      </p:sp>
      <p:sp>
        <p:nvSpPr>
          <p:cNvPr id="816" name="Google Shape;816;p71"/>
          <p:cNvSpPr txBox="1"/>
          <p:nvPr>
            <p:ph idx="1" type="body"/>
          </p:nvPr>
        </p:nvSpPr>
        <p:spPr>
          <a:xfrm>
            <a:off x="3369600" y="1339575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is zero.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7" name="Google Shape;817;p71"/>
          <p:cNvSpPr txBox="1"/>
          <p:nvPr>
            <p:ph idx="1" type="body"/>
          </p:nvPr>
        </p:nvSpPr>
        <p:spPr>
          <a:xfrm>
            <a:off x="3369600" y="2092950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Will this be the case for all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intercepts?</a:t>
            </a:r>
            <a:endParaRPr sz="1900"/>
          </a:p>
        </p:txBody>
      </p:sp>
      <p:pic>
        <p:nvPicPr>
          <p:cNvPr id="818" name="Google Shape;81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81200"/>
            <a:ext cx="2563200" cy="315375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9" name="Google Shape;819;p71"/>
          <p:cNvSpPr txBox="1"/>
          <p:nvPr>
            <p:ph idx="1" type="body"/>
          </p:nvPr>
        </p:nvSpPr>
        <p:spPr>
          <a:xfrm>
            <a:off x="3369600" y="2761200"/>
            <a:ext cx="5450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of any point on the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is 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0" name="Google Shape;820;p71"/>
          <p:cNvSpPr/>
          <p:nvPr/>
        </p:nvSpPr>
        <p:spPr>
          <a:xfrm>
            <a:off x="731875" y="2305050"/>
            <a:ext cx="69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(0,5)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1"/>
          <p:cNvSpPr/>
          <p:nvPr/>
        </p:nvSpPr>
        <p:spPr>
          <a:xfrm>
            <a:off x="731875" y="3050550"/>
            <a:ext cx="69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(0,2)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1"/>
          <p:cNvSpPr/>
          <p:nvPr/>
        </p:nvSpPr>
        <p:spPr>
          <a:xfrm>
            <a:off x="731875" y="3780000"/>
            <a:ext cx="83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1"/>
          <p:cNvSpPr/>
          <p:nvPr/>
        </p:nvSpPr>
        <p:spPr>
          <a:xfrm>
            <a:off x="1429675" y="4509450"/>
            <a:ext cx="83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3369600" y="3690150"/>
            <a:ext cx="5450400" cy="10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Another name for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-axis is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0</a:t>
            </a:r>
            <a:r>
              <a:rPr lang="en-GB" sz="2000"/>
              <a:t> </a:t>
            </a:r>
            <a:r>
              <a:rPr lang="en-GB" sz="2000"/>
              <a:t>because</a:t>
            </a:r>
            <a:r>
              <a:rPr lang="en-GB" sz="2000"/>
              <a:t> all coordinates on that line follow the rule ‘The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-coordinate is 0’</a:t>
            </a:r>
            <a:endParaRPr sz="1900"/>
          </a:p>
        </p:txBody>
      </p:sp>
      <p:cxnSp>
        <p:nvCxnSpPr>
          <p:cNvPr id="825" name="Google Shape;825;p71"/>
          <p:cNvCxnSpPr/>
          <p:nvPr/>
        </p:nvCxnSpPr>
        <p:spPr>
          <a:xfrm rot="10800000">
            <a:off x="1012275" y="1402000"/>
            <a:ext cx="410400" cy="56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71"/>
          <p:cNvSpPr txBox="1"/>
          <p:nvPr/>
        </p:nvSpPr>
        <p:spPr>
          <a:xfrm>
            <a:off x="324000" y="10389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0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i="1" lang="en-GB" sz="23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axis)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832" name="Google Shape;832;p7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could represent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intercept?</a:t>
            </a:r>
            <a:endParaRPr/>
          </a:p>
        </p:txBody>
      </p:sp>
      <p:sp>
        <p:nvSpPr>
          <p:cNvPr id="833" name="Google Shape;833;p7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(5,0)</a:t>
            </a:r>
            <a:endParaRPr/>
          </a:p>
        </p:txBody>
      </p:sp>
      <p:sp>
        <p:nvSpPr>
          <p:cNvPr id="834" name="Google Shape;834;p7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(0,0)</a:t>
            </a:r>
            <a:endParaRPr/>
          </a:p>
        </p:txBody>
      </p:sp>
      <p:sp>
        <p:nvSpPr>
          <p:cNvPr id="835" name="Google Shape;835;p7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/>
              <a:t>2)</a:t>
            </a:r>
            <a:endParaRPr/>
          </a:p>
        </p:txBody>
      </p:sp>
      <p:sp>
        <p:nvSpPr>
          <p:cNvPr id="836" name="Google Shape;836;p7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(0,5)</a:t>
            </a:r>
            <a:endParaRPr/>
          </a:p>
        </p:txBody>
      </p:sp>
      <p:pic>
        <p:nvPicPr>
          <p:cNvPr id="837" name="Google Shape;8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383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383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844" name="Google Shape;844;p73"/>
          <p:cNvSpPr txBox="1"/>
          <p:nvPr>
            <p:ph idx="1" type="body"/>
          </p:nvPr>
        </p:nvSpPr>
        <p:spPr>
          <a:xfrm>
            <a:off x="324000" y="734625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Because we know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has an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-</a:t>
            </a:r>
            <a:r>
              <a:rPr lang="en-GB" sz="1900"/>
              <a:t>coordinate of 0. We can find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from a linear relationship.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5" name="Google Shape;845;p73"/>
          <p:cNvSpPr txBox="1"/>
          <p:nvPr>
            <p:ph idx="1" type="body"/>
          </p:nvPr>
        </p:nvSpPr>
        <p:spPr>
          <a:xfrm>
            <a:off x="324000" y="1873625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Where would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</a:t>
            </a:r>
            <a:r>
              <a:rPr lang="en-GB" sz="1900"/>
              <a:t>ntercept be if we plotted the relationship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/>
              <a:t>?</a:t>
            </a:r>
            <a:endParaRPr sz="2000"/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24000" y="2540125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substitute zero (0) for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-</a:t>
            </a:r>
            <a:r>
              <a:rPr lang="en-GB" sz="1900"/>
              <a:t>value in the equation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/>
              <a:t>?</a:t>
            </a:r>
            <a:endParaRPr sz="2000"/>
          </a:p>
        </p:txBody>
      </p:sp>
      <p:sp>
        <p:nvSpPr>
          <p:cNvPr id="847" name="Google Shape;847;p73"/>
          <p:cNvSpPr txBox="1"/>
          <p:nvPr>
            <p:ph idx="1" type="body"/>
          </p:nvPr>
        </p:nvSpPr>
        <p:spPr>
          <a:xfrm>
            <a:off x="324000" y="3075688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(0) + 4</a:t>
            </a:r>
            <a:endParaRPr sz="2000"/>
          </a:p>
        </p:txBody>
      </p:sp>
      <p:sp>
        <p:nvSpPr>
          <p:cNvPr id="848" name="Google Shape;848;p73"/>
          <p:cNvSpPr txBox="1"/>
          <p:nvPr>
            <p:ph idx="1" type="body"/>
          </p:nvPr>
        </p:nvSpPr>
        <p:spPr>
          <a:xfrm>
            <a:off x="324000" y="3540600"/>
            <a:ext cx="12114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4</a:t>
            </a:r>
            <a:endParaRPr sz="2000"/>
          </a:p>
        </p:txBody>
      </p:sp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324000" y="4019400"/>
            <a:ext cx="82512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coordinate of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would be (0,4)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324000" y="810000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Where would the</a:t>
            </a:r>
            <a:r>
              <a:rPr lang="en-GB" sz="1900"/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be if we plotted the relationship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10</a:t>
            </a:r>
            <a:r>
              <a:rPr lang="en-GB" sz="1900"/>
              <a:t>?</a:t>
            </a:r>
            <a:endParaRPr sz="2000"/>
          </a:p>
        </p:txBody>
      </p:sp>
      <p:sp>
        <p:nvSpPr>
          <p:cNvPr id="856" name="Google Shape;856;p74"/>
          <p:cNvSpPr txBox="1"/>
          <p:nvPr>
            <p:ph idx="1" type="body"/>
          </p:nvPr>
        </p:nvSpPr>
        <p:spPr>
          <a:xfrm>
            <a:off x="324000" y="1620000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Again, w</a:t>
            </a:r>
            <a:r>
              <a:rPr lang="en-GB" sz="1900"/>
              <a:t>e can substitute (0) for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-</a:t>
            </a:r>
            <a:r>
              <a:rPr lang="en-GB" sz="1900"/>
              <a:t>value in the equation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10</a:t>
            </a:r>
            <a:endParaRPr sz="2000"/>
          </a:p>
        </p:txBody>
      </p:sp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324000" y="2332338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10</a:t>
            </a:r>
            <a:endParaRPr sz="2000"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324000" y="3073475"/>
            <a:ext cx="82512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has to be equal to 10 to make this true.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324000" y="3712550"/>
            <a:ext cx="82512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</a:t>
            </a:r>
            <a:r>
              <a:rPr lang="en-GB" sz="1900"/>
              <a:t>herefore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is (0,10)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865" name="Google Shape;865;p75"/>
          <p:cNvSpPr txBox="1"/>
          <p:nvPr>
            <p:ph idx="1" type="body"/>
          </p:nvPr>
        </p:nvSpPr>
        <p:spPr>
          <a:xfrm>
            <a:off x="324000" y="810000"/>
            <a:ext cx="84960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As </a:t>
            </a:r>
            <a:r>
              <a:rPr lang="en-GB" sz="1900">
                <a:solidFill>
                  <a:schemeClr val="accent4"/>
                </a:solidFill>
              </a:rPr>
              <a:t>almost</a:t>
            </a:r>
            <a:r>
              <a:rPr lang="en-GB" sz="1900"/>
              <a:t> all linear relationships will cross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axis when plotted, this method will work for graphs of </a:t>
            </a:r>
            <a:r>
              <a:rPr lang="en-GB" sz="1900">
                <a:solidFill>
                  <a:schemeClr val="accent4"/>
                </a:solidFill>
              </a:rPr>
              <a:t>most</a:t>
            </a:r>
            <a:r>
              <a:rPr lang="en-GB" sz="1900"/>
              <a:t> linear equations.</a:t>
            </a:r>
            <a:endParaRPr sz="2000"/>
          </a:p>
        </p:txBody>
      </p:sp>
      <p:sp>
        <p:nvSpPr>
          <p:cNvPr id="866" name="Google Shape;866;p75"/>
          <p:cNvSpPr txBox="1"/>
          <p:nvPr>
            <p:ph idx="1" type="body"/>
          </p:nvPr>
        </p:nvSpPr>
        <p:spPr>
          <a:xfrm>
            <a:off x="324000" y="1620000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Some can require more steps to find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intercept. </a:t>
            </a:r>
            <a:endParaRPr sz="2000"/>
          </a:p>
        </p:txBody>
      </p:sp>
      <p:sp>
        <p:nvSpPr>
          <p:cNvPr id="867" name="Google Shape;867;p75"/>
          <p:cNvSpPr txBox="1"/>
          <p:nvPr>
            <p:ph idx="1" type="body"/>
          </p:nvPr>
        </p:nvSpPr>
        <p:spPr>
          <a:xfrm>
            <a:off x="324000" y="2666263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(0)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endParaRPr sz="2000"/>
          </a:p>
        </p:txBody>
      </p:sp>
      <p:sp>
        <p:nvSpPr>
          <p:cNvPr id="868" name="Google Shape;868;p75"/>
          <p:cNvSpPr txBox="1"/>
          <p:nvPr>
            <p:ph idx="1" type="body"/>
          </p:nvPr>
        </p:nvSpPr>
        <p:spPr>
          <a:xfrm>
            <a:off x="324000" y="3629275"/>
            <a:ext cx="82512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has to be equal to 3 to make this true.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9" name="Google Shape;869;p75"/>
          <p:cNvSpPr txBox="1"/>
          <p:nvPr>
            <p:ph idx="1" type="body"/>
          </p:nvPr>
        </p:nvSpPr>
        <p:spPr>
          <a:xfrm>
            <a:off x="324000" y="4282850"/>
            <a:ext cx="82512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Therefore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is (0,3)</a:t>
            </a:r>
            <a:endParaRPr sz="1800"/>
          </a:p>
        </p:txBody>
      </p:sp>
      <p:sp>
        <p:nvSpPr>
          <p:cNvPr id="870" name="Google Shape;870;p75"/>
          <p:cNvSpPr txBox="1"/>
          <p:nvPr>
            <p:ph idx="1" type="body"/>
          </p:nvPr>
        </p:nvSpPr>
        <p:spPr>
          <a:xfrm>
            <a:off x="324000" y="2190300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Where would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be for the relationship</a:t>
            </a:r>
            <a:r>
              <a:rPr lang="en-GB" sz="1900"/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 </a:t>
            </a:r>
            <a:r>
              <a:rPr lang="en-GB" sz="1900">
                <a:solidFill>
                  <a:srgbClr val="222222"/>
                </a:solidFill>
              </a:rPr>
              <a:t>?</a:t>
            </a:r>
            <a:endParaRPr sz="1800"/>
          </a:p>
        </p:txBody>
      </p:sp>
      <p:sp>
        <p:nvSpPr>
          <p:cNvPr id="871" name="Google Shape;871;p75"/>
          <p:cNvSpPr txBox="1"/>
          <p:nvPr>
            <p:ph idx="1" type="body"/>
          </p:nvPr>
        </p:nvSpPr>
        <p:spPr>
          <a:xfrm>
            <a:off x="324000" y="3105288"/>
            <a:ext cx="8496000" cy="4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6"/>
          <p:cNvSpPr txBox="1"/>
          <p:nvPr>
            <p:ph idx="1" type="subTitle"/>
          </p:nvPr>
        </p:nvSpPr>
        <p:spPr>
          <a:xfrm>
            <a:off x="1034425" y="1685375"/>
            <a:ext cx="2335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+ 0 = 4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7" name="Google Shape;877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878" name="Google Shape;878;p7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value of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will make each equation true?</a:t>
            </a:r>
            <a:endParaRPr/>
          </a:p>
        </p:txBody>
      </p:sp>
      <p:sp>
        <p:nvSpPr>
          <p:cNvPr id="879" name="Google Shape;879;p76"/>
          <p:cNvSpPr txBox="1"/>
          <p:nvPr>
            <p:ph idx="3" type="subTitle"/>
          </p:nvPr>
        </p:nvSpPr>
        <p:spPr>
          <a:xfrm>
            <a:off x="1034425" y="2489450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= 0 −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4</a:t>
            </a:r>
            <a:endParaRPr/>
          </a:p>
        </p:txBody>
      </p:sp>
      <p:sp>
        <p:nvSpPr>
          <p:cNvPr id="880" name="Google Shape;880;p76"/>
          <p:cNvSpPr txBox="1"/>
          <p:nvPr>
            <p:ph idx="4" type="subTitle"/>
          </p:nvPr>
        </p:nvSpPr>
        <p:spPr>
          <a:xfrm>
            <a:off x="1034425" y="3309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latin typeface="Times"/>
                <a:ea typeface="Times"/>
                <a:cs typeface="Times"/>
                <a:sym typeface="Times"/>
              </a:rPr>
              <a:t> 0 + </a:t>
            </a: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2 = 4</a:t>
            </a:r>
            <a:endParaRPr/>
          </a:p>
        </p:txBody>
      </p:sp>
      <p:sp>
        <p:nvSpPr>
          <p:cNvPr id="881" name="Google Shape;881;p76"/>
          <p:cNvSpPr txBox="1"/>
          <p:nvPr>
            <p:ph idx="5" type="subTitle"/>
          </p:nvPr>
        </p:nvSpPr>
        <p:spPr>
          <a:xfrm>
            <a:off x="1034425" y="4113825"/>
            <a:ext cx="2335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+ 0 = 0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2" name="Google Shape;882;p76"/>
          <p:cNvSpPr txBox="1"/>
          <p:nvPr>
            <p:ph idx="1" type="subTitle"/>
          </p:nvPr>
        </p:nvSpPr>
        <p:spPr>
          <a:xfrm>
            <a:off x="4320000" y="1685375"/>
            <a:ext cx="2335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= 4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3" name="Google Shape;883;p76"/>
          <p:cNvSpPr txBox="1"/>
          <p:nvPr>
            <p:ph idx="1" type="subTitle"/>
          </p:nvPr>
        </p:nvSpPr>
        <p:spPr>
          <a:xfrm>
            <a:off x="4320000" y="2403950"/>
            <a:ext cx="2335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4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4" name="Google Shape;884;p76"/>
          <p:cNvSpPr txBox="1"/>
          <p:nvPr>
            <p:ph idx="1" type="subTitle"/>
          </p:nvPr>
        </p:nvSpPr>
        <p:spPr>
          <a:xfrm>
            <a:off x="4320000" y="3231850"/>
            <a:ext cx="2335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5" name="Google Shape;885;p76"/>
          <p:cNvSpPr txBox="1"/>
          <p:nvPr>
            <p:ph idx="1" type="subTitle"/>
          </p:nvPr>
        </p:nvSpPr>
        <p:spPr>
          <a:xfrm>
            <a:off x="4320000" y="4113825"/>
            <a:ext cx="2335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0</a:t>
            </a:r>
            <a:endParaRPr sz="26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</a:t>
            </a:r>
            <a:endParaRPr/>
          </a:p>
        </p:txBody>
      </p:sp>
      <p:sp>
        <p:nvSpPr>
          <p:cNvPr id="891" name="Google Shape;891;p77"/>
          <p:cNvSpPr txBox="1"/>
          <p:nvPr>
            <p:ph idx="1" type="body"/>
          </p:nvPr>
        </p:nvSpPr>
        <p:spPr>
          <a:xfrm>
            <a:off x="324000" y="759300"/>
            <a:ext cx="8496000" cy="7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question, </a:t>
            </a:r>
            <a:r>
              <a:rPr lang="en-GB" sz="1800"/>
              <a:t>circle</a:t>
            </a:r>
            <a:r>
              <a:rPr lang="en-GB" sz="1800"/>
              <a:t>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on the graph and in the table.</a:t>
            </a:r>
            <a:endParaRPr sz="1800"/>
          </a:p>
        </p:txBody>
      </p:sp>
      <p:sp>
        <p:nvSpPr>
          <p:cNvPr id="892" name="Google Shape;892;p77"/>
          <p:cNvSpPr txBox="1"/>
          <p:nvPr>
            <p:ph idx="1" type="body"/>
          </p:nvPr>
        </p:nvSpPr>
        <p:spPr>
          <a:xfrm>
            <a:off x="324000" y="442225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Write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for each as a coordinate.</a:t>
            </a:r>
            <a:endParaRPr sz="1800"/>
          </a:p>
        </p:txBody>
      </p:sp>
      <p:graphicFrame>
        <p:nvGraphicFramePr>
          <p:cNvPr id="893" name="Google Shape;893;p77"/>
          <p:cNvGraphicFramePr/>
          <p:nvPr/>
        </p:nvGraphicFramePr>
        <p:xfrm>
          <a:off x="707850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79350"/>
                <a:gridCol w="479350"/>
                <a:gridCol w="479350"/>
                <a:gridCol w="479350"/>
                <a:gridCol w="4793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4" name="Google Shape;894;p77"/>
          <p:cNvGraphicFramePr/>
          <p:nvPr/>
        </p:nvGraphicFramePr>
        <p:xfrm>
          <a:off x="3534114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79350"/>
                <a:gridCol w="479350"/>
                <a:gridCol w="479350"/>
                <a:gridCol w="479350"/>
                <a:gridCol w="4793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5" name="Google Shape;895;p77"/>
          <p:cNvGraphicFramePr/>
          <p:nvPr/>
        </p:nvGraphicFramePr>
        <p:xfrm>
          <a:off x="6332214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92775"/>
                <a:gridCol w="492775"/>
                <a:gridCol w="492775"/>
                <a:gridCol w="492775"/>
                <a:gridCol w="492775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96" name="Google Shape;89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800" y="2037100"/>
            <a:ext cx="1723047" cy="18836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7" name="Google Shape;897;p77"/>
          <p:cNvPicPr preferRelativeResize="0"/>
          <p:nvPr/>
        </p:nvPicPr>
        <p:blipFill rotWithShape="1">
          <a:blip r:embed="rId4">
            <a:alphaModFix/>
          </a:blip>
          <a:srcRect b="4678" l="0" r="0" t="14093"/>
          <a:stretch/>
        </p:blipFill>
        <p:spPr>
          <a:xfrm>
            <a:off x="3903000" y="2037100"/>
            <a:ext cx="1577005" cy="191493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8" name="Google Shape;898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6350" y="2037100"/>
            <a:ext cx="1667516" cy="19149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99" name="Google Shape;899;p77"/>
          <p:cNvGraphicFramePr/>
          <p:nvPr/>
        </p:nvGraphicFramePr>
        <p:xfrm>
          <a:off x="324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832000"/>
                <a:gridCol w="2832000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graphicFrame>
        <p:nvGraphicFramePr>
          <p:cNvPr id="905" name="Google Shape;905;p78"/>
          <p:cNvGraphicFramePr/>
          <p:nvPr/>
        </p:nvGraphicFramePr>
        <p:xfrm>
          <a:off x="617351" y="3676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6" name="Google Shape;906;p78"/>
          <p:cNvGraphicFramePr/>
          <p:nvPr/>
        </p:nvGraphicFramePr>
        <p:xfrm>
          <a:off x="3707265" y="3676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7" name="Google Shape;907;p78"/>
          <p:cNvGraphicFramePr/>
          <p:nvPr/>
        </p:nvGraphicFramePr>
        <p:xfrm>
          <a:off x="6437075" y="3665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8" name="Google Shape;908;p78"/>
          <p:cNvSpPr txBox="1"/>
          <p:nvPr>
            <p:ph idx="2" type="subTitle"/>
          </p:nvPr>
        </p:nvSpPr>
        <p:spPr>
          <a:xfrm>
            <a:off x="896750" y="4417675"/>
            <a:ext cx="1412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9" name="Google Shape;909;p78"/>
          <p:cNvSpPr txBox="1"/>
          <p:nvPr>
            <p:ph idx="1" type="body"/>
          </p:nvPr>
        </p:nvSpPr>
        <p:spPr>
          <a:xfrm>
            <a:off x="324000" y="759300"/>
            <a:ext cx="8237700" cy="2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Match each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to a graph, a table and an equation.</a:t>
            </a:r>
            <a:endParaRPr sz="1800"/>
          </a:p>
        </p:txBody>
      </p:sp>
      <p:sp>
        <p:nvSpPr>
          <p:cNvPr id="910" name="Google Shape;910;p78"/>
          <p:cNvSpPr txBox="1"/>
          <p:nvPr>
            <p:ph idx="2" type="subTitle"/>
          </p:nvPr>
        </p:nvSpPr>
        <p:spPr>
          <a:xfrm>
            <a:off x="1073400" y="1181825"/>
            <a:ext cx="1209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A </a:t>
            </a:r>
            <a:r>
              <a:rPr lang="en-GB" sz="2200">
                <a:solidFill>
                  <a:schemeClr val="dk1"/>
                </a:solidFill>
              </a:rPr>
              <a:t>(0,6)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1" name="Google Shape;911;p78"/>
          <p:cNvSpPr txBox="1"/>
          <p:nvPr>
            <p:ph idx="2" type="subTitle"/>
          </p:nvPr>
        </p:nvSpPr>
        <p:spPr>
          <a:xfrm>
            <a:off x="4056900" y="1181825"/>
            <a:ext cx="1017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B </a:t>
            </a:r>
            <a:r>
              <a:rPr lang="en-GB" sz="2200">
                <a:solidFill>
                  <a:schemeClr val="dk1"/>
                </a:solidFill>
              </a:rPr>
              <a:t>(0,12)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2" name="Google Shape;912;p78"/>
          <p:cNvSpPr txBox="1"/>
          <p:nvPr>
            <p:ph idx="2" type="subTitle"/>
          </p:nvPr>
        </p:nvSpPr>
        <p:spPr>
          <a:xfrm>
            <a:off x="6847800" y="1181825"/>
            <a:ext cx="1485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C </a:t>
            </a:r>
            <a:r>
              <a:rPr lang="en-GB" sz="2200">
                <a:solidFill>
                  <a:schemeClr val="dk1"/>
                </a:solidFill>
              </a:rPr>
              <a:t>(0,</a:t>
            </a:r>
            <a:r>
              <a:rPr lang="en-GB" sz="2200">
                <a:solidFill>
                  <a:srgbClr val="222222"/>
                </a:solidFill>
              </a:rPr>
              <a:t>−12</a:t>
            </a:r>
            <a:r>
              <a:rPr lang="en-GB" sz="22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3" name="Google Shape;913;p78"/>
          <p:cNvSpPr txBox="1"/>
          <p:nvPr>
            <p:ph idx="2" type="subTitle"/>
          </p:nvPr>
        </p:nvSpPr>
        <p:spPr>
          <a:xfrm>
            <a:off x="3882813" y="4417675"/>
            <a:ext cx="1412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+ 12 =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4" name="Google Shape;914;p78"/>
          <p:cNvSpPr txBox="1"/>
          <p:nvPr>
            <p:ph idx="2" type="subTitle"/>
          </p:nvPr>
        </p:nvSpPr>
        <p:spPr>
          <a:xfrm>
            <a:off x="6294775" y="4417675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− 12 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0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5" name="Google Shape;91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51" y="1596412"/>
            <a:ext cx="1970888" cy="19149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6" name="Google Shape;91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075" y="1596412"/>
            <a:ext cx="2041249" cy="194749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7" name="Google Shape;917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7265" y="1596412"/>
            <a:ext cx="1756798" cy="194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8" name="Google Shape;918;p78"/>
          <p:cNvSpPr txBox="1"/>
          <p:nvPr>
            <p:ph idx="2" type="subTitle"/>
          </p:nvPr>
        </p:nvSpPr>
        <p:spPr>
          <a:xfrm>
            <a:off x="617350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9" name="Google Shape;919;p78"/>
          <p:cNvSpPr txBox="1"/>
          <p:nvPr>
            <p:ph idx="2" type="subTitle"/>
          </p:nvPr>
        </p:nvSpPr>
        <p:spPr>
          <a:xfrm>
            <a:off x="5186125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0" name="Google Shape;920;p78"/>
          <p:cNvSpPr txBox="1"/>
          <p:nvPr>
            <p:ph idx="2" type="subTitle"/>
          </p:nvPr>
        </p:nvSpPr>
        <p:spPr>
          <a:xfrm>
            <a:off x="6425350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F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1" name="Google Shape;921;p78"/>
          <p:cNvSpPr txBox="1"/>
          <p:nvPr>
            <p:ph idx="2" type="subTitle"/>
          </p:nvPr>
        </p:nvSpPr>
        <p:spPr>
          <a:xfrm>
            <a:off x="3240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G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2" name="Google Shape;922;p78"/>
          <p:cNvSpPr txBox="1"/>
          <p:nvPr>
            <p:ph idx="2" type="subTitle"/>
          </p:nvPr>
        </p:nvSpPr>
        <p:spPr>
          <a:xfrm>
            <a:off x="33696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H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3" name="Google Shape;923;p78"/>
          <p:cNvSpPr txBox="1"/>
          <p:nvPr>
            <p:ph idx="2" type="subTitle"/>
          </p:nvPr>
        </p:nvSpPr>
        <p:spPr>
          <a:xfrm>
            <a:off x="62127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4" name="Google Shape;924;p78"/>
          <p:cNvSpPr txBox="1"/>
          <p:nvPr>
            <p:ph idx="2" type="subTitle"/>
          </p:nvPr>
        </p:nvSpPr>
        <p:spPr>
          <a:xfrm>
            <a:off x="324000" y="4461387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J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5" name="Google Shape;925;p78"/>
          <p:cNvSpPr txBox="1"/>
          <p:nvPr>
            <p:ph idx="2" type="subTitle"/>
          </p:nvPr>
        </p:nvSpPr>
        <p:spPr>
          <a:xfrm>
            <a:off x="3369600" y="4461387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K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26" name="Google Shape;926;p78"/>
          <p:cNvSpPr txBox="1"/>
          <p:nvPr>
            <p:ph idx="2" type="subTitle"/>
          </p:nvPr>
        </p:nvSpPr>
        <p:spPr>
          <a:xfrm>
            <a:off x="6013250" y="4461387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L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79"/>
          <p:cNvGraphicFramePr/>
          <p:nvPr/>
        </p:nvGraphicFramePr>
        <p:xfrm>
          <a:off x="3534114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79350"/>
                <a:gridCol w="479350"/>
                <a:gridCol w="479350"/>
                <a:gridCol w="479350"/>
                <a:gridCol w="4793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2" name="Google Shape;932;p79"/>
          <p:cNvGraphicFramePr/>
          <p:nvPr/>
        </p:nvGraphicFramePr>
        <p:xfrm>
          <a:off x="6332214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92775"/>
                <a:gridCol w="492775"/>
                <a:gridCol w="492775"/>
                <a:gridCol w="492775"/>
                <a:gridCol w="492775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3" name="Google Shape;9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800" y="2037100"/>
            <a:ext cx="1723047" cy="18836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4" name="Google Shape;934;p79"/>
          <p:cNvPicPr preferRelativeResize="0"/>
          <p:nvPr/>
        </p:nvPicPr>
        <p:blipFill rotWithShape="1">
          <a:blip r:embed="rId4">
            <a:alphaModFix/>
          </a:blip>
          <a:srcRect b="4678" l="0" r="0" t="14093"/>
          <a:stretch/>
        </p:blipFill>
        <p:spPr>
          <a:xfrm>
            <a:off x="3903000" y="2037100"/>
            <a:ext cx="1577005" cy="191493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5" name="Google Shape;935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6350" y="2037100"/>
            <a:ext cx="1667516" cy="19149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36" name="Google Shape;936;p79"/>
          <p:cNvGraphicFramePr/>
          <p:nvPr/>
        </p:nvGraphicFramePr>
        <p:xfrm>
          <a:off x="707850" y="13152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79350"/>
                <a:gridCol w="479350"/>
                <a:gridCol w="479350"/>
                <a:gridCol w="479350"/>
                <a:gridCol w="4793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7" name="Google Shape;937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938" name="Google Shape;938;p79"/>
          <p:cNvSpPr txBox="1"/>
          <p:nvPr>
            <p:ph idx="1" type="body"/>
          </p:nvPr>
        </p:nvSpPr>
        <p:spPr>
          <a:xfrm>
            <a:off x="324000" y="759300"/>
            <a:ext cx="8237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For each question, circle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on the graph and in the table.</a:t>
            </a:r>
            <a:endParaRPr sz="1800"/>
          </a:p>
        </p:txBody>
      </p:sp>
      <p:sp>
        <p:nvSpPr>
          <p:cNvPr id="939" name="Google Shape;939;p79"/>
          <p:cNvSpPr txBox="1"/>
          <p:nvPr>
            <p:ph idx="1" type="body"/>
          </p:nvPr>
        </p:nvSpPr>
        <p:spPr>
          <a:xfrm>
            <a:off x="324000" y="442225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Write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</a:t>
            </a:r>
            <a:r>
              <a:rPr lang="en-GB" sz="1800"/>
              <a:t>ntercept for each as a coordinate.</a:t>
            </a:r>
            <a:endParaRPr sz="1800"/>
          </a:p>
        </p:txBody>
      </p:sp>
      <p:sp>
        <p:nvSpPr>
          <p:cNvPr id="940" name="Google Shape;940;p79"/>
          <p:cNvSpPr/>
          <p:nvPr/>
        </p:nvSpPr>
        <p:spPr>
          <a:xfrm>
            <a:off x="1187200" y="1315200"/>
            <a:ext cx="4794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9"/>
          <p:cNvSpPr/>
          <p:nvPr/>
        </p:nvSpPr>
        <p:spPr>
          <a:xfrm>
            <a:off x="1684800" y="2727425"/>
            <a:ext cx="183000" cy="2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9"/>
          <p:cNvSpPr txBox="1"/>
          <p:nvPr>
            <p:ph idx="2" type="subTitle"/>
          </p:nvPr>
        </p:nvSpPr>
        <p:spPr>
          <a:xfrm>
            <a:off x="1436625" y="4053150"/>
            <a:ext cx="76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(0,3)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3" name="Google Shape;943;p79"/>
          <p:cNvSpPr/>
          <p:nvPr/>
        </p:nvSpPr>
        <p:spPr>
          <a:xfrm>
            <a:off x="4789175" y="3483025"/>
            <a:ext cx="183000" cy="2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9"/>
          <p:cNvSpPr/>
          <p:nvPr/>
        </p:nvSpPr>
        <p:spPr>
          <a:xfrm>
            <a:off x="4970299" y="1315200"/>
            <a:ext cx="4794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9"/>
          <p:cNvSpPr txBox="1"/>
          <p:nvPr>
            <p:ph idx="2" type="subTitle"/>
          </p:nvPr>
        </p:nvSpPr>
        <p:spPr>
          <a:xfrm>
            <a:off x="4337000" y="4053150"/>
            <a:ext cx="924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6" name="Google Shape;946;p79"/>
          <p:cNvSpPr/>
          <p:nvPr/>
        </p:nvSpPr>
        <p:spPr>
          <a:xfrm>
            <a:off x="7322255" y="1315200"/>
            <a:ext cx="479400" cy="60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9"/>
          <p:cNvSpPr/>
          <p:nvPr/>
        </p:nvSpPr>
        <p:spPr>
          <a:xfrm>
            <a:off x="7919900" y="2590650"/>
            <a:ext cx="183000" cy="218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9"/>
          <p:cNvSpPr txBox="1"/>
          <p:nvPr>
            <p:ph idx="2" type="subTitle"/>
          </p:nvPr>
        </p:nvSpPr>
        <p:spPr>
          <a:xfrm>
            <a:off x="7199027" y="4053150"/>
            <a:ext cx="924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49" name="Google Shape;949;p79"/>
          <p:cNvGraphicFramePr/>
          <p:nvPr/>
        </p:nvGraphicFramePr>
        <p:xfrm>
          <a:off x="324000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832000"/>
                <a:gridCol w="2832000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graphicFrame>
        <p:nvGraphicFramePr>
          <p:cNvPr id="955" name="Google Shape;955;p80"/>
          <p:cNvGraphicFramePr/>
          <p:nvPr/>
        </p:nvGraphicFramePr>
        <p:xfrm>
          <a:off x="617351" y="3676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6" name="Google Shape;956;p80"/>
          <p:cNvGraphicFramePr/>
          <p:nvPr/>
        </p:nvGraphicFramePr>
        <p:xfrm>
          <a:off x="3707265" y="3676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7" name="Google Shape;957;p80"/>
          <p:cNvGraphicFramePr/>
          <p:nvPr/>
        </p:nvGraphicFramePr>
        <p:xfrm>
          <a:off x="6437075" y="3665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12650"/>
                <a:gridCol w="512650"/>
                <a:gridCol w="512650"/>
                <a:gridCol w="512650"/>
              </a:tblGrid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8" name="Google Shape;958;p80"/>
          <p:cNvSpPr txBox="1"/>
          <p:nvPr>
            <p:ph idx="2" type="subTitle"/>
          </p:nvPr>
        </p:nvSpPr>
        <p:spPr>
          <a:xfrm>
            <a:off x="4097150" y="4417675"/>
            <a:ext cx="1412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9" name="Google Shape;959;p80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Match each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to a graph, a table and an equation.</a:t>
            </a:r>
            <a:endParaRPr sz="1800"/>
          </a:p>
        </p:txBody>
      </p:sp>
      <p:sp>
        <p:nvSpPr>
          <p:cNvPr id="960" name="Google Shape;960;p80"/>
          <p:cNvSpPr txBox="1"/>
          <p:nvPr>
            <p:ph idx="2" type="subTitle"/>
          </p:nvPr>
        </p:nvSpPr>
        <p:spPr>
          <a:xfrm>
            <a:off x="1073400" y="1181825"/>
            <a:ext cx="1209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(0,6)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1" name="Google Shape;961;p80"/>
          <p:cNvSpPr txBox="1"/>
          <p:nvPr>
            <p:ph idx="2" type="subTitle"/>
          </p:nvPr>
        </p:nvSpPr>
        <p:spPr>
          <a:xfrm>
            <a:off x="4056900" y="1181825"/>
            <a:ext cx="1209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 (0,12)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80"/>
          <p:cNvSpPr txBox="1"/>
          <p:nvPr>
            <p:ph idx="2" type="subTitle"/>
          </p:nvPr>
        </p:nvSpPr>
        <p:spPr>
          <a:xfrm>
            <a:off x="6847800" y="1181825"/>
            <a:ext cx="1485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(0,</a:t>
            </a:r>
            <a:r>
              <a:rPr lang="en-GB" sz="24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−12</a:t>
            </a: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80"/>
          <p:cNvSpPr txBox="1"/>
          <p:nvPr>
            <p:ph idx="2" type="subTitle"/>
          </p:nvPr>
        </p:nvSpPr>
        <p:spPr>
          <a:xfrm>
            <a:off x="6778413" y="4430730"/>
            <a:ext cx="1412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+ 12 = 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4" name="Google Shape;964;p80"/>
          <p:cNvSpPr txBox="1"/>
          <p:nvPr>
            <p:ph idx="2" type="subTitle"/>
          </p:nvPr>
        </p:nvSpPr>
        <p:spPr>
          <a:xfrm>
            <a:off x="655975" y="4429681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6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− 12 </a:t>
            </a:r>
            <a:r>
              <a:rPr lang="en-GB" sz="26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0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5" name="Google Shape;96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551" y="1596412"/>
            <a:ext cx="1970888" cy="19149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6" name="Google Shape;96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075" y="1596412"/>
            <a:ext cx="2041249" cy="194749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7" name="Google Shape;967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465" y="1596412"/>
            <a:ext cx="1756798" cy="194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8" name="Google Shape;968;p80"/>
          <p:cNvSpPr txBox="1"/>
          <p:nvPr>
            <p:ph idx="2" type="subTitle"/>
          </p:nvPr>
        </p:nvSpPr>
        <p:spPr>
          <a:xfrm>
            <a:off x="3741550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80"/>
          <p:cNvSpPr txBox="1"/>
          <p:nvPr>
            <p:ph idx="2" type="subTitle"/>
          </p:nvPr>
        </p:nvSpPr>
        <p:spPr>
          <a:xfrm>
            <a:off x="2214325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80"/>
          <p:cNvSpPr txBox="1"/>
          <p:nvPr>
            <p:ph idx="2" type="subTitle"/>
          </p:nvPr>
        </p:nvSpPr>
        <p:spPr>
          <a:xfrm>
            <a:off x="6425350" y="1596400"/>
            <a:ext cx="34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0"/>
          <p:cNvSpPr txBox="1"/>
          <p:nvPr>
            <p:ph idx="2" type="subTitle"/>
          </p:nvPr>
        </p:nvSpPr>
        <p:spPr>
          <a:xfrm>
            <a:off x="3240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80"/>
          <p:cNvSpPr txBox="1"/>
          <p:nvPr>
            <p:ph idx="2" type="subTitle"/>
          </p:nvPr>
        </p:nvSpPr>
        <p:spPr>
          <a:xfrm>
            <a:off x="33696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80"/>
          <p:cNvSpPr txBox="1"/>
          <p:nvPr>
            <p:ph idx="2" type="subTitle"/>
          </p:nvPr>
        </p:nvSpPr>
        <p:spPr>
          <a:xfrm>
            <a:off x="6212700" y="3679351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0"/>
          <p:cNvSpPr txBox="1"/>
          <p:nvPr>
            <p:ph idx="2" type="subTitle"/>
          </p:nvPr>
        </p:nvSpPr>
        <p:spPr>
          <a:xfrm>
            <a:off x="3372000" y="4520185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0"/>
          <p:cNvSpPr txBox="1"/>
          <p:nvPr>
            <p:ph idx="2" type="subTitle"/>
          </p:nvPr>
        </p:nvSpPr>
        <p:spPr>
          <a:xfrm>
            <a:off x="6265200" y="4520185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80"/>
          <p:cNvSpPr txBox="1"/>
          <p:nvPr>
            <p:ph idx="2" type="subTitle"/>
          </p:nvPr>
        </p:nvSpPr>
        <p:spPr>
          <a:xfrm>
            <a:off x="345300" y="4520185"/>
            <a:ext cx="34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982" name="Google Shape;982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983" name="Google Shape;983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984" name="Google Shape;984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pic>
        <p:nvPicPr>
          <p:cNvPr id="985" name="Google Shape;98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5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991" name="Google Shape;991;p82"/>
          <p:cNvSpPr txBox="1"/>
          <p:nvPr>
            <p:ph idx="1" type="body"/>
          </p:nvPr>
        </p:nvSpPr>
        <p:spPr>
          <a:xfrm>
            <a:off x="332825" y="4414950"/>
            <a:ext cx="6282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many steps of 1 are there between 0 and 10?</a:t>
            </a:r>
            <a:endParaRPr sz="1900"/>
          </a:p>
        </p:txBody>
      </p:sp>
      <p:graphicFrame>
        <p:nvGraphicFramePr>
          <p:cNvPr id="992" name="Google Shape;992;p82"/>
          <p:cNvGraphicFramePr/>
          <p:nvPr/>
        </p:nvGraphicFramePr>
        <p:xfrm>
          <a:off x="341338" y="200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3" name="Google Shape;993;p82"/>
          <p:cNvSpPr txBox="1"/>
          <p:nvPr/>
        </p:nvSpPr>
        <p:spPr>
          <a:xfrm flipH="1">
            <a:off x="7881350" y="2854852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4" name="Google Shape;99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72938" y="2095526"/>
            <a:ext cx="527300" cy="7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8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82376" y="1572000"/>
            <a:ext cx="3031424" cy="112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82"/>
          <p:cNvSpPr/>
          <p:nvPr/>
        </p:nvSpPr>
        <p:spPr>
          <a:xfrm flipH="1">
            <a:off x="5116275" y="1588463"/>
            <a:ext cx="26574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Counting back from 10 will take a while. Is there a quicker way?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2"/>
          <p:cNvSpPr txBox="1"/>
          <p:nvPr>
            <p:ph idx="1" type="body"/>
          </p:nvPr>
        </p:nvSpPr>
        <p:spPr>
          <a:xfrm>
            <a:off x="332825" y="739800"/>
            <a:ext cx="8496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work out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if we know any two consecutive coordinates by counting back to an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900"/>
              <a:t> value of 0  </a:t>
            </a:r>
            <a:endParaRPr sz="1900"/>
          </a:p>
        </p:txBody>
      </p:sp>
      <p:graphicFrame>
        <p:nvGraphicFramePr>
          <p:cNvPr id="998" name="Google Shape;998;p82"/>
          <p:cNvGraphicFramePr/>
          <p:nvPr/>
        </p:nvGraphicFramePr>
        <p:xfrm>
          <a:off x="324002" y="3655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99" name="Google Shape;999;p82"/>
          <p:cNvGrpSpPr/>
          <p:nvPr/>
        </p:nvGrpSpPr>
        <p:grpSpPr>
          <a:xfrm>
            <a:off x="1197125" y="3220475"/>
            <a:ext cx="619352" cy="457426"/>
            <a:chOff x="1197125" y="3220475"/>
            <a:chExt cx="619352" cy="457426"/>
          </a:xfrm>
        </p:grpSpPr>
        <p:pic>
          <p:nvPicPr>
            <p:cNvPr id="1000" name="Google Shape;1000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2" name="Google Shape;1002;p82"/>
          <p:cNvGrpSpPr/>
          <p:nvPr/>
        </p:nvGrpSpPr>
        <p:grpSpPr>
          <a:xfrm>
            <a:off x="1797497" y="3220475"/>
            <a:ext cx="619352" cy="457426"/>
            <a:chOff x="1197125" y="3220475"/>
            <a:chExt cx="619352" cy="457426"/>
          </a:xfrm>
        </p:grpSpPr>
        <p:pic>
          <p:nvPicPr>
            <p:cNvPr id="1003" name="Google Shape;1003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5" name="Google Shape;1005;p82"/>
          <p:cNvGrpSpPr/>
          <p:nvPr/>
        </p:nvGrpSpPr>
        <p:grpSpPr>
          <a:xfrm>
            <a:off x="2397868" y="3220475"/>
            <a:ext cx="619352" cy="457426"/>
            <a:chOff x="1197125" y="3220475"/>
            <a:chExt cx="619352" cy="457426"/>
          </a:xfrm>
        </p:grpSpPr>
        <p:pic>
          <p:nvPicPr>
            <p:cNvPr id="1006" name="Google Shape;1006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8" name="Google Shape;1008;p82"/>
          <p:cNvGrpSpPr/>
          <p:nvPr/>
        </p:nvGrpSpPr>
        <p:grpSpPr>
          <a:xfrm>
            <a:off x="2998240" y="3220475"/>
            <a:ext cx="619352" cy="457426"/>
            <a:chOff x="1197125" y="3220475"/>
            <a:chExt cx="619352" cy="457426"/>
          </a:xfrm>
        </p:grpSpPr>
        <p:pic>
          <p:nvPicPr>
            <p:cNvPr id="1009" name="Google Shape;1009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82"/>
          <p:cNvGrpSpPr/>
          <p:nvPr/>
        </p:nvGrpSpPr>
        <p:grpSpPr>
          <a:xfrm>
            <a:off x="3598612" y="3220475"/>
            <a:ext cx="619352" cy="457426"/>
            <a:chOff x="1197125" y="3220475"/>
            <a:chExt cx="619352" cy="457426"/>
          </a:xfrm>
        </p:grpSpPr>
        <p:pic>
          <p:nvPicPr>
            <p:cNvPr id="1012" name="Google Shape;1012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82"/>
          <p:cNvGrpSpPr/>
          <p:nvPr/>
        </p:nvGrpSpPr>
        <p:grpSpPr>
          <a:xfrm>
            <a:off x="4198984" y="3220475"/>
            <a:ext cx="619352" cy="457426"/>
            <a:chOff x="1197125" y="3220475"/>
            <a:chExt cx="619352" cy="457426"/>
          </a:xfrm>
        </p:grpSpPr>
        <p:pic>
          <p:nvPicPr>
            <p:cNvPr id="1015" name="Google Shape;1015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82"/>
          <p:cNvGrpSpPr/>
          <p:nvPr/>
        </p:nvGrpSpPr>
        <p:grpSpPr>
          <a:xfrm>
            <a:off x="4799355" y="3220475"/>
            <a:ext cx="619352" cy="457426"/>
            <a:chOff x="1197125" y="3220475"/>
            <a:chExt cx="619352" cy="457426"/>
          </a:xfrm>
        </p:grpSpPr>
        <p:pic>
          <p:nvPicPr>
            <p:cNvPr id="1018" name="Google Shape;1018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0" name="Google Shape;1020;p82"/>
          <p:cNvGrpSpPr/>
          <p:nvPr/>
        </p:nvGrpSpPr>
        <p:grpSpPr>
          <a:xfrm>
            <a:off x="5399727" y="3220475"/>
            <a:ext cx="619352" cy="457426"/>
            <a:chOff x="1197125" y="3220475"/>
            <a:chExt cx="619352" cy="457426"/>
          </a:xfrm>
        </p:grpSpPr>
        <p:pic>
          <p:nvPicPr>
            <p:cNvPr id="1021" name="Google Shape;1021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82"/>
          <p:cNvGrpSpPr/>
          <p:nvPr/>
        </p:nvGrpSpPr>
        <p:grpSpPr>
          <a:xfrm>
            <a:off x="6000099" y="3220475"/>
            <a:ext cx="619352" cy="457426"/>
            <a:chOff x="1197125" y="3220475"/>
            <a:chExt cx="619352" cy="457426"/>
          </a:xfrm>
        </p:grpSpPr>
        <p:pic>
          <p:nvPicPr>
            <p:cNvPr id="1024" name="Google Shape;1024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82"/>
          <p:cNvGrpSpPr/>
          <p:nvPr/>
        </p:nvGrpSpPr>
        <p:grpSpPr>
          <a:xfrm>
            <a:off x="6600470" y="3220475"/>
            <a:ext cx="619352" cy="457426"/>
            <a:chOff x="1197125" y="3220475"/>
            <a:chExt cx="619352" cy="457426"/>
          </a:xfrm>
        </p:grpSpPr>
        <p:pic>
          <p:nvPicPr>
            <p:cNvPr id="1027" name="Google Shape;1027;p82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82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9" name="Google Shape;1029;p82"/>
          <p:cNvSpPr txBox="1"/>
          <p:nvPr>
            <p:ph idx="1" type="body"/>
          </p:nvPr>
        </p:nvSpPr>
        <p:spPr>
          <a:xfrm>
            <a:off x="6931500" y="4414950"/>
            <a:ext cx="5103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10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1035" name="Google Shape;1035;p83"/>
          <p:cNvSpPr txBox="1"/>
          <p:nvPr>
            <p:ph idx="1" type="body"/>
          </p:nvPr>
        </p:nvSpPr>
        <p:spPr>
          <a:xfrm>
            <a:off x="4319900" y="811175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 there are 10 </a:t>
            </a:r>
            <a:r>
              <a:rPr lang="en-GB" sz="1900"/>
              <a:t>additions</a:t>
            </a:r>
            <a:r>
              <a:rPr lang="en-GB" sz="1900"/>
              <a:t> of 3 between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and 8</a:t>
            </a:r>
            <a:endParaRPr sz="1900"/>
          </a:p>
        </p:txBody>
      </p:sp>
      <p:graphicFrame>
        <p:nvGraphicFramePr>
          <p:cNvPr id="1036" name="Google Shape;1036;p83"/>
          <p:cNvGraphicFramePr/>
          <p:nvPr/>
        </p:nvGraphicFramePr>
        <p:xfrm>
          <a:off x="332813" y="111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7" name="Google Shape;1037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1443675" y="862075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3"/>
          <p:cNvSpPr/>
          <p:nvPr/>
        </p:nvSpPr>
        <p:spPr>
          <a:xfrm>
            <a:off x="1595325" y="642875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443675" y="17242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3"/>
          <p:cNvSpPr/>
          <p:nvPr/>
        </p:nvSpPr>
        <p:spPr>
          <a:xfrm>
            <a:off x="1547350" y="19008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1" name="Google Shape;1041;p83"/>
          <p:cNvGraphicFramePr/>
          <p:nvPr/>
        </p:nvGraphicFramePr>
        <p:xfrm>
          <a:off x="324002" y="28168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  <a:gridCol w="593150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42" name="Google Shape;1042;p83"/>
          <p:cNvGrpSpPr/>
          <p:nvPr/>
        </p:nvGrpSpPr>
        <p:grpSpPr>
          <a:xfrm>
            <a:off x="1197125" y="2382275"/>
            <a:ext cx="619352" cy="457426"/>
            <a:chOff x="1197125" y="3220475"/>
            <a:chExt cx="619352" cy="457426"/>
          </a:xfrm>
        </p:grpSpPr>
        <p:pic>
          <p:nvPicPr>
            <p:cNvPr id="1043" name="Google Shape;1043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83"/>
          <p:cNvGrpSpPr/>
          <p:nvPr/>
        </p:nvGrpSpPr>
        <p:grpSpPr>
          <a:xfrm>
            <a:off x="1797497" y="2382275"/>
            <a:ext cx="619352" cy="457426"/>
            <a:chOff x="1197125" y="3220475"/>
            <a:chExt cx="619352" cy="457426"/>
          </a:xfrm>
        </p:grpSpPr>
        <p:pic>
          <p:nvPicPr>
            <p:cNvPr id="1046" name="Google Shape;1046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83"/>
          <p:cNvGrpSpPr/>
          <p:nvPr/>
        </p:nvGrpSpPr>
        <p:grpSpPr>
          <a:xfrm>
            <a:off x="2397868" y="2382275"/>
            <a:ext cx="619352" cy="457426"/>
            <a:chOff x="1197125" y="3220475"/>
            <a:chExt cx="619352" cy="457426"/>
          </a:xfrm>
        </p:grpSpPr>
        <p:pic>
          <p:nvPicPr>
            <p:cNvPr id="1049" name="Google Shape;1049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1" name="Google Shape;1051;p83"/>
          <p:cNvGrpSpPr/>
          <p:nvPr/>
        </p:nvGrpSpPr>
        <p:grpSpPr>
          <a:xfrm>
            <a:off x="2998240" y="2382275"/>
            <a:ext cx="619352" cy="457426"/>
            <a:chOff x="1197125" y="3220475"/>
            <a:chExt cx="619352" cy="457426"/>
          </a:xfrm>
        </p:grpSpPr>
        <p:pic>
          <p:nvPicPr>
            <p:cNvPr id="1052" name="Google Shape;1052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83"/>
          <p:cNvGrpSpPr/>
          <p:nvPr/>
        </p:nvGrpSpPr>
        <p:grpSpPr>
          <a:xfrm>
            <a:off x="3598612" y="2382275"/>
            <a:ext cx="619352" cy="457426"/>
            <a:chOff x="1197125" y="3220475"/>
            <a:chExt cx="619352" cy="457426"/>
          </a:xfrm>
        </p:grpSpPr>
        <p:pic>
          <p:nvPicPr>
            <p:cNvPr id="1055" name="Google Shape;1055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7" name="Google Shape;1057;p83"/>
          <p:cNvGrpSpPr/>
          <p:nvPr/>
        </p:nvGrpSpPr>
        <p:grpSpPr>
          <a:xfrm>
            <a:off x="4198984" y="2382275"/>
            <a:ext cx="619352" cy="457426"/>
            <a:chOff x="1197125" y="3220475"/>
            <a:chExt cx="619352" cy="457426"/>
          </a:xfrm>
        </p:grpSpPr>
        <p:pic>
          <p:nvPicPr>
            <p:cNvPr id="1058" name="Google Shape;1058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0" name="Google Shape;1060;p83"/>
          <p:cNvGrpSpPr/>
          <p:nvPr/>
        </p:nvGrpSpPr>
        <p:grpSpPr>
          <a:xfrm>
            <a:off x="4799355" y="2382275"/>
            <a:ext cx="619352" cy="457426"/>
            <a:chOff x="1197125" y="3220475"/>
            <a:chExt cx="619352" cy="457426"/>
          </a:xfrm>
        </p:grpSpPr>
        <p:pic>
          <p:nvPicPr>
            <p:cNvPr id="1061" name="Google Shape;1061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2" name="Google Shape;1062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3" name="Google Shape;1063;p83"/>
          <p:cNvGrpSpPr/>
          <p:nvPr/>
        </p:nvGrpSpPr>
        <p:grpSpPr>
          <a:xfrm>
            <a:off x="5399727" y="2382275"/>
            <a:ext cx="619352" cy="457426"/>
            <a:chOff x="1197125" y="3220475"/>
            <a:chExt cx="619352" cy="457426"/>
          </a:xfrm>
        </p:grpSpPr>
        <p:pic>
          <p:nvPicPr>
            <p:cNvPr id="1064" name="Google Shape;1064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6" name="Google Shape;1066;p83"/>
          <p:cNvGrpSpPr/>
          <p:nvPr/>
        </p:nvGrpSpPr>
        <p:grpSpPr>
          <a:xfrm>
            <a:off x="6000099" y="2382275"/>
            <a:ext cx="619352" cy="457426"/>
            <a:chOff x="1197125" y="3220475"/>
            <a:chExt cx="619352" cy="457426"/>
          </a:xfrm>
        </p:grpSpPr>
        <p:pic>
          <p:nvPicPr>
            <p:cNvPr id="1067" name="Google Shape;1067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83"/>
          <p:cNvGrpSpPr/>
          <p:nvPr/>
        </p:nvGrpSpPr>
        <p:grpSpPr>
          <a:xfrm>
            <a:off x="6600470" y="2382275"/>
            <a:ext cx="619352" cy="457426"/>
            <a:chOff x="1197125" y="3220475"/>
            <a:chExt cx="619352" cy="457426"/>
          </a:xfrm>
        </p:grpSpPr>
        <p:pic>
          <p:nvPicPr>
            <p:cNvPr id="1070" name="Google Shape;1070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>
              <a:off x="1197125" y="347137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83"/>
            <p:cNvSpPr/>
            <p:nvPr/>
          </p:nvSpPr>
          <p:spPr>
            <a:xfrm>
              <a:off x="1243101" y="3220475"/>
              <a:ext cx="5274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2" name="Google Shape;1072;p83"/>
          <p:cNvSpPr txBox="1"/>
          <p:nvPr>
            <p:ph idx="1" type="body"/>
          </p:nvPr>
        </p:nvSpPr>
        <p:spPr>
          <a:xfrm>
            <a:off x="917150" y="3121650"/>
            <a:ext cx="5826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</a:rPr>
              <a:t>−22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83"/>
          <p:cNvSpPr txBox="1"/>
          <p:nvPr>
            <p:ph idx="1" type="body"/>
          </p:nvPr>
        </p:nvSpPr>
        <p:spPr>
          <a:xfrm>
            <a:off x="4320000" y="1568688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 </a:t>
            </a:r>
            <a:r>
              <a:rPr lang="en-GB" sz="1900">
                <a:solidFill>
                  <a:srgbClr val="222222"/>
                </a:solidFill>
              </a:rPr>
              <a:t>× 10 = 30</a:t>
            </a:r>
            <a:endParaRPr sz="1900"/>
          </a:p>
        </p:txBody>
      </p:sp>
      <p:sp>
        <p:nvSpPr>
          <p:cNvPr id="1074" name="Google Shape;1074;p83"/>
          <p:cNvSpPr txBox="1"/>
          <p:nvPr>
            <p:ph idx="1" type="body"/>
          </p:nvPr>
        </p:nvSpPr>
        <p:spPr>
          <a:xfrm>
            <a:off x="4320000" y="1959450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 we need to subtract 30 from 8</a:t>
            </a:r>
            <a:endParaRPr sz="1900"/>
          </a:p>
        </p:txBody>
      </p:sp>
      <p:sp>
        <p:nvSpPr>
          <p:cNvPr id="1075" name="Google Shape;1075;p83"/>
          <p:cNvSpPr/>
          <p:nvPr/>
        </p:nvSpPr>
        <p:spPr>
          <a:xfrm>
            <a:off x="1166350" y="3426425"/>
            <a:ext cx="5996648" cy="685867"/>
          </a:xfrm>
          <a:custGeom>
            <a:rect b="b" l="l" r="r" t="t"/>
            <a:pathLst>
              <a:path extrusionOk="0" h="33937" w="323968">
                <a:moveTo>
                  <a:pt x="0" y="610"/>
                </a:moveTo>
                <a:cubicBezTo>
                  <a:pt x="2695" y="4474"/>
                  <a:pt x="1729" y="18659"/>
                  <a:pt x="16168" y="23794"/>
                </a:cubicBezTo>
                <a:cubicBezTo>
                  <a:pt x="30607" y="28929"/>
                  <a:pt x="61774" y="29743"/>
                  <a:pt x="86636" y="31421"/>
                </a:cubicBezTo>
                <a:cubicBezTo>
                  <a:pt x="111498" y="33099"/>
                  <a:pt x="136665" y="34014"/>
                  <a:pt x="165340" y="33861"/>
                </a:cubicBezTo>
                <a:cubicBezTo>
                  <a:pt x="194015" y="33708"/>
                  <a:pt x="234434" y="32539"/>
                  <a:pt x="258686" y="30505"/>
                </a:cubicBezTo>
                <a:cubicBezTo>
                  <a:pt x="282938" y="28471"/>
                  <a:pt x="299971" y="26743"/>
                  <a:pt x="310851" y="21659"/>
                </a:cubicBezTo>
                <a:cubicBezTo>
                  <a:pt x="321731" y="16575"/>
                  <a:pt x="321782" y="3610"/>
                  <a:pt x="323968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76" name="Google Shape;1076;p83"/>
          <p:cNvSpPr/>
          <p:nvPr/>
        </p:nvSpPr>
        <p:spPr>
          <a:xfrm>
            <a:off x="3737400" y="381180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3"/>
          <p:cNvSpPr/>
          <p:nvPr/>
        </p:nvSpPr>
        <p:spPr>
          <a:xfrm flipH="1">
            <a:off x="1166352" y="3447471"/>
            <a:ext cx="5996648" cy="685867"/>
          </a:xfrm>
          <a:custGeom>
            <a:rect b="b" l="l" r="r" t="t"/>
            <a:pathLst>
              <a:path extrusionOk="0" h="33937" w="323968">
                <a:moveTo>
                  <a:pt x="0" y="610"/>
                </a:moveTo>
                <a:cubicBezTo>
                  <a:pt x="2695" y="4474"/>
                  <a:pt x="1729" y="18659"/>
                  <a:pt x="16168" y="23794"/>
                </a:cubicBezTo>
                <a:cubicBezTo>
                  <a:pt x="30607" y="28929"/>
                  <a:pt x="61774" y="29743"/>
                  <a:pt x="86636" y="31421"/>
                </a:cubicBezTo>
                <a:cubicBezTo>
                  <a:pt x="111498" y="33099"/>
                  <a:pt x="136665" y="34014"/>
                  <a:pt x="165340" y="33861"/>
                </a:cubicBezTo>
                <a:cubicBezTo>
                  <a:pt x="194015" y="33708"/>
                  <a:pt x="234434" y="32539"/>
                  <a:pt x="258686" y="30505"/>
                </a:cubicBezTo>
                <a:cubicBezTo>
                  <a:pt x="282938" y="28471"/>
                  <a:pt x="299971" y="26743"/>
                  <a:pt x="310851" y="21659"/>
                </a:cubicBezTo>
                <a:cubicBezTo>
                  <a:pt x="321731" y="16575"/>
                  <a:pt x="321782" y="3610"/>
                  <a:pt x="323968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78" name="Google Shape;1078;p83"/>
          <p:cNvSpPr/>
          <p:nvPr/>
        </p:nvSpPr>
        <p:spPr>
          <a:xfrm>
            <a:off x="3737400" y="416760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3"/>
          <p:cNvSpPr txBox="1"/>
          <p:nvPr>
            <p:ph idx="1" type="body"/>
          </p:nvPr>
        </p:nvSpPr>
        <p:spPr>
          <a:xfrm>
            <a:off x="332825" y="4414950"/>
            <a:ext cx="425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is (0,</a:t>
            </a:r>
            <a:r>
              <a:rPr lang="en-GB" sz="1900">
                <a:solidFill>
                  <a:srgbClr val="222222"/>
                </a:solidFill>
              </a:rPr>
              <a:t>−22</a:t>
            </a:r>
            <a:r>
              <a:rPr lang="en-GB" sz="1800"/>
              <a:t>)</a:t>
            </a:r>
            <a:endParaRPr sz="1900"/>
          </a:p>
        </p:txBody>
      </p:sp>
      <p:grpSp>
        <p:nvGrpSpPr>
          <p:cNvPr id="1080" name="Google Shape;1080;p83"/>
          <p:cNvGrpSpPr/>
          <p:nvPr/>
        </p:nvGrpSpPr>
        <p:grpSpPr>
          <a:xfrm>
            <a:off x="1197125" y="3426425"/>
            <a:ext cx="619352" cy="431020"/>
            <a:chOff x="1197125" y="3426425"/>
            <a:chExt cx="619352" cy="431020"/>
          </a:xfrm>
        </p:grpSpPr>
        <p:sp>
          <p:nvSpPr>
            <p:cNvPr id="1081" name="Google Shape;1081;p83"/>
            <p:cNvSpPr/>
            <p:nvPr/>
          </p:nvSpPr>
          <p:spPr>
            <a:xfrm>
              <a:off x="1210891" y="3576345"/>
              <a:ext cx="582600" cy="2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+3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82" name="Google Shape;1082;p8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197125" y="3426425"/>
              <a:ext cx="619352" cy="2065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1088" name="Google Shape;1088;p84"/>
          <p:cNvSpPr txBox="1"/>
          <p:nvPr>
            <p:ph idx="1" type="body"/>
          </p:nvPr>
        </p:nvSpPr>
        <p:spPr>
          <a:xfrm>
            <a:off x="332825" y="714875"/>
            <a:ext cx="5975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What is the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1900"/>
              <a:t>-intercept for this table of values?</a:t>
            </a:r>
            <a:endParaRPr sz="1900"/>
          </a:p>
        </p:txBody>
      </p:sp>
      <p:graphicFrame>
        <p:nvGraphicFramePr>
          <p:cNvPr id="1089" name="Google Shape;1089;p84"/>
          <p:cNvGraphicFramePr/>
          <p:nvPr/>
        </p:nvGraphicFramePr>
        <p:xfrm>
          <a:off x="332813" y="121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0" name="Google Shape;1090;p84"/>
          <p:cNvSpPr txBox="1"/>
          <p:nvPr>
            <p:ph idx="1" type="body"/>
          </p:nvPr>
        </p:nvSpPr>
        <p:spPr>
          <a:xfrm>
            <a:off x="332825" y="4086350"/>
            <a:ext cx="425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</a:t>
            </a:r>
            <a:r>
              <a:rPr lang="en-GB" sz="1900"/>
              <a:t>intercept is (0,</a:t>
            </a:r>
            <a:r>
              <a:rPr lang="en-GB" sz="1900">
                <a:solidFill>
                  <a:srgbClr val="222222"/>
                </a:solidFill>
              </a:rPr>
              <a:t>33</a:t>
            </a:r>
            <a:r>
              <a:rPr lang="en-GB" sz="1800"/>
              <a:t>)</a:t>
            </a:r>
            <a:endParaRPr sz="1900"/>
          </a:p>
        </p:txBody>
      </p:sp>
      <p:sp>
        <p:nvSpPr>
          <p:cNvPr id="1091" name="Google Shape;1091;p84"/>
          <p:cNvSpPr txBox="1"/>
          <p:nvPr>
            <p:ph idx="1" type="body"/>
          </p:nvPr>
        </p:nvSpPr>
        <p:spPr>
          <a:xfrm>
            <a:off x="3737400" y="1217350"/>
            <a:ext cx="425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increases by 1,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</a:t>
            </a:r>
            <a:r>
              <a:rPr lang="en-GB" sz="1900"/>
              <a:t>increases</a:t>
            </a:r>
            <a:r>
              <a:rPr lang="en-GB" sz="1900"/>
              <a:t> by 5. The gradient of the line is </a:t>
            </a:r>
            <a:r>
              <a:rPr lang="en-GB" sz="1800">
                <a:solidFill>
                  <a:srgbClr val="222222"/>
                </a:solidFill>
              </a:rPr>
              <a:t>5</a:t>
            </a:r>
            <a:r>
              <a:rPr lang="en-GB" sz="1900"/>
              <a:t> </a:t>
            </a:r>
            <a:endParaRPr sz="1900"/>
          </a:p>
        </p:txBody>
      </p:sp>
      <p:pic>
        <p:nvPicPr>
          <p:cNvPr id="1092" name="Google Shape;1092;p84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416250" y="18406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84"/>
          <p:cNvSpPr/>
          <p:nvPr/>
        </p:nvSpPr>
        <p:spPr>
          <a:xfrm>
            <a:off x="1604650" y="208620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4"/>
          <p:cNvSpPr txBox="1"/>
          <p:nvPr>
            <p:ph idx="1" type="body"/>
          </p:nvPr>
        </p:nvSpPr>
        <p:spPr>
          <a:xfrm>
            <a:off x="328350" y="2614500"/>
            <a:ext cx="84873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get up to an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-</a:t>
            </a:r>
            <a:r>
              <a:rPr lang="en-GB" sz="1900"/>
              <a:t>coordinate</a:t>
            </a:r>
            <a:r>
              <a:rPr lang="en-GB" sz="1900"/>
              <a:t> of 0 we need to add 5 eight times. </a:t>
            </a:r>
            <a:r>
              <a:rPr lang="en-GB" sz="1900"/>
              <a:t> </a:t>
            </a:r>
            <a:endParaRPr sz="1900"/>
          </a:p>
        </p:txBody>
      </p:sp>
      <p:sp>
        <p:nvSpPr>
          <p:cNvPr id="1095" name="Google Shape;1095;p84"/>
          <p:cNvSpPr txBox="1"/>
          <p:nvPr>
            <p:ph idx="1" type="body"/>
          </p:nvPr>
        </p:nvSpPr>
        <p:spPr>
          <a:xfrm>
            <a:off x="332825" y="3050013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5</a:t>
            </a:r>
            <a:r>
              <a:rPr lang="en-GB" sz="1900"/>
              <a:t> </a:t>
            </a:r>
            <a:r>
              <a:rPr lang="en-GB" sz="1900">
                <a:solidFill>
                  <a:srgbClr val="222222"/>
                </a:solidFill>
              </a:rPr>
              <a:t>× 8 = 40</a:t>
            </a:r>
            <a:endParaRPr sz="1900"/>
          </a:p>
        </p:txBody>
      </p:sp>
      <p:sp>
        <p:nvSpPr>
          <p:cNvPr id="1096" name="Google Shape;1096;p84"/>
          <p:cNvSpPr/>
          <p:nvPr/>
        </p:nvSpPr>
        <p:spPr>
          <a:xfrm>
            <a:off x="3099200" y="2133688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+40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4"/>
          <p:cNvSpPr txBox="1"/>
          <p:nvPr>
            <p:ph idx="1" type="body"/>
          </p:nvPr>
        </p:nvSpPr>
        <p:spPr>
          <a:xfrm>
            <a:off x="332825" y="3514713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−7</a:t>
            </a:r>
            <a:r>
              <a:rPr lang="en-GB" sz="1900"/>
              <a:t> + 40</a:t>
            </a:r>
            <a:r>
              <a:rPr lang="en-GB" sz="1900">
                <a:solidFill>
                  <a:srgbClr val="222222"/>
                </a:solidFill>
              </a:rPr>
              <a:t> = 33</a:t>
            </a:r>
            <a:endParaRPr sz="1900"/>
          </a:p>
        </p:txBody>
      </p:sp>
      <p:pic>
        <p:nvPicPr>
          <p:cNvPr id="1098" name="Google Shape;1098;p84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005000" y="190865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84"/>
          <p:cNvSpPr/>
          <p:nvPr/>
        </p:nvSpPr>
        <p:spPr>
          <a:xfrm>
            <a:off x="2887200" y="1217350"/>
            <a:ext cx="390000" cy="28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85"/>
          <p:cNvSpPr txBox="1"/>
          <p:nvPr>
            <p:ph idx="1" type="subTitle"/>
          </p:nvPr>
        </p:nvSpPr>
        <p:spPr>
          <a:xfrm>
            <a:off x="337825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for this table of values?</a:t>
            </a:r>
            <a:endParaRPr/>
          </a:p>
        </p:txBody>
      </p:sp>
      <p:sp>
        <p:nvSpPr>
          <p:cNvPr id="1105" name="Google Shape;110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graphicFrame>
        <p:nvGraphicFramePr>
          <p:cNvPr id="1106" name="Google Shape;1106;p85"/>
          <p:cNvGraphicFramePr/>
          <p:nvPr/>
        </p:nvGraphicFramePr>
        <p:xfrm>
          <a:off x="864338" y="16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640800"/>
                <a:gridCol w="640800"/>
                <a:gridCol w="640800"/>
                <a:gridCol w="640800"/>
              </a:tblGrid>
              <a:tr h="25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7" name="Google Shape;1107;p85"/>
          <p:cNvSpPr txBox="1"/>
          <p:nvPr>
            <p:ph idx="4294967295" type="body"/>
          </p:nvPr>
        </p:nvSpPr>
        <p:spPr>
          <a:xfrm>
            <a:off x="337825" y="2930350"/>
            <a:ext cx="39822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increases by 1,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decreases by 2. The gradient of the line is </a:t>
            </a:r>
            <a:r>
              <a:rPr lang="en-GB" sz="1700">
                <a:solidFill>
                  <a:srgbClr val="222222"/>
                </a:solidFill>
              </a:rPr>
              <a:t>−</a:t>
            </a:r>
            <a:r>
              <a:rPr lang="en-GB" sz="1600"/>
              <a:t>2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108" name="Google Shape;1108;p85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1703000" y="224205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85"/>
          <p:cNvSpPr/>
          <p:nvPr/>
        </p:nvSpPr>
        <p:spPr>
          <a:xfrm>
            <a:off x="1755300" y="24876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5"/>
          <p:cNvSpPr txBox="1"/>
          <p:nvPr>
            <p:ph idx="4294967295" type="body"/>
          </p:nvPr>
        </p:nvSpPr>
        <p:spPr>
          <a:xfrm>
            <a:off x="337825" y="3774138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 </a:t>
            </a:r>
            <a:r>
              <a:rPr lang="en-GB" sz="1800">
                <a:solidFill>
                  <a:srgbClr val="222222"/>
                </a:solidFill>
              </a:rPr>
              <a:t>× 8 = 16</a:t>
            </a:r>
            <a:endParaRPr sz="1800"/>
          </a:p>
        </p:txBody>
      </p:sp>
      <p:sp>
        <p:nvSpPr>
          <p:cNvPr id="1111" name="Google Shape;1111;p85"/>
          <p:cNvSpPr txBox="1"/>
          <p:nvPr>
            <p:ph idx="4294967295" type="body"/>
          </p:nvPr>
        </p:nvSpPr>
        <p:spPr>
          <a:xfrm>
            <a:off x="337825" y="4157063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+ 16</a:t>
            </a:r>
            <a:r>
              <a:rPr lang="en-GB" sz="1800">
                <a:solidFill>
                  <a:srgbClr val="222222"/>
                </a:solidFill>
              </a:rPr>
              <a:t> = 21</a:t>
            </a:r>
            <a:endParaRPr sz="1800"/>
          </a:p>
        </p:txBody>
      </p:sp>
      <p:sp>
        <p:nvSpPr>
          <p:cNvPr id="1112" name="Google Shape;1112;p85"/>
          <p:cNvSpPr/>
          <p:nvPr/>
        </p:nvSpPr>
        <p:spPr>
          <a:xfrm>
            <a:off x="1634700" y="1675750"/>
            <a:ext cx="390000" cy="28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3" name="Google Shape;1113;p85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684875" y="2242050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85"/>
          <p:cNvSpPr/>
          <p:nvPr/>
        </p:nvSpPr>
        <p:spPr>
          <a:xfrm>
            <a:off x="888225" y="2526225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5"/>
          <p:cNvSpPr txBox="1"/>
          <p:nvPr>
            <p:ph idx="4294967295" type="body"/>
          </p:nvPr>
        </p:nvSpPr>
        <p:spPr>
          <a:xfrm>
            <a:off x="337825" y="4503875"/>
            <a:ext cx="425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800">
                <a:solidFill>
                  <a:srgbClr val="222222"/>
                </a:solidFill>
              </a:rPr>
              <a:t>21</a:t>
            </a:r>
            <a:r>
              <a:rPr lang="en-GB" sz="1700"/>
              <a:t>)</a:t>
            </a:r>
            <a:endParaRPr sz="1800"/>
          </a:p>
        </p:txBody>
      </p:sp>
      <p:sp>
        <p:nvSpPr>
          <p:cNvPr id="1116" name="Google Shape;1116;p85"/>
          <p:cNvSpPr txBox="1"/>
          <p:nvPr>
            <p:ph idx="1" type="subTitle"/>
          </p:nvPr>
        </p:nvSpPr>
        <p:spPr>
          <a:xfrm>
            <a:off x="4833625" y="810000"/>
            <a:ext cx="39822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for this table of values?</a:t>
            </a:r>
            <a:endParaRPr/>
          </a:p>
        </p:txBody>
      </p:sp>
      <p:graphicFrame>
        <p:nvGraphicFramePr>
          <p:cNvPr id="1117" name="Google Shape;1117;p85"/>
          <p:cNvGraphicFramePr/>
          <p:nvPr/>
        </p:nvGraphicFramePr>
        <p:xfrm>
          <a:off x="5360138" y="16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640800"/>
                <a:gridCol w="640800"/>
                <a:gridCol w="640800"/>
                <a:gridCol w="640800"/>
              </a:tblGrid>
              <a:tr h="25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8" name="Google Shape;1118;p85"/>
          <p:cNvSpPr txBox="1"/>
          <p:nvPr>
            <p:ph idx="4294967295" type="body"/>
          </p:nvPr>
        </p:nvSpPr>
        <p:spPr>
          <a:xfrm>
            <a:off x="4837825" y="2868650"/>
            <a:ext cx="39822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increases by 1,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decreases by 4. The gradient of the line is </a:t>
            </a:r>
            <a:r>
              <a:rPr lang="en-GB" sz="19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19" name="Google Shape;1119;p85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6198800" y="224205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5"/>
          <p:cNvSpPr/>
          <p:nvPr/>
        </p:nvSpPr>
        <p:spPr>
          <a:xfrm>
            <a:off x="6251100" y="24876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5"/>
          <p:cNvSpPr txBox="1"/>
          <p:nvPr>
            <p:ph idx="4294967295" type="body"/>
          </p:nvPr>
        </p:nvSpPr>
        <p:spPr>
          <a:xfrm>
            <a:off x="4833625" y="3774138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12 = 48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5"/>
          <p:cNvSpPr txBox="1"/>
          <p:nvPr>
            <p:ph idx="4294967295" type="body"/>
          </p:nvPr>
        </p:nvSpPr>
        <p:spPr>
          <a:xfrm>
            <a:off x="4833625" y="4157063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+ 48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= 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5"/>
          <p:cNvSpPr/>
          <p:nvPr/>
        </p:nvSpPr>
        <p:spPr>
          <a:xfrm>
            <a:off x="6130500" y="1675750"/>
            <a:ext cx="390000" cy="28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4" name="Google Shape;1124;p85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5180675" y="2242050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5"/>
          <p:cNvSpPr/>
          <p:nvPr/>
        </p:nvSpPr>
        <p:spPr>
          <a:xfrm>
            <a:off x="5331075" y="2516025"/>
            <a:ext cx="8034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5"/>
          <p:cNvSpPr txBox="1"/>
          <p:nvPr>
            <p:ph idx="4294967295" type="body"/>
          </p:nvPr>
        </p:nvSpPr>
        <p:spPr>
          <a:xfrm>
            <a:off x="4824000" y="4483298"/>
            <a:ext cx="425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intercept is 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1132" name="Google Shape;1132;p86"/>
          <p:cNvSpPr txBox="1"/>
          <p:nvPr>
            <p:ph idx="1" type="body"/>
          </p:nvPr>
        </p:nvSpPr>
        <p:spPr>
          <a:xfrm>
            <a:off x="324000" y="759300"/>
            <a:ext cx="8237700" cy="39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each table of values, work out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intercept.</a:t>
            </a:r>
            <a:endParaRPr sz="2000"/>
          </a:p>
        </p:txBody>
      </p:sp>
      <p:graphicFrame>
        <p:nvGraphicFramePr>
          <p:cNvPr id="1133" name="Google Shape;1133;p86"/>
          <p:cNvGraphicFramePr/>
          <p:nvPr/>
        </p:nvGraphicFramePr>
        <p:xfrm>
          <a:off x="722638" y="1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4" name="Google Shape;1134;p86"/>
          <p:cNvGraphicFramePr/>
          <p:nvPr/>
        </p:nvGraphicFramePr>
        <p:xfrm>
          <a:off x="722638" y="26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5" name="Google Shape;1135;p86"/>
          <p:cNvGraphicFramePr/>
          <p:nvPr/>
        </p:nvGraphicFramePr>
        <p:xfrm>
          <a:off x="722638" y="391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6" name="Google Shape;1136;p86"/>
          <p:cNvGraphicFramePr/>
          <p:nvPr/>
        </p:nvGraphicFramePr>
        <p:xfrm>
          <a:off x="5327713" y="140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7" name="Google Shape;1137;p86"/>
          <p:cNvGraphicFramePr/>
          <p:nvPr/>
        </p:nvGraphicFramePr>
        <p:xfrm>
          <a:off x="5327713" y="26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8" name="Google Shape;1138;p86"/>
          <p:cNvGraphicFramePr/>
          <p:nvPr/>
        </p:nvGraphicFramePr>
        <p:xfrm>
          <a:off x="5327713" y="391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9" name="Google Shape;1139;p86"/>
          <p:cNvGraphicFramePr/>
          <p:nvPr/>
        </p:nvGraphicFramePr>
        <p:xfrm>
          <a:off x="324000" y="124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59950"/>
              </a:tblGrid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0" name="Google Shape;1140;p86"/>
          <p:cNvGraphicFramePr/>
          <p:nvPr/>
        </p:nvGraphicFramePr>
        <p:xfrm>
          <a:off x="4717700" y="124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59950"/>
              </a:tblGrid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tables of values</a:t>
            </a:r>
            <a:endParaRPr/>
          </a:p>
        </p:txBody>
      </p:sp>
      <p:sp>
        <p:nvSpPr>
          <p:cNvPr id="1146" name="Google Shape;1146;p87"/>
          <p:cNvSpPr txBox="1"/>
          <p:nvPr>
            <p:ph idx="1" type="body"/>
          </p:nvPr>
        </p:nvSpPr>
        <p:spPr>
          <a:xfrm>
            <a:off x="324000" y="683100"/>
            <a:ext cx="82377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each table of values, work out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/>
              <a:t>intercept.</a:t>
            </a:r>
            <a:endParaRPr sz="2000"/>
          </a:p>
        </p:txBody>
      </p:sp>
      <p:graphicFrame>
        <p:nvGraphicFramePr>
          <p:cNvPr id="1147" name="Google Shape;1147;p87"/>
          <p:cNvGraphicFramePr/>
          <p:nvPr/>
        </p:nvGraphicFramePr>
        <p:xfrm>
          <a:off x="722638" y="11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8" name="Google Shape;1148;p87"/>
          <p:cNvGraphicFramePr/>
          <p:nvPr/>
        </p:nvGraphicFramePr>
        <p:xfrm>
          <a:off x="722638" y="243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9" name="Google Shape;1149;p87"/>
          <p:cNvGraphicFramePr/>
          <p:nvPr/>
        </p:nvGraphicFramePr>
        <p:xfrm>
          <a:off x="722638" y="368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−83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0" name="Google Shape;1150;p87"/>
          <p:cNvGraphicFramePr/>
          <p:nvPr/>
        </p:nvGraphicFramePr>
        <p:xfrm>
          <a:off x="5327713" y="11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1" name="Google Shape;1151;p87"/>
          <p:cNvGraphicFramePr/>
          <p:nvPr/>
        </p:nvGraphicFramePr>
        <p:xfrm>
          <a:off x="5327713" y="243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2" name="Google Shape;1152;p87"/>
          <p:cNvGraphicFramePr/>
          <p:nvPr/>
        </p:nvGraphicFramePr>
        <p:xfrm>
          <a:off x="5327713" y="368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3" name="Google Shape;1153;p87"/>
          <p:cNvGraphicFramePr/>
          <p:nvPr/>
        </p:nvGraphicFramePr>
        <p:xfrm>
          <a:off x="324000" y="10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59950"/>
              </a:tblGrid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4" name="Google Shape;1154;p87"/>
          <p:cNvGraphicFramePr/>
          <p:nvPr/>
        </p:nvGraphicFramePr>
        <p:xfrm>
          <a:off x="4717700" y="102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59950"/>
              </a:tblGrid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5" name="Google Shape;1155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1416725" y="1758412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87"/>
          <p:cNvSpPr/>
          <p:nvPr/>
        </p:nvSpPr>
        <p:spPr>
          <a:xfrm>
            <a:off x="1620075" y="19350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57" name="Google Shape;1157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444250" y="17584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87"/>
          <p:cNvSpPr/>
          <p:nvPr/>
        </p:nvSpPr>
        <p:spPr>
          <a:xfrm>
            <a:off x="2547925" y="19350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7"/>
          <p:cNvSpPr/>
          <p:nvPr/>
        </p:nvSpPr>
        <p:spPr>
          <a:xfrm>
            <a:off x="3360875" y="1878888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(0,7)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0" name="Google Shape;1160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1416725" y="3053812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87"/>
          <p:cNvSpPr/>
          <p:nvPr/>
        </p:nvSpPr>
        <p:spPr>
          <a:xfrm>
            <a:off x="1620075" y="32304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2" name="Google Shape;1162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444250" y="30538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87"/>
          <p:cNvSpPr/>
          <p:nvPr/>
        </p:nvSpPr>
        <p:spPr>
          <a:xfrm>
            <a:off x="2547925" y="32304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7"/>
          <p:cNvSpPr/>
          <p:nvPr/>
        </p:nvSpPr>
        <p:spPr>
          <a:xfrm>
            <a:off x="3360875" y="3153513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(0,7)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5" name="Google Shape;1165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1416725" y="4349212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87"/>
          <p:cNvSpPr/>
          <p:nvPr/>
        </p:nvSpPr>
        <p:spPr>
          <a:xfrm>
            <a:off x="1620075" y="45258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7" name="Google Shape;1167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444250" y="43492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87"/>
          <p:cNvSpPr/>
          <p:nvPr/>
        </p:nvSpPr>
        <p:spPr>
          <a:xfrm>
            <a:off x="2547925" y="45258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87"/>
          <p:cNvSpPr/>
          <p:nvPr/>
        </p:nvSpPr>
        <p:spPr>
          <a:xfrm>
            <a:off x="3360875" y="4331463"/>
            <a:ext cx="1356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−83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0" name="Google Shape;1170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5912525" y="1758412"/>
            <a:ext cx="11042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87"/>
          <p:cNvSpPr/>
          <p:nvPr/>
        </p:nvSpPr>
        <p:spPr>
          <a:xfrm>
            <a:off x="6115875" y="1935050"/>
            <a:ext cx="697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2" name="Google Shape;1172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6940050" y="1758400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7"/>
          <p:cNvSpPr/>
          <p:nvPr/>
        </p:nvSpPr>
        <p:spPr>
          <a:xfrm>
            <a:off x="7043725" y="1938375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7"/>
          <p:cNvSpPr/>
          <p:nvPr/>
        </p:nvSpPr>
        <p:spPr>
          <a:xfrm>
            <a:off x="8009075" y="1878888"/>
            <a:ext cx="8565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(0,47)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5" name="Google Shape;1175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6459250" y="3063537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87"/>
          <p:cNvSpPr/>
          <p:nvPr/>
        </p:nvSpPr>
        <p:spPr>
          <a:xfrm>
            <a:off x="6562925" y="3270931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7" name="Google Shape;1177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7255975" y="3063526"/>
            <a:ext cx="1104200" cy="24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7"/>
          <p:cNvSpPr/>
          <p:nvPr/>
        </p:nvSpPr>
        <p:spPr>
          <a:xfrm>
            <a:off x="7427022" y="3257116"/>
            <a:ext cx="726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9" name="Google Shape;1179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5973700" y="4331362"/>
            <a:ext cx="885900" cy="2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7"/>
          <p:cNvSpPr/>
          <p:nvPr/>
        </p:nvSpPr>
        <p:spPr>
          <a:xfrm>
            <a:off x="6086075" y="457200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1" name="Google Shape;1181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7145525" y="4308925"/>
            <a:ext cx="1271900" cy="2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87"/>
          <p:cNvSpPr/>
          <p:nvPr/>
        </p:nvSpPr>
        <p:spPr>
          <a:xfrm>
            <a:off x="7477100" y="4525850"/>
            <a:ext cx="7263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+60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7"/>
          <p:cNvSpPr/>
          <p:nvPr/>
        </p:nvSpPr>
        <p:spPr>
          <a:xfrm>
            <a:off x="8009075" y="3891500"/>
            <a:ext cx="885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0,51)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7"/>
          <p:cNvSpPr/>
          <p:nvPr/>
        </p:nvSpPr>
        <p:spPr>
          <a:xfrm>
            <a:off x="8009075" y="3270925"/>
            <a:ext cx="8859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(0,0)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</a:t>
            </a:r>
            <a:endParaRPr/>
          </a:p>
        </p:txBody>
      </p:sp>
      <p:sp>
        <p:nvSpPr>
          <p:cNvPr id="1190" name="Google Shape;1190;p8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tables of values</a:t>
            </a:r>
            <a:endParaRPr/>
          </a:p>
        </p:txBody>
      </p:sp>
      <p:sp>
        <p:nvSpPr>
          <p:cNvPr id="1191" name="Google Shape;1191;p8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1192" name="Google Shape;1192;p8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  <p:pic>
        <p:nvPicPr>
          <p:cNvPr id="1193" name="Google Shape;119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199" name="Google Shape;1199;p89"/>
          <p:cNvSpPr txBox="1"/>
          <p:nvPr>
            <p:ph idx="1" type="body"/>
          </p:nvPr>
        </p:nvSpPr>
        <p:spPr>
          <a:xfrm>
            <a:off x="324000" y="7593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work out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if we know 2 coordinates on the line. </a:t>
            </a:r>
            <a:endParaRPr sz="1800"/>
          </a:p>
        </p:txBody>
      </p:sp>
      <p:sp>
        <p:nvSpPr>
          <p:cNvPr id="1200" name="Google Shape;1200;p89"/>
          <p:cNvSpPr txBox="1"/>
          <p:nvPr>
            <p:ph idx="1" type="body"/>
          </p:nvPr>
        </p:nvSpPr>
        <p:spPr>
          <a:xfrm>
            <a:off x="324000" y="13797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would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</a:t>
            </a:r>
            <a:r>
              <a:rPr lang="en-GB" sz="1800"/>
              <a:t> be for the line that goes through (4,10) and       (7, 16)? </a:t>
            </a:r>
            <a:endParaRPr sz="1800"/>
          </a:p>
        </p:txBody>
      </p:sp>
      <p:sp>
        <p:nvSpPr>
          <p:cNvPr id="1201" name="Google Shape;1201;p89"/>
          <p:cNvSpPr txBox="1"/>
          <p:nvPr>
            <p:ph idx="1" type="body"/>
          </p:nvPr>
        </p:nvSpPr>
        <p:spPr>
          <a:xfrm>
            <a:off x="324000" y="2225400"/>
            <a:ext cx="56043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useful to sketch the points roughly first.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202" name="Google Shape;1202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824" y="2061313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03" name="Google Shape;1203;p89"/>
          <p:cNvCxnSpPr/>
          <p:nvPr/>
        </p:nvCxnSpPr>
        <p:spPr>
          <a:xfrm flipH="1">
            <a:off x="6580364" y="2224965"/>
            <a:ext cx="1488300" cy="1209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grpSp>
        <p:nvGrpSpPr>
          <p:cNvPr id="1204" name="Google Shape;1204;p89"/>
          <p:cNvGrpSpPr/>
          <p:nvPr/>
        </p:nvGrpSpPr>
        <p:grpSpPr>
          <a:xfrm>
            <a:off x="6615900" y="2036040"/>
            <a:ext cx="1533969" cy="721007"/>
            <a:chOff x="6615900" y="2036040"/>
            <a:chExt cx="1533969" cy="721007"/>
          </a:xfrm>
        </p:grpSpPr>
        <p:sp>
          <p:nvSpPr>
            <p:cNvPr id="1205" name="Google Shape;1205;p89"/>
            <p:cNvSpPr txBox="1"/>
            <p:nvPr/>
          </p:nvSpPr>
          <p:spPr>
            <a:xfrm>
              <a:off x="7427969" y="2454346"/>
              <a:ext cx="2199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6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 sz="21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06" name="Google Shape;1206;p89"/>
            <p:cNvSpPr txBox="1"/>
            <p:nvPr/>
          </p:nvSpPr>
          <p:spPr>
            <a:xfrm>
              <a:off x="7319644" y="2036040"/>
              <a:ext cx="7155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(7,16) </a:t>
              </a:r>
              <a:endParaRPr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07" name="Google Shape;1207;p89"/>
            <p:cNvSpPr txBox="1"/>
            <p:nvPr/>
          </p:nvSpPr>
          <p:spPr>
            <a:xfrm>
              <a:off x="7929969" y="2042496"/>
              <a:ext cx="2199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5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6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 sz="21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08" name="Google Shape;1208;p89"/>
            <p:cNvSpPr txBox="1"/>
            <p:nvPr/>
          </p:nvSpPr>
          <p:spPr>
            <a:xfrm>
              <a:off x="6615900" y="2454338"/>
              <a:ext cx="8433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accent2"/>
                  </a:solidFill>
                  <a:latin typeface="Lexend"/>
                  <a:ea typeface="Lexend"/>
                  <a:cs typeface="Lexend"/>
                  <a:sym typeface="Lexend"/>
                </a:rPr>
                <a:t>(4,10) </a:t>
              </a:r>
              <a:endParaRPr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209" name="Google Shape;1209;p89"/>
          <p:cNvSpPr txBox="1"/>
          <p:nvPr>
            <p:ph idx="1" type="body"/>
          </p:nvPr>
        </p:nvSpPr>
        <p:spPr>
          <a:xfrm>
            <a:off x="324000" y="2835300"/>
            <a:ext cx="56043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However we do not know if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positive or negative, so this is just a guide.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215" name="Google Shape;1215;p90"/>
          <p:cNvSpPr txBox="1"/>
          <p:nvPr>
            <p:ph idx="1" type="body"/>
          </p:nvPr>
        </p:nvSpPr>
        <p:spPr>
          <a:xfrm>
            <a:off x="324000" y="7593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Once you have sketched your points, calculate the gradient.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are expecting it to be positive. 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216" name="Google Shape;1216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824" y="1604113"/>
            <a:ext cx="2003750" cy="203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7" name="Google Shape;1217;p90"/>
          <p:cNvSpPr txBox="1"/>
          <p:nvPr/>
        </p:nvSpPr>
        <p:spPr>
          <a:xfrm>
            <a:off x="7427969" y="1997146"/>
            <a:ext cx="219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0"/>
          <p:cNvSpPr txBox="1"/>
          <p:nvPr/>
        </p:nvSpPr>
        <p:spPr>
          <a:xfrm>
            <a:off x="7319644" y="1578840"/>
            <a:ext cx="715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(7,16) </a:t>
            </a:r>
            <a:endParaRPr sz="18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19" name="Google Shape;1219;p90"/>
          <p:cNvCxnSpPr/>
          <p:nvPr/>
        </p:nvCxnSpPr>
        <p:spPr>
          <a:xfrm flipH="1">
            <a:off x="6580364" y="1767765"/>
            <a:ext cx="1488300" cy="1209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220" name="Google Shape;1220;p90"/>
          <p:cNvSpPr txBox="1"/>
          <p:nvPr/>
        </p:nvSpPr>
        <p:spPr>
          <a:xfrm>
            <a:off x="7929969" y="1585296"/>
            <a:ext cx="219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6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90"/>
          <p:cNvSpPr txBox="1"/>
          <p:nvPr/>
        </p:nvSpPr>
        <p:spPr>
          <a:xfrm>
            <a:off x="6615900" y="1923038"/>
            <a:ext cx="843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(4,10) </a:t>
            </a:r>
            <a:endParaRPr sz="18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22" name="Google Shape;1222;p90"/>
          <p:cNvGrpSpPr/>
          <p:nvPr/>
        </p:nvGrpSpPr>
        <p:grpSpPr>
          <a:xfrm>
            <a:off x="7523050" y="2114538"/>
            <a:ext cx="512100" cy="469500"/>
            <a:chOff x="7523050" y="2114538"/>
            <a:chExt cx="512100" cy="469500"/>
          </a:xfrm>
        </p:grpSpPr>
        <p:sp>
          <p:nvSpPr>
            <p:cNvPr id="1223" name="Google Shape;1223;p90"/>
            <p:cNvSpPr/>
            <p:nvPr/>
          </p:nvSpPr>
          <p:spPr>
            <a:xfrm>
              <a:off x="7561475" y="2114538"/>
              <a:ext cx="3141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4" name="Google Shape;1224;p90"/>
            <p:cNvCxnSpPr/>
            <p:nvPr/>
          </p:nvCxnSpPr>
          <p:spPr>
            <a:xfrm>
              <a:off x="7523050" y="2242810"/>
              <a:ext cx="5121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25" name="Google Shape;1225;p90"/>
          <p:cNvGrpSpPr/>
          <p:nvPr/>
        </p:nvGrpSpPr>
        <p:grpSpPr>
          <a:xfrm>
            <a:off x="7982425" y="1814538"/>
            <a:ext cx="314100" cy="469500"/>
            <a:chOff x="7982425" y="1814538"/>
            <a:chExt cx="314100" cy="469500"/>
          </a:xfrm>
        </p:grpSpPr>
        <p:cxnSp>
          <p:nvCxnSpPr>
            <p:cNvPr id="1226" name="Google Shape;1226;p90"/>
            <p:cNvCxnSpPr/>
            <p:nvPr/>
          </p:nvCxnSpPr>
          <p:spPr>
            <a:xfrm rot="10800000">
              <a:off x="8005644" y="1855796"/>
              <a:ext cx="0" cy="38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7" name="Google Shape;1227;p90"/>
            <p:cNvSpPr/>
            <p:nvPr/>
          </p:nvSpPr>
          <p:spPr>
            <a:xfrm>
              <a:off x="7982425" y="1814538"/>
              <a:ext cx="3141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90"/>
          <p:cNvGrpSpPr/>
          <p:nvPr/>
        </p:nvGrpSpPr>
        <p:grpSpPr>
          <a:xfrm>
            <a:off x="6668275" y="1612300"/>
            <a:ext cx="880922" cy="580000"/>
            <a:chOff x="6668275" y="1383700"/>
            <a:chExt cx="880922" cy="580000"/>
          </a:xfrm>
        </p:grpSpPr>
        <p:sp>
          <p:nvSpPr>
            <p:cNvPr id="1229" name="Google Shape;1229;p90"/>
            <p:cNvSpPr/>
            <p:nvPr/>
          </p:nvSpPr>
          <p:spPr>
            <a:xfrm>
              <a:off x="7369198" y="1383700"/>
              <a:ext cx="180000" cy="235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90"/>
            <p:cNvSpPr/>
            <p:nvPr/>
          </p:nvSpPr>
          <p:spPr>
            <a:xfrm>
              <a:off x="6668275" y="1727900"/>
              <a:ext cx="219900" cy="235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90"/>
          <p:cNvGrpSpPr/>
          <p:nvPr/>
        </p:nvGrpSpPr>
        <p:grpSpPr>
          <a:xfrm>
            <a:off x="6915236" y="1612309"/>
            <a:ext cx="895354" cy="579991"/>
            <a:chOff x="6915236" y="1383709"/>
            <a:chExt cx="895354" cy="579991"/>
          </a:xfrm>
        </p:grpSpPr>
        <p:sp>
          <p:nvSpPr>
            <p:cNvPr id="1232" name="Google Shape;1232;p90"/>
            <p:cNvSpPr/>
            <p:nvPr/>
          </p:nvSpPr>
          <p:spPr>
            <a:xfrm>
              <a:off x="6915236" y="1727900"/>
              <a:ext cx="266400" cy="235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90"/>
            <p:cNvSpPr/>
            <p:nvPr/>
          </p:nvSpPr>
          <p:spPr>
            <a:xfrm>
              <a:off x="7544190" y="1383709"/>
              <a:ext cx="266400" cy="235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34" name="Google Shape;1234;p90"/>
          <p:cNvGraphicFramePr/>
          <p:nvPr/>
        </p:nvGraphicFramePr>
        <p:xfrm>
          <a:off x="3308847" y="1590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5" name="Google Shape;1235;p90"/>
          <p:cNvSpPr/>
          <p:nvPr/>
        </p:nvSpPr>
        <p:spPr>
          <a:xfrm>
            <a:off x="3316624" y="2215069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0"/>
          <p:cNvSpPr/>
          <p:nvPr/>
        </p:nvSpPr>
        <p:spPr>
          <a:xfrm>
            <a:off x="4779724" y="2215069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0"/>
          <p:cNvSpPr/>
          <p:nvPr/>
        </p:nvSpPr>
        <p:spPr>
          <a:xfrm>
            <a:off x="4779724" y="1902657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0"/>
          <p:cNvSpPr/>
          <p:nvPr/>
        </p:nvSpPr>
        <p:spPr>
          <a:xfrm>
            <a:off x="3316624" y="1902644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0"/>
          <p:cNvSpPr txBox="1"/>
          <p:nvPr>
            <p:ph idx="1" type="body"/>
          </p:nvPr>
        </p:nvSpPr>
        <p:spPr>
          <a:xfrm>
            <a:off x="320425" y="1812000"/>
            <a:ext cx="14631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2</a:t>
            </a:r>
            <a:endParaRPr sz="1800"/>
          </a:p>
        </p:txBody>
      </p:sp>
      <p:sp>
        <p:nvSpPr>
          <p:cNvPr id="1240" name="Google Shape;1240;p90"/>
          <p:cNvSpPr txBox="1"/>
          <p:nvPr>
            <p:ph idx="1" type="body"/>
          </p:nvPr>
        </p:nvSpPr>
        <p:spPr>
          <a:xfrm>
            <a:off x="320425" y="2669126"/>
            <a:ext cx="591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put the coordinates into a table of values to help us count back to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-intercept. </a:t>
            </a:r>
            <a:endParaRPr sz="1800"/>
          </a:p>
        </p:txBody>
      </p:sp>
      <p:graphicFrame>
        <p:nvGraphicFramePr>
          <p:cNvPr id="1241" name="Google Shape;1241;p90"/>
          <p:cNvGraphicFramePr/>
          <p:nvPr/>
        </p:nvGraphicFramePr>
        <p:xfrm>
          <a:off x="5671038" y="372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42" name="Google Shape;1242;p90"/>
          <p:cNvPicPr preferRelativeResize="0"/>
          <p:nvPr/>
        </p:nvPicPr>
        <p:blipFill rotWithShape="1">
          <a:blip r:embed="rId4">
            <a:alphaModFix/>
          </a:blip>
          <a:srcRect b="12671" l="61925" r="14808" t="74256"/>
          <a:stretch/>
        </p:blipFill>
        <p:spPr>
          <a:xfrm flipH="1" rot="10800000">
            <a:off x="7381475" y="4352974"/>
            <a:ext cx="576676" cy="198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90"/>
          <p:cNvSpPr/>
          <p:nvPr/>
        </p:nvSpPr>
        <p:spPr>
          <a:xfrm>
            <a:off x="7459200" y="444636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0"/>
          <p:cNvSpPr txBox="1"/>
          <p:nvPr>
            <p:ph idx="1" type="body"/>
          </p:nvPr>
        </p:nvSpPr>
        <p:spPr>
          <a:xfrm>
            <a:off x="324000" y="3440738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</a:t>
            </a:r>
            <a:r>
              <a:rPr lang="en-GB" sz="1900"/>
              <a:t> </a:t>
            </a:r>
            <a:r>
              <a:rPr lang="en-GB" sz="1900">
                <a:solidFill>
                  <a:srgbClr val="222222"/>
                </a:solidFill>
              </a:rPr>
              <a:t>× 4 = 8</a:t>
            </a:r>
            <a:endParaRPr sz="1900"/>
          </a:p>
        </p:txBody>
      </p:sp>
      <p:sp>
        <p:nvSpPr>
          <p:cNvPr id="1245" name="Google Shape;1245;p90"/>
          <p:cNvSpPr/>
          <p:nvPr/>
        </p:nvSpPr>
        <p:spPr>
          <a:xfrm>
            <a:off x="7349250" y="3729725"/>
            <a:ext cx="314100" cy="30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0"/>
          <p:cNvSpPr txBox="1"/>
          <p:nvPr>
            <p:ph idx="1" type="body"/>
          </p:nvPr>
        </p:nvSpPr>
        <p:spPr>
          <a:xfrm>
            <a:off x="324000" y="3918888"/>
            <a:ext cx="45000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10</a:t>
            </a:r>
            <a:r>
              <a:rPr lang="en-GB" sz="1900"/>
              <a:t>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900">
                <a:solidFill>
                  <a:srgbClr val="222222"/>
                </a:solidFill>
              </a:rPr>
              <a:t> 8 = 2</a:t>
            </a:r>
            <a:endParaRPr sz="1900"/>
          </a:p>
        </p:txBody>
      </p:sp>
      <p:pic>
        <p:nvPicPr>
          <p:cNvPr id="1247" name="Google Shape;1247;p90"/>
          <p:cNvPicPr preferRelativeResize="0"/>
          <p:nvPr/>
        </p:nvPicPr>
        <p:blipFill rotWithShape="1">
          <a:blip r:embed="rId4">
            <a:alphaModFix/>
          </a:blip>
          <a:srcRect b="12671" l="61925" r="14808" t="74256"/>
          <a:stretch/>
        </p:blipFill>
        <p:spPr>
          <a:xfrm rot="10800000">
            <a:off x="6388450" y="4352975"/>
            <a:ext cx="993024" cy="19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0"/>
          <p:cNvSpPr/>
          <p:nvPr/>
        </p:nvSpPr>
        <p:spPr>
          <a:xfrm flipH="1">
            <a:off x="6706733" y="4446366"/>
            <a:ext cx="540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0"/>
          <p:cNvSpPr/>
          <p:nvPr/>
        </p:nvSpPr>
        <p:spPr>
          <a:xfrm flipH="1">
            <a:off x="6195875" y="4034500"/>
            <a:ext cx="5121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0"/>
          <p:cNvSpPr txBox="1"/>
          <p:nvPr>
            <p:ph idx="1" type="body"/>
          </p:nvPr>
        </p:nvSpPr>
        <p:spPr>
          <a:xfrm>
            <a:off x="324000" y="4352963"/>
            <a:ext cx="591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(0,2)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256" name="Google Shape;1256;p91"/>
          <p:cNvSpPr txBox="1"/>
          <p:nvPr>
            <p:ph idx="1" type="body"/>
          </p:nvPr>
        </p:nvSpPr>
        <p:spPr>
          <a:xfrm>
            <a:off x="324000" y="6831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check that our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correct by seeing if it works for the second </a:t>
            </a:r>
            <a:r>
              <a:rPr lang="en-GB" sz="1800"/>
              <a:t>coordinate too.</a:t>
            </a:r>
            <a:endParaRPr sz="1800"/>
          </a:p>
        </p:txBody>
      </p:sp>
      <p:sp>
        <p:nvSpPr>
          <p:cNvPr id="1257" name="Google Shape;1257;p91"/>
          <p:cNvSpPr txBox="1"/>
          <p:nvPr/>
        </p:nvSpPr>
        <p:spPr>
          <a:xfrm>
            <a:off x="1235700" y="276300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,3)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58" name="Google Shape;1258;p91"/>
          <p:cNvGraphicFramePr/>
          <p:nvPr/>
        </p:nvGraphicFramePr>
        <p:xfrm>
          <a:off x="2904647" y="2050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1463100"/>
                <a:gridCol w="1463100"/>
              </a:tblGrid>
              <a:tr h="27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9" name="Google Shape;1259;p91"/>
          <p:cNvSpPr/>
          <p:nvPr/>
        </p:nvSpPr>
        <p:spPr>
          <a:xfrm>
            <a:off x="2902750" y="2630800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1"/>
          <p:cNvSpPr/>
          <p:nvPr/>
        </p:nvSpPr>
        <p:spPr>
          <a:xfrm>
            <a:off x="4365848" y="2371510"/>
            <a:ext cx="14631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1"/>
          <p:cNvSpPr/>
          <p:nvPr/>
        </p:nvSpPr>
        <p:spPr>
          <a:xfrm>
            <a:off x="2902748" y="2371499"/>
            <a:ext cx="14631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1"/>
          <p:cNvSpPr txBox="1"/>
          <p:nvPr>
            <p:ph idx="1" type="body"/>
          </p:nvPr>
        </p:nvSpPr>
        <p:spPr>
          <a:xfrm>
            <a:off x="320425" y="3263438"/>
            <a:ext cx="1641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endParaRPr sz="1800"/>
          </a:p>
        </p:txBody>
      </p:sp>
      <p:graphicFrame>
        <p:nvGraphicFramePr>
          <p:cNvPr id="1263" name="Google Shape;1263;p91"/>
          <p:cNvGraphicFramePr/>
          <p:nvPr/>
        </p:nvGraphicFramePr>
        <p:xfrm>
          <a:off x="2927838" y="34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4" name="Google Shape;1264;p91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rot="10800000">
            <a:off x="3701013" y="4084098"/>
            <a:ext cx="1071848" cy="198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91"/>
          <p:cNvSpPr/>
          <p:nvPr/>
        </p:nvSpPr>
        <p:spPr>
          <a:xfrm>
            <a:off x="4079888" y="4284190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1"/>
          <p:cNvSpPr txBox="1"/>
          <p:nvPr>
            <p:ph idx="1" type="body"/>
          </p:nvPr>
        </p:nvSpPr>
        <p:spPr>
          <a:xfrm>
            <a:off x="320425" y="3734575"/>
            <a:ext cx="30456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r>
              <a:rPr lang="en-GB" sz="1800"/>
              <a:t>  </a:t>
            </a:r>
            <a:r>
              <a:rPr lang="en-GB" sz="1800">
                <a:solidFill>
                  <a:srgbClr val="222222"/>
                </a:solidFill>
              </a:rPr>
              <a:t>× 8 = 4</a:t>
            </a:r>
            <a:endParaRPr sz="1800"/>
          </a:p>
        </p:txBody>
      </p:sp>
      <p:sp>
        <p:nvSpPr>
          <p:cNvPr id="1267" name="Google Shape;1267;p91"/>
          <p:cNvSpPr/>
          <p:nvPr/>
        </p:nvSpPr>
        <p:spPr>
          <a:xfrm>
            <a:off x="4609500" y="3419750"/>
            <a:ext cx="314100" cy="30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1"/>
          <p:cNvSpPr txBox="1"/>
          <p:nvPr>
            <p:ph idx="1" type="body"/>
          </p:nvPr>
        </p:nvSpPr>
        <p:spPr>
          <a:xfrm>
            <a:off x="320425" y="4353500"/>
            <a:ext cx="30456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 </a:t>
            </a:r>
            <a:r>
              <a:rPr lang="en-GB" sz="1800"/>
              <a:t>4</a:t>
            </a:r>
            <a:r>
              <a:rPr lang="en-GB" sz="1800">
                <a:solidFill>
                  <a:srgbClr val="222222"/>
                </a:solidFill>
              </a:rPr>
              <a:t> = −</a:t>
            </a:r>
            <a:r>
              <a:rPr lang="en-GB" sz="1800"/>
              <a:t>3</a:t>
            </a:r>
            <a:endParaRPr sz="1800"/>
          </a:p>
        </p:txBody>
      </p:sp>
      <p:sp>
        <p:nvSpPr>
          <p:cNvPr id="1269" name="Google Shape;1269;p91"/>
          <p:cNvSpPr txBox="1"/>
          <p:nvPr/>
        </p:nvSpPr>
        <p:spPr>
          <a:xfrm>
            <a:off x="355500" y="273425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,1)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70" name="Google Shape;1270;p91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411300" y="2569300"/>
            <a:ext cx="1197924" cy="2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1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644350" y="2587975"/>
            <a:ext cx="1197924" cy="2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91"/>
          <p:cNvSpPr/>
          <p:nvPr/>
        </p:nvSpPr>
        <p:spPr>
          <a:xfrm>
            <a:off x="748775" y="2211375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1"/>
          <p:cNvSpPr/>
          <p:nvPr/>
        </p:nvSpPr>
        <p:spPr>
          <a:xfrm>
            <a:off x="1158300" y="2211375"/>
            <a:ext cx="572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4" name="Google Shape;1274;p91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4767804" y="4084098"/>
            <a:ext cx="667076" cy="198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91"/>
          <p:cNvSpPr txBox="1"/>
          <p:nvPr>
            <p:ph idx="1" type="body"/>
          </p:nvPr>
        </p:nvSpPr>
        <p:spPr>
          <a:xfrm>
            <a:off x="324000" y="14883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for the line which passes through the coordinates (8,1) and (12,3)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76" name="Google Shape;1276;p9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694" y="2663773"/>
            <a:ext cx="148967" cy="47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77" name="Google Shape;1277;p9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844" y="3162835"/>
            <a:ext cx="148967" cy="47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1278" name="Google Shape;1278;p91" title="posi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6137" y="4288503"/>
            <a:ext cx="314100" cy="464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79" name="Google Shape;1279;p9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94" y="3652110"/>
            <a:ext cx="148967" cy="4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1"/>
          <p:cNvSpPr txBox="1"/>
          <p:nvPr>
            <p:ph idx="1" type="body"/>
          </p:nvPr>
        </p:nvSpPr>
        <p:spPr>
          <a:xfrm>
            <a:off x="6146200" y="3465750"/>
            <a:ext cx="27054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3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281" name="Google Shape;1281;p91"/>
          <p:cNvSpPr/>
          <p:nvPr/>
        </p:nvSpPr>
        <p:spPr>
          <a:xfrm>
            <a:off x="3452675" y="3734575"/>
            <a:ext cx="524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287" name="Google Shape;1287;p92"/>
          <p:cNvSpPr txBox="1"/>
          <p:nvPr>
            <p:ph idx="1" type="body"/>
          </p:nvPr>
        </p:nvSpPr>
        <p:spPr>
          <a:xfrm>
            <a:off x="324000" y="75094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Now we can check with the coordinate (12,3)</a:t>
            </a:r>
            <a:endParaRPr sz="1800"/>
          </a:p>
        </p:txBody>
      </p:sp>
      <p:graphicFrame>
        <p:nvGraphicFramePr>
          <p:cNvPr id="1288" name="Google Shape;1288;p92"/>
          <p:cNvGraphicFramePr/>
          <p:nvPr/>
        </p:nvGraphicFramePr>
        <p:xfrm>
          <a:off x="2904647" y="12882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1463100"/>
                <a:gridCol w="1463100"/>
              </a:tblGrid>
              <a:tr h="27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9" name="Google Shape;1289;p92"/>
          <p:cNvSpPr txBox="1"/>
          <p:nvPr>
            <p:ph idx="1" type="body"/>
          </p:nvPr>
        </p:nvSpPr>
        <p:spPr>
          <a:xfrm>
            <a:off x="320425" y="1434638"/>
            <a:ext cx="1641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endParaRPr sz="1800"/>
          </a:p>
        </p:txBody>
      </p:sp>
      <p:graphicFrame>
        <p:nvGraphicFramePr>
          <p:cNvPr id="1290" name="Google Shape;1290;p92"/>
          <p:cNvGraphicFramePr/>
          <p:nvPr/>
        </p:nvGraphicFramePr>
        <p:xfrm>
          <a:off x="2927838" y="27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1" name="Google Shape;1291;p92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rot="10800000">
            <a:off x="3578074" y="3398301"/>
            <a:ext cx="2207176" cy="405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92"/>
          <p:cNvSpPr/>
          <p:nvPr/>
        </p:nvSpPr>
        <p:spPr>
          <a:xfrm>
            <a:off x="4571988" y="3399440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2"/>
          <p:cNvSpPr txBox="1"/>
          <p:nvPr>
            <p:ph idx="1" type="body"/>
          </p:nvPr>
        </p:nvSpPr>
        <p:spPr>
          <a:xfrm>
            <a:off x="320425" y="1905775"/>
            <a:ext cx="30456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  </a:t>
            </a:r>
            <a:r>
              <a:rPr lang="en-GB" sz="1800">
                <a:solidFill>
                  <a:srgbClr val="222222"/>
                </a:solidFill>
              </a:rPr>
              <a:t>× 12 = 6</a:t>
            </a:r>
            <a:endParaRPr sz="1800"/>
          </a:p>
        </p:txBody>
      </p:sp>
      <p:sp>
        <p:nvSpPr>
          <p:cNvPr id="1294" name="Google Shape;1294;p92"/>
          <p:cNvSpPr/>
          <p:nvPr/>
        </p:nvSpPr>
        <p:spPr>
          <a:xfrm>
            <a:off x="5651375" y="2733950"/>
            <a:ext cx="314100" cy="30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2"/>
          <p:cNvSpPr txBox="1"/>
          <p:nvPr>
            <p:ph idx="1" type="body"/>
          </p:nvPr>
        </p:nvSpPr>
        <p:spPr>
          <a:xfrm>
            <a:off x="320425" y="2599800"/>
            <a:ext cx="30456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− </a:t>
            </a:r>
            <a:r>
              <a:rPr lang="en-GB" sz="1800"/>
              <a:t>6</a:t>
            </a:r>
            <a:r>
              <a:rPr lang="en-GB" sz="1800">
                <a:solidFill>
                  <a:srgbClr val="222222"/>
                </a:solidFill>
              </a:rPr>
              <a:t> = −</a:t>
            </a:r>
            <a:r>
              <a:rPr lang="en-GB" sz="1800"/>
              <a:t>3</a:t>
            </a:r>
            <a:endParaRPr sz="1800"/>
          </a:p>
        </p:txBody>
      </p:sp>
      <p:pic>
        <p:nvPicPr>
          <p:cNvPr id="1296" name="Google Shape;1296;p92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5758404" y="3398298"/>
            <a:ext cx="667076" cy="1984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97" name="Google Shape;1297;p9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694" y="1901773"/>
            <a:ext cx="148967" cy="47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98" name="Google Shape;1298;p9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5844" y="1334035"/>
            <a:ext cx="148967" cy="47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+\frac{1}{2}&quot;&gt;&lt;mo&gt;+&lt;/mo&gt;&lt;mfrac&gt;&lt;mn&gt;1&lt;/mn&gt;&lt;mn&gt;2&lt;/mn&gt;&lt;/mfrac&gt;&lt;/math&gt;" id="1299" name="Google Shape;1299;p92" title="posi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6737" y="3602703"/>
            <a:ext cx="314100" cy="4643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00" name="Google Shape;1300;p9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94" y="1823310"/>
            <a:ext cx="148967" cy="4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92"/>
          <p:cNvSpPr txBox="1"/>
          <p:nvPr>
            <p:ph idx="1" type="body"/>
          </p:nvPr>
        </p:nvSpPr>
        <p:spPr>
          <a:xfrm>
            <a:off x="6146200" y="2779950"/>
            <a:ext cx="27054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3)</a:t>
            </a:r>
            <a:endParaRPr sz="1800"/>
          </a:p>
        </p:txBody>
      </p:sp>
      <p:sp>
        <p:nvSpPr>
          <p:cNvPr id="1302" name="Google Shape;1302;p92"/>
          <p:cNvSpPr/>
          <p:nvPr/>
        </p:nvSpPr>
        <p:spPr>
          <a:xfrm>
            <a:off x="3452675" y="3048775"/>
            <a:ext cx="524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2"/>
          <p:cNvSpPr txBox="1"/>
          <p:nvPr>
            <p:ph idx="1" type="body"/>
          </p:nvPr>
        </p:nvSpPr>
        <p:spPr>
          <a:xfrm>
            <a:off x="324000" y="4162600"/>
            <a:ext cx="83127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looks like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(0,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3) as it works for a gradient of     with both coordinates.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04" name="Google Shape;1304;p92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8732" y="4102159"/>
            <a:ext cx="148967" cy="4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1310" name="Google Shape;1310;p93"/>
          <p:cNvSpPr txBox="1"/>
          <p:nvPr>
            <p:ph idx="1" type="body"/>
          </p:nvPr>
        </p:nvSpPr>
        <p:spPr>
          <a:xfrm>
            <a:off x="324000" y="759300"/>
            <a:ext cx="8237700" cy="5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is a really useful way of checking some of your working.</a:t>
            </a:r>
            <a:endParaRPr sz="2000"/>
          </a:p>
        </p:txBody>
      </p:sp>
      <p:sp>
        <p:nvSpPr>
          <p:cNvPr id="1311" name="Google Shape;1311;p93"/>
          <p:cNvSpPr txBox="1"/>
          <p:nvPr>
            <p:ph idx="1" type="body"/>
          </p:nvPr>
        </p:nvSpPr>
        <p:spPr>
          <a:xfrm>
            <a:off x="324000" y="17724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However it is possible to get the same incorrect coordinate for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if you </a:t>
            </a:r>
            <a:r>
              <a:rPr lang="en-GB" sz="2000"/>
              <a:t>have</a:t>
            </a:r>
            <a:r>
              <a:rPr lang="en-GB" sz="2000"/>
              <a:t> made multiple mistakes.</a:t>
            </a:r>
            <a:endParaRPr sz="2000"/>
          </a:p>
        </p:txBody>
      </p:sp>
      <p:sp>
        <p:nvSpPr>
          <p:cNvPr id="1312" name="Google Shape;1312;p93"/>
          <p:cNvSpPr txBox="1"/>
          <p:nvPr>
            <p:ph idx="1" type="body"/>
          </p:nvPr>
        </p:nvSpPr>
        <p:spPr>
          <a:xfrm>
            <a:off x="324000" y="3087600"/>
            <a:ext cx="84960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Make sure you check your working for the gradient before using your second coordinate to check your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4"/>
          <p:cNvSpPr txBox="1"/>
          <p:nvPr>
            <p:ph idx="1" type="body"/>
          </p:nvPr>
        </p:nvSpPr>
        <p:spPr>
          <a:xfrm>
            <a:off x="324000" y="759300"/>
            <a:ext cx="8237700" cy="7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 has tried to work out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for the line passing through (7,15) and (10,21). Identify any mistakes.</a:t>
            </a:r>
            <a:endParaRPr sz="1800"/>
          </a:p>
        </p:txBody>
      </p:sp>
      <p:sp>
        <p:nvSpPr>
          <p:cNvPr id="1318" name="Google Shape;131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319" name="Google Shape;1319;p94"/>
          <p:cNvSpPr txBox="1"/>
          <p:nvPr/>
        </p:nvSpPr>
        <p:spPr>
          <a:xfrm>
            <a:off x="1509875" y="213890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,21)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94"/>
          <p:cNvSpPr txBox="1"/>
          <p:nvPr>
            <p:ph idx="1" type="body"/>
          </p:nvPr>
        </p:nvSpPr>
        <p:spPr>
          <a:xfrm>
            <a:off x="629675" y="3727425"/>
            <a:ext cx="1641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3 </a:t>
            </a:r>
            <a:endParaRPr sz="1800"/>
          </a:p>
        </p:txBody>
      </p:sp>
      <p:sp>
        <p:nvSpPr>
          <p:cNvPr id="1321" name="Google Shape;1321;p94"/>
          <p:cNvSpPr txBox="1"/>
          <p:nvPr/>
        </p:nvSpPr>
        <p:spPr>
          <a:xfrm>
            <a:off x="629675" y="211015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,15)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22" name="Google Shape;1322;p94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685475" y="1945200"/>
            <a:ext cx="1197924" cy="2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94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>
            <a:off x="918525" y="1963875"/>
            <a:ext cx="1197924" cy="2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94"/>
          <p:cNvSpPr/>
          <p:nvPr/>
        </p:nvSpPr>
        <p:spPr>
          <a:xfrm>
            <a:off x="1016100" y="1581125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4"/>
          <p:cNvSpPr/>
          <p:nvPr/>
        </p:nvSpPr>
        <p:spPr>
          <a:xfrm>
            <a:off x="1432475" y="1587275"/>
            <a:ext cx="572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6" name="Google Shape;1326;p94"/>
          <p:cNvCxnSpPr/>
          <p:nvPr/>
        </p:nvCxnSpPr>
        <p:spPr>
          <a:xfrm>
            <a:off x="3009175" y="1508000"/>
            <a:ext cx="0" cy="25785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27" name="Google Shape;1327;p94"/>
          <p:cNvGraphicFramePr/>
          <p:nvPr/>
        </p:nvGraphicFramePr>
        <p:xfrm>
          <a:off x="3089813" y="15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38250"/>
                <a:gridCol w="438250"/>
                <a:gridCol w="438250"/>
                <a:gridCol w="438250"/>
                <a:gridCol w="438250"/>
                <a:gridCol w="438250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28" name="Google Shape;1328;p94"/>
          <p:cNvCxnSpPr/>
          <p:nvPr/>
        </p:nvCxnSpPr>
        <p:spPr>
          <a:xfrm>
            <a:off x="5864550" y="1508000"/>
            <a:ext cx="0" cy="2592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94"/>
          <p:cNvSpPr txBox="1"/>
          <p:nvPr>
            <p:ph idx="1" type="body"/>
          </p:nvPr>
        </p:nvSpPr>
        <p:spPr>
          <a:xfrm>
            <a:off x="3143975" y="2412850"/>
            <a:ext cx="260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 3  </a:t>
            </a:r>
            <a:r>
              <a:rPr lang="en-GB" sz="1900">
                <a:solidFill>
                  <a:srgbClr val="222222"/>
                </a:solidFill>
              </a:rPr>
              <a:t>× 7 = 24</a:t>
            </a:r>
            <a:endParaRPr sz="1900"/>
          </a:p>
        </p:txBody>
      </p:sp>
      <p:sp>
        <p:nvSpPr>
          <p:cNvPr id="1330" name="Google Shape;1330;p94"/>
          <p:cNvSpPr txBox="1"/>
          <p:nvPr>
            <p:ph idx="1" type="body"/>
          </p:nvPr>
        </p:nvSpPr>
        <p:spPr>
          <a:xfrm>
            <a:off x="3257825" y="2869600"/>
            <a:ext cx="2293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15</a:t>
            </a:r>
            <a:r>
              <a:rPr lang="en-GB" sz="1900"/>
              <a:t>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 sz="1800"/>
              <a:t>24</a:t>
            </a:r>
            <a:r>
              <a:rPr lang="en-GB" sz="1900">
                <a:solidFill>
                  <a:srgbClr val="222222"/>
                </a:solidFill>
              </a:rPr>
              <a:t> = −</a:t>
            </a:r>
            <a:r>
              <a:rPr lang="en-GB" sz="1800"/>
              <a:t>9</a:t>
            </a:r>
            <a:endParaRPr sz="1900"/>
          </a:p>
        </p:txBody>
      </p:sp>
      <p:sp>
        <p:nvSpPr>
          <p:cNvPr id="1331" name="Google Shape;1331;p94"/>
          <p:cNvSpPr txBox="1"/>
          <p:nvPr>
            <p:ph idx="1" type="body"/>
          </p:nvPr>
        </p:nvSpPr>
        <p:spPr>
          <a:xfrm>
            <a:off x="3084163" y="3326350"/>
            <a:ext cx="27054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9</a:t>
            </a:r>
            <a:r>
              <a:rPr lang="en-GB" sz="1800"/>
              <a:t>)</a:t>
            </a:r>
            <a:endParaRPr sz="1800"/>
          </a:p>
        </p:txBody>
      </p:sp>
      <p:graphicFrame>
        <p:nvGraphicFramePr>
          <p:cNvPr id="1332" name="Google Shape;1332;p94"/>
          <p:cNvGraphicFramePr/>
          <p:nvPr/>
        </p:nvGraphicFramePr>
        <p:xfrm>
          <a:off x="6009763" y="15799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38250"/>
                <a:gridCol w="438250"/>
                <a:gridCol w="438250"/>
                <a:gridCol w="438250"/>
                <a:gridCol w="438250"/>
                <a:gridCol w="438250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3" name="Google Shape;1333;p94"/>
          <p:cNvSpPr txBox="1"/>
          <p:nvPr>
            <p:ph idx="1" type="body"/>
          </p:nvPr>
        </p:nvSpPr>
        <p:spPr>
          <a:xfrm>
            <a:off x="6099900" y="2371200"/>
            <a:ext cx="260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 3  </a:t>
            </a:r>
            <a:r>
              <a:rPr lang="en-GB" sz="1900">
                <a:solidFill>
                  <a:srgbClr val="222222"/>
                </a:solidFill>
              </a:rPr>
              <a:t>× 10 = 30</a:t>
            </a:r>
            <a:endParaRPr sz="1900"/>
          </a:p>
        </p:txBody>
      </p:sp>
      <p:sp>
        <p:nvSpPr>
          <p:cNvPr id="1334" name="Google Shape;1334;p94"/>
          <p:cNvSpPr txBox="1"/>
          <p:nvPr>
            <p:ph idx="1" type="body"/>
          </p:nvPr>
        </p:nvSpPr>
        <p:spPr>
          <a:xfrm>
            <a:off x="6255000" y="2813950"/>
            <a:ext cx="2293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21</a:t>
            </a:r>
            <a:r>
              <a:rPr lang="en-GB" sz="1900"/>
              <a:t>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 sz="1800"/>
              <a:t>30</a:t>
            </a:r>
            <a:r>
              <a:rPr lang="en-GB" sz="1900">
                <a:solidFill>
                  <a:srgbClr val="222222"/>
                </a:solidFill>
              </a:rPr>
              <a:t> = −</a:t>
            </a:r>
            <a:r>
              <a:rPr lang="en-GB" sz="1800"/>
              <a:t>9</a:t>
            </a:r>
            <a:endParaRPr sz="1900"/>
          </a:p>
        </p:txBody>
      </p:sp>
      <p:pic>
        <p:nvPicPr>
          <p:cNvPr id="1335" name="Google Shape;133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05019" y="3656620"/>
            <a:ext cx="514970" cy="674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6" name="Google Shape;1336;p94"/>
          <p:cNvGraphicFramePr/>
          <p:nvPr/>
        </p:nvGraphicFramePr>
        <p:xfrm>
          <a:off x="323947" y="2641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1314750"/>
                <a:gridCol w="1314750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19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19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19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37" name="Google Shape;1337;p9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939525" y="3220575"/>
            <a:ext cx="2471025" cy="856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4"/>
          <p:cNvSpPr txBox="1"/>
          <p:nvPr>
            <p:ph idx="1" type="body"/>
          </p:nvPr>
        </p:nvSpPr>
        <p:spPr>
          <a:xfrm>
            <a:off x="6009989" y="3242500"/>
            <a:ext cx="22935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have  checked the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 is (0,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9)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939525" y="3220575"/>
            <a:ext cx="2471025" cy="8563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5"/>
          <p:cNvSpPr txBox="1"/>
          <p:nvPr>
            <p:ph idx="1" type="body"/>
          </p:nvPr>
        </p:nvSpPr>
        <p:spPr>
          <a:xfrm>
            <a:off x="324000" y="759300"/>
            <a:ext cx="8237700" cy="7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 has tried to work out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for the line passing through (7,15) and (10,21). Spot where she has gone wrong.</a:t>
            </a:r>
            <a:endParaRPr sz="1800"/>
          </a:p>
        </p:txBody>
      </p:sp>
      <p:sp>
        <p:nvSpPr>
          <p:cNvPr id="1345" name="Google Shape;134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346" name="Google Shape;1346;p95"/>
          <p:cNvSpPr txBox="1"/>
          <p:nvPr/>
        </p:nvSpPr>
        <p:spPr>
          <a:xfrm>
            <a:off x="1509875" y="213890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,21)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47" name="Google Shape;1347;p95"/>
          <p:cNvGraphicFramePr/>
          <p:nvPr/>
        </p:nvGraphicFramePr>
        <p:xfrm>
          <a:off x="323947" y="2641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1314750"/>
                <a:gridCol w="1314750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19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19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19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8" name="Google Shape;1348;p95"/>
          <p:cNvSpPr txBox="1"/>
          <p:nvPr>
            <p:ph idx="1" type="body"/>
          </p:nvPr>
        </p:nvSpPr>
        <p:spPr>
          <a:xfrm>
            <a:off x="629675" y="3727425"/>
            <a:ext cx="1641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3 </a:t>
            </a:r>
            <a:endParaRPr sz="1800"/>
          </a:p>
        </p:txBody>
      </p:sp>
      <p:sp>
        <p:nvSpPr>
          <p:cNvPr id="1349" name="Google Shape;1349;p95"/>
          <p:cNvSpPr txBox="1"/>
          <p:nvPr/>
        </p:nvSpPr>
        <p:spPr>
          <a:xfrm>
            <a:off x="629675" y="2110150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,15)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50" name="Google Shape;1350;p95"/>
          <p:cNvPicPr preferRelativeResize="0"/>
          <p:nvPr/>
        </p:nvPicPr>
        <p:blipFill rotWithShape="1">
          <a:blip r:embed="rId4">
            <a:alphaModFix/>
          </a:blip>
          <a:srcRect b="12671" l="61925" r="14808" t="74256"/>
          <a:stretch/>
        </p:blipFill>
        <p:spPr>
          <a:xfrm>
            <a:off x="685475" y="1945200"/>
            <a:ext cx="1197924" cy="2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95"/>
          <p:cNvPicPr preferRelativeResize="0"/>
          <p:nvPr/>
        </p:nvPicPr>
        <p:blipFill rotWithShape="1">
          <a:blip r:embed="rId4">
            <a:alphaModFix/>
          </a:blip>
          <a:srcRect b="12671" l="61925" r="14808" t="74256"/>
          <a:stretch/>
        </p:blipFill>
        <p:spPr>
          <a:xfrm>
            <a:off x="918525" y="1963875"/>
            <a:ext cx="1197924" cy="2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95"/>
          <p:cNvSpPr/>
          <p:nvPr/>
        </p:nvSpPr>
        <p:spPr>
          <a:xfrm>
            <a:off x="1016100" y="1581125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5"/>
          <p:cNvSpPr/>
          <p:nvPr/>
        </p:nvSpPr>
        <p:spPr>
          <a:xfrm>
            <a:off x="1432475" y="1587275"/>
            <a:ext cx="572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4" name="Google Shape;1354;p95"/>
          <p:cNvCxnSpPr/>
          <p:nvPr/>
        </p:nvCxnSpPr>
        <p:spPr>
          <a:xfrm>
            <a:off x="3009175" y="1508000"/>
            <a:ext cx="0" cy="25821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55" name="Google Shape;1355;p95"/>
          <p:cNvGraphicFramePr/>
          <p:nvPr/>
        </p:nvGraphicFramePr>
        <p:xfrm>
          <a:off x="3089813" y="15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38250"/>
                <a:gridCol w="438250"/>
                <a:gridCol w="438250"/>
                <a:gridCol w="438250"/>
                <a:gridCol w="438250"/>
                <a:gridCol w="438250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56" name="Google Shape;1356;p95"/>
          <p:cNvCxnSpPr/>
          <p:nvPr/>
        </p:nvCxnSpPr>
        <p:spPr>
          <a:xfrm>
            <a:off x="5864550" y="1508000"/>
            <a:ext cx="0" cy="25821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95"/>
          <p:cNvSpPr txBox="1"/>
          <p:nvPr>
            <p:ph idx="1" type="body"/>
          </p:nvPr>
        </p:nvSpPr>
        <p:spPr>
          <a:xfrm>
            <a:off x="3143975" y="2412850"/>
            <a:ext cx="260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 3  </a:t>
            </a:r>
            <a:r>
              <a:rPr lang="en-GB" sz="1900">
                <a:solidFill>
                  <a:srgbClr val="222222"/>
                </a:solidFill>
              </a:rPr>
              <a:t>× 7 = 24</a:t>
            </a:r>
            <a:endParaRPr sz="1900"/>
          </a:p>
        </p:txBody>
      </p:sp>
      <p:sp>
        <p:nvSpPr>
          <p:cNvPr id="1358" name="Google Shape;1358;p95"/>
          <p:cNvSpPr txBox="1"/>
          <p:nvPr>
            <p:ph idx="1" type="body"/>
          </p:nvPr>
        </p:nvSpPr>
        <p:spPr>
          <a:xfrm>
            <a:off x="3257825" y="2869600"/>
            <a:ext cx="2293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15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 sz="1800"/>
              <a:t>24</a:t>
            </a:r>
            <a:r>
              <a:rPr lang="en-GB" sz="1900">
                <a:solidFill>
                  <a:srgbClr val="222222"/>
                </a:solidFill>
              </a:rPr>
              <a:t> = −</a:t>
            </a:r>
            <a:r>
              <a:rPr lang="en-GB" sz="1800"/>
              <a:t>9</a:t>
            </a:r>
            <a:endParaRPr sz="1900"/>
          </a:p>
        </p:txBody>
      </p:sp>
      <p:sp>
        <p:nvSpPr>
          <p:cNvPr id="1359" name="Google Shape;1359;p95"/>
          <p:cNvSpPr txBox="1"/>
          <p:nvPr>
            <p:ph idx="1" type="body"/>
          </p:nvPr>
        </p:nvSpPr>
        <p:spPr>
          <a:xfrm>
            <a:off x="3084163" y="3326350"/>
            <a:ext cx="27054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9)</a:t>
            </a:r>
            <a:endParaRPr sz="1800"/>
          </a:p>
        </p:txBody>
      </p:sp>
      <p:graphicFrame>
        <p:nvGraphicFramePr>
          <p:cNvPr id="1360" name="Google Shape;1360;p95"/>
          <p:cNvGraphicFramePr/>
          <p:nvPr/>
        </p:nvGraphicFramePr>
        <p:xfrm>
          <a:off x="6009763" y="15799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38250"/>
                <a:gridCol w="438250"/>
                <a:gridCol w="438250"/>
                <a:gridCol w="438250"/>
                <a:gridCol w="438250"/>
                <a:gridCol w="438250"/>
              </a:tblGrid>
              <a:tr h="3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1" name="Google Shape;1361;p95"/>
          <p:cNvSpPr txBox="1"/>
          <p:nvPr>
            <p:ph idx="1" type="body"/>
          </p:nvPr>
        </p:nvSpPr>
        <p:spPr>
          <a:xfrm>
            <a:off x="6099900" y="2371200"/>
            <a:ext cx="26037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  3  </a:t>
            </a:r>
            <a:r>
              <a:rPr lang="en-GB" sz="1900">
                <a:solidFill>
                  <a:srgbClr val="222222"/>
                </a:solidFill>
              </a:rPr>
              <a:t>× 10 = 30</a:t>
            </a:r>
            <a:endParaRPr sz="1900"/>
          </a:p>
        </p:txBody>
      </p:sp>
      <p:sp>
        <p:nvSpPr>
          <p:cNvPr id="1362" name="Google Shape;1362;p95"/>
          <p:cNvSpPr txBox="1"/>
          <p:nvPr>
            <p:ph idx="1" type="body"/>
          </p:nvPr>
        </p:nvSpPr>
        <p:spPr>
          <a:xfrm>
            <a:off x="6255000" y="2813950"/>
            <a:ext cx="2293500" cy="4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21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 sz="1800"/>
              <a:t>30</a:t>
            </a:r>
            <a:r>
              <a:rPr lang="en-GB" sz="1900">
                <a:solidFill>
                  <a:srgbClr val="222222"/>
                </a:solidFill>
              </a:rPr>
              <a:t> = −</a:t>
            </a:r>
            <a:r>
              <a:rPr lang="en-GB" sz="1800"/>
              <a:t>9</a:t>
            </a:r>
            <a:endParaRPr sz="1900"/>
          </a:p>
        </p:txBody>
      </p:sp>
      <p:sp>
        <p:nvSpPr>
          <p:cNvPr id="1363" name="Google Shape;1363;p95"/>
          <p:cNvSpPr txBox="1"/>
          <p:nvPr>
            <p:ph idx="1" type="body"/>
          </p:nvPr>
        </p:nvSpPr>
        <p:spPr>
          <a:xfrm>
            <a:off x="6009989" y="3242500"/>
            <a:ext cx="22935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have  checked the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is (0,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800"/>
              <a:t>9)</a:t>
            </a:r>
            <a:endParaRPr sz="1800"/>
          </a:p>
        </p:txBody>
      </p:sp>
      <p:pic>
        <p:nvPicPr>
          <p:cNvPr id="1364" name="Google Shape;136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305019" y="3668174"/>
            <a:ext cx="514970" cy="67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95"/>
          <p:cNvSpPr/>
          <p:nvPr/>
        </p:nvSpPr>
        <p:spPr>
          <a:xfrm>
            <a:off x="937200" y="1640975"/>
            <a:ext cx="471900" cy="34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95"/>
          <p:cNvSpPr txBox="1"/>
          <p:nvPr>
            <p:ph idx="1" type="body"/>
          </p:nvPr>
        </p:nvSpPr>
        <p:spPr>
          <a:xfrm>
            <a:off x="324000" y="4149500"/>
            <a:ext cx="29337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+2 should be a +3. The gradient should be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7" name="Google Shape;1367;p95"/>
          <p:cNvSpPr txBox="1"/>
          <p:nvPr>
            <p:ph idx="1" type="body"/>
          </p:nvPr>
        </p:nvSpPr>
        <p:spPr>
          <a:xfrm>
            <a:off x="3363063" y="4149500"/>
            <a:ext cx="24711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7 = 21 not 24. It should be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7 = 14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8" name="Google Shape;1368;p95"/>
          <p:cNvSpPr txBox="1"/>
          <p:nvPr>
            <p:ph idx="1" type="body"/>
          </p:nvPr>
        </p:nvSpPr>
        <p:spPr>
          <a:xfrm>
            <a:off x="6009763" y="4146000"/>
            <a:ext cx="24711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Answer should be (0,1)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9" name="Google Shape;1369;p95"/>
          <p:cNvSpPr/>
          <p:nvPr/>
        </p:nvSpPr>
        <p:spPr>
          <a:xfrm>
            <a:off x="3173400" y="2364675"/>
            <a:ext cx="1356300" cy="34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0" name="Google Shape;1370;p95"/>
          <p:cNvGrpSpPr/>
          <p:nvPr/>
        </p:nvGrpSpPr>
        <p:grpSpPr>
          <a:xfrm>
            <a:off x="2099675" y="3208600"/>
            <a:ext cx="834600" cy="302700"/>
            <a:chOff x="2099675" y="3208600"/>
            <a:chExt cx="834600" cy="302700"/>
          </a:xfrm>
        </p:grpSpPr>
        <p:cxnSp>
          <p:nvCxnSpPr>
            <p:cNvPr id="1371" name="Google Shape;1371;p95"/>
            <p:cNvCxnSpPr/>
            <p:nvPr/>
          </p:nvCxnSpPr>
          <p:spPr>
            <a:xfrm flipH="1" rot="10800000">
              <a:off x="2099675" y="3332650"/>
              <a:ext cx="338100" cy="846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2" name="Google Shape;1372;p95"/>
            <p:cNvSpPr/>
            <p:nvPr/>
          </p:nvSpPr>
          <p:spPr>
            <a:xfrm>
              <a:off x="2271575" y="3208600"/>
              <a:ext cx="6627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9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373" name="Google Shape;1373;p95"/>
          <p:cNvGrpSpPr/>
          <p:nvPr/>
        </p:nvGrpSpPr>
        <p:grpSpPr>
          <a:xfrm>
            <a:off x="821750" y="2951788"/>
            <a:ext cx="878175" cy="302700"/>
            <a:chOff x="821750" y="2951788"/>
            <a:chExt cx="878175" cy="302700"/>
          </a:xfrm>
        </p:grpSpPr>
        <p:sp>
          <p:nvSpPr>
            <p:cNvPr id="1374" name="Google Shape;1374;p95"/>
            <p:cNvSpPr/>
            <p:nvPr/>
          </p:nvSpPr>
          <p:spPr>
            <a:xfrm>
              <a:off x="1037225" y="2951788"/>
              <a:ext cx="662700" cy="30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19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375" name="Google Shape;1375;p95"/>
            <p:cNvCxnSpPr/>
            <p:nvPr/>
          </p:nvCxnSpPr>
          <p:spPr>
            <a:xfrm flipH="1" rot="10800000">
              <a:off x="821750" y="3057763"/>
              <a:ext cx="338100" cy="846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381" name="Google Shape;1381;p96"/>
          <p:cNvSpPr txBox="1"/>
          <p:nvPr>
            <p:ph idx="1" type="body"/>
          </p:nvPr>
        </p:nvSpPr>
        <p:spPr>
          <a:xfrm>
            <a:off x="324000" y="759300"/>
            <a:ext cx="8237700" cy="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 sz="2100"/>
              <a:t>For each pair of coordinates, work out the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/>
              <a:t>-</a:t>
            </a:r>
            <a:r>
              <a:rPr lang="en-GB" sz="2100"/>
              <a:t>intercept for the line which passes through them.</a:t>
            </a:r>
            <a:endParaRPr sz="2100"/>
          </a:p>
        </p:txBody>
      </p:sp>
      <p:graphicFrame>
        <p:nvGraphicFramePr>
          <p:cNvPr id="1382" name="Google Shape;1382;p96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688375"/>
                <a:gridCol w="2975625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(5, 20) and (8,29)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  (12,52) and (18,82)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  (4,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10) and (6,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83" name="Google Shape;1383;p96"/>
          <p:cNvPicPr preferRelativeResize="0"/>
          <p:nvPr/>
        </p:nvPicPr>
        <p:blipFill rotWithShape="1">
          <a:blip r:embed="rId3">
            <a:alphaModFix/>
          </a:blip>
          <a:srcRect b="0" l="0" r="25467" t="0"/>
          <a:stretch/>
        </p:blipFill>
        <p:spPr>
          <a:xfrm>
            <a:off x="353775" y="2032828"/>
            <a:ext cx="1331025" cy="17386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384" name="Google Shape;1384;p96"/>
          <p:cNvGraphicFramePr/>
          <p:nvPr/>
        </p:nvGraphicFramePr>
        <p:xfrm>
          <a:off x="1813797" y="2148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5" name="Google Shape;1385;p96"/>
          <p:cNvSpPr txBox="1"/>
          <p:nvPr>
            <p:ph idx="4294967295" type="body"/>
          </p:nvPr>
        </p:nvSpPr>
        <p:spPr>
          <a:xfrm>
            <a:off x="1715601" y="2841675"/>
            <a:ext cx="13968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endParaRPr sz="1800"/>
          </a:p>
        </p:txBody>
      </p:sp>
      <p:graphicFrame>
        <p:nvGraphicFramePr>
          <p:cNvPr id="1386" name="Google Shape;1386;p96"/>
          <p:cNvGraphicFramePr/>
          <p:nvPr/>
        </p:nvGraphicFramePr>
        <p:xfrm>
          <a:off x="323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7" name="Google Shape;1387;p96"/>
          <p:cNvSpPr txBox="1"/>
          <p:nvPr>
            <p:ph idx="4294967295" type="body"/>
          </p:nvPr>
        </p:nvSpPr>
        <p:spPr>
          <a:xfrm>
            <a:off x="3240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</a:t>
            </a:r>
            <a:r>
              <a:rPr lang="en-GB" sz="1800"/>
              <a:t>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graphicFrame>
        <p:nvGraphicFramePr>
          <p:cNvPr id="1388" name="Google Shape;1388;p96"/>
          <p:cNvGraphicFramePr/>
          <p:nvPr/>
        </p:nvGraphicFramePr>
        <p:xfrm>
          <a:off x="4772522" y="2134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9" name="Google Shape;1389;p96"/>
          <p:cNvSpPr txBox="1"/>
          <p:nvPr>
            <p:ph idx="4294967295" type="body"/>
          </p:nvPr>
        </p:nvSpPr>
        <p:spPr>
          <a:xfrm>
            <a:off x="4772525" y="2788875"/>
            <a:ext cx="1323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endParaRPr sz="1800"/>
          </a:p>
        </p:txBody>
      </p:sp>
      <p:graphicFrame>
        <p:nvGraphicFramePr>
          <p:cNvPr id="1390" name="Google Shape;1390;p96"/>
          <p:cNvGraphicFramePr/>
          <p:nvPr/>
        </p:nvGraphicFramePr>
        <p:xfrm>
          <a:off x="31123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91" name="Google Shape;139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600" y="2032828"/>
            <a:ext cx="1562381" cy="17386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2" name="Google Shape;1392;p96"/>
          <p:cNvPicPr preferRelativeResize="0"/>
          <p:nvPr/>
        </p:nvPicPr>
        <p:blipFill rotWithShape="1">
          <a:blip r:embed="rId5">
            <a:alphaModFix/>
          </a:blip>
          <a:srcRect b="2950" l="0" r="0" t="0"/>
          <a:stretch/>
        </p:blipFill>
        <p:spPr>
          <a:xfrm>
            <a:off x="6102575" y="2032825"/>
            <a:ext cx="1562375" cy="17386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3" name="Google Shape;1393;p96"/>
          <p:cNvSpPr txBox="1"/>
          <p:nvPr>
            <p:ph idx="4294967295" type="body"/>
          </p:nvPr>
        </p:nvSpPr>
        <p:spPr>
          <a:xfrm>
            <a:off x="31206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graphicFrame>
        <p:nvGraphicFramePr>
          <p:cNvPr id="1394" name="Google Shape;1394;p96"/>
          <p:cNvGraphicFramePr/>
          <p:nvPr/>
        </p:nvGraphicFramePr>
        <p:xfrm>
          <a:off x="7777097" y="20771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5" name="Google Shape;1395;p96"/>
          <p:cNvGraphicFramePr/>
          <p:nvPr/>
        </p:nvGraphicFramePr>
        <p:xfrm>
          <a:off x="60841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6" name="Google Shape;1396;p96"/>
          <p:cNvSpPr txBox="1"/>
          <p:nvPr>
            <p:ph idx="4294967295" type="body"/>
          </p:nvPr>
        </p:nvSpPr>
        <p:spPr>
          <a:xfrm>
            <a:off x="60924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cxnSp>
        <p:nvCxnSpPr>
          <p:cNvPr id="1397" name="Google Shape;1397;p96"/>
          <p:cNvCxnSpPr/>
          <p:nvPr/>
        </p:nvCxnSpPr>
        <p:spPr>
          <a:xfrm>
            <a:off x="2968050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96"/>
          <p:cNvCxnSpPr/>
          <p:nvPr/>
        </p:nvCxnSpPr>
        <p:spPr>
          <a:xfrm>
            <a:off x="6015825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from two coordinates</a:t>
            </a:r>
            <a:endParaRPr/>
          </a:p>
        </p:txBody>
      </p:sp>
      <p:sp>
        <p:nvSpPr>
          <p:cNvPr id="1404" name="Google Shape;1404;p97"/>
          <p:cNvSpPr txBox="1"/>
          <p:nvPr>
            <p:ph idx="1" type="body"/>
          </p:nvPr>
        </p:nvSpPr>
        <p:spPr>
          <a:xfrm>
            <a:off x="324000" y="759300"/>
            <a:ext cx="8237700" cy="9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 sz="2100"/>
              <a:t>For each pair of coordinates, work out the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/>
              <a:t>-</a:t>
            </a:r>
            <a:r>
              <a:rPr lang="en-GB" sz="2100"/>
              <a:t>intercept for the line which passes through them.</a:t>
            </a:r>
            <a:endParaRPr sz="2100"/>
          </a:p>
        </p:txBody>
      </p:sp>
      <p:graphicFrame>
        <p:nvGraphicFramePr>
          <p:cNvPr id="1405" name="Google Shape;1405;p97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832000"/>
                <a:gridCol w="2832000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(10,8) and (18,0)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  (7,33) and (10,75)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 (6,13) and (9,22)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6" name="Google Shape;1406;p97"/>
          <p:cNvGraphicFramePr/>
          <p:nvPr/>
        </p:nvGraphicFramePr>
        <p:xfrm>
          <a:off x="2079797" y="2231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7" name="Google Shape;1407;p97"/>
          <p:cNvGraphicFramePr/>
          <p:nvPr/>
        </p:nvGraphicFramePr>
        <p:xfrm>
          <a:off x="323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8" name="Google Shape;1408;p97"/>
          <p:cNvSpPr txBox="1"/>
          <p:nvPr>
            <p:ph idx="4294967295" type="body"/>
          </p:nvPr>
        </p:nvSpPr>
        <p:spPr>
          <a:xfrm>
            <a:off x="3240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sp>
        <p:nvSpPr>
          <p:cNvPr id="1409" name="Google Shape;1409;p97"/>
          <p:cNvSpPr txBox="1"/>
          <p:nvPr>
            <p:ph idx="4294967295" type="body"/>
          </p:nvPr>
        </p:nvSpPr>
        <p:spPr>
          <a:xfrm>
            <a:off x="3369588" y="2818013"/>
            <a:ext cx="1323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endParaRPr sz="1800"/>
          </a:p>
        </p:txBody>
      </p:sp>
      <p:graphicFrame>
        <p:nvGraphicFramePr>
          <p:cNvPr id="1410" name="Google Shape;1410;p97"/>
          <p:cNvGraphicFramePr/>
          <p:nvPr/>
        </p:nvGraphicFramePr>
        <p:xfrm>
          <a:off x="3340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1" name="Google Shape;1411;p97"/>
          <p:cNvSpPr txBox="1"/>
          <p:nvPr>
            <p:ph idx="4294967295" type="body"/>
          </p:nvPr>
        </p:nvSpPr>
        <p:spPr>
          <a:xfrm>
            <a:off x="33492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sp>
        <p:nvSpPr>
          <p:cNvPr id="1412" name="Google Shape;1412;p97"/>
          <p:cNvSpPr txBox="1"/>
          <p:nvPr>
            <p:ph idx="4294967295" type="body"/>
          </p:nvPr>
        </p:nvSpPr>
        <p:spPr>
          <a:xfrm>
            <a:off x="6256800" y="40434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</a:t>
            </a:r>
            <a:r>
              <a:rPr lang="en-GB" sz="1800"/>
              <a:t>ntercept = (</a:t>
            </a:r>
            <a:r>
              <a:rPr lang="en-GB" sz="1800" u="sng"/>
              <a:t>      </a:t>
            </a:r>
            <a:r>
              <a:rPr lang="en-GB" sz="1800"/>
              <a:t>,</a:t>
            </a:r>
            <a:r>
              <a:rPr lang="en-GB" sz="1800" u="sng"/>
              <a:t>      </a:t>
            </a:r>
            <a:r>
              <a:rPr lang="en-GB" sz="1800"/>
              <a:t>) </a:t>
            </a:r>
            <a:endParaRPr sz="1800"/>
          </a:p>
        </p:txBody>
      </p:sp>
      <p:pic>
        <p:nvPicPr>
          <p:cNvPr id="1413" name="Google Shape;141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33725"/>
            <a:ext cx="1647650" cy="1622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14" name="Google Shape;1414;p97"/>
          <p:cNvCxnSpPr/>
          <p:nvPr/>
        </p:nvCxnSpPr>
        <p:spPr>
          <a:xfrm>
            <a:off x="3196650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97"/>
          <p:cNvCxnSpPr/>
          <p:nvPr/>
        </p:nvCxnSpPr>
        <p:spPr>
          <a:xfrm>
            <a:off x="6107325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1421" name="Google Shape;1421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 sz="2100"/>
              <a:t>For each pair of coordinates, work out the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/>
              <a:t>-</a:t>
            </a:r>
            <a:r>
              <a:rPr lang="en-GB" sz="2100"/>
              <a:t>intercept for the line which passes through them.</a:t>
            </a:r>
            <a:endParaRPr sz="2100"/>
          </a:p>
        </p:txBody>
      </p:sp>
      <p:graphicFrame>
        <p:nvGraphicFramePr>
          <p:cNvPr id="1422" name="Google Shape;1422;p98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688375"/>
                <a:gridCol w="2975625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   (5, 20) and (8,29)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  (12,52) and (18,82)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  (4,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10) and (6,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23" name="Google Shape;1423;p98"/>
          <p:cNvPicPr preferRelativeResize="0"/>
          <p:nvPr/>
        </p:nvPicPr>
        <p:blipFill rotWithShape="1">
          <a:blip r:embed="rId3">
            <a:alphaModFix/>
          </a:blip>
          <a:srcRect b="0" l="0" r="25467" t="0"/>
          <a:stretch/>
        </p:blipFill>
        <p:spPr>
          <a:xfrm>
            <a:off x="353775" y="2032828"/>
            <a:ext cx="1331025" cy="17386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24" name="Google Shape;1424;p98"/>
          <p:cNvGraphicFramePr/>
          <p:nvPr/>
        </p:nvGraphicFramePr>
        <p:xfrm>
          <a:off x="1813797" y="2148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5" name="Google Shape;1425;p98"/>
          <p:cNvSpPr txBox="1"/>
          <p:nvPr>
            <p:ph idx="4294967295" type="body"/>
          </p:nvPr>
        </p:nvSpPr>
        <p:spPr>
          <a:xfrm>
            <a:off x="1715600" y="2841675"/>
            <a:ext cx="1171500" cy="66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426" name="Google Shape;1426;p98"/>
          <p:cNvGraphicFramePr/>
          <p:nvPr/>
        </p:nvGraphicFramePr>
        <p:xfrm>
          <a:off x="323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7" name="Google Shape;1427;p98"/>
          <p:cNvSpPr txBox="1"/>
          <p:nvPr>
            <p:ph idx="4294967295" type="body"/>
          </p:nvPr>
        </p:nvSpPr>
        <p:spPr>
          <a:xfrm>
            <a:off x="3240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428" name="Google Shape;1428;p98"/>
          <p:cNvGraphicFramePr/>
          <p:nvPr/>
        </p:nvGraphicFramePr>
        <p:xfrm>
          <a:off x="4772522" y="2134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9" name="Google Shape;1429;p98"/>
          <p:cNvSpPr txBox="1"/>
          <p:nvPr>
            <p:ph idx="4294967295" type="body"/>
          </p:nvPr>
        </p:nvSpPr>
        <p:spPr>
          <a:xfrm>
            <a:off x="4772525" y="2788875"/>
            <a:ext cx="13239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430" name="Google Shape;1430;p98"/>
          <p:cNvGraphicFramePr/>
          <p:nvPr/>
        </p:nvGraphicFramePr>
        <p:xfrm>
          <a:off x="31123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31" name="Google Shape;143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600" y="2032828"/>
            <a:ext cx="1562381" cy="17386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2" name="Google Shape;1432;p98"/>
          <p:cNvPicPr preferRelativeResize="0"/>
          <p:nvPr/>
        </p:nvPicPr>
        <p:blipFill rotWithShape="1">
          <a:blip r:embed="rId5">
            <a:alphaModFix/>
          </a:blip>
          <a:srcRect b="2950" l="0" r="0" t="0"/>
          <a:stretch/>
        </p:blipFill>
        <p:spPr>
          <a:xfrm>
            <a:off x="6102575" y="2032825"/>
            <a:ext cx="1562375" cy="17386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3" name="Google Shape;1433;p98"/>
          <p:cNvSpPr txBox="1"/>
          <p:nvPr>
            <p:ph idx="4294967295" type="body"/>
          </p:nvPr>
        </p:nvSpPr>
        <p:spPr>
          <a:xfrm>
            <a:off x="31206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34" name="Google Shape;1434;p98"/>
          <p:cNvGraphicFramePr/>
          <p:nvPr/>
        </p:nvGraphicFramePr>
        <p:xfrm>
          <a:off x="7777097" y="20771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5" name="Google Shape;1435;p98"/>
          <p:cNvGraphicFramePr/>
          <p:nvPr/>
        </p:nvGraphicFramePr>
        <p:xfrm>
          <a:off x="60841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6" name="Google Shape;1436;p98"/>
          <p:cNvSpPr txBox="1"/>
          <p:nvPr>
            <p:ph idx="4294967295" type="body"/>
          </p:nvPr>
        </p:nvSpPr>
        <p:spPr>
          <a:xfrm>
            <a:off x="60924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2)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437" name="Google Shape;1437;p98"/>
          <p:cNvCxnSpPr/>
          <p:nvPr/>
        </p:nvCxnSpPr>
        <p:spPr>
          <a:xfrm>
            <a:off x="2968050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98"/>
          <p:cNvCxnSpPr/>
          <p:nvPr/>
        </p:nvCxnSpPr>
        <p:spPr>
          <a:xfrm>
            <a:off x="6015825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the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from two coordinates</a:t>
            </a:r>
            <a:endParaRPr/>
          </a:p>
        </p:txBody>
      </p:sp>
      <p:sp>
        <p:nvSpPr>
          <p:cNvPr id="1444" name="Google Shape;1444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 sz="2100"/>
              <a:t>For each pair of coordinates, work out the 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/>
              <a:t>-</a:t>
            </a:r>
            <a:r>
              <a:rPr lang="en-GB" sz="2100"/>
              <a:t>intercept for the line which passes through them.</a:t>
            </a:r>
            <a:endParaRPr sz="2100"/>
          </a:p>
        </p:txBody>
      </p:sp>
      <p:graphicFrame>
        <p:nvGraphicFramePr>
          <p:cNvPr id="1445" name="Google Shape;1445;p99"/>
          <p:cNvGraphicFramePr/>
          <p:nvPr/>
        </p:nvGraphicFramePr>
        <p:xfrm>
          <a:off x="3240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2832000"/>
                <a:gridCol w="2832000"/>
                <a:gridCol w="28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  (10,8) and (18,0)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e)   (7,54) and (10,75)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f)  (6,13) and (9,22)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6" name="Google Shape;1446;p99"/>
          <p:cNvGraphicFramePr/>
          <p:nvPr/>
        </p:nvGraphicFramePr>
        <p:xfrm>
          <a:off x="2079797" y="2231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7" name="Google Shape;1447;p99"/>
          <p:cNvGraphicFramePr/>
          <p:nvPr/>
        </p:nvGraphicFramePr>
        <p:xfrm>
          <a:off x="323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8" name="Google Shape;1448;p99"/>
          <p:cNvSpPr txBox="1"/>
          <p:nvPr>
            <p:ph idx="4294967295" type="body"/>
          </p:nvPr>
        </p:nvSpPr>
        <p:spPr>
          <a:xfrm>
            <a:off x="3240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(0,18)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49" name="Google Shape;1449;p99"/>
          <p:cNvSpPr txBox="1"/>
          <p:nvPr>
            <p:ph idx="4294967295" type="body"/>
          </p:nvPr>
        </p:nvSpPr>
        <p:spPr>
          <a:xfrm>
            <a:off x="3369603" y="2917500"/>
            <a:ext cx="16476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50" name="Google Shape;1450;p99"/>
          <p:cNvGraphicFramePr/>
          <p:nvPr/>
        </p:nvGraphicFramePr>
        <p:xfrm>
          <a:off x="3340988" y="3812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1" name="Google Shape;1451;p99"/>
          <p:cNvSpPr txBox="1"/>
          <p:nvPr>
            <p:ph idx="4294967295" type="body"/>
          </p:nvPr>
        </p:nvSpPr>
        <p:spPr>
          <a:xfrm>
            <a:off x="3349200" y="45180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(0,5)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52" name="Google Shape;1452;p99"/>
          <p:cNvSpPr txBox="1"/>
          <p:nvPr>
            <p:ph idx="4294967295" type="body"/>
          </p:nvPr>
        </p:nvSpPr>
        <p:spPr>
          <a:xfrm>
            <a:off x="6256800" y="4043470"/>
            <a:ext cx="26445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intercept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−5)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1453" name="Google Shape;145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33725"/>
            <a:ext cx="1647650" cy="16226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4" name="Google Shape;1454;p99"/>
          <p:cNvCxnSpPr/>
          <p:nvPr/>
        </p:nvCxnSpPr>
        <p:spPr>
          <a:xfrm>
            <a:off x="3196650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99"/>
          <p:cNvCxnSpPr/>
          <p:nvPr/>
        </p:nvCxnSpPr>
        <p:spPr>
          <a:xfrm>
            <a:off x="6107325" y="1489200"/>
            <a:ext cx="0" cy="333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56" name="Google Shape;1456;p99"/>
          <p:cNvGraphicFramePr/>
          <p:nvPr/>
        </p:nvGraphicFramePr>
        <p:xfrm>
          <a:off x="3369597" y="2231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7" name="Google Shape;1457;p99"/>
          <p:cNvSpPr txBox="1"/>
          <p:nvPr>
            <p:ph idx="4294967295" type="body"/>
          </p:nvPr>
        </p:nvSpPr>
        <p:spPr>
          <a:xfrm>
            <a:off x="6256803" y="2917500"/>
            <a:ext cx="16476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gradient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58" name="Google Shape;1458;p99"/>
          <p:cNvGraphicFramePr/>
          <p:nvPr/>
        </p:nvGraphicFramePr>
        <p:xfrm>
          <a:off x="6256797" y="2231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57600"/>
                <a:gridCol w="505075"/>
              </a:tblGrid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9" name="Google Shape;1459;p99"/>
          <p:cNvGraphicFramePr/>
          <p:nvPr/>
        </p:nvGraphicFramePr>
        <p:xfrm>
          <a:off x="6256788" y="3300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{8C23C591-D075-4BBB-BE7C-51F814C70CB9}</a:tableStyleId>
              </a:tblPr>
              <a:tblGrid>
                <a:gridCol w="423075"/>
                <a:gridCol w="423075"/>
                <a:gridCol w="423075"/>
                <a:gridCol w="423075"/>
                <a:gridCol w="423075"/>
                <a:gridCol w="423075"/>
              </a:tblGrid>
              <a:tr h="29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00"/>
          <p:cNvSpPr txBox="1"/>
          <p:nvPr>
            <p:ph idx="1" type="body"/>
          </p:nvPr>
        </p:nvSpPr>
        <p:spPr>
          <a:xfrm>
            <a:off x="324000" y="1080000"/>
            <a:ext cx="8097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is the coordinate where a graph crosses 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axis.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can be found from a graph, table or relationship.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intercept can be found from two coordinates by finding the gradient between them.</a:t>
            </a:r>
            <a:endParaRPr/>
          </a:p>
        </p:txBody>
      </p:sp>
      <p:sp>
        <p:nvSpPr>
          <p:cNvPr id="1465" name="Google Shape;1465;p10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intercept point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1" name="Google Shape;1471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