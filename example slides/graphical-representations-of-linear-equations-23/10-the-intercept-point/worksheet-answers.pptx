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8AAD04AF-82CC-4277-9C25-76BC518576D9}">
  <a:tblStyle styleId="{8AAD04AF-82CC-4277-9C25-76BC518576D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sp>
        <p:nvSpPr>
          <p:cNvPr id="216" name="Google Shape;216;g2a118190fa0_0_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a118190fa0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37" name="Shape 237"/>
        <p:cNvGrpSpPr/>
        <p:nvPr/>
      </p:nvGrpSpPr>
      <p:grpSpPr>
        <a:xfrm>
          <a:off x="0" y="0"/>
          <a:ext cx="0" cy="0"/>
        </a:xfrm>
      </p:grpSpPr>
      <p:sp>
        <p:nvSpPr>
          <p:cNvPr id="238" name="Google Shape;238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3.png" /><Relationship Id="rId4" Type="http://schemas.openxmlformats.org/officeDocument/2006/relationships/image" Target="../media/image14.png" /><Relationship Id="rId5" Type="http://schemas.openxmlformats.org/officeDocument/2006/relationships/image" Target="../media/image15.png" /><Relationship Id="rId6" Type="http://schemas.openxmlformats.org/officeDocument/2006/relationships/image" Target="../media/image16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intercept point</a:t>
            </a:r>
            <a:endParaRPr/>
          </a:p>
        </p:txBody>
      </p:sp>
      <p:graphicFrame>
        <p:nvGraphicFramePr>
          <p:cNvPr id="173" name="Google Shape;173;p20"/>
          <p:cNvGraphicFramePr>
            <a:graphicFrameLocks noGrp="1"/>
          </p:cNvGraphicFramePr>
          <p:nvPr/>
        </p:nvGraphicFramePr>
        <p:xfrm>
          <a:off x="3076389" y="2375948"/>
          <a:ext cx="1577000" cy="455350"/>
        </p:xfrm>
        <a:graphic>
          <a:graphicData uri="http://schemas.openxmlformats.org/drawingml/2006/table">
            <a:tbl>
              <a:tblPr>
                <a:noFill/>
                <a:tableStyleId>{8AAD04AF-82CC-4277-9C25-76BC518576D9}</a:tableStyleId>
              </a:tblPr>
              <a:tblGrid>
                <a:gridCol w="315400"/>
                <a:gridCol w="315400"/>
                <a:gridCol w="315400"/>
                <a:gridCol w="315400"/>
                <a:gridCol w="315400"/>
              </a:tblGrid>
              <a:tr h="2276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76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4" name="Google Shape;174;p20"/>
          <p:cNvGraphicFramePr>
            <a:graphicFrameLocks noGrp="1"/>
          </p:cNvGraphicFramePr>
          <p:nvPr/>
        </p:nvGraphicFramePr>
        <p:xfrm>
          <a:off x="5300964" y="2375948"/>
          <a:ext cx="1577000" cy="455350"/>
        </p:xfrm>
        <a:graphic>
          <a:graphicData uri="http://schemas.openxmlformats.org/drawingml/2006/table">
            <a:tbl>
              <a:tblPr>
                <a:noFill/>
                <a:tableStyleId>{8AAD04AF-82CC-4277-9C25-76BC518576D9}</a:tableStyleId>
              </a:tblPr>
              <a:tblGrid>
                <a:gridCol w="315400"/>
                <a:gridCol w="315400"/>
                <a:gridCol w="315400"/>
                <a:gridCol w="315400"/>
                <a:gridCol w="315400"/>
              </a:tblGrid>
              <a:tr h="2276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76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75" name="Google Shape;17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7761" y="3152398"/>
            <a:ext cx="1456118" cy="159182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6" name="Google Shape;176;p20"/>
          <p:cNvPicPr preferRelativeResize="0"/>
          <p:nvPr/>
        </p:nvPicPr>
        <p:blipFill>
          <a:blip r:embed="rId4">
            <a:alphaModFix/>
          </a:blip>
          <a:srcRect t="14093" b="4678"/>
          <a:stretch>
            <a:fillRect/>
          </a:stretch>
        </p:blipFill>
        <p:spPr>
          <a:xfrm>
            <a:off x="3221600" y="3152398"/>
            <a:ext cx="1332700" cy="161825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95543" y="3152398"/>
            <a:ext cx="1409190" cy="161826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178" name="Google Shape;178;p20"/>
          <p:cNvGraphicFramePr>
            <a:graphicFrameLocks noGrp="1"/>
          </p:cNvGraphicFramePr>
          <p:nvPr/>
        </p:nvGraphicFramePr>
        <p:xfrm>
          <a:off x="851850" y="2375948"/>
          <a:ext cx="1577000" cy="455350"/>
        </p:xfrm>
        <a:graphic>
          <a:graphicData uri="http://schemas.openxmlformats.org/drawingml/2006/table">
            <a:tbl>
              <a:tblPr>
                <a:noFill/>
                <a:tableStyleId>{8AAD04AF-82CC-4277-9C25-76BC518576D9}</a:tableStyleId>
              </a:tblPr>
              <a:tblGrid>
                <a:gridCol w="315400"/>
                <a:gridCol w="315400"/>
                <a:gridCol w="315400"/>
                <a:gridCol w="315400"/>
                <a:gridCol w="315400"/>
              </a:tblGrid>
              <a:tr h="2276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76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9" name="Google Shape;179;p20"/>
          <p:cNvSpPr txBox="1"/>
          <p:nvPr/>
        </p:nvSpPr>
        <p:spPr>
          <a:xfrm>
            <a:off x="468000" y="14828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Identifying the </a:t>
            </a:r>
            <a:r>
              <a:rPr lang="en-GB" b="1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-intercept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68000" y="1820025"/>
            <a:ext cx="66240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question, circle the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on the graph and in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68000" y="5346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Write the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for each as a coordinate.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1178800" y="2375925"/>
            <a:ext cx="303900" cy="455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1468192" y="3735772"/>
            <a:ext cx="154800" cy="1848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1167250" y="5836325"/>
            <a:ext cx="7656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(0,3)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3970492" y="4374308"/>
            <a:ext cx="154800" cy="1848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4022600" y="2375925"/>
            <a:ext cx="303900" cy="455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3458025" y="5836325"/>
            <a:ext cx="9240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(0,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5931750" y="2375925"/>
            <a:ext cx="303900" cy="455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6404192" y="3620187"/>
            <a:ext cx="154800" cy="1848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5786652" y="5836325"/>
            <a:ext cx="9240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(0,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2.5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91" name="Google Shape;191;p20"/>
          <p:cNvGraphicFramePr>
            <a:graphicFrameLocks noGrp="1"/>
          </p:cNvGraphicFramePr>
          <p:nvPr/>
        </p:nvGraphicFramePr>
        <p:xfrm>
          <a:off x="468000" y="2140725"/>
          <a:ext cx="6624000" cy="381000"/>
        </p:xfrm>
        <a:graphic>
          <a:graphicData uri="http://schemas.openxmlformats.org/drawingml/2006/table">
            <a:tbl>
              <a:tblPr>
                <a:noFill/>
                <a:tableStyleId>{8AAD04AF-82CC-4277-9C25-76BC518576D9}</a:tableStyleId>
              </a:tblPr>
              <a:tblGrid>
                <a:gridCol w="2208000"/>
                <a:gridCol w="2208000"/>
                <a:gridCol w="22080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2" name="Google Shape;192;p20"/>
          <p:cNvGraphicFramePr>
            <a:graphicFrameLocks noGrp="1"/>
          </p:cNvGraphicFramePr>
          <p:nvPr/>
        </p:nvGraphicFramePr>
        <p:xfrm>
          <a:off x="756876" y="8820998"/>
          <a:ext cx="1577000" cy="455350"/>
        </p:xfrm>
        <a:graphic>
          <a:graphicData uri="http://schemas.openxmlformats.org/drawingml/2006/table">
            <a:tbl>
              <a:tblPr>
                <a:noFill/>
                <a:tableStyleId>{8AAD04AF-82CC-4277-9C25-76BC518576D9}</a:tableStyleId>
              </a:tblPr>
              <a:tblGrid>
                <a:gridCol w="394250"/>
                <a:gridCol w="394250"/>
                <a:gridCol w="394250"/>
                <a:gridCol w="394250"/>
              </a:tblGrid>
              <a:tr h="2276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76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3" name="Google Shape;193;p20"/>
          <p:cNvGraphicFramePr>
            <a:graphicFrameLocks noGrp="1"/>
          </p:cNvGraphicFramePr>
          <p:nvPr/>
        </p:nvGraphicFramePr>
        <p:xfrm>
          <a:off x="3313390" y="8820998"/>
          <a:ext cx="1577000" cy="455350"/>
        </p:xfrm>
        <a:graphic>
          <a:graphicData uri="http://schemas.openxmlformats.org/drawingml/2006/table">
            <a:tbl>
              <a:tblPr>
                <a:noFill/>
                <a:tableStyleId>{8AAD04AF-82CC-4277-9C25-76BC518576D9}</a:tableStyleId>
              </a:tblPr>
              <a:tblGrid>
                <a:gridCol w="394250"/>
                <a:gridCol w="394250"/>
                <a:gridCol w="394250"/>
                <a:gridCol w="394250"/>
              </a:tblGrid>
              <a:tr h="2276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76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4" name="Google Shape;194;p20"/>
          <p:cNvGraphicFramePr>
            <a:graphicFrameLocks noGrp="1"/>
          </p:cNvGraphicFramePr>
          <p:nvPr/>
        </p:nvGraphicFramePr>
        <p:xfrm>
          <a:off x="5509800" y="8810360"/>
          <a:ext cx="1577000" cy="455350"/>
        </p:xfrm>
        <a:graphic>
          <a:graphicData uri="http://schemas.openxmlformats.org/drawingml/2006/table">
            <a:tbl>
              <a:tblPr>
                <a:noFill/>
                <a:tableStyleId>{8AAD04AF-82CC-4277-9C25-76BC518576D9}</a:tableStyleId>
              </a:tblPr>
              <a:tblGrid>
                <a:gridCol w="394250"/>
                <a:gridCol w="394250"/>
                <a:gridCol w="394250"/>
                <a:gridCol w="394250"/>
              </a:tblGrid>
              <a:tr h="2276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76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5" name="Google Shape;195;p20"/>
          <p:cNvSpPr txBox="1"/>
          <p:nvPr/>
        </p:nvSpPr>
        <p:spPr>
          <a:xfrm>
            <a:off x="3305450" y="9404325"/>
            <a:ext cx="14121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463525" y="6412950"/>
            <a:ext cx="66285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Match each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to a graph, a table and an equation.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468000" y="6693950"/>
            <a:ext cx="11043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 (0,6)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3104143" y="6693950"/>
            <a:ext cx="11043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 (0,12)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5740285" y="6693950"/>
            <a:ext cx="13563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 (0,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−12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5512800" y="9439449"/>
            <a:ext cx="14121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+ 12 =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778675" y="9416331"/>
            <a:ext cx="23352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− 12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 0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2" name="Google Shape;20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39699" y="6961136"/>
            <a:ext cx="1686090" cy="163824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3" name="Google Shape;203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45714" y="6961136"/>
            <a:ext cx="1746285" cy="166608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4" name="Google Shape;204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7998" y="6961136"/>
            <a:ext cx="1502936" cy="166609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05" name="Google Shape;205;p20"/>
          <p:cNvSpPr txBox="1"/>
          <p:nvPr/>
        </p:nvSpPr>
        <p:spPr>
          <a:xfrm>
            <a:off x="3115898" y="6961125"/>
            <a:ext cx="294300" cy="3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1809360" y="6961125"/>
            <a:ext cx="294300" cy="3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5411883" y="6961125"/>
            <a:ext cx="294300" cy="3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463525" y="8824026"/>
            <a:ext cx="344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2975725" y="8824026"/>
            <a:ext cx="344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5285425" y="8824026"/>
            <a:ext cx="344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2961300" y="9430635"/>
            <a:ext cx="344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J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5310775" y="9448835"/>
            <a:ext cx="344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K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468000" y="9430158"/>
            <a:ext cx="344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4" name="Google Shape;214;p20"/>
          <p:cNvCxnSpPr/>
          <p:nvPr/>
        </p:nvCxnSpPr>
        <p:spPr>
          <a:xfrm>
            <a:off x="472532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8" name="Shape 218"/>
        <p:cNvGrpSpPr/>
        <p:nvPr/>
      </p:nvGrpSpPr>
      <p:grpSpPr>
        <a:xfrm>
          <a:off x="0" y="0"/>
          <a:ext cx="0" cy="0"/>
        </a:xfrm>
      </p:grpSpPr>
      <p:sp>
        <p:nvSpPr>
          <p:cNvPr id="219" name="Google Shape;219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intercept point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Calculating the </a:t>
            </a:r>
            <a:r>
              <a:rPr lang="en-GB" b="1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-intercept from tables of values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468000" y="10572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table of values, work out the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2" name="Google Shape;222;p21"/>
          <p:cNvGraphicFramePr>
            <a:graphicFrameLocks noGrp="1"/>
          </p:cNvGraphicFramePr>
          <p:nvPr/>
        </p:nvGraphicFramePr>
        <p:xfrm>
          <a:off x="866638" y="1550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{8AAD04AF-82CC-4277-9C25-76BC518576D9}</a:tableStyleId>
              </a:tblPr>
              <a:tblGrid>
                <a:gridCol w="524825"/>
                <a:gridCol w="524825"/>
                <a:gridCol w="524825"/>
                <a:gridCol w="524825"/>
                <a:gridCol w="524825"/>
                <a:gridCol w="524825"/>
              </a:tblGrid>
              <a:tr h="286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23" name="Google Shape;223;p21"/>
          <p:cNvGraphicFramePr>
            <a:graphicFrameLocks noGrp="1"/>
          </p:cNvGraphicFramePr>
          <p:nvPr/>
        </p:nvGraphicFramePr>
        <p:xfrm>
          <a:off x="866638" y="280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{8AAD04AF-82CC-4277-9C25-76BC518576D9}</a:tableStyleId>
              </a:tblPr>
              <a:tblGrid>
                <a:gridCol w="524825"/>
                <a:gridCol w="524825"/>
                <a:gridCol w="524825"/>
                <a:gridCol w="524825"/>
                <a:gridCol w="524825"/>
                <a:gridCol w="524825"/>
              </a:tblGrid>
              <a:tr h="286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24" name="Google Shape;224;p21"/>
          <p:cNvGraphicFramePr>
            <a:graphicFrameLocks noGrp="1"/>
          </p:cNvGraphicFramePr>
          <p:nvPr/>
        </p:nvGraphicFramePr>
        <p:xfrm>
          <a:off x="866638" y="4058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{8AAD04AF-82CC-4277-9C25-76BC518576D9}</a:tableStyleId>
              </a:tblPr>
              <a:tblGrid>
                <a:gridCol w="524825"/>
                <a:gridCol w="524825"/>
                <a:gridCol w="524825"/>
                <a:gridCol w="524825"/>
                <a:gridCol w="524825"/>
                <a:gridCol w="524825"/>
              </a:tblGrid>
              <a:tr h="286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-83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25" name="Google Shape;225;p21"/>
          <p:cNvGraphicFramePr>
            <a:graphicFrameLocks noGrp="1"/>
          </p:cNvGraphicFramePr>
          <p:nvPr/>
        </p:nvGraphicFramePr>
        <p:xfrm>
          <a:off x="849413" y="5313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{8AAD04AF-82CC-4277-9C25-76BC518576D9}</a:tableStyleId>
              </a:tblPr>
              <a:tblGrid>
                <a:gridCol w="524825"/>
                <a:gridCol w="524825"/>
                <a:gridCol w="524825"/>
                <a:gridCol w="524825"/>
                <a:gridCol w="524825"/>
                <a:gridCol w="524825"/>
              </a:tblGrid>
              <a:tr h="286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26" name="Google Shape;226;p21"/>
          <p:cNvGraphicFramePr>
            <a:graphicFrameLocks noGrp="1"/>
          </p:cNvGraphicFramePr>
          <p:nvPr/>
        </p:nvGraphicFramePr>
        <p:xfrm>
          <a:off x="849413" y="656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{8AAD04AF-82CC-4277-9C25-76BC518576D9}</a:tableStyleId>
              </a:tblPr>
              <a:tblGrid>
                <a:gridCol w="524825"/>
                <a:gridCol w="524825"/>
                <a:gridCol w="524825"/>
                <a:gridCol w="524825"/>
                <a:gridCol w="524825"/>
                <a:gridCol w="524825"/>
              </a:tblGrid>
              <a:tr h="286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27" name="Google Shape;227;p21"/>
          <p:cNvGraphicFramePr>
            <a:graphicFrameLocks noGrp="1"/>
          </p:cNvGraphicFramePr>
          <p:nvPr/>
        </p:nvGraphicFramePr>
        <p:xfrm>
          <a:off x="849413" y="7821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{8AAD04AF-82CC-4277-9C25-76BC518576D9}</a:tableStyleId>
              </a:tblPr>
              <a:tblGrid>
                <a:gridCol w="524825"/>
                <a:gridCol w="524825"/>
                <a:gridCol w="524825"/>
                <a:gridCol w="524825"/>
              </a:tblGrid>
              <a:tr h="286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28" name="Google Shape;228;p21"/>
          <p:cNvGraphicFramePr>
            <a:graphicFrameLocks noGrp="1"/>
          </p:cNvGraphicFramePr>
          <p:nvPr/>
        </p:nvGraphicFramePr>
        <p:xfrm>
          <a:off x="468000" y="139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{8AAD04AF-82CC-4277-9C25-76BC518576D9}</a:tableStyleId>
              </a:tblPr>
              <a:tblGrid>
                <a:gridCol w="559950"/>
              </a:tblGrid>
              <a:tr h="11901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1901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1901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29" name="Google Shape;229;p21"/>
          <p:cNvGraphicFramePr>
            <a:graphicFrameLocks noGrp="1"/>
          </p:cNvGraphicFramePr>
          <p:nvPr/>
        </p:nvGraphicFramePr>
        <p:xfrm>
          <a:off x="468000" y="5156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{8AAD04AF-82CC-4277-9C25-76BC518576D9}</a:tableStyleId>
              </a:tblPr>
              <a:tblGrid>
                <a:gridCol w="559950"/>
              </a:tblGrid>
              <a:tr h="11901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1901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1901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30" name="Google Shape;230;p21"/>
          <p:cNvCxnSpPr/>
          <p:nvPr/>
        </p:nvCxnSpPr>
        <p:spPr>
          <a:xfrm>
            <a:off x="472532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1" name="Google Shape;231;p21"/>
          <p:cNvSpPr/>
          <p:nvPr/>
        </p:nvSpPr>
        <p:spPr>
          <a:xfrm>
            <a:off x="4224125" y="1812813"/>
            <a:ext cx="8565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(0,7)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4224125" y="3087438"/>
            <a:ext cx="8565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(0,7)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4224125" y="4341588"/>
            <a:ext cx="13569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(0,−83)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4209425" y="5595738"/>
            <a:ext cx="8565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(0,47)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4140000" y="8077163"/>
            <a:ext cx="8859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(0,51)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4140000" y="6770788"/>
            <a:ext cx="8859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(0,0)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0" name="Shape 240"/>
        <p:cNvGrpSpPr/>
        <p:nvPr/>
      </p:nvGrpSpPr>
      <p:grpSpPr>
        <a:xfrm>
          <a:off x="0" y="0"/>
          <a:ext cx="0" cy="0"/>
        </a:xfrm>
      </p:grpSpPr>
      <p:sp>
        <p:nvSpPr>
          <p:cNvPr id="241" name="Google Shape;241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42" name="Google Shape;242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intercept point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Calculating the </a:t>
            </a:r>
            <a:r>
              <a:rPr lang="en-GB" b="1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-intercept from two coordinates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468000" y="1033825"/>
            <a:ext cx="6624000" cy="9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pair of coordinates, work out the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for the line which passes through them.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47" name="Google Shape;247;p22"/>
          <p:cNvGraphicFramePr>
            <a:graphicFrameLocks noGrp="1"/>
          </p:cNvGraphicFramePr>
          <p:nvPr/>
        </p:nvGraphicFramePr>
        <p:xfrm>
          <a:off x="468000" y="164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{8AAD04AF-82CC-4277-9C25-76BC518576D9}</a:tableStyleId>
              </a:tblPr>
              <a:tblGrid>
                <a:gridCol w="2096025"/>
                <a:gridCol w="2319975"/>
                <a:gridCol w="22080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    (5, 20) and (8,29)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  (12,52) and (18,82)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   (4,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10) and (6,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14)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48" name="Google Shape;248;p22"/>
          <p:cNvPicPr preferRelativeResize="0"/>
          <p:nvPr/>
        </p:nvPicPr>
        <p:blipFill>
          <a:blip r:embed="rId3">
            <a:alphaModFix/>
          </a:blip>
          <a:srcRect r="25467"/>
          <a:stretch>
            <a:fillRect/>
          </a:stretch>
        </p:blipFill>
        <p:spPr>
          <a:xfrm>
            <a:off x="497775" y="2057528"/>
            <a:ext cx="1197288" cy="156397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249" name="Google Shape;249;p22"/>
          <p:cNvGraphicFramePr>
            <a:graphicFrameLocks noGrp="1"/>
          </p:cNvGraphicFramePr>
          <p:nvPr/>
        </p:nvGraphicFramePr>
        <p:xfrm>
          <a:off x="1775586" y="21730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{8AAD04AF-82CC-4277-9C25-76BC518576D9}</a:tableStyleId>
              </a:tblPr>
              <a:tblGrid>
                <a:gridCol w="316075"/>
                <a:gridCol w="348875"/>
              </a:tblGrid>
              <a:tr h="190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90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50" name="Google Shape;250;p22"/>
          <p:cNvSpPr txBox="1"/>
          <p:nvPr/>
        </p:nvSpPr>
        <p:spPr>
          <a:xfrm>
            <a:off x="1813211" y="2866375"/>
            <a:ext cx="665100" cy="6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51" name="Google Shape;251;p22"/>
          <p:cNvGraphicFramePr>
            <a:graphicFrameLocks noGrp="1"/>
          </p:cNvGraphicFramePr>
          <p:nvPr/>
        </p:nvGraphicFramePr>
        <p:xfrm>
          <a:off x="467988" y="3837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{8AAD04AF-82CC-4277-9C25-76BC518576D9}</a:tableStyleId>
              </a:tblPr>
              <a:tblGrid>
                <a:gridCol w="335975"/>
                <a:gridCol w="335975"/>
                <a:gridCol w="335975"/>
                <a:gridCol w="335975"/>
                <a:gridCol w="335975"/>
                <a:gridCol w="335975"/>
              </a:tblGrid>
              <a:tr h="234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05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52" name="Google Shape;252;p22"/>
          <p:cNvSpPr txBox="1"/>
          <p:nvPr/>
        </p:nvSpPr>
        <p:spPr>
          <a:xfrm>
            <a:off x="468000" y="4542770"/>
            <a:ext cx="26445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(0,5)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53" name="Google Shape;253;p22"/>
          <p:cNvGraphicFramePr>
            <a:graphicFrameLocks noGrp="1"/>
          </p:cNvGraphicFramePr>
          <p:nvPr/>
        </p:nvGraphicFramePr>
        <p:xfrm>
          <a:off x="4155000" y="21589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{8AAD04AF-82CC-4277-9C25-76BC518576D9}</a:tableStyleId>
              </a:tblPr>
              <a:tblGrid>
                <a:gridCol w="316150"/>
                <a:gridCol w="348950"/>
              </a:tblGrid>
              <a:tr h="190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0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54" name="Google Shape;254;p22"/>
          <p:cNvSpPr txBox="1"/>
          <p:nvPr/>
        </p:nvSpPr>
        <p:spPr>
          <a:xfrm>
            <a:off x="4140000" y="2813575"/>
            <a:ext cx="6651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55" name="Google Shape;255;p22"/>
          <p:cNvGraphicFramePr>
            <a:graphicFrameLocks noGrp="1"/>
          </p:cNvGraphicFramePr>
          <p:nvPr/>
        </p:nvGraphicFramePr>
        <p:xfrm>
          <a:off x="2662410" y="3837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{8AAD04AF-82CC-4277-9C25-76BC518576D9}</a:tableStyleId>
              </a:tblPr>
              <a:tblGrid>
                <a:gridCol w="335975"/>
                <a:gridCol w="335975"/>
                <a:gridCol w="335975"/>
                <a:gridCol w="335975"/>
                <a:gridCol w="335975"/>
                <a:gridCol w="335975"/>
              </a:tblGrid>
              <a:tr h="234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05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56" name="Google Shape;25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2874" y="2057528"/>
            <a:ext cx="1405398" cy="156397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57" name="Google Shape;257;p22"/>
          <p:cNvPicPr preferRelativeResize="0"/>
          <p:nvPr/>
        </p:nvPicPr>
        <p:blipFill>
          <a:blip r:embed="rId5">
            <a:alphaModFix/>
          </a:blip>
          <a:srcRect b="2950"/>
          <a:stretch>
            <a:fillRect/>
          </a:stretch>
        </p:blipFill>
        <p:spPr>
          <a:xfrm>
            <a:off x="4952867" y="2057525"/>
            <a:ext cx="1405394" cy="156396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58" name="Google Shape;258;p22"/>
          <p:cNvSpPr txBox="1"/>
          <p:nvPr/>
        </p:nvSpPr>
        <p:spPr>
          <a:xfrm>
            <a:off x="2662875" y="4542775"/>
            <a:ext cx="19410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(0,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59" name="Google Shape;259;p22"/>
          <p:cNvGraphicFramePr>
            <a:graphicFrameLocks noGrp="1"/>
          </p:cNvGraphicFramePr>
          <p:nvPr/>
        </p:nvGraphicFramePr>
        <p:xfrm>
          <a:off x="6430583" y="21589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{8AAD04AF-82CC-4277-9C25-76BC518576D9}</a:tableStyleId>
              </a:tblPr>
              <a:tblGrid>
                <a:gridCol w="316150"/>
                <a:gridCol w="348950"/>
              </a:tblGrid>
              <a:tr h="190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0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60" name="Google Shape;260;p22"/>
          <p:cNvGraphicFramePr>
            <a:graphicFrameLocks noGrp="1"/>
          </p:cNvGraphicFramePr>
          <p:nvPr/>
        </p:nvGraphicFramePr>
        <p:xfrm>
          <a:off x="4978699" y="3837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{8AAD04AF-82CC-4277-9C25-76BC518576D9}</a:tableStyleId>
              </a:tblPr>
              <a:tblGrid>
                <a:gridCol w="335975"/>
                <a:gridCol w="335975"/>
                <a:gridCol w="335975"/>
                <a:gridCol w="335975"/>
                <a:gridCol w="335975"/>
                <a:gridCol w="335975"/>
              </a:tblGrid>
              <a:tr h="234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05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61" name="Google Shape;261;p22"/>
          <p:cNvSpPr txBox="1"/>
          <p:nvPr/>
        </p:nvSpPr>
        <p:spPr>
          <a:xfrm>
            <a:off x="4986911" y="4542775"/>
            <a:ext cx="20748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(0,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2" name="Google Shape;262;p22"/>
          <p:cNvCxnSpPr/>
          <p:nvPr/>
        </p:nvCxnSpPr>
        <p:spPr>
          <a:xfrm flipH="1">
            <a:off x="2578650" y="1513900"/>
            <a:ext cx="0" cy="3331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3" name="Google Shape;263;p22"/>
          <p:cNvCxnSpPr/>
          <p:nvPr/>
        </p:nvCxnSpPr>
        <p:spPr>
          <a:xfrm flipH="1">
            <a:off x="4880525" y="1513900"/>
            <a:ext cx="0" cy="3331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64" name="Google Shape;264;p22"/>
          <p:cNvGraphicFramePr>
            <a:graphicFrameLocks noGrp="1"/>
          </p:cNvGraphicFramePr>
          <p:nvPr/>
        </p:nvGraphicFramePr>
        <p:xfrm>
          <a:off x="455406" y="537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{8AAD04AF-82CC-4277-9C25-76BC518576D9}</a:tableStyleId>
              </a:tblPr>
              <a:tblGrid>
                <a:gridCol w="2213425"/>
                <a:gridCol w="2213425"/>
                <a:gridCol w="22134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   (10,8) and (18,0)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e)   (7,54) and (10,75)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f)  (6,13) and (9,22)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65" name="Google Shape;265;p22"/>
          <p:cNvGraphicFramePr>
            <a:graphicFrameLocks noGrp="1"/>
          </p:cNvGraphicFramePr>
          <p:nvPr/>
        </p:nvGraphicFramePr>
        <p:xfrm>
          <a:off x="1769625" y="59812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{8AAD04AF-82CC-4277-9C25-76BC518576D9}</a:tableStyleId>
              </a:tblPr>
              <a:tblGrid>
                <a:gridCol w="316150"/>
                <a:gridCol w="348950"/>
              </a:tblGrid>
              <a:tr h="190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90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66" name="Google Shape;266;p22"/>
          <p:cNvGraphicFramePr>
            <a:graphicFrameLocks noGrp="1"/>
          </p:cNvGraphicFramePr>
          <p:nvPr/>
        </p:nvGraphicFramePr>
        <p:xfrm>
          <a:off x="455393" y="7563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{8AAD04AF-82CC-4277-9C25-76BC518576D9}</a:tableStyleId>
              </a:tblPr>
              <a:tblGrid>
                <a:gridCol w="335975"/>
                <a:gridCol w="335975"/>
                <a:gridCol w="335975"/>
                <a:gridCol w="335975"/>
                <a:gridCol w="335975"/>
                <a:gridCol w="335975"/>
              </a:tblGrid>
              <a:tr h="234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200">
                        <a:solidFill>
                          <a:srgbClr val="222222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05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67" name="Google Shape;267;p22"/>
          <p:cNvSpPr txBox="1"/>
          <p:nvPr/>
        </p:nvSpPr>
        <p:spPr>
          <a:xfrm>
            <a:off x="455406" y="8268120"/>
            <a:ext cx="26445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(0,18)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2"/>
          <p:cNvSpPr txBox="1"/>
          <p:nvPr/>
        </p:nvSpPr>
        <p:spPr>
          <a:xfrm>
            <a:off x="2662808" y="6667550"/>
            <a:ext cx="16476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69" name="Google Shape;269;p22"/>
          <p:cNvGraphicFramePr>
            <a:graphicFrameLocks noGrp="1"/>
          </p:cNvGraphicFramePr>
          <p:nvPr/>
        </p:nvGraphicFramePr>
        <p:xfrm>
          <a:off x="2634193" y="7563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{8AAD04AF-82CC-4277-9C25-76BC518576D9}</a:tableStyleId>
              </a:tblPr>
              <a:tblGrid>
                <a:gridCol w="335975"/>
                <a:gridCol w="335975"/>
                <a:gridCol w="335975"/>
                <a:gridCol w="335975"/>
                <a:gridCol w="335975"/>
                <a:gridCol w="335975"/>
              </a:tblGrid>
              <a:tr h="234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200">
                        <a:solidFill>
                          <a:srgbClr val="222222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05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…..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70" name="Google Shape;270;p22"/>
          <p:cNvSpPr txBox="1"/>
          <p:nvPr/>
        </p:nvSpPr>
        <p:spPr>
          <a:xfrm>
            <a:off x="2642406" y="8268120"/>
            <a:ext cx="26445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(0,5)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2"/>
          <p:cNvSpPr txBox="1"/>
          <p:nvPr/>
        </p:nvSpPr>
        <p:spPr>
          <a:xfrm>
            <a:off x="4940401" y="8296636"/>
            <a:ext cx="21552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(0,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−5)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2" name="Google Shape;272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0550" y="5883775"/>
            <a:ext cx="1197299" cy="117917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273" name="Google Shape;273;p22"/>
          <p:cNvCxnSpPr/>
          <p:nvPr/>
        </p:nvCxnSpPr>
        <p:spPr>
          <a:xfrm flipH="1">
            <a:off x="2582155" y="5239250"/>
            <a:ext cx="0" cy="3331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4" name="Google Shape;274;p22"/>
          <p:cNvCxnSpPr/>
          <p:nvPr/>
        </p:nvCxnSpPr>
        <p:spPr>
          <a:xfrm flipH="1">
            <a:off x="4867131" y="5239250"/>
            <a:ext cx="0" cy="3331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75" name="Google Shape;275;p22"/>
          <p:cNvGraphicFramePr>
            <a:graphicFrameLocks noGrp="1"/>
          </p:cNvGraphicFramePr>
          <p:nvPr/>
        </p:nvGraphicFramePr>
        <p:xfrm>
          <a:off x="2662802" y="59812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{8AAD04AF-82CC-4277-9C25-76BC518576D9}</a:tableStyleId>
              </a:tblPr>
              <a:tblGrid>
                <a:gridCol w="324250"/>
                <a:gridCol w="357875"/>
              </a:tblGrid>
              <a:tr h="195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95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76" name="Google Shape;276;p22"/>
          <p:cNvSpPr txBox="1"/>
          <p:nvPr/>
        </p:nvSpPr>
        <p:spPr>
          <a:xfrm>
            <a:off x="4940408" y="6667550"/>
            <a:ext cx="16476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77" name="Google Shape;277;p22"/>
          <p:cNvGraphicFramePr>
            <a:graphicFrameLocks noGrp="1"/>
          </p:cNvGraphicFramePr>
          <p:nvPr/>
        </p:nvGraphicFramePr>
        <p:xfrm>
          <a:off x="4940402" y="59812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{8AAD04AF-82CC-4277-9C25-76BC518576D9}</a:tableStyleId>
              </a:tblPr>
              <a:tblGrid>
                <a:gridCol w="324250"/>
                <a:gridCol w="357875"/>
              </a:tblGrid>
              <a:tr h="195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95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78" name="Google Shape;278;p22"/>
          <p:cNvGraphicFramePr>
            <a:graphicFrameLocks noGrp="1"/>
          </p:cNvGraphicFramePr>
          <p:nvPr/>
        </p:nvGraphicFramePr>
        <p:xfrm>
          <a:off x="4940393" y="75536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{8AAD04AF-82CC-4277-9C25-76BC518576D9}</a:tableStyleId>
              </a:tblPr>
              <a:tblGrid>
                <a:gridCol w="359200"/>
                <a:gridCol w="359200"/>
                <a:gridCol w="359200"/>
                <a:gridCol w="359200"/>
                <a:gridCol w="359200"/>
                <a:gridCol w="359200"/>
              </a:tblGrid>
              <a:tr h="250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200">
                        <a:solidFill>
                          <a:srgbClr val="222222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solidFill>
                          <a:srgbClr val="222222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…..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7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…..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49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</vt:lpstr>
      <vt:lpstr>simple-light-2</vt:lpstr>
      <vt:lpstr>The intercept point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2024-01-08T16:49:54.802</cp:lastPrinted>
  <dcterms:created xsi:type="dcterms:W3CDTF">2024-01-08T16:49:54Z</dcterms:created>
  <dcterms:modified xsi:type="dcterms:W3CDTF">2024-01-08T16:50:20Z</dcterms:modified>
</cp:coreProperties>
</file>