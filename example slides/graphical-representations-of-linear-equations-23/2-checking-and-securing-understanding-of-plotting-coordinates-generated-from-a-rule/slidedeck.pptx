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9144000" cy="5143500"/>
  <p:notesSz cx="6858000" cy="9144000"/>
  <p:embeddedFontLst>
    <p:embeddedFont>
      <p:font typeface="Lexend" panose="00000000000000000000"/>
      <p:regular r:id="rId49"/>
    </p:embeddedFont>
    <p:embeddedFont>
      <p:font typeface="Lexend Medium" panose="00000000000000000000"/>
      <p:regular r:id="rId50"/>
    </p:embeddedFont>
    <p:embeddedFont>
      <p:font typeface="Kalam" panose="02000000000000000000"/>
      <p:regular r:id="rId51"/>
    </p:embeddedFont>
    <p:embeddedFont>
      <p:font typeface="Lexend Light" panose="00000000000000000000"/>
      <p:regular r:id="rId52"/>
    </p:embeddedFont>
  </p:embeddedFontLst>
  <p:custDataLst>
    <p:tags r:id="rId4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86B4F2F-6DAD-438E-9F4F-E5103A17CE28}">
  <a:tblStyle styleId="{E86B4F2F-6DAD-438E-9F4F-E5103A17CE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slide" Target="slides/slide45.xml" /><Relationship Id="rId48" Type="http://schemas.openxmlformats.org/officeDocument/2006/relationships/tags" Target="tags/tag1.xml" /><Relationship Id="rId49" Type="http://schemas.openxmlformats.org/officeDocument/2006/relationships/font" Target="fonts/font1.fntdata" /><Relationship Id="rId5" Type="http://schemas.openxmlformats.org/officeDocument/2006/relationships/slide" Target="slides/slide3.xml" /><Relationship Id="rId50" Type="http://schemas.openxmlformats.org/officeDocument/2006/relationships/font" Target="fonts/font2.fntdata" /><Relationship Id="rId51" Type="http://schemas.openxmlformats.org/officeDocument/2006/relationships/font" Target="fonts/font3.fntdata" /><Relationship Id="rId52" Type="http://schemas.openxmlformats.org/officeDocument/2006/relationships/font" Target="fonts/font4.fntdata" /><Relationship Id="rId53" Type="http://schemas.openxmlformats.org/officeDocument/2006/relationships/presProps" Target="presProps.xml" /><Relationship Id="rId54" Type="http://schemas.openxmlformats.org/officeDocument/2006/relationships/viewProps" Target="viewProps.xml" /><Relationship Id="rId55" Type="http://schemas.openxmlformats.org/officeDocument/2006/relationships/theme" Target="theme/theme1.xml" /><Relationship Id="rId56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_rels/notesSlide4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a100ef5968_1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a100ef5968_1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98193ef18b_0_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8193ef18b_0_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298193ef18b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8193ef18b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3" name="Shape 793"/>
        <p:cNvGrpSpPr/>
        <p:nvPr/>
      </p:nvGrpSpPr>
      <p:grpSpPr>
        <a:xfrm>
          <a:off x="0" y="0"/>
          <a:ext cx="0" cy="0"/>
        </a:xfrm>
      </p:grpSpPr>
      <p:sp>
        <p:nvSpPr>
          <p:cNvPr id="794" name="Google Shape;794;g298193ef18b_0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298193ef18b_0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9" name="Shape 809"/>
        <p:cNvGrpSpPr/>
        <p:nvPr/>
      </p:nvGrpSpPr>
      <p:grpSpPr>
        <a:xfrm>
          <a:off x="0" y="0"/>
          <a:ext cx="0" cy="0"/>
        </a:xfrm>
      </p:grpSpPr>
      <p:sp>
        <p:nvSpPr>
          <p:cNvPr id="810" name="Google Shape;810;g298193ef18b_0_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98193ef18b_0_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7" name="Shape 827"/>
        <p:cNvGrpSpPr/>
        <p:nvPr/>
      </p:nvGrpSpPr>
      <p:grpSpPr>
        <a:xfrm>
          <a:off x="0" y="0"/>
          <a:ext cx="0" cy="0"/>
        </a:xfrm>
      </p:grpSpPr>
      <p:sp>
        <p:nvSpPr>
          <p:cNvPr id="828" name="Google Shape;828;g298193ef18b_0_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98193ef18b_0_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9" name="Shape 849"/>
        <p:cNvGrpSpPr/>
        <p:nvPr/>
      </p:nvGrpSpPr>
      <p:grpSpPr>
        <a:xfrm>
          <a:off x="0" y="0"/>
          <a:ext cx="0" cy="0"/>
        </a:xfrm>
      </p:grpSpPr>
      <p:sp>
        <p:nvSpPr>
          <p:cNvPr id="850" name="Google Shape;850;g298193ef18b_0_1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98193ef18b_0_1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2" name="Shape 872"/>
        <p:cNvGrpSpPr/>
        <p:nvPr/>
      </p:nvGrpSpPr>
      <p:grpSpPr>
        <a:xfrm>
          <a:off x="0" y="0"/>
          <a:ext cx="0" cy="0"/>
        </a:xfrm>
      </p:grpSpPr>
      <p:sp>
        <p:nvSpPr>
          <p:cNvPr id="873" name="Google Shape;873;g298193ef18b_0_1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8193ef18b_0_1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7" name="Shape 897"/>
        <p:cNvGrpSpPr/>
        <p:nvPr/>
      </p:nvGrpSpPr>
      <p:grpSpPr>
        <a:xfrm>
          <a:off x="0" y="0"/>
          <a:ext cx="0" cy="0"/>
        </a:xfrm>
      </p:grpSpPr>
      <p:sp>
        <p:nvSpPr>
          <p:cNvPr id="898" name="Google Shape;898;g298193ef18b_0_1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98193ef18b_0_1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0" name="Shape 920"/>
        <p:cNvGrpSpPr/>
        <p:nvPr/>
      </p:nvGrpSpPr>
      <p:grpSpPr>
        <a:xfrm>
          <a:off x="0" y="0"/>
          <a:ext cx="0" cy="0"/>
        </a:xfrm>
      </p:grpSpPr>
      <p:sp>
        <p:nvSpPr>
          <p:cNvPr id="921" name="Google Shape;921;g298193ef18b_0_2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98193ef18b_0_2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3" name="Shape 943"/>
        <p:cNvGrpSpPr/>
        <p:nvPr/>
      </p:nvGrpSpPr>
      <p:grpSpPr>
        <a:xfrm>
          <a:off x="0" y="0"/>
          <a:ext cx="0" cy="0"/>
        </a:xfrm>
      </p:grpSpPr>
      <p:sp>
        <p:nvSpPr>
          <p:cNvPr id="944" name="Google Shape;944;g298193ef18b_0_2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98193ef18b_0_2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7" name="Shape 957"/>
        <p:cNvGrpSpPr/>
        <p:nvPr/>
      </p:nvGrpSpPr>
      <p:grpSpPr>
        <a:xfrm>
          <a:off x="0" y="0"/>
          <a:ext cx="0" cy="0"/>
        </a:xfrm>
      </p:grpSpPr>
      <p:sp>
        <p:nvSpPr>
          <p:cNvPr id="958" name="Google Shape;958;g298193ef18b_0_2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98193ef18b_0_2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2" name="Shape 972"/>
        <p:cNvGrpSpPr/>
        <p:nvPr/>
      </p:nvGrpSpPr>
      <p:grpSpPr>
        <a:xfrm>
          <a:off x="0" y="0"/>
          <a:ext cx="0" cy="0"/>
        </a:xfrm>
      </p:grpSpPr>
      <p:sp>
        <p:nvSpPr>
          <p:cNvPr id="973" name="Google Shape;973;g298193ef18b_0_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98193ef18b_0_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6" name="Shape 986"/>
        <p:cNvGrpSpPr/>
        <p:nvPr/>
      </p:nvGrpSpPr>
      <p:grpSpPr>
        <a:xfrm>
          <a:off x="0" y="0"/>
          <a:ext cx="0" cy="0"/>
        </a:xfrm>
      </p:grpSpPr>
      <p:sp>
        <p:nvSpPr>
          <p:cNvPr id="987" name="Google Shape;987;g298193ef18b_0_3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98193ef18b_0_3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2" name="Shape 1002"/>
        <p:cNvGrpSpPr/>
        <p:nvPr/>
      </p:nvGrpSpPr>
      <p:grpSpPr>
        <a:xfrm>
          <a:off x="0" y="0"/>
          <a:ext cx="0" cy="0"/>
        </a:xfrm>
      </p:grpSpPr>
      <p:sp>
        <p:nvSpPr>
          <p:cNvPr id="1003" name="Google Shape;1003;g298193ef18b_0_3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98193ef18b_0_3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1" name="Shape 1021"/>
        <p:cNvGrpSpPr/>
        <p:nvPr/>
      </p:nvGrpSpPr>
      <p:grpSpPr>
        <a:xfrm>
          <a:off x="0" y="0"/>
          <a:ext cx="0" cy="0"/>
        </a:xfrm>
      </p:grpSpPr>
      <p:sp>
        <p:nvSpPr>
          <p:cNvPr id="1022" name="Google Shape;1022;g298193ef18b_1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98193ef18b_1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0" name="Shape 1040"/>
        <p:cNvGrpSpPr/>
        <p:nvPr/>
      </p:nvGrpSpPr>
      <p:grpSpPr>
        <a:xfrm>
          <a:off x="0" y="0"/>
          <a:ext cx="0" cy="0"/>
        </a:xfrm>
      </p:grpSpPr>
      <p:sp>
        <p:nvSpPr>
          <p:cNvPr id="1041" name="Google Shape;1041;g298193ef18b_1_7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98193ef18b_1_7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8" name="Shape 1058"/>
        <p:cNvGrpSpPr/>
        <p:nvPr/>
      </p:nvGrpSpPr>
      <p:grpSpPr>
        <a:xfrm>
          <a:off x="0" y="0"/>
          <a:ext cx="0" cy="0"/>
        </a:xfrm>
      </p:grpSpPr>
      <p:sp>
        <p:nvSpPr>
          <p:cNvPr id="1059" name="Google Shape;1059;g298193ef18b_1_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98193ef18b_1_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3" name="Shape 1073"/>
        <p:cNvGrpSpPr/>
        <p:nvPr/>
      </p:nvGrpSpPr>
      <p:grpSpPr>
        <a:xfrm>
          <a:off x="0" y="0"/>
          <a:ext cx="0" cy="0"/>
        </a:xfrm>
      </p:grpSpPr>
      <p:sp>
        <p:nvSpPr>
          <p:cNvPr id="1074" name="Google Shape;1074;g298193ef18b_1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98193ef18b_1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91" name="Shape 1091"/>
        <p:cNvGrpSpPr/>
        <p:nvPr/>
      </p:nvGrpSpPr>
      <p:grpSpPr>
        <a:xfrm>
          <a:off x="0" y="0"/>
          <a:ext cx="0" cy="0"/>
        </a:xfrm>
      </p:grpSpPr>
      <p:sp>
        <p:nvSpPr>
          <p:cNvPr id="1092" name="Google Shape;1092;g298193ef18b_1_8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98193ef18b_1_8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0" name="Shape 1110"/>
        <p:cNvGrpSpPr/>
        <p:nvPr/>
      </p:nvGrpSpPr>
      <p:grpSpPr>
        <a:xfrm>
          <a:off x="0" y="0"/>
          <a:ext cx="0" cy="0"/>
        </a:xfrm>
      </p:grpSpPr>
      <p:sp>
        <p:nvSpPr>
          <p:cNvPr id="1111" name="Google Shape;1111;g298193ef18b_1_9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98193ef18b_1_9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1" name="Shape 1131"/>
        <p:cNvGrpSpPr/>
        <p:nvPr/>
      </p:nvGrpSpPr>
      <p:grpSpPr>
        <a:xfrm>
          <a:off x="0" y="0"/>
          <a:ext cx="0" cy="0"/>
        </a:xfrm>
      </p:grpSpPr>
      <p:sp>
        <p:nvSpPr>
          <p:cNvPr id="1132" name="Google Shape;1132;g298193ef18b_1_9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98193ef18b_1_9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9" name="Shape 1139"/>
        <p:cNvGrpSpPr/>
        <p:nvPr/>
      </p:nvGrpSpPr>
      <p:grpSpPr>
        <a:xfrm>
          <a:off x="0" y="0"/>
          <a:ext cx="0" cy="0"/>
        </a:xfrm>
      </p:grpSpPr>
      <p:sp>
        <p:nvSpPr>
          <p:cNvPr id="1140" name="Google Shape;1140;g298193ef18b_1_9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298193ef18b_1_9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sp>
        <p:nvSpPr>
          <p:cNvPr id="1153" name="Google Shape;1153;g298193ef18b_1_10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98193ef18b_1_10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8" name="Shape 1168"/>
        <p:cNvGrpSpPr/>
        <p:nvPr/>
      </p:nvGrpSpPr>
      <p:grpSpPr>
        <a:xfrm>
          <a:off x="0" y="0"/>
          <a:ext cx="0" cy="0"/>
        </a:xfrm>
      </p:grpSpPr>
      <p:sp>
        <p:nvSpPr>
          <p:cNvPr id="1169" name="Google Shape;1169;g298193ef18b_1_10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298193ef18b_1_10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8" name="Shape 1188"/>
        <p:cNvGrpSpPr/>
        <p:nvPr/>
      </p:nvGrpSpPr>
      <p:grpSpPr>
        <a:xfrm>
          <a:off x="0" y="0"/>
          <a:ext cx="0" cy="0"/>
        </a:xfrm>
      </p:grpSpPr>
      <p:sp>
        <p:nvSpPr>
          <p:cNvPr id="1189" name="Google Shape;1189;g298193ef18b_1_10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298193ef18b_1_10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26" name="Shape 1226"/>
        <p:cNvGrpSpPr/>
        <p:nvPr/>
      </p:nvGrpSpPr>
      <p:grpSpPr>
        <a:xfrm>
          <a:off x="0" y="0"/>
          <a:ext cx="0" cy="0"/>
        </a:xfrm>
      </p:grpSpPr>
      <p:sp>
        <p:nvSpPr>
          <p:cNvPr id="1227" name="Google Shape;1227;g298193ef18b_1_1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298193ef18b_1_1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36" name="Shape 1236"/>
        <p:cNvGrpSpPr/>
        <p:nvPr/>
      </p:nvGrpSpPr>
      <p:grpSpPr>
        <a:xfrm>
          <a:off x="0" y="0"/>
          <a:ext cx="0" cy="0"/>
        </a:xfrm>
      </p:grpSpPr>
      <p:sp>
        <p:nvSpPr>
          <p:cNvPr id="1237" name="Google Shape;1237;g298193ef18b_1_1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98193ef18b_1_1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6" name="Shape 1256"/>
        <p:cNvGrpSpPr/>
        <p:nvPr/>
      </p:nvGrpSpPr>
      <p:grpSpPr>
        <a:xfrm>
          <a:off x="0" y="0"/>
          <a:ext cx="0" cy="0"/>
        </a:xfrm>
      </p:grpSpPr>
      <p:sp>
        <p:nvSpPr>
          <p:cNvPr id="1257" name="Google Shape;1257;g298193ef18b_1_11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98193ef18b_1_11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70" name="Shape 1270"/>
        <p:cNvGrpSpPr/>
        <p:nvPr/>
      </p:nvGrpSpPr>
      <p:grpSpPr>
        <a:xfrm>
          <a:off x="0" y="0"/>
          <a:ext cx="0" cy="0"/>
        </a:xfrm>
      </p:grpSpPr>
      <p:sp>
        <p:nvSpPr>
          <p:cNvPr id="1271" name="Google Shape;1271;g298193ef18b_2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98193ef18b_2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1" name="Shape 1281"/>
        <p:cNvGrpSpPr/>
        <p:nvPr/>
      </p:nvGrpSpPr>
      <p:grpSpPr>
        <a:xfrm>
          <a:off x="0" y="0"/>
          <a:ext cx="0" cy="0"/>
        </a:xfrm>
      </p:grpSpPr>
      <p:sp>
        <p:nvSpPr>
          <p:cNvPr id="1282" name="Google Shape;1282;g298193ef18b_2_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98193ef18b_2_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3" name="Shape 1293"/>
        <p:cNvGrpSpPr/>
        <p:nvPr/>
      </p:nvGrpSpPr>
      <p:grpSpPr>
        <a:xfrm>
          <a:off x="0" y="0"/>
          <a:ext cx="0" cy="0"/>
        </a:xfrm>
      </p:grpSpPr>
      <p:sp>
        <p:nvSpPr>
          <p:cNvPr id="1294" name="Google Shape;1294;g298193ef18b_2_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98193ef18b_2_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06" name="Shape 1306"/>
        <p:cNvGrpSpPr/>
        <p:nvPr/>
      </p:nvGrpSpPr>
      <p:grpSpPr>
        <a:xfrm>
          <a:off x="0" y="0"/>
          <a:ext cx="0" cy="0"/>
        </a:xfrm>
      </p:grpSpPr>
      <p:sp>
        <p:nvSpPr>
          <p:cNvPr id="1307" name="Google Shape;1307;g298193ef18b_2_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8193ef18b_2_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1" name="Shape 1331"/>
        <p:cNvGrpSpPr/>
        <p:nvPr/>
      </p:nvGrpSpPr>
      <p:grpSpPr>
        <a:xfrm>
          <a:off x="0" y="0"/>
          <a:ext cx="0" cy="0"/>
        </a:xfrm>
      </p:grpSpPr>
      <p:sp>
        <p:nvSpPr>
          <p:cNvPr id="1332" name="Google Shape;1332;g298193ef18b_2_1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298193ef18b_2_1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9" name="Shape 1349"/>
        <p:cNvGrpSpPr/>
        <p:nvPr/>
      </p:nvGrpSpPr>
      <p:grpSpPr>
        <a:xfrm>
          <a:off x="0" y="0"/>
          <a:ext cx="0" cy="0"/>
        </a:xfrm>
      </p:grpSpPr>
      <p:sp>
        <p:nvSpPr>
          <p:cNvPr id="1350" name="Google Shape;1350;g298193ef18b_2_1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98193ef18b_2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2" name="Shape 1362"/>
        <p:cNvGrpSpPr/>
        <p:nvPr/>
      </p:nvGrpSpPr>
      <p:grpSpPr>
        <a:xfrm>
          <a:off x="0" y="0"/>
          <a:ext cx="0" cy="0"/>
        </a:xfrm>
      </p:grpSpPr>
      <p:sp>
        <p:nvSpPr>
          <p:cNvPr id="1363" name="Google Shape;1363;g298193ef18b_3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298193ef18b_3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7" name="Shape 1377"/>
        <p:cNvGrpSpPr/>
        <p:nvPr/>
      </p:nvGrpSpPr>
      <p:grpSpPr>
        <a:xfrm>
          <a:off x="0" y="0"/>
          <a:ext cx="0" cy="0"/>
        </a:xfrm>
      </p:grpSpPr>
      <p:sp>
        <p:nvSpPr>
          <p:cNvPr id="1378" name="Google Shape;1378;g298193ef18b_2_1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98193ef18b_2_1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1" name="Shape 1401"/>
        <p:cNvGrpSpPr/>
        <p:nvPr/>
      </p:nvGrpSpPr>
      <p:grpSpPr>
        <a:xfrm>
          <a:off x="0" y="0"/>
          <a:ext cx="0" cy="0"/>
        </a:xfrm>
      </p:grpSpPr>
      <p:sp>
        <p:nvSpPr>
          <p:cNvPr id="1402" name="Google Shape;1402;g298193ef18b_3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98193ef18b_3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19" name="Shape 1419"/>
        <p:cNvGrpSpPr/>
        <p:nvPr/>
      </p:nvGrpSpPr>
      <p:grpSpPr>
        <a:xfrm>
          <a:off x="0" y="0"/>
          <a:ext cx="0" cy="0"/>
        </a:xfrm>
      </p:grpSpPr>
      <p:sp>
        <p:nvSpPr>
          <p:cNvPr id="1420" name="Google Shape;1420;g298193ef18b_3_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298193ef18b_3_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41" name="Shape 1441"/>
        <p:cNvGrpSpPr/>
        <p:nvPr/>
      </p:nvGrpSpPr>
      <p:grpSpPr>
        <a:xfrm>
          <a:off x="0" y="0"/>
          <a:ext cx="0" cy="0"/>
        </a:xfrm>
      </p:grpSpPr>
      <p:sp>
        <p:nvSpPr>
          <p:cNvPr id="1442" name="Google Shape;1442;g298193ef18b_3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98193ef18b_3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7" name="Shape 1457"/>
        <p:cNvGrpSpPr/>
        <p:nvPr/>
      </p:nvGrpSpPr>
      <p:grpSpPr>
        <a:xfrm>
          <a:off x="0" y="0"/>
          <a:ext cx="0" cy="0"/>
        </a:xfrm>
      </p:grpSpPr>
      <p:sp>
        <p:nvSpPr>
          <p:cNvPr id="1458" name="Google Shape;1458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67" name="Shape 1467"/>
        <p:cNvGrpSpPr/>
        <p:nvPr/>
      </p:nvGrpSpPr>
      <p:grpSpPr>
        <a:xfrm>
          <a:off x="0" y="0"/>
          <a:ext cx="0" cy="0"/>
        </a:xfrm>
      </p:grpSpPr>
      <p:sp>
        <p:nvSpPr>
          <p:cNvPr id="1468" name="Google Shape;1468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7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7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5.png" /><Relationship Id="rId4" Type="http://schemas.openxmlformats.org/officeDocument/2006/relationships/image" Target="../media/image47.png" /><Relationship Id="rId5" Type="http://schemas.openxmlformats.org/officeDocument/2006/relationships/image" Target="../media/image46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5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5.png" /><Relationship Id="rId4" Type="http://schemas.openxmlformats.org/officeDocument/2006/relationships/image" Target="../media/image47.png" /><Relationship Id="rId5" Type="http://schemas.openxmlformats.org/officeDocument/2006/relationships/image" Target="../media/image4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9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0.png" /><Relationship Id="rId4" Type="http://schemas.openxmlformats.org/officeDocument/2006/relationships/image" Target="../media/image49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1.png" /><Relationship Id="rId4" Type="http://schemas.openxmlformats.org/officeDocument/2006/relationships/image" Target="../media/image49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52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3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56.png" /><Relationship Id="rId6" Type="http://schemas.openxmlformats.org/officeDocument/2006/relationships/image" Target="../media/image49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57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Relationship Id="rId5" Type="http://schemas.openxmlformats.org/officeDocument/2006/relationships/image" Target="../media/image60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7.png" /><Relationship Id="rId4" Type="http://schemas.openxmlformats.org/officeDocument/2006/relationships/image" Target="../media/image61.png" /><Relationship Id="rId5" Type="http://schemas.openxmlformats.org/officeDocument/2006/relationships/image" Target="../media/image62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8.png" /><Relationship Id="rId4" Type="http://schemas.openxmlformats.org/officeDocument/2006/relationships/image" Target="../media/image59.png" /><Relationship Id="rId5" Type="http://schemas.openxmlformats.org/officeDocument/2006/relationships/image" Target="../media/image60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3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63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63.png" /><Relationship Id="rId4" Type="http://schemas.openxmlformats.org/officeDocument/2006/relationships/image" Target="../media/image64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49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5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66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66.png" /><Relationship Id="rId4" Type="http://schemas.openxmlformats.org/officeDocument/2006/relationships/image" Target="../media/image67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66.png" /><Relationship Id="rId4" Type="http://schemas.openxmlformats.org/officeDocument/2006/relationships/image" Target="../media/image64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68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69.png" /><Relationship Id="rId4" Type="http://schemas.openxmlformats.org/officeDocument/2006/relationships/image" Target="../media/image70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1.xml" /><Relationship Id="rId3" Type="http://schemas.openxmlformats.org/officeDocument/2006/relationships/image" Target="../media/image68.png" /><Relationship Id="rId4" Type="http://schemas.openxmlformats.org/officeDocument/2006/relationships/image" Target="../media/image71.png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2.xml" /><Relationship Id="rId3" Type="http://schemas.openxmlformats.org/officeDocument/2006/relationships/image" Target="../media/image69.png" /><Relationship Id="rId4" Type="http://schemas.openxmlformats.org/officeDocument/2006/relationships/image" Target="../media/image70.png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3.xml" /><Relationship Id="rId3" Type="http://schemas.openxmlformats.org/officeDocument/2006/relationships/image" Target="../media/image72.png" /><Relationship Id="rId4" Type="http://schemas.openxmlformats.org/officeDocument/2006/relationships/image" Target="../media/image70.png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8.xml" /><Relationship Id="rId2" Type="http://schemas.openxmlformats.org/officeDocument/2006/relationships/notesSlide" Target="../notesSlides/notesSlide44.xml" /><Relationship Id="rId3" Type="http://schemas.openxmlformats.org/officeDocument/2006/relationships/image" Target="../media/image65.png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5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83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plotting coordinates generated from a rule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439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represent, algebraically and graphically, a set of coordinates constructed according to a mathematical rule.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1088323"/>
            <a:ext cx="8496000" cy="28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arithmetic</a:t>
            </a:r>
            <a:r>
              <a:rPr lang="en-GB" sz="2200">
                <a:solidFill>
                  <a:srgbClr val="28282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(or linear) sequence is a sequence where the difference between successive terms is a constant.</a:t>
            </a:r>
            <a:endParaRPr sz="2200">
              <a:solidFill>
                <a:srgbClr val="282828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28282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Example: 6, 11, 16, 21, … has a constant difference of +5 therefore it is arithmetic (linear).</a:t>
            </a:r>
            <a:endParaRPr sz="2200">
              <a:solidFill>
                <a:srgbClr val="282828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Non-example: 1, 2, 4, 8, … does not have a constant difference therefore it is not arithmetic, it is non-linear.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772" name="Google Shape;772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3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plotting coordinates generated from a rule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204989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p69"/>
          <p:cNvSpPr txBox="1"/>
          <p:nvPr>
            <p:ph type="body" idx="1"/>
          </p:nvPr>
        </p:nvSpPr>
        <p:spPr>
          <a:xfrm>
            <a:off x="324000" y="770827"/>
            <a:ext cx="82377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Which arithmetic sequence is bigger?</a:t>
            </a:r>
            <a:endParaRPr/>
          </a:p>
        </p:txBody>
      </p:sp>
      <p:sp>
        <p:nvSpPr>
          <p:cNvPr id="780" name="Google Shape;78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781" name="Google Shape;781;p69"/>
          <p:cNvSpPr txBox="1"/>
          <p:nvPr>
            <p:ph type="body" idx="1"/>
          </p:nvPr>
        </p:nvSpPr>
        <p:spPr>
          <a:xfrm>
            <a:off x="1695600" y="1170352"/>
            <a:ext cx="8430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2" name="Google Shape;782;p69"/>
          <p:cNvSpPr txBox="1"/>
          <p:nvPr>
            <p:ph type="body" idx="1"/>
          </p:nvPr>
        </p:nvSpPr>
        <p:spPr>
          <a:xfrm>
            <a:off x="4826796" y="1170350"/>
            <a:ext cx="14301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3" name="Google Shape;7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95055" y="3070243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9"/>
          <p:cNvSpPr txBox="1"/>
          <p:nvPr/>
        </p:nvSpPr>
        <p:spPr>
          <a:xfrm>
            <a:off x="323590" y="3983680"/>
            <a:ext cx="7143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5" name="Google Shape;785;p69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737915" y="1813915"/>
            <a:ext cx="3007677" cy="1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9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5427720" y="1820920"/>
            <a:ext cx="3058852" cy="106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76063" y="275234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9"/>
          <p:cNvSpPr txBox="1"/>
          <p:nvPr/>
        </p:nvSpPr>
        <p:spPr>
          <a:xfrm>
            <a:off x="7728842" y="376940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1009390" y="2154875"/>
            <a:ext cx="27708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multiplication is more powerful than addition.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 txBox="1"/>
          <p:nvPr/>
        </p:nvSpPr>
        <p:spPr>
          <a:xfrm>
            <a:off x="5546792" y="2055610"/>
            <a:ext cx="27708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both can be the bigger one.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 txBox="1"/>
          <p:nvPr>
            <p:ph type="body" idx="1"/>
          </p:nvPr>
        </p:nvSpPr>
        <p:spPr>
          <a:xfrm>
            <a:off x="2341411" y="3232291"/>
            <a:ext cx="3420300" cy="34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Who do you agree with?</a:t>
            </a:r>
            <a:endParaRPr sz="2000"/>
          </a:p>
        </p:txBody>
      </p:sp>
      <p:sp>
        <p:nvSpPr>
          <p:cNvPr id="792" name="Google Shape;792;p69"/>
          <p:cNvSpPr txBox="1"/>
          <p:nvPr>
            <p:ph type="body" idx="1"/>
          </p:nvPr>
        </p:nvSpPr>
        <p:spPr>
          <a:xfrm>
            <a:off x="2341400" y="3613300"/>
            <a:ext cx="4854000" cy="117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is correct. 2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could be the bigger one, 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+ 2 could be the bigger one. It depends on the value of 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 i="1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6" name="Shape 796"/>
        <p:cNvGrpSpPr/>
        <p:nvPr/>
      </p:nvGrpSpPr>
      <p:grpSpPr>
        <a:xfrm>
          <a:off x="0" y="0"/>
          <a:ext cx="0" cy="0"/>
        </a:xfrm>
      </p:grpSpPr>
      <p:graphicFrame>
        <p:nvGraphicFramePr>
          <p:cNvPr id="797" name="Google Shape;797;p70"/>
          <p:cNvGraphicFramePr>
            <a:graphicFrameLocks noGrp="1"/>
          </p:cNvGraphicFramePr>
          <p:nvPr/>
        </p:nvGraphicFramePr>
        <p:xfrm>
          <a:off x="48243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798" name="Google Shape;798;p70"/>
          <p:cNvGraphicFramePr>
            <a:graphicFrameLocks noGrp="1"/>
          </p:cNvGraphicFramePr>
          <p:nvPr/>
        </p:nvGraphicFramePr>
        <p:xfrm>
          <a:off x="3285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799" name="Google Shape;799;p70"/>
          <p:cNvGraphicFramePr>
            <a:graphicFrameLocks noGrp="1"/>
          </p:cNvGraphicFramePr>
          <p:nvPr/>
        </p:nvGraphicFramePr>
        <p:xfrm>
          <a:off x="3285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0" name="Google Shape;800;p70"/>
          <p:cNvSpPr txBox="1"/>
          <p:nvPr>
            <p:ph type="body" idx="1"/>
          </p:nvPr>
        </p:nvSpPr>
        <p:spPr>
          <a:xfrm>
            <a:off x="324000" y="770825"/>
            <a:ext cx="84960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 the first five terms of the arithmetic sequences:</a:t>
            </a:r>
            <a:endParaRPr/>
          </a:p>
        </p:txBody>
      </p:sp>
      <p:sp>
        <p:nvSpPr>
          <p:cNvPr id="801" name="Google Shape;80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802" name="Google Shape;802;p70"/>
          <p:cNvSpPr txBox="1"/>
          <p:nvPr>
            <p:ph type="body" idx="1"/>
          </p:nvPr>
        </p:nvSpPr>
        <p:spPr>
          <a:xfrm>
            <a:off x="347065" y="1170352"/>
            <a:ext cx="8430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70"/>
          <p:cNvSpPr txBox="1"/>
          <p:nvPr>
            <p:ph type="body" idx="1"/>
          </p:nvPr>
        </p:nvSpPr>
        <p:spPr>
          <a:xfrm>
            <a:off x="4826798" y="1170350"/>
            <a:ext cx="12573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4" name="Google Shape;804;p70"/>
          <p:cNvGraphicFramePr>
            <a:graphicFrameLocks noGrp="1"/>
          </p:cNvGraphicFramePr>
          <p:nvPr/>
        </p:nvGraphicFramePr>
        <p:xfrm>
          <a:off x="48243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05" name="Google Shape;805;p70"/>
          <p:cNvSpPr txBox="1"/>
          <p:nvPr>
            <p:ph type="body" idx="1"/>
          </p:nvPr>
        </p:nvSpPr>
        <p:spPr>
          <a:xfrm>
            <a:off x="347100" y="2938972"/>
            <a:ext cx="25959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When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i="1"/>
              <a:t> </a:t>
            </a:r>
            <a:r>
              <a:rPr lang="en-GB" sz="2000"/>
              <a:t>=</a:t>
            </a:r>
            <a:r>
              <a:rPr lang="en-GB" sz="2000" i="1"/>
              <a:t> </a:t>
            </a:r>
            <a:r>
              <a:rPr lang="en-GB" sz="2000"/>
              <a:t>1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2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i="1"/>
              <a:t> </a:t>
            </a:r>
            <a:r>
              <a:rPr lang="en-GB" sz="2000"/>
              <a:t>= 2(1) = 2 × 1 = 2</a:t>
            </a:r>
            <a:endParaRPr sz="2000"/>
          </a:p>
        </p:txBody>
      </p:sp>
      <p:sp>
        <p:nvSpPr>
          <p:cNvPr id="806" name="Google Shape;806;p70"/>
          <p:cNvSpPr txBox="1"/>
          <p:nvPr>
            <p:ph type="body" idx="1"/>
          </p:nvPr>
        </p:nvSpPr>
        <p:spPr>
          <a:xfrm>
            <a:off x="347100" y="3978231"/>
            <a:ext cx="25959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When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i="1"/>
              <a:t> </a:t>
            </a:r>
            <a:r>
              <a:rPr lang="en-GB" sz="2000"/>
              <a:t>=</a:t>
            </a:r>
            <a:r>
              <a:rPr lang="en-GB" sz="2000" i="1"/>
              <a:t> </a:t>
            </a:r>
            <a:r>
              <a:rPr lang="en-GB" sz="2000"/>
              <a:t>2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i="1"/>
              <a:t> </a:t>
            </a:r>
            <a:r>
              <a:rPr lang="en-GB" sz="2000"/>
              <a:t>= 2(2) = 2 × 2 = 4</a:t>
            </a:r>
            <a:endParaRPr sz="2000"/>
          </a:p>
        </p:txBody>
      </p:sp>
      <p:sp>
        <p:nvSpPr>
          <p:cNvPr id="807" name="Google Shape;807;p70"/>
          <p:cNvSpPr txBox="1"/>
          <p:nvPr>
            <p:ph type="body" idx="1"/>
          </p:nvPr>
        </p:nvSpPr>
        <p:spPr>
          <a:xfrm>
            <a:off x="4831375" y="2939001"/>
            <a:ext cx="2595900" cy="91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When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i="1"/>
              <a:t> </a:t>
            </a:r>
            <a:r>
              <a:rPr lang="en-GB" sz="2000"/>
              <a:t>=</a:t>
            </a:r>
            <a:r>
              <a:rPr lang="en-GB" sz="2000" i="1"/>
              <a:t> </a:t>
            </a:r>
            <a:r>
              <a:rPr lang="en-GB" sz="2000"/>
              <a:t>1</a:t>
            </a:r>
            <a:endParaRPr sz="20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i="1"/>
              <a:t> </a:t>
            </a:r>
            <a:r>
              <a:rPr lang="en-GB" sz="2000"/>
              <a:t>+ 2</a:t>
            </a:r>
            <a:r>
              <a:rPr lang="en-GB" sz="2000" i="1"/>
              <a:t> </a:t>
            </a:r>
            <a:r>
              <a:rPr lang="en-GB" sz="2000"/>
              <a:t>= (1) + 2 = 3</a:t>
            </a:r>
            <a:endParaRPr sz="2000"/>
          </a:p>
        </p:txBody>
      </p:sp>
      <p:graphicFrame>
        <p:nvGraphicFramePr>
          <p:cNvPr id="808" name="Google Shape;808;p70"/>
          <p:cNvGraphicFramePr>
            <a:graphicFrameLocks noGrp="1"/>
          </p:cNvGraphicFramePr>
          <p:nvPr/>
        </p:nvGraphicFramePr>
        <p:xfrm>
          <a:off x="3285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12" name="Shape 812"/>
        <p:cNvGrpSpPr/>
        <p:nvPr/>
      </p:nvGrpSpPr>
      <p:grpSpPr>
        <a:xfrm>
          <a:off x="0" y="0"/>
          <a:ext cx="0" cy="0"/>
        </a:xfrm>
      </p:grpSpPr>
      <p:sp>
        <p:nvSpPr>
          <p:cNvPr id="813" name="Google Shape;813;p71"/>
          <p:cNvSpPr txBox="1"/>
          <p:nvPr>
            <p:ph type="body" idx="1"/>
          </p:nvPr>
        </p:nvSpPr>
        <p:spPr>
          <a:xfrm>
            <a:off x="400250" y="4008275"/>
            <a:ext cx="79869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the first term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/>
              <a:t> </a:t>
            </a:r>
            <a:r>
              <a:rPr lang="en-GB" sz="2000"/>
              <a:t>is bigger. For the second term they are equal.</a:t>
            </a:r>
            <a:endParaRPr sz="2000" i="1"/>
          </a:p>
        </p:txBody>
      </p:sp>
      <p:sp>
        <p:nvSpPr>
          <p:cNvPr id="814" name="Google Shape;814;p71"/>
          <p:cNvSpPr txBox="1"/>
          <p:nvPr>
            <p:ph type="body" idx="1"/>
          </p:nvPr>
        </p:nvSpPr>
        <p:spPr>
          <a:xfrm>
            <a:off x="400250" y="4008275"/>
            <a:ext cx="79869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the first term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/>
              <a:t> </a:t>
            </a:r>
            <a:r>
              <a:rPr lang="en-GB" sz="2000"/>
              <a:t>is bigger.</a:t>
            </a:r>
            <a:endParaRPr sz="2000" i="1"/>
          </a:p>
        </p:txBody>
      </p:sp>
      <p:sp>
        <p:nvSpPr>
          <p:cNvPr id="815" name="Google Shape;815;p71"/>
          <p:cNvSpPr txBox="1"/>
          <p:nvPr>
            <p:ph type="body" idx="1"/>
          </p:nvPr>
        </p:nvSpPr>
        <p:spPr>
          <a:xfrm>
            <a:off x="324000" y="770825"/>
            <a:ext cx="84960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 the first five terms of the arithmetic sequences:</a:t>
            </a:r>
            <a:endParaRPr/>
          </a:p>
        </p:txBody>
      </p:sp>
      <p:sp>
        <p:nvSpPr>
          <p:cNvPr id="816" name="Google Shape;81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817" name="Google Shape;817;p71"/>
          <p:cNvSpPr txBox="1"/>
          <p:nvPr>
            <p:ph type="body" idx="1"/>
          </p:nvPr>
        </p:nvSpPr>
        <p:spPr>
          <a:xfrm>
            <a:off x="347065" y="1170352"/>
            <a:ext cx="8430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71"/>
          <p:cNvSpPr txBox="1"/>
          <p:nvPr>
            <p:ph type="body" idx="1"/>
          </p:nvPr>
        </p:nvSpPr>
        <p:spPr>
          <a:xfrm>
            <a:off x="4826798" y="1170350"/>
            <a:ext cx="12069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19" name="Google Shape;819;p71"/>
          <p:cNvGraphicFramePr>
            <a:graphicFrameLocks noGrp="1"/>
          </p:cNvGraphicFramePr>
          <p:nvPr/>
        </p:nvGraphicFramePr>
        <p:xfrm>
          <a:off x="48243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20" name="Google Shape;820;p71"/>
          <p:cNvGraphicFramePr>
            <a:graphicFrameLocks noGrp="1"/>
          </p:cNvGraphicFramePr>
          <p:nvPr/>
        </p:nvGraphicFramePr>
        <p:xfrm>
          <a:off x="328598" y="1776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21" name="Google Shape;821;p71"/>
          <p:cNvSpPr txBox="1"/>
          <p:nvPr>
            <p:ph type="body" idx="1"/>
          </p:nvPr>
        </p:nvSpPr>
        <p:spPr>
          <a:xfrm>
            <a:off x="3327718" y="2936952"/>
            <a:ext cx="29304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/>
              <a:t>:  2, 4, 6, 8, 10, …</a:t>
            </a:r>
            <a:endParaRPr sz="2400" i="1"/>
          </a:p>
        </p:txBody>
      </p:sp>
      <p:sp>
        <p:nvSpPr>
          <p:cNvPr id="822" name="Google Shape;822;p71"/>
          <p:cNvSpPr txBox="1"/>
          <p:nvPr>
            <p:ph type="body" idx="1"/>
          </p:nvPr>
        </p:nvSpPr>
        <p:spPr>
          <a:xfrm>
            <a:off x="2999862" y="3474880"/>
            <a:ext cx="30246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 sz="2400"/>
              <a:t> :  3, 4, 5, 6, 7, …</a:t>
            </a:r>
            <a:endParaRPr sz="2400" i="1"/>
          </a:p>
        </p:txBody>
      </p:sp>
      <p:sp>
        <p:nvSpPr>
          <p:cNvPr id="823" name="Google Shape;823;p71"/>
          <p:cNvSpPr/>
          <p:nvPr/>
        </p:nvSpPr>
        <p:spPr>
          <a:xfrm>
            <a:off x="3884250" y="2910797"/>
            <a:ext cx="392100" cy="981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/>
          <p:nvPr/>
        </p:nvSpPr>
        <p:spPr>
          <a:xfrm>
            <a:off x="4200583" y="2910797"/>
            <a:ext cx="392100" cy="981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/>
          <p:nvPr/>
        </p:nvSpPr>
        <p:spPr>
          <a:xfrm>
            <a:off x="4581583" y="2910797"/>
            <a:ext cx="392100" cy="981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1"/>
          <p:cNvSpPr txBox="1"/>
          <p:nvPr>
            <p:ph type="body" idx="1"/>
          </p:nvPr>
        </p:nvSpPr>
        <p:spPr>
          <a:xfrm>
            <a:off x="1273050" y="4366200"/>
            <a:ext cx="6725400" cy="39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the third term, and all terms beyond,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is bigger.</a:t>
            </a:r>
            <a:endParaRPr sz="2000" i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0" name="Shape 830"/>
        <p:cNvGrpSpPr/>
        <p:nvPr/>
      </p:nvGrpSpPr>
      <p:grpSpPr>
        <a:xfrm>
          <a:off x="0" y="0"/>
          <a:ext cx="0" cy="0"/>
        </a:xfrm>
      </p:grpSpPr>
      <p:sp>
        <p:nvSpPr>
          <p:cNvPr id="831" name="Google Shape;831;p72"/>
          <p:cNvSpPr txBox="1"/>
          <p:nvPr>
            <p:ph type="body" idx="1"/>
          </p:nvPr>
        </p:nvSpPr>
        <p:spPr>
          <a:xfrm>
            <a:off x="324000" y="770825"/>
            <a:ext cx="56814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If we plot these sequences graphically this relationship will be far easier to see.</a:t>
            </a:r>
            <a:endParaRPr sz="2000"/>
          </a:p>
        </p:txBody>
      </p:sp>
      <p:sp>
        <p:nvSpPr>
          <p:cNvPr id="832" name="Google Shape;83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833" name="Google Shape;833;p72"/>
          <p:cNvSpPr txBox="1"/>
          <p:nvPr>
            <p:ph type="body" idx="1"/>
          </p:nvPr>
        </p:nvSpPr>
        <p:spPr>
          <a:xfrm>
            <a:off x="347065" y="1627552"/>
            <a:ext cx="8430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34" name="Google Shape;834;p72"/>
          <p:cNvGraphicFramePr>
            <a:graphicFrameLocks noGrp="1"/>
          </p:cNvGraphicFramePr>
          <p:nvPr/>
        </p:nvGraphicFramePr>
        <p:xfrm>
          <a:off x="328598" y="2081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35" name="Google Shape;835;p72"/>
          <p:cNvSpPr txBox="1"/>
          <p:nvPr/>
        </p:nvSpPr>
        <p:spPr>
          <a:xfrm rot="-5400000">
            <a:off x="5047525" y="1713625"/>
            <a:ext cx="17535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6" name="Google Shape;836;p72" descr="&lt;math xmlns=&quot;http://www.w3.org/1998/Math/MathML&quot; data-is-equatio=&quot;1&quot; data-equatio-url=&quot;https://equatio-api.texthelp.com/desmos/get/07-11-2023/4d31a756-c163-4559-8d66-03ffe47a4733&quot; data-equatio-type=&quot;desmos&quot;&gt;&lt;mglyph src=&quot;https://equatio-api.texthelp.com/desmos/get/07-11-2023/4d31a756-c163-4559-8d66-03ffe47a473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8305" t="25876" r="51735" b="25022"/>
          <a:stretch>
            <a:fillRect/>
          </a:stretch>
        </p:blipFill>
        <p:spPr>
          <a:xfrm>
            <a:off x="6056100" y="797660"/>
            <a:ext cx="2170926" cy="3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2"/>
          <p:cNvSpPr txBox="1"/>
          <p:nvPr/>
        </p:nvSpPr>
        <p:spPr>
          <a:xfrm>
            <a:off x="6590936" y="35441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2"/>
          <p:cNvSpPr txBox="1"/>
          <p:nvPr/>
        </p:nvSpPr>
        <p:spPr>
          <a:xfrm>
            <a:off x="6950921" y="2858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2"/>
          <p:cNvSpPr txBox="1"/>
          <p:nvPr/>
        </p:nvSpPr>
        <p:spPr>
          <a:xfrm>
            <a:off x="7310906" y="21725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2"/>
          <p:cNvSpPr txBox="1"/>
          <p:nvPr/>
        </p:nvSpPr>
        <p:spPr>
          <a:xfrm>
            <a:off x="7680374" y="1482180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2"/>
          <p:cNvSpPr txBox="1"/>
          <p:nvPr/>
        </p:nvSpPr>
        <p:spPr>
          <a:xfrm>
            <a:off x="8031304" y="807912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2"/>
          <p:cNvSpPr/>
          <p:nvPr/>
        </p:nvSpPr>
        <p:spPr>
          <a:xfrm>
            <a:off x="2277045" y="2042527"/>
            <a:ext cx="392100" cy="981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2"/>
          <p:cNvSpPr/>
          <p:nvPr/>
        </p:nvSpPr>
        <p:spPr>
          <a:xfrm>
            <a:off x="2681110" y="2042527"/>
            <a:ext cx="392100" cy="981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2"/>
          <p:cNvSpPr/>
          <p:nvPr/>
        </p:nvSpPr>
        <p:spPr>
          <a:xfrm>
            <a:off x="3085175" y="2042527"/>
            <a:ext cx="392100" cy="981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2"/>
          <p:cNvSpPr/>
          <p:nvPr/>
        </p:nvSpPr>
        <p:spPr>
          <a:xfrm>
            <a:off x="3496245" y="2042527"/>
            <a:ext cx="392100" cy="981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/>
          <p:nvPr/>
        </p:nvSpPr>
        <p:spPr>
          <a:xfrm>
            <a:off x="3900310" y="2042527"/>
            <a:ext cx="392100" cy="9810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2"/>
          <p:cNvSpPr txBox="1"/>
          <p:nvPr>
            <p:ph type="body" idx="1"/>
          </p:nvPr>
        </p:nvSpPr>
        <p:spPr>
          <a:xfrm>
            <a:off x="324000" y="3336083"/>
            <a:ext cx="58482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Once plotted we can see why arithmetic sequences are also known as linear</a:t>
            </a:r>
            <a:r>
              <a:rPr lang="en-GB" sz="2000">
                <a:solidFill>
                  <a:schemeClr val="accent4"/>
                </a:solidFill>
              </a:rPr>
              <a:t> </a:t>
            </a:r>
            <a:r>
              <a:rPr lang="en-GB" sz="2000"/>
              <a:t>sequences. The coordinates are in a straight line.</a:t>
            </a:r>
            <a:endParaRPr sz="2000"/>
          </a:p>
        </p:txBody>
      </p:sp>
      <p:sp>
        <p:nvSpPr>
          <p:cNvPr id="848" name="Google Shape;848;p72"/>
          <p:cNvSpPr txBox="1"/>
          <p:nvPr/>
        </p:nvSpPr>
        <p:spPr>
          <a:xfrm>
            <a:off x="6438537" y="4523172"/>
            <a:ext cx="1878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2" name="Shape 852"/>
        <p:cNvGrpSpPr/>
        <p:nvPr/>
      </p:nvGrpSpPr>
      <p:grpSpPr>
        <a:xfrm>
          <a:off x="0" y="0"/>
          <a:ext cx="0" cy="0"/>
        </a:xfrm>
      </p:grpSpPr>
      <p:sp>
        <p:nvSpPr>
          <p:cNvPr id="853" name="Google Shape;853;p73"/>
          <p:cNvSpPr txBox="1"/>
          <p:nvPr>
            <p:ph type="body" idx="1"/>
          </p:nvPr>
        </p:nvSpPr>
        <p:spPr>
          <a:xfrm>
            <a:off x="324000" y="770825"/>
            <a:ext cx="56814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If we plot these sequences graphically this relationship will be far easier to see.</a:t>
            </a:r>
            <a:endParaRPr sz="2000"/>
          </a:p>
        </p:txBody>
      </p:sp>
      <p:sp>
        <p:nvSpPr>
          <p:cNvPr id="854" name="Google Shape;85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855" name="Google Shape;855;p73"/>
          <p:cNvSpPr txBox="1"/>
          <p:nvPr>
            <p:ph type="body" idx="1"/>
          </p:nvPr>
        </p:nvSpPr>
        <p:spPr>
          <a:xfrm>
            <a:off x="347065" y="1627552"/>
            <a:ext cx="8430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73"/>
          <p:cNvSpPr txBox="1"/>
          <p:nvPr>
            <p:ph type="body" idx="1"/>
          </p:nvPr>
        </p:nvSpPr>
        <p:spPr>
          <a:xfrm>
            <a:off x="333473" y="3303950"/>
            <a:ext cx="10770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57" name="Google Shape;857;p73"/>
          <p:cNvGraphicFramePr>
            <a:graphicFrameLocks noGrp="1"/>
          </p:cNvGraphicFramePr>
          <p:nvPr/>
        </p:nvGraphicFramePr>
        <p:xfrm>
          <a:off x="331075" y="3787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858" name="Google Shape;858;p73"/>
          <p:cNvGraphicFramePr>
            <a:graphicFrameLocks noGrp="1"/>
          </p:cNvGraphicFramePr>
          <p:nvPr/>
        </p:nvGraphicFramePr>
        <p:xfrm>
          <a:off x="328598" y="2081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59" name="Google Shape;859;p73"/>
          <p:cNvSpPr txBox="1"/>
          <p:nvPr/>
        </p:nvSpPr>
        <p:spPr>
          <a:xfrm rot="-5400000">
            <a:off x="5047525" y="1713625"/>
            <a:ext cx="17535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0" name="Google Shape;860;p73" descr="&lt;math xmlns=&quot;http://www.w3.org/1998/Math/MathML&quot; data-is-equatio=&quot;1&quot; data-equatio-url=&quot;https://equatio-api.texthelp.com/desmos/get/07-11-2023/4d31a756-c163-4559-8d66-03ffe47a4733&quot; data-equatio-type=&quot;desmos&quot;&gt;&lt;mglyph src=&quot;https://equatio-api.texthelp.com/desmos/get/07-11-2023/4d31a756-c163-4559-8d66-03ffe47a4733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8305" t="25876" r="51735" b="25022"/>
          <a:stretch>
            <a:fillRect/>
          </a:stretch>
        </p:blipFill>
        <p:spPr>
          <a:xfrm>
            <a:off x="6056100" y="797660"/>
            <a:ext cx="2170926" cy="3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3"/>
          <p:cNvSpPr txBox="1"/>
          <p:nvPr/>
        </p:nvSpPr>
        <p:spPr>
          <a:xfrm>
            <a:off x="6590936" y="35441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3"/>
          <p:cNvSpPr txBox="1"/>
          <p:nvPr/>
        </p:nvSpPr>
        <p:spPr>
          <a:xfrm>
            <a:off x="6950921" y="2858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3"/>
          <p:cNvSpPr txBox="1"/>
          <p:nvPr/>
        </p:nvSpPr>
        <p:spPr>
          <a:xfrm>
            <a:off x="7310906" y="21725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3"/>
          <p:cNvSpPr txBox="1"/>
          <p:nvPr/>
        </p:nvSpPr>
        <p:spPr>
          <a:xfrm>
            <a:off x="7680374" y="1482180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3"/>
          <p:cNvSpPr txBox="1"/>
          <p:nvPr/>
        </p:nvSpPr>
        <p:spPr>
          <a:xfrm>
            <a:off x="8031304" y="807912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3"/>
          <p:cNvSpPr txBox="1"/>
          <p:nvPr/>
        </p:nvSpPr>
        <p:spPr>
          <a:xfrm>
            <a:off x="6590936" y="3239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3"/>
          <p:cNvSpPr txBox="1"/>
          <p:nvPr/>
        </p:nvSpPr>
        <p:spPr>
          <a:xfrm>
            <a:off x="6960403" y="2858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3"/>
          <p:cNvSpPr txBox="1"/>
          <p:nvPr/>
        </p:nvSpPr>
        <p:spPr>
          <a:xfrm>
            <a:off x="7306806" y="2511905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3"/>
          <p:cNvSpPr txBox="1"/>
          <p:nvPr/>
        </p:nvSpPr>
        <p:spPr>
          <a:xfrm>
            <a:off x="7676273" y="21725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3"/>
          <p:cNvSpPr txBox="1"/>
          <p:nvPr/>
        </p:nvSpPr>
        <p:spPr>
          <a:xfrm>
            <a:off x="8031731" y="183763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3"/>
          <p:cNvSpPr txBox="1"/>
          <p:nvPr/>
        </p:nvSpPr>
        <p:spPr>
          <a:xfrm>
            <a:off x="6438537" y="4523172"/>
            <a:ext cx="1878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pic>
        <p:nvPicPr>
          <p:cNvPr id="876" name="Google Shape;876;p74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840703" y="1950247"/>
            <a:ext cx="4807997" cy="1368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878" name="Google Shape;878;p74"/>
          <p:cNvSpPr txBox="1"/>
          <p:nvPr/>
        </p:nvSpPr>
        <p:spPr>
          <a:xfrm rot="-5400000">
            <a:off x="5047525" y="1713625"/>
            <a:ext cx="17535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9" name="Google Shape;879;p74" descr="&lt;math xmlns=&quot;http://www.w3.org/1998/Math/MathML&quot; data-is-equatio=&quot;1&quot; data-equatio-url=&quot;https://equatio-api.texthelp.com/desmos/get/07-11-2023/4d31a756-c163-4559-8d66-03ffe47a4733&quot; data-equatio-type=&quot;desmos&quot;&gt;&lt;mglyph src=&quot;https://equatio-api.texthelp.com/desmos/get/07-11-2023/4d31a756-c163-4559-8d66-03ffe47a4733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8305" t="25876" r="51735" b="25022"/>
          <a:stretch>
            <a:fillRect/>
          </a:stretch>
        </p:blipFill>
        <p:spPr>
          <a:xfrm>
            <a:off x="6056100" y="797660"/>
            <a:ext cx="2170926" cy="3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4"/>
          <p:cNvSpPr txBox="1"/>
          <p:nvPr/>
        </p:nvSpPr>
        <p:spPr>
          <a:xfrm>
            <a:off x="6590936" y="35441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6950921" y="2858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7310906" y="21725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4"/>
          <p:cNvSpPr txBox="1"/>
          <p:nvPr/>
        </p:nvSpPr>
        <p:spPr>
          <a:xfrm>
            <a:off x="7680374" y="1482180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4"/>
          <p:cNvSpPr txBox="1"/>
          <p:nvPr/>
        </p:nvSpPr>
        <p:spPr>
          <a:xfrm>
            <a:off x="8031304" y="807912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4"/>
          <p:cNvSpPr txBox="1"/>
          <p:nvPr/>
        </p:nvSpPr>
        <p:spPr>
          <a:xfrm>
            <a:off x="6590936" y="3239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4"/>
          <p:cNvSpPr txBox="1"/>
          <p:nvPr/>
        </p:nvSpPr>
        <p:spPr>
          <a:xfrm>
            <a:off x="6960403" y="2858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7306806" y="2511905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7676273" y="21725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4"/>
          <p:cNvSpPr txBox="1"/>
          <p:nvPr/>
        </p:nvSpPr>
        <p:spPr>
          <a:xfrm>
            <a:off x="8031731" y="183763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4"/>
          <p:cNvSpPr txBox="1"/>
          <p:nvPr>
            <p:ph type="body" idx="1"/>
          </p:nvPr>
        </p:nvSpPr>
        <p:spPr>
          <a:xfrm>
            <a:off x="324000" y="800890"/>
            <a:ext cx="53211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By representing these sequences graphically we can more clearly see that…</a:t>
            </a:r>
            <a:endParaRPr sz="2000"/>
          </a:p>
        </p:txBody>
      </p:sp>
      <p:sp>
        <p:nvSpPr>
          <p:cNvPr id="891" name="Google Shape;891;p74"/>
          <p:cNvSpPr txBox="1"/>
          <p:nvPr>
            <p:ph type="body" idx="1"/>
          </p:nvPr>
        </p:nvSpPr>
        <p:spPr>
          <a:xfrm>
            <a:off x="1226867" y="1997030"/>
            <a:ext cx="4418100" cy="10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Initially the sequence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 sz="1800"/>
              <a:t> is greater. At the 2</a:t>
            </a:r>
            <a:r>
              <a:rPr lang="en-GB" sz="1800" baseline="30000"/>
              <a:t>nd</a:t>
            </a:r>
            <a:r>
              <a:rPr lang="en-GB" sz="1800"/>
              <a:t> term they are equal, then for all terms beyond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is greater.</a:t>
            </a:r>
            <a:endParaRPr sz="1800"/>
          </a:p>
        </p:txBody>
      </p:sp>
      <p:pic>
        <p:nvPicPr>
          <p:cNvPr id="892" name="Google Shape;892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526" y="2980951"/>
            <a:ext cx="763675" cy="1441989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74"/>
          <p:cNvSpPr txBox="1"/>
          <p:nvPr/>
        </p:nvSpPr>
        <p:spPr>
          <a:xfrm>
            <a:off x="753040" y="397494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4"/>
          <p:cNvSpPr txBox="1"/>
          <p:nvPr>
            <p:ph type="body" idx="1"/>
          </p:nvPr>
        </p:nvSpPr>
        <p:spPr>
          <a:xfrm>
            <a:off x="8313475" y="701625"/>
            <a:ext cx="389100" cy="37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74"/>
          <p:cNvSpPr txBox="1"/>
          <p:nvPr>
            <p:ph type="body" idx="1"/>
          </p:nvPr>
        </p:nvSpPr>
        <p:spPr>
          <a:xfrm>
            <a:off x="8237275" y="1616025"/>
            <a:ext cx="579300" cy="37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74"/>
          <p:cNvSpPr txBox="1"/>
          <p:nvPr/>
        </p:nvSpPr>
        <p:spPr>
          <a:xfrm>
            <a:off x="6438537" y="4523172"/>
            <a:ext cx="1878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0" name="Shape 900"/>
        <p:cNvGrpSpPr/>
        <p:nvPr/>
      </p:nvGrpSpPr>
      <p:grpSpPr>
        <a:xfrm>
          <a:off x="0" y="0"/>
          <a:ext cx="0" cy="0"/>
        </a:xfrm>
      </p:grpSpPr>
      <p:pic>
        <p:nvPicPr>
          <p:cNvPr id="901" name="Google Shape;901;p75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2335918" y="2419534"/>
            <a:ext cx="2661576" cy="524801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03" name="Google Shape;903;p75"/>
          <p:cNvSpPr txBox="1"/>
          <p:nvPr/>
        </p:nvSpPr>
        <p:spPr>
          <a:xfrm rot="-5400000">
            <a:off x="5047525" y="1713625"/>
            <a:ext cx="17535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4" name="Google Shape;904;p75" descr="&lt;math xmlns=&quot;http://www.w3.org/1998/Math/MathML&quot; data-is-equatio=&quot;1&quot; data-equatio-url=&quot;https://equatio-api.texthelp.com/desmos/get/07-11-2023/4d31a756-c163-4559-8d66-03ffe47a4733&quot; data-equatio-type=&quot;desmos&quot;&gt;&lt;mglyph src=&quot;https://equatio-api.texthelp.com/desmos/get/07-11-2023/4d31a756-c163-4559-8d66-03ffe47a4733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8305" t="25876" r="51735" b="25022"/>
          <a:stretch>
            <a:fillRect/>
          </a:stretch>
        </p:blipFill>
        <p:spPr>
          <a:xfrm>
            <a:off x="6056100" y="797660"/>
            <a:ext cx="2170926" cy="3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5"/>
          <p:cNvSpPr txBox="1"/>
          <p:nvPr/>
        </p:nvSpPr>
        <p:spPr>
          <a:xfrm>
            <a:off x="6590936" y="35441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5"/>
          <p:cNvSpPr txBox="1"/>
          <p:nvPr/>
        </p:nvSpPr>
        <p:spPr>
          <a:xfrm>
            <a:off x="6950921" y="2858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5"/>
          <p:cNvSpPr txBox="1"/>
          <p:nvPr/>
        </p:nvSpPr>
        <p:spPr>
          <a:xfrm>
            <a:off x="7310906" y="21725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5"/>
          <p:cNvSpPr txBox="1"/>
          <p:nvPr/>
        </p:nvSpPr>
        <p:spPr>
          <a:xfrm>
            <a:off x="7680374" y="1482180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5"/>
          <p:cNvSpPr txBox="1"/>
          <p:nvPr/>
        </p:nvSpPr>
        <p:spPr>
          <a:xfrm>
            <a:off x="8031304" y="807912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5"/>
          <p:cNvSpPr txBox="1"/>
          <p:nvPr/>
        </p:nvSpPr>
        <p:spPr>
          <a:xfrm>
            <a:off x="324000" y="2043150"/>
            <a:ext cx="4948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spots 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linear pattern, draws a line, and says: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5"/>
          <p:cNvSpPr txBox="1"/>
          <p:nvPr/>
        </p:nvSpPr>
        <p:spPr>
          <a:xfrm>
            <a:off x="2662060" y="2521174"/>
            <a:ext cx="20904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.5</a:t>
            </a:r>
            <a:r>
              <a:rPr lang="en-GB" sz="18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5"/>
          <p:cNvSpPr txBox="1"/>
          <p:nvPr/>
        </p:nvSpPr>
        <p:spPr>
          <a:xfrm>
            <a:off x="340060" y="3675897"/>
            <a:ext cx="39663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wrong with his statement?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3" name="Google Shape;913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8000" y="2433025"/>
            <a:ext cx="804947" cy="100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4" name="Google Shape;914;p75"/>
          <p:cNvCxnSpPr/>
          <p:nvPr/>
        </p:nvCxnSpPr>
        <p:spPr>
          <a:xfrm rot="10800000" flipH="1">
            <a:off x="6322504" y="930462"/>
            <a:ext cx="1802400" cy="34449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5" name="Google Shape;915;p75"/>
          <p:cNvCxnSpPr/>
          <p:nvPr/>
        </p:nvCxnSpPr>
        <p:spPr>
          <a:xfrm flipH="1">
            <a:off x="7231400" y="2668625"/>
            <a:ext cx="1800" cy="17181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75"/>
          <p:cNvCxnSpPr/>
          <p:nvPr/>
        </p:nvCxnSpPr>
        <p:spPr>
          <a:xfrm rot="10800000">
            <a:off x="6333825" y="2676850"/>
            <a:ext cx="876300" cy="33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917" name="Google Shape;917;p75"/>
          <p:cNvGraphicFramePr>
            <a:graphicFrameLocks noGrp="1"/>
          </p:cNvGraphicFramePr>
          <p:nvPr/>
        </p:nvGraphicFramePr>
        <p:xfrm>
          <a:off x="852515" y="1120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8" name="Google Shape;918;p75"/>
          <p:cNvSpPr txBox="1"/>
          <p:nvPr>
            <p:ph type="body" idx="1"/>
          </p:nvPr>
        </p:nvSpPr>
        <p:spPr>
          <a:xfrm>
            <a:off x="324000" y="770825"/>
            <a:ext cx="5681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graph of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.</a:t>
            </a:r>
            <a:endParaRPr sz="1800" i="1"/>
          </a:p>
        </p:txBody>
      </p:sp>
      <p:sp>
        <p:nvSpPr>
          <p:cNvPr id="919" name="Google Shape;919;p75"/>
          <p:cNvSpPr txBox="1"/>
          <p:nvPr/>
        </p:nvSpPr>
        <p:spPr>
          <a:xfrm>
            <a:off x="6438537" y="4523172"/>
            <a:ext cx="1878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3" name="Shape 923"/>
        <p:cNvGrpSpPr/>
        <p:nvPr/>
      </p:nvGrpSpPr>
      <p:grpSpPr>
        <a:xfrm>
          <a:off x="0" y="0"/>
          <a:ext cx="0" cy="0"/>
        </a:xfrm>
      </p:grpSpPr>
      <p:pic>
        <p:nvPicPr>
          <p:cNvPr id="924" name="Google Shape;924;p76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2335918" y="2419534"/>
            <a:ext cx="2661576" cy="524801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graphicFrame>
        <p:nvGraphicFramePr>
          <p:cNvPr id="926" name="Google Shape;926;p76"/>
          <p:cNvGraphicFramePr>
            <a:graphicFrameLocks noGrp="1"/>
          </p:cNvGraphicFramePr>
          <p:nvPr/>
        </p:nvGraphicFramePr>
        <p:xfrm>
          <a:off x="852515" y="1120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27" name="Google Shape;927;p76"/>
          <p:cNvSpPr txBox="1"/>
          <p:nvPr/>
        </p:nvSpPr>
        <p:spPr>
          <a:xfrm rot="-5400000">
            <a:off x="5047525" y="1713625"/>
            <a:ext cx="17535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8" name="Google Shape;928;p76" descr="&lt;math xmlns=&quot;http://www.w3.org/1998/Math/MathML&quot; data-is-equatio=&quot;1&quot; data-equatio-url=&quot;https://equatio-api.texthelp.com/desmos/get/07-11-2023/4d31a756-c163-4559-8d66-03ffe47a4733&quot; data-equatio-type=&quot;desmos&quot;&gt;&lt;mglyph src=&quot;https://equatio-api.texthelp.com/desmos/get/07-11-2023/4d31a756-c163-4559-8d66-03ffe47a4733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8305" t="25876" r="51735" b="25022"/>
          <a:stretch>
            <a:fillRect/>
          </a:stretch>
        </p:blipFill>
        <p:spPr>
          <a:xfrm>
            <a:off x="6056100" y="797660"/>
            <a:ext cx="2170926" cy="3812449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6"/>
          <p:cNvSpPr txBox="1"/>
          <p:nvPr/>
        </p:nvSpPr>
        <p:spPr>
          <a:xfrm>
            <a:off x="6590936" y="35441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6"/>
          <p:cNvSpPr txBox="1"/>
          <p:nvPr/>
        </p:nvSpPr>
        <p:spPr>
          <a:xfrm>
            <a:off x="6950921" y="28583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6"/>
          <p:cNvSpPr txBox="1"/>
          <p:nvPr/>
        </p:nvSpPr>
        <p:spPr>
          <a:xfrm>
            <a:off x="7310906" y="2172508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6"/>
          <p:cNvSpPr txBox="1"/>
          <p:nvPr/>
        </p:nvSpPr>
        <p:spPr>
          <a:xfrm>
            <a:off x="7680374" y="1482180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6"/>
          <p:cNvSpPr txBox="1"/>
          <p:nvPr/>
        </p:nvSpPr>
        <p:spPr>
          <a:xfrm>
            <a:off x="8031304" y="807912"/>
            <a:ext cx="242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6"/>
          <p:cNvSpPr txBox="1"/>
          <p:nvPr/>
        </p:nvSpPr>
        <p:spPr>
          <a:xfrm>
            <a:off x="324000" y="2043150"/>
            <a:ext cx="4948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spots 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linear pattern, draws a line, and says: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6"/>
          <p:cNvSpPr txBox="1"/>
          <p:nvPr/>
        </p:nvSpPr>
        <p:spPr>
          <a:xfrm>
            <a:off x="2662060" y="2521174"/>
            <a:ext cx="20904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.5</a:t>
            </a:r>
            <a:r>
              <a:rPr lang="en-GB" sz="18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6"/>
          <p:cNvSpPr txBox="1"/>
          <p:nvPr>
            <p:ph type="body" idx="1"/>
          </p:nvPr>
        </p:nvSpPr>
        <p:spPr>
          <a:xfrm>
            <a:off x="324000" y="770825"/>
            <a:ext cx="5681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graph of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.</a:t>
            </a:r>
            <a:endParaRPr sz="1800" i="1"/>
          </a:p>
        </p:txBody>
      </p:sp>
      <p:pic>
        <p:nvPicPr>
          <p:cNvPr id="937" name="Google Shape;93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8000" y="2433025"/>
            <a:ext cx="804947" cy="100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8" name="Google Shape;938;p76"/>
          <p:cNvCxnSpPr/>
          <p:nvPr/>
        </p:nvCxnSpPr>
        <p:spPr>
          <a:xfrm rot="10800000" flipH="1">
            <a:off x="6322504" y="930462"/>
            <a:ext cx="1802400" cy="34449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9" name="Google Shape;939;p76"/>
          <p:cNvCxnSpPr/>
          <p:nvPr/>
        </p:nvCxnSpPr>
        <p:spPr>
          <a:xfrm flipH="1">
            <a:off x="7231400" y="2668625"/>
            <a:ext cx="1800" cy="17181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40" name="Google Shape;940;p76"/>
          <p:cNvCxnSpPr/>
          <p:nvPr/>
        </p:nvCxnSpPr>
        <p:spPr>
          <a:xfrm rot="10800000">
            <a:off x="6333825" y="2676850"/>
            <a:ext cx="876300" cy="33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41" name="Google Shape;941;p76"/>
          <p:cNvSpPr txBox="1"/>
          <p:nvPr/>
        </p:nvSpPr>
        <p:spPr>
          <a:xfrm>
            <a:off x="340050" y="3401194"/>
            <a:ext cx="54345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 is not in the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no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2.5</a:t>
            </a:r>
            <a:r>
              <a:rPr lang="en-GB" sz="2000" baseline="30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term in this sequence, so we don’t draw a line when plotting them.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the term number, has to be a positive integer.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2" name="Google Shape;942;p76"/>
          <p:cNvSpPr txBox="1"/>
          <p:nvPr/>
        </p:nvSpPr>
        <p:spPr>
          <a:xfrm>
            <a:off x="6438537" y="4523172"/>
            <a:ext cx="1878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6" name="Shape 946"/>
        <p:cNvGrpSpPr/>
        <p:nvPr/>
      </p:nvGrpSpPr>
      <p:grpSpPr>
        <a:xfrm>
          <a:off x="0" y="0"/>
          <a:ext cx="0" cy="0"/>
        </a:xfrm>
      </p:grpSpPr>
      <p:graphicFrame>
        <p:nvGraphicFramePr>
          <p:cNvPr id="947" name="Google Shape;947;p77"/>
          <p:cNvGraphicFramePr>
            <a:graphicFrameLocks noGrp="1"/>
          </p:cNvGraphicFramePr>
          <p:nvPr/>
        </p:nvGraphicFramePr>
        <p:xfrm>
          <a:off x="4662515" y="1349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48" name="Google Shape;948;p77"/>
          <p:cNvGraphicFramePr>
            <a:graphicFrameLocks noGrp="1"/>
          </p:cNvGraphicFramePr>
          <p:nvPr/>
        </p:nvGraphicFramePr>
        <p:xfrm>
          <a:off x="4662515" y="2492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49" name="Google Shape;949;p77"/>
          <p:cNvSpPr txBox="1"/>
          <p:nvPr>
            <p:ph type="title"/>
          </p:nvPr>
        </p:nvSpPr>
        <p:spPr>
          <a:xfrm>
            <a:off x="324000" y="813425"/>
            <a:ext cx="84960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are the missing term values for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r>
              <a:rPr lang="en-GB"/>
              <a:t>?</a:t>
            </a:r>
            <a:endParaRPr/>
          </a:p>
        </p:txBody>
      </p:sp>
      <p:sp>
        <p:nvSpPr>
          <p:cNvPr id="950" name="Google Shape;950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51" name="Google Shape;951;p77"/>
          <p:cNvSpPr txBox="1"/>
          <p:nvPr>
            <p:ph type="subTitle" idx="1"/>
          </p:nvPr>
        </p:nvSpPr>
        <p:spPr>
          <a:xfrm>
            <a:off x="1034425" y="1837775"/>
            <a:ext cx="2070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5, 6, 7, 8, …</a:t>
            </a:r>
            <a:endParaRPr/>
          </a:p>
        </p:txBody>
      </p:sp>
      <p:sp>
        <p:nvSpPr>
          <p:cNvPr id="952" name="Google Shape;952;p77"/>
          <p:cNvSpPr txBox="1"/>
          <p:nvPr>
            <p:ph type="subTitle" idx="3"/>
          </p:nvPr>
        </p:nvSpPr>
        <p:spPr>
          <a:xfrm>
            <a:off x="1034425" y="2794250"/>
            <a:ext cx="2335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6, 9, 12, 15, …</a:t>
            </a:r>
            <a:endParaRPr/>
          </a:p>
        </p:txBody>
      </p:sp>
      <p:sp>
        <p:nvSpPr>
          <p:cNvPr id="953" name="Google Shape;953;p77"/>
          <p:cNvSpPr txBox="1"/>
          <p:nvPr>
            <p:ph type="subTitle" idx="3"/>
          </p:nvPr>
        </p:nvSpPr>
        <p:spPr>
          <a:xfrm>
            <a:off x="1034425" y="3784850"/>
            <a:ext cx="23352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7, 10, 13, 16, …</a:t>
            </a:r>
            <a:endParaRPr/>
          </a:p>
        </p:txBody>
      </p:sp>
      <p:pic>
        <p:nvPicPr>
          <p:cNvPr id="954" name="Google Shape;95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4983" y="376968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7"/>
          <p:cNvSpPr txBox="1"/>
          <p:nvPr>
            <p:ph type="body" idx="4294967295"/>
          </p:nvPr>
        </p:nvSpPr>
        <p:spPr>
          <a:xfrm>
            <a:off x="3633175" y="3613275"/>
            <a:ext cx="2977800" cy="96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i="1">
                <a:latin typeface="Kalam"/>
                <a:ea typeface="Kalam"/>
                <a:cs typeface="Kalam"/>
                <a:sym typeface="Kalam"/>
              </a:rPr>
              <a:t>n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+ 1</a:t>
            </a:r>
            <a:r>
              <a:rPr lang="en-GB" i="1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3(5) + 1 = 16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6" name="Google Shape;956;p77"/>
          <p:cNvSpPr txBox="1"/>
          <p:nvPr>
            <p:ph type="body" idx="4294967295"/>
          </p:nvPr>
        </p:nvSpPr>
        <p:spPr>
          <a:xfrm>
            <a:off x="2558425" y="1578950"/>
            <a:ext cx="19998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3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sequence has a constant difference of +3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0" name="Shape 960"/>
        <p:cNvGrpSpPr/>
        <p:nvPr/>
      </p:nvGrpSpPr>
      <p:grpSpPr>
        <a:xfrm>
          <a:off x="0" y="0"/>
          <a:ext cx="0" cy="0"/>
        </a:xfrm>
      </p:grpSpPr>
      <p:pic>
        <p:nvPicPr>
          <p:cNvPr id="961" name="Google Shape;961;p78" descr="&lt;math xmlns=&quot;http://www.w3.org/1998/Math/MathML&quot; data-is-equatio=&quot;1&quot; data-equatio-url=&quot;https://equatio-api.texthelp.com/desmos/get/07-11-2023/6cd721c9-bbcd-47b7-91ea-66fa50d929f9&quot; data-equatio-type=&quot;desmos&quot;&gt;&lt;mglyph src=&quot;https://equatio-api.texthelp.com/desmos/get/07-11-2023/6cd721c9-bbcd-47b7-91ea-66fa50d929f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5433" t="22287" r="47174" b="17395"/>
          <a:stretch>
            <a:fillRect/>
          </a:stretch>
        </p:blipFill>
        <p:spPr>
          <a:xfrm>
            <a:off x="6193870" y="1298725"/>
            <a:ext cx="2045400" cy="3377697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78"/>
          <p:cNvSpPr txBox="1"/>
          <p:nvPr>
            <p:ph type="title"/>
          </p:nvPr>
        </p:nvSpPr>
        <p:spPr>
          <a:xfrm>
            <a:off x="324000" y="813425"/>
            <a:ext cx="84960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term is plotted incorrectly for the sequence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r>
              <a:rPr lang="en-GB"/>
              <a:t>?</a:t>
            </a:r>
            <a:endParaRPr/>
          </a:p>
        </p:txBody>
      </p:sp>
      <p:sp>
        <p:nvSpPr>
          <p:cNvPr id="963" name="Google Shape;963;p7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64" name="Google Shape;964;p78"/>
          <p:cNvSpPr txBox="1"/>
          <p:nvPr>
            <p:ph type="subTitle" idx="1"/>
          </p:nvPr>
        </p:nvSpPr>
        <p:spPr>
          <a:xfrm>
            <a:off x="1034425" y="1837775"/>
            <a:ext cx="2070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5</a:t>
            </a:r>
            <a:r>
              <a:rPr lang="en-GB" baseline="30000"/>
              <a:t>th</a:t>
            </a:r>
            <a:endParaRPr baseline="30000"/>
          </a:p>
        </p:txBody>
      </p:sp>
      <p:pic>
        <p:nvPicPr>
          <p:cNvPr id="965" name="Google Shape;96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9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78"/>
          <p:cNvSpPr txBox="1"/>
          <p:nvPr>
            <p:ph type="body" idx="4294967295"/>
          </p:nvPr>
        </p:nvSpPr>
        <p:spPr>
          <a:xfrm>
            <a:off x="2440619" y="1678205"/>
            <a:ext cx="36282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It’s not in line. In an arithmetic (linear) sequence, the points should be in a straight line.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7" name="Google Shape;967;p78"/>
          <p:cNvSpPr txBox="1"/>
          <p:nvPr/>
        </p:nvSpPr>
        <p:spPr>
          <a:xfrm>
            <a:off x="6590937" y="4446972"/>
            <a:ext cx="1878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8"/>
          <p:cNvSpPr txBox="1"/>
          <p:nvPr/>
        </p:nvSpPr>
        <p:spPr>
          <a:xfrm rot="-5400000">
            <a:off x="5276125" y="2094625"/>
            <a:ext cx="17535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 (</a:t>
            </a: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8"/>
          <p:cNvSpPr txBox="1"/>
          <p:nvPr>
            <p:ph type="subTitle" idx="1"/>
          </p:nvPr>
        </p:nvSpPr>
        <p:spPr>
          <a:xfrm>
            <a:off x="1034425" y="2828375"/>
            <a:ext cx="2070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3</a:t>
            </a:r>
            <a:r>
              <a:rPr lang="en-GB" baseline="30000"/>
              <a:t>rd</a:t>
            </a:r>
            <a:endParaRPr baseline="30000"/>
          </a:p>
        </p:txBody>
      </p:sp>
      <p:sp>
        <p:nvSpPr>
          <p:cNvPr id="970" name="Google Shape;970;p78"/>
          <p:cNvSpPr txBox="1"/>
          <p:nvPr>
            <p:ph type="subTitle" idx="1"/>
          </p:nvPr>
        </p:nvSpPr>
        <p:spPr>
          <a:xfrm>
            <a:off x="1034425" y="3818975"/>
            <a:ext cx="2070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1</a:t>
            </a:r>
            <a:r>
              <a:rPr lang="en-GB" baseline="30000"/>
              <a:t>st</a:t>
            </a:r>
            <a:endParaRPr baseline="30000"/>
          </a:p>
        </p:txBody>
      </p:sp>
      <p:sp>
        <p:nvSpPr>
          <p:cNvPr id="971" name="Google Shape;971;p78"/>
          <p:cNvSpPr/>
          <p:nvPr/>
        </p:nvSpPr>
        <p:spPr>
          <a:xfrm>
            <a:off x="7763450" y="1455991"/>
            <a:ext cx="392100" cy="4191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5" name="Shape 975"/>
        <p:cNvGrpSpPr/>
        <p:nvPr/>
      </p:nvGrpSpPr>
      <p:grpSpPr>
        <a:xfrm>
          <a:off x="0" y="0"/>
          <a:ext cx="0" cy="0"/>
        </a:xfrm>
      </p:grpSpPr>
      <p:pic>
        <p:nvPicPr>
          <p:cNvPr id="976" name="Google Shape;976;p79" descr="&lt;math xmlns=&quot;http://www.w3.org/1998/Math/MathML&quot; data-is-equatio=&quot;1&quot; data-equatio-url=&quot;https://equatio-api.texthelp.com/desmos/get/07-11-2023/87ba1b37-a096-4f1a-b84a-9fce0494c640&quot; data-equatio-type=&quot;desmos&quot;&gt;&lt;mglyph src=&quot;https://equatio-api.texthelp.com/desmos/get/07-11-2023/87ba1b37-a096-4f1a-b84a-9fce0494c640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6415" t="20996" r="48931" b="19642"/>
          <a:stretch>
            <a:fillRect/>
          </a:stretch>
        </p:blipFill>
        <p:spPr>
          <a:xfrm>
            <a:off x="7176825" y="1487775"/>
            <a:ext cx="1507126" cy="2721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79"/>
          <p:cNvSpPr txBox="1"/>
          <p:nvPr>
            <p:ph type="subTitle" idx="1"/>
          </p:nvPr>
        </p:nvSpPr>
        <p:spPr>
          <a:xfrm>
            <a:off x="980575" y="3196125"/>
            <a:ext cx="4384500" cy="39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Because they form a straight line.</a:t>
            </a:r>
            <a:endParaRPr sz="2000"/>
          </a:p>
        </p:txBody>
      </p:sp>
      <p:sp>
        <p:nvSpPr>
          <p:cNvPr id="978" name="Google Shape;978;p79"/>
          <p:cNvSpPr txBox="1"/>
          <p:nvPr>
            <p:ph type="subTitle" idx="2"/>
          </p:nvPr>
        </p:nvSpPr>
        <p:spPr>
          <a:xfrm>
            <a:off x="324000" y="1080000"/>
            <a:ext cx="78852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Once plotted, we draw a line through the coordinates.</a:t>
            </a:r>
            <a:endParaRPr/>
          </a:p>
        </p:txBody>
      </p:sp>
      <p:sp>
        <p:nvSpPr>
          <p:cNvPr id="979" name="Google Shape;979;p79"/>
          <p:cNvSpPr txBox="1"/>
          <p:nvPr>
            <p:ph type="subTitle" idx="3"/>
          </p:nvPr>
        </p:nvSpPr>
        <p:spPr>
          <a:xfrm>
            <a:off x="980575" y="3894955"/>
            <a:ext cx="49842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We only know specific terms of a sequence.</a:t>
            </a:r>
            <a:endParaRPr sz="2000"/>
          </a:p>
        </p:txBody>
      </p:sp>
      <p:sp>
        <p:nvSpPr>
          <p:cNvPr id="980" name="Google Shape;98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81" name="Google Shape;981;p79"/>
          <p:cNvSpPr txBox="1"/>
          <p:nvPr/>
        </p:nvSpPr>
        <p:spPr>
          <a:xfrm>
            <a:off x="8572136" y="4065975"/>
            <a:ext cx="2733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2" name="Google Shape;982;p79"/>
          <p:cNvSpPr txBox="1"/>
          <p:nvPr/>
        </p:nvSpPr>
        <p:spPr>
          <a:xfrm>
            <a:off x="7056740" y="1554643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3" name="Google Shape;98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3116" y="1818553"/>
            <a:ext cx="396000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4" name="Google Shape;984;p79"/>
          <p:cNvCxnSpPr/>
          <p:nvPr/>
        </p:nvCxnSpPr>
        <p:spPr>
          <a:xfrm rot="10800000" flipH="1">
            <a:off x="7313925" y="1515275"/>
            <a:ext cx="1188000" cy="2341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85" name="Google Shape;98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1208" y="426615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9" name="Shape 989"/>
        <p:cNvGrpSpPr/>
        <p:nvPr/>
      </p:nvGrpSpPr>
      <p:grpSpPr>
        <a:xfrm>
          <a:off x="0" y="0"/>
          <a:ext cx="0" cy="0"/>
        </a:xfrm>
      </p:grpSpPr>
      <p:graphicFrame>
        <p:nvGraphicFramePr>
          <p:cNvPr id="990" name="Google Shape;990;p80"/>
          <p:cNvGraphicFramePr>
            <a:graphicFrameLocks noGrp="1"/>
          </p:cNvGraphicFramePr>
          <p:nvPr/>
        </p:nvGraphicFramePr>
        <p:xfrm>
          <a:off x="331075" y="3254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91" name="Google Shape;991;p80"/>
          <p:cNvGraphicFramePr>
            <a:graphicFrameLocks noGrp="1"/>
          </p:cNvGraphicFramePr>
          <p:nvPr/>
        </p:nvGraphicFramePr>
        <p:xfrm>
          <a:off x="331075" y="3254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92" name="Google Shape;992;p80"/>
          <p:cNvGraphicFramePr>
            <a:graphicFrameLocks noGrp="1"/>
          </p:cNvGraphicFramePr>
          <p:nvPr/>
        </p:nvGraphicFramePr>
        <p:xfrm>
          <a:off x="328598" y="15479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993" name="Google Shape;993;p80"/>
          <p:cNvGraphicFramePr>
            <a:graphicFrameLocks noGrp="1"/>
          </p:cNvGraphicFramePr>
          <p:nvPr/>
        </p:nvGraphicFramePr>
        <p:xfrm>
          <a:off x="328598" y="15479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94" name="Google Shape;994;p80"/>
          <p:cNvSpPr txBox="1"/>
          <p:nvPr>
            <p:ph type="body" idx="1"/>
          </p:nvPr>
        </p:nvSpPr>
        <p:spPr>
          <a:xfrm>
            <a:off x="324000" y="770825"/>
            <a:ext cx="63903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Complete the term values for these sequences.</a:t>
            </a:r>
            <a:endParaRPr sz="2000"/>
          </a:p>
        </p:txBody>
      </p:sp>
      <p:sp>
        <p:nvSpPr>
          <p:cNvPr id="995" name="Google Shape;99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996" name="Google Shape;996;p80"/>
          <p:cNvSpPr txBox="1"/>
          <p:nvPr>
            <p:ph type="body" idx="1"/>
          </p:nvPr>
        </p:nvSpPr>
        <p:spPr>
          <a:xfrm>
            <a:off x="347075" y="1140280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+ 3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7" name="Google Shape;997;p80"/>
          <p:cNvSpPr txBox="1"/>
          <p:nvPr>
            <p:ph type="body" idx="1"/>
          </p:nvPr>
        </p:nvSpPr>
        <p:spPr>
          <a:xfrm>
            <a:off x="347075" y="28512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8 − 3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80"/>
          <p:cNvSpPr txBox="1"/>
          <p:nvPr>
            <p:ph type="body" idx="1"/>
          </p:nvPr>
        </p:nvSpPr>
        <p:spPr>
          <a:xfrm>
            <a:off x="4831333" y="2576560"/>
            <a:ext cx="37584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different about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8 − 3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99" name="Google Shape;999;p80"/>
          <p:cNvSpPr txBox="1"/>
          <p:nvPr>
            <p:ph type="body" idx="1"/>
          </p:nvPr>
        </p:nvSpPr>
        <p:spPr>
          <a:xfrm>
            <a:off x="4831333" y="3361625"/>
            <a:ext cx="37584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common difference is −3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80"/>
          <p:cNvSpPr txBox="1"/>
          <p:nvPr>
            <p:ph type="body" idx="1"/>
          </p:nvPr>
        </p:nvSpPr>
        <p:spPr>
          <a:xfrm>
            <a:off x="4831333" y="3818825"/>
            <a:ext cx="37584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a decreasing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80"/>
          <p:cNvSpPr txBox="1"/>
          <p:nvPr>
            <p:ph type="body" idx="1"/>
          </p:nvPr>
        </p:nvSpPr>
        <p:spPr>
          <a:xfrm>
            <a:off x="4831333" y="4275125"/>
            <a:ext cx="37584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has negative terms.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5" name="Shape 1005"/>
        <p:cNvGrpSpPr/>
        <p:nvPr/>
      </p:nvGrpSpPr>
      <p:grpSpPr>
        <a:xfrm>
          <a:off x="0" y="0"/>
          <a:ext cx="0" cy="0"/>
        </a:xfrm>
      </p:grpSpPr>
      <p:graphicFrame>
        <p:nvGraphicFramePr>
          <p:cNvPr id="1006" name="Google Shape;1006;p81"/>
          <p:cNvGraphicFramePr>
            <a:graphicFrameLocks noGrp="1"/>
          </p:cNvGraphicFramePr>
          <p:nvPr/>
        </p:nvGraphicFramePr>
        <p:xfrm>
          <a:off x="328598" y="15479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007" name="Google Shape;1007;p81"/>
          <p:cNvGraphicFramePr>
            <a:graphicFrameLocks noGrp="1"/>
          </p:cNvGraphicFramePr>
          <p:nvPr/>
        </p:nvGraphicFramePr>
        <p:xfrm>
          <a:off x="328598" y="15479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08" name="Google Shape;1008;p81"/>
          <p:cNvSpPr txBox="1"/>
          <p:nvPr>
            <p:ph type="body" idx="1"/>
          </p:nvPr>
        </p:nvSpPr>
        <p:spPr>
          <a:xfrm>
            <a:off x="324000" y="770825"/>
            <a:ext cx="44067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graphical representation of…</a:t>
            </a:r>
            <a:endParaRPr sz="2000"/>
          </a:p>
        </p:txBody>
      </p:sp>
      <p:sp>
        <p:nvSpPr>
          <p:cNvPr id="1009" name="Google Shape;100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1010" name="Google Shape;1010;p81"/>
          <p:cNvSpPr txBox="1"/>
          <p:nvPr>
            <p:ph type="body" idx="1"/>
          </p:nvPr>
        </p:nvSpPr>
        <p:spPr>
          <a:xfrm>
            <a:off x="347075" y="1140280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+ 3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1" name="Google Shape;1011;p81" descr="&lt;math xmlns=&quot;http://www.w3.org/1998/Math/MathML&quot; data-is-equatio=&quot;1&quot; data-equatio-url=&quot;https://equatio-api.texthelp.com/desmos/get/07-11-2023/9009547f-eeee-457f-88fd-63d08293ee6d&quot; data-equatio-type=&quot;desmos&quot;&gt;&lt;mglyph src=&quot;https://equatio-api.texthelp.com/desmos/get/07-11-2023/9009547f-eeee-457f-88fd-63d08293ee6d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6416" t="7036" r="57776" b="14260"/>
          <a:stretch>
            <a:fillRect/>
          </a:stretch>
        </p:blipFill>
        <p:spPr>
          <a:xfrm>
            <a:off x="5000487" y="819325"/>
            <a:ext cx="1212472" cy="4047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1"/>
          <p:cNvSpPr txBox="1"/>
          <p:nvPr/>
        </p:nvSpPr>
        <p:spPr>
          <a:xfrm>
            <a:off x="6230567" y="4576300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81"/>
          <p:cNvSpPr txBox="1"/>
          <p:nvPr/>
        </p:nvSpPr>
        <p:spPr>
          <a:xfrm>
            <a:off x="4823875" y="75804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4" name="Google Shape;1014;p81"/>
          <p:cNvSpPr txBox="1"/>
          <p:nvPr>
            <p:ph type="body" idx="1"/>
          </p:nvPr>
        </p:nvSpPr>
        <p:spPr>
          <a:xfrm>
            <a:off x="324000" y="2904425"/>
            <a:ext cx="44067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 increasing sequence, of constant difference +3</a:t>
            </a:r>
            <a:endParaRPr sz="2000"/>
          </a:p>
        </p:txBody>
      </p:sp>
      <p:grpSp>
        <p:nvGrpSpPr>
          <p:cNvPr id="1015" name="Google Shape;1015;p81"/>
          <p:cNvGrpSpPr/>
          <p:nvPr/>
        </p:nvGrpSpPr>
        <p:grpSpPr>
          <a:xfrm>
            <a:off x="5406400" y="2582075"/>
            <a:ext cx="161925" cy="438300"/>
            <a:chOff x="5406400" y="2582075"/>
            <a:chExt cx="161925" cy="438300"/>
          </a:xfrm>
        </p:grpSpPr>
        <p:cxnSp>
          <p:nvCxnSpPr>
            <p:cNvPr id="1016" name="Google Shape;1016;p81"/>
            <p:cNvCxnSpPr/>
            <p:nvPr/>
          </p:nvCxnSpPr>
          <p:spPr>
            <a:xfrm rot="10800000" flipH="1">
              <a:off x="5568325" y="2582075"/>
              <a:ext cx="0" cy="438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17" name="Google Shape;1017;p81"/>
            <p:cNvCxnSpPr/>
            <p:nvPr/>
          </p:nvCxnSpPr>
          <p:spPr>
            <a:xfrm>
              <a:off x="5406400" y="3020375"/>
              <a:ext cx="15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18" name="Google Shape;1018;p81"/>
          <p:cNvGrpSpPr/>
          <p:nvPr/>
        </p:nvGrpSpPr>
        <p:grpSpPr>
          <a:xfrm>
            <a:off x="5577850" y="2134400"/>
            <a:ext cx="161925" cy="438300"/>
            <a:chOff x="5406400" y="2582075"/>
            <a:chExt cx="161925" cy="438300"/>
          </a:xfrm>
        </p:grpSpPr>
        <p:cxnSp>
          <p:nvCxnSpPr>
            <p:cNvPr id="1019" name="Google Shape;1019;p81"/>
            <p:cNvCxnSpPr/>
            <p:nvPr/>
          </p:nvCxnSpPr>
          <p:spPr>
            <a:xfrm rot="10800000" flipH="1">
              <a:off x="5568325" y="2582075"/>
              <a:ext cx="0" cy="438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20" name="Google Shape;1020;p81"/>
            <p:cNvCxnSpPr/>
            <p:nvPr/>
          </p:nvCxnSpPr>
          <p:spPr>
            <a:xfrm>
              <a:off x="5406400" y="3020375"/>
              <a:ext cx="15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4" name="Shape 102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025" name="Google Shape;1025;p82"/>
          <p:cNvGraphicFramePr>
            <a:graphicFrameLocks noGrp="1"/>
          </p:cNvGraphicFramePr>
          <p:nvPr/>
        </p:nvGraphicFramePr>
        <p:xfrm>
          <a:off x="331075" y="3254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026" name="Google Shape;1026;p82"/>
          <p:cNvGraphicFramePr>
            <a:graphicFrameLocks noGrp="1"/>
          </p:cNvGraphicFramePr>
          <p:nvPr/>
        </p:nvGraphicFramePr>
        <p:xfrm>
          <a:off x="331075" y="3254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27" name="Google Shape;1027;p82"/>
          <p:cNvSpPr txBox="1"/>
          <p:nvPr>
            <p:ph type="body" idx="1"/>
          </p:nvPr>
        </p:nvSpPr>
        <p:spPr>
          <a:xfrm>
            <a:off x="324000" y="770825"/>
            <a:ext cx="44067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graphical representation of…</a:t>
            </a:r>
            <a:endParaRPr sz="2000"/>
          </a:p>
        </p:txBody>
      </p:sp>
      <p:sp>
        <p:nvSpPr>
          <p:cNvPr id="1028" name="Google Shape;102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1029" name="Google Shape;1029;p82"/>
          <p:cNvSpPr txBox="1"/>
          <p:nvPr/>
        </p:nvSpPr>
        <p:spPr>
          <a:xfrm>
            <a:off x="6653170" y="2659768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p82"/>
          <p:cNvSpPr txBox="1"/>
          <p:nvPr/>
        </p:nvSpPr>
        <p:spPr>
          <a:xfrm>
            <a:off x="4823875" y="75804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82"/>
          <p:cNvSpPr txBox="1"/>
          <p:nvPr>
            <p:ph type="body" idx="1"/>
          </p:nvPr>
        </p:nvSpPr>
        <p:spPr>
          <a:xfrm>
            <a:off x="347075" y="28512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8 − 3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2" name="Google Shape;1032;p82" descr="&lt;math xmlns=&quot;http://www.w3.org/1998/Math/MathML&quot; data-is-equatio=&quot;1&quot; data-equatio-url=&quot;https://equatio-api.texthelp.com/desmos/get/07-11-2023/b18021be-ad89-4cda-8e4e-052ee5dc593b&quot; data-equatio-type=&quot;desmos&quot;&gt;&lt;mglyph src=&quot;https://equatio-api.texthelp.com/desmos/get/07-11-2023/b18021be-ad89-4cda-8e4e-052ee5dc593b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837" t="6812" r="61310" b="20087"/>
          <a:stretch>
            <a:fillRect/>
          </a:stretch>
        </p:blipFill>
        <p:spPr>
          <a:xfrm>
            <a:off x="5052012" y="807800"/>
            <a:ext cx="1526268" cy="40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2"/>
          <p:cNvSpPr txBox="1"/>
          <p:nvPr>
            <p:ph type="body" idx="1"/>
          </p:nvPr>
        </p:nvSpPr>
        <p:spPr>
          <a:xfrm>
            <a:off x="324000" y="1609025"/>
            <a:ext cx="44067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 decreasing sequence, of constant difference −3</a:t>
            </a:r>
            <a:endParaRPr sz="2000"/>
          </a:p>
        </p:txBody>
      </p:sp>
      <p:grpSp>
        <p:nvGrpSpPr>
          <p:cNvPr id="1034" name="Google Shape;1034;p82"/>
          <p:cNvGrpSpPr/>
          <p:nvPr/>
        </p:nvGrpSpPr>
        <p:grpSpPr>
          <a:xfrm rot="10800000" flipH="1">
            <a:off x="5492327" y="1648705"/>
            <a:ext cx="219603" cy="688788"/>
            <a:chOff x="5406400" y="2582075"/>
            <a:chExt cx="161925" cy="438300"/>
          </a:xfrm>
        </p:grpSpPr>
        <p:cxnSp>
          <p:nvCxnSpPr>
            <p:cNvPr id="1035" name="Google Shape;1035;p82"/>
            <p:cNvCxnSpPr/>
            <p:nvPr/>
          </p:nvCxnSpPr>
          <p:spPr>
            <a:xfrm rot="10800000" flipH="1">
              <a:off x="5568325" y="2582075"/>
              <a:ext cx="0" cy="438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36" name="Google Shape;1036;p82"/>
            <p:cNvCxnSpPr/>
            <p:nvPr/>
          </p:nvCxnSpPr>
          <p:spPr>
            <a:xfrm>
              <a:off x="5406400" y="3020375"/>
              <a:ext cx="15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7" name="Google Shape;1037;p82"/>
          <p:cNvGrpSpPr/>
          <p:nvPr/>
        </p:nvGrpSpPr>
        <p:grpSpPr>
          <a:xfrm rot="10800000" flipH="1">
            <a:off x="5720927" y="2358317"/>
            <a:ext cx="219603" cy="688788"/>
            <a:chOff x="5406400" y="2582075"/>
            <a:chExt cx="161925" cy="438300"/>
          </a:xfrm>
        </p:grpSpPr>
        <p:cxnSp>
          <p:nvCxnSpPr>
            <p:cNvPr id="1038" name="Google Shape;1038;p82"/>
            <p:cNvCxnSpPr/>
            <p:nvPr/>
          </p:nvCxnSpPr>
          <p:spPr>
            <a:xfrm rot="10800000" flipH="1">
              <a:off x="5568325" y="2582075"/>
              <a:ext cx="0" cy="43830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39" name="Google Shape;1039;p82"/>
            <p:cNvCxnSpPr/>
            <p:nvPr/>
          </p:nvCxnSpPr>
          <p:spPr>
            <a:xfrm>
              <a:off x="5406400" y="3020375"/>
              <a:ext cx="1572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3" name="Shape 1043"/>
        <p:cNvGrpSpPr/>
        <p:nvPr/>
      </p:nvGrpSpPr>
      <p:grpSpPr>
        <a:xfrm>
          <a:off x="0" y="0"/>
          <a:ext cx="0" cy="0"/>
        </a:xfrm>
      </p:grpSpPr>
      <p:sp>
        <p:nvSpPr>
          <p:cNvPr id="1044" name="Google Shape;1044;p8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could be the graphical representation of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13 − 5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?</a:t>
            </a:r>
            <a:endParaRPr/>
          </a:p>
        </p:txBody>
      </p:sp>
      <p:sp>
        <p:nvSpPr>
          <p:cNvPr id="1045" name="Google Shape;1045;p8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arithmetic sequences</a:t>
            </a:r>
            <a:endParaRPr/>
          </a:p>
        </p:txBody>
      </p:sp>
      <p:pic>
        <p:nvPicPr>
          <p:cNvPr id="1046" name="Google Shape;1046;p83" descr="&lt;math xmlns=&quot;http://www.w3.org/1998/Math/MathML&quot; data-is-equatio=&quot;1&quot; data-equatio-url=&quot;https://equatio-api.texthelp.com/desmos/get/07-11-2023/a5c7e483-9c39-4f8e-a233-d680ffa33c80&quot; data-equatio-type=&quot;desmos&quot;&gt;&lt;mglyph src=&quot;https://equatio-api.texthelp.com/desmos/get/07-11-2023/a5c7e483-9c39-4f8e-a233-d680ffa33c80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t="2305" r="78376" b="22591"/>
          <a:stretch>
            <a:fillRect/>
          </a:stretch>
        </p:blipFill>
        <p:spPr>
          <a:xfrm>
            <a:off x="7016193" y="1619941"/>
            <a:ext cx="953956" cy="2434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83" descr="&lt;math xmlns=&quot;http://www.w3.org/1998/Math/MathML&quot; data-is-equatio=&quot;1&quot; data-equatio-url=&quot;https://equatio-api.texthelp.com/desmos/get/07-11-2023/67858eae-3ce2-4ad4-bc4e-c5be82435ec4&quot; data-equatio-type=&quot;desmos&quot;&gt;&lt;mglyph src=&quot;https://equatio-api.texthelp.com/desmos/get/07-11-2023/67858eae-3ce2-4ad4-bc4e-c5be82435ec4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428" r="74569" b="9231"/>
          <a:stretch>
            <a:fillRect/>
          </a:stretch>
        </p:blipFill>
        <p:spPr>
          <a:xfrm>
            <a:off x="4092128" y="1619950"/>
            <a:ext cx="953950" cy="243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83" descr="&lt;math xmlns=&quot;http://www.w3.org/1998/Math/MathML&quot; data-is-equatio=&quot;1&quot; data-equatio-url=&quot;https://equatio-api.texthelp.com/desmos/get/07-11-2023/352e7efc-1372-4edd-966c-6da4592dba75&quot; data-equatio-type=&quot;desmos&quot;&gt;&lt;mglyph src=&quot;https://equatio-api.texthelp.com/desmos/get/07-11-2023/352e7efc-1372-4edd-966c-6da4592dba75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r="73173" b="17958"/>
          <a:stretch>
            <a:fillRect/>
          </a:stretch>
        </p:blipFill>
        <p:spPr>
          <a:xfrm>
            <a:off x="1066800" y="1619375"/>
            <a:ext cx="1083390" cy="2434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83"/>
          <p:cNvSpPr txBox="1"/>
          <p:nvPr/>
        </p:nvSpPr>
        <p:spPr>
          <a:xfrm>
            <a:off x="8024770" y="2659768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83"/>
          <p:cNvSpPr txBox="1"/>
          <p:nvPr/>
        </p:nvSpPr>
        <p:spPr>
          <a:xfrm>
            <a:off x="4072287" y="1572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83"/>
          <p:cNvSpPr txBox="1"/>
          <p:nvPr/>
        </p:nvSpPr>
        <p:spPr>
          <a:xfrm>
            <a:off x="1152547" y="1572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2" name="Google Shape;1052;p83"/>
          <p:cNvSpPr txBox="1"/>
          <p:nvPr/>
        </p:nvSpPr>
        <p:spPr>
          <a:xfrm>
            <a:off x="7040771" y="1572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3" name="Google Shape;1053;p83"/>
          <p:cNvSpPr txBox="1"/>
          <p:nvPr/>
        </p:nvSpPr>
        <p:spPr>
          <a:xfrm>
            <a:off x="5073794" y="1893988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4" name="Google Shape;1054;p83"/>
          <p:cNvSpPr txBox="1"/>
          <p:nvPr/>
        </p:nvSpPr>
        <p:spPr>
          <a:xfrm>
            <a:off x="2191922" y="2721776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5" name="Google Shape;1055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12983" y="365183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83"/>
          <p:cNvSpPr txBox="1"/>
          <p:nvPr>
            <p:ph type="body" idx="4294967295"/>
          </p:nvPr>
        </p:nvSpPr>
        <p:spPr>
          <a:xfrm>
            <a:off x="5379497" y="1867000"/>
            <a:ext cx="16989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be a decreasing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83"/>
          <p:cNvSpPr txBox="1"/>
          <p:nvPr>
            <p:ph type="body" idx="4294967295"/>
          </p:nvPr>
        </p:nvSpPr>
        <p:spPr>
          <a:xfrm>
            <a:off x="2608974" y="1867000"/>
            <a:ext cx="14007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First term of 13 − 5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positive.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61" name="Shape 1061"/>
        <p:cNvGrpSpPr/>
        <p:nvPr/>
      </p:nvGrpSpPr>
      <p:grpSpPr>
        <a:xfrm>
          <a:off x="0" y="0"/>
          <a:ext cx="0" cy="0"/>
        </a:xfrm>
      </p:grpSpPr>
      <p:sp>
        <p:nvSpPr>
          <p:cNvPr id="1062" name="Google Shape;1062;p84"/>
          <p:cNvSpPr txBox="1"/>
          <p:nvPr>
            <p:ph type="body" idx="1"/>
          </p:nvPr>
        </p:nvSpPr>
        <p:spPr>
          <a:xfrm>
            <a:off x="324000" y="759300"/>
            <a:ext cx="48423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Find and plot the first five terms of these arithmetic sequences.</a:t>
            </a:r>
            <a:endParaRPr/>
          </a:p>
        </p:txBody>
      </p:sp>
      <p:sp>
        <p:nvSpPr>
          <p:cNvPr id="1063" name="Google Shape;1063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graphicFrame>
        <p:nvGraphicFramePr>
          <p:cNvPr id="1064" name="Google Shape;1064;p84"/>
          <p:cNvGraphicFramePr>
            <a:graphicFrameLocks noGrp="1"/>
          </p:cNvGraphicFramePr>
          <p:nvPr/>
        </p:nvGraphicFramePr>
        <p:xfrm>
          <a:off x="938198" y="2001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065" name="Google Shape;1065;p84"/>
          <p:cNvGraphicFramePr>
            <a:graphicFrameLocks noGrp="1"/>
          </p:cNvGraphicFramePr>
          <p:nvPr/>
        </p:nvGraphicFramePr>
        <p:xfrm>
          <a:off x="938198" y="3601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66" name="Google Shape;1066;p84"/>
          <p:cNvSpPr txBox="1"/>
          <p:nvPr>
            <p:ph type="body" idx="1"/>
          </p:nvPr>
        </p:nvSpPr>
        <p:spPr>
          <a:xfrm>
            <a:off x="400200" y="1597500"/>
            <a:ext cx="3654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067" name="Google Shape;1067;p84"/>
          <p:cNvSpPr txBox="1"/>
          <p:nvPr>
            <p:ph type="body" idx="1"/>
          </p:nvPr>
        </p:nvSpPr>
        <p:spPr>
          <a:xfrm>
            <a:off x="400200" y="3197700"/>
            <a:ext cx="3654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068" name="Google Shape;1068;p84"/>
          <p:cNvSpPr txBox="1"/>
          <p:nvPr>
            <p:ph type="body" idx="4294967295"/>
          </p:nvPr>
        </p:nvSpPr>
        <p:spPr>
          <a:xfrm>
            <a:off x="880475" y="16320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9" name="Google Shape;1069;p84"/>
          <p:cNvSpPr txBox="1"/>
          <p:nvPr>
            <p:ph type="body" idx="4294967295"/>
          </p:nvPr>
        </p:nvSpPr>
        <p:spPr>
          <a:xfrm>
            <a:off x="880475" y="32322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10 −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0" name="Google Shape;1070;p84" descr="&lt;math xmlns=&quot;http://www.w3.org/1998/Math/MathML&quot; data-is-equatio=&quot;1&quot; data-equatio-url=&quot;https://equatio-api.texthelp.com/desmos/get/07-11-2023/2e1a733c-e5a1-429c-a785-a4d5032c8312&quot; data-equatio-type=&quot;desmos&quot;&gt;&lt;mglyph src=&quot;https://equatio-api.texthelp.com/desmos/get/07-11-2023/2e1a733c-e5a1-429c-a785-a4d5032c8312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218" t="9182" r="59592" b="5164"/>
          <a:stretch>
            <a:fillRect/>
          </a:stretch>
        </p:blipFill>
        <p:spPr>
          <a:xfrm>
            <a:off x="5773774" y="810000"/>
            <a:ext cx="1553850" cy="400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84"/>
          <p:cNvSpPr txBox="1"/>
          <p:nvPr/>
        </p:nvSpPr>
        <p:spPr>
          <a:xfrm>
            <a:off x="7394346" y="2985391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2" name="Google Shape;1072;p84"/>
          <p:cNvSpPr txBox="1"/>
          <p:nvPr/>
        </p:nvSpPr>
        <p:spPr>
          <a:xfrm>
            <a:off x="5572147" y="754729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6" name="Shape 1076"/>
        <p:cNvGrpSpPr/>
        <p:nvPr/>
      </p:nvGrpSpPr>
      <p:grpSpPr>
        <a:xfrm>
          <a:off x="0" y="0"/>
          <a:ext cx="0" cy="0"/>
        </a:xfrm>
      </p:grpSpPr>
      <p:sp>
        <p:nvSpPr>
          <p:cNvPr id="1077" name="Google Shape;1077;p85"/>
          <p:cNvSpPr txBox="1"/>
          <p:nvPr>
            <p:ph type="body" idx="1"/>
          </p:nvPr>
        </p:nvSpPr>
        <p:spPr>
          <a:xfrm>
            <a:off x="324000" y="759300"/>
            <a:ext cx="56025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Match the sequences to their graph.</a:t>
            </a:r>
            <a:endParaRPr/>
          </a:p>
        </p:txBody>
      </p:sp>
      <p:sp>
        <p:nvSpPr>
          <p:cNvPr id="1078" name="Google Shape;1078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1079" name="Google Shape;1079;p85"/>
          <p:cNvSpPr txBox="1"/>
          <p:nvPr>
            <p:ph type="body" idx="4294967295"/>
          </p:nvPr>
        </p:nvSpPr>
        <p:spPr>
          <a:xfrm>
            <a:off x="347075" y="13272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0" name="Google Shape;1080;p85"/>
          <p:cNvSpPr txBox="1"/>
          <p:nvPr>
            <p:ph type="body" idx="4294967295"/>
          </p:nvPr>
        </p:nvSpPr>
        <p:spPr>
          <a:xfrm>
            <a:off x="347075" y="24321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1" name="Google Shape;1081;p85"/>
          <p:cNvSpPr txBox="1"/>
          <p:nvPr>
            <p:ph type="body" idx="4294967295"/>
          </p:nvPr>
        </p:nvSpPr>
        <p:spPr>
          <a:xfrm>
            <a:off x="347075" y="35370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10 − 3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2" name="Google Shape;1082;p85" descr="&lt;math xmlns=&quot;http://www.w3.org/1998/Math/MathML&quot; data-is-equatio=&quot;1&quot; data-equatio-url=&quot;https://equatio-api.texthelp.com/desmos/get/07-11-2023/8e14fbc8-eed0-4e31-8fae-6c7c4486d2e9&quot; data-equatio-type=&quot;desmos&quot;&gt;&lt;mglyph src=&quot;https://equatio-api.texthelp.com/desmos/get/07-11-2023/8e14fbc8-eed0-4e31-8fae-6c7c4486d2e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6329" t="28351" r="56666" b="18744"/>
          <a:stretch>
            <a:fillRect/>
          </a:stretch>
        </p:blipFill>
        <p:spPr>
          <a:xfrm>
            <a:off x="4536421" y="1229650"/>
            <a:ext cx="1334174" cy="306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85" descr="&lt;math xmlns=&quot;http://www.w3.org/1998/Math/MathML&quot; data-is-equatio=&quot;1&quot; data-equatio-url=&quot;https://equatio-api.texthelp.com/desmos/get/07-11-2023/b87e4a55-d739-4df1-a2d9-9129c4dabeb9&quot; data-equatio-type=&quot;desmos&quot;&gt;&lt;mglyph src=&quot;https://equatio-api.texthelp.com/desmos/get/07-11-2023/b87e4a55-d739-4df1-a2d9-9129c4dabeb9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4812" t="25587" r="56670" b="16535"/>
          <a:stretch>
            <a:fillRect/>
          </a:stretch>
        </p:blipFill>
        <p:spPr>
          <a:xfrm>
            <a:off x="6480172" y="1239322"/>
            <a:ext cx="1334180" cy="308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85" descr="&lt;math xmlns=&quot;http://www.w3.org/1998/Math/MathML&quot; data-is-equatio=&quot;1&quot; data-equatio-url=&quot;https://equatio-api.texthelp.com/desmos/get/07-11-2023/ed19a968-d62c-4265-9eda-a1c4f7617d28&quot; data-equatio-type=&quot;desmos&quot;&gt;&lt;mglyph src=&quot;https://equatio-api.texthelp.com/desmos/get/07-11-2023/ed19a968-d62c-4265-9eda-a1c4f7617d28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27240" t="6358" r="56818"/>
          <a:stretch>
            <a:fillRect/>
          </a:stretch>
        </p:blipFill>
        <p:spPr>
          <a:xfrm>
            <a:off x="2761701" y="1230620"/>
            <a:ext cx="810068" cy="3066348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85"/>
          <p:cNvSpPr txBox="1"/>
          <p:nvPr/>
        </p:nvSpPr>
        <p:spPr>
          <a:xfrm>
            <a:off x="4453287" y="1191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85"/>
          <p:cNvSpPr txBox="1"/>
          <p:nvPr/>
        </p:nvSpPr>
        <p:spPr>
          <a:xfrm>
            <a:off x="5912919" y="2839624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85"/>
          <p:cNvSpPr txBox="1"/>
          <p:nvPr/>
        </p:nvSpPr>
        <p:spPr>
          <a:xfrm>
            <a:off x="2645311" y="1191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8" name="Google Shape;1088;p85"/>
          <p:cNvSpPr txBox="1"/>
          <p:nvPr/>
        </p:nvSpPr>
        <p:spPr>
          <a:xfrm>
            <a:off x="3636406" y="3885600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9" name="Google Shape;1089;p85"/>
          <p:cNvSpPr txBox="1"/>
          <p:nvPr/>
        </p:nvSpPr>
        <p:spPr>
          <a:xfrm>
            <a:off x="6489863" y="1191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0" name="Google Shape;1090;p85"/>
          <p:cNvSpPr txBox="1"/>
          <p:nvPr/>
        </p:nvSpPr>
        <p:spPr>
          <a:xfrm>
            <a:off x="7897436" y="2396153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94" name="Shape 109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095" name="Google Shape;1095;p86"/>
          <p:cNvGraphicFramePr>
            <a:graphicFrameLocks noGrp="1"/>
          </p:cNvGraphicFramePr>
          <p:nvPr/>
        </p:nvGraphicFramePr>
        <p:xfrm>
          <a:off x="938198" y="3601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096" name="Google Shape;1096;p86"/>
          <p:cNvGraphicFramePr>
            <a:graphicFrameLocks noGrp="1"/>
          </p:cNvGraphicFramePr>
          <p:nvPr/>
        </p:nvGraphicFramePr>
        <p:xfrm>
          <a:off x="938198" y="36016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097" name="Google Shape;1097;p86"/>
          <p:cNvGraphicFramePr>
            <a:graphicFrameLocks noGrp="1"/>
          </p:cNvGraphicFramePr>
          <p:nvPr/>
        </p:nvGraphicFramePr>
        <p:xfrm>
          <a:off x="938198" y="2001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098" name="Google Shape;1098;p86"/>
          <p:cNvGraphicFramePr>
            <a:graphicFrameLocks noGrp="1"/>
          </p:cNvGraphicFramePr>
          <p:nvPr/>
        </p:nvGraphicFramePr>
        <p:xfrm>
          <a:off x="938198" y="2001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99" name="Google Shape;1099;p86"/>
          <p:cNvSpPr txBox="1"/>
          <p:nvPr>
            <p:ph type="body" idx="1"/>
          </p:nvPr>
        </p:nvSpPr>
        <p:spPr>
          <a:xfrm>
            <a:off x="324000" y="759300"/>
            <a:ext cx="4915200" cy="83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Find and plot the first five terms of these arithmetic sequences.</a:t>
            </a:r>
            <a:endParaRPr/>
          </a:p>
        </p:txBody>
      </p:sp>
      <p:sp>
        <p:nvSpPr>
          <p:cNvPr id="1100" name="Google Shape;1100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1101" name="Google Shape;1101;p86"/>
          <p:cNvSpPr txBox="1"/>
          <p:nvPr>
            <p:ph type="body" idx="1"/>
          </p:nvPr>
        </p:nvSpPr>
        <p:spPr>
          <a:xfrm>
            <a:off x="400200" y="1597500"/>
            <a:ext cx="3654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102" name="Google Shape;1102;p86"/>
          <p:cNvSpPr txBox="1"/>
          <p:nvPr>
            <p:ph type="body" idx="1"/>
          </p:nvPr>
        </p:nvSpPr>
        <p:spPr>
          <a:xfrm>
            <a:off x="400200" y="3197700"/>
            <a:ext cx="365400" cy="4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103" name="Google Shape;1103;p86"/>
          <p:cNvSpPr txBox="1"/>
          <p:nvPr>
            <p:ph type="body" idx="4294967295"/>
          </p:nvPr>
        </p:nvSpPr>
        <p:spPr>
          <a:xfrm>
            <a:off x="880475" y="16320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4" name="Google Shape;1104;p86"/>
          <p:cNvSpPr txBox="1"/>
          <p:nvPr>
            <p:ph type="body" idx="4294967295"/>
          </p:nvPr>
        </p:nvSpPr>
        <p:spPr>
          <a:xfrm>
            <a:off x="880475" y="3232278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10 −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5" name="Google Shape;1105;p86" descr="&lt;math xmlns=&quot;http://www.w3.org/1998/Math/MathML&quot; data-is-equatio=&quot;1&quot; data-equatio-url=&quot;https://equatio-api.texthelp.com/desmos/get/07-11-2023/2e1a733c-e5a1-429c-a785-a4d5032c8312&quot; data-equatio-type=&quot;desmos&quot;&gt;&lt;mglyph src=&quot;https://equatio-api.texthelp.com/desmos/get/07-11-2023/2e1a733c-e5a1-429c-a785-a4d5032c8312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7218" t="9182" r="59592" b="5164"/>
          <a:stretch>
            <a:fillRect/>
          </a:stretch>
        </p:blipFill>
        <p:spPr>
          <a:xfrm>
            <a:off x="5773774" y="810000"/>
            <a:ext cx="1553850" cy="400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86"/>
          <p:cNvSpPr txBox="1"/>
          <p:nvPr/>
        </p:nvSpPr>
        <p:spPr>
          <a:xfrm>
            <a:off x="7394346" y="2985391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7" name="Google Shape;1107;p86"/>
          <p:cNvSpPr txBox="1"/>
          <p:nvPr/>
        </p:nvSpPr>
        <p:spPr>
          <a:xfrm>
            <a:off x="5572147" y="754729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8" name="Google Shape;1108;p86" descr="&lt;math xmlns=&quot;http://www.w3.org/1998/Math/MathML&quot; data-is-equatio=&quot;1&quot; data-equatio-url=&quot;https://equatio-api.texthelp.com/desmos/get/07-11-2023/60e631c0-39a9-436c-8e12-4a467a23a99d&quot; data-equatio-type=&quot;desmos&quot;&gt;&lt;mglyph src=&quot;https://equatio-api.texthelp.com/desmos/get/07-11-2023/60e631c0-39a9-436c-8e12-4a467a23a99d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1571" t="15746" r="57675" b="8621"/>
          <a:stretch>
            <a:fillRect/>
          </a:stretch>
        </p:blipFill>
        <p:spPr>
          <a:xfrm>
            <a:off x="5769076" y="799600"/>
            <a:ext cx="1553850" cy="40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6" descr="&lt;math xmlns=&quot;http://www.w3.org/1998/Math/MathML&quot; data-is-equatio=&quot;1&quot; data-equatio-url=&quot;https://equatio-api.texthelp.com/desmos/get/07-11-2023/8f6aa1fe-987b-469a-bac4-3450415f5ccf&quot; data-equatio-type=&quot;desmos&quot;&gt;&lt;mglyph src=&quot;https://equatio-api.texthelp.com/desmos/get/07-11-2023/8f6aa1fe-987b-469a-bac4-3450415f5ccf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21776" t="15547" r="57727" b="8423"/>
          <a:stretch>
            <a:fillRect/>
          </a:stretch>
        </p:blipFill>
        <p:spPr>
          <a:xfrm>
            <a:off x="5770900" y="799600"/>
            <a:ext cx="1553850" cy="40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3" name="Shape 1113"/>
        <p:cNvGrpSpPr/>
        <p:nvPr/>
      </p:nvGrpSpPr>
      <p:grpSpPr>
        <a:xfrm>
          <a:off x="0" y="0"/>
          <a:ext cx="0" cy="0"/>
        </a:xfrm>
      </p:grpSpPr>
      <p:sp>
        <p:nvSpPr>
          <p:cNvPr id="1114" name="Google Shape;1114;p87"/>
          <p:cNvSpPr txBox="1"/>
          <p:nvPr>
            <p:ph type="body" idx="1"/>
          </p:nvPr>
        </p:nvSpPr>
        <p:spPr>
          <a:xfrm>
            <a:off x="324000" y="759300"/>
            <a:ext cx="53526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Match the sequences to their graph.</a:t>
            </a:r>
            <a:endParaRPr/>
          </a:p>
        </p:txBody>
      </p:sp>
      <p:sp>
        <p:nvSpPr>
          <p:cNvPr id="1115" name="Google Shape;1115;p8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1116" name="Google Shape;1116;p87"/>
          <p:cNvSpPr txBox="1"/>
          <p:nvPr>
            <p:ph type="body" idx="4294967295"/>
          </p:nvPr>
        </p:nvSpPr>
        <p:spPr>
          <a:xfrm>
            <a:off x="7620627" y="1219839"/>
            <a:ext cx="9774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7" name="Google Shape;1117;p87"/>
          <p:cNvSpPr txBox="1"/>
          <p:nvPr>
            <p:ph type="body" idx="4294967295"/>
          </p:nvPr>
        </p:nvSpPr>
        <p:spPr>
          <a:xfrm>
            <a:off x="1306439" y="1212975"/>
            <a:ext cx="10200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8" name="Google Shape;1118;p87"/>
          <p:cNvSpPr txBox="1"/>
          <p:nvPr>
            <p:ph type="body" idx="4294967295"/>
          </p:nvPr>
        </p:nvSpPr>
        <p:spPr>
          <a:xfrm>
            <a:off x="4343564" y="1209430"/>
            <a:ext cx="1269900" cy="36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10 − 3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9" name="Google Shape;1119;p87" descr="&lt;math xmlns=&quot;http://www.w3.org/1998/Math/MathML&quot; data-is-equatio=&quot;1&quot; data-equatio-url=&quot;https://equatio-api.texthelp.com/desmos/get/07-11-2023/8e14fbc8-eed0-4e31-8fae-6c7c4486d2e9&quot; data-equatio-type=&quot;desmos&quot;&gt;&lt;mglyph src=&quot;https://equatio-api.texthelp.com/desmos/get/07-11-2023/8e14fbc8-eed0-4e31-8fae-6c7c4486d2e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6329" t="28351" r="56666" b="18744"/>
          <a:stretch>
            <a:fillRect/>
          </a:stretch>
        </p:blipFill>
        <p:spPr>
          <a:xfrm>
            <a:off x="2981185" y="1229650"/>
            <a:ext cx="1334174" cy="306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87" descr="&lt;math xmlns=&quot;http://www.w3.org/1998/Math/MathML&quot; data-is-equatio=&quot;1&quot; data-equatio-url=&quot;https://equatio-api.texthelp.com/desmos/get/07-11-2023/b87e4a55-d739-4df1-a2d9-9129c4dabeb9&quot; data-equatio-type=&quot;desmos&quot;&gt;&lt;mglyph src=&quot;https://equatio-api.texthelp.com/desmos/get/07-11-2023/b87e4a55-d739-4df1-a2d9-9129c4dabeb9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4812" t="25587" r="56670" b="16535"/>
          <a:stretch>
            <a:fillRect/>
          </a:stretch>
        </p:blipFill>
        <p:spPr>
          <a:xfrm>
            <a:off x="6251572" y="1239322"/>
            <a:ext cx="1334180" cy="3080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87" descr="&lt;math xmlns=&quot;http://www.w3.org/1998/Math/MathML&quot; data-is-equatio=&quot;1&quot; data-equatio-url=&quot;https://equatio-api.texthelp.com/desmos/get/07-11-2023/ed19a968-d62c-4265-9eda-a1c4f7617d28&quot; data-equatio-type=&quot;desmos&quot;&gt;&lt;mglyph src=&quot;https://equatio-api.texthelp.com/desmos/get/07-11-2023/ed19a968-d62c-4265-9eda-a1c4f7617d28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27240" t="6358" r="56818"/>
          <a:stretch>
            <a:fillRect/>
          </a:stretch>
        </p:blipFill>
        <p:spPr>
          <a:xfrm>
            <a:off x="444465" y="1230620"/>
            <a:ext cx="810068" cy="3066348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7"/>
          <p:cNvSpPr txBox="1"/>
          <p:nvPr/>
        </p:nvSpPr>
        <p:spPr>
          <a:xfrm>
            <a:off x="2898051" y="1191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3" name="Google Shape;1123;p87"/>
          <p:cNvSpPr txBox="1"/>
          <p:nvPr/>
        </p:nvSpPr>
        <p:spPr>
          <a:xfrm>
            <a:off x="4357683" y="2839624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4" name="Google Shape;1124;p87"/>
          <p:cNvSpPr txBox="1"/>
          <p:nvPr/>
        </p:nvSpPr>
        <p:spPr>
          <a:xfrm>
            <a:off x="328075" y="1191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5" name="Google Shape;1125;p87"/>
          <p:cNvSpPr txBox="1"/>
          <p:nvPr/>
        </p:nvSpPr>
        <p:spPr>
          <a:xfrm>
            <a:off x="1319170" y="3885600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6" name="Google Shape;1126;p87"/>
          <p:cNvSpPr txBox="1"/>
          <p:nvPr/>
        </p:nvSpPr>
        <p:spPr>
          <a:xfrm>
            <a:off x="6261263" y="1191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7" name="Google Shape;1127;p87"/>
          <p:cNvSpPr txBox="1"/>
          <p:nvPr/>
        </p:nvSpPr>
        <p:spPr>
          <a:xfrm>
            <a:off x="7668836" y="2396153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8" name="Google Shape;1128;p87"/>
          <p:cNvSpPr txBox="1"/>
          <p:nvPr>
            <p:ph type="body" idx="4294967295"/>
          </p:nvPr>
        </p:nvSpPr>
        <p:spPr>
          <a:xfrm>
            <a:off x="916625" y="2364000"/>
            <a:ext cx="16005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Increasing sequence, all positive terms.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9" name="Google Shape;1129;p87"/>
          <p:cNvSpPr txBox="1"/>
          <p:nvPr>
            <p:ph type="body" idx="4294967295"/>
          </p:nvPr>
        </p:nvSpPr>
        <p:spPr>
          <a:xfrm>
            <a:off x="3781625" y="1678200"/>
            <a:ext cx="22566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Decreasing sequence, starting with positive terms.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0" name="Google Shape;1130;p87"/>
          <p:cNvSpPr txBox="1"/>
          <p:nvPr>
            <p:ph type="body" idx="4294967295"/>
          </p:nvPr>
        </p:nvSpPr>
        <p:spPr>
          <a:xfrm>
            <a:off x="7030150" y="2876576"/>
            <a:ext cx="17901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Increasing sequence, starting with negative terms.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4" name="Shape 1134"/>
        <p:cNvGrpSpPr/>
        <p:nvPr/>
      </p:nvGrpSpPr>
      <p:grpSpPr>
        <a:xfrm>
          <a:off x="0" y="0"/>
          <a:ext cx="0" cy="0"/>
        </a:xfrm>
      </p:grpSpPr>
      <p:sp>
        <p:nvSpPr>
          <p:cNvPr id="1135" name="Google Shape;1135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arithmetic sequences</a:t>
            </a:r>
            <a:endParaRPr/>
          </a:p>
        </p:txBody>
      </p:sp>
      <p:sp>
        <p:nvSpPr>
          <p:cNvPr id="1136" name="Google Shape;1136;p8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137" name="Google Shape;1137;p88"/>
          <p:cNvSpPr txBox="1"/>
          <p:nvPr>
            <p:ph type="title" idx="3"/>
          </p:nvPr>
        </p:nvSpPr>
        <p:spPr>
          <a:xfrm>
            <a:off x="324000" y="657600"/>
            <a:ext cx="84960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plotting coordinates generated from a rule</a:t>
            </a:r>
            <a:endParaRPr/>
          </a:p>
        </p:txBody>
      </p:sp>
      <p:pic>
        <p:nvPicPr>
          <p:cNvPr id="1138" name="Google Shape;113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298511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2" name="Shape 1142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43" name="Google Shape;1143;p89"/>
          <p:cNvGraphicFramePr>
            <a:graphicFrameLocks noGrp="1"/>
          </p:cNvGraphicFramePr>
          <p:nvPr/>
        </p:nvGraphicFramePr>
        <p:xfrm>
          <a:off x="2331015" y="3479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44" name="Google Shape;1144;p89"/>
          <p:cNvGraphicFramePr>
            <a:graphicFrameLocks noGrp="1"/>
          </p:cNvGraphicFramePr>
          <p:nvPr/>
        </p:nvGraphicFramePr>
        <p:xfrm>
          <a:off x="2331015" y="3479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45" name="Google Shape;1145;p89"/>
          <p:cNvGraphicFramePr>
            <a:graphicFrameLocks noGrp="1"/>
          </p:cNvGraphicFramePr>
          <p:nvPr/>
        </p:nvGraphicFramePr>
        <p:xfrm>
          <a:off x="852515" y="1228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46" name="Google Shape;1146;p89"/>
          <p:cNvGraphicFramePr>
            <a:graphicFrameLocks noGrp="1"/>
          </p:cNvGraphicFramePr>
          <p:nvPr/>
        </p:nvGraphicFramePr>
        <p:xfrm>
          <a:off x="852515" y="1228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47" name="Google Shape;114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148" name="Google Shape;1148;p89"/>
          <p:cNvSpPr txBox="1"/>
          <p:nvPr/>
        </p:nvSpPr>
        <p:spPr>
          <a:xfrm>
            <a:off x="324000" y="2213060"/>
            <a:ext cx="84960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term numbers are generated by the rule “Multiply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by 2 and add 1”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9"/>
          <p:cNvSpPr txBox="1"/>
          <p:nvPr>
            <p:ph type="body" idx="1"/>
          </p:nvPr>
        </p:nvSpPr>
        <p:spPr>
          <a:xfrm>
            <a:off x="324000" y="770825"/>
            <a:ext cx="5681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arithmetic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0" name="Google Shape;1150;p89"/>
          <p:cNvSpPr txBox="1"/>
          <p:nvPr>
            <p:ph type="body" idx="1"/>
          </p:nvPr>
        </p:nvSpPr>
        <p:spPr>
          <a:xfrm>
            <a:off x="324000" y="2699965"/>
            <a:ext cx="79971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We can also plot cartesian coordinates related by such rules.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For example, plot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1" name="Google Shape;1151;p89"/>
          <p:cNvSpPr txBox="1"/>
          <p:nvPr/>
        </p:nvSpPr>
        <p:spPr>
          <a:xfrm>
            <a:off x="324000" y="4422850"/>
            <a:ext cx="80493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-coordinates are generated by the rule “Multiply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by 2 and add 1”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5" name="Shape 1155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56" name="Google Shape;1156;p90"/>
          <p:cNvGraphicFramePr>
            <a:graphicFrameLocks noGrp="1"/>
          </p:cNvGraphicFramePr>
          <p:nvPr/>
        </p:nvGraphicFramePr>
        <p:xfrm>
          <a:off x="2331015" y="3098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57" name="Google Shape;1157;p90"/>
          <p:cNvGraphicFramePr>
            <a:graphicFrameLocks noGrp="1"/>
          </p:cNvGraphicFramePr>
          <p:nvPr/>
        </p:nvGraphicFramePr>
        <p:xfrm>
          <a:off x="2331015" y="3098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58" name="Google Shape;1158;p90"/>
          <p:cNvGraphicFramePr>
            <a:graphicFrameLocks noGrp="1"/>
          </p:cNvGraphicFramePr>
          <p:nvPr/>
        </p:nvGraphicFramePr>
        <p:xfrm>
          <a:off x="852515" y="1228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59" name="Google Shape;1159;p90"/>
          <p:cNvGraphicFramePr>
            <a:graphicFrameLocks noGrp="1"/>
          </p:cNvGraphicFramePr>
          <p:nvPr/>
        </p:nvGraphicFramePr>
        <p:xfrm>
          <a:off x="852515" y="1228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60" name="Google Shape;116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161" name="Google Shape;1161;p90"/>
          <p:cNvSpPr txBox="1"/>
          <p:nvPr/>
        </p:nvSpPr>
        <p:spPr>
          <a:xfrm>
            <a:off x="5135022" y="2691074"/>
            <a:ext cx="34011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the same numbers.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90"/>
          <p:cNvSpPr txBox="1"/>
          <p:nvPr>
            <p:ph type="body" idx="1"/>
          </p:nvPr>
        </p:nvSpPr>
        <p:spPr>
          <a:xfrm>
            <a:off x="324000" y="770825"/>
            <a:ext cx="5681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arithmetic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3" name="Google Shape;1163;p90"/>
          <p:cNvSpPr txBox="1"/>
          <p:nvPr>
            <p:ph type="body" idx="1"/>
          </p:nvPr>
        </p:nvSpPr>
        <p:spPr>
          <a:xfrm>
            <a:off x="324000" y="2699975"/>
            <a:ext cx="22707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rule 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4" name="Google Shape;1164;p90"/>
          <p:cNvSpPr txBox="1"/>
          <p:nvPr/>
        </p:nvSpPr>
        <p:spPr>
          <a:xfrm>
            <a:off x="5155847" y="2233874"/>
            <a:ext cx="3671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 you notice any similarities?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0"/>
          <p:cNvSpPr txBox="1"/>
          <p:nvPr/>
        </p:nvSpPr>
        <p:spPr>
          <a:xfrm>
            <a:off x="5135022" y="3072074"/>
            <a:ext cx="35259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both generated an arithmetic (linear) sequence with a common difference +2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90"/>
          <p:cNvSpPr/>
          <p:nvPr/>
        </p:nvSpPr>
        <p:spPr>
          <a:xfrm>
            <a:off x="2754613" y="1582853"/>
            <a:ext cx="2120400" cy="5346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90"/>
          <p:cNvSpPr/>
          <p:nvPr/>
        </p:nvSpPr>
        <p:spPr>
          <a:xfrm>
            <a:off x="2754613" y="3456618"/>
            <a:ext cx="2120400" cy="5346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71" name="Shape 1171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72" name="Google Shape;1172;p91"/>
          <p:cNvGraphicFramePr>
            <a:graphicFrameLocks noGrp="1"/>
          </p:cNvGraphicFramePr>
          <p:nvPr/>
        </p:nvGraphicFramePr>
        <p:xfrm>
          <a:off x="5077532" y="1224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73" name="Google Shape;1173;p91"/>
          <p:cNvGraphicFramePr>
            <a:graphicFrameLocks noGrp="1"/>
          </p:cNvGraphicFramePr>
          <p:nvPr/>
        </p:nvGraphicFramePr>
        <p:xfrm>
          <a:off x="5077532" y="1224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4700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74" name="Google Shape;1174;p91"/>
          <p:cNvGraphicFramePr>
            <a:graphicFrameLocks noGrp="1"/>
          </p:cNvGraphicFramePr>
          <p:nvPr/>
        </p:nvGraphicFramePr>
        <p:xfrm>
          <a:off x="547715" y="1228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175" name="Google Shape;1175;p91"/>
          <p:cNvGraphicFramePr>
            <a:graphicFrameLocks noGrp="1"/>
          </p:cNvGraphicFramePr>
          <p:nvPr/>
        </p:nvGraphicFramePr>
        <p:xfrm>
          <a:off x="547715" y="1228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1948550"/>
                <a:gridCol w="403575"/>
                <a:gridCol w="403575"/>
                <a:gridCol w="403575"/>
                <a:gridCol w="403575"/>
                <a:gridCol w="403575"/>
              </a:tblGrid>
              <a:tr h="417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1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8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76" name="Google Shape;117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177" name="Google Shape;1177;p91"/>
          <p:cNvSpPr txBox="1"/>
          <p:nvPr>
            <p:ph type="body" idx="1"/>
          </p:nvPr>
        </p:nvSpPr>
        <p:spPr>
          <a:xfrm>
            <a:off x="324000" y="770825"/>
            <a:ext cx="5681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can represent both graphically.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8" name="Google Shape;1178;p91"/>
          <p:cNvSpPr txBox="1"/>
          <p:nvPr>
            <p:ph type="body" idx="1"/>
          </p:nvPr>
        </p:nvSpPr>
        <p:spPr>
          <a:xfrm>
            <a:off x="7025346" y="2229025"/>
            <a:ext cx="14715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9" name="Google Shape;1179;p91"/>
          <p:cNvSpPr txBox="1"/>
          <p:nvPr/>
        </p:nvSpPr>
        <p:spPr>
          <a:xfrm>
            <a:off x="2488850" y="2701487"/>
            <a:ext cx="2209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are they the exact same thing?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0" name="Google Shape;1180;p91" descr="&lt;math xmlns=&quot;http://www.w3.org/1998/Math/MathML&quot; data-is-equatio=&quot;1&quot; data-equatio-url=&quot;https://equatio-api.texthelp.com/desmos/get/07-11-2023/91214bbc-9d88-46c6-9bc6-c467ab831aa1&quot; data-equatio-type=&quot;desmos&quot;&gt;&lt;mglyph src=&quot;https://equatio-api.texthelp.com/desmos/get/07-11-2023/91214bbc-9d88-46c6-9bc6-c467ab831aa1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1794" t="10497" r="50842" b="14087"/>
          <a:stretch>
            <a:fillRect/>
          </a:stretch>
        </p:blipFill>
        <p:spPr>
          <a:xfrm>
            <a:off x="694200" y="2148806"/>
            <a:ext cx="1292650" cy="2671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91"/>
          <p:cNvSpPr txBox="1"/>
          <p:nvPr>
            <p:ph type="body" idx="1"/>
          </p:nvPr>
        </p:nvSpPr>
        <p:spPr>
          <a:xfrm>
            <a:off x="2152800" y="2229037"/>
            <a:ext cx="785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2" name="Google Shape;1182;p91"/>
          <p:cNvSpPr txBox="1"/>
          <p:nvPr/>
        </p:nvSpPr>
        <p:spPr>
          <a:xfrm>
            <a:off x="470063" y="20293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91"/>
          <p:cNvSpPr txBox="1"/>
          <p:nvPr/>
        </p:nvSpPr>
        <p:spPr>
          <a:xfrm>
            <a:off x="2012991" y="4488105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4" name="Google Shape;1184;p91" descr="&lt;math xmlns=&quot;http://www.w3.org/1998/Math/MathML&quot; data-is-equatio=&quot;1&quot; data-equatio-url=&quot;https://equatio-api.texthelp.com/desmos/get/07-11-2023/91214bbc-9d88-46c6-9bc6-c467ab831aa1&quot; data-equatio-type=&quot;desmos&quot;&gt;&lt;mglyph src=&quot;https://equatio-api.texthelp.com/desmos/get/07-11-2023/91214bbc-9d88-46c6-9bc6-c467ab831aa1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1794" t="10497" r="50842" b="14087"/>
          <a:stretch>
            <a:fillRect/>
          </a:stretch>
        </p:blipFill>
        <p:spPr>
          <a:xfrm>
            <a:off x="5571000" y="2148806"/>
            <a:ext cx="1292650" cy="2671842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91"/>
          <p:cNvSpPr txBox="1"/>
          <p:nvPr/>
        </p:nvSpPr>
        <p:spPr>
          <a:xfrm>
            <a:off x="5346863" y="20293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91"/>
          <p:cNvSpPr txBox="1"/>
          <p:nvPr/>
        </p:nvSpPr>
        <p:spPr>
          <a:xfrm>
            <a:off x="6889791" y="4488105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7" name="Google Shape;1187;p91"/>
          <p:cNvSpPr txBox="1"/>
          <p:nvPr/>
        </p:nvSpPr>
        <p:spPr>
          <a:xfrm>
            <a:off x="2499250" y="3453075"/>
            <a:ext cx="2914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the term number, takes  positive integer values when plotting this sequence whereas 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can be any value.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1" name="Shape 1191"/>
        <p:cNvGrpSpPr/>
        <p:nvPr/>
      </p:nvGrpSpPr>
      <p:grpSpPr>
        <a:xfrm>
          <a:off x="0" y="0"/>
          <a:ext cx="0" cy="0"/>
        </a:xfrm>
      </p:grpSpPr>
      <p:pic>
        <p:nvPicPr>
          <p:cNvPr id="1192" name="Google Shape;1192;p92" descr="&lt;math xmlns=&quot;http://www.w3.org/1998/Math/MathML&quot; data-is-equatio=&quot;1&quot; data-equatio-url=&quot;https://equatio-api.texthelp.com/desmos/get/07-11-2023/91214bbc-9d88-46c6-9bc6-c467ab831aa1&quot; data-equatio-type=&quot;desmos&quot;&gt;&lt;mglyph src=&quot;https://equatio-api.texthelp.com/desmos/get/07-11-2023/91214bbc-9d88-46c6-9bc6-c467ab831aa1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1794" t="10497" r="50842" b="14087"/>
          <a:stretch>
            <a:fillRect/>
          </a:stretch>
        </p:blipFill>
        <p:spPr>
          <a:xfrm>
            <a:off x="6249704" y="1100157"/>
            <a:ext cx="1799988" cy="3720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3" name="Google Shape;1193;p92"/>
          <p:cNvCxnSpPr/>
          <p:nvPr/>
        </p:nvCxnSpPr>
        <p:spPr>
          <a:xfrm flipH="1">
            <a:off x="6280400" y="1118250"/>
            <a:ext cx="1749300" cy="3498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4" name="Google Shape;1194;p92"/>
          <p:cNvSpPr txBox="1"/>
          <p:nvPr/>
        </p:nvSpPr>
        <p:spPr>
          <a:xfrm>
            <a:off x="6947609" y="3013371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2"/>
          <p:cNvSpPr txBox="1"/>
          <p:nvPr/>
        </p:nvSpPr>
        <p:spPr>
          <a:xfrm>
            <a:off x="6982161" y="2937171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197" name="Google Shape;1197;p92"/>
          <p:cNvSpPr txBox="1"/>
          <p:nvPr>
            <p:ph type="body" idx="1"/>
          </p:nvPr>
        </p:nvSpPr>
        <p:spPr>
          <a:xfrm>
            <a:off x="324000" y="770825"/>
            <a:ext cx="5681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graph of the rule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98" name="Google Shape;1198;p92"/>
          <p:cNvGraphicFramePr>
            <a:graphicFrameLocks noGrp="1"/>
          </p:cNvGraphicFramePr>
          <p:nvPr/>
        </p:nvGraphicFramePr>
        <p:xfrm>
          <a:off x="408508" y="1224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02325"/>
                <a:gridCol w="431300"/>
                <a:gridCol w="431300"/>
                <a:gridCol w="431300"/>
                <a:gridCol w="431300"/>
                <a:gridCol w="431300"/>
                <a:gridCol w="431300"/>
                <a:gridCol w="431300"/>
                <a:gridCol w="431300"/>
                <a:gridCol w="525250"/>
                <a:gridCol w="379000"/>
                <a:gridCol w="38965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8.22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99" name="Google Shape;1199;p92"/>
          <p:cNvSpPr txBox="1"/>
          <p:nvPr/>
        </p:nvSpPr>
        <p:spPr>
          <a:xfrm>
            <a:off x="332400" y="2549075"/>
            <a:ext cx="5137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variable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can take on infinite values.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2"/>
          <p:cNvSpPr txBox="1"/>
          <p:nvPr/>
        </p:nvSpPr>
        <p:spPr>
          <a:xfrm>
            <a:off x="6032663" y="9625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6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1" name="Google Shape;1201;p92"/>
          <p:cNvSpPr txBox="1"/>
          <p:nvPr/>
        </p:nvSpPr>
        <p:spPr>
          <a:xfrm>
            <a:off x="8129815" y="4488105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2" name="Google Shape;1202;p92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3262" y="1245724"/>
            <a:ext cx="130239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2"/>
          <p:cNvSpPr txBox="1"/>
          <p:nvPr/>
        </p:nvSpPr>
        <p:spPr>
          <a:xfrm>
            <a:off x="6750708" y="3383959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2"/>
          <p:cNvSpPr txBox="1"/>
          <p:nvPr/>
        </p:nvSpPr>
        <p:spPr>
          <a:xfrm>
            <a:off x="6466269" y="3962323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92"/>
          <p:cNvSpPr txBox="1"/>
          <p:nvPr/>
        </p:nvSpPr>
        <p:spPr>
          <a:xfrm>
            <a:off x="7356528" y="2178024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92"/>
          <p:cNvSpPr txBox="1"/>
          <p:nvPr/>
        </p:nvSpPr>
        <p:spPr>
          <a:xfrm>
            <a:off x="6331376" y="4235424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7" name="Google Shape;1207;p92"/>
          <p:cNvGrpSpPr/>
          <p:nvPr/>
        </p:nvGrpSpPr>
        <p:grpSpPr>
          <a:xfrm>
            <a:off x="2261469" y="1284838"/>
            <a:ext cx="305700" cy="752100"/>
            <a:chOff x="2261469" y="1284838"/>
            <a:chExt cx="305700" cy="752100"/>
          </a:xfrm>
        </p:grpSpPr>
        <p:sp>
          <p:nvSpPr>
            <p:cNvPr id="1208" name="Google Shape;1208;p92"/>
            <p:cNvSpPr/>
            <p:nvPr/>
          </p:nvSpPr>
          <p:spPr>
            <a:xfrm>
              <a:off x="2261469" y="1284838"/>
              <a:ext cx="305700" cy="2949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92"/>
            <p:cNvSpPr/>
            <p:nvPr/>
          </p:nvSpPr>
          <p:spPr>
            <a:xfrm>
              <a:off x="2261469" y="1742038"/>
              <a:ext cx="305700" cy="2949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2"/>
          <p:cNvGrpSpPr/>
          <p:nvPr/>
        </p:nvGrpSpPr>
        <p:grpSpPr>
          <a:xfrm>
            <a:off x="1402450" y="1243288"/>
            <a:ext cx="305700" cy="882762"/>
            <a:chOff x="2261469" y="1276364"/>
            <a:chExt cx="305700" cy="718218"/>
          </a:xfrm>
        </p:grpSpPr>
        <p:sp>
          <p:nvSpPr>
            <p:cNvPr id="1211" name="Google Shape;1211;p92"/>
            <p:cNvSpPr/>
            <p:nvPr/>
          </p:nvSpPr>
          <p:spPr>
            <a:xfrm>
              <a:off x="2261469" y="1276364"/>
              <a:ext cx="305700" cy="337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92"/>
            <p:cNvSpPr/>
            <p:nvPr/>
          </p:nvSpPr>
          <p:spPr>
            <a:xfrm>
              <a:off x="2261469" y="1699682"/>
              <a:ext cx="305700" cy="2949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2"/>
          <p:cNvGrpSpPr/>
          <p:nvPr/>
        </p:nvGrpSpPr>
        <p:grpSpPr>
          <a:xfrm>
            <a:off x="976486" y="1243288"/>
            <a:ext cx="305700" cy="882762"/>
            <a:chOff x="2261469" y="1276364"/>
            <a:chExt cx="305700" cy="718218"/>
          </a:xfrm>
        </p:grpSpPr>
        <p:sp>
          <p:nvSpPr>
            <p:cNvPr id="1214" name="Google Shape;1214;p92"/>
            <p:cNvSpPr/>
            <p:nvPr/>
          </p:nvSpPr>
          <p:spPr>
            <a:xfrm>
              <a:off x="2261469" y="1276364"/>
              <a:ext cx="305700" cy="337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92"/>
            <p:cNvSpPr/>
            <p:nvPr/>
          </p:nvSpPr>
          <p:spPr>
            <a:xfrm>
              <a:off x="2261469" y="1699682"/>
              <a:ext cx="305700" cy="2949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6" name="Google Shape;1216;p92"/>
          <p:cNvGrpSpPr/>
          <p:nvPr/>
        </p:nvGrpSpPr>
        <p:grpSpPr>
          <a:xfrm>
            <a:off x="3120498" y="1243288"/>
            <a:ext cx="305700" cy="882762"/>
            <a:chOff x="2261469" y="1276364"/>
            <a:chExt cx="305700" cy="718218"/>
          </a:xfrm>
        </p:grpSpPr>
        <p:sp>
          <p:nvSpPr>
            <p:cNvPr id="1217" name="Google Shape;1217;p92"/>
            <p:cNvSpPr/>
            <p:nvPr/>
          </p:nvSpPr>
          <p:spPr>
            <a:xfrm>
              <a:off x="2261469" y="1276364"/>
              <a:ext cx="305700" cy="337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92"/>
            <p:cNvSpPr/>
            <p:nvPr/>
          </p:nvSpPr>
          <p:spPr>
            <a:xfrm>
              <a:off x="2261469" y="1699682"/>
              <a:ext cx="305700" cy="2949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92"/>
          <p:cNvGrpSpPr/>
          <p:nvPr/>
        </p:nvGrpSpPr>
        <p:grpSpPr>
          <a:xfrm>
            <a:off x="3567286" y="1243288"/>
            <a:ext cx="305700" cy="882762"/>
            <a:chOff x="2261469" y="1276364"/>
            <a:chExt cx="305700" cy="718218"/>
          </a:xfrm>
        </p:grpSpPr>
        <p:sp>
          <p:nvSpPr>
            <p:cNvPr id="1220" name="Google Shape;1220;p92"/>
            <p:cNvSpPr/>
            <p:nvPr/>
          </p:nvSpPr>
          <p:spPr>
            <a:xfrm>
              <a:off x="2261469" y="1276364"/>
              <a:ext cx="305700" cy="337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92"/>
            <p:cNvSpPr/>
            <p:nvPr/>
          </p:nvSpPr>
          <p:spPr>
            <a:xfrm>
              <a:off x="2261469" y="1699682"/>
              <a:ext cx="305700" cy="2949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92"/>
          <p:cNvGrpSpPr/>
          <p:nvPr/>
        </p:nvGrpSpPr>
        <p:grpSpPr>
          <a:xfrm>
            <a:off x="4415971" y="1243321"/>
            <a:ext cx="408109" cy="882762"/>
            <a:chOff x="2261469" y="1276364"/>
            <a:chExt cx="305700" cy="718218"/>
          </a:xfrm>
        </p:grpSpPr>
        <p:sp>
          <p:nvSpPr>
            <p:cNvPr id="1223" name="Google Shape;1223;p92"/>
            <p:cNvSpPr/>
            <p:nvPr/>
          </p:nvSpPr>
          <p:spPr>
            <a:xfrm>
              <a:off x="2261469" y="1276364"/>
              <a:ext cx="305700" cy="337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92"/>
            <p:cNvSpPr/>
            <p:nvPr/>
          </p:nvSpPr>
          <p:spPr>
            <a:xfrm>
              <a:off x="2261469" y="1699682"/>
              <a:ext cx="305700" cy="2949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5" name="Google Shape;1225;p92"/>
          <p:cNvSpPr txBox="1"/>
          <p:nvPr/>
        </p:nvSpPr>
        <p:spPr>
          <a:xfrm>
            <a:off x="332400" y="3082475"/>
            <a:ext cx="54420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When graphing this rule linking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we do draw a line. The line represents the infinite number of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inputs and their respective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 i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29" name="Shape 1229"/>
        <p:cNvGrpSpPr/>
        <p:nvPr/>
      </p:nvGrpSpPr>
      <p:grpSpPr>
        <a:xfrm>
          <a:off x="0" y="0"/>
          <a:ext cx="0" cy="0"/>
        </a:xfrm>
      </p:grpSpPr>
      <p:sp>
        <p:nvSpPr>
          <p:cNvPr id="1230" name="Google Shape;1230;p93"/>
          <p:cNvSpPr txBox="1"/>
          <p:nvPr>
            <p:ph type="subTitle" idx="2"/>
          </p:nvPr>
        </p:nvSpPr>
        <p:spPr>
          <a:xfrm>
            <a:off x="980575" y="3043725"/>
            <a:ext cx="61953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It’s the same as plotting an arithmetic sequence.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has to be a positive integer so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has to be too.</a:t>
            </a:r>
            <a:endParaRPr sz="2000"/>
          </a:p>
        </p:txBody>
      </p:sp>
      <p:sp>
        <p:nvSpPr>
          <p:cNvPr id="1231" name="Google Shape;123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232" name="Google Shape;1232;p93"/>
          <p:cNvSpPr txBox="1"/>
          <p:nvPr>
            <p:ph type="subTitle" idx="1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When plotting the rule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/>
              <a:t> we only plot positive integers.</a:t>
            </a:r>
            <a:endParaRPr/>
          </a:p>
        </p:txBody>
      </p:sp>
      <p:sp>
        <p:nvSpPr>
          <p:cNvPr id="1233" name="Google Shape;1233;p93"/>
          <p:cNvSpPr txBox="1"/>
          <p:nvPr>
            <p:ph type="subTitle" idx="3"/>
          </p:nvPr>
        </p:nvSpPr>
        <p:spPr>
          <a:xfrm>
            <a:off x="980575" y="390167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When plotting rules that link 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coordinates there are infinite inputs and outputs, not just positive integers.</a:t>
            </a:r>
            <a:endParaRPr sz="2000"/>
          </a:p>
        </p:txBody>
      </p:sp>
      <p:pic>
        <p:nvPicPr>
          <p:cNvPr id="1234" name="Google Shape;123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182303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6583" y="410903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39" name="Shape 1239"/>
        <p:cNvGrpSpPr/>
        <p:nvPr/>
      </p:nvGrpSpPr>
      <p:grpSpPr>
        <a:xfrm>
          <a:off x="0" y="0"/>
          <a:ext cx="0" cy="0"/>
        </a:xfrm>
      </p:grpSpPr>
      <p:graphicFrame>
        <p:nvGraphicFramePr>
          <p:cNvPr id="1240" name="Google Shape;1240;p94"/>
          <p:cNvGraphicFramePr>
            <a:graphicFrameLocks noGrp="1"/>
          </p:cNvGraphicFramePr>
          <p:nvPr/>
        </p:nvGraphicFramePr>
        <p:xfrm>
          <a:off x="560908" y="1301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93925"/>
                <a:gridCol w="509950"/>
                <a:gridCol w="509950"/>
                <a:gridCol w="509950"/>
                <a:gridCol w="509950"/>
                <a:gridCol w="509950"/>
                <a:gridCol w="509950"/>
                <a:gridCol w="50995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41" name="Google Shape;1241;p94"/>
          <p:cNvGraphicFramePr>
            <a:graphicFrameLocks noGrp="1"/>
          </p:cNvGraphicFramePr>
          <p:nvPr/>
        </p:nvGraphicFramePr>
        <p:xfrm>
          <a:off x="560908" y="1301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93925"/>
                <a:gridCol w="509950"/>
                <a:gridCol w="509950"/>
                <a:gridCol w="509950"/>
                <a:gridCol w="509950"/>
                <a:gridCol w="509950"/>
                <a:gridCol w="509950"/>
                <a:gridCol w="50995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42" name="Google Shape;124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243" name="Google Shape;1243;p94"/>
          <p:cNvSpPr txBox="1"/>
          <p:nvPr>
            <p:ph type="body" idx="1"/>
          </p:nvPr>
        </p:nvSpPr>
        <p:spPr>
          <a:xfrm>
            <a:off x="324000" y="770825"/>
            <a:ext cx="6383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Fill in this table of values to graph the rule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4" name="Google Shape;1244;p94"/>
          <p:cNvSpPr txBox="1"/>
          <p:nvPr/>
        </p:nvSpPr>
        <p:spPr>
          <a:xfrm>
            <a:off x="332400" y="2580311"/>
            <a:ext cx="5073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know that the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coordinate can be negative, so negative 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values can be input into the rule and plotted.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4"/>
          <p:cNvSpPr txBox="1"/>
          <p:nvPr/>
        </p:nvSpPr>
        <p:spPr>
          <a:xfrm>
            <a:off x="332400" y="3875700"/>
            <a:ext cx="5281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But you might find it easiest to calculate the zero and positive values first.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94"/>
          <p:cNvSpPr/>
          <p:nvPr/>
        </p:nvSpPr>
        <p:spPr>
          <a:xfrm>
            <a:off x="2574300" y="1264700"/>
            <a:ext cx="2249700" cy="513300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94"/>
          <p:cNvSpPr/>
          <p:nvPr/>
        </p:nvSpPr>
        <p:spPr>
          <a:xfrm>
            <a:off x="2271886" y="1829376"/>
            <a:ext cx="305700" cy="36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94"/>
          <p:cNvSpPr/>
          <p:nvPr/>
        </p:nvSpPr>
        <p:spPr>
          <a:xfrm>
            <a:off x="1748898" y="1829376"/>
            <a:ext cx="305700" cy="36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4"/>
          <p:cNvSpPr/>
          <p:nvPr/>
        </p:nvSpPr>
        <p:spPr>
          <a:xfrm>
            <a:off x="1215501" y="1829375"/>
            <a:ext cx="390000" cy="36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4"/>
          <p:cNvSpPr txBox="1"/>
          <p:nvPr/>
        </p:nvSpPr>
        <p:spPr>
          <a:xfrm>
            <a:off x="5140096" y="1641749"/>
            <a:ext cx="36261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Have you spotted a pattern?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4"/>
          <p:cNvSpPr txBox="1"/>
          <p:nvPr/>
        </p:nvSpPr>
        <p:spPr>
          <a:xfrm>
            <a:off x="5673500" y="2119775"/>
            <a:ext cx="30690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Like an arithmetic (linear) sequence, we have a common difference.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2" name="Google Shape;1252;p94"/>
          <p:cNvSpPr txBox="1"/>
          <p:nvPr>
            <p:ph type="body" idx="1"/>
          </p:nvPr>
        </p:nvSpPr>
        <p:spPr>
          <a:xfrm>
            <a:off x="6257206" y="3566075"/>
            <a:ext cx="24852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 i="1"/>
              <a:t> </a:t>
            </a:r>
            <a:r>
              <a:rPr lang="en-GB" sz="2000"/>
              <a:t>=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 i="1"/>
              <a:t> </a:t>
            </a:r>
            <a:r>
              <a:rPr lang="en-GB" sz="2000"/>
              <a:t>− 2</a:t>
            </a:r>
            <a:endParaRPr sz="2000" i="1"/>
          </a:p>
        </p:txBody>
      </p:sp>
      <p:sp>
        <p:nvSpPr>
          <p:cNvPr id="1253" name="Google Shape;1253;p94"/>
          <p:cNvSpPr txBox="1"/>
          <p:nvPr>
            <p:ph type="body" idx="1"/>
          </p:nvPr>
        </p:nvSpPr>
        <p:spPr>
          <a:xfrm>
            <a:off x="6444155" y="4026591"/>
            <a:ext cx="15330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= 3(−3)</a:t>
            </a:r>
            <a:r>
              <a:rPr lang="en-GB" sz="2000" i="1"/>
              <a:t> </a:t>
            </a:r>
            <a:r>
              <a:rPr lang="en-GB" sz="2000"/>
              <a:t>− 2</a:t>
            </a:r>
            <a:endParaRPr sz="2000" i="1"/>
          </a:p>
        </p:txBody>
      </p:sp>
      <p:sp>
        <p:nvSpPr>
          <p:cNvPr id="1254" name="Google Shape;1254;p94"/>
          <p:cNvSpPr txBox="1"/>
          <p:nvPr>
            <p:ph type="body" idx="1"/>
          </p:nvPr>
        </p:nvSpPr>
        <p:spPr>
          <a:xfrm>
            <a:off x="6444149" y="4483800"/>
            <a:ext cx="17208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= −9</a:t>
            </a:r>
            <a:r>
              <a:rPr lang="en-GB" sz="2000" i="1"/>
              <a:t> </a:t>
            </a:r>
            <a:r>
              <a:rPr lang="en-GB" sz="2000"/>
              <a:t>− 2 = −11</a:t>
            </a:r>
            <a:endParaRPr sz="2000" i="1"/>
          </a:p>
        </p:txBody>
      </p:sp>
      <p:sp>
        <p:nvSpPr>
          <p:cNvPr id="1255" name="Google Shape;1255;p94"/>
          <p:cNvSpPr txBox="1"/>
          <p:nvPr/>
        </p:nvSpPr>
        <p:spPr>
          <a:xfrm>
            <a:off x="5673500" y="3262775"/>
            <a:ext cx="1033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Check!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9" name="Shape 1259"/>
        <p:cNvGrpSpPr/>
        <p:nvPr/>
      </p:nvGrpSpPr>
      <p:grpSpPr>
        <a:xfrm>
          <a:off x="0" y="0"/>
          <a:ext cx="0" cy="0"/>
        </a:xfrm>
      </p:grpSpPr>
      <p:graphicFrame>
        <p:nvGraphicFramePr>
          <p:cNvPr id="1260" name="Google Shape;1260;p95"/>
          <p:cNvGraphicFramePr>
            <a:graphicFrameLocks noGrp="1"/>
          </p:cNvGraphicFramePr>
          <p:nvPr/>
        </p:nvGraphicFramePr>
        <p:xfrm>
          <a:off x="560908" y="1301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93925"/>
                <a:gridCol w="509950"/>
                <a:gridCol w="509950"/>
                <a:gridCol w="509950"/>
                <a:gridCol w="509950"/>
                <a:gridCol w="509950"/>
                <a:gridCol w="509950"/>
                <a:gridCol w="50995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261" name="Google Shape;1261;p95"/>
          <p:cNvGraphicFramePr>
            <a:graphicFrameLocks noGrp="1"/>
          </p:cNvGraphicFramePr>
          <p:nvPr/>
        </p:nvGraphicFramePr>
        <p:xfrm>
          <a:off x="560908" y="13010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93925"/>
                <a:gridCol w="509950"/>
                <a:gridCol w="509950"/>
                <a:gridCol w="509950"/>
                <a:gridCol w="509950"/>
                <a:gridCol w="509950"/>
                <a:gridCol w="509950"/>
                <a:gridCol w="50995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62" name="Google Shape;126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263" name="Google Shape;1263;p95"/>
          <p:cNvSpPr txBox="1"/>
          <p:nvPr>
            <p:ph type="body" idx="1"/>
          </p:nvPr>
        </p:nvSpPr>
        <p:spPr>
          <a:xfrm>
            <a:off x="324000" y="812427"/>
            <a:ext cx="26652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rule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4" name="Google Shape;1264;p95"/>
          <p:cNvSpPr txBox="1"/>
          <p:nvPr/>
        </p:nvSpPr>
        <p:spPr>
          <a:xfrm>
            <a:off x="348850" y="2579225"/>
            <a:ext cx="4969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Unlike arithmetic sequences we are now plotting in more than two quadrants.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5" name="Google Shape;1265;p95" descr="&lt;math xmlns=&quot;http://www.w3.org/1998/Math/MathML&quot; data-is-equatio=&quot;1&quot; data-equatio-url=&quot;https://equatio-api.texthelp.com/desmos/get/07-11-2023/56751fac-36f0-4fdf-9fa9-93f4595d5704&quot; data-equatio-type=&quot;desmos&quot;&gt;&lt;mglyph src=&quot;https://equatio-api.texthelp.com/desmos/get/07-11-2023/56751fac-36f0-4fdf-9fa9-93f4595d570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0362" t="8609" r="48864"/>
          <a:stretch>
            <a:fillRect/>
          </a:stretch>
        </p:blipFill>
        <p:spPr>
          <a:xfrm>
            <a:off x="5816050" y="910175"/>
            <a:ext cx="1874350" cy="3905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95"/>
          <p:cNvSpPr txBox="1"/>
          <p:nvPr/>
        </p:nvSpPr>
        <p:spPr>
          <a:xfrm>
            <a:off x="6566063" y="6577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7" name="Google Shape;1267;p95"/>
          <p:cNvSpPr txBox="1"/>
          <p:nvPr/>
        </p:nvSpPr>
        <p:spPr>
          <a:xfrm>
            <a:off x="7748815" y="2366037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8" name="Google Shape;1268;p95"/>
          <p:cNvCxnSpPr/>
          <p:nvPr/>
        </p:nvCxnSpPr>
        <p:spPr>
          <a:xfrm flipH="1">
            <a:off x="6045475" y="938750"/>
            <a:ext cx="1395300" cy="3874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9" name="Google Shape;1269;p95"/>
          <p:cNvSpPr txBox="1"/>
          <p:nvPr/>
        </p:nvSpPr>
        <p:spPr>
          <a:xfrm>
            <a:off x="348851" y="3722225"/>
            <a:ext cx="5027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has infinite inputs so we draw a line through all points, and beyond our last points to reflect that.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73" name="Shape 1273"/>
        <p:cNvGrpSpPr/>
        <p:nvPr/>
      </p:nvGrpSpPr>
      <p:grpSpPr>
        <a:xfrm>
          <a:off x="0" y="0"/>
          <a:ext cx="0" cy="0"/>
        </a:xfrm>
      </p:grpSpPr>
      <p:pic>
        <p:nvPicPr>
          <p:cNvPr id="1274" name="Google Shape;1274;p96" descr="&lt;math xmlns=&quot;http://www.w3.org/1998/Math/MathML&quot; data-is-equatio=&quot;1&quot; data-equatio-url=&quot;https://equatio-api.texthelp.com/desmos/get/07-11-2023/9db9d8a4-f508-45a4-aa9a-e7b05bb6fc44&quot; data-equatio-type=&quot;desmos&quot;&gt;&lt;mglyph src=&quot;https://equatio-api.texthelp.com/desmos/get/07-11-2023/9db9d8a4-f508-45a4-aa9a-e7b05bb6fc4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8197" t="10501" r="32565" b="18156"/>
          <a:stretch>
            <a:fillRect/>
          </a:stretch>
        </p:blipFill>
        <p:spPr>
          <a:xfrm>
            <a:off x="5770200" y="1108275"/>
            <a:ext cx="3045600" cy="33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that follow a rule</a:t>
            </a:r>
            <a:endParaRPr/>
          </a:p>
        </p:txBody>
      </p:sp>
      <p:graphicFrame>
        <p:nvGraphicFramePr>
          <p:cNvPr id="1276" name="Google Shape;1276;p96"/>
          <p:cNvGraphicFramePr>
            <a:graphicFrameLocks noGrp="1"/>
          </p:cNvGraphicFramePr>
          <p:nvPr/>
        </p:nvGraphicFramePr>
        <p:xfrm>
          <a:off x="332308" y="1617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43925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77" name="Google Shape;1277;p96"/>
          <p:cNvSpPr txBox="1"/>
          <p:nvPr>
            <p:ph type="body" idx="1"/>
          </p:nvPr>
        </p:nvSpPr>
        <p:spPr>
          <a:xfrm>
            <a:off x="324000" y="812425"/>
            <a:ext cx="45000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Complete the table of values to plot the rule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8" name="Google Shape;1278;p96"/>
          <p:cNvSpPr txBox="1"/>
          <p:nvPr/>
        </p:nvSpPr>
        <p:spPr>
          <a:xfrm>
            <a:off x="6642263" y="810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9" name="Google Shape;1279;p96"/>
          <p:cNvSpPr txBox="1"/>
          <p:nvPr/>
        </p:nvSpPr>
        <p:spPr>
          <a:xfrm>
            <a:off x="8692960" y="3649809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0" name="Google Shape;1280;p96"/>
          <p:cNvSpPr txBox="1"/>
          <p:nvPr/>
        </p:nvSpPr>
        <p:spPr>
          <a:xfrm>
            <a:off x="348850" y="2743241"/>
            <a:ext cx="37308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Some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values are already done for you.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4" name="Shape 1284"/>
        <p:cNvGrpSpPr/>
        <p:nvPr/>
      </p:nvGrpSpPr>
      <p:grpSpPr>
        <a:xfrm>
          <a:off x="0" y="0"/>
          <a:ext cx="0" cy="0"/>
        </a:xfrm>
      </p:grpSpPr>
      <p:pic>
        <p:nvPicPr>
          <p:cNvPr id="1285" name="Google Shape;1285;p97" descr="&lt;math xmlns=&quot;http://www.w3.org/1998/Math/MathML&quot; data-is-equatio=&quot;1&quot; data-equatio-url=&quot;https://equatio-api.texthelp.com/desmos/get/07-11-2023/9db9d8a4-f508-45a4-aa9a-e7b05bb6fc44&quot; data-equatio-type=&quot;desmos&quot;&gt;&lt;mglyph src=&quot;https://equatio-api.texthelp.com/desmos/get/07-11-2023/9db9d8a4-f508-45a4-aa9a-e7b05bb6fc4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8197" t="10501" r="32565" b="18156"/>
          <a:stretch>
            <a:fillRect/>
          </a:stretch>
        </p:blipFill>
        <p:spPr>
          <a:xfrm>
            <a:off x="5770200" y="1108275"/>
            <a:ext cx="3045600" cy="33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pic>
        <p:nvPicPr>
          <p:cNvPr id="1287" name="Google Shape;1287;p97" descr="&lt;math xmlns=&quot;http://www.w3.org/1998/Math/MathML&quot; data-is-equatio=&quot;1&quot; data-equatio-url=&quot;https://equatio-api.texthelp.com/desmos/get/07-11-2023/0a62ff44-2567-4d19-a851-e19d126abee6&quot; data-equatio-type=&quot;desmos&quot;&gt;&lt;mglyph src=&quot;https://equatio-api.texthelp.com/desmos/get/07-11-2023/0a62ff44-2567-4d19-a851-e19d126abee6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7241" t="10498" r="32711" b="17200"/>
          <a:stretch>
            <a:fillRect/>
          </a:stretch>
        </p:blipFill>
        <p:spPr>
          <a:xfrm>
            <a:off x="5774400" y="1108163"/>
            <a:ext cx="3045600" cy="33001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8" name="Google Shape;1288;p97"/>
          <p:cNvGraphicFramePr>
            <a:graphicFrameLocks noGrp="1"/>
          </p:cNvGraphicFramePr>
          <p:nvPr/>
        </p:nvGraphicFramePr>
        <p:xfrm>
          <a:off x="332308" y="1617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43925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89" name="Google Shape;1289;p97"/>
          <p:cNvSpPr txBox="1"/>
          <p:nvPr>
            <p:ph type="body" idx="1"/>
          </p:nvPr>
        </p:nvSpPr>
        <p:spPr>
          <a:xfrm>
            <a:off x="324000" y="812425"/>
            <a:ext cx="45000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Complete the table of values to plot the rule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0" name="Google Shape;1290;p97"/>
          <p:cNvSpPr txBox="1"/>
          <p:nvPr/>
        </p:nvSpPr>
        <p:spPr>
          <a:xfrm>
            <a:off x="6642263" y="810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1" name="Google Shape;1291;p97"/>
          <p:cNvSpPr txBox="1"/>
          <p:nvPr/>
        </p:nvSpPr>
        <p:spPr>
          <a:xfrm>
            <a:off x="8692960" y="3649809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2" name="Google Shape;1292;p97"/>
          <p:cNvCxnSpPr/>
          <p:nvPr/>
        </p:nvCxnSpPr>
        <p:spPr>
          <a:xfrm rot="10800000">
            <a:off x="5775650" y="1584500"/>
            <a:ext cx="2741100" cy="2718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96" name="Shape 1296"/>
        <p:cNvGrpSpPr/>
        <p:nvPr/>
      </p:nvGrpSpPr>
      <p:grpSpPr>
        <a:xfrm>
          <a:off x="0" y="0"/>
          <a:ext cx="0" cy="0"/>
        </a:xfrm>
      </p:grpSpPr>
      <p:pic>
        <p:nvPicPr>
          <p:cNvPr id="1297" name="Google Shape;1297;p98" descr="&lt;math xmlns=&quot;http://www.w3.org/1998/Math/MathML&quot; data-is-equatio=&quot;1&quot; data-equatio-url=&quot;https://equatio-api.texthelp.com/desmos/get/07-11-2023/9db9d8a4-f508-45a4-aa9a-e7b05bb6fc44&quot; data-equatio-type=&quot;desmos&quot;&gt;&lt;mglyph src=&quot;https://equatio-api.texthelp.com/desmos/get/07-11-2023/9db9d8a4-f508-45a4-aa9a-e7b05bb6fc4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8197" t="10501" r="32565" b="18156"/>
          <a:stretch>
            <a:fillRect/>
          </a:stretch>
        </p:blipFill>
        <p:spPr>
          <a:xfrm>
            <a:off x="5770200" y="1108275"/>
            <a:ext cx="3045600" cy="33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pic>
        <p:nvPicPr>
          <p:cNvPr id="1299" name="Google Shape;1299;p98" descr="&lt;math xmlns=&quot;http://www.w3.org/1998/Math/MathML&quot; data-is-equatio=&quot;1&quot; data-equatio-url=&quot;https://equatio-api.texthelp.com/desmos/get/07-11-2023/0a62ff44-2567-4d19-a851-e19d126abee6&quot; data-equatio-type=&quot;desmos&quot;&gt;&lt;mglyph src=&quot;https://equatio-api.texthelp.com/desmos/get/07-11-2023/0a62ff44-2567-4d19-a851-e19d126abee6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7241" t="10498" r="32711" b="17200"/>
          <a:stretch>
            <a:fillRect/>
          </a:stretch>
        </p:blipFill>
        <p:spPr>
          <a:xfrm>
            <a:off x="5774400" y="1108163"/>
            <a:ext cx="3045600" cy="33001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0" name="Google Shape;1300;p98"/>
          <p:cNvGraphicFramePr>
            <a:graphicFrameLocks noGrp="1"/>
          </p:cNvGraphicFramePr>
          <p:nvPr/>
        </p:nvGraphicFramePr>
        <p:xfrm>
          <a:off x="332308" y="1617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43925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  <a:gridCol w="46700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01" name="Google Shape;1301;p98"/>
          <p:cNvSpPr txBox="1"/>
          <p:nvPr>
            <p:ph type="body" idx="1"/>
          </p:nvPr>
        </p:nvSpPr>
        <p:spPr>
          <a:xfrm>
            <a:off x="324000" y="817379"/>
            <a:ext cx="4707900" cy="74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Complete the table of values to plot the rule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98"/>
          <p:cNvSpPr txBox="1"/>
          <p:nvPr/>
        </p:nvSpPr>
        <p:spPr>
          <a:xfrm>
            <a:off x="6642263" y="810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98"/>
          <p:cNvSpPr txBox="1"/>
          <p:nvPr/>
        </p:nvSpPr>
        <p:spPr>
          <a:xfrm>
            <a:off x="8692960" y="3649809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4" name="Google Shape;1304;p98"/>
          <p:cNvCxnSpPr/>
          <p:nvPr/>
        </p:nvCxnSpPr>
        <p:spPr>
          <a:xfrm rot="10800000">
            <a:off x="5775650" y="1584500"/>
            <a:ext cx="2741100" cy="2718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5" name="Google Shape;1305;p98"/>
          <p:cNvSpPr txBox="1"/>
          <p:nvPr>
            <p:ph type="body" idx="1"/>
          </p:nvPr>
        </p:nvSpPr>
        <p:spPr>
          <a:xfrm>
            <a:off x="324000" y="2874779"/>
            <a:ext cx="4707900" cy="74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Did our table of values have to be in consecutive integer order for us to be able to plot the rule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?</a:t>
            </a:r>
            <a:endParaRPr sz="2000" i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9" name="Shape 1309"/>
        <p:cNvGrpSpPr/>
        <p:nvPr/>
      </p:nvGrpSpPr>
      <p:grpSpPr>
        <a:xfrm>
          <a:off x="0" y="0"/>
          <a:ext cx="0" cy="0"/>
        </a:xfrm>
      </p:grpSpPr>
      <p:pic>
        <p:nvPicPr>
          <p:cNvPr id="1310" name="Google Shape;1310;p99" descr="&lt;math xmlns=&quot;http://www.w3.org/1998/Math/MathML&quot; data-is-equatio=&quot;1&quot; data-equatio-url=&quot;https://equatio-api.texthelp.com/desmos/get/07-11-2023/9db9d8a4-f508-45a4-aa9a-e7b05bb6fc44&quot; data-equatio-type=&quot;desmos&quot;&gt;&lt;mglyph src=&quot;https://equatio-api.texthelp.com/desmos/get/07-11-2023/9db9d8a4-f508-45a4-aa9a-e7b05bb6fc4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8197" t="10501" r="32565" b="18156"/>
          <a:stretch>
            <a:fillRect/>
          </a:stretch>
        </p:blipFill>
        <p:spPr>
          <a:xfrm>
            <a:off x="5770200" y="1108275"/>
            <a:ext cx="3045600" cy="33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99" descr="&lt;math xmlns=&quot;http://www.w3.org/1998/Math/MathML&quot; data-is-equatio=&quot;1&quot; data-equatio-url=&quot;https://equatio-api.texthelp.com/desmos/get/07-11-2023/9db9d8a4-f508-45a4-aa9a-e7b05bb6fc44&quot; data-equatio-type=&quot;desmos&quot;&gt;&lt;mglyph src=&quot;https://equatio-api.texthelp.com/desmos/get/07-11-2023/9db9d8a4-f508-45a4-aa9a-e7b05bb6fc4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8197" t="10501" r="32565" b="18156"/>
          <a:stretch>
            <a:fillRect/>
          </a:stretch>
        </p:blipFill>
        <p:spPr>
          <a:xfrm>
            <a:off x="5770200" y="1108275"/>
            <a:ext cx="3045600" cy="33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graphicFrame>
        <p:nvGraphicFramePr>
          <p:cNvPr id="1313" name="Google Shape;1313;p99"/>
          <p:cNvGraphicFramePr>
            <a:graphicFrameLocks noGrp="1"/>
          </p:cNvGraphicFramePr>
          <p:nvPr/>
        </p:nvGraphicFramePr>
        <p:xfrm>
          <a:off x="332308" y="1617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779850"/>
                <a:gridCol w="669550"/>
                <a:gridCol w="669550"/>
                <a:gridCol w="669550"/>
                <a:gridCol w="669550"/>
              </a:tblGrid>
              <a:tr h="45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14" name="Google Shape;1314;p99"/>
          <p:cNvSpPr txBox="1"/>
          <p:nvPr>
            <p:ph type="body" idx="1"/>
          </p:nvPr>
        </p:nvSpPr>
        <p:spPr>
          <a:xfrm>
            <a:off x="324000" y="817379"/>
            <a:ext cx="4707900" cy="74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Complete the table of values to plot the rule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5" name="Google Shape;1315;p99"/>
          <p:cNvSpPr txBox="1"/>
          <p:nvPr/>
        </p:nvSpPr>
        <p:spPr>
          <a:xfrm>
            <a:off x="6642263" y="810105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6" name="Google Shape;1316;p99"/>
          <p:cNvSpPr txBox="1"/>
          <p:nvPr/>
        </p:nvSpPr>
        <p:spPr>
          <a:xfrm>
            <a:off x="8692960" y="3649809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7" name="Google Shape;1317;p99"/>
          <p:cNvCxnSpPr/>
          <p:nvPr/>
        </p:nvCxnSpPr>
        <p:spPr>
          <a:xfrm rot="10800000">
            <a:off x="5810175" y="1677125"/>
            <a:ext cx="2660100" cy="2637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18" name="Google Shape;1318;p99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3794" y="1638340"/>
            <a:ext cx="130239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99"/>
          <p:cNvSpPr txBox="1"/>
          <p:nvPr>
            <p:ph type="body" idx="1"/>
          </p:nvPr>
        </p:nvSpPr>
        <p:spPr>
          <a:xfrm>
            <a:off x="2615103" y="1696925"/>
            <a:ext cx="1302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0" name="Google Shape;1320;p99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3794" y="2130387"/>
            <a:ext cx="130239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99"/>
          <p:cNvSpPr txBox="1"/>
          <p:nvPr>
            <p:ph type="body" idx="1"/>
          </p:nvPr>
        </p:nvSpPr>
        <p:spPr>
          <a:xfrm>
            <a:off x="2615103" y="2188973"/>
            <a:ext cx="1302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2" name="Google Shape;1322;p99"/>
          <p:cNvSpPr/>
          <p:nvPr/>
        </p:nvSpPr>
        <p:spPr>
          <a:xfrm>
            <a:off x="1162522" y="2134175"/>
            <a:ext cx="522300" cy="36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9"/>
          <p:cNvSpPr/>
          <p:nvPr/>
        </p:nvSpPr>
        <p:spPr>
          <a:xfrm>
            <a:off x="1848322" y="2134175"/>
            <a:ext cx="522300" cy="36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9"/>
          <p:cNvSpPr/>
          <p:nvPr/>
        </p:nvSpPr>
        <p:spPr>
          <a:xfrm>
            <a:off x="2511825" y="2092826"/>
            <a:ext cx="522300" cy="478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9"/>
          <p:cNvSpPr/>
          <p:nvPr/>
        </p:nvSpPr>
        <p:spPr>
          <a:xfrm>
            <a:off x="3190185" y="2134175"/>
            <a:ext cx="522300" cy="36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9"/>
          <p:cNvSpPr txBox="1"/>
          <p:nvPr/>
        </p:nvSpPr>
        <p:spPr>
          <a:xfrm>
            <a:off x="6788401" y="2614254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9"/>
          <p:cNvSpPr txBox="1"/>
          <p:nvPr/>
        </p:nvSpPr>
        <p:spPr>
          <a:xfrm>
            <a:off x="6513338" y="2339191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9"/>
          <p:cNvSpPr txBox="1"/>
          <p:nvPr/>
        </p:nvSpPr>
        <p:spPr>
          <a:xfrm>
            <a:off x="7626601" y="3452454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9"/>
          <p:cNvSpPr txBox="1"/>
          <p:nvPr/>
        </p:nvSpPr>
        <p:spPr>
          <a:xfrm>
            <a:off x="7146170" y="2965518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✖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9"/>
          <p:cNvSpPr txBox="1"/>
          <p:nvPr>
            <p:ph type="body" idx="1"/>
          </p:nvPr>
        </p:nvSpPr>
        <p:spPr>
          <a:xfrm>
            <a:off x="324000" y="2874775"/>
            <a:ext cx="4500000" cy="74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Any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 input into the rule will generate this same linear pattern.</a:t>
            </a:r>
            <a:endParaRPr sz="2000" i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4" name="Shape 1334"/>
        <p:cNvGrpSpPr/>
        <p:nvPr/>
      </p:nvGrpSpPr>
      <p:grpSpPr>
        <a:xfrm>
          <a:off x="0" y="0"/>
          <a:ext cx="0" cy="0"/>
        </a:xfrm>
      </p:grpSpPr>
      <p:sp>
        <p:nvSpPr>
          <p:cNvPr id="1335" name="Google Shape;1335;p100"/>
          <p:cNvSpPr txBox="1"/>
          <p:nvPr>
            <p:ph type="body" idx="4294967295"/>
          </p:nvPr>
        </p:nvSpPr>
        <p:spPr>
          <a:xfrm>
            <a:off x="324000" y="812425"/>
            <a:ext cx="84960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Match the verbal rule to the simplified algebraic rule.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337" name="Google Shape;1337;p100"/>
          <p:cNvSpPr txBox="1"/>
          <p:nvPr>
            <p:ph type="body" idx="4294967295"/>
          </p:nvPr>
        </p:nvSpPr>
        <p:spPr>
          <a:xfrm>
            <a:off x="247800" y="2531200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8" name="Google Shape;1338;p100"/>
          <p:cNvSpPr txBox="1"/>
          <p:nvPr>
            <p:ph type="body" idx="4294967295"/>
          </p:nvPr>
        </p:nvSpPr>
        <p:spPr>
          <a:xfrm>
            <a:off x="247800" y="3161987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9" name="Google Shape;1339;p100"/>
          <p:cNvSpPr txBox="1"/>
          <p:nvPr>
            <p:ph type="body" idx="4294967295"/>
          </p:nvPr>
        </p:nvSpPr>
        <p:spPr>
          <a:xfrm>
            <a:off x="247800" y="3792774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3 − 5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0" name="Google Shape;1340;p100"/>
          <p:cNvSpPr txBox="1"/>
          <p:nvPr>
            <p:ph type="body" idx="4294967295"/>
          </p:nvPr>
        </p:nvSpPr>
        <p:spPr>
          <a:xfrm>
            <a:off x="247800" y="4423562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3 −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1" name="Google Shape;1341;p100"/>
          <p:cNvSpPr txBox="1"/>
          <p:nvPr>
            <p:ph type="body" idx="4294967295"/>
          </p:nvPr>
        </p:nvSpPr>
        <p:spPr>
          <a:xfrm>
            <a:off x="247800" y="1900412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100"/>
          <p:cNvSpPr txBox="1"/>
          <p:nvPr>
            <p:ph type="body" idx="4294967295"/>
          </p:nvPr>
        </p:nvSpPr>
        <p:spPr>
          <a:xfrm>
            <a:off x="247800" y="1269625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3" name="Google Shape;1343;p100"/>
          <p:cNvSpPr txBox="1"/>
          <p:nvPr>
            <p:ph type="body" idx="4294967295"/>
          </p:nvPr>
        </p:nvSpPr>
        <p:spPr>
          <a:xfrm>
            <a:off x="3138600" y="1943530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Add</a:t>
            </a:r>
            <a:r>
              <a:rPr lang="en-GB" sz="1800" i="1"/>
              <a:t> </a:t>
            </a:r>
            <a:r>
              <a:rPr lang="en-GB" sz="1800"/>
              <a:t>3 to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</a:t>
            </a:r>
            <a:endParaRPr sz="1800" i="1"/>
          </a:p>
        </p:txBody>
      </p:sp>
      <p:sp>
        <p:nvSpPr>
          <p:cNvPr id="1344" name="Google Shape;1344;p100"/>
          <p:cNvSpPr txBox="1"/>
          <p:nvPr>
            <p:ph type="body" idx="4294967295"/>
          </p:nvPr>
        </p:nvSpPr>
        <p:spPr>
          <a:xfrm>
            <a:off x="3138600" y="3221646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subtracted from</a:t>
            </a:r>
            <a:r>
              <a:rPr lang="en-GB" sz="1800" i="1"/>
              <a:t> </a:t>
            </a:r>
            <a:r>
              <a:rPr lang="en-GB" sz="1800"/>
              <a:t>3 </a:t>
            </a:r>
            <a:endParaRPr sz="1800" i="1"/>
          </a:p>
        </p:txBody>
      </p:sp>
      <p:sp>
        <p:nvSpPr>
          <p:cNvPr id="1345" name="Google Shape;1345;p100"/>
          <p:cNvSpPr txBox="1"/>
          <p:nvPr>
            <p:ph type="body" idx="4294967295"/>
          </p:nvPr>
        </p:nvSpPr>
        <p:spPr>
          <a:xfrm>
            <a:off x="3138600" y="1304473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multiplied by 5 subtracted from</a:t>
            </a:r>
            <a:r>
              <a:rPr lang="en-GB" sz="1800" i="1"/>
              <a:t> </a:t>
            </a:r>
            <a:r>
              <a:rPr lang="en-GB" sz="1800"/>
              <a:t>3</a:t>
            </a:r>
            <a:endParaRPr sz="1800" i="1"/>
          </a:p>
        </p:txBody>
      </p:sp>
      <p:sp>
        <p:nvSpPr>
          <p:cNvPr id="1346" name="Google Shape;1346;p100"/>
          <p:cNvSpPr txBox="1"/>
          <p:nvPr>
            <p:ph type="body" idx="4294967295"/>
          </p:nvPr>
        </p:nvSpPr>
        <p:spPr>
          <a:xfrm>
            <a:off x="3138600" y="4499762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multiplied by 3 add 5</a:t>
            </a:r>
            <a:endParaRPr sz="1800" i="1"/>
          </a:p>
        </p:txBody>
      </p:sp>
      <p:sp>
        <p:nvSpPr>
          <p:cNvPr id="1347" name="Google Shape;1347;p100"/>
          <p:cNvSpPr txBox="1"/>
          <p:nvPr>
            <p:ph type="body" idx="4294967295"/>
          </p:nvPr>
        </p:nvSpPr>
        <p:spPr>
          <a:xfrm>
            <a:off x="3138600" y="3860704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multiplied by 5 subtract 3</a:t>
            </a:r>
            <a:endParaRPr sz="1800" i="1"/>
          </a:p>
        </p:txBody>
      </p:sp>
      <p:sp>
        <p:nvSpPr>
          <p:cNvPr id="1348" name="Google Shape;1348;p100"/>
          <p:cNvSpPr txBox="1"/>
          <p:nvPr>
            <p:ph type="body" idx="4294967295"/>
          </p:nvPr>
        </p:nvSpPr>
        <p:spPr>
          <a:xfrm>
            <a:off x="3138600" y="2582588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multiplied by 5 add 3</a:t>
            </a:r>
            <a:endParaRPr sz="1800" i="1"/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52" name="Shape 1352"/>
        <p:cNvGrpSpPr/>
        <p:nvPr/>
      </p:nvGrpSpPr>
      <p:grpSpPr>
        <a:xfrm>
          <a:off x="0" y="0"/>
          <a:ext cx="0" cy="0"/>
        </a:xfrm>
      </p:grpSpPr>
      <p:pic>
        <p:nvPicPr>
          <p:cNvPr id="1353" name="Google Shape;1353;p101" descr="&lt;math xmlns=&quot;http://www.w3.org/1998/Math/MathML&quot; data-is-equatio=&quot;1&quot; data-equatio-url=&quot;https://equatio-api.texthelp.com/desmos/get/07-11-2023/84443559-ebb1-47bf-bcc0-4fd713311949&quot; data-equatio-type=&quot;desmos&quot;&gt;&lt;mglyph src=&quot;https://equatio-api.texthelp.com/desmos/get/07-11-2023/84443559-ebb1-47bf-bcc0-4fd71331194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6326" t="7715" r="48863"/>
          <a:stretch>
            <a:fillRect/>
          </a:stretch>
        </p:blipFill>
        <p:spPr>
          <a:xfrm>
            <a:off x="6259673" y="1094538"/>
            <a:ext cx="1873800" cy="37258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4" name="Google Shape;1354;p101"/>
          <p:cNvGraphicFramePr>
            <a:graphicFrameLocks noGrp="1"/>
          </p:cNvGraphicFramePr>
          <p:nvPr/>
        </p:nvGraphicFramePr>
        <p:xfrm>
          <a:off x="332308" y="1693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55" name="Google Shape;1355;p101"/>
          <p:cNvSpPr txBox="1"/>
          <p:nvPr>
            <p:ph type="body" idx="4294967295"/>
          </p:nvPr>
        </p:nvSpPr>
        <p:spPr>
          <a:xfrm>
            <a:off x="324000" y="812425"/>
            <a:ext cx="67293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Complete the table of values and plot the rules: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6" name="Google Shape;1356;p101"/>
          <p:cNvSpPr txBox="1"/>
          <p:nvPr/>
        </p:nvSpPr>
        <p:spPr>
          <a:xfrm>
            <a:off x="6876189" y="839841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7" name="Google Shape;1357;p101"/>
          <p:cNvSpPr txBox="1"/>
          <p:nvPr/>
        </p:nvSpPr>
        <p:spPr>
          <a:xfrm>
            <a:off x="8153353" y="2125476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8" name="Google Shape;1358;p10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359" name="Google Shape;1359;p101"/>
          <p:cNvSpPr txBox="1"/>
          <p:nvPr>
            <p:ph type="body" idx="4294967295"/>
          </p:nvPr>
        </p:nvSpPr>
        <p:spPr>
          <a:xfrm>
            <a:off x="324000" y="1269625"/>
            <a:ext cx="18738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0" name="Google Shape;1360;p101"/>
          <p:cNvSpPr txBox="1"/>
          <p:nvPr>
            <p:ph type="body" idx="4294967295"/>
          </p:nvPr>
        </p:nvSpPr>
        <p:spPr>
          <a:xfrm>
            <a:off x="324000" y="2869825"/>
            <a:ext cx="18738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61" name="Google Shape;1361;p101"/>
          <p:cNvGraphicFramePr>
            <a:graphicFrameLocks noGrp="1"/>
          </p:cNvGraphicFramePr>
          <p:nvPr/>
        </p:nvGraphicFramePr>
        <p:xfrm>
          <a:off x="332308" y="3370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65" name="Shape 1365"/>
        <p:cNvGrpSpPr/>
        <p:nvPr/>
      </p:nvGrpSpPr>
      <p:grpSpPr>
        <a:xfrm>
          <a:off x="0" y="0"/>
          <a:ext cx="0" cy="0"/>
        </a:xfrm>
      </p:grpSpPr>
      <p:graphicFrame>
        <p:nvGraphicFramePr>
          <p:cNvPr id="1366" name="Google Shape;1366;p102"/>
          <p:cNvGraphicFramePr>
            <a:graphicFrameLocks noGrp="1"/>
          </p:cNvGraphicFramePr>
          <p:nvPr/>
        </p:nvGraphicFramePr>
        <p:xfrm>
          <a:off x="713308" y="13889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67" name="Google Shape;1367;p102"/>
          <p:cNvSpPr txBox="1"/>
          <p:nvPr>
            <p:ph type="body" idx="4294967295"/>
          </p:nvPr>
        </p:nvSpPr>
        <p:spPr>
          <a:xfrm>
            <a:off x="324000" y="812425"/>
            <a:ext cx="4337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3) Jacob plots the rule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5 − 3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8" name="Google Shape;1368;p102"/>
          <p:cNvSpPr txBox="1"/>
          <p:nvPr/>
        </p:nvSpPr>
        <p:spPr>
          <a:xfrm>
            <a:off x="5920613" y="763641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9" name="Google Shape;1369;p102"/>
          <p:cNvSpPr txBox="1"/>
          <p:nvPr/>
        </p:nvSpPr>
        <p:spPr>
          <a:xfrm>
            <a:off x="7239380" y="3467006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0" name="Google Shape;1370;p10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371" name="Google Shape;1371;p102"/>
          <p:cNvSpPr txBox="1"/>
          <p:nvPr>
            <p:ph type="body" idx="4294967295"/>
          </p:nvPr>
        </p:nvSpPr>
        <p:spPr>
          <a:xfrm>
            <a:off x="335525" y="2454227"/>
            <a:ext cx="47871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Mark his work and give him feedback.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2" name="Google Shape;1372;p102" descr="&lt;math xmlns=&quot;http://www.w3.org/1998/Math/MathML&quot; data-is-equatio=&quot;1&quot; data-equatio-url=&quot;https://equatio-api.texthelp.com/desmos/get/07-11-2023/3e4b8366-7f37-4387-a465-eca1f88ffc2b&quot; data-equatio-type=&quot;desmos&quot;&gt;&lt;mglyph src=&quot;https://equatio-api.texthelp.com/desmos/get/07-11-2023/3e4b8366-7f37-4387-a465-eca1f88ffc2b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4732" t="20042" r="52229" b="17849"/>
          <a:stretch>
            <a:fillRect/>
          </a:stretch>
        </p:blipFill>
        <p:spPr>
          <a:xfrm>
            <a:off x="5324260" y="1072611"/>
            <a:ext cx="1853138" cy="37468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3" name="Google Shape;1373;p102"/>
          <p:cNvCxnSpPr/>
          <p:nvPr/>
        </p:nvCxnSpPr>
        <p:spPr>
          <a:xfrm rot="10800000">
            <a:off x="5591460" y="1331025"/>
            <a:ext cx="599700" cy="186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4" name="Google Shape;1374;p102"/>
          <p:cNvCxnSpPr/>
          <p:nvPr/>
        </p:nvCxnSpPr>
        <p:spPr>
          <a:xfrm rot="10800000">
            <a:off x="6205135" y="3209925"/>
            <a:ext cx="212400" cy="206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5" name="Google Shape;1375;p102"/>
          <p:cNvCxnSpPr/>
          <p:nvPr/>
        </p:nvCxnSpPr>
        <p:spPr>
          <a:xfrm rot="10800000">
            <a:off x="6412617" y="3421277"/>
            <a:ext cx="196200" cy="104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76" name="Google Shape;1376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7571" y="1388926"/>
            <a:ext cx="893654" cy="293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0" name="Shape 1380"/>
        <p:cNvGrpSpPr/>
        <p:nvPr/>
      </p:nvGrpSpPr>
      <p:grpSpPr>
        <a:xfrm>
          <a:off x="0" y="0"/>
          <a:ext cx="0" cy="0"/>
        </a:xfrm>
      </p:grpSpPr>
      <p:sp>
        <p:nvSpPr>
          <p:cNvPr id="1381" name="Google Shape;1381;p103"/>
          <p:cNvSpPr txBox="1"/>
          <p:nvPr>
            <p:ph type="body" idx="4294967295"/>
          </p:nvPr>
        </p:nvSpPr>
        <p:spPr>
          <a:xfrm>
            <a:off x="324000" y="812425"/>
            <a:ext cx="84960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Match the verbal rule to the simplified algebraic rule.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2" name="Google Shape;1382;p10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383" name="Google Shape;1383;p103"/>
          <p:cNvSpPr txBox="1"/>
          <p:nvPr>
            <p:ph type="body" idx="4294967295"/>
          </p:nvPr>
        </p:nvSpPr>
        <p:spPr>
          <a:xfrm>
            <a:off x="247800" y="2531200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4" name="Google Shape;1384;p103"/>
          <p:cNvSpPr txBox="1"/>
          <p:nvPr>
            <p:ph type="body" idx="4294967295"/>
          </p:nvPr>
        </p:nvSpPr>
        <p:spPr>
          <a:xfrm>
            <a:off x="247800" y="3161987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5" name="Google Shape;1385;p103"/>
          <p:cNvSpPr txBox="1"/>
          <p:nvPr>
            <p:ph type="body" idx="4294967295"/>
          </p:nvPr>
        </p:nvSpPr>
        <p:spPr>
          <a:xfrm>
            <a:off x="247800" y="3792774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3 − 5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6" name="Google Shape;1386;p103"/>
          <p:cNvSpPr txBox="1"/>
          <p:nvPr>
            <p:ph type="body" idx="4294967295"/>
          </p:nvPr>
        </p:nvSpPr>
        <p:spPr>
          <a:xfrm>
            <a:off x="247800" y="4423562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3 −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7" name="Google Shape;1387;p103"/>
          <p:cNvSpPr txBox="1"/>
          <p:nvPr>
            <p:ph type="body" idx="4294967295"/>
          </p:nvPr>
        </p:nvSpPr>
        <p:spPr>
          <a:xfrm>
            <a:off x="247800" y="1900412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+ 5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8" name="Google Shape;1388;p103"/>
          <p:cNvSpPr txBox="1"/>
          <p:nvPr>
            <p:ph type="body" idx="4294967295"/>
          </p:nvPr>
        </p:nvSpPr>
        <p:spPr>
          <a:xfrm>
            <a:off x="247800" y="1269625"/>
            <a:ext cx="13608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103"/>
          <p:cNvSpPr txBox="1"/>
          <p:nvPr>
            <p:ph type="body" idx="4294967295"/>
          </p:nvPr>
        </p:nvSpPr>
        <p:spPr>
          <a:xfrm>
            <a:off x="3138600" y="1943530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Add</a:t>
            </a:r>
            <a:r>
              <a:rPr lang="en-GB" sz="1800" i="1"/>
              <a:t> </a:t>
            </a:r>
            <a:r>
              <a:rPr lang="en-GB" sz="1800"/>
              <a:t>3 to 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</a:t>
            </a:r>
            <a:endParaRPr sz="1800" i="1"/>
          </a:p>
        </p:txBody>
      </p:sp>
      <p:sp>
        <p:nvSpPr>
          <p:cNvPr id="1390" name="Google Shape;1390;p103"/>
          <p:cNvSpPr txBox="1"/>
          <p:nvPr>
            <p:ph type="body" idx="4294967295"/>
          </p:nvPr>
        </p:nvSpPr>
        <p:spPr>
          <a:xfrm>
            <a:off x="3138600" y="3221646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subtracted from</a:t>
            </a:r>
            <a:r>
              <a:rPr lang="en-GB" sz="1800" i="1"/>
              <a:t> </a:t>
            </a:r>
            <a:r>
              <a:rPr lang="en-GB" sz="1800"/>
              <a:t>3 </a:t>
            </a:r>
            <a:endParaRPr sz="1800" i="1"/>
          </a:p>
        </p:txBody>
      </p:sp>
      <p:sp>
        <p:nvSpPr>
          <p:cNvPr id="1391" name="Google Shape;1391;p103"/>
          <p:cNvSpPr txBox="1"/>
          <p:nvPr>
            <p:ph type="body" idx="4294967295"/>
          </p:nvPr>
        </p:nvSpPr>
        <p:spPr>
          <a:xfrm>
            <a:off x="3138600" y="1304473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multiplied by 5 subtracted from</a:t>
            </a:r>
            <a:r>
              <a:rPr lang="en-GB" sz="1800" i="1"/>
              <a:t> </a:t>
            </a:r>
            <a:r>
              <a:rPr lang="en-GB" sz="1800"/>
              <a:t>3</a:t>
            </a:r>
            <a:endParaRPr sz="1800" i="1"/>
          </a:p>
        </p:txBody>
      </p:sp>
      <p:sp>
        <p:nvSpPr>
          <p:cNvPr id="1392" name="Google Shape;1392;p103"/>
          <p:cNvSpPr txBox="1"/>
          <p:nvPr>
            <p:ph type="body" idx="4294967295"/>
          </p:nvPr>
        </p:nvSpPr>
        <p:spPr>
          <a:xfrm>
            <a:off x="3138600" y="4499762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multiplied by 3 add 5</a:t>
            </a:r>
            <a:endParaRPr sz="1800" i="1"/>
          </a:p>
        </p:txBody>
      </p:sp>
      <p:sp>
        <p:nvSpPr>
          <p:cNvPr id="1393" name="Google Shape;1393;p103"/>
          <p:cNvSpPr txBox="1"/>
          <p:nvPr>
            <p:ph type="body" idx="4294967295"/>
          </p:nvPr>
        </p:nvSpPr>
        <p:spPr>
          <a:xfrm>
            <a:off x="3138600" y="3860704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multiplied by 5 subtract 3</a:t>
            </a:r>
            <a:endParaRPr sz="1800" i="1"/>
          </a:p>
        </p:txBody>
      </p:sp>
      <p:sp>
        <p:nvSpPr>
          <p:cNvPr id="1394" name="Google Shape;1394;p103"/>
          <p:cNvSpPr txBox="1"/>
          <p:nvPr>
            <p:ph type="body" idx="4294967295"/>
          </p:nvPr>
        </p:nvSpPr>
        <p:spPr>
          <a:xfrm>
            <a:off x="3138600" y="2582588"/>
            <a:ext cx="56814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multiplied by 5 add 3</a:t>
            </a:r>
            <a:endParaRPr sz="1800" i="1"/>
          </a:p>
        </p:txBody>
      </p:sp>
      <p:cxnSp>
        <p:nvCxnSpPr>
          <p:cNvPr id="1395" name="Google Shape;1395;p103"/>
          <p:cNvCxnSpPr>
            <a:stCxn id="1388" idx="3"/>
            <a:endCxn id="1389" idx="1"/>
          </p:cNvCxnSpPr>
          <p:nvPr/>
        </p:nvCxnSpPr>
        <p:spPr>
          <a:xfrm>
            <a:off x="1608600" y="1464025"/>
            <a:ext cx="1530000" cy="673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6" name="Google Shape;1396;p103"/>
          <p:cNvCxnSpPr>
            <a:stCxn id="1387" idx="3"/>
            <a:endCxn id="1392" idx="1"/>
          </p:cNvCxnSpPr>
          <p:nvPr/>
        </p:nvCxnSpPr>
        <p:spPr>
          <a:xfrm>
            <a:off x="1608600" y="2094812"/>
            <a:ext cx="1530000" cy="2599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7" name="Google Shape;1397;p103"/>
          <p:cNvCxnSpPr>
            <a:stCxn id="1383" idx="3"/>
            <a:endCxn id="1393" idx="1"/>
          </p:cNvCxnSpPr>
          <p:nvPr/>
        </p:nvCxnSpPr>
        <p:spPr>
          <a:xfrm>
            <a:off x="1608600" y="2725600"/>
            <a:ext cx="1530000" cy="1329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8" name="Google Shape;1398;p103"/>
          <p:cNvCxnSpPr>
            <a:stCxn id="1384" idx="3"/>
            <a:endCxn id="1394" idx="1"/>
          </p:cNvCxnSpPr>
          <p:nvPr/>
        </p:nvCxnSpPr>
        <p:spPr>
          <a:xfrm rot="10800000" flipH="1">
            <a:off x="1608600" y="2777087"/>
            <a:ext cx="1530000" cy="579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9" name="Google Shape;1399;p103"/>
          <p:cNvCxnSpPr>
            <a:stCxn id="1385" idx="3"/>
            <a:endCxn id="1391" idx="1"/>
          </p:cNvCxnSpPr>
          <p:nvPr/>
        </p:nvCxnSpPr>
        <p:spPr>
          <a:xfrm rot="10800000" flipH="1">
            <a:off x="1608600" y="1498974"/>
            <a:ext cx="1530000" cy="2488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0" name="Google Shape;1400;p103"/>
          <p:cNvCxnSpPr>
            <a:stCxn id="1386" idx="3"/>
            <a:endCxn id="1390" idx="1"/>
          </p:cNvCxnSpPr>
          <p:nvPr/>
        </p:nvCxnSpPr>
        <p:spPr>
          <a:xfrm rot="10800000" flipH="1">
            <a:off x="1608600" y="3416162"/>
            <a:ext cx="1530000" cy="1201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4" name="Shape 1404"/>
        <p:cNvGrpSpPr/>
        <p:nvPr/>
      </p:nvGrpSpPr>
      <p:grpSpPr>
        <a:xfrm>
          <a:off x="0" y="0"/>
          <a:ext cx="0" cy="0"/>
        </a:xfrm>
      </p:grpSpPr>
      <p:graphicFrame>
        <p:nvGraphicFramePr>
          <p:cNvPr id="1405" name="Google Shape;1405;p104"/>
          <p:cNvGraphicFramePr>
            <a:graphicFrameLocks noGrp="1"/>
          </p:cNvGraphicFramePr>
          <p:nvPr/>
        </p:nvGraphicFramePr>
        <p:xfrm>
          <a:off x="332308" y="3370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406" name="Google Shape;1406;p104"/>
          <p:cNvGraphicFramePr>
            <a:graphicFrameLocks noGrp="1"/>
          </p:cNvGraphicFramePr>
          <p:nvPr/>
        </p:nvGraphicFramePr>
        <p:xfrm>
          <a:off x="332308" y="33701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407" name="Google Shape;1407;p104"/>
          <p:cNvGraphicFramePr>
            <a:graphicFrameLocks noGrp="1"/>
          </p:cNvGraphicFramePr>
          <p:nvPr/>
        </p:nvGraphicFramePr>
        <p:xfrm>
          <a:off x="332308" y="1693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408" name="Google Shape;1408;p104"/>
          <p:cNvGraphicFramePr>
            <a:graphicFrameLocks noGrp="1"/>
          </p:cNvGraphicFramePr>
          <p:nvPr/>
        </p:nvGraphicFramePr>
        <p:xfrm>
          <a:off x="332308" y="1693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09" name="Google Shape;1409;p104"/>
          <p:cNvSpPr txBox="1"/>
          <p:nvPr>
            <p:ph type="body" idx="4294967295"/>
          </p:nvPr>
        </p:nvSpPr>
        <p:spPr>
          <a:xfrm>
            <a:off x="324000" y="812425"/>
            <a:ext cx="67293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Complete the table of values and plot the rules: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0" name="Google Shape;1410;p10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sp>
        <p:nvSpPr>
          <p:cNvPr id="1411" name="Google Shape;1411;p104"/>
          <p:cNvSpPr txBox="1"/>
          <p:nvPr>
            <p:ph type="body" idx="4294967295"/>
          </p:nvPr>
        </p:nvSpPr>
        <p:spPr>
          <a:xfrm>
            <a:off x="324000" y="1269625"/>
            <a:ext cx="18738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104"/>
          <p:cNvSpPr txBox="1"/>
          <p:nvPr>
            <p:ph type="body" idx="4294967295"/>
          </p:nvPr>
        </p:nvSpPr>
        <p:spPr>
          <a:xfrm>
            <a:off x="324000" y="2869825"/>
            <a:ext cx="18738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0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3" name="Google Shape;1413;p104" descr="&lt;math xmlns=&quot;http://www.w3.org/1998/Math/MathML&quot; data-is-equatio=&quot;1&quot; data-equatio-url=&quot;https://equatio-api.texthelp.com/desmos/get/07-11-2023/84443559-ebb1-47bf-bcc0-4fd713311949&quot; data-equatio-type=&quot;desmos&quot;&gt;&lt;mglyph src=&quot;https://equatio-api.texthelp.com/desmos/get/07-11-2023/84443559-ebb1-47bf-bcc0-4fd713311949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6326" t="7715" r="48863"/>
          <a:stretch>
            <a:fillRect/>
          </a:stretch>
        </p:blipFill>
        <p:spPr>
          <a:xfrm>
            <a:off x="6259673" y="1094538"/>
            <a:ext cx="1873800" cy="3725862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04"/>
          <p:cNvSpPr txBox="1"/>
          <p:nvPr/>
        </p:nvSpPr>
        <p:spPr>
          <a:xfrm>
            <a:off x="6876189" y="839841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5" name="Google Shape;1415;p104"/>
          <p:cNvSpPr txBox="1"/>
          <p:nvPr/>
        </p:nvSpPr>
        <p:spPr>
          <a:xfrm>
            <a:off x="8153353" y="2125476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6" name="Google Shape;1416;p104" descr="&lt;math xmlns=&quot;http://www.w3.org/1998/Math/MathML&quot; data-is-equatio=&quot;1&quot; data-equatio-url=&quot;https://equatio-api.texthelp.com/desmos/get/07-11-2023/8523def6-c7be-4c25-83e1-cc5444913bde&quot; data-equatio-type=&quot;desmos&quot;&gt;&lt;mglyph src=&quot;https://equatio-api.texthelp.com/desmos/get/07-11-2023/8523def6-c7be-4c25-83e1-cc5444913bde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20698" t="10501" r="51412" b="17170"/>
          <a:stretch>
            <a:fillRect/>
          </a:stretch>
        </p:blipFill>
        <p:spPr>
          <a:xfrm>
            <a:off x="6251915" y="1107325"/>
            <a:ext cx="1873800" cy="3709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7" name="Google Shape;1417;p104"/>
          <p:cNvCxnSpPr/>
          <p:nvPr/>
        </p:nvCxnSpPr>
        <p:spPr>
          <a:xfrm rot="10800000">
            <a:off x="6267300" y="1372350"/>
            <a:ext cx="1888500" cy="1872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8" name="Google Shape;1418;p104"/>
          <p:cNvCxnSpPr/>
          <p:nvPr/>
        </p:nvCxnSpPr>
        <p:spPr>
          <a:xfrm flipH="1">
            <a:off x="6345200" y="1192450"/>
            <a:ext cx="1776000" cy="3609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2" name="Shape 1422"/>
        <p:cNvGrpSpPr/>
        <p:nvPr/>
      </p:nvGrpSpPr>
      <p:grpSpPr>
        <a:xfrm>
          <a:off x="0" y="0"/>
          <a:ext cx="0" cy="0"/>
        </a:xfrm>
      </p:grpSpPr>
      <p:graphicFrame>
        <p:nvGraphicFramePr>
          <p:cNvPr id="1423" name="Google Shape;1423;p105"/>
          <p:cNvGraphicFramePr>
            <a:graphicFrameLocks noGrp="1"/>
          </p:cNvGraphicFramePr>
          <p:nvPr/>
        </p:nvGraphicFramePr>
        <p:xfrm>
          <a:off x="713308" y="1278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24" name="Google Shape;1424;p105"/>
          <p:cNvSpPr txBox="1"/>
          <p:nvPr>
            <p:ph type="body" idx="4294967295"/>
          </p:nvPr>
        </p:nvSpPr>
        <p:spPr>
          <a:xfrm>
            <a:off x="324000" y="812425"/>
            <a:ext cx="4337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3) Jacob plots the rule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5 − 3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5" name="Google Shape;1425;p105"/>
          <p:cNvSpPr txBox="1"/>
          <p:nvPr/>
        </p:nvSpPr>
        <p:spPr>
          <a:xfrm>
            <a:off x="5920613" y="763641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6" name="Google Shape;1426;p105"/>
          <p:cNvSpPr txBox="1"/>
          <p:nvPr/>
        </p:nvSpPr>
        <p:spPr>
          <a:xfrm>
            <a:off x="7239380" y="3467006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7" name="Google Shape;1427;p10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pic>
        <p:nvPicPr>
          <p:cNvPr id="1428" name="Google Shape;1428;p105" descr="&lt;math xmlns=&quot;http://www.w3.org/1998/Math/MathML&quot; data-is-equatio=&quot;1&quot; data-equatio-url=&quot;https://equatio-api.texthelp.com/desmos/get/07-11-2023/3e4b8366-7f37-4387-a465-eca1f88ffc2b&quot; data-equatio-type=&quot;desmos&quot;&gt;&lt;mglyph src=&quot;https://equatio-api.texthelp.com/desmos/get/07-11-2023/3e4b8366-7f37-4387-a465-eca1f88ffc2b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4732" t="20042" r="52229" b="17849"/>
          <a:stretch>
            <a:fillRect/>
          </a:stretch>
        </p:blipFill>
        <p:spPr>
          <a:xfrm>
            <a:off x="5324260" y="1072611"/>
            <a:ext cx="1853138" cy="37468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9" name="Google Shape;1429;p105"/>
          <p:cNvCxnSpPr/>
          <p:nvPr/>
        </p:nvCxnSpPr>
        <p:spPr>
          <a:xfrm rot="10800000">
            <a:off x="5591460" y="1331025"/>
            <a:ext cx="599700" cy="186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0" name="Google Shape;1430;p105"/>
          <p:cNvCxnSpPr/>
          <p:nvPr/>
        </p:nvCxnSpPr>
        <p:spPr>
          <a:xfrm rot="10800000">
            <a:off x="6205135" y="3209925"/>
            <a:ext cx="212400" cy="206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1" name="Google Shape;1431;p105"/>
          <p:cNvCxnSpPr/>
          <p:nvPr/>
        </p:nvCxnSpPr>
        <p:spPr>
          <a:xfrm rot="10800000">
            <a:off x="6412617" y="3421277"/>
            <a:ext cx="196200" cy="1040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32" name="Google Shape;1432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7571" y="1388926"/>
            <a:ext cx="893654" cy="293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105"/>
          <p:cNvSpPr/>
          <p:nvPr/>
        </p:nvSpPr>
        <p:spPr>
          <a:xfrm>
            <a:off x="6245927" y="3254035"/>
            <a:ext cx="345900" cy="337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05"/>
          <p:cNvSpPr/>
          <p:nvPr/>
        </p:nvSpPr>
        <p:spPr>
          <a:xfrm>
            <a:off x="3308725" y="1268276"/>
            <a:ext cx="345900" cy="8187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05"/>
          <p:cNvSpPr txBox="1"/>
          <p:nvPr>
            <p:ph type="body" idx="4294967295"/>
          </p:nvPr>
        </p:nvSpPr>
        <p:spPr>
          <a:xfrm>
            <a:off x="335525" y="2530425"/>
            <a:ext cx="46950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5 − 3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a linear rule, this should make a straight line.</a:t>
            </a:r>
            <a:endParaRPr sz="2000"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6" name="Google Shape;1436;p105"/>
          <p:cNvSpPr txBox="1"/>
          <p:nvPr>
            <p:ph type="body" idx="4294967295"/>
          </p:nvPr>
        </p:nvSpPr>
        <p:spPr>
          <a:xfrm>
            <a:off x="335525" y="3292425"/>
            <a:ext cx="48048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coordinate (2, 1) does not fit the rule. 5 − 3(2) = −1, plot (2, −1) instead.</a:t>
            </a:r>
            <a:endParaRPr sz="2000"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7" name="Google Shape;1437;p105"/>
          <p:cNvSpPr txBox="1"/>
          <p:nvPr>
            <p:ph type="body" idx="4294967295"/>
          </p:nvPr>
        </p:nvSpPr>
        <p:spPr>
          <a:xfrm>
            <a:off x="335525" y="4054425"/>
            <a:ext cx="46257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Also, continue your lines to the edge of your grid.</a:t>
            </a:r>
            <a:endParaRPr sz="2000"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8" name="Google Shape;1438;p105"/>
          <p:cNvSpPr/>
          <p:nvPr/>
        </p:nvSpPr>
        <p:spPr>
          <a:xfrm>
            <a:off x="6486058" y="4286220"/>
            <a:ext cx="345900" cy="5736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05"/>
          <p:cNvSpPr/>
          <p:nvPr/>
        </p:nvSpPr>
        <p:spPr>
          <a:xfrm>
            <a:off x="5319992" y="880285"/>
            <a:ext cx="345900" cy="5736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105"/>
          <p:cNvSpPr txBox="1"/>
          <p:nvPr>
            <p:ph type="body" idx="4294967295"/>
          </p:nvPr>
        </p:nvSpPr>
        <p:spPr>
          <a:xfrm>
            <a:off x="335525" y="2149427"/>
            <a:ext cx="47871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Mark his work and give him feedback.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4" name="Shape 1444"/>
        <p:cNvGrpSpPr/>
        <p:nvPr/>
      </p:nvGrpSpPr>
      <p:grpSpPr>
        <a:xfrm>
          <a:off x="0" y="0"/>
          <a:ext cx="0" cy="0"/>
        </a:xfrm>
      </p:grpSpPr>
      <p:pic>
        <p:nvPicPr>
          <p:cNvPr id="1445" name="Google Shape;1445;p106" descr="&lt;math xmlns=&quot;http://www.w3.org/1998/Math/MathML&quot; data-is-equatio=&quot;1&quot; data-equatio-url=&quot;https://equatio-api.texthelp.com/desmos/get/07-11-2023/28d59b39-f99d-43ab-86ce-55a2557e56d5&quot; data-equatio-type=&quot;desmos&quot;&gt;&lt;mglyph src=&quot;https://equatio-api.texthelp.com/desmos/get/07-11-2023/28d59b39-f99d-43ab-86ce-55a2557e56d5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2542" t="15792" r="51602" b="13893"/>
          <a:stretch>
            <a:fillRect/>
          </a:stretch>
        </p:blipFill>
        <p:spPr>
          <a:xfrm>
            <a:off x="5325050" y="1054750"/>
            <a:ext cx="1853150" cy="3746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6" name="Google Shape;1446;p106"/>
          <p:cNvGraphicFramePr>
            <a:graphicFrameLocks noGrp="1"/>
          </p:cNvGraphicFramePr>
          <p:nvPr/>
        </p:nvGraphicFramePr>
        <p:xfrm>
          <a:off x="713308" y="1278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{E86B4F2F-6DAD-438E-9F4F-E5103A17CE28}</a:tableStyleId>
              </a:tblPr>
              <a:tblGrid>
                <a:gridCol w="568850"/>
                <a:gridCol w="488400"/>
                <a:gridCol w="488400"/>
                <a:gridCol w="488400"/>
                <a:gridCol w="488400"/>
                <a:gridCol w="488400"/>
                <a:gridCol w="488400"/>
              </a:tblGrid>
              <a:tr h="38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−4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47" name="Google Shape;1447;p106"/>
          <p:cNvSpPr txBox="1"/>
          <p:nvPr>
            <p:ph type="body" idx="4294967295"/>
          </p:nvPr>
        </p:nvSpPr>
        <p:spPr>
          <a:xfrm>
            <a:off x="324000" y="812425"/>
            <a:ext cx="43374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3) Jacob plots the rule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5 − 3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8" name="Google Shape;1448;p106"/>
          <p:cNvSpPr txBox="1"/>
          <p:nvPr/>
        </p:nvSpPr>
        <p:spPr>
          <a:xfrm>
            <a:off x="5920613" y="763641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8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9" name="Google Shape;1449;p106"/>
          <p:cNvSpPr txBox="1"/>
          <p:nvPr/>
        </p:nvSpPr>
        <p:spPr>
          <a:xfrm>
            <a:off x="7239380" y="3467006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0" name="Google Shape;1450;p10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Plotting coordinates that follow a rule</a:t>
            </a:r>
            <a:endParaRPr/>
          </a:p>
        </p:txBody>
      </p:sp>
      <p:cxnSp>
        <p:nvCxnSpPr>
          <p:cNvPr id="1451" name="Google Shape;1451;p106"/>
          <p:cNvCxnSpPr/>
          <p:nvPr/>
        </p:nvCxnSpPr>
        <p:spPr>
          <a:xfrm rot="10800000">
            <a:off x="5591460" y="1331025"/>
            <a:ext cx="599700" cy="186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52" name="Google Shape;1452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7571" y="1388926"/>
            <a:ext cx="893654" cy="2933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06"/>
          <p:cNvSpPr txBox="1"/>
          <p:nvPr>
            <p:ph type="body" idx="4294967295"/>
          </p:nvPr>
        </p:nvSpPr>
        <p:spPr>
          <a:xfrm>
            <a:off x="335525" y="2225625"/>
            <a:ext cx="46950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5 − 3</a:t>
            </a:r>
            <a:r>
              <a:rPr lang="en-GB" sz="2000" i="1">
                <a:latin typeface="Kalam"/>
                <a:ea typeface="Kalam"/>
                <a:cs typeface="Kalam"/>
                <a:sym typeface="Kalam"/>
              </a:rPr>
              <a:t>x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a linear rule, this should make a straight line.</a:t>
            </a:r>
            <a:endParaRPr sz="2000"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4" name="Google Shape;1454;p106"/>
          <p:cNvSpPr txBox="1"/>
          <p:nvPr>
            <p:ph type="body" idx="4294967295"/>
          </p:nvPr>
        </p:nvSpPr>
        <p:spPr>
          <a:xfrm>
            <a:off x="335525" y="3063825"/>
            <a:ext cx="48048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coordinate (2, 1) does not fit the rule. 5 − 3(2) = −1, plot (2, −1) instead.</a:t>
            </a:r>
            <a:endParaRPr sz="2000"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5" name="Google Shape;1455;p106"/>
          <p:cNvSpPr txBox="1"/>
          <p:nvPr>
            <p:ph type="body" idx="4294967295"/>
          </p:nvPr>
        </p:nvSpPr>
        <p:spPr>
          <a:xfrm>
            <a:off x="335525" y="3978225"/>
            <a:ext cx="4625700" cy="2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Also, continue your lines to the edge of your grid.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56" name="Google Shape;1456;p106"/>
          <p:cNvCxnSpPr/>
          <p:nvPr/>
        </p:nvCxnSpPr>
        <p:spPr>
          <a:xfrm rot="10800000">
            <a:off x="5493176" y="1061289"/>
            <a:ext cx="1245900" cy="3793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60" name="Shape 1460"/>
        <p:cNvGrpSpPr/>
        <p:nvPr/>
      </p:nvGrpSpPr>
      <p:grpSpPr>
        <a:xfrm>
          <a:off x="0" y="0"/>
          <a:ext cx="0" cy="0"/>
        </a:xfrm>
      </p:grpSpPr>
      <p:sp>
        <p:nvSpPr>
          <p:cNvPr id="1461" name="Google Shape;1461;p107"/>
          <p:cNvSpPr txBox="1"/>
          <p:nvPr>
            <p:ph type="body" idx="1"/>
          </p:nvPr>
        </p:nvSpPr>
        <p:spPr>
          <a:xfrm>
            <a:off x="324000" y="1080000"/>
            <a:ext cx="51093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We can represent mathematical rules graphically and algebraically.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We do this graphically by plotting coordinates that fit our rule.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the graph shows the algebraic relationship 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2" name="Google Shape;1462;p107"/>
          <p:cNvSpPr txBox="1"/>
          <p:nvPr>
            <p:ph type="title"/>
          </p:nvPr>
        </p:nvSpPr>
        <p:spPr>
          <a:xfrm>
            <a:off x="1684800" y="157525"/>
            <a:ext cx="71670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and securing understanding of plotting coordinates generated from a rule.</a:t>
            </a:r>
            <a:endParaRPr/>
          </a:p>
        </p:txBody>
      </p:sp>
      <p:pic>
        <p:nvPicPr>
          <p:cNvPr id="1463" name="Google Shape;1463;p107" descr="&lt;math xmlns=&quot;http://www.w3.org/1998/Math/MathML&quot; data-is-equatio=&quot;1&quot; data-equatio-url=&quot;https://equatio-api.texthelp.com/desmos/get/07-11-2023/56751fac-36f0-4fdf-9fa9-93f4595d5704&quot; data-equatio-type=&quot;desmos&quot;&gt;&lt;mglyph src=&quot;https://equatio-api.texthelp.com/desmos/get/07-11-2023/56751fac-36f0-4fdf-9fa9-93f4595d570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0362" t="8609" r="48864"/>
          <a:stretch>
            <a:fillRect/>
          </a:stretch>
        </p:blipFill>
        <p:spPr>
          <a:xfrm>
            <a:off x="5816050" y="910175"/>
            <a:ext cx="1874350" cy="3905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107"/>
          <p:cNvSpPr txBox="1"/>
          <p:nvPr/>
        </p:nvSpPr>
        <p:spPr>
          <a:xfrm>
            <a:off x="6528963" y="773130"/>
            <a:ext cx="2196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6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07"/>
          <p:cNvSpPr txBox="1"/>
          <p:nvPr/>
        </p:nvSpPr>
        <p:spPr>
          <a:xfrm>
            <a:off x="7748815" y="2366037"/>
            <a:ext cx="3057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6" name="Google Shape;1466;p107"/>
          <p:cNvCxnSpPr/>
          <p:nvPr/>
        </p:nvCxnSpPr>
        <p:spPr>
          <a:xfrm flipH="1">
            <a:off x="6045475" y="938750"/>
            <a:ext cx="1395300" cy="3874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70" name="Shape 1470"/>
        <p:cNvGrpSpPr/>
        <p:nvPr/>
      </p:nvGrpSpPr>
      <p:grpSpPr>
        <a:xfrm>
          <a:off x="0" y="0"/>
          <a:ext cx="0" cy="0"/>
        </a:xfrm>
      </p:grpSpPr>
      <p:sp>
        <p:nvSpPr>
          <p:cNvPr id="1471" name="Google Shape;1471;p10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72" name="Google Shape;1472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354</Paragraphs>
  <Slides>45</Slides>
  <Notes>45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baseType="lpstr" size="54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Checking and securing understanding of plotting coordinates generated from a rule</vt:lpstr>
      <vt:lpstr>PowerPoint Presentation</vt:lpstr>
      <vt:lpstr>PowerPoint Presentation</vt:lpstr>
      <vt:lpstr>PowerPoint Presentation</vt:lpstr>
      <vt:lpstr>Plotting arithmetic sequences</vt:lpstr>
      <vt:lpstr>Plotting arithmetic sequences</vt:lpstr>
      <vt:lpstr>Plotting arithmetic sequences</vt:lpstr>
      <vt:lpstr>Plotting arithmetic sequences</vt:lpstr>
      <vt:lpstr>Plotting arithmetic sequences</vt:lpstr>
      <vt:lpstr>Plotting arithmetic sequences</vt:lpstr>
      <vt:lpstr>Plotting arithmetic sequences</vt:lpstr>
      <vt:lpstr>Plotting arithmetic sequences</vt:lpstr>
      <vt:lpstr>Plotting arithmetic sequences</vt:lpstr>
      <vt:lpstr>What are the missing term values for the sequence 3n + 1?</vt:lpstr>
      <vt:lpstr>What term is plotted incorrectly for the sequence 3n + 1?</vt:lpstr>
      <vt:lpstr>Plotting arithmetic sequences</vt:lpstr>
      <vt:lpstr>Plotting arithmetic sequences</vt:lpstr>
      <vt:lpstr>Plotting arithmetic sequences</vt:lpstr>
      <vt:lpstr>Plotting arithmetic sequences</vt:lpstr>
      <vt:lpstr>Which of these could be the graphical representation of the sequence 13 − 5n?</vt:lpstr>
      <vt:lpstr>PowerPoint Presentation</vt:lpstr>
      <vt:lpstr>PowerPoint Presentation</vt:lpstr>
      <vt:lpstr>PowerPoint Presentation</vt:lpstr>
      <vt:lpstr>PowerPoint Presentation</vt:lpstr>
      <vt:lpstr>Plotting arithmetic sequences</vt:lpstr>
      <vt:lpstr>Plotting coordinates that follow a rule</vt:lpstr>
      <vt:lpstr>Plotting coordinates that follow a rule</vt:lpstr>
      <vt:lpstr>Plotting coordinates that follow a rule</vt:lpstr>
      <vt:lpstr>Plotting coordinates that follow a rule</vt:lpstr>
      <vt:lpstr>Plotting coordinates that follow a rule</vt:lpstr>
      <vt:lpstr>Plotting coordinates that follow a rule</vt:lpstr>
      <vt:lpstr>Plotting coordinates that follow a rule</vt:lpstr>
      <vt:lpstr>Plotting coordinates that follow a rule</vt:lpstr>
      <vt:lpstr>Plotting coordinates that follow a rule</vt:lpstr>
      <vt:lpstr>Plotting coordinates that follow a rule</vt:lpstr>
      <vt:lpstr>Plotting coordinates that follow a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Checking and securing understanding of plotting coordinates generated from a rule.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2024-01-08T16:47:06.707</cp:lastPrinted>
  <dcterms:created xsi:type="dcterms:W3CDTF">2024-01-08T16:47:06Z</dcterms:created>
  <dcterms:modified xsi:type="dcterms:W3CDTF">2024-01-08T16:47:25Z</dcterms:modified>
</cp:coreProperties>
</file>