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E417EB3-2962-4845-A733-D6B64E126DED}">
  <a:tblStyle styleId="{9E417EB3-2962-4845-A733-D6B64E126D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equation of a straight line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7594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each equation and identify the gradient and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4222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Different forms of linear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485202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up any equations that represent the same relationship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524444"/>
            <a:ext cx="1396383" cy="14016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043" y="2524444"/>
            <a:ext cx="1396383" cy="14016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086" y="2524444"/>
            <a:ext cx="1396383" cy="14016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129" y="2524444"/>
            <a:ext cx="1396383" cy="14016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8" name="Google Shape;168;p20"/>
          <p:cNvSpPr txBox="1"/>
          <p:nvPr/>
        </p:nvSpPr>
        <p:spPr>
          <a:xfrm>
            <a:off x="468000" y="4051000"/>
            <a:ext cx="13953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9" name="Google Shape;169;p20"/>
          <p:cNvGraphicFramePr>
            <a:graphicFrameLocks noGrp="1"/>
          </p:cNvGraphicFramePr>
          <p:nvPr/>
        </p:nvGraphicFramePr>
        <p:xfrm>
          <a:off x="468000" y="2080175"/>
          <a:ext cx="6632900" cy="500400"/>
        </p:xfrm>
        <a:graphic>
          <a:graphicData uri="http://schemas.openxmlformats.org/drawingml/2006/table">
            <a:tbl>
              <a:tblPr>
                <a:noFill/>
                <a:tableStyleId>{9E417EB3-2962-4845-A733-D6B64E126DED}</a:tableStyleId>
              </a:tblPr>
              <a:tblGrid>
                <a:gridCol w="1658225"/>
                <a:gridCol w="1658225"/>
                <a:gridCol w="1658225"/>
                <a:gridCol w="1658225"/>
              </a:tblGrid>
              <a:tr h="500400">
                <a:tc>
                  <a:txBody>
                    <a:bodyPr vert="horz" wrap="square"/>
                    <a:lstStyle/>
                    <a:p>
                      <a:pPr marL="457200" lvl="0" indent="-3048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200"/>
                        <a:buFont typeface="Lexend"/>
                        <a:buAutoNum type="alphaLcParenR"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 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5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 10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0"/>
          <p:cNvSpPr txBox="1"/>
          <p:nvPr/>
        </p:nvSpPr>
        <p:spPr>
          <a:xfrm>
            <a:off x="2108577" y="4051000"/>
            <a:ext cx="1449600" cy="6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774896" y="4051000"/>
            <a:ext cx="14496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430991" y="4061375"/>
            <a:ext cx="20943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59100" y="5320650"/>
            <a:ext cx="663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Plot each equation and identify the gradient and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59101" y="8587350"/>
            <a:ext cx="6492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Match up any equations that represent the same relationship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50" y="6179250"/>
            <a:ext cx="1395287" cy="14005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094" y="6179250"/>
            <a:ext cx="1395287" cy="14005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838" y="6179250"/>
            <a:ext cx="1395287" cy="14005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8517" y="6179250"/>
            <a:ext cx="1395287" cy="140054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9" name="Google Shape;179;p20"/>
          <p:cNvSpPr txBox="1"/>
          <p:nvPr/>
        </p:nvSpPr>
        <p:spPr>
          <a:xfrm>
            <a:off x="459106" y="7786325"/>
            <a:ext cx="2111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463200" y="5659975"/>
          <a:ext cx="6633000" cy="381000"/>
        </p:xfrm>
        <a:graphic>
          <a:graphicData uri="http://schemas.openxmlformats.org/drawingml/2006/table">
            <a:tbl>
              <a:tblPr>
                <a:noFill/>
                <a:tableStyleId>{9E417EB3-2962-4845-A733-D6B64E126DED}</a:tableStyleId>
              </a:tblPr>
              <a:tblGrid>
                <a:gridCol w="1658250"/>
                <a:gridCol w="1658250"/>
                <a:gridCol w="1658250"/>
                <a:gridCol w="1658250"/>
              </a:tblGrid>
              <a:tr h="381000">
                <a:tc>
                  <a:txBody>
                    <a:bodyPr vert="horz" wrap="square"/>
                    <a:lstStyle/>
                    <a:p>
                      <a:pPr marL="457200" lvl="0" indent="-3048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200"/>
                        <a:buFont typeface="Lexend"/>
                        <a:buAutoNum type="alphaLcParenR"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 4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  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+ x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=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 txBox="1"/>
          <p:nvPr/>
        </p:nvSpPr>
        <p:spPr>
          <a:xfrm>
            <a:off x="2120361" y="7786325"/>
            <a:ext cx="20382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796761" y="7786325"/>
            <a:ext cx="20382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391083" y="7786325"/>
            <a:ext cx="2038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7299" y="5700549"/>
            <a:ext cx="86996" cy="27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0"/>
          <p:cNvCxnSpPr/>
          <p:nvPr/>
        </p:nvCxnSpPr>
        <p:spPr>
          <a:xfrm>
            <a:off x="4703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equation of a straight line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1057200"/>
            <a:ext cx="6624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table with the gradient and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for each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Gradient and </a:t>
            </a:r>
            <a:r>
              <a:rPr lang="en-GB" b="1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from</a:t>
            </a:r>
            <a:r>
              <a:rPr lang="en-GB" b="1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b="1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6" name="Google Shape;196;p21"/>
          <p:cNvGraphicFramePr>
            <a:graphicFrameLocks noGrp="1"/>
          </p:cNvGraphicFramePr>
          <p:nvPr/>
        </p:nvGraphicFramePr>
        <p:xfrm>
          <a:off x="468000" y="195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{9E417EB3-2962-4845-A733-D6B64E126DED}</a:tableStyleId>
              </a:tblPr>
              <a:tblGrid>
                <a:gridCol w="1734225"/>
                <a:gridCol w="864275"/>
                <a:gridCol w="1073475"/>
              </a:tblGrid>
              <a:tr h="307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8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7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10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f)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g)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h)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(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q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+ 3)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1"/>
          <p:cNvSpPr txBox="1"/>
          <p:nvPr/>
        </p:nvSpPr>
        <p:spPr>
          <a:xfrm>
            <a:off x="468000" y="1424125"/>
            <a:ext cx="4290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as a coordinate.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4936500"/>
            <a:ext cx="6624000" cy="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pieces of information for each question.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9" name="Google Shape;199;p21"/>
          <p:cNvGraphicFramePr>
            <a:graphicFrameLocks noGrp="1"/>
          </p:cNvGraphicFramePr>
          <p:nvPr/>
        </p:nvGraphicFramePr>
        <p:xfrm>
          <a:off x="468000" y="534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{9E417EB3-2962-4845-A733-D6B64E126DED}</a:tableStyleId>
              </a:tblPr>
              <a:tblGrid>
                <a:gridCol w="1610925"/>
                <a:gridCol w="928450"/>
                <a:gridCol w="1132575"/>
              </a:tblGrid>
              <a:tr h="300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a)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 u="sng"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lang="en-GB" sz="12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3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  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6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u="sng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r>
                        <a:rPr lang="en-GB" sz="1200" u="sng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.</a:t>
                      </a:r>
                      <a:endParaRPr sz="1200" u="sng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,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3(4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1200">
                        <a:solidFill>
                          <a:srgbClr val="FFFFFF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sng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r>
                        <a:rPr lang="en-GB" sz="1200" u="sng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.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, 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10 </a:t>
                      </a:r>
                      <a:r>
                        <a:rPr lang="en-GB" sz="1200" u="sng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1200" u="sng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</a:t>
                      </a:r>
                      <a:endParaRPr sz="1200" u="sng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5(1 − 2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sng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r>
                        <a:rPr lang="en-GB" sz="1200" u="sng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.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, 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200" u="sng"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g)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200" u="sng">
                          <a:latin typeface="Times"/>
                          <a:ea typeface="Times"/>
                          <a:cs typeface="Times"/>
                          <a:sym typeface="Times"/>
                        </a:rPr>
                        <a:t>   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1200" u="sng">
                          <a:latin typeface="Times"/>
                          <a:ea typeface="Times"/>
                          <a:cs typeface="Times"/>
                          <a:sym typeface="Times"/>
                        </a:rPr>
                        <a:t>   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</a:t>
                      </a: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u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0" name="Google Shape;200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614" y="6058809"/>
            <a:ext cx="105837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The equation of a straight line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2024-01-08T16:50:19.496</cp:lastPrinted>
  <dcterms:created xsi:type="dcterms:W3CDTF">2024-01-08T16:50:19Z</dcterms:created>
  <dcterms:modified xsi:type="dcterms:W3CDTF">2024-01-08T16:50:28Z</dcterms:modified>
</cp:coreProperties>
</file>