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/>
  <p:notesSz cx="6858000" cy="9144000"/>
  <p:embeddedFontLst>
    <p:embeddedFont>
      <p:font typeface="Lexend" panose="00000000000000000000"/>
      <p:regular r:id="rId45"/>
    </p:embeddedFont>
    <p:embeddedFont>
      <p:font typeface="Lexend Medium" panose="00000000000000000000"/>
      <p:regular r:id="rId46"/>
    </p:embeddedFont>
    <p:embeddedFont>
      <p:font typeface="Kalam" panose="02000000000000000000"/>
      <p:regular r:id="rId47"/>
    </p:embeddedFont>
    <p:embeddedFont>
      <p:font typeface="Lexend Light" panose="00000000000000000000"/>
      <p:regular r:id="rId48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6364564-DE89-4002-8E1C-C6CD59841652}">
  <a:tblStyle styleId="{46364564-DE89-4002-8E1C-C6CD598416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tags" Target="tags/tag1.xml" /><Relationship Id="rId45" Type="http://schemas.openxmlformats.org/officeDocument/2006/relationships/font" Target="fonts/font1.fntdata" /><Relationship Id="rId46" Type="http://schemas.openxmlformats.org/officeDocument/2006/relationships/font" Target="fonts/font2.fntdata" /><Relationship Id="rId47" Type="http://schemas.openxmlformats.org/officeDocument/2006/relationships/font" Target="fonts/font3.fntdata" /><Relationship Id="rId48" Type="http://schemas.openxmlformats.org/officeDocument/2006/relationships/font" Target="fonts/font4.fntdata" /><Relationship Id="rId49" Type="http://schemas.openxmlformats.org/officeDocument/2006/relationships/presProps" Target="presProps.xml" /><Relationship Id="rId5" Type="http://schemas.openxmlformats.org/officeDocument/2006/relationships/slide" Target="slides/slide3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a310c4926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310c4926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1ec6be48dee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c6be48dee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g1eb1e07978b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b1e07978b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g1eb1e07978b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eb1e07978b_0_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5" name="Shape 795"/>
        <p:cNvGrpSpPr/>
        <p:nvPr/>
      </p:nvGrpSpPr>
      <p:grpSpPr>
        <a:xfrm>
          <a:off x="0" y="0"/>
          <a:ext cx="0" cy="0"/>
        </a:xfrm>
      </p:grpSpPr>
      <p:sp>
        <p:nvSpPr>
          <p:cNvPr id="796" name="Google Shape;796;g1eb1e07978b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eb1e07978b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1eb1e07978b_0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b1e07978b_0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g1eb1e07978b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eb1e07978b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0" name="Shape 830"/>
        <p:cNvGrpSpPr/>
        <p:nvPr/>
      </p:nvGrpSpPr>
      <p:grpSpPr>
        <a:xfrm>
          <a:off x="0" y="0"/>
          <a:ext cx="0" cy="0"/>
        </a:xfrm>
      </p:grpSpPr>
      <p:sp>
        <p:nvSpPr>
          <p:cNvPr id="831" name="Google Shape;831;g1eb1e07978b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1eb1e07978b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g1eb1e07978b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eb1e07978b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sp>
        <p:nvSpPr>
          <p:cNvPr id="867" name="Google Shape;867;g1eb1e07978b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1eb1e07978b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1eb1e07978b_0_1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eb1e07978b_0_1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g1eb1e07978b_0_1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eb1e07978b_0_1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g2992f6818a5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92f6818a5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g2992f6818a5_0_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92f6818a5_0_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1" name="Shape 971"/>
        <p:cNvGrpSpPr/>
        <p:nvPr/>
      </p:nvGrpSpPr>
      <p:grpSpPr>
        <a:xfrm>
          <a:off x="0" y="0"/>
          <a:ext cx="0" cy="0"/>
        </a:xfrm>
      </p:grpSpPr>
      <p:sp>
        <p:nvSpPr>
          <p:cNvPr id="972" name="Google Shape;972;g1eb1e07978b_0_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eb1e07978b_0_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g2992f6818a5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992f6818a5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g29992ba61d4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992ba61d4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0" name="Shape 1030"/>
        <p:cNvGrpSpPr/>
        <p:nvPr/>
      </p:nvGrpSpPr>
      <p:grpSpPr>
        <a:xfrm>
          <a:off x="0" y="0"/>
          <a:ext cx="0" cy="0"/>
        </a:xfrm>
      </p:grpSpPr>
      <p:sp>
        <p:nvSpPr>
          <p:cNvPr id="1031" name="Google Shape;1031;g29992ba61d4_0_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992ba61d4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1" name="Shape 1051"/>
        <p:cNvGrpSpPr/>
        <p:nvPr/>
      </p:nvGrpSpPr>
      <p:grpSpPr>
        <a:xfrm>
          <a:off x="0" y="0"/>
          <a:ext cx="0" cy="0"/>
        </a:xfrm>
      </p:grpSpPr>
      <p:sp>
        <p:nvSpPr>
          <p:cNvPr id="1052" name="Google Shape;1052;g29992ba61d4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9992ba61d4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sp>
        <p:nvSpPr>
          <p:cNvPr id="1076" name="Google Shape;1076;g2992f6818a5_0_1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992f6818a5_0_1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3" name="Shape 1083"/>
        <p:cNvGrpSpPr/>
        <p:nvPr/>
      </p:nvGrpSpPr>
      <p:grpSpPr>
        <a:xfrm>
          <a:off x="0" y="0"/>
          <a:ext cx="0" cy="0"/>
        </a:xfrm>
      </p:grpSpPr>
      <p:sp>
        <p:nvSpPr>
          <p:cNvPr id="1084" name="Google Shape;1084;g2992f6818a5_0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992f6818a5_0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sp>
        <p:nvSpPr>
          <p:cNvPr id="1095" name="Google Shape;1095;g29992ba61d4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9992ba61d4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9" name="Shape 1159"/>
        <p:cNvGrpSpPr/>
        <p:nvPr/>
      </p:nvGrpSpPr>
      <p:grpSpPr>
        <a:xfrm>
          <a:off x="0" y="0"/>
          <a:ext cx="0" cy="0"/>
        </a:xfrm>
      </p:grpSpPr>
      <p:sp>
        <p:nvSpPr>
          <p:cNvPr id="1160" name="Google Shape;1160;g29992ba61d4_1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9992ba61d4_1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0" name="Shape 1170"/>
        <p:cNvGrpSpPr/>
        <p:nvPr/>
      </p:nvGrpSpPr>
      <p:grpSpPr>
        <a:xfrm>
          <a:off x="0" y="0"/>
          <a:ext cx="0" cy="0"/>
        </a:xfrm>
      </p:grpSpPr>
      <p:sp>
        <p:nvSpPr>
          <p:cNvPr id="1171" name="Google Shape;1171;g29992ba61d4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9992ba61d4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9" name="Shape 1189"/>
        <p:cNvGrpSpPr/>
        <p:nvPr/>
      </p:nvGrpSpPr>
      <p:grpSpPr>
        <a:xfrm>
          <a:off x="0" y="0"/>
          <a:ext cx="0" cy="0"/>
        </a:xfrm>
      </p:grpSpPr>
      <p:sp>
        <p:nvSpPr>
          <p:cNvPr id="1190" name="Google Shape;1190;g29992ba61d4_2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9992ba61d4_2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g29992ba61d4_2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9992ba61d4_2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7" name="Shape 1227"/>
        <p:cNvGrpSpPr/>
        <p:nvPr/>
      </p:nvGrpSpPr>
      <p:grpSpPr>
        <a:xfrm>
          <a:off x="0" y="0"/>
          <a:ext cx="0" cy="0"/>
        </a:xfrm>
      </p:grpSpPr>
      <p:sp>
        <p:nvSpPr>
          <p:cNvPr id="1228" name="Google Shape;1228;g29992ba61d4_2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9992ba61d4_2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3" name="Shape 1243"/>
        <p:cNvGrpSpPr/>
        <p:nvPr/>
      </p:nvGrpSpPr>
      <p:grpSpPr>
        <a:xfrm>
          <a:off x="0" y="0"/>
          <a:ext cx="0" cy="0"/>
        </a:xfrm>
      </p:grpSpPr>
      <p:sp>
        <p:nvSpPr>
          <p:cNvPr id="1244" name="Google Shape;1244;g29992ba61d4_2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9992ba61d4_2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g29992ba61d4_2_1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9992ba61d4_2_1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5" name="Shape 1275"/>
        <p:cNvGrpSpPr/>
        <p:nvPr/>
      </p:nvGrpSpPr>
      <p:grpSpPr>
        <a:xfrm>
          <a:off x="0" y="0"/>
          <a:ext cx="0" cy="0"/>
        </a:xfrm>
      </p:grpSpPr>
      <p:sp>
        <p:nvSpPr>
          <p:cNvPr id="1276" name="Google Shape;1276;g29992ba61d4_2_1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9992ba61d4_2_1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sp>
        <p:nvSpPr>
          <p:cNvPr id="1287" name="Google Shape;1287;g29992ba61d4_2_1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9992ba61d4_2_1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8" name="Shape 1298"/>
        <p:cNvGrpSpPr/>
        <p:nvPr/>
      </p:nvGrpSpPr>
      <p:grpSpPr>
        <a:xfrm>
          <a:off x="0" y="0"/>
          <a:ext cx="0" cy="0"/>
        </a:xfrm>
      </p:grpSpPr>
      <p:sp>
        <p:nvSpPr>
          <p:cNvPr id="1299" name="Google Shape;1299;g29992ba61d4_2_2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29992ba61d4_2_2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2" name="Shape 1312"/>
        <p:cNvGrpSpPr/>
        <p:nvPr/>
      </p:nvGrpSpPr>
      <p:grpSpPr>
        <a:xfrm>
          <a:off x="0" y="0"/>
          <a:ext cx="0" cy="0"/>
        </a:xfrm>
      </p:grpSpPr>
      <p:sp>
        <p:nvSpPr>
          <p:cNvPr id="1313" name="Google Shape;1313;g29992ba61d4_2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9992ba61d4_2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2" name="Shape 1322"/>
        <p:cNvGrpSpPr/>
        <p:nvPr/>
      </p:nvGrpSpPr>
      <p:grpSpPr>
        <a:xfrm>
          <a:off x="0" y="0"/>
          <a:ext cx="0" cy="0"/>
        </a:xfrm>
      </p:grpSpPr>
      <p:sp>
        <p:nvSpPr>
          <p:cNvPr id="1323" name="Google Shape;1323;g29992ba61d4_2_2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992ba61d4_2_2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2" name="Shape 1332"/>
        <p:cNvGrpSpPr/>
        <p:nvPr/>
      </p:nvGrpSpPr>
      <p:grpSpPr>
        <a:xfrm>
          <a:off x="0" y="0"/>
          <a:ext cx="0" cy="0"/>
        </a:xfrm>
      </p:grpSpPr>
      <p:sp>
        <p:nvSpPr>
          <p:cNvPr id="1333" name="Google Shape;1333;g29992ba61d4_2_2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9992ba61d4_2_2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4" name="Shape 1344"/>
        <p:cNvGrpSpPr/>
        <p:nvPr/>
      </p:nvGrpSpPr>
      <p:grpSpPr>
        <a:xfrm>
          <a:off x="0" y="0"/>
          <a:ext cx="0" cy="0"/>
        </a:xfrm>
      </p:grpSpPr>
      <p:sp>
        <p:nvSpPr>
          <p:cNvPr id="1345" name="Google Shape;1345;g29992ba61d4_2_2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9992ba61d4_2_2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7" name="Shape 1357"/>
        <p:cNvGrpSpPr/>
        <p:nvPr/>
      </p:nvGrpSpPr>
      <p:grpSpPr>
        <a:xfrm>
          <a:off x="0" y="0"/>
          <a:ext cx="0" cy="0"/>
        </a:xfrm>
      </p:grpSpPr>
      <p:sp>
        <p:nvSpPr>
          <p:cNvPr id="1358" name="Google Shape;135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3" name="Shape 1363"/>
        <p:cNvGrpSpPr/>
        <p:nvPr/>
      </p:nvGrpSpPr>
      <p:grpSpPr>
        <a:xfrm>
          <a:off x="0" y="0"/>
          <a:ext cx="0" cy="0"/>
        </a:xfrm>
      </p:grpSpPr>
      <p:sp>
        <p:nvSpPr>
          <p:cNvPr id="1364" name="Google Shape;1364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8.png" /><Relationship Id="rId4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8.png" /><Relationship Id="rId4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Relationship Id="rId7" Type="http://schemas.openxmlformats.org/officeDocument/2006/relationships/image" Target="../media/image56.png" /><Relationship Id="rId8" Type="http://schemas.openxmlformats.org/officeDocument/2006/relationships/image" Target="../media/image57.png" /><Relationship Id="rId9" Type="http://schemas.openxmlformats.org/officeDocument/2006/relationships/image" Target="../media/image39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Relationship Id="rId7" Type="http://schemas.openxmlformats.org/officeDocument/2006/relationships/image" Target="../media/image56.png" /><Relationship Id="rId8" Type="http://schemas.openxmlformats.org/officeDocument/2006/relationships/image" Target="../media/image57.png" /><Relationship Id="rId9" Type="http://schemas.openxmlformats.org/officeDocument/2006/relationships/image" Target="../media/image3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60.png" /><Relationship Id="rId6" Type="http://schemas.openxmlformats.org/officeDocument/2006/relationships/image" Target="../media/image61.png" /><Relationship Id="rId7" Type="http://schemas.openxmlformats.org/officeDocument/2006/relationships/image" Target="../media/image39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60.png" /><Relationship Id="rId6" Type="http://schemas.openxmlformats.org/officeDocument/2006/relationships/image" Target="../media/image61.png" /><Relationship Id="rId7" Type="http://schemas.openxmlformats.org/officeDocument/2006/relationships/image" Target="../media/image3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2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2.png" /><Relationship Id="rId4" Type="http://schemas.openxmlformats.org/officeDocument/2006/relationships/image" Target="../media/image64.png" /><Relationship Id="rId5" Type="http://schemas.openxmlformats.org/officeDocument/2006/relationships/image" Target="../media/image65.png" /><Relationship Id="rId6" Type="http://schemas.openxmlformats.org/officeDocument/2006/relationships/image" Target="../media/image66.png" /><Relationship Id="rId7" Type="http://schemas.openxmlformats.org/officeDocument/2006/relationships/image" Target="../media/image6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8.png" /><Relationship Id="rId6" Type="http://schemas.openxmlformats.org/officeDocument/2006/relationships/image" Target="../media/image69.png" /><Relationship Id="rId7" Type="http://schemas.openxmlformats.org/officeDocument/2006/relationships/image" Target="../media/image70.png" /><Relationship Id="rId8" Type="http://schemas.openxmlformats.org/officeDocument/2006/relationships/image" Target="../media/image71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2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73.png" /><Relationship Id="rId4" Type="http://schemas.openxmlformats.org/officeDocument/2006/relationships/image" Target="../media/image74.png" /><Relationship Id="rId5" Type="http://schemas.openxmlformats.org/officeDocument/2006/relationships/image" Target="../media/image7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7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Relationship Id="rId5" Type="http://schemas.openxmlformats.org/officeDocument/2006/relationships/image" Target="../media/image80.png" /><Relationship Id="rId6" Type="http://schemas.openxmlformats.org/officeDocument/2006/relationships/image" Target="../media/image81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8.png" /><Relationship Id="rId4" Type="http://schemas.openxmlformats.org/officeDocument/2006/relationships/image" Target="../media/image81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79.png" /><Relationship Id="rId4" Type="http://schemas.openxmlformats.org/officeDocument/2006/relationships/image" Target="../media/image8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80.png" /><Relationship Id="rId4" Type="http://schemas.openxmlformats.org/officeDocument/2006/relationships/image" Target="../media/image81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1.png" /><Relationship Id="rId4" Type="http://schemas.openxmlformats.org/officeDocument/2006/relationships/image" Target="../media/image82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81.png" /><Relationship Id="rId4" Type="http://schemas.openxmlformats.org/officeDocument/2006/relationships/image" Target="../media/image82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83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83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63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63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1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equation of a straight line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that writing linear equations in the form  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/>
              <a:t> helps to reveal the structure.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2"/>
          </p:nvPr>
        </p:nvSpPr>
        <p:spPr>
          <a:xfrm>
            <a:off x="324001" y="1069788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numerical coefficient is a constant multiplier of the variables in a term. </a:t>
            </a:r>
            <a:endParaRPr sz="2000"/>
          </a:p>
        </p:txBody>
      </p:sp>
      <p:sp>
        <p:nvSpPr>
          <p:cNvPr id="767" name="Google Shape;767;p67"/>
          <p:cNvSpPr txBox="1"/>
          <p:nvPr>
            <p:ph type="subTitle" idx="3"/>
          </p:nvPr>
        </p:nvSpPr>
        <p:spPr>
          <a:xfrm>
            <a:off x="324001" y="20232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constant is a term that does not change; it contains no variables. </a:t>
            </a:r>
            <a:endParaRPr sz="2000"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1" y="2901350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E.g. in the equation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/>
              <a:t> , 3 is the coefficient of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and the constant term is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 </a:t>
            </a:r>
            <a:endParaRPr sz="20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subTitle" idx="1"/>
          </p:nvPr>
        </p:nvSpPr>
        <p:spPr>
          <a:xfrm>
            <a:off x="324000" y="1146050"/>
            <a:ext cx="8496000" cy="75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 b="1"/>
              <a:t>equation of a line</a:t>
            </a:r>
            <a:r>
              <a:rPr lang="en-GB"/>
              <a:t> is any equation whose graph forms a straight line. 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779" name="Google Shape;779;p6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c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0" name="Google Shape;780;p6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equation of a straight line</a:t>
            </a:r>
            <a:endParaRPr/>
          </a:p>
        </p:txBody>
      </p:sp>
      <p:pic>
        <p:nvPicPr>
          <p:cNvPr id="781" name="Google Shape;78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5" name="Shape 785"/>
        <p:cNvGrpSpPr/>
        <p:nvPr/>
      </p:nvGrpSpPr>
      <p:grpSpPr>
        <a:xfrm>
          <a:off x="0" y="0"/>
          <a:ext cx="0" cy="0"/>
        </a:xfrm>
      </p:grpSpPr>
      <p:sp>
        <p:nvSpPr>
          <p:cNvPr id="786" name="Google Shape;78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787" name="Google Shape;787;p70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plot linear relationships to investigate their features.</a:t>
            </a:r>
            <a:endParaRPr sz="2000"/>
          </a:p>
        </p:txBody>
      </p:sp>
      <p:sp>
        <p:nvSpPr>
          <p:cNvPr id="788" name="Google Shape;788;p70"/>
          <p:cNvSpPr txBox="1"/>
          <p:nvPr>
            <p:ph type="body" idx="1"/>
          </p:nvPr>
        </p:nvSpPr>
        <p:spPr>
          <a:xfrm>
            <a:off x="324000" y="1277050"/>
            <a:ext cx="8237700" cy="68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To plot the linear relationship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19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+ 2 </a:t>
            </a:r>
            <a:r>
              <a:rPr lang="en-GB" sz="1900"/>
              <a:t>we need at least two coordinates that follow the rule. What coordinates can you think of?</a:t>
            </a:r>
            <a:endParaRPr sz="1900"/>
          </a:p>
        </p:txBody>
      </p:sp>
      <p:sp>
        <p:nvSpPr>
          <p:cNvPr id="789" name="Google Shape;789;p70"/>
          <p:cNvSpPr txBox="1"/>
          <p:nvPr>
            <p:ph type="body" idx="1"/>
          </p:nvPr>
        </p:nvSpPr>
        <p:spPr>
          <a:xfrm>
            <a:off x="324000" y="2012275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(0, 2)  (3, 5)  (10, 12)  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−2, 0)  (−4, −2)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790" name="Google Shape;790;p70"/>
          <p:cNvPicPr preferRelativeResize="0"/>
          <p:nvPr/>
        </p:nvPicPr>
        <p:blipFill>
          <a:blip r:embed="rId3">
            <a:alphaModFix/>
          </a:blip>
          <a:srcRect t="21990"/>
          <a:stretch>
            <a:fillRect/>
          </a:stretch>
        </p:blipFill>
        <p:spPr>
          <a:xfrm>
            <a:off x="324000" y="2614725"/>
            <a:ext cx="2313026" cy="2151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1" name="Google Shape;791;p70"/>
          <p:cNvSpPr txBox="1"/>
          <p:nvPr>
            <p:ph type="body" idx="1"/>
          </p:nvPr>
        </p:nvSpPr>
        <p:spPr>
          <a:xfrm>
            <a:off x="2887200" y="257175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helpful to plot 3 points to check they all form a straight line.</a:t>
            </a:r>
            <a:endParaRPr sz="2000"/>
          </a:p>
        </p:txBody>
      </p:sp>
      <p:sp>
        <p:nvSpPr>
          <p:cNvPr id="792" name="Google Shape;792;p70"/>
          <p:cNvSpPr txBox="1"/>
          <p:nvPr>
            <p:ph type="body" idx="1"/>
          </p:nvPr>
        </p:nvSpPr>
        <p:spPr>
          <a:xfrm>
            <a:off x="2887200" y="3453875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Joining them up with a ruler will show the graph of the relationship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endParaRPr sz="2000"/>
          </a:p>
        </p:txBody>
      </p:sp>
      <p:pic>
        <p:nvPicPr>
          <p:cNvPr id="793" name="Google Shape;79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607813"/>
            <a:ext cx="2313025" cy="21649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4" name="Google Shape;794;p70"/>
          <p:cNvSpPr txBox="1"/>
          <p:nvPr>
            <p:ph type="body" idx="1"/>
          </p:nvPr>
        </p:nvSpPr>
        <p:spPr>
          <a:xfrm>
            <a:off x="2887200" y="433600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call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/>
              <a:t> the </a:t>
            </a:r>
            <a:r>
              <a:rPr lang="en-GB" sz="2000" b="1"/>
              <a:t>equation of this line</a:t>
            </a:r>
            <a:r>
              <a:rPr lang="en-GB" sz="2000"/>
              <a:t>. 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00" name="Google Shape;800;p71"/>
          <p:cNvSpPr txBox="1"/>
          <p:nvPr>
            <p:ph type="body" idx="1"/>
          </p:nvPr>
        </p:nvSpPr>
        <p:spPr>
          <a:xfrm>
            <a:off x="324000" y="911700"/>
            <a:ext cx="8496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could we describe this line using keywords and features.</a:t>
            </a:r>
            <a:endParaRPr/>
          </a:p>
        </p:txBody>
      </p:sp>
      <p:sp>
        <p:nvSpPr>
          <p:cNvPr id="801" name="Google Shape;801;p71"/>
          <p:cNvSpPr txBox="1"/>
          <p:nvPr>
            <p:ph type="body" idx="1"/>
          </p:nvPr>
        </p:nvSpPr>
        <p:spPr>
          <a:xfrm>
            <a:off x="3369600" y="2695963"/>
            <a:ext cx="4936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has a gradient of 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71"/>
          <p:cNvSpPr txBox="1"/>
          <p:nvPr>
            <p:ph type="body" idx="1"/>
          </p:nvPr>
        </p:nvSpPr>
        <p:spPr>
          <a:xfrm>
            <a:off x="3369600" y="3193338"/>
            <a:ext cx="50916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has a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-intercept of (0, 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03" name="Google Shape;8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762200"/>
            <a:ext cx="2313025" cy="21649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04" name="Google Shape;804;p71"/>
          <p:cNvSpPr txBox="1"/>
          <p:nvPr>
            <p:ph type="body" idx="1"/>
          </p:nvPr>
        </p:nvSpPr>
        <p:spPr>
          <a:xfrm>
            <a:off x="3369600" y="1644463"/>
            <a:ext cx="4936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As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increases,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increases.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1"/>
          <p:cNvSpPr txBox="1"/>
          <p:nvPr>
            <p:ph type="body" idx="1"/>
          </p:nvPr>
        </p:nvSpPr>
        <p:spPr>
          <a:xfrm>
            <a:off x="3369600" y="2170213"/>
            <a:ext cx="4936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has a positive gradient.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1"/>
          <p:cNvSpPr txBox="1"/>
          <p:nvPr>
            <p:ph type="body" idx="1"/>
          </p:nvPr>
        </p:nvSpPr>
        <p:spPr>
          <a:xfrm>
            <a:off x="3369600" y="3675050"/>
            <a:ext cx="50916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always 2 more than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12" name="Google Shape;812;p72"/>
          <p:cNvSpPr txBox="1"/>
          <p:nvPr>
            <p:ph type="body" idx="1"/>
          </p:nvPr>
        </p:nvSpPr>
        <p:spPr>
          <a:xfrm>
            <a:off x="324000" y="7593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We can plot any linear equation on a graph.</a:t>
            </a:r>
            <a:endParaRPr/>
          </a:p>
        </p:txBody>
      </p:sp>
      <p:sp>
        <p:nvSpPr>
          <p:cNvPr id="813" name="Google Shape;813;p72"/>
          <p:cNvSpPr txBox="1"/>
          <p:nvPr>
            <p:ph type="body" idx="1"/>
          </p:nvPr>
        </p:nvSpPr>
        <p:spPr>
          <a:xfrm>
            <a:off x="324000" y="1277050"/>
            <a:ext cx="8496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think of any coordinates that fit the rule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lang="en-GB"/>
              <a:t>?</a:t>
            </a:r>
            <a:endParaRPr/>
          </a:p>
        </p:txBody>
      </p:sp>
      <p:sp>
        <p:nvSpPr>
          <p:cNvPr id="814" name="Google Shape;814;p72"/>
          <p:cNvSpPr txBox="1"/>
          <p:nvPr>
            <p:ph type="body" idx="1"/>
          </p:nvPr>
        </p:nvSpPr>
        <p:spPr>
          <a:xfrm>
            <a:off x="324000" y="2012275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 (8,10)  (2,4)  (0,2)  (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5,7)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5" name="Google Shape;815;p72"/>
          <p:cNvSpPr txBox="1"/>
          <p:nvPr>
            <p:ph type="body" idx="1"/>
          </p:nvPr>
        </p:nvSpPr>
        <p:spPr>
          <a:xfrm>
            <a:off x="2887200" y="257175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Plotting these coordinates and drawing a line, will give us the </a:t>
            </a:r>
            <a:r>
              <a:rPr lang="en-GB" sz="2000" b="1"/>
              <a:t>line with equation</a:t>
            </a:r>
            <a:r>
              <a:rPr lang="en-GB" sz="20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endParaRPr sz="2000"/>
          </a:p>
        </p:txBody>
      </p:sp>
      <p:sp>
        <p:nvSpPr>
          <p:cNvPr id="816" name="Google Shape;816;p72"/>
          <p:cNvSpPr txBox="1"/>
          <p:nvPr>
            <p:ph type="body" idx="1"/>
          </p:nvPr>
        </p:nvSpPr>
        <p:spPr>
          <a:xfrm>
            <a:off x="2887200" y="3453875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 you notice about this line?</a:t>
            </a:r>
            <a:endParaRPr sz="2000"/>
          </a:p>
        </p:txBody>
      </p:sp>
      <p:sp>
        <p:nvSpPr>
          <p:cNvPr id="817" name="Google Shape;817;p72"/>
          <p:cNvSpPr txBox="1"/>
          <p:nvPr>
            <p:ph type="body" idx="1"/>
          </p:nvPr>
        </p:nvSpPr>
        <p:spPr>
          <a:xfrm>
            <a:off x="2887200" y="408360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has the same features as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18" name="Google Shape;81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514800"/>
            <a:ext cx="2262074" cy="230362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2" name="Shape 822"/>
        <p:cNvGrpSpPr/>
        <p:nvPr/>
      </p:nvGrpSpPr>
      <p:grpSpPr>
        <a:xfrm>
          <a:off x="0" y="0"/>
          <a:ext cx="0" cy="0"/>
        </a:xfrm>
      </p:grpSpPr>
      <p:sp>
        <p:nvSpPr>
          <p:cNvPr id="823" name="Google Shape;82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24" name="Google Shape;824;p73"/>
          <p:cNvSpPr txBox="1"/>
          <p:nvPr>
            <p:ph type="body" idx="1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are now going to plot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Will it look the same as the others?</a:t>
            </a:r>
            <a:endParaRPr sz="2000"/>
          </a:p>
        </p:txBody>
      </p:sp>
      <p:sp>
        <p:nvSpPr>
          <p:cNvPr id="825" name="Google Shape;825;p73"/>
          <p:cNvSpPr txBox="1"/>
          <p:nvPr>
            <p:ph type="body" idx="1"/>
          </p:nvPr>
        </p:nvSpPr>
        <p:spPr>
          <a:xfrm>
            <a:off x="2887200" y="270000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is the line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/>
          </a:p>
        </p:txBody>
      </p:sp>
      <p:sp>
        <p:nvSpPr>
          <p:cNvPr id="826" name="Google Shape;826;p73"/>
          <p:cNvSpPr txBox="1"/>
          <p:nvPr>
            <p:ph type="body" idx="1"/>
          </p:nvPr>
        </p:nvSpPr>
        <p:spPr>
          <a:xfrm>
            <a:off x="2887200" y="3453875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 is the same line as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/>
              <a:t> and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2</a:t>
            </a:r>
            <a:endParaRPr/>
          </a:p>
        </p:txBody>
      </p:sp>
      <p:sp>
        <p:nvSpPr>
          <p:cNvPr id="827" name="Google Shape;827;p73"/>
          <p:cNvSpPr txBox="1"/>
          <p:nvPr>
            <p:ph type="body" idx="1"/>
          </p:nvPr>
        </p:nvSpPr>
        <p:spPr>
          <a:xfrm>
            <a:off x="324000" y="163705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What are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coordinates for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coordinates chosen below?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 sz="2000" u="sng"/>
              <a:t>    </a:t>
            </a:r>
            <a:r>
              <a:rPr lang="en-GB" sz="2000"/>
              <a:t>, 3)  (</a:t>
            </a:r>
            <a:r>
              <a:rPr lang="en-GB" sz="2000" u="sng"/>
              <a:t>    </a:t>
            </a:r>
            <a:r>
              <a:rPr lang="en-GB" sz="2000"/>
              <a:t>, 9)  (</a:t>
            </a:r>
            <a:r>
              <a:rPr lang="en-GB" sz="2000" u="sng"/>
              <a:t>    </a:t>
            </a:r>
            <a:r>
              <a:rPr lang="en-GB" sz="2000"/>
              <a:t>, 0)  (</a:t>
            </a:r>
            <a:r>
              <a:rPr lang="en-GB" sz="2000" u="sng"/>
              <a:t>    </a:t>
            </a:r>
            <a:r>
              <a:rPr lang="en-GB" sz="2000"/>
              <a:t>,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3)</a:t>
            </a:r>
            <a:endParaRPr sz="2000"/>
          </a:p>
        </p:txBody>
      </p:sp>
      <p:sp>
        <p:nvSpPr>
          <p:cNvPr id="828" name="Google Shape;828;p73"/>
          <p:cNvSpPr txBox="1"/>
          <p:nvPr>
            <p:ph type="body" idx="1"/>
          </p:nvPr>
        </p:nvSpPr>
        <p:spPr>
          <a:xfrm>
            <a:off x="4217700" y="2098950"/>
            <a:ext cx="43179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(1, 3)  (7, 9)  (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2, 0)  (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5,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3)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29" name="Google Shape;82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2564274"/>
            <a:ext cx="2146700" cy="225200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3" name="Shape 833"/>
        <p:cNvGrpSpPr/>
        <p:nvPr/>
      </p:nvGrpSpPr>
      <p:grpSpPr>
        <a:xfrm>
          <a:off x="0" y="0"/>
          <a:ext cx="0" cy="0"/>
        </a:xfrm>
      </p:grpSpPr>
      <p:sp>
        <p:nvSpPr>
          <p:cNvPr id="834" name="Google Shape;83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35" name="Google Shape;835;p74"/>
          <p:cNvSpPr txBox="1"/>
          <p:nvPr>
            <p:ph type="body" idx="1"/>
          </p:nvPr>
        </p:nvSpPr>
        <p:spPr>
          <a:xfrm>
            <a:off x="324000" y="759300"/>
            <a:ext cx="8237700" cy="3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 b="1"/>
              <a:t>equation of a straight line</a:t>
            </a:r>
            <a:r>
              <a:rPr lang="en-GB" sz="2000"/>
              <a:t> can be written in different forms.</a:t>
            </a:r>
            <a:endParaRPr sz="2000"/>
          </a:p>
        </p:txBody>
      </p:sp>
      <p:sp>
        <p:nvSpPr>
          <p:cNvPr id="836" name="Google Shape;836;p74"/>
          <p:cNvSpPr txBox="1"/>
          <p:nvPr>
            <p:ph type="body" idx="1"/>
          </p:nvPr>
        </p:nvSpPr>
        <p:spPr>
          <a:xfrm>
            <a:off x="324000" y="2406300"/>
            <a:ext cx="59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can be shown by a bar model. </a:t>
            </a:r>
            <a:endParaRPr sz="2000"/>
          </a:p>
        </p:txBody>
      </p:sp>
      <p:sp>
        <p:nvSpPr>
          <p:cNvPr id="837" name="Google Shape;837;p74"/>
          <p:cNvSpPr txBox="1"/>
          <p:nvPr>
            <p:ph type="body" idx="1"/>
          </p:nvPr>
        </p:nvSpPr>
        <p:spPr>
          <a:xfrm>
            <a:off x="324000" y="1428538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graphs of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2000"/>
              <a:t>,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lang="en-GB" sz="20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/>
              <a:t> are all the same because all these equations represent the same linear relationship.</a:t>
            </a:r>
            <a:endParaRPr sz="2000"/>
          </a:p>
        </p:txBody>
      </p:sp>
      <p:sp>
        <p:nvSpPr>
          <p:cNvPr id="838" name="Google Shape;838;p74"/>
          <p:cNvSpPr/>
          <p:nvPr/>
        </p:nvSpPr>
        <p:spPr>
          <a:xfrm>
            <a:off x="522950" y="2996150"/>
            <a:ext cx="1991400" cy="34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9" name="Google Shape;839;p74"/>
          <p:cNvSpPr/>
          <p:nvPr/>
        </p:nvSpPr>
        <p:spPr>
          <a:xfrm>
            <a:off x="522950" y="3339950"/>
            <a:ext cx="1396800" cy="34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0" name="Google Shape;840;p74"/>
          <p:cNvSpPr/>
          <p:nvPr/>
        </p:nvSpPr>
        <p:spPr>
          <a:xfrm>
            <a:off x="1919750" y="3339950"/>
            <a:ext cx="594600" cy="343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1" name="Google Shape;841;p74"/>
          <p:cNvSpPr txBox="1"/>
          <p:nvPr>
            <p:ph type="body" idx="1"/>
          </p:nvPr>
        </p:nvSpPr>
        <p:spPr>
          <a:xfrm>
            <a:off x="324000" y="4046850"/>
            <a:ext cx="8496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 forms of </a:t>
            </a:r>
            <a:r>
              <a:rPr lang="en-GB" sz="2000" b="1"/>
              <a:t>equations of lines</a:t>
            </a:r>
            <a:r>
              <a:rPr lang="en-GB" sz="2000"/>
              <a:t> are more common than others.  </a:t>
            </a:r>
            <a:endParaRPr sz="2000"/>
          </a:p>
        </p:txBody>
      </p:sp>
      <p:sp>
        <p:nvSpPr>
          <p:cNvPr id="842" name="Google Shape;842;p74"/>
          <p:cNvSpPr txBox="1"/>
          <p:nvPr>
            <p:ph type="body" idx="1"/>
          </p:nvPr>
        </p:nvSpPr>
        <p:spPr>
          <a:xfrm>
            <a:off x="324000" y="4485800"/>
            <a:ext cx="8496000" cy="34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Different forms can be helpful at different times.  </a:t>
            </a:r>
            <a:endParaRPr sz="2000"/>
          </a:p>
        </p:txBody>
      </p:sp>
      <p:sp>
        <p:nvSpPr>
          <p:cNvPr id="843" name="Google Shape;843;p74"/>
          <p:cNvSpPr/>
          <p:nvPr/>
        </p:nvSpPr>
        <p:spPr>
          <a:xfrm>
            <a:off x="522950" y="2996150"/>
            <a:ext cx="1991400" cy="34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>
            <p:ph type="body" idx="1"/>
          </p:nvPr>
        </p:nvSpPr>
        <p:spPr>
          <a:xfrm>
            <a:off x="2887200" y="28146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</a:t>
            </a:r>
            <a:endParaRPr/>
          </a:p>
        </p:txBody>
      </p:sp>
      <p:sp>
        <p:nvSpPr>
          <p:cNvPr id="845" name="Google Shape;845;p74"/>
          <p:cNvSpPr txBox="1"/>
          <p:nvPr>
            <p:ph type="body" idx="1"/>
          </p:nvPr>
        </p:nvSpPr>
        <p:spPr>
          <a:xfrm>
            <a:off x="3318975" y="28146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 </a:t>
            </a:r>
            <a:endParaRPr/>
          </a:p>
        </p:txBody>
      </p:sp>
      <p:sp>
        <p:nvSpPr>
          <p:cNvPr id="846" name="Google Shape;846;p74"/>
          <p:cNvSpPr/>
          <p:nvPr/>
        </p:nvSpPr>
        <p:spPr>
          <a:xfrm>
            <a:off x="522950" y="3339950"/>
            <a:ext cx="1396800" cy="34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4"/>
          <p:cNvSpPr txBox="1"/>
          <p:nvPr>
            <p:ph type="body" idx="1"/>
          </p:nvPr>
        </p:nvSpPr>
        <p:spPr>
          <a:xfrm>
            <a:off x="2887200" y="31875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endParaRPr/>
          </a:p>
        </p:txBody>
      </p:sp>
      <p:sp>
        <p:nvSpPr>
          <p:cNvPr id="848" name="Google Shape;848;p74"/>
          <p:cNvSpPr txBox="1"/>
          <p:nvPr>
            <p:ph type="body" idx="1"/>
          </p:nvPr>
        </p:nvSpPr>
        <p:spPr>
          <a:xfrm>
            <a:off x="2941250" y="35740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</a:t>
            </a:r>
            <a:endParaRPr/>
          </a:p>
        </p:txBody>
      </p:sp>
      <p:sp>
        <p:nvSpPr>
          <p:cNvPr id="849" name="Google Shape;849;p74"/>
          <p:cNvSpPr txBox="1"/>
          <p:nvPr>
            <p:ph type="body" idx="1"/>
          </p:nvPr>
        </p:nvSpPr>
        <p:spPr>
          <a:xfrm>
            <a:off x="3354793" y="35740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 </a:t>
            </a:r>
            <a:endParaRPr/>
          </a:p>
        </p:txBody>
      </p:sp>
      <p:sp>
        <p:nvSpPr>
          <p:cNvPr id="850" name="Google Shape;850;p74"/>
          <p:cNvSpPr/>
          <p:nvPr/>
        </p:nvSpPr>
        <p:spPr>
          <a:xfrm>
            <a:off x="1919750" y="3339950"/>
            <a:ext cx="594600" cy="343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4"/>
          <p:cNvSpPr txBox="1"/>
          <p:nvPr>
            <p:ph type="body" idx="1"/>
          </p:nvPr>
        </p:nvSpPr>
        <p:spPr>
          <a:xfrm>
            <a:off x="3082600" y="3187550"/>
            <a:ext cx="14328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5" name="Shape 855"/>
        <p:cNvGrpSpPr/>
        <p:nvPr/>
      </p:nvGrpSpPr>
      <p:grpSpPr>
        <a:xfrm>
          <a:off x="0" y="0"/>
          <a:ext cx="0" cy="0"/>
        </a:xfrm>
      </p:grpSpPr>
      <p:sp>
        <p:nvSpPr>
          <p:cNvPr id="856" name="Google Shape;85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57" name="Google Shape;857;p75"/>
          <p:cNvSpPr txBox="1"/>
          <p:nvPr>
            <p:ph type="body" idx="1"/>
          </p:nvPr>
        </p:nvSpPr>
        <p:spPr>
          <a:xfrm>
            <a:off x="324000" y="759300"/>
            <a:ext cx="8237700" cy="3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Let’s have a go at plotting the equation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7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8" name="Google Shape;858;p75"/>
          <p:cNvSpPr txBox="1"/>
          <p:nvPr>
            <p:ph type="body" idx="1"/>
          </p:nvPr>
        </p:nvSpPr>
        <p:spPr>
          <a:xfrm>
            <a:off x="324000" y="1338013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think of any coordinates where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7</a:t>
            </a:r>
            <a:r>
              <a:rPr lang="en-GB"/>
              <a:t>?</a:t>
            </a:r>
            <a:endParaRPr/>
          </a:p>
        </p:txBody>
      </p:sp>
      <p:sp>
        <p:nvSpPr>
          <p:cNvPr id="859" name="Google Shape;859;p75"/>
          <p:cNvSpPr txBox="1"/>
          <p:nvPr>
            <p:ph type="body" idx="1"/>
          </p:nvPr>
        </p:nvSpPr>
        <p:spPr>
          <a:xfrm>
            <a:off x="324000" y="1847400"/>
            <a:ext cx="82377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 (0, 7)  (7, 0)  (4, 3)  (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6, 1)  (2, 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60" name="Google Shape;86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20200"/>
            <a:ext cx="2537818" cy="2500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1" name="Google Shape;861;p75"/>
          <p:cNvSpPr txBox="1"/>
          <p:nvPr>
            <p:ph type="body" idx="1"/>
          </p:nvPr>
        </p:nvSpPr>
        <p:spPr>
          <a:xfrm>
            <a:off x="3369600" y="2320200"/>
            <a:ext cx="5344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will they look like when plotted?</a:t>
            </a:r>
            <a:endParaRPr sz="2000"/>
          </a:p>
        </p:txBody>
      </p:sp>
      <p:sp>
        <p:nvSpPr>
          <p:cNvPr id="862" name="Google Shape;862;p75"/>
          <p:cNvSpPr txBox="1"/>
          <p:nvPr>
            <p:ph type="body" idx="1"/>
          </p:nvPr>
        </p:nvSpPr>
        <p:spPr>
          <a:xfrm>
            <a:off x="3369600" y="2766300"/>
            <a:ext cx="5344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-intercept?</a:t>
            </a:r>
            <a:endParaRPr sz="2000"/>
          </a:p>
        </p:txBody>
      </p:sp>
      <p:sp>
        <p:nvSpPr>
          <p:cNvPr id="863" name="Google Shape;863;p75"/>
          <p:cNvSpPr txBox="1"/>
          <p:nvPr>
            <p:ph type="body" idx="1"/>
          </p:nvPr>
        </p:nvSpPr>
        <p:spPr>
          <a:xfrm>
            <a:off x="3369600" y="33339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4" name="Google Shape;864;p75"/>
          <p:cNvSpPr txBox="1"/>
          <p:nvPr>
            <p:ph type="body" idx="1"/>
          </p:nvPr>
        </p:nvSpPr>
        <p:spPr>
          <a:xfrm>
            <a:off x="3369600" y="38667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-intercept = (0, 7)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65" name="Google Shape;86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296321"/>
            <a:ext cx="2537825" cy="254796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9" name="Shape 869"/>
        <p:cNvGrpSpPr/>
        <p:nvPr/>
      </p:nvGrpSpPr>
      <p:grpSpPr>
        <a:xfrm>
          <a:off x="0" y="0"/>
          <a:ext cx="0" cy="0"/>
        </a:xfrm>
      </p:grpSpPr>
      <p:sp>
        <p:nvSpPr>
          <p:cNvPr id="870" name="Google Shape;87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71" name="Google Shape;871;p76"/>
          <p:cNvSpPr txBox="1"/>
          <p:nvPr>
            <p:ph type="body" idx="1"/>
          </p:nvPr>
        </p:nvSpPr>
        <p:spPr>
          <a:xfrm>
            <a:off x="324000" y="759300"/>
            <a:ext cx="8237700" cy="3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 you think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/>
              <a:t> will look like?</a:t>
            </a:r>
            <a:endParaRPr/>
          </a:p>
        </p:txBody>
      </p:sp>
      <p:pic>
        <p:nvPicPr>
          <p:cNvPr id="872" name="Google Shape;87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20200"/>
            <a:ext cx="2537818" cy="2500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3" name="Google Shape;873;p76"/>
          <p:cNvSpPr txBox="1"/>
          <p:nvPr>
            <p:ph type="body" idx="1"/>
          </p:nvPr>
        </p:nvSpPr>
        <p:spPr>
          <a:xfrm>
            <a:off x="324000" y="1523063"/>
            <a:ext cx="5344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gradient and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-intercept?</a:t>
            </a:r>
            <a:endParaRPr/>
          </a:p>
        </p:txBody>
      </p:sp>
      <p:sp>
        <p:nvSpPr>
          <p:cNvPr id="874" name="Google Shape;874;p76"/>
          <p:cNvSpPr txBox="1"/>
          <p:nvPr>
            <p:ph type="body" idx="1"/>
          </p:nvPr>
        </p:nvSpPr>
        <p:spPr>
          <a:xfrm>
            <a:off x="3369600" y="22671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6"/>
          <p:cNvSpPr txBox="1"/>
          <p:nvPr>
            <p:ph type="body" idx="1"/>
          </p:nvPr>
        </p:nvSpPr>
        <p:spPr>
          <a:xfrm>
            <a:off x="3369600" y="27999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-intercept = (0, 10)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6" name="Google Shape;87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314" y="2285293"/>
            <a:ext cx="2563201" cy="257002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82" name="Google Shape;882;p77"/>
          <p:cNvSpPr txBox="1"/>
          <p:nvPr>
            <p:ph type="body" idx="1"/>
          </p:nvPr>
        </p:nvSpPr>
        <p:spPr>
          <a:xfrm>
            <a:off x="324000" y="759300"/>
            <a:ext cx="8237700" cy="3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 you think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/>
              <a:t> will look like?</a:t>
            </a:r>
            <a:endParaRPr/>
          </a:p>
        </p:txBody>
      </p:sp>
      <p:pic>
        <p:nvPicPr>
          <p:cNvPr id="883" name="Google Shape;8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20200"/>
            <a:ext cx="2537818" cy="25001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4" name="Google Shape;884;p77"/>
          <p:cNvSpPr txBox="1"/>
          <p:nvPr>
            <p:ph type="body" idx="1"/>
          </p:nvPr>
        </p:nvSpPr>
        <p:spPr>
          <a:xfrm>
            <a:off x="324000" y="12821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Can you think of any values for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that satisfy this relationship?</a:t>
            </a:r>
            <a:endParaRPr sz="2000"/>
          </a:p>
        </p:txBody>
      </p:sp>
      <p:sp>
        <p:nvSpPr>
          <p:cNvPr id="885" name="Google Shape;885;p77"/>
          <p:cNvSpPr txBox="1"/>
          <p:nvPr>
            <p:ph type="body" idx="1"/>
          </p:nvPr>
        </p:nvSpPr>
        <p:spPr>
          <a:xfrm>
            <a:off x="3369600" y="22671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77"/>
          <p:cNvSpPr txBox="1"/>
          <p:nvPr>
            <p:ph type="body" idx="1"/>
          </p:nvPr>
        </p:nvSpPr>
        <p:spPr>
          <a:xfrm>
            <a:off x="3369600" y="2799900"/>
            <a:ext cx="52800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-intercept = (0, 10)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77"/>
          <p:cNvSpPr txBox="1"/>
          <p:nvPr>
            <p:ph type="body" idx="1"/>
          </p:nvPr>
        </p:nvSpPr>
        <p:spPr>
          <a:xfrm>
            <a:off x="324000" y="1792750"/>
            <a:ext cx="8237700" cy="3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 (0, 10)  (1, 8)  (2, 6)  (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3, 4)  (5, 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88" name="Google Shape;88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75" y="2320200"/>
            <a:ext cx="2542666" cy="25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sp>
        <p:nvSpPr>
          <p:cNvPr id="893" name="Google Shape;893;p78"/>
          <p:cNvSpPr txBox="1"/>
          <p:nvPr>
            <p:ph type="body" idx="1"/>
          </p:nvPr>
        </p:nvSpPr>
        <p:spPr>
          <a:xfrm>
            <a:off x="324000" y="759300"/>
            <a:ext cx="8237700" cy="5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graph to the key features. </a:t>
            </a:r>
            <a:endParaRPr/>
          </a:p>
        </p:txBody>
      </p:sp>
      <p:sp>
        <p:nvSpPr>
          <p:cNvPr id="894" name="Google Shape;89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895" name="Google Shape;895;p78"/>
          <p:cNvSpPr txBox="1"/>
          <p:nvPr>
            <p:ph type="body" idx="1"/>
          </p:nvPr>
        </p:nvSpPr>
        <p:spPr>
          <a:xfrm>
            <a:off x="4824000" y="13343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3,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896" name="Google Shape;896;p78"/>
          <p:cNvSpPr txBox="1"/>
          <p:nvPr>
            <p:ph type="body" idx="1"/>
          </p:nvPr>
        </p:nvSpPr>
        <p:spPr>
          <a:xfrm>
            <a:off x="4824000" y="216000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3,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897" name="Google Shape;897;p78"/>
          <p:cNvSpPr txBox="1"/>
          <p:nvPr>
            <p:ph type="body" idx="1"/>
          </p:nvPr>
        </p:nvSpPr>
        <p:spPr>
          <a:xfrm>
            <a:off x="4824000" y="30654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     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898" name="Google Shape;898;p78"/>
          <p:cNvSpPr txBox="1"/>
          <p:nvPr>
            <p:ph type="body" idx="1"/>
          </p:nvPr>
        </p:nvSpPr>
        <p:spPr>
          <a:xfrm>
            <a:off x="4824000" y="391350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       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</a:t>
            </a:r>
            <a:endParaRPr sz="2000"/>
          </a:p>
        </p:txBody>
      </p:sp>
      <p:pic>
        <p:nvPicPr>
          <p:cNvPr id="899" name="Google Shape;899;p78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607" y="2933003"/>
            <a:ext cx="18537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8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6596" y="3749475"/>
            <a:ext cx="40605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8"/>
          <p:cNvPicPr preferRelativeResize="0"/>
          <p:nvPr/>
        </p:nvPicPr>
        <p:blipFill>
          <a:blip r:embed="rId5">
            <a:alphaModFix/>
          </a:blip>
          <a:srcRect r="4888"/>
          <a:stretch>
            <a:fillRect/>
          </a:stretch>
        </p:blipFill>
        <p:spPr>
          <a:xfrm>
            <a:off x="890225" y="3065450"/>
            <a:ext cx="1216625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2" name="Google Shape;90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0225" y="1217775"/>
            <a:ext cx="1216625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3" name="Google Shape;903;p78"/>
          <p:cNvPicPr preferRelativeResize="0"/>
          <p:nvPr/>
        </p:nvPicPr>
        <p:blipFill>
          <a:blip r:embed="rId7">
            <a:alphaModFix/>
          </a:blip>
          <a:srcRect b="3091"/>
          <a:stretch>
            <a:fillRect/>
          </a:stretch>
        </p:blipFill>
        <p:spPr>
          <a:xfrm>
            <a:off x="2928600" y="1217775"/>
            <a:ext cx="1279200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4" name="Google Shape;904;p78"/>
          <p:cNvPicPr preferRelativeResize="0"/>
          <p:nvPr/>
        </p:nvPicPr>
        <p:blipFill>
          <a:blip r:embed="rId8">
            <a:alphaModFix/>
          </a:blip>
          <a:srcRect b="2496"/>
          <a:stretch>
            <a:fillRect/>
          </a:stretch>
        </p:blipFill>
        <p:spPr>
          <a:xfrm>
            <a:off x="2928600" y="3091504"/>
            <a:ext cx="1249875" cy="1705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05" name="Google Shape;905;p78"/>
          <p:cNvGrpSpPr/>
          <p:nvPr/>
        </p:nvGrpSpPr>
        <p:grpSpPr>
          <a:xfrm>
            <a:off x="323991" y="1217775"/>
            <a:ext cx="457200" cy="457200"/>
            <a:chOff x="1020916" y="1442088"/>
            <a:chExt cx="457200" cy="457200"/>
          </a:xfrm>
        </p:grpSpPr>
        <p:pic>
          <p:nvPicPr>
            <p:cNvPr id="906" name="Google Shape;906;p7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8" name="Google Shape;908;p78"/>
          <p:cNvGrpSpPr/>
          <p:nvPr/>
        </p:nvGrpSpPr>
        <p:grpSpPr>
          <a:xfrm>
            <a:off x="323991" y="3091500"/>
            <a:ext cx="457200" cy="457200"/>
            <a:chOff x="1020916" y="1442088"/>
            <a:chExt cx="457200" cy="457200"/>
          </a:xfrm>
        </p:grpSpPr>
        <p:pic>
          <p:nvPicPr>
            <p:cNvPr id="909" name="Google Shape;909;p7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1" name="Google Shape;911;p78"/>
          <p:cNvGrpSpPr/>
          <p:nvPr/>
        </p:nvGrpSpPr>
        <p:grpSpPr>
          <a:xfrm>
            <a:off x="2310041" y="1217775"/>
            <a:ext cx="457200" cy="457200"/>
            <a:chOff x="1020916" y="1442088"/>
            <a:chExt cx="457200" cy="457200"/>
          </a:xfrm>
        </p:grpSpPr>
        <p:pic>
          <p:nvPicPr>
            <p:cNvPr id="912" name="Google Shape;912;p7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4" name="Google Shape;914;p78"/>
          <p:cNvGrpSpPr/>
          <p:nvPr/>
        </p:nvGrpSpPr>
        <p:grpSpPr>
          <a:xfrm>
            <a:off x="2310041" y="3091500"/>
            <a:ext cx="457200" cy="457200"/>
            <a:chOff x="1020916" y="1442088"/>
            <a:chExt cx="457200" cy="457200"/>
          </a:xfrm>
        </p:grpSpPr>
        <p:pic>
          <p:nvPicPr>
            <p:cNvPr id="915" name="Google Shape;915;p7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p79"/>
          <p:cNvSpPr txBox="1"/>
          <p:nvPr>
            <p:ph type="body" idx="1"/>
          </p:nvPr>
        </p:nvSpPr>
        <p:spPr>
          <a:xfrm>
            <a:off x="324000" y="759300"/>
            <a:ext cx="8237700" cy="5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graph to the key features. </a:t>
            </a:r>
            <a:endParaRPr/>
          </a:p>
        </p:txBody>
      </p:sp>
      <p:sp>
        <p:nvSpPr>
          <p:cNvPr id="922" name="Google Shape;92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923" name="Google Shape;923;p79"/>
          <p:cNvSpPr txBox="1"/>
          <p:nvPr>
            <p:ph type="body" idx="1"/>
          </p:nvPr>
        </p:nvSpPr>
        <p:spPr>
          <a:xfrm>
            <a:off x="2153675" y="318132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3,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924" name="Google Shape;924;p79"/>
          <p:cNvSpPr txBox="1"/>
          <p:nvPr>
            <p:ph type="body" idx="1"/>
          </p:nvPr>
        </p:nvSpPr>
        <p:spPr>
          <a:xfrm>
            <a:off x="2153675" y="137660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3,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925" name="Google Shape;925;p79"/>
          <p:cNvSpPr txBox="1"/>
          <p:nvPr>
            <p:ph type="body" idx="1"/>
          </p:nvPr>
        </p:nvSpPr>
        <p:spPr>
          <a:xfrm>
            <a:off x="6607750" y="135022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    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 </a:t>
            </a:r>
            <a:endParaRPr sz="2000"/>
          </a:p>
        </p:txBody>
      </p:sp>
      <p:sp>
        <p:nvSpPr>
          <p:cNvPr id="926" name="Google Shape;926;p79"/>
          <p:cNvSpPr txBox="1"/>
          <p:nvPr>
            <p:ph type="body" idx="1"/>
          </p:nvPr>
        </p:nvSpPr>
        <p:spPr>
          <a:xfrm>
            <a:off x="6607750" y="33453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      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4</a:t>
            </a:r>
            <a:endParaRPr sz="2000"/>
          </a:p>
        </p:txBody>
      </p:sp>
      <p:pic>
        <p:nvPicPr>
          <p:cNvPr id="927" name="Google Shape;927;p79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157" y="1174797"/>
            <a:ext cx="18537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9" descr="&lt;math xmlns=&quot;http://www.w3.org/1998/Math/MathML&quot; display=&quot;block&quot; data-is-equatio=&quot;1&quot; data-latex=&quot;-\frac{1}{3}&quot;&gt;&lt;mo&gt;−&lt;/mo&gt;&lt;mfrac&gt;&lt;mn&gt;1&lt;/mn&gt;&lt;mn&gt;3&lt;/mn&gt;&lt;/mfrac&gt;&lt;/math&gt;" title="negative one thir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223" y="3181325"/>
            <a:ext cx="40605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9"/>
          <p:cNvPicPr preferRelativeResize="0"/>
          <p:nvPr/>
        </p:nvPicPr>
        <p:blipFill>
          <a:blip r:embed="rId5">
            <a:alphaModFix/>
          </a:blip>
          <a:srcRect r="4888"/>
          <a:stretch>
            <a:fillRect/>
          </a:stretch>
        </p:blipFill>
        <p:spPr>
          <a:xfrm>
            <a:off x="890225" y="3065450"/>
            <a:ext cx="1216625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0" name="Google Shape;930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0225" y="1217775"/>
            <a:ext cx="1216625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1" name="Google Shape;931;p79"/>
          <p:cNvPicPr preferRelativeResize="0"/>
          <p:nvPr/>
        </p:nvPicPr>
        <p:blipFill>
          <a:blip r:embed="rId7">
            <a:alphaModFix/>
          </a:blip>
          <a:srcRect b="3091"/>
          <a:stretch>
            <a:fillRect/>
          </a:stretch>
        </p:blipFill>
        <p:spPr>
          <a:xfrm>
            <a:off x="5214600" y="1217775"/>
            <a:ext cx="1279200" cy="1749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2" name="Google Shape;932;p79"/>
          <p:cNvPicPr preferRelativeResize="0"/>
          <p:nvPr/>
        </p:nvPicPr>
        <p:blipFill>
          <a:blip r:embed="rId8">
            <a:alphaModFix/>
          </a:blip>
          <a:srcRect b="2496"/>
          <a:stretch>
            <a:fillRect/>
          </a:stretch>
        </p:blipFill>
        <p:spPr>
          <a:xfrm>
            <a:off x="5214600" y="3065450"/>
            <a:ext cx="1249875" cy="1705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33" name="Google Shape;933;p79"/>
          <p:cNvGrpSpPr/>
          <p:nvPr/>
        </p:nvGrpSpPr>
        <p:grpSpPr>
          <a:xfrm>
            <a:off x="323991" y="1217775"/>
            <a:ext cx="457200" cy="457200"/>
            <a:chOff x="1020916" y="1442088"/>
            <a:chExt cx="457200" cy="457200"/>
          </a:xfrm>
        </p:grpSpPr>
        <p:pic>
          <p:nvPicPr>
            <p:cNvPr id="934" name="Google Shape;934;p7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6" name="Google Shape;936;p79"/>
          <p:cNvGrpSpPr/>
          <p:nvPr/>
        </p:nvGrpSpPr>
        <p:grpSpPr>
          <a:xfrm>
            <a:off x="323991" y="3091500"/>
            <a:ext cx="457200" cy="457200"/>
            <a:chOff x="1020916" y="1442088"/>
            <a:chExt cx="457200" cy="457200"/>
          </a:xfrm>
        </p:grpSpPr>
        <p:pic>
          <p:nvPicPr>
            <p:cNvPr id="937" name="Google Shape;937;p7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9" name="Google Shape;939;p79"/>
          <p:cNvGrpSpPr/>
          <p:nvPr/>
        </p:nvGrpSpPr>
        <p:grpSpPr>
          <a:xfrm>
            <a:off x="4596041" y="1217775"/>
            <a:ext cx="457200" cy="457200"/>
            <a:chOff x="1020916" y="1442088"/>
            <a:chExt cx="457200" cy="457200"/>
          </a:xfrm>
        </p:grpSpPr>
        <p:pic>
          <p:nvPicPr>
            <p:cNvPr id="940" name="Google Shape;940;p7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2" name="Google Shape;942;p79"/>
          <p:cNvGrpSpPr/>
          <p:nvPr/>
        </p:nvGrpSpPr>
        <p:grpSpPr>
          <a:xfrm>
            <a:off x="4596041" y="3091500"/>
            <a:ext cx="457200" cy="457200"/>
            <a:chOff x="1020916" y="1442088"/>
            <a:chExt cx="457200" cy="457200"/>
          </a:xfrm>
        </p:grpSpPr>
        <p:pic>
          <p:nvPicPr>
            <p:cNvPr id="943" name="Google Shape;943;p7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8" name="Shape 948"/>
        <p:cNvGrpSpPr/>
        <p:nvPr/>
      </p:nvGrpSpPr>
      <p:grpSpPr>
        <a:xfrm>
          <a:off x="0" y="0"/>
          <a:ext cx="0" cy="0"/>
        </a:xfrm>
      </p:grpSpPr>
      <p:sp>
        <p:nvSpPr>
          <p:cNvPr id="949" name="Google Shape;949;p80"/>
          <p:cNvSpPr txBox="1"/>
          <p:nvPr>
            <p:ph type="body" idx="1"/>
          </p:nvPr>
        </p:nvSpPr>
        <p:spPr>
          <a:xfrm>
            <a:off x="324000" y="683100"/>
            <a:ext cx="8237700" cy="5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graph to the key features. </a:t>
            </a:r>
            <a:endParaRPr/>
          </a:p>
        </p:txBody>
      </p:sp>
      <p:sp>
        <p:nvSpPr>
          <p:cNvPr id="950" name="Google Shape;950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951" name="Google Shape;951;p80"/>
          <p:cNvSpPr txBox="1"/>
          <p:nvPr>
            <p:ph type="body" idx="1"/>
          </p:nvPr>
        </p:nvSpPr>
        <p:spPr>
          <a:xfrm>
            <a:off x="4824000" y="13343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2,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5 </a:t>
            </a:r>
            <a:endParaRPr sz="2000"/>
          </a:p>
        </p:txBody>
      </p:sp>
      <p:sp>
        <p:nvSpPr>
          <p:cNvPr id="952" name="Google Shape;952;p80"/>
          <p:cNvSpPr txBox="1"/>
          <p:nvPr>
            <p:ph type="body" idx="1"/>
          </p:nvPr>
        </p:nvSpPr>
        <p:spPr>
          <a:xfrm>
            <a:off x="4824000" y="216000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5 </a:t>
            </a:r>
            <a:endParaRPr sz="2000"/>
          </a:p>
        </p:txBody>
      </p:sp>
      <p:sp>
        <p:nvSpPr>
          <p:cNvPr id="953" name="Google Shape;953;p80"/>
          <p:cNvSpPr txBox="1"/>
          <p:nvPr>
            <p:ph type="body" idx="1"/>
          </p:nvPr>
        </p:nvSpPr>
        <p:spPr>
          <a:xfrm>
            <a:off x="4824000" y="30654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2,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 </a:t>
            </a:r>
            <a:endParaRPr sz="2000"/>
          </a:p>
        </p:txBody>
      </p:sp>
      <p:sp>
        <p:nvSpPr>
          <p:cNvPr id="954" name="Google Shape;954;p80"/>
          <p:cNvSpPr txBox="1"/>
          <p:nvPr>
            <p:ph type="body" idx="1"/>
          </p:nvPr>
        </p:nvSpPr>
        <p:spPr>
          <a:xfrm>
            <a:off x="4824000" y="391350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2,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</a:t>
            </a:r>
            <a:endParaRPr sz="2000"/>
          </a:p>
        </p:txBody>
      </p:sp>
      <p:pic>
        <p:nvPicPr>
          <p:cNvPr id="955" name="Google Shape;955;p80"/>
          <p:cNvPicPr preferRelativeResize="0"/>
          <p:nvPr/>
        </p:nvPicPr>
        <p:blipFill>
          <a:blip r:embed="rId3">
            <a:alphaModFix/>
          </a:blip>
          <a:srcRect t="8999" b="7360"/>
          <a:stretch>
            <a:fillRect/>
          </a:stretch>
        </p:blipFill>
        <p:spPr>
          <a:xfrm>
            <a:off x="829400" y="3046026"/>
            <a:ext cx="1244643" cy="16920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6" name="Google Shape;956;p80"/>
          <p:cNvPicPr preferRelativeResize="0"/>
          <p:nvPr/>
        </p:nvPicPr>
        <p:blipFill>
          <a:blip r:embed="rId4">
            <a:alphaModFix/>
          </a:blip>
          <a:srcRect t="12319" b="7475"/>
          <a:stretch>
            <a:fillRect/>
          </a:stretch>
        </p:blipFill>
        <p:spPr>
          <a:xfrm>
            <a:off x="2887188" y="3046026"/>
            <a:ext cx="1187459" cy="16920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7" name="Google Shape;957;p80"/>
          <p:cNvPicPr preferRelativeResize="0"/>
          <p:nvPr/>
        </p:nvPicPr>
        <p:blipFill>
          <a:blip r:embed="rId5">
            <a:alphaModFix/>
          </a:blip>
          <a:srcRect t="8949" b="8718"/>
          <a:stretch>
            <a:fillRect/>
          </a:stretch>
        </p:blipFill>
        <p:spPr>
          <a:xfrm>
            <a:off x="2887188" y="1215232"/>
            <a:ext cx="1187488" cy="163760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8" name="Google Shape;958;p80"/>
          <p:cNvPicPr preferRelativeResize="0"/>
          <p:nvPr/>
        </p:nvPicPr>
        <p:blipFill>
          <a:blip r:embed="rId6">
            <a:alphaModFix/>
          </a:blip>
          <a:srcRect l="7995" t="6227" b="7758"/>
          <a:stretch>
            <a:fillRect/>
          </a:stretch>
        </p:blipFill>
        <p:spPr>
          <a:xfrm>
            <a:off x="829400" y="1215232"/>
            <a:ext cx="1244642" cy="17166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59" name="Google Shape;959;p80"/>
          <p:cNvGrpSpPr/>
          <p:nvPr/>
        </p:nvGrpSpPr>
        <p:grpSpPr>
          <a:xfrm>
            <a:off x="323991" y="1217775"/>
            <a:ext cx="457200" cy="457200"/>
            <a:chOff x="1020916" y="1442088"/>
            <a:chExt cx="457200" cy="457200"/>
          </a:xfrm>
        </p:grpSpPr>
        <p:pic>
          <p:nvPicPr>
            <p:cNvPr id="960" name="Google Shape;960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" name="Google Shape;961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2" name="Google Shape;962;p80"/>
          <p:cNvGrpSpPr/>
          <p:nvPr/>
        </p:nvGrpSpPr>
        <p:grpSpPr>
          <a:xfrm>
            <a:off x="323991" y="3091500"/>
            <a:ext cx="457200" cy="457200"/>
            <a:chOff x="1020916" y="1442088"/>
            <a:chExt cx="457200" cy="457200"/>
          </a:xfrm>
        </p:grpSpPr>
        <p:pic>
          <p:nvPicPr>
            <p:cNvPr id="963" name="Google Shape;963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80"/>
          <p:cNvGrpSpPr/>
          <p:nvPr/>
        </p:nvGrpSpPr>
        <p:grpSpPr>
          <a:xfrm>
            <a:off x="2310041" y="1217775"/>
            <a:ext cx="457200" cy="457200"/>
            <a:chOff x="1020916" y="1442088"/>
            <a:chExt cx="457200" cy="457200"/>
          </a:xfrm>
        </p:grpSpPr>
        <p:pic>
          <p:nvPicPr>
            <p:cNvPr id="966" name="Google Shape;966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8" name="Google Shape;968;p80"/>
          <p:cNvGrpSpPr/>
          <p:nvPr/>
        </p:nvGrpSpPr>
        <p:grpSpPr>
          <a:xfrm>
            <a:off x="2310041" y="3091500"/>
            <a:ext cx="457200" cy="457200"/>
            <a:chOff x="1020916" y="1442088"/>
            <a:chExt cx="457200" cy="457200"/>
          </a:xfrm>
        </p:grpSpPr>
        <p:pic>
          <p:nvPicPr>
            <p:cNvPr id="969" name="Google Shape;969;p8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81"/>
          <p:cNvSpPr txBox="1"/>
          <p:nvPr>
            <p:ph type="body" idx="1"/>
          </p:nvPr>
        </p:nvSpPr>
        <p:spPr>
          <a:xfrm>
            <a:off x="324000" y="683100"/>
            <a:ext cx="8237700" cy="52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the graph to the key features. </a:t>
            </a:r>
            <a:endParaRPr/>
          </a:p>
        </p:txBody>
      </p:sp>
      <p:sp>
        <p:nvSpPr>
          <p:cNvPr id="976" name="Google Shape;97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977" name="Google Shape;977;p81"/>
          <p:cNvSpPr txBox="1"/>
          <p:nvPr>
            <p:ph type="body" idx="1"/>
          </p:nvPr>
        </p:nvSpPr>
        <p:spPr>
          <a:xfrm>
            <a:off x="6440125" y="3065450"/>
            <a:ext cx="24369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2,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5 </a:t>
            </a:r>
            <a:endParaRPr sz="2000"/>
          </a:p>
        </p:txBody>
      </p:sp>
      <p:sp>
        <p:nvSpPr>
          <p:cNvPr id="978" name="Google Shape;978;p81"/>
          <p:cNvSpPr txBox="1"/>
          <p:nvPr>
            <p:ph type="body" idx="1"/>
          </p:nvPr>
        </p:nvSpPr>
        <p:spPr>
          <a:xfrm>
            <a:off x="2122250" y="3065450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5 </a:t>
            </a:r>
            <a:endParaRPr sz="2000"/>
          </a:p>
        </p:txBody>
      </p:sp>
      <p:sp>
        <p:nvSpPr>
          <p:cNvPr id="979" name="Google Shape;979;p81"/>
          <p:cNvSpPr txBox="1"/>
          <p:nvPr>
            <p:ph type="body" idx="1"/>
          </p:nvPr>
        </p:nvSpPr>
        <p:spPr>
          <a:xfrm>
            <a:off x="6440125" y="1215225"/>
            <a:ext cx="2042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2,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 </a:t>
            </a:r>
            <a:endParaRPr sz="2000"/>
          </a:p>
        </p:txBody>
      </p:sp>
      <p:sp>
        <p:nvSpPr>
          <p:cNvPr id="980" name="Google Shape;980;p81"/>
          <p:cNvSpPr txBox="1"/>
          <p:nvPr>
            <p:ph type="body" idx="1"/>
          </p:nvPr>
        </p:nvSpPr>
        <p:spPr>
          <a:xfrm>
            <a:off x="2122250" y="1215225"/>
            <a:ext cx="21393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2, 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</a:t>
            </a:r>
            <a:endParaRPr sz="2000"/>
          </a:p>
        </p:txBody>
      </p:sp>
      <p:pic>
        <p:nvPicPr>
          <p:cNvPr id="981" name="Google Shape;981;p81"/>
          <p:cNvPicPr preferRelativeResize="0"/>
          <p:nvPr/>
        </p:nvPicPr>
        <p:blipFill>
          <a:blip r:embed="rId3">
            <a:alphaModFix/>
          </a:blip>
          <a:srcRect t="8999" b="7360"/>
          <a:stretch>
            <a:fillRect/>
          </a:stretch>
        </p:blipFill>
        <p:spPr>
          <a:xfrm>
            <a:off x="829400" y="3046026"/>
            <a:ext cx="1244643" cy="16920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2" name="Google Shape;982;p81"/>
          <p:cNvPicPr preferRelativeResize="0"/>
          <p:nvPr/>
        </p:nvPicPr>
        <p:blipFill>
          <a:blip r:embed="rId4">
            <a:alphaModFix/>
          </a:blip>
          <a:srcRect t="12319" b="7475"/>
          <a:stretch>
            <a:fillRect/>
          </a:stretch>
        </p:blipFill>
        <p:spPr>
          <a:xfrm>
            <a:off x="5173188" y="3046026"/>
            <a:ext cx="1187459" cy="169204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3" name="Google Shape;983;p81"/>
          <p:cNvPicPr preferRelativeResize="0"/>
          <p:nvPr/>
        </p:nvPicPr>
        <p:blipFill>
          <a:blip r:embed="rId5">
            <a:alphaModFix/>
          </a:blip>
          <a:srcRect t="8949" b="8718"/>
          <a:stretch>
            <a:fillRect/>
          </a:stretch>
        </p:blipFill>
        <p:spPr>
          <a:xfrm>
            <a:off x="5173188" y="1215232"/>
            <a:ext cx="1187488" cy="163760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4" name="Google Shape;984;p81"/>
          <p:cNvPicPr preferRelativeResize="0"/>
          <p:nvPr/>
        </p:nvPicPr>
        <p:blipFill>
          <a:blip r:embed="rId6">
            <a:alphaModFix/>
          </a:blip>
          <a:srcRect l="7995" t="6227" b="7758"/>
          <a:stretch>
            <a:fillRect/>
          </a:stretch>
        </p:blipFill>
        <p:spPr>
          <a:xfrm>
            <a:off x="829400" y="1215232"/>
            <a:ext cx="1244642" cy="17166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985" name="Google Shape;985;p81"/>
          <p:cNvGrpSpPr/>
          <p:nvPr/>
        </p:nvGrpSpPr>
        <p:grpSpPr>
          <a:xfrm>
            <a:off x="323991" y="1217775"/>
            <a:ext cx="457200" cy="457200"/>
            <a:chOff x="1020916" y="1442088"/>
            <a:chExt cx="457200" cy="457200"/>
          </a:xfrm>
        </p:grpSpPr>
        <p:pic>
          <p:nvPicPr>
            <p:cNvPr id="986" name="Google Shape;986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1"/>
          <p:cNvGrpSpPr/>
          <p:nvPr/>
        </p:nvGrpSpPr>
        <p:grpSpPr>
          <a:xfrm>
            <a:off x="323991" y="3091500"/>
            <a:ext cx="457200" cy="457200"/>
            <a:chOff x="1020916" y="1442088"/>
            <a:chExt cx="457200" cy="457200"/>
          </a:xfrm>
        </p:grpSpPr>
        <p:pic>
          <p:nvPicPr>
            <p:cNvPr id="989" name="Google Shape;989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1"/>
          <p:cNvGrpSpPr/>
          <p:nvPr/>
        </p:nvGrpSpPr>
        <p:grpSpPr>
          <a:xfrm>
            <a:off x="4596041" y="1217775"/>
            <a:ext cx="457200" cy="457200"/>
            <a:chOff x="1020916" y="1442088"/>
            <a:chExt cx="457200" cy="457200"/>
          </a:xfrm>
        </p:grpSpPr>
        <p:pic>
          <p:nvPicPr>
            <p:cNvPr id="992" name="Google Shape;992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4" name="Google Shape;994;p81"/>
          <p:cNvGrpSpPr/>
          <p:nvPr/>
        </p:nvGrpSpPr>
        <p:grpSpPr>
          <a:xfrm>
            <a:off x="4596041" y="3091500"/>
            <a:ext cx="457200" cy="457200"/>
            <a:chOff x="1020916" y="1442088"/>
            <a:chExt cx="457200" cy="457200"/>
          </a:xfrm>
        </p:grpSpPr>
        <p:pic>
          <p:nvPicPr>
            <p:cNvPr id="995" name="Google Shape;995;p8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sp>
        <p:nvSpPr>
          <p:cNvPr id="1001" name="Google Shape;1001;p82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Plot each equation and identify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</p:txBody>
      </p:sp>
      <p:sp>
        <p:nvSpPr>
          <p:cNvPr id="1002" name="Google Shape;1002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1003" name="Google Shape;1003;p82"/>
          <p:cNvSpPr txBox="1"/>
          <p:nvPr>
            <p:ph type="body" idx="1"/>
          </p:nvPr>
        </p:nvSpPr>
        <p:spPr>
          <a:xfrm>
            <a:off x="324000" y="43674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Match up any equations that represent the same relationship. </a:t>
            </a:r>
            <a:endParaRPr sz="1800"/>
          </a:p>
        </p:txBody>
      </p:sp>
      <p:pic>
        <p:nvPicPr>
          <p:cNvPr id="1004" name="Google Shape;100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05" name="Google Shape;100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06" name="Google Shape;100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8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07" name="Google Shape;100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8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8" name="Google Shape;1008;p82"/>
          <p:cNvSpPr txBox="1"/>
          <p:nvPr>
            <p:ph type="body" idx="4294967295"/>
          </p:nvPr>
        </p:nvSpPr>
        <p:spPr>
          <a:xfrm>
            <a:off x="3240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graphicFrame>
        <p:nvGraphicFramePr>
          <p:cNvPr id="1009" name="Google Shape;1009;p82"/>
          <p:cNvGraphicFramePr>
            <a:graphicFrameLocks noGrp="1"/>
          </p:cNvGraphicFramePr>
          <p:nvPr/>
        </p:nvGraphicFramePr>
        <p:xfrm>
          <a:off x="324000" y="116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2148000"/>
                <a:gridCol w="2148000"/>
                <a:gridCol w="2148000"/>
                <a:gridCol w="214800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556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2000"/>
                        <a:buFont typeface="Lexend"/>
                        <a:buAutoNum type="alphaLcParenR"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5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10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10" name="Google Shape;1010;p82"/>
          <p:cNvSpPr txBox="1"/>
          <p:nvPr>
            <p:ph type="body" idx="4294967295"/>
          </p:nvPr>
        </p:nvSpPr>
        <p:spPr>
          <a:xfrm>
            <a:off x="25338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sp>
        <p:nvSpPr>
          <p:cNvPr id="1011" name="Google Shape;1011;p82"/>
          <p:cNvSpPr txBox="1"/>
          <p:nvPr>
            <p:ph type="body" idx="4294967295"/>
          </p:nvPr>
        </p:nvSpPr>
        <p:spPr>
          <a:xfrm>
            <a:off x="47436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sp>
        <p:nvSpPr>
          <p:cNvPr id="1012" name="Google Shape;1012;p82"/>
          <p:cNvSpPr txBox="1"/>
          <p:nvPr>
            <p:ph type="body" idx="4294967295"/>
          </p:nvPr>
        </p:nvSpPr>
        <p:spPr>
          <a:xfrm>
            <a:off x="6953400" y="3566375"/>
            <a:ext cx="18633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p83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Plot each equation and identify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</p:txBody>
      </p:sp>
      <p:sp>
        <p:nvSpPr>
          <p:cNvPr id="1018" name="Google Shape;1018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1019" name="Google Shape;1019;p83"/>
          <p:cNvSpPr txBox="1"/>
          <p:nvPr>
            <p:ph type="body" idx="1"/>
          </p:nvPr>
        </p:nvSpPr>
        <p:spPr>
          <a:xfrm>
            <a:off x="324000" y="43674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Match up any equations that represent the same relationship. </a:t>
            </a:r>
            <a:endParaRPr sz="1800"/>
          </a:p>
        </p:txBody>
      </p:sp>
      <p:pic>
        <p:nvPicPr>
          <p:cNvPr id="1020" name="Google Shape;102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1" name="Google Shape;102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2" name="Google Shape;102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8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3" name="Google Shape;102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8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4" name="Google Shape;1024;p83"/>
          <p:cNvSpPr txBox="1"/>
          <p:nvPr>
            <p:ph type="body" idx="4294967295"/>
          </p:nvPr>
        </p:nvSpPr>
        <p:spPr>
          <a:xfrm>
            <a:off x="3240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graphicFrame>
        <p:nvGraphicFramePr>
          <p:cNvPr id="1025" name="Google Shape;1025;p83"/>
          <p:cNvGraphicFramePr>
            <a:graphicFrameLocks noGrp="1"/>
          </p:cNvGraphicFramePr>
          <p:nvPr/>
        </p:nvGraphicFramePr>
        <p:xfrm>
          <a:off x="324000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2148000"/>
                <a:gridCol w="2148000"/>
                <a:gridCol w="2148000"/>
                <a:gridCol w="214800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556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2000"/>
                        <a:buFont typeface="Lexend"/>
                        <a:buAutoNum type="alphaLcParenR"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4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+ 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26" name="Google Shape;1026;p83"/>
          <p:cNvSpPr txBox="1"/>
          <p:nvPr>
            <p:ph type="body" idx="4294967295"/>
          </p:nvPr>
        </p:nvSpPr>
        <p:spPr>
          <a:xfrm>
            <a:off x="25338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sp>
        <p:nvSpPr>
          <p:cNvPr id="1027" name="Google Shape;1027;p83"/>
          <p:cNvSpPr txBox="1"/>
          <p:nvPr>
            <p:ph type="body" idx="4294967295"/>
          </p:nvPr>
        </p:nvSpPr>
        <p:spPr>
          <a:xfrm>
            <a:off x="47436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sp>
        <p:nvSpPr>
          <p:cNvPr id="1028" name="Google Shape;1028;p83"/>
          <p:cNvSpPr txBox="1"/>
          <p:nvPr>
            <p:ph type="body" idx="4294967295"/>
          </p:nvPr>
        </p:nvSpPr>
        <p:spPr>
          <a:xfrm>
            <a:off x="6953400" y="3566375"/>
            <a:ext cx="18633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gradient = 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= </a:t>
            </a:r>
            <a:endParaRPr sz="2000"/>
          </a:p>
        </p:txBody>
      </p:sp>
      <p:pic>
        <p:nvPicPr>
          <p:cNvPr id="1029" name="Google Shape;1029;p83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298" y="1127223"/>
            <a:ext cx="127587" cy="4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3" name="Shape 1033"/>
        <p:cNvGrpSpPr/>
        <p:nvPr/>
      </p:nvGrpSpPr>
      <p:grpSpPr>
        <a:xfrm>
          <a:off x="0" y="0"/>
          <a:ext cx="0" cy="0"/>
        </a:xfrm>
      </p:grpSpPr>
      <p:sp>
        <p:nvSpPr>
          <p:cNvPr id="1034" name="Google Shape;1034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Plot each equation and identify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</p:txBody>
      </p:sp>
      <p:sp>
        <p:nvSpPr>
          <p:cNvPr id="1035" name="Google Shape;1035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1036" name="Google Shape;1036;p84"/>
          <p:cNvSpPr txBox="1"/>
          <p:nvPr>
            <p:ph type="body" idx="1"/>
          </p:nvPr>
        </p:nvSpPr>
        <p:spPr>
          <a:xfrm>
            <a:off x="324000" y="43674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Match up any equations that represent the same relationship.  </a:t>
            </a:r>
            <a:endParaRPr sz="1800"/>
          </a:p>
        </p:txBody>
      </p:sp>
      <p:pic>
        <p:nvPicPr>
          <p:cNvPr id="1037" name="Google Shape;103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8" name="Google Shape;103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9" name="Google Shape;103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89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0" name="Google Shape;104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842" y="1619992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1" name="Google Shape;1041;p84"/>
          <p:cNvSpPr txBox="1"/>
          <p:nvPr>
            <p:ph type="body" idx="4294967295"/>
          </p:nvPr>
        </p:nvSpPr>
        <p:spPr>
          <a:xfrm>
            <a:off x="324000" y="3566375"/>
            <a:ext cx="37377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 =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(0, 5)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42" name="Google Shape;1042;p84"/>
          <p:cNvGraphicFramePr>
            <a:graphicFrameLocks noGrp="1"/>
          </p:cNvGraphicFramePr>
          <p:nvPr/>
        </p:nvGraphicFramePr>
        <p:xfrm>
          <a:off x="324000" y="116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2148000"/>
                <a:gridCol w="2148000"/>
                <a:gridCol w="2148000"/>
                <a:gridCol w="214800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556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2000"/>
                        <a:buFont typeface="Lexend"/>
                        <a:buAutoNum type="alphaLcParenR"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5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10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43" name="Google Shape;1043;p84"/>
          <p:cNvSpPr txBox="1"/>
          <p:nvPr>
            <p:ph type="body" idx="4294967295"/>
          </p:nvPr>
        </p:nvSpPr>
        <p:spPr>
          <a:xfrm>
            <a:off x="2421782" y="3566375"/>
            <a:ext cx="2212200" cy="65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−5)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44" name="Google Shape;1044;p84"/>
          <p:cNvSpPr txBox="1"/>
          <p:nvPr>
            <p:ph type="body" idx="4294967295"/>
          </p:nvPr>
        </p:nvSpPr>
        <p:spPr>
          <a:xfrm>
            <a:off x="4667400" y="3566375"/>
            <a:ext cx="2212200" cy="7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 =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(0, 5)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45" name="Google Shape;1045;p84"/>
          <p:cNvSpPr txBox="1"/>
          <p:nvPr>
            <p:ph type="body" idx="4294967295"/>
          </p:nvPr>
        </p:nvSpPr>
        <p:spPr>
          <a:xfrm>
            <a:off x="6765079" y="3576750"/>
            <a:ext cx="20943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gradient =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r>
              <a:rPr lang="en-GB" sz="1800"/>
              <a:t>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(0, 5)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046" name="Google Shape;104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612662"/>
            <a:ext cx="1863300" cy="18775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7" name="Google Shape;104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3800" y="1620000"/>
            <a:ext cx="1913425" cy="18701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8" name="Google Shape;1048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5752" y="1626873"/>
            <a:ext cx="1863300" cy="18633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49" name="Google Shape;1049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6850" y="1633901"/>
            <a:ext cx="1863300" cy="18562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0" name="Google Shape;1050;p84"/>
          <p:cNvSpPr txBox="1"/>
          <p:nvPr>
            <p:ph type="body" idx="4294967295"/>
          </p:nvPr>
        </p:nvSpPr>
        <p:spPr>
          <a:xfrm>
            <a:off x="7459201" y="4367400"/>
            <a:ext cx="1606200" cy="4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and d)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4" name="Shape 1054"/>
        <p:cNvGrpSpPr/>
        <p:nvPr/>
      </p:nvGrpSpPr>
      <p:grpSpPr>
        <a:xfrm>
          <a:off x="0" y="0"/>
          <a:ext cx="0" cy="0"/>
        </a:xfrm>
      </p:grpSpPr>
      <p:sp>
        <p:nvSpPr>
          <p:cNvPr id="1055" name="Google Shape;1055;p85"/>
          <p:cNvSpPr txBox="1"/>
          <p:nvPr>
            <p:ph type="body" idx="1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Plot each equation and identify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</p:txBody>
      </p:sp>
      <p:sp>
        <p:nvSpPr>
          <p:cNvPr id="1056" name="Google Shape;1056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1057" name="Google Shape;1057;p85"/>
          <p:cNvSpPr txBox="1"/>
          <p:nvPr>
            <p:ph type="body" idx="1"/>
          </p:nvPr>
        </p:nvSpPr>
        <p:spPr>
          <a:xfrm>
            <a:off x="324000" y="43674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Match up any equations that represent the same relationship. </a:t>
            </a:r>
            <a:endParaRPr sz="1800"/>
          </a:p>
        </p:txBody>
      </p:sp>
      <p:pic>
        <p:nvPicPr>
          <p:cNvPr id="1058" name="Google Shape;105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2" y="1529725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59" name="Google Shape;105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942" y="1529725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0" name="Google Shape;106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892" y="1529725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1" name="Google Shape;106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0642" y="1529725"/>
            <a:ext cx="1863157" cy="18701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62" name="Google Shape;1062;p85"/>
          <p:cNvSpPr txBox="1"/>
          <p:nvPr>
            <p:ph type="body" idx="4294967295"/>
          </p:nvPr>
        </p:nvSpPr>
        <p:spPr>
          <a:xfrm>
            <a:off x="324000" y="3566375"/>
            <a:ext cx="2111700" cy="6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 = 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(0, 4)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63" name="Google Shape;1063;p85"/>
          <p:cNvGraphicFramePr>
            <a:graphicFrameLocks noGrp="1"/>
          </p:cNvGraphicFramePr>
          <p:nvPr/>
        </p:nvGraphicFramePr>
        <p:xfrm>
          <a:off x="324000" y="101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2148000"/>
                <a:gridCol w="2148000"/>
                <a:gridCol w="2148000"/>
                <a:gridCol w="2148000"/>
              </a:tblGrid>
              <a:tr h="381000">
                <a:tc>
                  <a:txBody>
                    <a:bodyPr vert="horz" wrap="square"/>
                    <a:lstStyle/>
                    <a:p>
                      <a:pPr marL="457200" lvl="0" indent="-3556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2000"/>
                        <a:buFont typeface="Lexend"/>
                        <a:buAutoNum type="alphaLcParenR"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4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+ 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64" name="Google Shape;1064;p85"/>
          <p:cNvSpPr txBox="1"/>
          <p:nvPr>
            <p:ph type="body" idx="4294967295"/>
          </p:nvPr>
        </p:nvSpPr>
        <p:spPr>
          <a:xfrm>
            <a:off x="2457600" y="3566375"/>
            <a:ext cx="2111700" cy="7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gradient =  </a:t>
            </a:r>
            <a:r>
              <a:rPr lang="en-GB" sz="1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(0, 4)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65" name="Google Shape;1065;p85"/>
          <p:cNvSpPr txBox="1"/>
          <p:nvPr>
            <p:ph type="body" idx="4294967295"/>
          </p:nvPr>
        </p:nvSpPr>
        <p:spPr>
          <a:xfrm>
            <a:off x="4591200" y="3566375"/>
            <a:ext cx="2111700" cy="6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gradient =  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(0, 2)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066" name="Google Shape;1066;p85"/>
          <p:cNvSpPr txBox="1"/>
          <p:nvPr>
            <p:ph type="body" idx="4294967295"/>
          </p:nvPr>
        </p:nvSpPr>
        <p:spPr>
          <a:xfrm>
            <a:off x="6703300" y="3566375"/>
            <a:ext cx="2116800" cy="61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gradient =  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(0, 2)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067" name="Google Shape;1067;p85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298" y="1051023"/>
            <a:ext cx="127587" cy="4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529725"/>
            <a:ext cx="1863150" cy="18631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9" name="Google Shape;106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4950" y="1529725"/>
            <a:ext cx="1863150" cy="18631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0" name="Google Shape;1070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0650" y="1529725"/>
            <a:ext cx="1917251" cy="18773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1" name="Google Shape;1071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5900" y="1529725"/>
            <a:ext cx="1933199" cy="18789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72" name="Google Shape;1072;p85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525" y="3476101"/>
            <a:ext cx="153061" cy="4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85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42827" y="3476100"/>
            <a:ext cx="326300" cy="4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5"/>
          <p:cNvSpPr txBox="1"/>
          <p:nvPr>
            <p:ph type="body" idx="4294967295"/>
          </p:nvPr>
        </p:nvSpPr>
        <p:spPr>
          <a:xfrm>
            <a:off x="7459200" y="4367400"/>
            <a:ext cx="1201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and b)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forms of linear relationships</a:t>
            </a:r>
            <a:endParaRPr/>
          </a:p>
        </p:txBody>
      </p:sp>
      <p:sp>
        <p:nvSpPr>
          <p:cNvPr id="1080" name="Google Shape;1080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/>
              <a:t>          </a:t>
            </a:r>
            <a:endParaRPr/>
          </a:p>
        </p:txBody>
      </p:sp>
      <p:sp>
        <p:nvSpPr>
          <p:cNvPr id="1081" name="Google Shape;1081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equation of a straight line</a:t>
            </a:r>
            <a:endParaRPr/>
          </a:p>
        </p:txBody>
      </p:sp>
      <p:pic>
        <p:nvPicPr>
          <p:cNvPr id="1082" name="Google Shape;108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0" y="29879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8" name="Google Shape;1088;p87"/>
          <p:cNvSpPr txBox="1"/>
          <p:nvPr>
            <p:ph type="body" idx="1"/>
          </p:nvPr>
        </p:nvSpPr>
        <p:spPr>
          <a:xfrm>
            <a:off x="324000" y="759300"/>
            <a:ext cx="84960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 forms of </a:t>
            </a:r>
            <a:r>
              <a:rPr lang="en-GB" sz="2000" b="1"/>
              <a:t>equations of lines</a:t>
            </a:r>
            <a:r>
              <a:rPr lang="en-GB" sz="2000"/>
              <a:t> make it easier to see the key features of the graph than others.</a:t>
            </a:r>
            <a:endParaRPr sz="2000"/>
          </a:p>
        </p:txBody>
      </p:sp>
      <p:sp>
        <p:nvSpPr>
          <p:cNvPr id="1089" name="Google Shape;1089;p87"/>
          <p:cNvSpPr txBox="1"/>
          <p:nvPr>
            <p:ph type="body" idx="1"/>
          </p:nvPr>
        </p:nvSpPr>
        <p:spPr>
          <a:xfrm>
            <a:off x="295325" y="1654800"/>
            <a:ext cx="84960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One of the more common forms to write an </a:t>
            </a:r>
            <a:r>
              <a:rPr lang="en-GB" sz="2000" b="1"/>
              <a:t>equation of a line</a:t>
            </a:r>
            <a:r>
              <a:rPr lang="en-GB" sz="2000"/>
              <a:t> in is:</a:t>
            </a:r>
            <a:endParaRPr sz="2000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6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6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0" name="Google Shape;1090;p87"/>
          <p:cNvSpPr txBox="1"/>
          <p:nvPr>
            <p:ph type="body" idx="1"/>
          </p:nvPr>
        </p:nvSpPr>
        <p:spPr>
          <a:xfrm>
            <a:off x="324000" y="2526743"/>
            <a:ext cx="1360800" cy="19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Examples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1" name="Google Shape;1091;p87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<p:cNvSpPr txBox="1"/>
          <p:nvPr>
            <p:ph type="body" idx="1"/>
          </p:nvPr>
        </p:nvSpPr>
        <p:spPr>
          <a:xfrm>
            <a:off x="1684800" y="2526743"/>
            <a:ext cx="1360800" cy="21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    x</a:t>
            </a:r>
            <a:endParaRPr sz="20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092" name="Google Shape;109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5825" y="4309818"/>
            <a:ext cx="147423" cy="4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87"/>
          <p:cNvSpPr txBox="1"/>
          <p:nvPr>
            <p:ph type="body" idx="1"/>
          </p:nvPr>
        </p:nvSpPr>
        <p:spPr>
          <a:xfrm>
            <a:off x="6032150" y="2495550"/>
            <a:ext cx="1952100" cy="23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Non- examples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 + 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7" name="Shape 1097"/>
        <p:cNvGrpSpPr/>
        <p:nvPr/>
      </p:nvGrpSpPr>
      <p:grpSpPr>
        <a:xfrm>
          <a:off x="0" y="0"/>
          <a:ext cx="0" cy="0"/>
        </a:xfrm>
      </p:grpSpPr>
      <p:sp>
        <p:nvSpPr>
          <p:cNvPr id="1098" name="Google Shape;109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88"/>
          <p:cNvSpPr txBox="1"/>
          <p:nvPr>
            <p:ph type="body" idx="1"/>
          </p:nvPr>
        </p:nvSpPr>
        <p:spPr>
          <a:xfrm>
            <a:off x="324000" y="759300"/>
            <a:ext cx="84960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general equation </a:t>
            </a:r>
            <a:r>
              <a:rPr lang="en-GB" sz="25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6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is similar to how you might write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of a linear sequence.</a:t>
            </a:r>
            <a:endParaRPr sz="2000"/>
          </a:p>
        </p:txBody>
      </p:sp>
      <p:grpSp>
        <p:nvGrpSpPr>
          <p:cNvPr id="1100" name="Google Shape;1100;p88"/>
          <p:cNvGrpSpPr/>
          <p:nvPr/>
        </p:nvGrpSpPr>
        <p:grpSpPr>
          <a:xfrm>
            <a:off x="323988" y="1654793"/>
            <a:ext cx="1601800" cy="3034304"/>
            <a:chOff x="3819565" y="277750"/>
            <a:chExt cx="2052800" cy="4598825"/>
          </a:xfrm>
        </p:grpSpPr>
        <p:pic>
          <p:nvPicPr>
            <p:cNvPr id="1101" name="Google Shape;1101;p88" descr="&lt;math xmlns=&quot;http://www.w3.org/1998/Math/MathML&quot; data-is-equatio=&quot;1&quot; data-equatio-url=&quot;https://equatio-api.texthelp.com/desmos/get/30-10-2023/b338bc78-d65f-41f7-af6f-fa4b8eadfda4&quot; data-equatio-type=&quot;desmos&quot;&gt;&lt;mglyph src=&quot;https://equatio-api.texthelp.com/desmos/get/30-10-2023/b338bc78-d65f-41f7-af6f-fa4b8eadfda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1964" t="11530" r="51092" b="24123"/>
            <a:stretch>
              <a:fillRect/>
            </a:stretch>
          </p:blipFill>
          <p:spPr>
            <a:xfrm>
              <a:off x="3819565" y="277750"/>
              <a:ext cx="2052800" cy="45988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2" name="Google Shape;1102;p88"/>
            <p:cNvGrpSpPr/>
            <p:nvPr/>
          </p:nvGrpSpPr>
          <p:grpSpPr>
            <a:xfrm>
              <a:off x="4238871" y="4061175"/>
              <a:ext cx="258238" cy="511732"/>
              <a:chOff x="2772127" y="3611285"/>
              <a:chExt cx="605624" cy="1200123"/>
            </a:xfrm>
          </p:grpSpPr>
          <p:pic>
            <p:nvPicPr>
              <p:cNvPr id="1103" name="Google Shape;1103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4" name="Google Shape;1104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5" name="Google Shape;1105;p88"/>
            <p:cNvGrpSpPr/>
            <p:nvPr/>
          </p:nvGrpSpPr>
          <p:grpSpPr>
            <a:xfrm>
              <a:off x="4238881" y="3257860"/>
              <a:ext cx="258238" cy="768679"/>
              <a:chOff x="3627525" y="3023590"/>
              <a:chExt cx="605624" cy="1802718"/>
            </a:xfrm>
          </p:grpSpPr>
          <p:pic>
            <p:nvPicPr>
              <p:cNvPr id="1106" name="Google Shape;1106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7" name="Google Shape;1107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8" name="Google Shape;1108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9" name="Google Shape;1109;p88"/>
            <p:cNvGrpSpPr/>
            <p:nvPr/>
          </p:nvGrpSpPr>
          <p:grpSpPr>
            <a:xfrm>
              <a:off x="4573369" y="4061175"/>
              <a:ext cx="258238" cy="511732"/>
              <a:chOff x="2772127" y="3611285"/>
              <a:chExt cx="605624" cy="1200123"/>
            </a:xfrm>
          </p:grpSpPr>
          <p:pic>
            <p:nvPicPr>
              <p:cNvPr id="1110" name="Google Shape;1110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1" name="Google Shape;1111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2" name="Google Shape;1112;p88"/>
            <p:cNvGrpSpPr/>
            <p:nvPr/>
          </p:nvGrpSpPr>
          <p:grpSpPr>
            <a:xfrm>
              <a:off x="4573378" y="3257860"/>
              <a:ext cx="258238" cy="768679"/>
              <a:chOff x="3627525" y="3023590"/>
              <a:chExt cx="605624" cy="1802718"/>
            </a:xfrm>
          </p:grpSpPr>
          <p:pic>
            <p:nvPicPr>
              <p:cNvPr id="1113" name="Google Shape;1113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4" name="Google Shape;1114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5" name="Google Shape;1115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6" name="Google Shape;1116;p88"/>
            <p:cNvGrpSpPr/>
            <p:nvPr/>
          </p:nvGrpSpPr>
          <p:grpSpPr>
            <a:xfrm>
              <a:off x="4907866" y="4061175"/>
              <a:ext cx="258238" cy="511732"/>
              <a:chOff x="2772127" y="3611285"/>
              <a:chExt cx="605624" cy="1200123"/>
            </a:xfrm>
          </p:grpSpPr>
          <p:pic>
            <p:nvPicPr>
              <p:cNvPr id="1117" name="Google Shape;1117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8" name="Google Shape;1118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9" name="Google Shape;1119;p88"/>
            <p:cNvGrpSpPr/>
            <p:nvPr/>
          </p:nvGrpSpPr>
          <p:grpSpPr>
            <a:xfrm>
              <a:off x="4907876" y="3257860"/>
              <a:ext cx="258238" cy="768679"/>
              <a:chOff x="3627525" y="3023590"/>
              <a:chExt cx="605624" cy="1802718"/>
            </a:xfrm>
          </p:grpSpPr>
          <p:pic>
            <p:nvPicPr>
              <p:cNvPr id="1120" name="Google Shape;1120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1" name="Google Shape;1121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2" name="Google Shape;1122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3" name="Google Shape;1123;p88"/>
            <p:cNvGrpSpPr/>
            <p:nvPr/>
          </p:nvGrpSpPr>
          <p:grpSpPr>
            <a:xfrm>
              <a:off x="5242364" y="4061175"/>
              <a:ext cx="258238" cy="511732"/>
              <a:chOff x="2772127" y="3611285"/>
              <a:chExt cx="605624" cy="1200123"/>
            </a:xfrm>
          </p:grpSpPr>
          <p:pic>
            <p:nvPicPr>
              <p:cNvPr id="1124" name="Google Shape;1124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42048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5" name="Google Shape;1125;p8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772127" y="361128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6" name="Google Shape;1126;p88"/>
            <p:cNvGrpSpPr/>
            <p:nvPr/>
          </p:nvGrpSpPr>
          <p:grpSpPr>
            <a:xfrm>
              <a:off x="5242373" y="3257860"/>
              <a:ext cx="258238" cy="768679"/>
              <a:chOff x="3627525" y="3023590"/>
              <a:chExt cx="605624" cy="1802718"/>
            </a:xfrm>
          </p:grpSpPr>
          <p:pic>
            <p:nvPicPr>
              <p:cNvPr id="1127" name="Google Shape;1127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8" name="Google Shape;1128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9" name="Google Shape;1129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0" name="Google Shape;1130;p88"/>
            <p:cNvGrpSpPr/>
            <p:nvPr/>
          </p:nvGrpSpPr>
          <p:grpSpPr>
            <a:xfrm>
              <a:off x="4573378" y="2457932"/>
              <a:ext cx="258238" cy="768679"/>
              <a:chOff x="3627525" y="3023590"/>
              <a:chExt cx="605624" cy="1802718"/>
            </a:xfrm>
          </p:grpSpPr>
          <p:pic>
            <p:nvPicPr>
              <p:cNvPr id="1131" name="Google Shape;1131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2" name="Google Shape;1132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3" name="Google Shape;1133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4" name="Google Shape;1134;p88"/>
            <p:cNvGrpSpPr/>
            <p:nvPr/>
          </p:nvGrpSpPr>
          <p:grpSpPr>
            <a:xfrm>
              <a:off x="4907876" y="2457932"/>
              <a:ext cx="258238" cy="768679"/>
              <a:chOff x="3627525" y="3023590"/>
              <a:chExt cx="605624" cy="1802718"/>
            </a:xfrm>
          </p:grpSpPr>
          <p:pic>
            <p:nvPicPr>
              <p:cNvPr id="1135" name="Google Shape;1135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6" name="Google Shape;1136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7" name="Google Shape;1137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8" name="Google Shape;1138;p88"/>
            <p:cNvGrpSpPr/>
            <p:nvPr/>
          </p:nvGrpSpPr>
          <p:grpSpPr>
            <a:xfrm>
              <a:off x="5242373" y="2457932"/>
              <a:ext cx="258238" cy="768679"/>
              <a:chOff x="3627525" y="3023590"/>
              <a:chExt cx="605624" cy="1802718"/>
            </a:xfrm>
          </p:grpSpPr>
          <p:pic>
            <p:nvPicPr>
              <p:cNvPr id="1139" name="Google Shape;1139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0" name="Google Shape;1140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1" name="Google Shape;1141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2" name="Google Shape;1142;p88"/>
            <p:cNvGrpSpPr/>
            <p:nvPr/>
          </p:nvGrpSpPr>
          <p:grpSpPr>
            <a:xfrm>
              <a:off x="4907876" y="1658004"/>
              <a:ext cx="258238" cy="768679"/>
              <a:chOff x="3627525" y="3023590"/>
              <a:chExt cx="605624" cy="1802718"/>
            </a:xfrm>
          </p:grpSpPr>
          <p:pic>
            <p:nvPicPr>
              <p:cNvPr id="1143" name="Google Shape;1143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4" name="Google Shape;1144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5" name="Google Shape;1145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6" name="Google Shape;1146;p88"/>
            <p:cNvGrpSpPr/>
            <p:nvPr/>
          </p:nvGrpSpPr>
          <p:grpSpPr>
            <a:xfrm>
              <a:off x="5242373" y="1658004"/>
              <a:ext cx="258238" cy="768679"/>
              <a:chOff x="3627525" y="3023590"/>
              <a:chExt cx="605624" cy="1802718"/>
            </a:xfrm>
          </p:grpSpPr>
          <p:pic>
            <p:nvPicPr>
              <p:cNvPr id="1147" name="Google Shape;1147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8" name="Google Shape;1148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9" name="Google Shape;1149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50" name="Google Shape;1150;p88"/>
            <p:cNvGrpSpPr/>
            <p:nvPr/>
          </p:nvGrpSpPr>
          <p:grpSpPr>
            <a:xfrm>
              <a:off x="5242373" y="858077"/>
              <a:ext cx="258238" cy="768679"/>
              <a:chOff x="3627525" y="3023590"/>
              <a:chExt cx="605624" cy="1802718"/>
            </a:xfrm>
          </p:grpSpPr>
          <p:pic>
            <p:nvPicPr>
              <p:cNvPr id="1151" name="Google Shape;1151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4219725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2" name="Google Shape;1152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621658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3" name="Google Shape;1153;p8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627525" y="3023590"/>
                <a:ext cx="605624" cy="6065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54" name="Google Shape;1154;p88"/>
          <p:cNvSpPr txBox="1"/>
          <p:nvPr>
            <p:ph type="body" idx="1"/>
          </p:nvPr>
        </p:nvSpPr>
        <p:spPr>
          <a:xfrm>
            <a:off x="2269250" y="1860200"/>
            <a:ext cx="59328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is the sequence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 </a:t>
            </a:r>
            <a:r>
              <a:rPr lang="en-GB" sz="2000"/>
              <a:t>represented graphically. </a:t>
            </a:r>
            <a:endParaRPr sz="2000"/>
          </a:p>
        </p:txBody>
      </p:sp>
      <p:sp>
        <p:nvSpPr>
          <p:cNvPr id="1155" name="Google Shape;1155;p88"/>
          <p:cNvSpPr txBox="1"/>
          <p:nvPr>
            <p:ph type="body" idx="1"/>
          </p:nvPr>
        </p:nvSpPr>
        <p:spPr>
          <a:xfrm>
            <a:off x="2269250" y="27242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does the 3 in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represent?</a:t>
            </a:r>
            <a:endParaRPr sz="2000"/>
          </a:p>
        </p:txBody>
      </p:sp>
      <p:sp>
        <p:nvSpPr>
          <p:cNvPr id="1156" name="Google Shape;1156;p88"/>
          <p:cNvSpPr txBox="1"/>
          <p:nvPr>
            <p:ph type="body" idx="1"/>
          </p:nvPr>
        </p:nvSpPr>
        <p:spPr>
          <a:xfrm>
            <a:off x="2269250" y="367985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does the 2 in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n</a:t>
            </a:r>
            <a:r>
              <a:rPr lang="en-GB" baseline="30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2000"/>
              <a:t> term represent?</a:t>
            </a:r>
            <a:endParaRPr sz="2000"/>
          </a:p>
        </p:txBody>
      </p:sp>
      <p:sp>
        <p:nvSpPr>
          <p:cNvPr id="1157" name="Google Shape;1157;p88"/>
          <p:cNvSpPr txBox="1"/>
          <p:nvPr>
            <p:ph type="body" idx="1"/>
          </p:nvPr>
        </p:nvSpPr>
        <p:spPr>
          <a:xfrm>
            <a:off x="2269250" y="3202025"/>
            <a:ext cx="65424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term is adding an extra 3 each time (3 pink blocks).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88"/>
          <p:cNvSpPr txBox="1"/>
          <p:nvPr>
            <p:ph type="body" idx="1"/>
          </p:nvPr>
        </p:nvSpPr>
        <p:spPr>
          <a:xfrm>
            <a:off x="2269250" y="41250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is the constant term. (There are 2 blue blocks in each term.)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2" name="Shape 1162"/>
        <p:cNvGrpSpPr/>
        <p:nvPr/>
      </p:nvGrpSpPr>
      <p:grpSpPr>
        <a:xfrm>
          <a:off x="0" y="0"/>
          <a:ext cx="0" cy="0"/>
        </a:xfrm>
      </p:grpSpPr>
      <p:sp>
        <p:nvSpPr>
          <p:cNvPr id="1163" name="Google Shape;116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4" name="Google Shape;1164;p89"/>
          <p:cNvSpPr txBox="1"/>
          <p:nvPr>
            <p:ph type="body" idx="1"/>
          </p:nvPr>
        </p:nvSpPr>
        <p:spPr>
          <a:xfrm>
            <a:off x="324000" y="724500"/>
            <a:ext cx="8496000" cy="5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is the graph of the equation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 </a:t>
            </a:r>
            <a:r>
              <a:rPr lang="en-GB"/>
              <a:t>represented graphically. </a:t>
            </a:r>
            <a:endParaRPr/>
          </a:p>
        </p:txBody>
      </p:sp>
      <p:sp>
        <p:nvSpPr>
          <p:cNvPr id="1165" name="Google Shape;1165;p89"/>
          <p:cNvSpPr txBox="1"/>
          <p:nvPr>
            <p:ph type="body" idx="1"/>
          </p:nvPr>
        </p:nvSpPr>
        <p:spPr>
          <a:xfrm>
            <a:off x="2887200" y="16200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does the 3 in the </a:t>
            </a:r>
            <a:r>
              <a:rPr lang="en-GB" b="1"/>
              <a:t>equation of the line</a:t>
            </a:r>
            <a:r>
              <a:rPr lang="en-GB"/>
              <a:t> represent?</a:t>
            </a:r>
            <a:endParaRPr/>
          </a:p>
        </p:txBody>
      </p:sp>
      <p:sp>
        <p:nvSpPr>
          <p:cNvPr id="1166" name="Google Shape;1166;p89"/>
          <p:cNvSpPr txBox="1"/>
          <p:nvPr>
            <p:ph type="body" idx="1"/>
          </p:nvPr>
        </p:nvSpPr>
        <p:spPr>
          <a:xfrm>
            <a:off x="2887200" y="3310475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does the 2 in the </a:t>
            </a:r>
            <a:r>
              <a:rPr lang="en-GB" b="1"/>
              <a:t>equation of the line</a:t>
            </a:r>
            <a:r>
              <a:rPr lang="en-GB"/>
              <a:t> represent?</a:t>
            </a:r>
            <a:endParaRPr/>
          </a:p>
        </p:txBody>
      </p:sp>
      <p:sp>
        <p:nvSpPr>
          <p:cNvPr id="1167" name="Google Shape;1167;p89"/>
          <p:cNvSpPr txBox="1"/>
          <p:nvPr>
            <p:ph type="body" idx="1"/>
          </p:nvPr>
        </p:nvSpPr>
        <p:spPr>
          <a:xfrm>
            <a:off x="2887200" y="2465238"/>
            <a:ext cx="5881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gradient of the line.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89"/>
          <p:cNvSpPr txBox="1"/>
          <p:nvPr>
            <p:ph type="body" idx="1"/>
          </p:nvPr>
        </p:nvSpPr>
        <p:spPr>
          <a:xfrm>
            <a:off x="2887200" y="41250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-intercept is (0, 2)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9" name="Google Shape;116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19988"/>
            <a:ext cx="2195325" cy="30508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3" name="Shape 1173"/>
        <p:cNvGrpSpPr/>
        <p:nvPr/>
      </p:nvGrpSpPr>
      <p:grpSpPr>
        <a:xfrm>
          <a:off x="0" y="0"/>
          <a:ext cx="0" cy="0"/>
        </a:xfrm>
      </p:grpSpPr>
      <p:sp>
        <p:nvSpPr>
          <p:cNvPr id="1174" name="Google Shape;117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5" name="Google Shape;1175;p90"/>
          <p:cNvSpPr txBox="1"/>
          <p:nvPr>
            <p:ph type="body" idx="1"/>
          </p:nvPr>
        </p:nvSpPr>
        <p:spPr>
          <a:xfrm>
            <a:off x="324000" y="724500"/>
            <a:ext cx="8496000" cy="5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the graphs of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+ 1,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/>
              <a:t>and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 </a:t>
            </a:r>
            <a:endParaRPr sz="2000"/>
          </a:p>
        </p:txBody>
      </p:sp>
      <p:sp>
        <p:nvSpPr>
          <p:cNvPr id="1176" name="Google Shape;1176;p90"/>
          <p:cNvSpPr txBox="1"/>
          <p:nvPr>
            <p:ph type="body" idx="1"/>
          </p:nvPr>
        </p:nvSpPr>
        <p:spPr>
          <a:xfrm>
            <a:off x="2887200" y="14676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graph belongs to which equation? How do you know?</a:t>
            </a:r>
            <a:endParaRPr sz="2000"/>
          </a:p>
        </p:txBody>
      </p:sp>
      <p:sp>
        <p:nvSpPr>
          <p:cNvPr id="1177" name="Google Shape;1177;p90"/>
          <p:cNvSpPr txBox="1"/>
          <p:nvPr>
            <p:ph type="body" idx="1"/>
          </p:nvPr>
        </p:nvSpPr>
        <p:spPr>
          <a:xfrm>
            <a:off x="2887200" y="2216388"/>
            <a:ext cx="5881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A- (Blue)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90"/>
          <p:cNvSpPr txBox="1"/>
          <p:nvPr>
            <p:ph type="body" idx="1"/>
          </p:nvPr>
        </p:nvSpPr>
        <p:spPr>
          <a:xfrm>
            <a:off x="5912400" y="2187200"/>
            <a:ext cx="28905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is (0, 5)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9" name="Google Shape;117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507250"/>
            <a:ext cx="2098397" cy="3064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80" name="Google Shape;1180;p90"/>
          <p:cNvSpPr txBox="1"/>
          <p:nvPr>
            <p:ph type="body" idx="1"/>
          </p:nvPr>
        </p:nvSpPr>
        <p:spPr>
          <a:xfrm>
            <a:off x="1734125" y="1560750"/>
            <a:ext cx="441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181" name="Google Shape;1181;p90"/>
          <p:cNvSpPr txBox="1"/>
          <p:nvPr>
            <p:ph type="body" idx="1"/>
          </p:nvPr>
        </p:nvSpPr>
        <p:spPr>
          <a:xfrm>
            <a:off x="2175125" y="1560750"/>
            <a:ext cx="441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182" name="Google Shape;1182;p90"/>
          <p:cNvSpPr txBox="1"/>
          <p:nvPr>
            <p:ph type="body" idx="1"/>
          </p:nvPr>
        </p:nvSpPr>
        <p:spPr>
          <a:xfrm>
            <a:off x="2402471" y="2267625"/>
            <a:ext cx="441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183" name="Google Shape;1183;p90"/>
          <p:cNvSpPr txBox="1"/>
          <p:nvPr>
            <p:ph type="body" idx="1"/>
          </p:nvPr>
        </p:nvSpPr>
        <p:spPr>
          <a:xfrm>
            <a:off x="2912700" y="2691900"/>
            <a:ext cx="5881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B- (Green)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90"/>
          <p:cNvSpPr txBox="1"/>
          <p:nvPr>
            <p:ph type="body" idx="1"/>
          </p:nvPr>
        </p:nvSpPr>
        <p:spPr>
          <a:xfrm>
            <a:off x="2912700" y="3196600"/>
            <a:ext cx="5881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C- (Pink)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90"/>
          <p:cNvSpPr txBox="1"/>
          <p:nvPr>
            <p:ph type="body" idx="1"/>
          </p:nvPr>
        </p:nvSpPr>
        <p:spPr>
          <a:xfrm>
            <a:off x="5954700" y="2706500"/>
            <a:ext cx="28482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is (0, 1)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90"/>
          <p:cNvSpPr txBox="1"/>
          <p:nvPr>
            <p:ph type="body" idx="1"/>
          </p:nvPr>
        </p:nvSpPr>
        <p:spPr>
          <a:xfrm>
            <a:off x="5954700" y="3225800"/>
            <a:ext cx="28905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is 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90"/>
          <p:cNvSpPr txBox="1"/>
          <p:nvPr>
            <p:ph type="body" idx="1"/>
          </p:nvPr>
        </p:nvSpPr>
        <p:spPr>
          <a:xfrm>
            <a:off x="2912700" y="3655600"/>
            <a:ext cx="59328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same in all 3 graphs?</a:t>
            </a:r>
            <a:endParaRPr sz="2000"/>
          </a:p>
        </p:txBody>
      </p:sp>
      <p:sp>
        <p:nvSpPr>
          <p:cNvPr id="1188" name="Google Shape;1188;p90"/>
          <p:cNvSpPr txBox="1"/>
          <p:nvPr>
            <p:ph type="body" idx="1"/>
          </p:nvPr>
        </p:nvSpPr>
        <p:spPr>
          <a:xfrm>
            <a:off x="2912700" y="4075725"/>
            <a:ext cx="28905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gradient is 2</a:t>
            </a:r>
            <a:r>
              <a:rPr lang="en-GB" sz="2000" i="1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2" name="Shape 1192"/>
        <p:cNvGrpSpPr/>
        <p:nvPr/>
      </p:nvGrpSpPr>
      <p:grpSpPr>
        <a:xfrm>
          <a:off x="0" y="0"/>
          <a:ext cx="0" cy="0"/>
        </a:xfrm>
      </p:grpSpPr>
      <p:sp>
        <p:nvSpPr>
          <p:cNvPr id="1193" name="Google Shape;119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4" name="Google Shape;1194;p91"/>
          <p:cNvSpPr txBox="1"/>
          <p:nvPr>
            <p:ph type="body" idx="1"/>
          </p:nvPr>
        </p:nvSpPr>
        <p:spPr>
          <a:xfrm>
            <a:off x="324000" y="759950"/>
            <a:ext cx="84960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the </a:t>
            </a:r>
            <a:r>
              <a:rPr lang="en-GB" sz="1800" b="1"/>
              <a:t>equation of a line</a:t>
            </a:r>
            <a:r>
              <a:rPr lang="en-GB" sz="1800"/>
              <a:t> is written in the form: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are easy to identify.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5" name="Google Shape;1195;p91"/>
          <p:cNvSpPr txBox="1"/>
          <p:nvPr>
            <p:ph type="body" idx="1"/>
          </p:nvPr>
        </p:nvSpPr>
        <p:spPr>
          <a:xfrm>
            <a:off x="324000" y="1573300"/>
            <a:ext cx="8496000" cy="5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600" i="1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96" name="Google Shape;1196;p91"/>
          <p:cNvCxnSpPr/>
          <p:nvPr/>
        </p:nvCxnSpPr>
        <p:spPr>
          <a:xfrm flipH="1">
            <a:off x="3572375" y="2004950"/>
            <a:ext cx="859500" cy="390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7" name="Google Shape;1197;p91"/>
          <p:cNvSpPr txBox="1"/>
          <p:nvPr>
            <p:ph type="body" idx="1"/>
          </p:nvPr>
        </p:nvSpPr>
        <p:spPr>
          <a:xfrm>
            <a:off x="626875" y="2434825"/>
            <a:ext cx="3636000" cy="8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coefficient of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800"/>
              <a:t>) is the gradient of the line.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98" name="Google Shape;1198;p91"/>
          <p:cNvCxnSpPr/>
          <p:nvPr/>
        </p:nvCxnSpPr>
        <p:spPr>
          <a:xfrm>
            <a:off x="5288850" y="2004950"/>
            <a:ext cx="742500" cy="461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9" name="Google Shape;1199;p91"/>
          <p:cNvSpPr txBox="1"/>
          <p:nvPr>
            <p:ph type="body" idx="1"/>
          </p:nvPr>
        </p:nvSpPr>
        <p:spPr>
          <a:xfrm>
            <a:off x="5009700" y="2434813"/>
            <a:ext cx="3810300" cy="3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constant 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) is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0" name="Google Shape;1200;p91"/>
          <p:cNvSpPr txBox="1"/>
          <p:nvPr>
            <p:ph type="body" idx="1"/>
          </p:nvPr>
        </p:nvSpPr>
        <p:spPr>
          <a:xfrm>
            <a:off x="324000" y="3284125"/>
            <a:ext cx="84960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 is not known for sure why the letters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800"/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are used.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1" name="Google Shape;1201;p91"/>
          <p:cNvSpPr txBox="1"/>
          <p:nvPr>
            <p:ph type="body" idx="1"/>
          </p:nvPr>
        </p:nvSpPr>
        <p:spPr>
          <a:xfrm>
            <a:off x="324000" y="3724725"/>
            <a:ext cx="84960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It has been suggested that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800"/>
              <a:t> comes from the french word ‘monter’ which means ‘to climb or ascend’.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2" name="Google Shape;1202;p91"/>
          <p:cNvSpPr txBox="1"/>
          <p:nvPr>
            <p:ph type="body" idx="1"/>
          </p:nvPr>
        </p:nvSpPr>
        <p:spPr>
          <a:xfrm>
            <a:off x="324000" y="4419650"/>
            <a:ext cx="8496000" cy="35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from ‘commencer’ which means ‘to start’.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3" name="Google Shape;1203;p91"/>
          <p:cNvSpPr txBox="1"/>
          <p:nvPr>
            <p:ph type="body" idx="1"/>
          </p:nvPr>
        </p:nvSpPr>
        <p:spPr>
          <a:xfrm>
            <a:off x="5009700" y="2838938"/>
            <a:ext cx="3810300" cy="3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(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is always 0 at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-intercept.)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7" name="Shape 1207"/>
        <p:cNvGrpSpPr/>
        <p:nvPr/>
      </p:nvGrpSpPr>
      <p:grpSpPr>
        <a:xfrm>
          <a:off x="0" y="0"/>
          <a:ext cx="0" cy="0"/>
        </a:xfrm>
      </p:grpSpPr>
      <p:sp>
        <p:nvSpPr>
          <p:cNvPr id="1208" name="Google Shape;1208;p92"/>
          <p:cNvSpPr txBox="1"/>
          <p:nvPr>
            <p:ph type="body" idx="1"/>
          </p:nvPr>
        </p:nvSpPr>
        <p:spPr>
          <a:xfrm>
            <a:off x="324000" y="688225"/>
            <a:ext cx="8496000" cy="88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Three pupils are trying to work out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by looking at </a:t>
            </a:r>
            <a:r>
              <a:rPr lang="en-GB" sz="1800" b="1"/>
              <a:t>equations of lines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09" name="Google Shape;120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pic>
        <p:nvPicPr>
          <p:cNvPr id="1210" name="Google Shape;121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278" y="1758918"/>
            <a:ext cx="374400" cy="7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92"/>
          <p:cNvSpPr txBox="1"/>
          <p:nvPr/>
        </p:nvSpPr>
        <p:spPr>
          <a:xfrm>
            <a:off x="499073" y="2397048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2" name="Google Shape;121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2683" y="2934037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2"/>
          <p:cNvSpPr txBox="1"/>
          <p:nvPr/>
        </p:nvSpPr>
        <p:spPr>
          <a:xfrm flipH="1">
            <a:off x="311838" y="349980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2"/>
          <p:cNvSpPr txBox="1"/>
          <p:nvPr/>
        </p:nvSpPr>
        <p:spPr>
          <a:xfrm>
            <a:off x="449750" y="4508650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5" name="Google Shape;121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845" y="3950200"/>
            <a:ext cx="464616" cy="513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6" name="Google Shape;1216;p92"/>
          <p:cNvGrpSpPr/>
          <p:nvPr/>
        </p:nvGrpSpPr>
        <p:grpSpPr>
          <a:xfrm>
            <a:off x="1255499" y="1559879"/>
            <a:ext cx="3064501" cy="889521"/>
            <a:chOff x="1807242" y="1434776"/>
            <a:chExt cx="2276239" cy="1014624"/>
          </a:xfrm>
        </p:grpSpPr>
        <p:pic>
          <p:nvPicPr>
            <p:cNvPr id="1217" name="Google Shape;1217;p92"/>
            <p:cNvPicPr preferRelativeResize="0"/>
            <p:nvPr/>
          </p:nvPicPr>
          <p:blipFill>
            <a:blip r:embed="rId6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2" y="1434776"/>
              <a:ext cx="2276239" cy="101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92"/>
            <p:cNvSpPr txBox="1"/>
            <p:nvPr/>
          </p:nvSpPr>
          <p:spPr>
            <a:xfrm flipH="1">
              <a:off x="2044185" y="1622925"/>
              <a:ext cx="19395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y-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intercept is (0, 5) and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gradient is 4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9" name="Google Shape;1219;p92"/>
          <p:cNvPicPr preferRelativeResize="0"/>
          <p:nvPr/>
        </p:nvPicPr>
        <p:blipFill>
          <a:blip r:embed="rId6">
            <a:alphaModFix/>
          </a:blip>
          <a:srcRect t="56280" r="69082"/>
          <a:stretch>
            <a:fillRect/>
          </a:stretch>
        </p:blipFill>
        <p:spPr>
          <a:xfrm flipH="1">
            <a:off x="1312198" y="2724150"/>
            <a:ext cx="2889902" cy="86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2"/>
          <p:cNvPicPr preferRelativeResize="0"/>
          <p:nvPr/>
        </p:nvPicPr>
        <p:blipFill>
          <a:blip r:embed="rId6">
            <a:alphaModFix/>
          </a:blip>
          <a:srcRect t="56280" r="69082"/>
          <a:stretch>
            <a:fillRect/>
          </a:stretch>
        </p:blipFill>
        <p:spPr>
          <a:xfrm flipH="1">
            <a:off x="1312234" y="3729551"/>
            <a:ext cx="2929459" cy="9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92"/>
          <p:cNvSpPr txBox="1"/>
          <p:nvPr>
            <p:ph type="body" idx="1"/>
          </p:nvPr>
        </p:nvSpPr>
        <p:spPr>
          <a:xfrm>
            <a:off x="4396200" y="1730125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</a:t>
            </a:r>
            <a:endParaRPr sz="2000"/>
          </a:p>
        </p:txBody>
      </p:sp>
      <p:sp>
        <p:nvSpPr>
          <p:cNvPr id="1222" name="Google Shape;1222;p92"/>
          <p:cNvSpPr txBox="1"/>
          <p:nvPr>
            <p:ph type="body" idx="1"/>
          </p:nvPr>
        </p:nvSpPr>
        <p:spPr>
          <a:xfrm>
            <a:off x="4320000" y="1283700"/>
            <a:ext cx="4282200" cy="3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mistake has each person made?</a:t>
            </a:r>
            <a:endParaRPr sz="1800"/>
          </a:p>
        </p:txBody>
      </p:sp>
      <p:sp>
        <p:nvSpPr>
          <p:cNvPr id="1223" name="Google Shape;1223;p92"/>
          <p:cNvSpPr txBox="1"/>
          <p:nvPr/>
        </p:nvSpPr>
        <p:spPr>
          <a:xfrm>
            <a:off x="1533450" y="2852400"/>
            <a:ext cx="2577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gradient is 2 and the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is (0, 1)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2"/>
          <p:cNvSpPr txBox="1"/>
          <p:nvPr>
            <p:ph type="body" idx="1"/>
          </p:nvPr>
        </p:nvSpPr>
        <p:spPr>
          <a:xfrm>
            <a:off x="4396200" y="2852400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</a:t>
            </a:r>
            <a:endParaRPr sz="2000"/>
          </a:p>
        </p:txBody>
      </p:sp>
      <p:sp>
        <p:nvSpPr>
          <p:cNvPr id="1225" name="Google Shape;1225;p92"/>
          <p:cNvSpPr txBox="1"/>
          <p:nvPr/>
        </p:nvSpPr>
        <p:spPr>
          <a:xfrm>
            <a:off x="1533450" y="3900725"/>
            <a:ext cx="26208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gradient is 0 and the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is (0,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2"/>
          <p:cNvSpPr txBox="1"/>
          <p:nvPr>
            <p:ph type="body" idx="1"/>
          </p:nvPr>
        </p:nvSpPr>
        <p:spPr>
          <a:xfrm>
            <a:off x="4396200" y="3864400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p93"/>
          <p:cNvSpPr txBox="1"/>
          <p:nvPr>
            <p:ph type="body" idx="1"/>
          </p:nvPr>
        </p:nvSpPr>
        <p:spPr>
          <a:xfrm>
            <a:off x="324000" y="8100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mistakes have been made?</a:t>
            </a:r>
            <a:endParaRPr sz="2000"/>
          </a:p>
        </p:txBody>
      </p:sp>
      <p:sp>
        <p:nvSpPr>
          <p:cNvPr id="1232" name="Google Shape;123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pic>
        <p:nvPicPr>
          <p:cNvPr id="1233" name="Google Shape;123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278" y="1758918"/>
            <a:ext cx="374400" cy="7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93"/>
          <p:cNvSpPr txBox="1"/>
          <p:nvPr/>
        </p:nvSpPr>
        <p:spPr>
          <a:xfrm>
            <a:off x="499073" y="2397048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5" name="Google Shape;1235;p93"/>
          <p:cNvGrpSpPr/>
          <p:nvPr/>
        </p:nvGrpSpPr>
        <p:grpSpPr>
          <a:xfrm>
            <a:off x="1255499" y="1407479"/>
            <a:ext cx="3064501" cy="889521"/>
            <a:chOff x="1807242" y="1434776"/>
            <a:chExt cx="2276239" cy="1014624"/>
          </a:xfrm>
        </p:grpSpPr>
        <p:pic>
          <p:nvPicPr>
            <p:cNvPr id="1236" name="Google Shape;1236;p93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2" y="1434776"/>
              <a:ext cx="2276239" cy="101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93"/>
            <p:cNvSpPr txBox="1"/>
            <p:nvPr/>
          </p:nvSpPr>
          <p:spPr>
            <a:xfrm flipH="1">
              <a:off x="2044185" y="1622925"/>
              <a:ext cx="19395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-intercept is (0, 5) and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gradient is 4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8" name="Google Shape;1238;p93"/>
          <p:cNvSpPr txBox="1"/>
          <p:nvPr>
            <p:ph type="body" idx="1"/>
          </p:nvPr>
        </p:nvSpPr>
        <p:spPr>
          <a:xfrm>
            <a:off x="4472400" y="1577725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</a:t>
            </a:r>
            <a:endParaRPr sz="2000"/>
          </a:p>
        </p:txBody>
      </p:sp>
      <p:sp>
        <p:nvSpPr>
          <p:cNvPr id="1239" name="Google Shape;1239;p93"/>
          <p:cNvSpPr txBox="1"/>
          <p:nvPr>
            <p:ph type="body" idx="1"/>
          </p:nvPr>
        </p:nvSpPr>
        <p:spPr>
          <a:xfrm>
            <a:off x="4572000" y="2700000"/>
            <a:ext cx="4248000" cy="12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Aisha has looked at the wrong values.   The coefficient of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the gradient and the constant is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-intercept.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40" name="Google Shape;1240;p93"/>
          <p:cNvGrpSpPr/>
          <p:nvPr/>
        </p:nvGrpSpPr>
        <p:grpSpPr>
          <a:xfrm rot="10800000" flipH="1">
            <a:off x="1255501" y="2418051"/>
            <a:ext cx="3183399" cy="1070974"/>
            <a:chOff x="1807243" y="1203853"/>
            <a:chExt cx="2364554" cy="1221597"/>
          </a:xfrm>
        </p:grpSpPr>
        <p:pic>
          <p:nvPicPr>
            <p:cNvPr id="1241" name="Google Shape;1241;p93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3" y="1203853"/>
              <a:ext cx="2364554" cy="1221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93"/>
            <p:cNvSpPr txBox="1"/>
            <p:nvPr/>
          </p:nvSpPr>
          <p:spPr>
            <a:xfrm rot="10800000">
              <a:off x="1953481" y="1554464"/>
              <a:ext cx="21300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-intercept is (0, 4) and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gradient is 5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6" name="Shape 1246"/>
        <p:cNvGrpSpPr/>
        <p:nvPr/>
      </p:nvGrpSpPr>
      <p:grpSpPr>
        <a:xfrm>
          <a:off x="0" y="0"/>
          <a:ext cx="0" cy="0"/>
        </a:xfrm>
      </p:grpSpPr>
      <p:sp>
        <p:nvSpPr>
          <p:cNvPr id="1247" name="Google Shape;124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pic>
        <p:nvPicPr>
          <p:cNvPr id="1248" name="Google Shape;12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2683" y="1714837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94"/>
          <p:cNvSpPr txBox="1"/>
          <p:nvPr/>
        </p:nvSpPr>
        <p:spPr>
          <a:xfrm flipH="1">
            <a:off x="311838" y="228060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0" name="Google Shape;1250;p94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1312198" y="1352550"/>
            <a:ext cx="2889902" cy="86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94"/>
          <p:cNvSpPr txBox="1"/>
          <p:nvPr/>
        </p:nvSpPr>
        <p:spPr>
          <a:xfrm>
            <a:off x="1533450" y="1480800"/>
            <a:ext cx="25266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gradient is 2 and the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is (0, 1)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4"/>
          <p:cNvSpPr txBox="1"/>
          <p:nvPr>
            <p:ph type="body" idx="1"/>
          </p:nvPr>
        </p:nvSpPr>
        <p:spPr>
          <a:xfrm>
            <a:off x="4472400" y="1480800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</a:t>
            </a:r>
            <a:endParaRPr sz="2000"/>
          </a:p>
        </p:txBody>
      </p:sp>
      <p:sp>
        <p:nvSpPr>
          <p:cNvPr id="1253" name="Google Shape;1253;p94"/>
          <p:cNvSpPr txBox="1"/>
          <p:nvPr>
            <p:ph type="body" idx="1"/>
          </p:nvPr>
        </p:nvSpPr>
        <p:spPr>
          <a:xfrm>
            <a:off x="4572000" y="2571750"/>
            <a:ext cx="4248000" cy="12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Jacob has got the gradient correct but his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-intercept will be negative because the constant is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54" name="Google Shape;1254;p94"/>
          <p:cNvGrpSpPr/>
          <p:nvPr/>
        </p:nvGrpSpPr>
        <p:grpSpPr>
          <a:xfrm rot="10800000" flipH="1">
            <a:off x="1255501" y="2418051"/>
            <a:ext cx="3183399" cy="1070974"/>
            <a:chOff x="1807243" y="1203853"/>
            <a:chExt cx="2364554" cy="1221597"/>
          </a:xfrm>
        </p:grpSpPr>
        <p:pic>
          <p:nvPicPr>
            <p:cNvPr id="1255" name="Google Shape;1255;p94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3" y="1203853"/>
              <a:ext cx="2364554" cy="1221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94"/>
            <p:cNvSpPr txBox="1"/>
            <p:nvPr/>
          </p:nvSpPr>
          <p:spPr>
            <a:xfrm rot="10800000">
              <a:off x="2002381" y="1554464"/>
              <a:ext cx="2081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-intercept is     (0, 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1)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7" name="Google Shape;1257;p94"/>
          <p:cNvSpPr txBox="1"/>
          <p:nvPr>
            <p:ph type="body" idx="1"/>
          </p:nvPr>
        </p:nvSpPr>
        <p:spPr>
          <a:xfrm>
            <a:off x="324000" y="8100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mistakes have been made?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1" name="Shape 1261"/>
        <p:cNvGrpSpPr/>
        <p:nvPr/>
      </p:nvGrpSpPr>
      <p:grpSpPr>
        <a:xfrm>
          <a:off x="0" y="0"/>
          <a:ext cx="0" cy="0"/>
        </a:xfrm>
      </p:grpSpPr>
      <p:sp>
        <p:nvSpPr>
          <p:cNvPr id="1262" name="Google Shape;126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263" name="Google Shape;1263;p95"/>
          <p:cNvSpPr txBox="1"/>
          <p:nvPr/>
        </p:nvSpPr>
        <p:spPr>
          <a:xfrm>
            <a:off x="449750" y="2451250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4" name="Google Shape;126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45" y="1892800"/>
            <a:ext cx="464616" cy="513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5" name="Google Shape;1265;p95"/>
          <p:cNvGrpSpPr/>
          <p:nvPr/>
        </p:nvGrpSpPr>
        <p:grpSpPr>
          <a:xfrm>
            <a:off x="1312244" y="1519751"/>
            <a:ext cx="3183443" cy="931500"/>
            <a:chOff x="1312234" y="1519751"/>
            <a:chExt cx="2929459" cy="931500"/>
          </a:xfrm>
        </p:grpSpPr>
        <p:pic>
          <p:nvPicPr>
            <p:cNvPr id="1266" name="Google Shape;1266;p95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312234" y="1519751"/>
              <a:ext cx="292945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95"/>
            <p:cNvSpPr txBox="1"/>
            <p:nvPr/>
          </p:nvSpPr>
          <p:spPr>
            <a:xfrm>
              <a:off x="1533450" y="1690925"/>
              <a:ext cx="26124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gradient is 0 and 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-intercept is (0, 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8" name="Google Shape;1268;p95"/>
          <p:cNvSpPr txBox="1"/>
          <p:nvPr>
            <p:ph type="body" idx="1"/>
          </p:nvPr>
        </p:nvSpPr>
        <p:spPr>
          <a:xfrm>
            <a:off x="4624800" y="1654600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endParaRPr sz="2000"/>
          </a:p>
        </p:txBody>
      </p:sp>
      <p:sp>
        <p:nvSpPr>
          <p:cNvPr id="1269" name="Google Shape;1269;p95"/>
          <p:cNvSpPr txBox="1"/>
          <p:nvPr>
            <p:ph type="body" idx="1"/>
          </p:nvPr>
        </p:nvSpPr>
        <p:spPr>
          <a:xfrm>
            <a:off x="4572000" y="2569013"/>
            <a:ext cx="4248000" cy="12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 has got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-intercept correct. He has got the gradient wrong, the coefficient of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1 not 0.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0" name="Google Shape;1270;p95"/>
          <p:cNvGrpSpPr/>
          <p:nvPr/>
        </p:nvGrpSpPr>
        <p:grpSpPr>
          <a:xfrm rot="10800000" flipH="1">
            <a:off x="1230251" y="2642226"/>
            <a:ext cx="3183399" cy="1070974"/>
            <a:chOff x="1807243" y="1203853"/>
            <a:chExt cx="2364554" cy="1221597"/>
          </a:xfrm>
        </p:grpSpPr>
        <p:pic>
          <p:nvPicPr>
            <p:cNvPr id="1271" name="Google Shape;1271;p95"/>
            <p:cNvPicPr preferRelativeResize="0"/>
            <p:nvPr/>
          </p:nvPicPr>
          <p:blipFill>
            <a:blip r:embed="rId4">
              <a:alphaModFix/>
            </a:blip>
            <a:srcRect t="56280" r="69082"/>
            <a:stretch>
              <a:fillRect/>
            </a:stretch>
          </p:blipFill>
          <p:spPr>
            <a:xfrm flipH="1">
              <a:off x="1807243" y="1203853"/>
              <a:ext cx="2364554" cy="1221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2" name="Google Shape;1272;p95"/>
            <p:cNvSpPr txBox="1"/>
            <p:nvPr/>
          </p:nvSpPr>
          <p:spPr>
            <a:xfrm rot="10800000">
              <a:off x="2002381" y="1554464"/>
              <a:ext cx="2081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the gradient is 1 and the </a:t>
              </a:r>
              <a:r>
                <a:rPr lang="en-GB" sz="20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-intercept is (0, 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2)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3" name="Google Shape;1273;p95"/>
          <p:cNvSpPr txBox="1"/>
          <p:nvPr>
            <p:ph type="body" idx="1"/>
          </p:nvPr>
        </p:nvSpPr>
        <p:spPr>
          <a:xfrm>
            <a:off x="324000" y="8100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mistakes have been made?</a:t>
            </a:r>
            <a:endParaRPr sz="2000"/>
          </a:p>
        </p:txBody>
      </p:sp>
      <p:sp>
        <p:nvSpPr>
          <p:cNvPr id="1274" name="Google Shape;1274;p95"/>
          <p:cNvSpPr txBox="1"/>
          <p:nvPr>
            <p:ph type="body" idx="1"/>
          </p:nvPr>
        </p:nvSpPr>
        <p:spPr>
          <a:xfrm>
            <a:off x="4624800" y="2053625"/>
            <a:ext cx="1588200" cy="44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8" name="Shape 1278"/>
        <p:cNvGrpSpPr/>
        <p:nvPr/>
      </p:nvGrpSpPr>
      <p:grpSpPr>
        <a:xfrm>
          <a:off x="0" y="0"/>
          <a:ext cx="0" cy="0"/>
        </a:xfrm>
      </p:grpSpPr>
      <p:sp>
        <p:nvSpPr>
          <p:cNvPr id="1279" name="Google Shape;127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280" name="Google Shape;1280;p96"/>
          <p:cNvSpPr txBox="1"/>
          <p:nvPr>
            <p:ph type="body" idx="1"/>
          </p:nvPr>
        </p:nvSpPr>
        <p:spPr>
          <a:xfrm>
            <a:off x="324000" y="8100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Sometimes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/>
              <a:t> term is written after the constant term.</a:t>
            </a:r>
            <a:endParaRPr sz="2100"/>
          </a:p>
        </p:txBody>
      </p:sp>
      <p:sp>
        <p:nvSpPr>
          <p:cNvPr id="1281" name="Google Shape;1281;p96"/>
          <p:cNvSpPr txBox="1"/>
          <p:nvPr>
            <p:ph type="body" idx="1"/>
          </p:nvPr>
        </p:nvSpPr>
        <p:spPr>
          <a:xfrm>
            <a:off x="324000" y="13965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/>
              <a:t>For example, in the equation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5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2" name="Google Shape;1282;p96"/>
          <p:cNvSpPr txBox="1"/>
          <p:nvPr>
            <p:ph type="body" idx="1"/>
          </p:nvPr>
        </p:nvSpPr>
        <p:spPr>
          <a:xfrm>
            <a:off x="324000" y="2084575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This is still in the form: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 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3" name="Google Shape;1283;p96"/>
          <p:cNvSpPr txBox="1"/>
          <p:nvPr>
            <p:ph type="body" idx="1"/>
          </p:nvPr>
        </p:nvSpPr>
        <p:spPr>
          <a:xfrm>
            <a:off x="324000" y="2800650"/>
            <a:ext cx="8553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/>
              <a:t>What do you think the gradient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/>
              <a:t>-intercept for this equation are?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 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4" name="Google Shape;1284;p96"/>
          <p:cNvSpPr txBox="1"/>
          <p:nvPr>
            <p:ph type="body" idx="1"/>
          </p:nvPr>
        </p:nvSpPr>
        <p:spPr>
          <a:xfrm>
            <a:off x="324000" y="354945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coefficient of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2 so the gradient is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100" i="1"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96"/>
          <p:cNvSpPr txBox="1"/>
          <p:nvPr>
            <p:ph type="body" idx="1"/>
          </p:nvPr>
        </p:nvSpPr>
        <p:spPr>
          <a:xfrm>
            <a:off x="324000" y="408675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constant is 5 so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-intercept is (0, 5)</a:t>
            </a:r>
            <a:r>
              <a:rPr lang="en-GB" sz="2100" i="1"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9" name="Shape 1289"/>
        <p:cNvGrpSpPr/>
        <p:nvPr/>
      </p:nvGrpSpPr>
      <p:grpSpPr>
        <a:xfrm>
          <a:off x="0" y="0"/>
          <a:ext cx="0" cy="0"/>
        </a:xfrm>
      </p:grpSpPr>
      <p:sp>
        <p:nvSpPr>
          <p:cNvPr id="1290" name="Google Shape;129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291" name="Google Shape;1291;p97"/>
          <p:cNvSpPr txBox="1"/>
          <p:nvPr/>
        </p:nvSpPr>
        <p:spPr>
          <a:xfrm>
            <a:off x="365953" y="2236874"/>
            <a:ext cx="10602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97"/>
          <p:cNvGrpSpPr/>
          <p:nvPr/>
        </p:nvGrpSpPr>
        <p:grpSpPr>
          <a:xfrm>
            <a:off x="1122478" y="682107"/>
            <a:ext cx="4651873" cy="1657207"/>
            <a:chOff x="1902385" y="1608375"/>
            <a:chExt cx="2242299" cy="1553875"/>
          </a:xfrm>
        </p:grpSpPr>
        <p:pic>
          <p:nvPicPr>
            <p:cNvPr id="1293" name="Google Shape;1293;p97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85" y="1608375"/>
              <a:ext cx="2242299" cy="155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97"/>
            <p:cNvSpPr txBox="1"/>
            <p:nvPr/>
          </p:nvSpPr>
          <p:spPr>
            <a:xfrm flipH="1">
              <a:off x="2077613" y="1783895"/>
              <a:ext cx="1974000" cy="10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in the equation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10 </a:t>
              </a:r>
              <a:r>
                <a:rPr lang="en-GB" sz="2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2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4</a:t>
              </a:r>
              <a:r>
                <a:rPr lang="en-GB" sz="2200" i="1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the gradient is </a:t>
              </a: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the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-intercept is (0, 10)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95" name="Google Shape;129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351" y="1519950"/>
            <a:ext cx="547399" cy="7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97"/>
          <p:cNvSpPr txBox="1"/>
          <p:nvPr>
            <p:ph type="body" idx="1"/>
          </p:nvPr>
        </p:nvSpPr>
        <p:spPr>
          <a:xfrm>
            <a:off x="324000" y="28524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Can you explain why Laura is still incorrect?</a:t>
            </a:r>
            <a:endParaRPr sz="2000"/>
          </a:p>
        </p:txBody>
      </p:sp>
      <p:sp>
        <p:nvSpPr>
          <p:cNvPr id="1297" name="Google Shape;1297;p97"/>
          <p:cNvSpPr txBox="1"/>
          <p:nvPr>
            <p:ph type="body" idx="1"/>
          </p:nvPr>
        </p:nvSpPr>
        <p:spPr>
          <a:xfrm>
            <a:off x="324000" y="33924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Her equation is not in the form</a:t>
            </a:r>
            <a:r>
              <a:rPr lang="en-GB" sz="2000"/>
              <a:t>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600" i="1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a coefficient other than 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1" name="Shape 1301"/>
        <p:cNvGrpSpPr/>
        <p:nvPr/>
      </p:nvGrpSpPr>
      <p:grpSpPr>
        <a:xfrm>
          <a:off x="0" y="0"/>
          <a:ext cx="0" cy="0"/>
        </a:xfrm>
      </p:grpSpPr>
      <p:sp>
        <p:nvSpPr>
          <p:cNvPr id="1302" name="Google Shape;130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303" name="Google Shape;1303;p98"/>
          <p:cNvSpPr txBox="1"/>
          <p:nvPr/>
        </p:nvSpPr>
        <p:spPr>
          <a:xfrm>
            <a:off x="365953" y="2236874"/>
            <a:ext cx="10602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4" name="Google Shape;1304;p98"/>
          <p:cNvGrpSpPr/>
          <p:nvPr/>
        </p:nvGrpSpPr>
        <p:grpSpPr>
          <a:xfrm>
            <a:off x="1122478" y="682107"/>
            <a:ext cx="4651873" cy="1657207"/>
            <a:chOff x="1902385" y="1608375"/>
            <a:chExt cx="2242299" cy="1553875"/>
          </a:xfrm>
        </p:grpSpPr>
        <p:pic>
          <p:nvPicPr>
            <p:cNvPr id="1305" name="Google Shape;1305;p98"/>
            <p:cNvPicPr preferRelativeResize="0"/>
            <p:nvPr/>
          </p:nvPicPr>
          <p:blipFill>
            <a:blip r:embed="rId3">
              <a:alphaModFix/>
            </a:blip>
            <a:srcRect t="56280" r="69082"/>
            <a:stretch>
              <a:fillRect/>
            </a:stretch>
          </p:blipFill>
          <p:spPr>
            <a:xfrm flipH="1">
              <a:off x="1902385" y="1608375"/>
              <a:ext cx="2242299" cy="155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98"/>
            <p:cNvSpPr txBox="1"/>
            <p:nvPr/>
          </p:nvSpPr>
          <p:spPr>
            <a:xfrm flipH="1">
              <a:off x="2077613" y="1783895"/>
              <a:ext cx="1974000" cy="105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can I do to work out the gradient and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-intercept for the equation 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 = 2(3</a:t>
              </a:r>
              <a:r>
                <a:rPr lang="en-GB" sz="2000" i="1"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4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)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07" name="Google Shape;1307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351" y="1519950"/>
            <a:ext cx="547399" cy="71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98"/>
          <p:cNvSpPr txBox="1"/>
          <p:nvPr>
            <p:ph type="body" idx="1"/>
          </p:nvPr>
        </p:nvSpPr>
        <p:spPr>
          <a:xfrm>
            <a:off x="324000" y="2800675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use our expanding bracket skills to write in the form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309" name="Google Shape;1309;p98"/>
          <p:cNvSpPr txBox="1"/>
          <p:nvPr>
            <p:ph type="body" idx="1"/>
          </p:nvPr>
        </p:nvSpPr>
        <p:spPr>
          <a:xfrm>
            <a:off x="324000" y="3355475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4) ≡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endParaRPr sz="1800"/>
          </a:p>
        </p:txBody>
      </p:sp>
      <p:sp>
        <p:nvSpPr>
          <p:cNvPr id="1310" name="Google Shape;1310;p98"/>
          <p:cNvSpPr txBox="1"/>
          <p:nvPr>
            <p:ph type="body" idx="1"/>
          </p:nvPr>
        </p:nvSpPr>
        <p:spPr>
          <a:xfrm>
            <a:off x="324000" y="4214800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 the gradient is 6 and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8)</a:t>
            </a:r>
            <a:endParaRPr sz="1800"/>
          </a:p>
        </p:txBody>
      </p:sp>
      <p:sp>
        <p:nvSpPr>
          <p:cNvPr id="1311" name="Google Shape;1311;p98"/>
          <p:cNvSpPr txBox="1"/>
          <p:nvPr>
            <p:ph type="body" idx="1"/>
          </p:nvPr>
        </p:nvSpPr>
        <p:spPr>
          <a:xfrm>
            <a:off x="324000" y="3785138"/>
            <a:ext cx="8496000" cy="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5" name="Shape 1315"/>
        <p:cNvGrpSpPr/>
        <p:nvPr/>
      </p:nvGrpSpPr>
      <p:grpSpPr>
        <a:xfrm>
          <a:off x="0" y="0"/>
          <a:ext cx="0" cy="0"/>
        </a:xfrm>
      </p:grpSpPr>
      <p:sp>
        <p:nvSpPr>
          <p:cNvPr id="1316" name="Google Shape;1316;p99"/>
          <p:cNvSpPr txBox="1"/>
          <p:nvPr>
            <p:ph type="subTitle" idx="2"/>
          </p:nvPr>
        </p:nvSpPr>
        <p:spPr>
          <a:xfrm>
            <a:off x="865075" y="3132725"/>
            <a:ext cx="79548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the constant that represents the gradient.</a:t>
            </a:r>
            <a:endParaRPr sz="2000"/>
          </a:p>
        </p:txBody>
      </p:sp>
      <p:sp>
        <p:nvSpPr>
          <p:cNvPr id="1317" name="Google Shape;131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318" name="Google Shape;1318;p99"/>
          <p:cNvSpPr txBox="1"/>
          <p:nvPr>
            <p:ph type="subTitle" idx="1"/>
          </p:nvPr>
        </p:nvSpPr>
        <p:spPr>
          <a:xfrm>
            <a:off x="324000" y="1080000"/>
            <a:ext cx="84960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coefficient of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 any linear equation represents the gradient.</a:t>
            </a:r>
            <a:r>
              <a:rPr lang="en-GB" sz="2400"/>
              <a:t> </a:t>
            </a:r>
            <a:endParaRPr sz="2400"/>
          </a:p>
        </p:txBody>
      </p:sp>
      <p:sp>
        <p:nvSpPr>
          <p:cNvPr id="1319" name="Google Shape;1319;p99"/>
          <p:cNvSpPr txBox="1"/>
          <p:nvPr>
            <p:ph type="subTitle" idx="3"/>
          </p:nvPr>
        </p:nvSpPr>
        <p:spPr>
          <a:xfrm>
            <a:off x="865075" y="4040350"/>
            <a:ext cx="73440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This is only true when the equation is in the form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20" name="Google Shape;13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43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1" name="Google Shape;132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858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5" name="Shape 1325"/>
        <p:cNvGrpSpPr/>
        <p:nvPr/>
      </p:nvGrpSpPr>
      <p:grpSpPr>
        <a:xfrm>
          <a:off x="0" y="0"/>
          <a:ext cx="0" cy="0"/>
        </a:xfrm>
      </p:grpSpPr>
      <p:sp>
        <p:nvSpPr>
          <p:cNvPr id="1326" name="Google Shape;1326;p100"/>
          <p:cNvSpPr txBox="1"/>
          <p:nvPr>
            <p:ph type="subTitle" idx="2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represents the value of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when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equals 0</a:t>
            </a:r>
            <a:endParaRPr sz="2000"/>
          </a:p>
        </p:txBody>
      </p:sp>
      <p:sp>
        <p:nvSpPr>
          <p:cNvPr id="1327" name="Google Shape;1327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mx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c</a:t>
            </a:r>
            <a:endParaRPr/>
          </a:p>
        </p:txBody>
      </p:sp>
      <p:sp>
        <p:nvSpPr>
          <p:cNvPr id="1328" name="Google Shape;1328;p100"/>
          <p:cNvSpPr txBox="1"/>
          <p:nvPr>
            <p:ph type="subTitle" idx="1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in the form</a:t>
            </a:r>
            <a:r>
              <a:rPr lang="en-GB"/>
              <a:t>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  </a:t>
            </a:r>
            <a:r>
              <a:rPr lang="en-GB" sz="2000"/>
              <a:t>the constant represents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-intercept.</a:t>
            </a:r>
            <a:r>
              <a:rPr lang="en-GB"/>
              <a:t>    </a:t>
            </a:r>
            <a:endParaRPr/>
          </a:p>
        </p:txBody>
      </p:sp>
      <p:sp>
        <p:nvSpPr>
          <p:cNvPr id="1329" name="Google Shape;1329;p100"/>
          <p:cNvSpPr txBox="1"/>
          <p:nvPr>
            <p:ph type="subTitle" idx="3"/>
          </p:nvPr>
        </p:nvSpPr>
        <p:spPr>
          <a:xfrm>
            <a:off x="980575" y="4040350"/>
            <a:ext cx="7839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constant is the last term in the expression.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330" name="Google Shape;133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08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50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p101"/>
          <p:cNvSpPr txBox="1"/>
          <p:nvPr>
            <p:ph type="body" idx="1"/>
          </p:nvPr>
        </p:nvSpPr>
        <p:spPr>
          <a:xfrm>
            <a:off x="324000" y="670500"/>
            <a:ext cx="3996000" cy="8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Fill in the table with the gradient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for each equation.</a:t>
            </a:r>
            <a:endParaRPr sz="1800"/>
          </a:p>
        </p:txBody>
      </p:sp>
      <p:sp>
        <p:nvSpPr>
          <p:cNvPr id="1337" name="Google Shape;1337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</a:t>
            </a:r>
            <a:r>
              <a:rPr lang="en-GB" i="1"/>
              <a:t>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338" name="Google Shape;1338;p101"/>
          <p:cNvGraphicFramePr>
            <a:graphicFrameLocks noGrp="1"/>
          </p:cNvGraphicFramePr>
          <p:nvPr/>
        </p:nvGraphicFramePr>
        <p:xfrm>
          <a:off x="324000" y="17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1994975"/>
                <a:gridCol w="1008325"/>
                <a:gridCol w="1210400"/>
              </a:tblGrid>
              <a:tr h="349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8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7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f)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(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+ 3)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39" name="Google Shape;1339;p101"/>
          <p:cNvSpPr txBox="1"/>
          <p:nvPr>
            <p:ph type="body" idx="1"/>
          </p:nvPr>
        </p:nvSpPr>
        <p:spPr>
          <a:xfrm>
            <a:off x="324000" y="1416900"/>
            <a:ext cx="4305300" cy="4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Write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as a coordinate</a:t>
            </a:r>
            <a:r>
              <a:rPr lang="en-GB" sz="1800" b="1"/>
              <a:t> </a:t>
            </a:r>
            <a:endParaRPr sz="1800" b="1"/>
          </a:p>
        </p:txBody>
      </p:sp>
      <p:sp>
        <p:nvSpPr>
          <p:cNvPr id="1340" name="Google Shape;1340;p101"/>
          <p:cNvSpPr txBox="1"/>
          <p:nvPr>
            <p:ph type="body" idx="1"/>
          </p:nvPr>
        </p:nvSpPr>
        <p:spPr>
          <a:xfrm>
            <a:off x="4952700" y="670500"/>
            <a:ext cx="3996000" cy="8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missing pieces of information for each question.</a:t>
            </a:r>
            <a:endParaRPr sz="1800" b="1"/>
          </a:p>
        </p:txBody>
      </p:sp>
      <p:graphicFrame>
        <p:nvGraphicFramePr>
          <p:cNvPr id="1341" name="Google Shape;1341;p101"/>
          <p:cNvGraphicFramePr>
            <a:graphicFrameLocks noGrp="1"/>
          </p:cNvGraphicFramePr>
          <p:nvPr/>
        </p:nvGraphicFramePr>
        <p:xfrm>
          <a:off x="4690850" y="141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1756175"/>
                <a:gridCol w="1012175"/>
                <a:gridCol w="1234700"/>
              </a:tblGrid>
              <a:tr h="327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(0,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6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 u="sng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3(4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r>
                        <a:rPr lang="en-GB" sz="1800" u="sng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endParaRPr sz="20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 u="sng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   </a:t>
                      </a:r>
                      <a:r>
                        <a:rPr lang="en-GB" sz="1800" u="sng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.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(0,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5(1 − 2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800" u="sng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u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342" name="Google Shape;1342;p101"/>
          <p:cNvCxnSpPr/>
          <p:nvPr/>
        </p:nvCxnSpPr>
        <p:spPr>
          <a:xfrm flipH="1">
            <a:off x="4607229" y="627100"/>
            <a:ext cx="0" cy="4234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43" name="Google Shape;1343;p10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967" y="2159992"/>
            <a:ext cx="143650" cy="4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7" name="Shape 1347"/>
        <p:cNvGrpSpPr/>
        <p:nvPr/>
      </p:nvGrpSpPr>
      <p:grpSpPr>
        <a:xfrm>
          <a:off x="0" y="0"/>
          <a:ext cx="0" cy="0"/>
        </a:xfrm>
      </p:grpSpPr>
      <p:sp>
        <p:nvSpPr>
          <p:cNvPr id="1348" name="Google Shape;1348;p102"/>
          <p:cNvSpPr txBox="1"/>
          <p:nvPr>
            <p:ph type="body" idx="1"/>
          </p:nvPr>
        </p:nvSpPr>
        <p:spPr>
          <a:xfrm>
            <a:off x="324000" y="759300"/>
            <a:ext cx="40032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Fill in the table with the gradient and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for each equation.</a:t>
            </a:r>
            <a:endParaRPr sz="1800"/>
          </a:p>
        </p:txBody>
      </p:sp>
      <p:sp>
        <p:nvSpPr>
          <p:cNvPr id="1349" name="Google Shape;1349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</a:t>
            </a:r>
            <a:r>
              <a:rPr lang="en-GB" i="1"/>
              <a:t>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/>
          </a:p>
        </p:txBody>
      </p:sp>
      <p:graphicFrame>
        <p:nvGraphicFramePr>
          <p:cNvPr id="1350" name="Google Shape;1350;p102"/>
          <p:cNvGraphicFramePr>
            <a:graphicFrameLocks noGrp="1"/>
          </p:cNvGraphicFramePr>
          <p:nvPr/>
        </p:nvGraphicFramePr>
        <p:xfrm>
          <a:off x="324000" y="174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1966775"/>
                <a:gridCol w="980175"/>
                <a:gridCol w="1217425"/>
              </a:tblGrid>
              <a:tr h="349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8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(0, 4)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7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(0, 1)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(0, 10)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(0, 0)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f)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(0, 0)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 =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6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h)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(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+ 3)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q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51" name="Google Shape;1351;p102"/>
          <p:cNvSpPr txBox="1"/>
          <p:nvPr>
            <p:ph type="body" idx="1"/>
          </p:nvPr>
        </p:nvSpPr>
        <p:spPr>
          <a:xfrm>
            <a:off x="324000" y="1416900"/>
            <a:ext cx="4305300" cy="4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Write the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as a coordinate.</a:t>
            </a:r>
            <a:r>
              <a:rPr lang="en-GB" sz="1800" b="1"/>
              <a:t> </a:t>
            </a:r>
            <a:endParaRPr sz="1800" b="1"/>
          </a:p>
        </p:txBody>
      </p:sp>
      <p:sp>
        <p:nvSpPr>
          <p:cNvPr id="1352" name="Google Shape;1352;p102"/>
          <p:cNvSpPr txBox="1"/>
          <p:nvPr>
            <p:ph type="body" idx="1"/>
          </p:nvPr>
        </p:nvSpPr>
        <p:spPr>
          <a:xfrm>
            <a:off x="4952700" y="670500"/>
            <a:ext cx="3996000" cy="8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Fill in the missing pieces of information for each question.</a:t>
            </a:r>
            <a:endParaRPr sz="1800" b="1"/>
          </a:p>
        </p:txBody>
      </p:sp>
      <p:graphicFrame>
        <p:nvGraphicFramePr>
          <p:cNvPr id="1353" name="Google Shape;1353;p102"/>
          <p:cNvGraphicFramePr>
            <a:graphicFrameLocks noGrp="1"/>
          </p:cNvGraphicFramePr>
          <p:nvPr/>
        </p:nvGraphicFramePr>
        <p:xfrm>
          <a:off x="4690850" y="141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{46364564-DE89-4002-8E1C-C6CD59841652}</a:tableStyleId>
              </a:tblPr>
              <a:tblGrid>
                <a:gridCol w="1756175"/>
                <a:gridCol w="1012175"/>
                <a:gridCol w="1234700"/>
              </a:tblGrid>
              <a:tr h="327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(0, 4)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  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6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,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 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3(4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20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10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5(1 − 2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 i="1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(0, 8)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g)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 i="1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u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)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354" name="Google Shape;1354;p102"/>
          <p:cNvCxnSpPr/>
          <p:nvPr/>
        </p:nvCxnSpPr>
        <p:spPr>
          <a:xfrm flipH="1">
            <a:off x="4572000" y="627100"/>
            <a:ext cx="0" cy="42345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55" name="Google Shape;1355;p10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967" y="2159992"/>
            <a:ext cx="143650" cy="4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10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0067" y="2159992"/>
            <a:ext cx="143650" cy="4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0" name="Shape 1360"/>
        <p:cNvGrpSpPr/>
        <p:nvPr/>
      </p:nvGrpSpPr>
      <p:grpSpPr>
        <a:xfrm>
          <a:off x="0" y="0"/>
          <a:ext cx="0" cy="0"/>
        </a:xfrm>
      </p:grpSpPr>
      <p:sp>
        <p:nvSpPr>
          <p:cNvPr id="1361" name="Google Shape;1361;p103"/>
          <p:cNvSpPr txBox="1"/>
          <p:nvPr>
            <p:ph type="body" idx="1"/>
          </p:nvPr>
        </p:nvSpPr>
        <p:spPr>
          <a:xfrm>
            <a:off x="324000" y="1126100"/>
            <a:ext cx="8496000" cy="36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/>
              <a:t>Equations of straight lines</a:t>
            </a:r>
            <a:r>
              <a:rPr lang="en-GB"/>
              <a:t> can be written in different forms.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Writing in the form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 </a:t>
            </a:r>
            <a:r>
              <a:rPr lang="en-GB"/>
              <a:t>allows us to see the gradient and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easily.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the general equation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c, </a:t>
            </a:r>
            <a:r>
              <a:rPr lang="en-GB"/>
              <a:t>the coefficient of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/>
              <a:t>) is the gradient and the constant (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/>
              <a:t>) is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-intercept.</a:t>
            </a:r>
            <a:endParaRPr/>
          </a:p>
        </p:txBody>
      </p:sp>
      <p:sp>
        <p:nvSpPr>
          <p:cNvPr id="1362" name="Google Shape;1362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equation of a straight line</a:t>
            </a:r>
            <a:endParaRPr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6" name="Shape 1366"/>
        <p:cNvGrpSpPr/>
        <p:nvPr/>
      </p:nvGrpSpPr>
      <p:grpSpPr>
        <a:xfrm>
          <a:off x="0" y="0"/>
          <a:ext cx="0" cy="0"/>
        </a:xfrm>
      </p:grpSpPr>
      <p:sp>
        <p:nvSpPr>
          <p:cNvPr id="1367" name="Google Shape;1367;p10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8" name="Google Shape;1368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302</Paragraphs>
  <Slides>41</Slides>
  <Notes>41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simple-light-2</vt:lpstr>
      <vt:lpstr>The equation of a straight line</vt:lpstr>
      <vt:lpstr>PowerPoint Presentation</vt:lpstr>
      <vt:lpstr>PowerPoint Presentation</vt:lpstr>
      <vt:lpstr>PowerPoint Presentation</vt:lpstr>
      <vt:lpstr>PowerPoint Presentation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Different forms of linear relationships</vt:lpstr>
      <vt:lpstr>PowerPoint Presentation</vt:lpstr>
      <vt:lpstr>PowerPoint Presentation</vt:lpstr>
      <vt:lpstr>PowerPoint Presentation</vt:lpstr>
      <vt:lpstr>PowerPoint Presentation</vt:lpstr>
      <vt:lpstr>Different forms of linear relationships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Gradient and y-intercept from y = mx + c</vt:lpstr>
      <vt:lpstr>PowerPoint Presentation</vt:lpstr>
      <vt:lpstr>PowerPoint Presentation</vt:lpstr>
      <vt:lpstr>The equation of a straight line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2024-01-08T16:51:04.948</cp:lastPrinted>
  <dcterms:created xsi:type="dcterms:W3CDTF">2024-01-08T16:51:04Z</dcterms:created>
  <dcterms:modified xsi:type="dcterms:W3CDTF">2024-01-08T16:51:18Z</dcterms:modified>
</cp:coreProperties>
</file>