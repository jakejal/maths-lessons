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9144000" cy="5143500"/>
  <p:notesSz cx="6858000" cy="9144000"/>
  <p:embeddedFontLst>
    <p:embeddedFont>
      <p:font typeface="Lexend" panose="00000000000000000000"/>
      <p:regular r:id="rId41"/>
    </p:embeddedFont>
    <p:embeddedFont>
      <p:font typeface="Lexend Medium" panose="00000000000000000000"/>
      <p:regular r:id="rId42"/>
    </p:embeddedFont>
    <p:embeddedFont>
      <p:font typeface="Kalam" panose="02000000000000000000"/>
      <p:regular r:id="rId43"/>
    </p:embeddedFont>
    <p:embeddedFont>
      <p:font typeface="Lexend Light" panose="00000000000000000000"/>
      <p:regular r:id="rId44"/>
    </p:embeddedFont>
  </p:embeddedFontLst>
  <p:custDataLst>
    <p:tags r:id="rId40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2E89832-788F-4B34-96C2-5DBB5AD0A4B4}">
  <a:tblStyle styleId="{12E89832-788F-4B34-96C2-5DBB5AD0A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tags" Target="tags/tag1.xml" /><Relationship Id="rId41" Type="http://schemas.openxmlformats.org/officeDocument/2006/relationships/font" Target="fonts/font1.fntdata" /><Relationship Id="rId42" Type="http://schemas.openxmlformats.org/officeDocument/2006/relationships/font" Target="fonts/font2.fntdata" /><Relationship Id="rId43" Type="http://schemas.openxmlformats.org/officeDocument/2006/relationships/font" Target="fonts/font3.fntdata" /><Relationship Id="rId44" Type="http://schemas.openxmlformats.org/officeDocument/2006/relationships/font" Target="fonts/font4.fntdata" /><Relationship Id="rId45" Type="http://schemas.openxmlformats.org/officeDocument/2006/relationships/presProps" Target="presProps.xml" /><Relationship Id="rId46" Type="http://schemas.openxmlformats.org/officeDocument/2006/relationships/viewProps" Target="viewProps.xml" /><Relationship Id="rId47" Type="http://schemas.openxmlformats.org/officeDocument/2006/relationships/theme" Target="theme/theme1.xml" /><Relationship Id="rId48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99fb0880d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99fb0880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2999fb0880d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99fb0880d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g2999fb0880d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99fb0880d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4" name="Shape 794"/>
        <p:cNvGrpSpPr/>
        <p:nvPr/>
      </p:nvGrpSpPr>
      <p:grpSpPr>
        <a:xfrm>
          <a:off x="0" y="0"/>
          <a:ext cx="0" cy="0"/>
        </a:xfrm>
      </p:grpSpPr>
      <p:sp>
        <p:nvSpPr>
          <p:cNvPr id="795" name="Google Shape;795;g2999fb0880d_0_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999fb0880d_0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0" name="Shape 840"/>
        <p:cNvGrpSpPr/>
        <p:nvPr/>
      </p:nvGrpSpPr>
      <p:grpSpPr>
        <a:xfrm>
          <a:off x="0" y="0"/>
          <a:ext cx="0" cy="0"/>
        </a:xfrm>
      </p:grpSpPr>
      <p:sp>
        <p:nvSpPr>
          <p:cNvPr id="841" name="Google Shape;841;g2999fb0880d_0_1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999fb0880d_0_1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3" name="Shape 873"/>
        <p:cNvGrpSpPr/>
        <p:nvPr/>
      </p:nvGrpSpPr>
      <p:grpSpPr>
        <a:xfrm>
          <a:off x="0" y="0"/>
          <a:ext cx="0" cy="0"/>
        </a:xfrm>
      </p:grpSpPr>
      <p:sp>
        <p:nvSpPr>
          <p:cNvPr id="874" name="Google Shape;874;g2999fb0880d_0_2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999fb0880d_0_2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6" name="Shape 906"/>
        <p:cNvGrpSpPr/>
        <p:nvPr/>
      </p:nvGrpSpPr>
      <p:grpSpPr>
        <a:xfrm>
          <a:off x="0" y="0"/>
          <a:ext cx="0" cy="0"/>
        </a:xfrm>
      </p:grpSpPr>
      <p:sp>
        <p:nvSpPr>
          <p:cNvPr id="907" name="Google Shape;907;g2999fb0880d_0_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999fb0880d_0_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8" name="Shape 948"/>
        <p:cNvGrpSpPr/>
        <p:nvPr/>
      </p:nvGrpSpPr>
      <p:grpSpPr>
        <a:xfrm>
          <a:off x="0" y="0"/>
          <a:ext cx="0" cy="0"/>
        </a:xfrm>
      </p:grpSpPr>
      <p:sp>
        <p:nvSpPr>
          <p:cNvPr id="949" name="Google Shape;949;g2999fb0880d_0_2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999fb0880d_0_2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4" name="Shape 974"/>
        <p:cNvGrpSpPr/>
        <p:nvPr/>
      </p:nvGrpSpPr>
      <p:grpSpPr>
        <a:xfrm>
          <a:off x="0" y="0"/>
          <a:ext cx="0" cy="0"/>
        </a:xfrm>
      </p:grpSpPr>
      <p:sp>
        <p:nvSpPr>
          <p:cNvPr id="975" name="Google Shape;975;g2999fb0880d_0_3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999fb0880d_0_3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5" name="Shape 995"/>
        <p:cNvGrpSpPr/>
        <p:nvPr/>
      </p:nvGrpSpPr>
      <p:grpSpPr>
        <a:xfrm>
          <a:off x="0" y="0"/>
          <a:ext cx="0" cy="0"/>
        </a:xfrm>
      </p:grpSpPr>
      <p:sp>
        <p:nvSpPr>
          <p:cNvPr id="996" name="Google Shape;996;g2999fb0880d_0_3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999fb0880d_0_3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1" name="Shape 1011"/>
        <p:cNvGrpSpPr/>
        <p:nvPr/>
      </p:nvGrpSpPr>
      <p:grpSpPr>
        <a:xfrm>
          <a:off x="0" y="0"/>
          <a:ext cx="0" cy="0"/>
        </a:xfrm>
      </p:grpSpPr>
      <p:sp>
        <p:nvSpPr>
          <p:cNvPr id="1012" name="Google Shape;1012;g2999fb0880d_0_4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999fb0880d_0_4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7" name="Shape 1027"/>
        <p:cNvGrpSpPr/>
        <p:nvPr/>
      </p:nvGrpSpPr>
      <p:grpSpPr>
        <a:xfrm>
          <a:off x="0" y="0"/>
          <a:ext cx="0" cy="0"/>
        </a:xfrm>
      </p:grpSpPr>
      <p:sp>
        <p:nvSpPr>
          <p:cNvPr id="1028" name="Google Shape;1028;g2999fb0880d_0_4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999fb0880d_0_4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5" name="Shape 1045"/>
        <p:cNvGrpSpPr/>
        <p:nvPr/>
      </p:nvGrpSpPr>
      <p:grpSpPr>
        <a:xfrm>
          <a:off x="0" y="0"/>
          <a:ext cx="0" cy="0"/>
        </a:xfrm>
      </p:grpSpPr>
      <p:sp>
        <p:nvSpPr>
          <p:cNvPr id="1046" name="Google Shape;1046;g2999fb0880d_0_4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2999fb0880d_0_4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2" name="Shape 1122"/>
        <p:cNvGrpSpPr/>
        <p:nvPr/>
      </p:nvGrpSpPr>
      <p:grpSpPr>
        <a:xfrm>
          <a:off x="0" y="0"/>
          <a:ext cx="0" cy="0"/>
        </a:xfrm>
      </p:grpSpPr>
      <p:sp>
        <p:nvSpPr>
          <p:cNvPr id="1123" name="Google Shape;1123;g2999fb0880d_0_5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999fb0880d_0_5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5" name="Shape 1185"/>
        <p:cNvGrpSpPr/>
        <p:nvPr/>
      </p:nvGrpSpPr>
      <p:grpSpPr>
        <a:xfrm>
          <a:off x="0" y="0"/>
          <a:ext cx="0" cy="0"/>
        </a:xfrm>
      </p:grpSpPr>
      <p:sp>
        <p:nvSpPr>
          <p:cNvPr id="1186" name="Google Shape;1186;g2999fb0880d_0_7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999fb0880d_0_7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8" name="Shape 1238"/>
        <p:cNvGrpSpPr/>
        <p:nvPr/>
      </p:nvGrpSpPr>
      <p:grpSpPr>
        <a:xfrm>
          <a:off x="0" y="0"/>
          <a:ext cx="0" cy="0"/>
        </a:xfrm>
      </p:grpSpPr>
      <p:sp>
        <p:nvSpPr>
          <p:cNvPr id="1239" name="Google Shape;1239;g2999fb0880d_0_8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999fb0880d_0_8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7" name="Shape 1277"/>
        <p:cNvGrpSpPr/>
        <p:nvPr/>
      </p:nvGrpSpPr>
      <p:grpSpPr>
        <a:xfrm>
          <a:off x="0" y="0"/>
          <a:ext cx="0" cy="0"/>
        </a:xfrm>
      </p:grpSpPr>
      <p:sp>
        <p:nvSpPr>
          <p:cNvPr id="1278" name="Google Shape;1278;g2999fb0880d_0_7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999fb0880d_0_7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98" name="Shape 1298"/>
        <p:cNvGrpSpPr/>
        <p:nvPr/>
      </p:nvGrpSpPr>
      <p:grpSpPr>
        <a:xfrm>
          <a:off x="0" y="0"/>
          <a:ext cx="0" cy="0"/>
        </a:xfrm>
      </p:grpSpPr>
      <p:sp>
        <p:nvSpPr>
          <p:cNvPr id="1299" name="Google Shape;1299;g2999fb0880d_0_9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2999fb0880d_0_9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2" name="Shape 1312"/>
        <p:cNvGrpSpPr/>
        <p:nvPr/>
      </p:nvGrpSpPr>
      <p:grpSpPr>
        <a:xfrm>
          <a:off x="0" y="0"/>
          <a:ext cx="0" cy="0"/>
        </a:xfrm>
      </p:grpSpPr>
      <p:sp>
        <p:nvSpPr>
          <p:cNvPr id="1313" name="Google Shape;1313;g2999fb0880d_0_1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999fb0880d_0_1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2" name="Shape 1322"/>
        <p:cNvGrpSpPr/>
        <p:nvPr/>
      </p:nvGrpSpPr>
      <p:grpSpPr>
        <a:xfrm>
          <a:off x="0" y="0"/>
          <a:ext cx="0" cy="0"/>
        </a:xfrm>
      </p:grpSpPr>
      <p:sp>
        <p:nvSpPr>
          <p:cNvPr id="1323" name="Google Shape;1323;g2999fb0880d_0_9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999fb0880d_0_9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5" name="Shape 1345"/>
        <p:cNvGrpSpPr/>
        <p:nvPr/>
      </p:nvGrpSpPr>
      <p:grpSpPr>
        <a:xfrm>
          <a:off x="0" y="0"/>
          <a:ext cx="0" cy="0"/>
        </a:xfrm>
      </p:grpSpPr>
      <p:sp>
        <p:nvSpPr>
          <p:cNvPr id="1346" name="Google Shape;1346;g2999fb0880d_0_9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2999fb0880d_0_9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5" name="Shape 1385"/>
        <p:cNvGrpSpPr/>
        <p:nvPr/>
      </p:nvGrpSpPr>
      <p:grpSpPr>
        <a:xfrm>
          <a:off x="0" y="0"/>
          <a:ext cx="0" cy="0"/>
        </a:xfrm>
      </p:grpSpPr>
      <p:sp>
        <p:nvSpPr>
          <p:cNvPr id="1386" name="Google Shape;1386;g2999fb0880d_0_10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2999fb0880d_0_10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6" name="Shape 1416"/>
        <p:cNvGrpSpPr/>
        <p:nvPr/>
      </p:nvGrpSpPr>
      <p:grpSpPr>
        <a:xfrm>
          <a:off x="0" y="0"/>
          <a:ext cx="0" cy="0"/>
        </a:xfrm>
      </p:grpSpPr>
      <p:sp>
        <p:nvSpPr>
          <p:cNvPr id="1417" name="Google Shape;1417;g2999fb0880d_0_11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2999fb0880d_0_11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0" name="Shape 1470"/>
        <p:cNvGrpSpPr/>
        <p:nvPr/>
      </p:nvGrpSpPr>
      <p:grpSpPr>
        <a:xfrm>
          <a:off x="0" y="0"/>
          <a:ext cx="0" cy="0"/>
        </a:xfrm>
      </p:grpSpPr>
      <p:sp>
        <p:nvSpPr>
          <p:cNvPr id="1471" name="Google Shape;1471;g2999fb0880d_0_12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2999fb0880d_0_12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8" name="Shape 1478"/>
        <p:cNvGrpSpPr/>
        <p:nvPr/>
      </p:nvGrpSpPr>
      <p:grpSpPr>
        <a:xfrm>
          <a:off x="0" y="0"/>
          <a:ext cx="0" cy="0"/>
        </a:xfrm>
      </p:grpSpPr>
      <p:sp>
        <p:nvSpPr>
          <p:cNvPr id="1479" name="Google Shape;1479;g2999fb0880d_0_12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999fb0880d_0_12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5" name="Shape 1495"/>
        <p:cNvGrpSpPr/>
        <p:nvPr/>
      </p:nvGrpSpPr>
      <p:grpSpPr>
        <a:xfrm>
          <a:off x="0" y="0"/>
          <a:ext cx="0" cy="0"/>
        </a:xfrm>
      </p:grpSpPr>
      <p:sp>
        <p:nvSpPr>
          <p:cNvPr id="1496" name="Google Shape;1496;g2999fb0880d_0_12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999fb0880d_0_12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5" name="Shape 1515"/>
        <p:cNvGrpSpPr/>
        <p:nvPr/>
      </p:nvGrpSpPr>
      <p:grpSpPr>
        <a:xfrm>
          <a:off x="0" y="0"/>
          <a:ext cx="0" cy="0"/>
        </a:xfrm>
      </p:grpSpPr>
      <p:sp>
        <p:nvSpPr>
          <p:cNvPr id="1516" name="Google Shape;1516;g2999fb0880d_0_13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999fb0880d_0_13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7" name="Shape 1537"/>
        <p:cNvGrpSpPr/>
        <p:nvPr/>
      </p:nvGrpSpPr>
      <p:grpSpPr>
        <a:xfrm>
          <a:off x="0" y="0"/>
          <a:ext cx="0" cy="0"/>
        </a:xfrm>
      </p:grpSpPr>
      <p:sp>
        <p:nvSpPr>
          <p:cNvPr id="1538" name="Google Shape;1538;g2999fb0880d_0_13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2999fb0880d_0_13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8" name="Shape 1558"/>
        <p:cNvGrpSpPr/>
        <p:nvPr/>
      </p:nvGrpSpPr>
      <p:grpSpPr>
        <a:xfrm>
          <a:off x="0" y="0"/>
          <a:ext cx="0" cy="0"/>
        </a:xfrm>
      </p:grpSpPr>
      <p:sp>
        <p:nvSpPr>
          <p:cNvPr id="1559" name="Google Shape;1559;g2999fb0880d_0_13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999fb0880d_0_1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3" name="Shape 1573"/>
        <p:cNvGrpSpPr/>
        <p:nvPr/>
      </p:nvGrpSpPr>
      <p:grpSpPr>
        <a:xfrm>
          <a:off x="0" y="0"/>
          <a:ext cx="0" cy="0"/>
        </a:xfrm>
      </p:grpSpPr>
      <p:sp>
        <p:nvSpPr>
          <p:cNvPr id="1574" name="Google Shape;1574;g2999fb0880d_0_13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999fb0880d_0_13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3" name="Shape 1593"/>
        <p:cNvGrpSpPr/>
        <p:nvPr/>
      </p:nvGrpSpPr>
      <p:grpSpPr>
        <a:xfrm>
          <a:off x="0" y="0"/>
          <a:ext cx="0" cy="0"/>
        </a:xfrm>
      </p:grpSpPr>
      <p:sp>
        <p:nvSpPr>
          <p:cNvPr id="1594" name="Google Shape;1594;g2999fb0880d_0_14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999fb0880d_0_14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0" name="Shape 1620"/>
        <p:cNvGrpSpPr/>
        <p:nvPr/>
      </p:nvGrpSpPr>
      <p:grpSpPr>
        <a:xfrm>
          <a:off x="0" y="0"/>
          <a:ext cx="0" cy="0"/>
        </a:xfrm>
      </p:grpSpPr>
      <p:sp>
        <p:nvSpPr>
          <p:cNvPr id="1621" name="Google Shape;1621;g2999fb0880d_0_14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999fb0880d_0_14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8" name="Shape 1648"/>
        <p:cNvGrpSpPr/>
        <p:nvPr/>
      </p:nvGrpSpPr>
      <p:grpSpPr>
        <a:xfrm>
          <a:off x="0" y="0"/>
          <a:ext cx="0" cy="0"/>
        </a:xfrm>
      </p:grpSpPr>
      <p:sp>
        <p:nvSpPr>
          <p:cNvPr id="1649" name="Google Shape;1649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4" name="Shape 1654"/>
        <p:cNvGrpSpPr/>
        <p:nvPr/>
      </p:nvGrpSpPr>
      <p:grpSpPr>
        <a:xfrm>
          <a:off x="0" y="0"/>
          <a:ext cx="0" cy="0"/>
        </a:xfrm>
      </p:grpSpPr>
      <p:sp>
        <p:nvSpPr>
          <p:cNvPr id="1655" name="Google Shape;165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Relationship Id="rId5" Type="http://schemas.openxmlformats.org/officeDocument/2006/relationships/image" Target="../media/image50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1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2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3.png" /><Relationship Id="rId4" Type="http://schemas.openxmlformats.org/officeDocument/2006/relationships/image" Target="../media/image54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5.png" /><Relationship Id="rId4" Type="http://schemas.openxmlformats.org/officeDocument/2006/relationships/image" Target="../media/image54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5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6.png" /><Relationship Id="rId4" Type="http://schemas.openxmlformats.org/officeDocument/2006/relationships/image" Target="../media/image57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8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9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0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8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9.png" /><Relationship Id="rId4" Type="http://schemas.openxmlformats.org/officeDocument/2006/relationships/image" Target="../media/image61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59.png" /><Relationship Id="rId4" Type="http://schemas.openxmlformats.org/officeDocument/2006/relationships/image" Target="../media/image62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0.png" /><Relationship Id="rId4" Type="http://schemas.openxmlformats.org/officeDocument/2006/relationships/image" Target="../media/image63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43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4.png" /><Relationship Id="rId4" Type="http://schemas.openxmlformats.org/officeDocument/2006/relationships/image" Target="../media/image65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6.png" /><Relationship Id="rId4" Type="http://schemas.openxmlformats.org/officeDocument/2006/relationships/image" Target="../media/image67.png" /><Relationship Id="rId5" Type="http://schemas.openxmlformats.org/officeDocument/2006/relationships/image" Target="../media/image68.png" /><Relationship Id="rId6" Type="http://schemas.openxmlformats.org/officeDocument/2006/relationships/image" Target="../media/image69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6.png" /><Relationship Id="rId4" Type="http://schemas.openxmlformats.org/officeDocument/2006/relationships/image" Target="../media/image67.png" /><Relationship Id="rId5" Type="http://schemas.openxmlformats.org/officeDocument/2006/relationships/image" Target="../media/image68.png" /><Relationship Id="rId6" Type="http://schemas.openxmlformats.org/officeDocument/2006/relationships/image" Target="../media/image69.png" /><Relationship Id="rId7" Type="http://schemas.openxmlformats.org/officeDocument/2006/relationships/image" Target="../media/image70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66.png" /><Relationship Id="rId4" Type="http://schemas.openxmlformats.org/officeDocument/2006/relationships/image" Target="../media/image67.png" /><Relationship Id="rId5" Type="http://schemas.openxmlformats.org/officeDocument/2006/relationships/image" Target="../media/image68.png" /><Relationship Id="rId6" Type="http://schemas.openxmlformats.org/officeDocument/2006/relationships/image" Target="../media/image69.png" /><Relationship Id="rId7" Type="http://schemas.openxmlformats.org/officeDocument/2006/relationships/image" Target="../media/image71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51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8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51.png" /><Relationship Id="rId4" Type="http://schemas.openxmlformats.org/officeDocument/2006/relationships/image" Target="../media/image72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73.png" /><Relationship Id="rId4" Type="http://schemas.openxmlformats.org/officeDocument/2006/relationships/image" Target="../media/image74.png" /><Relationship Id="rId5" Type="http://schemas.openxmlformats.org/officeDocument/2006/relationships/image" Target="../media/image75.png" /><Relationship Id="rId6" Type="http://schemas.openxmlformats.org/officeDocument/2006/relationships/image" Target="../media/image76.png" /><Relationship Id="rId7" Type="http://schemas.openxmlformats.org/officeDocument/2006/relationships/image" Target="../media/image77.png" /><Relationship Id="rId8" Type="http://schemas.openxmlformats.org/officeDocument/2006/relationships/image" Target="../media/image78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73.png" /><Relationship Id="rId4" Type="http://schemas.openxmlformats.org/officeDocument/2006/relationships/image" Target="../media/image74.png" /><Relationship Id="rId5" Type="http://schemas.openxmlformats.org/officeDocument/2006/relationships/image" Target="../media/image75.png" /><Relationship Id="rId6" Type="http://schemas.openxmlformats.org/officeDocument/2006/relationships/image" Target="../media/image76.png" /><Relationship Id="rId7" Type="http://schemas.openxmlformats.org/officeDocument/2006/relationships/image" Target="../media/image77.png" /><Relationship Id="rId8" Type="http://schemas.openxmlformats.org/officeDocument/2006/relationships/image" Target="../media/image78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7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linear relationships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recognise that linear relationships have particular algebraic and graphical features as a result of the constant rate of change.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relationship between two variables is </a:t>
            </a:r>
            <a:r>
              <a:rPr lang="en-GB" b="1">
                <a:solidFill>
                  <a:schemeClr val="dk1"/>
                </a:solidFill>
              </a:rPr>
              <a:t>linear </a:t>
            </a:r>
            <a:r>
              <a:rPr lang="en-GB">
                <a:solidFill>
                  <a:schemeClr val="dk1"/>
                </a:solidFill>
              </a:rPr>
              <a:t>if, when plotted on a pair of axes, a straight line is formed.  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772" name="Google Shape;772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and algebraic representations</a:t>
            </a:r>
            <a:endParaRPr/>
          </a:p>
        </p:txBody>
      </p:sp>
      <p:sp>
        <p:nvSpPr>
          <p:cNvPr id="773" name="Google Shape;773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a linear relationship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05110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graphicFrame>
        <p:nvGraphicFramePr>
          <p:cNvPr id="779" name="Google Shape;779;p69"/>
          <p:cNvGraphicFramePr>
            <a:graphicFrameLocks noGrp="1"/>
          </p:cNvGraphicFramePr>
          <p:nvPr/>
        </p:nvGraphicFramePr>
        <p:xfrm>
          <a:off x="4824000" y="307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5113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780" name="Google Shape;780;p69"/>
          <p:cNvGraphicFramePr>
            <a:graphicFrameLocks noGrp="1"/>
          </p:cNvGraphicFramePr>
          <p:nvPr/>
        </p:nvGraphicFramePr>
        <p:xfrm>
          <a:off x="327642" y="307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781" name="Google Shape;781;p69"/>
          <p:cNvGraphicFramePr>
            <a:graphicFrameLocks noGrp="1"/>
          </p:cNvGraphicFramePr>
          <p:nvPr/>
        </p:nvGraphicFramePr>
        <p:xfrm>
          <a:off x="4824000" y="147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782" name="Google Shape;782;p69"/>
          <p:cNvGraphicFramePr>
            <a:graphicFrameLocks noGrp="1"/>
          </p:cNvGraphicFramePr>
          <p:nvPr/>
        </p:nvGraphicFramePr>
        <p:xfrm>
          <a:off x="327650" y="147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784" name="Google Shape;784;p69"/>
          <p:cNvSpPr txBox="1"/>
          <p:nvPr>
            <p:ph type="body" idx="1"/>
          </p:nvPr>
        </p:nvSpPr>
        <p:spPr>
          <a:xfrm>
            <a:off x="324000" y="759300"/>
            <a:ext cx="69105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first five terms of these sequences.</a:t>
            </a:r>
            <a:endParaRPr/>
          </a:p>
        </p:txBody>
      </p:sp>
      <p:sp>
        <p:nvSpPr>
          <p:cNvPr id="785" name="Google Shape;785;p69"/>
          <p:cNvSpPr txBox="1"/>
          <p:nvPr/>
        </p:nvSpPr>
        <p:spPr>
          <a:xfrm>
            <a:off x="324600" y="1123528"/>
            <a:ext cx="609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86" name="Google Shape;786;p69"/>
          <p:cNvGraphicFramePr>
            <a:graphicFrameLocks noGrp="1"/>
          </p:cNvGraphicFramePr>
          <p:nvPr/>
        </p:nvGraphicFramePr>
        <p:xfrm>
          <a:off x="327642" y="1475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87" name="Google Shape;787;p69"/>
          <p:cNvSpPr txBox="1"/>
          <p:nvPr/>
        </p:nvSpPr>
        <p:spPr>
          <a:xfrm>
            <a:off x="4822827" y="1125429"/>
            <a:ext cx="989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88" name="Google Shape;788;p69"/>
          <p:cNvGraphicFramePr>
            <a:graphicFrameLocks noGrp="1"/>
          </p:cNvGraphicFramePr>
          <p:nvPr/>
        </p:nvGraphicFramePr>
        <p:xfrm>
          <a:off x="4823442" y="1475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89" name="Google Shape;789;p69"/>
          <p:cNvSpPr txBox="1"/>
          <p:nvPr/>
        </p:nvSpPr>
        <p:spPr>
          <a:xfrm>
            <a:off x="324600" y="2723728"/>
            <a:ext cx="609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90" name="Google Shape;790;p69"/>
          <p:cNvGraphicFramePr>
            <a:graphicFrameLocks noGrp="1"/>
          </p:cNvGraphicFramePr>
          <p:nvPr/>
        </p:nvGraphicFramePr>
        <p:xfrm>
          <a:off x="327642" y="3075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91" name="Google Shape;791;p69"/>
          <p:cNvSpPr txBox="1"/>
          <p:nvPr/>
        </p:nvSpPr>
        <p:spPr>
          <a:xfrm>
            <a:off x="4822827" y="2725629"/>
            <a:ext cx="989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92" name="Google Shape;792;p69"/>
          <p:cNvGraphicFramePr>
            <a:graphicFrameLocks noGrp="1"/>
          </p:cNvGraphicFramePr>
          <p:nvPr/>
        </p:nvGraphicFramePr>
        <p:xfrm>
          <a:off x="4823442" y="3075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5113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93" name="Google Shape;793;p69"/>
          <p:cNvSpPr txBox="1"/>
          <p:nvPr>
            <p:ph type="body" idx="1"/>
          </p:nvPr>
        </p:nvSpPr>
        <p:spPr>
          <a:xfrm>
            <a:off x="324000" y="4230809"/>
            <a:ext cx="82806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common feature do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and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2000"/>
              <a:t> share that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 and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/>
              <a:t> do not?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7" name="Shape 797"/>
        <p:cNvGrpSpPr/>
        <p:nvPr/>
      </p:nvGrpSpPr>
      <p:grpSpPr>
        <a:xfrm>
          <a:off x="0" y="0"/>
          <a:ext cx="0" cy="0"/>
        </a:xfrm>
      </p:grpSpPr>
      <p:sp>
        <p:nvSpPr>
          <p:cNvPr id="798" name="Google Shape;79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799" name="Google Shape;799;p70"/>
          <p:cNvSpPr txBox="1"/>
          <p:nvPr/>
        </p:nvSpPr>
        <p:spPr>
          <a:xfrm>
            <a:off x="324600" y="1123528"/>
            <a:ext cx="609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00" name="Google Shape;800;p70"/>
          <p:cNvGraphicFramePr>
            <a:graphicFrameLocks noGrp="1"/>
          </p:cNvGraphicFramePr>
          <p:nvPr/>
        </p:nvGraphicFramePr>
        <p:xfrm>
          <a:off x="327642" y="1475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01" name="Google Shape;801;p70"/>
          <p:cNvSpPr txBox="1"/>
          <p:nvPr/>
        </p:nvSpPr>
        <p:spPr>
          <a:xfrm>
            <a:off x="4822827" y="1125429"/>
            <a:ext cx="989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02" name="Google Shape;802;p70"/>
          <p:cNvGraphicFramePr>
            <a:graphicFrameLocks noGrp="1"/>
          </p:cNvGraphicFramePr>
          <p:nvPr/>
        </p:nvGraphicFramePr>
        <p:xfrm>
          <a:off x="4823442" y="1475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03" name="Google Shape;803;p70"/>
          <p:cNvSpPr txBox="1"/>
          <p:nvPr/>
        </p:nvSpPr>
        <p:spPr>
          <a:xfrm>
            <a:off x="324600" y="2723728"/>
            <a:ext cx="609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04" name="Google Shape;804;p70"/>
          <p:cNvGraphicFramePr>
            <a:graphicFrameLocks noGrp="1"/>
          </p:cNvGraphicFramePr>
          <p:nvPr/>
        </p:nvGraphicFramePr>
        <p:xfrm>
          <a:off x="327642" y="3075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05" name="Google Shape;805;p70"/>
          <p:cNvSpPr txBox="1"/>
          <p:nvPr/>
        </p:nvSpPr>
        <p:spPr>
          <a:xfrm>
            <a:off x="4822827" y="2725629"/>
            <a:ext cx="989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06" name="Google Shape;806;p70"/>
          <p:cNvGraphicFramePr>
            <a:graphicFrameLocks noGrp="1"/>
          </p:cNvGraphicFramePr>
          <p:nvPr/>
        </p:nvGraphicFramePr>
        <p:xfrm>
          <a:off x="4823442" y="3075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5113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07" name="Google Shape;807;p70"/>
          <p:cNvSpPr/>
          <p:nvPr/>
        </p:nvSpPr>
        <p:spPr>
          <a:xfrm rot="10800000" flipH="1">
            <a:off x="243525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08" name="Google Shape;808;p70"/>
          <p:cNvSpPr/>
          <p:nvPr/>
        </p:nvSpPr>
        <p:spPr>
          <a:xfrm rot="10800000" flipH="1">
            <a:off x="283167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09" name="Google Shape;809;p70"/>
          <p:cNvSpPr/>
          <p:nvPr/>
        </p:nvSpPr>
        <p:spPr>
          <a:xfrm rot="10800000" flipH="1">
            <a:off x="323411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0" name="Google Shape;810;p70"/>
          <p:cNvSpPr/>
          <p:nvPr/>
        </p:nvSpPr>
        <p:spPr>
          <a:xfrm rot="10800000" flipH="1">
            <a:off x="3636549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1" name="Google Shape;811;p70"/>
          <p:cNvSpPr/>
          <p:nvPr/>
        </p:nvSpPr>
        <p:spPr>
          <a:xfrm rot="10800000" flipH="1">
            <a:off x="2435250" y="3644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2" name="Google Shape;812;p70"/>
          <p:cNvSpPr/>
          <p:nvPr/>
        </p:nvSpPr>
        <p:spPr>
          <a:xfrm rot="10800000" flipH="1">
            <a:off x="2831670" y="3644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3" name="Google Shape;813;p70"/>
          <p:cNvSpPr/>
          <p:nvPr/>
        </p:nvSpPr>
        <p:spPr>
          <a:xfrm rot="10800000" flipH="1">
            <a:off x="3234110" y="3644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4" name="Google Shape;814;p70"/>
          <p:cNvSpPr/>
          <p:nvPr/>
        </p:nvSpPr>
        <p:spPr>
          <a:xfrm rot="10800000" flipH="1">
            <a:off x="3636549" y="3644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5" name="Google Shape;815;p70"/>
          <p:cNvSpPr/>
          <p:nvPr/>
        </p:nvSpPr>
        <p:spPr>
          <a:xfrm rot="10800000" flipH="1">
            <a:off x="6931050" y="3644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6" name="Google Shape;816;p70"/>
          <p:cNvSpPr/>
          <p:nvPr/>
        </p:nvSpPr>
        <p:spPr>
          <a:xfrm rot="10800000" flipH="1">
            <a:off x="7327470" y="3644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7" name="Google Shape;817;p70"/>
          <p:cNvSpPr/>
          <p:nvPr/>
        </p:nvSpPr>
        <p:spPr>
          <a:xfrm rot="10800000" flipH="1">
            <a:off x="7729910" y="3644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8" name="Google Shape;818;p70"/>
          <p:cNvSpPr/>
          <p:nvPr/>
        </p:nvSpPr>
        <p:spPr>
          <a:xfrm rot="10800000" flipH="1">
            <a:off x="8132349" y="3644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9" name="Google Shape;819;p70"/>
          <p:cNvSpPr/>
          <p:nvPr/>
        </p:nvSpPr>
        <p:spPr>
          <a:xfrm rot="10800000" flipH="1">
            <a:off x="693105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20" name="Google Shape;820;p70"/>
          <p:cNvSpPr/>
          <p:nvPr/>
        </p:nvSpPr>
        <p:spPr>
          <a:xfrm rot="10800000" flipH="1">
            <a:off x="732747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21" name="Google Shape;821;p70"/>
          <p:cNvSpPr/>
          <p:nvPr/>
        </p:nvSpPr>
        <p:spPr>
          <a:xfrm rot="10800000" flipH="1">
            <a:off x="772991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22" name="Google Shape;822;p70"/>
          <p:cNvSpPr/>
          <p:nvPr/>
        </p:nvSpPr>
        <p:spPr>
          <a:xfrm rot="10800000" flipH="1">
            <a:off x="8132349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23" name="Google Shape;823;p70"/>
          <p:cNvSpPr txBox="1"/>
          <p:nvPr/>
        </p:nvSpPr>
        <p:spPr>
          <a:xfrm>
            <a:off x="2458200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p70"/>
          <p:cNvSpPr txBox="1"/>
          <p:nvPr/>
        </p:nvSpPr>
        <p:spPr>
          <a:xfrm>
            <a:off x="2870479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70"/>
          <p:cNvSpPr txBox="1"/>
          <p:nvPr/>
        </p:nvSpPr>
        <p:spPr>
          <a:xfrm>
            <a:off x="3296400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70"/>
          <p:cNvSpPr txBox="1"/>
          <p:nvPr/>
        </p:nvSpPr>
        <p:spPr>
          <a:xfrm>
            <a:off x="3708679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70"/>
          <p:cNvSpPr txBox="1"/>
          <p:nvPr/>
        </p:nvSpPr>
        <p:spPr>
          <a:xfrm>
            <a:off x="6954000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70"/>
          <p:cNvSpPr txBox="1"/>
          <p:nvPr/>
        </p:nvSpPr>
        <p:spPr>
          <a:xfrm>
            <a:off x="7366279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9" name="Google Shape;829;p70"/>
          <p:cNvSpPr txBox="1"/>
          <p:nvPr/>
        </p:nvSpPr>
        <p:spPr>
          <a:xfrm>
            <a:off x="7792200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8204479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1" name="Google Shape;831;p70"/>
          <p:cNvSpPr txBox="1"/>
          <p:nvPr/>
        </p:nvSpPr>
        <p:spPr>
          <a:xfrm>
            <a:off x="2458200" y="41715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2" name="Google Shape;832;p70"/>
          <p:cNvSpPr txBox="1"/>
          <p:nvPr/>
        </p:nvSpPr>
        <p:spPr>
          <a:xfrm>
            <a:off x="2870479" y="41715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3" name="Google Shape;833;p70"/>
          <p:cNvSpPr txBox="1"/>
          <p:nvPr/>
        </p:nvSpPr>
        <p:spPr>
          <a:xfrm>
            <a:off x="3296400" y="41715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4" name="Google Shape;834;p70"/>
          <p:cNvSpPr txBox="1"/>
          <p:nvPr/>
        </p:nvSpPr>
        <p:spPr>
          <a:xfrm>
            <a:off x="3708679" y="41715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+9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5" name="Google Shape;835;p70"/>
          <p:cNvSpPr txBox="1"/>
          <p:nvPr/>
        </p:nvSpPr>
        <p:spPr>
          <a:xfrm>
            <a:off x="6900261" y="41715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6" name="Google Shape;836;p70"/>
          <p:cNvSpPr txBox="1"/>
          <p:nvPr/>
        </p:nvSpPr>
        <p:spPr>
          <a:xfrm>
            <a:off x="7202644" y="4171525"/>
            <a:ext cx="426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+19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70"/>
          <p:cNvSpPr txBox="1"/>
          <p:nvPr/>
        </p:nvSpPr>
        <p:spPr>
          <a:xfrm>
            <a:off x="7665000" y="4171525"/>
            <a:ext cx="426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+37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8" name="Google Shape;838;p70"/>
          <p:cNvSpPr txBox="1"/>
          <p:nvPr/>
        </p:nvSpPr>
        <p:spPr>
          <a:xfrm>
            <a:off x="8128274" y="4171525"/>
            <a:ext cx="498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+61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70"/>
          <p:cNvSpPr txBox="1"/>
          <p:nvPr>
            <p:ph type="body" idx="1"/>
          </p:nvPr>
        </p:nvSpPr>
        <p:spPr>
          <a:xfrm>
            <a:off x="324000" y="801800"/>
            <a:ext cx="84960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and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1800"/>
              <a:t> are arithmetic (</a:t>
            </a:r>
            <a:r>
              <a:rPr lang="en-GB" sz="1800" b="1"/>
              <a:t>linear</a:t>
            </a:r>
            <a:r>
              <a:rPr lang="en-GB" sz="1800"/>
              <a:t>). A constant difference between terms.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3" name="Shape 843"/>
        <p:cNvGrpSpPr/>
        <p:nvPr/>
      </p:nvGrpSpPr>
      <p:grpSpPr>
        <a:xfrm>
          <a:off x="0" y="0"/>
          <a:ext cx="0" cy="0"/>
        </a:xfrm>
      </p:grpSpPr>
      <p:sp>
        <p:nvSpPr>
          <p:cNvPr id="844" name="Google Shape;84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845" name="Google Shape;845;p71"/>
          <p:cNvSpPr txBox="1"/>
          <p:nvPr/>
        </p:nvSpPr>
        <p:spPr>
          <a:xfrm>
            <a:off x="324600" y="1123528"/>
            <a:ext cx="609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46" name="Google Shape;846;p71"/>
          <p:cNvGraphicFramePr>
            <a:graphicFrameLocks noGrp="1"/>
          </p:cNvGraphicFramePr>
          <p:nvPr/>
        </p:nvGraphicFramePr>
        <p:xfrm>
          <a:off x="327642" y="1475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47" name="Google Shape;847;p71"/>
          <p:cNvSpPr txBox="1"/>
          <p:nvPr/>
        </p:nvSpPr>
        <p:spPr>
          <a:xfrm>
            <a:off x="4822827" y="1125429"/>
            <a:ext cx="989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48" name="Google Shape;848;p71"/>
          <p:cNvGraphicFramePr>
            <a:graphicFrameLocks noGrp="1"/>
          </p:cNvGraphicFramePr>
          <p:nvPr/>
        </p:nvGraphicFramePr>
        <p:xfrm>
          <a:off x="4823442" y="1475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49" name="Google Shape;849;p71"/>
          <p:cNvSpPr/>
          <p:nvPr/>
        </p:nvSpPr>
        <p:spPr>
          <a:xfrm rot="10800000" flipH="1">
            <a:off x="243525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0" name="Google Shape;850;p71"/>
          <p:cNvSpPr/>
          <p:nvPr/>
        </p:nvSpPr>
        <p:spPr>
          <a:xfrm rot="10800000" flipH="1">
            <a:off x="283167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1" name="Google Shape;851;p71"/>
          <p:cNvSpPr/>
          <p:nvPr/>
        </p:nvSpPr>
        <p:spPr>
          <a:xfrm rot="10800000" flipH="1">
            <a:off x="323411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2" name="Google Shape;852;p71"/>
          <p:cNvSpPr/>
          <p:nvPr/>
        </p:nvSpPr>
        <p:spPr>
          <a:xfrm rot="10800000" flipH="1">
            <a:off x="3636549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3" name="Google Shape;853;p71"/>
          <p:cNvSpPr/>
          <p:nvPr/>
        </p:nvSpPr>
        <p:spPr>
          <a:xfrm rot="10800000" flipH="1">
            <a:off x="693105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4" name="Google Shape;854;p71"/>
          <p:cNvSpPr/>
          <p:nvPr/>
        </p:nvSpPr>
        <p:spPr>
          <a:xfrm rot="10800000" flipH="1">
            <a:off x="732747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5" name="Google Shape;855;p71"/>
          <p:cNvSpPr/>
          <p:nvPr/>
        </p:nvSpPr>
        <p:spPr>
          <a:xfrm rot="10800000" flipH="1">
            <a:off x="7729910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6" name="Google Shape;856;p71"/>
          <p:cNvSpPr/>
          <p:nvPr/>
        </p:nvSpPr>
        <p:spPr>
          <a:xfrm rot="10800000" flipH="1">
            <a:off x="8132349" y="20439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7" name="Google Shape;857;p71"/>
          <p:cNvSpPr txBox="1"/>
          <p:nvPr/>
        </p:nvSpPr>
        <p:spPr>
          <a:xfrm>
            <a:off x="2458200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8" name="Google Shape;858;p71"/>
          <p:cNvSpPr txBox="1"/>
          <p:nvPr/>
        </p:nvSpPr>
        <p:spPr>
          <a:xfrm>
            <a:off x="2870479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9" name="Google Shape;859;p71"/>
          <p:cNvSpPr txBox="1"/>
          <p:nvPr/>
        </p:nvSpPr>
        <p:spPr>
          <a:xfrm>
            <a:off x="3296400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0" name="Google Shape;860;p71"/>
          <p:cNvSpPr txBox="1"/>
          <p:nvPr/>
        </p:nvSpPr>
        <p:spPr>
          <a:xfrm>
            <a:off x="3708679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1" name="Google Shape;861;p71"/>
          <p:cNvSpPr txBox="1"/>
          <p:nvPr/>
        </p:nvSpPr>
        <p:spPr>
          <a:xfrm>
            <a:off x="6954000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2" name="Google Shape;862;p71"/>
          <p:cNvSpPr txBox="1"/>
          <p:nvPr/>
        </p:nvSpPr>
        <p:spPr>
          <a:xfrm>
            <a:off x="7366279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3" name="Google Shape;863;p71"/>
          <p:cNvSpPr txBox="1"/>
          <p:nvPr/>
        </p:nvSpPr>
        <p:spPr>
          <a:xfrm>
            <a:off x="7792200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4" name="Google Shape;864;p71"/>
          <p:cNvSpPr txBox="1"/>
          <p:nvPr/>
        </p:nvSpPr>
        <p:spPr>
          <a:xfrm>
            <a:off x="8204479" y="25713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71"/>
          <p:cNvSpPr txBox="1"/>
          <p:nvPr>
            <p:ph type="body" idx="1"/>
          </p:nvPr>
        </p:nvSpPr>
        <p:spPr>
          <a:xfrm>
            <a:off x="324000" y="801800"/>
            <a:ext cx="84960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see that constant difference when we plot these sequences.</a:t>
            </a:r>
            <a:endParaRPr sz="2000"/>
          </a:p>
        </p:txBody>
      </p:sp>
      <p:pic>
        <p:nvPicPr>
          <p:cNvPr id="866" name="Google Shape;866;p71" descr="&lt;math xmlns=&quot;http://www.w3.org/1998/Math/MathML&quot; data-is-equatio=&quot;1&quot; data-equatio-url=&quot;https://equatio-api.texthelp.com/desmos/get/10-11-2023/1536afbc-6278-462c-b453-3fb0d05abe53&quot; data-equatio-type=&quot;desmos&quot;&gt;&lt;mglyph src=&quot;https://equatio-api.texthelp.com/desmos/get/10-11-2023/1536afbc-6278-462c-b453-3fb0d05abe5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8584" t="3363" r="55615" b="10392"/>
          <a:stretch>
            <a:fillRect/>
          </a:stretch>
        </p:blipFill>
        <p:spPr>
          <a:xfrm>
            <a:off x="5466194" y="2594354"/>
            <a:ext cx="1235306" cy="2231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71" descr="&lt;math xmlns=&quot;http://www.w3.org/1998/Math/MathML&quot; data-is-equatio=&quot;1&quot; data-equatio-url=&quot;https://equatio-api.texthelp.com/desmos/get/10-11-2023/8ddd3c49-4dba-4359-8917-8df80f6eaa61&quot; data-equatio-type=&quot;desmos&quot;&gt;&lt;mglyph src=&quot;https://equatio-api.texthelp.com/desmos/get/10-11-2023/8ddd3c49-4dba-4359-8917-8df80f6eaa61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8584" t="2491" r="55615" b="10392"/>
          <a:stretch>
            <a:fillRect/>
          </a:stretch>
        </p:blipFill>
        <p:spPr>
          <a:xfrm>
            <a:off x="524424" y="2571750"/>
            <a:ext cx="1235306" cy="22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71"/>
          <p:cNvSpPr txBox="1"/>
          <p:nvPr/>
        </p:nvSpPr>
        <p:spPr>
          <a:xfrm>
            <a:off x="5257566" y="2497025"/>
            <a:ext cx="237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9" name="Google Shape;869;p71"/>
          <p:cNvSpPr txBox="1"/>
          <p:nvPr/>
        </p:nvSpPr>
        <p:spPr>
          <a:xfrm>
            <a:off x="6727826" y="455442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71"/>
          <p:cNvSpPr txBox="1"/>
          <p:nvPr/>
        </p:nvSpPr>
        <p:spPr>
          <a:xfrm>
            <a:off x="315796" y="2497025"/>
            <a:ext cx="237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71"/>
          <p:cNvSpPr txBox="1"/>
          <p:nvPr/>
        </p:nvSpPr>
        <p:spPr>
          <a:xfrm>
            <a:off x="1786057" y="455442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2" name="Google Shape;872;p71"/>
          <p:cNvSpPr txBox="1"/>
          <p:nvPr>
            <p:ph type="body" idx="1"/>
          </p:nvPr>
        </p:nvSpPr>
        <p:spPr>
          <a:xfrm>
            <a:off x="1848000" y="3164000"/>
            <a:ext cx="37821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constant difference makes the points form a line, hence the term ‘</a:t>
            </a:r>
            <a:r>
              <a:rPr lang="en-GB" sz="2000" b="1">
                <a:solidFill>
                  <a:schemeClr val="accent4"/>
                </a:solidFill>
              </a:rPr>
              <a:t>linear</a:t>
            </a:r>
            <a:r>
              <a:rPr lang="en-GB" sz="2000"/>
              <a:t>’.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6" name="Shape 876"/>
        <p:cNvGrpSpPr/>
        <p:nvPr/>
      </p:nvGrpSpPr>
      <p:grpSpPr>
        <a:xfrm>
          <a:off x="0" y="0"/>
          <a:ext cx="0" cy="0"/>
        </a:xfrm>
      </p:grpSpPr>
      <p:sp>
        <p:nvSpPr>
          <p:cNvPr id="877" name="Google Shape;87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878" name="Google Shape;878;p72"/>
          <p:cNvSpPr txBox="1"/>
          <p:nvPr/>
        </p:nvSpPr>
        <p:spPr>
          <a:xfrm>
            <a:off x="324600" y="3104728"/>
            <a:ext cx="609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79" name="Google Shape;879;p72"/>
          <p:cNvGraphicFramePr>
            <a:graphicFrameLocks noGrp="1"/>
          </p:cNvGraphicFramePr>
          <p:nvPr/>
        </p:nvGraphicFramePr>
        <p:xfrm>
          <a:off x="327642" y="3456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80" name="Google Shape;880;p72"/>
          <p:cNvSpPr txBox="1"/>
          <p:nvPr/>
        </p:nvSpPr>
        <p:spPr>
          <a:xfrm>
            <a:off x="4822827" y="3106629"/>
            <a:ext cx="989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81" name="Google Shape;881;p72"/>
          <p:cNvGraphicFramePr>
            <a:graphicFrameLocks noGrp="1"/>
          </p:cNvGraphicFramePr>
          <p:nvPr/>
        </p:nvGraphicFramePr>
        <p:xfrm>
          <a:off x="4823442" y="3456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5113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82" name="Google Shape;882;p72"/>
          <p:cNvSpPr/>
          <p:nvPr/>
        </p:nvSpPr>
        <p:spPr>
          <a:xfrm rot="10800000" flipH="1">
            <a:off x="2435250" y="4025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3" name="Google Shape;883;p72"/>
          <p:cNvSpPr/>
          <p:nvPr/>
        </p:nvSpPr>
        <p:spPr>
          <a:xfrm rot="10800000" flipH="1">
            <a:off x="2831670" y="4025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4" name="Google Shape;884;p72"/>
          <p:cNvSpPr/>
          <p:nvPr/>
        </p:nvSpPr>
        <p:spPr>
          <a:xfrm rot="10800000" flipH="1">
            <a:off x="3234110" y="4025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5" name="Google Shape;885;p72"/>
          <p:cNvSpPr/>
          <p:nvPr/>
        </p:nvSpPr>
        <p:spPr>
          <a:xfrm rot="10800000" flipH="1">
            <a:off x="3636549" y="4025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6" name="Google Shape;886;p72"/>
          <p:cNvSpPr/>
          <p:nvPr/>
        </p:nvSpPr>
        <p:spPr>
          <a:xfrm rot="10800000" flipH="1">
            <a:off x="6931050" y="4025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7" name="Google Shape;887;p72"/>
          <p:cNvSpPr/>
          <p:nvPr/>
        </p:nvSpPr>
        <p:spPr>
          <a:xfrm rot="10800000" flipH="1">
            <a:off x="7327470" y="4025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8" name="Google Shape;888;p72"/>
          <p:cNvSpPr/>
          <p:nvPr/>
        </p:nvSpPr>
        <p:spPr>
          <a:xfrm rot="10800000" flipH="1">
            <a:off x="7729910" y="4025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9" name="Google Shape;889;p72"/>
          <p:cNvSpPr/>
          <p:nvPr/>
        </p:nvSpPr>
        <p:spPr>
          <a:xfrm rot="10800000" flipH="1">
            <a:off x="8132349" y="4025186"/>
            <a:ext cx="3750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0" name="Google Shape;890;p72"/>
          <p:cNvSpPr txBox="1"/>
          <p:nvPr/>
        </p:nvSpPr>
        <p:spPr>
          <a:xfrm>
            <a:off x="2458200" y="45525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1" name="Google Shape;891;p72"/>
          <p:cNvSpPr txBox="1"/>
          <p:nvPr/>
        </p:nvSpPr>
        <p:spPr>
          <a:xfrm>
            <a:off x="2870479" y="45525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72"/>
          <p:cNvSpPr txBox="1"/>
          <p:nvPr/>
        </p:nvSpPr>
        <p:spPr>
          <a:xfrm>
            <a:off x="3296400" y="45525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72"/>
          <p:cNvSpPr txBox="1"/>
          <p:nvPr/>
        </p:nvSpPr>
        <p:spPr>
          <a:xfrm>
            <a:off x="3708679" y="45525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+9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4" name="Google Shape;894;p72"/>
          <p:cNvSpPr txBox="1"/>
          <p:nvPr/>
        </p:nvSpPr>
        <p:spPr>
          <a:xfrm>
            <a:off x="6900261" y="4552525"/>
            <a:ext cx="37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5" name="Google Shape;895;p72"/>
          <p:cNvSpPr txBox="1"/>
          <p:nvPr/>
        </p:nvSpPr>
        <p:spPr>
          <a:xfrm>
            <a:off x="7202644" y="4552525"/>
            <a:ext cx="426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+19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72"/>
          <p:cNvSpPr txBox="1"/>
          <p:nvPr/>
        </p:nvSpPr>
        <p:spPr>
          <a:xfrm>
            <a:off x="7665000" y="4552525"/>
            <a:ext cx="426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+37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7" name="Google Shape;897;p72"/>
          <p:cNvSpPr txBox="1"/>
          <p:nvPr/>
        </p:nvSpPr>
        <p:spPr>
          <a:xfrm>
            <a:off x="8128274" y="4552525"/>
            <a:ext cx="498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+61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8" name="Google Shape;898;p72"/>
          <p:cNvSpPr txBox="1"/>
          <p:nvPr/>
        </p:nvSpPr>
        <p:spPr>
          <a:xfrm>
            <a:off x="1001596" y="744425"/>
            <a:ext cx="237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72"/>
          <p:cNvSpPr txBox="1"/>
          <p:nvPr/>
        </p:nvSpPr>
        <p:spPr>
          <a:xfrm>
            <a:off x="2319457" y="287802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0" name="Google Shape;900;p72" descr="&lt;math xmlns=&quot;http://www.w3.org/1998/Math/MathML&quot; data-is-equatio=&quot;1&quot; data-equatio-url=&quot;https://equatio-api.texthelp.com/desmos/get/10-11-2023/81d48719-3113-455d-af79-7ecefe2da7d7&quot; data-equatio-type=&quot;desmos&quot;&gt;&lt;mglyph src=&quot;https://equatio-api.texthelp.com/desmos/get/10-11-2023/81d48719-3113-455d-af79-7ecefe2da7d7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0224" t="4671" r="58171" b="6169"/>
          <a:stretch>
            <a:fillRect/>
          </a:stretch>
        </p:blipFill>
        <p:spPr>
          <a:xfrm>
            <a:off x="1180686" y="820625"/>
            <a:ext cx="1100876" cy="23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2" descr="&lt;math xmlns=&quot;http://www.w3.org/1998/Math/MathML&quot; data-is-equatio=&quot;1&quot; data-equatio-url=&quot;https://equatio-api.texthelp.com/desmos/get/10-11-2023/b21e6975-740a-4d06-a998-fd87b18d76e4&quot; data-equatio-type=&quot;desmos&quot;&gt;&lt;mglyph src=&quot;https://equatio-api.texthelp.com/desmos/get/10-11-2023/b21e6975-740a-4d06-a998-fd87b18d76e4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8424" r="56205" b="2969"/>
          <a:stretch>
            <a:fillRect/>
          </a:stretch>
        </p:blipFill>
        <p:spPr>
          <a:xfrm>
            <a:off x="6259368" y="820630"/>
            <a:ext cx="1132040" cy="23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2"/>
          <p:cNvSpPr txBox="1"/>
          <p:nvPr/>
        </p:nvSpPr>
        <p:spPr>
          <a:xfrm>
            <a:off x="6084535" y="744425"/>
            <a:ext cx="237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3" name="Google Shape;903;p72"/>
          <p:cNvSpPr txBox="1"/>
          <p:nvPr/>
        </p:nvSpPr>
        <p:spPr>
          <a:xfrm>
            <a:off x="7402396" y="287802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4" name="Google Shape;904;p72"/>
          <p:cNvSpPr txBox="1"/>
          <p:nvPr>
            <p:ph type="body" idx="1"/>
          </p:nvPr>
        </p:nvSpPr>
        <p:spPr>
          <a:xfrm>
            <a:off x="2894752" y="801800"/>
            <a:ext cx="37821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By contrast…</a:t>
            </a:r>
            <a:endParaRPr sz="2000"/>
          </a:p>
        </p:txBody>
      </p:sp>
      <p:sp>
        <p:nvSpPr>
          <p:cNvPr id="905" name="Google Shape;905;p72"/>
          <p:cNvSpPr txBox="1"/>
          <p:nvPr>
            <p:ph type="body" idx="1"/>
          </p:nvPr>
        </p:nvSpPr>
        <p:spPr>
          <a:xfrm>
            <a:off x="2894750" y="1335200"/>
            <a:ext cx="27594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see that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 and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/>
              <a:t> are </a:t>
            </a:r>
            <a:r>
              <a:rPr lang="en-GB" sz="2000">
                <a:solidFill>
                  <a:schemeClr val="accent4"/>
                </a:solidFill>
              </a:rPr>
              <a:t>non-</a:t>
            </a:r>
            <a:r>
              <a:rPr lang="en-GB" sz="2000" b="1">
                <a:solidFill>
                  <a:schemeClr val="accent4"/>
                </a:solidFill>
              </a:rPr>
              <a:t>linear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9" name="Shape 909"/>
        <p:cNvGrpSpPr/>
        <p:nvPr/>
      </p:nvGrpSpPr>
      <p:grpSpPr>
        <a:xfrm>
          <a:off x="0" y="0"/>
          <a:ext cx="0" cy="0"/>
        </a:xfrm>
      </p:grpSpPr>
      <p:sp>
        <p:nvSpPr>
          <p:cNvPr id="910" name="Google Shape;91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911" name="Google Shape;911;p73"/>
          <p:cNvSpPr txBox="1"/>
          <p:nvPr>
            <p:ph type="body" idx="1"/>
          </p:nvPr>
        </p:nvSpPr>
        <p:spPr>
          <a:xfrm>
            <a:off x="324000" y="759300"/>
            <a:ext cx="84960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Will this look any different if we plot algebraic relationships?</a:t>
            </a:r>
            <a:endParaRPr sz="2100"/>
          </a:p>
        </p:txBody>
      </p:sp>
      <p:sp>
        <p:nvSpPr>
          <p:cNvPr id="912" name="Google Shape;912;p73"/>
          <p:cNvSpPr txBox="1"/>
          <p:nvPr/>
        </p:nvSpPr>
        <p:spPr>
          <a:xfrm>
            <a:off x="324600" y="1183800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3" name="Google Shape;913;p73"/>
          <p:cNvGraphicFramePr>
            <a:graphicFrameLocks noGrp="1"/>
          </p:cNvGraphicFramePr>
          <p:nvPr/>
        </p:nvGraphicFramePr>
        <p:xfrm>
          <a:off x="317167" y="1627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34800"/>
                <a:gridCol w="334800"/>
                <a:gridCol w="334800"/>
                <a:gridCol w="334800"/>
                <a:gridCol w="334800"/>
                <a:gridCol w="33480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4" name="Google Shape;914;p73"/>
          <p:cNvSpPr txBox="1"/>
          <p:nvPr>
            <p:ph type="body" idx="1"/>
          </p:nvPr>
        </p:nvSpPr>
        <p:spPr>
          <a:xfrm>
            <a:off x="857400" y="3087800"/>
            <a:ext cx="14385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Constant difference</a:t>
            </a:r>
            <a:endParaRPr sz="1800"/>
          </a:p>
        </p:txBody>
      </p:sp>
      <p:graphicFrame>
        <p:nvGraphicFramePr>
          <p:cNvPr id="915" name="Google Shape;915;p73"/>
          <p:cNvGraphicFramePr>
            <a:graphicFrameLocks noGrp="1"/>
          </p:cNvGraphicFramePr>
          <p:nvPr/>
        </p:nvGraphicFramePr>
        <p:xfrm>
          <a:off x="3365167" y="1627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46775"/>
                <a:gridCol w="346775"/>
                <a:gridCol w="346775"/>
                <a:gridCol w="346775"/>
                <a:gridCol w="305700"/>
                <a:gridCol w="39542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6" name="Google Shape;916;p73"/>
          <p:cNvSpPr txBox="1"/>
          <p:nvPr/>
        </p:nvSpPr>
        <p:spPr>
          <a:xfrm>
            <a:off x="3372600" y="1183800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7" name="Google Shape;917;p73"/>
          <p:cNvSpPr txBox="1"/>
          <p:nvPr/>
        </p:nvSpPr>
        <p:spPr>
          <a:xfrm>
            <a:off x="6268200" y="1183800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8" name="Google Shape;918;p73"/>
          <p:cNvGraphicFramePr>
            <a:graphicFrameLocks noGrp="1"/>
          </p:cNvGraphicFramePr>
          <p:nvPr/>
        </p:nvGraphicFramePr>
        <p:xfrm>
          <a:off x="6260767" y="1627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56700"/>
                <a:gridCol w="356700"/>
                <a:gridCol w="356700"/>
                <a:gridCol w="356700"/>
                <a:gridCol w="356700"/>
                <a:gridCol w="35670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19" name="Google Shape;919;p73"/>
          <p:cNvGraphicFramePr>
            <a:graphicFrameLocks noGrp="1"/>
          </p:cNvGraphicFramePr>
          <p:nvPr/>
        </p:nvGraphicFramePr>
        <p:xfrm>
          <a:off x="317167" y="1627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34800"/>
                <a:gridCol w="334800"/>
                <a:gridCol w="334800"/>
                <a:gridCol w="334800"/>
                <a:gridCol w="334800"/>
                <a:gridCol w="33480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20" name="Google Shape;920;p73"/>
          <p:cNvGraphicFramePr>
            <a:graphicFrameLocks noGrp="1"/>
          </p:cNvGraphicFramePr>
          <p:nvPr/>
        </p:nvGraphicFramePr>
        <p:xfrm>
          <a:off x="3365167" y="1627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46775"/>
                <a:gridCol w="346775"/>
                <a:gridCol w="346775"/>
                <a:gridCol w="346775"/>
                <a:gridCol w="305700"/>
                <a:gridCol w="39542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21" name="Google Shape;921;p73"/>
          <p:cNvGraphicFramePr>
            <a:graphicFrameLocks noGrp="1"/>
          </p:cNvGraphicFramePr>
          <p:nvPr/>
        </p:nvGraphicFramePr>
        <p:xfrm>
          <a:off x="6260767" y="1627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56700"/>
                <a:gridCol w="356700"/>
                <a:gridCol w="356700"/>
                <a:gridCol w="356700"/>
                <a:gridCol w="356700"/>
                <a:gridCol w="35670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22" name="Google Shape;922;p73"/>
          <p:cNvSpPr/>
          <p:nvPr/>
        </p:nvSpPr>
        <p:spPr>
          <a:xfrm rot="10800000" flipH="1">
            <a:off x="835050" y="2196382"/>
            <a:ext cx="3138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3" name="Google Shape;923;p73"/>
          <p:cNvSpPr/>
          <p:nvPr/>
        </p:nvSpPr>
        <p:spPr>
          <a:xfrm rot="10800000" flipH="1">
            <a:off x="1166815" y="2196382"/>
            <a:ext cx="3138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4" name="Google Shape;924;p73"/>
          <p:cNvSpPr/>
          <p:nvPr/>
        </p:nvSpPr>
        <p:spPr>
          <a:xfrm rot="10800000" flipH="1">
            <a:off x="1503618" y="2196382"/>
            <a:ext cx="3138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5" name="Google Shape;925;p73"/>
          <p:cNvSpPr/>
          <p:nvPr/>
        </p:nvSpPr>
        <p:spPr>
          <a:xfrm rot="10800000" flipH="1">
            <a:off x="1840421" y="2196382"/>
            <a:ext cx="3138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6" name="Google Shape;926;p73"/>
          <p:cNvSpPr txBox="1"/>
          <p:nvPr/>
        </p:nvSpPr>
        <p:spPr>
          <a:xfrm>
            <a:off x="854257" y="2723721"/>
            <a:ext cx="3138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7" name="Google Shape;927;p73"/>
          <p:cNvSpPr txBox="1"/>
          <p:nvPr/>
        </p:nvSpPr>
        <p:spPr>
          <a:xfrm>
            <a:off x="1199294" y="2723721"/>
            <a:ext cx="3138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8" name="Google Shape;928;p73"/>
          <p:cNvSpPr txBox="1"/>
          <p:nvPr/>
        </p:nvSpPr>
        <p:spPr>
          <a:xfrm>
            <a:off x="1555749" y="2723721"/>
            <a:ext cx="3138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73"/>
          <p:cNvSpPr txBox="1"/>
          <p:nvPr/>
        </p:nvSpPr>
        <p:spPr>
          <a:xfrm>
            <a:off x="1900786" y="2723721"/>
            <a:ext cx="3138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73"/>
          <p:cNvSpPr/>
          <p:nvPr/>
        </p:nvSpPr>
        <p:spPr>
          <a:xfrm rot="10800000" flipH="1">
            <a:off x="3883050" y="2196382"/>
            <a:ext cx="3255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1" name="Google Shape;931;p73"/>
          <p:cNvSpPr/>
          <p:nvPr/>
        </p:nvSpPr>
        <p:spPr>
          <a:xfrm rot="10800000" flipH="1">
            <a:off x="4227218" y="2196382"/>
            <a:ext cx="3255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2" name="Google Shape;932;p73"/>
          <p:cNvSpPr/>
          <p:nvPr/>
        </p:nvSpPr>
        <p:spPr>
          <a:xfrm rot="10800000" flipH="1">
            <a:off x="4576612" y="2196382"/>
            <a:ext cx="3255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3" name="Google Shape;933;p73"/>
          <p:cNvSpPr/>
          <p:nvPr/>
        </p:nvSpPr>
        <p:spPr>
          <a:xfrm rot="10800000" flipH="1">
            <a:off x="4926007" y="2196382"/>
            <a:ext cx="3255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4" name="Google Shape;934;p73"/>
          <p:cNvSpPr txBox="1"/>
          <p:nvPr/>
        </p:nvSpPr>
        <p:spPr>
          <a:xfrm>
            <a:off x="3902975" y="2723721"/>
            <a:ext cx="3255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73"/>
          <p:cNvSpPr txBox="1"/>
          <p:nvPr/>
        </p:nvSpPr>
        <p:spPr>
          <a:xfrm>
            <a:off x="4260911" y="2723721"/>
            <a:ext cx="3255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73"/>
          <p:cNvSpPr txBox="1"/>
          <p:nvPr/>
        </p:nvSpPr>
        <p:spPr>
          <a:xfrm>
            <a:off x="4630692" y="2723721"/>
            <a:ext cx="3255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p73"/>
          <p:cNvSpPr txBox="1"/>
          <p:nvPr/>
        </p:nvSpPr>
        <p:spPr>
          <a:xfrm>
            <a:off x="4988629" y="2723721"/>
            <a:ext cx="3255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p73"/>
          <p:cNvSpPr/>
          <p:nvPr/>
        </p:nvSpPr>
        <p:spPr>
          <a:xfrm rot="10800000" flipH="1">
            <a:off x="7159650" y="2196383"/>
            <a:ext cx="3288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9" name="Google Shape;939;p73"/>
          <p:cNvSpPr/>
          <p:nvPr/>
        </p:nvSpPr>
        <p:spPr>
          <a:xfrm rot="10800000" flipH="1">
            <a:off x="7507132" y="2196383"/>
            <a:ext cx="3288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0" name="Google Shape;940;p73"/>
          <p:cNvSpPr/>
          <p:nvPr/>
        </p:nvSpPr>
        <p:spPr>
          <a:xfrm rot="10800000" flipH="1">
            <a:off x="7859891" y="2196383"/>
            <a:ext cx="3288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1" name="Google Shape;941;p73"/>
          <p:cNvSpPr/>
          <p:nvPr/>
        </p:nvSpPr>
        <p:spPr>
          <a:xfrm rot="10800000" flipH="1">
            <a:off x="6776081" y="2196383"/>
            <a:ext cx="3288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2" name="Google Shape;942;p73"/>
          <p:cNvSpPr txBox="1"/>
          <p:nvPr/>
        </p:nvSpPr>
        <p:spPr>
          <a:xfrm>
            <a:off x="7179767" y="2723721"/>
            <a:ext cx="3288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3" name="Google Shape;943;p73"/>
          <p:cNvSpPr txBox="1"/>
          <p:nvPr/>
        </p:nvSpPr>
        <p:spPr>
          <a:xfrm>
            <a:off x="7541150" y="2723721"/>
            <a:ext cx="3288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73"/>
          <p:cNvSpPr txBox="1"/>
          <p:nvPr/>
        </p:nvSpPr>
        <p:spPr>
          <a:xfrm>
            <a:off x="7914492" y="2723721"/>
            <a:ext cx="3288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5" name="Google Shape;945;p73"/>
          <p:cNvSpPr txBox="1"/>
          <p:nvPr/>
        </p:nvSpPr>
        <p:spPr>
          <a:xfrm>
            <a:off x="6839306" y="2723721"/>
            <a:ext cx="3288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1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73"/>
          <p:cNvSpPr txBox="1"/>
          <p:nvPr>
            <p:ph type="body" idx="1"/>
          </p:nvPr>
        </p:nvSpPr>
        <p:spPr>
          <a:xfrm>
            <a:off x="3905400" y="3087800"/>
            <a:ext cx="14385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Constant difference</a:t>
            </a:r>
            <a:endParaRPr sz="1800"/>
          </a:p>
        </p:txBody>
      </p:sp>
      <p:sp>
        <p:nvSpPr>
          <p:cNvPr id="947" name="Google Shape;947;p73"/>
          <p:cNvSpPr txBox="1"/>
          <p:nvPr>
            <p:ph type="body" idx="1"/>
          </p:nvPr>
        </p:nvSpPr>
        <p:spPr>
          <a:xfrm>
            <a:off x="6801000" y="3087800"/>
            <a:ext cx="14385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Not constant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1" name="Shape 951"/>
        <p:cNvGrpSpPr/>
        <p:nvPr/>
      </p:nvGrpSpPr>
      <p:grpSpPr>
        <a:xfrm>
          <a:off x="0" y="0"/>
          <a:ext cx="0" cy="0"/>
        </a:xfrm>
      </p:grpSpPr>
      <p:sp>
        <p:nvSpPr>
          <p:cNvPr id="952" name="Google Shape;95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953" name="Google Shape;953;p74"/>
          <p:cNvSpPr txBox="1"/>
          <p:nvPr>
            <p:ph type="body" idx="1"/>
          </p:nvPr>
        </p:nvSpPr>
        <p:spPr>
          <a:xfrm>
            <a:off x="324000" y="759300"/>
            <a:ext cx="84960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Will this look any different if we plot algebraic relationships?</a:t>
            </a:r>
            <a:endParaRPr sz="2100"/>
          </a:p>
        </p:txBody>
      </p:sp>
      <p:sp>
        <p:nvSpPr>
          <p:cNvPr id="954" name="Google Shape;954;p74"/>
          <p:cNvSpPr txBox="1"/>
          <p:nvPr/>
        </p:nvSpPr>
        <p:spPr>
          <a:xfrm>
            <a:off x="324600" y="1183800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74"/>
          <p:cNvSpPr txBox="1"/>
          <p:nvPr/>
        </p:nvSpPr>
        <p:spPr>
          <a:xfrm>
            <a:off x="3372600" y="1183800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74"/>
          <p:cNvSpPr txBox="1"/>
          <p:nvPr/>
        </p:nvSpPr>
        <p:spPr>
          <a:xfrm>
            <a:off x="6268200" y="1183800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57" name="Google Shape;957;p74"/>
          <p:cNvGraphicFramePr>
            <a:graphicFrameLocks noGrp="1"/>
          </p:cNvGraphicFramePr>
          <p:nvPr/>
        </p:nvGraphicFramePr>
        <p:xfrm>
          <a:off x="317167" y="1627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34800"/>
                <a:gridCol w="334800"/>
                <a:gridCol w="334800"/>
                <a:gridCol w="334800"/>
                <a:gridCol w="334800"/>
                <a:gridCol w="33480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58" name="Google Shape;958;p74"/>
          <p:cNvGraphicFramePr>
            <a:graphicFrameLocks noGrp="1"/>
          </p:cNvGraphicFramePr>
          <p:nvPr/>
        </p:nvGraphicFramePr>
        <p:xfrm>
          <a:off x="3365167" y="1627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46775"/>
                <a:gridCol w="346775"/>
                <a:gridCol w="346775"/>
                <a:gridCol w="346775"/>
                <a:gridCol w="305700"/>
                <a:gridCol w="39542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59" name="Google Shape;959;p74"/>
          <p:cNvGraphicFramePr>
            <a:graphicFrameLocks noGrp="1"/>
          </p:cNvGraphicFramePr>
          <p:nvPr/>
        </p:nvGraphicFramePr>
        <p:xfrm>
          <a:off x="6260767" y="1627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56700"/>
                <a:gridCol w="356700"/>
                <a:gridCol w="356700"/>
                <a:gridCol w="356700"/>
                <a:gridCol w="356700"/>
                <a:gridCol w="35670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60" name="Google Shape;960;p74" descr="&lt;math xmlns=&quot;http://www.w3.org/1998/Math/MathML&quot; data-is-equatio=&quot;1&quot; data-equatio-url=&quot;https://equatio-api.texthelp.com/desmos/get/10-11-2023/508816ff-0303-414c-85bc-5713aea68e5c&quot; data-equatio-type=&quot;desmos&quot;&gt;&lt;mglyph src=&quot;https://equatio-api.texthelp.com/desmos/get/10-11-2023/508816ff-0303-414c-85bc-5713aea68e5c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9238" t="5327" r="61470" b="12576"/>
          <a:stretch>
            <a:fillRect/>
          </a:stretch>
        </p:blipFill>
        <p:spPr>
          <a:xfrm>
            <a:off x="557450" y="2560523"/>
            <a:ext cx="1071386" cy="22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4"/>
          <p:cNvSpPr txBox="1"/>
          <p:nvPr/>
        </p:nvSpPr>
        <p:spPr>
          <a:xfrm>
            <a:off x="1656117" y="45431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74"/>
          <p:cNvSpPr txBox="1"/>
          <p:nvPr/>
        </p:nvSpPr>
        <p:spPr>
          <a:xfrm>
            <a:off x="414457" y="24857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3" name="Google Shape;963;p74"/>
          <p:cNvSpPr txBox="1"/>
          <p:nvPr/>
        </p:nvSpPr>
        <p:spPr>
          <a:xfrm>
            <a:off x="4594226" y="45431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74"/>
          <p:cNvSpPr txBox="1"/>
          <p:nvPr/>
        </p:nvSpPr>
        <p:spPr>
          <a:xfrm>
            <a:off x="3375026" y="24857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5" name="Google Shape;965;p74"/>
          <p:cNvSpPr txBox="1"/>
          <p:nvPr/>
        </p:nvSpPr>
        <p:spPr>
          <a:xfrm>
            <a:off x="7422444" y="45431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6" name="Google Shape;966;p74"/>
          <p:cNvSpPr txBox="1"/>
          <p:nvPr/>
        </p:nvSpPr>
        <p:spPr>
          <a:xfrm>
            <a:off x="6256984" y="24857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7" name="Google Shape;967;p74" descr="&lt;math xmlns=&quot;http://www.w3.org/1998/Math/MathML&quot; data-is-equatio=&quot;1&quot; data-equatio-url=&quot;https://equatio-api.texthelp.com/desmos/get/10-11-2023/7fdbfdcf-a47e-4d5e-aa75-3f65c5bb4e24&quot; data-equatio-type=&quot;desmos&quot;&gt;&lt;mglyph src=&quot;https://equatio-api.texthelp.com/desmos/get/10-11-2023/7fdbfdcf-a47e-4d5e-aa75-3f65c5bb4e24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9893" t="5106" r="61612" b="12791"/>
          <a:stretch>
            <a:fillRect/>
          </a:stretch>
        </p:blipFill>
        <p:spPr>
          <a:xfrm>
            <a:off x="3531245" y="2569350"/>
            <a:ext cx="1042220" cy="225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4" descr="&lt;math xmlns=&quot;http://www.w3.org/1998/Math/MathML&quot; data-is-equatio=&quot;1&quot; data-equatio-url=&quot;https://equatio-api.texthelp.com/desmos/get/10-11-2023/784356a1-5b1d-4d69-ae89-5d3d44bd85d8&quot; data-equatio-type=&quot;desmos&quot;&gt;&lt;mglyph src=&quot;https://equatio-api.texthelp.com/desmos/get/10-11-2023/784356a1-5b1d-4d69-ae89-5d3d44bd85d8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10601" r="57483"/>
          <a:stretch>
            <a:fillRect/>
          </a:stretch>
        </p:blipFill>
        <p:spPr>
          <a:xfrm>
            <a:off x="6405922" y="2552002"/>
            <a:ext cx="968276" cy="22754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9" name="Google Shape;969;p74"/>
          <p:cNvCxnSpPr/>
          <p:nvPr/>
        </p:nvCxnSpPr>
        <p:spPr>
          <a:xfrm rot="10800000" flipH="1">
            <a:off x="709750" y="2823175"/>
            <a:ext cx="921000" cy="18756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0" name="Google Shape;970;p74"/>
          <p:cNvSpPr txBox="1"/>
          <p:nvPr>
            <p:ph type="body" idx="1"/>
          </p:nvPr>
        </p:nvSpPr>
        <p:spPr>
          <a:xfrm>
            <a:off x="1715648" y="2574448"/>
            <a:ext cx="16404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lang="en-GB" sz="2000" b="1"/>
              <a:t>linear</a:t>
            </a:r>
            <a:r>
              <a:rPr lang="en-GB" sz="2000"/>
              <a:t> relationship</a:t>
            </a:r>
            <a:endParaRPr sz="2000"/>
          </a:p>
        </p:txBody>
      </p:sp>
      <p:cxnSp>
        <p:nvCxnSpPr>
          <p:cNvPr id="971" name="Google Shape;971;p74"/>
          <p:cNvCxnSpPr/>
          <p:nvPr/>
        </p:nvCxnSpPr>
        <p:spPr>
          <a:xfrm rot="10800000" flipH="1">
            <a:off x="3517350" y="3126600"/>
            <a:ext cx="1077900" cy="1066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2" name="Google Shape;972;p74"/>
          <p:cNvSpPr txBox="1"/>
          <p:nvPr>
            <p:ph type="body" idx="1"/>
          </p:nvPr>
        </p:nvSpPr>
        <p:spPr>
          <a:xfrm>
            <a:off x="4687448" y="2574448"/>
            <a:ext cx="16404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lang="en-GB" sz="2000" b="1"/>
              <a:t>linear</a:t>
            </a:r>
            <a:r>
              <a:rPr lang="en-GB" sz="2000"/>
              <a:t> relationship</a:t>
            </a:r>
            <a:endParaRPr sz="2000"/>
          </a:p>
        </p:txBody>
      </p:sp>
      <p:sp>
        <p:nvSpPr>
          <p:cNvPr id="973" name="Google Shape;973;p74"/>
          <p:cNvSpPr txBox="1"/>
          <p:nvPr>
            <p:ph type="body" idx="1"/>
          </p:nvPr>
        </p:nvSpPr>
        <p:spPr>
          <a:xfrm>
            <a:off x="7408189" y="2574450"/>
            <a:ext cx="14910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Non-</a:t>
            </a:r>
            <a:r>
              <a:rPr lang="en-GB" sz="2000" b="1"/>
              <a:t>linear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7" name="Shape 977"/>
        <p:cNvGrpSpPr/>
        <p:nvPr/>
      </p:nvGrpSpPr>
      <p:grpSpPr>
        <a:xfrm>
          <a:off x="0" y="0"/>
          <a:ext cx="0" cy="0"/>
        </a:xfrm>
      </p:grpSpPr>
      <p:sp>
        <p:nvSpPr>
          <p:cNvPr id="978" name="Google Shape;978;p75"/>
          <p:cNvSpPr/>
          <p:nvPr/>
        </p:nvSpPr>
        <p:spPr>
          <a:xfrm>
            <a:off x="3080850" y="1328100"/>
            <a:ext cx="2610900" cy="2687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5"/>
          <p:cNvSpPr/>
          <p:nvPr/>
        </p:nvSpPr>
        <p:spPr>
          <a:xfrm>
            <a:off x="5976450" y="1328100"/>
            <a:ext cx="2610900" cy="2687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981" name="Google Shape;981;p75"/>
          <p:cNvSpPr txBox="1"/>
          <p:nvPr>
            <p:ph type="body" idx="1"/>
          </p:nvPr>
        </p:nvSpPr>
        <p:spPr>
          <a:xfrm>
            <a:off x="324000" y="759300"/>
            <a:ext cx="84960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What is it that determines whether a sequence or relationship is </a:t>
            </a:r>
            <a:r>
              <a:rPr lang="en-GB" sz="2100" b="1"/>
              <a:t>linear</a:t>
            </a:r>
            <a:r>
              <a:rPr lang="en-GB" sz="2100"/>
              <a:t> or not?</a:t>
            </a:r>
            <a:endParaRPr sz="2100"/>
          </a:p>
        </p:txBody>
      </p:sp>
      <p:sp>
        <p:nvSpPr>
          <p:cNvPr id="982" name="Google Shape;982;p75"/>
          <p:cNvSpPr txBox="1"/>
          <p:nvPr/>
        </p:nvSpPr>
        <p:spPr>
          <a:xfrm>
            <a:off x="3908427" y="2415758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p75"/>
          <p:cNvSpPr txBox="1"/>
          <p:nvPr/>
        </p:nvSpPr>
        <p:spPr>
          <a:xfrm>
            <a:off x="3832227" y="2987727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4" name="Google Shape;984;p75"/>
          <p:cNvSpPr txBox="1"/>
          <p:nvPr/>
        </p:nvSpPr>
        <p:spPr>
          <a:xfrm>
            <a:off x="6920309" y="2423048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5" name="Google Shape;985;p75"/>
          <p:cNvSpPr txBox="1"/>
          <p:nvPr>
            <p:ph type="body" idx="1"/>
          </p:nvPr>
        </p:nvSpPr>
        <p:spPr>
          <a:xfrm>
            <a:off x="3163448" y="1431448"/>
            <a:ext cx="16404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/>
              <a:t>Linear</a:t>
            </a:r>
            <a:endParaRPr sz="2000"/>
          </a:p>
        </p:txBody>
      </p:sp>
      <p:sp>
        <p:nvSpPr>
          <p:cNvPr id="986" name="Google Shape;986;p75"/>
          <p:cNvSpPr txBox="1"/>
          <p:nvPr>
            <p:ph type="body" idx="1"/>
          </p:nvPr>
        </p:nvSpPr>
        <p:spPr>
          <a:xfrm>
            <a:off x="6112789" y="1431450"/>
            <a:ext cx="14910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Non-</a:t>
            </a:r>
            <a:r>
              <a:rPr lang="en-GB" sz="2000" b="1"/>
              <a:t>linear</a:t>
            </a:r>
            <a:endParaRPr sz="2000"/>
          </a:p>
        </p:txBody>
      </p:sp>
      <p:sp>
        <p:nvSpPr>
          <p:cNvPr id="987" name="Google Shape;987;p75"/>
          <p:cNvSpPr txBox="1"/>
          <p:nvPr/>
        </p:nvSpPr>
        <p:spPr>
          <a:xfrm>
            <a:off x="3527425" y="1863074"/>
            <a:ext cx="6099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8" name="Google Shape;988;p75"/>
          <p:cNvSpPr txBox="1"/>
          <p:nvPr/>
        </p:nvSpPr>
        <p:spPr>
          <a:xfrm>
            <a:off x="4594225" y="1859141"/>
            <a:ext cx="6885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75"/>
          <p:cNvSpPr txBox="1"/>
          <p:nvPr/>
        </p:nvSpPr>
        <p:spPr>
          <a:xfrm>
            <a:off x="6485564" y="1865475"/>
            <a:ext cx="3543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75"/>
          <p:cNvSpPr txBox="1"/>
          <p:nvPr/>
        </p:nvSpPr>
        <p:spPr>
          <a:xfrm>
            <a:off x="7408779" y="1870811"/>
            <a:ext cx="3543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75"/>
          <p:cNvSpPr txBox="1"/>
          <p:nvPr>
            <p:ph type="body" idx="1"/>
          </p:nvPr>
        </p:nvSpPr>
        <p:spPr>
          <a:xfrm>
            <a:off x="4479000" y="4264500"/>
            <a:ext cx="30456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Spot the difference!</a:t>
            </a:r>
            <a:endParaRPr sz="2100"/>
          </a:p>
        </p:txBody>
      </p:sp>
      <p:sp>
        <p:nvSpPr>
          <p:cNvPr id="992" name="Google Shape;992;p75"/>
          <p:cNvSpPr txBox="1"/>
          <p:nvPr>
            <p:ph type="body" idx="1"/>
          </p:nvPr>
        </p:nvSpPr>
        <p:spPr>
          <a:xfrm>
            <a:off x="3249325" y="3502500"/>
            <a:ext cx="20514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Exponent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75"/>
          <p:cNvSpPr txBox="1"/>
          <p:nvPr>
            <p:ph type="body" idx="1"/>
          </p:nvPr>
        </p:nvSpPr>
        <p:spPr>
          <a:xfrm>
            <a:off x="6164098" y="3502500"/>
            <a:ext cx="2224800" cy="31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Exponents </a:t>
            </a:r>
            <a:r>
              <a:rPr lang="en-GB">
                <a:solidFill>
                  <a:schemeClr val="accent4"/>
                </a:solidFill>
              </a:rPr>
              <a:t>not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75"/>
          <p:cNvSpPr txBox="1"/>
          <p:nvPr>
            <p:ph type="body" idx="1"/>
          </p:nvPr>
        </p:nvSpPr>
        <p:spPr>
          <a:xfrm>
            <a:off x="277525" y="1902300"/>
            <a:ext cx="24987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/>
              <a:t>Linear</a:t>
            </a:r>
            <a:r>
              <a:rPr lang="en-GB" sz="2000"/>
              <a:t> relationships have an exponent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8" name="Shape 998"/>
        <p:cNvGrpSpPr/>
        <p:nvPr/>
      </p:nvGrpSpPr>
      <p:grpSpPr>
        <a:xfrm>
          <a:off x="0" y="0"/>
          <a:ext cx="0" cy="0"/>
        </a:xfrm>
      </p:grpSpPr>
      <p:sp>
        <p:nvSpPr>
          <p:cNvPr id="999" name="Google Shape;999;p7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sequences will have a constant difference?</a:t>
            </a:r>
            <a:endParaRPr/>
          </a:p>
        </p:txBody>
      </p:sp>
      <p:sp>
        <p:nvSpPr>
          <p:cNvPr id="1000" name="Google Shape;1000;p7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1001" name="Google Shape;1001;p76"/>
          <p:cNvSpPr txBox="1"/>
          <p:nvPr>
            <p:ph type="subTitle" idx="1"/>
          </p:nvPr>
        </p:nvSpPr>
        <p:spPr>
          <a:xfrm>
            <a:off x="1034425" y="1685375"/>
            <a:ext cx="18528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 sz="2600"/>
          </a:p>
        </p:txBody>
      </p:sp>
      <p:sp>
        <p:nvSpPr>
          <p:cNvPr id="1002" name="Google Shape;1002;p76"/>
          <p:cNvSpPr txBox="1"/>
          <p:nvPr>
            <p:ph type="subTitle" idx="3"/>
          </p:nvPr>
        </p:nvSpPr>
        <p:spPr>
          <a:xfrm>
            <a:off x="1034425" y="2489443"/>
            <a:ext cx="18528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6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/>
          </a:p>
        </p:txBody>
      </p:sp>
      <p:sp>
        <p:nvSpPr>
          <p:cNvPr id="1003" name="Google Shape;1003;p76"/>
          <p:cNvSpPr txBox="1"/>
          <p:nvPr>
            <p:ph type="subTitle" idx="4"/>
          </p:nvPr>
        </p:nvSpPr>
        <p:spPr>
          <a:xfrm>
            <a:off x="1034425" y="3309758"/>
            <a:ext cx="1842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7 − 4</a:t>
            </a: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30000"/>
          </a:p>
        </p:txBody>
      </p:sp>
      <p:sp>
        <p:nvSpPr>
          <p:cNvPr id="1004" name="Google Shape;1004;p76"/>
          <p:cNvSpPr txBox="1"/>
          <p:nvPr>
            <p:ph type="subTitle" idx="5"/>
          </p:nvPr>
        </p:nvSpPr>
        <p:spPr>
          <a:xfrm>
            <a:off x="1034425" y="4113825"/>
            <a:ext cx="8097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600" baseline="30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aseline="30000"/>
          </a:p>
        </p:txBody>
      </p:sp>
      <p:pic>
        <p:nvPicPr>
          <p:cNvPr id="1005" name="Google Shape;100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383" y="1700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583" y="3377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76"/>
          <p:cNvSpPr txBox="1"/>
          <p:nvPr>
            <p:ph type="title"/>
          </p:nvPr>
        </p:nvSpPr>
        <p:spPr>
          <a:xfrm>
            <a:off x="2892352" y="1572000"/>
            <a:ext cx="5926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exponent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This will be an arithmetic (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linear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 sequence with a constant difference.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8" name="Google Shape;1008;p76"/>
          <p:cNvSpPr txBox="1"/>
          <p:nvPr>
            <p:ph type="title"/>
          </p:nvPr>
        </p:nvSpPr>
        <p:spPr>
          <a:xfrm>
            <a:off x="2893925" y="2540150"/>
            <a:ext cx="59262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exponent of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not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Not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linear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9" name="Google Shape;1009;p76"/>
          <p:cNvSpPr txBox="1"/>
          <p:nvPr>
            <p:ph type="title"/>
          </p:nvPr>
        </p:nvSpPr>
        <p:spPr>
          <a:xfrm>
            <a:off x="2892352" y="3172200"/>
            <a:ext cx="5926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exponent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This will be an arithmetic (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linear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 sequence with a constant difference.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0" name="Google Shape;1010;p76"/>
          <p:cNvSpPr txBox="1"/>
          <p:nvPr>
            <p:ph type="title"/>
          </p:nvPr>
        </p:nvSpPr>
        <p:spPr>
          <a:xfrm>
            <a:off x="2893925" y="4140350"/>
            <a:ext cx="59262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exponent of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not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Not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linear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4" name="Shape 1014"/>
        <p:cNvGrpSpPr/>
        <p:nvPr/>
      </p:nvGrpSpPr>
      <p:grpSpPr>
        <a:xfrm>
          <a:off x="0" y="0"/>
          <a:ext cx="0" cy="0"/>
        </a:xfrm>
      </p:grpSpPr>
      <p:sp>
        <p:nvSpPr>
          <p:cNvPr id="1015" name="Google Shape;1015;p7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relationships will be </a:t>
            </a:r>
            <a:r>
              <a:rPr lang="en-GB" b="1"/>
              <a:t>linear</a:t>
            </a:r>
            <a:r>
              <a:rPr lang="en-GB"/>
              <a:t>?</a:t>
            </a:r>
            <a:endParaRPr/>
          </a:p>
        </p:txBody>
      </p:sp>
      <p:sp>
        <p:nvSpPr>
          <p:cNvPr id="1016" name="Google Shape;1016;p7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1017" name="Google Shape;1017;p77"/>
          <p:cNvSpPr txBox="1"/>
          <p:nvPr>
            <p:ph type="subTitle" idx="1"/>
          </p:nvPr>
        </p:nvSpPr>
        <p:spPr>
          <a:xfrm>
            <a:off x="1034425" y="1685375"/>
            <a:ext cx="18528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 sz="2600"/>
          </a:p>
        </p:txBody>
      </p:sp>
      <p:sp>
        <p:nvSpPr>
          <p:cNvPr id="1018" name="Google Shape;1018;p77"/>
          <p:cNvSpPr txBox="1"/>
          <p:nvPr>
            <p:ph type="subTitle" idx="3"/>
          </p:nvPr>
        </p:nvSpPr>
        <p:spPr>
          <a:xfrm>
            <a:off x="1034425" y="2489443"/>
            <a:ext cx="18528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 baseline="30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/>
          </a:p>
        </p:txBody>
      </p:sp>
      <p:sp>
        <p:nvSpPr>
          <p:cNvPr id="1019" name="Google Shape;1019;p77"/>
          <p:cNvSpPr txBox="1"/>
          <p:nvPr>
            <p:ph type="subTitle" idx="4"/>
          </p:nvPr>
        </p:nvSpPr>
        <p:spPr>
          <a:xfrm>
            <a:off x="1034425" y="4105449"/>
            <a:ext cx="1842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1 − 3</a:t>
            </a: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aseline="30000"/>
          </a:p>
        </p:txBody>
      </p:sp>
      <p:sp>
        <p:nvSpPr>
          <p:cNvPr id="1020" name="Google Shape;1020;p77"/>
          <p:cNvSpPr txBox="1"/>
          <p:nvPr>
            <p:ph type="subTitle" idx="5"/>
          </p:nvPr>
        </p:nvSpPr>
        <p:spPr>
          <a:xfrm>
            <a:off x="1034425" y="3318134"/>
            <a:ext cx="18423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 baseline="30000"/>
          </a:p>
        </p:txBody>
      </p:sp>
      <p:pic>
        <p:nvPicPr>
          <p:cNvPr id="1021" name="Google Shape;102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323" y="170956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323" y="411668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77"/>
          <p:cNvSpPr txBox="1"/>
          <p:nvPr>
            <p:ph type="title"/>
          </p:nvPr>
        </p:nvSpPr>
        <p:spPr>
          <a:xfrm>
            <a:off x="3120950" y="1724400"/>
            <a:ext cx="5697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exponents are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Linear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relationship.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4" name="Google Shape;1024;p77"/>
          <p:cNvSpPr txBox="1"/>
          <p:nvPr>
            <p:ph type="title"/>
          </p:nvPr>
        </p:nvSpPr>
        <p:spPr>
          <a:xfrm>
            <a:off x="3122462" y="2540150"/>
            <a:ext cx="5697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exponent of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not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Not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linear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5" name="Google Shape;1025;p77"/>
          <p:cNvSpPr txBox="1"/>
          <p:nvPr>
            <p:ph type="title"/>
          </p:nvPr>
        </p:nvSpPr>
        <p:spPr>
          <a:xfrm>
            <a:off x="3120950" y="3239591"/>
            <a:ext cx="459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exponents have to be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This will not be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linear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6" name="Google Shape;1026;p77"/>
          <p:cNvSpPr txBox="1"/>
          <p:nvPr>
            <p:ph type="title"/>
          </p:nvPr>
        </p:nvSpPr>
        <p:spPr>
          <a:xfrm>
            <a:off x="3120950" y="4162800"/>
            <a:ext cx="5697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exponents are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Linear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relationship.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0" name="Shape 1030"/>
        <p:cNvGrpSpPr/>
        <p:nvPr/>
      </p:nvGrpSpPr>
      <p:grpSpPr>
        <a:xfrm>
          <a:off x="0" y="0"/>
          <a:ext cx="0" cy="0"/>
        </a:xfrm>
      </p:grpSpPr>
      <p:graphicFrame>
        <p:nvGraphicFramePr>
          <p:cNvPr id="1031" name="Google Shape;1031;p78"/>
          <p:cNvGraphicFramePr>
            <a:graphicFrameLocks noGrp="1"/>
          </p:cNvGraphicFramePr>
          <p:nvPr/>
        </p:nvGraphicFramePr>
        <p:xfrm>
          <a:off x="426303" y="16053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32" name="Google Shape;103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1033" name="Google Shape;1033;p78"/>
          <p:cNvSpPr txBox="1"/>
          <p:nvPr>
            <p:ph type="body" idx="1"/>
          </p:nvPr>
        </p:nvSpPr>
        <p:spPr>
          <a:xfrm>
            <a:off x="324000" y="759300"/>
            <a:ext cx="71352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Alex starts with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100"/>
              <a:t> sweets. Every day he is given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100"/>
              <a:t> more.</a:t>
            </a:r>
            <a:endParaRPr sz="21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This will form an arithmetic sequence.</a:t>
            </a:r>
            <a:endParaRPr sz="2100"/>
          </a:p>
        </p:txBody>
      </p:sp>
      <p:pic>
        <p:nvPicPr>
          <p:cNvPr id="1034" name="Google Shape;103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3795" y="822048"/>
            <a:ext cx="1160123" cy="13379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5" name="Google Shape;1035;p78"/>
          <p:cNvGraphicFramePr>
            <a:graphicFrameLocks noGrp="1"/>
          </p:cNvGraphicFramePr>
          <p:nvPr/>
        </p:nvGraphicFramePr>
        <p:xfrm>
          <a:off x="426303" y="16053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36" name="Google Shape;1036;p78"/>
          <p:cNvSpPr/>
          <p:nvPr/>
        </p:nvSpPr>
        <p:spPr>
          <a:xfrm rot="10800000" flipH="1">
            <a:off x="2511450" y="2196383"/>
            <a:ext cx="3849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7" name="Google Shape;1037;p78"/>
          <p:cNvSpPr/>
          <p:nvPr/>
        </p:nvSpPr>
        <p:spPr>
          <a:xfrm rot="10800000" flipH="1">
            <a:off x="2918070" y="2196383"/>
            <a:ext cx="3849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8" name="Google Shape;1038;p78"/>
          <p:cNvSpPr/>
          <p:nvPr/>
        </p:nvSpPr>
        <p:spPr>
          <a:xfrm rot="10800000" flipH="1">
            <a:off x="3330864" y="2196383"/>
            <a:ext cx="3849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9" name="Google Shape;1039;p78"/>
          <p:cNvSpPr/>
          <p:nvPr/>
        </p:nvSpPr>
        <p:spPr>
          <a:xfrm rot="10800000" flipH="1">
            <a:off x="3743658" y="2196383"/>
            <a:ext cx="3849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0" name="Google Shape;1040;p78"/>
          <p:cNvSpPr txBox="1"/>
          <p:nvPr/>
        </p:nvSpPr>
        <p:spPr>
          <a:xfrm>
            <a:off x="2534990" y="2723721"/>
            <a:ext cx="384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1" name="Google Shape;1041;p78"/>
          <p:cNvSpPr txBox="1"/>
          <p:nvPr/>
        </p:nvSpPr>
        <p:spPr>
          <a:xfrm>
            <a:off x="2957877" y="2723721"/>
            <a:ext cx="384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2" name="Google Shape;1042;p78"/>
          <p:cNvSpPr txBox="1"/>
          <p:nvPr/>
        </p:nvSpPr>
        <p:spPr>
          <a:xfrm>
            <a:off x="3394757" y="2723721"/>
            <a:ext cx="384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3" name="Google Shape;1043;p78"/>
          <p:cNvSpPr txBox="1"/>
          <p:nvPr/>
        </p:nvSpPr>
        <p:spPr>
          <a:xfrm>
            <a:off x="3817643" y="2723721"/>
            <a:ext cx="384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78"/>
          <p:cNvSpPr txBox="1"/>
          <p:nvPr>
            <p:ph type="body" idx="1"/>
          </p:nvPr>
        </p:nvSpPr>
        <p:spPr>
          <a:xfrm>
            <a:off x="324000" y="3121500"/>
            <a:ext cx="35874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The arithmetic (</a:t>
            </a:r>
            <a:r>
              <a:rPr lang="en-GB" sz="2100" b="1"/>
              <a:t>linear</a:t>
            </a:r>
            <a:r>
              <a:rPr lang="en-GB" sz="2100"/>
              <a:t>) sequence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3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GB" sz="2100"/>
              <a:t> with a constant difference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1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8" name="Shape 1048"/>
        <p:cNvGrpSpPr/>
        <p:nvPr/>
      </p:nvGrpSpPr>
      <p:grpSpPr>
        <a:xfrm>
          <a:off x="0" y="0"/>
          <a:ext cx="0" cy="0"/>
        </a:xfrm>
      </p:grpSpPr>
      <p:graphicFrame>
        <p:nvGraphicFramePr>
          <p:cNvPr id="1049" name="Google Shape;1049;p79"/>
          <p:cNvGraphicFramePr>
            <a:graphicFrameLocks noGrp="1"/>
          </p:cNvGraphicFramePr>
          <p:nvPr/>
        </p:nvGraphicFramePr>
        <p:xfrm>
          <a:off x="426303" y="16053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50" name="Google Shape;105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graphicFrame>
        <p:nvGraphicFramePr>
          <p:cNvPr id="1051" name="Google Shape;1051;p79"/>
          <p:cNvGraphicFramePr>
            <a:graphicFrameLocks noGrp="1"/>
          </p:cNvGraphicFramePr>
          <p:nvPr/>
        </p:nvGraphicFramePr>
        <p:xfrm>
          <a:off x="426303" y="16053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1906075"/>
                <a:gridCol w="394775"/>
                <a:gridCol w="394775"/>
                <a:gridCol w="394775"/>
                <a:gridCol w="394775"/>
                <a:gridCol w="39477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52" name="Google Shape;1052;p79"/>
          <p:cNvSpPr/>
          <p:nvPr/>
        </p:nvSpPr>
        <p:spPr>
          <a:xfrm rot="10800000" flipH="1">
            <a:off x="2511450" y="2196383"/>
            <a:ext cx="3849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3" name="Google Shape;1053;p79"/>
          <p:cNvSpPr/>
          <p:nvPr/>
        </p:nvSpPr>
        <p:spPr>
          <a:xfrm rot="10800000" flipH="1">
            <a:off x="2918070" y="2196383"/>
            <a:ext cx="3849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4" name="Google Shape;1054;p79"/>
          <p:cNvSpPr/>
          <p:nvPr/>
        </p:nvSpPr>
        <p:spPr>
          <a:xfrm rot="10800000" flipH="1">
            <a:off x="3330864" y="2196383"/>
            <a:ext cx="3849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5" name="Google Shape;1055;p79"/>
          <p:cNvSpPr/>
          <p:nvPr/>
        </p:nvSpPr>
        <p:spPr>
          <a:xfrm rot="10800000" flipH="1">
            <a:off x="3743658" y="2196383"/>
            <a:ext cx="3849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6" name="Google Shape;1056;p79"/>
          <p:cNvSpPr txBox="1"/>
          <p:nvPr/>
        </p:nvSpPr>
        <p:spPr>
          <a:xfrm>
            <a:off x="2534990" y="2723721"/>
            <a:ext cx="384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7" name="Google Shape;1057;p79"/>
          <p:cNvSpPr txBox="1"/>
          <p:nvPr/>
        </p:nvSpPr>
        <p:spPr>
          <a:xfrm>
            <a:off x="2957877" y="2723721"/>
            <a:ext cx="384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8" name="Google Shape;1058;p79"/>
          <p:cNvSpPr txBox="1"/>
          <p:nvPr/>
        </p:nvSpPr>
        <p:spPr>
          <a:xfrm>
            <a:off x="3394757" y="2723721"/>
            <a:ext cx="384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9" name="Google Shape;1059;p79"/>
          <p:cNvSpPr txBox="1"/>
          <p:nvPr/>
        </p:nvSpPr>
        <p:spPr>
          <a:xfrm>
            <a:off x="3817643" y="2723721"/>
            <a:ext cx="384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0" name="Google Shape;1060;p79"/>
          <p:cNvSpPr txBox="1"/>
          <p:nvPr>
            <p:ph type="body" idx="1"/>
          </p:nvPr>
        </p:nvSpPr>
        <p:spPr>
          <a:xfrm>
            <a:off x="324000" y="736850"/>
            <a:ext cx="58662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The arithmetic (</a:t>
            </a:r>
            <a:r>
              <a:rPr lang="en-GB" sz="2100" b="1"/>
              <a:t>linear</a:t>
            </a:r>
            <a:r>
              <a:rPr lang="en-GB" sz="2100"/>
              <a:t>) sequence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3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GB" sz="2100"/>
              <a:t> with a constant difference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100"/>
          </a:p>
        </p:txBody>
      </p:sp>
      <p:sp>
        <p:nvSpPr>
          <p:cNvPr id="1061" name="Google Shape;1061;p79"/>
          <p:cNvSpPr txBox="1"/>
          <p:nvPr>
            <p:ph type="body" idx="1"/>
          </p:nvPr>
        </p:nvSpPr>
        <p:spPr>
          <a:xfrm>
            <a:off x="324000" y="3403850"/>
            <a:ext cx="42480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With a visual representation of the sequence we can </a:t>
            </a:r>
            <a:r>
              <a:rPr lang="en-GB" sz="2100">
                <a:solidFill>
                  <a:schemeClr val="accent4"/>
                </a:solidFill>
              </a:rPr>
              <a:t>see</a:t>
            </a:r>
            <a:r>
              <a:rPr lang="en-GB" sz="2100"/>
              <a:t> that constant difference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100"/>
          </a:p>
        </p:txBody>
      </p:sp>
      <p:grpSp>
        <p:nvGrpSpPr>
          <p:cNvPr id="1062" name="Google Shape;1062;p79"/>
          <p:cNvGrpSpPr/>
          <p:nvPr/>
        </p:nvGrpSpPr>
        <p:grpSpPr>
          <a:xfrm>
            <a:off x="5610325" y="4251485"/>
            <a:ext cx="277437" cy="549776"/>
            <a:chOff x="2772127" y="3611285"/>
            <a:chExt cx="605624" cy="1200123"/>
          </a:xfrm>
        </p:grpSpPr>
        <p:pic>
          <p:nvPicPr>
            <p:cNvPr id="1063" name="Google Shape;1063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72127" y="420482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4" name="Google Shape;1064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72127" y="361128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5" name="Google Shape;1065;p79"/>
          <p:cNvGrpSpPr/>
          <p:nvPr/>
        </p:nvGrpSpPr>
        <p:grpSpPr>
          <a:xfrm>
            <a:off x="6044615" y="3388382"/>
            <a:ext cx="278753" cy="1412880"/>
            <a:chOff x="6044615" y="3388382"/>
            <a:chExt cx="278753" cy="1412880"/>
          </a:xfrm>
        </p:grpSpPr>
        <p:grpSp>
          <p:nvGrpSpPr>
            <p:cNvPr id="1066" name="Google Shape;1066;p79"/>
            <p:cNvGrpSpPr/>
            <p:nvPr/>
          </p:nvGrpSpPr>
          <p:grpSpPr>
            <a:xfrm>
              <a:off x="6044615" y="3388382"/>
              <a:ext cx="277437" cy="825825"/>
              <a:chOff x="3627525" y="3023590"/>
              <a:chExt cx="605624" cy="1802718"/>
            </a:xfrm>
          </p:grpSpPr>
          <p:pic>
            <p:nvPicPr>
              <p:cNvPr id="1067" name="Google Shape;1067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8" name="Google Shape;1068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9" name="Google Shape;1069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70" name="Google Shape;1070;p79"/>
            <p:cNvGrpSpPr/>
            <p:nvPr/>
          </p:nvGrpSpPr>
          <p:grpSpPr>
            <a:xfrm>
              <a:off x="6045932" y="4251485"/>
              <a:ext cx="277437" cy="549776"/>
              <a:chOff x="2772127" y="3611285"/>
              <a:chExt cx="605624" cy="1200123"/>
            </a:xfrm>
          </p:grpSpPr>
          <p:pic>
            <p:nvPicPr>
              <p:cNvPr id="1071" name="Google Shape;1071;p7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2" name="Google Shape;1072;p7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73" name="Google Shape;1073;p79"/>
          <p:cNvGrpSpPr/>
          <p:nvPr/>
        </p:nvGrpSpPr>
        <p:grpSpPr>
          <a:xfrm>
            <a:off x="6480221" y="2528887"/>
            <a:ext cx="278753" cy="2272375"/>
            <a:chOff x="6480221" y="2528887"/>
            <a:chExt cx="278753" cy="2272375"/>
          </a:xfrm>
        </p:grpSpPr>
        <p:grpSp>
          <p:nvGrpSpPr>
            <p:cNvPr id="1074" name="Google Shape;1074;p79"/>
            <p:cNvGrpSpPr/>
            <p:nvPr/>
          </p:nvGrpSpPr>
          <p:grpSpPr>
            <a:xfrm>
              <a:off x="6480221" y="3388382"/>
              <a:ext cx="277437" cy="825825"/>
              <a:chOff x="3627525" y="3023590"/>
              <a:chExt cx="605624" cy="1802718"/>
            </a:xfrm>
          </p:grpSpPr>
          <p:pic>
            <p:nvPicPr>
              <p:cNvPr id="1075" name="Google Shape;1075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6" name="Google Shape;1076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7" name="Google Shape;1077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78" name="Google Shape;1078;p79"/>
            <p:cNvGrpSpPr/>
            <p:nvPr/>
          </p:nvGrpSpPr>
          <p:grpSpPr>
            <a:xfrm>
              <a:off x="6481538" y="4251485"/>
              <a:ext cx="277437" cy="549776"/>
              <a:chOff x="2772127" y="3611285"/>
              <a:chExt cx="605624" cy="1200123"/>
            </a:xfrm>
          </p:grpSpPr>
          <p:pic>
            <p:nvPicPr>
              <p:cNvPr id="1079" name="Google Shape;1079;p7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0" name="Google Shape;1080;p7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81" name="Google Shape;1081;p79"/>
            <p:cNvGrpSpPr/>
            <p:nvPr/>
          </p:nvGrpSpPr>
          <p:grpSpPr>
            <a:xfrm>
              <a:off x="6480221" y="2528887"/>
              <a:ext cx="277437" cy="825825"/>
              <a:chOff x="3627525" y="3023590"/>
              <a:chExt cx="605624" cy="1802718"/>
            </a:xfrm>
          </p:grpSpPr>
          <p:pic>
            <p:nvPicPr>
              <p:cNvPr id="1082" name="Google Shape;1082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3" name="Google Shape;1083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4" name="Google Shape;1084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85" name="Google Shape;1085;p79"/>
          <p:cNvGrpSpPr/>
          <p:nvPr/>
        </p:nvGrpSpPr>
        <p:grpSpPr>
          <a:xfrm>
            <a:off x="6915828" y="1669392"/>
            <a:ext cx="278753" cy="3131869"/>
            <a:chOff x="6915828" y="1669392"/>
            <a:chExt cx="278753" cy="3131869"/>
          </a:xfrm>
        </p:grpSpPr>
        <p:grpSp>
          <p:nvGrpSpPr>
            <p:cNvPr id="1086" name="Google Shape;1086;p79"/>
            <p:cNvGrpSpPr/>
            <p:nvPr/>
          </p:nvGrpSpPr>
          <p:grpSpPr>
            <a:xfrm>
              <a:off x="6915828" y="3388382"/>
              <a:ext cx="277437" cy="825825"/>
              <a:chOff x="3627525" y="3023590"/>
              <a:chExt cx="605624" cy="1802718"/>
            </a:xfrm>
          </p:grpSpPr>
          <p:pic>
            <p:nvPicPr>
              <p:cNvPr id="1087" name="Google Shape;1087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8" name="Google Shape;1088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9" name="Google Shape;1089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90" name="Google Shape;1090;p79"/>
            <p:cNvGrpSpPr/>
            <p:nvPr/>
          </p:nvGrpSpPr>
          <p:grpSpPr>
            <a:xfrm>
              <a:off x="6917144" y="4251485"/>
              <a:ext cx="277437" cy="549776"/>
              <a:chOff x="2772127" y="3611285"/>
              <a:chExt cx="605624" cy="1200123"/>
            </a:xfrm>
          </p:grpSpPr>
          <p:pic>
            <p:nvPicPr>
              <p:cNvPr id="1091" name="Google Shape;1091;p7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2" name="Google Shape;1092;p7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93" name="Google Shape;1093;p79"/>
            <p:cNvGrpSpPr/>
            <p:nvPr/>
          </p:nvGrpSpPr>
          <p:grpSpPr>
            <a:xfrm>
              <a:off x="6915828" y="2528887"/>
              <a:ext cx="277437" cy="825825"/>
              <a:chOff x="3627525" y="3023590"/>
              <a:chExt cx="605624" cy="1802718"/>
            </a:xfrm>
          </p:grpSpPr>
          <p:pic>
            <p:nvPicPr>
              <p:cNvPr id="1094" name="Google Shape;1094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5" name="Google Shape;1095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6" name="Google Shape;1096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97" name="Google Shape;1097;p79"/>
            <p:cNvGrpSpPr/>
            <p:nvPr/>
          </p:nvGrpSpPr>
          <p:grpSpPr>
            <a:xfrm>
              <a:off x="6915828" y="1669392"/>
              <a:ext cx="277437" cy="825825"/>
              <a:chOff x="3627525" y="3023590"/>
              <a:chExt cx="605624" cy="1802718"/>
            </a:xfrm>
          </p:grpSpPr>
          <p:pic>
            <p:nvPicPr>
              <p:cNvPr id="1098" name="Google Shape;1098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9" name="Google Shape;1099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0" name="Google Shape;1100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01" name="Google Shape;1101;p79"/>
          <p:cNvGrpSpPr/>
          <p:nvPr/>
        </p:nvGrpSpPr>
        <p:grpSpPr>
          <a:xfrm>
            <a:off x="7340878" y="809897"/>
            <a:ext cx="277471" cy="3991364"/>
            <a:chOff x="7340878" y="809897"/>
            <a:chExt cx="277471" cy="3991364"/>
          </a:xfrm>
        </p:grpSpPr>
        <p:grpSp>
          <p:nvGrpSpPr>
            <p:cNvPr id="1102" name="Google Shape;1102;p79"/>
            <p:cNvGrpSpPr/>
            <p:nvPr/>
          </p:nvGrpSpPr>
          <p:grpSpPr>
            <a:xfrm>
              <a:off x="7340878" y="3388382"/>
              <a:ext cx="277437" cy="825825"/>
              <a:chOff x="3627525" y="3023590"/>
              <a:chExt cx="605624" cy="1802718"/>
            </a:xfrm>
          </p:grpSpPr>
          <p:pic>
            <p:nvPicPr>
              <p:cNvPr id="1103" name="Google Shape;1103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4" name="Google Shape;1104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5" name="Google Shape;1105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06" name="Google Shape;1106;p79"/>
            <p:cNvGrpSpPr/>
            <p:nvPr/>
          </p:nvGrpSpPr>
          <p:grpSpPr>
            <a:xfrm>
              <a:off x="7340913" y="4251485"/>
              <a:ext cx="277437" cy="549776"/>
              <a:chOff x="2772127" y="3611285"/>
              <a:chExt cx="605624" cy="1200123"/>
            </a:xfrm>
          </p:grpSpPr>
          <p:pic>
            <p:nvPicPr>
              <p:cNvPr id="1107" name="Google Shape;1107;p7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8" name="Google Shape;1108;p7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09" name="Google Shape;1109;p79"/>
            <p:cNvGrpSpPr/>
            <p:nvPr/>
          </p:nvGrpSpPr>
          <p:grpSpPr>
            <a:xfrm>
              <a:off x="7340878" y="2528887"/>
              <a:ext cx="277437" cy="825825"/>
              <a:chOff x="3627525" y="3023590"/>
              <a:chExt cx="605624" cy="1802718"/>
            </a:xfrm>
          </p:grpSpPr>
          <p:pic>
            <p:nvPicPr>
              <p:cNvPr id="1110" name="Google Shape;1110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1" name="Google Shape;1111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2" name="Google Shape;1112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13" name="Google Shape;1113;p79"/>
            <p:cNvGrpSpPr/>
            <p:nvPr/>
          </p:nvGrpSpPr>
          <p:grpSpPr>
            <a:xfrm>
              <a:off x="7340878" y="1669392"/>
              <a:ext cx="277437" cy="825825"/>
              <a:chOff x="3627525" y="3023590"/>
              <a:chExt cx="605624" cy="1802718"/>
            </a:xfrm>
          </p:grpSpPr>
          <p:pic>
            <p:nvPicPr>
              <p:cNvPr id="1114" name="Google Shape;1114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5" name="Google Shape;1115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6" name="Google Shape;1116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17" name="Google Shape;1117;p79"/>
            <p:cNvGrpSpPr/>
            <p:nvPr/>
          </p:nvGrpSpPr>
          <p:grpSpPr>
            <a:xfrm>
              <a:off x="7340878" y="809897"/>
              <a:ext cx="277437" cy="825825"/>
              <a:chOff x="3627525" y="3023590"/>
              <a:chExt cx="605624" cy="1802718"/>
            </a:xfrm>
          </p:grpSpPr>
          <p:pic>
            <p:nvPicPr>
              <p:cNvPr id="1118" name="Google Shape;1118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9" name="Google Shape;1119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0" name="Google Shape;1120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1121" name="Google Shape;1121;p79"/>
          <p:cNvCxnSpPr/>
          <p:nvPr/>
        </p:nvCxnSpPr>
        <p:spPr>
          <a:xfrm rot="10800000" flipH="1">
            <a:off x="5596644" y="528785"/>
            <a:ext cx="1875600" cy="37227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5" name="Shape 1125"/>
        <p:cNvGrpSpPr/>
        <p:nvPr/>
      </p:nvGrpSpPr>
      <p:grpSpPr>
        <a:xfrm>
          <a:off x="0" y="0"/>
          <a:ext cx="0" cy="0"/>
        </a:xfrm>
      </p:grpSpPr>
      <p:sp>
        <p:nvSpPr>
          <p:cNvPr id="1126" name="Google Shape;112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1127" name="Google Shape;1127;p80"/>
          <p:cNvSpPr/>
          <p:nvPr/>
        </p:nvSpPr>
        <p:spPr>
          <a:xfrm rot="10800000" flipH="1">
            <a:off x="1017950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8" name="Google Shape;1128;p80"/>
          <p:cNvSpPr/>
          <p:nvPr/>
        </p:nvSpPr>
        <p:spPr>
          <a:xfrm rot="10800000" flipH="1">
            <a:off x="1409158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9" name="Google Shape;1129;p80"/>
          <p:cNvSpPr/>
          <p:nvPr/>
        </p:nvSpPr>
        <p:spPr>
          <a:xfrm rot="10800000" flipH="1">
            <a:off x="1806308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0" name="Google Shape;1130;p80"/>
          <p:cNvSpPr/>
          <p:nvPr/>
        </p:nvSpPr>
        <p:spPr>
          <a:xfrm rot="10800000" flipH="1">
            <a:off x="2203457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1" name="Google Shape;1131;p80"/>
          <p:cNvSpPr txBox="1"/>
          <p:nvPr/>
        </p:nvSpPr>
        <p:spPr>
          <a:xfrm>
            <a:off x="1040598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2" name="Google Shape;1132;p80"/>
          <p:cNvSpPr txBox="1"/>
          <p:nvPr/>
        </p:nvSpPr>
        <p:spPr>
          <a:xfrm>
            <a:off x="1447457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3" name="Google Shape;1133;p80"/>
          <p:cNvSpPr txBox="1"/>
          <p:nvPr/>
        </p:nvSpPr>
        <p:spPr>
          <a:xfrm>
            <a:off x="1867779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4" name="Google Shape;1134;p80"/>
          <p:cNvSpPr txBox="1"/>
          <p:nvPr/>
        </p:nvSpPr>
        <p:spPr>
          <a:xfrm>
            <a:off x="2274638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5" name="Google Shape;1135;p80"/>
          <p:cNvSpPr txBox="1"/>
          <p:nvPr>
            <p:ph type="body" idx="1"/>
          </p:nvPr>
        </p:nvSpPr>
        <p:spPr>
          <a:xfrm>
            <a:off x="324000" y="736850"/>
            <a:ext cx="58662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Will we see something similar when we plot the algebraic relationship </a:t>
            </a:r>
            <a:r>
              <a:rPr lang="en-GB" sz="23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 sz="23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GB" sz="2100"/>
              <a:t> ?</a:t>
            </a:r>
            <a:endParaRPr sz="2100"/>
          </a:p>
        </p:txBody>
      </p:sp>
      <p:graphicFrame>
        <p:nvGraphicFramePr>
          <p:cNvPr id="1136" name="Google Shape;1136;p80"/>
          <p:cNvGraphicFramePr>
            <a:graphicFrameLocks noGrp="1"/>
          </p:cNvGraphicFramePr>
          <p:nvPr/>
        </p:nvGraphicFramePr>
        <p:xfrm>
          <a:off x="469567" y="1790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73250"/>
                <a:gridCol w="373250"/>
                <a:gridCol w="373250"/>
                <a:gridCol w="373250"/>
                <a:gridCol w="373250"/>
                <a:gridCol w="37325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37" name="Google Shape;1137;p80"/>
          <p:cNvSpPr txBox="1"/>
          <p:nvPr/>
        </p:nvSpPr>
        <p:spPr>
          <a:xfrm>
            <a:off x="6373267" y="52492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8" name="Google Shape;1138;p80" descr="&lt;math xmlns=&quot;http://www.w3.org/1998/Math/MathML&quot; data-is-equatio=&quot;1&quot; data-equatio-url=&quot;https://equatio-api.texthelp.com/desmos/get/10-11-2023/3a24a015-4571-4164-98eb-cc1d25a648c3&quot; data-equatio-type=&quot;desmos&quot;&gt;&lt;mglyph src=&quot;https://equatio-api.texthelp.com/desmos/get/10-11-2023/3a24a015-4571-4164-98eb-cc1d25a648c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4633" t="7990" r="60286" b="10390"/>
          <a:stretch>
            <a:fillRect/>
          </a:stretch>
        </p:blipFill>
        <p:spPr>
          <a:xfrm>
            <a:off x="6272010" y="820500"/>
            <a:ext cx="1641624" cy="40067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0"/>
          <p:cNvSpPr txBox="1"/>
          <p:nvPr/>
        </p:nvSpPr>
        <p:spPr>
          <a:xfrm>
            <a:off x="7950222" y="445683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40" name="Google Shape;1140;p80"/>
          <p:cNvGrpSpPr/>
          <p:nvPr/>
        </p:nvGrpSpPr>
        <p:grpSpPr>
          <a:xfrm>
            <a:off x="6888074" y="3358802"/>
            <a:ext cx="169514" cy="748849"/>
            <a:chOff x="3627525" y="3023590"/>
            <a:chExt cx="605624" cy="1802718"/>
          </a:xfrm>
        </p:grpSpPr>
        <p:pic>
          <p:nvPicPr>
            <p:cNvPr id="1141" name="Google Shape;1141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27525" y="421972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2" name="Google Shape;1142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27525" y="3621658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3" name="Google Shape;1143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27525" y="3023590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4" name="Google Shape;1144;p80"/>
          <p:cNvGrpSpPr/>
          <p:nvPr/>
        </p:nvGrpSpPr>
        <p:grpSpPr>
          <a:xfrm>
            <a:off x="7154219" y="2579351"/>
            <a:ext cx="169514" cy="1528299"/>
            <a:chOff x="7154219" y="2579351"/>
            <a:chExt cx="169514" cy="1528299"/>
          </a:xfrm>
        </p:grpSpPr>
        <p:grpSp>
          <p:nvGrpSpPr>
            <p:cNvPr id="1145" name="Google Shape;1145;p80"/>
            <p:cNvGrpSpPr/>
            <p:nvPr/>
          </p:nvGrpSpPr>
          <p:grpSpPr>
            <a:xfrm>
              <a:off x="7154219" y="3358802"/>
              <a:ext cx="169514" cy="748849"/>
              <a:chOff x="3627525" y="3023590"/>
              <a:chExt cx="605624" cy="1802718"/>
            </a:xfrm>
          </p:grpSpPr>
          <p:pic>
            <p:nvPicPr>
              <p:cNvPr id="1146" name="Google Shape;1146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7" name="Google Shape;1147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8" name="Google Shape;1148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49" name="Google Shape;1149;p80"/>
            <p:cNvGrpSpPr/>
            <p:nvPr/>
          </p:nvGrpSpPr>
          <p:grpSpPr>
            <a:xfrm>
              <a:off x="7154219" y="2579351"/>
              <a:ext cx="169514" cy="748849"/>
              <a:chOff x="3627525" y="3023590"/>
              <a:chExt cx="605624" cy="1802718"/>
            </a:xfrm>
          </p:grpSpPr>
          <p:pic>
            <p:nvPicPr>
              <p:cNvPr id="1150" name="Google Shape;1150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1" name="Google Shape;1151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2" name="Google Shape;1152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53" name="Google Shape;1153;p80"/>
          <p:cNvGrpSpPr/>
          <p:nvPr/>
        </p:nvGrpSpPr>
        <p:grpSpPr>
          <a:xfrm>
            <a:off x="7420364" y="1799901"/>
            <a:ext cx="169514" cy="2307750"/>
            <a:chOff x="7420364" y="1799901"/>
            <a:chExt cx="169514" cy="2307750"/>
          </a:xfrm>
        </p:grpSpPr>
        <p:grpSp>
          <p:nvGrpSpPr>
            <p:cNvPr id="1154" name="Google Shape;1154;p80"/>
            <p:cNvGrpSpPr/>
            <p:nvPr/>
          </p:nvGrpSpPr>
          <p:grpSpPr>
            <a:xfrm>
              <a:off x="7420364" y="3358802"/>
              <a:ext cx="169514" cy="748849"/>
              <a:chOff x="3627525" y="3023590"/>
              <a:chExt cx="605624" cy="1802718"/>
            </a:xfrm>
          </p:grpSpPr>
          <p:pic>
            <p:nvPicPr>
              <p:cNvPr id="1155" name="Google Shape;1155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6" name="Google Shape;1156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7" name="Google Shape;1157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58" name="Google Shape;1158;p80"/>
            <p:cNvGrpSpPr/>
            <p:nvPr/>
          </p:nvGrpSpPr>
          <p:grpSpPr>
            <a:xfrm>
              <a:off x="7420364" y="2579351"/>
              <a:ext cx="169514" cy="748849"/>
              <a:chOff x="3627525" y="3023590"/>
              <a:chExt cx="605624" cy="1802718"/>
            </a:xfrm>
          </p:grpSpPr>
          <p:pic>
            <p:nvPicPr>
              <p:cNvPr id="1159" name="Google Shape;1159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0" name="Google Shape;1160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1" name="Google Shape;1161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62" name="Google Shape;1162;p80"/>
            <p:cNvGrpSpPr/>
            <p:nvPr/>
          </p:nvGrpSpPr>
          <p:grpSpPr>
            <a:xfrm>
              <a:off x="7420364" y="1799901"/>
              <a:ext cx="169514" cy="748849"/>
              <a:chOff x="3627525" y="3023590"/>
              <a:chExt cx="605624" cy="1802718"/>
            </a:xfrm>
          </p:grpSpPr>
          <p:pic>
            <p:nvPicPr>
              <p:cNvPr id="1163" name="Google Shape;1163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4" name="Google Shape;1164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5" name="Google Shape;1165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66" name="Google Shape;1166;p80"/>
          <p:cNvGrpSpPr/>
          <p:nvPr/>
        </p:nvGrpSpPr>
        <p:grpSpPr>
          <a:xfrm>
            <a:off x="7680060" y="1020450"/>
            <a:ext cx="169514" cy="3087201"/>
            <a:chOff x="7680060" y="1020450"/>
            <a:chExt cx="169514" cy="3087201"/>
          </a:xfrm>
        </p:grpSpPr>
        <p:grpSp>
          <p:nvGrpSpPr>
            <p:cNvPr id="1167" name="Google Shape;1167;p80"/>
            <p:cNvGrpSpPr/>
            <p:nvPr/>
          </p:nvGrpSpPr>
          <p:grpSpPr>
            <a:xfrm>
              <a:off x="7680060" y="3358802"/>
              <a:ext cx="169514" cy="748849"/>
              <a:chOff x="3627525" y="3023590"/>
              <a:chExt cx="605624" cy="1802718"/>
            </a:xfrm>
          </p:grpSpPr>
          <p:pic>
            <p:nvPicPr>
              <p:cNvPr id="1168" name="Google Shape;1168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9" name="Google Shape;1169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0" name="Google Shape;1170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71" name="Google Shape;1171;p80"/>
            <p:cNvGrpSpPr/>
            <p:nvPr/>
          </p:nvGrpSpPr>
          <p:grpSpPr>
            <a:xfrm>
              <a:off x="7680060" y="2579351"/>
              <a:ext cx="169514" cy="748849"/>
              <a:chOff x="3627525" y="3023590"/>
              <a:chExt cx="605624" cy="1802718"/>
            </a:xfrm>
          </p:grpSpPr>
          <p:pic>
            <p:nvPicPr>
              <p:cNvPr id="1172" name="Google Shape;1172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3" name="Google Shape;1173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4" name="Google Shape;1174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75" name="Google Shape;1175;p80"/>
            <p:cNvGrpSpPr/>
            <p:nvPr/>
          </p:nvGrpSpPr>
          <p:grpSpPr>
            <a:xfrm>
              <a:off x="7680060" y="1799901"/>
              <a:ext cx="169514" cy="748849"/>
              <a:chOff x="3627525" y="3023590"/>
              <a:chExt cx="605624" cy="1802718"/>
            </a:xfrm>
          </p:grpSpPr>
          <p:pic>
            <p:nvPicPr>
              <p:cNvPr id="1176" name="Google Shape;1176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7" name="Google Shape;1177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8" name="Google Shape;1178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79" name="Google Shape;1179;p80"/>
            <p:cNvGrpSpPr/>
            <p:nvPr/>
          </p:nvGrpSpPr>
          <p:grpSpPr>
            <a:xfrm>
              <a:off x="7680060" y="1020450"/>
              <a:ext cx="169514" cy="748849"/>
              <a:chOff x="3627525" y="3023590"/>
              <a:chExt cx="605624" cy="1802718"/>
            </a:xfrm>
          </p:grpSpPr>
          <p:pic>
            <p:nvPicPr>
              <p:cNvPr id="1180" name="Google Shape;1180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1" name="Google Shape;1181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2" name="Google Shape;1182;p8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183" name="Google Shape;1183;p80"/>
          <p:cNvGraphicFramePr>
            <a:graphicFrameLocks noGrp="1"/>
          </p:cNvGraphicFramePr>
          <p:nvPr/>
        </p:nvGraphicFramePr>
        <p:xfrm>
          <a:off x="469567" y="1790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73250"/>
                <a:gridCol w="373250"/>
                <a:gridCol w="373250"/>
                <a:gridCol w="373250"/>
                <a:gridCol w="373250"/>
                <a:gridCol w="37325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184" name="Google Shape;1184;p80"/>
          <p:cNvCxnSpPr/>
          <p:nvPr/>
        </p:nvCxnSpPr>
        <p:spPr>
          <a:xfrm rot="10800000" flipH="1">
            <a:off x="6710950" y="827575"/>
            <a:ext cx="1077600" cy="32730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8" name="Shape 1188"/>
        <p:cNvGrpSpPr/>
        <p:nvPr/>
      </p:nvGrpSpPr>
      <p:grpSpPr>
        <a:xfrm>
          <a:off x="0" y="0"/>
          <a:ext cx="0" cy="0"/>
        </a:xfrm>
      </p:grpSpPr>
      <p:sp>
        <p:nvSpPr>
          <p:cNvPr id="1189" name="Google Shape;118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1190" name="Google Shape;1190;p81"/>
          <p:cNvSpPr/>
          <p:nvPr/>
        </p:nvSpPr>
        <p:spPr>
          <a:xfrm rot="10800000" flipH="1">
            <a:off x="1017950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1" name="Google Shape;1191;p81"/>
          <p:cNvSpPr/>
          <p:nvPr/>
        </p:nvSpPr>
        <p:spPr>
          <a:xfrm rot="10800000" flipH="1">
            <a:off x="1409158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2" name="Google Shape;1192;p81"/>
          <p:cNvSpPr/>
          <p:nvPr/>
        </p:nvSpPr>
        <p:spPr>
          <a:xfrm rot="10800000" flipH="1">
            <a:off x="1806308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3" name="Google Shape;1193;p81"/>
          <p:cNvSpPr/>
          <p:nvPr/>
        </p:nvSpPr>
        <p:spPr>
          <a:xfrm rot="10800000" flipH="1">
            <a:off x="2203457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4" name="Google Shape;1194;p81"/>
          <p:cNvSpPr txBox="1"/>
          <p:nvPr/>
        </p:nvSpPr>
        <p:spPr>
          <a:xfrm>
            <a:off x="1040598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5" name="Google Shape;1195;p81"/>
          <p:cNvSpPr txBox="1"/>
          <p:nvPr/>
        </p:nvSpPr>
        <p:spPr>
          <a:xfrm>
            <a:off x="1447457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6" name="Google Shape;1196;p81"/>
          <p:cNvSpPr txBox="1"/>
          <p:nvPr/>
        </p:nvSpPr>
        <p:spPr>
          <a:xfrm>
            <a:off x="1867779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7" name="Google Shape;1197;p81"/>
          <p:cNvSpPr txBox="1"/>
          <p:nvPr/>
        </p:nvSpPr>
        <p:spPr>
          <a:xfrm>
            <a:off x="2274638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8" name="Google Shape;1198;p81"/>
          <p:cNvSpPr txBox="1"/>
          <p:nvPr>
            <p:ph type="body" idx="1"/>
          </p:nvPr>
        </p:nvSpPr>
        <p:spPr>
          <a:xfrm>
            <a:off x="324000" y="3403850"/>
            <a:ext cx="54504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relationship between two variables is </a:t>
            </a:r>
            <a:r>
              <a:rPr lang="en-GB" b="1"/>
              <a:t>linear </a:t>
            </a:r>
            <a:r>
              <a:rPr lang="en-GB"/>
              <a:t>when they </a:t>
            </a:r>
            <a:r>
              <a:rPr lang="en-GB">
                <a:solidFill>
                  <a:schemeClr val="accent4"/>
                </a:solidFill>
              </a:rPr>
              <a:t>change together</a:t>
            </a:r>
            <a:r>
              <a:rPr lang="en-GB"/>
              <a:t> at a constant rate.</a:t>
            </a:r>
            <a:endParaRPr sz="2100"/>
          </a:p>
        </p:txBody>
      </p:sp>
      <p:graphicFrame>
        <p:nvGraphicFramePr>
          <p:cNvPr id="1199" name="Google Shape;1199;p81"/>
          <p:cNvGraphicFramePr>
            <a:graphicFrameLocks noGrp="1"/>
          </p:cNvGraphicFramePr>
          <p:nvPr/>
        </p:nvGraphicFramePr>
        <p:xfrm>
          <a:off x="469567" y="1790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73250"/>
                <a:gridCol w="373250"/>
                <a:gridCol w="373250"/>
                <a:gridCol w="373250"/>
                <a:gridCol w="373250"/>
                <a:gridCol w="37325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00" name="Google Shape;1200;p81"/>
          <p:cNvSpPr txBox="1"/>
          <p:nvPr/>
        </p:nvSpPr>
        <p:spPr>
          <a:xfrm>
            <a:off x="6373267" y="52492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1" name="Google Shape;1201;p81" descr="&lt;math xmlns=&quot;http://www.w3.org/1998/Math/MathML&quot; data-is-equatio=&quot;1&quot; data-equatio-url=&quot;https://equatio-api.texthelp.com/desmos/get/10-11-2023/3a24a015-4571-4164-98eb-cc1d25a648c3&quot; data-equatio-type=&quot;desmos&quot;&gt;&lt;mglyph src=&quot;https://equatio-api.texthelp.com/desmos/get/10-11-2023/3a24a015-4571-4164-98eb-cc1d25a648c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4633" t="7990" r="60286" b="10390"/>
          <a:stretch>
            <a:fillRect/>
          </a:stretch>
        </p:blipFill>
        <p:spPr>
          <a:xfrm>
            <a:off x="6272010" y="820500"/>
            <a:ext cx="1641624" cy="4006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81"/>
          <p:cNvSpPr txBox="1"/>
          <p:nvPr/>
        </p:nvSpPr>
        <p:spPr>
          <a:xfrm>
            <a:off x="7950222" y="445683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03" name="Google Shape;1203;p81"/>
          <p:cNvGraphicFramePr>
            <a:graphicFrameLocks noGrp="1"/>
          </p:cNvGraphicFramePr>
          <p:nvPr/>
        </p:nvGraphicFramePr>
        <p:xfrm>
          <a:off x="469567" y="1790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73250"/>
                <a:gridCol w="373250"/>
                <a:gridCol w="373250"/>
                <a:gridCol w="373250"/>
                <a:gridCol w="373250"/>
                <a:gridCol w="37325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04" name="Google Shape;1204;p81"/>
          <p:cNvSpPr txBox="1"/>
          <p:nvPr/>
        </p:nvSpPr>
        <p:spPr>
          <a:xfrm>
            <a:off x="325125" y="630860"/>
            <a:ext cx="1359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endParaRPr/>
          </a:p>
        </p:txBody>
      </p:sp>
      <p:sp>
        <p:nvSpPr>
          <p:cNvPr id="1205" name="Google Shape;1205;p81"/>
          <p:cNvSpPr/>
          <p:nvPr/>
        </p:nvSpPr>
        <p:spPr>
          <a:xfrm>
            <a:off x="1017950" y="1500418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6" name="Google Shape;1206;p81"/>
          <p:cNvSpPr/>
          <p:nvPr/>
        </p:nvSpPr>
        <p:spPr>
          <a:xfrm>
            <a:off x="1409158" y="1500418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7" name="Google Shape;1207;p81"/>
          <p:cNvSpPr/>
          <p:nvPr/>
        </p:nvSpPr>
        <p:spPr>
          <a:xfrm>
            <a:off x="1806308" y="1500418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8" name="Google Shape;1208;p81"/>
          <p:cNvSpPr/>
          <p:nvPr/>
        </p:nvSpPr>
        <p:spPr>
          <a:xfrm>
            <a:off x="2203457" y="1500418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9" name="Google Shape;1209;p81"/>
          <p:cNvSpPr txBox="1"/>
          <p:nvPr/>
        </p:nvSpPr>
        <p:spPr>
          <a:xfrm>
            <a:off x="1040598" y="11997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0" name="Google Shape;1210;p81"/>
          <p:cNvSpPr txBox="1"/>
          <p:nvPr/>
        </p:nvSpPr>
        <p:spPr>
          <a:xfrm>
            <a:off x="1447457" y="11997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1" name="Google Shape;1211;p81"/>
          <p:cNvSpPr txBox="1"/>
          <p:nvPr/>
        </p:nvSpPr>
        <p:spPr>
          <a:xfrm>
            <a:off x="1867779" y="11997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2" name="Google Shape;1212;p81"/>
          <p:cNvSpPr txBox="1"/>
          <p:nvPr/>
        </p:nvSpPr>
        <p:spPr>
          <a:xfrm>
            <a:off x="2274638" y="11997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13" name="Google Shape;1213;p81"/>
          <p:cNvGrpSpPr/>
          <p:nvPr/>
        </p:nvGrpSpPr>
        <p:grpSpPr>
          <a:xfrm>
            <a:off x="7224378" y="1769435"/>
            <a:ext cx="588732" cy="1039605"/>
            <a:chOff x="6706188" y="3328975"/>
            <a:chExt cx="588732" cy="1039605"/>
          </a:xfrm>
        </p:grpSpPr>
        <p:grpSp>
          <p:nvGrpSpPr>
            <p:cNvPr id="1214" name="Google Shape;1214;p81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1215" name="Google Shape;1215;p81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16" name="Google Shape;1216;p81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217" name="Google Shape;1217;p81"/>
            <p:cNvSpPr/>
            <p:nvPr/>
          </p:nvSpPr>
          <p:spPr>
            <a:xfrm>
              <a:off x="6740100" y="4166080"/>
              <a:ext cx="295800" cy="2025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8" name="Google Shape;1218;p81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19" name="Google Shape;1219;p81"/>
          <p:cNvGrpSpPr/>
          <p:nvPr/>
        </p:nvGrpSpPr>
        <p:grpSpPr>
          <a:xfrm>
            <a:off x="7488518" y="987105"/>
            <a:ext cx="588732" cy="1039605"/>
            <a:chOff x="6706188" y="3328975"/>
            <a:chExt cx="588732" cy="1039605"/>
          </a:xfrm>
        </p:grpSpPr>
        <p:grpSp>
          <p:nvGrpSpPr>
            <p:cNvPr id="1220" name="Google Shape;1220;p81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1221" name="Google Shape;1221;p81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22" name="Google Shape;1222;p81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223" name="Google Shape;1223;p81"/>
            <p:cNvSpPr/>
            <p:nvPr/>
          </p:nvSpPr>
          <p:spPr>
            <a:xfrm>
              <a:off x="6790925" y="4166080"/>
              <a:ext cx="295800" cy="2025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4" name="Google Shape;1224;p81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25" name="Google Shape;1225;p81"/>
          <p:cNvGrpSpPr/>
          <p:nvPr/>
        </p:nvGrpSpPr>
        <p:grpSpPr>
          <a:xfrm>
            <a:off x="6955118" y="2551765"/>
            <a:ext cx="588732" cy="1039605"/>
            <a:chOff x="6706188" y="3328975"/>
            <a:chExt cx="588732" cy="1039605"/>
          </a:xfrm>
        </p:grpSpPr>
        <p:grpSp>
          <p:nvGrpSpPr>
            <p:cNvPr id="1226" name="Google Shape;1226;p81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1227" name="Google Shape;1227;p81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28" name="Google Shape;1228;p81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229" name="Google Shape;1229;p81"/>
            <p:cNvSpPr/>
            <p:nvPr/>
          </p:nvSpPr>
          <p:spPr>
            <a:xfrm>
              <a:off x="6760430" y="4166080"/>
              <a:ext cx="295800" cy="2025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0" name="Google Shape;1230;p81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31" name="Google Shape;1231;p81"/>
          <p:cNvGrpSpPr/>
          <p:nvPr/>
        </p:nvGrpSpPr>
        <p:grpSpPr>
          <a:xfrm>
            <a:off x="6689275" y="3328975"/>
            <a:ext cx="625975" cy="1070100"/>
            <a:chOff x="6689275" y="3328975"/>
            <a:chExt cx="625975" cy="1070100"/>
          </a:xfrm>
        </p:grpSpPr>
        <p:grpSp>
          <p:nvGrpSpPr>
            <p:cNvPr id="1232" name="Google Shape;1232;p81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1233" name="Google Shape;1233;p81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34" name="Google Shape;1234;p81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235" name="Google Shape;1235;p81"/>
            <p:cNvSpPr/>
            <p:nvPr/>
          </p:nvSpPr>
          <p:spPr>
            <a:xfrm>
              <a:off x="6689275" y="4196575"/>
              <a:ext cx="295800" cy="2025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6" name="Google Shape;1236;p81"/>
            <p:cNvSpPr/>
            <p:nvPr/>
          </p:nvSpPr>
          <p:spPr>
            <a:xfrm>
              <a:off x="7019450" y="3698680"/>
              <a:ext cx="295800" cy="202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237" name="Google Shape;1237;p81"/>
          <p:cNvCxnSpPr/>
          <p:nvPr/>
        </p:nvCxnSpPr>
        <p:spPr>
          <a:xfrm rot="10800000" flipH="1">
            <a:off x="6487325" y="817350"/>
            <a:ext cx="1321500" cy="39846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1" name="Shape 1241"/>
        <p:cNvGrpSpPr/>
        <p:nvPr/>
      </p:nvGrpSpPr>
      <p:grpSpPr>
        <a:xfrm>
          <a:off x="0" y="0"/>
          <a:ext cx="0" cy="0"/>
        </a:xfrm>
      </p:grpSpPr>
      <p:sp>
        <p:nvSpPr>
          <p:cNvPr id="1242" name="Google Shape;124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1243" name="Google Shape;1243;p82"/>
          <p:cNvSpPr/>
          <p:nvPr/>
        </p:nvSpPr>
        <p:spPr>
          <a:xfrm rot="10800000" flipH="1">
            <a:off x="1094150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4" name="Google Shape;1244;p82"/>
          <p:cNvSpPr/>
          <p:nvPr/>
        </p:nvSpPr>
        <p:spPr>
          <a:xfrm rot="10800000" flipH="1">
            <a:off x="1485358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5" name="Google Shape;1245;p82"/>
          <p:cNvSpPr/>
          <p:nvPr/>
        </p:nvSpPr>
        <p:spPr>
          <a:xfrm rot="10800000" flipH="1">
            <a:off x="1882508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6" name="Google Shape;1246;p82"/>
          <p:cNvSpPr/>
          <p:nvPr/>
        </p:nvSpPr>
        <p:spPr>
          <a:xfrm rot="10800000" flipH="1">
            <a:off x="2279657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7" name="Google Shape;1247;p82"/>
          <p:cNvSpPr txBox="1"/>
          <p:nvPr/>
        </p:nvSpPr>
        <p:spPr>
          <a:xfrm>
            <a:off x="1116798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8" name="Google Shape;1248;p82"/>
          <p:cNvSpPr txBox="1"/>
          <p:nvPr/>
        </p:nvSpPr>
        <p:spPr>
          <a:xfrm>
            <a:off x="1523657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" name="Google Shape;1249;p82"/>
          <p:cNvSpPr txBox="1"/>
          <p:nvPr/>
        </p:nvSpPr>
        <p:spPr>
          <a:xfrm>
            <a:off x="1943979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0" name="Google Shape;1250;p82"/>
          <p:cNvSpPr txBox="1"/>
          <p:nvPr/>
        </p:nvSpPr>
        <p:spPr>
          <a:xfrm>
            <a:off x="2350838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1" name="Google Shape;1251;p82"/>
          <p:cNvSpPr txBox="1"/>
          <p:nvPr>
            <p:ph type="body" idx="1"/>
          </p:nvPr>
        </p:nvSpPr>
        <p:spPr>
          <a:xfrm>
            <a:off x="324000" y="3731175"/>
            <a:ext cx="48621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relationship between two variables is </a:t>
            </a:r>
            <a:r>
              <a:rPr lang="en-GB" sz="2000" b="1"/>
              <a:t>linear </a:t>
            </a:r>
            <a:r>
              <a:rPr lang="en-GB" sz="2000"/>
              <a:t>when they </a:t>
            </a:r>
            <a:r>
              <a:rPr lang="en-GB" sz="2000">
                <a:solidFill>
                  <a:schemeClr val="accent4"/>
                </a:solidFill>
              </a:rPr>
              <a:t>change together</a:t>
            </a:r>
            <a:r>
              <a:rPr lang="en-GB" sz="2000"/>
              <a:t> at a constant rate.</a:t>
            </a:r>
            <a:endParaRPr sz="1900"/>
          </a:p>
        </p:txBody>
      </p:sp>
      <p:graphicFrame>
        <p:nvGraphicFramePr>
          <p:cNvPr id="1252" name="Google Shape;1252;p82"/>
          <p:cNvGraphicFramePr>
            <a:graphicFrameLocks noGrp="1"/>
          </p:cNvGraphicFramePr>
          <p:nvPr/>
        </p:nvGraphicFramePr>
        <p:xfrm>
          <a:off x="469567" y="1790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402600"/>
                <a:gridCol w="402600"/>
                <a:gridCol w="402600"/>
                <a:gridCol w="402600"/>
                <a:gridCol w="402600"/>
                <a:gridCol w="402600"/>
                <a:gridCol w="402600"/>
                <a:gridCol w="40260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53" name="Google Shape;1253;p82"/>
          <p:cNvSpPr txBox="1"/>
          <p:nvPr/>
        </p:nvSpPr>
        <p:spPr>
          <a:xfrm>
            <a:off x="8331222" y="434501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4" name="Google Shape;1254;p82"/>
          <p:cNvSpPr/>
          <p:nvPr/>
        </p:nvSpPr>
        <p:spPr>
          <a:xfrm>
            <a:off x="1094150" y="149025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5" name="Google Shape;1255;p82"/>
          <p:cNvSpPr/>
          <p:nvPr/>
        </p:nvSpPr>
        <p:spPr>
          <a:xfrm>
            <a:off x="1485358" y="149025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6" name="Google Shape;1256;p82"/>
          <p:cNvSpPr/>
          <p:nvPr/>
        </p:nvSpPr>
        <p:spPr>
          <a:xfrm>
            <a:off x="1882508" y="149025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7" name="Google Shape;1257;p82"/>
          <p:cNvSpPr/>
          <p:nvPr/>
        </p:nvSpPr>
        <p:spPr>
          <a:xfrm>
            <a:off x="2279657" y="149025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8" name="Google Shape;1258;p82"/>
          <p:cNvSpPr txBox="1"/>
          <p:nvPr/>
        </p:nvSpPr>
        <p:spPr>
          <a:xfrm>
            <a:off x="1116798" y="1189556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9" name="Google Shape;1259;p82"/>
          <p:cNvSpPr txBox="1"/>
          <p:nvPr/>
        </p:nvSpPr>
        <p:spPr>
          <a:xfrm>
            <a:off x="1523657" y="1189556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0" name="Google Shape;1260;p82"/>
          <p:cNvSpPr txBox="1"/>
          <p:nvPr/>
        </p:nvSpPr>
        <p:spPr>
          <a:xfrm>
            <a:off x="1943979" y="1189556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1" name="Google Shape;1261;p82"/>
          <p:cNvSpPr txBox="1"/>
          <p:nvPr/>
        </p:nvSpPr>
        <p:spPr>
          <a:xfrm>
            <a:off x="2350838" y="1189556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2" name="Google Shape;1262;p82"/>
          <p:cNvSpPr txBox="1"/>
          <p:nvPr>
            <p:ph type="body" idx="1"/>
          </p:nvPr>
        </p:nvSpPr>
        <p:spPr>
          <a:xfrm>
            <a:off x="324000" y="823225"/>
            <a:ext cx="7009800" cy="42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Does this set of coordinates have a </a:t>
            </a:r>
            <a:r>
              <a:rPr lang="en-GB" sz="2000" b="1"/>
              <a:t>linear </a:t>
            </a:r>
            <a:r>
              <a:rPr lang="en-GB" sz="2000"/>
              <a:t>relationship?</a:t>
            </a:r>
            <a:endParaRPr sz="1900"/>
          </a:p>
        </p:txBody>
      </p:sp>
      <p:sp>
        <p:nvSpPr>
          <p:cNvPr id="1263" name="Google Shape;1263;p82"/>
          <p:cNvSpPr/>
          <p:nvPr/>
        </p:nvSpPr>
        <p:spPr>
          <a:xfrm rot="10800000" flipH="1">
            <a:off x="2690212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4" name="Google Shape;1264;p82"/>
          <p:cNvSpPr/>
          <p:nvPr/>
        </p:nvSpPr>
        <p:spPr>
          <a:xfrm rot="10800000" flipH="1">
            <a:off x="3087362" y="234878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5" name="Google Shape;1265;p82"/>
          <p:cNvSpPr txBox="1"/>
          <p:nvPr/>
        </p:nvSpPr>
        <p:spPr>
          <a:xfrm>
            <a:off x="2751684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6" name="Google Shape;1266;p82"/>
          <p:cNvSpPr txBox="1"/>
          <p:nvPr/>
        </p:nvSpPr>
        <p:spPr>
          <a:xfrm>
            <a:off x="3158543" y="2876121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7" name="Google Shape;1267;p82"/>
          <p:cNvSpPr/>
          <p:nvPr/>
        </p:nvSpPr>
        <p:spPr>
          <a:xfrm>
            <a:off x="2675003" y="149025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8" name="Google Shape;1268;p82"/>
          <p:cNvSpPr/>
          <p:nvPr/>
        </p:nvSpPr>
        <p:spPr>
          <a:xfrm>
            <a:off x="3072152" y="1490253"/>
            <a:ext cx="3702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9" name="Google Shape;1269;p82"/>
          <p:cNvSpPr txBox="1"/>
          <p:nvPr/>
        </p:nvSpPr>
        <p:spPr>
          <a:xfrm>
            <a:off x="2736474" y="1189556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0" name="Google Shape;1270;p82"/>
          <p:cNvSpPr txBox="1"/>
          <p:nvPr/>
        </p:nvSpPr>
        <p:spPr>
          <a:xfrm>
            <a:off x="3143333" y="1189556"/>
            <a:ext cx="3702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1" name="Google Shape;1271;p82"/>
          <p:cNvSpPr txBox="1"/>
          <p:nvPr>
            <p:ph type="title" idx="4294967295"/>
          </p:nvPr>
        </p:nvSpPr>
        <p:spPr>
          <a:xfrm>
            <a:off x="7544090" y="833255"/>
            <a:ext cx="3969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>
                <a:latin typeface="Kalam"/>
                <a:ea typeface="Kalam"/>
                <a:cs typeface="Kalam"/>
                <a:sym typeface="Kalam"/>
              </a:rPr>
              <a:t>No.</a:t>
            </a:r>
            <a:endParaRPr sz="2000" b="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2" name="Google Shape;1272;p82"/>
          <p:cNvSpPr txBox="1"/>
          <p:nvPr>
            <p:ph type="title" idx="4294967295"/>
          </p:nvPr>
        </p:nvSpPr>
        <p:spPr>
          <a:xfrm>
            <a:off x="313221" y="3317435"/>
            <a:ext cx="30732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>
                <a:latin typeface="Kalam"/>
                <a:ea typeface="Kalam"/>
                <a:cs typeface="Kalam"/>
                <a:sym typeface="Kalam"/>
              </a:rPr>
              <a:t>Our definition of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linear</a:t>
            </a:r>
            <a:r>
              <a:rPr lang="en-GB" sz="2000" b="0">
                <a:latin typeface="Kalam"/>
                <a:ea typeface="Kalam"/>
                <a:cs typeface="Kalam"/>
                <a:sym typeface="Kalam"/>
              </a:rPr>
              <a:t> is:</a:t>
            </a:r>
            <a:endParaRPr sz="2000" b="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73" name="Google Shape;1273;p82" descr="&lt;math xmlns=&quot;http://www.w3.org/1998/Math/MathML&quot; data-is-equatio=&quot;1&quot; data-equatio-url=&quot;https://equatio-api.texthelp.com/desmos/get/10-11-2023/2b02e883-c3ca-46b9-9ca4-72e49742704c&quot; data-equatio-type=&quot;desmos&quot;&gt;&lt;mglyph src=&quot;https://equatio-api.texthelp.com/desmos/get/10-11-2023/2b02e883-c3ca-46b9-9ca4-72e49742704c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6633" t="2251" r="45642" b="14345"/>
          <a:stretch>
            <a:fillRect/>
          </a:stretch>
        </p:blipFill>
        <p:spPr>
          <a:xfrm>
            <a:off x="5531799" y="1424650"/>
            <a:ext cx="2757984" cy="339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82" descr="&lt;math xmlns=&quot;http://www.w3.org/1998/Math/MathML&quot; data-is-equatio=&quot;1&quot; data-equatio-url=&quot;https://equatio-api.texthelp.com/desmos/get/10-11-2023/e7fc1ea8-044a-4ab3-aeae-7c55b30de179&quot; data-equatio-type=&quot;desmos&quot;&gt;&lt;mglyph src=&quot;https://equatio-api.texthelp.com/desmos/get/10-11-2023/e7fc1ea8-044a-4ab3-aeae-7c55b30de179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6638" t="2251" r="45635" b="14345"/>
          <a:stretch>
            <a:fillRect/>
          </a:stretch>
        </p:blipFill>
        <p:spPr>
          <a:xfrm>
            <a:off x="5532565" y="1413301"/>
            <a:ext cx="2757984" cy="339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82"/>
          <p:cNvSpPr txBox="1"/>
          <p:nvPr/>
        </p:nvSpPr>
        <p:spPr>
          <a:xfrm>
            <a:off x="5804327" y="110915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6" name="Google Shape;1276;p82"/>
          <p:cNvSpPr txBox="1"/>
          <p:nvPr>
            <p:ph type="title" idx="4294967295"/>
          </p:nvPr>
        </p:nvSpPr>
        <p:spPr>
          <a:xfrm>
            <a:off x="6957823" y="2956750"/>
            <a:ext cx="17151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>
                <a:highlight>
                  <a:schemeClr val="lt1"/>
                </a:highlight>
                <a:latin typeface="Kalam"/>
                <a:ea typeface="Kalam"/>
                <a:cs typeface="Kalam"/>
                <a:sym typeface="Kalam"/>
              </a:rPr>
              <a:t>Not a straight line therefore not </a:t>
            </a:r>
            <a:r>
              <a:rPr lang="en-GB" sz="2000">
                <a:highlight>
                  <a:schemeClr val="lt1"/>
                </a:highlight>
                <a:latin typeface="Kalam"/>
                <a:ea typeface="Kalam"/>
                <a:cs typeface="Kalam"/>
                <a:sym typeface="Kalam"/>
              </a:rPr>
              <a:t>linear</a:t>
            </a:r>
            <a:r>
              <a:rPr lang="en-GB" sz="2000" b="0">
                <a:highlight>
                  <a:schemeClr val="lt1"/>
                </a:highlight>
                <a:latin typeface="Kalam"/>
                <a:ea typeface="Kalam"/>
                <a:cs typeface="Kalam"/>
                <a:sym typeface="Kalam"/>
              </a:rPr>
              <a:t>.</a:t>
            </a:r>
            <a:endParaRPr sz="2000" b="0">
              <a:highlight>
                <a:schemeClr val="lt1"/>
              </a:highlight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0" name="Shape 1280"/>
        <p:cNvGrpSpPr/>
        <p:nvPr/>
      </p:nvGrpSpPr>
      <p:grpSpPr>
        <a:xfrm>
          <a:off x="0" y="0"/>
          <a:ext cx="0" cy="0"/>
        </a:xfrm>
      </p:grpSpPr>
      <p:sp>
        <p:nvSpPr>
          <p:cNvPr id="1281" name="Google Shape;1281;p83"/>
          <p:cNvSpPr txBox="1"/>
          <p:nvPr>
            <p:ph type="body" idx="1"/>
          </p:nvPr>
        </p:nvSpPr>
        <p:spPr>
          <a:xfrm>
            <a:off x="324000" y="759300"/>
            <a:ext cx="8237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Classify these relationships into </a:t>
            </a:r>
            <a:r>
              <a:rPr lang="en-GB" b="1"/>
              <a:t>linear</a:t>
            </a:r>
            <a:r>
              <a:rPr lang="en-GB"/>
              <a:t> and non-</a:t>
            </a:r>
            <a:r>
              <a:rPr lang="en-GB" b="1"/>
              <a:t>linear</a:t>
            </a:r>
            <a:r>
              <a:rPr lang="en-GB"/>
              <a:t>.</a:t>
            </a:r>
            <a:endParaRPr/>
          </a:p>
        </p:txBody>
      </p:sp>
      <p:sp>
        <p:nvSpPr>
          <p:cNvPr id="1282" name="Google Shape;1282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1283" name="Google Shape;1283;p83"/>
          <p:cNvSpPr/>
          <p:nvPr/>
        </p:nvSpPr>
        <p:spPr>
          <a:xfrm>
            <a:off x="1328250" y="1632900"/>
            <a:ext cx="2670900" cy="2687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83"/>
          <p:cNvSpPr/>
          <p:nvPr/>
        </p:nvSpPr>
        <p:spPr>
          <a:xfrm>
            <a:off x="4446244" y="1632900"/>
            <a:ext cx="2670900" cy="2687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83"/>
          <p:cNvSpPr txBox="1"/>
          <p:nvPr/>
        </p:nvSpPr>
        <p:spPr>
          <a:xfrm>
            <a:off x="306697" y="2568158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83"/>
          <p:cNvSpPr txBox="1"/>
          <p:nvPr/>
        </p:nvSpPr>
        <p:spPr>
          <a:xfrm>
            <a:off x="7469497" y="1631337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7" name="Google Shape;1287;p83"/>
          <p:cNvSpPr txBox="1"/>
          <p:nvPr/>
        </p:nvSpPr>
        <p:spPr>
          <a:xfrm>
            <a:off x="367102" y="1574685"/>
            <a:ext cx="7809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83"/>
          <p:cNvSpPr txBox="1"/>
          <p:nvPr>
            <p:ph type="body" idx="4294967295"/>
          </p:nvPr>
        </p:nvSpPr>
        <p:spPr>
          <a:xfrm>
            <a:off x="1410848" y="1736248"/>
            <a:ext cx="16404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/>
              <a:t>Linear</a:t>
            </a:r>
            <a:endParaRPr sz="2000"/>
          </a:p>
        </p:txBody>
      </p:sp>
      <p:sp>
        <p:nvSpPr>
          <p:cNvPr id="1289" name="Google Shape;1289;p83"/>
          <p:cNvSpPr txBox="1"/>
          <p:nvPr>
            <p:ph type="body" idx="4294967295"/>
          </p:nvPr>
        </p:nvSpPr>
        <p:spPr>
          <a:xfrm>
            <a:off x="4512589" y="1736250"/>
            <a:ext cx="14910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Non-</a:t>
            </a:r>
            <a:r>
              <a:rPr lang="en-GB" sz="2000" b="1"/>
              <a:t>linear</a:t>
            </a:r>
            <a:endParaRPr sz="2000"/>
          </a:p>
        </p:txBody>
      </p:sp>
      <p:sp>
        <p:nvSpPr>
          <p:cNvPr id="1290" name="Google Shape;1290;p83"/>
          <p:cNvSpPr txBox="1"/>
          <p:nvPr/>
        </p:nvSpPr>
        <p:spPr>
          <a:xfrm>
            <a:off x="7535532" y="2568158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1" name="Google Shape;1291;p83"/>
          <p:cNvSpPr txBox="1"/>
          <p:nvPr/>
        </p:nvSpPr>
        <p:spPr>
          <a:xfrm>
            <a:off x="3801732" y="4394867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2" name="Google Shape;1292;p83"/>
          <p:cNvSpPr txBox="1"/>
          <p:nvPr/>
        </p:nvSpPr>
        <p:spPr>
          <a:xfrm>
            <a:off x="2734932" y="1118267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0.4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3" name="Google Shape;1293;p83" descr="&lt;math xmlns=&quot;http://www.w3.org/1998/Math/MathML&quot; display=&quot;block&quot; data-is-equatio=&quot;1&quot; data-latex=&quot;y=\frac{1}{4}x&quot;&gt;&lt;mi&gt;y&lt;/mi&gt;&lt;mo&gt;=&lt;/mo&gt;&lt;mfrac&gt;&lt;mn&gt;1&lt;/mn&gt;&lt;mn&gt;4&lt;/mn&gt;&lt;/mfrac&gt;&lt;mi&gt;x&lt;/mi&gt;&lt;/math&gt;" title="y equals 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9725" y="3438312"/>
            <a:ext cx="882675" cy="58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83"/>
          <p:cNvSpPr txBox="1"/>
          <p:nvPr/>
        </p:nvSpPr>
        <p:spPr>
          <a:xfrm>
            <a:off x="1631402" y="4399120"/>
            <a:ext cx="11874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baseline="30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5" name="Google Shape;1295;p83"/>
          <p:cNvSpPr txBox="1"/>
          <p:nvPr/>
        </p:nvSpPr>
        <p:spPr>
          <a:xfrm>
            <a:off x="367102" y="3555885"/>
            <a:ext cx="7809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6" name="Google Shape;1296;p83"/>
          <p:cNvSpPr txBox="1"/>
          <p:nvPr/>
        </p:nvSpPr>
        <p:spPr>
          <a:xfrm>
            <a:off x="5853499" y="4419450"/>
            <a:ext cx="11874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7" name="Google Shape;1297;p83"/>
          <p:cNvSpPr txBox="1"/>
          <p:nvPr/>
        </p:nvSpPr>
        <p:spPr>
          <a:xfrm>
            <a:off x="4710499" y="1117475"/>
            <a:ext cx="11874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1" name="Shape 1301"/>
        <p:cNvGrpSpPr/>
        <p:nvPr/>
      </p:nvGrpSpPr>
      <p:grpSpPr>
        <a:xfrm>
          <a:off x="0" y="0"/>
          <a:ext cx="0" cy="0"/>
        </a:xfrm>
      </p:grpSpPr>
      <p:sp>
        <p:nvSpPr>
          <p:cNvPr id="1302" name="Google Shape;1302;p84"/>
          <p:cNvSpPr txBox="1"/>
          <p:nvPr>
            <p:ph type="body" idx="1"/>
          </p:nvPr>
        </p:nvSpPr>
        <p:spPr>
          <a:xfrm>
            <a:off x="324000" y="759300"/>
            <a:ext cx="8237700" cy="7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Plot the coordinates for these relationships for the given range of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values and show graphically their constant rate of change.</a:t>
            </a:r>
            <a:endParaRPr sz="2000"/>
          </a:p>
        </p:txBody>
      </p:sp>
      <p:sp>
        <p:nvSpPr>
          <p:cNvPr id="1303" name="Google Shape;1303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constant rate of change</a:t>
            </a:r>
            <a:endParaRPr/>
          </a:p>
        </p:txBody>
      </p:sp>
      <p:graphicFrame>
        <p:nvGraphicFramePr>
          <p:cNvPr id="1304" name="Google Shape;1304;p84"/>
          <p:cNvGraphicFramePr>
            <a:graphicFrameLocks noGrp="1"/>
          </p:cNvGraphicFramePr>
          <p:nvPr/>
        </p:nvGraphicFramePr>
        <p:xfrm>
          <a:off x="2389852" y="2166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73250"/>
                <a:gridCol w="373250"/>
                <a:gridCol w="373250"/>
                <a:gridCol w="373250"/>
                <a:gridCol w="373250"/>
                <a:gridCol w="37325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05" name="Google Shape;1305;p84"/>
          <p:cNvSpPr txBox="1"/>
          <p:nvPr/>
        </p:nvSpPr>
        <p:spPr>
          <a:xfrm>
            <a:off x="645210" y="1997415"/>
            <a:ext cx="1359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1306" name="Google Shape;1306;p84"/>
          <p:cNvSpPr txBox="1"/>
          <p:nvPr/>
        </p:nvSpPr>
        <p:spPr>
          <a:xfrm>
            <a:off x="645210" y="3521415"/>
            <a:ext cx="1359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3 − </a:t>
            </a: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07" name="Google Shape;1307;p84"/>
          <p:cNvSpPr txBox="1"/>
          <p:nvPr>
            <p:ph type="body" idx="1"/>
          </p:nvPr>
        </p:nvSpPr>
        <p:spPr>
          <a:xfrm>
            <a:off x="324000" y="2090240"/>
            <a:ext cx="321300" cy="19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graphicFrame>
        <p:nvGraphicFramePr>
          <p:cNvPr id="1308" name="Google Shape;1308;p84"/>
          <p:cNvGraphicFramePr>
            <a:graphicFrameLocks noGrp="1"/>
          </p:cNvGraphicFramePr>
          <p:nvPr/>
        </p:nvGraphicFramePr>
        <p:xfrm>
          <a:off x="2389852" y="3690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73250"/>
                <a:gridCol w="373250"/>
                <a:gridCol w="373250"/>
                <a:gridCol w="373250"/>
                <a:gridCol w="373250"/>
                <a:gridCol w="37325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309" name="Google Shape;1309;p84" descr="&lt;math xmlns=&quot;http://www.w3.org/1998/Math/MathML&quot; data-is-equatio=&quot;1&quot; data-equatio-url=&quot;https://equatio-api.texthelp.com/desmos/get/10-11-2023/28c74ec8-65aa-4fad-a91d-30607ef475a7&quot; data-equatio-type=&quot;desmos&quot;&gt;&lt;mglyph src=&quot;https://equatio-api.texthelp.com/desmos/get/10-11-2023/28c74ec8-65aa-4fad-a91d-30607ef475a7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7902" t="19446" r="63318" b="12414"/>
          <a:stretch>
            <a:fillRect/>
          </a:stretch>
        </p:blipFill>
        <p:spPr>
          <a:xfrm>
            <a:off x="5774400" y="1522200"/>
            <a:ext cx="1851400" cy="328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84"/>
          <p:cNvSpPr txBox="1"/>
          <p:nvPr/>
        </p:nvSpPr>
        <p:spPr>
          <a:xfrm>
            <a:off x="7686082" y="299374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1" name="Google Shape;1311;p84"/>
          <p:cNvSpPr txBox="1"/>
          <p:nvPr/>
        </p:nvSpPr>
        <p:spPr>
          <a:xfrm>
            <a:off x="5596057" y="147998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5" name="Shape 1315"/>
        <p:cNvGrpSpPr/>
        <p:nvPr/>
      </p:nvGrpSpPr>
      <p:grpSpPr>
        <a:xfrm>
          <a:off x="0" y="0"/>
          <a:ext cx="0" cy="0"/>
        </a:xfrm>
      </p:grpSpPr>
      <p:pic>
        <p:nvPicPr>
          <p:cNvPr id="1316" name="Google Shape;1316;p85" descr="&lt;math xmlns=&quot;http://www.w3.org/1998/Math/MathML&quot; data-is-equatio=&quot;1&quot; data-equatio-url=&quot;https://equatio-api.texthelp.com/desmos/get/10-11-2023/6feebd27-4d81-44fa-b8f4-dd45e64f6c5a&quot; data-equatio-type=&quot;desmos&quot;&gt;&lt;mglyph src=&quot;https://equatio-api.texthelp.com/desmos/get/10-11-2023/6feebd27-4d81-44fa-b8f4-dd45e64f6c5a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8776" t="8184" r="54761" b="11183"/>
          <a:stretch>
            <a:fillRect/>
          </a:stretch>
        </p:blipFill>
        <p:spPr>
          <a:xfrm>
            <a:off x="5849235" y="659590"/>
            <a:ext cx="2500600" cy="41473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85"/>
          <p:cNvSpPr txBox="1"/>
          <p:nvPr>
            <p:ph type="body" idx="1"/>
          </p:nvPr>
        </p:nvSpPr>
        <p:spPr>
          <a:xfrm>
            <a:off x="324000" y="759300"/>
            <a:ext cx="5450400" cy="7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3) This set of coordinates has a </a:t>
            </a:r>
            <a:r>
              <a:rPr lang="en-GB" sz="2000" b="1"/>
              <a:t>linear </a:t>
            </a:r>
            <a:r>
              <a:rPr lang="en-GB" sz="2000"/>
              <a:t>relationship with a constant rate of change.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Find the missing values, plot the graph, and show the constant rate of change.</a:t>
            </a:r>
            <a:endParaRPr sz="2000"/>
          </a:p>
        </p:txBody>
      </p:sp>
      <p:sp>
        <p:nvSpPr>
          <p:cNvPr id="1318" name="Google Shape;1318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graphicFrame>
        <p:nvGraphicFramePr>
          <p:cNvPr id="1319" name="Google Shape;1319;p85"/>
          <p:cNvGraphicFramePr>
            <a:graphicFrameLocks noGrp="1"/>
          </p:cNvGraphicFramePr>
          <p:nvPr/>
        </p:nvGraphicFramePr>
        <p:xfrm>
          <a:off x="1658347" y="2704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441925"/>
                <a:gridCol w="441925"/>
                <a:gridCol w="441925"/>
                <a:gridCol w="441925"/>
                <a:gridCol w="441925"/>
                <a:gridCol w="44192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20" name="Google Shape;1320;p85"/>
          <p:cNvSpPr txBox="1"/>
          <p:nvPr/>
        </p:nvSpPr>
        <p:spPr>
          <a:xfrm>
            <a:off x="8356899" y="339507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1" name="Google Shape;1321;p85"/>
          <p:cNvSpPr txBox="1"/>
          <p:nvPr/>
        </p:nvSpPr>
        <p:spPr>
          <a:xfrm>
            <a:off x="6673097" y="50971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5" name="Shape 1325"/>
        <p:cNvGrpSpPr/>
        <p:nvPr/>
      </p:nvGrpSpPr>
      <p:grpSpPr>
        <a:xfrm>
          <a:off x="0" y="0"/>
          <a:ext cx="0" cy="0"/>
        </a:xfrm>
      </p:grpSpPr>
      <p:sp>
        <p:nvSpPr>
          <p:cNvPr id="1326" name="Google Shape;1326;p86"/>
          <p:cNvSpPr txBox="1"/>
          <p:nvPr>
            <p:ph type="body" idx="1"/>
          </p:nvPr>
        </p:nvSpPr>
        <p:spPr>
          <a:xfrm>
            <a:off x="324000" y="759300"/>
            <a:ext cx="82377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Classify these relationships into </a:t>
            </a:r>
            <a:r>
              <a:rPr lang="en-GB" b="1"/>
              <a:t>linear</a:t>
            </a:r>
            <a:r>
              <a:rPr lang="en-GB"/>
              <a:t> and non-</a:t>
            </a:r>
            <a:r>
              <a:rPr lang="en-GB" b="1"/>
              <a:t>linear</a:t>
            </a:r>
            <a:r>
              <a:rPr lang="en-GB"/>
              <a:t>.</a:t>
            </a:r>
            <a:endParaRPr/>
          </a:p>
        </p:txBody>
      </p:sp>
      <p:sp>
        <p:nvSpPr>
          <p:cNvPr id="1327" name="Google Shape;1327;p8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1328" name="Google Shape;1328;p86"/>
          <p:cNvSpPr/>
          <p:nvPr/>
        </p:nvSpPr>
        <p:spPr>
          <a:xfrm>
            <a:off x="1328250" y="1632900"/>
            <a:ext cx="2670900" cy="2687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6"/>
          <p:cNvSpPr/>
          <p:nvPr/>
        </p:nvSpPr>
        <p:spPr>
          <a:xfrm>
            <a:off x="4446244" y="1632900"/>
            <a:ext cx="2670900" cy="2687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6"/>
          <p:cNvSpPr txBox="1"/>
          <p:nvPr/>
        </p:nvSpPr>
        <p:spPr>
          <a:xfrm>
            <a:off x="1602097" y="2187158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1" name="Google Shape;1331;p86"/>
          <p:cNvSpPr txBox="1"/>
          <p:nvPr/>
        </p:nvSpPr>
        <p:spPr>
          <a:xfrm>
            <a:off x="2734932" y="2185067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2" name="Google Shape;1332;p86"/>
          <p:cNvSpPr txBox="1"/>
          <p:nvPr/>
        </p:nvSpPr>
        <p:spPr>
          <a:xfrm>
            <a:off x="4710502" y="2184285"/>
            <a:ext cx="7809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3" name="Google Shape;1333;p86"/>
          <p:cNvSpPr txBox="1"/>
          <p:nvPr>
            <p:ph type="body" idx="4294967295"/>
          </p:nvPr>
        </p:nvSpPr>
        <p:spPr>
          <a:xfrm>
            <a:off x="1410848" y="1736248"/>
            <a:ext cx="16404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/>
              <a:t>Linear</a:t>
            </a:r>
            <a:endParaRPr sz="2000"/>
          </a:p>
        </p:txBody>
      </p:sp>
      <p:sp>
        <p:nvSpPr>
          <p:cNvPr id="1334" name="Google Shape;1334;p86"/>
          <p:cNvSpPr txBox="1"/>
          <p:nvPr>
            <p:ph type="body" idx="4294967295"/>
          </p:nvPr>
        </p:nvSpPr>
        <p:spPr>
          <a:xfrm>
            <a:off x="4512589" y="1736250"/>
            <a:ext cx="14910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Non-</a:t>
            </a:r>
            <a:r>
              <a:rPr lang="en-GB" sz="2000" b="1"/>
              <a:t>linear</a:t>
            </a:r>
            <a:endParaRPr sz="2000"/>
          </a:p>
        </p:txBody>
      </p:sp>
      <p:sp>
        <p:nvSpPr>
          <p:cNvPr id="1335" name="Google Shape;1335;p86"/>
          <p:cNvSpPr txBox="1"/>
          <p:nvPr>
            <p:ph type="body" idx="4294967295"/>
          </p:nvPr>
        </p:nvSpPr>
        <p:spPr>
          <a:xfrm>
            <a:off x="1496725" y="3807300"/>
            <a:ext cx="20514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Exponent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6" name="Google Shape;1336;p86"/>
          <p:cNvSpPr txBox="1"/>
          <p:nvPr>
            <p:ph type="body" idx="4294967295"/>
          </p:nvPr>
        </p:nvSpPr>
        <p:spPr>
          <a:xfrm>
            <a:off x="4563898" y="3807300"/>
            <a:ext cx="2224800" cy="31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Exponents </a:t>
            </a:r>
            <a:r>
              <a:rPr lang="en-GB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not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7" name="Google Shape;1337;p86"/>
          <p:cNvSpPr txBox="1"/>
          <p:nvPr/>
        </p:nvSpPr>
        <p:spPr>
          <a:xfrm>
            <a:off x="1602097" y="2796758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8" name="Google Shape;1338;p86"/>
          <p:cNvSpPr txBox="1"/>
          <p:nvPr/>
        </p:nvSpPr>
        <p:spPr>
          <a:xfrm>
            <a:off x="2734932" y="2794667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9" name="Google Shape;1339;p86"/>
          <p:cNvSpPr txBox="1"/>
          <p:nvPr/>
        </p:nvSpPr>
        <p:spPr>
          <a:xfrm>
            <a:off x="2734932" y="3328067"/>
            <a:ext cx="98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0.4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0" name="Google Shape;1340;p86" descr="&lt;math xmlns=&quot;http://www.w3.org/1998/Math/MathML&quot; display=&quot;block&quot; data-is-equatio=&quot;1&quot; data-latex=&quot;y=\frac{1}{4}x&quot;&gt;&lt;mi&gt;y&lt;/mi&gt;&lt;mo&gt;=&lt;/mo&gt;&lt;mfrac&gt;&lt;mn&gt;1&lt;/mn&gt;&lt;mn&gt;4&lt;/mn&gt;&lt;/mfrac&gt;&lt;mi&gt;x&lt;/mi&gt;&lt;/math&gt;" title="y equals 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6290" y="3209712"/>
            <a:ext cx="882675" cy="58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86"/>
          <p:cNvSpPr txBox="1"/>
          <p:nvPr/>
        </p:nvSpPr>
        <p:spPr>
          <a:xfrm>
            <a:off x="5929699" y="2184275"/>
            <a:ext cx="11874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baseline="30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2" name="Google Shape;1342;p86"/>
          <p:cNvSpPr txBox="1"/>
          <p:nvPr/>
        </p:nvSpPr>
        <p:spPr>
          <a:xfrm>
            <a:off x="4710502" y="2793885"/>
            <a:ext cx="7809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3" name="Google Shape;1343;p86"/>
          <p:cNvSpPr txBox="1"/>
          <p:nvPr/>
        </p:nvSpPr>
        <p:spPr>
          <a:xfrm>
            <a:off x="5929699" y="2793875"/>
            <a:ext cx="11874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4" name="Google Shape;1344;p86"/>
          <p:cNvSpPr txBox="1"/>
          <p:nvPr/>
        </p:nvSpPr>
        <p:spPr>
          <a:xfrm>
            <a:off x="4710499" y="3327275"/>
            <a:ext cx="11874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8" name="Shape 1348"/>
        <p:cNvGrpSpPr/>
        <p:nvPr/>
      </p:nvGrpSpPr>
      <p:grpSpPr>
        <a:xfrm>
          <a:off x="0" y="0"/>
          <a:ext cx="0" cy="0"/>
        </a:xfrm>
      </p:grpSpPr>
      <p:pic>
        <p:nvPicPr>
          <p:cNvPr id="1349" name="Google Shape;1349;p87" descr="&lt;math xmlns=&quot;http://www.w3.org/1998/Math/MathML&quot; data-is-equatio=&quot;1&quot; data-equatio-url=&quot;https://equatio-api.texthelp.com/desmos/get/10-11-2023/28c74ec8-65aa-4fad-a91d-30607ef475a7&quot; data-equatio-type=&quot;desmos&quot;&gt;&lt;mglyph src=&quot;https://equatio-api.texthelp.com/desmos/get/10-11-2023/28c74ec8-65aa-4fad-a91d-30607ef475a7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7902" t="19446" r="63318" b="12414"/>
          <a:stretch>
            <a:fillRect/>
          </a:stretch>
        </p:blipFill>
        <p:spPr>
          <a:xfrm>
            <a:off x="5545800" y="1522200"/>
            <a:ext cx="1851400" cy="328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87"/>
          <p:cNvSpPr txBox="1"/>
          <p:nvPr>
            <p:ph type="body" idx="1"/>
          </p:nvPr>
        </p:nvSpPr>
        <p:spPr>
          <a:xfrm>
            <a:off x="324000" y="759300"/>
            <a:ext cx="8237700" cy="7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Complete the table for the given range of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values. Plot the relationships and show on the graph their constant rate of change.</a:t>
            </a:r>
            <a:endParaRPr sz="2000"/>
          </a:p>
        </p:txBody>
      </p:sp>
      <p:sp>
        <p:nvSpPr>
          <p:cNvPr id="1351" name="Google Shape;1351;p8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graphicFrame>
        <p:nvGraphicFramePr>
          <p:cNvPr id="1352" name="Google Shape;1352;p87"/>
          <p:cNvGraphicFramePr>
            <a:graphicFrameLocks noGrp="1"/>
          </p:cNvGraphicFramePr>
          <p:nvPr/>
        </p:nvGraphicFramePr>
        <p:xfrm>
          <a:off x="2389852" y="2166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73250"/>
                <a:gridCol w="373250"/>
                <a:gridCol w="373250"/>
                <a:gridCol w="373250"/>
                <a:gridCol w="373250"/>
                <a:gridCol w="37325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53" name="Google Shape;1353;p87"/>
          <p:cNvSpPr txBox="1"/>
          <p:nvPr/>
        </p:nvSpPr>
        <p:spPr>
          <a:xfrm>
            <a:off x="645210" y="1997415"/>
            <a:ext cx="1359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1354" name="Google Shape;1354;p87"/>
          <p:cNvSpPr txBox="1"/>
          <p:nvPr>
            <p:ph type="body" idx="1"/>
          </p:nvPr>
        </p:nvSpPr>
        <p:spPr>
          <a:xfrm>
            <a:off x="324000" y="2090240"/>
            <a:ext cx="321300" cy="19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355" name="Google Shape;1355;p87"/>
          <p:cNvSpPr txBox="1"/>
          <p:nvPr/>
        </p:nvSpPr>
        <p:spPr>
          <a:xfrm>
            <a:off x="7483083" y="299374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6" name="Google Shape;1356;p87"/>
          <p:cNvSpPr txBox="1"/>
          <p:nvPr/>
        </p:nvSpPr>
        <p:spPr>
          <a:xfrm>
            <a:off x="5397952" y="147998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7" name="Google Shape;1357;p87" descr="&lt;math xmlns=&quot;http://www.w3.org/1998/Math/MathML&quot; data-is-equatio=&quot;1&quot; data-equatio-url=&quot;https://equatio-api.texthelp.com/desmos/get/10-11-2023/aff219cc-7c53-4496-8aa8-3a23fd8d44b9&quot; data-equatio-type=&quot;desmos&quot;&gt;&lt;mglyph src=&quot;https://equatio-api.texthelp.com/desmos/get/10-11-2023/aff219cc-7c53-4496-8aa8-3a23fd8d44b9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7902" t="19446" r="63275" b="12414"/>
          <a:stretch>
            <a:fillRect/>
          </a:stretch>
        </p:blipFill>
        <p:spPr>
          <a:xfrm>
            <a:off x="5545800" y="1522206"/>
            <a:ext cx="1854172" cy="32874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8" name="Google Shape;1358;p87"/>
          <p:cNvGraphicFramePr>
            <a:graphicFrameLocks noGrp="1"/>
          </p:cNvGraphicFramePr>
          <p:nvPr/>
        </p:nvGraphicFramePr>
        <p:xfrm>
          <a:off x="2389852" y="2166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73250"/>
                <a:gridCol w="373250"/>
                <a:gridCol w="373250"/>
                <a:gridCol w="373250"/>
                <a:gridCol w="373250"/>
                <a:gridCol w="37325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359" name="Google Shape;1359;p87"/>
          <p:cNvGrpSpPr/>
          <p:nvPr/>
        </p:nvGrpSpPr>
        <p:grpSpPr>
          <a:xfrm>
            <a:off x="6056090" y="3439738"/>
            <a:ext cx="588732" cy="862664"/>
            <a:chOff x="6706188" y="3328975"/>
            <a:chExt cx="588732" cy="1039605"/>
          </a:xfrm>
        </p:grpSpPr>
        <p:grpSp>
          <p:nvGrpSpPr>
            <p:cNvPr id="1360" name="Google Shape;1360;p87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1361" name="Google Shape;1361;p87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62" name="Google Shape;1362;p87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363" name="Google Shape;1363;p87"/>
            <p:cNvSpPr/>
            <p:nvPr/>
          </p:nvSpPr>
          <p:spPr>
            <a:xfrm>
              <a:off x="6790925" y="4166080"/>
              <a:ext cx="295800" cy="2025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4" name="Google Shape;1364;p87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65" name="Google Shape;1365;p87"/>
          <p:cNvGrpSpPr/>
          <p:nvPr/>
        </p:nvGrpSpPr>
        <p:grpSpPr>
          <a:xfrm>
            <a:off x="6355770" y="2840303"/>
            <a:ext cx="588732" cy="862664"/>
            <a:chOff x="6706188" y="3328975"/>
            <a:chExt cx="588732" cy="1039605"/>
          </a:xfrm>
        </p:grpSpPr>
        <p:grpSp>
          <p:nvGrpSpPr>
            <p:cNvPr id="1366" name="Google Shape;1366;p87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1367" name="Google Shape;1367;p87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68" name="Google Shape;1368;p87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369" name="Google Shape;1369;p87"/>
            <p:cNvSpPr/>
            <p:nvPr/>
          </p:nvSpPr>
          <p:spPr>
            <a:xfrm>
              <a:off x="6790925" y="4166080"/>
              <a:ext cx="295800" cy="2025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0" name="Google Shape;1370;p87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71" name="Google Shape;1371;p87"/>
          <p:cNvGrpSpPr/>
          <p:nvPr/>
        </p:nvGrpSpPr>
        <p:grpSpPr>
          <a:xfrm>
            <a:off x="6665690" y="2240868"/>
            <a:ext cx="588732" cy="862664"/>
            <a:chOff x="6706188" y="3328975"/>
            <a:chExt cx="588732" cy="1039605"/>
          </a:xfrm>
        </p:grpSpPr>
        <p:grpSp>
          <p:nvGrpSpPr>
            <p:cNvPr id="1372" name="Google Shape;1372;p87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1373" name="Google Shape;1373;p87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74" name="Google Shape;1374;p87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375" name="Google Shape;1375;p87"/>
            <p:cNvSpPr/>
            <p:nvPr/>
          </p:nvSpPr>
          <p:spPr>
            <a:xfrm>
              <a:off x="6790925" y="4166080"/>
              <a:ext cx="295800" cy="2025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6" name="Google Shape;1376;p87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77" name="Google Shape;1377;p87"/>
          <p:cNvGrpSpPr/>
          <p:nvPr/>
        </p:nvGrpSpPr>
        <p:grpSpPr>
          <a:xfrm>
            <a:off x="6960325" y="1631268"/>
            <a:ext cx="588732" cy="862664"/>
            <a:chOff x="6706188" y="3328975"/>
            <a:chExt cx="588732" cy="1039605"/>
          </a:xfrm>
        </p:grpSpPr>
        <p:grpSp>
          <p:nvGrpSpPr>
            <p:cNvPr id="1378" name="Google Shape;1378;p87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1379" name="Google Shape;1379;p87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80" name="Google Shape;1380;p87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381" name="Google Shape;1381;p87"/>
            <p:cNvSpPr/>
            <p:nvPr/>
          </p:nvSpPr>
          <p:spPr>
            <a:xfrm>
              <a:off x="6790925" y="4166080"/>
              <a:ext cx="295800" cy="2025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2" name="Google Shape;1382;p87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383" name="Google Shape;1383;p87"/>
          <p:cNvCxnSpPr/>
          <p:nvPr/>
        </p:nvCxnSpPr>
        <p:spPr>
          <a:xfrm rot="10800000" flipH="1">
            <a:off x="5653775" y="1508325"/>
            <a:ext cx="1636800" cy="3273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4" name="Google Shape;1384;p87"/>
          <p:cNvSpPr txBox="1"/>
          <p:nvPr>
            <p:ph type="body" idx="1"/>
          </p:nvPr>
        </p:nvSpPr>
        <p:spPr>
          <a:xfrm>
            <a:off x="324000" y="3553320"/>
            <a:ext cx="4500000" cy="74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Because of the constant rate of change this is a </a:t>
            </a:r>
            <a:r>
              <a:rPr lang="en-GB" b="1">
                <a:latin typeface="Kalam"/>
                <a:ea typeface="Kalam"/>
                <a:cs typeface="Kalam"/>
                <a:sym typeface="Kalam"/>
              </a:rPr>
              <a:t>linear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relationship.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8" name="Shape 1388"/>
        <p:cNvGrpSpPr/>
        <p:nvPr/>
      </p:nvGrpSpPr>
      <p:grpSpPr>
        <a:xfrm>
          <a:off x="0" y="0"/>
          <a:ext cx="0" cy="0"/>
        </a:xfrm>
      </p:grpSpPr>
      <p:pic>
        <p:nvPicPr>
          <p:cNvPr id="1389" name="Google Shape;1389;p88" descr="&lt;math xmlns=&quot;http://www.w3.org/1998/Math/MathML&quot; data-is-equatio=&quot;1&quot; data-equatio-url=&quot;https://equatio-api.texthelp.com/desmos/get/10-11-2023/28c74ec8-65aa-4fad-a91d-30607ef475a7&quot; data-equatio-type=&quot;desmos&quot;&gt;&lt;mglyph src=&quot;https://equatio-api.texthelp.com/desmos/get/10-11-2023/28c74ec8-65aa-4fad-a91d-30607ef475a7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7902" t="19446" r="63318" b="12414"/>
          <a:stretch>
            <a:fillRect/>
          </a:stretch>
        </p:blipFill>
        <p:spPr>
          <a:xfrm>
            <a:off x="5622000" y="1522200"/>
            <a:ext cx="1851400" cy="328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88"/>
          <p:cNvSpPr txBox="1"/>
          <p:nvPr>
            <p:ph type="body" idx="1"/>
          </p:nvPr>
        </p:nvSpPr>
        <p:spPr>
          <a:xfrm>
            <a:off x="324000" y="759300"/>
            <a:ext cx="8237700" cy="76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Plot the coordinates for these relationships for the given range of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values and show graphically their constant rate of change.</a:t>
            </a:r>
            <a:endParaRPr sz="2000"/>
          </a:p>
        </p:txBody>
      </p:sp>
      <p:sp>
        <p:nvSpPr>
          <p:cNvPr id="1391" name="Google Shape;1391;p8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1392" name="Google Shape;1392;p88"/>
          <p:cNvSpPr txBox="1"/>
          <p:nvPr/>
        </p:nvSpPr>
        <p:spPr>
          <a:xfrm>
            <a:off x="645210" y="3521415"/>
            <a:ext cx="1359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3 − </a:t>
            </a: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93" name="Google Shape;1393;p88"/>
          <p:cNvSpPr txBox="1"/>
          <p:nvPr>
            <p:ph type="body" idx="1"/>
          </p:nvPr>
        </p:nvSpPr>
        <p:spPr>
          <a:xfrm>
            <a:off x="324000" y="2090240"/>
            <a:ext cx="321300" cy="19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graphicFrame>
        <p:nvGraphicFramePr>
          <p:cNvPr id="1394" name="Google Shape;1394;p88"/>
          <p:cNvGraphicFramePr>
            <a:graphicFrameLocks noGrp="1"/>
          </p:cNvGraphicFramePr>
          <p:nvPr/>
        </p:nvGraphicFramePr>
        <p:xfrm>
          <a:off x="2389852" y="3690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73250"/>
                <a:gridCol w="373250"/>
                <a:gridCol w="373250"/>
                <a:gridCol w="373250"/>
                <a:gridCol w="373250"/>
                <a:gridCol w="37325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395" name="Google Shape;1395;p88" descr="&lt;math xmlns=&quot;http://www.w3.org/1998/Math/MathML&quot; data-is-equatio=&quot;1&quot; data-equatio-url=&quot;https://equatio-api.texthelp.com/desmos/get/10-11-2023/12908210-a725-476a-92a7-d4813c8347c4&quot; data-equatio-type=&quot;desmos&quot;&gt;&lt;mglyph src=&quot;https://equatio-api.texthelp.com/desmos/get/10-11-2023/12908210-a725-476a-92a7-d4813c8347c4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7226" t="19446" r="63277" b="12414"/>
          <a:stretch>
            <a:fillRect/>
          </a:stretch>
        </p:blipFill>
        <p:spPr>
          <a:xfrm>
            <a:off x="5561691" y="1522206"/>
            <a:ext cx="1897508" cy="328746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88"/>
          <p:cNvSpPr txBox="1"/>
          <p:nvPr/>
        </p:nvSpPr>
        <p:spPr>
          <a:xfrm>
            <a:off x="7559283" y="299374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7" name="Google Shape;1397;p88"/>
          <p:cNvSpPr txBox="1"/>
          <p:nvPr/>
        </p:nvSpPr>
        <p:spPr>
          <a:xfrm>
            <a:off x="5397952" y="147998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98" name="Google Shape;1398;p88"/>
          <p:cNvGraphicFramePr>
            <a:graphicFrameLocks noGrp="1"/>
          </p:cNvGraphicFramePr>
          <p:nvPr/>
        </p:nvGraphicFramePr>
        <p:xfrm>
          <a:off x="2389852" y="3690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373250"/>
                <a:gridCol w="373250"/>
                <a:gridCol w="373250"/>
                <a:gridCol w="373250"/>
                <a:gridCol w="373250"/>
                <a:gridCol w="373250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399" name="Google Shape;1399;p88"/>
          <p:cNvGrpSpPr/>
          <p:nvPr/>
        </p:nvGrpSpPr>
        <p:grpSpPr>
          <a:xfrm>
            <a:off x="6426925" y="2868595"/>
            <a:ext cx="295800" cy="286414"/>
            <a:chOff x="6706188" y="4097575"/>
            <a:chExt cx="295800" cy="829464"/>
          </a:xfrm>
        </p:grpSpPr>
        <p:cxnSp>
          <p:nvCxnSpPr>
            <p:cNvPr id="1400" name="Google Shape;1400;p88"/>
            <p:cNvCxnSpPr/>
            <p:nvPr/>
          </p:nvCxnSpPr>
          <p:spPr>
            <a:xfrm rot="10800000" flipH="1">
              <a:off x="6706188" y="4097575"/>
              <a:ext cx="295800" cy="30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01" name="Google Shape;1401;p88"/>
            <p:cNvCxnSpPr/>
            <p:nvPr/>
          </p:nvCxnSpPr>
          <p:spPr>
            <a:xfrm>
              <a:off x="6975225" y="4155439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402" name="Google Shape;1402;p88"/>
          <p:cNvGrpSpPr/>
          <p:nvPr/>
        </p:nvGrpSpPr>
        <p:grpSpPr>
          <a:xfrm>
            <a:off x="6110333" y="2325898"/>
            <a:ext cx="661440" cy="524311"/>
            <a:chOff x="2818523" y="2249698"/>
            <a:chExt cx="661440" cy="524311"/>
          </a:xfrm>
        </p:grpSpPr>
        <p:grpSp>
          <p:nvGrpSpPr>
            <p:cNvPr id="1403" name="Google Shape;1403;p88"/>
            <p:cNvGrpSpPr/>
            <p:nvPr/>
          </p:nvGrpSpPr>
          <p:grpSpPr>
            <a:xfrm>
              <a:off x="2845525" y="2487595"/>
              <a:ext cx="295800" cy="286414"/>
              <a:chOff x="6706188" y="4097575"/>
              <a:chExt cx="295800" cy="829464"/>
            </a:xfrm>
          </p:grpSpPr>
          <p:cxnSp>
            <p:nvCxnSpPr>
              <p:cNvPr id="1404" name="Google Shape;1404;p88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05" name="Google Shape;1405;p88"/>
              <p:cNvCxnSpPr/>
              <p:nvPr/>
            </p:nvCxnSpPr>
            <p:spPr>
              <a:xfrm>
                <a:off x="6975225" y="4155439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406" name="Google Shape;1406;p88"/>
            <p:cNvSpPr/>
            <p:nvPr/>
          </p:nvSpPr>
          <p:spPr>
            <a:xfrm>
              <a:off x="2818523" y="2249698"/>
              <a:ext cx="295800" cy="168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7" name="Google Shape;1407;p88"/>
            <p:cNvSpPr/>
            <p:nvPr/>
          </p:nvSpPr>
          <p:spPr>
            <a:xfrm>
              <a:off x="3184162" y="2512109"/>
              <a:ext cx="295800" cy="168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−1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08" name="Google Shape;1408;p88"/>
          <p:cNvGrpSpPr/>
          <p:nvPr/>
        </p:nvGrpSpPr>
        <p:grpSpPr>
          <a:xfrm>
            <a:off x="6731725" y="3173395"/>
            <a:ext cx="295800" cy="286414"/>
            <a:chOff x="6706188" y="4097575"/>
            <a:chExt cx="295800" cy="829464"/>
          </a:xfrm>
        </p:grpSpPr>
        <p:cxnSp>
          <p:nvCxnSpPr>
            <p:cNvPr id="1409" name="Google Shape;1409;p88"/>
            <p:cNvCxnSpPr/>
            <p:nvPr/>
          </p:nvCxnSpPr>
          <p:spPr>
            <a:xfrm rot="10800000" flipH="1">
              <a:off x="6706188" y="4097575"/>
              <a:ext cx="295800" cy="30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0" name="Google Shape;1410;p88"/>
            <p:cNvCxnSpPr/>
            <p:nvPr/>
          </p:nvCxnSpPr>
          <p:spPr>
            <a:xfrm>
              <a:off x="6975225" y="4155439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411" name="Google Shape;1411;p88"/>
          <p:cNvGrpSpPr/>
          <p:nvPr/>
        </p:nvGrpSpPr>
        <p:grpSpPr>
          <a:xfrm>
            <a:off x="7036525" y="3478195"/>
            <a:ext cx="295800" cy="286414"/>
            <a:chOff x="6706188" y="4097575"/>
            <a:chExt cx="295800" cy="829464"/>
          </a:xfrm>
        </p:grpSpPr>
        <p:cxnSp>
          <p:nvCxnSpPr>
            <p:cNvPr id="1412" name="Google Shape;1412;p88"/>
            <p:cNvCxnSpPr/>
            <p:nvPr/>
          </p:nvCxnSpPr>
          <p:spPr>
            <a:xfrm rot="10800000" flipH="1">
              <a:off x="6706188" y="4097575"/>
              <a:ext cx="295800" cy="30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3" name="Google Shape;1413;p88"/>
            <p:cNvCxnSpPr/>
            <p:nvPr/>
          </p:nvCxnSpPr>
          <p:spPr>
            <a:xfrm>
              <a:off x="6975225" y="4155439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1414" name="Google Shape;1414;p88"/>
          <p:cNvCxnSpPr/>
          <p:nvPr/>
        </p:nvCxnSpPr>
        <p:spPr>
          <a:xfrm>
            <a:off x="5592800" y="2067575"/>
            <a:ext cx="1850100" cy="18501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5" name="Google Shape;1415;p88"/>
          <p:cNvSpPr txBox="1"/>
          <p:nvPr>
            <p:ph type="body" idx="1"/>
          </p:nvPr>
        </p:nvSpPr>
        <p:spPr>
          <a:xfrm>
            <a:off x="476400" y="2257920"/>
            <a:ext cx="4500000" cy="74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Because of the constant rate of change this is a </a:t>
            </a:r>
            <a:r>
              <a:rPr lang="en-GB" b="1">
                <a:latin typeface="Kalam"/>
                <a:ea typeface="Kalam"/>
                <a:cs typeface="Kalam"/>
                <a:sym typeface="Kalam"/>
              </a:rPr>
              <a:t>linear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relationship.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9" name="Shape 1419"/>
        <p:cNvGrpSpPr/>
        <p:nvPr/>
      </p:nvGrpSpPr>
      <p:grpSpPr>
        <a:xfrm>
          <a:off x="0" y="0"/>
          <a:ext cx="0" cy="0"/>
        </a:xfrm>
      </p:grpSpPr>
      <p:pic>
        <p:nvPicPr>
          <p:cNvPr id="1420" name="Google Shape;1420;p89" descr="&lt;math xmlns=&quot;http://www.w3.org/1998/Math/MathML&quot; data-is-equatio=&quot;1&quot; data-equatio-url=&quot;https://equatio-api.texthelp.com/desmos/get/10-11-2023/6feebd27-4d81-44fa-b8f4-dd45e64f6c5a&quot; data-equatio-type=&quot;desmos&quot;&gt;&lt;mglyph src=&quot;https://equatio-api.texthelp.com/desmos/get/10-11-2023/6feebd27-4d81-44fa-b8f4-dd45e64f6c5a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8776" t="8184" r="54761" b="11183"/>
          <a:stretch>
            <a:fillRect/>
          </a:stretch>
        </p:blipFill>
        <p:spPr>
          <a:xfrm>
            <a:off x="6001635" y="659590"/>
            <a:ext cx="2500600" cy="41473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89"/>
          <p:cNvSpPr txBox="1"/>
          <p:nvPr>
            <p:ph type="body" idx="1"/>
          </p:nvPr>
        </p:nvSpPr>
        <p:spPr>
          <a:xfrm>
            <a:off x="324000" y="759300"/>
            <a:ext cx="5450400" cy="16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3) This set of coordinates has a linear relationship with a constant rate of change.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Find the missing values, plot the graph, and show the constant rate of change.</a:t>
            </a:r>
            <a:endParaRPr sz="2000"/>
          </a:p>
        </p:txBody>
      </p:sp>
      <p:sp>
        <p:nvSpPr>
          <p:cNvPr id="1422" name="Google Shape;1422;p8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graphicFrame>
        <p:nvGraphicFramePr>
          <p:cNvPr id="1423" name="Google Shape;1423;p89"/>
          <p:cNvGraphicFramePr>
            <a:graphicFrameLocks noGrp="1"/>
          </p:cNvGraphicFramePr>
          <p:nvPr/>
        </p:nvGraphicFramePr>
        <p:xfrm>
          <a:off x="1658347" y="2923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441925"/>
                <a:gridCol w="441925"/>
                <a:gridCol w="441925"/>
                <a:gridCol w="441925"/>
                <a:gridCol w="441925"/>
                <a:gridCol w="44192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424" name="Google Shape;1424;p89"/>
          <p:cNvGraphicFramePr>
            <a:graphicFrameLocks noGrp="1"/>
          </p:cNvGraphicFramePr>
          <p:nvPr/>
        </p:nvGraphicFramePr>
        <p:xfrm>
          <a:off x="1658347" y="29181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{12E89832-788F-4B34-96C2-5DBB5AD0A4B4}</a:tableStyleId>
              </a:tblPr>
              <a:tblGrid>
                <a:gridCol w="441925"/>
                <a:gridCol w="441925"/>
                <a:gridCol w="441925"/>
                <a:gridCol w="441925"/>
                <a:gridCol w="441925"/>
                <a:gridCol w="441925"/>
              </a:tblGrid>
              <a:tr h="401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425" name="Google Shape;1425;p89" descr="&lt;math xmlns=&quot;http://www.w3.org/1998/Math/MathML&quot; data-is-equatio=&quot;1&quot; data-equatio-url=&quot;https://equatio-api.texthelp.com/desmos/get/10-11-2023/6e6c04ad-ad40-4f4b-afcf-74c8ec8d38a2&quot; data-equatio-type=&quot;desmos&quot;&gt;&lt;mglyph src=&quot;https://equatio-api.texthelp.com/desmos/get/10-11-2023/6e6c04ad-ad40-4f4b-afcf-74c8ec8d38a2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8859" t="8184" r="55270" b="11183"/>
          <a:stretch>
            <a:fillRect/>
          </a:stretch>
        </p:blipFill>
        <p:spPr>
          <a:xfrm>
            <a:off x="6007460" y="659590"/>
            <a:ext cx="2459926" cy="41473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89"/>
          <p:cNvSpPr txBox="1"/>
          <p:nvPr/>
        </p:nvSpPr>
        <p:spPr>
          <a:xfrm>
            <a:off x="8509299" y="339507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7" name="Google Shape;1427;p89"/>
          <p:cNvSpPr txBox="1"/>
          <p:nvPr/>
        </p:nvSpPr>
        <p:spPr>
          <a:xfrm>
            <a:off x="6673097" y="50971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8" name="Google Shape;1428;p89"/>
          <p:cNvSpPr/>
          <p:nvPr/>
        </p:nvSpPr>
        <p:spPr>
          <a:xfrm rot="10800000" flipH="1">
            <a:off x="2313350" y="3522284"/>
            <a:ext cx="4341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9" name="Google Shape;1429;p89"/>
          <p:cNvSpPr/>
          <p:nvPr/>
        </p:nvSpPr>
        <p:spPr>
          <a:xfrm rot="10800000" flipH="1">
            <a:off x="2771958" y="3522284"/>
            <a:ext cx="4341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0" name="Google Shape;1430;p89"/>
          <p:cNvSpPr/>
          <p:nvPr/>
        </p:nvSpPr>
        <p:spPr>
          <a:xfrm rot="10800000" flipH="1">
            <a:off x="3237529" y="3522284"/>
            <a:ext cx="4341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1" name="Google Shape;1431;p89"/>
          <p:cNvSpPr/>
          <p:nvPr/>
        </p:nvSpPr>
        <p:spPr>
          <a:xfrm rot="10800000" flipH="1">
            <a:off x="3703101" y="3522284"/>
            <a:ext cx="4341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2" name="Google Shape;1432;p89"/>
          <p:cNvSpPr txBox="1"/>
          <p:nvPr/>
        </p:nvSpPr>
        <p:spPr>
          <a:xfrm>
            <a:off x="2339900" y="4049622"/>
            <a:ext cx="434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3" name="Google Shape;1433;p89"/>
          <p:cNvSpPr txBox="1"/>
          <p:nvPr/>
        </p:nvSpPr>
        <p:spPr>
          <a:xfrm>
            <a:off x="2816854" y="4049622"/>
            <a:ext cx="434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4" name="Google Shape;1434;p89"/>
          <p:cNvSpPr txBox="1"/>
          <p:nvPr/>
        </p:nvSpPr>
        <p:spPr>
          <a:xfrm>
            <a:off x="3309591" y="4049622"/>
            <a:ext cx="434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5" name="Google Shape;1435;p89"/>
          <p:cNvSpPr txBox="1"/>
          <p:nvPr/>
        </p:nvSpPr>
        <p:spPr>
          <a:xfrm>
            <a:off x="3786545" y="4049622"/>
            <a:ext cx="434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6" name="Google Shape;1436;p89"/>
          <p:cNvSpPr/>
          <p:nvPr/>
        </p:nvSpPr>
        <p:spPr>
          <a:xfrm>
            <a:off x="2313350" y="2612921"/>
            <a:ext cx="4341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7" name="Google Shape;1437;p89"/>
          <p:cNvSpPr/>
          <p:nvPr/>
        </p:nvSpPr>
        <p:spPr>
          <a:xfrm>
            <a:off x="2771958" y="2612921"/>
            <a:ext cx="4341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8" name="Google Shape;1438;p89"/>
          <p:cNvSpPr/>
          <p:nvPr/>
        </p:nvSpPr>
        <p:spPr>
          <a:xfrm>
            <a:off x="3237529" y="2612921"/>
            <a:ext cx="4341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9" name="Google Shape;1439;p89"/>
          <p:cNvSpPr/>
          <p:nvPr/>
        </p:nvSpPr>
        <p:spPr>
          <a:xfrm>
            <a:off x="3703101" y="2612921"/>
            <a:ext cx="434100" cy="5517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0" name="Google Shape;1440;p89"/>
          <p:cNvSpPr txBox="1"/>
          <p:nvPr/>
        </p:nvSpPr>
        <p:spPr>
          <a:xfrm>
            <a:off x="2339900" y="2322385"/>
            <a:ext cx="434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1" name="Google Shape;1441;p89"/>
          <p:cNvSpPr txBox="1"/>
          <p:nvPr/>
        </p:nvSpPr>
        <p:spPr>
          <a:xfrm>
            <a:off x="2816854" y="2322385"/>
            <a:ext cx="434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2" name="Google Shape;1442;p89"/>
          <p:cNvSpPr txBox="1"/>
          <p:nvPr/>
        </p:nvSpPr>
        <p:spPr>
          <a:xfrm>
            <a:off x="3309591" y="2322385"/>
            <a:ext cx="434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3" name="Google Shape;1443;p89"/>
          <p:cNvSpPr txBox="1"/>
          <p:nvPr/>
        </p:nvSpPr>
        <p:spPr>
          <a:xfrm>
            <a:off x="3786545" y="2322385"/>
            <a:ext cx="434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44" name="Google Shape;1444;p89"/>
          <p:cNvGrpSpPr/>
          <p:nvPr/>
        </p:nvGrpSpPr>
        <p:grpSpPr>
          <a:xfrm>
            <a:off x="6151275" y="3571885"/>
            <a:ext cx="864382" cy="1035283"/>
            <a:chOff x="4866040" y="2982615"/>
            <a:chExt cx="864382" cy="1035283"/>
          </a:xfrm>
        </p:grpSpPr>
        <p:sp>
          <p:nvSpPr>
            <p:cNvPr id="1445" name="Google Shape;1445;p89"/>
            <p:cNvSpPr/>
            <p:nvPr/>
          </p:nvSpPr>
          <p:spPr>
            <a:xfrm>
              <a:off x="5002797" y="3849898"/>
              <a:ext cx="295800" cy="168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6" name="Google Shape;1446;p89"/>
            <p:cNvSpPr/>
            <p:nvPr/>
          </p:nvSpPr>
          <p:spPr>
            <a:xfrm>
              <a:off x="5434622" y="3462049"/>
              <a:ext cx="295800" cy="16803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47" name="Google Shape;1447;p89"/>
            <p:cNvGrpSpPr/>
            <p:nvPr/>
          </p:nvGrpSpPr>
          <p:grpSpPr>
            <a:xfrm>
              <a:off x="4866040" y="2982615"/>
              <a:ext cx="549425" cy="828295"/>
              <a:chOff x="4855875" y="2982615"/>
              <a:chExt cx="549425" cy="828295"/>
            </a:xfrm>
          </p:grpSpPr>
          <p:cxnSp>
            <p:nvCxnSpPr>
              <p:cNvPr id="1448" name="Google Shape;1448;p89"/>
              <p:cNvCxnSpPr/>
              <p:nvPr/>
            </p:nvCxnSpPr>
            <p:spPr>
              <a:xfrm rot="10800000">
                <a:off x="5401400" y="2982615"/>
                <a:ext cx="3900" cy="813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49" name="Google Shape;1449;p89"/>
              <p:cNvCxnSpPr/>
              <p:nvPr/>
            </p:nvCxnSpPr>
            <p:spPr>
              <a:xfrm rot="10800000" flipH="1">
                <a:off x="4855875" y="3805810"/>
                <a:ext cx="549300" cy="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450" name="Google Shape;1450;p89"/>
          <p:cNvGrpSpPr/>
          <p:nvPr/>
        </p:nvGrpSpPr>
        <p:grpSpPr>
          <a:xfrm>
            <a:off x="6705005" y="2754015"/>
            <a:ext cx="864382" cy="1035283"/>
            <a:chOff x="4866040" y="2982615"/>
            <a:chExt cx="864382" cy="1035283"/>
          </a:xfrm>
        </p:grpSpPr>
        <p:sp>
          <p:nvSpPr>
            <p:cNvPr id="1451" name="Google Shape;1451;p89"/>
            <p:cNvSpPr/>
            <p:nvPr/>
          </p:nvSpPr>
          <p:spPr>
            <a:xfrm>
              <a:off x="5002797" y="3849898"/>
              <a:ext cx="295800" cy="168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2" name="Google Shape;1452;p89"/>
            <p:cNvSpPr/>
            <p:nvPr/>
          </p:nvSpPr>
          <p:spPr>
            <a:xfrm>
              <a:off x="5434622" y="3462049"/>
              <a:ext cx="295800" cy="168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53" name="Google Shape;1453;p89"/>
            <p:cNvGrpSpPr/>
            <p:nvPr/>
          </p:nvGrpSpPr>
          <p:grpSpPr>
            <a:xfrm>
              <a:off x="4866040" y="2982615"/>
              <a:ext cx="549425" cy="828295"/>
              <a:chOff x="4855875" y="2982615"/>
              <a:chExt cx="549425" cy="828295"/>
            </a:xfrm>
          </p:grpSpPr>
          <p:cxnSp>
            <p:nvCxnSpPr>
              <p:cNvPr id="1454" name="Google Shape;1454;p89"/>
              <p:cNvCxnSpPr/>
              <p:nvPr/>
            </p:nvCxnSpPr>
            <p:spPr>
              <a:xfrm rot="10800000">
                <a:off x="5401400" y="2982615"/>
                <a:ext cx="3900" cy="813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55" name="Google Shape;1455;p89"/>
              <p:cNvCxnSpPr/>
              <p:nvPr/>
            </p:nvCxnSpPr>
            <p:spPr>
              <a:xfrm rot="10800000" flipH="1">
                <a:off x="4855875" y="3805810"/>
                <a:ext cx="549300" cy="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456" name="Google Shape;1456;p89"/>
          <p:cNvGrpSpPr/>
          <p:nvPr/>
        </p:nvGrpSpPr>
        <p:grpSpPr>
          <a:xfrm>
            <a:off x="7238405" y="1931100"/>
            <a:ext cx="864382" cy="1035283"/>
            <a:chOff x="4866040" y="2982615"/>
            <a:chExt cx="864382" cy="1035283"/>
          </a:xfrm>
        </p:grpSpPr>
        <p:sp>
          <p:nvSpPr>
            <p:cNvPr id="1457" name="Google Shape;1457;p89"/>
            <p:cNvSpPr/>
            <p:nvPr/>
          </p:nvSpPr>
          <p:spPr>
            <a:xfrm>
              <a:off x="5002797" y="3849898"/>
              <a:ext cx="295800" cy="168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8" name="Google Shape;1458;p89"/>
            <p:cNvSpPr/>
            <p:nvPr/>
          </p:nvSpPr>
          <p:spPr>
            <a:xfrm>
              <a:off x="5434622" y="3462049"/>
              <a:ext cx="295800" cy="168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59" name="Google Shape;1459;p89"/>
            <p:cNvGrpSpPr/>
            <p:nvPr/>
          </p:nvGrpSpPr>
          <p:grpSpPr>
            <a:xfrm>
              <a:off x="4866040" y="2982615"/>
              <a:ext cx="549425" cy="828295"/>
              <a:chOff x="4855875" y="2982615"/>
              <a:chExt cx="549425" cy="828295"/>
            </a:xfrm>
          </p:grpSpPr>
          <p:cxnSp>
            <p:nvCxnSpPr>
              <p:cNvPr id="1460" name="Google Shape;1460;p89"/>
              <p:cNvCxnSpPr/>
              <p:nvPr/>
            </p:nvCxnSpPr>
            <p:spPr>
              <a:xfrm rot="10800000">
                <a:off x="5401400" y="2982615"/>
                <a:ext cx="3900" cy="813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61" name="Google Shape;1461;p89"/>
              <p:cNvCxnSpPr/>
              <p:nvPr/>
            </p:nvCxnSpPr>
            <p:spPr>
              <a:xfrm rot="10800000" flipH="1">
                <a:off x="4855875" y="3805810"/>
                <a:ext cx="549300" cy="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462" name="Google Shape;1462;p89"/>
          <p:cNvGrpSpPr/>
          <p:nvPr/>
        </p:nvGrpSpPr>
        <p:grpSpPr>
          <a:xfrm>
            <a:off x="7797180" y="1097945"/>
            <a:ext cx="864382" cy="1035283"/>
            <a:chOff x="4866040" y="2982615"/>
            <a:chExt cx="864382" cy="1035283"/>
          </a:xfrm>
        </p:grpSpPr>
        <p:sp>
          <p:nvSpPr>
            <p:cNvPr id="1463" name="Google Shape;1463;p89"/>
            <p:cNvSpPr/>
            <p:nvPr/>
          </p:nvSpPr>
          <p:spPr>
            <a:xfrm>
              <a:off x="5002797" y="3849898"/>
              <a:ext cx="295800" cy="168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4" name="Google Shape;1464;p89"/>
            <p:cNvSpPr/>
            <p:nvPr/>
          </p:nvSpPr>
          <p:spPr>
            <a:xfrm>
              <a:off x="5434622" y="3462049"/>
              <a:ext cx="295800" cy="16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highlight>
                    <a:schemeClr val="lt1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65" name="Google Shape;1465;p89"/>
            <p:cNvGrpSpPr/>
            <p:nvPr/>
          </p:nvGrpSpPr>
          <p:grpSpPr>
            <a:xfrm>
              <a:off x="4866040" y="2982615"/>
              <a:ext cx="549425" cy="828295"/>
              <a:chOff x="4855875" y="2982615"/>
              <a:chExt cx="549425" cy="828295"/>
            </a:xfrm>
          </p:grpSpPr>
          <p:cxnSp>
            <p:nvCxnSpPr>
              <p:cNvPr id="1466" name="Google Shape;1466;p89"/>
              <p:cNvCxnSpPr/>
              <p:nvPr/>
            </p:nvCxnSpPr>
            <p:spPr>
              <a:xfrm rot="10800000">
                <a:off x="5401400" y="2982615"/>
                <a:ext cx="3900" cy="813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67" name="Google Shape;1467;p89"/>
              <p:cNvCxnSpPr/>
              <p:nvPr/>
            </p:nvCxnSpPr>
            <p:spPr>
              <a:xfrm rot="10800000" flipH="1">
                <a:off x="4855875" y="3805810"/>
                <a:ext cx="549300" cy="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1468" name="Google Shape;1468;p89"/>
          <p:cNvCxnSpPr/>
          <p:nvPr/>
        </p:nvCxnSpPr>
        <p:spPr>
          <a:xfrm rot="10800000" flipH="1">
            <a:off x="6009475" y="928850"/>
            <a:ext cx="2429400" cy="3639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9" name="Google Shape;1469;p89"/>
          <p:cNvSpPr txBox="1"/>
          <p:nvPr>
            <p:ph type="body" idx="1"/>
          </p:nvPr>
        </p:nvSpPr>
        <p:spPr>
          <a:xfrm>
            <a:off x="324000" y="4456925"/>
            <a:ext cx="57261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Constant rate of change makes a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linear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relationship.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3" name="Shape 1473"/>
        <p:cNvGrpSpPr/>
        <p:nvPr/>
      </p:nvGrpSpPr>
      <p:grpSpPr>
        <a:xfrm>
          <a:off x="0" y="0"/>
          <a:ext cx="0" cy="0"/>
        </a:xfrm>
      </p:grpSpPr>
      <p:sp>
        <p:nvSpPr>
          <p:cNvPr id="1474" name="Google Shape;1474;p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constant rate of change</a:t>
            </a:r>
            <a:endParaRPr/>
          </a:p>
        </p:txBody>
      </p:sp>
      <p:sp>
        <p:nvSpPr>
          <p:cNvPr id="1475" name="Google Shape;1475;p90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and algebraic representations</a:t>
            </a:r>
            <a:endParaRPr/>
          </a:p>
        </p:txBody>
      </p:sp>
      <p:sp>
        <p:nvSpPr>
          <p:cNvPr id="1476" name="Google Shape;1476;p90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a linear relationship</a:t>
            </a:r>
            <a:endParaRPr/>
          </a:p>
        </p:txBody>
      </p:sp>
      <p:pic>
        <p:nvPicPr>
          <p:cNvPr id="1477" name="Google Shape;147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98583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1" name="Shape 1481"/>
        <p:cNvGrpSpPr/>
        <p:nvPr/>
      </p:nvGrpSpPr>
      <p:grpSpPr>
        <a:xfrm>
          <a:off x="0" y="0"/>
          <a:ext cx="0" cy="0"/>
        </a:xfrm>
      </p:grpSpPr>
      <p:sp>
        <p:nvSpPr>
          <p:cNvPr id="1482" name="Google Shape;1482;p91"/>
          <p:cNvSpPr txBox="1"/>
          <p:nvPr>
            <p:ph type="body" idx="1"/>
          </p:nvPr>
        </p:nvSpPr>
        <p:spPr>
          <a:xfrm>
            <a:off x="324000" y="759300"/>
            <a:ext cx="5932800" cy="9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All of these coordinates fit the relationship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15 − 3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except for one.</a:t>
            </a:r>
            <a:endParaRPr/>
          </a:p>
        </p:txBody>
      </p:sp>
      <p:sp>
        <p:nvSpPr>
          <p:cNvPr id="1483" name="Google Shape;148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and algebraic representations</a:t>
            </a:r>
            <a:endParaRPr/>
          </a:p>
        </p:txBody>
      </p:sp>
      <p:sp>
        <p:nvSpPr>
          <p:cNvPr id="1484" name="Google Shape;1484;p91"/>
          <p:cNvSpPr txBox="1"/>
          <p:nvPr>
            <p:ph type="body" idx="1"/>
          </p:nvPr>
        </p:nvSpPr>
        <p:spPr>
          <a:xfrm>
            <a:off x="324000" y="1826100"/>
            <a:ext cx="8775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(0, 15)  </a:t>
            </a:r>
            <a:endParaRPr/>
          </a:p>
        </p:txBody>
      </p:sp>
      <p:sp>
        <p:nvSpPr>
          <p:cNvPr id="1485" name="Google Shape;1485;p91"/>
          <p:cNvSpPr txBox="1"/>
          <p:nvPr>
            <p:ph type="body" idx="1"/>
          </p:nvPr>
        </p:nvSpPr>
        <p:spPr>
          <a:xfrm>
            <a:off x="3149483" y="1826100"/>
            <a:ext cx="8988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(−5, 0)  </a:t>
            </a:r>
            <a:endParaRPr/>
          </a:p>
        </p:txBody>
      </p:sp>
      <p:sp>
        <p:nvSpPr>
          <p:cNvPr id="1486" name="Google Shape;1486;p91"/>
          <p:cNvSpPr txBox="1"/>
          <p:nvPr>
            <p:ph type="body" idx="1"/>
          </p:nvPr>
        </p:nvSpPr>
        <p:spPr>
          <a:xfrm>
            <a:off x="4470875" y="1826100"/>
            <a:ext cx="11028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(−2, 21)  </a:t>
            </a:r>
            <a:endParaRPr/>
          </a:p>
        </p:txBody>
      </p:sp>
      <p:sp>
        <p:nvSpPr>
          <p:cNvPr id="1487" name="Google Shape;1487;p91"/>
          <p:cNvSpPr txBox="1"/>
          <p:nvPr>
            <p:ph type="body" idx="1"/>
          </p:nvPr>
        </p:nvSpPr>
        <p:spPr>
          <a:xfrm>
            <a:off x="1776492" y="1826100"/>
            <a:ext cx="11028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(2, 9)  </a:t>
            </a:r>
            <a:endParaRPr/>
          </a:p>
        </p:txBody>
      </p:sp>
      <p:sp>
        <p:nvSpPr>
          <p:cNvPr id="1488" name="Google Shape;1488;p91"/>
          <p:cNvSpPr txBox="1"/>
          <p:nvPr>
            <p:ph type="body" idx="1"/>
          </p:nvPr>
        </p:nvSpPr>
        <p:spPr>
          <a:xfrm>
            <a:off x="7639200" y="1826100"/>
            <a:ext cx="11028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(9, −12)  </a:t>
            </a:r>
            <a:endParaRPr/>
          </a:p>
        </p:txBody>
      </p:sp>
      <p:pic>
        <p:nvPicPr>
          <p:cNvPr id="1489" name="Google Shape;1489;p91" descr="&lt;math xmlns=&quot;http://www.w3.org/1998/Math/MathML&quot; display=&quot;block&quot; data-is-equatio=&quot;1&quot; data-latex=&quot;\left(2\frac{1}{2},7\frac{1}{2}\right)&quot;&gt;&lt;mrow data-mjx-texclass=&quot;INNER&quot;&gt;&lt;mo data-mjx-texclass=&quot;OPEN&quot;&gt;(&lt;/mo&gt;&lt;mn&gt;2&lt;/mn&gt;&lt;mfrac&gt;&lt;mn&gt;1&lt;/mn&gt;&lt;mn&gt;2&lt;/mn&gt;&lt;/mfrac&gt;&lt;mo&gt;,&lt;/mo&gt;&lt;mn&gt;7&lt;/mn&gt;&lt;mfrac&gt;&lt;mn&gt;1&lt;/mn&gt;&lt;mn&gt;2&lt;/mn&gt;&lt;/mfrac&gt;&lt;mo data-mjx-texclass=&quot;CLOSE&quot;&gt;)&lt;/mo&gt;&lt;/mrow&gt;&lt;/math&gt;" title="open paren 2 and one half comma 7 and one half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6266" y="1686425"/>
            <a:ext cx="1220342" cy="7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91"/>
          <p:cNvSpPr txBox="1"/>
          <p:nvPr>
            <p:ph type="body" idx="1"/>
          </p:nvPr>
        </p:nvSpPr>
        <p:spPr>
          <a:xfrm>
            <a:off x="2589675" y="2349315"/>
            <a:ext cx="1822800" cy="11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15 − 3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15 − 3(−5)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15 + 15 = 30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1" name="Google Shape;1491;p91"/>
          <p:cNvSpPr/>
          <p:nvPr/>
        </p:nvSpPr>
        <p:spPr>
          <a:xfrm>
            <a:off x="3061845" y="1808475"/>
            <a:ext cx="1006500" cy="4575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2" name="Google Shape;1492;p91" descr="&lt;math xmlns=&quot;http://www.w3.org/1998/Math/MathML&quot; data-is-equatio=&quot;1&quot; data-equatio-url=&quot;https://equatio-api.texthelp.com/desmos/get/10-11-2023/3fbd70e2-98f9-46be-aa89-b911f6b5e2f3&quot; data-equatio-type=&quot;desmos&quot;&gt;&lt;mglyph src=&quot;https://equatio-api.texthelp.com/desmos/get/10-11-2023/3fbd70e2-98f9-46be-aa89-b911f6b5e2f3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9238" t="4230" r="53673" b="7632"/>
          <a:stretch>
            <a:fillRect/>
          </a:stretch>
        </p:blipFill>
        <p:spPr>
          <a:xfrm>
            <a:off x="914995" y="2241480"/>
            <a:ext cx="1445326" cy="257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91"/>
          <p:cNvSpPr/>
          <p:nvPr/>
        </p:nvSpPr>
        <p:spPr>
          <a:xfrm>
            <a:off x="948570" y="3669385"/>
            <a:ext cx="375000" cy="3339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91"/>
          <p:cNvSpPr txBox="1"/>
          <p:nvPr>
            <p:ph type="body" idx="1"/>
          </p:nvPr>
        </p:nvSpPr>
        <p:spPr>
          <a:xfrm>
            <a:off x="2533800" y="3654900"/>
            <a:ext cx="5446800" cy="76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coordinate that does fit the relationship will not be part of the </a:t>
            </a:r>
            <a:r>
              <a:rPr lang="en-GB" sz="2000" b="1"/>
              <a:t>linear </a:t>
            </a:r>
            <a:r>
              <a:rPr lang="en-GB" sz="2000"/>
              <a:t>pattern.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8" name="Shape 1498"/>
        <p:cNvGrpSpPr/>
        <p:nvPr/>
      </p:nvGrpSpPr>
      <p:grpSpPr>
        <a:xfrm>
          <a:off x="0" y="0"/>
          <a:ext cx="0" cy="0"/>
        </a:xfrm>
      </p:grpSpPr>
      <p:pic>
        <p:nvPicPr>
          <p:cNvPr id="1499" name="Google Shape;1499;p9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6129172" y="2491855"/>
            <a:ext cx="2484823" cy="13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92"/>
          <p:cNvSpPr txBox="1"/>
          <p:nvPr>
            <p:ph type="body" idx="1"/>
          </p:nvPr>
        </p:nvSpPr>
        <p:spPr>
          <a:xfrm>
            <a:off x="324000" y="759300"/>
            <a:ext cx="6400800" cy="3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Some pupils are discussing a coordinate.</a:t>
            </a:r>
            <a:endParaRPr/>
          </a:p>
        </p:txBody>
      </p:sp>
      <p:sp>
        <p:nvSpPr>
          <p:cNvPr id="1501" name="Google Shape;150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and algebraic representations</a:t>
            </a:r>
            <a:endParaRPr/>
          </a:p>
        </p:txBody>
      </p:sp>
      <p:sp>
        <p:nvSpPr>
          <p:cNvPr id="1502" name="Google Shape;1502;p92"/>
          <p:cNvSpPr txBox="1"/>
          <p:nvPr>
            <p:ph type="body" idx="1"/>
          </p:nvPr>
        </p:nvSpPr>
        <p:spPr>
          <a:xfrm>
            <a:off x="1705765" y="1226665"/>
            <a:ext cx="8775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(2, 5)  </a:t>
            </a:r>
            <a:endParaRPr sz="2400"/>
          </a:p>
        </p:txBody>
      </p:sp>
      <p:sp>
        <p:nvSpPr>
          <p:cNvPr id="1503" name="Google Shape;1503;p92"/>
          <p:cNvSpPr txBox="1"/>
          <p:nvPr>
            <p:ph type="body" idx="1"/>
          </p:nvPr>
        </p:nvSpPr>
        <p:spPr>
          <a:xfrm>
            <a:off x="3676800" y="1826100"/>
            <a:ext cx="1786200" cy="3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Who is right?</a:t>
            </a:r>
            <a:endParaRPr sz="2000"/>
          </a:p>
        </p:txBody>
      </p:sp>
      <p:sp>
        <p:nvSpPr>
          <p:cNvPr id="1504" name="Google Shape;1504;p92"/>
          <p:cNvSpPr txBox="1"/>
          <p:nvPr>
            <p:ph type="body" idx="1"/>
          </p:nvPr>
        </p:nvSpPr>
        <p:spPr>
          <a:xfrm>
            <a:off x="3600600" y="2557605"/>
            <a:ext cx="2128500" cy="76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think there is a </a:t>
            </a:r>
            <a:r>
              <a:rPr lang="en-GB" sz="1800" b="1"/>
              <a:t>linear </a:t>
            </a:r>
            <a:r>
              <a:rPr lang="en-GB" sz="1800"/>
              <a:t>relationship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7 −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505" name="Google Shape;1505;p92"/>
          <p:cNvSpPr txBox="1"/>
          <p:nvPr>
            <p:ph type="body" idx="1"/>
          </p:nvPr>
        </p:nvSpPr>
        <p:spPr>
          <a:xfrm>
            <a:off x="6420000" y="2557605"/>
            <a:ext cx="2097300" cy="76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think there is a </a:t>
            </a:r>
            <a:r>
              <a:rPr lang="en-GB" sz="1800" b="1"/>
              <a:t>linear </a:t>
            </a:r>
            <a:r>
              <a:rPr lang="en-GB" sz="1800"/>
              <a:t>relationship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1800"/>
          </a:p>
        </p:txBody>
      </p:sp>
      <p:sp>
        <p:nvSpPr>
          <p:cNvPr id="1506" name="Google Shape;1506;p92"/>
          <p:cNvSpPr txBox="1"/>
          <p:nvPr>
            <p:ph type="body" idx="1"/>
          </p:nvPr>
        </p:nvSpPr>
        <p:spPr>
          <a:xfrm>
            <a:off x="781200" y="2557605"/>
            <a:ext cx="2097300" cy="76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think there is a </a:t>
            </a:r>
            <a:r>
              <a:rPr lang="en-GB" sz="1800" b="1"/>
              <a:t>linear </a:t>
            </a:r>
            <a:r>
              <a:rPr lang="en-GB" sz="1800"/>
              <a:t>relationship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1800"/>
          </a:p>
        </p:txBody>
      </p:sp>
      <p:pic>
        <p:nvPicPr>
          <p:cNvPr id="1507" name="Google Shape;1507;p9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510702" y="2491855"/>
            <a:ext cx="2484823" cy="13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8" name="Google Shape;1508;p9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3330102" y="2491855"/>
            <a:ext cx="2484823" cy="13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9" name="Google Shape;150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51050" y="3795117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0" name="Google Shape;151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3000" y="365709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92"/>
          <p:cNvSpPr txBox="1"/>
          <p:nvPr/>
        </p:nvSpPr>
        <p:spPr>
          <a:xfrm>
            <a:off x="3244575" y="444777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92"/>
          <p:cNvSpPr txBox="1"/>
          <p:nvPr/>
        </p:nvSpPr>
        <p:spPr>
          <a:xfrm>
            <a:off x="427353" y="4450185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92"/>
          <p:cNvSpPr txBox="1"/>
          <p:nvPr/>
        </p:nvSpPr>
        <p:spPr>
          <a:xfrm>
            <a:off x="6223782" y="445061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4" name="Google Shape;1514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782190" y="3755617"/>
            <a:ext cx="807760" cy="896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8" name="Shape 1518"/>
        <p:cNvGrpSpPr/>
        <p:nvPr/>
      </p:nvGrpSpPr>
      <p:grpSpPr>
        <a:xfrm>
          <a:off x="0" y="0"/>
          <a:ext cx="0" cy="0"/>
        </a:xfrm>
      </p:grpSpPr>
      <p:pic>
        <p:nvPicPr>
          <p:cNvPr id="1519" name="Google Shape;1519;p93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3330104" y="3155295"/>
            <a:ext cx="2484823" cy="4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" name="Google Shape;1520;p93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510701" y="3155295"/>
            <a:ext cx="2484823" cy="4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p93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6129177" y="3155295"/>
            <a:ext cx="2484823" cy="49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and algebraic representations</a:t>
            </a:r>
            <a:endParaRPr/>
          </a:p>
        </p:txBody>
      </p:sp>
      <p:sp>
        <p:nvSpPr>
          <p:cNvPr id="1523" name="Google Shape;1523;p93"/>
          <p:cNvSpPr txBox="1"/>
          <p:nvPr>
            <p:ph type="body" idx="1"/>
          </p:nvPr>
        </p:nvSpPr>
        <p:spPr>
          <a:xfrm>
            <a:off x="1705765" y="1226665"/>
            <a:ext cx="8775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(2, 5)  </a:t>
            </a:r>
            <a:endParaRPr sz="2400"/>
          </a:p>
        </p:txBody>
      </p:sp>
      <p:sp>
        <p:nvSpPr>
          <p:cNvPr id="1524" name="Google Shape;1524;p93"/>
          <p:cNvSpPr txBox="1"/>
          <p:nvPr>
            <p:ph type="body" idx="1"/>
          </p:nvPr>
        </p:nvSpPr>
        <p:spPr>
          <a:xfrm>
            <a:off x="1701673" y="1826100"/>
            <a:ext cx="10956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(−5, 12)  </a:t>
            </a:r>
            <a:endParaRPr/>
          </a:p>
        </p:txBody>
      </p:sp>
      <p:sp>
        <p:nvSpPr>
          <p:cNvPr id="1525" name="Google Shape;1525;p93"/>
          <p:cNvSpPr txBox="1"/>
          <p:nvPr>
            <p:ph type="body" idx="1"/>
          </p:nvPr>
        </p:nvSpPr>
        <p:spPr>
          <a:xfrm>
            <a:off x="3600600" y="3185573"/>
            <a:ext cx="21285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7 −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526" name="Google Shape;1526;p93"/>
          <p:cNvSpPr txBox="1"/>
          <p:nvPr>
            <p:ph type="body" idx="1"/>
          </p:nvPr>
        </p:nvSpPr>
        <p:spPr>
          <a:xfrm>
            <a:off x="6420000" y="3187708"/>
            <a:ext cx="20973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1800"/>
          </a:p>
        </p:txBody>
      </p:sp>
      <p:sp>
        <p:nvSpPr>
          <p:cNvPr id="1527" name="Google Shape;1527;p93"/>
          <p:cNvSpPr txBox="1"/>
          <p:nvPr>
            <p:ph type="body" idx="1"/>
          </p:nvPr>
        </p:nvSpPr>
        <p:spPr>
          <a:xfrm>
            <a:off x="781200" y="3205978"/>
            <a:ext cx="20973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1800"/>
          </a:p>
        </p:txBody>
      </p:sp>
      <p:pic>
        <p:nvPicPr>
          <p:cNvPr id="1528" name="Google Shape;152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51050" y="3795117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3000" y="365709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93"/>
          <p:cNvSpPr txBox="1"/>
          <p:nvPr/>
        </p:nvSpPr>
        <p:spPr>
          <a:xfrm>
            <a:off x="3244575" y="444777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93"/>
          <p:cNvSpPr txBox="1"/>
          <p:nvPr/>
        </p:nvSpPr>
        <p:spPr>
          <a:xfrm>
            <a:off x="427353" y="4450185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93"/>
          <p:cNvSpPr txBox="1"/>
          <p:nvPr/>
        </p:nvSpPr>
        <p:spPr>
          <a:xfrm>
            <a:off x="6223782" y="445061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3" name="Google Shape;1533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782190" y="3755617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93" descr="&lt;math xmlns=&quot;http://www.w3.org/1998/Math/MathML&quot; data-is-equatio=&quot;1&quot; data-equatio-url=&quot;https://equatio-api.texthelp.com/desmos/get/10-11-2023/8d0a9005-590e-4402-ab83-835114c22536&quot; data-equatio-type=&quot;desmos&quot;&gt;&lt;mglyph src=&quot;https://equatio-api.texthelp.com/desmos/get/10-11-2023/8d0a9005-590e-4402-ab83-835114c22536&quot; alt=&quot;Equatio Desmos Graph&quot;/&gt;&lt;/math&gt;" title="Equatio Desmos Graph"/>
          <p:cNvPicPr preferRelativeResize="0"/>
          <p:nvPr/>
        </p:nvPicPr>
        <p:blipFill>
          <a:blip r:embed="rId7">
            <a:alphaModFix/>
          </a:blip>
          <a:srcRect l="6665" t="7778" r="32351" b="13487"/>
          <a:stretch>
            <a:fillRect/>
          </a:stretch>
        </p:blipFill>
        <p:spPr>
          <a:xfrm>
            <a:off x="3364950" y="825800"/>
            <a:ext cx="2195990" cy="2126738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93"/>
          <p:cNvSpPr txBox="1"/>
          <p:nvPr>
            <p:ph type="body" idx="1"/>
          </p:nvPr>
        </p:nvSpPr>
        <p:spPr>
          <a:xfrm>
            <a:off x="5779900" y="1084425"/>
            <a:ext cx="3040200" cy="3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They might all be right!</a:t>
            </a:r>
            <a:endParaRPr sz="2000"/>
          </a:p>
        </p:txBody>
      </p:sp>
      <p:sp>
        <p:nvSpPr>
          <p:cNvPr id="1536" name="Google Shape;1536;p93"/>
          <p:cNvSpPr txBox="1"/>
          <p:nvPr>
            <p:ph type="body" idx="1"/>
          </p:nvPr>
        </p:nvSpPr>
        <p:spPr>
          <a:xfrm>
            <a:off x="5779900" y="1694025"/>
            <a:ext cx="3040200" cy="3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But what if we knew 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GB" sz="2000"/>
              <a:t> coordinate?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0" name="Shape 1540"/>
        <p:cNvGrpSpPr/>
        <p:nvPr/>
      </p:nvGrpSpPr>
      <p:grpSpPr>
        <a:xfrm>
          <a:off x="0" y="0"/>
          <a:ext cx="0" cy="0"/>
        </a:xfrm>
      </p:grpSpPr>
      <p:pic>
        <p:nvPicPr>
          <p:cNvPr id="1541" name="Google Shape;1541;p94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3330104" y="3155295"/>
            <a:ext cx="2484823" cy="4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94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510701" y="3155295"/>
            <a:ext cx="2484823" cy="4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94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6129177" y="3155295"/>
            <a:ext cx="2484823" cy="49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and algebraic representations</a:t>
            </a:r>
            <a:endParaRPr/>
          </a:p>
        </p:txBody>
      </p:sp>
      <p:sp>
        <p:nvSpPr>
          <p:cNvPr id="1545" name="Google Shape;1545;p94"/>
          <p:cNvSpPr txBox="1"/>
          <p:nvPr>
            <p:ph type="body" idx="1"/>
          </p:nvPr>
        </p:nvSpPr>
        <p:spPr>
          <a:xfrm>
            <a:off x="1705765" y="1226665"/>
            <a:ext cx="8775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(2, 5)  </a:t>
            </a:r>
            <a:endParaRPr sz="2400"/>
          </a:p>
        </p:txBody>
      </p:sp>
      <p:sp>
        <p:nvSpPr>
          <p:cNvPr id="1546" name="Google Shape;1546;p94"/>
          <p:cNvSpPr txBox="1"/>
          <p:nvPr>
            <p:ph type="body" idx="1"/>
          </p:nvPr>
        </p:nvSpPr>
        <p:spPr>
          <a:xfrm>
            <a:off x="1701673" y="1826100"/>
            <a:ext cx="10956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(−5, 12)  </a:t>
            </a:r>
            <a:endParaRPr/>
          </a:p>
        </p:txBody>
      </p:sp>
      <p:sp>
        <p:nvSpPr>
          <p:cNvPr id="1547" name="Google Shape;1547;p94"/>
          <p:cNvSpPr txBox="1"/>
          <p:nvPr>
            <p:ph type="body" idx="1"/>
          </p:nvPr>
        </p:nvSpPr>
        <p:spPr>
          <a:xfrm>
            <a:off x="3600600" y="3185573"/>
            <a:ext cx="21285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7 −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548" name="Google Shape;1548;p94"/>
          <p:cNvSpPr txBox="1"/>
          <p:nvPr>
            <p:ph type="body" idx="1"/>
          </p:nvPr>
        </p:nvSpPr>
        <p:spPr>
          <a:xfrm>
            <a:off x="6420000" y="3187708"/>
            <a:ext cx="20973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1800"/>
          </a:p>
        </p:txBody>
      </p:sp>
      <p:sp>
        <p:nvSpPr>
          <p:cNvPr id="1549" name="Google Shape;1549;p94"/>
          <p:cNvSpPr txBox="1"/>
          <p:nvPr>
            <p:ph type="body" idx="1"/>
          </p:nvPr>
        </p:nvSpPr>
        <p:spPr>
          <a:xfrm>
            <a:off x="781200" y="3205978"/>
            <a:ext cx="20973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1800"/>
          </a:p>
        </p:txBody>
      </p:sp>
      <p:pic>
        <p:nvPicPr>
          <p:cNvPr id="1550" name="Google Shape;1550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51050" y="3795117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3000" y="365709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94"/>
          <p:cNvSpPr txBox="1"/>
          <p:nvPr/>
        </p:nvSpPr>
        <p:spPr>
          <a:xfrm>
            <a:off x="3244575" y="444777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4"/>
          <p:cNvSpPr txBox="1"/>
          <p:nvPr/>
        </p:nvSpPr>
        <p:spPr>
          <a:xfrm>
            <a:off x="427353" y="4450185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4"/>
          <p:cNvSpPr txBox="1"/>
          <p:nvPr/>
        </p:nvSpPr>
        <p:spPr>
          <a:xfrm>
            <a:off x="6223782" y="445061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5" name="Google Shape;1555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782190" y="3755617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94"/>
          <p:cNvSpPr txBox="1"/>
          <p:nvPr>
            <p:ph type="body" idx="1"/>
          </p:nvPr>
        </p:nvSpPr>
        <p:spPr>
          <a:xfrm>
            <a:off x="5779900" y="1084425"/>
            <a:ext cx="3040200" cy="3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It is now only Aisha’s relationship that works for both coordinates.</a:t>
            </a:r>
            <a:endParaRPr sz="2000"/>
          </a:p>
        </p:txBody>
      </p:sp>
      <p:pic>
        <p:nvPicPr>
          <p:cNvPr id="1557" name="Google Shape;1557;p94" descr="&lt;math xmlns=&quot;http://www.w3.org/1998/Math/MathML&quot; data-is-equatio=&quot;1&quot; data-equatio-url=&quot;https://equatio-api.texthelp.com/desmos/get/10-11-2023/0a09e7f9-8b08-484a-9ded-f0ef6706c1ce&quot; data-equatio-type=&quot;desmos&quot;&gt;&lt;mglyph src=&quot;https://equatio-api.texthelp.com/desmos/get/10-11-2023/0a09e7f9-8b08-484a-9ded-f0ef6706c1ce&quot; alt=&quot;Equatio Desmos Graph&quot;/&gt;&lt;/math&gt;" title="Equatio Desmos Graph"/>
          <p:cNvPicPr preferRelativeResize="0"/>
          <p:nvPr/>
        </p:nvPicPr>
        <p:blipFill>
          <a:blip r:embed="rId7">
            <a:alphaModFix/>
          </a:blip>
          <a:srcRect l="7905" t="19252" r="24586" b="3676"/>
          <a:stretch>
            <a:fillRect/>
          </a:stretch>
        </p:blipFill>
        <p:spPr>
          <a:xfrm>
            <a:off x="3011900" y="827500"/>
            <a:ext cx="2484826" cy="2127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1" name="Shape 1561"/>
        <p:cNvGrpSpPr/>
        <p:nvPr/>
      </p:nvGrpSpPr>
      <p:grpSpPr>
        <a:xfrm>
          <a:off x="0" y="0"/>
          <a:ext cx="0" cy="0"/>
        </a:xfrm>
      </p:grpSpPr>
      <p:sp>
        <p:nvSpPr>
          <p:cNvPr id="1562" name="Google Shape;1562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coordinate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(6, 13)</a:t>
            </a:r>
            <a:r>
              <a:rPr lang="en-GB"/>
              <a:t> belongs to which </a:t>
            </a:r>
            <a:r>
              <a:rPr lang="en-GB" b="1"/>
              <a:t>linear</a:t>
            </a:r>
            <a:r>
              <a:rPr lang="en-GB"/>
              <a:t> relationship?</a:t>
            </a:r>
            <a:endParaRPr/>
          </a:p>
        </p:txBody>
      </p:sp>
      <p:sp>
        <p:nvSpPr>
          <p:cNvPr id="1563" name="Google Shape;1563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Graphical and algebraic representations</a:t>
            </a:r>
            <a:endParaRPr/>
          </a:p>
        </p:txBody>
      </p:sp>
      <p:sp>
        <p:nvSpPr>
          <p:cNvPr id="1564" name="Google Shape;1564;p95"/>
          <p:cNvSpPr txBox="1"/>
          <p:nvPr>
            <p:ph type="subTitle" idx="1"/>
          </p:nvPr>
        </p:nvSpPr>
        <p:spPr>
          <a:xfrm>
            <a:off x="1034425" y="1837775"/>
            <a:ext cx="18528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600"/>
          </a:p>
        </p:txBody>
      </p:sp>
      <p:sp>
        <p:nvSpPr>
          <p:cNvPr id="1565" name="Google Shape;1565;p95"/>
          <p:cNvSpPr txBox="1"/>
          <p:nvPr>
            <p:ph type="subTitle" idx="3"/>
          </p:nvPr>
        </p:nvSpPr>
        <p:spPr>
          <a:xfrm>
            <a:off x="1034425" y="2794251"/>
            <a:ext cx="18528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+ 7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600"/>
          </a:p>
        </p:txBody>
      </p:sp>
      <p:sp>
        <p:nvSpPr>
          <p:cNvPr id="1566" name="Google Shape;1566;p95"/>
          <p:cNvSpPr txBox="1"/>
          <p:nvPr>
            <p:ph type="subTitle" idx="4"/>
          </p:nvPr>
        </p:nvSpPr>
        <p:spPr>
          <a:xfrm>
            <a:off x="1034425" y="3766974"/>
            <a:ext cx="1842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=2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600"/>
          </a:p>
        </p:txBody>
      </p:sp>
      <p:pic>
        <p:nvPicPr>
          <p:cNvPr id="1567" name="Google Shape;156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323" y="186196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95"/>
          <p:cNvSpPr txBox="1"/>
          <p:nvPr>
            <p:ph type="body" idx="4294967295"/>
          </p:nvPr>
        </p:nvSpPr>
        <p:spPr>
          <a:xfrm>
            <a:off x="3372005" y="1856578"/>
            <a:ext cx="18228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3(6) − 5 = 13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9" name="Google Shape;156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323" y="285256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95"/>
          <p:cNvSpPr txBox="1"/>
          <p:nvPr>
            <p:ph type="body" idx="4294967295"/>
          </p:nvPr>
        </p:nvSpPr>
        <p:spPr>
          <a:xfrm>
            <a:off x="3372005" y="2847178"/>
            <a:ext cx="18228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(6) + 7 = 13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1" name="Google Shape;157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323" y="381267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95"/>
          <p:cNvSpPr txBox="1"/>
          <p:nvPr>
            <p:ph type="body" idx="4294967295"/>
          </p:nvPr>
        </p:nvSpPr>
        <p:spPr>
          <a:xfrm>
            <a:off x="3372005" y="3807283"/>
            <a:ext cx="18228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2(6) + 1 = 13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6" name="Shape 1576"/>
        <p:cNvGrpSpPr/>
        <p:nvPr/>
      </p:nvGrpSpPr>
      <p:grpSpPr>
        <a:xfrm>
          <a:off x="0" y="0"/>
          <a:ext cx="0" cy="0"/>
        </a:xfrm>
      </p:grpSpPr>
      <p:sp>
        <p:nvSpPr>
          <p:cNvPr id="1577" name="Google Shape;1577;p9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coordinates fit the </a:t>
            </a:r>
            <a:r>
              <a:rPr lang="en-GB" b="1"/>
              <a:t>linear</a:t>
            </a:r>
            <a:r>
              <a:rPr lang="en-GB"/>
              <a:t> relationship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− 14</a:t>
            </a:r>
            <a:r>
              <a:rPr lang="en-GB"/>
              <a:t> ?</a:t>
            </a:r>
            <a:endParaRPr/>
          </a:p>
        </p:txBody>
      </p:sp>
      <p:sp>
        <p:nvSpPr>
          <p:cNvPr id="1578" name="Google Shape;1578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and algebraic representations</a:t>
            </a:r>
            <a:endParaRPr/>
          </a:p>
        </p:txBody>
      </p:sp>
      <p:sp>
        <p:nvSpPr>
          <p:cNvPr id="1579" name="Google Shape;1579;p96"/>
          <p:cNvSpPr txBox="1"/>
          <p:nvPr>
            <p:ph type="subTitle" idx="1"/>
          </p:nvPr>
        </p:nvSpPr>
        <p:spPr>
          <a:xfrm>
            <a:off x="1034425" y="1685375"/>
            <a:ext cx="1366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(2, −4)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0" name="Google Shape;1580;p96"/>
          <p:cNvSpPr txBox="1"/>
          <p:nvPr>
            <p:ph type="subTitle" idx="3"/>
          </p:nvPr>
        </p:nvSpPr>
        <p:spPr>
          <a:xfrm>
            <a:off x="1034425" y="2489450"/>
            <a:ext cx="19461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(−4, −34)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600"/>
          </a:p>
        </p:txBody>
      </p:sp>
      <p:sp>
        <p:nvSpPr>
          <p:cNvPr id="1581" name="Google Shape;1581;p96"/>
          <p:cNvSpPr txBox="1"/>
          <p:nvPr>
            <p:ph type="subTitle" idx="4"/>
          </p:nvPr>
        </p:nvSpPr>
        <p:spPr>
          <a:xfrm>
            <a:off x="1034425" y="3309762"/>
            <a:ext cx="1935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(3.4, 3)</a:t>
            </a:r>
            <a:endParaRPr sz="2600"/>
          </a:p>
        </p:txBody>
      </p:sp>
      <p:pic>
        <p:nvPicPr>
          <p:cNvPr id="1582" name="Google Shape;158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323" y="170956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96"/>
          <p:cNvSpPr txBox="1"/>
          <p:nvPr>
            <p:ph type="body" idx="4294967295"/>
          </p:nvPr>
        </p:nvSpPr>
        <p:spPr>
          <a:xfrm>
            <a:off x="2991005" y="1704178"/>
            <a:ext cx="18228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5(2) − 14 = −4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4" name="Google Shape;158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2923" y="251727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5" name="Google Shape;158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4157" y="332497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p96"/>
          <p:cNvSpPr txBox="1"/>
          <p:nvPr>
            <p:ph type="subTitle" idx="5"/>
          </p:nvPr>
        </p:nvSpPr>
        <p:spPr>
          <a:xfrm>
            <a:off x="1034425" y="4113828"/>
            <a:ext cx="19461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(−14, 0)</a:t>
            </a:r>
            <a:endParaRPr/>
          </a:p>
        </p:txBody>
      </p:sp>
      <p:sp>
        <p:nvSpPr>
          <p:cNvPr id="1587" name="Google Shape;1587;p96"/>
          <p:cNvSpPr txBox="1"/>
          <p:nvPr>
            <p:ph type="body" idx="4294967295"/>
          </p:nvPr>
        </p:nvSpPr>
        <p:spPr>
          <a:xfrm>
            <a:off x="3143398" y="2515500"/>
            <a:ext cx="34152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5(−4) − 14 = −20 − 14 = −34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8" name="Google Shape;1588;p96"/>
          <p:cNvSpPr txBox="1"/>
          <p:nvPr>
            <p:ph type="body" idx="4294967295"/>
          </p:nvPr>
        </p:nvSpPr>
        <p:spPr>
          <a:xfrm>
            <a:off x="3143398" y="3353700"/>
            <a:ext cx="34152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5(3.4) − 14 = 17 − 14 =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9" name="Google Shape;1589;p96"/>
          <p:cNvSpPr txBox="1"/>
          <p:nvPr>
            <p:ph type="body" idx="4294967295"/>
          </p:nvPr>
        </p:nvSpPr>
        <p:spPr>
          <a:xfrm>
            <a:off x="3143398" y="4039500"/>
            <a:ext cx="34152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5(−14) − 14 = −70 − 14 = −84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0" name="Google Shape;1590;p96"/>
          <p:cNvSpPr txBox="1"/>
          <p:nvPr>
            <p:ph type="subTitle" idx="5"/>
          </p:nvPr>
        </p:nvSpPr>
        <p:spPr>
          <a:xfrm>
            <a:off x="3168025" y="4469450"/>
            <a:ext cx="51591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(0,−14)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would fit the relationship though.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91" name="Google Shape;159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738" y="411848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96"/>
          <p:cNvSpPr txBox="1"/>
          <p:nvPr>
            <p:ph type="subTitle" idx="5"/>
          </p:nvPr>
        </p:nvSpPr>
        <p:spPr>
          <a:xfrm>
            <a:off x="7044060" y="4042745"/>
            <a:ext cx="11520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(−14,−84)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6" name="Shape 1596"/>
        <p:cNvGrpSpPr/>
        <p:nvPr/>
      </p:nvGrpSpPr>
      <p:grpSpPr>
        <a:xfrm>
          <a:off x="0" y="0"/>
          <a:ext cx="0" cy="0"/>
        </a:xfrm>
      </p:grpSpPr>
      <p:sp>
        <p:nvSpPr>
          <p:cNvPr id="1597" name="Google Shape;1597;p97"/>
          <p:cNvSpPr txBox="1"/>
          <p:nvPr>
            <p:ph type="body" idx="1"/>
          </p:nvPr>
        </p:nvSpPr>
        <p:spPr>
          <a:xfrm>
            <a:off x="324000" y="759300"/>
            <a:ext cx="8496000" cy="78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Match the coordinate pairs to their respective relationships and graphs.</a:t>
            </a:r>
            <a:endParaRPr/>
          </a:p>
        </p:txBody>
      </p:sp>
      <p:sp>
        <p:nvSpPr>
          <p:cNvPr id="1598" name="Google Shape;1598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Graphical and algebraic representations</a:t>
            </a:r>
            <a:endParaRPr/>
          </a:p>
        </p:txBody>
      </p:sp>
      <p:sp>
        <p:nvSpPr>
          <p:cNvPr id="1599" name="Google Shape;1599;p97"/>
          <p:cNvSpPr txBox="1"/>
          <p:nvPr>
            <p:ph type="subTitle" idx="4294967295"/>
          </p:nvPr>
        </p:nvSpPr>
        <p:spPr>
          <a:xfrm>
            <a:off x="328300" y="1609175"/>
            <a:ext cx="2265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(−4, 1)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(8, 7)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0" name="Google Shape;1600;p97"/>
          <p:cNvSpPr txBox="1"/>
          <p:nvPr>
            <p:ph type="subTitle" idx="4294967295"/>
          </p:nvPr>
        </p:nvSpPr>
        <p:spPr>
          <a:xfrm>
            <a:off x="3376300" y="1609175"/>
            <a:ext cx="2361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(−4, 5)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(8,−1)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1" name="Google Shape;1601;p97"/>
          <p:cNvSpPr txBox="1"/>
          <p:nvPr>
            <p:ph type="subTitle" idx="4294967295"/>
          </p:nvPr>
        </p:nvSpPr>
        <p:spPr>
          <a:xfrm>
            <a:off x="6251575" y="1609175"/>
            <a:ext cx="2352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(−4,−1)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(8, 5)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2" name="Google Shape;1602;p97" descr="&lt;math xmlns=&quot;http://www.w3.org/1998/Math/MathML&quot; display=&quot;block&quot; data-is-equatio=&quot;1&quot; data-latex=&quot;y=\frac{1}{2}x+3&quot;&gt;&lt;mi&gt;y&lt;/mi&gt;&lt;mo&gt;=&lt;/mo&gt;&lt;mfrac&gt;&lt;mn&gt;1&lt;/mn&gt;&lt;mn&gt;2&lt;/mn&gt;&lt;/mfrac&gt;&lt;mi&gt;x&lt;/mi&gt;&lt;mo&gt;+&lt;/mo&gt;&lt;mn&gt;3&lt;/mn&gt;&lt;/math&gt;" title="y equals one half x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0" y="2184625"/>
            <a:ext cx="1415372" cy="621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3" name="Google Shape;1603;p97" descr="&lt;math xmlns=&quot;http://www.w3.org/1998/Math/MathML&quot; display=&quot;block&quot; data-is-equatio=&quot;1&quot; data-latex=&quot;y=3-\frac{1}{2}x&quot;&gt;&lt;mi&gt;y&lt;/mi&gt;&lt;mo&gt;=&lt;/mo&gt;&lt;mn&gt;3&lt;/mn&gt;&lt;mo&gt;−&lt;/mo&gt;&lt;mfrac&gt;&lt;mn&gt;1&lt;/mn&gt;&lt;mn&gt;2&lt;/mn&gt;&lt;/mfrac&gt;&lt;mi&gt;x&lt;/mi&gt;&lt;/math&gt;" title="y equals 3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755" y="2184625"/>
            <a:ext cx="1424445" cy="621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4" name="Google Shape;1604;p97" descr="&lt;math xmlns=&quot;http://www.w3.org/1998/Math/MathML&quot; display=&quot;block&quot; data-is-equatio=&quot;1&quot; data-latex=&quot;y=\frac{x+2}{2}&quot;&gt;&lt;mi&gt;y&lt;/mi&gt;&lt;mo&gt;=&lt;/mo&gt;&lt;mfrac&gt;&lt;mrow&gt;&lt;mi&gt;x&lt;/mi&gt;&lt;mo&gt;+&lt;/mo&gt;&lt;mn&gt;2&lt;/mn&gt;&lt;/mrow&gt;&lt;mn&gt;2&lt;/mn&gt;&lt;/mfrac&gt;&lt;/math&gt;" title="y equals the fraction with numerator x plus 2 and denominator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9400" y="2182739"/>
            <a:ext cx="1247523" cy="6214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5" name="Google Shape;1605;p97"/>
          <p:cNvGrpSpPr/>
          <p:nvPr/>
        </p:nvGrpSpPr>
        <p:grpSpPr>
          <a:xfrm>
            <a:off x="335294" y="3056923"/>
            <a:ext cx="2402176" cy="1761367"/>
            <a:chOff x="335295" y="2945975"/>
            <a:chExt cx="2553605" cy="1872401"/>
          </a:xfrm>
        </p:grpSpPr>
        <p:pic>
          <p:nvPicPr>
            <p:cNvPr id="1606" name="Google Shape;1606;p97" descr="&lt;math xmlns=&quot;http://www.w3.org/1998/Math/MathML&quot; data-is-equatio=&quot;1&quot; data-equatio-url=&quot;https://equatio-api.texthelp.com/desmos/get/10-11-2023/be33554d-7c00-45ed-9635-0f2db67c3823&quot; data-equatio-type=&quot;desmos&quot;&gt;&lt;mglyph src=&quot;https://equatio-api.texthelp.com/desmos/get/10-11-2023/be33554d-7c00-45ed-9635-0f2db67c3823&quot; alt=&quot;Equatio Desmos Graph&quot;/&gt;&lt;/math&gt;" title="Equatio Desmos Grap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35295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07" name="Google Shape;1607;p97"/>
            <p:cNvCxnSpPr/>
            <p:nvPr/>
          </p:nvCxnSpPr>
          <p:spPr>
            <a:xfrm flipH="1">
              <a:off x="378200" y="3185710"/>
              <a:ext cx="2510700" cy="126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08" name="Google Shape;1608;p97"/>
          <p:cNvGrpSpPr/>
          <p:nvPr/>
        </p:nvGrpSpPr>
        <p:grpSpPr>
          <a:xfrm>
            <a:off x="6140587" y="3056923"/>
            <a:ext cx="2361815" cy="1761367"/>
            <a:chOff x="5961130" y="2945975"/>
            <a:chExt cx="2510700" cy="1872401"/>
          </a:xfrm>
        </p:grpSpPr>
        <p:pic>
          <p:nvPicPr>
            <p:cNvPr id="1609" name="Google Shape;1609;p97" descr="&lt;math xmlns=&quot;http://www.w3.org/1998/Math/MathML&quot; data-is-equatio=&quot;1&quot; data-equatio-url=&quot;https://equatio-api.texthelp.com/desmos/get/10-11-2023/a6c2bdac-cb36-4d51-96b1-4628187e6658&quot; data-equatio-type=&quot;desmos&quot;&gt;&lt;mglyph src=&quot;https://equatio-api.texthelp.com/desmos/get/10-11-2023/a6c2bdac-cb36-4d51-96b1-4628187e6658&quot; alt=&quot;Equatio Desmos Graph&quot;/&gt;&lt;/math&gt;" title="Equatio Desmos Grap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961580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10" name="Google Shape;1610;p97"/>
            <p:cNvCxnSpPr/>
            <p:nvPr/>
          </p:nvCxnSpPr>
          <p:spPr>
            <a:xfrm flipH="1">
              <a:off x="5961130" y="2992650"/>
              <a:ext cx="2510700" cy="126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11" name="Google Shape;1611;p97"/>
          <p:cNvGrpSpPr/>
          <p:nvPr/>
        </p:nvGrpSpPr>
        <p:grpSpPr>
          <a:xfrm>
            <a:off x="3376045" y="3056923"/>
            <a:ext cx="2352310" cy="1761367"/>
            <a:chOff x="3346330" y="2945975"/>
            <a:chExt cx="2500595" cy="1872401"/>
          </a:xfrm>
        </p:grpSpPr>
        <p:pic>
          <p:nvPicPr>
            <p:cNvPr id="1612" name="Google Shape;1612;p97" descr="&lt;math xmlns=&quot;http://www.w3.org/1998/Math/MathML&quot; data-is-equatio=&quot;1&quot; data-equatio-url=&quot;https://equatio-api.texthelp.com/desmos/get/10-11-2023/c868031d-500b-4f57-9c92-b0b1746ef3c5&quot; data-equatio-type=&quot;desmos&quot;&gt;&lt;mglyph src=&quot;https://equatio-api.texthelp.com/desmos/get/10-11-2023/c868031d-500b-4f57-9c92-b0b1746ef3c5&quot; alt=&quot;Equatio Desmos Graph&quot;/&gt;&lt;/math&gt;" title="Equatio Desmos Graph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346330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13" name="Google Shape;1613;p97"/>
            <p:cNvCxnSpPr/>
            <p:nvPr/>
          </p:nvCxnSpPr>
          <p:spPr>
            <a:xfrm rot="10800000">
              <a:off x="3356625" y="3043400"/>
              <a:ext cx="2490300" cy="121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14" name="Google Shape;1614;p97"/>
          <p:cNvSpPr txBox="1"/>
          <p:nvPr/>
        </p:nvSpPr>
        <p:spPr>
          <a:xfrm>
            <a:off x="328300" y="2341175"/>
            <a:ext cx="2799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97"/>
          <p:cNvSpPr txBox="1"/>
          <p:nvPr/>
        </p:nvSpPr>
        <p:spPr>
          <a:xfrm>
            <a:off x="3313500" y="2341175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97"/>
          <p:cNvSpPr txBox="1"/>
          <p:nvPr/>
        </p:nvSpPr>
        <p:spPr>
          <a:xfrm>
            <a:off x="6256800" y="2341175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97"/>
          <p:cNvSpPr txBox="1"/>
          <p:nvPr/>
        </p:nvSpPr>
        <p:spPr>
          <a:xfrm>
            <a:off x="328300" y="3390900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97"/>
          <p:cNvSpPr txBox="1"/>
          <p:nvPr/>
        </p:nvSpPr>
        <p:spPr>
          <a:xfrm>
            <a:off x="3306215" y="3390900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97"/>
          <p:cNvSpPr txBox="1"/>
          <p:nvPr/>
        </p:nvSpPr>
        <p:spPr>
          <a:xfrm>
            <a:off x="6256800" y="3390900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3" name="Shape 1623"/>
        <p:cNvGrpSpPr/>
        <p:nvPr/>
      </p:nvGrpSpPr>
      <p:grpSpPr>
        <a:xfrm>
          <a:off x="0" y="0"/>
          <a:ext cx="0" cy="0"/>
        </a:xfrm>
      </p:grpSpPr>
      <p:sp>
        <p:nvSpPr>
          <p:cNvPr id="1624" name="Google Shape;1624;p98"/>
          <p:cNvSpPr txBox="1"/>
          <p:nvPr>
            <p:ph type="body" idx="1"/>
          </p:nvPr>
        </p:nvSpPr>
        <p:spPr>
          <a:xfrm>
            <a:off x="324000" y="759300"/>
            <a:ext cx="8237700" cy="7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Match the coordinate pairs to their respective relationships and graphs.</a:t>
            </a:r>
            <a:endParaRPr/>
          </a:p>
        </p:txBody>
      </p:sp>
      <p:sp>
        <p:nvSpPr>
          <p:cNvPr id="1625" name="Google Shape;1625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Graphical and algebraic representations</a:t>
            </a:r>
            <a:endParaRPr/>
          </a:p>
        </p:txBody>
      </p:sp>
      <p:sp>
        <p:nvSpPr>
          <p:cNvPr id="1626" name="Google Shape;1626;p98"/>
          <p:cNvSpPr txBox="1"/>
          <p:nvPr>
            <p:ph type="subTitle" idx="4294967295"/>
          </p:nvPr>
        </p:nvSpPr>
        <p:spPr>
          <a:xfrm>
            <a:off x="6119501" y="2249275"/>
            <a:ext cx="2506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(−4, 1)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(8, 7)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7" name="Google Shape;1627;p98"/>
          <p:cNvSpPr txBox="1"/>
          <p:nvPr>
            <p:ph type="subTitle" idx="4294967295"/>
          </p:nvPr>
        </p:nvSpPr>
        <p:spPr>
          <a:xfrm>
            <a:off x="3376300" y="2249275"/>
            <a:ext cx="2402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(−4, 5)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(8,−1)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8" name="Google Shape;1628;p98"/>
          <p:cNvSpPr txBox="1"/>
          <p:nvPr>
            <p:ph type="subTitle" idx="4294967295"/>
          </p:nvPr>
        </p:nvSpPr>
        <p:spPr>
          <a:xfrm>
            <a:off x="333350" y="2249275"/>
            <a:ext cx="2402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(−4,−1)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(8, 5)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9" name="Google Shape;1629;p98" descr="&lt;math xmlns=&quot;http://www.w3.org/1998/Math/MathML&quot; display=&quot;block&quot; data-is-equatio=&quot;1&quot; data-latex=&quot;y=\frac{1}{2}x+3&quot;&gt;&lt;mi&gt;y&lt;/mi&gt;&lt;mo&gt;=&lt;/mo&gt;&lt;mfrac&gt;&lt;mn&gt;1&lt;/mn&gt;&lt;mn&gt;2&lt;/mn&gt;&lt;/mfrac&gt;&lt;mi&gt;x&lt;/mi&gt;&lt;mo&gt;+&lt;/mo&gt;&lt;mn&gt;3&lt;/mn&gt;&lt;/math&gt;" title="y equals one half x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0" y="1529320"/>
            <a:ext cx="1415372" cy="621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0" name="Google Shape;1630;p98" descr="&lt;math xmlns=&quot;http://www.w3.org/1998/Math/MathML&quot; display=&quot;block&quot; data-is-equatio=&quot;1&quot; data-latex=&quot;y=3-\frac{1}{2}x&quot;&gt;&lt;mi&gt;y&lt;/mi&gt;&lt;mo&gt;=&lt;/mo&gt;&lt;mn&gt;3&lt;/mn&gt;&lt;mo&gt;−&lt;/mo&gt;&lt;mfrac&gt;&lt;mn&gt;1&lt;/mn&gt;&lt;mn&gt;2&lt;/mn&gt;&lt;/mfrac&gt;&lt;mi&gt;x&lt;/mi&gt;&lt;/math&gt;" title="y equals 3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3625" y="1529320"/>
            <a:ext cx="1424445" cy="621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98" descr="&lt;math xmlns=&quot;http://www.w3.org/1998/Math/MathML&quot; display=&quot;block&quot; data-is-equatio=&quot;1&quot; data-latex=&quot;y=\frac{x+2}{2}&quot;&gt;&lt;mi&gt;y&lt;/mi&gt;&lt;mo&gt;=&lt;/mo&gt;&lt;mfrac&gt;&lt;mrow&gt;&lt;mi&gt;x&lt;/mi&gt;&lt;mo&gt;+&lt;/mo&gt;&lt;mn&gt;2&lt;/mn&gt;&lt;/mrow&gt;&lt;mn&gt;2&lt;/mn&gt;&lt;/mfrac&gt;&lt;/math&gt;" title="y equals the fraction with numerator x plus 2 and denominator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930" y="1527434"/>
            <a:ext cx="1247523" cy="6214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2" name="Google Shape;1632;p98"/>
          <p:cNvGrpSpPr/>
          <p:nvPr/>
        </p:nvGrpSpPr>
        <p:grpSpPr>
          <a:xfrm>
            <a:off x="335294" y="3056923"/>
            <a:ext cx="2402176" cy="1761367"/>
            <a:chOff x="335295" y="2945975"/>
            <a:chExt cx="2553605" cy="1872401"/>
          </a:xfrm>
        </p:grpSpPr>
        <p:pic>
          <p:nvPicPr>
            <p:cNvPr id="1633" name="Google Shape;1633;p98" descr="&lt;math xmlns=&quot;http://www.w3.org/1998/Math/MathML&quot; data-is-equatio=&quot;1&quot; data-equatio-url=&quot;https://equatio-api.texthelp.com/desmos/get/10-11-2023/be33554d-7c00-45ed-9635-0f2db67c3823&quot; data-equatio-type=&quot;desmos&quot;&gt;&lt;mglyph src=&quot;https://equatio-api.texthelp.com/desmos/get/10-11-2023/be33554d-7c00-45ed-9635-0f2db67c3823&quot; alt=&quot;Equatio Desmos Graph&quot;/&gt;&lt;/math&gt;" title="Equatio Desmos Grap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35295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34" name="Google Shape;1634;p98"/>
            <p:cNvCxnSpPr/>
            <p:nvPr/>
          </p:nvCxnSpPr>
          <p:spPr>
            <a:xfrm flipH="1">
              <a:off x="378200" y="3185710"/>
              <a:ext cx="2510700" cy="126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35" name="Google Shape;1635;p98"/>
          <p:cNvGrpSpPr/>
          <p:nvPr/>
        </p:nvGrpSpPr>
        <p:grpSpPr>
          <a:xfrm>
            <a:off x="6140587" y="3056923"/>
            <a:ext cx="2361815" cy="1761367"/>
            <a:chOff x="5961130" y="2945975"/>
            <a:chExt cx="2510700" cy="1872401"/>
          </a:xfrm>
        </p:grpSpPr>
        <p:pic>
          <p:nvPicPr>
            <p:cNvPr id="1636" name="Google Shape;1636;p98" descr="&lt;math xmlns=&quot;http://www.w3.org/1998/Math/MathML&quot; data-is-equatio=&quot;1&quot; data-equatio-url=&quot;https://equatio-api.texthelp.com/desmos/get/10-11-2023/a6c2bdac-cb36-4d51-96b1-4628187e6658&quot; data-equatio-type=&quot;desmos&quot;&gt;&lt;mglyph src=&quot;https://equatio-api.texthelp.com/desmos/get/10-11-2023/a6c2bdac-cb36-4d51-96b1-4628187e6658&quot; alt=&quot;Equatio Desmos Graph&quot;/&gt;&lt;/math&gt;" title="Equatio Desmos Grap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961580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37" name="Google Shape;1637;p98"/>
            <p:cNvCxnSpPr/>
            <p:nvPr/>
          </p:nvCxnSpPr>
          <p:spPr>
            <a:xfrm flipH="1">
              <a:off x="5961130" y="2992650"/>
              <a:ext cx="2510700" cy="126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38" name="Google Shape;1638;p98"/>
          <p:cNvGrpSpPr/>
          <p:nvPr/>
        </p:nvGrpSpPr>
        <p:grpSpPr>
          <a:xfrm>
            <a:off x="3376045" y="3056923"/>
            <a:ext cx="2352310" cy="1761367"/>
            <a:chOff x="3346330" y="2945975"/>
            <a:chExt cx="2500595" cy="1872401"/>
          </a:xfrm>
        </p:grpSpPr>
        <p:pic>
          <p:nvPicPr>
            <p:cNvPr id="1639" name="Google Shape;1639;p98" descr="&lt;math xmlns=&quot;http://www.w3.org/1998/Math/MathML&quot; data-is-equatio=&quot;1&quot; data-equatio-url=&quot;https://equatio-api.texthelp.com/desmos/get/10-11-2023/c868031d-500b-4f57-9c92-b0b1746ef3c5&quot; data-equatio-type=&quot;desmos&quot;&gt;&lt;mglyph src=&quot;https://equatio-api.texthelp.com/desmos/get/10-11-2023/c868031d-500b-4f57-9c92-b0b1746ef3c5&quot; alt=&quot;Equatio Desmos Graph&quot;/&gt;&lt;/math&gt;" title="Equatio Desmos Graph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346330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40" name="Google Shape;1640;p98"/>
            <p:cNvCxnSpPr/>
            <p:nvPr/>
          </p:nvCxnSpPr>
          <p:spPr>
            <a:xfrm rot="10800000">
              <a:off x="3356625" y="3043400"/>
              <a:ext cx="2490300" cy="121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41" name="Google Shape;1641;p98"/>
          <p:cNvSpPr txBox="1"/>
          <p:nvPr>
            <p:ph type="subTitle" idx="4294967295"/>
          </p:nvPr>
        </p:nvSpPr>
        <p:spPr>
          <a:xfrm>
            <a:off x="318130" y="2716850"/>
            <a:ext cx="73917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Matching coordinates to quadrants is a good place to start.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2" name="Google Shape;1642;p98"/>
          <p:cNvSpPr txBox="1"/>
          <p:nvPr/>
        </p:nvSpPr>
        <p:spPr>
          <a:xfrm>
            <a:off x="3376050" y="1681950"/>
            <a:ext cx="2799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3" name="Google Shape;1643;p98"/>
          <p:cNvSpPr txBox="1"/>
          <p:nvPr/>
        </p:nvSpPr>
        <p:spPr>
          <a:xfrm>
            <a:off x="6124523" y="1687337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4" name="Google Shape;1644;p98"/>
          <p:cNvSpPr txBox="1"/>
          <p:nvPr/>
        </p:nvSpPr>
        <p:spPr>
          <a:xfrm>
            <a:off x="333350" y="1681952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F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5" name="Google Shape;1645;p98"/>
          <p:cNvSpPr txBox="1"/>
          <p:nvPr/>
        </p:nvSpPr>
        <p:spPr>
          <a:xfrm>
            <a:off x="393852" y="3495363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G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6" name="Google Shape;1646;p98"/>
          <p:cNvSpPr txBox="1"/>
          <p:nvPr/>
        </p:nvSpPr>
        <p:spPr>
          <a:xfrm>
            <a:off x="3444640" y="3495375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H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7" name="Google Shape;1647;p98"/>
          <p:cNvSpPr txBox="1"/>
          <p:nvPr/>
        </p:nvSpPr>
        <p:spPr>
          <a:xfrm>
            <a:off x="6205825" y="3495375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1" name="Shape 1651"/>
        <p:cNvGrpSpPr/>
        <p:nvPr/>
      </p:nvGrpSpPr>
      <p:grpSpPr>
        <a:xfrm>
          <a:off x="0" y="0"/>
          <a:ext cx="0" cy="0"/>
        </a:xfrm>
      </p:grpSpPr>
      <p:sp>
        <p:nvSpPr>
          <p:cNvPr id="1652" name="Google Shape;1652;p99"/>
          <p:cNvSpPr txBox="1"/>
          <p:nvPr>
            <p:ph type="body" idx="1"/>
          </p:nvPr>
        </p:nvSpPr>
        <p:spPr>
          <a:xfrm>
            <a:off x="324000" y="1080000"/>
            <a:ext cx="8113800" cy="29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Linear relationships, when plotted on a pair of axes, form a straight line.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Example,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/>
              <a:t> is linear.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Non-example,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/>
              <a:t> is not linear.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653" name="Google Shape;1653;p9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linear relationships</a:t>
            </a:r>
            <a:endParaRPr/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7" name="Shape 1657"/>
        <p:cNvGrpSpPr/>
        <p:nvPr/>
      </p:nvGrpSpPr>
      <p:grpSpPr>
        <a:xfrm>
          <a:off x="0" y="0"/>
          <a:ext cx="0" cy="0"/>
        </a:xfrm>
      </p:grpSpPr>
      <p:sp>
        <p:nvSpPr>
          <p:cNvPr id="1658" name="Google Shape;1658;p100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59" name="Google Shape;1659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389</Paragraphs>
  <Slides>37</Slides>
  <Notes>37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baseType="lpstr" size="46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Features of linear relationships</vt:lpstr>
      <vt:lpstr>PowerPoint Presentation</vt:lpstr>
      <vt:lpstr>PowerPoint Presentation</vt:lpstr>
      <vt:lpstr>PowerPoint Presentation</vt:lpstr>
      <vt:lpstr>The constant rate of change</vt:lpstr>
      <vt:lpstr>The constant rate of change</vt:lpstr>
      <vt:lpstr>The constant rate of change</vt:lpstr>
      <vt:lpstr>The constant rate of change</vt:lpstr>
      <vt:lpstr>The constant rate of change</vt:lpstr>
      <vt:lpstr>The constant rate of change</vt:lpstr>
      <vt:lpstr>The constant rate of change</vt:lpstr>
      <vt:lpstr>The constant rate of change</vt:lpstr>
      <vt:lpstr>Which of these sequences will have a constant difference?</vt:lpstr>
      <vt:lpstr>Which of these relationships will be linear?</vt:lpstr>
      <vt:lpstr>The constant rate of change</vt:lpstr>
      <vt:lpstr>The constant rate of change</vt:lpstr>
      <vt:lpstr>The constant rate of change</vt:lpstr>
      <vt:lpstr>The constant rate of change</vt:lpstr>
      <vt:lpstr>The constant rate of change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constant rate of change</vt:lpstr>
      <vt:lpstr>Graphical and algebraic representations</vt:lpstr>
      <vt:lpstr>Graphical and algebraic representations</vt:lpstr>
      <vt:lpstr>Graphical and algebraic representations</vt:lpstr>
      <vt:lpstr>Graphical and algebraic representations</vt:lpstr>
      <vt:lpstr>The coordinate (6, 13) belongs to which linear relationship?</vt:lpstr>
      <vt:lpstr>Which coordinates fit the linear relationship y = 5x − 14 ?</vt:lpstr>
      <vt:lpstr>PowerPoint Presentation</vt:lpstr>
      <vt:lpstr>PowerPoint Presentation</vt:lpstr>
      <vt:lpstr>Features of linear relationships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2024-01-08T16:48:07.646</cp:lastPrinted>
  <dcterms:created xsi:type="dcterms:W3CDTF">2024-01-08T16:48:07Z</dcterms:created>
  <dcterms:modified xsi:type="dcterms:W3CDTF">2024-01-08T16:48:08Z</dcterms:modified>
</cp:coreProperties>
</file>