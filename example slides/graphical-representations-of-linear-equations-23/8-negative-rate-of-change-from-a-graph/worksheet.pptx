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7B2DC46-D302-4DC6-936F-4482029A6D0E}">
  <a:tblStyle styleId="{27B2DC46-D302-4DC6-936F-4482029A6D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sp>
        <p:nvSpPr>
          <p:cNvPr id="175" name="Google Shape;17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0.png" /><Relationship Id="rId11" Type="http://schemas.openxmlformats.org/officeDocument/2006/relationships/image" Target="../media/image21.png" /><Relationship Id="rId12" Type="http://schemas.openxmlformats.org/officeDocument/2006/relationships/image" Target="../media/image22.png" /><Relationship Id="rId13" Type="http://schemas.openxmlformats.org/officeDocument/2006/relationships/image" Target="../media/image23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Relationship Id="rId5" Type="http://schemas.openxmlformats.org/officeDocument/2006/relationships/image" Target="../media/image15.png" /><Relationship Id="rId6" Type="http://schemas.openxmlformats.org/officeDocument/2006/relationships/image" Target="../media/image16.png" /><Relationship Id="rId7" Type="http://schemas.openxmlformats.org/officeDocument/2006/relationships/image" Target="../media/image17.png" /><Relationship Id="rId8" Type="http://schemas.openxmlformats.org/officeDocument/2006/relationships/image" Target="../media/image18.png" /><Relationship Id="rId9" Type="http://schemas.openxmlformats.org/officeDocument/2006/relationships/image" Target="../media/image1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Negative rate of change from a graph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10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Calculating negative gradients from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7480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Find the gradient of each line.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491650"/>
            <a:ext cx="1589012" cy="177672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4">
            <a:alphaModFix/>
          </a:blip>
          <a:srcRect l="9105" r="108"/>
          <a:stretch>
            <a:fillRect/>
          </a:stretch>
        </p:blipFill>
        <p:spPr>
          <a:xfrm>
            <a:off x="2146329" y="2491650"/>
            <a:ext cx="1589013" cy="177672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5">
            <a:alphaModFix/>
          </a:blip>
          <a:srcRect t="12629" b="2832"/>
          <a:stretch>
            <a:fillRect/>
          </a:stretch>
        </p:blipFill>
        <p:spPr>
          <a:xfrm>
            <a:off x="3824659" y="2491650"/>
            <a:ext cx="1589013" cy="177672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6">
            <a:alphaModFix/>
          </a:blip>
          <a:srcRect b="2742"/>
          <a:stretch>
            <a:fillRect/>
          </a:stretch>
        </p:blipFill>
        <p:spPr>
          <a:xfrm>
            <a:off x="5502993" y="2491650"/>
            <a:ext cx="1589008" cy="177673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67" name="Google Shape;167;p20"/>
          <p:cNvGraphicFramePr>
            <a:graphicFrameLocks noGrp="1"/>
          </p:cNvGraphicFramePr>
          <p:nvPr/>
        </p:nvGraphicFramePr>
        <p:xfrm>
          <a:off x="468000" y="2154450"/>
          <a:ext cx="6624000" cy="263675"/>
        </p:xfrm>
        <a:graphic>
          <a:graphicData uri="http://schemas.openxmlformats.org/drawingml/2006/table">
            <a:tbl>
              <a:tblPr>
                <a:noFill/>
                <a:tableStyleId>{27B2DC46-D302-4DC6-936F-4482029A6D0E}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263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8" name="Google Shape;168;p20"/>
          <p:cNvGraphicFramePr>
            <a:graphicFrameLocks noGrp="1"/>
          </p:cNvGraphicFramePr>
          <p:nvPr/>
        </p:nvGraphicFramePr>
        <p:xfrm>
          <a:off x="492554" y="5236475"/>
          <a:ext cx="6624000" cy="263675"/>
        </p:xfrm>
        <a:graphic>
          <a:graphicData uri="http://schemas.openxmlformats.org/drawingml/2006/table">
            <a:tbl>
              <a:tblPr>
                <a:noFill/>
                <a:tableStyleId>{27B2DC46-D302-4DC6-936F-4482029A6D0E}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263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69" name="Google Shape;169;p20"/>
          <p:cNvPicPr preferRelativeResize="0"/>
          <p:nvPr/>
        </p:nvPicPr>
        <p:blipFill>
          <a:blip r:embed="rId7">
            <a:alphaModFix/>
          </a:blip>
          <a:srcRect l="7726" r="29710"/>
          <a:stretch>
            <a:fillRect/>
          </a:stretch>
        </p:blipFill>
        <p:spPr>
          <a:xfrm>
            <a:off x="467501" y="5609000"/>
            <a:ext cx="1594163" cy="178249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8">
            <a:alphaModFix/>
          </a:blip>
          <a:srcRect l="2956" r="10590"/>
          <a:stretch>
            <a:fillRect/>
          </a:stretch>
        </p:blipFill>
        <p:spPr>
          <a:xfrm>
            <a:off x="2144120" y="5609000"/>
            <a:ext cx="1594164" cy="178249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9">
            <a:alphaModFix/>
          </a:blip>
          <a:srcRect l="15431" r="30138"/>
          <a:stretch>
            <a:fillRect/>
          </a:stretch>
        </p:blipFill>
        <p:spPr>
          <a:xfrm>
            <a:off x="3820739" y="5609000"/>
            <a:ext cx="1594161" cy="178249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10">
            <a:alphaModFix/>
          </a:blip>
          <a:srcRect l="43559" r="3345" b="2085"/>
          <a:stretch>
            <a:fillRect/>
          </a:stretch>
        </p:blipFill>
        <p:spPr>
          <a:xfrm>
            <a:off x="5497358" y="5609000"/>
            <a:ext cx="1594143" cy="178249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" name="Shape 177"/>
        <p:cNvGrpSpPr/>
        <p:nvPr/>
      </p:nvGrpSpPr>
      <p:grpSpPr>
        <a:xfrm>
          <a:off x="0" y="0"/>
          <a:ext cx="0" cy="0"/>
        </a:xfrm>
      </p:grpSpPr>
      <p:grpSp>
        <p:nvGrpSpPr>
          <p:cNvPr id="178" name="Google Shape;178;p21"/>
          <p:cNvGrpSpPr/>
          <p:nvPr/>
        </p:nvGrpSpPr>
        <p:grpSpPr>
          <a:xfrm>
            <a:off x="466825" y="7836725"/>
            <a:ext cx="2129476" cy="1950793"/>
            <a:chOff x="466825" y="7836725"/>
            <a:chExt cx="2129476" cy="1950793"/>
          </a:xfrm>
        </p:grpSpPr>
        <p:pic>
          <p:nvPicPr>
            <p:cNvPr id="179" name="Google Shape;179;p21"/>
            <p:cNvPicPr preferRelativeResize="0"/>
            <p:nvPr/>
          </p:nvPicPr>
          <p:blipFill>
            <a:blip r:embed="rId3">
              <a:alphaModFix/>
            </a:blip>
            <a:srcRect t="14994" r="14712"/>
            <a:stretch>
              <a:fillRect/>
            </a:stretch>
          </p:blipFill>
          <p:spPr>
            <a:xfrm>
              <a:off x="466825" y="7836725"/>
              <a:ext cx="2129476" cy="1950793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180" name="Google Shape;180;p21"/>
            <p:cNvCxnSpPr/>
            <p:nvPr/>
          </p:nvCxnSpPr>
          <p:spPr>
            <a:xfrm flipH="1">
              <a:off x="1593805" y="8420571"/>
              <a:ext cx="0" cy="3780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21"/>
            <p:cNvCxnSpPr/>
            <p:nvPr/>
          </p:nvCxnSpPr>
          <p:spPr>
            <a:xfrm flipH="1">
              <a:off x="2214955" y="8030238"/>
              <a:ext cx="0" cy="4188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21"/>
            <p:cNvCxnSpPr/>
            <p:nvPr/>
          </p:nvCxnSpPr>
          <p:spPr>
            <a:xfrm rot="10800000">
              <a:off x="1391296" y="8424948"/>
              <a:ext cx="2178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21"/>
            <p:cNvCxnSpPr/>
            <p:nvPr/>
          </p:nvCxnSpPr>
          <p:spPr>
            <a:xfrm rot="10800000">
              <a:off x="1997155" y="8027279"/>
              <a:ext cx="2178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84" name="Google Shape;184;p21"/>
            <p:cNvSpPr/>
            <p:nvPr/>
          </p:nvSpPr>
          <p:spPr>
            <a:xfrm>
              <a:off x="2263350" y="8073577"/>
              <a:ext cx="270300" cy="3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1638306" y="8443477"/>
              <a:ext cx="270300" cy="3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" name="Google Shape;18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7" name="Google Shape;18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Negative rate of change from a graph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Calculating gradient from any graph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4" y="1542638"/>
            <a:ext cx="2951995" cy="229871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2" name="Google Shape;192;p21"/>
          <p:cNvSpPr txBox="1"/>
          <p:nvPr/>
        </p:nvSpPr>
        <p:spPr>
          <a:xfrm>
            <a:off x="3646200" y="1579750"/>
            <a:ext cx="2810700" cy="14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1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3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1" descr="&lt;math xmlns=&quot;http://www.w3.org/1998/Math/MathML&quot; display=&quot;block&quot; data-is-equatio=&quot;1&quot; data-latex=&quot;-\frac{1}{2}&quot;&gt;&lt;mo&gt;−&lt;/mo&gt;&lt;mfrac&gt;&lt;mn&gt;1&lt;/mn&gt;&lt;mn&gt;2&lt;/mn&gt;&lt;/mfrac&gt;&lt;/math&gt;" title="negative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8812" y="3136946"/>
            <a:ext cx="185484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/>
          <p:nvPr/>
        </p:nvSpPr>
        <p:spPr>
          <a:xfrm>
            <a:off x="468000" y="2047958"/>
            <a:ext cx="262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468000" y="3020490"/>
            <a:ext cx="262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44501" y="1570673"/>
            <a:ext cx="262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117529" y="3471133"/>
            <a:ext cx="262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Four lines have been drawn on a set of axes with unknown scale. Match each line to its gradient.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6">
            <a:alphaModFix/>
          </a:blip>
          <a:srcRect l="7612" t="11103"/>
          <a:stretch>
            <a:fillRect/>
          </a:stretch>
        </p:blipFill>
        <p:spPr>
          <a:xfrm>
            <a:off x="4373751" y="5859469"/>
            <a:ext cx="1727183" cy="12562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0" name="Google Shape;200;p21"/>
          <p:cNvPicPr preferRelativeResize="0"/>
          <p:nvPr/>
        </p:nvPicPr>
        <p:blipFill>
          <a:blip r:embed="rId7">
            <a:alphaModFix/>
          </a:blip>
          <a:srcRect t="14948" b="13627"/>
          <a:stretch>
            <a:fillRect/>
          </a:stretch>
        </p:blipFill>
        <p:spPr>
          <a:xfrm>
            <a:off x="2407017" y="5859469"/>
            <a:ext cx="1869551" cy="125628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1" name="Google Shape;201;p21"/>
          <p:cNvPicPr preferRelativeResize="0"/>
          <p:nvPr/>
        </p:nvPicPr>
        <p:blipFill>
          <a:blip r:embed="rId8">
            <a:alphaModFix/>
          </a:blip>
          <a:srcRect t="11865" b="4044"/>
          <a:stretch>
            <a:fillRect/>
          </a:stretch>
        </p:blipFill>
        <p:spPr>
          <a:xfrm>
            <a:off x="4374608" y="4508531"/>
            <a:ext cx="1727174" cy="12562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9">
            <a:alphaModFix/>
          </a:blip>
          <a:srcRect l="1477"/>
          <a:stretch>
            <a:fillRect/>
          </a:stretch>
        </p:blipFill>
        <p:spPr>
          <a:xfrm>
            <a:off x="2421304" y="4508521"/>
            <a:ext cx="1841834" cy="12562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3" name="Google Shape;203;p21"/>
          <p:cNvSpPr txBox="1"/>
          <p:nvPr/>
        </p:nvSpPr>
        <p:spPr>
          <a:xfrm>
            <a:off x="468000" y="3949475"/>
            <a:ext cx="64227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lines are parallel?                                   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gradients and match any parallel lines.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10">
            <a:alphaModFix/>
          </a:blip>
          <a:srcRect r="7063"/>
          <a:stretch>
            <a:fillRect/>
          </a:stretch>
        </p:blipFill>
        <p:spPr>
          <a:xfrm>
            <a:off x="468000" y="5859469"/>
            <a:ext cx="1841830" cy="12562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11">
            <a:alphaModFix/>
          </a:blip>
          <a:srcRect t="2219"/>
          <a:stretch>
            <a:fillRect/>
          </a:stretch>
        </p:blipFill>
        <p:spPr>
          <a:xfrm>
            <a:off x="468000" y="4508531"/>
            <a:ext cx="1841834" cy="125628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6" name="Google Shape;206;p21"/>
          <p:cNvSpPr/>
          <p:nvPr/>
        </p:nvSpPr>
        <p:spPr>
          <a:xfrm>
            <a:off x="640461" y="4490847"/>
            <a:ext cx="241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2466427" y="4490847"/>
            <a:ext cx="241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434369" y="4490847"/>
            <a:ext cx="241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40461" y="5851936"/>
            <a:ext cx="241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2466427" y="5851936"/>
            <a:ext cx="241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434369" y="5851936"/>
            <a:ext cx="2415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7217475"/>
            <a:ext cx="6624000" cy="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Andeep is trying to prove this shape is a parallelogram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Finish off his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12">
            <a:alphaModFix/>
          </a:blip>
          <a:srcRect r="57905" b="43690"/>
          <a:stretch>
            <a:fillRect/>
          </a:stretch>
        </p:blipFill>
        <p:spPr>
          <a:xfrm>
            <a:off x="3291225" y="7613250"/>
            <a:ext cx="2810552" cy="91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020846" y="8100074"/>
            <a:ext cx="483301" cy="62317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29538" y="8754313"/>
            <a:ext cx="10659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 flipH="1">
            <a:off x="3380475" y="7701450"/>
            <a:ext cx="25713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Opposite sides in a parallelogram are parallel.  Therefore they must have the same gradient.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 flipH="1">
            <a:off x="2688220" y="8955175"/>
            <a:ext cx="29178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left and right sides are parallel…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Negative rate of change from a graph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2024-01-08T16:49:13.601</cp:lastPrinted>
  <dcterms:created xsi:type="dcterms:W3CDTF">2024-01-08T16:49:13Z</dcterms:created>
  <dcterms:modified xsi:type="dcterms:W3CDTF">2024-01-08T16:49:23Z</dcterms:modified>
</cp:coreProperties>
</file>