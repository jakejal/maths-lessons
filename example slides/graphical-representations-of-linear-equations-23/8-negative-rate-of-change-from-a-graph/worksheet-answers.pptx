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5432B36-E389-42B5-93C0-6256C820190B}">
  <a:tblStyle styleId="{C5432B36-E389-42B5-93C0-6256C82019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6.png" /><Relationship Id="rId11" Type="http://schemas.openxmlformats.org/officeDocument/2006/relationships/image" Target="../media/image27.png" /><Relationship Id="rId12" Type="http://schemas.openxmlformats.org/officeDocument/2006/relationships/image" Target="../media/image28.png" /><Relationship Id="rId13" Type="http://schemas.openxmlformats.org/officeDocument/2006/relationships/image" Target="../media/image29.png" /><Relationship Id="rId14" Type="http://schemas.openxmlformats.org/officeDocument/2006/relationships/image" Target="../media/image30.png" /><Relationship Id="rId15" Type="http://schemas.openxmlformats.org/officeDocument/2006/relationships/image" Target="../media/image31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9.png" /><Relationship Id="rId4" Type="http://schemas.openxmlformats.org/officeDocument/2006/relationships/image" Target="../media/image20.png" /><Relationship Id="rId5" Type="http://schemas.openxmlformats.org/officeDocument/2006/relationships/image" Target="../media/image21.png" /><Relationship Id="rId6" Type="http://schemas.openxmlformats.org/officeDocument/2006/relationships/image" Target="../media/image22.png" /><Relationship Id="rId7" Type="http://schemas.openxmlformats.org/officeDocument/2006/relationships/image" Target="../media/image23.png" /><Relationship Id="rId8" Type="http://schemas.openxmlformats.org/officeDocument/2006/relationships/image" Target="../media/image24.png" /><Relationship Id="rId9" Type="http://schemas.openxmlformats.org/officeDocument/2006/relationships/image" Target="../media/image2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Negative rate of change from a graph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10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Calculating negative gradients from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48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gradient of each line.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491650"/>
            <a:ext cx="1589012" cy="17767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rcRect l="9105" r="108"/>
          <a:stretch>
            <a:fillRect/>
          </a:stretch>
        </p:blipFill>
        <p:spPr>
          <a:xfrm>
            <a:off x="2146329" y="2491650"/>
            <a:ext cx="1589013" cy="17767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rcRect t="12629" b="2832"/>
          <a:stretch>
            <a:fillRect/>
          </a:stretch>
        </p:blipFill>
        <p:spPr>
          <a:xfrm>
            <a:off x="3824659" y="2491650"/>
            <a:ext cx="1589013" cy="177672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rcRect b="2742"/>
          <a:stretch>
            <a:fillRect/>
          </a:stretch>
        </p:blipFill>
        <p:spPr>
          <a:xfrm>
            <a:off x="5502993" y="2491650"/>
            <a:ext cx="1589008" cy="177673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79" name="Google Shape;179;p20"/>
          <p:cNvGraphicFramePr>
            <a:graphicFrameLocks noGrp="1"/>
          </p:cNvGraphicFramePr>
          <p:nvPr/>
        </p:nvGraphicFramePr>
        <p:xfrm>
          <a:off x="468000" y="2154450"/>
          <a:ext cx="6624000" cy="263675"/>
        </p:xfrm>
        <a:graphic>
          <a:graphicData uri="http://schemas.openxmlformats.org/drawingml/2006/table">
            <a:tbl>
              <a:tblPr>
                <a:noFill/>
                <a:tableStyleId>{C5432B36-E389-42B5-93C0-6256C820190B}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0"/>
          <p:cNvSpPr txBox="1"/>
          <p:nvPr/>
        </p:nvSpPr>
        <p:spPr>
          <a:xfrm>
            <a:off x="896547" y="4341900"/>
            <a:ext cx="7266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900688" y="4341900"/>
            <a:ext cx="322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500729" y="4341900"/>
            <a:ext cx="322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100770" y="4341900"/>
            <a:ext cx="4299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492554" y="5236475"/>
          <a:ext cx="6624000" cy="263675"/>
        </p:xfrm>
        <a:graphic>
          <a:graphicData uri="http://schemas.openxmlformats.org/drawingml/2006/table">
            <a:tbl>
              <a:tblPr>
                <a:noFill/>
                <a:tableStyleId>{C5432B36-E389-42B5-93C0-6256C820190B}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5" name="Google Shape;185;p20"/>
          <p:cNvPicPr preferRelativeResize="0"/>
          <p:nvPr/>
        </p:nvPicPr>
        <p:blipFill>
          <a:blip r:embed="rId7">
            <a:alphaModFix/>
          </a:blip>
          <a:srcRect l="7726" r="29710"/>
          <a:stretch>
            <a:fillRect/>
          </a:stretch>
        </p:blipFill>
        <p:spPr>
          <a:xfrm>
            <a:off x="467501" y="5609000"/>
            <a:ext cx="1594163" cy="178249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8">
            <a:alphaModFix/>
          </a:blip>
          <a:srcRect l="2956" r="10590"/>
          <a:stretch>
            <a:fillRect/>
          </a:stretch>
        </p:blipFill>
        <p:spPr>
          <a:xfrm>
            <a:off x="2144120" y="5609000"/>
            <a:ext cx="1594164" cy="178249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9">
            <a:alphaModFix/>
          </a:blip>
          <a:srcRect l="15431" r="30138"/>
          <a:stretch>
            <a:fillRect/>
          </a:stretch>
        </p:blipFill>
        <p:spPr>
          <a:xfrm>
            <a:off x="3820739" y="5609000"/>
            <a:ext cx="1594161" cy="178249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10">
            <a:alphaModFix/>
          </a:blip>
          <a:srcRect l="43559" r="3345" b="2085"/>
          <a:stretch>
            <a:fillRect/>
          </a:stretch>
        </p:blipFill>
        <p:spPr>
          <a:xfrm>
            <a:off x="5497358" y="5609000"/>
            <a:ext cx="1594143" cy="178249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89" name="Google Shape;189;p20"/>
          <p:cNvGraphicFramePr>
            <a:graphicFrameLocks noGrp="1"/>
          </p:cNvGraphicFramePr>
          <p:nvPr/>
        </p:nvGraphicFramePr>
        <p:xfrm>
          <a:off x="464929" y="7560000"/>
          <a:ext cx="1594175" cy="724225"/>
        </p:xfrm>
        <a:graphic>
          <a:graphicData uri="http://schemas.openxmlformats.org/drawingml/2006/table">
            <a:tbl>
              <a:tblPr>
                <a:noFill/>
                <a:tableStyleId>{C5432B36-E389-42B5-93C0-6256C820190B}</a:tableStyleId>
              </a:tblPr>
              <a:tblGrid>
                <a:gridCol w="797075"/>
                <a:gridCol w="797100"/>
              </a:tblGrid>
              <a:tr h="263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0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0" name="Google Shape;190;p20"/>
          <p:cNvGraphicFramePr>
            <a:graphicFrameLocks noGrp="1"/>
          </p:cNvGraphicFramePr>
          <p:nvPr/>
        </p:nvGraphicFramePr>
        <p:xfrm>
          <a:off x="2148554" y="7560000"/>
          <a:ext cx="1594175" cy="724225"/>
        </p:xfrm>
        <a:graphic>
          <a:graphicData uri="http://schemas.openxmlformats.org/drawingml/2006/table">
            <a:tbl>
              <a:tblPr>
                <a:noFill/>
                <a:tableStyleId>{C5432B36-E389-42B5-93C0-6256C820190B}</a:tableStyleId>
              </a:tblPr>
              <a:tblGrid>
                <a:gridCol w="797075"/>
                <a:gridCol w="797100"/>
              </a:tblGrid>
              <a:tr h="329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1" name="Google Shape;191;p20"/>
          <p:cNvGraphicFramePr>
            <a:graphicFrameLocks noGrp="1"/>
          </p:cNvGraphicFramePr>
          <p:nvPr/>
        </p:nvGraphicFramePr>
        <p:xfrm>
          <a:off x="3832179" y="7560000"/>
          <a:ext cx="1594175" cy="724225"/>
        </p:xfrm>
        <a:graphic>
          <a:graphicData uri="http://schemas.openxmlformats.org/drawingml/2006/table">
            <a:tbl>
              <a:tblPr>
                <a:noFill/>
                <a:tableStyleId>{C5432B36-E389-42B5-93C0-6256C820190B}</a:tableStyleId>
              </a:tblPr>
              <a:tblGrid>
                <a:gridCol w="797075"/>
                <a:gridCol w="797100"/>
              </a:tblGrid>
              <a:tr h="329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2" name="Google Shape;192;p20"/>
          <p:cNvGraphicFramePr>
            <a:graphicFrameLocks noGrp="1"/>
          </p:cNvGraphicFramePr>
          <p:nvPr/>
        </p:nvGraphicFramePr>
        <p:xfrm>
          <a:off x="5503004" y="7559988"/>
          <a:ext cx="1594175" cy="724225"/>
        </p:xfrm>
        <a:graphic>
          <a:graphicData uri="http://schemas.openxmlformats.org/drawingml/2006/table">
            <a:tbl>
              <a:tblPr>
                <a:noFill/>
                <a:tableStyleId>{C5432B36-E389-42B5-93C0-6256C820190B}</a:tableStyleId>
              </a:tblPr>
              <a:tblGrid>
                <a:gridCol w="797075"/>
                <a:gridCol w="797100"/>
              </a:tblGrid>
              <a:tr h="275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3" name="Google Shape;193;p20" descr="&lt;math xmlns=&quot;http://www.w3.org/1998/Math/MathML&quot; display=&quot;block&quot; data-is-equatio=&quot;1&quot; data-latex=&quot;-\frac{1}{4}&quot;&gt;&lt;mo&gt;−&lt;/mo&gt;&lt;mfrac&gt;&lt;mn&gt;1&lt;/mn&gt;&lt;mn&gt;4&lt;/mn&gt;&lt;/mfrac&gt;&lt;/math&gt;" title="negative one fourt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84258" y="7877863"/>
            <a:ext cx="223175" cy="33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-\frac{3}{5}&quot;&gt;&lt;mo&gt;−&lt;/mo&gt;&lt;mfrac&gt;&lt;mn&gt;3&lt;/mn&gt;&lt;mn&gt;5&lt;/mn&gt;&lt;/mfrac&gt;&lt;/math&gt;" title="negative three fif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65201" y="7903990"/>
            <a:ext cx="223175" cy="338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912374" y="7929915"/>
            <a:ext cx="223163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-\frac{1}{10}&quot;&gt;&lt;mo&gt;−&lt;/mo&gt;&lt;mfrac&gt;&lt;mn&gt;1&lt;/mn&gt;&lt;mn&gt;10&lt;/mn&gt;&lt;/mfrac&gt;&lt;/math&gt;" title="negative one tenth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559548" y="7882007"/>
            <a:ext cx="322500" cy="3586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3" name="Google Shape;20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Negative rate of change from a graph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Calculating gradient from any graph</a:t>
            </a:r>
            <a:endParaRPr sz="12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4" y="1542638"/>
            <a:ext cx="2951995" cy="229871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8" name="Google Shape;208;p21"/>
          <p:cNvSpPr txBox="1"/>
          <p:nvPr/>
        </p:nvSpPr>
        <p:spPr>
          <a:xfrm>
            <a:off x="3646200" y="1579750"/>
            <a:ext cx="4500000" cy="23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1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3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1" descr="&lt;math xmlns=&quot;http://www.w3.org/1998/Math/MathML&quot; display=&quot;block&quot; data-is-equatio=&quot;1&quot; data-latex=&quot;-\frac{1}{2}&quot;&gt;&lt;mo&gt;−&lt;/mo&gt;&lt;mfrac&gt;&lt;mn&gt;1&lt;/mn&gt;&lt;mn&gt;2&lt;/mn&gt;&lt;/mfrac&gt;&lt;/math&gt;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950" y="3146346"/>
            <a:ext cx="185484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/>
          <p:nvPr/>
        </p:nvSpPr>
        <p:spPr>
          <a:xfrm>
            <a:off x="468000" y="2047958"/>
            <a:ext cx="26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68000" y="3020490"/>
            <a:ext cx="26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44501" y="1570673"/>
            <a:ext cx="26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117529" y="3471133"/>
            <a:ext cx="26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223600" y="1573200"/>
            <a:ext cx="15768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(green line)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223600" y="2109757"/>
            <a:ext cx="15768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(blue line)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223600" y="2667039"/>
            <a:ext cx="15768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 (purple line)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223600" y="3213964"/>
            <a:ext cx="15768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 (pink line)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Four lines have been drawn on a set of axes with unknown scale. Match each line to its gradient.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5">
            <a:alphaModFix/>
          </a:blip>
          <a:srcRect l="7612" t="11103"/>
          <a:stretch>
            <a:fillRect/>
          </a:stretch>
        </p:blipFill>
        <p:spPr>
          <a:xfrm>
            <a:off x="4373751" y="5859469"/>
            <a:ext cx="1727183" cy="12562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6">
            <a:alphaModFix/>
          </a:blip>
          <a:srcRect t="14948" b="13627"/>
          <a:stretch>
            <a:fillRect/>
          </a:stretch>
        </p:blipFill>
        <p:spPr>
          <a:xfrm>
            <a:off x="2407017" y="5859469"/>
            <a:ext cx="1869551" cy="125628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7">
            <a:alphaModFix/>
          </a:blip>
          <a:srcRect t="11865" b="4044"/>
          <a:stretch>
            <a:fillRect/>
          </a:stretch>
        </p:blipFill>
        <p:spPr>
          <a:xfrm>
            <a:off x="4374608" y="4508531"/>
            <a:ext cx="1727174" cy="12562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8">
            <a:alphaModFix/>
          </a:blip>
          <a:srcRect l="1477"/>
          <a:stretch>
            <a:fillRect/>
          </a:stretch>
        </p:blipFill>
        <p:spPr>
          <a:xfrm>
            <a:off x="2421304" y="4508521"/>
            <a:ext cx="1841834" cy="12562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3" name="Google Shape;223;p21"/>
          <p:cNvSpPr txBox="1"/>
          <p:nvPr/>
        </p:nvSpPr>
        <p:spPr>
          <a:xfrm>
            <a:off x="468000" y="3949475"/>
            <a:ext cx="64227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lines are parallel?                   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gradients and match any parallel lines.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9">
            <a:alphaModFix/>
          </a:blip>
          <a:srcRect r="7063"/>
          <a:stretch>
            <a:fillRect/>
          </a:stretch>
        </p:blipFill>
        <p:spPr>
          <a:xfrm>
            <a:off x="468000" y="5859469"/>
            <a:ext cx="1841830" cy="12562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10">
            <a:alphaModFix/>
          </a:blip>
          <a:srcRect t="2219"/>
          <a:stretch>
            <a:fillRect/>
          </a:stretch>
        </p:blipFill>
        <p:spPr>
          <a:xfrm>
            <a:off x="468000" y="4508531"/>
            <a:ext cx="1841834" cy="125628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6" name="Google Shape;226;p21"/>
          <p:cNvSpPr/>
          <p:nvPr/>
        </p:nvSpPr>
        <p:spPr>
          <a:xfrm>
            <a:off x="521446" y="5483945"/>
            <a:ext cx="14811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Gradient =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21446" y="6783855"/>
            <a:ext cx="14811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Gradient =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949940" y="6849794"/>
            <a:ext cx="14811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Gradient = 2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082574" y="6849794"/>
            <a:ext cx="14811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Gradient = 2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005056" y="5437088"/>
            <a:ext cx="14811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Gradient =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372998" y="5437088"/>
            <a:ext cx="14811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40461" y="4490847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2466427" y="4490847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434369" y="4490847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40461" y="5851936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466427" y="5851936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434369" y="5851936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8" name="Google Shape;238;p21" descr="&lt;math xmlns=&quot;http://www.w3.org/1998/Math/MathML&quot; display=&quot;block&quot; data-is-equatio=&quot;1&quot; data-latex=&quot;-\frac{1}{2}&quot;&gt;&lt;mo&gt;−&lt;/mo&gt;&lt;mfrac&gt;&lt;mn&gt;1&lt;/mn&gt;&lt;mn&gt;2&lt;/mn&gt;&lt;/mfrac&gt;&lt;/math&gt;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0578" y="5408213"/>
            <a:ext cx="241617" cy="361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-\frac{1}{2}&quot;&gt;&lt;mo&gt;−&lt;/mo&gt;&lt;mfrac&gt;&lt;mn&gt;1&lt;/mn&gt;&lt;mn&gt;2&lt;/mn&gt;&lt;/mfrac&gt;&lt;/math&gt;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422" y="6725606"/>
            <a:ext cx="241617" cy="361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51733" y="5362572"/>
            <a:ext cx="113339" cy="3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/>
          <p:nvPr/>
        </p:nvSpPr>
        <p:spPr>
          <a:xfrm>
            <a:off x="6155705" y="4490852"/>
            <a:ext cx="9363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and D are parallel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 and F are parallel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68000" y="7217475"/>
            <a:ext cx="6624000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Andeep is trying to prove this shape is a parallelogram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Finish off his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12">
            <a:alphaModFix/>
          </a:blip>
          <a:srcRect r="57905" b="43690"/>
          <a:stretch>
            <a:fillRect/>
          </a:stretch>
        </p:blipFill>
        <p:spPr>
          <a:xfrm>
            <a:off x="3291225" y="7613250"/>
            <a:ext cx="2810552" cy="91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20846" y="8100074"/>
            <a:ext cx="483301" cy="62317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5729538" y="8754313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 flipH="1">
            <a:off x="3380475" y="7701450"/>
            <a:ext cx="2571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Opposite sides in a parallelogram are parallel.  Therefore they must have the same gradient.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1"/>
          <p:cNvPicPr preferRelativeResize="0"/>
          <p:nvPr/>
        </p:nvPicPr>
        <p:blipFill>
          <a:blip r:embed="rId14">
            <a:alphaModFix/>
          </a:blip>
          <a:srcRect t="14994" r="14712"/>
          <a:stretch>
            <a:fillRect/>
          </a:stretch>
        </p:blipFill>
        <p:spPr>
          <a:xfrm>
            <a:off x="468000" y="7833225"/>
            <a:ext cx="2129481" cy="195079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8" name="Google Shape;248;p21"/>
          <p:cNvSpPr/>
          <p:nvPr/>
        </p:nvSpPr>
        <p:spPr>
          <a:xfrm>
            <a:off x="1969701" y="9153073"/>
            <a:ext cx="2703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 flipH="1">
            <a:off x="2688220" y="8955175"/>
            <a:ext cx="29178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left and right sides are parallel…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0" name="Google Shape;250;p21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GraphicFramePr>
            <a:graphicFrameLocks noGrp="1"/>
          </p:cNvGraphicFramePr>
          <p:nvPr/>
        </p:nvGraphicFramePr>
        <p:xfrm>
          <a:off x="2707926" y="9170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{C5432B36-E389-42B5-93C0-6256C820190B}</a:tableStyleId>
              </a:tblPr>
              <a:tblGrid>
                <a:gridCol w="949800"/>
                <a:gridCol w="949800"/>
              </a:tblGrid>
              <a:tr h="190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1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3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51" name="Google Shape;251;p21"/>
          <p:cNvCxnSpPr/>
          <p:nvPr/>
        </p:nvCxnSpPr>
        <p:spPr>
          <a:xfrm rot="10800000">
            <a:off x="1806788" y="9223437"/>
            <a:ext cx="6126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1"/>
          <p:cNvCxnSpPr/>
          <p:nvPr/>
        </p:nvCxnSpPr>
        <p:spPr>
          <a:xfrm flipH="1">
            <a:off x="2412095" y="8844585"/>
            <a:ext cx="0" cy="3780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1"/>
          <p:cNvCxnSpPr/>
          <p:nvPr/>
        </p:nvCxnSpPr>
        <p:spPr>
          <a:xfrm rot="10800000">
            <a:off x="1397791" y="8425870"/>
            <a:ext cx="6126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21"/>
          <p:cNvCxnSpPr/>
          <p:nvPr/>
        </p:nvCxnSpPr>
        <p:spPr>
          <a:xfrm flipH="1">
            <a:off x="2003098" y="8047018"/>
            <a:ext cx="0" cy="3780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55" name="Google Shape;255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078800" y="9576000"/>
            <a:ext cx="90680" cy="300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/>
          <p:nvPr/>
        </p:nvSpPr>
        <p:spPr>
          <a:xfrm>
            <a:off x="2336036" y="8867467"/>
            <a:ext cx="2703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571193" y="8364966"/>
            <a:ext cx="2703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023536" y="8079360"/>
            <a:ext cx="2703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 flipH="1">
            <a:off x="4709125" y="9175723"/>
            <a:ext cx="24843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top and bottom sides have the same gradient of     so they are parallel.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0" name="Google Shape;260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82878" y="9331450"/>
            <a:ext cx="90680" cy="300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Negative rate of change from a graph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2024-01-08T16:49:09.122</cp:lastPrinted>
  <dcterms:created xsi:type="dcterms:W3CDTF">2024-01-08T16:49:09Z</dcterms:created>
  <dcterms:modified xsi:type="dcterms:W3CDTF">2024-01-08T16:49:35Z</dcterms:modified>
</cp:coreProperties>
</file>