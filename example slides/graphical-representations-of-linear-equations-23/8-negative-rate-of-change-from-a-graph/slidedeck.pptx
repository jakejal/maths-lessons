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7EAD88-CA45-43AF-9C53-2B3F74421F24}">
  <a:tblStyle styleId="{037EAD88-CA45-43AF-9C53-2B3F74421F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a7716095b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a7716095b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1ea7716095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1ea7716095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a7716095b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a7716095b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97bb277a4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97bb277a4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97bb277a4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97bb277a4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97bb277a4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97bb277a4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97bb277a48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97bb277a48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97bb277a48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97bb277a48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97bb277a48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97bb277a48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297bb277a48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97bb277a48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297bb277a48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297bb277a48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297bb277a48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97bb277a48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297bb277a48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97bb277a48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g297bb277a4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4" name="Google Shape;974;g297bb277a4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297bb277a48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97bb277a48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1ea7716095b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1ea7716095b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1ea7716095b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1ea7716095b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297bb277a48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97bb277a48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g297bb277a48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8" name="Google Shape;1048;g297bb277a48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297bb277a48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297bb277a48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97bb277a48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97bb277a48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297bb277a48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297bb277a48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97bb277a48_0_5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97bb277a48_0_5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97bb277a48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97bb277a48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297bb277a48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9" name="Google Shape;1139;g297bb277a48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297bb277a48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0" name="Google Shape;1160;g297bb277a48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97bb277a48_0_6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297bb277a48_0_6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297bb277a48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0" name="Google Shape;1190;g297bb277a48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g297bb277a48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7" name="Google Shape;1217;g297bb277a48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297bb277a48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g297bb277a48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297bb277a48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297bb277a48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297bb277a48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97bb277a48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97bb277a48_0_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97bb277a48_0_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97bb277a48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97bb277a48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g297bb277a48_0_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1" name="Google Shape;1321;g297bb277a48_0_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9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1" name="Google Shape;135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19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2.png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Relationship Id="rId7" Type="http://schemas.openxmlformats.org/officeDocument/2006/relationships/image" Target="../media/image1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5.png"/><Relationship Id="rId4" Type="http://schemas.openxmlformats.org/officeDocument/2006/relationships/image" Target="../media/image92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2.png"/><Relationship Id="rId4" Type="http://schemas.openxmlformats.org/officeDocument/2006/relationships/image" Target="../media/image23.png"/><Relationship Id="rId9" Type="http://schemas.openxmlformats.org/officeDocument/2006/relationships/image" Target="../media/image14.png"/><Relationship Id="rId5" Type="http://schemas.openxmlformats.org/officeDocument/2006/relationships/image" Target="../media/image25.png"/><Relationship Id="rId6" Type="http://schemas.openxmlformats.org/officeDocument/2006/relationships/image" Target="../media/image31.png"/><Relationship Id="rId7" Type="http://schemas.openxmlformats.org/officeDocument/2006/relationships/image" Target="../media/image30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92.png"/><Relationship Id="rId4" Type="http://schemas.openxmlformats.org/officeDocument/2006/relationships/image" Target="../media/image29.png"/><Relationship Id="rId11" Type="http://schemas.openxmlformats.org/officeDocument/2006/relationships/image" Target="../media/image14.png"/><Relationship Id="rId10" Type="http://schemas.openxmlformats.org/officeDocument/2006/relationships/image" Target="../media/image36.png"/><Relationship Id="rId9" Type="http://schemas.openxmlformats.org/officeDocument/2006/relationships/image" Target="../media/image27.pn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30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7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7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45.png"/><Relationship Id="rId5" Type="http://schemas.openxmlformats.org/officeDocument/2006/relationships/image" Target="../media/image4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Relationship Id="rId4" Type="http://schemas.openxmlformats.org/officeDocument/2006/relationships/image" Target="../media/image5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Relationship Id="rId5" Type="http://schemas.openxmlformats.org/officeDocument/2006/relationships/image" Target="../media/image44.png"/><Relationship Id="rId6" Type="http://schemas.openxmlformats.org/officeDocument/2006/relationships/image" Target="../media/image5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56.png"/><Relationship Id="rId5" Type="http://schemas.openxmlformats.org/officeDocument/2006/relationships/image" Target="../media/image54.png"/><Relationship Id="rId6" Type="http://schemas.openxmlformats.org/officeDocument/2006/relationships/image" Target="../media/image57.png"/><Relationship Id="rId7" Type="http://schemas.openxmlformats.org/officeDocument/2006/relationships/image" Target="../media/image5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Relationship Id="rId4" Type="http://schemas.openxmlformats.org/officeDocument/2006/relationships/image" Target="../media/image58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5" Type="http://schemas.openxmlformats.org/officeDocument/2006/relationships/image" Target="../media/image65.png"/><Relationship Id="rId6" Type="http://schemas.openxmlformats.org/officeDocument/2006/relationships/image" Target="../media/image6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Relationship Id="rId5" Type="http://schemas.openxmlformats.org/officeDocument/2006/relationships/image" Target="../media/image66.png"/><Relationship Id="rId6" Type="http://schemas.openxmlformats.org/officeDocument/2006/relationships/image" Target="../media/image6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4.png"/><Relationship Id="rId4" Type="http://schemas.openxmlformats.org/officeDocument/2006/relationships/image" Target="../media/image63.png"/><Relationship Id="rId5" Type="http://schemas.openxmlformats.org/officeDocument/2006/relationships/image" Target="../media/image65.png"/><Relationship Id="rId6" Type="http://schemas.openxmlformats.org/officeDocument/2006/relationships/image" Target="../media/image6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Relationship Id="rId5" Type="http://schemas.openxmlformats.org/officeDocument/2006/relationships/image" Target="../media/image66.png"/><Relationship Id="rId6" Type="http://schemas.openxmlformats.org/officeDocument/2006/relationships/image" Target="../media/image69.png"/><Relationship Id="rId7" Type="http://schemas.openxmlformats.org/officeDocument/2006/relationships/image" Target="../media/image54.png"/><Relationship Id="rId8" Type="http://schemas.openxmlformats.org/officeDocument/2006/relationships/image" Target="../media/image73.png"/><Relationship Id="rId10" Type="http://schemas.openxmlformats.org/officeDocument/2006/relationships/image" Target="../media/image7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7.png"/><Relationship Id="rId4" Type="http://schemas.openxmlformats.org/officeDocument/2006/relationships/image" Target="../media/image74.png"/><Relationship Id="rId5" Type="http://schemas.openxmlformats.org/officeDocument/2006/relationships/image" Target="../media/image4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4.png"/><Relationship Id="rId4" Type="http://schemas.openxmlformats.org/officeDocument/2006/relationships/image" Target="../media/image44.png"/><Relationship Id="rId5" Type="http://schemas.openxmlformats.org/officeDocument/2006/relationships/image" Target="../media/image7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6.png"/><Relationship Id="rId4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0.png"/><Relationship Id="rId4" Type="http://schemas.openxmlformats.org/officeDocument/2006/relationships/image" Target="../media/image83.png"/><Relationship Id="rId5" Type="http://schemas.openxmlformats.org/officeDocument/2006/relationships/image" Target="../media/image8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Relationship Id="rId5" Type="http://schemas.openxmlformats.org/officeDocument/2006/relationships/image" Target="../media/image8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8.png"/><Relationship Id="rId4" Type="http://schemas.openxmlformats.org/officeDocument/2006/relationships/image" Target="../media/image90.png"/><Relationship Id="rId5" Type="http://schemas.openxmlformats.org/officeDocument/2006/relationships/image" Target="../media/image9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9.png"/><Relationship Id="rId4" Type="http://schemas.openxmlformats.org/officeDocument/2006/relationships/image" Target="../media/image8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3.png"/><Relationship Id="rId4" Type="http://schemas.openxmlformats.org/officeDocument/2006/relationships/image" Target="../media/image95.png"/><Relationship Id="rId5" Type="http://schemas.openxmlformats.org/officeDocument/2006/relationships/image" Target="../media/image98.png"/><Relationship Id="rId6" Type="http://schemas.openxmlformats.org/officeDocument/2006/relationships/image" Target="../media/image91.png"/><Relationship Id="rId7" Type="http://schemas.openxmlformats.org/officeDocument/2006/relationships/image" Target="../media/image94.png"/><Relationship Id="rId8" Type="http://schemas.openxmlformats.org/officeDocument/2006/relationships/image" Target="../media/image9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4.png"/><Relationship Id="rId4" Type="http://schemas.openxmlformats.org/officeDocument/2006/relationships/image" Target="../media/image55.png"/><Relationship Id="rId5" Type="http://schemas.openxmlformats.org/officeDocument/2006/relationships/image" Target="../media/image9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9.png"/><Relationship Id="rId4" Type="http://schemas.openxmlformats.org/officeDocument/2006/relationships/image" Target="../media/image8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8.png"/><Relationship Id="rId4" Type="http://schemas.openxmlformats.org/officeDocument/2006/relationships/image" Target="../media/image91.png"/><Relationship Id="rId9" Type="http://schemas.openxmlformats.org/officeDocument/2006/relationships/image" Target="../media/image80.png"/><Relationship Id="rId5" Type="http://schemas.openxmlformats.org/officeDocument/2006/relationships/image" Target="../media/image94.png"/><Relationship Id="rId6" Type="http://schemas.openxmlformats.org/officeDocument/2006/relationships/image" Target="../media/image97.png"/><Relationship Id="rId7" Type="http://schemas.openxmlformats.org/officeDocument/2006/relationships/image" Target="../media/image93.png"/><Relationship Id="rId8" Type="http://schemas.openxmlformats.org/officeDocument/2006/relationships/image" Target="../media/image95.png"/><Relationship Id="rId10" Type="http://schemas.openxmlformats.org/officeDocument/2006/relationships/image" Target="../media/image10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4.png"/><Relationship Id="rId4" Type="http://schemas.openxmlformats.org/officeDocument/2006/relationships/image" Target="../media/image55.png"/><Relationship Id="rId5" Type="http://schemas.openxmlformats.org/officeDocument/2006/relationships/image" Target="../media/image99.png"/><Relationship Id="rId6" Type="http://schemas.openxmlformats.org/officeDocument/2006/relationships/image" Target="../media/image10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 rate of change from a graph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Graphical representations of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calculate the negative rate of change (gradient) from a graph.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26330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absolute value of a number is its distance from zero. E.g. 5 and (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5) are both 5 away from zero and so both have an absolute value of 5. </a:t>
            </a:r>
            <a:endParaRPr sz="200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0" y="870075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gradient is a measure of how steep a line is. It is calculated by finding the rate of change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-direction with respect to the 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-direction. </a:t>
            </a:r>
            <a:endParaRPr sz="2000"/>
          </a:p>
        </p:txBody>
      </p:sp>
      <p:sp>
        <p:nvSpPr>
          <p:cNvPr id="768" name="Google Shape;768;p67"/>
          <p:cNvSpPr txBox="1"/>
          <p:nvPr>
            <p:ph idx="3" type="subTitle"/>
          </p:nvPr>
        </p:nvSpPr>
        <p:spPr>
          <a:xfrm>
            <a:off x="324001" y="37124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Two lines are parallel if they are straight lines that are always the same (non-zero) distance apart. 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 </a:t>
            </a:r>
            <a:endParaRPr/>
          </a:p>
        </p:txBody>
      </p:sp>
      <p:sp>
        <p:nvSpPr>
          <p:cNvPr id="774" name="Google Shape;774;p6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 rate of change from a graph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4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Gradient describes the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for an increase of 1 in the </a:t>
            </a:r>
            <a:r>
              <a:rPr lang="en-GB" sz="2000">
                <a:solidFill>
                  <a:schemeClr val="accent4"/>
                </a:solidFill>
              </a:rPr>
              <a:t>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-direction.</a:t>
            </a:r>
            <a:endParaRPr/>
          </a:p>
        </p:txBody>
      </p:sp>
      <p:pic>
        <p:nvPicPr>
          <p:cNvPr id="783" name="Google Shape;783;p69"/>
          <p:cNvPicPr preferRelativeResize="0"/>
          <p:nvPr/>
        </p:nvPicPr>
        <p:blipFill rotWithShape="1">
          <a:blip r:embed="rId3">
            <a:alphaModFix/>
          </a:blip>
          <a:srcRect b="0" l="9912" r="9501" t="0"/>
          <a:stretch/>
        </p:blipFill>
        <p:spPr>
          <a:xfrm>
            <a:off x="324000" y="1663200"/>
            <a:ext cx="2726525" cy="296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784" name="Google Shape;784;p69"/>
          <p:cNvCxnSpPr/>
          <p:nvPr/>
        </p:nvCxnSpPr>
        <p:spPr>
          <a:xfrm rot="10800000">
            <a:off x="1771550" y="3167860"/>
            <a:ext cx="3501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785" name="Google Shape;785;p69"/>
          <p:cNvCxnSpPr/>
          <p:nvPr/>
        </p:nvCxnSpPr>
        <p:spPr>
          <a:xfrm rot="10800000">
            <a:off x="1771542" y="2448755"/>
            <a:ext cx="0" cy="7191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pic>
        <p:nvPicPr>
          <p:cNvPr id="786" name="Google Shape;786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4976" y="2146429"/>
            <a:ext cx="889413" cy="8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/>
        </p:nvSpPr>
        <p:spPr>
          <a:xfrm flipH="1">
            <a:off x="6727399" y="2910982"/>
            <a:ext cx="1017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8" name="Google Shape;788;p69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3500634" y="1620000"/>
            <a:ext cx="3555773" cy="860701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69"/>
          <p:cNvSpPr txBox="1"/>
          <p:nvPr/>
        </p:nvSpPr>
        <p:spPr>
          <a:xfrm flipH="1">
            <a:off x="3534910" y="1572627"/>
            <a:ext cx="36378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gradient of this line is 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0" name="Google Shape;790;p69"/>
          <p:cNvSpPr/>
          <p:nvPr/>
        </p:nvSpPr>
        <p:spPr>
          <a:xfrm>
            <a:off x="1789550" y="31678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1" name="Google Shape;791;p69"/>
          <p:cNvSpPr/>
          <p:nvPr/>
        </p:nvSpPr>
        <p:spPr>
          <a:xfrm>
            <a:off x="1421000" y="26137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3534900" y="3240000"/>
            <a:ext cx="4215600" cy="4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Is Izzy correct?</a:t>
            </a:r>
            <a:endParaRPr/>
          </a:p>
        </p:txBody>
      </p:sp>
      <p:sp>
        <p:nvSpPr>
          <p:cNvPr id="793" name="Google Shape;793;p69"/>
          <p:cNvSpPr txBox="1"/>
          <p:nvPr>
            <p:ph idx="1" type="body"/>
          </p:nvPr>
        </p:nvSpPr>
        <p:spPr>
          <a:xfrm>
            <a:off x="3534900" y="3802925"/>
            <a:ext cx="5285100" cy="71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she has measured 1 in the negative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direction not the 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direction.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sp>
        <p:nvSpPr>
          <p:cNvPr id="799" name="Google Shape;799;p70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Gradient describes the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for an increase of 1 in the 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/>
              <a:t>direction</a:t>
            </a:r>
            <a:endParaRPr/>
          </a:p>
        </p:txBody>
      </p:sp>
      <p:pic>
        <p:nvPicPr>
          <p:cNvPr id="800" name="Google Shape;800;p70"/>
          <p:cNvPicPr preferRelativeResize="0"/>
          <p:nvPr/>
        </p:nvPicPr>
        <p:blipFill rotWithShape="1">
          <a:blip r:embed="rId3">
            <a:alphaModFix/>
          </a:blip>
          <a:srcRect b="0" l="9912" r="9501" t="0"/>
          <a:stretch/>
        </p:blipFill>
        <p:spPr>
          <a:xfrm>
            <a:off x="324000" y="1663200"/>
            <a:ext cx="2726525" cy="296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01" name="Google Shape;801;p70"/>
          <p:cNvCxnSpPr/>
          <p:nvPr/>
        </p:nvCxnSpPr>
        <p:spPr>
          <a:xfrm>
            <a:off x="2162275" y="3167860"/>
            <a:ext cx="3501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802" name="Google Shape;802;p70"/>
          <p:cNvCxnSpPr/>
          <p:nvPr/>
        </p:nvCxnSpPr>
        <p:spPr>
          <a:xfrm rot="10800000">
            <a:off x="2484417" y="1905455"/>
            <a:ext cx="0" cy="12624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pic>
        <p:nvPicPr>
          <p:cNvPr id="803" name="Google Shape;80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4976" y="2146429"/>
            <a:ext cx="889413" cy="8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0"/>
          <p:cNvSpPr txBox="1"/>
          <p:nvPr/>
        </p:nvSpPr>
        <p:spPr>
          <a:xfrm flipH="1">
            <a:off x="6727399" y="2910982"/>
            <a:ext cx="1017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5" name="Google Shape;805;p70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3269625" y="1446325"/>
            <a:ext cx="3865974" cy="133652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0"/>
          <p:cNvSpPr txBox="1"/>
          <p:nvPr/>
        </p:nvSpPr>
        <p:spPr>
          <a:xfrm flipH="1">
            <a:off x="3308935" y="1572627"/>
            <a:ext cx="36378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But if I move in the positive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-direction, my vertical line never reaches my graph.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0"/>
          <p:cNvSpPr/>
          <p:nvPr/>
        </p:nvSpPr>
        <p:spPr>
          <a:xfrm>
            <a:off x="2177165" y="3099826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70"/>
          <p:cNvSpPr txBox="1"/>
          <p:nvPr>
            <p:ph idx="1" type="body"/>
          </p:nvPr>
        </p:nvSpPr>
        <p:spPr>
          <a:xfrm>
            <a:off x="3534900" y="3240000"/>
            <a:ext cx="4215600" cy="4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could Izzy do?</a:t>
            </a:r>
            <a:endParaRPr/>
          </a:p>
        </p:txBody>
      </p:sp>
      <p:sp>
        <p:nvSpPr>
          <p:cNvPr id="809" name="Google Shape;809;p70"/>
          <p:cNvSpPr txBox="1"/>
          <p:nvPr>
            <p:ph idx="1" type="body"/>
          </p:nvPr>
        </p:nvSpPr>
        <p:spPr>
          <a:xfrm>
            <a:off x="3534900" y="3663475"/>
            <a:ext cx="5285100" cy="4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Once she has moved 1 in the 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direction, her vertical line needs to be drawn downwards.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810" name="Google Shape;810;p70"/>
          <p:cNvCxnSpPr/>
          <p:nvPr/>
        </p:nvCxnSpPr>
        <p:spPr>
          <a:xfrm>
            <a:off x="2480042" y="3195705"/>
            <a:ext cx="0" cy="6360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pic>
        <p:nvPicPr>
          <p:cNvPr id="816" name="Google Shape;816;p71"/>
          <p:cNvPicPr preferRelativeResize="0"/>
          <p:nvPr/>
        </p:nvPicPr>
        <p:blipFill rotWithShape="1">
          <a:blip r:embed="rId3">
            <a:alphaModFix/>
          </a:blip>
          <a:srcRect b="0" l="9912" r="9501" t="0"/>
          <a:stretch/>
        </p:blipFill>
        <p:spPr>
          <a:xfrm>
            <a:off x="324000" y="977400"/>
            <a:ext cx="2726525" cy="296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817" name="Google Shape;817;p71"/>
          <p:cNvCxnSpPr/>
          <p:nvPr/>
        </p:nvCxnSpPr>
        <p:spPr>
          <a:xfrm>
            <a:off x="2162275" y="2482060"/>
            <a:ext cx="3501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18" name="Google Shape;818;p71"/>
          <p:cNvSpPr/>
          <p:nvPr/>
        </p:nvSpPr>
        <p:spPr>
          <a:xfrm>
            <a:off x="2162275" y="21260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1"/>
          <p:cNvSpPr txBox="1"/>
          <p:nvPr>
            <p:ph idx="1" type="body"/>
          </p:nvPr>
        </p:nvSpPr>
        <p:spPr>
          <a:xfrm>
            <a:off x="3406175" y="2195500"/>
            <a:ext cx="5449800" cy="4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gradient of this line is negative 2 </a:t>
            </a:r>
            <a:endParaRPr/>
          </a:p>
        </p:txBody>
      </p:sp>
      <p:cxnSp>
        <p:nvCxnSpPr>
          <p:cNvPr id="820" name="Google Shape;820;p71"/>
          <p:cNvCxnSpPr/>
          <p:nvPr/>
        </p:nvCxnSpPr>
        <p:spPr>
          <a:xfrm>
            <a:off x="2486925" y="2501575"/>
            <a:ext cx="0" cy="671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21" name="Google Shape;821;p71"/>
          <p:cNvSpPr/>
          <p:nvPr/>
        </p:nvSpPr>
        <p:spPr>
          <a:xfrm>
            <a:off x="2545675" y="25882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22" name="Google Shape;822;p71"/>
          <p:cNvGraphicFramePr/>
          <p:nvPr/>
        </p:nvGraphicFramePr>
        <p:xfrm>
          <a:off x="3406175" y="111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417825"/>
                <a:gridCol w="141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3" name="Google Shape;823;p71"/>
          <p:cNvSpPr txBox="1"/>
          <p:nvPr>
            <p:ph idx="1" type="body"/>
          </p:nvPr>
        </p:nvSpPr>
        <p:spPr>
          <a:xfrm>
            <a:off x="3369600" y="2916825"/>
            <a:ext cx="5449800" cy="11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decreases as the graph moves to the right (positive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-direction) then the gradient will be </a:t>
            </a:r>
            <a:r>
              <a:rPr lang="en-GB" sz="2000">
                <a:solidFill>
                  <a:schemeClr val="accent4"/>
                </a:solidFill>
              </a:rPr>
              <a:t>negative</a:t>
            </a:r>
            <a:r>
              <a:rPr lang="en-GB" sz="2000"/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38" y="1358100"/>
            <a:ext cx="2789123" cy="2961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9" name="Google Shape;829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cxnSp>
        <p:nvCxnSpPr>
          <p:cNvPr id="830" name="Google Shape;830;p72"/>
          <p:cNvCxnSpPr/>
          <p:nvPr/>
        </p:nvCxnSpPr>
        <p:spPr>
          <a:xfrm>
            <a:off x="1805825" y="2571760"/>
            <a:ext cx="2712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31" name="Google Shape;831;p72"/>
          <p:cNvSpPr/>
          <p:nvPr/>
        </p:nvSpPr>
        <p:spPr>
          <a:xfrm>
            <a:off x="1784375" y="21826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 txBox="1"/>
          <p:nvPr>
            <p:ph idx="1" type="body"/>
          </p:nvPr>
        </p:nvSpPr>
        <p:spPr>
          <a:xfrm>
            <a:off x="324000" y="762900"/>
            <a:ext cx="8496000" cy="4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use this method to calculate the gradient of any line.  </a:t>
            </a:r>
            <a:endParaRPr/>
          </a:p>
        </p:txBody>
      </p:sp>
      <p:cxnSp>
        <p:nvCxnSpPr>
          <p:cNvPr id="833" name="Google Shape;833;p72"/>
          <p:cNvCxnSpPr/>
          <p:nvPr/>
        </p:nvCxnSpPr>
        <p:spPr>
          <a:xfrm>
            <a:off x="2077025" y="2571750"/>
            <a:ext cx="0" cy="7869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34" name="Google Shape;834;p72"/>
          <p:cNvSpPr/>
          <p:nvPr/>
        </p:nvSpPr>
        <p:spPr>
          <a:xfrm>
            <a:off x="2077025" y="27333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5" name="Google Shape;835;p72"/>
          <p:cNvGraphicFramePr/>
          <p:nvPr/>
        </p:nvGraphicFramePr>
        <p:xfrm>
          <a:off x="3406175" y="1358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417825"/>
                <a:gridCol w="14178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6" name="Google Shape;836;p72"/>
          <p:cNvSpPr txBox="1"/>
          <p:nvPr>
            <p:ph idx="1" type="body"/>
          </p:nvPr>
        </p:nvSpPr>
        <p:spPr>
          <a:xfrm>
            <a:off x="3406175" y="2323950"/>
            <a:ext cx="5449800" cy="4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gradient of this line is </a:t>
            </a:r>
            <a:r>
              <a:rPr lang="en-GB" sz="1900">
                <a:solidFill>
                  <a:srgbClr val="222222"/>
                </a:solidFill>
              </a:rPr>
              <a:t>−</a:t>
            </a:r>
            <a:r>
              <a:rPr lang="en-GB" sz="2000"/>
              <a:t>3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7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of these graphs have </a:t>
            </a:r>
            <a:r>
              <a:rPr lang="en-GB" sz="2000">
                <a:solidFill>
                  <a:schemeClr val="accent4"/>
                </a:solidFill>
              </a:rPr>
              <a:t>negative</a:t>
            </a:r>
            <a:r>
              <a:rPr lang="en-GB" sz="2000"/>
              <a:t> gradients? </a:t>
            </a:r>
            <a:endParaRPr sz="2000"/>
          </a:p>
        </p:txBody>
      </p:sp>
      <p:sp>
        <p:nvSpPr>
          <p:cNvPr id="842" name="Google Shape;84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pic>
        <p:nvPicPr>
          <p:cNvPr id="843" name="Google Shape;84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0" y="1220850"/>
            <a:ext cx="3995999" cy="277625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4" name="Google Shape;844;p73"/>
          <p:cNvSpPr/>
          <p:nvPr/>
        </p:nvSpPr>
        <p:spPr>
          <a:xfrm>
            <a:off x="5064475" y="13830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3"/>
          <p:cNvSpPr/>
          <p:nvPr/>
        </p:nvSpPr>
        <p:spPr>
          <a:xfrm>
            <a:off x="5018525" y="21305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3"/>
          <p:cNvSpPr/>
          <p:nvPr/>
        </p:nvSpPr>
        <p:spPr>
          <a:xfrm>
            <a:off x="6331725" y="13439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7" name="Google Shape;847;p73"/>
          <p:cNvSpPr/>
          <p:nvPr/>
        </p:nvSpPr>
        <p:spPr>
          <a:xfrm>
            <a:off x="7769975" y="13439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3"/>
          <p:cNvSpPr txBox="1"/>
          <p:nvPr/>
        </p:nvSpPr>
        <p:spPr>
          <a:xfrm>
            <a:off x="324000" y="1734050"/>
            <a:ext cx="4535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blue graph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49" name="Google Shape;849;p73"/>
          <p:cNvSpPr txBox="1"/>
          <p:nvPr/>
        </p:nvSpPr>
        <p:spPr>
          <a:xfrm>
            <a:off x="324000" y="2310900"/>
            <a:ext cx="4535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 purple graph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50" name="Google Shape;850;p73"/>
          <p:cNvSpPr txBox="1"/>
          <p:nvPr/>
        </p:nvSpPr>
        <p:spPr>
          <a:xfrm>
            <a:off x="324000" y="4125450"/>
            <a:ext cx="80715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and D 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pink and green)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graphs have positive gradients.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7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of these tables of values will form graphs with a negative gradient when plotted? </a:t>
            </a:r>
            <a:endParaRPr sz="2000"/>
          </a:p>
        </p:txBody>
      </p:sp>
      <p:sp>
        <p:nvSpPr>
          <p:cNvPr id="856" name="Google Shape;85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graphicFrame>
        <p:nvGraphicFramePr>
          <p:cNvPr id="857" name="Google Shape;857;p74"/>
          <p:cNvGraphicFramePr/>
          <p:nvPr/>
        </p:nvGraphicFramePr>
        <p:xfrm>
          <a:off x="1001650" y="156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787225"/>
                <a:gridCol w="787225"/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8" name="Google Shape;858;p74"/>
          <p:cNvGraphicFramePr/>
          <p:nvPr/>
        </p:nvGraphicFramePr>
        <p:xfrm>
          <a:off x="1001650" y="242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787225"/>
                <a:gridCol w="787225"/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9" name="Google Shape;859;p74"/>
          <p:cNvGraphicFramePr/>
          <p:nvPr/>
        </p:nvGraphicFramePr>
        <p:xfrm>
          <a:off x="1001650" y="32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787225"/>
                <a:gridCol w="787225"/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60" name="Google Shape;860;p74"/>
          <p:cNvGraphicFramePr/>
          <p:nvPr/>
        </p:nvGraphicFramePr>
        <p:xfrm>
          <a:off x="1001650" y="414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787225"/>
                <a:gridCol w="787225"/>
                <a:gridCol w="787225"/>
                <a:gridCol w="787225"/>
                <a:gridCol w="787225"/>
                <a:gridCol w="787225"/>
              </a:tblGrid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61" name="Google Shape;861;p74"/>
          <p:cNvGrpSpPr/>
          <p:nvPr/>
        </p:nvGrpSpPr>
        <p:grpSpPr>
          <a:xfrm>
            <a:off x="323991" y="1567425"/>
            <a:ext cx="457200" cy="457200"/>
            <a:chOff x="1020916" y="1442088"/>
            <a:chExt cx="457200" cy="457200"/>
          </a:xfrm>
        </p:grpSpPr>
        <p:pic>
          <p:nvPicPr>
            <p:cNvPr id="862" name="Google Shape;862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3" name="Google Shape;863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4" name="Google Shape;864;p74"/>
          <p:cNvGrpSpPr/>
          <p:nvPr/>
        </p:nvGrpSpPr>
        <p:grpSpPr>
          <a:xfrm>
            <a:off x="323991" y="2427758"/>
            <a:ext cx="457200" cy="457200"/>
            <a:chOff x="1020916" y="1442088"/>
            <a:chExt cx="457200" cy="457200"/>
          </a:xfrm>
        </p:grpSpPr>
        <p:pic>
          <p:nvPicPr>
            <p:cNvPr id="865" name="Google Shape;865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6" name="Google Shape;866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7" name="Google Shape;867;p74"/>
          <p:cNvGrpSpPr/>
          <p:nvPr/>
        </p:nvGrpSpPr>
        <p:grpSpPr>
          <a:xfrm>
            <a:off x="323991" y="3288092"/>
            <a:ext cx="457200" cy="457200"/>
            <a:chOff x="1020916" y="1442088"/>
            <a:chExt cx="457200" cy="457200"/>
          </a:xfrm>
        </p:grpSpPr>
        <p:pic>
          <p:nvPicPr>
            <p:cNvPr id="868" name="Google Shape;868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9" name="Google Shape;869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0" name="Google Shape;870;p74"/>
          <p:cNvGrpSpPr/>
          <p:nvPr/>
        </p:nvGrpSpPr>
        <p:grpSpPr>
          <a:xfrm>
            <a:off x="323991" y="4148425"/>
            <a:ext cx="457200" cy="457200"/>
            <a:chOff x="1020916" y="1442088"/>
            <a:chExt cx="457200" cy="457200"/>
          </a:xfrm>
        </p:grpSpPr>
        <p:pic>
          <p:nvPicPr>
            <p:cNvPr id="871" name="Google Shape;871;p7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2" name="Google Shape;872;p7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73" name="Google Shape;87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8808" y="24904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8808" y="34725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74"/>
          <p:cNvSpPr txBox="1"/>
          <p:nvPr>
            <p:ph idx="1" type="body"/>
          </p:nvPr>
        </p:nvSpPr>
        <p:spPr>
          <a:xfrm>
            <a:off x="6562875" y="2700000"/>
            <a:ext cx="2287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values of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decreasing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increasing.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975" y="784925"/>
            <a:ext cx="2893700" cy="199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1" name="Google Shape;88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cxnSp>
        <p:nvCxnSpPr>
          <p:cNvPr id="882" name="Google Shape;882;p75"/>
          <p:cNvCxnSpPr/>
          <p:nvPr/>
        </p:nvCxnSpPr>
        <p:spPr>
          <a:xfrm>
            <a:off x="1698060" y="1638570"/>
            <a:ext cx="7797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83" name="Google Shape;883;p75"/>
          <p:cNvSpPr/>
          <p:nvPr/>
        </p:nvSpPr>
        <p:spPr>
          <a:xfrm>
            <a:off x="1956380" y="1198586"/>
            <a:ext cx="299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5"/>
          <p:cNvSpPr txBox="1"/>
          <p:nvPr>
            <p:ph idx="1" type="body"/>
          </p:nvPr>
        </p:nvSpPr>
        <p:spPr>
          <a:xfrm>
            <a:off x="3406200" y="662325"/>
            <a:ext cx="5413800" cy="3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Andeep has tried to measure the </a:t>
            </a:r>
            <a:r>
              <a:rPr lang="en-GB" sz="1900"/>
              <a:t>gradient</a:t>
            </a:r>
            <a:r>
              <a:rPr lang="en-GB" sz="1900"/>
              <a:t> of this line.</a:t>
            </a:r>
            <a:r>
              <a:rPr lang="en-GB" sz="1900"/>
              <a:t>  </a:t>
            </a:r>
            <a:endParaRPr sz="2100"/>
          </a:p>
        </p:txBody>
      </p:sp>
      <p:cxnSp>
        <p:nvCxnSpPr>
          <p:cNvPr id="885" name="Google Shape;885;p75"/>
          <p:cNvCxnSpPr/>
          <p:nvPr/>
        </p:nvCxnSpPr>
        <p:spPr>
          <a:xfrm>
            <a:off x="2477878" y="1638560"/>
            <a:ext cx="0" cy="416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886" name="Google Shape;886;p75"/>
          <p:cNvSpPr/>
          <p:nvPr/>
        </p:nvSpPr>
        <p:spPr>
          <a:xfrm>
            <a:off x="2532624" y="1634250"/>
            <a:ext cx="299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5"/>
          <p:cNvSpPr txBox="1"/>
          <p:nvPr>
            <p:ph idx="1" type="body"/>
          </p:nvPr>
        </p:nvSpPr>
        <p:spPr>
          <a:xfrm>
            <a:off x="3406200" y="1474050"/>
            <a:ext cx="5449800" cy="22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has he done well?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Where has he made a mistake?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888" name="Google Shape;888;p75"/>
          <p:cNvGraphicFramePr/>
          <p:nvPr/>
        </p:nvGraphicFramePr>
        <p:xfrm>
          <a:off x="323996" y="29037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417825"/>
                <a:gridCol w="1417825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9" name="Google Shape;889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89552" y="3899589"/>
            <a:ext cx="483799" cy="623848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75"/>
          <p:cNvSpPr txBox="1"/>
          <p:nvPr/>
        </p:nvSpPr>
        <p:spPr>
          <a:xfrm flipH="1">
            <a:off x="277425" y="4489138"/>
            <a:ext cx="1065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1" name="Google Shape;891;p75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973350" y="3724350"/>
            <a:ext cx="2207350" cy="806101"/>
          </a:xfrm>
          <a:prstGeom prst="rect">
            <a:avLst/>
          </a:prstGeom>
          <a:noFill/>
          <a:ln>
            <a:noFill/>
          </a:ln>
        </p:spPr>
      </p:pic>
      <p:sp>
        <p:nvSpPr>
          <p:cNvPr id="892" name="Google Shape;892;p75"/>
          <p:cNvSpPr txBox="1"/>
          <p:nvPr/>
        </p:nvSpPr>
        <p:spPr>
          <a:xfrm>
            <a:off x="1145225" y="3803811"/>
            <a:ext cx="1959900" cy="52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The gradient is </a:t>
            </a: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5"/>
          <p:cNvSpPr txBox="1"/>
          <p:nvPr>
            <p:ph idx="1" type="body"/>
          </p:nvPr>
        </p:nvSpPr>
        <p:spPr>
          <a:xfrm>
            <a:off x="3406200" y="1743508"/>
            <a:ext cx="5449800" cy="3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moved in the positive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direction.</a:t>
            </a:r>
            <a:endParaRPr/>
          </a:p>
        </p:txBody>
      </p:sp>
      <p:sp>
        <p:nvSpPr>
          <p:cNvPr id="894" name="Google Shape;894;p75"/>
          <p:cNvSpPr txBox="1"/>
          <p:nvPr>
            <p:ph idx="1" type="body"/>
          </p:nvPr>
        </p:nvSpPr>
        <p:spPr>
          <a:xfrm>
            <a:off x="3406200" y="2114150"/>
            <a:ext cx="5413800" cy="3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knows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decreasing so gradient is negative.</a:t>
            </a:r>
            <a:endParaRPr/>
          </a:p>
        </p:txBody>
      </p:sp>
      <p:sp>
        <p:nvSpPr>
          <p:cNvPr id="895" name="Google Shape;895;p75"/>
          <p:cNvSpPr txBox="1"/>
          <p:nvPr>
            <p:ph idx="1" type="body"/>
          </p:nvPr>
        </p:nvSpPr>
        <p:spPr>
          <a:xfrm>
            <a:off x="3406200" y="2484800"/>
            <a:ext cx="5413800" cy="3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noticed the scale on the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-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axis.</a:t>
            </a:r>
            <a:endParaRPr/>
          </a:p>
        </p:txBody>
      </p:sp>
      <p:sp>
        <p:nvSpPr>
          <p:cNvPr id="896" name="Google Shape;896;p75"/>
          <p:cNvSpPr txBox="1"/>
          <p:nvPr>
            <p:ph idx="1" type="body"/>
          </p:nvPr>
        </p:nvSpPr>
        <p:spPr>
          <a:xfrm>
            <a:off x="3406200" y="2871500"/>
            <a:ext cx="5413800" cy="3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filled in his table correctly.</a:t>
            </a:r>
            <a:endParaRPr/>
          </a:p>
        </p:txBody>
      </p:sp>
      <p:sp>
        <p:nvSpPr>
          <p:cNvPr id="897" name="Google Shape;897;p75"/>
          <p:cNvSpPr txBox="1"/>
          <p:nvPr>
            <p:ph idx="1" type="body"/>
          </p:nvPr>
        </p:nvSpPr>
        <p:spPr>
          <a:xfrm>
            <a:off x="3406200" y="3613050"/>
            <a:ext cx="5774400" cy="35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needs the change in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be 1 so he needs to divide both values by 4 to get a gradient of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-\frac{1}{4}&quot;&gt;&lt;mo&gt;−&lt;/mo&gt;&lt;mfrac&gt;&lt;mn&gt;1&lt;/mn&gt;&lt;mn&gt;4&lt;/mn&gt;&lt;/mfrac&gt;&lt;/math&gt;" id="898" name="Google Shape;898;p75" title="negative 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10840" y="3911288"/>
            <a:ext cx="312600" cy="467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3" name="Google Shape;903;p7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275850" y="1042000"/>
            <a:ext cx="2457001" cy="111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7975" y="784925"/>
            <a:ext cx="2893700" cy="1995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5" name="Google Shape;905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cxnSp>
        <p:nvCxnSpPr>
          <p:cNvPr id="906" name="Google Shape;906;p76"/>
          <p:cNvCxnSpPr/>
          <p:nvPr/>
        </p:nvCxnSpPr>
        <p:spPr>
          <a:xfrm>
            <a:off x="2460060" y="1638570"/>
            <a:ext cx="7797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07" name="Google Shape;907;p76"/>
          <p:cNvSpPr/>
          <p:nvPr/>
        </p:nvSpPr>
        <p:spPr>
          <a:xfrm>
            <a:off x="2718380" y="1198586"/>
            <a:ext cx="299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08" name="Google Shape;908;p76"/>
          <p:cNvCxnSpPr/>
          <p:nvPr/>
        </p:nvCxnSpPr>
        <p:spPr>
          <a:xfrm>
            <a:off x="3239878" y="1638560"/>
            <a:ext cx="0" cy="4167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09" name="Google Shape;909;p76"/>
          <p:cNvSpPr/>
          <p:nvPr/>
        </p:nvSpPr>
        <p:spPr>
          <a:xfrm>
            <a:off x="3294624" y="1634250"/>
            <a:ext cx="2991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10" name="Google Shape;910;p76"/>
          <p:cNvGraphicFramePr/>
          <p:nvPr/>
        </p:nvGraphicFramePr>
        <p:xfrm>
          <a:off x="1162196" y="30561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417825"/>
                <a:gridCol w="1417825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-\frac{1}{4}&quot;&gt;&lt;mo&gt;−&lt;/mo&gt;&lt;mfrac&gt;&lt;mn&gt;1&lt;/mn&gt;&lt;mn&gt;4&lt;/mn&gt;&lt;/mfrac&gt;&lt;/math&gt;" id="911" name="Google Shape;911;p76" title="negative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92713" y="3751782"/>
            <a:ext cx="312600" cy="467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4}&quot;&gt;&lt;mo&gt;−&lt;/mo&gt;&lt;mfrac&gt;&lt;mn&gt;1&lt;/mn&gt;&lt;mn&gt;4&lt;/mn&gt;&lt;/mfrac&gt;&lt;/math&gt;" id="912" name="Google Shape;912;p76" title="negative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1600" y="1242482"/>
            <a:ext cx="312600" cy="467188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6"/>
          <p:cNvSpPr/>
          <p:nvPr/>
        </p:nvSpPr>
        <p:spPr>
          <a:xfrm>
            <a:off x="4228349" y="3543300"/>
            <a:ext cx="4755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endParaRPr sz="2000"/>
          </a:p>
        </p:txBody>
      </p:sp>
      <p:pic>
        <p:nvPicPr>
          <p:cNvPr id="914" name="Google Shape;914;p76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 rot="5400000">
            <a:off x="3782768" y="3585878"/>
            <a:ext cx="674152" cy="30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08238" y="1425284"/>
            <a:ext cx="709626" cy="91501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6"/>
          <p:cNvSpPr txBox="1"/>
          <p:nvPr/>
        </p:nvSpPr>
        <p:spPr>
          <a:xfrm>
            <a:off x="7527000" y="2340288"/>
            <a:ext cx="1065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76"/>
          <p:cNvSpPr txBox="1"/>
          <p:nvPr/>
        </p:nvSpPr>
        <p:spPr>
          <a:xfrm flipH="1">
            <a:off x="5306075" y="1242524"/>
            <a:ext cx="19599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So t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he gradient is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6"/>
          <p:cNvSpPr/>
          <p:nvPr/>
        </p:nvSpPr>
        <p:spPr>
          <a:xfrm>
            <a:off x="438574" y="3585450"/>
            <a:ext cx="5727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</a:t>
            </a:r>
            <a:endParaRPr sz="2000"/>
          </a:p>
        </p:txBody>
      </p:sp>
      <p:pic>
        <p:nvPicPr>
          <p:cNvPr id="919" name="Google Shape;919;p76"/>
          <p:cNvPicPr preferRelativeResize="0"/>
          <p:nvPr/>
        </p:nvPicPr>
        <p:blipFill rotWithShape="1">
          <a:blip r:embed="rId6">
            <a:alphaModFix/>
          </a:blip>
          <a:srcRect b="84458" l="57225" r="18284" t="0"/>
          <a:stretch/>
        </p:blipFill>
        <p:spPr>
          <a:xfrm flipH="1" rot="-5400000">
            <a:off x="664349" y="3585878"/>
            <a:ext cx="674152" cy="303949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6"/>
          <p:cNvSpPr/>
          <p:nvPr/>
        </p:nvSpPr>
        <p:spPr>
          <a:xfrm>
            <a:off x="1153400" y="3679975"/>
            <a:ext cx="1426500" cy="5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1149" y="1151599"/>
            <a:ext cx="2398150" cy="20220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6" name="Google Shape;92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825" y="1151575"/>
            <a:ext cx="1994001" cy="223387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7" name="Google Shape;927;p77"/>
          <p:cNvSpPr txBox="1"/>
          <p:nvPr>
            <p:ph idx="1" type="subTitle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gradient of this line.</a:t>
            </a:r>
            <a:endParaRPr/>
          </a:p>
        </p:txBody>
      </p:sp>
      <p:sp>
        <p:nvSpPr>
          <p:cNvPr id="928" name="Google Shape;928;p7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sp>
        <p:nvSpPr>
          <p:cNvPr id="929" name="Google Shape;929;p77"/>
          <p:cNvSpPr txBox="1"/>
          <p:nvPr>
            <p:ph idx="2" type="subTitle"/>
          </p:nvPr>
        </p:nvSpPr>
        <p:spPr>
          <a:xfrm>
            <a:off x="4824000" y="810000"/>
            <a:ext cx="3982200" cy="32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Calculate the gradient of this line.</a:t>
            </a:r>
            <a:endParaRPr/>
          </a:p>
        </p:txBody>
      </p:sp>
      <p:cxnSp>
        <p:nvCxnSpPr>
          <p:cNvPr id="930" name="Google Shape;930;p77"/>
          <p:cNvCxnSpPr/>
          <p:nvPr/>
        </p:nvCxnSpPr>
        <p:spPr>
          <a:xfrm>
            <a:off x="703334" y="1569864"/>
            <a:ext cx="5031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31" name="Google Shape;931;p77"/>
          <p:cNvSpPr/>
          <p:nvPr/>
        </p:nvSpPr>
        <p:spPr>
          <a:xfrm>
            <a:off x="786858" y="1206575"/>
            <a:ext cx="26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32" name="Google Shape;932;p77"/>
          <p:cNvCxnSpPr/>
          <p:nvPr/>
        </p:nvCxnSpPr>
        <p:spPr>
          <a:xfrm>
            <a:off x="1172631" y="1583586"/>
            <a:ext cx="0" cy="7128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33" name="Google Shape;933;p77"/>
          <p:cNvSpPr/>
          <p:nvPr/>
        </p:nvSpPr>
        <p:spPr>
          <a:xfrm>
            <a:off x="1250275" y="1697625"/>
            <a:ext cx="37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34" name="Google Shape;934;p77"/>
          <p:cNvGraphicFramePr/>
          <p:nvPr/>
        </p:nvGraphicFramePr>
        <p:xfrm>
          <a:off x="323996" y="34570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35" name="Google Shape;935;p77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rot="5400000">
            <a:off x="2998463" y="4071612"/>
            <a:ext cx="807400" cy="30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7"/>
          <p:cNvSpPr/>
          <p:nvPr/>
        </p:nvSpPr>
        <p:spPr>
          <a:xfrm>
            <a:off x="3495325" y="4029025"/>
            <a:ext cx="377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7"/>
          <p:cNvSpPr txBox="1"/>
          <p:nvPr>
            <p:ph idx="1" type="subTitle"/>
          </p:nvPr>
        </p:nvSpPr>
        <p:spPr>
          <a:xfrm>
            <a:off x="2532900" y="2133525"/>
            <a:ext cx="16278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r>
              <a:rPr lang="en-GB"/>
              <a:t>radient = </a:t>
            </a:r>
            <a:endParaRPr/>
          </a:p>
        </p:txBody>
      </p:sp>
      <p:graphicFrame>
        <p:nvGraphicFramePr>
          <p:cNvPr id="938" name="Google Shape;938;p77"/>
          <p:cNvGraphicFramePr/>
          <p:nvPr/>
        </p:nvGraphicFramePr>
        <p:xfrm>
          <a:off x="4882421" y="345098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Change in </a:t>
                      </a: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Change in </a:t>
                      </a: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1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939" name="Google Shape;939;p77"/>
          <p:cNvCxnSpPr/>
          <p:nvPr/>
        </p:nvCxnSpPr>
        <p:spPr>
          <a:xfrm>
            <a:off x="5431875" y="1703021"/>
            <a:ext cx="798900" cy="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940" name="Google Shape;940;p77"/>
          <p:cNvCxnSpPr/>
          <p:nvPr/>
        </p:nvCxnSpPr>
        <p:spPr>
          <a:xfrm>
            <a:off x="6237869" y="1712603"/>
            <a:ext cx="0" cy="532500"/>
          </a:xfrm>
          <a:prstGeom prst="straightConnector1">
            <a:avLst/>
          </a:prstGeom>
          <a:noFill/>
          <a:ln cap="flat" cmpd="sng" w="19050">
            <a:solidFill>
              <a:srgbClr val="845AD9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941" name="Google Shape;941;p77"/>
          <p:cNvSpPr/>
          <p:nvPr/>
        </p:nvSpPr>
        <p:spPr>
          <a:xfrm>
            <a:off x="6166234" y="1747955"/>
            <a:ext cx="509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2" name="Google Shape;942;p77"/>
          <p:cNvSpPr/>
          <p:nvPr/>
        </p:nvSpPr>
        <p:spPr>
          <a:xfrm>
            <a:off x="5627666" y="1408325"/>
            <a:ext cx="40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+3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43" name="Google Shape;943;p77"/>
          <p:cNvPicPr preferRelativeResize="0"/>
          <p:nvPr/>
        </p:nvPicPr>
        <p:blipFill rotWithShape="1">
          <a:blip r:embed="rId5">
            <a:alphaModFix/>
          </a:blip>
          <a:srcRect b="84458" l="57225" r="18284" t="0"/>
          <a:stretch/>
        </p:blipFill>
        <p:spPr>
          <a:xfrm rot="5400000">
            <a:off x="7556888" y="4037987"/>
            <a:ext cx="807400" cy="303925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77"/>
          <p:cNvSpPr/>
          <p:nvPr/>
        </p:nvSpPr>
        <p:spPr>
          <a:xfrm>
            <a:off x="8053750" y="3995400"/>
            <a:ext cx="509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÷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5" name="Google Shape;945;p77"/>
          <p:cNvSpPr txBox="1"/>
          <p:nvPr>
            <p:ph idx="1" type="subTitle"/>
          </p:nvPr>
        </p:nvSpPr>
        <p:spPr>
          <a:xfrm>
            <a:off x="7239400" y="2025000"/>
            <a:ext cx="16278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3}{2}&quot;&gt;&lt;mo&gt;−&lt;/mo&gt;&lt;mfrac&gt;&lt;mn&gt;3&lt;/mn&gt;&lt;mn&gt;2&lt;/mn&gt;&lt;/mfrac&gt;&lt;/math&gt;" id="946" name="Google Shape;946;p77" title="negative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70375" y="4131225"/>
            <a:ext cx="337200" cy="50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3}{2}&quot;&gt;&lt;mo&gt;−&lt;/mo&gt;&lt;mfrac&gt;&lt;mn&gt;3&lt;/mn&gt;&lt;mn&gt;2&lt;/mn&gt;&lt;/mfrac&gt;&lt;/math&gt;" id="947" name="Google Shape;947;p77" title="negative thre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88125" y="2016550"/>
            <a:ext cx="337200" cy="503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2}{3}&quot;&gt;&lt;mo&gt;−&lt;/mo&gt;&lt;mfrac&gt;&lt;mn&gt;2&lt;/mn&gt;&lt;mn&gt;3&lt;/mn&gt;&lt;/mfrac&gt;&lt;/math&gt;" id="948" name="Google Shape;948;p77" title="negative two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18550" y="4133632"/>
            <a:ext cx="337200" cy="5094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2}{3}&quot;&gt;&lt;mo&gt;−&lt;/mo&gt;&lt;mfrac&gt;&lt;mn&gt;2&lt;/mn&gt;&lt;mn&gt;3&lt;/mn&gt;&lt;/mfrac&gt;&lt;/math&gt;" id="949" name="Google Shape;949;p77" title="negative two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65168" y="1907907"/>
            <a:ext cx="337200" cy="509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sp>
        <p:nvSpPr>
          <p:cNvPr id="955" name="Google Shape;955;p78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 sz="1800">
                <a:solidFill>
                  <a:srgbClr val="000000"/>
                </a:solidFill>
              </a:rPr>
              <a:t>Find the gradient of each line.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56" name="Google Shape;956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02925"/>
            <a:ext cx="2038081" cy="227884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7" name="Google Shape;957;p78"/>
          <p:cNvPicPr preferRelativeResize="0"/>
          <p:nvPr/>
        </p:nvPicPr>
        <p:blipFill rotWithShape="1">
          <a:blip r:embed="rId4">
            <a:alphaModFix/>
          </a:blip>
          <a:srcRect b="0" l="9105" r="108" t="0"/>
          <a:stretch/>
        </p:blipFill>
        <p:spPr>
          <a:xfrm>
            <a:off x="2476639" y="1502925"/>
            <a:ext cx="2038082" cy="227884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8" name="Google Shape;958;p78"/>
          <p:cNvPicPr preferRelativeResize="0"/>
          <p:nvPr/>
        </p:nvPicPr>
        <p:blipFill rotWithShape="1">
          <a:blip r:embed="rId5">
            <a:alphaModFix/>
          </a:blip>
          <a:srcRect b="2832" l="0" r="0" t="12629"/>
          <a:stretch/>
        </p:blipFill>
        <p:spPr>
          <a:xfrm>
            <a:off x="4629279" y="1502925"/>
            <a:ext cx="2038081" cy="227884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9" name="Google Shape;959;p78"/>
          <p:cNvPicPr preferRelativeResize="0"/>
          <p:nvPr/>
        </p:nvPicPr>
        <p:blipFill rotWithShape="1">
          <a:blip r:embed="rId6">
            <a:alphaModFix/>
          </a:blip>
          <a:srcRect b="2742" l="0" r="0" t="0"/>
          <a:stretch/>
        </p:blipFill>
        <p:spPr>
          <a:xfrm>
            <a:off x="6781925" y="1502925"/>
            <a:ext cx="2038075" cy="22788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60" name="Google Shape;960;p78"/>
          <p:cNvGraphicFramePr/>
          <p:nvPr/>
        </p:nvGraphicFramePr>
        <p:xfrm>
          <a:off x="324000" y="11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sp>
        <p:nvSpPr>
          <p:cNvPr id="966" name="Google Shape;966;p79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 sz="1800">
                <a:solidFill>
                  <a:srgbClr val="000000"/>
                </a:solidFill>
              </a:rPr>
              <a:t>Find the gradient of each line.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67" name="Google Shape;967;p79"/>
          <p:cNvGraphicFramePr/>
          <p:nvPr/>
        </p:nvGraphicFramePr>
        <p:xfrm>
          <a:off x="349075" y="128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68" name="Google Shape;968;p79"/>
          <p:cNvPicPr preferRelativeResize="0"/>
          <p:nvPr/>
        </p:nvPicPr>
        <p:blipFill rotWithShape="1">
          <a:blip r:embed="rId3">
            <a:alphaModFix/>
          </a:blip>
          <a:srcRect b="0" l="7726" r="29710" t="0"/>
          <a:stretch/>
        </p:blipFill>
        <p:spPr>
          <a:xfrm>
            <a:off x="324025" y="1655325"/>
            <a:ext cx="2038074" cy="2278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9" name="Google Shape;969;p79"/>
          <p:cNvPicPr preferRelativeResize="0"/>
          <p:nvPr/>
        </p:nvPicPr>
        <p:blipFill rotWithShape="1">
          <a:blip r:embed="rId4">
            <a:alphaModFix/>
          </a:blip>
          <a:srcRect b="0" l="2956" r="10590" t="0"/>
          <a:stretch/>
        </p:blipFill>
        <p:spPr>
          <a:xfrm>
            <a:off x="2467516" y="1655325"/>
            <a:ext cx="2038075" cy="2278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0" name="Google Shape;970;p79"/>
          <p:cNvPicPr preferRelativeResize="0"/>
          <p:nvPr/>
        </p:nvPicPr>
        <p:blipFill rotWithShape="1">
          <a:blip r:embed="rId5">
            <a:alphaModFix/>
          </a:blip>
          <a:srcRect b="0" l="15431" r="30138" t="0"/>
          <a:stretch/>
        </p:blipFill>
        <p:spPr>
          <a:xfrm>
            <a:off x="4611008" y="1655325"/>
            <a:ext cx="2038074" cy="2278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1" name="Google Shape;971;p79"/>
          <p:cNvPicPr preferRelativeResize="0"/>
          <p:nvPr/>
        </p:nvPicPr>
        <p:blipFill rotWithShape="1">
          <a:blip r:embed="rId6">
            <a:alphaModFix/>
          </a:blip>
          <a:srcRect b="2085" l="43559" r="3345" t="0"/>
          <a:stretch/>
        </p:blipFill>
        <p:spPr>
          <a:xfrm>
            <a:off x="6754500" y="1655325"/>
            <a:ext cx="2038049" cy="22788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sp>
        <p:nvSpPr>
          <p:cNvPr id="977" name="Google Shape;977;p8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 sz="1800">
                <a:solidFill>
                  <a:srgbClr val="000000"/>
                </a:solidFill>
              </a:rPr>
              <a:t>Find the gradient of each line.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978" name="Google Shape;97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502925"/>
            <a:ext cx="2038081" cy="227884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9" name="Google Shape;979;p80"/>
          <p:cNvPicPr preferRelativeResize="0"/>
          <p:nvPr/>
        </p:nvPicPr>
        <p:blipFill rotWithShape="1">
          <a:blip r:embed="rId4">
            <a:alphaModFix/>
          </a:blip>
          <a:srcRect b="0" l="9105" r="108" t="0"/>
          <a:stretch/>
        </p:blipFill>
        <p:spPr>
          <a:xfrm>
            <a:off x="2476639" y="1502925"/>
            <a:ext cx="2038082" cy="227884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0" name="Google Shape;980;p80"/>
          <p:cNvPicPr preferRelativeResize="0"/>
          <p:nvPr/>
        </p:nvPicPr>
        <p:blipFill rotWithShape="1">
          <a:blip r:embed="rId5">
            <a:alphaModFix/>
          </a:blip>
          <a:srcRect b="2832" l="0" r="0" t="12629"/>
          <a:stretch/>
        </p:blipFill>
        <p:spPr>
          <a:xfrm>
            <a:off x="4629279" y="1502925"/>
            <a:ext cx="2038081" cy="227884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1" name="Google Shape;981;p80"/>
          <p:cNvPicPr preferRelativeResize="0"/>
          <p:nvPr/>
        </p:nvPicPr>
        <p:blipFill rotWithShape="1">
          <a:blip r:embed="rId6">
            <a:alphaModFix/>
          </a:blip>
          <a:srcRect b="2742" l="0" r="0" t="0"/>
          <a:stretch/>
        </p:blipFill>
        <p:spPr>
          <a:xfrm>
            <a:off x="6781925" y="1502925"/>
            <a:ext cx="2038075" cy="22788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82" name="Google Shape;982;p80"/>
          <p:cNvGraphicFramePr/>
          <p:nvPr/>
        </p:nvGraphicFramePr>
        <p:xfrm>
          <a:off x="324000" y="1165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d)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3" name="Google Shape;983;p80"/>
          <p:cNvSpPr txBox="1"/>
          <p:nvPr/>
        </p:nvSpPr>
        <p:spPr>
          <a:xfrm>
            <a:off x="979725" y="4028500"/>
            <a:ext cx="7266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80"/>
          <p:cNvSpPr txBox="1"/>
          <p:nvPr/>
        </p:nvSpPr>
        <p:spPr>
          <a:xfrm>
            <a:off x="3334443" y="4028500"/>
            <a:ext cx="322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5" name="Google Shape;985;p80"/>
          <p:cNvSpPr txBox="1"/>
          <p:nvPr/>
        </p:nvSpPr>
        <p:spPr>
          <a:xfrm>
            <a:off x="5444991" y="4028500"/>
            <a:ext cx="3225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80"/>
          <p:cNvSpPr txBox="1"/>
          <p:nvPr/>
        </p:nvSpPr>
        <p:spPr>
          <a:xfrm>
            <a:off x="7555547" y="4028500"/>
            <a:ext cx="4299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negative gradients from graphs</a:t>
            </a:r>
            <a:endParaRPr/>
          </a:p>
        </p:txBody>
      </p:sp>
      <p:sp>
        <p:nvSpPr>
          <p:cNvPr id="992" name="Google Shape;992;p8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AutoNum type="arabicParenR"/>
            </a:pPr>
            <a:r>
              <a:rPr lang="en-GB" sz="1800">
                <a:solidFill>
                  <a:srgbClr val="000000"/>
                </a:solidFill>
              </a:rPr>
              <a:t>Find the gradient of each line.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993" name="Google Shape;993;p81"/>
          <p:cNvGraphicFramePr/>
          <p:nvPr/>
        </p:nvGraphicFramePr>
        <p:xfrm>
          <a:off x="349075" y="1130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2117725"/>
                <a:gridCol w="2117725"/>
                <a:gridCol w="2117725"/>
                <a:gridCol w="2117725"/>
              </a:tblGrid>
              <a:tr h="3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94" name="Google Shape;994;p81"/>
          <p:cNvPicPr preferRelativeResize="0"/>
          <p:nvPr/>
        </p:nvPicPr>
        <p:blipFill rotWithShape="1">
          <a:blip r:embed="rId3">
            <a:alphaModFix/>
          </a:blip>
          <a:srcRect b="0" l="7726" r="29710" t="0"/>
          <a:stretch/>
        </p:blipFill>
        <p:spPr>
          <a:xfrm>
            <a:off x="324025" y="1502925"/>
            <a:ext cx="2038074" cy="2278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5" name="Google Shape;995;p81"/>
          <p:cNvPicPr preferRelativeResize="0"/>
          <p:nvPr/>
        </p:nvPicPr>
        <p:blipFill rotWithShape="1">
          <a:blip r:embed="rId4">
            <a:alphaModFix/>
          </a:blip>
          <a:srcRect b="0" l="2956" r="10590" t="0"/>
          <a:stretch/>
        </p:blipFill>
        <p:spPr>
          <a:xfrm>
            <a:off x="2467516" y="1502925"/>
            <a:ext cx="2038075" cy="2278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6" name="Google Shape;996;p81"/>
          <p:cNvPicPr preferRelativeResize="0"/>
          <p:nvPr/>
        </p:nvPicPr>
        <p:blipFill rotWithShape="1">
          <a:blip r:embed="rId5">
            <a:alphaModFix/>
          </a:blip>
          <a:srcRect b="0" l="15431" r="30138" t="0"/>
          <a:stretch/>
        </p:blipFill>
        <p:spPr>
          <a:xfrm>
            <a:off x="4611008" y="1502925"/>
            <a:ext cx="2038074" cy="22788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97" name="Google Shape;997;p81"/>
          <p:cNvPicPr preferRelativeResize="0"/>
          <p:nvPr/>
        </p:nvPicPr>
        <p:blipFill rotWithShape="1">
          <a:blip r:embed="rId6">
            <a:alphaModFix/>
          </a:blip>
          <a:srcRect b="2085" l="43559" r="3345" t="0"/>
          <a:stretch/>
        </p:blipFill>
        <p:spPr>
          <a:xfrm>
            <a:off x="6754500" y="1502925"/>
            <a:ext cx="2038049" cy="227884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graphicFrame>
        <p:nvGraphicFramePr>
          <p:cNvPr id="998" name="Google Shape;998;p81"/>
          <p:cNvGraphicFramePr/>
          <p:nvPr/>
        </p:nvGraphicFramePr>
        <p:xfrm>
          <a:off x="320600" y="386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020750"/>
                <a:gridCol w="1020775"/>
              </a:tblGrid>
              <a:tr h="33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99" name="Google Shape;999;p81"/>
          <p:cNvGraphicFramePr/>
          <p:nvPr/>
        </p:nvGraphicFramePr>
        <p:xfrm>
          <a:off x="2465800" y="386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020750"/>
                <a:gridCol w="1020775"/>
              </a:tblGrid>
              <a:tr h="3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0" name="Google Shape;1000;p81"/>
          <p:cNvGraphicFramePr/>
          <p:nvPr/>
        </p:nvGraphicFramePr>
        <p:xfrm>
          <a:off x="4610150" y="386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020750"/>
                <a:gridCol w="1020775"/>
              </a:tblGrid>
              <a:tr h="348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8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1" name="Google Shape;1001;p81"/>
          <p:cNvGraphicFramePr/>
          <p:nvPr/>
        </p:nvGraphicFramePr>
        <p:xfrm>
          <a:off x="6754500" y="386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020750"/>
                <a:gridCol w="1020775"/>
              </a:tblGrid>
              <a:tr h="364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4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-\frac{1}{4}&quot;&gt;&lt;mo&gt;−&lt;/mo&gt;&lt;mfrac&gt;&lt;mn&gt;1&lt;/mn&gt;&lt;mn&gt;4&lt;/mn&gt;&lt;/mfrac&gt;&lt;/math&gt;" id="1002" name="Google Shape;1002;p81" title="negative one four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23093" y="4226375"/>
            <a:ext cx="369650" cy="552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3}{5}&quot;&gt;&lt;mo&gt;−&lt;/mo&gt;&lt;mfrac&gt;&lt;mn&gt;3&lt;/mn&gt;&lt;mn&gt;5&lt;/mn&gt;&lt;/mfrac&gt;&lt;/math&gt;" id="1003" name="Google Shape;1003;p81" title="negative three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37125" y="4246670"/>
            <a:ext cx="369650" cy="5607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3}&quot;&gt;&lt;mo&gt;−&lt;/mo&gt;&lt;mfrac&gt;&lt;mn&gt;1&lt;/mn&gt;&lt;mn&gt;3&lt;/mn&gt;&lt;/mfrac&gt;&lt;/math&gt;" id="1004" name="Google Shape;1004;p81" title="negative one third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29623" y="4223361"/>
            <a:ext cx="369650" cy="5585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10}&quot;&gt;&lt;mo&gt;−&lt;/mo&gt;&lt;mfrac&gt;&lt;mn&gt;1&lt;/mn&gt;&lt;mn&gt;10&lt;/mn&gt;&lt;/mfrac&gt;&lt;/math&gt;" id="1005" name="Google Shape;1005;p81" title="negative one tenth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968325" y="4250800"/>
            <a:ext cx="496831" cy="5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2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negative gradients from graphs </a:t>
            </a:r>
            <a:endParaRPr/>
          </a:p>
        </p:txBody>
      </p:sp>
      <p:sp>
        <p:nvSpPr>
          <p:cNvPr id="1011" name="Google Shape;1011;p82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sp>
        <p:nvSpPr>
          <p:cNvPr id="1012" name="Google Shape;1012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 rate of change from a graph</a:t>
            </a:r>
            <a:endParaRPr/>
          </a:p>
        </p:txBody>
      </p:sp>
      <p:pic>
        <p:nvPicPr>
          <p:cNvPr id="1013" name="Google Shape;101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754" y="299009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sp>
        <p:nvSpPr>
          <p:cNvPr id="1019" name="Google Shape;1019;p83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Knowing the gradient of a graph can give us information about what the graph looks like. </a:t>
            </a:r>
            <a:endParaRPr sz="2000"/>
          </a:p>
        </p:txBody>
      </p:sp>
      <p:pic>
        <p:nvPicPr>
          <p:cNvPr id="1020" name="Google Shape;1020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447082"/>
            <a:ext cx="3014026" cy="2373318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1" name="Google Shape;1021;p83"/>
          <p:cNvSpPr txBox="1"/>
          <p:nvPr>
            <p:ph idx="1" type="body"/>
          </p:nvPr>
        </p:nvSpPr>
        <p:spPr>
          <a:xfrm>
            <a:off x="324000" y="1728300"/>
            <a:ext cx="84960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Four pupils have each drawn a graph on the axis below:</a:t>
            </a:r>
            <a:endParaRPr sz="2000"/>
          </a:p>
        </p:txBody>
      </p:sp>
      <p:pic>
        <p:nvPicPr>
          <p:cNvPr id="1022" name="Google Shape;102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6777" y="2519758"/>
            <a:ext cx="446257" cy="558038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83"/>
          <p:cNvSpPr txBox="1"/>
          <p:nvPr/>
        </p:nvSpPr>
        <p:spPr>
          <a:xfrm flipH="1">
            <a:off x="3447900" y="3028555"/>
            <a:ext cx="864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24" name="Google Shape;1024;p83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 flipH="1">
            <a:off x="4103024" y="2144338"/>
            <a:ext cx="2235576" cy="864026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83"/>
          <p:cNvSpPr txBox="1"/>
          <p:nvPr/>
        </p:nvSpPr>
        <p:spPr>
          <a:xfrm>
            <a:off x="4261450" y="2192338"/>
            <a:ext cx="2002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gradient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of my graph is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83"/>
          <p:cNvSpPr/>
          <p:nvPr/>
        </p:nvSpPr>
        <p:spPr>
          <a:xfrm>
            <a:off x="324000" y="257173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83"/>
          <p:cNvSpPr/>
          <p:nvPr/>
        </p:nvSpPr>
        <p:spPr>
          <a:xfrm>
            <a:off x="391675" y="343918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83"/>
          <p:cNvSpPr/>
          <p:nvPr/>
        </p:nvSpPr>
        <p:spPr>
          <a:xfrm>
            <a:off x="1437550" y="24285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9" name="Google Shape;1029;p83"/>
          <p:cNvSpPr/>
          <p:nvPr/>
        </p:nvSpPr>
        <p:spPr>
          <a:xfrm>
            <a:off x="2958075" y="272818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0" name="Google Shape;1030;p83"/>
          <p:cNvSpPr txBox="1"/>
          <p:nvPr>
            <p:ph idx="1" type="body"/>
          </p:nvPr>
        </p:nvSpPr>
        <p:spPr>
          <a:xfrm>
            <a:off x="3447900" y="3482150"/>
            <a:ext cx="28089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graph is Jun’s?</a:t>
            </a:r>
            <a:endParaRPr sz="2000"/>
          </a:p>
        </p:txBody>
      </p:sp>
      <p:sp>
        <p:nvSpPr>
          <p:cNvPr id="1031" name="Google Shape;1031;p83"/>
          <p:cNvSpPr txBox="1"/>
          <p:nvPr>
            <p:ph idx="1" type="body"/>
          </p:nvPr>
        </p:nvSpPr>
        <p:spPr>
          <a:xfrm>
            <a:off x="3447900" y="4007750"/>
            <a:ext cx="53721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(purple) because it is the only graph with a negative gradient.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037" name="Google Shape;103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75" y="2858623"/>
            <a:ext cx="623349" cy="779526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4"/>
          <p:cNvSpPr txBox="1"/>
          <p:nvPr/>
        </p:nvSpPr>
        <p:spPr>
          <a:xfrm flipH="1">
            <a:off x="348639" y="3687300"/>
            <a:ext cx="711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Jun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39" name="Google Shape;1039;p8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480475" y="904600"/>
            <a:ext cx="3915725" cy="19897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0" name="Google Shape;1040;p84"/>
          <p:cNvSpPr txBox="1"/>
          <p:nvPr/>
        </p:nvSpPr>
        <p:spPr>
          <a:xfrm>
            <a:off x="792095" y="1167381"/>
            <a:ext cx="34875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Lines with positive gradients increase as the graph moves to the right. Lines with negative gradients, decrease as the graph moves to the right.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1" name="Google Shape;1041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106413" y="2880649"/>
            <a:ext cx="542225" cy="10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2" name="Google Shape;1042;p84"/>
          <p:cNvSpPr txBox="1"/>
          <p:nvPr/>
        </p:nvSpPr>
        <p:spPr>
          <a:xfrm flipH="1">
            <a:off x="7885238" y="3904499"/>
            <a:ext cx="984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3" name="Google Shape;1043;p84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736500" y="759775"/>
            <a:ext cx="4052823" cy="2359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84"/>
          <p:cNvSpPr txBox="1"/>
          <p:nvPr/>
        </p:nvSpPr>
        <p:spPr>
          <a:xfrm flipH="1">
            <a:off x="4824000" y="1189075"/>
            <a:ext cx="36684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I don’t need to worry about negative numbers. I can calculate the gradient using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absolute values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decide if it’s positive or negative from the shape of the graph.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84"/>
          <p:cNvSpPr txBox="1"/>
          <p:nvPr/>
        </p:nvSpPr>
        <p:spPr>
          <a:xfrm>
            <a:off x="1695841" y="3222000"/>
            <a:ext cx="57744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do you think Aisha means by this?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 you agree?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Google Shape;1050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051" name="Google Shape;105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06413" y="2880649"/>
            <a:ext cx="542225" cy="10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2" name="Google Shape;1052;p85"/>
          <p:cNvSpPr txBox="1"/>
          <p:nvPr/>
        </p:nvSpPr>
        <p:spPr>
          <a:xfrm flipH="1">
            <a:off x="7885238" y="3904499"/>
            <a:ext cx="9846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3" name="Google Shape;1053;p85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736500" y="759775"/>
            <a:ext cx="4052823" cy="23590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85"/>
          <p:cNvSpPr txBox="1"/>
          <p:nvPr/>
        </p:nvSpPr>
        <p:spPr>
          <a:xfrm flipH="1">
            <a:off x="4824000" y="1189075"/>
            <a:ext cx="36684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 I don’t need to worry about negative numbers. I can calculate the gradient using the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absolute values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decide if it’s positive or negative from the shape of the graph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85"/>
          <p:cNvSpPr txBox="1"/>
          <p:nvPr/>
        </p:nvSpPr>
        <p:spPr>
          <a:xfrm>
            <a:off x="324000" y="857175"/>
            <a:ext cx="42480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absolute value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of a number is its distance from zero. So 3 and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3 both have an absolute value of 3 as they are 3 away from zero.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85"/>
          <p:cNvSpPr txBox="1"/>
          <p:nvPr/>
        </p:nvSpPr>
        <p:spPr>
          <a:xfrm>
            <a:off x="324000" y="2728250"/>
            <a:ext cx="7181700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 means she can: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Find the change in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change in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as positive numbers.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Find the gradient from the positive values.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Look at the graph to see if it is increasing or decreasing as the graph moves right to decide if the gradient is positive or negative.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86"/>
          <p:cNvSpPr txBox="1"/>
          <p:nvPr>
            <p:ph idx="1" type="body"/>
          </p:nvPr>
        </p:nvSpPr>
        <p:spPr>
          <a:xfrm>
            <a:off x="2810375" y="1875350"/>
            <a:ext cx="30762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Aisha’s method does work.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2" name="Google Shape;106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063" name="Google Shape;106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59300"/>
            <a:ext cx="2373750" cy="340882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64" name="Google Shape;1064;p86"/>
          <p:cNvCxnSpPr/>
          <p:nvPr/>
        </p:nvCxnSpPr>
        <p:spPr>
          <a:xfrm rot="10800000">
            <a:off x="1120750" y="1401950"/>
            <a:ext cx="0" cy="6270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65" name="Google Shape;1065;p86"/>
          <p:cNvCxnSpPr/>
          <p:nvPr/>
        </p:nvCxnSpPr>
        <p:spPr>
          <a:xfrm rot="10800000">
            <a:off x="1120600" y="2028950"/>
            <a:ext cx="2229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triangle"/>
          </a:ln>
        </p:spPr>
      </p:cxnSp>
      <p:graphicFrame>
        <p:nvGraphicFramePr>
          <p:cNvPr id="1066" name="Google Shape;1066;p86"/>
          <p:cNvGraphicFramePr/>
          <p:nvPr/>
        </p:nvGraphicFramePr>
        <p:xfrm>
          <a:off x="2887196" y="810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463100"/>
                <a:gridCol w="1463100"/>
              </a:tblGrid>
              <a:tr h="3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7" name="Google Shape;1067;p86"/>
          <p:cNvSpPr/>
          <p:nvPr/>
        </p:nvSpPr>
        <p:spPr>
          <a:xfrm>
            <a:off x="1075000" y="1986001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8" name="Google Shape;1068;p86"/>
          <p:cNvSpPr/>
          <p:nvPr/>
        </p:nvSpPr>
        <p:spPr>
          <a:xfrm>
            <a:off x="806650" y="1620001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9" name="Google Shape;106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351148" y="1818134"/>
            <a:ext cx="383869" cy="724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86"/>
          <p:cNvPicPr preferRelativeResize="0"/>
          <p:nvPr/>
        </p:nvPicPr>
        <p:blipFill rotWithShape="1">
          <a:blip r:embed="rId5">
            <a:alphaModFix/>
          </a:blip>
          <a:srcRect b="43690" l="0" r="57905" t="0"/>
          <a:stretch/>
        </p:blipFill>
        <p:spPr>
          <a:xfrm>
            <a:off x="5894575" y="772275"/>
            <a:ext cx="2926198" cy="109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86"/>
          <p:cNvSpPr txBox="1"/>
          <p:nvPr/>
        </p:nvSpPr>
        <p:spPr>
          <a:xfrm>
            <a:off x="5924737" y="875200"/>
            <a:ext cx="2661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 can see the graph has negative gradient so the gradient must be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6"/>
          <p:cNvSpPr txBox="1"/>
          <p:nvPr>
            <p:ph idx="1" type="body"/>
          </p:nvPr>
        </p:nvSpPr>
        <p:spPr>
          <a:xfrm>
            <a:off x="2810375" y="2731500"/>
            <a:ext cx="60096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Knowing whether your gradient is supposed to be positive or negative can help you check your answers.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3" name="Google Shape;1073;p86"/>
          <p:cNvSpPr txBox="1"/>
          <p:nvPr>
            <p:ph idx="1" type="body"/>
          </p:nvPr>
        </p:nvSpPr>
        <p:spPr>
          <a:xfrm>
            <a:off x="2810375" y="3928213"/>
            <a:ext cx="5975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Can you see any </a:t>
            </a:r>
            <a:r>
              <a:rPr lang="en-GB" sz="1800"/>
              <a:t>difficulties</a:t>
            </a:r>
            <a:r>
              <a:rPr lang="en-GB" sz="1800"/>
              <a:t> with Aisha’s method?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079" name="Google Shape;1079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759300"/>
            <a:ext cx="2373750" cy="340882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80" name="Google Shape;1080;p87"/>
          <p:cNvCxnSpPr/>
          <p:nvPr/>
        </p:nvCxnSpPr>
        <p:spPr>
          <a:xfrm rot="10800000">
            <a:off x="1120750" y="1401950"/>
            <a:ext cx="0" cy="6270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081" name="Google Shape;1081;p87"/>
          <p:cNvCxnSpPr/>
          <p:nvPr/>
        </p:nvCxnSpPr>
        <p:spPr>
          <a:xfrm rot="10800000">
            <a:off x="1120600" y="2028950"/>
            <a:ext cx="2229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082" name="Google Shape;1082;p87"/>
          <p:cNvSpPr/>
          <p:nvPr/>
        </p:nvSpPr>
        <p:spPr>
          <a:xfrm>
            <a:off x="1075000" y="1986001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7"/>
          <p:cNvSpPr/>
          <p:nvPr/>
        </p:nvSpPr>
        <p:spPr>
          <a:xfrm>
            <a:off x="806650" y="1620001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7"/>
          <p:cNvSpPr txBox="1"/>
          <p:nvPr>
            <p:ph idx="1" type="body"/>
          </p:nvPr>
        </p:nvSpPr>
        <p:spPr>
          <a:xfrm>
            <a:off x="2887200" y="727813"/>
            <a:ext cx="5975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Can you see any difficulties with Aisha’s method?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5" name="Google Shape;1085;p87"/>
          <p:cNvSpPr txBox="1"/>
          <p:nvPr>
            <p:ph idx="1" type="body"/>
          </p:nvPr>
        </p:nvSpPr>
        <p:spPr>
          <a:xfrm>
            <a:off x="2887200" y="1188000"/>
            <a:ext cx="5975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She may get her </a:t>
            </a:r>
            <a:r>
              <a:rPr i="1"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 and </a:t>
            </a:r>
            <a:r>
              <a:rPr i="1" lang="en-GB" sz="21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-directions confused especially with fractional gradients.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6" name="Google Shape;1086;p87"/>
          <p:cNvSpPr txBox="1"/>
          <p:nvPr>
            <p:ph idx="1" type="body"/>
          </p:nvPr>
        </p:nvSpPr>
        <p:spPr>
          <a:xfrm>
            <a:off x="2887200" y="2139225"/>
            <a:ext cx="5975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She may forget to write the gradient as negative and then her working does not support a negative gradient.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7" name="Google Shape;1087;p87"/>
          <p:cNvSpPr txBox="1"/>
          <p:nvPr>
            <p:ph idx="1" type="body"/>
          </p:nvPr>
        </p:nvSpPr>
        <p:spPr>
          <a:xfrm>
            <a:off x="2887200" y="3373200"/>
            <a:ext cx="5975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-GB" sz="2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This might not work as well if she is not given the graph and needs to work out the gradient from coordinates or other information.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88"/>
          <p:cNvSpPr txBox="1"/>
          <p:nvPr>
            <p:ph idx="1" type="body"/>
          </p:nvPr>
        </p:nvSpPr>
        <p:spPr>
          <a:xfrm>
            <a:off x="3369600" y="4188900"/>
            <a:ext cx="5450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steeper lines had larger gradients.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3" name="Google Shape;10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sp>
        <p:nvSpPr>
          <p:cNvPr id="1094" name="Google Shape;1094;p88"/>
          <p:cNvSpPr txBox="1"/>
          <p:nvPr>
            <p:ph idx="1" type="body"/>
          </p:nvPr>
        </p:nvSpPr>
        <p:spPr>
          <a:xfrm>
            <a:off x="324000" y="707275"/>
            <a:ext cx="84960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As well as knowing whether the graph is increasing or decreasing as it moves right, knowing the gradient can tell us other features of the graph.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095" name="Google Shape;1095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00" y="1517200"/>
            <a:ext cx="2712613" cy="312712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6" name="Google Shape;1096;p88"/>
          <p:cNvSpPr/>
          <p:nvPr/>
        </p:nvSpPr>
        <p:spPr>
          <a:xfrm>
            <a:off x="1263075" y="2078213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8"/>
          <p:cNvSpPr/>
          <p:nvPr/>
        </p:nvSpPr>
        <p:spPr>
          <a:xfrm>
            <a:off x="741275" y="242848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8"/>
          <p:cNvSpPr/>
          <p:nvPr/>
        </p:nvSpPr>
        <p:spPr>
          <a:xfrm>
            <a:off x="1784875" y="23772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8"/>
          <p:cNvSpPr/>
          <p:nvPr/>
        </p:nvSpPr>
        <p:spPr>
          <a:xfrm>
            <a:off x="2217800" y="269998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8"/>
          <p:cNvSpPr txBox="1"/>
          <p:nvPr>
            <p:ph idx="1" type="body"/>
          </p:nvPr>
        </p:nvSpPr>
        <p:spPr>
          <a:xfrm>
            <a:off x="3369600" y="1620000"/>
            <a:ext cx="5450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line is steepest?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1" name="Google Shape;1101;p88"/>
          <p:cNvSpPr txBox="1"/>
          <p:nvPr>
            <p:ph idx="1" type="body"/>
          </p:nvPr>
        </p:nvSpPr>
        <p:spPr>
          <a:xfrm>
            <a:off x="3369600" y="3445400"/>
            <a:ext cx="5450400" cy="595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notice about the gradient of steeper lines?</a:t>
            </a:r>
            <a:endParaRPr sz="1800"/>
          </a:p>
        </p:txBody>
      </p:sp>
      <p:sp>
        <p:nvSpPr>
          <p:cNvPr id="1102" name="Google Shape;1102;p88"/>
          <p:cNvSpPr txBox="1"/>
          <p:nvPr>
            <p:ph idx="1" type="body"/>
          </p:nvPr>
        </p:nvSpPr>
        <p:spPr>
          <a:xfrm>
            <a:off x="3369600" y="1958400"/>
            <a:ext cx="5450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(Pink): gradient = 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3" name="Google Shape;1103;p88"/>
          <p:cNvSpPr txBox="1"/>
          <p:nvPr>
            <p:ph idx="1" type="body"/>
          </p:nvPr>
        </p:nvSpPr>
        <p:spPr>
          <a:xfrm>
            <a:off x="3369600" y="2330150"/>
            <a:ext cx="5450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(Blue): gradient = 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4" name="Google Shape;1104;p88"/>
          <p:cNvSpPr txBox="1"/>
          <p:nvPr>
            <p:ph idx="1" type="body"/>
          </p:nvPr>
        </p:nvSpPr>
        <p:spPr>
          <a:xfrm>
            <a:off x="3369600" y="2701900"/>
            <a:ext cx="5450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(Green): gradient = 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5" name="Google Shape;1105;p88"/>
          <p:cNvSpPr txBox="1"/>
          <p:nvPr>
            <p:ph idx="1" type="body"/>
          </p:nvPr>
        </p:nvSpPr>
        <p:spPr>
          <a:xfrm>
            <a:off x="3369600" y="3051150"/>
            <a:ext cx="5450400" cy="30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(Purple): gradient = 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sp>
        <p:nvSpPr>
          <p:cNvPr id="1111" name="Google Shape;1111;p89"/>
          <p:cNvSpPr txBox="1"/>
          <p:nvPr>
            <p:ph idx="1" type="body"/>
          </p:nvPr>
        </p:nvSpPr>
        <p:spPr>
          <a:xfrm>
            <a:off x="324000" y="707275"/>
            <a:ext cx="84960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These graphs have negative gradients. Which is the steepest this time?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12" name="Google Shape;1112;p89"/>
          <p:cNvPicPr preferRelativeResize="0"/>
          <p:nvPr/>
        </p:nvPicPr>
        <p:blipFill rotWithShape="1">
          <a:blip r:embed="rId3">
            <a:alphaModFix/>
          </a:blip>
          <a:srcRect b="0" l="11645" r="13318" t="0"/>
          <a:stretch/>
        </p:blipFill>
        <p:spPr>
          <a:xfrm>
            <a:off x="383850" y="1315200"/>
            <a:ext cx="3536976" cy="305147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3" name="Google Shape;1113;p89"/>
          <p:cNvSpPr/>
          <p:nvPr/>
        </p:nvSpPr>
        <p:spPr>
          <a:xfrm>
            <a:off x="940900" y="2200638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4" name="Google Shape;1114;p89"/>
          <p:cNvSpPr/>
          <p:nvPr/>
        </p:nvSpPr>
        <p:spPr>
          <a:xfrm>
            <a:off x="576775" y="2685763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89"/>
          <p:cNvSpPr/>
          <p:nvPr/>
        </p:nvSpPr>
        <p:spPr>
          <a:xfrm>
            <a:off x="1627225" y="20724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9"/>
          <p:cNvSpPr/>
          <p:nvPr/>
        </p:nvSpPr>
        <p:spPr>
          <a:xfrm>
            <a:off x="2437150" y="2107313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89"/>
          <p:cNvSpPr txBox="1"/>
          <p:nvPr>
            <p:ph idx="1" type="body"/>
          </p:nvPr>
        </p:nvSpPr>
        <p:spPr>
          <a:xfrm>
            <a:off x="4320000" y="1300050"/>
            <a:ext cx="41451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(Pink): gradient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89"/>
          <p:cNvSpPr txBox="1"/>
          <p:nvPr>
            <p:ph idx="1" type="body"/>
          </p:nvPr>
        </p:nvSpPr>
        <p:spPr>
          <a:xfrm>
            <a:off x="4320000" y="1671800"/>
            <a:ext cx="41451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(Green): gradient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89"/>
          <p:cNvSpPr txBox="1"/>
          <p:nvPr>
            <p:ph idx="1" type="body"/>
          </p:nvPr>
        </p:nvSpPr>
        <p:spPr>
          <a:xfrm>
            <a:off x="4320000" y="2043550"/>
            <a:ext cx="41451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 (Green): gradient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89"/>
          <p:cNvSpPr txBox="1"/>
          <p:nvPr>
            <p:ph idx="1" type="body"/>
          </p:nvPr>
        </p:nvSpPr>
        <p:spPr>
          <a:xfrm>
            <a:off x="4320000" y="2545200"/>
            <a:ext cx="41451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(Blue): gradient =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2}&quot;&gt;&lt;mo&gt;−&lt;/mo&gt;&lt;mfrac&gt;&lt;mn&gt;1&lt;/mn&gt;&lt;mn&gt;2&lt;/mn&gt;&lt;/mfrac&gt;&lt;/math&gt;" id="1121" name="Google Shape;1121;p89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35630" y="2448300"/>
            <a:ext cx="314100" cy="469422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89"/>
          <p:cNvSpPr txBox="1"/>
          <p:nvPr>
            <p:ph idx="1" type="body"/>
          </p:nvPr>
        </p:nvSpPr>
        <p:spPr>
          <a:xfrm>
            <a:off x="4320000" y="3190225"/>
            <a:ext cx="45000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With negative gradients, steeper lines have smaller values for the gradient.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(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5</a:t>
            </a:r>
            <a:r>
              <a:rPr lang="en-GB" sz="1800"/>
              <a:t>＜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sp>
        <p:nvSpPr>
          <p:cNvPr id="1128" name="Google Shape;1128;p90"/>
          <p:cNvSpPr txBox="1"/>
          <p:nvPr>
            <p:ph idx="1" type="body"/>
          </p:nvPr>
        </p:nvSpPr>
        <p:spPr>
          <a:xfrm>
            <a:off x="324000" y="707275"/>
            <a:ext cx="84960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is steeper: a graph with gradient 1 or a graph with gradient </a:t>
            </a:r>
            <a:r>
              <a:rPr lang="en-GB" sz="1800">
                <a:solidFill>
                  <a:srgbClr val="222222"/>
                </a:solidFill>
              </a:rPr>
              <a:t>−1</a:t>
            </a:r>
            <a:r>
              <a:rPr lang="en-GB" sz="1800"/>
              <a:t>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9" name="Google Shape;1129;p90"/>
          <p:cNvSpPr txBox="1"/>
          <p:nvPr>
            <p:ph idx="1" type="body"/>
          </p:nvPr>
        </p:nvSpPr>
        <p:spPr>
          <a:xfrm>
            <a:off x="3620825" y="1625400"/>
            <a:ext cx="41451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(Green): gradient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0" name="Google Shape;1130;p90"/>
          <p:cNvSpPr txBox="1"/>
          <p:nvPr>
            <p:ph idx="1" type="body"/>
          </p:nvPr>
        </p:nvSpPr>
        <p:spPr>
          <a:xfrm>
            <a:off x="3620825" y="1153650"/>
            <a:ext cx="41451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(Purple): gradient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1" name="Google Shape;1131;p90"/>
          <p:cNvSpPr txBox="1"/>
          <p:nvPr>
            <p:ph idx="1" type="body"/>
          </p:nvPr>
        </p:nvSpPr>
        <p:spPr>
          <a:xfrm>
            <a:off x="3620825" y="2212275"/>
            <a:ext cx="45000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Both graphs are equally steep but are reflections of each other.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132" name="Google Shape;113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700" y="1261966"/>
            <a:ext cx="2932900" cy="322198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33" name="Google Shape;1133;p90"/>
          <p:cNvSpPr/>
          <p:nvPr/>
        </p:nvSpPr>
        <p:spPr>
          <a:xfrm>
            <a:off x="2844425" y="18592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4" name="Google Shape;1134;p90"/>
          <p:cNvSpPr/>
          <p:nvPr/>
        </p:nvSpPr>
        <p:spPr>
          <a:xfrm>
            <a:off x="848900" y="23237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5" name="Google Shape;1135;p90"/>
          <p:cNvSpPr txBox="1"/>
          <p:nvPr>
            <p:ph idx="1" type="body"/>
          </p:nvPr>
        </p:nvSpPr>
        <p:spPr>
          <a:xfrm>
            <a:off x="3620825" y="3057525"/>
            <a:ext cx="5199300" cy="11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If you calculate the </a:t>
            </a:r>
            <a:r>
              <a:rPr lang="en-GB" sz="1800">
                <a:solidFill>
                  <a:schemeClr val="accent5"/>
                </a:solidFill>
              </a:rPr>
              <a:t>absolute value</a:t>
            </a:r>
            <a:r>
              <a:rPr lang="en-GB" sz="1800"/>
              <a:t> of the gradient then the larger the absolute value the steeper the gradient.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6" name="Google Shape;1136;p90"/>
          <p:cNvSpPr txBox="1"/>
          <p:nvPr>
            <p:ph idx="1" type="body"/>
          </p:nvPr>
        </p:nvSpPr>
        <p:spPr>
          <a:xfrm>
            <a:off x="3620825" y="4161000"/>
            <a:ext cx="5199300" cy="6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 a graph of gradient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 would look steeper than a graph with gradient 1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91"/>
          <p:cNvSpPr txBox="1"/>
          <p:nvPr>
            <p:ph idx="1" type="subTitle"/>
          </p:nvPr>
        </p:nvSpPr>
        <p:spPr>
          <a:xfrm>
            <a:off x="1034425" y="1685375"/>
            <a:ext cx="2259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r>
              <a:rPr lang="en-GB"/>
              <a:t>radient = </a:t>
            </a:r>
            <a:r>
              <a:rPr lang="en-GB" sz="1800"/>
              <a:t> </a:t>
            </a:r>
            <a:r>
              <a:rPr lang="en-GB"/>
              <a:t> </a:t>
            </a:r>
            <a:r>
              <a:rPr lang="en-GB">
                <a:solidFill>
                  <a:srgbClr val="222222"/>
                </a:solidFill>
              </a:rPr>
              <a:t>−</a:t>
            </a:r>
            <a:r>
              <a:rPr lang="en-GB"/>
              <a:t>1</a:t>
            </a:r>
            <a:endParaRPr/>
          </a:p>
        </p:txBody>
      </p:sp>
      <p:sp>
        <p:nvSpPr>
          <p:cNvPr id="1142" name="Google Shape;1142;p9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sp>
        <p:nvSpPr>
          <p:cNvPr id="1143" name="Google Shape;1143;p91"/>
          <p:cNvSpPr txBox="1"/>
          <p:nvPr>
            <p:ph type="title"/>
          </p:nvPr>
        </p:nvSpPr>
        <p:spPr>
          <a:xfrm>
            <a:off x="324000" y="810000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Put these gradients in order of steepness, starting with the steepest.</a:t>
            </a:r>
            <a:endParaRPr sz="2000"/>
          </a:p>
        </p:txBody>
      </p:sp>
      <p:sp>
        <p:nvSpPr>
          <p:cNvPr id="1144" name="Google Shape;1144;p91"/>
          <p:cNvSpPr txBox="1"/>
          <p:nvPr>
            <p:ph idx="3" type="subTitle"/>
          </p:nvPr>
        </p:nvSpPr>
        <p:spPr>
          <a:xfrm>
            <a:off x="1034425" y="2489450"/>
            <a:ext cx="1638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r>
              <a:rPr lang="en-GB"/>
              <a:t>radient = </a:t>
            </a:r>
            <a:endParaRPr/>
          </a:p>
        </p:txBody>
      </p:sp>
      <p:sp>
        <p:nvSpPr>
          <p:cNvPr id="1145" name="Google Shape;1145;p91"/>
          <p:cNvSpPr txBox="1"/>
          <p:nvPr>
            <p:ph idx="4" type="subTitle"/>
          </p:nvPr>
        </p:nvSpPr>
        <p:spPr>
          <a:xfrm>
            <a:off x="1034425" y="3316875"/>
            <a:ext cx="1638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r>
              <a:rPr lang="en-GB"/>
              <a:t>radient = </a:t>
            </a:r>
            <a:endParaRPr/>
          </a:p>
        </p:txBody>
      </p:sp>
      <p:sp>
        <p:nvSpPr>
          <p:cNvPr id="1146" name="Google Shape;1146;p91"/>
          <p:cNvSpPr txBox="1"/>
          <p:nvPr>
            <p:ph idx="5" type="subTitle"/>
          </p:nvPr>
        </p:nvSpPr>
        <p:spPr>
          <a:xfrm>
            <a:off x="1034425" y="4113827"/>
            <a:ext cx="3537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g</a:t>
            </a:r>
            <a:r>
              <a:rPr lang="en-GB"/>
              <a:t>radient =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-\frac{2}{3}&quot;&gt;&lt;mo&gt;−&lt;/mo&gt;&lt;mfrac&gt;&lt;mn&gt;2&lt;/mn&gt;&lt;mn&gt;3&lt;/mn&gt;&lt;/mfrac&gt;&lt;/math&gt;" id="1147" name="Google Shape;1147;p91" title="negative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0" y="3164970"/>
            <a:ext cx="415900" cy="6284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148" name="Google Shape;1148;p91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72336" y="3999562"/>
            <a:ext cx="19087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2}&quot;&gt;&lt;mo&gt;−&lt;/mo&gt;&lt;mfrac&gt;&lt;mn&gt;1&lt;/mn&gt;&lt;mn&gt;2&lt;/mn&gt;&lt;/mfrac&gt;&lt;/math&gt;" id="1149" name="Google Shape;1149;p91" title="negative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3156" y="2360929"/>
            <a:ext cx="400050" cy="59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91"/>
          <p:cNvSpPr txBox="1"/>
          <p:nvPr>
            <p:ph idx="1" type="subTitle"/>
          </p:nvPr>
        </p:nvSpPr>
        <p:spPr>
          <a:xfrm>
            <a:off x="4824000" y="1360775"/>
            <a:ext cx="1342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teepest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1" name="Google Shape;1151;p91"/>
          <p:cNvSpPr txBox="1"/>
          <p:nvPr>
            <p:ph idx="1" type="subTitle"/>
          </p:nvPr>
        </p:nvSpPr>
        <p:spPr>
          <a:xfrm>
            <a:off x="4824000" y="1873288"/>
            <a:ext cx="18528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radient =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2" name="Google Shape;1152;p91"/>
          <p:cNvSpPr txBox="1"/>
          <p:nvPr>
            <p:ph idx="4" type="subTitle"/>
          </p:nvPr>
        </p:nvSpPr>
        <p:spPr>
          <a:xfrm>
            <a:off x="4824000" y="2540988"/>
            <a:ext cx="1389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radient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2}{3}&quot;&gt;&lt;mo&gt;−&lt;/mo&gt;&lt;mfrac&gt;&lt;mn&gt;2&lt;/mn&gt;&lt;mn&gt;3&lt;/mn&gt;&lt;/mfrac&gt;&lt;/math&gt;" id="1153" name="Google Shape;1153;p91" title="negative two third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4482" y="2385795"/>
            <a:ext cx="415900" cy="628411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91"/>
          <p:cNvSpPr txBox="1"/>
          <p:nvPr>
            <p:ph idx="5" type="subTitle"/>
          </p:nvPr>
        </p:nvSpPr>
        <p:spPr>
          <a:xfrm>
            <a:off x="4824000" y="3352489"/>
            <a:ext cx="3537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radient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155" name="Google Shape;1155;p91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9511" y="3238225"/>
            <a:ext cx="190870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6" name="Google Shape;1156;p91"/>
          <p:cNvSpPr txBox="1"/>
          <p:nvPr>
            <p:ph idx="3" type="subTitle"/>
          </p:nvPr>
        </p:nvSpPr>
        <p:spPr>
          <a:xfrm>
            <a:off x="4824000" y="4157175"/>
            <a:ext cx="1389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radient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2}&quot;&gt;&lt;mo&gt;−&lt;/mo&gt;&lt;mfrac&gt;&lt;mn&gt;1&lt;/mn&gt;&lt;mn&gt;2&lt;/mn&gt;&lt;/mfrac&gt;&lt;/math&gt;" id="1157" name="Google Shape;1157;p91" title="negative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0331" y="4028654"/>
            <a:ext cx="400050" cy="597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92"/>
          <p:cNvSpPr txBox="1"/>
          <p:nvPr>
            <p:ph idx="1" type="body"/>
          </p:nvPr>
        </p:nvSpPr>
        <p:spPr>
          <a:xfrm>
            <a:off x="3657150" y="2452007"/>
            <a:ext cx="5199300" cy="65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always the same distance apart.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63" name="Google Shape;116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351" y="1460850"/>
            <a:ext cx="3120476" cy="33511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64" name="Google Shape;1164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sp>
        <p:nvSpPr>
          <p:cNvPr id="1165" name="Google Shape;1165;p92"/>
          <p:cNvSpPr txBox="1"/>
          <p:nvPr>
            <p:ph idx="1" type="body"/>
          </p:nvPr>
        </p:nvSpPr>
        <p:spPr>
          <a:xfrm>
            <a:off x="324000" y="707275"/>
            <a:ext cx="84960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Lines are parallel if they are always the same distance apart.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6" name="Google Shape;1166;p92"/>
          <p:cNvSpPr txBox="1"/>
          <p:nvPr>
            <p:ph idx="1" type="body"/>
          </p:nvPr>
        </p:nvSpPr>
        <p:spPr>
          <a:xfrm>
            <a:off x="3620825" y="1432525"/>
            <a:ext cx="51993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two lines are parallel? How can you tell?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7" name="Google Shape;1167;p92"/>
          <p:cNvSpPr/>
          <p:nvPr/>
        </p:nvSpPr>
        <p:spPr>
          <a:xfrm>
            <a:off x="628325" y="251947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92"/>
          <p:cNvSpPr/>
          <p:nvPr/>
        </p:nvSpPr>
        <p:spPr>
          <a:xfrm>
            <a:off x="520575" y="351385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92"/>
          <p:cNvSpPr txBox="1"/>
          <p:nvPr>
            <p:ph idx="1" type="body"/>
          </p:nvPr>
        </p:nvSpPr>
        <p:spPr>
          <a:xfrm>
            <a:off x="3657150" y="1867400"/>
            <a:ext cx="51993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and C are parallel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0" name="Google Shape;1170;p92"/>
          <p:cNvSpPr txBox="1"/>
          <p:nvPr>
            <p:ph idx="1" type="body"/>
          </p:nvPr>
        </p:nvSpPr>
        <p:spPr>
          <a:xfrm>
            <a:off x="3620825" y="3240000"/>
            <a:ext cx="51993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are the gradients of these lines?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1" name="Google Shape;1171;p92"/>
          <p:cNvSpPr/>
          <p:nvPr/>
        </p:nvSpPr>
        <p:spPr>
          <a:xfrm>
            <a:off x="2300825" y="28509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92"/>
          <p:cNvSpPr txBox="1"/>
          <p:nvPr>
            <p:ph idx="1" type="body"/>
          </p:nvPr>
        </p:nvSpPr>
        <p:spPr>
          <a:xfrm>
            <a:off x="3657150" y="3654500"/>
            <a:ext cx="5199300" cy="4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and C both have gradients of 2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92"/>
          <p:cNvSpPr txBox="1"/>
          <p:nvPr>
            <p:ph idx="1" type="body"/>
          </p:nvPr>
        </p:nvSpPr>
        <p:spPr>
          <a:xfrm>
            <a:off x="3657150" y="4161025"/>
            <a:ext cx="5199300" cy="4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has a gradient of 1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179" name="Google Shape;1179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36564" y="1653804"/>
            <a:ext cx="889413" cy="86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3"/>
          <p:cNvSpPr txBox="1"/>
          <p:nvPr/>
        </p:nvSpPr>
        <p:spPr>
          <a:xfrm>
            <a:off x="355055" y="2459746"/>
            <a:ext cx="1017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1" name="Google Shape;1181;p9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075077" y="832825"/>
            <a:ext cx="3624248" cy="160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2" name="Google Shape;1182;p93"/>
          <p:cNvSpPr txBox="1"/>
          <p:nvPr/>
        </p:nvSpPr>
        <p:spPr>
          <a:xfrm>
            <a:off x="1430174" y="1082039"/>
            <a:ext cx="33543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 line with gradient 3 and a line with gradient </a:t>
            </a: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have equal steepness, will they be parallel?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3" name="Google Shape;1183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08550" y="832825"/>
            <a:ext cx="2299500" cy="34778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84" name="Google Shape;1184;p93"/>
          <p:cNvSpPr/>
          <p:nvPr/>
        </p:nvSpPr>
        <p:spPr>
          <a:xfrm>
            <a:off x="7009925" y="10800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93"/>
          <p:cNvSpPr/>
          <p:nvPr/>
        </p:nvSpPr>
        <p:spPr>
          <a:xfrm>
            <a:off x="6943325" y="33909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6" name="Google Shape;1186;p93"/>
          <p:cNvSpPr txBox="1"/>
          <p:nvPr>
            <p:ph idx="1" type="body"/>
          </p:nvPr>
        </p:nvSpPr>
        <p:spPr>
          <a:xfrm>
            <a:off x="324000" y="2850475"/>
            <a:ext cx="5932800" cy="4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No. One has a positive gradient so is increasing as the graph moves right and the other has a negative gradient so is decreasing as the graph moves right.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7" name="Google Shape;1187;p93"/>
          <p:cNvSpPr txBox="1"/>
          <p:nvPr>
            <p:ph idx="1" type="body"/>
          </p:nvPr>
        </p:nvSpPr>
        <p:spPr>
          <a:xfrm>
            <a:off x="324000" y="4205875"/>
            <a:ext cx="5932800" cy="4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Parallel lines will have the </a:t>
            </a:r>
            <a:r>
              <a:rPr lang="en-GB" sz="2000">
                <a:solidFill>
                  <a:schemeClr val="accent5"/>
                </a:solidFill>
              </a:rPr>
              <a:t>same</a:t>
            </a:r>
            <a:r>
              <a:rPr lang="en-GB" sz="2000"/>
              <a:t> gradient.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sp>
        <p:nvSpPr>
          <p:cNvPr id="1193" name="Google Shape;1193;p94"/>
          <p:cNvSpPr txBox="1"/>
          <p:nvPr>
            <p:ph idx="1" type="body"/>
          </p:nvPr>
        </p:nvSpPr>
        <p:spPr>
          <a:xfrm>
            <a:off x="324000" y="656100"/>
            <a:ext cx="8496000" cy="42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can calculate gradients to see if lines would be parallel when plotted on the same axis.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194" name="Google Shape;1194;p94"/>
          <p:cNvPicPr preferRelativeResize="0"/>
          <p:nvPr/>
        </p:nvPicPr>
        <p:blipFill rotWithShape="1">
          <a:blip r:embed="rId3">
            <a:alphaModFix/>
          </a:blip>
          <a:srcRect b="16331" l="0" r="25222" t="0"/>
          <a:stretch/>
        </p:blipFill>
        <p:spPr>
          <a:xfrm>
            <a:off x="569550" y="1390600"/>
            <a:ext cx="2052301" cy="241735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5" name="Google Shape;1195;p94"/>
          <p:cNvPicPr preferRelativeResize="0"/>
          <p:nvPr/>
        </p:nvPicPr>
        <p:blipFill rotWithShape="1">
          <a:blip r:embed="rId4">
            <a:alphaModFix/>
          </a:blip>
          <a:srcRect b="6533" l="0" r="0" t="0"/>
          <a:stretch/>
        </p:blipFill>
        <p:spPr>
          <a:xfrm>
            <a:off x="3217200" y="1373275"/>
            <a:ext cx="2052300" cy="2452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6" name="Google Shape;1196;p94"/>
          <p:cNvPicPr preferRelativeResize="0"/>
          <p:nvPr/>
        </p:nvPicPr>
        <p:blipFill rotWithShape="1">
          <a:blip r:embed="rId5">
            <a:alphaModFix/>
          </a:blip>
          <a:srcRect b="0" l="16206" r="5766" t="0"/>
          <a:stretch/>
        </p:blipFill>
        <p:spPr>
          <a:xfrm>
            <a:off x="5862286" y="1373275"/>
            <a:ext cx="2337314" cy="2451999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97" name="Google Shape;1197;p94"/>
          <p:cNvCxnSpPr/>
          <p:nvPr/>
        </p:nvCxnSpPr>
        <p:spPr>
          <a:xfrm>
            <a:off x="1377775" y="2342350"/>
            <a:ext cx="0" cy="458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198" name="Google Shape;1198;p94"/>
          <p:cNvCxnSpPr/>
          <p:nvPr/>
        </p:nvCxnSpPr>
        <p:spPr>
          <a:xfrm>
            <a:off x="1154875" y="2321787"/>
            <a:ext cx="2229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199" name="Google Shape;1199;p94"/>
          <p:cNvSpPr/>
          <p:nvPr/>
        </p:nvSpPr>
        <p:spPr>
          <a:xfrm>
            <a:off x="1109275" y="1930602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4"/>
          <p:cNvSpPr/>
          <p:nvPr/>
        </p:nvSpPr>
        <p:spPr>
          <a:xfrm>
            <a:off x="1438650" y="2342352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1" name="Google Shape;1201;p94"/>
          <p:cNvCxnSpPr/>
          <p:nvPr/>
        </p:nvCxnSpPr>
        <p:spPr>
          <a:xfrm>
            <a:off x="4279050" y="2307850"/>
            <a:ext cx="0" cy="458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02" name="Google Shape;1202;p94"/>
          <p:cNvCxnSpPr/>
          <p:nvPr/>
        </p:nvCxnSpPr>
        <p:spPr>
          <a:xfrm>
            <a:off x="4056150" y="2321787"/>
            <a:ext cx="2229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203" name="Google Shape;1203;p94"/>
          <p:cNvSpPr/>
          <p:nvPr/>
        </p:nvSpPr>
        <p:spPr>
          <a:xfrm>
            <a:off x="3957150" y="1878527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94"/>
          <p:cNvSpPr/>
          <p:nvPr/>
        </p:nvSpPr>
        <p:spPr>
          <a:xfrm>
            <a:off x="4357500" y="2276052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05" name="Google Shape;1205;p94"/>
          <p:cNvCxnSpPr/>
          <p:nvPr/>
        </p:nvCxnSpPr>
        <p:spPr>
          <a:xfrm>
            <a:off x="7907811" y="1896100"/>
            <a:ext cx="0" cy="1466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1206" name="Google Shape;1206;p94"/>
          <p:cNvCxnSpPr/>
          <p:nvPr/>
        </p:nvCxnSpPr>
        <p:spPr>
          <a:xfrm>
            <a:off x="6155511" y="1892246"/>
            <a:ext cx="17523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207" name="Google Shape;1207;p94"/>
          <p:cNvSpPr/>
          <p:nvPr/>
        </p:nvSpPr>
        <p:spPr>
          <a:xfrm>
            <a:off x="6739636" y="1541500"/>
            <a:ext cx="470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94"/>
          <p:cNvSpPr/>
          <p:nvPr/>
        </p:nvSpPr>
        <p:spPr>
          <a:xfrm>
            <a:off x="7467411" y="2404725"/>
            <a:ext cx="4404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09" name="Google Shape;1209;p94"/>
          <p:cNvGraphicFramePr/>
          <p:nvPr/>
        </p:nvGraphicFramePr>
        <p:xfrm>
          <a:off x="5492407" y="388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447750"/>
                <a:gridCol w="1447750"/>
              </a:tblGrid>
              <a:tr h="265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0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Change in </a:t>
                      </a:r>
                      <a:r>
                        <a:rPr i="1"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5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0" name="Google Shape;1210;p94"/>
          <p:cNvSpPr/>
          <p:nvPr/>
        </p:nvSpPr>
        <p:spPr>
          <a:xfrm>
            <a:off x="7071311" y="4481675"/>
            <a:ext cx="1316700" cy="2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94"/>
          <p:cNvSpPr txBox="1"/>
          <p:nvPr>
            <p:ph idx="1" type="body"/>
          </p:nvPr>
        </p:nvSpPr>
        <p:spPr>
          <a:xfrm>
            <a:off x="569550" y="3881719"/>
            <a:ext cx="51993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gradient =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2" name="Google Shape;1212;p94"/>
          <p:cNvSpPr txBox="1"/>
          <p:nvPr>
            <p:ph idx="1" type="body"/>
          </p:nvPr>
        </p:nvSpPr>
        <p:spPr>
          <a:xfrm>
            <a:off x="3195750" y="3881719"/>
            <a:ext cx="20952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</a:t>
            </a:r>
            <a:r>
              <a:rPr lang="en-GB" sz="1800"/>
              <a:t>radient = </a:t>
            </a:r>
            <a:r>
              <a:rPr lang="en-GB" sz="1800">
                <a:solidFill>
                  <a:srgbClr val="222222"/>
                </a:solidFill>
              </a:rPr>
              <a:t>−</a:t>
            </a:r>
            <a:r>
              <a:rPr lang="en-GB" sz="1800"/>
              <a:t>2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3" name="Google Shape;1213;p94"/>
          <p:cNvSpPr/>
          <p:nvPr/>
        </p:nvSpPr>
        <p:spPr>
          <a:xfrm>
            <a:off x="7494445" y="4512130"/>
            <a:ext cx="470400" cy="233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94"/>
          <p:cNvSpPr txBox="1"/>
          <p:nvPr>
            <p:ph idx="1" type="body"/>
          </p:nvPr>
        </p:nvSpPr>
        <p:spPr>
          <a:xfrm>
            <a:off x="324000" y="4221650"/>
            <a:ext cx="5168400" cy="3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All three lines are parallel, just drawn on different scaled axes.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95"/>
          <p:cNvSpPr txBox="1"/>
          <p:nvPr>
            <p:ph idx="2" type="subTitle"/>
          </p:nvPr>
        </p:nvSpPr>
        <p:spPr>
          <a:xfrm>
            <a:off x="980575" y="3196125"/>
            <a:ext cx="783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Positive gradients are steeper than negative gradients.</a:t>
            </a:r>
            <a:endParaRPr sz="2000"/>
          </a:p>
        </p:txBody>
      </p:sp>
      <p:sp>
        <p:nvSpPr>
          <p:cNvPr id="1220" name="Google Shape;122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sp>
        <p:nvSpPr>
          <p:cNvPr id="1221" name="Google Shape;1221;p95"/>
          <p:cNvSpPr txBox="1"/>
          <p:nvPr>
            <p:ph idx="1" type="subTitle"/>
          </p:nvPr>
        </p:nvSpPr>
        <p:spPr>
          <a:xfrm>
            <a:off x="324000" y="1080000"/>
            <a:ext cx="8496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line with a positive gradient cannot be parallel to a line with a negative gradient.</a:t>
            </a:r>
            <a:endParaRPr sz="2000"/>
          </a:p>
        </p:txBody>
      </p:sp>
      <p:sp>
        <p:nvSpPr>
          <p:cNvPr id="1222" name="Google Shape;1222;p95"/>
          <p:cNvSpPr txBox="1"/>
          <p:nvPr>
            <p:ph idx="3" type="subTitle"/>
          </p:nvPr>
        </p:nvSpPr>
        <p:spPr>
          <a:xfrm>
            <a:off x="980575" y="4040353"/>
            <a:ext cx="783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Lines have to have the exact same gradient to be parallel.</a:t>
            </a:r>
            <a:endParaRPr sz="2000"/>
          </a:p>
        </p:txBody>
      </p:sp>
      <p:pic>
        <p:nvPicPr>
          <p:cNvPr id="1223" name="Google Shape;1223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1333" y="1797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5458" y="40403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96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Four lines have been drawn on a set of axes with unknown scale. Match each line to its gradient.</a:t>
            </a:r>
            <a:endParaRPr sz="2000"/>
          </a:p>
        </p:txBody>
      </p:sp>
      <p:sp>
        <p:nvSpPr>
          <p:cNvPr id="1230" name="Google Shape;1230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231" name="Google Shape;123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605" y="1620005"/>
            <a:ext cx="3537351" cy="27545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2" name="Google Shape;1232;p96"/>
          <p:cNvSpPr txBox="1"/>
          <p:nvPr>
            <p:ph idx="1" type="body"/>
          </p:nvPr>
        </p:nvSpPr>
        <p:spPr>
          <a:xfrm>
            <a:off x="4320000" y="1620000"/>
            <a:ext cx="4500000" cy="23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gradient = 1</a:t>
            </a: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gradient = 3</a:t>
            </a: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gradient =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2</a:t>
            </a: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gradient =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-\frac{1}{2}&quot;&gt;&lt;mo&gt;−&lt;/mo&gt;&lt;mfrac&gt;&lt;mn&gt;1&lt;/mn&gt;&lt;mn&gt;2&lt;/mn&gt;&lt;/mfrac&gt;&lt;/math&gt;" id="1233" name="Google Shape;1233;p96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0024" y="3295577"/>
            <a:ext cx="387925" cy="57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96"/>
          <p:cNvSpPr/>
          <p:nvPr/>
        </p:nvSpPr>
        <p:spPr>
          <a:xfrm>
            <a:off x="477600" y="22255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96"/>
          <p:cNvSpPr/>
          <p:nvPr/>
        </p:nvSpPr>
        <p:spPr>
          <a:xfrm>
            <a:off x="477600" y="33909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6"/>
          <p:cNvSpPr/>
          <p:nvPr/>
        </p:nvSpPr>
        <p:spPr>
          <a:xfrm>
            <a:off x="689100" y="16536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96"/>
          <p:cNvSpPr/>
          <p:nvPr/>
        </p:nvSpPr>
        <p:spPr>
          <a:xfrm>
            <a:off x="1255925" y="39309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97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Which lines are parallel?                                                             Calculate the gradients and match any parallel lines. </a:t>
            </a:r>
            <a:endParaRPr sz="1900"/>
          </a:p>
        </p:txBody>
      </p:sp>
      <p:sp>
        <p:nvSpPr>
          <p:cNvPr id="1243" name="Google Shape;1243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244" name="Google Shape;1244;p97"/>
          <p:cNvPicPr preferRelativeResize="0"/>
          <p:nvPr/>
        </p:nvPicPr>
        <p:blipFill rotWithShape="1">
          <a:blip r:embed="rId3">
            <a:alphaModFix/>
          </a:blip>
          <a:srcRect b="0" l="0" r="7063" t="0"/>
          <a:stretch/>
        </p:blipFill>
        <p:spPr>
          <a:xfrm>
            <a:off x="324000" y="3209075"/>
            <a:ext cx="2362349" cy="1611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5" name="Google Shape;1245;p97"/>
          <p:cNvPicPr preferRelativeResize="0"/>
          <p:nvPr/>
        </p:nvPicPr>
        <p:blipFill rotWithShape="1">
          <a:blip r:embed="rId4">
            <a:alphaModFix/>
          </a:blip>
          <a:srcRect b="0" l="0" r="0" t="2219"/>
          <a:stretch/>
        </p:blipFill>
        <p:spPr>
          <a:xfrm>
            <a:off x="324000" y="1476338"/>
            <a:ext cx="2362351" cy="1611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6" name="Google Shape;1246;p97"/>
          <p:cNvPicPr preferRelativeResize="0"/>
          <p:nvPr/>
        </p:nvPicPr>
        <p:blipFill rotWithShape="1">
          <a:blip r:embed="rId5">
            <a:alphaModFix/>
          </a:blip>
          <a:srcRect b="0" l="7612" r="0" t="11103"/>
          <a:stretch/>
        </p:blipFill>
        <p:spPr>
          <a:xfrm>
            <a:off x="5333550" y="3209075"/>
            <a:ext cx="2215300" cy="1611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7" name="Google Shape;1247;p97"/>
          <p:cNvPicPr preferRelativeResize="0"/>
          <p:nvPr/>
        </p:nvPicPr>
        <p:blipFill rotWithShape="1">
          <a:blip r:embed="rId6">
            <a:alphaModFix/>
          </a:blip>
          <a:srcRect b="13627" l="0" r="0" t="14948"/>
          <a:stretch/>
        </p:blipFill>
        <p:spPr>
          <a:xfrm>
            <a:off x="2811000" y="3209075"/>
            <a:ext cx="2397901" cy="161132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8" name="Google Shape;1248;p97"/>
          <p:cNvPicPr preferRelativeResize="0"/>
          <p:nvPr/>
        </p:nvPicPr>
        <p:blipFill rotWithShape="1">
          <a:blip r:embed="rId7">
            <a:alphaModFix/>
          </a:blip>
          <a:srcRect b="4044" l="0" r="0" t="11865"/>
          <a:stretch/>
        </p:blipFill>
        <p:spPr>
          <a:xfrm>
            <a:off x="5334650" y="1476350"/>
            <a:ext cx="2215289" cy="1611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49" name="Google Shape;1249;p97"/>
          <p:cNvPicPr preferRelativeResize="0"/>
          <p:nvPr/>
        </p:nvPicPr>
        <p:blipFill rotWithShape="1">
          <a:blip r:embed="rId8">
            <a:alphaModFix/>
          </a:blip>
          <a:srcRect b="0" l="1477" r="0" t="0"/>
          <a:stretch/>
        </p:blipFill>
        <p:spPr>
          <a:xfrm>
            <a:off x="2829325" y="1476338"/>
            <a:ext cx="2362351" cy="1611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50" name="Google Shape;1250;p97"/>
          <p:cNvSpPr/>
          <p:nvPr/>
        </p:nvSpPr>
        <p:spPr>
          <a:xfrm>
            <a:off x="545200" y="1453668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1" name="Google Shape;1251;p97"/>
          <p:cNvSpPr/>
          <p:nvPr/>
        </p:nvSpPr>
        <p:spPr>
          <a:xfrm>
            <a:off x="2887200" y="1453668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2" name="Google Shape;1252;p97"/>
          <p:cNvSpPr/>
          <p:nvPr/>
        </p:nvSpPr>
        <p:spPr>
          <a:xfrm>
            <a:off x="5411300" y="1453668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3" name="Google Shape;1253;p97"/>
          <p:cNvSpPr/>
          <p:nvPr/>
        </p:nvSpPr>
        <p:spPr>
          <a:xfrm>
            <a:off x="545200" y="3199413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4" name="Google Shape;1254;p97"/>
          <p:cNvSpPr/>
          <p:nvPr/>
        </p:nvSpPr>
        <p:spPr>
          <a:xfrm>
            <a:off x="2887200" y="3199413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5" name="Google Shape;1255;p97"/>
          <p:cNvSpPr/>
          <p:nvPr/>
        </p:nvSpPr>
        <p:spPr>
          <a:xfrm>
            <a:off x="5411300" y="3199413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98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</a:t>
            </a:r>
            <a:r>
              <a:rPr lang="en-GB" sz="1900"/>
              <a:t>) Andeep is trying to prove this shape is a parallelogram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Finish off his working out.</a:t>
            </a:r>
            <a:endParaRPr sz="1900"/>
          </a:p>
        </p:txBody>
      </p:sp>
      <p:sp>
        <p:nvSpPr>
          <p:cNvPr id="1261" name="Google Shape;1261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262" name="Google Shape;1262;p98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742600" y="1165125"/>
            <a:ext cx="4105876" cy="140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1963" y="1702497"/>
            <a:ext cx="709626" cy="91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98"/>
          <p:cNvSpPr txBox="1"/>
          <p:nvPr/>
        </p:nvSpPr>
        <p:spPr>
          <a:xfrm>
            <a:off x="7533813" y="2571738"/>
            <a:ext cx="1065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8"/>
          <p:cNvSpPr txBox="1"/>
          <p:nvPr/>
        </p:nvSpPr>
        <p:spPr>
          <a:xfrm flipH="1">
            <a:off x="3831800" y="1481925"/>
            <a:ext cx="37425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Opposite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sides in a parallelogram are parallel.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Therefore they must have the same gradient.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66" name="Google Shape;1266;p98"/>
          <p:cNvPicPr preferRelativeResize="0"/>
          <p:nvPr/>
        </p:nvPicPr>
        <p:blipFill rotWithShape="1">
          <a:blip r:embed="rId5">
            <a:alphaModFix/>
          </a:blip>
          <a:srcRect b="0" l="0" r="14712" t="14994"/>
          <a:stretch/>
        </p:blipFill>
        <p:spPr>
          <a:xfrm>
            <a:off x="443625" y="1795975"/>
            <a:ext cx="2329824" cy="2134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67" name="Google Shape;1267;p98"/>
          <p:cNvCxnSpPr/>
          <p:nvPr/>
        </p:nvCxnSpPr>
        <p:spPr>
          <a:xfrm>
            <a:off x="1676635" y="2434750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68" name="Google Shape;1268;p98"/>
          <p:cNvCxnSpPr/>
          <p:nvPr/>
        </p:nvCxnSpPr>
        <p:spPr>
          <a:xfrm>
            <a:off x="2356225" y="2007694"/>
            <a:ext cx="0" cy="4581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69" name="Google Shape;1269;p98"/>
          <p:cNvCxnSpPr/>
          <p:nvPr/>
        </p:nvCxnSpPr>
        <p:spPr>
          <a:xfrm rot="10800000">
            <a:off x="1455165" y="2439539"/>
            <a:ext cx="2382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70" name="Google Shape;1270;p98"/>
          <p:cNvCxnSpPr/>
          <p:nvPr/>
        </p:nvCxnSpPr>
        <p:spPr>
          <a:xfrm rot="10800000">
            <a:off x="2118025" y="2004457"/>
            <a:ext cx="2382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71" name="Google Shape;1271;p98"/>
          <p:cNvSpPr/>
          <p:nvPr/>
        </p:nvSpPr>
        <p:spPr>
          <a:xfrm>
            <a:off x="2409173" y="2055110"/>
            <a:ext cx="295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8"/>
          <p:cNvSpPr/>
          <p:nvPr/>
        </p:nvSpPr>
        <p:spPr>
          <a:xfrm>
            <a:off x="1725323" y="2459810"/>
            <a:ext cx="295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−2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8"/>
          <p:cNvSpPr txBox="1"/>
          <p:nvPr/>
        </p:nvSpPr>
        <p:spPr>
          <a:xfrm flipH="1">
            <a:off x="2888188" y="2731738"/>
            <a:ext cx="4530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left and right sides are parallel…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279" name="Google Shape;1279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605" y="1620005"/>
            <a:ext cx="3537351" cy="27545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80" name="Google Shape;1280;p99"/>
          <p:cNvSpPr txBox="1"/>
          <p:nvPr>
            <p:ph idx="1" type="body"/>
          </p:nvPr>
        </p:nvSpPr>
        <p:spPr>
          <a:xfrm>
            <a:off x="4320000" y="1620000"/>
            <a:ext cx="4500000" cy="258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g</a:t>
            </a:r>
            <a:r>
              <a:rPr lang="en-GB" sz="2000"/>
              <a:t>radient = 1</a:t>
            </a: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gradient = 3</a:t>
            </a: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gradient = </a:t>
            </a:r>
            <a:r>
              <a:rPr lang="en-GB" sz="2000">
                <a:solidFill>
                  <a:srgbClr val="222222"/>
                </a:solidFill>
              </a:rPr>
              <a:t>−</a:t>
            </a:r>
            <a:r>
              <a:rPr lang="en-GB" sz="2000"/>
              <a:t>2</a:t>
            </a:r>
            <a:br>
              <a:rPr lang="en-GB" sz="2000"/>
            </a:b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gradient = 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-\frac{1}{2}&quot;&gt;&lt;mo&gt;−&lt;/mo&gt;&lt;mfrac&gt;&lt;mn&gt;1&lt;/mn&gt;&lt;mn&gt;2&lt;/mn&gt;&lt;/mfrac&gt;&lt;/math&gt;" id="1281" name="Google Shape;1281;p99" title="negative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4049" y="3318302"/>
            <a:ext cx="387925" cy="579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99"/>
          <p:cNvSpPr/>
          <p:nvPr/>
        </p:nvSpPr>
        <p:spPr>
          <a:xfrm>
            <a:off x="477600" y="2225525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3" name="Google Shape;1283;p99"/>
          <p:cNvSpPr/>
          <p:nvPr/>
        </p:nvSpPr>
        <p:spPr>
          <a:xfrm>
            <a:off x="477600" y="33909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4" name="Google Shape;1284;p99"/>
          <p:cNvSpPr/>
          <p:nvPr/>
        </p:nvSpPr>
        <p:spPr>
          <a:xfrm>
            <a:off x="689100" y="16536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5" name="Google Shape;1285;p99"/>
          <p:cNvSpPr/>
          <p:nvPr/>
        </p:nvSpPr>
        <p:spPr>
          <a:xfrm>
            <a:off x="1255925" y="3930900"/>
            <a:ext cx="3141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9"/>
          <p:cNvSpPr/>
          <p:nvPr/>
        </p:nvSpPr>
        <p:spPr>
          <a:xfrm>
            <a:off x="6814425" y="1582900"/>
            <a:ext cx="1899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(green line)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7" name="Google Shape;1287;p99"/>
          <p:cNvSpPr/>
          <p:nvPr/>
        </p:nvSpPr>
        <p:spPr>
          <a:xfrm>
            <a:off x="6814425" y="2160000"/>
            <a:ext cx="1899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(blue line)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8" name="Google Shape;1288;p99"/>
          <p:cNvSpPr/>
          <p:nvPr/>
        </p:nvSpPr>
        <p:spPr>
          <a:xfrm>
            <a:off x="6814425" y="2813800"/>
            <a:ext cx="1899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(purple line)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9" name="Google Shape;1289;p99"/>
          <p:cNvSpPr/>
          <p:nvPr/>
        </p:nvSpPr>
        <p:spPr>
          <a:xfrm>
            <a:off x="6814425" y="3390900"/>
            <a:ext cx="1899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(pink line)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0" name="Google Shape;1290;p99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Four lines have been drawn on a set of axes with unknown scale. Match each line to its gradient.</a:t>
            </a:r>
            <a:endParaRPr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5" name="Google Shape;1295;p100"/>
          <p:cNvPicPr preferRelativeResize="0"/>
          <p:nvPr/>
        </p:nvPicPr>
        <p:blipFill rotWithShape="1">
          <a:blip r:embed="rId3">
            <a:alphaModFix/>
          </a:blip>
          <a:srcRect b="0" l="7612" r="0" t="11103"/>
          <a:stretch/>
        </p:blipFill>
        <p:spPr>
          <a:xfrm>
            <a:off x="5333550" y="3209075"/>
            <a:ext cx="2215300" cy="1611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96" name="Google Shape;1296;p100"/>
          <p:cNvPicPr preferRelativeResize="0"/>
          <p:nvPr/>
        </p:nvPicPr>
        <p:blipFill rotWithShape="1">
          <a:blip r:embed="rId4">
            <a:alphaModFix/>
          </a:blip>
          <a:srcRect b="13627" l="0" r="0" t="14948"/>
          <a:stretch/>
        </p:blipFill>
        <p:spPr>
          <a:xfrm>
            <a:off x="2811000" y="3209075"/>
            <a:ext cx="2397901" cy="1611324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97" name="Google Shape;1297;p100"/>
          <p:cNvPicPr preferRelativeResize="0"/>
          <p:nvPr/>
        </p:nvPicPr>
        <p:blipFill rotWithShape="1">
          <a:blip r:embed="rId5">
            <a:alphaModFix/>
          </a:blip>
          <a:srcRect b="4044" l="0" r="0" t="11865"/>
          <a:stretch/>
        </p:blipFill>
        <p:spPr>
          <a:xfrm>
            <a:off x="5334650" y="1476350"/>
            <a:ext cx="2215289" cy="1611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298" name="Google Shape;1298;p100"/>
          <p:cNvPicPr preferRelativeResize="0"/>
          <p:nvPr/>
        </p:nvPicPr>
        <p:blipFill rotWithShape="1">
          <a:blip r:embed="rId6">
            <a:alphaModFix/>
          </a:blip>
          <a:srcRect b="0" l="1477" r="0" t="0"/>
          <a:stretch/>
        </p:blipFill>
        <p:spPr>
          <a:xfrm>
            <a:off x="2829325" y="1476338"/>
            <a:ext cx="2362351" cy="1611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9" name="Google Shape;1299;p100"/>
          <p:cNvSpPr txBox="1"/>
          <p:nvPr>
            <p:ph idx="1" type="body"/>
          </p:nvPr>
        </p:nvSpPr>
        <p:spPr>
          <a:xfrm>
            <a:off x="324000" y="759300"/>
            <a:ext cx="8237700" cy="6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Which lines are parallel?                                                             Calculate the gradients and match any parallel lines. </a:t>
            </a:r>
            <a:endParaRPr sz="1900"/>
          </a:p>
        </p:txBody>
      </p:sp>
      <p:sp>
        <p:nvSpPr>
          <p:cNvPr id="1300" name="Google Shape;1300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301" name="Google Shape;1301;p100"/>
          <p:cNvPicPr preferRelativeResize="0"/>
          <p:nvPr/>
        </p:nvPicPr>
        <p:blipFill rotWithShape="1">
          <a:blip r:embed="rId7">
            <a:alphaModFix/>
          </a:blip>
          <a:srcRect b="0" l="0" r="7063" t="0"/>
          <a:stretch/>
        </p:blipFill>
        <p:spPr>
          <a:xfrm>
            <a:off x="324000" y="3209075"/>
            <a:ext cx="2362349" cy="1611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02" name="Google Shape;1302;p100"/>
          <p:cNvPicPr preferRelativeResize="0"/>
          <p:nvPr/>
        </p:nvPicPr>
        <p:blipFill rotWithShape="1">
          <a:blip r:embed="rId8">
            <a:alphaModFix/>
          </a:blip>
          <a:srcRect b="0" l="0" r="0" t="2219"/>
          <a:stretch/>
        </p:blipFill>
        <p:spPr>
          <a:xfrm>
            <a:off x="324000" y="1476350"/>
            <a:ext cx="2362351" cy="1611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03" name="Google Shape;1303;p100"/>
          <p:cNvSpPr/>
          <p:nvPr/>
        </p:nvSpPr>
        <p:spPr>
          <a:xfrm>
            <a:off x="392550" y="2727425"/>
            <a:ext cx="1899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gradient =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4" name="Google Shape;1304;p100"/>
          <p:cNvSpPr/>
          <p:nvPr/>
        </p:nvSpPr>
        <p:spPr>
          <a:xfrm>
            <a:off x="392550" y="4394700"/>
            <a:ext cx="1899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5" name="Google Shape;1305;p100"/>
          <p:cNvSpPr/>
          <p:nvPr/>
        </p:nvSpPr>
        <p:spPr>
          <a:xfrm>
            <a:off x="6072575" y="4479275"/>
            <a:ext cx="1899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= 2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6" name="Google Shape;1306;p100"/>
          <p:cNvSpPr/>
          <p:nvPr/>
        </p:nvSpPr>
        <p:spPr>
          <a:xfrm>
            <a:off x="3677475" y="4479275"/>
            <a:ext cx="1899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= 2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7" name="Google Shape;1307;p100"/>
          <p:cNvSpPr/>
          <p:nvPr/>
        </p:nvSpPr>
        <p:spPr>
          <a:xfrm>
            <a:off x="3578050" y="2667325"/>
            <a:ext cx="1899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8" name="Google Shape;1308;p100"/>
          <p:cNvSpPr/>
          <p:nvPr/>
        </p:nvSpPr>
        <p:spPr>
          <a:xfrm>
            <a:off x="5332584" y="2667325"/>
            <a:ext cx="1899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radient =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9" name="Google Shape;1309;p100"/>
          <p:cNvSpPr/>
          <p:nvPr/>
        </p:nvSpPr>
        <p:spPr>
          <a:xfrm>
            <a:off x="545200" y="1453668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0" name="Google Shape;1310;p100"/>
          <p:cNvSpPr/>
          <p:nvPr/>
        </p:nvSpPr>
        <p:spPr>
          <a:xfrm>
            <a:off x="2887200" y="1453668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1" name="Google Shape;1311;p100"/>
          <p:cNvSpPr/>
          <p:nvPr/>
        </p:nvSpPr>
        <p:spPr>
          <a:xfrm>
            <a:off x="5411300" y="1453668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2" name="Google Shape;1312;p100"/>
          <p:cNvSpPr/>
          <p:nvPr/>
        </p:nvSpPr>
        <p:spPr>
          <a:xfrm>
            <a:off x="545200" y="3199413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3" name="Google Shape;1313;p100"/>
          <p:cNvSpPr/>
          <p:nvPr/>
        </p:nvSpPr>
        <p:spPr>
          <a:xfrm>
            <a:off x="2887200" y="3199413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4" name="Google Shape;1314;p100"/>
          <p:cNvSpPr/>
          <p:nvPr/>
        </p:nvSpPr>
        <p:spPr>
          <a:xfrm>
            <a:off x="5411300" y="3199413"/>
            <a:ext cx="309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\frac{1}{2}&quot;&gt;&lt;mo&gt;−&lt;/mo&gt;&lt;mfrac&gt;&lt;mn&gt;1&lt;/mn&gt;&lt;mn&gt;2&lt;/mn&gt;&lt;/mfrac&gt;&lt;/math&gt;" id="1315" name="Google Shape;1315;p100" title="negative 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08119" y="2630290"/>
            <a:ext cx="309900" cy="46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1}{2}&quot;&gt;&lt;mo&gt;−&lt;/mo&gt;&lt;mfrac&gt;&lt;mn&gt;1&lt;/mn&gt;&lt;mn&gt;2&lt;/mn&gt;&lt;/mfrac&gt;&lt;/math&gt;" id="1316" name="Google Shape;1316;p100" title="negative one half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37419" y="4319990"/>
            <a:ext cx="309900" cy="463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317" name="Google Shape;1317;p100" title="one half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28949" y="2571751"/>
            <a:ext cx="145369" cy="46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100"/>
          <p:cNvSpPr/>
          <p:nvPr/>
        </p:nvSpPr>
        <p:spPr>
          <a:xfrm>
            <a:off x="7619100" y="1453675"/>
            <a:ext cx="12009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and D are parallel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 and F are parallel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101"/>
          <p:cNvSpPr txBox="1"/>
          <p:nvPr>
            <p:ph idx="1" type="body"/>
          </p:nvPr>
        </p:nvSpPr>
        <p:spPr>
          <a:xfrm>
            <a:off x="324000" y="759300"/>
            <a:ext cx="8237700" cy="80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3) Andeep is trying to prove this shape is a parallelogram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Finish off his working out.</a:t>
            </a:r>
            <a:endParaRPr sz="1900"/>
          </a:p>
        </p:txBody>
      </p:sp>
      <p:sp>
        <p:nvSpPr>
          <p:cNvPr id="1324" name="Google Shape;1324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Calculating gradient from any graph</a:t>
            </a:r>
            <a:endParaRPr/>
          </a:p>
        </p:txBody>
      </p:sp>
      <p:pic>
        <p:nvPicPr>
          <p:cNvPr id="1325" name="Google Shape;1325;p101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3742600" y="1165125"/>
            <a:ext cx="4105876" cy="140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6" name="Google Shape;1326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1963" y="1702497"/>
            <a:ext cx="709626" cy="91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01"/>
          <p:cNvSpPr txBox="1"/>
          <p:nvPr/>
        </p:nvSpPr>
        <p:spPr>
          <a:xfrm>
            <a:off x="7533813" y="2571738"/>
            <a:ext cx="10659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101"/>
          <p:cNvSpPr txBox="1"/>
          <p:nvPr/>
        </p:nvSpPr>
        <p:spPr>
          <a:xfrm flipH="1">
            <a:off x="3831800" y="1481925"/>
            <a:ext cx="3742500" cy="46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Opposite sides in a parallelogram are parallel.  Therefore they must have the same gradient.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29" name="Google Shape;1329;p101"/>
          <p:cNvPicPr preferRelativeResize="0"/>
          <p:nvPr/>
        </p:nvPicPr>
        <p:blipFill rotWithShape="1">
          <a:blip r:embed="rId5">
            <a:alphaModFix/>
          </a:blip>
          <a:srcRect b="0" l="0" r="14712" t="14994"/>
          <a:stretch/>
        </p:blipFill>
        <p:spPr>
          <a:xfrm>
            <a:off x="443625" y="1795975"/>
            <a:ext cx="2329824" cy="2134325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30" name="Google Shape;1330;p101"/>
          <p:cNvSpPr/>
          <p:nvPr/>
        </p:nvSpPr>
        <p:spPr>
          <a:xfrm>
            <a:off x="2086606" y="3239991"/>
            <a:ext cx="295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101"/>
          <p:cNvSpPr txBox="1"/>
          <p:nvPr/>
        </p:nvSpPr>
        <p:spPr>
          <a:xfrm flipH="1">
            <a:off x="2888188" y="2731738"/>
            <a:ext cx="45309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left and right sides are parallel…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descr="&lt;math xmlns=&quot;http://www.w3.org/1998/Math/MathML&quot; display=&quot;block&quot; data-is-equatio=&quot;1&quot; data-latex=&quot;\frac{3}{4}&quot;&gt;&lt;mfrac&gt;&lt;mn&gt;3&lt;/mn&gt;&lt;mn&gt;4&lt;/mn&gt;&lt;/mfrac&gt;&lt;/math&gt;" id="1332" name="Google Shape;1332;p101" title="three fourths"/>
          <p:cNvGraphicFramePr/>
          <p:nvPr/>
        </p:nvGraphicFramePr>
        <p:xfrm>
          <a:off x="2888201" y="323999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{037EAD88-CA45-43AF-9C53-2B3F74421F24}</a:tableStyleId>
              </a:tblPr>
              <a:tblGrid>
                <a:gridCol w="1332900"/>
                <a:gridCol w="1332900"/>
              </a:tblGrid>
              <a:tr h="26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Change in </a:t>
                      </a:r>
                      <a:r>
                        <a:rPr i="1"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x</a:t>
                      </a:r>
                      <a:endParaRPr i="1" sz="21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Change in </a:t>
                      </a:r>
                      <a:r>
                        <a:rPr i="1" lang="en-GB" sz="2100">
                          <a:latin typeface="Times"/>
                          <a:ea typeface="Times"/>
                          <a:cs typeface="Times"/>
                          <a:sym typeface="Times"/>
                        </a:rPr>
                        <a:t>y</a:t>
                      </a: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4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19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100">
                        <a:solidFill>
                          <a:srgbClr val="222222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333" name="Google Shape;1333;p101"/>
          <p:cNvCxnSpPr/>
          <p:nvPr/>
        </p:nvCxnSpPr>
        <p:spPr>
          <a:xfrm rot="10800000">
            <a:off x="1908400" y="3316975"/>
            <a:ext cx="6702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34" name="Google Shape;1334;p101"/>
          <p:cNvCxnSpPr/>
          <p:nvPr/>
        </p:nvCxnSpPr>
        <p:spPr>
          <a:xfrm>
            <a:off x="2570621" y="2902481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35" name="Google Shape;1335;p101"/>
          <p:cNvCxnSpPr/>
          <p:nvPr/>
        </p:nvCxnSpPr>
        <p:spPr>
          <a:xfrm rot="10800000">
            <a:off x="1460925" y="2444375"/>
            <a:ext cx="670200" cy="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101"/>
          <p:cNvCxnSpPr/>
          <p:nvPr/>
        </p:nvCxnSpPr>
        <p:spPr>
          <a:xfrm>
            <a:off x="2123146" y="2029881"/>
            <a:ext cx="0" cy="413400"/>
          </a:xfrm>
          <a:prstGeom prst="straightConnector1">
            <a:avLst/>
          </a:prstGeom>
          <a:noFill/>
          <a:ln cap="flat" cmpd="sng" w="19050">
            <a:solidFill>
              <a:srgbClr val="037B7D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337" name="Google Shape;1337;p101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5200" y="3930300"/>
            <a:ext cx="138125" cy="457151"/>
          </a:xfrm>
          <a:prstGeom prst="rect">
            <a:avLst/>
          </a:prstGeom>
          <a:noFill/>
          <a:ln>
            <a:noFill/>
          </a:ln>
        </p:spPr>
      </p:pic>
      <p:sp>
        <p:nvSpPr>
          <p:cNvPr id="1338" name="Google Shape;1338;p101"/>
          <p:cNvSpPr/>
          <p:nvPr/>
        </p:nvSpPr>
        <p:spPr>
          <a:xfrm>
            <a:off x="2487406" y="2927516"/>
            <a:ext cx="295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9" name="Google Shape;1339;p101"/>
          <p:cNvSpPr/>
          <p:nvPr/>
        </p:nvSpPr>
        <p:spPr>
          <a:xfrm>
            <a:off x="1650606" y="2377741"/>
            <a:ext cx="295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0" name="Google Shape;1340;p101"/>
          <p:cNvSpPr/>
          <p:nvPr/>
        </p:nvSpPr>
        <p:spPr>
          <a:xfrm>
            <a:off x="2145506" y="2065266"/>
            <a:ext cx="2958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1" name="Google Shape;1341;p101"/>
          <p:cNvSpPr txBox="1"/>
          <p:nvPr/>
        </p:nvSpPr>
        <p:spPr>
          <a:xfrm flipH="1">
            <a:off x="5801700" y="3264700"/>
            <a:ext cx="30183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top and bottom both have a gradient of         so are parallel.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1342" name="Google Shape;1342;p101" title="two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16531" y="3555050"/>
            <a:ext cx="136800" cy="453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02"/>
          <p:cNvSpPr txBox="1"/>
          <p:nvPr>
            <p:ph idx="1" type="body"/>
          </p:nvPr>
        </p:nvSpPr>
        <p:spPr>
          <a:xfrm>
            <a:off x="324000" y="956875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decreases as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increases, the gradient is negative.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Negative gradients can be calculated by finding the amount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/>
              <a:t> decreases when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/>
              <a:t> increases by 1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Graphs that have the same gradient are parallel.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absolute value of the gradient lets you compare the steepness of positive and negative gradients.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  <p:sp>
        <p:nvSpPr>
          <p:cNvPr id="1348" name="Google Shape;1348;p102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Negative rate of change from a graph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10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54" name="Google Shape;1354;p10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