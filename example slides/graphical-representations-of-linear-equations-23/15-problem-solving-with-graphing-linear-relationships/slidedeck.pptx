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4AEBD6-43F1-4C7A-9EA5-C050399E0610}">
  <a:tblStyle styleId="{9A4AEBD6-43F1-4C7A-9EA5-C050399E06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3"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eb4a937d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eb4a937d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1eb4a937de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1eb4a937de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1eb4a937de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1eb4a937de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1eb4a937de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1eb4a937de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1eb4a937de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eb4a937de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1eb4a937de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1eb4a937de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1eb4a937de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1eb4a937de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1eb4a937de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1eb4a937de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1eb4a937de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1eb4a937de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eb4a937de6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1eb4a937de6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1eb4a937de6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1eb4a937de6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1eb4a937de6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1eb4a937de6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1eb4a937de6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1eb4a937de6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eb4a937de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1eb4a937de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1eb4a937de6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1eb4a937de6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1eb4a937de6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1eb4a937de6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1eb4a937de6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1eb4a937de6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1eb4a937de6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1eb4a937de6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1eb5252706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1eb5252706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1eb5252706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1eb5252706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1eb5252706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1eb5252706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eb5252706d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eb5252706d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1eb5252706d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1eb5252706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1eb4a937de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1eb4a937de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1eb5252706d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1eb5252706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1eb5252706d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1eb5252706d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1eb5252706d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1eb5252706d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1eb5252706d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1eb5252706d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1eb5252706d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1eb5252706d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1eb5252706d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1eb5252706d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1eb5252706d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1eb5252706d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1eb5252706d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1eb5252706d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1eb5252706d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1eb5252706d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13.png"/><Relationship Id="rId7"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78.png"/><Relationship Id="rId5" Type="http://schemas.openxmlformats.org/officeDocument/2006/relationships/image" Target="../media/image33.png"/><Relationship Id="rId6" Type="http://schemas.openxmlformats.org/officeDocument/2006/relationships/image" Target="../media/image31.png"/><Relationship Id="rId7"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8.png"/><Relationship Id="rId4" Type="http://schemas.openxmlformats.org/officeDocument/2006/relationships/image" Target="../media/image23.png"/><Relationship Id="rId9"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33.png"/><Relationship Id="rId8" Type="http://schemas.openxmlformats.org/officeDocument/2006/relationships/image" Target="../media/image3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8.png"/><Relationship Id="rId4" Type="http://schemas.openxmlformats.org/officeDocument/2006/relationships/image" Target="../media/image32.png"/><Relationship Id="rId11" Type="http://schemas.openxmlformats.org/officeDocument/2006/relationships/image" Target="../media/image15.png"/><Relationship Id="rId10" Type="http://schemas.openxmlformats.org/officeDocument/2006/relationships/image" Target="../media/image39.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3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7.png"/><Relationship Id="rId4" Type="http://schemas.openxmlformats.org/officeDocument/2006/relationships/image" Target="../media/image41.png"/><Relationship Id="rId5" Type="http://schemas.openxmlformats.org/officeDocument/2006/relationships/image" Target="../media/image4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 Id="rId3"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 Id="rId3" Type="http://schemas.openxmlformats.org/officeDocument/2006/relationships/image" Target="../media/image54.pn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image" Target="../media/image54.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 Id="rId3"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5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5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56.png"/><Relationship Id="rId6" Type="http://schemas.openxmlformats.org/officeDocument/2006/relationships/image" Target="../media/image5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 Id="rId3" Type="http://schemas.openxmlformats.org/officeDocument/2006/relationships/image" Target="../media/image61.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3.png"/><Relationship Id="rId7" Type="http://schemas.openxmlformats.org/officeDocument/2006/relationships/image" Target="../media/image5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 Id="rId3" Type="http://schemas.openxmlformats.org/officeDocument/2006/relationships/image" Target="../media/image6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Relationship Id="rId3"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6.xml"/><Relationship Id="rId3" Type="http://schemas.openxmlformats.org/officeDocument/2006/relationships/image" Target="../media/image6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65.png"/><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71.png"/><Relationship Id="rId5" Type="http://schemas.openxmlformats.org/officeDocument/2006/relationships/image" Target="../media/image6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 Id="rId3" Type="http://schemas.openxmlformats.org/officeDocument/2006/relationships/image" Target="../media/image67.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72.png"/><Relationship Id="rId4" Type="http://schemas.openxmlformats.org/officeDocument/2006/relationships/image" Target="../media/image77.png"/><Relationship Id="rId5" Type="http://schemas.openxmlformats.org/officeDocument/2006/relationships/image" Target="../media/image69.png"/><Relationship Id="rId6" Type="http://schemas.openxmlformats.org/officeDocument/2006/relationships/image" Target="../media/image7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2.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 Id="rId3" Type="http://schemas.openxmlformats.org/officeDocument/2006/relationships/image" Target="../media/image7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5.xml"/><Relationship Id="rId3" Type="http://schemas.openxmlformats.org/officeDocument/2006/relationships/image" Target="../media/image7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6.xml"/><Relationship Id="rId3" Type="http://schemas.openxmlformats.org/officeDocument/2006/relationships/image" Target="../media/image7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graphing linear relationships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Graphical representations of linear equations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graphing linear relationships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24000" y="1233480"/>
            <a:ext cx="8056200" cy="5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chemeClr val="dk1"/>
                </a:solidFill>
                <a:highlight>
                  <a:srgbClr val="FFFFFF"/>
                </a:highlight>
              </a:rPr>
              <a:t>The rate of change is how one variable changes with respect to another. If the change is constant, there is a linear relationship between the variables.</a:t>
            </a:r>
            <a:r>
              <a:rPr lang="en-GB">
                <a:highlight>
                  <a:srgbClr val="FFFFFF"/>
                </a:highlight>
              </a:rPr>
              <a:t> </a:t>
            </a:r>
            <a:endParaRPr sz="3300"/>
          </a:p>
        </p:txBody>
      </p:sp>
      <p:sp>
        <p:nvSpPr>
          <p:cNvPr id="767" name="Google Shape;767;p67"/>
          <p:cNvSpPr txBox="1"/>
          <p:nvPr>
            <p:ph idx="2" type="subTitle"/>
          </p:nvPr>
        </p:nvSpPr>
        <p:spPr>
          <a:xfrm>
            <a:off x="324001" y="27721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chemeClr val="dk1"/>
                </a:solidFill>
              </a:rPr>
              <a:t>The gradient is a measure of how steep a line is. It is calculated by finding the rate of change in the </a:t>
            </a:r>
            <a:r>
              <a:rPr i="1" lang="en-GB" sz="2400">
                <a:solidFill>
                  <a:schemeClr val="dk1"/>
                </a:solidFill>
                <a:latin typeface="Times New Roman"/>
                <a:ea typeface="Times New Roman"/>
                <a:cs typeface="Times New Roman"/>
                <a:sym typeface="Times New Roman"/>
              </a:rPr>
              <a:t>y</a:t>
            </a:r>
            <a:r>
              <a:rPr lang="en-GB">
                <a:solidFill>
                  <a:schemeClr val="dk1"/>
                </a:solidFill>
              </a:rPr>
              <a:t>-direction with respect to the positive </a:t>
            </a:r>
            <a:r>
              <a:rPr i="1" lang="en-GB" sz="2400">
                <a:solidFill>
                  <a:schemeClr val="dk1"/>
                </a:solidFill>
                <a:latin typeface="Times New Roman"/>
                <a:ea typeface="Times New Roman"/>
                <a:cs typeface="Times New Roman"/>
                <a:sym typeface="Times New Roman"/>
              </a:rPr>
              <a:t>x</a:t>
            </a:r>
            <a:r>
              <a:rPr lang="en-GB">
                <a:solidFill>
                  <a:schemeClr val="dk1"/>
                </a:solidFill>
              </a:rPr>
              <a:t>-direction.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773" name="Google Shape;773;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Interpreting more complex linear graphs</a:t>
            </a:r>
            <a:endParaRPr/>
          </a:p>
        </p:txBody>
      </p:sp>
      <p:sp>
        <p:nvSpPr>
          <p:cNvPr id="774" name="Google Shape;774;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graphing linear relationships</a:t>
            </a:r>
            <a:endParaRPr/>
          </a:p>
        </p:txBody>
      </p:sp>
      <p:pic>
        <p:nvPicPr>
          <p:cNvPr id="775" name="Google Shape;775;p68"/>
          <p:cNvPicPr preferRelativeResize="0"/>
          <p:nvPr/>
        </p:nvPicPr>
        <p:blipFill>
          <a:blip r:embed="rId3">
            <a:alphaModFix/>
          </a:blip>
          <a:stretch>
            <a:fillRect/>
          </a:stretch>
        </p:blipFill>
        <p:spPr>
          <a:xfrm>
            <a:off x="409889" y="2062334"/>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781" name="Google Shape;781;p69"/>
          <p:cNvSpPr txBox="1"/>
          <p:nvPr>
            <p:ph idx="1" type="body"/>
          </p:nvPr>
        </p:nvSpPr>
        <p:spPr>
          <a:xfrm>
            <a:off x="324000" y="759300"/>
            <a:ext cx="82377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Some pupils are collecting sweets.</a:t>
            </a:r>
            <a:endParaRPr/>
          </a:p>
        </p:txBody>
      </p:sp>
      <p:pic>
        <p:nvPicPr>
          <p:cNvPr id="782" name="Google Shape;782;p69"/>
          <p:cNvPicPr preferRelativeResize="0"/>
          <p:nvPr/>
        </p:nvPicPr>
        <p:blipFill>
          <a:blip r:embed="rId3">
            <a:alphaModFix/>
          </a:blip>
          <a:stretch>
            <a:fillRect/>
          </a:stretch>
        </p:blipFill>
        <p:spPr>
          <a:xfrm flipH="1">
            <a:off x="322524" y="2637000"/>
            <a:ext cx="1073718" cy="1039074"/>
          </a:xfrm>
          <a:prstGeom prst="rect">
            <a:avLst/>
          </a:prstGeom>
          <a:noFill/>
          <a:ln>
            <a:noFill/>
          </a:ln>
        </p:spPr>
      </p:pic>
      <p:pic>
        <p:nvPicPr>
          <p:cNvPr id="783" name="Google Shape;783;p69"/>
          <p:cNvPicPr preferRelativeResize="0"/>
          <p:nvPr/>
        </p:nvPicPr>
        <p:blipFill>
          <a:blip r:embed="rId4">
            <a:alphaModFix/>
          </a:blip>
          <a:stretch>
            <a:fillRect/>
          </a:stretch>
        </p:blipFill>
        <p:spPr>
          <a:xfrm>
            <a:off x="8085370" y="1846825"/>
            <a:ext cx="727175" cy="895749"/>
          </a:xfrm>
          <a:prstGeom prst="rect">
            <a:avLst/>
          </a:prstGeom>
          <a:noFill/>
          <a:ln>
            <a:noFill/>
          </a:ln>
        </p:spPr>
      </p:pic>
      <p:pic>
        <p:nvPicPr>
          <p:cNvPr id="784" name="Google Shape;784;p69"/>
          <p:cNvPicPr preferRelativeResize="0"/>
          <p:nvPr/>
        </p:nvPicPr>
        <p:blipFill>
          <a:blip r:embed="rId5">
            <a:alphaModFix/>
          </a:blip>
          <a:stretch>
            <a:fillRect/>
          </a:stretch>
        </p:blipFill>
        <p:spPr>
          <a:xfrm>
            <a:off x="334770" y="1203770"/>
            <a:ext cx="623346" cy="1177024"/>
          </a:xfrm>
          <a:prstGeom prst="rect">
            <a:avLst/>
          </a:prstGeom>
          <a:noFill/>
          <a:ln>
            <a:noFill/>
          </a:ln>
        </p:spPr>
      </p:pic>
      <p:sp>
        <p:nvSpPr>
          <p:cNvPr id="785" name="Google Shape;785;p69"/>
          <p:cNvSpPr txBox="1"/>
          <p:nvPr>
            <p:ph idx="1" type="body"/>
          </p:nvPr>
        </p:nvSpPr>
        <p:spPr>
          <a:xfrm>
            <a:off x="1136500" y="1368900"/>
            <a:ext cx="67383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starts with 6 sweets and gains 1 more per day.</a:t>
            </a:r>
            <a:endParaRPr sz="2000"/>
          </a:p>
        </p:txBody>
      </p:sp>
      <p:sp>
        <p:nvSpPr>
          <p:cNvPr id="786" name="Google Shape;786;p69"/>
          <p:cNvSpPr txBox="1"/>
          <p:nvPr>
            <p:ph idx="1" type="body"/>
          </p:nvPr>
        </p:nvSpPr>
        <p:spPr>
          <a:xfrm>
            <a:off x="2152800" y="2130900"/>
            <a:ext cx="59328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Jacob</a:t>
            </a:r>
            <a:r>
              <a:rPr lang="en-GB" sz="2000"/>
              <a:t> starts with </a:t>
            </a:r>
            <a:r>
              <a:rPr lang="en-GB" sz="2000"/>
              <a:t>0</a:t>
            </a:r>
            <a:r>
              <a:rPr lang="en-GB" sz="2000"/>
              <a:t> sweets but gains </a:t>
            </a:r>
            <a:r>
              <a:rPr lang="en-GB" sz="2000"/>
              <a:t>2</a:t>
            </a:r>
            <a:r>
              <a:rPr lang="en-GB" sz="2000"/>
              <a:t> per day.</a:t>
            </a:r>
            <a:endParaRPr sz="2000"/>
          </a:p>
        </p:txBody>
      </p:sp>
      <p:sp>
        <p:nvSpPr>
          <p:cNvPr id="787" name="Google Shape;787;p69"/>
          <p:cNvSpPr txBox="1"/>
          <p:nvPr>
            <p:ph idx="1" type="body"/>
          </p:nvPr>
        </p:nvSpPr>
        <p:spPr>
          <a:xfrm>
            <a:off x="1518350" y="2969100"/>
            <a:ext cx="58062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a:t>
            </a:r>
            <a:r>
              <a:rPr lang="en-GB" sz="2000"/>
              <a:t> starts with </a:t>
            </a:r>
            <a:r>
              <a:rPr lang="en-GB" sz="2000"/>
              <a:t>14</a:t>
            </a:r>
            <a:r>
              <a:rPr lang="en-GB" sz="2000"/>
              <a:t> sweets but eats </a:t>
            </a:r>
            <a:r>
              <a:rPr lang="en-GB" sz="2000"/>
              <a:t>2</a:t>
            </a:r>
            <a:r>
              <a:rPr lang="en-GB" sz="2000"/>
              <a:t> per day.</a:t>
            </a:r>
            <a:endParaRPr sz="2000"/>
          </a:p>
        </p:txBody>
      </p:sp>
      <p:sp>
        <p:nvSpPr>
          <p:cNvPr id="788" name="Google Shape;788;p69"/>
          <p:cNvSpPr txBox="1"/>
          <p:nvPr>
            <p:ph idx="1" type="body"/>
          </p:nvPr>
        </p:nvSpPr>
        <p:spPr>
          <a:xfrm>
            <a:off x="324000" y="3796070"/>
            <a:ext cx="38784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has the most sweets?</a:t>
            </a:r>
            <a:endParaRPr/>
          </a:p>
        </p:txBody>
      </p:sp>
      <p:sp>
        <p:nvSpPr>
          <p:cNvPr id="789" name="Google Shape;789;p69"/>
          <p:cNvSpPr txBox="1"/>
          <p:nvPr>
            <p:ph idx="1" type="body"/>
          </p:nvPr>
        </p:nvSpPr>
        <p:spPr>
          <a:xfrm>
            <a:off x="4320101" y="3796075"/>
            <a:ext cx="44925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It depends on the number of days.</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795" name="Google Shape;795;p70"/>
          <p:cNvSpPr txBox="1"/>
          <p:nvPr>
            <p:ph idx="1" type="body"/>
          </p:nvPr>
        </p:nvSpPr>
        <p:spPr>
          <a:xfrm>
            <a:off x="324000" y="759300"/>
            <a:ext cx="82377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Some pupils</a:t>
            </a:r>
            <a:r>
              <a:rPr lang="en-GB"/>
              <a:t> are collecting sweets.</a:t>
            </a:r>
            <a:endParaRPr/>
          </a:p>
        </p:txBody>
      </p:sp>
      <p:pic>
        <p:nvPicPr>
          <p:cNvPr id="796" name="Google Shape;796;p70"/>
          <p:cNvPicPr preferRelativeResize="0"/>
          <p:nvPr/>
        </p:nvPicPr>
        <p:blipFill>
          <a:blip r:embed="rId3">
            <a:alphaModFix/>
          </a:blip>
          <a:stretch>
            <a:fillRect/>
          </a:stretch>
        </p:blipFill>
        <p:spPr>
          <a:xfrm flipH="1">
            <a:off x="322524" y="2637000"/>
            <a:ext cx="1073718" cy="1039074"/>
          </a:xfrm>
          <a:prstGeom prst="rect">
            <a:avLst/>
          </a:prstGeom>
          <a:noFill/>
          <a:ln>
            <a:noFill/>
          </a:ln>
        </p:spPr>
      </p:pic>
      <p:pic>
        <p:nvPicPr>
          <p:cNvPr id="797" name="Google Shape;797;p70"/>
          <p:cNvPicPr preferRelativeResize="0"/>
          <p:nvPr/>
        </p:nvPicPr>
        <p:blipFill>
          <a:blip r:embed="rId4">
            <a:alphaModFix/>
          </a:blip>
          <a:stretch>
            <a:fillRect/>
          </a:stretch>
        </p:blipFill>
        <p:spPr>
          <a:xfrm>
            <a:off x="8085370" y="1846825"/>
            <a:ext cx="727175" cy="895749"/>
          </a:xfrm>
          <a:prstGeom prst="rect">
            <a:avLst/>
          </a:prstGeom>
          <a:noFill/>
          <a:ln>
            <a:noFill/>
          </a:ln>
        </p:spPr>
      </p:pic>
      <p:pic>
        <p:nvPicPr>
          <p:cNvPr id="798" name="Google Shape;798;p70"/>
          <p:cNvPicPr preferRelativeResize="0"/>
          <p:nvPr/>
        </p:nvPicPr>
        <p:blipFill>
          <a:blip r:embed="rId5">
            <a:alphaModFix/>
          </a:blip>
          <a:stretch>
            <a:fillRect/>
          </a:stretch>
        </p:blipFill>
        <p:spPr>
          <a:xfrm>
            <a:off x="334770" y="1203770"/>
            <a:ext cx="623346" cy="1177024"/>
          </a:xfrm>
          <a:prstGeom prst="rect">
            <a:avLst/>
          </a:prstGeom>
          <a:noFill/>
          <a:ln>
            <a:noFill/>
          </a:ln>
        </p:spPr>
      </p:pic>
      <p:sp>
        <p:nvSpPr>
          <p:cNvPr id="799" name="Google Shape;799;p70"/>
          <p:cNvSpPr txBox="1"/>
          <p:nvPr>
            <p:ph idx="1" type="body"/>
          </p:nvPr>
        </p:nvSpPr>
        <p:spPr>
          <a:xfrm>
            <a:off x="1136500" y="1368900"/>
            <a:ext cx="67383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starts with </a:t>
            </a:r>
            <a:r>
              <a:rPr lang="en-GB" sz="2000"/>
              <a:t>6</a:t>
            </a:r>
            <a:r>
              <a:rPr lang="en-GB" sz="2000"/>
              <a:t> sweets and gains </a:t>
            </a:r>
            <a:r>
              <a:rPr lang="en-GB" sz="2000"/>
              <a:t>1</a:t>
            </a:r>
            <a:r>
              <a:rPr lang="en-GB" sz="2000"/>
              <a:t> more per day.</a:t>
            </a:r>
            <a:endParaRPr sz="2000"/>
          </a:p>
        </p:txBody>
      </p:sp>
      <p:sp>
        <p:nvSpPr>
          <p:cNvPr id="800" name="Google Shape;800;p70"/>
          <p:cNvSpPr txBox="1"/>
          <p:nvPr>
            <p:ph idx="1" type="body"/>
          </p:nvPr>
        </p:nvSpPr>
        <p:spPr>
          <a:xfrm>
            <a:off x="2152800" y="2130900"/>
            <a:ext cx="59328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Jacob starts with </a:t>
            </a:r>
            <a:r>
              <a:rPr lang="en-GB" sz="2000"/>
              <a:t>0</a:t>
            </a:r>
            <a:r>
              <a:rPr lang="en-GB" sz="2000"/>
              <a:t> sweets but gains </a:t>
            </a:r>
            <a:r>
              <a:rPr lang="en-GB" sz="2000"/>
              <a:t>2</a:t>
            </a:r>
            <a:r>
              <a:rPr lang="en-GB" sz="2000"/>
              <a:t> per day.</a:t>
            </a:r>
            <a:endParaRPr sz="2000"/>
          </a:p>
        </p:txBody>
      </p:sp>
      <p:sp>
        <p:nvSpPr>
          <p:cNvPr id="801" name="Google Shape;801;p70"/>
          <p:cNvSpPr txBox="1"/>
          <p:nvPr>
            <p:ph idx="1" type="body"/>
          </p:nvPr>
        </p:nvSpPr>
        <p:spPr>
          <a:xfrm>
            <a:off x="1518350" y="2969100"/>
            <a:ext cx="58062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 starts with </a:t>
            </a:r>
            <a:r>
              <a:rPr lang="en-GB" sz="2000"/>
              <a:t>14</a:t>
            </a:r>
            <a:r>
              <a:rPr lang="en-GB" sz="2000"/>
              <a:t> sweets but eats </a:t>
            </a:r>
            <a:r>
              <a:rPr lang="en-GB" sz="2000"/>
              <a:t>2</a:t>
            </a:r>
            <a:r>
              <a:rPr lang="en-GB" sz="2000"/>
              <a:t> per day.</a:t>
            </a:r>
            <a:endParaRPr sz="2000"/>
          </a:p>
        </p:txBody>
      </p:sp>
      <p:sp>
        <p:nvSpPr>
          <p:cNvPr id="802" name="Google Shape;802;p70"/>
          <p:cNvSpPr txBox="1"/>
          <p:nvPr>
            <p:ph idx="1" type="body"/>
          </p:nvPr>
        </p:nvSpPr>
        <p:spPr>
          <a:xfrm>
            <a:off x="324000" y="4329475"/>
            <a:ext cx="71352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Who has the most sweets after three days?</a:t>
            </a:r>
            <a:endParaRPr/>
          </a:p>
        </p:txBody>
      </p:sp>
      <p:sp>
        <p:nvSpPr>
          <p:cNvPr id="803" name="Google Shape;803;p70"/>
          <p:cNvSpPr txBox="1"/>
          <p:nvPr/>
        </p:nvSpPr>
        <p:spPr>
          <a:xfrm>
            <a:off x="4823048" y="1676400"/>
            <a:ext cx="2332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6</a:t>
            </a:r>
            <a:r>
              <a:rPr lang="en-GB" sz="2200">
                <a:solidFill>
                  <a:schemeClr val="dk1"/>
                </a:solidFill>
                <a:latin typeface="Kalam"/>
                <a:ea typeface="Kalam"/>
                <a:cs typeface="Kalam"/>
                <a:sym typeface="Kalam"/>
              </a:rPr>
              <a:t> + 1 × </a:t>
            </a:r>
            <a:r>
              <a:rPr lang="en-GB" sz="2200">
                <a:solidFill>
                  <a:schemeClr val="dk1"/>
                </a:solidFill>
                <a:latin typeface="Kalam"/>
                <a:ea typeface="Kalam"/>
                <a:cs typeface="Kalam"/>
                <a:sym typeface="Kalam"/>
              </a:rPr>
              <a:t>(3)</a:t>
            </a:r>
            <a:r>
              <a:rPr lang="en-GB" sz="2200">
                <a:solidFill>
                  <a:schemeClr val="dk1"/>
                </a:solidFill>
                <a:latin typeface="Kalam"/>
                <a:ea typeface="Kalam"/>
                <a:cs typeface="Kalam"/>
                <a:sym typeface="Kalam"/>
              </a:rPr>
              <a:t> = 9</a:t>
            </a:r>
            <a:endParaRPr>
              <a:latin typeface="Kalam"/>
              <a:ea typeface="Kalam"/>
              <a:cs typeface="Kalam"/>
              <a:sym typeface="Kalam"/>
            </a:endParaRPr>
          </a:p>
        </p:txBody>
      </p:sp>
      <p:sp>
        <p:nvSpPr>
          <p:cNvPr id="804" name="Google Shape;804;p70"/>
          <p:cNvSpPr txBox="1"/>
          <p:nvPr/>
        </p:nvSpPr>
        <p:spPr>
          <a:xfrm>
            <a:off x="4823061" y="2438400"/>
            <a:ext cx="2004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a:t>
            </a:r>
            <a:r>
              <a:rPr lang="en-GB" sz="2200">
                <a:solidFill>
                  <a:schemeClr val="dk1"/>
                </a:solidFill>
                <a:latin typeface="Kalam"/>
                <a:ea typeface="Kalam"/>
                <a:cs typeface="Kalam"/>
                <a:sym typeface="Kalam"/>
              </a:rPr>
              <a:t>3) × 2 = 6</a:t>
            </a:r>
            <a:endParaRPr sz="2200">
              <a:latin typeface="Kalam"/>
              <a:ea typeface="Kalam"/>
              <a:cs typeface="Kalam"/>
              <a:sym typeface="Kalam"/>
            </a:endParaRPr>
          </a:p>
        </p:txBody>
      </p:sp>
      <p:sp>
        <p:nvSpPr>
          <p:cNvPr id="805" name="Google Shape;805;p70"/>
          <p:cNvSpPr txBox="1"/>
          <p:nvPr/>
        </p:nvSpPr>
        <p:spPr>
          <a:xfrm>
            <a:off x="4823047" y="3352800"/>
            <a:ext cx="2591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14 − 2</a:t>
            </a:r>
            <a:r>
              <a:rPr lang="en-GB" sz="2200">
                <a:solidFill>
                  <a:schemeClr val="dk1"/>
                </a:solidFill>
                <a:latin typeface="Kalam"/>
                <a:ea typeface="Kalam"/>
                <a:cs typeface="Kalam"/>
                <a:sym typeface="Kalam"/>
              </a:rPr>
              <a:t> × </a:t>
            </a:r>
            <a:r>
              <a:rPr lang="en-GB" sz="2200">
                <a:solidFill>
                  <a:schemeClr val="dk1"/>
                </a:solidFill>
                <a:latin typeface="Kalam"/>
                <a:ea typeface="Kalam"/>
                <a:cs typeface="Kalam"/>
                <a:sym typeface="Kalam"/>
              </a:rPr>
              <a:t>(3)</a:t>
            </a:r>
            <a:r>
              <a:rPr lang="en-GB" sz="2200">
                <a:solidFill>
                  <a:schemeClr val="dk1"/>
                </a:solidFill>
                <a:latin typeface="Kalam"/>
                <a:ea typeface="Kalam"/>
                <a:cs typeface="Kalam"/>
                <a:sym typeface="Kalam"/>
              </a:rPr>
              <a:t> = 8</a:t>
            </a:r>
            <a:endParaRPr sz="2200">
              <a:latin typeface="Kalam"/>
              <a:ea typeface="Kalam"/>
              <a:cs typeface="Kalam"/>
              <a:sym typeface="Kalam"/>
            </a:endParaRPr>
          </a:p>
        </p:txBody>
      </p:sp>
      <p:sp>
        <p:nvSpPr>
          <p:cNvPr id="806" name="Google Shape;806;p70"/>
          <p:cNvSpPr txBox="1"/>
          <p:nvPr>
            <p:ph idx="1" type="body"/>
          </p:nvPr>
        </p:nvSpPr>
        <p:spPr>
          <a:xfrm>
            <a:off x="6529900" y="4329475"/>
            <a:ext cx="9294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Aisha</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812" name="Google Shape;812;p71"/>
          <p:cNvSpPr txBox="1"/>
          <p:nvPr>
            <p:ph idx="1" type="body"/>
          </p:nvPr>
        </p:nvSpPr>
        <p:spPr>
          <a:xfrm>
            <a:off x="324000" y="759300"/>
            <a:ext cx="82377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Some pupils</a:t>
            </a:r>
            <a:r>
              <a:rPr lang="en-GB"/>
              <a:t> are collecting sweets.</a:t>
            </a:r>
            <a:endParaRPr/>
          </a:p>
        </p:txBody>
      </p:sp>
      <p:pic>
        <p:nvPicPr>
          <p:cNvPr id="813" name="Google Shape;813;p71"/>
          <p:cNvPicPr preferRelativeResize="0"/>
          <p:nvPr/>
        </p:nvPicPr>
        <p:blipFill>
          <a:blip r:embed="rId3">
            <a:alphaModFix/>
          </a:blip>
          <a:stretch>
            <a:fillRect/>
          </a:stretch>
        </p:blipFill>
        <p:spPr>
          <a:xfrm flipH="1">
            <a:off x="322524" y="2637000"/>
            <a:ext cx="1073718" cy="1039074"/>
          </a:xfrm>
          <a:prstGeom prst="rect">
            <a:avLst/>
          </a:prstGeom>
          <a:noFill/>
          <a:ln>
            <a:noFill/>
          </a:ln>
        </p:spPr>
      </p:pic>
      <p:pic>
        <p:nvPicPr>
          <p:cNvPr id="814" name="Google Shape;814;p71"/>
          <p:cNvPicPr preferRelativeResize="0"/>
          <p:nvPr/>
        </p:nvPicPr>
        <p:blipFill>
          <a:blip r:embed="rId4">
            <a:alphaModFix/>
          </a:blip>
          <a:stretch>
            <a:fillRect/>
          </a:stretch>
        </p:blipFill>
        <p:spPr>
          <a:xfrm>
            <a:off x="8085370" y="1846825"/>
            <a:ext cx="727175" cy="895749"/>
          </a:xfrm>
          <a:prstGeom prst="rect">
            <a:avLst/>
          </a:prstGeom>
          <a:noFill/>
          <a:ln>
            <a:noFill/>
          </a:ln>
        </p:spPr>
      </p:pic>
      <p:pic>
        <p:nvPicPr>
          <p:cNvPr id="815" name="Google Shape;815;p71"/>
          <p:cNvPicPr preferRelativeResize="0"/>
          <p:nvPr/>
        </p:nvPicPr>
        <p:blipFill>
          <a:blip r:embed="rId5">
            <a:alphaModFix/>
          </a:blip>
          <a:stretch>
            <a:fillRect/>
          </a:stretch>
        </p:blipFill>
        <p:spPr>
          <a:xfrm>
            <a:off x="334770" y="1203770"/>
            <a:ext cx="623346" cy="1177024"/>
          </a:xfrm>
          <a:prstGeom prst="rect">
            <a:avLst/>
          </a:prstGeom>
          <a:noFill/>
          <a:ln>
            <a:noFill/>
          </a:ln>
        </p:spPr>
      </p:pic>
      <p:sp>
        <p:nvSpPr>
          <p:cNvPr id="816" name="Google Shape;816;p71"/>
          <p:cNvSpPr txBox="1"/>
          <p:nvPr>
            <p:ph idx="1" type="body"/>
          </p:nvPr>
        </p:nvSpPr>
        <p:spPr>
          <a:xfrm>
            <a:off x="1136500" y="1368900"/>
            <a:ext cx="67383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starts with </a:t>
            </a:r>
            <a:r>
              <a:rPr lang="en-GB" sz="2000"/>
              <a:t>6</a:t>
            </a:r>
            <a:r>
              <a:rPr lang="en-GB" sz="2000"/>
              <a:t> sweets and gains </a:t>
            </a:r>
            <a:r>
              <a:rPr lang="en-GB" sz="2000"/>
              <a:t>1</a:t>
            </a:r>
            <a:r>
              <a:rPr lang="en-GB" sz="2000"/>
              <a:t> more per day.</a:t>
            </a:r>
            <a:endParaRPr sz="2000"/>
          </a:p>
        </p:txBody>
      </p:sp>
      <p:sp>
        <p:nvSpPr>
          <p:cNvPr id="817" name="Google Shape;817;p71"/>
          <p:cNvSpPr txBox="1"/>
          <p:nvPr>
            <p:ph idx="1" type="body"/>
          </p:nvPr>
        </p:nvSpPr>
        <p:spPr>
          <a:xfrm>
            <a:off x="2152800" y="2130900"/>
            <a:ext cx="59328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Jacob starts with </a:t>
            </a:r>
            <a:r>
              <a:rPr lang="en-GB" sz="2000"/>
              <a:t>0</a:t>
            </a:r>
            <a:r>
              <a:rPr lang="en-GB" sz="2000"/>
              <a:t> sweets but gains </a:t>
            </a:r>
            <a:r>
              <a:rPr lang="en-GB" sz="2000"/>
              <a:t>2</a:t>
            </a:r>
            <a:r>
              <a:rPr lang="en-GB" sz="2000"/>
              <a:t> per day.</a:t>
            </a:r>
            <a:endParaRPr sz="2000"/>
          </a:p>
        </p:txBody>
      </p:sp>
      <p:sp>
        <p:nvSpPr>
          <p:cNvPr id="818" name="Google Shape;818;p71"/>
          <p:cNvSpPr txBox="1"/>
          <p:nvPr>
            <p:ph idx="1" type="body"/>
          </p:nvPr>
        </p:nvSpPr>
        <p:spPr>
          <a:xfrm>
            <a:off x="1518350" y="2969100"/>
            <a:ext cx="58062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 starts with </a:t>
            </a:r>
            <a:r>
              <a:rPr lang="en-GB" sz="2000"/>
              <a:t>14</a:t>
            </a:r>
            <a:r>
              <a:rPr lang="en-GB" sz="2000"/>
              <a:t> sweets but eats </a:t>
            </a:r>
            <a:r>
              <a:rPr lang="en-GB" sz="2000"/>
              <a:t>2</a:t>
            </a:r>
            <a:r>
              <a:rPr lang="en-GB" sz="2000"/>
              <a:t> per day.</a:t>
            </a:r>
            <a:endParaRPr sz="2000"/>
          </a:p>
        </p:txBody>
      </p:sp>
      <p:sp>
        <p:nvSpPr>
          <p:cNvPr id="819" name="Google Shape;819;p71"/>
          <p:cNvSpPr txBox="1"/>
          <p:nvPr>
            <p:ph idx="1" type="body"/>
          </p:nvPr>
        </p:nvSpPr>
        <p:spPr>
          <a:xfrm>
            <a:off x="324000" y="3872275"/>
            <a:ext cx="8496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Could I substitute any numbers of</a:t>
            </a:r>
            <a:r>
              <a:rPr lang="en-GB" sz="2000"/>
              <a:t> days into these expressions?</a:t>
            </a:r>
            <a:endParaRPr sz="2000"/>
          </a:p>
        </p:txBody>
      </p:sp>
      <p:sp>
        <p:nvSpPr>
          <p:cNvPr id="820" name="Google Shape;820;p71"/>
          <p:cNvSpPr txBox="1"/>
          <p:nvPr/>
        </p:nvSpPr>
        <p:spPr>
          <a:xfrm>
            <a:off x="4823048" y="1676400"/>
            <a:ext cx="2332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6</a:t>
            </a:r>
            <a:r>
              <a:rPr lang="en-GB" sz="2200">
                <a:solidFill>
                  <a:schemeClr val="dk1"/>
                </a:solidFill>
                <a:latin typeface="Times New Roman"/>
                <a:ea typeface="Times New Roman"/>
                <a:cs typeface="Times New Roman"/>
                <a:sym typeface="Times New Roman"/>
              </a:rPr>
              <a:t> + 1 × (3) = 9</a:t>
            </a:r>
            <a:endParaRPr/>
          </a:p>
        </p:txBody>
      </p:sp>
      <p:sp>
        <p:nvSpPr>
          <p:cNvPr id="821" name="Google Shape;821;p71"/>
          <p:cNvSpPr txBox="1"/>
          <p:nvPr/>
        </p:nvSpPr>
        <p:spPr>
          <a:xfrm>
            <a:off x="4823061" y="2438400"/>
            <a:ext cx="2004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(3) × 2 = 6</a:t>
            </a:r>
            <a:endParaRPr/>
          </a:p>
        </p:txBody>
      </p:sp>
      <p:sp>
        <p:nvSpPr>
          <p:cNvPr id="822" name="Google Shape;822;p71"/>
          <p:cNvSpPr txBox="1"/>
          <p:nvPr/>
        </p:nvSpPr>
        <p:spPr>
          <a:xfrm>
            <a:off x="4823047" y="3352800"/>
            <a:ext cx="2591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14</a:t>
            </a:r>
            <a:r>
              <a:rPr lang="en-GB" sz="2200">
                <a:solidFill>
                  <a:schemeClr val="dk1"/>
                </a:solidFill>
                <a:latin typeface="Times New Roman"/>
                <a:ea typeface="Times New Roman"/>
                <a:cs typeface="Times New Roman"/>
                <a:sym typeface="Times New Roman"/>
              </a:rPr>
              <a:t> − 2 × (3) = 8</a:t>
            </a:r>
            <a:endParaRPr/>
          </a:p>
        </p:txBody>
      </p:sp>
      <p:sp>
        <p:nvSpPr>
          <p:cNvPr id="823" name="Google Shape;823;p71"/>
          <p:cNvSpPr txBox="1"/>
          <p:nvPr>
            <p:ph idx="1" type="body"/>
          </p:nvPr>
        </p:nvSpPr>
        <p:spPr>
          <a:xfrm>
            <a:off x="324000" y="4329475"/>
            <a:ext cx="63582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Could I substitute </a:t>
            </a:r>
            <a:r>
              <a:rPr lang="en-GB">
                <a:latin typeface="Times New Roman"/>
                <a:ea typeface="Times New Roman"/>
                <a:cs typeface="Times New Roman"/>
                <a:sym typeface="Times New Roman"/>
              </a:rPr>
              <a:t>(</a:t>
            </a:r>
            <a:r>
              <a:rPr i="1" lang="en-GB">
                <a:latin typeface="Times New Roman"/>
                <a:ea typeface="Times New Roman"/>
                <a:cs typeface="Times New Roman"/>
                <a:sym typeface="Times New Roman"/>
              </a:rPr>
              <a:t>d</a:t>
            </a:r>
            <a:r>
              <a:rPr lang="en-GB">
                <a:latin typeface="Times New Roman"/>
                <a:ea typeface="Times New Roman"/>
                <a:cs typeface="Times New Roman"/>
                <a:sym typeface="Times New Roman"/>
              </a:rPr>
              <a:t>)</a:t>
            </a:r>
            <a:r>
              <a:rPr lang="en-GB" sz="2000"/>
              <a:t> days into these expressions?</a:t>
            </a:r>
            <a:endParaRPr sz="2000"/>
          </a:p>
        </p:txBody>
      </p:sp>
      <p:sp>
        <p:nvSpPr>
          <p:cNvPr id="824" name="Google Shape;824;p71"/>
          <p:cNvSpPr txBox="1"/>
          <p:nvPr>
            <p:ph idx="1" type="body"/>
          </p:nvPr>
        </p:nvSpPr>
        <p:spPr>
          <a:xfrm>
            <a:off x="6682298" y="4329475"/>
            <a:ext cx="17091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Yes and yes!</a:t>
            </a:r>
            <a:endParaRPr>
              <a:latin typeface="Kalam"/>
              <a:ea typeface="Kalam"/>
              <a:cs typeface="Kalam"/>
              <a:sym typeface="Kalam"/>
            </a:endParaRPr>
          </a:p>
        </p:txBody>
      </p:sp>
      <p:sp>
        <p:nvSpPr>
          <p:cNvPr id="825" name="Google Shape;825;p71"/>
          <p:cNvSpPr txBox="1"/>
          <p:nvPr/>
        </p:nvSpPr>
        <p:spPr>
          <a:xfrm>
            <a:off x="1546448" y="1676400"/>
            <a:ext cx="2332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6 + 1 × (</a:t>
            </a:r>
            <a:r>
              <a:rPr i="1" lang="en-GB" sz="2200">
                <a:solidFill>
                  <a:schemeClr val="dk1"/>
                </a:solidFill>
                <a:latin typeface="Times New Roman"/>
                <a:ea typeface="Times New Roman"/>
                <a:cs typeface="Times New Roman"/>
                <a:sym typeface="Times New Roman"/>
              </a:rPr>
              <a:t>d</a:t>
            </a:r>
            <a:r>
              <a:rPr lang="en-GB" sz="2200">
                <a:solidFill>
                  <a:schemeClr val="dk1"/>
                </a:solidFill>
                <a:latin typeface="Times New Roman"/>
                <a:ea typeface="Times New Roman"/>
                <a:cs typeface="Times New Roman"/>
                <a:sym typeface="Times New Roman"/>
              </a:rPr>
              <a:t>) = </a:t>
            </a:r>
            <a:r>
              <a:rPr i="1" lang="en-GB" sz="2200">
                <a:solidFill>
                  <a:schemeClr val="dk1"/>
                </a:solidFill>
                <a:latin typeface="Times New Roman"/>
                <a:ea typeface="Times New Roman"/>
                <a:cs typeface="Times New Roman"/>
                <a:sym typeface="Times New Roman"/>
              </a:rPr>
              <a:t>s</a:t>
            </a:r>
            <a:endParaRPr i="1"/>
          </a:p>
        </p:txBody>
      </p:sp>
      <p:sp>
        <p:nvSpPr>
          <p:cNvPr id="826" name="Google Shape;826;p71"/>
          <p:cNvSpPr txBox="1"/>
          <p:nvPr/>
        </p:nvSpPr>
        <p:spPr>
          <a:xfrm>
            <a:off x="1600200" y="2438400"/>
            <a:ext cx="2004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a:t>
            </a:r>
            <a:r>
              <a:rPr i="1" lang="en-GB" sz="2200">
                <a:solidFill>
                  <a:schemeClr val="dk1"/>
                </a:solidFill>
                <a:latin typeface="Times New Roman"/>
                <a:ea typeface="Times New Roman"/>
                <a:cs typeface="Times New Roman"/>
                <a:sym typeface="Times New Roman"/>
              </a:rPr>
              <a:t>d</a:t>
            </a:r>
            <a:r>
              <a:rPr lang="en-GB" sz="2200">
                <a:solidFill>
                  <a:schemeClr val="dk1"/>
                </a:solidFill>
                <a:latin typeface="Times New Roman"/>
                <a:ea typeface="Times New Roman"/>
                <a:cs typeface="Times New Roman"/>
                <a:sym typeface="Times New Roman"/>
              </a:rPr>
              <a:t>) × 2 = </a:t>
            </a:r>
            <a:r>
              <a:rPr i="1" lang="en-GB" sz="2200">
                <a:solidFill>
                  <a:schemeClr val="dk1"/>
                </a:solidFill>
                <a:latin typeface="Times New Roman"/>
                <a:ea typeface="Times New Roman"/>
                <a:cs typeface="Times New Roman"/>
                <a:sym typeface="Times New Roman"/>
              </a:rPr>
              <a:t>s</a:t>
            </a:r>
            <a:endParaRPr i="1"/>
          </a:p>
        </p:txBody>
      </p:sp>
      <p:sp>
        <p:nvSpPr>
          <p:cNvPr id="827" name="Google Shape;827;p71"/>
          <p:cNvSpPr txBox="1"/>
          <p:nvPr/>
        </p:nvSpPr>
        <p:spPr>
          <a:xfrm>
            <a:off x="1546447" y="3352800"/>
            <a:ext cx="2591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14 − 2 × (</a:t>
            </a:r>
            <a:r>
              <a:rPr i="1" lang="en-GB" sz="2200">
                <a:solidFill>
                  <a:schemeClr val="dk1"/>
                </a:solidFill>
                <a:latin typeface="Times New Roman"/>
                <a:ea typeface="Times New Roman"/>
                <a:cs typeface="Times New Roman"/>
                <a:sym typeface="Times New Roman"/>
              </a:rPr>
              <a:t>d</a:t>
            </a:r>
            <a:r>
              <a:rPr lang="en-GB" sz="2200">
                <a:solidFill>
                  <a:schemeClr val="dk1"/>
                </a:solidFill>
                <a:latin typeface="Times New Roman"/>
                <a:ea typeface="Times New Roman"/>
                <a:cs typeface="Times New Roman"/>
                <a:sym typeface="Times New Roman"/>
              </a:rPr>
              <a:t>) = </a:t>
            </a:r>
            <a:r>
              <a:rPr i="1" lang="en-GB" sz="2200">
                <a:solidFill>
                  <a:schemeClr val="dk1"/>
                </a:solidFill>
                <a:latin typeface="Times New Roman"/>
                <a:ea typeface="Times New Roman"/>
                <a:cs typeface="Times New Roman"/>
                <a:sym typeface="Times New Roman"/>
              </a:rPr>
              <a:t>s</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833" name="Google Shape;833;p72"/>
          <p:cNvSpPr txBox="1"/>
          <p:nvPr>
            <p:ph idx="1" type="body"/>
          </p:nvPr>
        </p:nvSpPr>
        <p:spPr>
          <a:xfrm>
            <a:off x="324000" y="759300"/>
            <a:ext cx="82377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mathematicians like to write things as simply as possible.</a:t>
            </a:r>
            <a:endParaRPr sz="2000"/>
          </a:p>
        </p:txBody>
      </p:sp>
      <p:pic>
        <p:nvPicPr>
          <p:cNvPr id="834" name="Google Shape;834;p72"/>
          <p:cNvPicPr preferRelativeResize="0"/>
          <p:nvPr/>
        </p:nvPicPr>
        <p:blipFill>
          <a:blip r:embed="rId3">
            <a:alphaModFix/>
          </a:blip>
          <a:stretch>
            <a:fillRect/>
          </a:stretch>
        </p:blipFill>
        <p:spPr>
          <a:xfrm flipH="1">
            <a:off x="322524" y="2637000"/>
            <a:ext cx="1073718" cy="1039074"/>
          </a:xfrm>
          <a:prstGeom prst="rect">
            <a:avLst/>
          </a:prstGeom>
          <a:noFill/>
          <a:ln>
            <a:noFill/>
          </a:ln>
        </p:spPr>
      </p:pic>
      <p:pic>
        <p:nvPicPr>
          <p:cNvPr id="835" name="Google Shape;835;p72"/>
          <p:cNvPicPr preferRelativeResize="0"/>
          <p:nvPr/>
        </p:nvPicPr>
        <p:blipFill>
          <a:blip r:embed="rId4">
            <a:alphaModFix/>
          </a:blip>
          <a:stretch>
            <a:fillRect/>
          </a:stretch>
        </p:blipFill>
        <p:spPr>
          <a:xfrm>
            <a:off x="8085370" y="1846825"/>
            <a:ext cx="727175" cy="895749"/>
          </a:xfrm>
          <a:prstGeom prst="rect">
            <a:avLst/>
          </a:prstGeom>
          <a:noFill/>
          <a:ln>
            <a:noFill/>
          </a:ln>
        </p:spPr>
      </p:pic>
      <p:pic>
        <p:nvPicPr>
          <p:cNvPr id="836" name="Google Shape;836;p72"/>
          <p:cNvPicPr preferRelativeResize="0"/>
          <p:nvPr/>
        </p:nvPicPr>
        <p:blipFill>
          <a:blip r:embed="rId5">
            <a:alphaModFix/>
          </a:blip>
          <a:stretch>
            <a:fillRect/>
          </a:stretch>
        </p:blipFill>
        <p:spPr>
          <a:xfrm>
            <a:off x="334770" y="1203770"/>
            <a:ext cx="623346" cy="1177024"/>
          </a:xfrm>
          <a:prstGeom prst="rect">
            <a:avLst/>
          </a:prstGeom>
          <a:noFill/>
          <a:ln>
            <a:noFill/>
          </a:ln>
        </p:spPr>
      </p:pic>
      <p:sp>
        <p:nvSpPr>
          <p:cNvPr id="837" name="Google Shape;837;p72"/>
          <p:cNvSpPr txBox="1"/>
          <p:nvPr>
            <p:ph idx="1" type="body"/>
          </p:nvPr>
        </p:nvSpPr>
        <p:spPr>
          <a:xfrm>
            <a:off x="1136500" y="1368900"/>
            <a:ext cx="67383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starts with </a:t>
            </a:r>
            <a:r>
              <a:rPr lang="en-GB" sz="2000"/>
              <a:t>6</a:t>
            </a:r>
            <a:r>
              <a:rPr lang="en-GB" sz="2000"/>
              <a:t> sweets and gains </a:t>
            </a:r>
            <a:r>
              <a:rPr lang="en-GB" sz="2000"/>
              <a:t>1</a:t>
            </a:r>
            <a:r>
              <a:rPr lang="en-GB" sz="2000"/>
              <a:t> more per day.</a:t>
            </a:r>
            <a:endParaRPr sz="2000"/>
          </a:p>
        </p:txBody>
      </p:sp>
      <p:sp>
        <p:nvSpPr>
          <p:cNvPr id="838" name="Google Shape;838;p72"/>
          <p:cNvSpPr txBox="1"/>
          <p:nvPr>
            <p:ph idx="1" type="body"/>
          </p:nvPr>
        </p:nvSpPr>
        <p:spPr>
          <a:xfrm>
            <a:off x="2152800" y="2130900"/>
            <a:ext cx="59328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Jacob starts with </a:t>
            </a:r>
            <a:r>
              <a:rPr lang="en-GB" sz="2000"/>
              <a:t>0</a:t>
            </a:r>
            <a:r>
              <a:rPr lang="en-GB" sz="2000"/>
              <a:t> sweets but gains </a:t>
            </a:r>
            <a:r>
              <a:rPr lang="en-GB" sz="2000"/>
              <a:t>2</a:t>
            </a:r>
            <a:r>
              <a:rPr lang="en-GB" sz="2000"/>
              <a:t> per day.</a:t>
            </a:r>
            <a:endParaRPr sz="2000"/>
          </a:p>
        </p:txBody>
      </p:sp>
      <p:sp>
        <p:nvSpPr>
          <p:cNvPr id="839" name="Google Shape;839;p72"/>
          <p:cNvSpPr txBox="1"/>
          <p:nvPr>
            <p:ph idx="1" type="body"/>
          </p:nvPr>
        </p:nvSpPr>
        <p:spPr>
          <a:xfrm>
            <a:off x="1518350" y="2969100"/>
            <a:ext cx="58062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 starts with </a:t>
            </a:r>
            <a:r>
              <a:rPr lang="en-GB" sz="2000"/>
              <a:t>14</a:t>
            </a:r>
            <a:r>
              <a:rPr lang="en-GB" sz="2000"/>
              <a:t> sweets but eats </a:t>
            </a:r>
            <a:r>
              <a:rPr lang="en-GB" sz="2000"/>
              <a:t>2</a:t>
            </a:r>
            <a:r>
              <a:rPr lang="en-GB" sz="2000"/>
              <a:t> per day.</a:t>
            </a:r>
            <a:endParaRPr sz="2000"/>
          </a:p>
        </p:txBody>
      </p:sp>
      <p:sp>
        <p:nvSpPr>
          <p:cNvPr id="840" name="Google Shape;840;p72"/>
          <p:cNvSpPr txBox="1"/>
          <p:nvPr>
            <p:ph idx="1" type="body"/>
          </p:nvPr>
        </p:nvSpPr>
        <p:spPr>
          <a:xfrm>
            <a:off x="4819800" y="3948475"/>
            <a:ext cx="3996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These are linear relationships. We could plot them.</a:t>
            </a:r>
            <a:endParaRPr sz="2000"/>
          </a:p>
        </p:txBody>
      </p:sp>
      <p:sp>
        <p:nvSpPr>
          <p:cNvPr id="841" name="Google Shape;841;p72"/>
          <p:cNvSpPr txBox="1"/>
          <p:nvPr/>
        </p:nvSpPr>
        <p:spPr>
          <a:xfrm>
            <a:off x="1546448" y="1676400"/>
            <a:ext cx="2332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6 + 1 × (</a:t>
            </a:r>
            <a:r>
              <a:rPr i="1" lang="en-GB" sz="2200">
                <a:solidFill>
                  <a:schemeClr val="dk1"/>
                </a:solidFill>
                <a:latin typeface="Times New Roman"/>
                <a:ea typeface="Times New Roman"/>
                <a:cs typeface="Times New Roman"/>
                <a:sym typeface="Times New Roman"/>
              </a:rPr>
              <a:t>d</a:t>
            </a:r>
            <a:r>
              <a:rPr lang="en-GB" sz="2200">
                <a:solidFill>
                  <a:schemeClr val="dk1"/>
                </a:solidFill>
                <a:latin typeface="Times New Roman"/>
                <a:ea typeface="Times New Roman"/>
                <a:cs typeface="Times New Roman"/>
                <a:sym typeface="Times New Roman"/>
              </a:rPr>
              <a:t>) = </a:t>
            </a:r>
            <a:r>
              <a:rPr i="1" lang="en-GB" sz="2200">
                <a:solidFill>
                  <a:schemeClr val="dk1"/>
                </a:solidFill>
                <a:latin typeface="Times New Roman"/>
                <a:ea typeface="Times New Roman"/>
                <a:cs typeface="Times New Roman"/>
                <a:sym typeface="Times New Roman"/>
              </a:rPr>
              <a:t>s</a:t>
            </a:r>
            <a:endParaRPr i="1"/>
          </a:p>
        </p:txBody>
      </p:sp>
      <p:sp>
        <p:nvSpPr>
          <p:cNvPr id="842" name="Google Shape;842;p72"/>
          <p:cNvSpPr txBox="1"/>
          <p:nvPr/>
        </p:nvSpPr>
        <p:spPr>
          <a:xfrm>
            <a:off x="1600200" y="2438400"/>
            <a:ext cx="20046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a:t>
            </a:r>
            <a:r>
              <a:rPr i="1" lang="en-GB" sz="2200">
                <a:solidFill>
                  <a:schemeClr val="dk1"/>
                </a:solidFill>
                <a:latin typeface="Times New Roman"/>
                <a:ea typeface="Times New Roman"/>
                <a:cs typeface="Times New Roman"/>
                <a:sym typeface="Times New Roman"/>
              </a:rPr>
              <a:t>d</a:t>
            </a:r>
            <a:r>
              <a:rPr lang="en-GB" sz="2200">
                <a:solidFill>
                  <a:schemeClr val="dk1"/>
                </a:solidFill>
                <a:latin typeface="Times New Roman"/>
                <a:ea typeface="Times New Roman"/>
                <a:cs typeface="Times New Roman"/>
                <a:sym typeface="Times New Roman"/>
              </a:rPr>
              <a:t>) × 2 = </a:t>
            </a:r>
            <a:r>
              <a:rPr i="1" lang="en-GB" sz="2200">
                <a:solidFill>
                  <a:schemeClr val="dk1"/>
                </a:solidFill>
                <a:latin typeface="Times New Roman"/>
                <a:ea typeface="Times New Roman"/>
                <a:cs typeface="Times New Roman"/>
                <a:sym typeface="Times New Roman"/>
              </a:rPr>
              <a:t>s</a:t>
            </a:r>
            <a:endParaRPr i="1"/>
          </a:p>
        </p:txBody>
      </p:sp>
      <p:sp>
        <p:nvSpPr>
          <p:cNvPr id="843" name="Google Shape;843;p72"/>
          <p:cNvSpPr txBox="1"/>
          <p:nvPr/>
        </p:nvSpPr>
        <p:spPr>
          <a:xfrm>
            <a:off x="1546447" y="3352800"/>
            <a:ext cx="2591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Times New Roman"/>
                <a:ea typeface="Times New Roman"/>
                <a:cs typeface="Times New Roman"/>
                <a:sym typeface="Times New Roman"/>
              </a:rPr>
              <a:t>14 − 2 × (</a:t>
            </a:r>
            <a:r>
              <a:rPr i="1" lang="en-GB" sz="2200">
                <a:solidFill>
                  <a:schemeClr val="dk1"/>
                </a:solidFill>
                <a:latin typeface="Times New Roman"/>
                <a:ea typeface="Times New Roman"/>
                <a:cs typeface="Times New Roman"/>
                <a:sym typeface="Times New Roman"/>
              </a:rPr>
              <a:t>d</a:t>
            </a:r>
            <a:r>
              <a:rPr lang="en-GB" sz="2200">
                <a:solidFill>
                  <a:schemeClr val="dk1"/>
                </a:solidFill>
                <a:latin typeface="Times New Roman"/>
                <a:ea typeface="Times New Roman"/>
                <a:cs typeface="Times New Roman"/>
                <a:sym typeface="Times New Roman"/>
              </a:rPr>
              <a:t>) = </a:t>
            </a:r>
            <a:r>
              <a:rPr i="1" lang="en-GB" sz="2200">
                <a:solidFill>
                  <a:schemeClr val="dk1"/>
                </a:solidFill>
                <a:latin typeface="Times New Roman"/>
                <a:ea typeface="Times New Roman"/>
                <a:cs typeface="Times New Roman"/>
                <a:sym typeface="Times New Roman"/>
              </a:rPr>
              <a:t>s</a:t>
            </a:r>
            <a:endParaRPr i="1"/>
          </a:p>
        </p:txBody>
      </p:sp>
      <p:sp>
        <p:nvSpPr>
          <p:cNvPr id="844" name="Google Shape;844;p72"/>
          <p:cNvSpPr txBox="1"/>
          <p:nvPr/>
        </p:nvSpPr>
        <p:spPr>
          <a:xfrm>
            <a:off x="4823049" y="1676400"/>
            <a:ext cx="14337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 6</a:t>
            </a:r>
            <a:r>
              <a:rPr lang="en-GB" sz="2200">
                <a:solidFill>
                  <a:schemeClr val="dk1"/>
                </a:solidFill>
                <a:latin typeface="Times New Roman"/>
                <a:ea typeface="Times New Roman"/>
                <a:cs typeface="Times New Roman"/>
                <a:sym typeface="Times New Roman"/>
              </a:rPr>
              <a:t> + </a:t>
            </a:r>
            <a:r>
              <a:rPr i="1" lang="en-GB" sz="2200">
                <a:solidFill>
                  <a:schemeClr val="dk1"/>
                </a:solidFill>
                <a:latin typeface="Times New Roman"/>
                <a:ea typeface="Times New Roman"/>
                <a:cs typeface="Times New Roman"/>
                <a:sym typeface="Times New Roman"/>
              </a:rPr>
              <a:t>d</a:t>
            </a:r>
            <a:endParaRPr i="1"/>
          </a:p>
        </p:txBody>
      </p:sp>
      <p:sp>
        <p:nvSpPr>
          <p:cNvPr id="845" name="Google Shape;845;p72"/>
          <p:cNvSpPr txBox="1"/>
          <p:nvPr/>
        </p:nvSpPr>
        <p:spPr>
          <a:xfrm>
            <a:off x="4800600" y="2438400"/>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2</a:t>
            </a:r>
            <a:r>
              <a:rPr i="1" lang="en-GB" sz="2200">
                <a:solidFill>
                  <a:schemeClr val="dk1"/>
                </a:solidFill>
                <a:latin typeface="Times New Roman"/>
                <a:ea typeface="Times New Roman"/>
                <a:cs typeface="Times New Roman"/>
                <a:sym typeface="Times New Roman"/>
              </a:rPr>
              <a:t>d</a:t>
            </a:r>
            <a:endParaRPr i="1"/>
          </a:p>
        </p:txBody>
      </p:sp>
      <p:sp>
        <p:nvSpPr>
          <p:cNvPr id="846" name="Google Shape;846;p72"/>
          <p:cNvSpPr txBox="1"/>
          <p:nvPr/>
        </p:nvSpPr>
        <p:spPr>
          <a:xfrm>
            <a:off x="4823050" y="3352800"/>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14 − 2</a:t>
            </a:r>
            <a:r>
              <a:rPr i="1" lang="en-GB" sz="2200">
                <a:solidFill>
                  <a:schemeClr val="dk1"/>
                </a:solidFill>
                <a:latin typeface="Times New Roman"/>
                <a:ea typeface="Times New Roman"/>
                <a:cs typeface="Times New Roman"/>
                <a:sym typeface="Times New Roman"/>
              </a:rPr>
              <a:t>d</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graphicFrame>
        <p:nvGraphicFramePr>
          <p:cNvPr id="851" name="Google Shape;851;p73"/>
          <p:cNvGraphicFramePr/>
          <p:nvPr/>
        </p:nvGraphicFramePr>
        <p:xfrm>
          <a:off x="2891742" y="3246659"/>
          <a:ext cx="3000000" cy="3000000"/>
        </p:xfrm>
        <a:graphic>
          <a:graphicData uri="http://schemas.openxmlformats.org/drawingml/2006/table">
            <a:tbl>
              <a:tblPr>
                <a:noFill/>
                <a:tableStyleId>{9A4AEBD6-43F1-4C7A-9EA5-C050399E0610}</a:tableStyleId>
              </a:tblPr>
              <a:tblGrid>
                <a:gridCol w="1206625"/>
                <a:gridCol w="411575"/>
                <a:gridCol w="411575"/>
                <a:gridCol w="411575"/>
                <a:gridCol w="411575"/>
                <a:gridCol w="411575"/>
                <a:gridCol w="411575"/>
                <a:gridCol w="411575"/>
                <a:gridCol w="411575"/>
              </a:tblGrid>
              <a:tr h="378425">
                <a:tc>
                  <a:txBody>
                    <a:bodyPr/>
                    <a:lstStyle/>
                    <a:p>
                      <a:pPr indent="0" lvl="0" marL="0" rtl="0" algn="ctr">
                        <a:spcBef>
                          <a:spcPts val="0"/>
                        </a:spcBef>
                        <a:spcAft>
                          <a:spcPts val="0"/>
                        </a:spcAft>
                        <a:buNone/>
                      </a:pPr>
                      <a:r>
                        <a:rPr lang="en-GB" sz="1800">
                          <a:latin typeface="Lexend"/>
                          <a:ea typeface="Lexend"/>
                          <a:cs typeface="Lexend"/>
                          <a:sym typeface="Lexend"/>
                        </a:rPr>
                        <a:t>Days (</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925">
                <a:tc>
                  <a:txBody>
                    <a:bodyPr/>
                    <a:lstStyle/>
                    <a:p>
                      <a:pPr indent="0" lvl="0" marL="0" rtl="0" algn="ctr">
                        <a:spcBef>
                          <a:spcPts val="0"/>
                        </a:spcBef>
                        <a:spcAft>
                          <a:spcPts val="0"/>
                        </a:spcAft>
                        <a:buNone/>
                      </a:pPr>
                      <a:r>
                        <a:rPr lang="en-GB" sz="1800">
                          <a:latin typeface="Lexend"/>
                          <a:ea typeface="Lexend"/>
                          <a:cs typeface="Lexend"/>
                          <a:sym typeface="Lexend"/>
                        </a:rPr>
                        <a:t>Sweets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2200">
                          <a:latin typeface="Lexend"/>
                          <a:ea typeface="Lexend"/>
                          <a:cs typeface="Lexend"/>
                          <a:sym typeface="Lexend"/>
                        </a:rPr>
                        <a:t>12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52" name="Google Shape;852;p73"/>
          <p:cNvGraphicFramePr/>
          <p:nvPr/>
        </p:nvGraphicFramePr>
        <p:xfrm>
          <a:off x="2891742" y="3246659"/>
          <a:ext cx="3000000" cy="3000000"/>
        </p:xfrm>
        <a:graphic>
          <a:graphicData uri="http://schemas.openxmlformats.org/drawingml/2006/table">
            <a:tbl>
              <a:tblPr>
                <a:noFill/>
                <a:tableStyleId>{9A4AEBD6-43F1-4C7A-9EA5-C050399E0610}</a:tableStyleId>
              </a:tblPr>
              <a:tblGrid>
                <a:gridCol w="1206625"/>
                <a:gridCol w="411575"/>
                <a:gridCol w="411575"/>
                <a:gridCol w="411575"/>
                <a:gridCol w="411575"/>
                <a:gridCol w="411575"/>
                <a:gridCol w="411575"/>
                <a:gridCol w="411575"/>
                <a:gridCol w="411575"/>
              </a:tblGrid>
              <a:tr h="378425">
                <a:tc>
                  <a:txBody>
                    <a:bodyPr/>
                    <a:lstStyle/>
                    <a:p>
                      <a:pPr indent="0" lvl="0" marL="0" rtl="0" algn="ctr">
                        <a:spcBef>
                          <a:spcPts val="0"/>
                        </a:spcBef>
                        <a:spcAft>
                          <a:spcPts val="0"/>
                        </a:spcAft>
                        <a:buNone/>
                      </a:pPr>
                      <a:r>
                        <a:rPr lang="en-GB" sz="1800">
                          <a:latin typeface="Lexend"/>
                          <a:ea typeface="Lexend"/>
                          <a:cs typeface="Lexend"/>
                          <a:sym typeface="Lexend"/>
                        </a:rPr>
                        <a:t>Days (</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925">
                <a:tc>
                  <a:txBody>
                    <a:bodyPr/>
                    <a:lstStyle/>
                    <a:p>
                      <a:pPr indent="0" lvl="0" marL="0" rtl="0" algn="ctr">
                        <a:spcBef>
                          <a:spcPts val="0"/>
                        </a:spcBef>
                        <a:spcAft>
                          <a:spcPts val="0"/>
                        </a:spcAft>
                        <a:buNone/>
                      </a:pPr>
                      <a:r>
                        <a:rPr lang="en-GB" sz="1800">
                          <a:latin typeface="Lexend"/>
                          <a:ea typeface="Lexend"/>
                          <a:cs typeface="Lexend"/>
                          <a:sym typeface="Lexend"/>
                        </a:rPr>
                        <a:t>Sweets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53" name="Google Shape;853;p73"/>
          <p:cNvGraphicFramePr/>
          <p:nvPr/>
        </p:nvGraphicFramePr>
        <p:xfrm>
          <a:off x="2891742" y="2179859"/>
          <a:ext cx="3000000" cy="3000000"/>
        </p:xfrm>
        <a:graphic>
          <a:graphicData uri="http://schemas.openxmlformats.org/drawingml/2006/table">
            <a:tbl>
              <a:tblPr>
                <a:noFill/>
                <a:tableStyleId>{9A4AEBD6-43F1-4C7A-9EA5-C050399E0610}</a:tableStyleId>
              </a:tblPr>
              <a:tblGrid>
                <a:gridCol w="1206625"/>
                <a:gridCol w="411575"/>
                <a:gridCol w="411575"/>
                <a:gridCol w="411575"/>
                <a:gridCol w="411575"/>
                <a:gridCol w="411575"/>
                <a:gridCol w="411575"/>
                <a:gridCol w="411575"/>
                <a:gridCol w="411575"/>
              </a:tblGrid>
              <a:tr h="378425">
                <a:tc>
                  <a:txBody>
                    <a:bodyPr/>
                    <a:lstStyle/>
                    <a:p>
                      <a:pPr indent="0" lvl="0" marL="0" rtl="0" algn="ctr">
                        <a:spcBef>
                          <a:spcPts val="0"/>
                        </a:spcBef>
                        <a:spcAft>
                          <a:spcPts val="0"/>
                        </a:spcAft>
                        <a:buNone/>
                      </a:pPr>
                      <a:r>
                        <a:rPr lang="en-GB" sz="1800">
                          <a:latin typeface="Lexend"/>
                          <a:ea typeface="Lexend"/>
                          <a:cs typeface="Lexend"/>
                          <a:sym typeface="Lexend"/>
                        </a:rPr>
                        <a:t>Days (</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925">
                <a:tc>
                  <a:txBody>
                    <a:bodyPr/>
                    <a:lstStyle/>
                    <a:p>
                      <a:pPr indent="0" lvl="0" marL="0" rtl="0" algn="ctr">
                        <a:spcBef>
                          <a:spcPts val="0"/>
                        </a:spcBef>
                        <a:spcAft>
                          <a:spcPts val="0"/>
                        </a:spcAft>
                        <a:buNone/>
                      </a:pPr>
                      <a:r>
                        <a:rPr lang="en-GB" sz="1800">
                          <a:latin typeface="Lexend"/>
                          <a:ea typeface="Lexend"/>
                          <a:cs typeface="Lexend"/>
                          <a:sym typeface="Lexend"/>
                        </a:rPr>
                        <a:t>Sweets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54" name="Google Shape;854;p73"/>
          <p:cNvGraphicFramePr/>
          <p:nvPr/>
        </p:nvGraphicFramePr>
        <p:xfrm>
          <a:off x="2891742" y="1189259"/>
          <a:ext cx="3000000" cy="3000000"/>
        </p:xfrm>
        <a:graphic>
          <a:graphicData uri="http://schemas.openxmlformats.org/drawingml/2006/table">
            <a:tbl>
              <a:tblPr>
                <a:noFill/>
                <a:tableStyleId>{9A4AEBD6-43F1-4C7A-9EA5-C050399E0610}</a:tableStyleId>
              </a:tblPr>
              <a:tblGrid>
                <a:gridCol w="1206625"/>
                <a:gridCol w="411575"/>
                <a:gridCol w="411575"/>
                <a:gridCol w="411575"/>
                <a:gridCol w="411575"/>
                <a:gridCol w="411575"/>
                <a:gridCol w="411575"/>
                <a:gridCol w="411575"/>
                <a:gridCol w="411575"/>
              </a:tblGrid>
              <a:tr h="378425">
                <a:tc>
                  <a:txBody>
                    <a:bodyPr/>
                    <a:lstStyle/>
                    <a:p>
                      <a:pPr indent="0" lvl="0" marL="0" rtl="0" algn="ctr">
                        <a:spcBef>
                          <a:spcPts val="0"/>
                        </a:spcBef>
                        <a:spcAft>
                          <a:spcPts val="0"/>
                        </a:spcAft>
                        <a:buNone/>
                      </a:pPr>
                      <a:r>
                        <a:rPr lang="en-GB" sz="1800">
                          <a:latin typeface="Lexend"/>
                          <a:ea typeface="Lexend"/>
                          <a:cs typeface="Lexend"/>
                          <a:sym typeface="Lexend"/>
                        </a:rPr>
                        <a:t>Days</a:t>
                      </a:r>
                      <a:r>
                        <a:rPr lang="en-GB" sz="1800">
                          <a:latin typeface="Lexend"/>
                          <a:ea typeface="Lexend"/>
                          <a:cs typeface="Lexend"/>
                          <a:sym typeface="Lexend"/>
                        </a:rPr>
                        <a:t> (</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925">
                <a:tc>
                  <a:txBody>
                    <a:bodyPr/>
                    <a:lstStyle/>
                    <a:p>
                      <a:pPr indent="0" lvl="0" marL="0" rtl="0" algn="ctr">
                        <a:spcBef>
                          <a:spcPts val="0"/>
                        </a:spcBef>
                        <a:spcAft>
                          <a:spcPts val="0"/>
                        </a:spcAft>
                        <a:buNone/>
                      </a:pPr>
                      <a:r>
                        <a:rPr lang="en-GB" sz="1800">
                          <a:latin typeface="Lexend"/>
                          <a:ea typeface="Lexend"/>
                          <a:cs typeface="Lexend"/>
                          <a:sym typeface="Lexend"/>
                        </a:rPr>
                        <a:t>Sweets</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9</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55" name="Google Shape;855;p73"/>
          <p:cNvGraphicFramePr/>
          <p:nvPr/>
        </p:nvGraphicFramePr>
        <p:xfrm>
          <a:off x="2891742" y="1189259"/>
          <a:ext cx="3000000" cy="3000000"/>
        </p:xfrm>
        <a:graphic>
          <a:graphicData uri="http://schemas.openxmlformats.org/drawingml/2006/table">
            <a:tbl>
              <a:tblPr>
                <a:noFill/>
                <a:tableStyleId>{9A4AEBD6-43F1-4C7A-9EA5-C050399E0610}</a:tableStyleId>
              </a:tblPr>
              <a:tblGrid>
                <a:gridCol w="1206625"/>
                <a:gridCol w="411575"/>
                <a:gridCol w="411575"/>
                <a:gridCol w="411575"/>
                <a:gridCol w="411575"/>
                <a:gridCol w="411575"/>
                <a:gridCol w="411575"/>
                <a:gridCol w="411575"/>
                <a:gridCol w="411575"/>
              </a:tblGrid>
              <a:tr h="378425">
                <a:tc>
                  <a:txBody>
                    <a:bodyPr/>
                    <a:lstStyle/>
                    <a:p>
                      <a:pPr indent="0" lvl="0" marL="0" rtl="0" algn="ctr">
                        <a:spcBef>
                          <a:spcPts val="0"/>
                        </a:spcBef>
                        <a:spcAft>
                          <a:spcPts val="0"/>
                        </a:spcAft>
                        <a:buNone/>
                      </a:pPr>
                      <a:r>
                        <a:rPr lang="en-GB" sz="1800">
                          <a:latin typeface="Lexend"/>
                          <a:ea typeface="Lexend"/>
                          <a:cs typeface="Lexend"/>
                          <a:sym typeface="Lexend"/>
                        </a:rPr>
                        <a:t>Days (</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925">
                <a:tc>
                  <a:txBody>
                    <a:bodyPr/>
                    <a:lstStyle/>
                    <a:p>
                      <a:pPr indent="0" lvl="0" marL="0" rtl="0" algn="ctr">
                        <a:spcBef>
                          <a:spcPts val="0"/>
                        </a:spcBef>
                        <a:spcAft>
                          <a:spcPts val="0"/>
                        </a:spcAft>
                        <a:buNone/>
                      </a:pPr>
                      <a:r>
                        <a:rPr lang="en-GB" sz="1800">
                          <a:latin typeface="Lexend"/>
                          <a:ea typeface="Lexend"/>
                          <a:cs typeface="Lexend"/>
                          <a:sym typeface="Lexend"/>
                        </a:rPr>
                        <a:t>Sweets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56" name="Google Shape;856;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857" name="Google Shape;857;p73"/>
          <p:cNvSpPr txBox="1"/>
          <p:nvPr>
            <p:ph idx="1" type="body"/>
          </p:nvPr>
        </p:nvSpPr>
        <p:spPr>
          <a:xfrm>
            <a:off x="324000" y="759300"/>
            <a:ext cx="82377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Completing a table of values for each student.</a:t>
            </a:r>
            <a:endParaRPr sz="2000"/>
          </a:p>
        </p:txBody>
      </p:sp>
      <p:pic>
        <p:nvPicPr>
          <p:cNvPr id="858" name="Google Shape;858;p73"/>
          <p:cNvPicPr preferRelativeResize="0"/>
          <p:nvPr/>
        </p:nvPicPr>
        <p:blipFill>
          <a:blip r:embed="rId3">
            <a:alphaModFix/>
          </a:blip>
          <a:stretch>
            <a:fillRect/>
          </a:stretch>
        </p:blipFill>
        <p:spPr>
          <a:xfrm flipH="1">
            <a:off x="322525" y="3136632"/>
            <a:ext cx="767100" cy="742343"/>
          </a:xfrm>
          <a:prstGeom prst="rect">
            <a:avLst/>
          </a:prstGeom>
          <a:noFill/>
          <a:ln>
            <a:noFill/>
          </a:ln>
        </p:spPr>
      </p:pic>
      <p:pic>
        <p:nvPicPr>
          <p:cNvPr id="859" name="Google Shape;859;p73"/>
          <p:cNvPicPr preferRelativeResize="0"/>
          <p:nvPr/>
        </p:nvPicPr>
        <p:blipFill>
          <a:blip r:embed="rId4">
            <a:alphaModFix/>
          </a:blip>
          <a:stretch>
            <a:fillRect/>
          </a:stretch>
        </p:blipFill>
        <p:spPr>
          <a:xfrm>
            <a:off x="333123" y="2207388"/>
            <a:ext cx="519519" cy="639948"/>
          </a:xfrm>
          <a:prstGeom prst="rect">
            <a:avLst/>
          </a:prstGeom>
          <a:noFill/>
          <a:ln>
            <a:noFill/>
          </a:ln>
        </p:spPr>
      </p:pic>
      <p:pic>
        <p:nvPicPr>
          <p:cNvPr id="860" name="Google Shape;860;p73"/>
          <p:cNvPicPr preferRelativeResize="0"/>
          <p:nvPr/>
        </p:nvPicPr>
        <p:blipFill>
          <a:blip r:embed="rId5">
            <a:alphaModFix/>
          </a:blip>
          <a:stretch>
            <a:fillRect/>
          </a:stretch>
        </p:blipFill>
        <p:spPr>
          <a:xfrm>
            <a:off x="331274" y="1203775"/>
            <a:ext cx="445340" cy="840899"/>
          </a:xfrm>
          <a:prstGeom prst="rect">
            <a:avLst/>
          </a:prstGeom>
          <a:noFill/>
          <a:ln>
            <a:noFill/>
          </a:ln>
        </p:spPr>
      </p:pic>
      <p:sp>
        <p:nvSpPr>
          <p:cNvPr id="861" name="Google Shape;861;p73"/>
          <p:cNvSpPr txBox="1"/>
          <p:nvPr>
            <p:ph idx="1" type="body"/>
          </p:nvPr>
        </p:nvSpPr>
        <p:spPr>
          <a:xfrm>
            <a:off x="321000" y="4154625"/>
            <a:ext cx="75087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Whilst we can read who has the most sweets when from these tables it’s easier to see on a graph.</a:t>
            </a:r>
            <a:endParaRPr sz="2000"/>
          </a:p>
        </p:txBody>
      </p:sp>
      <p:sp>
        <p:nvSpPr>
          <p:cNvPr id="862" name="Google Shape;862;p73"/>
          <p:cNvSpPr txBox="1"/>
          <p:nvPr/>
        </p:nvSpPr>
        <p:spPr>
          <a:xfrm>
            <a:off x="1151058" y="1070793"/>
            <a:ext cx="14337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6 + </a:t>
            </a:r>
            <a:r>
              <a:rPr i="1" lang="en-GB" sz="2200">
                <a:solidFill>
                  <a:schemeClr val="dk1"/>
                </a:solidFill>
                <a:latin typeface="Times New Roman"/>
                <a:ea typeface="Times New Roman"/>
                <a:cs typeface="Times New Roman"/>
                <a:sym typeface="Times New Roman"/>
              </a:rPr>
              <a:t>d</a:t>
            </a:r>
            <a:endParaRPr i="1"/>
          </a:p>
        </p:txBody>
      </p:sp>
      <p:sp>
        <p:nvSpPr>
          <p:cNvPr id="863" name="Google Shape;863;p73"/>
          <p:cNvSpPr txBox="1"/>
          <p:nvPr/>
        </p:nvSpPr>
        <p:spPr>
          <a:xfrm>
            <a:off x="1145903" y="2009338"/>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2</a:t>
            </a:r>
            <a:r>
              <a:rPr i="1" lang="en-GB" sz="2200">
                <a:solidFill>
                  <a:schemeClr val="dk1"/>
                </a:solidFill>
                <a:latin typeface="Times New Roman"/>
                <a:ea typeface="Times New Roman"/>
                <a:cs typeface="Times New Roman"/>
                <a:sym typeface="Times New Roman"/>
              </a:rPr>
              <a:t>d</a:t>
            </a:r>
            <a:endParaRPr i="1"/>
          </a:p>
        </p:txBody>
      </p:sp>
      <p:sp>
        <p:nvSpPr>
          <p:cNvPr id="864" name="Google Shape;864;p73"/>
          <p:cNvSpPr txBox="1"/>
          <p:nvPr/>
        </p:nvSpPr>
        <p:spPr>
          <a:xfrm>
            <a:off x="1157464" y="3076866"/>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14 − 2</a:t>
            </a:r>
            <a:r>
              <a:rPr i="1" lang="en-GB" sz="2200">
                <a:solidFill>
                  <a:schemeClr val="dk1"/>
                </a:solidFill>
                <a:latin typeface="Times New Roman"/>
                <a:ea typeface="Times New Roman"/>
                <a:cs typeface="Times New Roman"/>
                <a:sym typeface="Times New Roman"/>
              </a:rPr>
              <a:t>d</a:t>
            </a:r>
            <a:endParaRPr i="1"/>
          </a:p>
        </p:txBody>
      </p:sp>
      <p:graphicFrame>
        <p:nvGraphicFramePr>
          <p:cNvPr id="865" name="Google Shape;865;p73"/>
          <p:cNvGraphicFramePr/>
          <p:nvPr/>
        </p:nvGraphicFramePr>
        <p:xfrm>
          <a:off x="2891742" y="2179859"/>
          <a:ext cx="3000000" cy="3000000"/>
        </p:xfrm>
        <a:graphic>
          <a:graphicData uri="http://schemas.openxmlformats.org/drawingml/2006/table">
            <a:tbl>
              <a:tblPr>
                <a:noFill/>
                <a:tableStyleId>{9A4AEBD6-43F1-4C7A-9EA5-C050399E0610}</a:tableStyleId>
              </a:tblPr>
              <a:tblGrid>
                <a:gridCol w="1206625"/>
                <a:gridCol w="411575"/>
                <a:gridCol w="411575"/>
                <a:gridCol w="411575"/>
                <a:gridCol w="411575"/>
                <a:gridCol w="411575"/>
                <a:gridCol w="411575"/>
                <a:gridCol w="411575"/>
                <a:gridCol w="411575"/>
              </a:tblGrid>
              <a:tr h="378425">
                <a:tc>
                  <a:txBody>
                    <a:bodyPr/>
                    <a:lstStyle/>
                    <a:p>
                      <a:pPr indent="0" lvl="0" marL="0" rtl="0" algn="ctr">
                        <a:spcBef>
                          <a:spcPts val="0"/>
                        </a:spcBef>
                        <a:spcAft>
                          <a:spcPts val="0"/>
                        </a:spcAft>
                        <a:buNone/>
                      </a:pPr>
                      <a:r>
                        <a:rPr lang="en-GB" sz="1800">
                          <a:latin typeface="Lexend"/>
                          <a:ea typeface="Lexend"/>
                          <a:cs typeface="Lexend"/>
                          <a:sym typeface="Lexend"/>
                        </a:rPr>
                        <a:t>Days (</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3925">
                <a:tc>
                  <a:txBody>
                    <a:bodyPr/>
                    <a:lstStyle/>
                    <a:p>
                      <a:pPr indent="0" lvl="0" marL="0" rtl="0" algn="ctr">
                        <a:spcBef>
                          <a:spcPts val="0"/>
                        </a:spcBef>
                        <a:spcAft>
                          <a:spcPts val="0"/>
                        </a:spcAft>
                        <a:buNone/>
                      </a:pPr>
                      <a:r>
                        <a:rPr lang="en-GB" sz="1800">
                          <a:latin typeface="Lexend"/>
                          <a:ea typeface="Lexend"/>
                          <a:cs typeface="Lexend"/>
                          <a:sym typeface="Lexend"/>
                        </a:rPr>
                        <a:t>Sweets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871" name="Google Shape;871;p74"/>
          <p:cNvSpPr txBox="1"/>
          <p:nvPr>
            <p:ph idx="1" type="body"/>
          </p:nvPr>
        </p:nvSpPr>
        <p:spPr>
          <a:xfrm rot="-5400000">
            <a:off x="4308861" y="1007948"/>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Sweets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pic>
        <p:nvPicPr>
          <p:cNvPr id="872" name="Google Shape;872;p74"/>
          <p:cNvPicPr preferRelativeResize="0"/>
          <p:nvPr/>
        </p:nvPicPr>
        <p:blipFill>
          <a:blip r:embed="rId3">
            <a:alphaModFix/>
          </a:blip>
          <a:stretch>
            <a:fillRect/>
          </a:stretch>
        </p:blipFill>
        <p:spPr>
          <a:xfrm flipH="1">
            <a:off x="322525" y="3136632"/>
            <a:ext cx="767100" cy="742343"/>
          </a:xfrm>
          <a:prstGeom prst="rect">
            <a:avLst/>
          </a:prstGeom>
          <a:noFill/>
          <a:ln>
            <a:noFill/>
          </a:ln>
        </p:spPr>
      </p:pic>
      <p:pic>
        <p:nvPicPr>
          <p:cNvPr id="873" name="Google Shape;873;p74"/>
          <p:cNvPicPr preferRelativeResize="0"/>
          <p:nvPr/>
        </p:nvPicPr>
        <p:blipFill>
          <a:blip r:embed="rId4">
            <a:alphaModFix/>
          </a:blip>
          <a:stretch>
            <a:fillRect/>
          </a:stretch>
        </p:blipFill>
        <p:spPr>
          <a:xfrm>
            <a:off x="333123" y="2207388"/>
            <a:ext cx="519519" cy="639948"/>
          </a:xfrm>
          <a:prstGeom prst="rect">
            <a:avLst/>
          </a:prstGeom>
          <a:noFill/>
          <a:ln>
            <a:noFill/>
          </a:ln>
        </p:spPr>
      </p:pic>
      <p:pic>
        <p:nvPicPr>
          <p:cNvPr id="874" name="Google Shape;874;p74"/>
          <p:cNvPicPr preferRelativeResize="0"/>
          <p:nvPr/>
        </p:nvPicPr>
        <p:blipFill>
          <a:blip r:embed="rId5">
            <a:alphaModFix/>
          </a:blip>
          <a:stretch>
            <a:fillRect/>
          </a:stretch>
        </p:blipFill>
        <p:spPr>
          <a:xfrm>
            <a:off x="331274" y="1203775"/>
            <a:ext cx="445340" cy="840899"/>
          </a:xfrm>
          <a:prstGeom prst="rect">
            <a:avLst/>
          </a:prstGeom>
          <a:noFill/>
          <a:ln>
            <a:noFill/>
          </a:ln>
        </p:spPr>
      </p:pic>
      <p:sp>
        <p:nvSpPr>
          <p:cNvPr id="875" name="Google Shape;875;p74"/>
          <p:cNvSpPr txBox="1"/>
          <p:nvPr>
            <p:ph idx="1" type="body"/>
          </p:nvPr>
        </p:nvSpPr>
        <p:spPr>
          <a:xfrm>
            <a:off x="321000" y="4307025"/>
            <a:ext cx="4726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key moments can you now see?</a:t>
            </a:r>
            <a:endParaRPr sz="2000"/>
          </a:p>
        </p:txBody>
      </p:sp>
      <p:sp>
        <p:nvSpPr>
          <p:cNvPr id="876" name="Google Shape;876;p74"/>
          <p:cNvSpPr txBox="1"/>
          <p:nvPr/>
        </p:nvSpPr>
        <p:spPr>
          <a:xfrm>
            <a:off x="1151058" y="1070793"/>
            <a:ext cx="14337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6 + </a:t>
            </a:r>
            <a:r>
              <a:rPr i="1" lang="en-GB" sz="2200">
                <a:solidFill>
                  <a:schemeClr val="dk1"/>
                </a:solidFill>
                <a:latin typeface="Times New Roman"/>
                <a:ea typeface="Times New Roman"/>
                <a:cs typeface="Times New Roman"/>
                <a:sym typeface="Times New Roman"/>
              </a:rPr>
              <a:t>d</a:t>
            </a:r>
            <a:endParaRPr i="1"/>
          </a:p>
        </p:txBody>
      </p:sp>
      <p:sp>
        <p:nvSpPr>
          <p:cNvPr id="877" name="Google Shape;877;p74"/>
          <p:cNvSpPr txBox="1"/>
          <p:nvPr/>
        </p:nvSpPr>
        <p:spPr>
          <a:xfrm>
            <a:off x="1145903" y="2009338"/>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2</a:t>
            </a:r>
            <a:r>
              <a:rPr i="1" lang="en-GB" sz="2200">
                <a:solidFill>
                  <a:schemeClr val="dk1"/>
                </a:solidFill>
                <a:latin typeface="Times New Roman"/>
                <a:ea typeface="Times New Roman"/>
                <a:cs typeface="Times New Roman"/>
                <a:sym typeface="Times New Roman"/>
              </a:rPr>
              <a:t>d</a:t>
            </a:r>
            <a:endParaRPr i="1"/>
          </a:p>
        </p:txBody>
      </p:sp>
      <p:sp>
        <p:nvSpPr>
          <p:cNvPr id="878" name="Google Shape;878;p74"/>
          <p:cNvSpPr txBox="1"/>
          <p:nvPr/>
        </p:nvSpPr>
        <p:spPr>
          <a:xfrm>
            <a:off x="1157464" y="3076866"/>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14 − 2</a:t>
            </a:r>
            <a:r>
              <a:rPr i="1" lang="en-GB" sz="2200">
                <a:solidFill>
                  <a:schemeClr val="dk1"/>
                </a:solidFill>
                <a:latin typeface="Times New Roman"/>
                <a:ea typeface="Times New Roman"/>
                <a:cs typeface="Times New Roman"/>
                <a:sym typeface="Times New Roman"/>
              </a:rPr>
              <a:t>d</a:t>
            </a:r>
            <a:endParaRPr i="1"/>
          </a:p>
        </p:txBody>
      </p:sp>
      <p:pic>
        <p:nvPicPr>
          <p:cNvPr id="879" name="Google Shape;879;p74"/>
          <p:cNvPicPr preferRelativeResize="0"/>
          <p:nvPr/>
        </p:nvPicPr>
        <p:blipFill>
          <a:blip r:embed="rId6">
            <a:alphaModFix/>
          </a:blip>
          <a:stretch>
            <a:fillRect/>
          </a:stretch>
        </p:blipFill>
        <p:spPr>
          <a:xfrm>
            <a:off x="5075259" y="819653"/>
            <a:ext cx="2372179" cy="4000750"/>
          </a:xfrm>
          <a:prstGeom prst="rect">
            <a:avLst/>
          </a:prstGeom>
          <a:noFill/>
          <a:ln>
            <a:noFill/>
          </a:ln>
        </p:spPr>
      </p:pic>
      <p:sp>
        <p:nvSpPr>
          <p:cNvPr id="880" name="Google Shape;880;p74"/>
          <p:cNvSpPr txBox="1"/>
          <p:nvPr>
            <p:ph idx="1" type="body"/>
          </p:nvPr>
        </p:nvSpPr>
        <p:spPr>
          <a:xfrm>
            <a:off x="7563000" y="4569300"/>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Day</a:t>
            </a:r>
            <a:r>
              <a:rPr lang="en-GB" sz="1600"/>
              <a: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d</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pic>
        <p:nvPicPr>
          <p:cNvPr id="881" name="Google Shape;881;p74"/>
          <p:cNvPicPr preferRelativeResize="0"/>
          <p:nvPr/>
        </p:nvPicPr>
        <p:blipFill>
          <a:blip r:embed="rId7">
            <a:alphaModFix/>
          </a:blip>
          <a:stretch>
            <a:fillRect/>
          </a:stretch>
        </p:blipFill>
        <p:spPr>
          <a:xfrm>
            <a:off x="5079979" y="830877"/>
            <a:ext cx="2367450" cy="3971563"/>
          </a:xfrm>
          <a:prstGeom prst="rect">
            <a:avLst/>
          </a:prstGeom>
          <a:noFill/>
          <a:ln>
            <a:noFill/>
          </a:ln>
        </p:spPr>
      </p:pic>
      <p:pic>
        <p:nvPicPr>
          <p:cNvPr id="882" name="Google Shape;882;p74"/>
          <p:cNvPicPr preferRelativeResize="0"/>
          <p:nvPr/>
        </p:nvPicPr>
        <p:blipFill>
          <a:blip r:embed="rId8">
            <a:alphaModFix/>
          </a:blip>
          <a:stretch>
            <a:fillRect/>
          </a:stretch>
        </p:blipFill>
        <p:spPr>
          <a:xfrm>
            <a:off x="5047396" y="830875"/>
            <a:ext cx="2408205" cy="4000750"/>
          </a:xfrm>
          <a:prstGeom prst="rect">
            <a:avLst/>
          </a:prstGeom>
          <a:noFill/>
          <a:ln>
            <a:noFill/>
          </a:ln>
        </p:spPr>
      </p:pic>
      <p:sp>
        <p:nvSpPr>
          <p:cNvPr id="883" name="Google Shape;883;p74"/>
          <p:cNvSpPr txBox="1"/>
          <p:nvPr/>
        </p:nvSpPr>
        <p:spPr>
          <a:xfrm>
            <a:off x="7323250" y="1451800"/>
            <a:ext cx="1260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200">
                <a:solidFill>
                  <a:schemeClr val="dk1"/>
                </a:solidFill>
                <a:highlight>
                  <a:schemeClr val="lt1"/>
                </a:highlight>
                <a:latin typeface="Times New Roman"/>
                <a:ea typeface="Times New Roman"/>
                <a:cs typeface="Times New Roman"/>
                <a:sym typeface="Times New Roman"/>
              </a:rPr>
              <a:t>s </a:t>
            </a:r>
            <a:r>
              <a:rPr lang="en-GB" sz="2200">
                <a:solidFill>
                  <a:schemeClr val="dk1"/>
                </a:solidFill>
                <a:highlight>
                  <a:schemeClr val="lt1"/>
                </a:highlight>
                <a:latin typeface="Times New Roman"/>
                <a:ea typeface="Times New Roman"/>
                <a:cs typeface="Times New Roman"/>
                <a:sym typeface="Times New Roman"/>
              </a:rPr>
              <a:t>= 6 + </a:t>
            </a:r>
            <a:r>
              <a:rPr i="1" lang="en-GB" sz="2200">
                <a:solidFill>
                  <a:schemeClr val="dk1"/>
                </a:solidFill>
                <a:highlight>
                  <a:schemeClr val="lt1"/>
                </a:highlight>
                <a:latin typeface="Times New Roman"/>
                <a:ea typeface="Times New Roman"/>
                <a:cs typeface="Times New Roman"/>
                <a:sym typeface="Times New Roman"/>
              </a:rPr>
              <a:t>d</a:t>
            </a:r>
            <a:endParaRPr i="1">
              <a:highlight>
                <a:schemeClr val="lt1"/>
              </a:highlight>
            </a:endParaRPr>
          </a:p>
        </p:txBody>
      </p:sp>
      <p:sp>
        <p:nvSpPr>
          <p:cNvPr id="884" name="Google Shape;884;p74"/>
          <p:cNvSpPr txBox="1"/>
          <p:nvPr/>
        </p:nvSpPr>
        <p:spPr>
          <a:xfrm>
            <a:off x="6287729" y="712261"/>
            <a:ext cx="7671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200">
                <a:solidFill>
                  <a:schemeClr val="dk1"/>
                </a:solidFill>
                <a:highlight>
                  <a:schemeClr val="lt1"/>
                </a:highlight>
                <a:latin typeface="Times New Roman"/>
                <a:ea typeface="Times New Roman"/>
                <a:cs typeface="Times New Roman"/>
                <a:sym typeface="Times New Roman"/>
              </a:rPr>
              <a:t>s </a:t>
            </a:r>
            <a:r>
              <a:rPr lang="en-GB" sz="2200">
                <a:solidFill>
                  <a:schemeClr val="dk1"/>
                </a:solidFill>
                <a:highlight>
                  <a:schemeClr val="lt1"/>
                </a:highlight>
                <a:latin typeface="Times New Roman"/>
                <a:ea typeface="Times New Roman"/>
                <a:cs typeface="Times New Roman"/>
                <a:sym typeface="Times New Roman"/>
              </a:rPr>
              <a:t>= 2</a:t>
            </a:r>
            <a:r>
              <a:rPr i="1" lang="en-GB" sz="2200">
                <a:solidFill>
                  <a:schemeClr val="dk1"/>
                </a:solidFill>
                <a:highlight>
                  <a:schemeClr val="lt1"/>
                </a:highlight>
                <a:latin typeface="Times New Roman"/>
                <a:ea typeface="Times New Roman"/>
                <a:cs typeface="Times New Roman"/>
                <a:sym typeface="Times New Roman"/>
              </a:rPr>
              <a:t>d</a:t>
            </a:r>
            <a:endParaRPr i="1">
              <a:highlight>
                <a:schemeClr val="lt1"/>
              </a:highlight>
            </a:endParaRPr>
          </a:p>
        </p:txBody>
      </p:sp>
      <p:sp>
        <p:nvSpPr>
          <p:cNvPr id="885" name="Google Shape;885;p74"/>
          <p:cNvSpPr txBox="1"/>
          <p:nvPr/>
        </p:nvSpPr>
        <p:spPr>
          <a:xfrm>
            <a:off x="6692650" y="4118800"/>
            <a:ext cx="13800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200">
                <a:solidFill>
                  <a:schemeClr val="dk1"/>
                </a:solidFill>
                <a:highlight>
                  <a:schemeClr val="lt1"/>
                </a:highlight>
                <a:latin typeface="Times New Roman"/>
                <a:ea typeface="Times New Roman"/>
                <a:cs typeface="Times New Roman"/>
                <a:sym typeface="Times New Roman"/>
              </a:rPr>
              <a:t>s </a:t>
            </a:r>
            <a:r>
              <a:rPr lang="en-GB" sz="2200">
                <a:solidFill>
                  <a:schemeClr val="dk1"/>
                </a:solidFill>
                <a:highlight>
                  <a:schemeClr val="lt1"/>
                </a:highlight>
                <a:latin typeface="Times New Roman"/>
                <a:ea typeface="Times New Roman"/>
                <a:cs typeface="Times New Roman"/>
                <a:sym typeface="Times New Roman"/>
              </a:rPr>
              <a:t>= 14 − 2</a:t>
            </a:r>
            <a:r>
              <a:rPr i="1" lang="en-GB" sz="2200">
                <a:solidFill>
                  <a:schemeClr val="dk1"/>
                </a:solidFill>
                <a:highlight>
                  <a:schemeClr val="lt1"/>
                </a:highlight>
                <a:latin typeface="Times New Roman"/>
                <a:ea typeface="Times New Roman"/>
                <a:cs typeface="Times New Roman"/>
                <a:sym typeface="Times New Roman"/>
              </a:rPr>
              <a:t>d</a:t>
            </a:r>
            <a:endParaRPr i="1">
              <a:highlight>
                <a:schemeClr val="lt1"/>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891" name="Google Shape;891;p75"/>
          <p:cNvSpPr txBox="1"/>
          <p:nvPr>
            <p:ph idx="1" type="body"/>
          </p:nvPr>
        </p:nvSpPr>
        <p:spPr>
          <a:xfrm rot="-5400000">
            <a:off x="4308861" y="1007948"/>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Sweets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892" name="Google Shape;892;p75"/>
          <p:cNvSpPr txBox="1"/>
          <p:nvPr>
            <p:ph idx="1" type="body"/>
          </p:nvPr>
        </p:nvSpPr>
        <p:spPr>
          <a:xfrm>
            <a:off x="321000" y="4307025"/>
            <a:ext cx="4726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key moments can you now see?</a:t>
            </a:r>
            <a:endParaRPr sz="2000"/>
          </a:p>
        </p:txBody>
      </p:sp>
      <p:pic>
        <p:nvPicPr>
          <p:cNvPr id="893" name="Google Shape;893;p75"/>
          <p:cNvPicPr preferRelativeResize="0"/>
          <p:nvPr/>
        </p:nvPicPr>
        <p:blipFill>
          <a:blip r:embed="rId3">
            <a:alphaModFix/>
          </a:blip>
          <a:stretch>
            <a:fillRect/>
          </a:stretch>
        </p:blipFill>
        <p:spPr>
          <a:xfrm>
            <a:off x="5075259" y="819653"/>
            <a:ext cx="2372179" cy="4000750"/>
          </a:xfrm>
          <a:prstGeom prst="rect">
            <a:avLst/>
          </a:prstGeom>
          <a:noFill/>
          <a:ln>
            <a:noFill/>
          </a:ln>
        </p:spPr>
      </p:pic>
      <p:sp>
        <p:nvSpPr>
          <p:cNvPr id="894" name="Google Shape;894;p75"/>
          <p:cNvSpPr txBox="1"/>
          <p:nvPr>
            <p:ph idx="1" type="body"/>
          </p:nvPr>
        </p:nvSpPr>
        <p:spPr>
          <a:xfrm>
            <a:off x="7563000" y="4569300"/>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D</a:t>
            </a:r>
            <a:r>
              <a:rPr lang="en-GB" sz="1600"/>
              <a:t>ays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d</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pic>
        <p:nvPicPr>
          <p:cNvPr id="895" name="Google Shape;895;p75"/>
          <p:cNvPicPr preferRelativeResize="0"/>
          <p:nvPr/>
        </p:nvPicPr>
        <p:blipFill>
          <a:blip r:embed="rId4">
            <a:alphaModFix/>
          </a:blip>
          <a:stretch>
            <a:fillRect/>
          </a:stretch>
        </p:blipFill>
        <p:spPr>
          <a:xfrm>
            <a:off x="5079979" y="830877"/>
            <a:ext cx="2367450" cy="3971563"/>
          </a:xfrm>
          <a:prstGeom prst="rect">
            <a:avLst/>
          </a:prstGeom>
          <a:noFill/>
          <a:ln>
            <a:noFill/>
          </a:ln>
        </p:spPr>
      </p:pic>
      <p:pic>
        <p:nvPicPr>
          <p:cNvPr id="896" name="Google Shape;896;p75"/>
          <p:cNvPicPr preferRelativeResize="0"/>
          <p:nvPr/>
        </p:nvPicPr>
        <p:blipFill>
          <a:blip r:embed="rId5">
            <a:alphaModFix/>
          </a:blip>
          <a:stretch>
            <a:fillRect/>
          </a:stretch>
        </p:blipFill>
        <p:spPr>
          <a:xfrm>
            <a:off x="5047396" y="830875"/>
            <a:ext cx="2408205" cy="4000750"/>
          </a:xfrm>
          <a:prstGeom prst="rect">
            <a:avLst/>
          </a:prstGeom>
          <a:noFill/>
          <a:ln>
            <a:noFill/>
          </a:ln>
        </p:spPr>
      </p:pic>
      <p:sp>
        <p:nvSpPr>
          <p:cNvPr id="897" name="Google Shape;897;p75"/>
          <p:cNvSpPr txBox="1"/>
          <p:nvPr/>
        </p:nvSpPr>
        <p:spPr>
          <a:xfrm>
            <a:off x="7323250" y="1451800"/>
            <a:ext cx="12603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200">
                <a:solidFill>
                  <a:schemeClr val="dk1"/>
                </a:solidFill>
                <a:highlight>
                  <a:schemeClr val="lt1"/>
                </a:highlight>
                <a:latin typeface="Times New Roman"/>
                <a:ea typeface="Times New Roman"/>
                <a:cs typeface="Times New Roman"/>
                <a:sym typeface="Times New Roman"/>
              </a:rPr>
              <a:t>s </a:t>
            </a:r>
            <a:r>
              <a:rPr lang="en-GB" sz="2200">
                <a:solidFill>
                  <a:schemeClr val="dk1"/>
                </a:solidFill>
                <a:highlight>
                  <a:schemeClr val="lt1"/>
                </a:highlight>
                <a:latin typeface="Times New Roman"/>
                <a:ea typeface="Times New Roman"/>
                <a:cs typeface="Times New Roman"/>
                <a:sym typeface="Times New Roman"/>
              </a:rPr>
              <a:t>= 6 + </a:t>
            </a:r>
            <a:r>
              <a:rPr i="1" lang="en-GB" sz="2200">
                <a:solidFill>
                  <a:schemeClr val="dk1"/>
                </a:solidFill>
                <a:highlight>
                  <a:schemeClr val="lt1"/>
                </a:highlight>
                <a:latin typeface="Times New Roman"/>
                <a:ea typeface="Times New Roman"/>
                <a:cs typeface="Times New Roman"/>
                <a:sym typeface="Times New Roman"/>
              </a:rPr>
              <a:t>d</a:t>
            </a:r>
            <a:endParaRPr i="1">
              <a:highlight>
                <a:schemeClr val="lt1"/>
              </a:highlight>
            </a:endParaRPr>
          </a:p>
        </p:txBody>
      </p:sp>
      <p:sp>
        <p:nvSpPr>
          <p:cNvPr id="898" name="Google Shape;898;p75"/>
          <p:cNvSpPr txBox="1"/>
          <p:nvPr/>
        </p:nvSpPr>
        <p:spPr>
          <a:xfrm>
            <a:off x="6287729" y="712261"/>
            <a:ext cx="7671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200">
                <a:solidFill>
                  <a:schemeClr val="dk1"/>
                </a:solidFill>
                <a:highlight>
                  <a:schemeClr val="lt1"/>
                </a:highlight>
                <a:latin typeface="Times New Roman"/>
                <a:ea typeface="Times New Roman"/>
                <a:cs typeface="Times New Roman"/>
                <a:sym typeface="Times New Roman"/>
              </a:rPr>
              <a:t>s </a:t>
            </a:r>
            <a:r>
              <a:rPr lang="en-GB" sz="2200">
                <a:solidFill>
                  <a:schemeClr val="dk1"/>
                </a:solidFill>
                <a:highlight>
                  <a:schemeClr val="lt1"/>
                </a:highlight>
                <a:latin typeface="Times New Roman"/>
                <a:ea typeface="Times New Roman"/>
                <a:cs typeface="Times New Roman"/>
                <a:sym typeface="Times New Roman"/>
              </a:rPr>
              <a:t>= 2</a:t>
            </a:r>
            <a:r>
              <a:rPr i="1" lang="en-GB" sz="2200">
                <a:solidFill>
                  <a:schemeClr val="dk1"/>
                </a:solidFill>
                <a:highlight>
                  <a:schemeClr val="lt1"/>
                </a:highlight>
                <a:latin typeface="Times New Roman"/>
                <a:ea typeface="Times New Roman"/>
                <a:cs typeface="Times New Roman"/>
                <a:sym typeface="Times New Roman"/>
              </a:rPr>
              <a:t>d</a:t>
            </a:r>
            <a:endParaRPr i="1">
              <a:highlight>
                <a:schemeClr val="lt1"/>
              </a:highlight>
            </a:endParaRPr>
          </a:p>
        </p:txBody>
      </p:sp>
      <p:sp>
        <p:nvSpPr>
          <p:cNvPr id="899" name="Google Shape;899;p75"/>
          <p:cNvSpPr txBox="1"/>
          <p:nvPr/>
        </p:nvSpPr>
        <p:spPr>
          <a:xfrm>
            <a:off x="6692650" y="4118800"/>
            <a:ext cx="13800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200">
                <a:solidFill>
                  <a:schemeClr val="dk1"/>
                </a:solidFill>
                <a:highlight>
                  <a:schemeClr val="lt1"/>
                </a:highlight>
                <a:latin typeface="Times New Roman"/>
                <a:ea typeface="Times New Roman"/>
                <a:cs typeface="Times New Roman"/>
                <a:sym typeface="Times New Roman"/>
              </a:rPr>
              <a:t>s </a:t>
            </a:r>
            <a:r>
              <a:rPr lang="en-GB" sz="2200">
                <a:solidFill>
                  <a:schemeClr val="dk1"/>
                </a:solidFill>
                <a:highlight>
                  <a:schemeClr val="lt1"/>
                </a:highlight>
                <a:latin typeface="Times New Roman"/>
                <a:ea typeface="Times New Roman"/>
                <a:cs typeface="Times New Roman"/>
                <a:sym typeface="Times New Roman"/>
              </a:rPr>
              <a:t>= 14 − 2</a:t>
            </a:r>
            <a:r>
              <a:rPr i="1" lang="en-GB" sz="2200">
                <a:solidFill>
                  <a:schemeClr val="dk1"/>
                </a:solidFill>
                <a:highlight>
                  <a:schemeClr val="lt1"/>
                </a:highlight>
                <a:latin typeface="Times New Roman"/>
                <a:ea typeface="Times New Roman"/>
                <a:cs typeface="Times New Roman"/>
                <a:sym typeface="Times New Roman"/>
              </a:rPr>
              <a:t>d</a:t>
            </a:r>
            <a:endParaRPr i="1">
              <a:highlight>
                <a:schemeClr val="lt1"/>
              </a:highlight>
            </a:endParaRPr>
          </a:p>
        </p:txBody>
      </p:sp>
      <p:sp>
        <p:nvSpPr>
          <p:cNvPr id="900" name="Google Shape;900;p75"/>
          <p:cNvSpPr txBox="1"/>
          <p:nvPr>
            <p:ph idx="1" type="body"/>
          </p:nvPr>
        </p:nvSpPr>
        <p:spPr>
          <a:xfrm>
            <a:off x="321000" y="1019175"/>
            <a:ext cx="39990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By day 4 Izzy already has the least.</a:t>
            </a:r>
            <a:endParaRPr sz="2000">
              <a:latin typeface="Kalam"/>
              <a:ea typeface="Kalam"/>
              <a:cs typeface="Kalam"/>
              <a:sym typeface="Kalam"/>
            </a:endParaRPr>
          </a:p>
        </p:txBody>
      </p:sp>
      <p:sp>
        <p:nvSpPr>
          <p:cNvPr id="901" name="Google Shape;901;p75"/>
          <p:cNvSpPr txBox="1"/>
          <p:nvPr>
            <p:ph idx="1" type="body"/>
          </p:nvPr>
        </p:nvSpPr>
        <p:spPr>
          <a:xfrm>
            <a:off x="324000" y="2097214"/>
            <a:ext cx="44889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At day </a:t>
            </a:r>
            <a:r>
              <a:rPr lang="en-GB" sz="2000">
                <a:latin typeface="Kalam"/>
                <a:ea typeface="Kalam"/>
                <a:cs typeface="Kalam"/>
                <a:sym typeface="Kalam"/>
              </a:rPr>
              <a:t>6</a:t>
            </a:r>
            <a:r>
              <a:rPr lang="en-GB" sz="2000">
                <a:latin typeface="Kalam"/>
                <a:ea typeface="Kalam"/>
                <a:cs typeface="Kalam"/>
                <a:sym typeface="Kalam"/>
              </a:rPr>
              <a:t> Aisha and Jacob are equal.</a:t>
            </a:r>
            <a:endParaRPr sz="2000">
              <a:latin typeface="Kalam"/>
              <a:ea typeface="Kalam"/>
              <a:cs typeface="Kalam"/>
              <a:sym typeface="Kalam"/>
            </a:endParaRPr>
          </a:p>
        </p:txBody>
      </p:sp>
      <p:sp>
        <p:nvSpPr>
          <p:cNvPr id="902" name="Google Shape;902;p75"/>
          <p:cNvSpPr txBox="1"/>
          <p:nvPr>
            <p:ph idx="1" type="body"/>
          </p:nvPr>
        </p:nvSpPr>
        <p:spPr>
          <a:xfrm>
            <a:off x="320225" y="3164014"/>
            <a:ext cx="44889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Beyond</a:t>
            </a:r>
            <a:r>
              <a:rPr lang="en-GB" sz="2000">
                <a:latin typeface="Kalam"/>
                <a:ea typeface="Kalam"/>
                <a:cs typeface="Kalam"/>
                <a:sym typeface="Kalam"/>
              </a:rPr>
              <a:t> day 6 Jacob’s faster rate of change means he will always have more.</a:t>
            </a:r>
            <a:endParaRPr sz="2000">
              <a:latin typeface="Kalam"/>
              <a:ea typeface="Kalam"/>
              <a:cs typeface="Kalam"/>
              <a:sym typeface="Kalam"/>
            </a:endParaRPr>
          </a:p>
        </p:txBody>
      </p:sp>
      <p:sp>
        <p:nvSpPr>
          <p:cNvPr id="903" name="Google Shape;903;p75"/>
          <p:cNvSpPr/>
          <p:nvPr/>
        </p:nvSpPr>
        <p:spPr>
          <a:xfrm>
            <a:off x="5907020" y="3275652"/>
            <a:ext cx="335700" cy="33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4" name="Google Shape;904;p75"/>
          <p:cNvSpPr/>
          <p:nvPr/>
        </p:nvSpPr>
        <p:spPr>
          <a:xfrm>
            <a:off x="6332941" y="2002712"/>
            <a:ext cx="335700" cy="33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5" name="Google Shape;905;p75"/>
          <p:cNvCxnSpPr/>
          <p:nvPr/>
        </p:nvCxnSpPr>
        <p:spPr>
          <a:xfrm flipH="1" rot="10800000">
            <a:off x="6729225" y="602100"/>
            <a:ext cx="550200" cy="1109400"/>
          </a:xfrm>
          <a:prstGeom prst="straightConnector1">
            <a:avLst/>
          </a:prstGeom>
          <a:noFill/>
          <a:ln cap="flat" cmpd="sng" w="38100">
            <a:solidFill>
              <a:schemeClr val="accent4"/>
            </a:solidFill>
            <a:prstDash val="solid"/>
            <a:round/>
            <a:headEnd len="med" w="med" type="none"/>
            <a:tailEnd len="med" w="med" type="triangle"/>
          </a:ln>
        </p:spPr>
      </p:cxnSp>
      <p:cxnSp>
        <p:nvCxnSpPr>
          <p:cNvPr id="906" name="Google Shape;906;p75"/>
          <p:cNvCxnSpPr/>
          <p:nvPr/>
        </p:nvCxnSpPr>
        <p:spPr>
          <a:xfrm flipH="1" rot="10800000">
            <a:off x="6892855" y="981600"/>
            <a:ext cx="802200" cy="806100"/>
          </a:xfrm>
          <a:prstGeom prst="straightConnector1">
            <a:avLst/>
          </a:prstGeom>
          <a:noFill/>
          <a:ln cap="flat" cmpd="sng" w="38100">
            <a:solidFill>
              <a:schemeClr val="accent4"/>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76"/>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912" name="Google Shape;912;p76"/>
          <p:cNvSpPr txBox="1"/>
          <p:nvPr>
            <p:ph idx="3" type="subTitle"/>
          </p:nvPr>
        </p:nvSpPr>
        <p:spPr>
          <a:xfrm>
            <a:off x="1034425" y="2794250"/>
            <a:ext cx="843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a:t>
            </a:r>
            <a:endParaRPr sz="2000"/>
          </a:p>
        </p:txBody>
      </p:sp>
      <p:sp>
        <p:nvSpPr>
          <p:cNvPr id="913" name="Google Shape;913;p76"/>
          <p:cNvSpPr txBox="1"/>
          <p:nvPr>
            <p:ph type="title"/>
          </p:nvPr>
        </p:nvSpPr>
        <p:spPr>
          <a:xfrm>
            <a:off x="324000" y="748775"/>
            <a:ext cx="45345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In this</a:t>
            </a:r>
            <a:r>
              <a:rPr lang="en-GB" sz="2000"/>
              <a:t> scenario who has the most sweets after </a:t>
            </a:r>
            <a:r>
              <a:rPr lang="en-GB" sz="2000"/>
              <a:t>2</a:t>
            </a:r>
            <a:r>
              <a:rPr lang="en-GB" sz="2000"/>
              <a:t> days?</a:t>
            </a:r>
            <a:endParaRPr sz="2000"/>
          </a:p>
        </p:txBody>
      </p:sp>
      <p:pic>
        <p:nvPicPr>
          <p:cNvPr id="914" name="Google Shape;914;p76"/>
          <p:cNvPicPr preferRelativeResize="0"/>
          <p:nvPr/>
        </p:nvPicPr>
        <p:blipFill>
          <a:blip r:embed="rId3">
            <a:alphaModFix/>
          </a:blip>
          <a:stretch>
            <a:fillRect/>
          </a:stretch>
        </p:blipFill>
        <p:spPr>
          <a:xfrm>
            <a:off x="5196524" y="1088701"/>
            <a:ext cx="2403477" cy="3731700"/>
          </a:xfrm>
          <a:prstGeom prst="rect">
            <a:avLst/>
          </a:prstGeom>
          <a:noFill/>
          <a:ln cap="flat" cmpd="sng" w="19050">
            <a:solidFill>
              <a:schemeClr val="dk1"/>
            </a:solidFill>
            <a:prstDash val="solid"/>
            <a:round/>
            <a:headEnd len="sm" w="sm" type="none"/>
            <a:tailEnd len="sm" w="sm" type="none"/>
          </a:ln>
        </p:spPr>
      </p:pic>
      <p:sp>
        <p:nvSpPr>
          <p:cNvPr id="915" name="Google Shape;915;p76"/>
          <p:cNvSpPr txBox="1"/>
          <p:nvPr>
            <p:ph idx="4294967295" type="body"/>
          </p:nvPr>
        </p:nvSpPr>
        <p:spPr>
          <a:xfrm rot="-5400000">
            <a:off x="4488700" y="1656201"/>
            <a:ext cx="1075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Sweets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16" name="Google Shape;916;p76"/>
          <p:cNvSpPr txBox="1"/>
          <p:nvPr>
            <p:ph idx="4294967295" type="body"/>
          </p:nvPr>
        </p:nvSpPr>
        <p:spPr>
          <a:xfrm>
            <a:off x="7639200" y="4569300"/>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D</a:t>
            </a:r>
            <a:r>
              <a:rPr lang="en-GB" sz="1600"/>
              <a:t>ays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d</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17" name="Google Shape;917;p76"/>
          <p:cNvSpPr txBox="1"/>
          <p:nvPr>
            <p:ph idx="4294967295" type="body"/>
          </p:nvPr>
        </p:nvSpPr>
        <p:spPr>
          <a:xfrm rot="-3733756">
            <a:off x="5677285" y="3423477"/>
            <a:ext cx="656744" cy="335491"/>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Aisha</a:t>
            </a:r>
            <a:endParaRPr sz="2000">
              <a:highlight>
                <a:schemeClr val="lt1"/>
              </a:highlight>
              <a:latin typeface="Times New Roman"/>
              <a:ea typeface="Times New Roman"/>
              <a:cs typeface="Times New Roman"/>
              <a:sym typeface="Times New Roman"/>
            </a:endParaRPr>
          </a:p>
        </p:txBody>
      </p:sp>
      <p:sp>
        <p:nvSpPr>
          <p:cNvPr id="918" name="Google Shape;918;p76"/>
          <p:cNvSpPr txBox="1"/>
          <p:nvPr>
            <p:ph idx="4294967295" type="body"/>
          </p:nvPr>
        </p:nvSpPr>
        <p:spPr>
          <a:xfrm rot="-2704228">
            <a:off x="5621554" y="2296130"/>
            <a:ext cx="517390" cy="335593"/>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Izzy</a:t>
            </a:r>
            <a:endParaRPr sz="2000">
              <a:highlight>
                <a:schemeClr val="lt1"/>
              </a:highlight>
              <a:latin typeface="Times New Roman"/>
              <a:ea typeface="Times New Roman"/>
              <a:cs typeface="Times New Roman"/>
              <a:sym typeface="Times New Roman"/>
            </a:endParaRPr>
          </a:p>
        </p:txBody>
      </p:sp>
      <p:sp>
        <p:nvSpPr>
          <p:cNvPr id="919" name="Google Shape;919;p76"/>
          <p:cNvSpPr txBox="1"/>
          <p:nvPr>
            <p:ph idx="3" type="subTitle"/>
          </p:nvPr>
        </p:nvSpPr>
        <p:spPr>
          <a:xfrm>
            <a:off x="1034425" y="1879850"/>
            <a:ext cx="843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a:t>
            </a:r>
            <a:endParaRPr sz="2000"/>
          </a:p>
        </p:txBody>
      </p:sp>
      <p:sp>
        <p:nvSpPr>
          <p:cNvPr id="920" name="Google Shape;920;p76"/>
          <p:cNvSpPr txBox="1"/>
          <p:nvPr>
            <p:ph idx="3" type="subTitle"/>
          </p:nvPr>
        </p:nvSpPr>
        <p:spPr>
          <a:xfrm>
            <a:off x="1034425" y="3807300"/>
            <a:ext cx="2853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They had the same</a:t>
            </a:r>
            <a:endParaRPr sz="2000"/>
          </a:p>
        </p:txBody>
      </p:sp>
      <p:pic>
        <p:nvPicPr>
          <p:cNvPr id="921" name="Google Shape;921;p76"/>
          <p:cNvPicPr preferRelativeResize="0"/>
          <p:nvPr/>
        </p:nvPicPr>
        <p:blipFill>
          <a:blip r:embed="rId4">
            <a:alphaModFix/>
          </a:blip>
          <a:stretch>
            <a:fillRect/>
          </a:stretch>
        </p:blipFill>
        <p:spPr>
          <a:xfrm>
            <a:off x="1679583" y="2758732"/>
            <a:ext cx="396000" cy="419100"/>
          </a:xfrm>
          <a:prstGeom prst="rect">
            <a:avLst/>
          </a:prstGeom>
          <a:noFill/>
          <a:ln>
            <a:noFill/>
          </a:ln>
        </p:spPr>
      </p:pic>
      <p:sp>
        <p:nvSpPr>
          <p:cNvPr id="922" name="Google Shape;922;p76"/>
          <p:cNvSpPr txBox="1"/>
          <p:nvPr>
            <p:ph idx="3" type="subTitle"/>
          </p:nvPr>
        </p:nvSpPr>
        <p:spPr>
          <a:xfrm>
            <a:off x="5846255" y="2402020"/>
            <a:ext cx="3357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500">
                <a:solidFill>
                  <a:schemeClr val="accent4"/>
                </a:solidFill>
              </a:rPr>
              <a:t>✖</a:t>
            </a:r>
            <a:endParaRPr sz="2500">
              <a:solidFill>
                <a:schemeClr val="accent4"/>
              </a:solidFill>
            </a:endParaRPr>
          </a:p>
        </p:txBody>
      </p:sp>
      <p:sp>
        <p:nvSpPr>
          <p:cNvPr id="923" name="Google Shape;923;p76"/>
          <p:cNvSpPr txBox="1"/>
          <p:nvPr>
            <p:ph idx="3" type="subTitle"/>
          </p:nvPr>
        </p:nvSpPr>
        <p:spPr>
          <a:xfrm>
            <a:off x="5868716" y="3000389"/>
            <a:ext cx="3357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500">
                <a:solidFill>
                  <a:schemeClr val="accent4"/>
                </a:solidFill>
              </a:rPr>
              <a:t>✖</a:t>
            </a:r>
            <a:endParaRPr sz="2500">
              <a:solidFill>
                <a:schemeClr val="accent4"/>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7"/>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929" name="Google Shape;929;p77"/>
          <p:cNvSpPr txBox="1"/>
          <p:nvPr>
            <p:ph idx="3" type="subTitle"/>
          </p:nvPr>
        </p:nvSpPr>
        <p:spPr>
          <a:xfrm>
            <a:off x="1034425" y="2794250"/>
            <a:ext cx="192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a:t>
            </a:r>
            <a:endParaRPr/>
          </a:p>
        </p:txBody>
      </p:sp>
      <p:sp>
        <p:nvSpPr>
          <p:cNvPr id="930" name="Google Shape;930;p77"/>
          <p:cNvSpPr txBox="1"/>
          <p:nvPr>
            <p:ph type="title"/>
          </p:nvPr>
        </p:nvSpPr>
        <p:spPr>
          <a:xfrm>
            <a:off x="324000" y="748775"/>
            <a:ext cx="45345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How many</a:t>
            </a:r>
            <a:r>
              <a:rPr lang="en-GB" sz="2000"/>
              <a:t> sweets did Izzy begin with?</a:t>
            </a:r>
            <a:endParaRPr sz="2000"/>
          </a:p>
        </p:txBody>
      </p:sp>
      <p:pic>
        <p:nvPicPr>
          <p:cNvPr id="931" name="Google Shape;931;p77"/>
          <p:cNvPicPr preferRelativeResize="0"/>
          <p:nvPr/>
        </p:nvPicPr>
        <p:blipFill>
          <a:blip r:embed="rId3">
            <a:alphaModFix/>
          </a:blip>
          <a:stretch>
            <a:fillRect/>
          </a:stretch>
        </p:blipFill>
        <p:spPr>
          <a:xfrm>
            <a:off x="5196524" y="1088701"/>
            <a:ext cx="2403477" cy="3731700"/>
          </a:xfrm>
          <a:prstGeom prst="rect">
            <a:avLst/>
          </a:prstGeom>
          <a:noFill/>
          <a:ln cap="flat" cmpd="sng" w="19050">
            <a:solidFill>
              <a:schemeClr val="dk1"/>
            </a:solidFill>
            <a:prstDash val="solid"/>
            <a:round/>
            <a:headEnd len="sm" w="sm" type="none"/>
            <a:tailEnd len="sm" w="sm" type="none"/>
          </a:ln>
        </p:spPr>
      </p:pic>
      <p:sp>
        <p:nvSpPr>
          <p:cNvPr id="932" name="Google Shape;932;p77"/>
          <p:cNvSpPr txBox="1"/>
          <p:nvPr>
            <p:ph idx="4294967295" type="body"/>
          </p:nvPr>
        </p:nvSpPr>
        <p:spPr>
          <a:xfrm rot="-5400000">
            <a:off x="4488700" y="1656201"/>
            <a:ext cx="1075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Sweets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33" name="Google Shape;933;p77"/>
          <p:cNvSpPr txBox="1"/>
          <p:nvPr>
            <p:ph idx="4294967295" type="body"/>
          </p:nvPr>
        </p:nvSpPr>
        <p:spPr>
          <a:xfrm>
            <a:off x="7639200" y="4569300"/>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D</a:t>
            </a:r>
            <a:r>
              <a:rPr lang="en-GB" sz="1600"/>
              <a:t>ays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d</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34" name="Google Shape;934;p77"/>
          <p:cNvSpPr txBox="1"/>
          <p:nvPr>
            <p:ph idx="4294967295" type="body"/>
          </p:nvPr>
        </p:nvSpPr>
        <p:spPr>
          <a:xfrm rot="-3733756">
            <a:off x="5677285" y="3423477"/>
            <a:ext cx="656744" cy="335491"/>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Aisha</a:t>
            </a:r>
            <a:endParaRPr sz="2000">
              <a:highlight>
                <a:schemeClr val="lt1"/>
              </a:highlight>
              <a:latin typeface="Times New Roman"/>
              <a:ea typeface="Times New Roman"/>
              <a:cs typeface="Times New Roman"/>
              <a:sym typeface="Times New Roman"/>
            </a:endParaRPr>
          </a:p>
        </p:txBody>
      </p:sp>
      <p:sp>
        <p:nvSpPr>
          <p:cNvPr id="935" name="Google Shape;935;p77"/>
          <p:cNvSpPr txBox="1"/>
          <p:nvPr>
            <p:ph idx="4294967295" type="body"/>
          </p:nvPr>
        </p:nvSpPr>
        <p:spPr>
          <a:xfrm rot="-2704228">
            <a:off x="5621554" y="2296130"/>
            <a:ext cx="517390" cy="335593"/>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Izzy</a:t>
            </a:r>
            <a:endParaRPr sz="2000">
              <a:highlight>
                <a:schemeClr val="lt1"/>
              </a:highlight>
              <a:latin typeface="Times New Roman"/>
              <a:ea typeface="Times New Roman"/>
              <a:cs typeface="Times New Roman"/>
              <a:sym typeface="Times New Roman"/>
            </a:endParaRPr>
          </a:p>
        </p:txBody>
      </p:sp>
      <p:sp>
        <p:nvSpPr>
          <p:cNvPr id="936" name="Google Shape;936;p77"/>
          <p:cNvSpPr txBox="1"/>
          <p:nvPr>
            <p:ph idx="3" type="subTitle"/>
          </p:nvPr>
        </p:nvSpPr>
        <p:spPr>
          <a:xfrm>
            <a:off x="1034425" y="1879850"/>
            <a:ext cx="192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5</a:t>
            </a:r>
            <a:endParaRPr/>
          </a:p>
        </p:txBody>
      </p:sp>
      <p:sp>
        <p:nvSpPr>
          <p:cNvPr id="937" name="Google Shape;937;p77"/>
          <p:cNvSpPr txBox="1"/>
          <p:nvPr>
            <p:ph idx="3" type="subTitle"/>
          </p:nvPr>
        </p:nvSpPr>
        <p:spPr>
          <a:xfrm>
            <a:off x="1034425" y="3807300"/>
            <a:ext cx="6504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6</a:t>
            </a:r>
            <a:endParaRPr/>
          </a:p>
        </p:txBody>
      </p:sp>
      <p:pic>
        <p:nvPicPr>
          <p:cNvPr id="938" name="Google Shape;938;p77"/>
          <p:cNvPicPr preferRelativeResize="0"/>
          <p:nvPr/>
        </p:nvPicPr>
        <p:blipFill>
          <a:blip r:embed="rId4">
            <a:alphaModFix/>
          </a:blip>
          <a:stretch>
            <a:fillRect/>
          </a:stretch>
        </p:blipFill>
        <p:spPr>
          <a:xfrm>
            <a:off x="1374783" y="1844332"/>
            <a:ext cx="396000" cy="419100"/>
          </a:xfrm>
          <a:prstGeom prst="rect">
            <a:avLst/>
          </a:prstGeom>
          <a:noFill/>
          <a:ln>
            <a:noFill/>
          </a:ln>
        </p:spPr>
      </p:pic>
      <p:sp>
        <p:nvSpPr>
          <p:cNvPr id="939" name="Google Shape;939;p77"/>
          <p:cNvSpPr txBox="1"/>
          <p:nvPr>
            <p:ph idx="3" type="subTitle"/>
          </p:nvPr>
        </p:nvSpPr>
        <p:spPr>
          <a:xfrm>
            <a:off x="5216607" y="3011620"/>
            <a:ext cx="3357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500">
                <a:solidFill>
                  <a:schemeClr val="accent4"/>
                </a:solidFill>
              </a:rPr>
              <a:t>✖</a:t>
            </a:r>
            <a:endParaRPr sz="2500">
              <a:solidFill>
                <a:schemeClr val="accent4"/>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78"/>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945" name="Google Shape;945;p78"/>
          <p:cNvSpPr txBox="1"/>
          <p:nvPr>
            <p:ph idx="3" type="subTitle"/>
          </p:nvPr>
        </p:nvSpPr>
        <p:spPr>
          <a:xfrm>
            <a:off x="1034425" y="2794250"/>
            <a:ext cx="192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a:t>
            </a:r>
            <a:endParaRPr/>
          </a:p>
        </p:txBody>
      </p:sp>
      <p:sp>
        <p:nvSpPr>
          <p:cNvPr id="946" name="Google Shape;946;p78"/>
          <p:cNvSpPr txBox="1"/>
          <p:nvPr>
            <p:ph type="title"/>
          </p:nvPr>
        </p:nvSpPr>
        <p:spPr>
          <a:xfrm>
            <a:off x="324000" y="748775"/>
            <a:ext cx="45345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How many sweets does Aisha gain every day?</a:t>
            </a:r>
            <a:endParaRPr sz="2000"/>
          </a:p>
        </p:txBody>
      </p:sp>
      <p:pic>
        <p:nvPicPr>
          <p:cNvPr id="947" name="Google Shape;947;p78"/>
          <p:cNvPicPr preferRelativeResize="0"/>
          <p:nvPr/>
        </p:nvPicPr>
        <p:blipFill>
          <a:blip r:embed="rId3">
            <a:alphaModFix/>
          </a:blip>
          <a:stretch>
            <a:fillRect/>
          </a:stretch>
        </p:blipFill>
        <p:spPr>
          <a:xfrm>
            <a:off x="5196524" y="1088701"/>
            <a:ext cx="2403477" cy="3731700"/>
          </a:xfrm>
          <a:prstGeom prst="rect">
            <a:avLst/>
          </a:prstGeom>
          <a:noFill/>
          <a:ln cap="flat" cmpd="sng" w="19050">
            <a:solidFill>
              <a:schemeClr val="dk1"/>
            </a:solidFill>
            <a:prstDash val="solid"/>
            <a:round/>
            <a:headEnd len="sm" w="sm" type="none"/>
            <a:tailEnd len="sm" w="sm" type="none"/>
          </a:ln>
        </p:spPr>
      </p:pic>
      <p:sp>
        <p:nvSpPr>
          <p:cNvPr id="948" name="Google Shape;948;p78"/>
          <p:cNvSpPr txBox="1"/>
          <p:nvPr>
            <p:ph idx="4294967295" type="body"/>
          </p:nvPr>
        </p:nvSpPr>
        <p:spPr>
          <a:xfrm rot="-5400000">
            <a:off x="4488700" y="1656201"/>
            <a:ext cx="1075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Sweets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49" name="Google Shape;949;p78"/>
          <p:cNvSpPr txBox="1"/>
          <p:nvPr>
            <p:ph idx="4294967295" type="body"/>
          </p:nvPr>
        </p:nvSpPr>
        <p:spPr>
          <a:xfrm>
            <a:off x="7639200" y="4569300"/>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D</a:t>
            </a:r>
            <a:r>
              <a:rPr lang="en-GB" sz="1600"/>
              <a:t>ays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d</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50" name="Google Shape;950;p78"/>
          <p:cNvSpPr txBox="1"/>
          <p:nvPr>
            <p:ph idx="4294967295" type="body"/>
          </p:nvPr>
        </p:nvSpPr>
        <p:spPr>
          <a:xfrm rot="-3733756">
            <a:off x="5677285" y="3423477"/>
            <a:ext cx="656744" cy="335491"/>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Aisha</a:t>
            </a:r>
            <a:endParaRPr sz="2000">
              <a:highlight>
                <a:schemeClr val="lt1"/>
              </a:highlight>
              <a:latin typeface="Times New Roman"/>
              <a:ea typeface="Times New Roman"/>
              <a:cs typeface="Times New Roman"/>
              <a:sym typeface="Times New Roman"/>
            </a:endParaRPr>
          </a:p>
        </p:txBody>
      </p:sp>
      <p:sp>
        <p:nvSpPr>
          <p:cNvPr id="951" name="Google Shape;951;p78"/>
          <p:cNvSpPr txBox="1"/>
          <p:nvPr>
            <p:ph idx="4294967295" type="body"/>
          </p:nvPr>
        </p:nvSpPr>
        <p:spPr>
          <a:xfrm rot="-2704228">
            <a:off x="5621554" y="2296130"/>
            <a:ext cx="517390" cy="335593"/>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Izzy</a:t>
            </a:r>
            <a:endParaRPr sz="2000">
              <a:highlight>
                <a:schemeClr val="lt1"/>
              </a:highlight>
              <a:latin typeface="Times New Roman"/>
              <a:ea typeface="Times New Roman"/>
              <a:cs typeface="Times New Roman"/>
              <a:sym typeface="Times New Roman"/>
            </a:endParaRPr>
          </a:p>
        </p:txBody>
      </p:sp>
      <p:sp>
        <p:nvSpPr>
          <p:cNvPr id="952" name="Google Shape;952;p78"/>
          <p:cNvSpPr txBox="1"/>
          <p:nvPr>
            <p:ph idx="3" type="subTitle"/>
          </p:nvPr>
        </p:nvSpPr>
        <p:spPr>
          <a:xfrm>
            <a:off x="1034425" y="1879850"/>
            <a:ext cx="192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a:t>
            </a:r>
            <a:endParaRPr/>
          </a:p>
        </p:txBody>
      </p:sp>
      <p:sp>
        <p:nvSpPr>
          <p:cNvPr id="953" name="Google Shape;953;p78"/>
          <p:cNvSpPr txBox="1"/>
          <p:nvPr>
            <p:ph idx="3" type="subTitle"/>
          </p:nvPr>
        </p:nvSpPr>
        <p:spPr>
          <a:xfrm>
            <a:off x="1034425" y="3807300"/>
            <a:ext cx="6504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a:t>
            </a:r>
            <a:endParaRPr/>
          </a:p>
        </p:txBody>
      </p:sp>
      <p:pic>
        <p:nvPicPr>
          <p:cNvPr id="954" name="Google Shape;954;p78"/>
          <p:cNvPicPr preferRelativeResize="0"/>
          <p:nvPr/>
        </p:nvPicPr>
        <p:blipFill>
          <a:blip r:embed="rId4">
            <a:alphaModFix/>
          </a:blip>
          <a:stretch>
            <a:fillRect/>
          </a:stretch>
        </p:blipFill>
        <p:spPr>
          <a:xfrm>
            <a:off x="1374783" y="3803071"/>
            <a:ext cx="396000" cy="419100"/>
          </a:xfrm>
          <a:prstGeom prst="rect">
            <a:avLst/>
          </a:prstGeom>
          <a:noFill/>
          <a:ln>
            <a:noFill/>
          </a:ln>
        </p:spPr>
      </p:pic>
      <p:cxnSp>
        <p:nvCxnSpPr>
          <p:cNvPr id="955" name="Google Shape;955;p78"/>
          <p:cNvCxnSpPr/>
          <p:nvPr/>
        </p:nvCxnSpPr>
        <p:spPr>
          <a:xfrm>
            <a:off x="5370350" y="4395550"/>
            <a:ext cx="303300" cy="0"/>
          </a:xfrm>
          <a:prstGeom prst="straightConnector1">
            <a:avLst/>
          </a:prstGeom>
          <a:noFill/>
          <a:ln cap="flat" cmpd="sng" w="28575">
            <a:solidFill>
              <a:schemeClr val="accent4"/>
            </a:solidFill>
            <a:prstDash val="solid"/>
            <a:round/>
            <a:headEnd len="med" w="med" type="none"/>
            <a:tailEnd len="med" w="med" type="triangle"/>
          </a:ln>
        </p:spPr>
      </p:cxnSp>
      <p:cxnSp>
        <p:nvCxnSpPr>
          <p:cNvPr id="956" name="Google Shape;956;p78"/>
          <p:cNvCxnSpPr/>
          <p:nvPr/>
        </p:nvCxnSpPr>
        <p:spPr>
          <a:xfrm rot="10800000">
            <a:off x="5677725" y="3793900"/>
            <a:ext cx="18300" cy="612900"/>
          </a:xfrm>
          <a:prstGeom prst="straightConnector1">
            <a:avLst/>
          </a:prstGeom>
          <a:noFill/>
          <a:ln cap="flat" cmpd="sng" w="28575">
            <a:solidFill>
              <a:schemeClr val="accent4"/>
            </a:solidFill>
            <a:prstDash val="solid"/>
            <a:round/>
            <a:headEnd len="med" w="med" type="none"/>
            <a:tailEnd len="med" w="med" type="triangle"/>
          </a:ln>
        </p:spPr>
      </p:cxnSp>
      <p:sp>
        <p:nvSpPr>
          <p:cNvPr id="957" name="Google Shape;957;p78"/>
          <p:cNvSpPr txBox="1"/>
          <p:nvPr>
            <p:ph idx="4294967295" type="body"/>
          </p:nvPr>
        </p:nvSpPr>
        <p:spPr>
          <a:xfrm rot="-3421">
            <a:off x="5718412" y="3961687"/>
            <a:ext cx="3015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highlight>
                  <a:schemeClr val="lt1"/>
                </a:highlight>
              </a:rPr>
              <a:t>+2</a:t>
            </a:r>
            <a:endParaRPr sz="2000">
              <a:highlight>
                <a:schemeClr val="lt1"/>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79"/>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963" name="Google Shape;963;p79"/>
          <p:cNvSpPr txBox="1"/>
          <p:nvPr>
            <p:ph idx="3" type="subTitle"/>
          </p:nvPr>
        </p:nvSpPr>
        <p:spPr>
          <a:xfrm>
            <a:off x="1034425" y="2794250"/>
            <a:ext cx="10455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a:t>
            </a:r>
            <a:endParaRPr sz="2000"/>
          </a:p>
        </p:txBody>
      </p:sp>
      <p:sp>
        <p:nvSpPr>
          <p:cNvPr id="964" name="Google Shape;964;p79"/>
          <p:cNvSpPr txBox="1"/>
          <p:nvPr>
            <p:ph type="title"/>
          </p:nvPr>
        </p:nvSpPr>
        <p:spPr>
          <a:xfrm>
            <a:off x="324000" y="748775"/>
            <a:ext cx="45345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In this scenario who has the most sweets after </a:t>
            </a:r>
            <a:r>
              <a:rPr lang="en-GB" sz="2000"/>
              <a:t>200</a:t>
            </a:r>
            <a:r>
              <a:rPr lang="en-GB" sz="2000"/>
              <a:t> days?</a:t>
            </a:r>
            <a:endParaRPr sz="2000"/>
          </a:p>
        </p:txBody>
      </p:sp>
      <p:pic>
        <p:nvPicPr>
          <p:cNvPr id="965" name="Google Shape;965;p79"/>
          <p:cNvPicPr preferRelativeResize="0"/>
          <p:nvPr/>
        </p:nvPicPr>
        <p:blipFill>
          <a:blip r:embed="rId3">
            <a:alphaModFix/>
          </a:blip>
          <a:stretch>
            <a:fillRect/>
          </a:stretch>
        </p:blipFill>
        <p:spPr>
          <a:xfrm>
            <a:off x="5196524" y="1088701"/>
            <a:ext cx="2403477" cy="3731700"/>
          </a:xfrm>
          <a:prstGeom prst="rect">
            <a:avLst/>
          </a:prstGeom>
          <a:noFill/>
          <a:ln cap="flat" cmpd="sng" w="19050">
            <a:solidFill>
              <a:schemeClr val="dk1"/>
            </a:solidFill>
            <a:prstDash val="solid"/>
            <a:round/>
            <a:headEnd len="sm" w="sm" type="none"/>
            <a:tailEnd len="sm" w="sm" type="none"/>
          </a:ln>
        </p:spPr>
      </p:pic>
      <p:sp>
        <p:nvSpPr>
          <p:cNvPr id="966" name="Google Shape;966;p79"/>
          <p:cNvSpPr txBox="1"/>
          <p:nvPr>
            <p:ph idx="4294967295" type="body"/>
          </p:nvPr>
        </p:nvSpPr>
        <p:spPr>
          <a:xfrm rot="-5400000">
            <a:off x="4488700" y="1656201"/>
            <a:ext cx="1075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Sweets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67" name="Google Shape;967;p79"/>
          <p:cNvSpPr txBox="1"/>
          <p:nvPr>
            <p:ph idx="4294967295" type="body"/>
          </p:nvPr>
        </p:nvSpPr>
        <p:spPr>
          <a:xfrm>
            <a:off x="7639200" y="4569300"/>
            <a:ext cx="1260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D</a:t>
            </a:r>
            <a:r>
              <a:rPr lang="en-GB" sz="1600"/>
              <a:t>ays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d</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968" name="Google Shape;968;p79"/>
          <p:cNvSpPr txBox="1"/>
          <p:nvPr>
            <p:ph idx="4294967295" type="body"/>
          </p:nvPr>
        </p:nvSpPr>
        <p:spPr>
          <a:xfrm rot="-3733756">
            <a:off x="5677285" y="3423477"/>
            <a:ext cx="656744" cy="335491"/>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Aisha</a:t>
            </a:r>
            <a:endParaRPr sz="2000">
              <a:highlight>
                <a:schemeClr val="lt1"/>
              </a:highlight>
              <a:latin typeface="Times New Roman"/>
              <a:ea typeface="Times New Roman"/>
              <a:cs typeface="Times New Roman"/>
              <a:sym typeface="Times New Roman"/>
            </a:endParaRPr>
          </a:p>
        </p:txBody>
      </p:sp>
      <p:sp>
        <p:nvSpPr>
          <p:cNvPr id="969" name="Google Shape;969;p79"/>
          <p:cNvSpPr txBox="1"/>
          <p:nvPr>
            <p:ph idx="4294967295" type="body"/>
          </p:nvPr>
        </p:nvSpPr>
        <p:spPr>
          <a:xfrm rot="-2704228">
            <a:off x="5621554" y="2296130"/>
            <a:ext cx="517390" cy="335593"/>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Izzy</a:t>
            </a:r>
            <a:endParaRPr sz="2000">
              <a:highlight>
                <a:schemeClr val="lt1"/>
              </a:highlight>
              <a:latin typeface="Times New Roman"/>
              <a:ea typeface="Times New Roman"/>
              <a:cs typeface="Times New Roman"/>
              <a:sym typeface="Times New Roman"/>
            </a:endParaRPr>
          </a:p>
        </p:txBody>
      </p:sp>
      <p:sp>
        <p:nvSpPr>
          <p:cNvPr id="970" name="Google Shape;970;p79"/>
          <p:cNvSpPr txBox="1"/>
          <p:nvPr>
            <p:ph idx="3" type="subTitle"/>
          </p:nvPr>
        </p:nvSpPr>
        <p:spPr>
          <a:xfrm>
            <a:off x="1034425" y="1879850"/>
            <a:ext cx="10455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a:t>
            </a:r>
            <a:endParaRPr sz="2000"/>
          </a:p>
        </p:txBody>
      </p:sp>
      <p:sp>
        <p:nvSpPr>
          <p:cNvPr id="971" name="Google Shape;971;p79"/>
          <p:cNvSpPr txBox="1"/>
          <p:nvPr>
            <p:ph idx="3" type="subTitle"/>
          </p:nvPr>
        </p:nvSpPr>
        <p:spPr>
          <a:xfrm>
            <a:off x="1034425" y="3807300"/>
            <a:ext cx="3537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It’s not on this graph so we can’t tell.</a:t>
            </a:r>
            <a:endParaRPr sz="2000"/>
          </a:p>
        </p:txBody>
      </p:sp>
      <p:pic>
        <p:nvPicPr>
          <p:cNvPr id="972" name="Google Shape;972;p79"/>
          <p:cNvPicPr preferRelativeResize="0"/>
          <p:nvPr/>
        </p:nvPicPr>
        <p:blipFill>
          <a:blip r:embed="rId4">
            <a:alphaModFix/>
          </a:blip>
          <a:stretch>
            <a:fillRect/>
          </a:stretch>
        </p:blipFill>
        <p:spPr>
          <a:xfrm>
            <a:off x="1831983" y="1844332"/>
            <a:ext cx="396000" cy="419100"/>
          </a:xfrm>
          <a:prstGeom prst="rect">
            <a:avLst/>
          </a:prstGeom>
          <a:noFill/>
          <a:ln>
            <a:noFill/>
          </a:ln>
        </p:spPr>
      </p:pic>
      <p:sp>
        <p:nvSpPr>
          <p:cNvPr id="973" name="Google Shape;973;p79"/>
          <p:cNvSpPr txBox="1"/>
          <p:nvPr>
            <p:ph idx="4294967295" type="body"/>
          </p:nvPr>
        </p:nvSpPr>
        <p:spPr>
          <a:xfrm>
            <a:off x="2149025" y="2173425"/>
            <a:ext cx="26751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Aisha’s faster rate of change means she will always have more than Izzy beyond day 4.</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80"/>
          <p:cNvSpPr txBox="1"/>
          <p:nvPr>
            <p:ph idx="1" type="body"/>
          </p:nvPr>
        </p:nvSpPr>
        <p:spPr>
          <a:xfrm>
            <a:off x="1688375" y="1631200"/>
            <a:ext cx="67365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Lucas</a:t>
            </a:r>
            <a:r>
              <a:rPr lang="en-GB" sz="2000"/>
              <a:t> starts the year with </a:t>
            </a:r>
            <a:r>
              <a:rPr lang="en-GB" sz="2000"/>
              <a:t>£50</a:t>
            </a:r>
            <a:r>
              <a:rPr lang="en-GB" sz="2000"/>
              <a:t> and saves </a:t>
            </a:r>
            <a:r>
              <a:rPr lang="en-GB" sz="2000"/>
              <a:t>£2</a:t>
            </a:r>
            <a:r>
              <a:rPr lang="en-GB" sz="2000"/>
              <a:t> per week.</a:t>
            </a:r>
            <a:endParaRPr sz="2000"/>
          </a:p>
        </p:txBody>
      </p:sp>
      <p:sp>
        <p:nvSpPr>
          <p:cNvPr id="979" name="Google Shape;979;p80"/>
          <p:cNvSpPr txBox="1"/>
          <p:nvPr>
            <p:ph idx="1" type="body"/>
          </p:nvPr>
        </p:nvSpPr>
        <p:spPr>
          <a:xfrm>
            <a:off x="1688375" y="2633021"/>
            <a:ext cx="70068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Laura</a:t>
            </a:r>
            <a:r>
              <a:rPr lang="en-GB" sz="2000"/>
              <a:t> starts the year with </a:t>
            </a:r>
            <a:r>
              <a:rPr lang="en-GB" sz="2000"/>
              <a:t>£0</a:t>
            </a:r>
            <a:r>
              <a:rPr lang="en-GB" sz="2000"/>
              <a:t> but saves </a:t>
            </a:r>
            <a:r>
              <a:rPr lang="en-GB" sz="2000"/>
              <a:t>£5</a:t>
            </a:r>
            <a:r>
              <a:rPr lang="en-GB" sz="2000"/>
              <a:t> per week.</a:t>
            </a:r>
            <a:endParaRPr sz="2000"/>
          </a:p>
        </p:txBody>
      </p:sp>
      <p:sp>
        <p:nvSpPr>
          <p:cNvPr id="980" name="Google Shape;980;p80"/>
          <p:cNvSpPr txBox="1"/>
          <p:nvPr>
            <p:ph idx="1" type="body"/>
          </p:nvPr>
        </p:nvSpPr>
        <p:spPr>
          <a:xfrm>
            <a:off x="1688400" y="3697409"/>
            <a:ext cx="6631500" cy="42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Sam</a:t>
            </a:r>
            <a:r>
              <a:rPr lang="en-GB" sz="2000"/>
              <a:t> starts the year with </a:t>
            </a:r>
            <a:r>
              <a:rPr lang="en-GB" sz="2000"/>
              <a:t>£100</a:t>
            </a:r>
            <a:r>
              <a:rPr lang="en-GB" sz="2000"/>
              <a:t> in savings but spends </a:t>
            </a:r>
            <a:r>
              <a:rPr lang="en-GB" sz="2000"/>
              <a:t>£1</a:t>
            </a:r>
            <a:r>
              <a:rPr lang="en-GB" sz="2000"/>
              <a:t> per week.</a:t>
            </a:r>
            <a:endParaRPr sz="2000"/>
          </a:p>
        </p:txBody>
      </p:sp>
      <p:grpSp>
        <p:nvGrpSpPr>
          <p:cNvPr id="981" name="Google Shape;981;p80"/>
          <p:cNvGrpSpPr/>
          <p:nvPr/>
        </p:nvGrpSpPr>
        <p:grpSpPr>
          <a:xfrm>
            <a:off x="1467286" y="1608134"/>
            <a:ext cx="7033839" cy="2832166"/>
            <a:chOff x="1467286" y="1608134"/>
            <a:chExt cx="7033839" cy="2832166"/>
          </a:xfrm>
        </p:grpSpPr>
        <p:sp>
          <p:nvSpPr>
            <p:cNvPr id="982" name="Google Shape;982;p80"/>
            <p:cNvSpPr/>
            <p:nvPr/>
          </p:nvSpPr>
          <p:spPr>
            <a:xfrm>
              <a:off x="5940625" y="1608134"/>
              <a:ext cx="25605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3" name="Google Shape;983;p80"/>
            <p:cNvSpPr/>
            <p:nvPr/>
          </p:nvSpPr>
          <p:spPr>
            <a:xfrm>
              <a:off x="5704814" y="2594464"/>
              <a:ext cx="25605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4" name="Google Shape;984;p80"/>
            <p:cNvSpPr/>
            <p:nvPr/>
          </p:nvSpPr>
          <p:spPr>
            <a:xfrm>
              <a:off x="1467286" y="4015800"/>
              <a:ext cx="19248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85" name="Google Shape;985;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986" name="Google Shape;986;p80"/>
          <p:cNvSpPr txBox="1"/>
          <p:nvPr>
            <p:ph idx="1" type="body"/>
          </p:nvPr>
        </p:nvSpPr>
        <p:spPr>
          <a:xfrm>
            <a:off x="324000" y="759300"/>
            <a:ext cx="8237700" cy="42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Many real life scenarios can be modelled by linear graphing.</a:t>
            </a:r>
            <a:endParaRPr sz="2100"/>
          </a:p>
          <a:p>
            <a:pPr indent="0" lvl="0" marL="0" rtl="0" algn="l">
              <a:spcBef>
                <a:spcPts val="1000"/>
              </a:spcBef>
              <a:spcAft>
                <a:spcPts val="1000"/>
              </a:spcAft>
              <a:buNone/>
            </a:pPr>
            <a:r>
              <a:rPr lang="en-GB" sz="2100"/>
              <a:t>Some pupils are discussing saving money.</a:t>
            </a:r>
            <a:endParaRPr sz="2100"/>
          </a:p>
        </p:txBody>
      </p:sp>
      <p:pic>
        <p:nvPicPr>
          <p:cNvPr id="987" name="Google Shape;987;p80"/>
          <p:cNvPicPr preferRelativeResize="0"/>
          <p:nvPr/>
        </p:nvPicPr>
        <p:blipFill>
          <a:blip r:embed="rId3">
            <a:alphaModFix/>
          </a:blip>
          <a:stretch>
            <a:fillRect/>
          </a:stretch>
        </p:blipFill>
        <p:spPr>
          <a:xfrm>
            <a:off x="312260" y="1621919"/>
            <a:ext cx="798316" cy="896106"/>
          </a:xfrm>
          <a:prstGeom prst="rect">
            <a:avLst/>
          </a:prstGeom>
          <a:noFill/>
          <a:ln>
            <a:noFill/>
          </a:ln>
        </p:spPr>
      </p:pic>
      <p:pic>
        <p:nvPicPr>
          <p:cNvPr id="988" name="Google Shape;988;p80"/>
          <p:cNvPicPr preferRelativeResize="0"/>
          <p:nvPr/>
        </p:nvPicPr>
        <p:blipFill>
          <a:blip r:embed="rId4">
            <a:alphaModFix/>
          </a:blip>
          <a:stretch>
            <a:fillRect/>
          </a:stretch>
        </p:blipFill>
        <p:spPr>
          <a:xfrm>
            <a:off x="324072" y="2661718"/>
            <a:ext cx="807750" cy="1057915"/>
          </a:xfrm>
          <a:prstGeom prst="rect">
            <a:avLst/>
          </a:prstGeom>
          <a:noFill/>
          <a:ln>
            <a:noFill/>
          </a:ln>
        </p:spPr>
      </p:pic>
      <p:pic>
        <p:nvPicPr>
          <p:cNvPr id="989" name="Google Shape;989;p80"/>
          <p:cNvPicPr preferRelativeResize="0"/>
          <p:nvPr/>
        </p:nvPicPr>
        <p:blipFill>
          <a:blip r:embed="rId5">
            <a:alphaModFix/>
          </a:blip>
          <a:stretch>
            <a:fillRect/>
          </a:stretch>
        </p:blipFill>
        <p:spPr>
          <a:xfrm>
            <a:off x="318507" y="3804156"/>
            <a:ext cx="705943" cy="1016575"/>
          </a:xfrm>
          <a:prstGeom prst="rect">
            <a:avLst/>
          </a:prstGeom>
          <a:noFill/>
          <a:ln>
            <a:noFill/>
          </a:ln>
        </p:spPr>
      </p:pic>
      <p:sp>
        <p:nvSpPr>
          <p:cNvPr id="990" name="Google Shape;990;p80"/>
          <p:cNvSpPr txBox="1"/>
          <p:nvPr>
            <p:ph idx="1" type="body"/>
          </p:nvPr>
        </p:nvSpPr>
        <p:spPr>
          <a:xfrm>
            <a:off x="1688400" y="4524372"/>
            <a:ext cx="66315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t>
            </a:r>
            <a:r>
              <a:rPr lang="en-GB" sz="2000"/>
              <a:t>onstant rates of change make linear relationships.</a:t>
            </a:r>
            <a:endParaRPr sz="2000"/>
          </a:p>
        </p:txBody>
      </p:sp>
      <p:sp>
        <p:nvSpPr>
          <p:cNvPr id="991" name="Google Shape;991;p80"/>
          <p:cNvSpPr txBox="1"/>
          <p:nvPr/>
        </p:nvSpPr>
        <p:spPr>
          <a:xfrm>
            <a:off x="1695704" y="1909000"/>
            <a:ext cx="1956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50 + 2</a:t>
            </a:r>
            <a:r>
              <a:rPr i="1" lang="en-GB" sz="2200">
                <a:solidFill>
                  <a:schemeClr val="dk1"/>
                </a:solidFill>
                <a:latin typeface="Times New Roman"/>
                <a:ea typeface="Times New Roman"/>
                <a:cs typeface="Times New Roman"/>
                <a:sym typeface="Times New Roman"/>
              </a:rPr>
              <a:t>w</a:t>
            </a:r>
            <a:endParaRPr i="1"/>
          </a:p>
        </p:txBody>
      </p:sp>
      <p:sp>
        <p:nvSpPr>
          <p:cNvPr id="992" name="Google Shape;992;p80"/>
          <p:cNvSpPr txBox="1"/>
          <p:nvPr/>
        </p:nvSpPr>
        <p:spPr>
          <a:xfrm>
            <a:off x="1690534" y="2847538"/>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a:t>
            </a:r>
            <a:r>
              <a:rPr i="1" lang="en-GB" sz="2200">
                <a:solidFill>
                  <a:schemeClr val="dk1"/>
                </a:solidFill>
                <a:latin typeface="Times New Roman"/>
                <a:ea typeface="Times New Roman"/>
                <a:cs typeface="Times New Roman"/>
                <a:sym typeface="Times New Roman"/>
              </a:rPr>
              <a:t>w</a:t>
            </a:r>
            <a:endParaRPr i="1"/>
          </a:p>
        </p:txBody>
      </p:sp>
      <p:sp>
        <p:nvSpPr>
          <p:cNvPr id="993" name="Google Shape;993;p80"/>
          <p:cNvSpPr txBox="1"/>
          <p:nvPr/>
        </p:nvSpPr>
        <p:spPr>
          <a:xfrm>
            <a:off x="3530894" y="3991266"/>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100 − </a:t>
            </a:r>
            <a:r>
              <a:rPr i="1" lang="en-GB" sz="2200">
                <a:solidFill>
                  <a:schemeClr val="dk1"/>
                </a:solidFill>
                <a:latin typeface="Times New Roman"/>
                <a:ea typeface="Times New Roman"/>
                <a:cs typeface="Times New Roman"/>
                <a:sym typeface="Times New Roman"/>
              </a:rPr>
              <a:t>w</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graphicFrame>
        <p:nvGraphicFramePr>
          <p:cNvPr id="998" name="Google Shape;998;p81"/>
          <p:cNvGraphicFramePr/>
          <p:nvPr/>
        </p:nvGraphicFramePr>
        <p:xfrm>
          <a:off x="2883753" y="3204150"/>
          <a:ext cx="3000000" cy="3000000"/>
        </p:xfrm>
        <a:graphic>
          <a:graphicData uri="http://schemas.openxmlformats.org/drawingml/2006/table">
            <a:tbl>
              <a:tblPr>
                <a:noFill/>
                <a:tableStyleId>{9A4AEBD6-43F1-4C7A-9EA5-C050399E0610}</a:tableStyleId>
              </a:tblPr>
              <a:tblGrid>
                <a:gridCol w="1508325"/>
                <a:gridCol w="626500"/>
                <a:gridCol w="626500"/>
                <a:gridCol w="626500"/>
                <a:gridCol w="626500"/>
                <a:gridCol w="62650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999" name="Google Shape;999;p81"/>
          <p:cNvGraphicFramePr/>
          <p:nvPr/>
        </p:nvGraphicFramePr>
        <p:xfrm>
          <a:off x="2883753" y="3204150"/>
          <a:ext cx="3000000" cy="3000000"/>
        </p:xfrm>
        <a:graphic>
          <a:graphicData uri="http://schemas.openxmlformats.org/drawingml/2006/table">
            <a:tbl>
              <a:tblPr>
                <a:noFill/>
                <a:tableStyleId>{9A4AEBD6-43F1-4C7A-9EA5-C050399E0610}</a:tableStyleId>
              </a:tblPr>
              <a:tblGrid>
                <a:gridCol w="1508325"/>
                <a:gridCol w="626500"/>
                <a:gridCol w="626500"/>
                <a:gridCol w="626500"/>
                <a:gridCol w="626500"/>
                <a:gridCol w="62650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99</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97</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00" name="Google Shape;1000;p81"/>
          <p:cNvGraphicFramePr/>
          <p:nvPr/>
        </p:nvGraphicFramePr>
        <p:xfrm>
          <a:off x="2883753" y="2134938"/>
          <a:ext cx="3000000" cy="3000000"/>
        </p:xfrm>
        <a:graphic>
          <a:graphicData uri="http://schemas.openxmlformats.org/drawingml/2006/table">
            <a:tbl>
              <a:tblPr>
                <a:noFill/>
                <a:tableStyleId>{9A4AEBD6-43F1-4C7A-9EA5-C050399E0610}</a:tableStyleId>
              </a:tblPr>
              <a:tblGrid>
                <a:gridCol w="1508325"/>
                <a:gridCol w="626500"/>
                <a:gridCol w="626500"/>
                <a:gridCol w="626500"/>
                <a:gridCol w="626500"/>
                <a:gridCol w="62650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01" name="Google Shape;1001;p81"/>
          <p:cNvGraphicFramePr/>
          <p:nvPr/>
        </p:nvGraphicFramePr>
        <p:xfrm>
          <a:off x="2883753" y="2134938"/>
          <a:ext cx="3000000" cy="3000000"/>
        </p:xfrm>
        <a:graphic>
          <a:graphicData uri="http://schemas.openxmlformats.org/drawingml/2006/table">
            <a:tbl>
              <a:tblPr>
                <a:noFill/>
                <a:tableStyleId>{9A4AEBD6-43F1-4C7A-9EA5-C050399E0610}</a:tableStyleId>
              </a:tblPr>
              <a:tblGrid>
                <a:gridCol w="1508325"/>
                <a:gridCol w="626500"/>
                <a:gridCol w="626500"/>
                <a:gridCol w="626500"/>
                <a:gridCol w="626500"/>
                <a:gridCol w="62650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02" name="Google Shape;1002;p81"/>
          <p:cNvGraphicFramePr/>
          <p:nvPr/>
        </p:nvGraphicFramePr>
        <p:xfrm>
          <a:off x="2883753" y="1090599"/>
          <a:ext cx="3000000" cy="3000000"/>
        </p:xfrm>
        <a:graphic>
          <a:graphicData uri="http://schemas.openxmlformats.org/drawingml/2006/table">
            <a:tbl>
              <a:tblPr>
                <a:noFill/>
                <a:tableStyleId>{9A4AEBD6-43F1-4C7A-9EA5-C050399E0610}</a:tableStyleId>
              </a:tblPr>
              <a:tblGrid>
                <a:gridCol w="1508325"/>
                <a:gridCol w="626500"/>
                <a:gridCol w="626500"/>
                <a:gridCol w="626500"/>
                <a:gridCol w="626500"/>
                <a:gridCol w="626500"/>
              </a:tblGrid>
              <a:tr h="336925">
                <a:tc>
                  <a:txBody>
                    <a:bodyPr/>
                    <a:lstStyle/>
                    <a:p>
                      <a:pPr indent="0" lvl="0" marL="0" rtl="0" algn="ctr">
                        <a:spcBef>
                          <a:spcPts val="0"/>
                        </a:spcBef>
                        <a:spcAft>
                          <a:spcPts val="0"/>
                        </a:spcAft>
                        <a:buNone/>
                      </a:pPr>
                      <a:r>
                        <a:rPr lang="en-GB" sz="1800">
                          <a:latin typeface="Lexend"/>
                          <a:ea typeface="Lexend"/>
                          <a:cs typeface="Lexend"/>
                          <a:sym typeface="Lexend"/>
                        </a:rPr>
                        <a:t>Week</a:t>
                      </a:r>
                      <a:r>
                        <a:rPr lang="en-GB" sz="1800">
                          <a:latin typeface="Lexend"/>
                          <a:ea typeface="Lexend"/>
                          <a:cs typeface="Lexend"/>
                          <a:sym typeface="Lexend"/>
                        </a:rPr>
                        <a:t>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52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54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56</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58</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03" name="Google Shape;1003;p81"/>
          <p:cNvGraphicFramePr/>
          <p:nvPr/>
        </p:nvGraphicFramePr>
        <p:xfrm>
          <a:off x="2883753" y="1090599"/>
          <a:ext cx="3000000" cy="3000000"/>
        </p:xfrm>
        <a:graphic>
          <a:graphicData uri="http://schemas.openxmlformats.org/drawingml/2006/table">
            <a:tbl>
              <a:tblPr>
                <a:noFill/>
                <a:tableStyleId>{9A4AEBD6-43F1-4C7A-9EA5-C050399E0610}</a:tableStyleId>
              </a:tblPr>
              <a:tblGrid>
                <a:gridCol w="1508325"/>
                <a:gridCol w="626500"/>
                <a:gridCol w="626500"/>
                <a:gridCol w="626500"/>
                <a:gridCol w="626500"/>
                <a:gridCol w="62650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004" name="Google Shape;1004;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pic>
        <p:nvPicPr>
          <p:cNvPr id="1005" name="Google Shape;1005;p81"/>
          <p:cNvPicPr preferRelativeResize="0"/>
          <p:nvPr/>
        </p:nvPicPr>
        <p:blipFill>
          <a:blip r:embed="rId3">
            <a:alphaModFix/>
          </a:blip>
          <a:stretch>
            <a:fillRect/>
          </a:stretch>
        </p:blipFill>
        <p:spPr>
          <a:xfrm>
            <a:off x="312260" y="1110979"/>
            <a:ext cx="798316" cy="896106"/>
          </a:xfrm>
          <a:prstGeom prst="rect">
            <a:avLst/>
          </a:prstGeom>
          <a:noFill/>
          <a:ln>
            <a:noFill/>
          </a:ln>
        </p:spPr>
      </p:pic>
      <p:pic>
        <p:nvPicPr>
          <p:cNvPr id="1006" name="Google Shape;1006;p81"/>
          <p:cNvPicPr preferRelativeResize="0"/>
          <p:nvPr/>
        </p:nvPicPr>
        <p:blipFill>
          <a:blip r:embed="rId4">
            <a:alphaModFix/>
          </a:blip>
          <a:stretch>
            <a:fillRect/>
          </a:stretch>
        </p:blipFill>
        <p:spPr>
          <a:xfrm>
            <a:off x="324072" y="2119500"/>
            <a:ext cx="807750" cy="1057915"/>
          </a:xfrm>
          <a:prstGeom prst="rect">
            <a:avLst/>
          </a:prstGeom>
          <a:noFill/>
          <a:ln>
            <a:noFill/>
          </a:ln>
        </p:spPr>
      </p:pic>
      <p:pic>
        <p:nvPicPr>
          <p:cNvPr id="1007" name="Google Shape;1007;p81"/>
          <p:cNvPicPr preferRelativeResize="0"/>
          <p:nvPr/>
        </p:nvPicPr>
        <p:blipFill>
          <a:blip r:embed="rId5">
            <a:alphaModFix/>
          </a:blip>
          <a:stretch>
            <a:fillRect/>
          </a:stretch>
        </p:blipFill>
        <p:spPr>
          <a:xfrm>
            <a:off x="318507" y="3230660"/>
            <a:ext cx="705943" cy="1016575"/>
          </a:xfrm>
          <a:prstGeom prst="rect">
            <a:avLst/>
          </a:prstGeom>
          <a:noFill/>
          <a:ln>
            <a:noFill/>
          </a:ln>
        </p:spPr>
      </p:pic>
      <p:sp>
        <p:nvSpPr>
          <p:cNvPr id="1008" name="Google Shape;1008;p81"/>
          <p:cNvSpPr txBox="1"/>
          <p:nvPr>
            <p:ph idx="1" type="body"/>
          </p:nvPr>
        </p:nvSpPr>
        <p:spPr>
          <a:xfrm>
            <a:off x="316800" y="790575"/>
            <a:ext cx="32439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Fill in the tables of values.</a:t>
            </a:r>
            <a:endParaRPr sz="2000"/>
          </a:p>
        </p:txBody>
      </p:sp>
      <p:sp>
        <p:nvSpPr>
          <p:cNvPr id="1009" name="Google Shape;1009;p81"/>
          <p:cNvSpPr txBox="1"/>
          <p:nvPr/>
        </p:nvSpPr>
        <p:spPr>
          <a:xfrm>
            <a:off x="1162304" y="1005830"/>
            <a:ext cx="1956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50 + 2</a:t>
            </a:r>
            <a:r>
              <a:rPr i="1" lang="en-GB" sz="2200">
                <a:solidFill>
                  <a:schemeClr val="dk1"/>
                </a:solidFill>
                <a:latin typeface="Times New Roman"/>
                <a:ea typeface="Times New Roman"/>
                <a:cs typeface="Times New Roman"/>
                <a:sym typeface="Times New Roman"/>
              </a:rPr>
              <a:t>w</a:t>
            </a:r>
            <a:endParaRPr i="1"/>
          </a:p>
        </p:txBody>
      </p:sp>
      <p:sp>
        <p:nvSpPr>
          <p:cNvPr id="1010" name="Google Shape;1010;p81"/>
          <p:cNvSpPr txBox="1"/>
          <p:nvPr/>
        </p:nvSpPr>
        <p:spPr>
          <a:xfrm>
            <a:off x="1157134" y="1989289"/>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a:t>
            </a:r>
            <a:r>
              <a:rPr i="1" lang="en-GB" sz="2200">
                <a:solidFill>
                  <a:schemeClr val="dk1"/>
                </a:solidFill>
                <a:latin typeface="Times New Roman"/>
                <a:ea typeface="Times New Roman"/>
                <a:cs typeface="Times New Roman"/>
                <a:sym typeface="Times New Roman"/>
              </a:rPr>
              <a:t>w</a:t>
            </a:r>
            <a:endParaRPr i="1"/>
          </a:p>
        </p:txBody>
      </p:sp>
      <p:sp>
        <p:nvSpPr>
          <p:cNvPr id="1011" name="Google Shape;1011;p81"/>
          <p:cNvSpPr txBox="1"/>
          <p:nvPr/>
        </p:nvSpPr>
        <p:spPr>
          <a:xfrm>
            <a:off x="1168694" y="3101739"/>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100 − </a:t>
            </a:r>
            <a:r>
              <a:rPr i="1" lang="en-GB" sz="2200">
                <a:solidFill>
                  <a:schemeClr val="dk1"/>
                </a:solidFill>
                <a:latin typeface="Times New Roman"/>
                <a:ea typeface="Times New Roman"/>
                <a:cs typeface="Times New Roman"/>
                <a:sym typeface="Times New Roman"/>
              </a:rPr>
              <a:t>w</a:t>
            </a:r>
            <a:endParaRPr i="1"/>
          </a:p>
        </p:txBody>
      </p:sp>
      <p:sp>
        <p:nvSpPr>
          <p:cNvPr id="1012" name="Google Shape;1012;p81"/>
          <p:cNvSpPr txBox="1"/>
          <p:nvPr>
            <p:ph idx="1" type="body"/>
          </p:nvPr>
        </p:nvSpPr>
        <p:spPr>
          <a:xfrm>
            <a:off x="1131825" y="4157025"/>
            <a:ext cx="63273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5 weeks in and the values are nowhere near each other. Sometimes it’s useful to change the scale.</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graphicFrame>
        <p:nvGraphicFramePr>
          <p:cNvPr id="1017" name="Google Shape;1017;p82"/>
          <p:cNvGraphicFramePr/>
          <p:nvPr/>
        </p:nvGraphicFramePr>
        <p:xfrm>
          <a:off x="2883753" y="3235429"/>
          <a:ext cx="3000000" cy="3000000"/>
        </p:xfrm>
        <a:graphic>
          <a:graphicData uri="http://schemas.openxmlformats.org/drawingml/2006/table">
            <a:tbl>
              <a:tblPr>
                <a:noFill/>
                <a:tableStyleId>{9A4AEBD6-43F1-4C7A-9EA5-C050399E0610}</a:tableStyleId>
              </a:tblPr>
              <a:tblGrid>
                <a:gridCol w="1504825"/>
                <a:gridCol w="625050"/>
                <a:gridCol w="625050"/>
                <a:gridCol w="625050"/>
                <a:gridCol w="625050"/>
                <a:gridCol w="625050"/>
                <a:gridCol w="62505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100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85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80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75</a:t>
                      </a:r>
                      <a:endParaRPr sz="22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18" name="Google Shape;1018;p82"/>
          <p:cNvGraphicFramePr/>
          <p:nvPr/>
        </p:nvGraphicFramePr>
        <p:xfrm>
          <a:off x="2883753" y="3235429"/>
          <a:ext cx="3000000" cy="3000000"/>
        </p:xfrm>
        <a:graphic>
          <a:graphicData uri="http://schemas.openxmlformats.org/drawingml/2006/table">
            <a:tbl>
              <a:tblPr>
                <a:noFill/>
                <a:tableStyleId>{9A4AEBD6-43F1-4C7A-9EA5-C050399E0610}</a:tableStyleId>
              </a:tblPr>
              <a:tblGrid>
                <a:gridCol w="1504825"/>
                <a:gridCol w="625050"/>
                <a:gridCol w="625050"/>
                <a:gridCol w="625050"/>
                <a:gridCol w="625050"/>
                <a:gridCol w="625050"/>
                <a:gridCol w="62505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19" name="Google Shape;1019;p82"/>
          <p:cNvGraphicFramePr/>
          <p:nvPr/>
        </p:nvGraphicFramePr>
        <p:xfrm>
          <a:off x="2883753" y="2157399"/>
          <a:ext cx="3000000" cy="3000000"/>
        </p:xfrm>
        <a:graphic>
          <a:graphicData uri="http://schemas.openxmlformats.org/drawingml/2006/table">
            <a:tbl>
              <a:tblPr>
                <a:noFill/>
                <a:tableStyleId>{9A4AEBD6-43F1-4C7A-9EA5-C050399E0610}</a:tableStyleId>
              </a:tblPr>
              <a:tblGrid>
                <a:gridCol w="1504825"/>
                <a:gridCol w="625050"/>
                <a:gridCol w="625050"/>
                <a:gridCol w="625050"/>
                <a:gridCol w="625050"/>
                <a:gridCol w="625050"/>
                <a:gridCol w="62505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20" name="Google Shape;1020;p82"/>
          <p:cNvGraphicFramePr/>
          <p:nvPr/>
        </p:nvGraphicFramePr>
        <p:xfrm>
          <a:off x="2883753" y="1090599"/>
          <a:ext cx="3000000" cy="3000000"/>
        </p:xfrm>
        <a:graphic>
          <a:graphicData uri="http://schemas.openxmlformats.org/drawingml/2006/table">
            <a:tbl>
              <a:tblPr>
                <a:noFill/>
                <a:tableStyleId>{9A4AEBD6-43F1-4C7A-9EA5-C050399E0610}</a:tableStyleId>
              </a:tblPr>
              <a:tblGrid>
                <a:gridCol w="1504825"/>
                <a:gridCol w="625050"/>
                <a:gridCol w="625050"/>
                <a:gridCol w="625050"/>
                <a:gridCol w="625050"/>
                <a:gridCol w="625050"/>
                <a:gridCol w="62505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50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70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80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90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100</a:t>
                      </a:r>
                      <a:endParaRPr sz="22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21" name="Google Shape;1021;p82"/>
          <p:cNvGraphicFramePr/>
          <p:nvPr/>
        </p:nvGraphicFramePr>
        <p:xfrm>
          <a:off x="2883753" y="1090599"/>
          <a:ext cx="3000000" cy="3000000"/>
        </p:xfrm>
        <a:graphic>
          <a:graphicData uri="http://schemas.openxmlformats.org/drawingml/2006/table">
            <a:tbl>
              <a:tblPr>
                <a:noFill/>
                <a:tableStyleId>{9A4AEBD6-43F1-4C7A-9EA5-C050399E0610}</a:tableStyleId>
              </a:tblPr>
              <a:tblGrid>
                <a:gridCol w="1504825"/>
                <a:gridCol w="625050"/>
                <a:gridCol w="625050"/>
                <a:gridCol w="625050"/>
                <a:gridCol w="625050"/>
                <a:gridCol w="625050"/>
                <a:gridCol w="62505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022" name="Google Shape;1022;p82"/>
          <p:cNvGraphicFramePr/>
          <p:nvPr/>
        </p:nvGraphicFramePr>
        <p:xfrm>
          <a:off x="2883753" y="2157399"/>
          <a:ext cx="3000000" cy="3000000"/>
        </p:xfrm>
        <a:graphic>
          <a:graphicData uri="http://schemas.openxmlformats.org/drawingml/2006/table">
            <a:tbl>
              <a:tblPr>
                <a:noFill/>
                <a:tableStyleId>{9A4AEBD6-43F1-4C7A-9EA5-C050399E0610}</a:tableStyleId>
              </a:tblPr>
              <a:tblGrid>
                <a:gridCol w="1504825"/>
                <a:gridCol w="625050"/>
                <a:gridCol w="625050"/>
                <a:gridCol w="625050"/>
                <a:gridCol w="625050"/>
                <a:gridCol w="625050"/>
                <a:gridCol w="625050"/>
              </a:tblGrid>
              <a:tr h="336925">
                <a:tc>
                  <a:txBody>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eek (</a:t>
                      </a:r>
                      <a:r>
                        <a:rPr i="1" lang="en-GB" sz="2000">
                          <a:latin typeface="Times New Roman"/>
                          <a:ea typeface="Times New Roman"/>
                          <a:cs typeface="Times New Roman"/>
                          <a:sym typeface="Times New Roman"/>
                        </a:rPr>
                        <a:t>w</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77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r>
                        <a:rPr lang="en-GB" sz="1800">
                          <a:latin typeface="Lexend"/>
                          <a:ea typeface="Lexend"/>
                          <a:cs typeface="Lexend"/>
                          <a:sym typeface="Lexend"/>
                        </a:rPr>
                        <a:t> savings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25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50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75</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100</a:t>
                      </a:r>
                      <a:endParaRPr sz="22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125</a:t>
                      </a:r>
                      <a:endParaRPr sz="22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023" name="Google Shape;1023;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pic>
        <p:nvPicPr>
          <p:cNvPr id="1024" name="Google Shape;1024;p82"/>
          <p:cNvPicPr preferRelativeResize="0"/>
          <p:nvPr/>
        </p:nvPicPr>
        <p:blipFill>
          <a:blip r:embed="rId3">
            <a:alphaModFix/>
          </a:blip>
          <a:stretch>
            <a:fillRect/>
          </a:stretch>
        </p:blipFill>
        <p:spPr>
          <a:xfrm>
            <a:off x="312260" y="1110979"/>
            <a:ext cx="798316" cy="896106"/>
          </a:xfrm>
          <a:prstGeom prst="rect">
            <a:avLst/>
          </a:prstGeom>
          <a:noFill/>
          <a:ln>
            <a:noFill/>
          </a:ln>
        </p:spPr>
      </p:pic>
      <p:pic>
        <p:nvPicPr>
          <p:cNvPr id="1025" name="Google Shape;1025;p82"/>
          <p:cNvPicPr preferRelativeResize="0"/>
          <p:nvPr/>
        </p:nvPicPr>
        <p:blipFill>
          <a:blip r:embed="rId4">
            <a:alphaModFix/>
          </a:blip>
          <a:stretch>
            <a:fillRect/>
          </a:stretch>
        </p:blipFill>
        <p:spPr>
          <a:xfrm>
            <a:off x="324072" y="2119500"/>
            <a:ext cx="807750" cy="1057915"/>
          </a:xfrm>
          <a:prstGeom prst="rect">
            <a:avLst/>
          </a:prstGeom>
          <a:noFill/>
          <a:ln>
            <a:noFill/>
          </a:ln>
        </p:spPr>
      </p:pic>
      <p:pic>
        <p:nvPicPr>
          <p:cNvPr id="1026" name="Google Shape;1026;p82"/>
          <p:cNvPicPr preferRelativeResize="0"/>
          <p:nvPr/>
        </p:nvPicPr>
        <p:blipFill>
          <a:blip r:embed="rId5">
            <a:alphaModFix/>
          </a:blip>
          <a:stretch>
            <a:fillRect/>
          </a:stretch>
        </p:blipFill>
        <p:spPr>
          <a:xfrm>
            <a:off x="318507" y="3230660"/>
            <a:ext cx="705943" cy="1016575"/>
          </a:xfrm>
          <a:prstGeom prst="rect">
            <a:avLst/>
          </a:prstGeom>
          <a:noFill/>
          <a:ln>
            <a:noFill/>
          </a:ln>
        </p:spPr>
      </p:pic>
      <p:sp>
        <p:nvSpPr>
          <p:cNvPr id="1027" name="Google Shape;1027;p82"/>
          <p:cNvSpPr txBox="1"/>
          <p:nvPr>
            <p:ph idx="1" type="body"/>
          </p:nvPr>
        </p:nvSpPr>
        <p:spPr>
          <a:xfrm>
            <a:off x="316800" y="790575"/>
            <a:ext cx="40032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Fill in these tables of values.</a:t>
            </a:r>
            <a:endParaRPr sz="2000"/>
          </a:p>
        </p:txBody>
      </p:sp>
      <p:sp>
        <p:nvSpPr>
          <p:cNvPr id="1028" name="Google Shape;1028;p82"/>
          <p:cNvSpPr txBox="1"/>
          <p:nvPr/>
        </p:nvSpPr>
        <p:spPr>
          <a:xfrm>
            <a:off x="1162304" y="1005830"/>
            <a:ext cx="1956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50 + 2</a:t>
            </a:r>
            <a:r>
              <a:rPr i="1" lang="en-GB" sz="2200">
                <a:solidFill>
                  <a:schemeClr val="dk1"/>
                </a:solidFill>
                <a:latin typeface="Times New Roman"/>
                <a:ea typeface="Times New Roman"/>
                <a:cs typeface="Times New Roman"/>
                <a:sym typeface="Times New Roman"/>
              </a:rPr>
              <a:t>w</a:t>
            </a:r>
            <a:endParaRPr i="1"/>
          </a:p>
        </p:txBody>
      </p:sp>
      <p:sp>
        <p:nvSpPr>
          <p:cNvPr id="1029" name="Google Shape;1029;p82"/>
          <p:cNvSpPr txBox="1"/>
          <p:nvPr/>
        </p:nvSpPr>
        <p:spPr>
          <a:xfrm>
            <a:off x="1157134" y="1989289"/>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a:t>
            </a:r>
            <a:r>
              <a:rPr i="1" lang="en-GB" sz="2200">
                <a:solidFill>
                  <a:schemeClr val="dk1"/>
                </a:solidFill>
                <a:latin typeface="Times New Roman"/>
                <a:ea typeface="Times New Roman"/>
                <a:cs typeface="Times New Roman"/>
                <a:sym typeface="Times New Roman"/>
              </a:rPr>
              <a:t>w</a:t>
            </a:r>
            <a:endParaRPr i="1"/>
          </a:p>
        </p:txBody>
      </p:sp>
      <p:sp>
        <p:nvSpPr>
          <p:cNvPr id="1030" name="Google Shape;1030;p82"/>
          <p:cNvSpPr txBox="1"/>
          <p:nvPr/>
        </p:nvSpPr>
        <p:spPr>
          <a:xfrm>
            <a:off x="1168694" y="3101739"/>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100 − </a:t>
            </a:r>
            <a:r>
              <a:rPr i="1" lang="en-GB" sz="2200">
                <a:solidFill>
                  <a:schemeClr val="dk1"/>
                </a:solidFill>
                <a:latin typeface="Times New Roman"/>
                <a:ea typeface="Times New Roman"/>
                <a:cs typeface="Times New Roman"/>
                <a:sym typeface="Times New Roman"/>
              </a:rPr>
              <a:t>w</a:t>
            </a:r>
            <a:endParaRPr i="1"/>
          </a:p>
        </p:txBody>
      </p:sp>
      <p:sp>
        <p:nvSpPr>
          <p:cNvPr id="1031" name="Google Shape;1031;p82"/>
          <p:cNvSpPr txBox="1"/>
          <p:nvPr>
            <p:ph idx="1" type="body"/>
          </p:nvPr>
        </p:nvSpPr>
        <p:spPr>
          <a:xfrm>
            <a:off x="324075" y="4309425"/>
            <a:ext cx="84960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Now let’s</a:t>
            </a:r>
            <a:r>
              <a:rPr lang="en-GB" sz="2000"/>
              <a:t> graph these </a:t>
            </a:r>
            <a:r>
              <a:rPr lang="en-GB" sz="2000"/>
              <a:t>relationships</a:t>
            </a:r>
            <a:r>
              <a:rPr lang="en-GB" sz="2000"/>
              <a:t>.</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pic>
        <p:nvPicPr>
          <p:cNvPr id="1037" name="Google Shape;1037;p83"/>
          <p:cNvPicPr preferRelativeResize="0"/>
          <p:nvPr/>
        </p:nvPicPr>
        <p:blipFill>
          <a:blip r:embed="rId3">
            <a:alphaModFix/>
          </a:blip>
          <a:stretch>
            <a:fillRect/>
          </a:stretch>
        </p:blipFill>
        <p:spPr>
          <a:xfrm>
            <a:off x="312260" y="1110979"/>
            <a:ext cx="798316" cy="896106"/>
          </a:xfrm>
          <a:prstGeom prst="rect">
            <a:avLst/>
          </a:prstGeom>
          <a:noFill/>
          <a:ln>
            <a:noFill/>
          </a:ln>
        </p:spPr>
      </p:pic>
      <p:pic>
        <p:nvPicPr>
          <p:cNvPr id="1038" name="Google Shape;1038;p83"/>
          <p:cNvPicPr preferRelativeResize="0"/>
          <p:nvPr/>
        </p:nvPicPr>
        <p:blipFill>
          <a:blip r:embed="rId4">
            <a:alphaModFix/>
          </a:blip>
          <a:stretch>
            <a:fillRect/>
          </a:stretch>
        </p:blipFill>
        <p:spPr>
          <a:xfrm>
            <a:off x="324072" y="2119500"/>
            <a:ext cx="807750" cy="1057915"/>
          </a:xfrm>
          <a:prstGeom prst="rect">
            <a:avLst/>
          </a:prstGeom>
          <a:noFill/>
          <a:ln>
            <a:noFill/>
          </a:ln>
        </p:spPr>
      </p:pic>
      <p:pic>
        <p:nvPicPr>
          <p:cNvPr id="1039" name="Google Shape;1039;p83"/>
          <p:cNvPicPr preferRelativeResize="0"/>
          <p:nvPr/>
        </p:nvPicPr>
        <p:blipFill>
          <a:blip r:embed="rId5">
            <a:alphaModFix/>
          </a:blip>
          <a:stretch>
            <a:fillRect/>
          </a:stretch>
        </p:blipFill>
        <p:spPr>
          <a:xfrm>
            <a:off x="318507" y="3230660"/>
            <a:ext cx="705943" cy="1016575"/>
          </a:xfrm>
          <a:prstGeom prst="rect">
            <a:avLst/>
          </a:prstGeom>
          <a:noFill/>
          <a:ln>
            <a:noFill/>
          </a:ln>
        </p:spPr>
      </p:pic>
      <p:sp>
        <p:nvSpPr>
          <p:cNvPr id="1040" name="Google Shape;1040;p83"/>
          <p:cNvSpPr txBox="1"/>
          <p:nvPr>
            <p:ph idx="1" type="body"/>
          </p:nvPr>
        </p:nvSpPr>
        <p:spPr>
          <a:xfrm>
            <a:off x="316800" y="790575"/>
            <a:ext cx="55227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graph makes comparisons clear</a:t>
            </a:r>
            <a:r>
              <a:rPr lang="en-GB" sz="1800"/>
              <a:t>.</a:t>
            </a:r>
            <a:endParaRPr sz="1800"/>
          </a:p>
        </p:txBody>
      </p:sp>
      <p:sp>
        <p:nvSpPr>
          <p:cNvPr id="1041" name="Google Shape;1041;p83"/>
          <p:cNvSpPr txBox="1"/>
          <p:nvPr/>
        </p:nvSpPr>
        <p:spPr>
          <a:xfrm>
            <a:off x="1162304" y="1005830"/>
            <a:ext cx="1956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50 + 2</a:t>
            </a:r>
            <a:r>
              <a:rPr i="1" lang="en-GB" sz="2200">
                <a:solidFill>
                  <a:schemeClr val="dk1"/>
                </a:solidFill>
                <a:latin typeface="Times New Roman"/>
                <a:ea typeface="Times New Roman"/>
                <a:cs typeface="Times New Roman"/>
                <a:sym typeface="Times New Roman"/>
              </a:rPr>
              <a:t>w</a:t>
            </a:r>
            <a:endParaRPr i="1"/>
          </a:p>
        </p:txBody>
      </p:sp>
      <p:sp>
        <p:nvSpPr>
          <p:cNvPr id="1042" name="Google Shape;1042;p83"/>
          <p:cNvSpPr txBox="1"/>
          <p:nvPr/>
        </p:nvSpPr>
        <p:spPr>
          <a:xfrm>
            <a:off x="1157134" y="1989289"/>
            <a:ext cx="138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5</a:t>
            </a:r>
            <a:r>
              <a:rPr i="1" lang="en-GB" sz="2200">
                <a:solidFill>
                  <a:schemeClr val="dk1"/>
                </a:solidFill>
                <a:latin typeface="Times New Roman"/>
                <a:ea typeface="Times New Roman"/>
                <a:cs typeface="Times New Roman"/>
                <a:sym typeface="Times New Roman"/>
              </a:rPr>
              <a:t>w</a:t>
            </a:r>
            <a:endParaRPr i="1"/>
          </a:p>
        </p:txBody>
      </p:sp>
      <p:sp>
        <p:nvSpPr>
          <p:cNvPr id="1043" name="Google Shape;1043;p83"/>
          <p:cNvSpPr txBox="1"/>
          <p:nvPr/>
        </p:nvSpPr>
        <p:spPr>
          <a:xfrm>
            <a:off x="1168694" y="3101739"/>
            <a:ext cx="163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i="1" lang="en-GB" sz="2200">
                <a:solidFill>
                  <a:schemeClr val="dk1"/>
                </a:solidFill>
                <a:latin typeface="Times New Roman"/>
                <a:ea typeface="Times New Roman"/>
                <a:cs typeface="Times New Roman"/>
                <a:sym typeface="Times New Roman"/>
              </a:rPr>
              <a:t>s </a:t>
            </a:r>
            <a:r>
              <a:rPr lang="en-GB" sz="2200">
                <a:solidFill>
                  <a:schemeClr val="dk1"/>
                </a:solidFill>
                <a:latin typeface="Times New Roman"/>
                <a:ea typeface="Times New Roman"/>
                <a:cs typeface="Times New Roman"/>
                <a:sym typeface="Times New Roman"/>
              </a:rPr>
              <a:t>= 100 − </a:t>
            </a:r>
            <a:r>
              <a:rPr i="1" lang="en-GB" sz="2200">
                <a:solidFill>
                  <a:schemeClr val="dk1"/>
                </a:solidFill>
                <a:latin typeface="Times New Roman"/>
                <a:ea typeface="Times New Roman"/>
                <a:cs typeface="Times New Roman"/>
                <a:sym typeface="Times New Roman"/>
              </a:rPr>
              <a:t>w</a:t>
            </a:r>
            <a:endParaRPr i="1"/>
          </a:p>
        </p:txBody>
      </p:sp>
      <p:sp>
        <p:nvSpPr>
          <p:cNvPr id="1044" name="Google Shape;1044;p83"/>
          <p:cNvSpPr txBox="1"/>
          <p:nvPr>
            <p:ph idx="1" type="body"/>
          </p:nvPr>
        </p:nvSpPr>
        <p:spPr>
          <a:xfrm>
            <a:off x="324075" y="4461825"/>
            <a:ext cx="84960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During the 17</a:t>
            </a:r>
            <a:r>
              <a:rPr baseline="30000" lang="en-GB" sz="1800"/>
              <a:t>th</a:t>
            </a:r>
            <a:r>
              <a:rPr lang="en-GB" sz="1800"/>
              <a:t> week they all have the same. Laura ends up with the most.</a:t>
            </a:r>
            <a:endParaRPr sz="1800"/>
          </a:p>
        </p:txBody>
      </p:sp>
      <p:pic>
        <p:nvPicPr>
          <p:cNvPr id="1045" name="Google Shape;1045;p83"/>
          <p:cNvPicPr preferRelativeResize="0"/>
          <p:nvPr/>
        </p:nvPicPr>
        <p:blipFill>
          <a:blip r:embed="rId6">
            <a:alphaModFix/>
          </a:blip>
          <a:stretch>
            <a:fillRect/>
          </a:stretch>
        </p:blipFill>
        <p:spPr>
          <a:xfrm>
            <a:off x="2887200" y="1134777"/>
            <a:ext cx="5522755" cy="3241376"/>
          </a:xfrm>
          <a:prstGeom prst="rect">
            <a:avLst/>
          </a:prstGeom>
          <a:noFill/>
          <a:ln cap="flat" cmpd="sng" w="19050">
            <a:solidFill>
              <a:schemeClr val="dk1"/>
            </a:solidFill>
            <a:prstDash val="solid"/>
            <a:round/>
            <a:headEnd len="sm" w="sm" type="none"/>
            <a:tailEnd len="sm" w="sm" type="none"/>
          </a:ln>
        </p:spPr>
      </p:pic>
      <p:sp>
        <p:nvSpPr>
          <p:cNvPr id="1046" name="Google Shape;1046;p83"/>
          <p:cNvSpPr txBox="1"/>
          <p:nvPr/>
        </p:nvSpPr>
        <p:spPr>
          <a:xfrm>
            <a:off x="3136246" y="2509778"/>
            <a:ext cx="1161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1800">
                <a:solidFill>
                  <a:schemeClr val="dk1"/>
                </a:solidFill>
                <a:highlight>
                  <a:schemeClr val="lt1"/>
                </a:highlight>
                <a:latin typeface="Times New Roman"/>
                <a:ea typeface="Times New Roman"/>
                <a:cs typeface="Times New Roman"/>
                <a:sym typeface="Times New Roman"/>
              </a:rPr>
              <a:t>s </a:t>
            </a:r>
            <a:r>
              <a:rPr lang="en-GB" sz="1800">
                <a:solidFill>
                  <a:schemeClr val="dk1"/>
                </a:solidFill>
                <a:highlight>
                  <a:schemeClr val="lt1"/>
                </a:highlight>
                <a:latin typeface="Times New Roman"/>
                <a:ea typeface="Times New Roman"/>
                <a:cs typeface="Times New Roman"/>
                <a:sym typeface="Times New Roman"/>
              </a:rPr>
              <a:t>= 50 + 2</a:t>
            </a:r>
            <a:r>
              <a:rPr i="1" lang="en-GB" sz="1800">
                <a:solidFill>
                  <a:schemeClr val="dk1"/>
                </a:solidFill>
                <a:highlight>
                  <a:schemeClr val="lt1"/>
                </a:highlight>
                <a:latin typeface="Times New Roman"/>
                <a:ea typeface="Times New Roman"/>
                <a:cs typeface="Times New Roman"/>
                <a:sym typeface="Times New Roman"/>
              </a:rPr>
              <a:t>w</a:t>
            </a:r>
            <a:endParaRPr i="1" sz="1000">
              <a:highlight>
                <a:schemeClr val="lt1"/>
              </a:highlight>
            </a:endParaRPr>
          </a:p>
        </p:txBody>
      </p:sp>
      <p:sp>
        <p:nvSpPr>
          <p:cNvPr id="1047" name="Google Shape;1047;p83"/>
          <p:cNvSpPr txBox="1"/>
          <p:nvPr/>
        </p:nvSpPr>
        <p:spPr>
          <a:xfrm>
            <a:off x="4559050" y="1736552"/>
            <a:ext cx="11064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1800">
                <a:solidFill>
                  <a:schemeClr val="dk1"/>
                </a:solidFill>
                <a:highlight>
                  <a:schemeClr val="lt1"/>
                </a:highlight>
                <a:latin typeface="Times New Roman"/>
                <a:ea typeface="Times New Roman"/>
                <a:cs typeface="Times New Roman"/>
                <a:sym typeface="Times New Roman"/>
              </a:rPr>
              <a:t>s </a:t>
            </a:r>
            <a:r>
              <a:rPr lang="en-GB" sz="1800">
                <a:solidFill>
                  <a:schemeClr val="dk1"/>
                </a:solidFill>
                <a:highlight>
                  <a:schemeClr val="lt1"/>
                </a:highlight>
                <a:latin typeface="Times New Roman"/>
                <a:ea typeface="Times New Roman"/>
                <a:cs typeface="Times New Roman"/>
                <a:sym typeface="Times New Roman"/>
              </a:rPr>
              <a:t>= 100 − </a:t>
            </a:r>
            <a:r>
              <a:rPr i="1" lang="en-GB" sz="1800">
                <a:solidFill>
                  <a:schemeClr val="dk1"/>
                </a:solidFill>
                <a:highlight>
                  <a:schemeClr val="lt1"/>
                </a:highlight>
                <a:latin typeface="Times New Roman"/>
                <a:ea typeface="Times New Roman"/>
                <a:cs typeface="Times New Roman"/>
                <a:sym typeface="Times New Roman"/>
              </a:rPr>
              <a:t>w</a:t>
            </a:r>
            <a:endParaRPr i="1" sz="1000">
              <a:highlight>
                <a:schemeClr val="lt1"/>
              </a:highlight>
            </a:endParaRPr>
          </a:p>
        </p:txBody>
      </p:sp>
      <p:sp>
        <p:nvSpPr>
          <p:cNvPr id="1048" name="Google Shape;1048;p83"/>
          <p:cNvSpPr txBox="1"/>
          <p:nvPr/>
        </p:nvSpPr>
        <p:spPr>
          <a:xfrm>
            <a:off x="4434059" y="3500377"/>
            <a:ext cx="6246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1800">
                <a:solidFill>
                  <a:schemeClr val="dk1"/>
                </a:solidFill>
                <a:highlight>
                  <a:schemeClr val="lt1"/>
                </a:highlight>
                <a:latin typeface="Times New Roman"/>
                <a:ea typeface="Times New Roman"/>
                <a:cs typeface="Times New Roman"/>
                <a:sym typeface="Times New Roman"/>
              </a:rPr>
              <a:t>s </a:t>
            </a:r>
            <a:r>
              <a:rPr lang="en-GB" sz="1800">
                <a:solidFill>
                  <a:schemeClr val="dk1"/>
                </a:solidFill>
                <a:highlight>
                  <a:schemeClr val="lt1"/>
                </a:highlight>
                <a:latin typeface="Times New Roman"/>
                <a:ea typeface="Times New Roman"/>
                <a:cs typeface="Times New Roman"/>
                <a:sym typeface="Times New Roman"/>
              </a:rPr>
              <a:t>= 5</a:t>
            </a:r>
            <a:r>
              <a:rPr i="1" lang="en-GB" sz="1800">
                <a:solidFill>
                  <a:schemeClr val="dk1"/>
                </a:solidFill>
                <a:highlight>
                  <a:schemeClr val="lt1"/>
                </a:highlight>
                <a:latin typeface="Times New Roman"/>
                <a:ea typeface="Times New Roman"/>
                <a:cs typeface="Times New Roman"/>
                <a:sym typeface="Times New Roman"/>
              </a:rPr>
              <a:t>w</a:t>
            </a:r>
            <a:endParaRPr i="1" sz="1000">
              <a:highlight>
                <a:schemeClr val="lt1"/>
              </a:highlight>
            </a:endParaRPr>
          </a:p>
        </p:txBody>
      </p:sp>
      <p:sp>
        <p:nvSpPr>
          <p:cNvPr id="1049" name="Google Shape;1049;p83"/>
          <p:cNvSpPr/>
          <p:nvPr/>
        </p:nvSpPr>
        <p:spPr>
          <a:xfrm>
            <a:off x="6344083" y="2056452"/>
            <a:ext cx="4662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0" name="Google Shape;1050;p83"/>
          <p:cNvSpPr txBox="1"/>
          <p:nvPr>
            <p:ph idx="1" type="body"/>
          </p:nvPr>
        </p:nvSpPr>
        <p:spPr>
          <a:xfrm>
            <a:off x="324075" y="4461825"/>
            <a:ext cx="5079900" cy="36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During the </a:t>
            </a:r>
            <a:r>
              <a:rPr lang="en-GB" sz="1800"/>
              <a:t>17</a:t>
            </a:r>
            <a:r>
              <a:rPr baseline="30000" lang="en-GB" sz="1800"/>
              <a:t>th</a:t>
            </a:r>
            <a:r>
              <a:rPr lang="en-GB" sz="1800"/>
              <a:t> week they all have the same.</a:t>
            </a:r>
            <a:endParaRPr sz="1800"/>
          </a:p>
        </p:txBody>
      </p:sp>
      <p:sp>
        <p:nvSpPr>
          <p:cNvPr id="1051" name="Google Shape;1051;p83"/>
          <p:cNvSpPr/>
          <p:nvPr/>
        </p:nvSpPr>
        <p:spPr>
          <a:xfrm rot="-1862136">
            <a:off x="7004266" y="1354950"/>
            <a:ext cx="1518124" cy="424562"/>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2" name="Google Shape;1052;p83"/>
          <p:cNvSpPr txBox="1"/>
          <p:nvPr>
            <p:ph idx="1" type="body"/>
          </p:nvPr>
        </p:nvSpPr>
        <p:spPr>
          <a:xfrm rot="-5400000">
            <a:off x="2202700" y="1898444"/>
            <a:ext cx="1075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Savings</a:t>
            </a:r>
            <a:r>
              <a:rPr lang="en-GB" sz="1600"/>
              <a:t>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1053" name="Google Shape;1053;p83"/>
          <p:cNvSpPr txBox="1"/>
          <p:nvPr>
            <p:ph idx="1" type="body"/>
          </p:nvPr>
        </p:nvSpPr>
        <p:spPr>
          <a:xfrm>
            <a:off x="7334400" y="3919593"/>
            <a:ext cx="10482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Week</a:t>
            </a:r>
            <a:r>
              <a:rPr lang="en-GB" sz="1600">
                <a:highlight>
                  <a:schemeClr val="lt1"/>
                </a:highlight>
              </a:rPr>
              <a:t>s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w</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pic>
        <p:nvPicPr>
          <p:cNvPr id="1058" name="Google Shape;1058;p84"/>
          <p:cNvPicPr preferRelativeResize="0"/>
          <p:nvPr/>
        </p:nvPicPr>
        <p:blipFill>
          <a:blip r:embed="rId3">
            <a:alphaModFix/>
          </a:blip>
          <a:stretch>
            <a:fillRect/>
          </a:stretch>
        </p:blipFill>
        <p:spPr>
          <a:xfrm>
            <a:off x="5069298" y="810000"/>
            <a:ext cx="3733952" cy="3506524"/>
          </a:xfrm>
          <a:prstGeom prst="rect">
            <a:avLst/>
          </a:prstGeom>
          <a:noFill/>
          <a:ln cap="flat" cmpd="sng" w="19050">
            <a:solidFill>
              <a:schemeClr val="dk1"/>
            </a:solidFill>
            <a:prstDash val="solid"/>
            <a:round/>
            <a:headEnd len="sm" w="sm" type="none"/>
            <a:tailEnd len="sm" w="sm" type="none"/>
          </a:ln>
        </p:spPr>
      </p:pic>
      <p:sp>
        <p:nvSpPr>
          <p:cNvPr id="1059" name="Google Shape;1059;p84"/>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1060" name="Google Shape;1060;p84"/>
          <p:cNvSpPr txBox="1"/>
          <p:nvPr>
            <p:ph idx="1" type="subTitle"/>
          </p:nvPr>
        </p:nvSpPr>
        <p:spPr>
          <a:xfrm>
            <a:off x="958225" y="1674150"/>
            <a:ext cx="36138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Sam has the greater savings.</a:t>
            </a:r>
            <a:endParaRPr sz="1800"/>
          </a:p>
        </p:txBody>
      </p:sp>
      <p:sp>
        <p:nvSpPr>
          <p:cNvPr id="1061" name="Google Shape;1061;p84"/>
          <p:cNvSpPr txBox="1"/>
          <p:nvPr>
            <p:ph idx="4" type="subTitle"/>
          </p:nvPr>
        </p:nvSpPr>
        <p:spPr>
          <a:xfrm>
            <a:off x="958225" y="3131251"/>
            <a:ext cx="3266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A scale of 10 is appropriate for the weeks axis.</a:t>
            </a:r>
            <a:endParaRPr/>
          </a:p>
        </p:txBody>
      </p:sp>
      <p:pic>
        <p:nvPicPr>
          <p:cNvPr id="1062" name="Google Shape;1062;p84"/>
          <p:cNvPicPr preferRelativeResize="0"/>
          <p:nvPr/>
        </p:nvPicPr>
        <p:blipFill>
          <a:blip r:embed="rId4">
            <a:alphaModFix/>
          </a:blip>
          <a:stretch>
            <a:fillRect/>
          </a:stretch>
        </p:blipFill>
        <p:spPr>
          <a:xfrm>
            <a:off x="6068183" y="3561328"/>
            <a:ext cx="466113" cy="523200"/>
          </a:xfrm>
          <a:prstGeom prst="rect">
            <a:avLst/>
          </a:prstGeom>
          <a:noFill/>
          <a:ln>
            <a:noFill/>
          </a:ln>
        </p:spPr>
      </p:pic>
      <p:sp>
        <p:nvSpPr>
          <p:cNvPr id="1063" name="Google Shape;1063;p84"/>
          <p:cNvSpPr txBox="1"/>
          <p:nvPr>
            <p:ph type="title"/>
          </p:nvPr>
        </p:nvSpPr>
        <p:spPr>
          <a:xfrm>
            <a:off x="324000" y="753850"/>
            <a:ext cx="4125600" cy="6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this graphical representation which statements are true?</a:t>
            </a:r>
            <a:endParaRPr sz="2000"/>
          </a:p>
        </p:txBody>
      </p:sp>
      <p:sp>
        <p:nvSpPr>
          <p:cNvPr id="1064" name="Google Shape;1064;p84"/>
          <p:cNvSpPr txBox="1"/>
          <p:nvPr>
            <p:ph idx="5" type="subTitle"/>
          </p:nvPr>
        </p:nvSpPr>
        <p:spPr>
          <a:xfrm>
            <a:off x="958225" y="4136286"/>
            <a:ext cx="3865800" cy="335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In week 100 Lucas will have more.</a:t>
            </a:r>
            <a:endParaRPr/>
          </a:p>
        </p:txBody>
      </p:sp>
      <p:pic>
        <p:nvPicPr>
          <p:cNvPr id="1065" name="Google Shape;1065;p84"/>
          <p:cNvPicPr preferRelativeResize="0"/>
          <p:nvPr/>
        </p:nvPicPr>
        <p:blipFill>
          <a:blip r:embed="rId5">
            <a:alphaModFix/>
          </a:blip>
          <a:stretch>
            <a:fillRect/>
          </a:stretch>
        </p:blipFill>
        <p:spPr>
          <a:xfrm>
            <a:off x="5423903" y="2477926"/>
            <a:ext cx="466125" cy="671224"/>
          </a:xfrm>
          <a:prstGeom prst="rect">
            <a:avLst/>
          </a:prstGeom>
          <a:noFill/>
          <a:ln>
            <a:noFill/>
          </a:ln>
        </p:spPr>
      </p:pic>
      <p:sp>
        <p:nvSpPr>
          <p:cNvPr id="1066" name="Google Shape;1066;p84"/>
          <p:cNvSpPr txBox="1"/>
          <p:nvPr>
            <p:ph idx="1" type="subTitle"/>
          </p:nvPr>
        </p:nvSpPr>
        <p:spPr>
          <a:xfrm>
            <a:off x="5911225" y="2469836"/>
            <a:ext cx="62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Sam</a:t>
            </a:r>
            <a:endParaRPr sz="1800">
              <a:highlight>
                <a:schemeClr val="lt1"/>
              </a:highlight>
            </a:endParaRPr>
          </a:p>
        </p:txBody>
      </p:sp>
      <p:sp>
        <p:nvSpPr>
          <p:cNvPr id="1067" name="Google Shape;1067;p84"/>
          <p:cNvSpPr txBox="1"/>
          <p:nvPr>
            <p:ph idx="1" type="subTitle"/>
          </p:nvPr>
        </p:nvSpPr>
        <p:spPr>
          <a:xfrm>
            <a:off x="6520825" y="3818975"/>
            <a:ext cx="8079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Lucas</a:t>
            </a:r>
            <a:endParaRPr sz="1800">
              <a:highlight>
                <a:schemeClr val="lt1"/>
              </a:highlight>
            </a:endParaRPr>
          </a:p>
        </p:txBody>
      </p:sp>
      <p:sp>
        <p:nvSpPr>
          <p:cNvPr id="1068" name="Google Shape;1068;p84"/>
          <p:cNvSpPr txBox="1"/>
          <p:nvPr>
            <p:ph idx="4294967295" type="body"/>
          </p:nvPr>
        </p:nvSpPr>
        <p:spPr>
          <a:xfrm rot="-5400000">
            <a:off x="4369991" y="1487746"/>
            <a:ext cx="10755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Savings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s</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1069" name="Google Shape;1069;p84"/>
          <p:cNvSpPr txBox="1"/>
          <p:nvPr>
            <p:ph idx="4294967295" type="body"/>
          </p:nvPr>
        </p:nvSpPr>
        <p:spPr>
          <a:xfrm>
            <a:off x="7749091" y="3789654"/>
            <a:ext cx="10482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W</a:t>
            </a:r>
            <a:r>
              <a:rPr lang="en-GB" sz="1600">
                <a:highlight>
                  <a:schemeClr val="lt1"/>
                </a:highlight>
              </a:rPr>
              <a:t>eeks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w</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070" name="Google Shape;1070;p84"/>
          <p:cNvSpPr txBox="1"/>
          <p:nvPr>
            <p:ph idx="1" type="subTitle"/>
          </p:nvPr>
        </p:nvSpPr>
        <p:spPr>
          <a:xfrm>
            <a:off x="958225" y="2431971"/>
            <a:ext cx="3613800" cy="35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In week 30 Lucas has £40 more.</a:t>
            </a:r>
            <a:endParaRPr sz="1800"/>
          </a:p>
        </p:txBody>
      </p:sp>
      <p:pic>
        <p:nvPicPr>
          <p:cNvPr id="1071" name="Google Shape;1071;p84"/>
          <p:cNvPicPr preferRelativeResize="0"/>
          <p:nvPr/>
        </p:nvPicPr>
        <p:blipFill>
          <a:blip r:embed="rId6">
            <a:alphaModFix/>
          </a:blip>
          <a:stretch>
            <a:fillRect/>
          </a:stretch>
        </p:blipFill>
        <p:spPr>
          <a:xfrm>
            <a:off x="4575183" y="2364089"/>
            <a:ext cx="396000" cy="419100"/>
          </a:xfrm>
          <a:prstGeom prst="rect">
            <a:avLst/>
          </a:prstGeom>
          <a:noFill/>
          <a:ln>
            <a:noFill/>
          </a:ln>
        </p:spPr>
      </p:pic>
      <p:pic>
        <p:nvPicPr>
          <p:cNvPr id="1072" name="Google Shape;1072;p84"/>
          <p:cNvPicPr preferRelativeResize="0"/>
          <p:nvPr/>
        </p:nvPicPr>
        <p:blipFill>
          <a:blip r:embed="rId7">
            <a:alphaModFix/>
          </a:blip>
          <a:stretch>
            <a:fillRect/>
          </a:stretch>
        </p:blipFill>
        <p:spPr>
          <a:xfrm>
            <a:off x="4353538" y="1700417"/>
            <a:ext cx="396000" cy="419760"/>
          </a:xfrm>
          <a:prstGeom prst="rect">
            <a:avLst/>
          </a:prstGeom>
          <a:noFill/>
          <a:ln>
            <a:noFill/>
          </a:ln>
        </p:spPr>
      </p:pic>
      <p:pic>
        <p:nvPicPr>
          <p:cNvPr id="1073" name="Google Shape;1073;p84"/>
          <p:cNvPicPr preferRelativeResize="0"/>
          <p:nvPr/>
        </p:nvPicPr>
        <p:blipFill>
          <a:blip r:embed="rId6">
            <a:alphaModFix/>
          </a:blip>
          <a:stretch>
            <a:fillRect/>
          </a:stretch>
        </p:blipFill>
        <p:spPr>
          <a:xfrm>
            <a:off x="4064244" y="3148550"/>
            <a:ext cx="396000" cy="419100"/>
          </a:xfrm>
          <a:prstGeom prst="rect">
            <a:avLst/>
          </a:prstGeom>
          <a:noFill/>
          <a:ln>
            <a:noFill/>
          </a:ln>
        </p:spPr>
      </p:pic>
      <p:pic>
        <p:nvPicPr>
          <p:cNvPr id="1074" name="Google Shape;1074;p84"/>
          <p:cNvPicPr preferRelativeResize="0"/>
          <p:nvPr/>
        </p:nvPicPr>
        <p:blipFill>
          <a:blip r:embed="rId6">
            <a:alphaModFix/>
          </a:blip>
          <a:stretch>
            <a:fillRect/>
          </a:stretch>
        </p:blipFill>
        <p:spPr>
          <a:xfrm>
            <a:off x="4781323" y="4094229"/>
            <a:ext cx="396000" cy="419100"/>
          </a:xfrm>
          <a:prstGeom prst="rect">
            <a:avLst/>
          </a:prstGeom>
          <a:noFill/>
          <a:ln>
            <a:noFill/>
          </a:ln>
        </p:spPr>
      </p:pic>
      <p:sp>
        <p:nvSpPr>
          <p:cNvPr id="1075" name="Google Shape;1075;p84"/>
          <p:cNvSpPr txBox="1"/>
          <p:nvPr>
            <p:ph idx="4294967295" type="body"/>
          </p:nvPr>
        </p:nvSpPr>
        <p:spPr>
          <a:xfrm>
            <a:off x="983564" y="1976104"/>
            <a:ext cx="1576800" cy="35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Only</a:t>
            </a:r>
            <a:r>
              <a:rPr lang="en-GB" sz="2000">
                <a:latin typeface="Kalam"/>
                <a:ea typeface="Kalam"/>
                <a:cs typeface="Kalam"/>
                <a:sym typeface="Kalam"/>
              </a:rPr>
              <a:t> initially.</a:t>
            </a:r>
            <a:endParaRPr sz="2000">
              <a:latin typeface="Kalam"/>
              <a:ea typeface="Kalam"/>
              <a:cs typeface="Kalam"/>
              <a:sym typeface="Kalam"/>
            </a:endParaRPr>
          </a:p>
        </p:txBody>
      </p:sp>
      <p:sp>
        <p:nvSpPr>
          <p:cNvPr id="1076" name="Google Shape;1076;p84"/>
          <p:cNvSpPr txBox="1"/>
          <p:nvPr>
            <p:ph idx="4294967295" type="body"/>
          </p:nvPr>
        </p:nvSpPr>
        <p:spPr>
          <a:xfrm>
            <a:off x="972334" y="2738114"/>
            <a:ext cx="23637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Two steps of £20</a:t>
            </a:r>
            <a:r>
              <a:rPr lang="en-GB" sz="2000">
                <a:latin typeface="Kalam"/>
                <a:ea typeface="Kalam"/>
                <a:cs typeface="Kalam"/>
                <a:sym typeface="Kalam"/>
              </a:rPr>
              <a:t>.</a:t>
            </a:r>
            <a:endParaRPr sz="2000">
              <a:latin typeface="Kalam"/>
              <a:ea typeface="Kalam"/>
              <a:cs typeface="Kalam"/>
              <a:sym typeface="Kalam"/>
            </a:endParaRPr>
          </a:p>
        </p:txBody>
      </p:sp>
      <p:sp>
        <p:nvSpPr>
          <p:cNvPr id="1077" name="Google Shape;1077;p84"/>
          <p:cNvSpPr txBox="1"/>
          <p:nvPr>
            <p:ph idx="4294967295" type="body"/>
          </p:nvPr>
        </p:nvSpPr>
        <p:spPr>
          <a:xfrm>
            <a:off x="972302" y="4490711"/>
            <a:ext cx="52845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Provided these linear relationships continue.</a:t>
            </a:r>
            <a:endParaRPr sz="2000">
              <a:latin typeface="Kalam"/>
              <a:ea typeface="Kalam"/>
              <a:cs typeface="Kalam"/>
              <a:sym typeface="Kalam"/>
            </a:endParaRPr>
          </a:p>
        </p:txBody>
      </p:sp>
      <p:cxnSp>
        <p:nvCxnSpPr>
          <p:cNvPr id="1078" name="Google Shape;1078;p84"/>
          <p:cNvCxnSpPr/>
          <p:nvPr/>
        </p:nvCxnSpPr>
        <p:spPr>
          <a:xfrm rot="10800000">
            <a:off x="7858125" y="2183125"/>
            <a:ext cx="0" cy="457200"/>
          </a:xfrm>
          <a:prstGeom prst="straightConnector1">
            <a:avLst/>
          </a:prstGeom>
          <a:noFill/>
          <a:ln cap="flat" cmpd="sng" w="19050">
            <a:solidFill>
              <a:schemeClr val="accent4"/>
            </a:solidFill>
            <a:prstDash val="solid"/>
            <a:round/>
            <a:headEnd len="med" w="med" type="triangle"/>
            <a:tailEnd len="med" w="med" type="triangle"/>
          </a:ln>
        </p:spPr>
      </p:cxnSp>
      <p:sp>
        <p:nvSpPr>
          <p:cNvPr id="1079" name="Google Shape;1079;p84"/>
          <p:cNvSpPr txBox="1"/>
          <p:nvPr>
            <p:ph idx="4294967295" type="body"/>
          </p:nvPr>
        </p:nvSpPr>
        <p:spPr>
          <a:xfrm>
            <a:off x="972301" y="3748748"/>
            <a:ext cx="36138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1</a:t>
            </a:r>
            <a:r>
              <a:rPr lang="en-GB" sz="2000">
                <a:latin typeface="Kalam"/>
                <a:ea typeface="Kalam"/>
                <a:cs typeface="Kalam"/>
                <a:sym typeface="Kalam"/>
              </a:rPr>
              <a:t> would not have been efficient.</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85"/>
          <p:cNvSpPr txBox="1"/>
          <p:nvPr>
            <p:ph idx="1" type="body"/>
          </p:nvPr>
        </p:nvSpPr>
        <p:spPr>
          <a:xfrm>
            <a:off x="324000" y="759300"/>
            <a:ext cx="3996000" cy="10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Andeep and Jun fill a bucket each from two different taps. This is graphed here.</a:t>
            </a:r>
            <a:endParaRPr sz="2000"/>
          </a:p>
        </p:txBody>
      </p:sp>
      <p:sp>
        <p:nvSpPr>
          <p:cNvPr id="1085" name="Google Shape;1085;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Problems involving linear relationships</a:t>
            </a:r>
            <a:endParaRPr/>
          </a:p>
        </p:txBody>
      </p:sp>
      <p:pic>
        <p:nvPicPr>
          <p:cNvPr id="1086" name="Google Shape;1086;p85"/>
          <p:cNvPicPr preferRelativeResize="0"/>
          <p:nvPr/>
        </p:nvPicPr>
        <p:blipFill>
          <a:blip r:embed="rId3">
            <a:alphaModFix/>
          </a:blip>
          <a:stretch>
            <a:fillRect/>
          </a:stretch>
        </p:blipFill>
        <p:spPr>
          <a:xfrm>
            <a:off x="5365131" y="810000"/>
            <a:ext cx="3058169" cy="3952499"/>
          </a:xfrm>
          <a:prstGeom prst="rect">
            <a:avLst/>
          </a:prstGeom>
          <a:noFill/>
          <a:ln cap="flat" cmpd="sng" w="19050">
            <a:solidFill>
              <a:schemeClr val="dk1"/>
            </a:solidFill>
            <a:prstDash val="solid"/>
            <a:round/>
            <a:headEnd len="sm" w="sm" type="none"/>
            <a:tailEnd len="sm" w="sm" type="none"/>
          </a:ln>
        </p:spPr>
      </p:pic>
      <p:sp>
        <p:nvSpPr>
          <p:cNvPr id="1087" name="Google Shape;1087;p85"/>
          <p:cNvSpPr txBox="1"/>
          <p:nvPr>
            <p:ph idx="4294967295" type="body"/>
          </p:nvPr>
        </p:nvSpPr>
        <p:spPr>
          <a:xfrm rot="-5400000">
            <a:off x="4404050" y="1709775"/>
            <a:ext cx="1617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Volume in ml</a:t>
            </a:r>
            <a:r>
              <a:rPr lang="en-GB" sz="1600"/>
              <a:t>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v</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1088" name="Google Shape;1088;p85"/>
          <p:cNvSpPr txBox="1"/>
          <p:nvPr>
            <p:ph idx="4294967295" type="body"/>
          </p:nvPr>
        </p:nvSpPr>
        <p:spPr>
          <a:xfrm>
            <a:off x="7212126" y="4246850"/>
            <a:ext cx="12042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Seconds</a:t>
            </a:r>
            <a:r>
              <a:rPr lang="en-GB" sz="1600">
                <a:highlight>
                  <a:schemeClr val="lt1"/>
                </a:highlight>
              </a:rPr>
              <a:t>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s</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089" name="Google Shape;1089;p85"/>
          <p:cNvSpPr txBox="1"/>
          <p:nvPr>
            <p:ph idx="4294967295" type="body"/>
          </p:nvPr>
        </p:nvSpPr>
        <p:spPr>
          <a:xfrm rot="-2088195">
            <a:off x="5840544" y="2669099"/>
            <a:ext cx="895122" cy="277206"/>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Andeep</a:t>
            </a:r>
            <a:endParaRPr sz="2000">
              <a:highlight>
                <a:schemeClr val="lt1"/>
              </a:highlight>
              <a:latin typeface="Times New Roman"/>
              <a:ea typeface="Times New Roman"/>
              <a:cs typeface="Times New Roman"/>
              <a:sym typeface="Times New Roman"/>
            </a:endParaRPr>
          </a:p>
        </p:txBody>
      </p:sp>
      <p:sp>
        <p:nvSpPr>
          <p:cNvPr id="1090" name="Google Shape;1090;p85"/>
          <p:cNvSpPr txBox="1"/>
          <p:nvPr>
            <p:ph idx="4294967295" type="body"/>
          </p:nvPr>
        </p:nvSpPr>
        <p:spPr>
          <a:xfrm rot="-3314963">
            <a:off x="5930747" y="4124992"/>
            <a:ext cx="489995" cy="277452"/>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Jun</a:t>
            </a:r>
            <a:endParaRPr sz="2000">
              <a:highlight>
                <a:schemeClr val="lt1"/>
              </a:highlight>
              <a:latin typeface="Times New Roman"/>
              <a:ea typeface="Times New Roman"/>
              <a:cs typeface="Times New Roman"/>
              <a:sym typeface="Times New Roman"/>
            </a:endParaRPr>
          </a:p>
        </p:txBody>
      </p:sp>
      <p:sp>
        <p:nvSpPr>
          <p:cNvPr id="1091" name="Google Shape;1091;p85"/>
          <p:cNvSpPr txBox="1"/>
          <p:nvPr>
            <p:ph idx="1" type="body"/>
          </p:nvPr>
        </p:nvSpPr>
        <p:spPr>
          <a:xfrm>
            <a:off x="324000" y="1859791"/>
            <a:ext cx="4500000" cy="64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r>
              <a:rPr lang="en-GB" sz="1800"/>
              <a:t>) Who started with some water in their bucket already?</a:t>
            </a:r>
            <a:endParaRPr sz="1800"/>
          </a:p>
        </p:txBody>
      </p:sp>
      <p:sp>
        <p:nvSpPr>
          <p:cNvPr id="1092" name="Google Shape;1092;p85"/>
          <p:cNvSpPr txBox="1"/>
          <p:nvPr>
            <p:ph idx="1" type="body"/>
          </p:nvPr>
        </p:nvSpPr>
        <p:spPr>
          <a:xfrm>
            <a:off x="324000" y="2783009"/>
            <a:ext cx="4500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Who had the smaller bucket?</a:t>
            </a:r>
            <a:endParaRPr sz="1800"/>
          </a:p>
        </p:txBody>
      </p:sp>
      <p:sp>
        <p:nvSpPr>
          <p:cNvPr id="1093" name="Google Shape;1093;p85"/>
          <p:cNvSpPr txBox="1"/>
          <p:nvPr>
            <p:ph idx="1" type="body"/>
          </p:nvPr>
        </p:nvSpPr>
        <p:spPr>
          <a:xfrm>
            <a:off x="324000" y="3459991"/>
            <a:ext cx="4653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 Whose tap has the faster rate of flow?</a:t>
            </a:r>
            <a:endParaRPr sz="1800"/>
          </a:p>
        </p:txBody>
      </p:sp>
      <p:sp>
        <p:nvSpPr>
          <p:cNvPr id="1094" name="Google Shape;1094;p85"/>
          <p:cNvSpPr txBox="1"/>
          <p:nvPr>
            <p:ph idx="1" type="body"/>
          </p:nvPr>
        </p:nvSpPr>
        <p:spPr>
          <a:xfrm>
            <a:off x="324000" y="4145791"/>
            <a:ext cx="4500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 When was Andeep’s bucket half full?</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pic>
        <p:nvPicPr>
          <p:cNvPr id="1099" name="Google Shape;1099;p86"/>
          <p:cNvPicPr preferRelativeResize="0"/>
          <p:nvPr/>
        </p:nvPicPr>
        <p:blipFill>
          <a:blip r:embed="rId3">
            <a:alphaModFix/>
          </a:blip>
          <a:stretch>
            <a:fillRect/>
          </a:stretch>
        </p:blipFill>
        <p:spPr>
          <a:xfrm>
            <a:off x="5944739" y="921740"/>
            <a:ext cx="2853661" cy="3391549"/>
          </a:xfrm>
          <a:prstGeom prst="rect">
            <a:avLst/>
          </a:prstGeom>
          <a:noFill/>
          <a:ln cap="flat" cmpd="sng" w="19050">
            <a:solidFill>
              <a:schemeClr val="dk1"/>
            </a:solidFill>
            <a:prstDash val="solid"/>
            <a:round/>
            <a:headEnd len="sm" w="sm" type="none"/>
            <a:tailEnd len="sm" w="sm" type="none"/>
          </a:ln>
        </p:spPr>
      </p:pic>
      <p:sp>
        <p:nvSpPr>
          <p:cNvPr id="1100" name="Google Shape;1100;p86"/>
          <p:cNvSpPr txBox="1"/>
          <p:nvPr>
            <p:ph idx="1" type="body"/>
          </p:nvPr>
        </p:nvSpPr>
        <p:spPr>
          <a:xfrm>
            <a:off x="324000" y="759300"/>
            <a:ext cx="5450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In your town there are three taxi companies.</a:t>
            </a:r>
            <a:endParaRPr sz="1800"/>
          </a:p>
        </p:txBody>
      </p:sp>
      <p:sp>
        <p:nvSpPr>
          <p:cNvPr id="1101" name="Google Shape;1101;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Problems involving linear relationships</a:t>
            </a:r>
            <a:endParaRPr/>
          </a:p>
        </p:txBody>
      </p:sp>
      <p:sp>
        <p:nvSpPr>
          <p:cNvPr id="1102" name="Google Shape;1102;p86"/>
          <p:cNvSpPr txBox="1"/>
          <p:nvPr>
            <p:ph idx="4294967295" type="body"/>
          </p:nvPr>
        </p:nvSpPr>
        <p:spPr>
          <a:xfrm rot="-5400000">
            <a:off x="5670200" y="1375725"/>
            <a:ext cx="1218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Cost in </a:t>
            </a:r>
            <a:r>
              <a:rPr lang="en-GB" sz="1800">
                <a:highlight>
                  <a:schemeClr val="lt1"/>
                </a:highlight>
                <a:latin typeface="Times New Roman"/>
                <a:ea typeface="Times New Roman"/>
                <a:cs typeface="Times New Roman"/>
                <a:sym typeface="Times New Roman"/>
              </a:rPr>
              <a:t>£</a:t>
            </a:r>
            <a:r>
              <a:rPr lang="en-GB" sz="1600">
                <a:highlight>
                  <a:schemeClr val="lt1"/>
                </a:highlight>
              </a:rPr>
              <a:t>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c</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103" name="Google Shape;1103;p86"/>
          <p:cNvSpPr txBox="1"/>
          <p:nvPr>
            <p:ph idx="4294967295" type="body"/>
          </p:nvPr>
        </p:nvSpPr>
        <p:spPr>
          <a:xfrm>
            <a:off x="7897925" y="3865850"/>
            <a:ext cx="932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Miles</a:t>
            </a:r>
            <a:r>
              <a:rPr lang="en-GB" sz="1600">
                <a:highlight>
                  <a:schemeClr val="lt1"/>
                </a:highlight>
              </a:rPr>
              <a:t>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m</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104" name="Google Shape;1104;p86"/>
          <p:cNvSpPr txBox="1"/>
          <p:nvPr>
            <p:ph idx="1" type="body"/>
          </p:nvPr>
        </p:nvSpPr>
        <p:spPr>
          <a:xfrm>
            <a:off x="324000" y="1082581"/>
            <a:ext cx="4500000" cy="642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Company A </a:t>
            </a:r>
            <a:r>
              <a:rPr lang="en-GB" sz="1800"/>
              <a:t>charge a f</a:t>
            </a:r>
            <a:r>
              <a:rPr lang="en-GB" sz="1800"/>
              <a:t>lat rate of £4 then £2 for every mile travelled.</a:t>
            </a:r>
            <a:endParaRPr sz="1800"/>
          </a:p>
        </p:txBody>
      </p:sp>
      <p:sp>
        <p:nvSpPr>
          <p:cNvPr id="1105" name="Google Shape;1105;p86"/>
          <p:cNvSpPr txBox="1"/>
          <p:nvPr>
            <p:ph idx="1" type="body"/>
          </p:nvPr>
        </p:nvSpPr>
        <p:spPr>
          <a:xfrm>
            <a:off x="324000" y="1788711"/>
            <a:ext cx="4500000" cy="642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Company B charge a flat rate of £8 then £1 </a:t>
            </a:r>
            <a:r>
              <a:rPr lang="en-GB" sz="1800"/>
              <a:t>for every mile travelled</a:t>
            </a:r>
            <a:r>
              <a:rPr lang="en-GB" sz="1800"/>
              <a:t>.</a:t>
            </a:r>
            <a:endParaRPr sz="1800"/>
          </a:p>
        </p:txBody>
      </p:sp>
      <p:sp>
        <p:nvSpPr>
          <p:cNvPr id="1106" name="Google Shape;1106;p86"/>
          <p:cNvSpPr txBox="1"/>
          <p:nvPr>
            <p:ph idx="1" type="body"/>
          </p:nvPr>
        </p:nvSpPr>
        <p:spPr>
          <a:xfrm>
            <a:off x="324000" y="2489721"/>
            <a:ext cx="4500000" cy="642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Company C charge no flat rate and £4 </a:t>
            </a:r>
            <a:r>
              <a:rPr lang="en-GB" sz="1800"/>
              <a:t>for every mile travelled.</a:t>
            </a:r>
            <a:endParaRPr sz="1800"/>
          </a:p>
        </p:txBody>
      </p:sp>
      <p:graphicFrame>
        <p:nvGraphicFramePr>
          <p:cNvPr id="1107" name="Google Shape;1107;p86"/>
          <p:cNvGraphicFramePr/>
          <p:nvPr/>
        </p:nvGraphicFramePr>
        <p:xfrm>
          <a:off x="343703" y="3254694"/>
          <a:ext cx="3000000" cy="3000000"/>
        </p:xfrm>
        <a:graphic>
          <a:graphicData uri="http://schemas.openxmlformats.org/drawingml/2006/table">
            <a:tbl>
              <a:tblPr>
                <a:noFill/>
                <a:tableStyleId>{9A4AEBD6-43F1-4C7A-9EA5-C050399E0610}</a:tableStyleId>
              </a:tblPr>
              <a:tblGrid>
                <a:gridCol w="1424100"/>
                <a:gridCol w="591500"/>
                <a:gridCol w="591500"/>
                <a:gridCol w="591500"/>
                <a:gridCol w="591500"/>
                <a:gridCol w="591500"/>
                <a:gridCol w="591500"/>
              </a:tblGrid>
              <a:tr h="321300">
                <a:tc>
                  <a:txBody>
                    <a:bodyPr/>
                    <a:lstStyle/>
                    <a:p>
                      <a:pPr indent="0" lvl="0" marL="0" rtl="0" algn="ctr">
                        <a:spcBef>
                          <a:spcPts val="0"/>
                        </a:spcBef>
                        <a:spcAft>
                          <a:spcPts val="0"/>
                        </a:spcAft>
                        <a:buNone/>
                      </a:pPr>
                      <a:r>
                        <a:rPr lang="en-GB" sz="1800">
                          <a:latin typeface="Lexend"/>
                          <a:ea typeface="Lexend"/>
                          <a:cs typeface="Lexend"/>
                          <a:sym typeface="Lexend"/>
                        </a:rPr>
                        <a:t>Miles</a:t>
                      </a:r>
                      <a:r>
                        <a:rPr lang="en-GB" sz="1800">
                          <a:latin typeface="Lexend"/>
                          <a:ea typeface="Lexend"/>
                          <a:cs typeface="Lexend"/>
                          <a:sym typeface="Lexend"/>
                        </a:rPr>
                        <a:t>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Cost</a:t>
                      </a:r>
                      <a:r>
                        <a:rPr lang="en-GB" sz="1800">
                          <a:solidFill>
                            <a:schemeClr val="dk1"/>
                          </a:solidFill>
                          <a:latin typeface="Lexend"/>
                          <a:ea typeface="Lexend"/>
                          <a:cs typeface="Lexend"/>
                          <a:sym typeface="Lexend"/>
                        </a:rPr>
                        <a:t> in </a:t>
                      </a:r>
                      <a:r>
                        <a:rPr lang="en-GB" sz="1800">
                          <a:latin typeface="Lexend"/>
                          <a:ea typeface="Lexend"/>
                          <a:cs typeface="Lexend"/>
                          <a:sym typeface="Lexend"/>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c</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08" name="Google Shape;1108;p86"/>
          <p:cNvSpPr txBox="1"/>
          <p:nvPr>
            <p:ph idx="1" type="body"/>
          </p:nvPr>
        </p:nvSpPr>
        <p:spPr>
          <a:xfrm>
            <a:off x="324000" y="4135635"/>
            <a:ext cx="8478300" cy="64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a:t>
            </a:r>
            <a:r>
              <a:rPr lang="en-GB" sz="1800"/>
              <a:t> </a:t>
            </a:r>
            <a:r>
              <a:rPr lang="en-GB" sz="1800"/>
              <a:t>Fill in three tables of values and plot three lines.</a:t>
            </a:r>
            <a:endParaRPr sz="1800"/>
          </a:p>
          <a:p>
            <a:pPr indent="0" lvl="0" marL="0" rtl="0" algn="l">
              <a:spcBef>
                <a:spcPts val="1000"/>
              </a:spcBef>
              <a:spcAft>
                <a:spcPts val="1000"/>
              </a:spcAft>
              <a:buNone/>
            </a:pPr>
            <a:r>
              <a:rPr lang="en-GB" sz="1800"/>
              <a:t>b) Write a paragraph explaining the conditions in which each firm is best.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87"/>
          <p:cNvSpPr txBox="1"/>
          <p:nvPr>
            <p:ph idx="1" type="body"/>
          </p:nvPr>
        </p:nvSpPr>
        <p:spPr>
          <a:xfrm>
            <a:off x="324000" y="759300"/>
            <a:ext cx="3996000" cy="110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Andeep and Jun fill a bucket each from two different taps. This is graphed here.</a:t>
            </a:r>
            <a:endParaRPr sz="2000"/>
          </a:p>
        </p:txBody>
      </p:sp>
      <p:sp>
        <p:nvSpPr>
          <p:cNvPr id="1114" name="Google Shape;1114;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Problems involving linear relationships</a:t>
            </a:r>
            <a:endParaRPr/>
          </a:p>
        </p:txBody>
      </p:sp>
      <p:pic>
        <p:nvPicPr>
          <p:cNvPr id="1115" name="Google Shape;1115;p87"/>
          <p:cNvPicPr preferRelativeResize="0"/>
          <p:nvPr/>
        </p:nvPicPr>
        <p:blipFill>
          <a:blip r:embed="rId3">
            <a:alphaModFix/>
          </a:blip>
          <a:stretch>
            <a:fillRect/>
          </a:stretch>
        </p:blipFill>
        <p:spPr>
          <a:xfrm>
            <a:off x="5365131" y="810000"/>
            <a:ext cx="3058169" cy="3952499"/>
          </a:xfrm>
          <a:prstGeom prst="rect">
            <a:avLst/>
          </a:prstGeom>
          <a:noFill/>
          <a:ln cap="flat" cmpd="sng" w="19050">
            <a:solidFill>
              <a:schemeClr val="dk1"/>
            </a:solidFill>
            <a:prstDash val="solid"/>
            <a:round/>
            <a:headEnd len="sm" w="sm" type="none"/>
            <a:tailEnd len="sm" w="sm" type="none"/>
          </a:ln>
        </p:spPr>
      </p:pic>
      <p:sp>
        <p:nvSpPr>
          <p:cNvPr id="1116" name="Google Shape;1116;p87"/>
          <p:cNvSpPr txBox="1"/>
          <p:nvPr>
            <p:ph idx="4294967295" type="body"/>
          </p:nvPr>
        </p:nvSpPr>
        <p:spPr>
          <a:xfrm rot="-5400000">
            <a:off x="4404050" y="1709775"/>
            <a:ext cx="1617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Volume in ml </a:t>
            </a:r>
            <a:r>
              <a:rPr lang="en-GB" sz="1800">
                <a:latin typeface="Times New Roman"/>
                <a:ea typeface="Times New Roman"/>
                <a:cs typeface="Times New Roman"/>
                <a:sym typeface="Times New Roman"/>
              </a:rPr>
              <a:t>(</a:t>
            </a:r>
            <a:r>
              <a:rPr i="1" lang="en-GB" sz="1800">
                <a:latin typeface="Times New Roman"/>
                <a:ea typeface="Times New Roman"/>
                <a:cs typeface="Times New Roman"/>
                <a:sym typeface="Times New Roman"/>
              </a:rPr>
              <a:t>v</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1117" name="Google Shape;1117;p87"/>
          <p:cNvSpPr txBox="1"/>
          <p:nvPr>
            <p:ph idx="4294967295" type="body"/>
          </p:nvPr>
        </p:nvSpPr>
        <p:spPr>
          <a:xfrm>
            <a:off x="7212126" y="4246850"/>
            <a:ext cx="12042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Seconds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s</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118" name="Google Shape;1118;p87"/>
          <p:cNvSpPr txBox="1"/>
          <p:nvPr>
            <p:ph idx="4294967295" type="body"/>
          </p:nvPr>
        </p:nvSpPr>
        <p:spPr>
          <a:xfrm rot="-2088195">
            <a:off x="5840544" y="2669099"/>
            <a:ext cx="895122" cy="277206"/>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Andeep</a:t>
            </a:r>
            <a:endParaRPr sz="2000">
              <a:highlight>
                <a:schemeClr val="lt1"/>
              </a:highlight>
              <a:latin typeface="Times New Roman"/>
              <a:ea typeface="Times New Roman"/>
              <a:cs typeface="Times New Roman"/>
              <a:sym typeface="Times New Roman"/>
            </a:endParaRPr>
          </a:p>
        </p:txBody>
      </p:sp>
      <p:sp>
        <p:nvSpPr>
          <p:cNvPr id="1119" name="Google Shape;1119;p87"/>
          <p:cNvSpPr txBox="1"/>
          <p:nvPr>
            <p:ph idx="4294967295" type="body"/>
          </p:nvPr>
        </p:nvSpPr>
        <p:spPr>
          <a:xfrm rot="-3314963">
            <a:off x="5930747" y="4124992"/>
            <a:ext cx="489995" cy="277452"/>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Jun</a:t>
            </a:r>
            <a:endParaRPr sz="2000">
              <a:highlight>
                <a:schemeClr val="lt1"/>
              </a:highlight>
              <a:latin typeface="Times New Roman"/>
              <a:ea typeface="Times New Roman"/>
              <a:cs typeface="Times New Roman"/>
              <a:sym typeface="Times New Roman"/>
            </a:endParaRPr>
          </a:p>
        </p:txBody>
      </p:sp>
      <p:sp>
        <p:nvSpPr>
          <p:cNvPr id="1120" name="Google Shape;1120;p87"/>
          <p:cNvSpPr txBox="1"/>
          <p:nvPr>
            <p:ph idx="1" type="body"/>
          </p:nvPr>
        </p:nvSpPr>
        <p:spPr>
          <a:xfrm>
            <a:off x="324000" y="1859791"/>
            <a:ext cx="4500000" cy="64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Who started with some water in their bucket already?</a:t>
            </a:r>
            <a:endParaRPr sz="1800"/>
          </a:p>
        </p:txBody>
      </p:sp>
      <p:sp>
        <p:nvSpPr>
          <p:cNvPr id="1121" name="Google Shape;1121;p87"/>
          <p:cNvSpPr txBox="1"/>
          <p:nvPr>
            <p:ph idx="1" type="body"/>
          </p:nvPr>
        </p:nvSpPr>
        <p:spPr>
          <a:xfrm>
            <a:off x="324000" y="2783009"/>
            <a:ext cx="4500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Who had the smaller bucket?</a:t>
            </a:r>
            <a:endParaRPr sz="1800"/>
          </a:p>
        </p:txBody>
      </p:sp>
      <p:sp>
        <p:nvSpPr>
          <p:cNvPr id="1122" name="Google Shape;1122;p87"/>
          <p:cNvSpPr txBox="1"/>
          <p:nvPr>
            <p:ph idx="1" type="body"/>
          </p:nvPr>
        </p:nvSpPr>
        <p:spPr>
          <a:xfrm>
            <a:off x="324000" y="3459991"/>
            <a:ext cx="4653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Whose tap has the faster rate of flow?</a:t>
            </a:r>
            <a:endParaRPr sz="1800"/>
          </a:p>
        </p:txBody>
      </p:sp>
      <p:sp>
        <p:nvSpPr>
          <p:cNvPr id="1123" name="Google Shape;1123;p87"/>
          <p:cNvSpPr txBox="1"/>
          <p:nvPr>
            <p:ph idx="1" type="body"/>
          </p:nvPr>
        </p:nvSpPr>
        <p:spPr>
          <a:xfrm>
            <a:off x="324000" y="4145791"/>
            <a:ext cx="4500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When was Andeep’s bucket half full?</a:t>
            </a:r>
            <a:endParaRPr sz="1800"/>
          </a:p>
        </p:txBody>
      </p:sp>
      <p:sp>
        <p:nvSpPr>
          <p:cNvPr id="1124" name="Google Shape;1124;p87"/>
          <p:cNvSpPr txBox="1"/>
          <p:nvPr>
            <p:ph idx="4294967295" type="body"/>
          </p:nvPr>
        </p:nvSpPr>
        <p:spPr>
          <a:xfrm>
            <a:off x="316782" y="2422095"/>
            <a:ext cx="3270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Andeep starts with 300 ml.</a:t>
            </a:r>
            <a:endParaRPr sz="2000">
              <a:latin typeface="Kalam"/>
              <a:ea typeface="Kalam"/>
              <a:cs typeface="Kalam"/>
              <a:sym typeface="Kalam"/>
            </a:endParaRPr>
          </a:p>
        </p:txBody>
      </p:sp>
      <p:sp>
        <p:nvSpPr>
          <p:cNvPr id="1125" name="Google Shape;1125;p87"/>
          <p:cNvSpPr txBox="1"/>
          <p:nvPr>
            <p:ph idx="4294967295" type="body"/>
          </p:nvPr>
        </p:nvSpPr>
        <p:spPr>
          <a:xfrm>
            <a:off x="323999" y="3054155"/>
            <a:ext cx="35640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Andeep. His is full at </a:t>
            </a:r>
            <a:r>
              <a:rPr lang="en-GB" sz="2000">
                <a:latin typeface="Kalam"/>
                <a:ea typeface="Kalam"/>
                <a:cs typeface="Kalam"/>
                <a:sym typeface="Kalam"/>
              </a:rPr>
              <a:t>80</a:t>
            </a:r>
            <a:r>
              <a:rPr lang="en-GB" sz="2000">
                <a:latin typeface="Kalam"/>
                <a:ea typeface="Kalam"/>
                <a:cs typeface="Kalam"/>
                <a:sym typeface="Kalam"/>
              </a:rPr>
              <a:t>0 ml</a:t>
            </a:r>
            <a:r>
              <a:rPr lang="en-GB" sz="2000">
                <a:latin typeface="Kalam"/>
                <a:ea typeface="Kalam"/>
                <a:cs typeface="Kalam"/>
                <a:sym typeface="Kalam"/>
              </a:rPr>
              <a:t>.</a:t>
            </a:r>
            <a:endParaRPr sz="2000">
              <a:latin typeface="Kalam"/>
              <a:ea typeface="Kalam"/>
              <a:cs typeface="Kalam"/>
              <a:sym typeface="Kalam"/>
            </a:endParaRPr>
          </a:p>
        </p:txBody>
      </p:sp>
      <p:sp>
        <p:nvSpPr>
          <p:cNvPr id="1126" name="Google Shape;1126;p87"/>
          <p:cNvSpPr/>
          <p:nvPr/>
        </p:nvSpPr>
        <p:spPr>
          <a:xfrm>
            <a:off x="5375944" y="3275652"/>
            <a:ext cx="4662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7" name="Google Shape;1127;p87"/>
          <p:cNvSpPr/>
          <p:nvPr/>
        </p:nvSpPr>
        <p:spPr>
          <a:xfrm>
            <a:off x="8062992" y="1449264"/>
            <a:ext cx="4662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8" name="Google Shape;1128;p87"/>
          <p:cNvSpPr txBox="1"/>
          <p:nvPr>
            <p:ph idx="4294967295" type="body"/>
          </p:nvPr>
        </p:nvSpPr>
        <p:spPr>
          <a:xfrm>
            <a:off x="324000" y="3739950"/>
            <a:ext cx="45000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Jun</a:t>
            </a:r>
            <a:r>
              <a:rPr lang="en-GB" sz="2000">
                <a:latin typeface="Kalam"/>
                <a:ea typeface="Kalam"/>
                <a:cs typeface="Kalam"/>
                <a:sym typeface="Kalam"/>
              </a:rPr>
              <a:t>. His flows at </a:t>
            </a:r>
            <a:r>
              <a:rPr lang="en-GB" sz="2000">
                <a:latin typeface="Kalam"/>
                <a:ea typeface="Kalam"/>
                <a:cs typeface="Kalam"/>
                <a:sym typeface="Kalam"/>
              </a:rPr>
              <a:t>2</a:t>
            </a:r>
            <a:r>
              <a:rPr lang="en-GB" sz="2000">
                <a:latin typeface="Kalam"/>
                <a:ea typeface="Kalam"/>
                <a:cs typeface="Kalam"/>
                <a:sym typeface="Kalam"/>
              </a:rPr>
              <a:t>00 ml</a:t>
            </a:r>
            <a:r>
              <a:rPr lang="en-GB" sz="2000">
                <a:latin typeface="Kalam"/>
                <a:ea typeface="Kalam"/>
                <a:cs typeface="Kalam"/>
                <a:sym typeface="Kalam"/>
              </a:rPr>
              <a:t> </a:t>
            </a:r>
            <a:r>
              <a:rPr lang="en-GB" sz="2000">
                <a:latin typeface="Kalam"/>
                <a:ea typeface="Kalam"/>
                <a:cs typeface="Kalam"/>
                <a:sym typeface="Kalam"/>
              </a:rPr>
              <a:t>per </a:t>
            </a:r>
            <a:r>
              <a:rPr lang="en-GB" sz="2000">
                <a:latin typeface="Kalam"/>
                <a:ea typeface="Kalam"/>
                <a:cs typeface="Kalam"/>
                <a:sym typeface="Kalam"/>
              </a:rPr>
              <a:t>5 sec.</a:t>
            </a:r>
            <a:endParaRPr sz="2000">
              <a:latin typeface="Kalam"/>
              <a:ea typeface="Kalam"/>
              <a:cs typeface="Kalam"/>
              <a:sym typeface="Kalam"/>
            </a:endParaRPr>
          </a:p>
        </p:txBody>
      </p:sp>
      <p:grpSp>
        <p:nvGrpSpPr>
          <p:cNvPr id="1129" name="Google Shape;1129;p87"/>
          <p:cNvGrpSpPr/>
          <p:nvPr/>
        </p:nvGrpSpPr>
        <p:grpSpPr>
          <a:xfrm>
            <a:off x="6225575" y="3158575"/>
            <a:ext cx="522900" cy="713100"/>
            <a:chOff x="6225575" y="3158575"/>
            <a:chExt cx="522900" cy="713100"/>
          </a:xfrm>
        </p:grpSpPr>
        <p:cxnSp>
          <p:nvCxnSpPr>
            <p:cNvPr id="1130" name="Google Shape;1130;p87"/>
            <p:cNvCxnSpPr/>
            <p:nvPr/>
          </p:nvCxnSpPr>
          <p:spPr>
            <a:xfrm>
              <a:off x="6225575" y="3871675"/>
              <a:ext cx="522900" cy="0"/>
            </a:xfrm>
            <a:prstGeom prst="straightConnector1">
              <a:avLst/>
            </a:prstGeom>
            <a:noFill/>
            <a:ln cap="flat" cmpd="sng" w="38100">
              <a:solidFill>
                <a:schemeClr val="accent4"/>
              </a:solidFill>
              <a:prstDash val="solid"/>
              <a:round/>
              <a:headEnd len="med" w="med" type="none"/>
              <a:tailEnd len="med" w="med" type="triangle"/>
            </a:ln>
          </p:spPr>
        </p:cxnSp>
        <p:cxnSp>
          <p:nvCxnSpPr>
            <p:cNvPr id="1131" name="Google Shape;1131;p87"/>
            <p:cNvCxnSpPr/>
            <p:nvPr/>
          </p:nvCxnSpPr>
          <p:spPr>
            <a:xfrm rot="10800000">
              <a:off x="6729550" y="3158575"/>
              <a:ext cx="300" cy="705300"/>
            </a:xfrm>
            <a:prstGeom prst="straightConnector1">
              <a:avLst/>
            </a:prstGeom>
            <a:noFill/>
            <a:ln cap="flat" cmpd="sng" w="38100">
              <a:solidFill>
                <a:schemeClr val="accent4"/>
              </a:solidFill>
              <a:prstDash val="solid"/>
              <a:round/>
              <a:headEnd len="med" w="med" type="none"/>
              <a:tailEnd len="med" w="med" type="triangle"/>
            </a:ln>
          </p:spPr>
        </p:cxnSp>
      </p:grpSp>
      <p:sp>
        <p:nvSpPr>
          <p:cNvPr id="1132" name="Google Shape;1132;p87"/>
          <p:cNvSpPr txBox="1"/>
          <p:nvPr>
            <p:ph idx="4294967295" type="body"/>
          </p:nvPr>
        </p:nvSpPr>
        <p:spPr>
          <a:xfrm>
            <a:off x="324000" y="4501950"/>
            <a:ext cx="45000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After</a:t>
            </a:r>
            <a:r>
              <a:rPr lang="en-GB" sz="2000">
                <a:latin typeface="Kalam"/>
                <a:ea typeface="Kalam"/>
                <a:cs typeface="Kalam"/>
                <a:sym typeface="Kalam"/>
              </a:rPr>
              <a:t> </a:t>
            </a:r>
            <a:r>
              <a:rPr lang="en-GB" sz="2000">
                <a:latin typeface="Kalam"/>
                <a:ea typeface="Kalam"/>
                <a:cs typeface="Kalam"/>
                <a:sym typeface="Kalam"/>
              </a:rPr>
              <a:t>5</a:t>
            </a:r>
            <a:r>
              <a:rPr lang="en-GB">
                <a:latin typeface="Times New Roman"/>
                <a:ea typeface="Times New Roman"/>
                <a:cs typeface="Times New Roman"/>
                <a:sym typeface="Times New Roman"/>
              </a:rPr>
              <a:t> </a:t>
            </a:r>
            <a:r>
              <a:rPr lang="en-GB" sz="2000">
                <a:latin typeface="Kalam"/>
                <a:ea typeface="Kalam"/>
                <a:cs typeface="Kalam"/>
                <a:sym typeface="Kalam"/>
              </a:rPr>
              <a:t>seconds.</a:t>
            </a:r>
            <a:endParaRPr sz="2000">
              <a:latin typeface="Kalam"/>
              <a:ea typeface="Kalam"/>
              <a:cs typeface="Kalam"/>
              <a:sym typeface="Kalam"/>
            </a:endParaRPr>
          </a:p>
        </p:txBody>
      </p:sp>
      <p:sp>
        <p:nvSpPr>
          <p:cNvPr id="1133" name="Google Shape;1133;p87"/>
          <p:cNvSpPr/>
          <p:nvPr/>
        </p:nvSpPr>
        <p:spPr>
          <a:xfrm>
            <a:off x="5985544" y="2914982"/>
            <a:ext cx="466200" cy="4245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graphicFrame>
        <p:nvGraphicFramePr>
          <p:cNvPr id="1138" name="Google Shape;1138;p88"/>
          <p:cNvGraphicFramePr/>
          <p:nvPr/>
        </p:nvGraphicFramePr>
        <p:xfrm>
          <a:off x="3810028" y="4016694"/>
          <a:ext cx="3000000" cy="3000000"/>
        </p:xfrm>
        <a:graphic>
          <a:graphicData uri="http://schemas.openxmlformats.org/drawingml/2006/table">
            <a:tbl>
              <a:tblPr>
                <a:noFill/>
                <a:tableStyleId>{9A4AEBD6-43F1-4C7A-9EA5-C050399E0610}</a:tableStyleId>
              </a:tblPr>
              <a:tblGrid>
                <a:gridCol w="1382025"/>
                <a:gridCol w="470875"/>
                <a:gridCol w="511925"/>
                <a:gridCol w="511925"/>
                <a:gridCol w="511925"/>
                <a:gridCol w="511925"/>
                <a:gridCol w="511925"/>
              </a:tblGrid>
              <a:tr h="321300">
                <a:tc>
                  <a:txBody>
                    <a:bodyPr/>
                    <a:lstStyle/>
                    <a:p>
                      <a:pPr indent="0" lvl="0" marL="0" rtl="0" algn="ctr">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iles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ost in </a:t>
                      </a:r>
                      <a:r>
                        <a:rPr lang="en-GB" sz="2000">
                          <a:latin typeface="Times New Roman"/>
                          <a:ea typeface="Times New Roman"/>
                          <a:cs typeface="Times New Roman"/>
                          <a:sym typeface="Times New Roman"/>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139" name="Google Shape;1139;p88"/>
          <p:cNvGraphicFramePr/>
          <p:nvPr/>
        </p:nvGraphicFramePr>
        <p:xfrm>
          <a:off x="3810028" y="4016694"/>
          <a:ext cx="3000000" cy="3000000"/>
        </p:xfrm>
        <a:graphic>
          <a:graphicData uri="http://schemas.openxmlformats.org/drawingml/2006/table">
            <a:tbl>
              <a:tblPr>
                <a:noFill/>
                <a:tableStyleId>{9A4AEBD6-43F1-4C7A-9EA5-C050399E0610}</a:tableStyleId>
              </a:tblPr>
              <a:tblGrid>
                <a:gridCol w="1382025"/>
                <a:gridCol w="470875"/>
                <a:gridCol w="511925"/>
                <a:gridCol w="511925"/>
                <a:gridCol w="511925"/>
                <a:gridCol w="511925"/>
                <a:gridCol w="511925"/>
              </a:tblGrid>
              <a:tr h="321300">
                <a:tc>
                  <a:txBody>
                    <a:bodyPr/>
                    <a:lstStyle/>
                    <a:p>
                      <a:pPr indent="0" lvl="0" marL="0" rtl="0" algn="ctr">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iles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ost in </a:t>
                      </a:r>
                      <a:r>
                        <a:rPr lang="en-GB" sz="2000">
                          <a:latin typeface="Times New Roman"/>
                          <a:ea typeface="Times New Roman"/>
                          <a:cs typeface="Times New Roman"/>
                          <a:sym typeface="Times New Roman"/>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0</a:t>
                      </a:r>
                      <a:endParaRPr sz="2000">
                        <a:solidFill>
                          <a:schemeClr val="dk1"/>
                        </a:solidFill>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8</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12</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16</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20</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140" name="Google Shape;1140;p88"/>
          <p:cNvGraphicFramePr/>
          <p:nvPr/>
        </p:nvGraphicFramePr>
        <p:xfrm>
          <a:off x="4343428" y="2721294"/>
          <a:ext cx="3000000" cy="3000000"/>
        </p:xfrm>
        <a:graphic>
          <a:graphicData uri="http://schemas.openxmlformats.org/drawingml/2006/table">
            <a:tbl>
              <a:tblPr>
                <a:noFill/>
                <a:tableStyleId>{9A4AEBD6-43F1-4C7A-9EA5-C050399E0610}</a:tableStyleId>
              </a:tblPr>
              <a:tblGrid>
                <a:gridCol w="1390250"/>
                <a:gridCol w="462650"/>
                <a:gridCol w="511925"/>
                <a:gridCol w="511925"/>
                <a:gridCol w="511925"/>
                <a:gridCol w="511925"/>
                <a:gridCol w="511925"/>
              </a:tblGrid>
              <a:tr h="321300">
                <a:tc>
                  <a:txBody>
                    <a:bodyPr/>
                    <a:lstStyle/>
                    <a:p>
                      <a:pPr indent="0" lvl="0" marL="0" rtl="0" algn="ctr">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iles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ost in </a:t>
                      </a:r>
                      <a:r>
                        <a:rPr lang="en-GB" sz="2000">
                          <a:latin typeface="Times New Roman"/>
                          <a:ea typeface="Times New Roman"/>
                          <a:cs typeface="Times New Roman"/>
                          <a:sym typeface="Times New Roman"/>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141" name="Google Shape;1141;p88"/>
          <p:cNvGraphicFramePr/>
          <p:nvPr/>
        </p:nvGraphicFramePr>
        <p:xfrm>
          <a:off x="4343428" y="2721294"/>
          <a:ext cx="3000000" cy="3000000"/>
        </p:xfrm>
        <a:graphic>
          <a:graphicData uri="http://schemas.openxmlformats.org/drawingml/2006/table">
            <a:tbl>
              <a:tblPr>
                <a:noFill/>
                <a:tableStyleId>{9A4AEBD6-43F1-4C7A-9EA5-C050399E0610}</a:tableStyleId>
              </a:tblPr>
              <a:tblGrid>
                <a:gridCol w="1390250"/>
                <a:gridCol w="462650"/>
                <a:gridCol w="511925"/>
                <a:gridCol w="511925"/>
                <a:gridCol w="511925"/>
                <a:gridCol w="511925"/>
                <a:gridCol w="511925"/>
              </a:tblGrid>
              <a:tr h="321300">
                <a:tc>
                  <a:txBody>
                    <a:bodyPr/>
                    <a:lstStyle/>
                    <a:p>
                      <a:pPr indent="0" lvl="0" marL="0" rtl="0" algn="ctr">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iles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ost in </a:t>
                      </a:r>
                      <a:r>
                        <a:rPr lang="en-GB" sz="2000">
                          <a:latin typeface="Times New Roman"/>
                          <a:ea typeface="Times New Roman"/>
                          <a:cs typeface="Times New Roman"/>
                          <a:sym typeface="Times New Roman"/>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8</a:t>
                      </a:r>
                      <a:endParaRPr sz="2000">
                        <a:solidFill>
                          <a:schemeClr val="dk1"/>
                        </a:solidFill>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9</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10</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11</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12</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13</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142" name="Google Shape;1142;p88"/>
          <p:cNvGraphicFramePr/>
          <p:nvPr/>
        </p:nvGraphicFramePr>
        <p:xfrm>
          <a:off x="4343428" y="1425894"/>
          <a:ext cx="3000000" cy="3000000"/>
        </p:xfrm>
        <a:graphic>
          <a:graphicData uri="http://schemas.openxmlformats.org/drawingml/2006/table">
            <a:tbl>
              <a:tblPr>
                <a:noFill/>
                <a:tableStyleId>{9A4AEBD6-43F1-4C7A-9EA5-C050399E0610}</a:tableStyleId>
              </a:tblPr>
              <a:tblGrid>
                <a:gridCol w="1390250"/>
                <a:gridCol w="462650"/>
                <a:gridCol w="511925"/>
                <a:gridCol w="511925"/>
                <a:gridCol w="511925"/>
                <a:gridCol w="511925"/>
                <a:gridCol w="511925"/>
              </a:tblGrid>
              <a:tr h="321300">
                <a:tc>
                  <a:txBody>
                    <a:bodyPr/>
                    <a:lstStyle/>
                    <a:p>
                      <a:pPr indent="0" lvl="0" marL="0" rtl="0" algn="ctr">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iles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ost in </a:t>
                      </a:r>
                      <a:r>
                        <a:rPr lang="en-GB" sz="2000">
                          <a:latin typeface="Times New Roman"/>
                          <a:ea typeface="Times New Roman"/>
                          <a:cs typeface="Times New Roman"/>
                          <a:sym typeface="Times New Roman"/>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143" name="Google Shape;1143;p88"/>
          <p:cNvGraphicFramePr/>
          <p:nvPr/>
        </p:nvGraphicFramePr>
        <p:xfrm>
          <a:off x="4343428" y="1425894"/>
          <a:ext cx="3000000" cy="3000000"/>
        </p:xfrm>
        <a:graphic>
          <a:graphicData uri="http://schemas.openxmlformats.org/drawingml/2006/table">
            <a:tbl>
              <a:tblPr>
                <a:noFill/>
                <a:tableStyleId>{9A4AEBD6-43F1-4C7A-9EA5-C050399E0610}</a:tableStyleId>
              </a:tblPr>
              <a:tblGrid>
                <a:gridCol w="1390250"/>
                <a:gridCol w="462650"/>
                <a:gridCol w="511925"/>
                <a:gridCol w="511925"/>
                <a:gridCol w="511925"/>
                <a:gridCol w="511925"/>
                <a:gridCol w="511925"/>
              </a:tblGrid>
              <a:tr h="321300">
                <a:tc>
                  <a:txBody>
                    <a:bodyPr/>
                    <a:lstStyle/>
                    <a:p>
                      <a:pPr indent="0" lvl="0" marL="0" rtl="0" algn="ctr">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iles (</a:t>
                      </a:r>
                      <a:r>
                        <a:rPr i="1" lang="en-GB" sz="2000">
                          <a:latin typeface="Times New Roman"/>
                          <a:ea typeface="Times New Roman"/>
                          <a:cs typeface="Times New Roman"/>
                          <a:sym typeface="Times New Roman"/>
                        </a:rPr>
                        <a:t>m</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ost in </a:t>
                      </a:r>
                      <a:r>
                        <a:rPr lang="en-GB" sz="2000">
                          <a:latin typeface="Times New Roman"/>
                          <a:ea typeface="Times New Roman"/>
                          <a:cs typeface="Times New Roman"/>
                          <a:sym typeface="Times New Roman"/>
                        </a:rPr>
                        <a:t>£</a:t>
                      </a:r>
                      <a:r>
                        <a:rPr lang="en-GB" sz="1800">
                          <a:latin typeface="Lexend"/>
                          <a:ea typeface="Lexend"/>
                          <a:cs typeface="Lexend"/>
                          <a:sym typeface="Lexend"/>
                        </a:rPr>
                        <a:t> (</a:t>
                      </a:r>
                      <a:r>
                        <a:rPr i="1" lang="en-GB" sz="2000">
                          <a:latin typeface="Times New Roman"/>
                          <a:ea typeface="Times New Roman"/>
                          <a:cs typeface="Times New Roman"/>
                          <a:sym typeface="Times New Roman"/>
                        </a:rPr>
                        <a:t>s</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a:t>
                      </a:r>
                      <a:endParaRPr sz="2000">
                        <a:solidFill>
                          <a:schemeClr val="dk1"/>
                        </a:solidFill>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6</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8</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10</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12</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14</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44" name="Google Shape;1144;p88"/>
          <p:cNvSpPr txBox="1"/>
          <p:nvPr>
            <p:ph idx="1" type="body"/>
          </p:nvPr>
        </p:nvSpPr>
        <p:spPr>
          <a:xfrm>
            <a:off x="324000" y="2322111"/>
            <a:ext cx="4500000" cy="642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Company B charge a flat rate of £8 then £1 for every mile travelled.</a:t>
            </a:r>
            <a:endParaRPr sz="1800"/>
          </a:p>
        </p:txBody>
      </p:sp>
      <p:sp>
        <p:nvSpPr>
          <p:cNvPr id="1145" name="Google Shape;1145;p88"/>
          <p:cNvSpPr txBox="1"/>
          <p:nvPr>
            <p:ph idx="1" type="body"/>
          </p:nvPr>
        </p:nvSpPr>
        <p:spPr>
          <a:xfrm>
            <a:off x="324000" y="3556521"/>
            <a:ext cx="4500000" cy="642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Company C charge no flat rate and £4 for every mile travelled.</a:t>
            </a:r>
            <a:endParaRPr sz="1800"/>
          </a:p>
        </p:txBody>
      </p:sp>
      <p:sp>
        <p:nvSpPr>
          <p:cNvPr id="1146" name="Google Shape;1146;p88"/>
          <p:cNvSpPr txBox="1"/>
          <p:nvPr>
            <p:ph idx="1" type="body"/>
          </p:nvPr>
        </p:nvSpPr>
        <p:spPr>
          <a:xfrm>
            <a:off x="324000" y="1082581"/>
            <a:ext cx="4500000" cy="642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Company A charge a flat rate of £4 then £2 for every mile travelled.</a:t>
            </a:r>
            <a:endParaRPr sz="1800"/>
          </a:p>
        </p:txBody>
      </p:sp>
      <p:sp>
        <p:nvSpPr>
          <p:cNvPr id="1147" name="Google Shape;1147;p88"/>
          <p:cNvSpPr txBox="1"/>
          <p:nvPr>
            <p:ph idx="1" type="body"/>
          </p:nvPr>
        </p:nvSpPr>
        <p:spPr>
          <a:xfrm>
            <a:off x="324000" y="759300"/>
            <a:ext cx="5360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In your town there are three taxi companies.</a:t>
            </a:r>
            <a:endParaRPr sz="1800"/>
          </a:p>
        </p:txBody>
      </p:sp>
      <p:sp>
        <p:nvSpPr>
          <p:cNvPr id="1148" name="Google Shape;1148;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Problems involving linear relationships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89"/>
          <p:cNvSpPr txBox="1"/>
          <p:nvPr>
            <p:ph idx="4294967295" type="body"/>
          </p:nvPr>
        </p:nvSpPr>
        <p:spPr>
          <a:xfrm>
            <a:off x="316771" y="1385795"/>
            <a:ext cx="5276100" cy="32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You might have written:</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Initially company B are the most expensive and </a:t>
            </a:r>
            <a:r>
              <a:rPr lang="en-GB" sz="2000">
                <a:latin typeface="Kalam"/>
                <a:ea typeface="Kalam"/>
                <a:cs typeface="Kalam"/>
                <a:sym typeface="Kalam"/>
              </a:rPr>
              <a:t>C the cheapest but, after 2 miles C become more expensive than A who are now cheapest.</a:t>
            </a:r>
            <a:endParaRPr sz="2000">
              <a:latin typeface="Kalam"/>
              <a:ea typeface="Kalam"/>
              <a:cs typeface="Kalam"/>
              <a:sym typeface="Kalam"/>
            </a:endParaRPr>
          </a:p>
        </p:txBody>
      </p:sp>
      <p:sp>
        <p:nvSpPr>
          <p:cNvPr id="1154" name="Google Shape;1154;p89"/>
          <p:cNvSpPr txBox="1"/>
          <p:nvPr>
            <p:ph idx="4294967295" type="body"/>
          </p:nvPr>
        </p:nvSpPr>
        <p:spPr>
          <a:xfrm>
            <a:off x="316771" y="1385795"/>
            <a:ext cx="5276100" cy="32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You might have written:</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Initially company B are the most expensive and C the cheapest but, after 2 miles C become more expensive than A who are now cheapest. At 4 miles A becomes more expensive than B who are now the cheapest, and will remain cheaper for any further journeys because their rate per mile is lowest.</a:t>
            </a:r>
            <a:endParaRPr sz="2000">
              <a:latin typeface="Kalam"/>
              <a:ea typeface="Kalam"/>
              <a:cs typeface="Kalam"/>
              <a:sym typeface="Kalam"/>
            </a:endParaRPr>
          </a:p>
        </p:txBody>
      </p:sp>
      <p:sp>
        <p:nvSpPr>
          <p:cNvPr id="1155" name="Google Shape;1155;p89"/>
          <p:cNvSpPr txBox="1"/>
          <p:nvPr>
            <p:ph idx="4294967295" type="body"/>
          </p:nvPr>
        </p:nvSpPr>
        <p:spPr>
          <a:xfrm>
            <a:off x="316775" y="1385849"/>
            <a:ext cx="5276100" cy="136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You might </a:t>
            </a:r>
            <a:r>
              <a:rPr lang="en-GB" sz="2000">
                <a:latin typeface="Kalam"/>
                <a:ea typeface="Kalam"/>
                <a:cs typeface="Kalam"/>
                <a:sym typeface="Kalam"/>
              </a:rPr>
              <a:t>have</a:t>
            </a:r>
            <a:r>
              <a:rPr lang="en-GB" sz="2000">
                <a:latin typeface="Kalam"/>
                <a:ea typeface="Kalam"/>
                <a:cs typeface="Kalam"/>
                <a:sym typeface="Kalam"/>
              </a:rPr>
              <a:t> written:</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Initially company B are the most expensive and C the cheapest  </a:t>
            </a:r>
            <a:endParaRPr sz="2000">
              <a:latin typeface="Kalam"/>
              <a:ea typeface="Kalam"/>
              <a:cs typeface="Kalam"/>
              <a:sym typeface="Kalam"/>
            </a:endParaRPr>
          </a:p>
        </p:txBody>
      </p:sp>
      <p:pic>
        <p:nvPicPr>
          <p:cNvPr id="1156" name="Google Shape;1156;p89"/>
          <p:cNvPicPr preferRelativeResize="0"/>
          <p:nvPr/>
        </p:nvPicPr>
        <p:blipFill>
          <a:blip r:embed="rId3">
            <a:alphaModFix/>
          </a:blip>
          <a:stretch>
            <a:fillRect/>
          </a:stretch>
        </p:blipFill>
        <p:spPr>
          <a:xfrm>
            <a:off x="5770650" y="823350"/>
            <a:ext cx="3031627" cy="3599075"/>
          </a:xfrm>
          <a:prstGeom prst="rect">
            <a:avLst/>
          </a:prstGeom>
          <a:noFill/>
          <a:ln cap="flat" cmpd="sng" w="19050">
            <a:solidFill>
              <a:schemeClr val="dk1"/>
            </a:solidFill>
            <a:prstDash val="solid"/>
            <a:round/>
            <a:headEnd len="sm" w="sm" type="none"/>
            <a:tailEnd len="sm" w="sm" type="none"/>
          </a:ln>
        </p:spPr>
      </p:pic>
      <p:sp>
        <p:nvSpPr>
          <p:cNvPr id="1157" name="Google Shape;1157;p89"/>
          <p:cNvSpPr txBox="1"/>
          <p:nvPr>
            <p:ph idx="1" type="body"/>
          </p:nvPr>
        </p:nvSpPr>
        <p:spPr>
          <a:xfrm>
            <a:off x="324000" y="759300"/>
            <a:ext cx="51876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t>
            </a:r>
            <a:r>
              <a:rPr lang="en-GB" sz="1800"/>
              <a:t>b) Write a paragraph explaining the conditions in which each firm is best.</a:t>
            </a:r>
            <a:endParaRPr sz="1800"/>
          </a:p>
        </p:txBody>
      </p:sp>
      <p:sp>
        <p:nvSpPr>
          <p:cNvPr id="1158" name="Google Shape;1158;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Problems involving linear relationships</a:t>
            </a:r>
            <a:endParaRPr/>
          </a:p>
        </p:txBody>
      </p:sp>
      <p:sp>
        <p:nvSpPr>
          <p:cNvPr id="1159" name="Google Shape;1159;p89"/>
          <p:cNvSpPr txBox="1"/>
          <p:nvPr>
            <p:ph idx="4294967295" type="body"/>
          </p:nvPr>
        </p:nvSpPr>
        <p:spPr>
          <a:xfrm rot="-5400000">
            <a:off x="5517800" y="1451925"/>
            <a:ext cx="1218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Cost in </a:t>
            </a:r>
            <a:r>
              <a:rPr lang="en-GB" sz="1800">
                <a:highlight>
                  <a:schemeClr val="lt1"/>
                </a:highlight>
                <a:latin typeface="Times New Roman"/>
                <a:ea typeface="Times New Roman"/>
                <a:cs typeface="Times New Roman"/>
                <a:sym typeface="Times New Roman"/>
              </a:rPr>
              <a:t>£</a:t>
            </a:r>
            <a:r>
              <a:rPr lang="en-GB" sz="1600">
                <a:highlight>
                  <a:schemeClr val="lt1"/>
                </a:highlight>
              </a:rPr>
              <a:t>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c</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160" name="Google Shape;1160;p89"/>
          <p:cNvSpPr txBox="1"/>
          <p:nvPr>
            <p:ph idx="4294967295" type="body"/>
          </p:nvPr>
        </p:nvSpPr>
        <p:spPr>
          <a:xfrm>
            <a:off x="7897925" y="3942050"/>
            <a:ext cx="932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highlight>
                  <a:schemeClr val="lt1"/>
                </a:highlight>
              </a:rPr>
              <a:t>Miles </a:t>
            </a:r>
            <a:r>
              <a:rPr lang="en-GB" sz="1800">
                <a:highlight>
                  <a:schemeClr val="lt1"/>
                </a:highlight>
                <a:latin typeface="Times New Roman"/>
                <a:ea typeface="Times New Roman"/>
                <a:cs typeface="Times New Roman"/>
                <a:sym typeface="Times New Roman"/>
              </a:rPr>
              <a:t>(</a:t>
            </a:r>
            <a:r>
              <a:rPr i="1" lang="en-GB" sz="1800">
                <a:highlight>
                  <a:schemeClr val="lt1"/>
                </a:highlight>
                <a:latin typeface="Times New Roman"/>
                <a:ea typeface="Times New Roman"/>
                <a:cs typeface="Times New Roman"/>
                <a:sym typeface="Times New Roman"/>
              </a:rPr>
              <a:t>m</a:t>
            </a:r>
            <a:r>
              <a:rPr lang="en-GB" sz="1800">
                <a:highlight>
                  <a:schemeClr val="lt1"/>
                </a:highlight>
                <a:latin typeface="Times New Roman"/>
                <a:ea typeface="Times New Roman"/>
                <a:cs typeface="Times New Roman"/>
                <a:sym typeface="Times New Roman"/>
              </a:rPr>
              <a:t>)</a:t>
            </a:r>
            <a:endParaRPr sz="1800">
              <a:highlight>
                <a:schemeClr val="lt1"/>
              </a:highlight>
              <a:latin typeface="Times New Roman"/>
              <a:ea typeface="Times New Roman"/>
              <a:cs typeface="Times New Roman"/>
              <a:sym typeface="Times New Roman"/>
            </a:endParaRPr>
          </a:p>
        </p:txBody>
      </p:sp>
      <p:sp>
        <p:nvSpPr>
          <p:cNvPr id="1161" name="Google Shape;1161;p89"/>
          <p:cNvSpPr txBox="1"/>
          <p:nvPr>
            <p:ph idx="4294967295" type="body"/>
          </p:nvPr>
        </p:nvSpPr>
        <p:spPr>
          <a:xfrm>
            <a:off x="8202746" y="916734"/>
            <a:ext cx="1995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C</a:t>
            </a:r>
            <a:endParaRPr sz="2000">
              <a:highlight>
                <a:schemeClr val="lt1"/>
              </a:highlight>
              <a:latin typeface="Times New Roman"/>
              <a:ea typeface="Times New Roman"/>
              <a:cs typeface="Times New Roman"/>
              <a:sym typeface="Times New Roman"/>
            </a:endParaRPr>
          </a:p>
        </p:txBody>
      </p:sp>
      <p:sp>
        <p:nvSpPr>
          <p:cNvPr id="1162" name="Google Shape;1162;p89"/>
          <p:cNvSpPr txBox="1"/>
          <p:nvPr>
            <p:ph idx="4294967295" type="body"/>
          </p:nvPr>
        </p:nvSpPr>
        <p:spPr>
          <a:xfrm>
            <a:off x="8507546" y="2212134"/>
            <a:ext cx="1995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B</a:t>
            </a:r>
            <a:endParaRPr sz="2000">
              <a:highlight>
                <a:schemeClr val="lt1"/>
              </a:highlight>
              <a:latin typeface="Times New Roman"/>
              <a:ea typeface="Times New Roman"/>
              <a:cs typeface="Times New Roman"/>
              <a:sym typeface="Times New Roman"/>
            </a:endParaRPr>
          </a:p>
        </p:txBody>
      </p:sp>
      <p:sp>
        <p:nvSpPr>
          <p:cNvPr id="1163" name="Google Shape;1163;p89"/>
          <p:cNvSpPr txBox="1"/>
          <p:nvPr>
            <p:ph idx="4294967295" type="body"/>
          </p:nvPr>
        </p:nvSpPr>
        <p:spPr>
          <a:xfrm>
            <a:off x="8355146" y="1754934"/>
            <a:ext cx="1995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a:t>
            </a:r>
            <a:endParaRPr sz="2000">
              <a:highlight>
                <a:schemeClr val="lt1"/>
              </a:highlight>
              <a:latin typeface="Times New Roman"/>
              <a:ea typeface="Times New Roman"/>
              <a:cs typeface="Times New Roman"/>
              <a:sym typeface="Times New Roman"/>
            </a:endParaRPr>
          </a:p>
        </p:txBody>
      </p:sp>
      <p:sp>
        <p:nvSpPr>
          <p:cNvPr id="1164" name="Google Shape;1164;p89"/>
          <p:cNvSpPr/>
          <p:nvPr/>
        </p:nvSpPr>
        <p:spPr>
          <a:xfrm>
            <a:off x="5772150" y="2747375"/>
            <a:ext cx="335700" cy="16752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5" name="Google Shape;1165;p89"/>
          <p:cNvSpPr/>
          <p:nvPr/>
        </p:nvSpPr>
        <p:spPr>
          <a:xfrm>
            <a:off x="6818615" y="2747375"/>
            <a:ext cx="410700" cy="407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6" name="Google Shape;1166;p89"/>
          <p:cNvSpPr/>
          <p:nvPr/>
        </p:nvSpPr>
        <p:spPr>
          <a:xfrm>
            <a:off x="7915910" y="2081905"/>
            <a:ext cx="410700" cy="407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6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6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9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Problems involving linear graphs</a:t>
            </a:r>
            <a:endParaRPr/>
          </a:p>
        </p:txBody>
      </p:sp>
      <p:sp>
        <p:nvSpPr>
          <p:cNvPr id="1172" name="Google Shape;1172;p9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Interpreting more complex linear graphs</a:t>
            </a:r>
            <a:endParaRPr/>
          </a:p>
        </p:txBody>
      </p:sp>
      <p:sp>
        <p:nvSpPr>
          <p:cNvPr id="1173" name="Google Shape;1173;p9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graphing linear relationships</a:t>
            </a:r>
            <a:endParaRPr/>
          </a:p>
        </p:txBody>
      </p:sp>
      <p:pic>
        <p:nvPicPr>
          <p:cNvPr id="1174" name="Google Shape;1174;p90"/>
          <p:cNvPicPr preferRelativeResize="0"/>
          <p:nvPr/>
        </p:nvPicPr>
        <p:blipFill>
          <a:blip r:embed="rId3">
            <a:alphaModFix/>
          </a:blip>
          <a:stretch>
            <a:fillRect/>
          </a:stretch>
        </p:blipFill>
        <p:spPr>
          <a:xfrm>
            <a:off x="421120" y="2999195"/>
            <a:ext cx="450575" cy="446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91"/>
          <p:cNvSpPr txBox="1"/>
          <p:nvPr>
            <p:ph idx="1" type="body"/>
          </p:nvPr>
        </p:nvSpPr>
        <p:spPr>
          <a:xfrm>
            <a:off x="324000" y="759300"/>
            <a:ext cx="71352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Aisha runs the </a:t>
            </a:r>
            <a:r>
              <a:rPr lang="en-GB"/>
              <a:t>100</a:t>
            </a:r>
            <a:r>
              <a:rPr lang="en-GB"/>
              <a:t> metres at sports day. Below is a table of values of her performance.</a:t>
            </a:r>
            <a:endParaRPr/>
          </a:p>
        </p:txBody>
      </p:sp>
      <p:sp>
        <p:nvSpPr>
          <p:cNvPr id="1180" name="Google Shape;1180;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Interpreting more complex linear graphs</a:t>
            </a:r>
            <a:endParaRPr/>
          </a:p>
        </p:txBody>
      </p:sp>
      <p:graphicFrame>
        <p:nvGraphicFramePr>
          <p:cNvPr id="1181" name="Google Shape;1181;p91"/>
          <p:cNvGraphicFramePr/>
          <p:nvPr/>
        </p:nvGraphicFramePr>
        <p:xfrm>
          <a:off x="1673078" y="2172608"/>
          <a:ext cx="3000000" cy="3000000"/>
        </p:xfrm>
        <a:graphic>
          <a:graphicData uri="http://schemas.openxmlformats.org/drawingml/2006/table">
            <a:tbl>
              <a:tblPr>
                <a:noFill/>
                <a:tableStyleId>{9A4AEBD6-43F1-4C7A-9EA5-C050399E0610}</a:tableStyleId>
              </a:tblPr>
              <a:tblGrid>
                <a:gridCol w="1789075"/>
                <a:gridCol w="539400"/>
                <a:gridCol w="539400"/>
                <a:gridCol w="539400"/>
                <a:gridCol w="539400"/>
                <a:gridCol w="539400"/>
                <a:gridCol w="539400"/>
              </a:tblGrid>
              <a:tr h="321300">
                <a:tc>
                  <a:txBody>
                    <a:bodyPr/>
                    <a:lstStyle/>
                    <a:p>
                      <a:pPr indent="0" lvl="0" marL="0" rtl="0" algn="ctr">
                        <a:spcBef>
                          <a:spcPts val="0"/>
                        </a:spcBef>
                        <a:spcAft>
                          <a:spcPts val="0"/>
                        </a:spcAft>
                        <a:buNone/>
                      </a:pPr>
                      <a:r>
                        <a:rPr lang="en-GB" sz="1800">
                          <a:latin typeface="Lexend"/>
                          <a:ea typeface="Lexend"/>
                          <a:cs typeface="Lexend"/>
                          <a:sym typeface="Lexend"/>
                        </a:rPr>
                        <a:t>Time</a:t>
                      </a:r>
                      <a:r>
                        <a:rPr lang="en-GB" sz="1800">
                          <a:latin typeface="Lexend"/>
                          <a:ea typeface="Lexend"/>
                          <a:cs typeface="Lexend"/>
                          <a:sym typeface="Lexend"/>
                        </a:rPr>
                        <a:t> (</a:t>
                      </a:r>
                      <a:r>
                        <a:rPr i="1" lang="en-GB" sz="2000">
                          <a:latin typeface="Times New Roman"/>
                          <a:ea typeface="Times New Roman"/>
                          <a:cs typeface="Times New Roman"/>
                          <a:sym typeface="Times New Roman"/>
                        </a:rPr>
                        <a:t>t</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9</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a:t>
                      </a:r>
                      <a:r>
                        <a:rPr lang="en-GB" sz="2000">
                          <a:latin typeface="Lexend"/>
                          <a:ea typeface="Lexend"/>
                          <a:cs typeface="Lexend"/>
                          <a:sym typeface="Lexend"/>
                        </a:rPr>
                        <a:t>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Distance</a:t>
                      </a:r>
                      <a:r>
                        <a:rPr lang="en-GB" sz="1800">
                          <a:solidFill>
                            <a:schemeClr val="dk1"/>
                          </a:solidFill>
                          <a:latin typeface="Lexend"/>
                          <a:ea typeface="Lexend"/>
                          <a:cs typeface="Lexend"/>
                          <a:sym typeface="Lexend"/>
                        </a:rPr>
                        <a:t> </a:t>
                      </a:r>
                      <a:r>
                        <a:rPr lang="en-GB" sz="1800">
                          <a:latin typeface="Lexend"/>
                          <a:ea typeface="Lexend"/>
                          <a:cs typeface="Lexend"/>
                          <a:sym typeface="Lexend"/>
                        </a:rPr>
                        <a:t>(</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0</a:t>
                      </a:r>
                      <a:endParaRPr sz="20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8</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20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40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70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10</a:t>
                      </a:r>
                      <a:r>
                        <a:rPr lang="en-GB" sz="2000">
                          <a:solidFill>
                            <a:schemeClr val="dk1"/>
                          </a:solidFill>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1182" name="Google Shape;1182;p91"/>
          <p:cNvPicPr preferRelativeResize="0"/>
          <p:nvPr/>
        </p:nvPicPr>
        <p:blipFill>
          <a:blip r:embed="rId3">
            <a:alphaModFix/>
          </a:blip>
          <a:stretch>
            <a:fillRect/>
          </a:stretch>
        </p:blipFill>
        <p:spPr>
          <a:xfrm>
            <a:off x="323638" y="1611899"/>
            <a:ext cx="877303" cy="3208498"/>
          </a:xfrm>
          <a:prstGeom prst="rect">
            <a:avLst/>
          </a:prstGeom>
          <a:noFill/>
          <a:ln>
            <a:noFill/>
          </a:ln>
        </p:spPr>
      </p:pic>
      <p:sp>
        <p:nvSpPr>
          <p:cNvPr id="1183" name="Google Shape;1183;p91"/>
          <p:cNvSpPr txBox="1"/>
          <p:nvPr>
            <p:ph idx="1" type="body"/>
          </p:nvPr>
        </p:nvSpPr>
        <p:spPr>
          <a:xfrm>
            <a:off x="3829200" y="1521300"/>
            <a:ext cx="3744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pic>
        <p:nvPicPr>
          <p:cNvPr id="1184" name="Google Shape;1184;p91"/>
          <p:cNvPicPr preferRelativeResize="0"/>
          <p:nvPr/>
        </p:nvPicPr>
        <p:blipFill rotWithShape="1">
          <a:blip r:embed="rId4">
            <a:alphaModFix/>
          </a:blip>
          <a:srcRect b="59597" l="61559" r="13951" t="27330"/>
          <a:stretch/>
        </p:blipFill>
        <p:spPr>
          <a:xfrm>
            <a:off x="3645295" y="1787610"/>
            <a:ext cx="744656" cy="439101"/>
          </a:xfrm>
          <a:prstGeom prst="rect">
            <a:avLst/>
          </a:prstGeom>
          <a:noFill/>
          <a:ln>
            <a:noFill/>
          </a:ln>
        </p:spPr>
      </p:pic>
      <p:pic>
        <p:nvPicPr>
          <p:cNvPr id="1185" name="Google Shape;1185;p91"/>
          <p:cNvPicPr preferRelativeResize="0"/>
          <p:nvPr/>
        </p:nvPicPr>
        <p:blipFill rotWithShape="1">
          <a:blip r:embed="rId4">
            <a:alphaModFix/>
          </a:blip>
          <a:srcRect b="59597" l="61559" r="13951" t="27330"/>
          <a:stretch/>
        </p:blipFill>
        <p:spPr>
          <a:xfrm>
            <a:off x="4194081" y="1787610"/>
            <a:ext cx="744656" cy="439101"/>
          </a:xfrm>
          <a:prstGeom prst="rect">
            <a:avLst/>
          </a:prstGeom>
          <a:noFill/>
          <a:ln>
            <a:noFill/>
          </a:ln>
        </p:spPr>
      </p:pic>
      <p:pic>
        <p:nvPicPr>
          <p:cNvPr id="1186" name="Google Shape;1186;p91"/>
          <p:cNvPicPr preferRelativeResize="0"/>
          <p:nvPr/>
        </p:nvPicPr>
        <p:blipFill rotWithShape="1">
          <a:blip r:embed="rId4">
            <a:alphaModFix/>
          </a:blip>
          <a:srcRect b="59597" l="61559" r="13951" t="27330"/>
          <a:stretch/>
        </p:blipFill>
        <p:spPr>
          <a:xfrm>
            <a:off x="4736455" y="1787610"/>
            <a:ext cx="744656" cy="439101"/>
          </a:xfrm>
          <a:prstGeom prst="rect">
            <a:avLst/>
          </a:prstGeom>
          <a:noFill/>
          <a:ln>
            <a:noFill/>
          </a:ln>
        </p:spPr>
      </p:pic>
      <p:pic>
        <p:nvPicPr>
          <p:cNvPr id="1187" name="Google Shape;1187;p91"/>
          <p:cNvPicPr preferRelativeResize="0"/>
          <p:nvPr/>
        </p:nvPicPr>
        <p:blipFill rotWithShape="1">
          <a:blip r:embed="rId4">
            <a:alphaModFix/>
          </a:blip>
          <a:srcRect b="59597" l="61559" r="13951" t="27330"/>
          <a:stretch/>
        </p:blipFill>
        <p:spPr>
          <a:xfrm>
            <a:off x="5285241" y="1787610"/>
            <a:ext cx="744656" cy="439101"/>
          </a:xfrm>
          <a:prstGeom prst="rect">
            <a:avLst/>
          </a:prstGeom>
          <a:noFill/>
          <a:ln>
            <a:noFill/>
          </a:ln>
        </p:spPr>
      </p:pic>
      <p:pic>
        <p:nvPicPr>
          <p:cNvPr id="1188" name="Google Shape;1188;p91"/>
          <p:cNvPicPr preferRelativeResize="0"/>
          <p:nvPr/>
        </p:nvPicPr>
        <p:blipFill rotWithShape="1">
          <a:blip r:embed="rId4">
            <a:alphaModFix/>
          </a:blip>
          <a:srcRect b="59597" l="61559" r="13951" t="27330"/>
          <a:stretch/>
        </p:blipFill>
        <p:spPr>
          <a:xfrm>
            <a:off x="5833851" y="1787610"/>
            <a:ext cx="744656" cy="439101"/>
          </a:xfrm>
          <a:prstGeom prst="rect">
            <a:avLst/>
          </a:prstGeom>
          <a:noFill/>
          <a:ln>
            <a:noFill/>
          </a:ln>
        </p:spPr>
      </p:pic>
      <p:sp>
        <p:nvSpPr>
          <p:cNvPr id="1189" name="Google Shape;1189;p91"/>
          <p:cNvSpPr txBox="1"/>
          <p:nvPr>
            <p:ph idx="1" type="body"/>
          </p:nvPr>
        </p:nvSpPr>
        <p:spPr>
          <a:xfrm>
            <a:off x="4362600" y="1521300"/>
            <a:ext cx="3744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1190" name="Google Shape;1190;p91"/>
          <p:cNvSpPr txBox="1"/>
          <p:nvPr>
            <p:ph idx="1" type="body"/>
          </p:nvPr>
        </p:nvSpPr>
        <p:spPr>
          <a:xfrm>
            <a:off x="4926495" y="1521300"/>
            <a:ext cx="3744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1191" name="Google Shape;1191;p91"/>
          <p:cNvSpPr txBox="1"/>
          <p:nvPr>
            <p:ph idx="1" type="body"/>
          </p:nvPr>
        </p:nvSpPr>
        <p:spPr>
          <a:xfrm>
            <a:off x="5459895" y="1521300"/>
            <a:ext cx="3744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1192" name="Google Shape;1192;p91"/>
          <p:cNvSpPr txBox="1"/>
          <p:nvPr>
            <p:ph idx="1" type="body"/>
          </p:nvPr>
        </p:nvSpPr>
        <p:spPr>
          <a:xfrm>
            <a:off x="5993295" y="1521300"/>
            <a:ext cx="3744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1193" name="Google Shape;1193;p91"/>
          <p:cNvSpPr txBox="1"/>
          <p:nvPr>
            <p:ph idx="1" type="body"/>
          </p:nvPr>
        </p:nvSpPr>
        <p:spPr>
          <a:xfrm>
            <a:off x="3829200" y="3273900"/>
            <a:ext cx="3744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a:t>
            </a:r>
            <a:endParaRPr sz="2000">
              <a:latin typeface="Kalam"/>
              <a:ea typeface="Kalam"/>
              <a:cs typeface="Kalam"/>
              <a:sym typeface="Kalam"/>
            </a:endParaRPr>
          </a:p>
        </p:txBody>
      </p:sp>
      <p:pic>
        <p:nvPicPr>
          <p:cNvPr id="1194" name="Google Shape;1194;p91"/>
          <p:cNvPicPr preferRelativeResize="0"/>
          <p:nvPr/>
        </p:nvPicPr>
        <p:blipFill rotWithShape="1">
          <a:blip r:embed="rId4">
            <a:alphaModFix/>
          </a:blip>
          <a:srcRect b="59597" l="61559" r="13951" t="27330"/>
          <a:stretch/>
        </p:blipFill>
        <p:spPr>
          <a:xfrm flipH="1" rot="10800000">
            <a:off x="3645295" y="2889950"/>
            <a:ext cx="744656" cy="439101"/>
          </a:xfrm>
          <a:prstGeom prst="rect">
            <a:avLst/>
          </a:prstGeom>
          <a:noFill/>
          <a:ln>
            <a:noFill/>
          </a:ln>
        </p:spPr>
      </p:pic>
      <p:pic>
        <p:nvPicPr>
          <p:cNvPr id="1195" name="Google Shape;1195;p91"/>
          <p:cNvPicPr preferRelativeResize="0"/>
          <p:nvPr/>
        </p:nvPicPr>
        <p:blipFill rotWithShape="1">
          <a:blip r:embed="rId4">
            <a:alphaModFix/>
          </a:blip>
          <a:srcRect b="59597" l="61559" r="13951" t="27330"/>
          <a:stretch/>
        </p:blipFill>
        <p:spPr>
          <a:xfrm flipH="1" rot="10800000">
            <a:off x="4194081" y="2889950"/>
            <a:ext cx="744656" cy="439101"/>
          </a:xfrm>
          <a:prstGeom prst="rect">
            <a:avLst/>
          </a:prstGeom>
          <a:noFill/>
          <a:ln>
            <a:noFill/>
          </a:ln>
        </p:spPr>
      </p:pic>
      <p:pic>
        <p:nvPicPr>
          <p:cNvPr id="1196" name="Google Shape;1196;p91"/>
          <p:cNvPicPr preferRelativeResize="0"/>
          <p:nvPr/>
        </p:nvPicPr>
        <p:blipFill rotWithShape="1">
          <a:blip r:embed="rId4">
            <a:alphaModFix/>
          </a:blip>
          <a:srcRect b="59597" l="61559" r="13951" t="27330"/>
          <a:stretch/>
        </p:blipFill>
        <p:spPr>
          <a:xfrm flipH="1" rot="10800000">
            <a:off x="4736455" y="2889950"/>
            <a:ext cx="744656" cy="439101"/>
          </a:xfrm>
          <a:prstGeom prst="rect">
            <a:avLst/>
          </a:prstGeom>
          <a:noFill/>
          <a:ln>
            <a:noFill/>
          </a:ln>
        </p:spPr>
      </p:pic>
      <p:pic>
        <p:nvPicPr>
          <p:cNvPr id="1197" name="Google Shape;1197;p91"/>
          <p:cNvPicPr preferRelativeResize="0"/>
          <p:nvPr/>
        </p:nvPicPr>
        <p:blipFill rotWithShape="1">
          <a:blip r:embed="rId4">
            <a:alphaModFix/>
          </a:blip>
          <a:srcRect b="59597" l="61559" r="13951" t="27330"/>
          <a:stretch/>
        </p:blipFill>
        <p:spPr>
          <a:xfrm flipH="1" rot="10800000">
            <a:off x="5285241" y="2889950"/>
            <a:ext cx="744656" cy="439101"/>
          </a:xfrm>
          <a:prstGeom prst="rect">
            <a:avLst/>
          </a:prstGeom>
          <a:noFill/>
          <a:ln>
            <a:noFill/>
          </a:ln>
        </p:spPr>
      </p:pic>
      <p:pic>
        <p:nvPicPr>
          <p:cNvPr id="1198" name="Google Shape;1198;p91"/>
          <p:cNvPicPr preferRelativeResize="0"/>
          <p:nvPr/>
        </p:nvPicPr>
        <p:blipFill rotWithShape="1">
          <a:blip r:embed="rId4">
            <a:alphaModFix/>
          </a:blip>
          <a:srcRect b="59597" l="61559" r="13951" t="27330"/>
          <a:stretch/>
        </p:blipFill>
        <p:spPr>
          <a:xfrm flipH="1" rot="10800000">
            <a:off x="5833851" y="2889950"/>
            <a:ext cx="744656" cy="439101"/>
          </a:xfrm>
          <a:prstGeom prst="rect">
            <a:avLst/>
          </a:prstGeom>
          <a:noFill/>
          <a:ln>
            <a:noFill/>
          </a:ln>
        </p:spPr>
      </p:pic>
      <p:sp>
        <p:nvSpPr>
          <p:cNvPr id="1199" name="Google Shape;1199;p91"/>
          <p:cNvSpPr txBox="1"/>
          <p:nvPr>
            <p:ph idx="1" type="body"/>
          </p:nvPr>
        </p:nvSpPr>
        <p:spPr>
          <a:xfrm>
            <a:off x="4311775" y="3273900"/>
            <a:ext cx="4461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a:t>
            </a:r>
            <a:endParaRPr sz="2000">
              <a:latin typeface="Kalam"/>
              <a:ea typeface="Kalam"/>
              <a:cs typeface="Kalam"/>
              <a:sym typeface="Kalam"/>
            </a:endParaRPr>
          </a:p>
        </p:txBody>
      </p:sp>
      <p:sp>
        <p:nvSpPr>
          <p:cNvPr id="1200" name="Google Shape;1200;p91"/>
          <p:cNvSpPr txBox="1"/>
          <p:nvPr>
            <p:ph idx="1" type="body"/>
          </p:nvPr>
        </p:nvSpPr>
        <p:spPr>
          <a:xfrm>
            <a:off x="4871836" y="3273900"/>
            <a:ext cx="4461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+20</a:t>
            </a:r>
            <a:endParaRPr sz="2000">
              <a:latin typeface="Kalam"/>
              <a:ea typeface="Kalam"/>
              <a:cs typeface="Kalam"/>
              <a:sym typeface="Kalam"/>
            </a:endParaRPr>
          </a:p>
        </p:txBody>
      </p:sp>
      <p:sp>
        <p:nvSpPr>
          <p:cNvPr id="1201" name="Google Shape;1201;p91"/>
          <p:cNvSpPr txBox="1"/>
          <p:nvPr>
            <p:ph idx="1" type="body"/>
          </p:nvPr>
        </p:nvSpPr>
        <p:spPr>
          <a:xfrm>
            <a:off x="5426057" y="3273900"/>
            <a:ext cx="4461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+30</a:t>
            </a:r>
            <a:endParaRPr sz="2000">
              <a:latin typeface="Kalam"/>
              <a:ea typeface="Kalam"/>
              <a:cs typeface="Kalam"/>
              <a:sym typeface="Kalam"/>
            </a:endParaRPr>
          </a:p>
        </p:txBody>
      </p:sp>
      <p:sp>
        <p:nvSpPr>
          <p:cNvPr id="1202" name="Google Shape;1202;p91"/>
          <p:cNvSpPr txBox="1"/>
          <p:nvPr>
            <p:ph idx="1" type="body"/>
          </p:nvPr>
        </p:nvSpPr>
        <p:spPr>
          <a:xfrm>
            <a:off x="5990444" y="3273900"/>
            <a:ext cx="4461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+30</a:t>
            </a:r>
            <a:endParaRPr sz="2000">
              <a:latin typeface="Kalam"/>
              <a:ea typeface="Kalam"/>
              <a:cs typeface="Kalam"/>
              <a:sym typeface="Kalam"/>
            </a:endParaRPr>
          </a:p>
        </p:txBody>
      </p:sp>
      <p:sp>
        <p:nvSpPr>
          <p:cNvPr id="1203" name="Google Shape;1203;p91"/>
          <p:cNvSpPr txBox="1"/>
          <p:nvPr>
            <p:ph idx="1" type="body"/>
          </p:nvPr>
        </p:nvSpPr>
        <p:spPr>
          <a:xfrm>
            <a:off x="1673078" y="3731100"/>
            <a:ext cx="68241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Why will this not make a linear graph?</a:t>
            </a:r>
            <a:endParaRPr/>
          </a:p>
        </p:txBody>
      </p:sp>
      <p:sp>
        <p:nvSpPr>
          <p:cNvPr id="1204" name="Google Shape;1204;p91"/>
          <p:cNvSpPr txBox="1"/>
          <p:nvPr>
            <p:ph idx="1" type="body"/>
          </p:nvPr>
        </p:nvSpPr>
        <p:spPr>
          <a:xfrm>
            <a:off x="1673074" y="4205200"/>
            <a:ext cx="57861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There is not a constant rate of change.</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92"/>
          <p:cNvSpPr txBox="1"/>
          <p:nvPr>
            <p:ph idx="1" type="body"/>
          </p:nvPr>
        </p:nvSpPr>
        <p:spPr>
          <a:xfrm>
            <a:off x="324000" y="759300"/>
            <a:ext cx="45000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Whilst not linear, the</a:t>
            </a:r>
            <a:r>
              <a:rPr lang="en-GB" sz="2000"/>
              <a:t> graph does have useful features.</a:t>
            </a:r>
            <a:endParaRPr sz="2000"/>
          </a:p>
        </p:txBody>
      </p:sp>
      <p:sp>
        <p:nvSpPr>
          <p:cNvPr id="1210" name="Google Shape;1210;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Interpreting more complex linear graphs</a:t>
            </a:r>
            <a:endParaRPr/>
          </a:p>
        </p:txBody>
      </p:sp>
      <p:graphicFrame>
        <p:nvGraphicFramePr>
          <p:cNvPr id="1211" name="Google Shape;1211;p92"/>
          <p:cNvGraphicFramePr/>
          <p:nvPr/>
        </p:nvGraphicFramePr>
        <p:xfrm>
          <a:off x="321808" y="1608713"/>
          <a:ext cx="3000000" cy="3000000"/>
        </p:xfrm>
        <a:graphic>
          <a:graphicData uri="http://schemas.openxmlformats.org/drawingml/2006/table">
            <a:tbl>
              <a:tblPr>
                <a:noFill/>
                <a:tableStyleId>{9A4AEBD6-43F1-4C7A-9EA5-C050399E0610}</a:tableStyleId>
              </a:tblPr>
              <a:tblGrid>
                <a:gridCol w="1789075"/>
                <a:gridCol w="539400"/>
                <a:gridCol w="539400"/>
                <a:gridCol w="539400"/>
                <a:gridCol w="539400"/>
                <a:gridCol w="539400"/>
                <a:gridCol w="539400"/>
              </a:tblGrid>
              <a:tr h="321300">
                <a:tc>
                  <a:txBody>
                    <a:bodyPr/>
                    <a:lstStyle/>
                    <a:p>
                      <a:pPr indent="0" lvl="0" marL="0" rtl="0" algn="ctr">
                        <a:spcBef>
                          <a:spcPts val="0"/>
                        </a:spcBef>
                        <a:spcAft>
                          <a:spcPts val="0"/>
                        </a:spcAft>
                        <a:buNone/>
                      </a:pPr>
                      <a:r>
                        <a:rPr lang="en-GB" sz="1800">
                          <a:latin typeface="Lexend"/>
                          <a:ea typeface="Lexend"/>
                          <a:cs typeface="Lexend"/>
                          <a:sym typeface="Lexend"/>
                        </a:rPr>
                        <a:t>T</a:t>
                      </a:r>
                      <a:r>
                        <a:rPr lang="en-GB" sz="1800">
                          <a:latin typeface="Lexend"/>
                          <a:ea typeface="Lexend"/>
                          <a:cs typeface="Lexend"/>
                          <a:sym typeface="Lexend"/>
                        </a:rPr>
                        <a:t>ime (</a:t>
                      </a:r>
                      <a:r>
                        <a:rPr i="1" lang="en-GB" sz="2000">
                          <a:latin typeface="Times New Roman"/>
                          <a:ea typeface="Times New Roman"/>
                          <a:cs typeface="Times New Roman"/>
                          <a:sym typeface="Times New Roman"/>
                        </a:rPr>
                        <a:t>t</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9</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12</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15</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213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D</a:t>
                      </a:r>
                      <a:r>
                        <a:rPr lang="en-GB" sz="1800">
                          <a:solidFill>
                            <a:schemeClr val="dk1"/>
                          </a:solidFill>
                          <a:latin typeface="Lexend"/>
                          <a:ea typeface="Lexend"/>
                          <a:cs typeface="Lexend"/>
                          <a:sym typeface="Lexend"/>
                        </a:rPr>
                        <a:t>istance </a:t>
                      </a:r>
                      <a:r>
                        <a:rPr lang="en-GB" sz="1800">
                          <a:latin typeface="Lexend"/>
                          <a:ea typeface="Lexend"/>
                          <a:cs typeface="Lexend"/>
                          <a:sym typeface="Lexend"/>
                        </a:rPr>
                        <a:t>(</a:t>
                      </a:r>
                      <a:r>
                        <a:rPr i="1" lang="en-GB" sz="2000">
                          <a:latin typeface="Times New Roman"/>
                          <a:ea typeface="Times New Roman"/>
                          <a:cs typeface="Times New Roman"/>
                          <a:sym typeface="Times New Roman"/>
                        </a:rPr>
                        <a:t>d</a:t>
                      </a:r>
                      <a:r>
                        <a:rPr lang="en-GB" sz="1800">
                          <a:latin typeface="Lexend"/>
                          <a:ea typeface="Lexend"/>
                          <a:cs typeface="Lexend"/>
                          <a:sym typeface="Lexend"/>
                        </a:rPr>
                        <a:t>)</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0</a:t>
                      </a:r>
                      <a:endParaRPr sz="20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8</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20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40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70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100</a:t>
                      </a:r>
                      <a:endParaRPr sz="20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1212" name="Google Shape;1212;p92"/>
          <p:cNvPicPr preferRelativeResize="0"/>
          <p:nvPr/>
        </p:nvPicPr>
        <p:blipFill>
          <a:blip r:embed="rId3">
            <a:alphaModFix/>
          </a:blip>
          <a:stretch>
            <a:fillRect/>
          </a:stretch>
        </p:blipFill>
        <p:spPr>
          <a:xfrm>
            <a:off x="323650" y="2571750"/>
            <a:ext cx="614863" cy="2248651"/>
          </a:xfrm>
          <a:prstGeom prst="rect">
            <a:avLst/>
          </a:prstGeom>
          <a:noFill/>
          <a:ln>
            <a:noFill/>
          </a:ln>
        </p:spPr>
      </p:pic>
      <p:sp>
        <p:nvSpPr>
          <p:cNvPr id="1213" name="Google Shape;1213;p92"/>
          <p:cNvSpPr txBox="1"/>
          <p:nvPr>
            <p:ph idx="1" type="body"/>
          </p:nvPr>
        </p:nvSpPr>
        <p:spPr>
          <a:xfrm>
            <a:off x="1673075" y="2710000"/>
            <a:ext cx="35943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line is getting steeper; the gradient increased.</a:t>
            </a:r>
            <a:endParaRPr sz="2000"/>
          </a:p>
        </p:txBody>
      </p:sp>
      <p:pic>
        <p:nvPicPr>
          <p:cNvPr id="1214" name="Google Shape;1214;p92"/>
          <p:cNvPicPr preferRelativeResize="0"/>
          <p:nvPr/>
        </p:nvPicPr>
        <p:blipFill>
          <a:blip r:embed="rId4">
            <a:alphaModFix/>
          </a:blip>
          <a:stretch>
            <a:fillRect/>
          </a:stretch>
        </p:blipFill>
        <p:spPr>
          <a:xfrm>
            <a:off x="5747838" y="804475"/>
            <a:ext cx="3065987" cy="3515524"/>
          </a:xfrm>
          <a:prstGeom prst="rect">
            <a:avLst/>
          </a:prstGeom>
          <a:noFill/>
          <a:ln>
            <a:noFill/>
          </a:ln>
        </p:spPr>
      </p:pic>
      <p:sp>
        <p:nvSpPr>
          <p:cNvPr id="1215" name="Google Shape;1215;p92"/>
          <p:cNvSpPr txBox="1"/>
          <p:nvPr>
            <p:ph idx="1" type="body"/>
          </p:nvPr>
        </p:nvSpPr>
        <p:spPr>
          <a:xfrm>
            <a:off x="5511475" y="817850"/>
            <a:ext cx="249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d</a:t>
            </a:r>
            <a:endParaRPr sz="1800">
              <a:highlight>
                <a:schemeClr val="lt1"/>
              </a:highlight>
              <a:latin typeface="Times New Roman"/>
              <a:ea typeface="Times New Roman"/>
              <a:cs typeface="Times New Roman"/>
              <a:sym typeface="Times New Roman"/>
            </a:endParaRPr>
          </a:p>
        </p:txBody>
      </p:sp>
      <p:pic>
        <p:nvPicPr>
          <p:cNvPr id="1216" name="Google Shape;1216;p92"/>
          <p:cNvPicPr preferRelativeResize="0"/>
          <p:nvPr/>
        </p:nvPicPr>
        <p:blipFill>
          <a:blip r:embed="rId5">
            <a:alphaModFix/>
          </a:blip>
          <a:stretch>
            <a:fillRect/>
          </a:stretch>
        </p:blipFill>
        <p:spPr>
          <a:xfrm>
            <a:off x="5748650" y="783375"/>
            <a:ext cx="3065976" cy="3535715"/>
          </a:xfrm>
          <a:prstGeom prst="rect">
            <a:avLst/>
          </a:prstGeom>
          <a:noFill/>
          <a:ln>
            <a:noFill/>
          </a:ln>
        </p:spPr>
      </p:pic>
      <p:sp>
        <p:nvSpPr>
          <p:cNvPr id="1217" name="Google Shape;1217;p92"/>
          <p:cNvSpPr txBox="1"/>
          <p:nvPr>
            <p:ph idx="1" type="body"/>
          </p:nvPr>
        </p:nvSpPr>
        <p:spPr>
          <a:xfrm>
            <a:off x="8659925" y="3845520"/>
            <a:ext cx="149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t</a:t>
            </a:r>
            <a:endParaRPr sz="1800">
              <a:highlight>
                <a:schemeClr val="lt1"/>
              </a:highlight>
              <a:latin typeface="Times New Roman"/>
              <a:ea typeface="Times New Roman"/>
              <a:cs typeface="Times New Roman"/>
              <a:sym typeface="Times New Roman"/>
            </a:endParaRPr>
          </a:p>
        </p:txBody>
      </p:sp>
      <p:sp>
        <p:nvSpPr>
          <p:cNvPr id="1218" name="Google Shape;1218;p92"/>
          <p:cNvSpPr txBox="1"/>
          <p:nvPr>
            <p:ph idx="1" type="body"/>
          </p:nvPr>
        </p:nvSpPr>
        <p:spPr>
          <a:xfrm>
            <a:off x="1673075" y="3624400"/>
            <a:ext cx="3594300" cy="99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was running faster at the end.</a:t>
            </a:r>
            <a:r>
              <a:rPr lang="en-GB" sz="2000"/>
              <a:t> A greater distance in the same time period.</a:t>
            </a:r>
            <a:endParaRPr sz="2000"/>
          </a:p>
        </p:txBody>
      </p:sp>
      <p:grpSp>
        <p:nvGrpSpPr>
          <p:cNvPr id="1219" name="Google Shape;1219;p92"/>
          <p:cNvGrpSpPr/>
          <p:nvPr/>
        </p:nvGrpSpPr>
        <p:grpSpPr>
          <a:xfrm>
            <a:off x="6555750" y="3515770"/>
            <a:ext cx="528088" cy="386400"/>
            <a:chOff x="6225575" y="3485275"/>
            <a:chExt cx="528088" cy="386400"/>
          </a:xfrm>
        </p:grpSpPr>
        <p:cxnSp>
          <p:nvCxnSpPr>
            <p:cNvPr id="1220" name="Google Shape;1220;p92"/>
            <p:cNvCxnSpPr/>
            <p:nvPr/>
          </p:nvCxnSpPr>
          <p:spPr>
            <a:xfrm>
              <a:off x="6225575" y="3871675"/>
              <a:ext cx="522900" cy="0"/>
            </a:xfrm>
            <a:prstGeom prst="straightConnector1">
              <a:avLst/>
            </a:prstGeom>
            <a:noFill/>
            <a:ln cap="flat" cmpd="sng" w="38100">
              <a:solidFill>
                <a:schemeClr val="accent5"/>
              </a:solidFill>
              <a:prstDash val="solid"/>
              <a:round/>
              <a:headEnd len="med" w="med" type="none"/>
              <a:tailEnd len="med" w="med" type="triangle"/>
            </a:ln>
          </p:spPr>
        </p:cxnSp>
        <p:cxnSp>
          <p:nvCxnSpPr>
            <p:cNvPr id="1221" name="Google Shape;1221;p92"/>
            <p:cNvCxnSpPr/>
            <p:nvPr/>
          </p:nvCxnSpPr>
          <p:spPr>
            <a:xfrm rot="10800000">
              <a:off x="6753663" y="3485275"/>
              <a:ext cx="0" cy="378600"/>
            </a:xfrm>
            <a:prstGeom prst="straightConnector1">
              <a:avLst/>
            </a:prstGeom>
            <a:noFill/>
            <a:ln cap="flat" cmpd="sng" w="38100">
              <a:solidFill>
                <a:schemeClr val="accent5"/>
              </a:solidFill>
              <a:prstDash val="solid"/>
              <a:round/>
              <a:headEnd len="med" w="med" type="none"/>
              <a:tailEnd len="med" w="med" type="triangle"/>
            </a:ln>
          </p:spPr>
        </p:cxnSp>
      </p:grpSp>
      <p:grpSp>
        <p:nvGrpSpPr>
          <p:cNvPr id="1222" name="Google Shape;1222;p92"/>
          <p:cNvGrpSpPr/>
          <p:nvPr/>
        </p:nvGrpSpPr>
        <p:grpSpPr>
          <a:xfrm>
            <a:off x="8189288" y="956433"/>
            <a:ext cx="535588" cy="931200"/>
            <a:chOff x="6225575" y="2940475"/>
            <a:chExt cx="535588" cy="931200"/>
          </a:xfrm>
        </p:grpSpPr>
        <p:cxnSp>
          <p:nvCxnSpPr>
            <p:cNvPr id="1223" name="Google Shape;1223;p92"/>
            <p:cNvCxnSpPr/>
            <p:nvPr/>
          </p:nvCxnSpPr>
          <p:spPr>
            <a:xfrm>
              <a:off x="6225575" y="3871675"/>
              <a:ext cx="522900" cy="0"/>
            </a:xfrm>
            <a:prstGeom prst="straightConnector1">
              <a:avLst/>
            </a:prstGeom>
            <a:noFill/>
            <a:ln cap="flat" cmpd="sng" w="38100">
              <a:solidFill>
                <a:schemeClr val="accent5"/>
              </a:solidFill>
              <a:prstDash val="solid"/>
              <a:round/>
              <a:headEnd len="med" w="med" type="none"/>
              <a:tailEnd len="med" w="med" type="triangle"/>
            </a:ln>
          </p:spPr>
        </p:cxnSp>
        <p:cxnSp>
          <p:nvCxnSpPr>
            <p:cNvPr id="1224" name="Google Shape;1224;p92"/>
            <p:cNvCxnSpPr/>
            <p:nvPr/>
          </p:nvCxnSpPr>
          <p:spPr>
            <a:xfrm flipH="1" rot="10800000">
              <a:off x="6753663" y="2940475"/>
              <a:ext cx="7500" cy="923400"/>
            </a:xfrm>
            <a:prstGeom prst="straightConnector1">
              <a:avLst/>
            </a:prstGeom>
            <a:noFill/>
            <a:ln cap="flat" cmpd="sng" w="38100">
              <a:solidFill>
                <a:schemeClr val="accent5"/>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93"/>
          <p:cNvSpPr txBox="1"/>
          <p:nvPr>
            <p:ph idx="1" type="subTitle"/>
          </p:nvPr>
        </p:nvSpPr>
        <p:spPr>
          <a:xfrm>
            <a:off x="324000" y="1080000"/>
            <a:ext cx="7135200" cy="25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Aisha speeds up at the end of this 400 metre race.</a:t>
            </a:r>
            <a:endParaRPr/>
          </a:p>
        </p:txBody>
      </p:sp>
      <p:sp>
        <p:nvSpPr>
          <p:cNvPr id="1230" name="Google Shape;1230;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Interpreting more complex linear graphs</a:t>
            </a:r>
            <a:endParaRPr/>
          </a:p>
        </p:txBody>
      </p:sp>
      <p:sp>
        <p:nvSpPr>
          <p:cNvPr id="1231" name="Google Shape;1231;p93"/>
          <p:cNvSpPr txBox="1"/>
          <p:nvPr>
            <p:ph idx="2" type="subTitle"/>
          </p:nvPr>
        </p:nvSpPr>
        <p:spPr>
          <a:xfrm>
            <a:off x="980575" y="3043725"/>
            <a:ext cx="38433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change in gradient means she has sped up.</a:t>
            </a:r>
            <a:endParaRPr sz="2000"/>
          </a:p>
        </p:txBody>
      </p:sp>
      <p:sp>
        <p:nvSpPr>
          <p:cNvPr id="1232" name="Google Shape;1232;p93"/>
          <p:cNvSpPr txBox="1"/>
          <p:nvPr>
            <p:ph idx="3" type="subTitle"/>
          </p:nvPr>
        </p:nvSpPr>
        <p:spPr>
          <a:xfrm>
            <a:off x="980575" y="3887953"/>
            <a:ext cx="38433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decrease in gradient means she has slowed down.</a:t>
            </a:r>
            <a:endParaRPr sz="2000"/>
          </a:p>
        </p:txBody>
      </p:sp>
      <p:pic>
        <p:nvPicPr>
          <p:cNvPr id="1233" name="Google Shape;1233;p93"/>
          <p:cNvPicPr preferRelativeResize="0"/>
          <p:nvPr/>
        </p:nvPicPr>
        <p:blipFill>
          <a:blip r:embed="rId3">
            <a:alphaModFix/>
          </a:blip>
          <a:stretch>
            <a:fillRect/>
          </a:stretch>
        </p:blipFill>
        <p:spPr>
          <a:xfrm>
            <a:off x="5581177" y="2299400"/>
            <a:ext cx="2588350" cy="2518975"/>
          </a:xfrm>
          <a:prstGeom prst="rect">
            <a:avLst/>
          </a:prstGeom>
          <a:noFill/>
          <a:ln>
            <a:noFill/>
          </a:ln>
        </p:spPr>
      </p:pic>
      <p:sp>
        <p:nvSpPr>
          <p:cNvPr id="1234" name="Google Shape;1234;p93"/>
          <p:cNvSpPr txBox="1"/>
          <p:nvPr>
            <p:ph idx="4294967295" type="body"/>
          </p:nvPr>
        </p:nvSpPr>
        <p:spPr>
          <a:xfrm>
            <a:off x="5404780" y="2433260"/>
            <a:ext cx="249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d</a:t>
            </a:r>
            <a:endParaRPr sz="1800">
              <a:latin typeface="Times New Roman"/>
              <a:ea typeface="Times New Roman"/>
              <a:cs typeface="Times New Roman"/>
              <a:sym typeface="Times New Roman"/>
            </a:endParaRPr>
          </a:p>
        </p:txBody>
      </p:sp>
      <p:sp>
        <p:nvSpPr>
          <p:cNvPr id="1235" name="Google Shape;1235;p93"/>
          <p:cNvSpPr txBox="1"/>
          <p:nvPr>
            <p:ph idx="4294967295" type="body"/>
          </p:nvPr>
        </p:nvSpPr>
        <p:spPr>
          <a:xfrm>
            <a:off x="8202650" y="4587190"/>
            <a:ext cx="149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t</a:t>
            </a:r>
            <a:endParaRPr sz="1800">
              <a:latin typeface="Times New Roman"/>
              <a:ea typeface="Times New Roman"/>
              <a:cs typeface="Times New Roman"/>
              <a:sym typeface="Times New Roman"/>
            </a:endParaRPr>
          </a:p>
        </p:txBody>
      </p:sp>
      <p:pic>
        <p:nvPicPr>
          <p:cNvPr id="1236" name="Google Shape;1236;p93"/>
          <p:cNvPicPr preferRelativeResize="0"/>
          <p:nvPr/>
        </p:nvPicPr>
        <p:blipFill>
          <a:blip r:embed="rId4">
            <a:alphaModFix/>
          </a:blip>
          <a:stretch>
            <a:fillRect/>
          </a:stretch>
        </p:blipFill>
        <p:spPr>
          <a:xfrm>
            <a:off x="6274044" y="1776950"/>
            <a:ext cx="396000" cy="419100"/>
          </a:xfrm>
          <a:prstGeom prst="rect">
            <a:avLst/>
          </a:prstGeom>
          <a:noFill/>
          <a:ln>
            <a:noFill/>
          </a:ln>
        </p:spPr>
      </p:pic>
      <p:pic>
        <p:nvPicPr>
          <p:cNvPr id="1237" name="Google Shape;1237;p93"/>
          <p:cNvPicPr preferRelativeResize="0"/>
          <p:nvPr/>
        </p:nvPicPr>
        <p:blipFill>
          <a:blip r:embed="rId4">
            <a:alphaModFix/>
          </a:blip>
          <a:stretch>
            <a:fillRect/>
          </a:stretch>
        </p:blipFill>
        <p:spPr>
          <a:xfrm>
            <a:off x="4750044" y="39867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pic>
        <p:nvPicPr>
          <p:cNvPr id="1242" name="Google Shape;1242;p94"/>
          <p:cNvPicPr preferRelativeResize="0"/>
          <p:nvPr/>
        </p:nvPicPr>
        <p:blipFill>
          <a:blip r:embed="rId3">
            <a:alphaModFix/>
          </a:blip>
          <a:stretch>
            <a:fillRect/>
          </a:stretch>
        </p:blipFill>
        <p:spPr>
          <a:xfrm>
            <a:off x="5050046" y="1080000"/>
            <a:ext cx="3773024" cy="3239999"/>
          </a:xfrm>
          <a:prstGeom prst="rect">
            <a:avLst/>
          </a:prstGeom>
          <a:noFill/>
          <a:ln>
            <a:noFill/>
          </a:ln>
        </p:spPr>
      </p:pic>
      <p:sp>
        <p:nvSpPr>
          <p:cNvPr id="1243" name="Google Shape;1243;p94"/>
          <p:cNvSpPr txBox="1"/>
          <p:nvPr>
            <p:ph idx="1" type="body"/>
          </p:nvPr>
        </p:nvSpPr>
        <p:spPr>
          <a:xfrm>
            <a:off x="324000" y="759300"/>
            <a:ext cx="45000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Sam runs the 200 metres.</a:t>
            </a:r>
            <a:endParaRPr sz="2000"/>
          </a:p>
        </p:txBody>
      </p:sp>
      <p:sp>
        <p:nvSpPr>
          <p:cNvPr id="1244" name="Google Shape;1244;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Interpreting more complex linear graphs</a:t>
            </a:r>
            <a:endParaRPr/>
          </a:p>
        </p:txBody>
      </p:sp>
      <p:sp>
        <p:nvSpPr>
          <p:cNvPr id="1245" name="Google Shape;1245;p94"/>
          <p:cNvSpPr txBox="1"/>
          <p:nvPr>
            <p:ph idx="1" type="body"/>
          </p:nvPr>
        </p:nvSpPr>
        <p:spPr>
          <a:xfrm>
            <a:off x="1215875" y="1292695"/>
            <a:ext cx="2898900" cy="35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do you notice?</a:t>
            </a:r>
            <a:endParaRPr sz="2000"/>
          </a:p>
        </p:txBody>
      </p:sp>
      <p:sp>
        <p:nvSpPr>
          <p:cNvPr id="1246" name="Google Shape;1246;p94"/>
          <p:cNvSpPr txBox="1"/>
          <p:nvPr>
            <p:ph idx="1" type="body"/>
          </p:nvPr>
        </p:nvSpPr>
        <p:spPr>
          <a:xfrm>
            <a:off x="5206675" y="817850"/>
            <a:ext cx="249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d</a:t>
            </a:r>
            <a:endParaRPr sz="1800">
              <a:highlight>
                <a:schemeClr val="lt1"/>
              </a:highlight>
              <a:latin typeface="Times New Roman"/>
              <a:ea typeface="Times New Roman"/>
              <a:cs typeface="Times New Roman"/>
              <a:sym typeface="Times New Roman"/>
            </a:endParaRPr>
          </a:p>
        </p:txBody>
      </p:sp>
      <p:sp>
        <p:nvSpPr>
          <p:cNvPr id="1247" name="Google Shape;1247;p94"/>
          <p:cNvSpPr txBox="1"/>
          <p:nvPr>
            <p:ph idx="1" type="body"/>
          </p:nvPr>
        </p:nvSpPr>
        <p:spPr>
          <a:xfrm>
            <a:off x="1215875" y="2633800"/>
            <a:ext cx="3594300" cy="69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Alex also ran. What do you notice about their race?</a:t>
            </a:r>
            <a:endParaRPr sz="2000"/>
          </a:p>
        </p:txBody>
      </p:sp>
      <p:pic>
        <p:nvPicPr>
          <p:cNvPr id="1248" name="Google Shape;1248;p94"/>
          <p:cNvPicPr preferRelativeResize="0"/>
          <p:nvPr/>
        </p:nvPicPr>
        <p:blipFill>
          <a:blip r:embed="rId4">
            <a:alphaModFix/>
          </a:blip>
          <a:stretch>
            <a:fillRect/>
          </a:stretch>
        </p:blipFill>
        <p:spPr>
          <a:xfrm>
            <a:off x="311448" y="1110125"/>
            <a:ext cx="492471" cy="1817267"/>
          </a:xfrm>
          <a:prstGeom prst="rect">
            <a:avLst/>
          </a:prstGeom>
          <a:noFill/>
          <a:ln>
            <a:noFill/>
          </a:ln>
        </p:spPr>
      </p:pic>
      <p:sp>
        <p:nvSpPr>
          <p:cNvPr id="1249" name="Google Shape;1249;p94"/>
          <p:cNvSpPr txBox="1"/>
          <p:nvPr>
            <p:ph idx="1" type="body"/>
          </p:nvPr>
        </p:nvSpPr>
        <p:spPr>
          <a:xfrm>
            <a:off x="1215875" y="1690600"/>
            <a:ext cx="34557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 straight line, </a:t>
            </a:r>
            <a:r>
              <a:rPr lang="en-GB" sz="2000">
                <a:latin typeface="Kalam"/>
                <a:ea typeface="Kalam"/>
                <a:cs typeface="Kalam"/>
                <a:sym typeface="Kalam"/>
              </a:rPr>
              <a:t>a constant rate of change, a constant speed.</a:t>
            </a:r>
            <a:endParaRPr sz="2000">
              <a:latin typeface="Kalam"/>
              <a:ea typeface="Kalam"/>
              <a:cs typeface="Kalam"/>
              <a:sym typeface="Kalam"/>
            </a:endParaRPr>
          </a:p>
        </p:txBody>
      </p:sp>
      <p:pic>
        <p:nvPicPr>
          <p:cNvPr id="1250" name="Google Shape;1250;p94"/>
          <p:cNvPicPr preferRelativeResize="0"/>
          <p:nvPr/>
        </p:nvPicPr>
        <p:blipFill>
          <a:blip r:embed="rId5">
            <a:alphaModFix/>
          </a:blip>
          <a:stretch>
            <a:fillRect/>
          </a:stretch>
        </p:blipFill>
        <p:spPr>
          <a:xfrm>
            <a:off x="329776" y="3004608"/>
            <a:ext cx="535576" cy="1818967"/>
          </a:xfrm>
          <a:prstGeom prst="rect">
            <a:avLst/>
          </a:prstGeom>
          <a:noFill/>
          <a:ln>
            <a:noFill/>
          </a:ln>
        </p:spPr>
      </p:pic>
      <p:pic>
        <p:nvPicPr>
          <p:cNvPr id="1251" name="Google Shape;1251;p94"/>
          <p:cNvPicPr preferRelativeResize="0"/>
          <p:nvPr/>
        </p:nvPicPr>
        <p:blipFill>
          <a:blip r:embed="rId6">
            <a:alphaModFix/>
          </a:blip>
          <a:stretch>
            <a:fillRect/>
          </a:stretch>
        </p:blipFill>
        <p:spPr>
          <a:xfrm>
            <a:off x="5050049" y="1081310"/>
            <a:ext cx="3763901" cy="3223991"/>
          </a:xfrm>
          <a:prstGeom prst="rect">
            <a:avLst/>
          </a:prstGeom>
          <a:noFill/>
          <a:ln>
            <a:noFill/>
          </a:ln>
        </p:spPr>
      </p:pic>
      <p:sp>
        <p:nvSpPr>
          <p:cNvPr id="1252" name="Google Shape;1252;p94"/>
          <p:cNvSpPr txBox="1"/>
          <p:nvPr>
            <p:ph idx="1" type="body"/>
          </p:nvPr>
        </p:nvSpPr>
        <p:spPr>
          <a:xfrm>
            <a:off x="8659925" y="3845520"/>
            <a:ext cx="149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t</a:t>
            </a:r>
            <a:endParaRPr sz="1800">
              <a:highlight>
                <a:schemeClr val="lt1"/>
              </a:highlight>
              <a:latin typeface="Times New Roman"/>
              <a:ea typeface="Times New Roman"/>
              <a:cs typeface="Times New Roman"/>
              <a:sym typeface="Times New Roman"/>
            </a:endParaRPr>
          </a:p>
        </p:txBody>
      </p:sp>
      <p:sp>
        <p:nvSpPr>
          <p:cNvPr id="1253" name="Google Shape;1253;p94"/>
          <p:cNvSpPr txBox="1"/>
          <p:nvPr>
            <p:ph idx="1" type="body"/>
          </p:nvPr>
        </p:nvSpPr>
        <p:spPr>
          <a:xfrm>
            <a:off x="1215875" y="3367000"/>
            <a:ext cx="3455700" cy="13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 </a:t>
            </a:r>
            <a:r>
              <a:rPr lang="en-GB" sz="2000">
                <a:latin typeface="Kalam"/>
                <a:ea typeface="Kalam"/>
                <a:cs typeface="Kalam"/>
                <a:sym typeface="Kalam"/>
              </a:rPr>
              <a:t>50 m</a:t>
            </a:r>
            <a:r>
              <a:rPr lang="en-GB" sz="2000">
                <a:latin typeface="Kalam"/>
                <a:ea typeface="Kalam"/>
                <a:cs typeface="Kalam"/>
                <a:sym typeface="Kalam"/>
              </a:rPr>
              <a:t> head start.</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 stop between 10 and </a:t>
            </a:r>
            <a:r>
              <a:rPr lang="en-GB" sz="2000">
                <a:latin typeface="Kalam"/>
                <a:ea typeface="Kalam"/>
                <a:cs typeface="Kalam"/>
                <a:sym typeface="Kalam"/>
              </a:rPr>
              <a:t>20</a:t>
            </a:r>
            <a:r>
              <a:rPr lang="en-GB" sz="2000">
                <a:latin typeface="Kalam"/>
                <a:ea typeface="Kalam"/>
                <a:cs typeface="Kalam"/>
                <a:sym typeface="Kalam"/>
              </a:rPr>
              <a:t> seconds.</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 fast finish and victory!</a:t>
            </a:r>
            <a:endParaRPr sz="2000">
              <a:latin typeface="Kalam"/>
              <a:ea typeface="Kalam"/>
              <a:cs typeface="Kalam"/>
              <a:sym typeface="Kalam"/>
            </a:endParaRPr>
          </a:p>
        </p:txBody>
      </p:sp>
      <p:sp>
        <p:nvSpPr>
          <p:cNvPr id="1254" name="Google Shape;1254;p94"/>
          <p:cNvSpPr/>
          <p:nvPr/>
        </p:nvSpPr>
        <p:spPr>
          <a:xfrm>
            <a:off x="5015190" y="3229950"/>
            <a:ext cx="410700" cy="4077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5" name="Google Shape;1255;p94"/>
          <p:cNvSpPr/>
          <p:nvPr/>
        </p:nvSpPr>
        <p:spPr>
          <a:xfrm>
            <a:off x="5965116" y="2488285"/>
            <a:ext cx="1203300" cy="4077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6" name="Google Shape;1256;p94"/>
          <p:cNvSpPr/>
          <p:nvPr/>
        </p:nvSpPr>
        <p:spPr>
          <a:xfrm>
            <a:off x="7641530" y="994775"/>
            <a:ext cx="410700" cy="4077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95"/>
          <p:cNvSpPr txBox="1"/>
          <p:nvPr>
            <p:ph type="title"/>
          </p:nvPr>
        </p:nvSpPr>
        <p:spPr>
          <a:xfrm>
            <a:off x="324000" y="748775"/>
            <a:ext cx="4510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Izzy cycles to school.</a:t>
            </a:r>
            <a:endParaRPr sz="2000"/>
          </a:p>
          <a:p>
            <a:pPr indent="0" lvl="0" marL="0" rtl="0" algn="l">
              <a:spcBef>
                <a:spcPts val="0"/>
              </a:spcBef>
              <a:spcAft>
                <a:spcPts val="0"/>
              </a:spcAft>
              <a:buNone/>
            </a:pPr>
            <a:r>
              <a:rPr lang="en-GB" sz="2000"/>
              <a:t>What happens after </a:t>
            </a:r>
            <a:r>
              <a:rPr lang="en-GB" sz="2000"/>
              <a:t>4</a:t>
            </a:r>
            <a:r>
              <a:rPr lang="en-GB" sz="2000"/>
              <a:t> minutes?</a:t>
            </a:r>
            <a:endParaRPr sz="2000"/>
          </a:p>
        </p:txBody>
      </p:sp>
      <p:sp>
        <p:nvSpPr>
          <p:cNvPr id="1262" name="Google Shape;1262;p95"/>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Interpreting more complex linear graphs</a:t>
            </a:r>
            <a:endParaRPr/>
          </a:p>
        </p:txBody>
      </p:sp>
      <p:sp>
        <p:nvSpPr>
          <p:cNvPr id="1263" name="Google Shape;1263;p95"/>
          <p:cNvSpPr txBox="1"/>
          <p:nvPr>
            <p:ph idx="1" type="subTitle"/>
          </p:nvPr>
        </p:nvSpPr>
        <p:spPr>
          <a:xfrm>
            <a:off x="1034425" y="1837775"/>
            <a:ext cx="23352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She speeds up.</a:t>
            </a:r>
            <a:endParaRPr/>
          </a:p>
        </p:txBody>
      </p:sp>
      <p:sp>
        <p:nvSpPr>
          <p:cNvPr id="1264" name="Google Shape;1264;p95"/>
          <p:cNvSpPr txBox="1"/>
          <p:nvPr>
            <p:ph idx="3" type="subTitle"/>
          </p:nvPr>
        </p:nvSpPr>
        <p:spPr>
          <a:xfrm>
            <a:off x="1034425" y="2794252"/>
            <a:ext cx="23352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She slows down.</a:t>
            </a:r>
            <a:endParaRPr/>
          </a:p>
        </p:txBody>
      </p:sp>
      <p:sp>
        <p:nvSpPr>
          <p:cNvPr id="1265" name="Google Shape;1265;p95"/>
          <p:cNvSpPr txBox="1"/>
          <p:nvPr>
            <p:ph idx="4" type="subTitle"/>
          </p:nvPr>
        </p:nvSpPr>
        <p:spPr>
          <a:xfrm>
            <a:off x="1034425" y="3766975"/>
            <a:ext cx="2322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She stops.</a:t>
            </a:r>
            <a:endParaRPr/>
          </a:p>
        </p:txBody>
      </p:sp>
      <p:pic>
        <p:nvPicPr>
          <p:cNvPr id="1266" name="Google Shape;1266;p95"/>
          <p:cNvPicPr preferRelativeResize="0"/>
          <p:nvPr/>
        </p:nvPicPr>
        <p:blipFill>
          <a:blip r:embed="rId3">
            <a:alphaModFix/>
          </a:blip>
          <a:stretch>
            <a:fillRect/>
          </a:stretch>
        </p:blipFill>
        <p:spPr>
          <a:xfrm>
            <a:off x="4834277" y="1169909"/>
            <a:ext cx="574426" cy="1931740"/>
          </a:xfrm>
          <a:prstGeom prst="rect">
            <a:avLst/>
          </a:prstGeom>
          <a:noFill/>
          <a:ln>
            <a:noFill/>
          </a:ln>
        </p:spPr>
      </p:pic>
      <p:pic>
        <p:nvPicPr>
          <p:cNvPr id="1267" name="Google Shape;1267;p95"/>
          <p:cNvPicPr preferRelativeResize="0"/>
          <p:nvPr/>
        </p:nvPicPr>
        <p:blipFill>
          <a:blip r:embed="rId4">
            <a:alphaModFix/>
          </a:blip>
          <a:stretch>
            <a:fillRect/>
          </a:stretch>
        </p:blipFill>
        <p:spPr>
          <a:xfrm>
            <a:off x="5483750" y="830486"/>
            <a:ext cx="3330074" cy="3487964"/>
          </a:xfrm>
          <a:prstGeom prst="rect">
            <a:avLst/>
          </a:prstGeom>
          <a:noFill/>
          <a:ln>
            <a:noFill/>
          </a:ln>
        </p:spPr>
      </p:pic>
      <p:sp>
        <p:nvSpPr>
          <p:cNvPr id="1268" name="Google Shape;1268;p95"/>
          <p:cNvSpPr txBox="1"/>
          <p:nvPr>
            <p:ph idx="4294967295" type="body"/>
          </p:nvPr>
        </p:nvSpPr>
        <p:spPr>
          <a:xfrm>
            <a:off x="5303205" y="817850"/>
            <a:ext cx="249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d</a:t>
            </a:r>
            <a:endParaRPr sz="1800">
              <a:highlight>
                <a:schemeClr val="lt1"/>
              </a:highlight>
              <a:latin typeface="Times New Roman"/>
              <a:ea typeface="Times New Roman"/>
              <a:cs typeface="Times New Roman"/>
              <a:sym typeface="Times New Roman"/>
            </a:endParaRPr>
          </a:p>
        </p:txBody>
      </p:sp>
      <p:sp>
        <p:nvSpPr>
          <p:cNvPr id="1269" name="Google Shape;1269;p95"/>
          <p:cNvSpPr txBox="1"/>
          <p:nvPr>
            <p:ph idx="4294967295" type="body"/>
          </p:nvPr>
        </p:nvSpPr>
        <p:spPr>
          <a:xfrm>
            <a:off x="8680255" y="3896345"/>
            <a:ext cx="149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t</a:t>
            </a:r>
            <a:endParaRPr sz="1800">
              <a:highlight>
                <a:schemeClr val="lt1"/>
              </a:highlight>
              <a:latin typeface="Times New Roman"/>
              <a:ea typeface="Times New Roman"/>
              <a:cs typeface="Times New Roman"/>
              <a:sym typeface="Times New Roman"/>
            </a:endParaRPr>
          </a:p>
        </p:txBody>
      </p:sp>
      <p:pic>
        <p:nvPicPr>
          <p:cNvPr id="1270" name="Google Shape;1270;p95"/>
          <p:cNvPicPr preferRelativeResize="0"/>
          <p:nvPr/>
        </p:nvPicPr>
        <p:blipFill>
          <a:blip r:embed="rId5">
            <a:alphaModFix/>
          </a:blip>
          <a:stretch>
            <a:fillRect/>
          </a:stretch>
        </p:blipFill>
        <p:spPr>
          <a:xfrm>
            <a:off x="2464044" y="3758150"/>
            <a:ext cx="396000" cy="419100"/>
          </a:xfrm>
          <a:prstGeom prst="rect">
            <a:avLst/>
          </a:prstGeom>
          <a:noFill/>
          <a:ln>
            <a:noFill/>
          </a:ln>
        </p:spPr>
      </p:pic>
      <p:sp>
        <p:nvSpPr>
          <p:cNvPr id="1271" name="Google Shape;1271;p95"/>
          <p:cNvSpPr txBox="1"/>
          <p:nvPr>
            <p:ph idx="4294967295" type="body"/>
          </p:nvPr>
        </p:nvSpPr>
        <p:spPr>
          <a:xfrm>
            <a:off x="1034425" y="4327100"/>
            <a:ext cx="6987900" cy="32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0</a:t>
            </a:r>
            <a:r>
              <a:rPr lang="en-GB" sz="2000">
                <a:latin typeface="Kalam"/>
                <a:ea typeface="Kalam"/>
                <a:cs typeface="Kalam"/>
                <a:sym typeface="Kalam"/>
              </a:rPr>
              <a:t> distance covered from </a:t>
            </a:r>
            <a:r>
              <a:rPr lang="en-GB" sz="2000">
                <a:latin typeface="Kalam"/>
                <a:ea typeface="Kalam"/>
                <a:cs typeface="Kalam"/>
                <a:sym typeface="Kalam"/>
              </a:rPr>
              <a:t>4</a:t>
            </a:r>
            <a:r>
              <a:rPr lang="en-GB" sz="2000">
                <a:latin typeface="Kalam"/>
                <a:ea typeface="Kalam"/>
                <a:cs typeface="Kalam"/>
                <a:sym typeface="Kalam"/>
              </a:rPr>
              <a:t> to </a:t>
            </a:r>
            <a:r>
              <a:rPr lang="en-GB" sz="2000">
                <a:latin typeface="Kalam"/>
                <a:ea typeface="Kalam"/>
                <a:cs typeface="Kalam"/>
                <a:sym typeface="Kalam"/>
              </a:rPr>
              <a:t>6 minutes shows a stop.</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96"/>
          <p:cNvSpPr txBox="1"/>
          <p:nvPr>
            <p:ph type="title"/>
          </p:nvPr>
        </p:nvSpPr>
        <p:spPr>
          <a:xfrm>
            <a:off x="324000" y="748775"/>
            <a:ext cx="4510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Izzy cycles to school.</a:t>
            </a:r>
            <a:endParaRPr sz="2000"/>
          </a:p>
          <a:p>
            <a:pPr indent="0" lvl="0" marL="0" rtl="0" algn="l">
              <a:spcBef>
                <a:spcPts val="0"/>
              </a:spcBef>
              <a:spcAft>
                <a:spcPts val="0"/>
              </a:spcAft>
              <a:buNone/>
            </a:pPr>
            <a:r>
              <a:rPr lang="en-GB" sz="2000"/>
              <a:t>When is she going fastest?</a:t>
            </a:r>
            <a:endParaRPr sz="2000"/>
          </a:p>
        </p:txBody>
      </p:sp>
      <p:sp>
        <p:nvSpPr>
          <p:cNvPr id="1277" name="Google Shape;1277;p96"/>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Interpreting more complex linear graphs</a:t>
            </a:r>
            <a:endParaRPr/>
          </a:p>
        </p:txBody>
      </p:sp>
      <p:sp>
        <p:nvSpPr>
          <p:cNvPr id="1278" name="Google Shape;1278;p96"/>
          <p:cNvSpPr txBox="1"/>
          <p:nvPr>
            <p:ph idx="1" type="subTitle"/>
          </p:nvPr>
        </p:nvSpPr>
        <p:spPr>
          <a:xfrm>
            <a:off x="1034425" y="1817445"/>
            <a:ext cx="3285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a:t>
            </a:r>
            <a:r>
              <a:rPr lang="en-GB" sz="2000"/>
              <a:t>etween </a:t>
            </a:r>
            <a:r>
              <a:rPr lang="en-GB" sz="2000"/>
              <a:t>0 </a:t>
            </a:r>
            <a:r>
              <a:rPr lang="en-GB" sz="2000"/>
              <a:t>and </a:t>
            </a:r>
            <a:r>
              <a:rPr lang="en-GB" sz="2000"/>
              <a:t>4</a:t>
            </a:r>
            <a:r>
              <a:rPr lang="en-GB" sz="2000"/>
              <a:t> minutes</a:t>
            </a:r>
            <a:endParaRPr sz="2000"/>
          </a:p>
        </p:txBody>
      </p:sp>
      <p:pic>
        <p:nvPicPr>
          <p:cNvPr id="1279" name="Google Shape;1279;p96"/>
          <p:cNvPicPr preferRelativeResize="0"/>
          <p:nvPr/>
        </p:nvPicPr>
        <p:blipFill>
          <a:blip r:embed="rId3">
            <a:alphaModFix/>
          </a:blip>
          <a:stretch>
            <a:fillRect/>
          </a:stretch>
        </p:blipFill>
        <p:spPr>
          <a:xfrm>
            <a:off x="4834277" y="1169909"/>
            <a:ext cx="574426" cy="1931740"/>
          </a:xfrm>
          <a:prstGeom prst="rect">
            <a:avLst/>
          </a:prstGeom>
          <a:noFill/>
          <a:ln>
            <a:noFill/>
          </a:ln>
        </p:spPr>
      </p:pic>
      <p:pic>
        <p:nvPicPr>
          <p:cNvPr id="1280" name="Google Shape;1280;p96"/>
          <p:cNvPicPr preferRelativeResize="0"/>
          <p:nvPr/>
        </p:nvPicPr>
        <p:blipFill>
          <a:blip r:embed="rId4">
            <a:alphaModFix/>
          </a:blip>
          <a:stretch>
            <a:fillRect/>
          </a:stretch>
        </p:blipFill>
        <p:spPr>
          <a:xfrm>
            <a:off x="5483750" y="830486"/>
            <a:ext cx="3330074" cy="3487964"/>
          </a:xfrm>
          <a:prstGeom prst="rect">
            <a:avLst/>
          </a:prstGeom>
          <a:noFill/>
          <a:ln>
            <a:noFill/>
          </a:ln>
        </p:spPr>
      </p:pic>
      <p:sp>
        <p:nvSpPr>
          <p:cNvPr id="1281" name="Google Shape;1281;p96"/>
          <p:cNvSpPr txBox="1"/>
          <p:nvPr>
            <p:ph idx="4294967295" type="body"/>
          </p:nvPr>
        </p:nvSpPr>
        <p:spPr>
          <a:xfrm>
            <a:off x="5303205" y="817850"/>
            <a:ext cx="249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d</a:t>
            </a:r>
            <a:endParaRPr sz="1800">
              <a:highlight>
                <a:schemeClr val="lt1"/>
              </a:highlight>
              <a:latin typeface="Times New Roman"/>
              <a:ea typeface="Times New Roman"/>
              <a:cs typeface="Times New Roman"/>
              <a:sym typeface="Times New Roman"/>
            </a:endParaRPr>
          </a:p>
        </p:txBody>
      </p:sp>
      <p:sp>
        <p:nvSpPr>
          <p:cNvPr id="1282" name="Google Shape;1282;p96"/>
          <p:cNvSpPr txBox="1"/>
          <p:nvPr>
            <p:ph idx="4294967295" type="body"/>
          </p:nvPr>
        </p:nvSpPr>
        <p:spPr>
          <a:xfrm>
            <a:off x="8680255" y="3896345"/>
            <a:ext cx="149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t</a:t>
            </a:r>
            <a:endParaRPr sz="1800">
              <a:highlight>
                <a:schemeClr val="lt1"/>
              </a:highlight>
              <a:latin typeface="Times New Roman"/>
              <a:ea typeface="Times New Roman"/>
              <a:cs typeface="Times New Roman"/>
              <a:sym typeface="Times New Roman"/>
            </a:endParaRPr>
          </a:p>
        </p:txBody>
      </p:sp>
      <p:pic>
        <p:nvPicPr>
          <p:cNvPr id="1283" name="Google Shape;1283;p96"/>
          <p:cNvPicPr preferRelativeResize="0"/>
          <p:nvPr/>
        </p:nvPicPr>
        <p:blipFill>
          <a:blip r:embed="rId5">
            <a:alphaModFix/>
          </a:blip>
          <a:stretch>
            <a:fillRect/>
          </a:stretch>
        </p:blipFill>
        <p:spPr>
          <a:xfrm>
            <a:off x="4292844" y="1700750"/>
            <a:ext cx="396000" cy="419100"/>
          </a:xfrm>
          <a:prstGeom prst="rect">
            <a:avLst/>
          </a:prstGeom>
          <a:noFill/>
          <a:ln>
            <a:noFill/>
          </a:ln>
        </p:spPr>
      </p:pic>
      <p:sp>
        <p:nvSpPr>
          <p:cNvPr id="1284" name="Google Shape;1284;p96"/>
          <p:cNvSpPr txBox="1"/>
          <p:nvPr>
            <p:ph idx="4294967295" type="body"/>
          </p:nvPr>
        </p:nvSpPr>
        <p:spPr>
          <a:xfrm>
            <a:off x="1034425" y="2107145"/>
            <a:ext cx="3789600" cy="32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fastest rate of change, the steepest gradient, is this moment.</a:t>
            </a:r>
            <a:endParaRPr sz="2000">
              <a:latin typeface="Kalam"/>
              <a:ea typeface="Kalam"/>
              <a:cs typeface="Kalam"/>
              <a:sym typeface="Kalam"/>
            </a:endParaRPr>
          </a:p>
        </p:txBody>
      </p:sp>
      <p:sp>
        <p:nvSpPr>
          <p:cNvPr id="1285" name="Google Shape;1285;p96"/>
          <p:cNvSpPr txBox="1"/>
          <p:nvPr>
            <p:ph idx="1" type="subTitle"/>
          </p:nvPr>
        </p:nvSpPr>
        <p:spPr>
          <a:xfrm>
            <a:off x="1034425" y="2848705"/>
            <a:ext cx="3537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a:t>
            </a:r>
            <a:r>
              <a:rPr lang="en-GB" sz="2000"/>
              <a:t>e</a:t>
            </a:r>
            <a:r>
              <a:rPr lang="en-GB" sz="2000"/>
              <a:t>tween 0 and </a:t>
            </a:r>
            <a:r>
              <a:rPr lang="en-GB" sz="2000"/>
              <a:t>800</a:t>
            </a:r>
            <a:r>
              <a:rPr lang="en-GB" sz="2000"/>
              <a:t> minutes</a:t>
            </a:r>
            <a:endParaRPr sz="2000"/>
          </a:p>
        </p:txBody>
      </p:sp>
      <p:sp>
        <p:nvSpPr>
          <p:cNvPr id="1286" name="Google Shape;1286;p96"/>
          <p:cNvSpPr txBox="1"/>
          <p:nvPr>
            <p:ph idx="1" type="subTitle"/>
          </p:nvPr>
        </p:nvSpPr>
        <p:spPr>
          <a:xfrm>
            <a:off x="1034425" y="3839305"/>
            <a:ext cx="3285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a:t>
            </a:r>
            <a:r>
              <a:rPr lang="en-GB" sz="2000"/>
              <a:t>etween </a:t>
            </a:r>
            <a:r>
              <a:rPr lang="en-GB" sz="2000"/>
              <a:t>6</a:t>
            </a:r>
            <a:r>
              <a:rPr lang="en-GB" sz="2000"/>
              <a:t> and </a:t>
            </a:r>
            <a:r>
              <a:rPr lang="en-GB" sz="2000"/>
              <a:t>10</a:t>
            </a:r>
            <a:r>
              <a:rPr lang="en-GB" sz="2000"/>
              <a:t> minutes</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97"/>
          <p:cNvSpPr txBox="1"/>
          <p:nvPr>
            <p:ph idx="1" type="body"/>
          </p:nvPr>
        </p:nvSpPr>
        <p:spPr>
          <a:xfrm>
            <a:off x="324000" y="759300"/>
            <a:ext cx="8237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Write a commentary to describe this race.</a:t>
            </a:r>
            <a:endParaRPr sz="2000"/>
          </a:p>
        </p:txBody>
      </p:sp>
      <p:sp>
        <p:nvSpPr>
          <p:cNvPr id="1292" name="Google Shape;1292;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Interpreting more complex linear graphs</a:t>
            </a:r>
            <a:endParaRPr/>
          </a:p>
        </p:txBody>
      </p:sp>
      <p:pic>
        <p:nvPicPr>
          <p:cNvPr id="1293" name="Google Shape;1293;p97"/>
          <p:cNvPicPr preferRelativeResize="0"/>
          <p:nvPr/>
        </p:nvPicPr>
        <p:blipFill>
          <a:blip r:embed="rId3">
            <a:alphaModFix/>
          </a:blip>
          <a:stretch>
            <a:fillRect/>
          </a:stretch>
        </p:blipFill>
        <p:spPr>
          <a:xfrm>
            <a:off x="3103875" y="1080000"/>
            <a:ext cx="5100708" cy="3738376"/>
          </a:xfrm>
          <a:prstGeom prst="rect">
            <a:avLst/>
          </a:prstGeom>
          <a:noFill/>
          <a:ln>
            <a:noFill/>
          </a:ln>
        </p:spPr>
      </p:pic>
      <p:sp>
        <p:nvSpPr>
          <p:cNvPr id="1294" name="Google Shape;1294;p97"/>
          <p:cNvSpPr txBox="1"/>
          <p:nvPr>
            <p:ph idx="1" type="body"/>
          </p:nvPr>
        </p:nvSpPr>
        <p:spPr>
          <a:xfrm>
            <a:off x="324000" y="1292700"/>
            <a:ext cx="2563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distance units are metres. The time is in seconds.</a:t>
            </a:r>
            <a:endParaRPr sz="1800"/>
          </a:p>
        </p:txBody>
      </p:sp>
      <p:sp>
        <p:nvSpPr>
          <p:cNvPr id="1295" name="Google Shape;1295;p97"/>
          <p:cNvSpPr txBox="1"/>
          <p:nvPr>
            <p:ph idx="4294967295" type="body"/>
          </p:nvPr>
        </p:nvSpPr>
        <p:spPr>
          <a:xfrm>
            <a:off x="2941005" y="1071825"/>
            <a:ext cx="2493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d</a:t>
            </a:r>
            <a:endParaRPr sz="1800">
              <a:highlight>
                <a:schemeClr val="lt1"/>
              </a:highlight>
              <a:latin typeface="Times New Roman"/>
              <a:ea typeface="Times New Roman"/>
              <a:cs typeface="Times New Roman"/>
              <a:sym typeface="Times New Roman"/>
            </a:endParaRPr>
          </a:p>
        </p:txBody>
      </p:sp>
      <p:sp>
        <p:nvSpPr>
          <p:cNvPr id="1296" name="Google Shape;1296;p97"/>
          <p:cNvSpPr txBox="1"/>
          <p:nvPr>
            <p:ph idx="4294967295" type="body"/>
          </p:nvPr>
        </p:nvSpPr>
        <p:spPr>
          <a:xfrm>
            <a:off x="8228100" y="4510990"/>
            <a:ext cx="1491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highlight>
                  <a:schemeClr val="lt1"/>
                </a:highlight>
                <a:latin typeface="Times New Roman"/>
                <a:ea typeface="Times New Roman"/>
                <a:cs typeface="Times New Roman"/>
                <a:sym typeface="Times New Roman"/>
              </a:rPr>
              <a:t>t</a:t>
            </a:r>
            <a:endParaRPr sz="1800">
              <a:highlight>
                <a:schemeClr val="lt1"/>
              </a:highlight>
              <a:latin typeface="Times New Roman"/>
              <a:ea typeface="Times New Roman"/>
              <a:cs typeface="Times New Roman"/>
              <a:sym typeface="Times New Roman"/>
            </a:endParaRPr>
          </a:p>
        </p:txBody>
      </p:sp>
      <p:sp>
        <p:nvSpPr>
          <p:cNvPr id="1297" name="Google Shape;1297;p97"/>
          <p:cNvSpPr txBox="1"/>
          <p:nvPr>
            <p:ph idx="4294967295" type="subTitle"/>
          </p:nvPr>
        </p:nvSpPr>
        <p:spPr>
          <a:xfrm rot="-1870778">
            <a:off x="3569503" y="3803802"/>
            <a:ext cx="942203" cy="324804"/>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Andeep</a:t>
            </a:r>
            <a:endParaRPr sz="1800">
              <a:highlight>
                <a:schemeClr val="lt1"/>
              </a:highlight>
            </a:endParaRPr>
          </a:p>
        </p:txBody>
      </p:sp>
      <p:sp>
        <p:nvSpPr>
          <p:cNvPr id="1298" name="Google Shape;1298;p97"/>
          <p:cNvSpPr txBox="1"/>
          <p:nvPr>
            <p:ph idx="4294967295" type="subTitle"/>
          </p:nvPr>
        </p:nvSpPr>
        <p:spPr>
          <a:xfrm rot="-1717763">
            <a:off x="3615162" y="2472815"/>
            <a:ext cx="942309" cy="324758"/>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Sofia</a:t>
            </a:r>
            <a:endParaRPr sz="1800">
              <a:highlight>
                <a:schemeClr val="lt1"/>
              </a:highlight>
            </a:endParaRPr>
          </a:p>
        </p:txBody>
      </p:sp>
      <p:sp>
        <p:nvSpPr>
          <p:cNvPr id="1299" name="Google Shape;1299;p97"/>
          <p:cNvSpPr txBox="1"/>
          <p:nvPr>
            <p:ph idx="4294967295" type="subTitle"/>
          </p:nvPr>
        </p:nvSpPr>
        <p:spPr>
          <a:xfrm rot="1426">
            <a:off x="5062953" y="4301600"/>
            <a:ext cx="723000" cy="32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chemeClr val="lt1"/>
                </a:highlight>
              </a:rPr>
              <a:t>Laura</a:t>
            </a:r>
            <a:endParaRPr sz="1800">
              <a:highlight>
                <a:schemeClr val="lt1"/>
              </a:highlight>
            </a:endParaRPr>
          </a:p>
        </p:txBody>
      </p:sp>
      <p:sp>
        <p:nvSpPr>
          <p:cNvPr id="1300" name="Google Shape;1300;p97"/>
          <p:cNvSpPr txBox="1"/>
          <p:nvPr>
            <p:ph idx="1" type="body"/>
          </p:nvPr>
        </p:nvSpPr>
        <p:spPr>
          <a:xfrm>
            <a:off x="324000" y="2511900"/>
            <a:ext cx="2697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Keep your commentary in chronological (time) order.</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98"/>
          <p:cNvSpPr txBox="1"/>
          <p:nvPr>
            <p:ph idx="1" type="body"/>
          </p:nvPr>
        </p:nvSpPr>
        <p:spPr>
          <a:xfrm>
            <a:off x="324000" y="759300"/>
            <a:ext cx="3996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a:t>
            </a:r>
            <a:r>
              <a:rPr lang="en-GB" sz="2000">
                <a:latin typeface="Kalam"/>
                <a:ea typeface="Kalam"/>
                <a:cs typeface="Kalam"/>
                <a:sym typeface="Kalam"/>
              </a:rPr>
              <a:t> You might have written:</a:t>
            </a:r>
            <a:endParaRPr sz="2000"/>
          </a:p>
        </p:txBody>
      </p:sp>
      <p:sp>
        <p:nvSpPr>
          <p:cNvPr id="1306" name="Google Shape;1306;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Interpreting more complex linear graphs</a:t>
            </a:r>
            <a:endParaRPr/>
          </a:p>
        </p:txBody>
      </p:sp>
      <p:sp>
        <p:nvSpPr>
          <p:cNvPr id="1307" name="Google Shape;1307;p98"/>
          <p:cNvSpPr txBox="1"/>
          <p:nvPr>
            <p:ph idx="1" type="body"/>
          </p:nvPr>
        </p:nvSpPr>
        <p:spPr>
          <a:xfrm>
            <a:off x="324000" y="1140300"/>
            <a:ext cx="58716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And they’re off! Andeep and Sofia start at a constant speed, Sofia with her 40 metre headstart. </a:t>
            </a:r>
            <a:r>
              <a:rPr lang="en-GB" sz="2000">
                <a:latin typeface="Kalam"/>
                <a:ea typeface="Kalam"/>
                <a:cs typeface="Kalam"/>
                <a:sym typeface="Kalam"/>
              </a:rPr>
              <a:t>2</a:t>
            </a:r>
            <a:r>
              <a:rPr lang="en-GB" sz="2000">
                <a:latin typeface="Kalam"/>
                <a:ea typeface="Kalam"/>
                <a:cs typeface="Kalam"/>
                <a:sym typeface="Kalam"/>
              </a:rPr>
              <a:t> seconds in and Sofia has passed the </a:t>
            </a:r>
            <a:r>
              <a:rPr lang="en-GB" sz="2000">
                <a:latin typeface="Kalam"/>
                <a:ea typeface="Kalam"/>
                <a:cs typeface="Kalam"/>
                <a:sym typeface="Kalam"/>
              </a:rPr>
              <a:t>50</a:t>
            </a:r>
            <a:r>
              <a:rPr lang="en-GB" sz="2000">
                <a:latin typeface="Kalam"/>
                <a:ea typeface="Kalam"/>
                <a:cs typeface="Kalam"/>
                <a:sym typeface="Kalam"/>
              </a:rPr>
              <a:t> metre mark but Laura hasn’t even started yet; what is she doing!</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Finally, after </a:t>
            </a:r>
            <a:r>
              <a:rPr lang="en-GB" sz="2000">
                <a:latin typeface="Kalam"/>
                <a:ea typeface="Kalam"/>
                <a:cs typeface="Kalam"/>
                <a:sym typeface="Kalam"/>
              </a:rPr>
              <a:t>4</a:t>
            </a:r>
            <a:r>
              <a:rPr lang="en-GB" sz="2000">
                <a:latin typeface="Kalam"/>
                <a:ea typeface="Kalam"/>
                <a:cs typeface="Kalam"/>
                <a:sym typeface="Kalam"/>
              </a:rPr>
              <a:t> seconds Laura starts and wow, does she start! That is the fastest speed we’ve seen yet in this race! Within a second of her starting she overtakes Andeep, within </a:t>
            </a:r>
            <a:r>
              <a:rPr lang="en-GB" sz="2000">
                <a:latin typeface="Kalam"/>
                <a:ea typeface="Kalam"/>
                <a:cs typeface="Kalam"/>
                <a:sym typeface="Kalam"/>
              </a:rPr>
              <a:t>2</a:t>
            </a:r>
            <a:r>
              <a:rPr lang="en-GB" sz="2000">
                <a:latin typeface="Kalam"/>
                <a:ea typeface="Kalam"/>
                <a:cs typeface="Kalam"/>
                <a:sym typeface="Kalam"/>
              </a:rPr>
              <a:t> seconds she is passed Sofia. But then she stops! She must think the race is over!</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pic>
        <p:nvPicPr>
          <p:cNvPr id="1308" name="Google Shape;1308;p98"/>
          <p:cNvPicPr preferRelativeResize="0"/>
          <p:nvPr/>
        </p:nvPicPr>
        <p:blipFill>
          <a:blip r:embed="rId3">
            <a:alphaModFix/>
          </a:blip>
          <a:stretch>
            <a:fillRect/>
          </a:stretch>
        </p:blipFill>
        <p:spPr>
          <a:xfrm>
            <a:off x="6256797" y="1106665"/>
            <a:ext cx="2560601" cy="17660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99"/>
          <p:cNvSpPr txBox="1"/>
          <p:nvPr>
            <p:ph idx="1" type="body"/>
          </p:nvPr>
        </p:nvSpPr>
        <p:spPr>
          <a:xfrm>
            <a:off x="324000" y="759300"/>
            <a:ext cx="39960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a:t>
            </a:r>
            <a:r>
              <a:rPr lang="en-GB" sz="2000">
                <a:latin typeface="Kalam"/>
                <a:ea typeface="Kalam"/>
                <a:cs typeface="Kalam"/>
                <a:sym typeface="Kalam"/>
              </a:rPr>
              <a:t> </a:t>
            </a:r>
            <a:r>
              <a:rPr lang="en-GB" sz="2000">
                <a:latin typeface="Kalam"/>
                <a:ea typeface="Kalam"/>
                <a:cs typeface="Kalam"/>
                <a:sym typeface="Kalam"/>
              </a:rPr>
              <a:t>continued…</a:t>
            </a:r>
            <a:endParaRPr sz="2000"/>
          </a:p>
        </p:txBody>
      </p:sp>
      <p:sp>
        <p:nvSpPr>
          <p:cNvPr id="1314" name="Google Shape;1314;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Interpreting more complex linear graphs</a:t>
            </a:r>
            <a:endParaRPr/>
          </a:p>
        </p:txBody>
      </p:sp>
      <p:sp>
        <p:nvSpPr>
          <p:cNvPr id="1315" name="Google Shape;1315;p99"/>
          <p:cNvSpPr txBox="1"/>
          <p:nvPr>
            <p:ph idx="1" type="body"/>
          </p:nvPr>
        </p:nvSpPr>
        <p:spPr>
          <a:xfrm>
            <a:off x="324000" y="1140300"/>
            <a:ext cx="5852400" cy="341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8</a:t>
            </a:r>
            <a:r>
              <a:rPr lang="en-GB" sz="2000">
                <a:latin typeface="Kalam"/>
                <a:ea typeface="Kalam"/>
                <a:cs typeface="Kalam"/>
                <a:sym typeface="Kalam"/>
              </a:rPr>
              <a:t> seconds in, Sofia is still moving at the same, constant speed. She’s overtaken Laura who looks like she might be asleep but, Andeep speeds up slightly to try and catch Sofia; will it be enough!</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It’s not! After 10 seconds Sofia hits the finish line for the gold medal. Andeep joins her 2 seconds later in silver position. Laura finally woke up and started running again but didn’t even even </a:t>
            </a:r>
            <a:r>
              <a:rPr lang="en-GB" sz="2000">
                <a:latin typeface="Kalam"/>
                <a:ea typeface="Kalam"/>
                <a:cs typeface="Kalam"/>
                <a:sym typeface="Kalam"/>
              </a:rPr>
              <a:t>get to the finish line.</a:t>
            </a:r>
            <a:endParaRPr sz="2000">
              <a:latin typeface="Kalam"/>
              <a:ea typeface="Kalam"/>
              <a:cs typeface="Kalam"/>
              <a:sym typeface="Kalam"/>
            </a:endParaRPr>
          </a:p>
        </p:txBody>
      </p:sp>
      <p:pic>
        <p:nvPicPr>
          <p:cNvPr id="1316" name="Google Shape;1316;p99"/>
          <p:cNvPicPr preferRelativeResize="0"/>
          <p:nvPr/>
        </p:nvPicPr>
        <p:blipFill>
          <a:blip r:embed="rId3">
            <a:alphaModFix/>
          </a:blip>
          <a:stretch>
            <a:fillRect/>
          </a:stretch>
        </p:blipFill>
        <p:spPr>
          <a:xfrm>
            <a:off x="6256797" y="1106665"/>
            <a:ext cx="2560601" cy="17660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00"/>
          <p:cNvSpPr txBox="1"/>
          <p:nvPr>
            <p:ph idx="1" type="body"/>
          </p:nvPr>
        </p:nvSpPr>
        <p:spPr>
          <a:xfrm>
            <a:off x="324000" y="1156200"/>
            <a:ext cx="8113800" cy="118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can use our knowledge of linear relationships to solve real life problems and interpret what is happening in graphical models of real life situations.</a:t>
            </a:r>
            <a:endParaRPr/>
          </a:p>
          <a:p>
            <a:pPr indent="0" lvl="0" marL="0" rtl="0" algn="l">
              <a:spcBef>
                <a:spcPts val="1000"/>
              </a:spcBef>
              <a:spcAft>
                <a:spcPts val="1000"/>
              </a:spcAft>
              <a:buNone/>
            </a:pPr>
            <a:r>
              <a:rPr lang="en-GB"/>
              <a:t>For example, the impact of </a:t>
            </a:r>
            <a:r>
              <a:rPr lang="en-GB"/>
              <a:t>gradient </a:t>
            </a:r>
            <a:r>
              <a:rPr lang="en-GB"/>
              <a:t>in a time distance graph.</a:t>
            </a:r>
            <a:endParaRPr/>
          </a:p>
        </p:txBody>
      </p:sp>
      <p:sp>
        <p:nvSpPr>
          <p:cNvPr id="1322" name="Google Shape;1322;p100"/>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graphing linear relationships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0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328" name="Google Shape;1328;p10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