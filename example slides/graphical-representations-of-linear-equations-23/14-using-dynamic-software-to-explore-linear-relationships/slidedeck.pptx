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379888-FF6F-43E1-B4EA-554646533D00}">
  <a:tblStyle styleId="{EA379888-FF6F-43E1-B4EA-554646533D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a288f97d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288f97d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aa068b85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aa068b85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9aa068b8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aa068b8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aa068b8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aa068b8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aa068b857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aa068b857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9aa068b857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9aa068b857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b055b87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b055b87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aa068b857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aa068b857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9aa068b857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9aa068b857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9aa068b857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aa068b857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9aa068b857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9aa068b857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9aa068b857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9aa068b857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9b055b874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9b055b87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b055b874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b055b874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9b055b874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9b055b874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b055b874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b055b874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b055b874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b055b874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9b055b874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b055b874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9b055b8749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9b055b8749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9b055b8749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9b055b8749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9b055b874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9b055b874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9b055b87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9b055b87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9b055b8749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9b055b8749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9b055b8749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9b055b8749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9b055b8749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9b055b8749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9b055b8749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b055b8749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9b055b874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9b055b874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9b055b8749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9b055b8749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9b055b8749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9b055b8749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9b055b874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9b055b874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9b055b8749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9b055b8749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9b055b8749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9b055b874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9b055b8749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9b055b8749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9b055b8749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9b055b8749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9b055b8749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b055b8749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9b055b8749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9b055b8749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a38cbc6627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a38cbc6627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9b055b8749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9b055b8749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9b055b8749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9b055b8749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10.png"/><Relationship Id="rId5" Type="http://schemas.openxmlformats.org/officeDocument/2006/relationships/image" Target="../media/image28.png"/><Relationship Id="rId6" Type="http://schemas.openxmlformats.org/officeDocument/2006/relationships/image" Target="../media/image40.png"/><Relationship Id="rId7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0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39.png"/><Relationship Id="rId7" Type="http://schemas.openxmlformats.org/officeDocument/2006/relationships/image" Target="../media/image28.png"/><Relationship Id="rId8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0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35.png"/><Relationship Id="rId9" Type="http://schemas.openxmlformats.org/officeDocument/2006/relationships/image" Target="../media/image40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60.png"/><Relationship Id="rId6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72.png"/><Relationship Id="rId5" Type="http://schemas.openxmlformats.org/officeDocument/2006/relationships/image" Target="../media/image69.png"/><Relationship Id="rId6" Type="http://schemas.openxmlformats.org/officeDocument/2006/relationships/image" Target="../media/image6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7.png"/><Relationship Id="rId4" Type="http://schemas.openxmlformats.org/officeDocument/2006/relationships/image" Target="../media/image84.png"/><Relationship Id="rId9" Type="http://schemas.openxmlformats.org/officeDocument/2006/relationships/image" Target="../media/image78.png"/><Relationship Id="rId5" Type="http://schemas.openxmlformats.org/officeDocument/2006/relationships/image" Target="../media/image95.png"/><Relationship Id="rId6" Type="http://schemas.openxmlformats.org/officeDocument/2006/relationships/image" Target="../media/image81.png"/><Relationship Id="rId7" Type="http://schemas.openxmlformats.org/officeDocument/2006/relationships/image" Target="../media/image90.png"/><Relationship Id="rId8" Type="http://schemas.openxmlformats.org/officeDocument/2006/relationships/image" Target="../media/image80.png"/><Relationship Id="rId11" Type="http://schemas.openxmlformats.org/officeDocument/2006/relationships/image" Target="../media/image79.png"/><Relationship Id="rId10" Type="http://schemas.openxmlformats.org/officeDocument/2006/relationships/image" Target="../media/image83.png"/><Relationship Id="rId12" Type="http://schemas.openxmlformats.org/officeDocument/2006/relationships/image" Target="../media/image8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2.png"/><Relationship Id="rId4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1.png"/><Relationship Id="rId4" Type="http://schemas.openxmlformats.org/officeDocument/2006/relationships/image" Target="../media/image9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8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6.png"/><Relationship Id="rId4" Type="http://schemas.openxmlformats.org/officeDocument/2006/relationships/image" Target="../media/image9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1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3.png"/><Relationship Id="rId4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2.png"/><Relationship Id="rId4" Type="http://schemas.openxmlformats.org/officeDocument/2006/relationships/image" Target="../media/image10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3.png"/><Relationship Id="rId4" Type="http://schemas.openxmlformats.org/officeDocument/2006/relationships/image" Target="../media/image10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dynamic software to explore linear relationships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a </a:t>
            </a:r>
            <a:r>
              <a:rPr lang="en-GB"/>
              <a:t>range of problems involving graphical and algebraic aspects of linear relationships using dynamic software.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146050"/>
            <a:ext cx="84960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chemeClr val="dk1"/>
                </a:solidFill>
              </a:rPr>
              <a:t>gradient </a:t>
            </a:r>
            <a:r>
              <a:rPr lang="en-GB">
                <a:solidFill>
                  <a:schemeClr val="dk1"/>
                </a:solidFill>
              </a:rPr>
              <a:t>is a measure of how steep a line is. It is calculated by finding the rate of change in the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chemeClr val="dk1"/>
                </a:solidFill>
              </a:rPr>
              <a:t>-direction with respect to the positive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dk1"/>
                </a:solidFill>
              </a:rPr>
              <a:t>-direction.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493731"/>
            <a:ext cx="8496000" cy="7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An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intercept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is the coordinate where a line or curve meets a given axis.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6899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dynamic software to explore linear relationships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32" y="20623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781" name="Google Shape;781;p69"/>
          <p:cNvSpPr txBox="1"/>
          <p:nvPr/>
        </p:nvSpPr>
        <p:spPr>
          <a:xfrm>
            <a:off x="324000" y="759300"/>
            <a:ext cx="71859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started: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Open up a web browser and go 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desmos.com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and press the ‘graphing calculator’ button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Your screen should look like this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875" y="2453268"/>
            <a:ext cx="5187405" cy="23555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324000" y="715050"/>
            <a:ext cx="8496000" cy="7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Click on the ‘graph settings’ menu and </a:t>
            </a:r>
            <a:r>
              <a:rPr lang="en-GB" sz="2000"/>
              <a:t>update your axes labels and steps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89" name="Google Shape;7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00" y="1597350"/>
            <a:ext cx="8322400" cy="317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795" name="Google Shape;795;p71"/>
          <p:cNvSpPr txBox="1"/>
          <p:nvPr/>
        </p:nvSpPr>
        <p:spPr>
          <a:xfrm>
            <a:off x="324000" y="759300"/>
            <a:ext cx="7085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We’re now ready to explore linear relationships.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194328"/>
            <a:ext cx="4488550" cy="30990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7" name="Google Shape;797;p71"/>
          <p:cNvSpPr txBox="1"/>
          <p:nvPr/>
        </p:nvSpPr>
        <p:spPr>
          <a:xfrm>
            <a:off x="324000" y="1292700"/>
            <a:ext cx="3800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Zoom and drag so your screen is scaled like this, with −5 to +5 visible on both axes.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71"/>
          <p:cNvSpPr txBox="1"/>
          <p:nvPr/>
        </p:nvSpPr>
        <p:spPr>
          <a:xfrm>
            <a:off x="324000" y="2892900"/>
            <a:ext cx="2519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Type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 here.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9" name="Google Shape;799;p71"/>
          <p:cNvCxnSpPr/>
          <p:nvPr/>
        </p:nvCxnSpPr>
        <p:spPr>
          <a:xfrm flipH="1" rot="10800000">
            <a:off x="2784000" y="1831000"/>
            <a:ext cx="1446300" cy="1239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0" name="Google Shape;80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7150" y="1194050"/>
            <a:ext cx="4488550" cy="30990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1" name="Google Shape;801;p71"/>
          <p:cNvSpPr txBox="1"/>
          <p:nvPr/>
        </p:nvSpPr>
        <p:spPr>
          <a:xfrm>
            <a:off x="324000" y="3578700"/>
            <a:ext cx="3587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line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intercepting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-axis at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origin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350" y="1190175"/>
            <a:ext cx="4488550" cy="3103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7" name="Google Shape;80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08" name="Google Shape;808;p72"/>
          <p:cNvSpPr txBox="1"/>
          <p:nvPr/>
        </p:nvSpPr>
        <p:spPr>
          <a:xfrm>
            <a:off x="806350" y="804225"/>
            <a:ext cx="2351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Change it to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9" name="Google Shape;809;p72"/>
          <p:cNvCxnSpPr>
            <a:stCxn id="808" idx="3"/>
          </p:cNvCxnSpPr>
          <p:nvPr/>
        </p:nvCxnSpPr>
        <p:spPr>
          <a:xfrm>
            <a:off x="3158050" y="993975"/>
            <a:ext cx="1392300" cy="48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72"/>
          <p:cNvSpPr txBox="1"/>
          <p:nvPr/>
        </p:nvSpPr>
        <p:spPr>
          <a:xfrm>
            <a:off x="324000" y="1357670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line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intercepting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-axis at the origin.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727" y="1192538"/>
            <a:ext cx="4488550" cy="31034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2" name="Google Shape;812;p72"/>
          <p:cNvSpPr txBox="1"/>
          <p:nvPr/>
        </p:nvSpPr>
        <p:spPr>
          <a:xfrm>
            <a:off x="890250" y="2610550"/>
            <a:ext cx="2189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Type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below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3" name="Google Shape;813;p72"/>
          <p:cNvGrpSpPr/>
          <p:nvPr/>
        </p:nvGrpSpPr>
        <p:grpSpPr>
          <a:xfrm>
            <a:off x="4322025" y="1202625"/>
            <a:ext cx="4488550" cy="3077115"/>
            <a:chOff x="4322025" y="1202625"/>
            <a:chExt cx="4488550" cy="3077115"/>
          </a:xfrm>
        </p:grpSpPr>
        <p:pic>
          <p:nvPicPr>
            <p:cNvPr id="814" name="Google Shape;814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22025" y="1202625"/>
              <a:ext cx="4488550" cy="307711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15" name="Google Shape;815;p72"/>
            <p:cNvSpPr/>
            <p:nvPr/>
          </p:nvSpPr>
          <p:spPr>
            <a:xfrm>
              <a:off x="4325925" y="1992275"/>
              <a:ext cx="965700" cy="49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16" name="Google Shape;816;p72"/>
          <p:cNvCxnSpPr>
            <a:stCxn id="812" idx="3"/>
          </p:cNvCxnSpPr>
          <p:nvPr/>
        </p:nvCxnSpPr>
        <p:spPr>
          <a:xfrm flipH="1" rot="10800000">
            <a:off x="3079350" y="1902400"/>
            <a:ext cx="1459800" cy="897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72"/>
          <p:cNvSpPr txBox="1"/>
          <p:nvPr/>
        </p:nvSpPr>
        <p:spPr>
          <a:xfrm>
            <a:off x="324000" y="3121500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line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intercepting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-axis at the origin.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23" name="Google Shape;823;p73"/>
          <p:cNvSpPr txBox="1"/>
          <p:nvPr/>
        </p:nvSpPr>
        <p:spPr>
          <a:xfrm>
            <a:off x="400200" y="824275"/>
            <a:ext cx="3272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should have the lines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drawn.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4" name="Google Shape;824;p73"/>
          <p:cNvGrpSpPr/>
          <p:nvPr/>
        </p:nvGrpSpPr>
        <p:grpSpPr>
          <a:xfrm>
            <a:off x="4322025" y="1202625"/>
            <a:ext cx="4488550" cy="3077115"/>
            <a:chOff x="4322025" y="1202625"/>
            <a:chExt cx="4488550" cy="3077115"/>
          </a:xfrm>
        </p:grpSpPr>
        <p:pic>
          <p:nvPicPr>
            <p:cNvPr id="825" name="Google Shape;82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22025" y="1202625"/>
              <a:ext cx="4488550" cy="307711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26" name="Google Shape;826;p73"/>
            <p:cNvSpPr/>
            <p:nvPr/>
          </p:nvSpPr>
          <p:spPr>
            <a:xfrm>
              <a:off x="4325925" y="1992275"/>
              <a:ext cx="965700" cy="49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7" name="Google Shape;827;p73"/>
          <p:cNvSpPr txBox="1"/>
          <p:nvPr/>
        </p:nvSpPr>
        <p:spPr>
          <a:xfrm>
            <a:off x="400200" y="1814870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Add the lines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compare the four lines.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/>
        </p:nvSpPr>
        <p:spPr>
          <a:xfrm>
            <a:off x="400200" y="3186480"/>
            <a:ext cx="36876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four lines share the same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‐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 of (0,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9" name="Google Shape;829;p73"/>
          <p:cNvSpPr txBox="1"/>
          <p:nvPr/>
        </p:nvSpPr>
        <p:spPr>
          <a:xfrm>
            <a:off x="400200" y="4024675"/>
            <a:ext cx="3805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lines have different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2, 3, 4, and 5 respectively.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73"/>
          <p:cNvSpPr txBox="1"/>
          <p:nvPr/>
        </p:nvSpPr>
        <p:spPr>
          <a:xfrm>
            <a:off x="400200" y="2729270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31" name="Google Shape;831;p73"/>
          <p:cNvGrpSpPr/>
          <p:nvPr/>
        </p:nvGrpSpPr>
        <p:grpSpPr>
          <a:xfrm>
            <a:off x="4322025" y="1205650"/>
            <a:ext cx="4497976" cy="3077126"/>
            <a:chOff x="5007825" y="1205650"/>
            <a:chExt cx="4497976" cy="3077126"/>
          </a:xfrm>
        </p:grpSpPr>
        <p:pic>
          <p:nvPicPr>
            <p:cNvPr id="832" name="Google Shape;83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07825" y="1205650"/>
              <a:ext cx="4497976" cy="307712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33" name="Google Shape;833;p73"/>
            <p:cNvSpPr/>
            <p:nvPr/>
          </p:nvSpPr>
          <p:spPr>
            <a:xfrm>
              <a:off x="5011725" y="2556950"/>
              <a:ext cx="1245000" cy="49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39" name="Google Shape;839;p74"/>
          <p:cNvSpPr txBox="1"/>
          <p:nvPr/>
        </p:nvSpPr>
        <p:spPr>
          <a:xfrm>
            <a:off x="324000" y="700500"/>
            <a:ext cx="8015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Let’s delete the lines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 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x.</a:t>
            </a:r>
            <a:b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use a slider to play with different values of the gradient for the equation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= mx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4"/>
          <p:cNvSpPr/>
          <p:nvPr/>
        </p:nvSpPr>
        <p:spPr>
          <a:xfrm>
            <a:off x="4325925" y="2590645"/>
            <a:ext cx="965700" cy="49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1" name="Google Shape;84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99001"/>
            <a:ext cx="6969625" cy="300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47" name="Google Shape;847;p75"/>
          <p:cNvSpPr txBox="1"/>
          <p:nvPr/>
        </p:nvSpPr>
        <p:spPr>
          <a:xfrm>
            <a:off x="324000" y="716775"/>
            <a:ext cx="84033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study the changing gradient more closely by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changing the bounds and steps for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slider.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8" name="Google Shape;84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65" y="1519225"/>
            <a:ext cx="7647036" cy="33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6"/>
          <p:cNvSpPr txBox="1"/>
          <p:nvPr/>
        </p:nvSpPr>
        <p:spPr>
          <a:xfrm>
            <a:off x="3524400" y="1355250"/>
            <a:ext cx="2214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-coordinate is double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-coordinate.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4" name="Google Shape;854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295325" y="1277550"/>
            <a:ext cx="2443976" cy="159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089100" y="1277550"/>
            <a:ext cx="2730900" cy="1592426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57" name="Google Shape;857;p76"/>
          <p:cNvSpPr txBox="1"/>
          <p:nvPr/>
        </p:nvSpPr>
        <p:spPr>
          <a:xfrm>
            <a:off x="324000" y="821850"/>
            <a:ext cx="5932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mean?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76"/>
          <p:cNvSpPr txBox="1"/>
          <p:nvPr/>
        </p:nvSpPr>
        <p:spPr>
          <a:xfrm>
            <a:off x="5961404" y="345788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6"/>
          <p:cNvSpPr txBox="1"/>
          <p:nvPr/>
        </p:nvSpPr>
        <p:spPr>
          <a:xfrm>
            <a:off x="642545" y="3458164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6"/>
          <p:cNvSpPr txBox="1"/>
          <p:nvPr/>
        </p:nvSpPr>
        <p:spPr>
          <a:xfrm>
            <a:off x="3370420" y="345788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1" name="Google Shape;86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14" y="2857257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9986" y="279257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8393" y="2724629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04523" y="1277551"/>
            <a:ext cx="2094177" cy="159242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6"/>
          <p:cNvSpPr txBox="1"/>
          <p:nvPr/>
        </p:nvSpPr>
        <p:spPr>
          <a:xfrm>
            <a:off x="933600" y="1397759"/>
            <a:ext cx="1865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straight line with a gradient of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endParaRPr i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6"/>
          <p:cNvSpPr txBox="1"/>
          <p:nvPr/>
        </p:nvSpPr>
        <p:spPr>
          <a:xfrm>
            <a:off x="6333000" y="1366480"/>
            <a:ext cx="2378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every change of +1 in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+2 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76"/>
          <p:cNvSpPr txBox="1"/>
          <p:nvPr/>
        </p:nvSpPr>
        <p:spPr>
          <a:xfrm>
            <a:off x="324000" y="4022250"/>
            <a:ext cx="1778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right?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8" name="Google Shape;868;p76"/>
          <p:cNvSpPr txBox="1"/>
          <p:nvPr/>
        </p:nvSpPr>
        <p:spPr>
          <a:xfrm>
            <a:off x="2305200" y="4022250"/>
            <a:ext cx="6210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all are! They are just thinking about it differently.</a:t>
            </a:r>
            <a:endParaRPr i="1"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874" name="Google Shape;874;p77"/>
          <p:cNvSpPr txBox="1"/>
          <p:nvPr/>
        </p:nvSpPr>
        <p:spPr>
          <a:xfrm>
            <a:off x="688875" y="1086550"/>
            <a:ext cx="2963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the ‘edit list’ icon.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7"/>
          <p:cNvSpPr txBox="1"/>
          <p:nvPr/>
        </p:nvSpPr>
        <p:spPr>
          <a:xfrm>
            <a:off x="707050" y="1619950"/>
            <a:ext cx="1923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‘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’.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6" name="Google Shape;87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875" y="1132425"/>
            <a:ext cx="4492052" cy="307292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77" name="Google Shape;877;p77"/>
          <p:cNvGrpSpPr/>
          <p:nvPr/>
        </p:nvGrpSpPr>
        <p:grpSpPr>
          <a:xfrm>
            <a:off x="3652275" y="1097922"/>
            <a:ext cx="1905941" cy="333600"/>
            <a:chOff x="3652275" y="1097922"/>
            <a:chExt cx="1905941" cy="333600"/>
          </a:xfrm>
        </p:grpSpPr>
        <p:sp>
          <p:nvSpPr>
            <p:cNvPr id="878" name="Google Shape;878;p77"/>
            <p:cNvSpPr/>
            <p:nvPr/>
          </p:nvSpPr>
          <p:spPr>
            <a:xfrm>
              <a:off x="5232416" y="1097922"/>
              <a:ext cx="325800" cy="333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9" name="Google Shape;879;p77"/>
            <p:cNvCxnSpPr>
              <a:stCxn id="874" idx="3"/>
              <a:endCxn id="878" idx="2"/>
            </p:cNvCxnSpPr>
            <p:nvPr/>
          </p:nvCxnSpPr>
          <p:spPr>
            <a:xfrm flipH="1" rot="10800000">
              <a:off x="3652275" y="1264600"/>
              <a:ext cx="1580100" cy="11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0" name="Google Shape;880;p77"/>
          <p:cNvSpPr/>
          <p:nvPr/>
        </p:nvSpPr>
        <p:spPr>
          <a:xfrm>
            <a:off x="4348386" y="1981045"/>
            <a:ext cx="965700" cy="49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7470" y="1393925"/>
            <a:ext cx="2010856" cy="130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2" name="Google Shape;882;p77"/>
          <p:cNvGrpSpPr/>
          <p:nvPr/>
        </p:nvGrpSpPr>
        <p:grpSpPr>
          <a:xfrm>
            <a:off x="2630050" y="1741213"/>
            <a:ext cx="2383536" cy="333600"/>
            <a:chOff x="3174680" y="1097922"/>
            <a:chExt cx="2383536" cy="333600"/>
          </a:xfrm>
        </p:grpSpPr>
        <p:sp>
          <p:nvSpPr>
            <p:cNvPr id="883" name="Google Shape;883;p77"/>
            <p:cNvSpPr/>
            <p:nvPr/>
          </p:nvSpPr>
          <p:spPr>
            <a:xfrm>
              <a:off x="5232416" y="1097922"/>
              <a:ext cx="325800" cy="333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4" name="Google Shape;884;p77"/>
            <p:cNvCxnSpPr>
              <a:stCxn id="875" idx="3"/>
              <a:endCxn id="883" idx="2"/>
            </p:cNvCxnSpPr>
            <p:nvPr/>
          </p:nvCxnSpPr>
          <p:spPr>
            <a:xfrm>
              <a:off x="3174680" y="1166409"/>
              <a:ext cx="2057700" cy="98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885" name="Google Shape;88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2451" y="1437900"/>
            <a:ext cx="1906024" cy="3058228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7"/>
          <p:cNvSpPr txBox="1"/>
          <p:nvPr/>
        </p:nvSpPr>
        <p:spPr>
          <a:xfrm>
            <a:off x="839900" y="2229550"/>
            <a:ext cx="21159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Press and hold here to change your coordinates to crosses and resize them.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7" name="Google Shape;887;p77"/>
          <p:cNvGrpSpPr/>
          <p:nvPr/>
        </p:nvGrpSpPr>
        <p:grpSpPr>
          <a:xfrm>
            <a:off x="2955800" y="2193588"/>
            <a:ext cx="1923021" cy="630412"/>
            <a:chOff x="3500430" y="940697"/>
            <a:chExt cx="1923021" cy="630412"/>
          </a:xfrm>
        </p:grpSpPr>
        <p:sp>
          <p:nvSpPr>
            <p:cNvPr id="888" name="Google Shape;888;p77"/>
            <p:cNvSpPr/>
            <p:nvPr/>
          </p:nvSpPr>
          <p:spPr>
            <a:xfrm>
              <a:off x="5097652" y="940697"/>
              <a:ext cx="325800" cy="333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9" name="Google Shape;889;p77"/>
            <p:cNvCxnSpPr>
              <a:stCxn id="886" idx="3"/>
              <a:endCxn id="888" idx="2"/>
            </p:cNvCxnSpPr>
            <p:nvPr/>
          </p:nvCxnSpPr>
          <p:spPr>
            <a:xfrm flipH="1" rot="10800000">
              <a:off x="3500430" y="1107609"/>
              <a:ext cx="1597200" cy="463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8"/>
          <p:cNvSpPr txBox="1"/>
          <p:nvPr/>
        </p:nvSpPr>
        <p:spPr>
          <a:xfrm>
            <a:off x="324000" y="1086550"/>
            <a:ext cx="3262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-coordinate is double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-coordinate.”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id="896" name="Google Shape;89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125" y="1123900"/>
            <a:ext cx="3739402" cy="25872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7" name="Google Shape;89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975" y="1123900"/>
            <a:ext cx="2433103" cy="35152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8" name="Google Shape;89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5854" y="1618450"/>
            <a:ext cx="1177693" cy="218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10800000">
            <a:off x="4531705" y="3686832"/>
            <a:ext cx="625924" cy="270748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4723552" y="391718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000">
                <a:solidFill>
                  <a:schemeClr val="accent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accent4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/>
        </p:nvSpPr>
        <p:spPr>
          <a:xfrm>
            <a:off x="324000" y="2167291"/>
            <a:ext cx="3426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</a:t>
            </a:r>
            <a:endParaRPr sz="1200"/>
          </a:p>
        </p:txBody>
      </p:sp>
      <p:sp>
        <p:nvSpPr>
          <p:cNvPr id="902" name="Google Shape;902;p78"/>
          <p:cNvSpPr txBox="1"/>
          <p:nvPr/>
        </p:nvSpPr>
        <p:spPr>
          <a:xfrm>
            <a:off x="4147643" y="221832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8"/>
          <p:cNvSpPr txBox="1"/>
          <p:nvPr/>
        </p:nvSpPr>
        <p:spPr>
          <a:xfrm>
            <a:off x="5392548" y="221832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8"/>
          <p:cNvSpPr txBox="1"/>
          <p:nvPr/>
        </p:nvSpPr>
        <p:spPr>
          <a:xfrm>
            <a:off x="4147643" y="257685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8"/>
          <p:cNvSpPr txBox="1"/>
          <p:nvPr/>
        </p:nvSpPr>
        <p:spPr>
          <a:xfrm>
            <a:off x="5392548" y="257685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8"/>
          <p:cNvSpPr txBox="1"/>
          <p:nvPr/>
        </p:nvSpPr>
        <p:spPr>
          <a:xfrm>
            <a:off x="4147643" y="294662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8"/>
          <p:cNvSpPr txBox="1"/>
          <p:nvPr/>
        </p:nvSpPr>
        <p:spPr>
          <a:xfrm>
            <a:off x="5392548" y="294662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8" name="Google Shape;908;p78"/>
          <p:cNvGrpSpPr/>
          <p:nvPr/>
        </p:nvGrpSpPr>
        <p:grpSpPr>
          <a:xfrm>
            <a:off x="7144750" y="3097613"/>
            <a:ext cx="269400" cy="481200"/>
            <a:chOff x="7144750" y="3097613"/>
            <a:chExt cx="269400" cy="481200"/>
          </a:xfrm>
        </p:grpSpPr>
        <p:cxnSp>
          <p:nvCxnSpPr>
            <p:cNvPr id="909" name="Google Shape;909;p78"/>
            <p:cNvCxnSpPr/>
            <p:nvPr/>
          </p:nvCxnSpPr>
          <p:spPr>
            <a:xfrm>
              <a:off x="7144750" y="3578813"/>
              <a:ext cx="26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0" name="Google Shape;910;p78"/>
            <p:cNvCxnSpPr/>
            <p:nvPr/>
          </p:nvCxnSpPr>
          <p:spPr>
            <a:xfrm flipH="1" rot="10800000">
              <a:off x="7401925" y="3097613"/>
              <a:ext cx="9600" cy="481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11" name="Google Shape;911;p78"/>
          <p:cNvSpPr txBox="1"/>
          <p:nvPr/>
        </p:nvSpPr>
        <p:spPr>
          <a:xfrm>
            <a:off x="304800" y="327660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straight line with 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</a:t>
            </a:r>
            <a:endParaRPr sz="1200"/>
          </a:p>
        </p:txBody>
      </p:sp>
      <p:sp>
        <p:nvSpPr>
          <p:cNvPr id="912" name="Google Shape;912;p78"/>
          <p:cNvSpPr txBox="1"/>
          <p:nvPr/>
        </p:nvSpPr>
        <p:spPr>
          <a:xfrm>
            <a:off x="7449948" y="323138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3" name="Google Shape;913;p78"/>
          <p:cNvGrpSpPr/>
          <p:nvPr/>
        </p:nvGrpSpPr>
        <p:grpSpPr>
          <a:xfrm>
            <a:off x="7393398" y="2584261"/>
            <a:ext cx="269400" cy="481200"/>
            <a:chOff x="7144750" y="3097613"/>
            <a:chExt cx="269400" cy="481200"/>
          </a:xfrm>
        </p:grpSpPr>
        <p:cxnSp>
          <p:nvCxnSpPr>
            <p:cNvPr id="914" name="Google Shape;914;p78"/>
            <p:cNvCxnSpPr/>
            <p:nvPr/>
          </p:nvCxnSpPr>
          <p:spPr>
            <a:xfrm>
              <a:off x="7144750" y="3578813"/>
              <a:ext cx="26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5" name="Google Shape;915;p78"/>
            <p:cNvCxnSpPr/>
            <p:nvPr/>
          </p:nvCxnSpPr>
          <p:spPr>
            <a:xfrm flipH="1" rot="10800000">
              <a:off x="7401925" y="3097613"/>
              <a:ext cx="9600" cy="481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16" name="Google Shape;916;p78"/>
          <p:cNvGrpSpPr/>
          <p:nvPr/>
        </p:nvGrpSpPr>
        <p:grpSpPr>
          <a:xfrm>
            <a:off x="7666920" y="2062091"/>
            <a:ext cx="269400" cy="481200"/>
            <a:chOff x="7144750" y="3097613"/>
            <a:chExt cx="269400" cy="481200"/>
          </a:xfrm>
        </p:grpSpPr>
        <p:cxnSp>
          <p:nvCxnSpPr>
            <p:cNvPr id="917" name="Google Shape;917;p78"/>
            <p:cNvCxnSpPr/>
            <p:nvPr/>
          </p:nvCxnSpPr>
          <p:spPr>
            <a:xfrm>
              <a:off x="7144750" y="3578813"/>
              <a:ext cx="26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8" name="Google Shape;918;p78"/>
            <p:cNvCxnSpPr/>
            <p:nvPr/>
          </p:nvCxnSpPr>
          <p:spPr>
            <a:xfrm flipH="1" rot="10800000">
              <a:off x="7401925" y="3097613"/>
              <a:ext cx="9600" cy="481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19" name="Google Shape;919;p78"/>
          <p:cNvGrpSpPr/>
          <p:nvPr/>
        </p:nvGrpSpPr>
        <p:grpSpPr>
          <a:xfrm>
            <a:off x="7926798" y="1539921"/>
            <a:ext cx="269400" cy="481200"/>
            <a:chOff x="7144750" y="3097613"/>
            <a:chExt cx="269400" cy="481200"/>
          </a:xfrm>
        </p:grpSpPr>
        <p:cxnSp>
          <p:nvCxnSpPr>
            <p:cNvPr id="920" name="Google Shape;920;p78"/>
            <p:cNvCxnSpPr/>
            <p:nvPr/>
          </p:nvCxnSpPr>
          <p:spPr>
            <a:xfrm>
              <a:off x="7144750" y="3578813"/>
              <a:ext cx="26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1" name="Google Shape;921;p78"/>
            <p:cNvCxnSpPr/>
            <p:nvPr/>
          </p:nvCxnSpPr>
          <p:spPr>
            <a:xfrm flipH="1" rot="10800000">
              <a:off x="7401925" y="3097613"/>
              <a:ext cx="9600" cy="481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22" name="Google Shape;922;p78"/>
          <p:cNvSpPr txBox="1"/>
          <p:nvPr/>
        </p:nvSpPr>
        <p:spPr>
          <a:xfrm>
            <a:off x="7721057" y="272925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8"/>
          <p:cNvSpPr txBox="1"/>
          <p:nvPr/>
        </p:nvSpPr>
        <p:spPr>
          <a:xfrm>
            <a:off x="7969705" y="219585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8"/>
          <p:cNvSpPr txBox="1"/>
          <p:nvPr/>
        </p:nvSpPr>
        <p:spPr>
          <a:xfrm>
            <a:off x="8220766" y="166245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930" name="Google Shape;930;p79"/>
          <p:cNvSpPr txBox="1"/>
          <p:nvPr/>
        </p:nvSpPr>
        <p:spPr>
          <a:xfrm>
            <a:off x="324000" y="815450"/>
            <a:ext cx="2968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Move the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slider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to draw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describe the line.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875" y="1132425"/>
            <a:ext cx="4492052" cy="307292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2" name="Google Shape;932;p79"/>
          <p:cNvSpPr/>
          <p:nvPr/>
        </p:nvSpPr>
        <p:spPr>
          <a:xfrm>
            <a:off x="4348386" y="1981045"/>
            <a:ext cx="965700" cy="49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9"/>
          <p:cNvGrpSpPr/>
          <p:nvPr/>
        </p:nvGrpSpPr>
        <p:grpSpPr>
          <a:xfrm>
            <a:off x="4326275" y="1126200"/>
            <a:ext cx="4466545" cy="3072923"/>
            <a:chOff x="4326275" y="1126200"/>
            <a:chExt cx="4466545" cy="3072923"/>
          </a:xfrm>
        </p:grpSpPr>
        <p:pic>
          <p:nvPicPr>
            <p:cNvPr id="934" name="Google Shape;934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26275" y="1126200"/>
              <a:ext cx="4466545" cy="307292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35" name="Google Shape;935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52078" y="2020192"/>
              <a:ext cx="1140223" cy="2167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6" name="Google Shape;936;p79"/>
          <p:cNvSpPr txBox="1"/>
          <p:nvPr/>
        </p:nvSpPr>
        <p:spPr>
          <a:xfrm>
            <a:off x="324000" y="2348259"/>
            <a:ext cx="2485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-intercept of (0,0)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7" name="Google Shape;937;p79"/>
          <p:cNvSpPr txBox="1"/>
          <p:nvPr/>
        </p:nvSpPr>
        <p:spPr>
          <a:xfrm>
            <a:off x="324000" y="2816700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of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9"/>
          <p:cNvSpPr txBox="1"/>
          <p:nvPr/>
        </p:nvSpPr>
        <p:spPr>
          <a:xfrm>
            <a:off x="324000" y="1924761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9" name="Google Shape;939;p79"/>
          <p:cNvSpPr txBox="1"/>
          <p:nvPr/>
        </p:nvSpPr>
        <p:spPr>
          <a:xfrm>
            <a:off x="324000" y="3296350"/>
            <a:ext cx="3328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change of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+1 change 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0" name="Google Shape;940;p79"/>
          <p:cNvSpPr txBox="1"/>
          <p:nvPr/>
        </p:nvSpPr>
        <p:spPr>
          <a:xfrm>
            <a:off x="324000" y="4134550"/>
            <a:ext cx="3328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coordinate is always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−3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times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-coordinate.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79"/>
          <p:cNvSpPr/>
          <p:nvPr/>
        </p:nvSpPr>
        <p:spPr>
          <a:xfrm>
            <a:off x="7038765" y="2588239"/>
            <a:ext cx="392100" cy="333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79"/>
          <p:cNvGrpSpPr/>
          <p:nvPr/>
        </p:nvGrpSpPr>
        <p:grpSpPr>
          <a:xfrm>
            <a:off x="6752525" y="1346619"/>
            <a:ext cx="715723" cy="690635"/>
            <a:chOff x="6752525" y="1346619"/>
            <a:chExt cx="715723" cy="690635"/>
          </a:xfrm>
        </p:grpSpPr>
        <p:grpSp>
          <p:nvGrpSpPr>
            <p:cNvPr id="943" name="Google Shape;943;p79"/>
            <p:cNvGrpSpPr/>
            <p:nvPr/>
          </p:nvGrpSpPr>
          <p:grpSpPr>
            <a:xfrm>
              <a:off x="6752525" y="1346619"/>
              <a:ext cx="269400" cy="690635"/>
              <a:chOff x="7144750" y="3578813"/>
              <a:chExt cx="269400" cy="490891"/>
            </a:xfrm>
          </p:grpSpPr>
          <p:cxnSp>
            <p:nvCxnSpPr>
              <p:cNvPr id="944" name="Google Shape;944;p79"/>
              <p:cNvCxnSpPr/>
              <p:nvPr/>
            </p:nvCxnSpPr>
            <p:spPr>
              <a:xfrm>
                <a:off x="7144750" y="3578813"/>
                <a:ext cx="26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45" name="Google Shape;945;p79"/>
              <p:cNvCxnSpPr/>
              <p:nvPr/>
            </p:nvCxnSpPr>
            <p:spPr>
              <a:xfrm>
                <a:off x="7401925" y="3588504"/>
                <a:ext cx="9600" cy="4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46" name="Google Shape;946;p79"/>
            <p:cNvSpPr txBox="1"/>
            <p:nvPr/>
          </p:nvSpPr>
          <p:spPr>
            <a:xfrm>
              <a:off x="7068948" y="1436271"/>
              <a:ext cx="399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highlight>
                    <a:schemeClr val="lt1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7" name="Google Shape;947;p79"/>
          <p:cNvGrpSpPr/>
          <p:nvPr/>
        </p:nvGrpSpPr>
        <p:grpSpPr>
          <a:xfrm>
            <a:off x="6981125" y="2032419"/>
            <a:ext cx="715723" cy="690635"/>
            <a:chOff x="6752525" y="1346619"/>
            <a:chExt cx="715723" cy="690635"/>
          </a:xfrm>
        </p:grpSpPr>
        <p:grpSp>
          <p:nvGrpSpPr>
            <p:cNvPr id="948" name="Google Shape;948;p79"/>
            <p:cNvGrpSpPr/>
            <p:nvPr/>
          </p:nvGrpSpPr>
          <p:grpSpPr>
            <a:xfrm>
              <a:off x="6752525" y="1346619"/>
              <a:ext cx="269400" cy="690635"/>
              <a:chOff x="7144750" y="3578813"/>
              <a:chExt cx="269400" cy="490891"/>
            </a:xfrm>
          </p:grpSpPr>
          <p:cxnSp>
            <p:nvCxnSpPr>
              <p:cNvPr id="949" name="Google Shape;949;p79"/>
              <p:cNvCxnSpPr/>
              <p:nvPr/>
            </p:nvCxnSpPr>
            <p:spPr>
              <a:xfrm>
                <a:off x="7144750" y="3578813"/>
                <a:ext cx="26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50" name="Google Shape;950;p79"/>
              <p:cNvCxnSpPr/>
              <p:nvPr/>
            </p:nvCxnSpPr>
            <p:spPr>
              <a:xfrm>
                <a:off x="7401925" y="3588504"/>
                <a:ext cx="9600" cy="4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51" name="Google Shape;951;p79"/>
            <p:cNvSpPr txBox="1"/>
            <p:nvPr/>
          </p:nvSpPr>
          <p:spPr>
            <a:xfrm>
              <a:off x="7068948" y="1436271"/>
              <a:ext cx="399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highlight>
                    <a:schemeClr val="lt1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9"/>
          <p:cNvGrpSpPr/>
          <p:nvPr/>
        </p:nvGrpSpPr>
        <p:grpSpPr>
          <a:xfrm>
            <a:off x="7209725" y="2740680"/>
            <a:ext cx="715723" cy="690635"/>
            <a:chOff x="6752525" y="1346619"/>
            <a:chExt cx="715723" cy="690635"/>
          </a:xfrm>
        </p:grpSpPr>
        <p:grpSp>
          <p:nvGrpSpPr>
            <p:cNvPr id="953" name="Google Shape;953;p79"/>
            <p:cNvGrpSpPr/>
            <p:nvPr/>
          </p:nvGrpSpPr>
          <p:grpSpPr>
            <a:xfrm>
              <a:off x="6752525" y="1346619"/>
              <a:ext cx="269400" cy="690635"/>
              <a:chOff x="7144750" y="3578813"/>
              <a:chExt cx="269400" cy="490891"/>
            </a:xfrm>
          </p:grpSpPr>
          <p:cxnSp>
            <p:nvCxnSpPr>
              <p:cNvPr id="954" name="Google Shape;954;p79"/>
              <p:cNvCxnSpPr/>
              <p:nvPr/>
            </p:nvCxnSpPr>
            <p:spPr>
              <a:xfrm>
                <a:off x="7144750" y="3578813"/>
                <a:ext cx="26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55" name="Google Shape;955;p79"/>
              <p:cNvCxnSpPr/>
              <p:nvPr/>
            </p:nvCxnSpPr>
            <p:spPr>
              <a:xfrm>
                <a:off x="7401925" y="3588504"/>
                <a:ext cx="9600" cy="4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56" name="Google Shape;956;p79"/>
            <p:cNvSpPr txBox="1"/>
            <p:nvPr/>
          </p:nvSpPr>
          <p:spPr>
            <a:xfrm>
              <a:off x="7068948" y="1436271"/>
              <a:ext cx="399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highlight>
                    <a:schemeClr val="lt1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7" name="Google Shape;957;p79"/>
          <p:cNvGrpSpPr/>
          <p:nvPr/>
        </p:nvGrpSpPr>
        <p:grpSpPr>
          <a:xfrm>
            <a:off x="7438325" y="3448941"/>
            <a:ext cx="715723" cy="690635"/>
            <a:chOff x="6752525" y="1346619"/>
            <a:chExt cx="715723" cy="690635"/>
          </a:xfrm>
        </p:grpSpPr>
        <p:grpSp>
          <p:nvGrpSpPr>
            <p:cNvPr id="958" name="Google Shape;958;p79"/>
            <p:cNvGrpSpPr/>
            <p:nvPr/>
          </p:nvGrpSpPr>
          <p:grpSpPr>
            <a:xfrm>
              <a:off x="6752525" y="1346619"/>
              <a:ext cx="269400" cy="690635"/>
              <a:chOff x="7144750" y="3578813"/>
              <a:chExt cx="269400" cy="490891"/>
            </a:xfrm>
          </p:grpSpPr>
          <p:cxnSp>
            <p:nvCxnSpPr>
              <p:cNvPr id="959" name="Google Shape;959;p79"/>
              <p:cNvCxnSpPr/>
              <p:nvPr/>
            </p:nvCxnSpPr>
            <p:spPr>
              <a:xfrm>
                <a:off x="7144750" y="3578813"/>
                <a:ext cx="26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60" name="Google Shape;960;p79"/>
              <p:cNvCxnSpPr/>
              <p:nvPr/>
            </p:nvCxnSpPr>
            <p:spPr>
              <a:xfrm>
                <a:off x="7401925" y="3588504"/>
                <a:ext cx="9600" cy="48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61" name="Google Shape;961;p79"/>
            <p:cNvSpPr txBox="1"/>
            <p:nvPr/>
          </p:nvSpPr>
          <p:spPr>
            <a:xfrm>
              <a:off x="7068948" y="1436271"/>
              <a:ext cx="399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highlight>
                    <a:schemeClr val="lt1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2" name="Google Shape;962;p79"/>
          <p:cNvSpPr txBox="1"/>
          <p:nvPr/>
        </p:nvSpPr>
        <p:spPr>
          <a:xfrm>
            <a:off x="4409934" y="259932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9"/>
          <p:cNvSpPr txBox="1"/>
          <p:nvPr/>
        </p:nvSpPr>
        <p:spPr>
          <a:xfrm>
            <a:off x="5441462" y="259932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−3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 txBox="1"/>
          <p:nvPr/>
        </p:nvSpPr>
        <p:spPr>
          <a:xfrm>
            <a:off x="4409934" y="296908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9"/>
          <p:cNvSpPr txBox="1"/>
          <p:nvPr/>
        </p:nvSpPr>
        <p:spPr>
          <a:xfrm>
            <a:off x="5441462" y="2969089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−3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9"/>
          <p:cNvSpPr txBox="1"/>
          <p:nvPr/>
        </p:nvSpPr>
        <p:spPr>
          <a:xfrm>
            <a:off x="4409934" y="3318811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9"/>
          <p:cNvSpPr txBox="1"/>
          <p:nvPr/>
        </p:nvSpPr>
        <p:spPr>
          <a:xfrm>
            <a:off x="5441462" y="3318811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−3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9"/>
          <p:cNvSpPr txBox="1"/>
          <p:nvPr/>
        </p:nvSpPr>
        <p:spPr>
          <a:xfrm>
            <a:off x="4409934" y="367735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9"/>
          <p:cNvSpPr txBox="1"/>
          <p:nvPr/>
        </p:nvSpPr>
        <p:spPr>
          <a:xfrm>
            <a:off x="5441462" y="3677350"/>
            <a:ext cx="399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−3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79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10800000">
            <a:off x="4684105" y="4067832"/>
            <a:ext cx="625924" cy="270748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9"/>
          <p:cNvSpPr txBox="1"/>
          <p:nvPr/>
        </p:nvSpPr>
        <p:spPr>
          <a:xfrm>
            <a:off x="4741450" y="4298175"/>
            <a:ext cx="572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− 3</a:t>
            </a:r>
            <a:endParaRPr sz="19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524" y="1303226"/>
            <a:ext cx="3222965" cy="15593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7" name="Google Shape;97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978" name="Google Shape;978;p80"/>
          <p:cNvSpPr txBox="1"/>
          <p:nvPr/>
        </p:nvSpPr>
        <p:spPr>
          <a:xfrm>
            <a:off x="324000" y="815450"/>
            <a:ext cx="8496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change the slider to show non-integer gradients.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9" name="Google Shape;979;p80"/>
          <p:cNvSpPr txBox="1"/>
          <p:nvPr/>
        </p:nvSpPr>
        <p:spPr>
          <a:xfrm>
            <a:off x="831525" y="1467550"/>
            <a:ext cx="3073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Click on either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bounds of your slider.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80" name="Google Shape;980;p80"/>
          <p:cNvGrpSpPr/>
          <p:nvPr/>
        </p:nvGrpSpPr>
        <p:grpSpPr>
          <a:xfrm>
            <a:off x="3905325" y="1813750"/>
            <a:ext cx="4092955" cy="969323"/>
            <a:chOff x="3905325" y="1813750"/>
            <a:chExt cx="4092955" cy="969323"/>
          </a:xfrm>
        </p:grpSpPr>
        <p:sp>
          <p:nvSpPr>
            <p:cNvPr id="981" name="Google Shape;981;p80"/>
            <p:cNvSpPr/>
            <p:nvPr/>
          </p:nvSpPr>
          <p:spPr>
            <a:xfrm>
              <a:off x="7672480" y="2449473"/>
              <a:ext cx="325800" cy="333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82" name="Google Shape;982;p80"/>
            <p:cNvGrpSpPr/>
            <p:nvPr/>
          </p:nvGrpSpPr>
          <p:grpSpPr>
            <a:xfrm>
              <a:off x="3905325" y="1813750"/>
              <a:ext cx="3814800" cy="969323"/>
              <a:chOff x="3905325" y="1813750"/>
              <a:chExt cx="3814800" cy="969323"/>
            </a:xfrm>
          </p:grpSpPr>
          <p:sp>
            <p:nvSpPr>
              <p:cNvPr id="983" name="Google Shape;983;p80"/>
              <p:cNvSpPr/>
              <p:nvPr/>
            </p:nvSpPr>
            <p:spPr>
              <a:xfrm>
                <a:off x="5322259" y="2449473"/>
                <a:ext cx="325800" cy="3336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84" name="Google Shape;984;p80"/>
              <p:cNvCxnSpPr>
                <a:stCxn id="979" idx="3"/>
                <a:endCxn id="983" idx="1"/>
              </p:cNvCxnSpPr>
              <p:nvPr/>
            </p:nvCxnSpPr>
            <p:spPr>
              <a:xfrm>
                <a:off x="3905325" y="1813750"/>
                <a:ext cx="1464600" cy="68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80"/>
              <p:cNvCxnSpPr>
                <a:stCxn id="979" idx="3"/>
                <a:endCxn id="981" idx="1"/>
              </p:cNvCxnSpPr>
              <p:nvPr/>
            </p:nvCxnSpPr>
            <p:spPr>
              <a:xfrm>
                <a:off x="3905325" y="1813750"/>
                <a:ext cx="3814800" cy="68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86" name="Google Shape;986;p80"/>
          <p:cNvSpPr txBox="1"/>
          <p:nvPr/>
        </p:nvSpPr>
        <p:spPr>
          <a:xfrm>
            <a:off x="3905400" y="3296350"/>
            <a:ext cx="43191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Change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step to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i="1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4362600" y="4210750"/>
            <a:ext cx="1869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Hit ‘play’.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8" name="Google Shape;9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43" y="2874018"/>
            <a:ext cx="3155840" cy="969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89" name="Google Shape;989;p80"/>
          <p:cNvGrpSpPr/>
          <p:nvPr/>
        </p:nvGrpSpPr>
        <p:grpSpPr>
          <a:xfrm>
            <a:off x="2829881" y="3386336"/>
            <a:ext cx="1075519" cy="333600"/>
            <a:chOff x="1686881" y="1481336"/>
            <a:chExt cx="1075519" cy="333600"/>
          </a:xfrm>
        </p:grpSpPr>
        <p:sp>
          <p:nvSpPr>
            <p:cNvPr id="990" name="Google Shape;990;p80"/>
            <p:cNvSpPr/>
            <p:nvPr/>
          </p:nvSpPr>
          <p:spPr>
            <a:xfrm>
              <a:off x="1686881" y="1481336"/>
              <a:ext cx="422400" cy="333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80"/>
            <p:cNvCxnSpPr>
              <a:stCxn id="986" idx="1"/>
              <a:endCxn id="990" idx="6"/>
            </p:cNvCxnSpPr>
            <p:nvPr/>
          </p:nvCxnSpPr>
          <p:spPr>
            <a:xfrm flipH="1">
              <a:off x="2109300" y="1607650"/>
              <a:ext cx="653100" cy="40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131" y="1102651"/>
            <a:ext cx="4492795" cy="24591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7" name="Google Shape;99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998" name="Google Shape;998;p81"/>
          <p:cNvSpPr txBox="1"/>
          <p:nvPr/>
        </p:nvSpPr>
        <p:spPr>
          <a:xfrm>
            <a:off x="324000" y="1231025"/>
            <a:ext cx="13068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81"/>
          <p:cNvSpPr txBox="1"/>
          <p:nvPr/>
        </p:nvSpPr>
        <p:spPr>
          <a:xfrm>
            <a:off x="324000" y="801800"/>
            <a:ext cx="5843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now see these lines.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1"/>
          <p:cNvSpPr txBox="1"/>
          <p:nvPr/>
        </p:nvSpPr>
        <p:spPr>
          <a:xfrm>
            <a:off x="3809325" y="3759950"/>
            <a:ext cx="4998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 top right click ‘Graph settings’ and turn back on the ‘minor gridlines’.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1" name="Google Shape;1001;p81"/>
          <p:cNvSpPr txBox="1"/>
          <p:nvPr/>
        </p:nvSpPr>
        <p:spPr>
          <a:xfrm>
            <a:off x="2000400" y="1231025"/>
            <a:ext cx="13068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−0.5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−1.5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2" name="Google Shape;100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341" y="3561845"/>
            <a:ext cx="2193001" cy="117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03" name="Google Shape;1003;p81"/>
          <p:cNvGrpSpPr/>
          <p:nvPr/>
        </p:nvGrpSpPr>
        <p:grpSpPr>
          <a:xfrm>
            <a:off x="2015724" y="3527495"/>
            <a:ext cx="1793601" cy="1205491"/>
            <a:chOff x="2015724" y="3527495"/>
            <a:chExt cx="1793601" cy="1205491"/>
          </a:xfrm>
        </p:grpSpPr>
        <p:grpSp>
          <p:nvGrpSpPr>
            <p:cNvPr id="1004" name="Google Shape;1004;p81"/>
            <p:cNvGrpSpPr/>
            <p:nvPr/>
          </p:nvGrpSpPr>
          <p:grpSpPr>
            <a:xfrm>
              <a:off x="3203646" y="3527495"/>
              <a:ext cx="605679" cy="567105"/>
              <a:chOff x="2441646" y="1012895"/>
              <a:chExt cx="605679" cy="567105"/>
            </a:xfrm>
          </p:grpSpPr>
          <p:sp>
            <p:nvSpPr>
              <p:cNvPr id="1005" name="Google Shape;1005;p81"/>
              <p:cNvSpPr/>
              <p:nvPr/>
            </p:nvSpPr>
            <p:spPr>
              <a:xfrm>
                <a:off x="2441646" y="1012895"/>
                <a:ext cx="342300" cy="3336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06" name="Google Shape;1006;p81"/>
              <p:cNvCxnSpPr>
                <a:stCxn id="1000" idx="1"/>
                <a:endCxn id="1005" idx="5"/>
              </p:cNvCxnSpPr>
              <p:nvPr/>
            </p:nvCxnSpPr>
            <p:spPr>
              <a:xfrm rot="10800000">
                <a:off x="2733825" y="1297700"/>
                <a:ext cx="313500" cy="282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07" name="Google Shape;1007;p81"/>
            <p:cNvGrpSpPr/>
            <p:nvPr/>
          </p:nvGrpSpPr>
          <p:grpSpPr>
            <a:xfrm>
              <a:off x="2015724" y="4094600"/>
              <a:ext cx="1793601" cy="638386"/>
              <a:chOff x="2441646" y="708109"/>
              <a:chExt cx="1793601" cy="638386"/>
            </a:xfrm>
          </p:grpSpPr>
          <p:sp>
            <p:nvSpPr>
              <p:cNvPr id="1008" name="Google Shape;1008;p81"/>
              <p:cNvSpPr/>
              <p:nvPr/>
            </p:nvSpPr>
            <p:spPr>
              <a:xfrm>
                <a:off x="2441646" y="1012895"/>
                <a:ext cx="342300" cy="3336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09" name="Google Shape;1009;p81"/>
              <p:cNvCxnSpPr>
                <a:stCxn id="1000" idx="1"/>
                <a:endCxn id="1008" idx="6"/>
              </p:cNvCxnSpPr>
              <p:nvPr/>
            </p:nvCxnSpPr>
            <p:spPr>
              <a:xfrm flipH="1">
                <a:off x="2783846" y="708109"/>
                <a:ext cx="1451400" cy="47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1010" name="Google Shape;101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4580" y="1087700"/>
            <a:ext cx="4461005" cy="24591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 is true of</a:t>
            </a:r>
            <a:r>
              <a:rPr lang="en-GB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−0.5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 sz="2000"/>
              <a:t>?</a:t>
            </a:r>
            <a:endParaRPr/>
          </a:p>
        </p:txBody>
      </p:sp>
      <p:sp>
        <p:nvSpPr>
          <p:cNvPr id="1016" name="Google Shape;1016;p8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1017" name="Google Shape;1017;p82"/>
          <p:cNvSpPr txBox="1"/>
          <p:nvPr>
            <p:ph idx="1" type="subTitle"/>
          </p:nvPr>
        </p:nvSpPr>
        <p:spPr>
          <a:xfrm>
            <a:off x="1034425" y="16853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of </a:t>
            </a:r>
            <a:r>
              <a:rPr lang="en-GB"/>
              <a:t>−0.5</a:t>
            </a:r>
            <a:endParaRPr/>
          </a:p>
        </p:txBody>
      </p:sp>
      <p:sp>
        <p:nvSpPr>
          <p:cNvPr id="1018" name="Google Shape;1018;p82"/>
          <p:cNvSpPr txBox="1"/>
          <p:nvPr>
            <p:ph idx="3" type="subTitle"/>
          </p:nvPr>
        </p:nvSpPr>
        <p:spPr>
          <a:xfrm>
            <a:off x="1034425" y="2489450"/>
            <a:ext cx="2999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oes through </a:t>
            </a:r>
            <a:r>
              <a:rPr lang="en-GB"/>
              <a:t>(0, </a:t>
            </a:r>
            <a:r>
              <a:rPr lang="en-GB"/>
              <a:t>−0.5)</a:t>
            </a:r>
            <a:endParaRPr/>
          </a:p>
        </p:txBody>
      </p:sp>
      <p:sp>
        <p:nvSpPr>
          <p:cNvPr id="1019" name="Google Shape;1019;p82"/>
          <p:cNvSpPr txBox="1"/>
          <p:nvPr>
            <p:ph idx="4" type="subTitle"/>
          </p:nvPr>
        </p:nvSpPr>
        <p:spPr>
          <a:xfrm>
            <a:off x="1034425" y="3309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at the origin</a:t>
            </a:r>
            <a:endParaRPr/>
          </a:p>
        </p:txBody>
      </p:sp>
      <p:sp>
        <p:nvSpPr>
          <p:cNvPr id="1020" name="Google Shape;1020;p8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hange of −0.5 in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for every change of +1 in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600"/>
          </a:p>
        </p:txBody>
      </p:sp>
      <p:pic>
        <p:nvPicPr>
          <p:cNvPr id="1021" name="Google Shape;102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99541"/>
            <a:ext cx="4248003" cy="234177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22" name="Google Shape;1022;p82"/>
          <p:cNvGrpSpPr/>
          <p:nvPr/>
        </p:nvGrpSpPr>
        <p:grpSpPr>
          <a:xfrm>
            <a:off x="6555472" y="2101910"/>
            <a:ext cx="1061215" cy="314708"/>
            <a:chOff x="6752525" y="921242"/>
            <a:chExt cx="700888" cy="1148150"/>
          </a:xfrm>
        </p:grpSpPr>
        <p:grpSp>
          <p:nvGrpSpPr>
            <p:cNvPr id="1023" name="Google Shape;1023;p82"/>
            <p:cNvGrpSpPr/>
            <p:nvPr/>
          </p:nvGrpSpPr>
          <p:grpSpPr>
            <a:xfrm>
              <a:off x="6752525" y="1339211"/>
              <a:ext cx="269400" cy="730181"/>
              <a:chOff x="7144750" y="3573546"/>
              <a:chExt cx="269400" cy="519000"/>
            </a:xfrm>
          </p:grpSpPr>
          <p:cxnSp>
            <p:nvCxnSpPr>
              <p:cNvPr id="1024" name="Google Shape;1024;p82"/>
              <p:cNvCxnSpPr/>
              <p:nvPr/>
            </p:nvCxnSpPr>
            <p:spPr>
              <a:xfrm>
                <a:off x="7144750" y="3578813"/>
                <a:ext cx="26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25" name="Google Shape;1025;p82"/>
              <p:cNvCxnSpPr/>
              <p:nvPr/>
            </p:nvCxnSpPr>
            <p:spPr>
              <a:xfrm>
                <a:off x="7404329" y="3573546"/>
                <a:ext cx="0" cy="519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26" name="Google Shape;1026;p82"/>
            <p:cNvSpPr txBox="1"/>
            <p:nvPr/>
          </p:nvSpPr>
          <p:spPr>
            <a:xfrm>
              <a:off x="7054113" y="921242"/>
              <a:ext cx="399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highlight>
                    <a:schemeClr val="lt1"/>
                  </a:highlight>
                  <a:latin typeface="Lexend"/>
                  <a:ea typeface="Lexend"/>
                  <a:cs typeface="Lexend"/>
                  <a:sym typeface="Lexend"/>
                </a:rPr>
                <a:t>−0.5</a:t>
              </a:r>
              <a:endParaRPr sz="20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7" name="Google Shape;102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5983" y="166705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8738" y="249369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0383" y="341965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892" y="411427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3"/>
          <p:cNvSpPr txBox="1"/>
          <p:nvPr>
            <p:ph idx="1" type="body"/>
          </p:nvPr>
        </p:nvSpPr>
        <p:spPr>
          <a:xfrm>
            <a:off x="324000" y="1216500"/>
            <a:ext cx="8237700" cy="6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You are the teacher.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Plot the line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, add a table, turn the coordinates into crosses, and explain to the Oak pupils the link between the algebra, the table, and the graph.</a:t>
            </a:r>
            <a:endParaRPr sz="2000"/>
          </a:p>
        </p:txBody>
      </p:sp>
      <p:sp>
        <p:nvSpPr>
          <p:cNvPr id="1036" name="Google Shape;1036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id="1037" name="Google Shape;103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606" y="3008756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700" y="2865279"/>
            <a:ext cx="528225" cy="1949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5999" y="3350671"/>
            <a:ext cx="1340875" cy="1472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0447" y="2891083"/>
            <a:ext cx="707421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8400" y="2997620"/>
            <a:ext cx="707426" cy="18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61194" y="2892394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2215" y="2879216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38271" y="2863767"/>
            <a:ext cx="466898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9015" y="2863764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1031826" y="2971017"/>
            <a:ext cx="503125" cy="1839936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83"/>
          <p:cNvSpPr txBox="1"/>
          <p:nvPr/>
        </p:nvSpPr>
        <p:spPr>
          <a:xfrm>
            <a:off x="324000" y="810000"/>
            <a:ext cx="7681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software should be used to complete this task.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4"/>
          <p:cNvSpPr txBox="1"/>
          <p:nvPr>
            <p:ph idx="1" type="body"/>
          </p:nvPr>
        </p:nvSpPr>
        <p:spPr>
          <a:xfrm>
            <a:off x="324000" y="759300"/>
            <a:ext cx="82377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Plot th</a:t>
            </a:r>
            <a:r>
              <a:rPr lang="en-GB"/>
              <a:t>e lines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endParaRPr/>
          </a:p>
        </p:txBody>
      </p:sp>
      <p:sp>
        <p:nvSpPr>
          <p:cNvPr id="1053" name="Google Shape;105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id="1054" name="Google Shape;1054;p84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93" y="605875"/>
            <a:ext cx="1003875" cy="6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4"/>
          <p:cNvSpPr txBox="1"/>
          <p:nvPr>
            <p:ph idx="1" type="body"/>
          </p:nvPr>
        </p:nvSpPr>
        <p:spPr>
          <a:xfrm>
            <a:off x="324000" y="1357670"/>
            <a:ext cx="3227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Compare</a:t>
            </a:r>
            <a:r>
              <a:rPr lang="en-GB"/>
              <a:t> the two lines.</a:t>
            </a:r>
            <a:endParaRPr/>
          </a:p>
        </p:txBody>
      </p:sp>
      <p:sp>
        <p:nvSpPr>
          <p:cNvPr id="1056" name="Google Shape;1056;p84"/>
          <p:cNvSpPr txBox="1"/>
          <p:nvPr>
            <p:ph idx="1" type="body"/>
          </p:nvPr>
        </p:nvSpPr>
        <p:spPr>
          <a:xfrm>
            <a:off x="324000" y="2142125"/>
            <a:ext cx="4698300" cy="6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Plot the coordinates (2.4, 3) and (1.4, 1.75) and draw the straight line that goes through both and the origin.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this line?</a:t>
            </a:r>
            <a:endParaRPr/>
          </a:p>
        </p:txBody>
      </p:sp>
      <p:grpSp>
        <p:nvGrpSpPr>
          <p:cNvPr id="1057" name="Google Shape;1057;p84"/>
          <p:cNvGrpSpPr/>
          <p:nvPr/>
        </p:nvGrpSpPr>
        <p:grpSpPr>
          <a:xfrm>
            <a:off x="5179891" y="2192737"/>
            <a:ext cx="3639796" cy="2115926"/>
            <a:chOff x="3732291" y="1518200"/>
            <a:chExt cx="5072886" cy="3487598"/>
          </a:xfrm>
        </p:grpSpPr>
        <p:pic>
          <p:nvPicPr>
            <p:cNvPr id="1058" name="Google Shape;1058;p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32291" y="1518200"/>
              <a:ext cx="5072886" cy="348759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59" name="Google Shape;1059;p84"/>
            <p:cNvSpPr/>
            <p:nvPr/>
          </p:nvSpPr>
          <p:spPr>
            <a:xfrm>
              <a:off x="3747600" y="2689299"/>
              <a:ext cx="965700" cy="62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5"/>
          <p:cNvSpPr txBox="1"/>
          <p:nvPr>
            <p:ph idx="1" type="body"/>
          </p:nvPr>
        </p:nvSpPr>
        <p:spPr>
          <a:xfrm>
            <a:off x="324000" y="759300"/>
            <a:ext cx="30456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) Draw the lines that recreate this pattern.</a:t>
            </a:r>
            <a:endParaRPr/>
          </a:p>
        </p:txBody>
      </p:sp>
      <p:sp>
        <p:nvSpPr>
          <p:cNvPr id="1065" name="Google Shape;106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id="1066" name="Google Shape;10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950" y="810000"/>
            <a:ext cx="4012800" cy="401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6"/>
          <p:cNvSpPr txBox="1"/>
          <p:nvPr>
            <p:ph idx="1" type="body"/>
          </p:nvPr>
        </p:nvSpPr>
        <p:spPr>
          <a:xfrm>
            <a:off x="324000" y="759300"/>
            <a:ext cx="4236300" cy="12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You are the teacher.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Plot the line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and</a:t>
            </a:r>
            <a:r>
              <a:rPr lang="en-GB" sz="1800"/>
              <a:t> explain to our Oak pupils the link between the algebra, the table, and the graph.</a:t>
            </a:r>
            <a:endParaRPr sz="1800"/>
          </a:p>
        </p:txBody>
      </p:sp>
      <p:sp>
        <p:nvSpPr>
          <p:cNvPr id="1072" name="Google Shape;107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1073" name="Google Shape;1073;p86"/>
          <p:cNvSpPr txBox="1"/>
          <p:nvPr/>
        </p:nvSpPr>
        <p:spPr>
          <a:xfrm>
            <a:off x="335224" y="2359497"/>
            <a:ext cx="4080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algebra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tells us that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times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coordinate; the table and coordinates reflect that.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86"/>
          <p:cNvSpPr txBox="1"/>
          <p:nvPr/>
        </p:nvSpPr>
        <p:spPr>
          <a:xfrm>
            <a:off x="335225" y="2045886"/>
            <a:ext cx="4080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86"/>
          <p:cNvSpPr txBox="1"/>
          <p:nvPr/>
        </p:nvSpPr>
        <p:spPr>
          <a:xfrm>
            <a:off x="411430" y="4919011"/>
            <a:ext cx="3328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76" name="Google Shape;1076;p86"/>
          <p:cNvGrpSpPr/>
          <p:nvPr/>
        </p:nvGrpSpPr>
        <p:grpSpPr>
          <a:xfrm>
            <a:off x="4572000" y="851400"/>
            <a:ext cx="4236201" cy="2916529"/>
            <a:chOff x="4572000" y="851400"/>
            <a:chExt cx="4236201" cy="2916529"/>
          </a:xfrm>
        </p:grpSpPr>
        <p:pic>
          <p:nvPicPr>
            <p:cNvPr id="1077" name="Google Shape;1077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2000" y="851400"/>
              <a:ext cx="4236201" cy="291652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78" name="Google Shape;1078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2550" y="1368900"/>
              <a:ext cx="934825" cy="1712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9" name="Google Shape;1079;p86"/>
          <p:cNvSpPr txBox="1"/>
          <p:nvPr/>
        </p:nvSpPr>
        <p:spPr>
          <a:xfrm>
            <a:off x="335225" y="3818520"/>
            <a:ext cx="8472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represents the gradient. For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we see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 the graph and a change of +3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+1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change 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the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7"/>
          <p:cNvSpPr txBox="1"/>
          <p:nvPr>
            <p:ph idx="1" type="body"/>
          </p:nvPr>
        </p:nvSpPr>
        <p:spPr>
          <a:xfrm>
            <a:off x="324000" y="759300"/>
            <a:ext cx="3158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Plot the lines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endParaRPr/>
          </a:p>
        </p:txBody>
      </p:sp>
      <p:sp>
        <p:nvSpPr>
          <p:cNvPr id="1085" name="Google Shape;108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id="1086" name="Google Shape;1086;p87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654" y="1096766"/>
            <a:ext cx="1003875" cy="6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87"/>
          <p:cNvSpPr txBox="1"/>
          <p:nvPr>
            <p:ph idx="1" type="body"/>
          </p:nvPr>
        </p:nvSpPr>
        <p:spPr>
          <a:xfrm>
            <a:off x="324000" y="1891070"/>
            <a:ext cx="3227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Compare the two lines.</a:t>
            </a:r>
            <a:endParaRPr/>
          </a:p>
        </p:txBody>
      </p:sp>
      <p:sp>
        <p:nvSpPr>
          <p:cNvPr id="1088" name="Google Shape;1088;p87"/>
          <p:cNvSpPr txBox="1"/>
          <p:nvPr/>
        </p:nvSpPr>
        <p:spPr>
          <a:xfrm>
            <a:off x="324000" y="2729250"/>
            <a:ext cx="3045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-intercept of (0,0)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9" name="Google Shape;1089;p87"/>
          <p:cNvSpPr txBox="1"/>
          <p:nvPr/>
        </p:nvSpPr>
        <p:spPr>
          <a:xfrm>
            <a:off x="324000" y="3959700"/>
            <a:ext cx="3227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Respective 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radients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87"/>
          <p:cNvSpPr txBox="1"/>
          <p:nvPr/>
        </p:nvSpPr>
        <p:spPr>
          <a:xfrm>
            <a:off x="324000" y="2305761"/>
            <a:ext cx="368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91" name="Google Shape;1091;p87"/>
          <p:cNvGrpSpPr/>
          <p:nvPr/>
        </p:nvGrpSpPr>
        <p:grpSpPr>
          <a:xfrm>
            <a:off x="3709584" y="809999"/>
            <a:ext cx="5101768" cy="3487526"/>
            <a:chOff x="3709584" y="809999"/>
            <a:chExt cx="5101768" cy="3487526"/>
          </a:xfrm>
        </p:grpSpPr>
        <p:pic>
          <p:nvPicPr>
            <p:cNvPr id="1092" name="Google Shape;1092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09584" y="809999"/>
              <a:ext cx="5101768" cy="348752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93" name="Google Shape;1093;p87"/>
            <p:cNvSpPr/>
            <p:nvPr/>
          </p:nvSpPr>
          <p:spPr>
            <a:xfrm>
              <a:off x="3987425" y="1120379"/>
              <a:ext cx="965700" cy="265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4" name="Google Shape;1094;p87"/>
          <p:cNvSpPr txBox="1"/>
          <p:nvPr/>
        </p:nvSpPr>
        <p:spPr>
          <a:xfrm>
            <a:off x="324000" y="3197700"/>
            <a:ext cx="3227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has a positive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gradient, one a negative gradient.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095" name="Google Shape;1095;p87" title="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023" y="4332763"/>
            <a:ext cx="147264" cy="4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8"/>
          <p:cNvSpPr txBox="1"/>
          <p:nvPr>
            <p:ph idx="1" type="body"/>
          </p:nvPr>
        </p:nvSpPr>
        <p:spPr>
          <a:xfrm>
            <a:off x="324000" y="759300"/>
            <a:ext cx="38895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</a:t>
            </a:r>
            <a:r>
              <a:rPr lang="en-GB" sz="1800"/>
              <a:t> Plot the coordinates </a:t>
            </a:r>
            <a:r>
              <a:rPr lang="en-GB" sz="1800"/>
              <a:t>(2.4, 3)</a:t>
            </a:r>
            <a:r>
              <a:rPr lang="en-GB" sz="1800"/>
              <a:t> and </a:t>
            </a:r>
            <a:r>
              <a:rPr lang="en-GB" sz="1800"/>
              <a:t>(1.4, 1.75)</a:t>
            </a:r>
            <a:r>
              <a:rPr lang="en-GB" sz="1800"/>
              <a:t> and draw the straight line that goes through both and the origin. What is this line?</a:t>
            </a:r>
            <a:endParaRPr sz="1800"/>
          </a:p>
        </p:txBody>
      </p:sp>
      <p:sp>
        <p:nvSpPr>
          <p:cNvPr id="1101" name="Google Shape;1101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grpSp>
        <p:nvGrpSpPr>
          <p:cNvPr id="1102" name="Google Shape;1102;p88"/>
          <p:cNvGrpSpPr/>
          <p:nvPr/>
        </p:nvGrpSpPr>
        <p:grpSpPr>
          <a:xfrm>
            <a:off x="4572063" y="832342"/>
            <a:ext cx="4244484" cy="2877966"/>
            <a:chOff x="3732291" y="1518200"/>
            <a:chExt cx="5072886" cy="3487598"/>
          </a:xfrm>
        </p:grpSpPr>
        <p:pic>
          <p:nvPicPr>
            <p:cNvPr id="1103" name="Google Shape;1103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32291" y="1518200"/>
              <a:ext cx="5072886" cy="348759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04" name="Google Shape;1104;p88"/>
            <p:cNvSpPr/>
            <p:nvPr/>
          </p:nvSpPr>
          <p:spPr>
            <a:xfrm>
              <a:off x="3747600" y="2689299"/>
              <a:ext cx="965700" cy="62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5" name="Google Shape;1105;p88"/>
          <p:cNvSpPr txBox="1"/>
          <p:nvPr/>
        </p:nvSpPr>
        <p:spPr>
          <a:xfrm>
            <a:off x="335225" y="2249609"/>
            <a:ext cx="39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Between the coordinates you see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 change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+1.25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change 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telling us there is a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gradient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+1.25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8"/>
          <p:cNvSpPr txBox="1"/>
          <p:nvPr/>
        </p:nvSpPr>
        <p:spPr>
          <a:xfrm>
            <a:off x="335225" y="3773600"/>
            <a:ext cx="7797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Lines in the form of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go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through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origin.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8"/>
          <p:cNvSpPr txBox="1"/>
          <p:nvPr/>
        </p:nvSpPr>
        <p:spPr>
          <a:xfrm>
            <a:off x="335225" y="4230800"/>
            <a:ext cx="7797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 a gradient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+1.25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this must therefore be the line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9"/>
          <p:cNvSpPr txBox="1"/>
          <p:nvPr>
            <p:ph idx="1" type="body"/>
          </p:nvPr>
        </p:nvSpPr>
        <p:spPr>
          <a:xfrm>
            <a:off x="324000" y="759300"/>
            <a:ext cx="2070300" cy="7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Draw the lines that recreate this pattern.</a:t>
            </a:r>
            <a:endParaRPr sz="1800"/>
          </a:p>
        </p:txBody>
      </p:sp>
      <p:sp>
        <p:nvSpPr>
          <p:cNvPr id="1113" name="Google Shape;1113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pic>
        <p:nvPicPr>
          <p:cNvPr id="1114" name="Google Shape;11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950" y="810000"/>
            <a:ext cx="4012800" cy="401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5" name="Google Shape;111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041" y="815501"/>
            <a:ext cx="1631960" cy="401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gradient</a:t>
            </a:r>
            <a:endParaRPr/>
          </a:p>
        </p:txBody>
      </p:sp>
      <p:sp>
        <p:nvSpPr>
          <p:cNvPr id="1121" name="Google Shape;1121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122" name="Google Shape;1122;p90"/>
          <p:cNvSpPr txBox="1"/>
          <p:nvPr>
            <p:ph idx="3" type="title"/>
          </p:nvPr>
        </p:nvSpPr>
        <p:spPr>
          <a:xfrm>
            <a:off x="324000" y="657600"/>
            <a:ext cx="6899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dynamic software to explore linear relationships</a:t>
            </a:r>
            <a:endParaRPr/>
          </a:p>
        </p:txBody>
      </p:sp>
      <p:pic>
        <p:nvPicPr>
          <p:cNvPr id="1123" name="Google Shape;11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2" y="299037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91"/>
          <p:cNvSpPr txBox="1"/>
          <p:nvPr>
            <p:ph idx="1" type="body"/>
          </p:nvPr>
        </p:nvSpPr>
        <p:spPr>
          <a:xfrm>
            <a:off x="324000" y="759300"/>
            <a:ext cx="30456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Every line we have seen so far has gone through the origin </a:t>
            </a:r>
            <a:r>
              <a:rPr lang="en-GB" sz="2000"/>
              <a:t>(0, 0)</a:t>
            </a:r>
            <a:r>
              <a:rPr lang="en-GB" sz="2000"/>
              <a:t>, for example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129" name="Google Shape;112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130" name="Google Shape;1130;p91"/>
          <p:cNvSpPr txBox="1"/>
          <p:nvPr/>
        </p:nvSpPr>
        <p:spPr>
          <a:xfrm>
            <a:off x="400200" y="3115975"/>
            <a:ext cx="1306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31" name="Google Shape;1131;p91"/>
          <p:cNvGrpSpPr/>
          <p:nvPr/>
        </p:nvGrpSpPr>
        <p:grpSpPr>
          <a:xfrm>
            <a:off x="4082187" y="1080000"/>
            <a:ext cx="4724439" cy="3236525"/>
            <a:chOff x="4082187" y="1080000"/>
            <a:chExt cx="4724439" cy="3236525"/>
          </a:xfrm>
        </p:grpSpPr>
        <p:pic>
          <p:nvPicPr>
            <p:cNvPr id="1132" name="Google Shape;113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82187" y="1080000"/>
              <a:ext cx="4724439" cy="32365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33" name="Google Shape;1133;p91"/>
            <p:cNvSpPr/>
            <p:nvPr/>
          </p:nvSpPr>
          <p:spPr>
            <a:xfrm>
              <a:off x="4105195" y="1650325"/>
              <a:ext cx="1164000" cy="518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4" name="Google Shape;1134;p91"/>
          <p:cNvSpPr txBox="1"/>
          <p:nvPr>
            <p:ph idx="1" type="body"/>
          </p:nvPr>
        </p:nvSpPr>
        <p:spPr>
          <a:xfrm>
            <a:off x="335225" y="2335489"/>
            <a:ext cx="36651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Add these</a:t>
            </a:r>
            <a:r>
              <a:rPr lang="en-GB" sz="2000"/>
              <a:t> lines to this graph. What do you notice?</a:t>
            </a:r>
            <a:endParaRPr sz="2000"/>
          </a:p>
        </p:txBody>
      </p:sp>
      <p:grpSp>
        <p:nvGrpSpPr>
          <p:cNvPr id="1135" name="Google Shape;1135;p91"/>
          <p:cNvGrpSpPr/>
          <p:nvPr/>
        </p:nvGrpSpPr>
        <p:grpSpPr>
          <a:xfrm>
            <a:off x="4081377" y="1068459"/>
            <a:ext cx="4724449" cy="3248066"/>
            <a:chOff x="4081377" y="1068459"/>
            <a:chExt cx="4724449" cy="3248066"/>
          </a:xfrm>
        </p:grpSpPr>
        <p:pic>
          <p:nvPicPr>
            <p:cNvPr id="1136" name="Google Shape;1136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81377" y="1068459"/>
              <a:ext cx="4724449" cy="324806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37" name="Google Shape;1137;p91"/>
            <p:cNvSpPr/>
            <p:nvPr/>
          </p:nvSpPr>
          <p:spPr>
            <a:xfrm>
              <a:off x="4082734" y="2486113"/>
              <a:ext cx="1164000" cy="518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8" name="Google Shape;1138;p91"/>
          <p:cNvSpPr txBox="1"/>
          <p:nvPr/>
        </p:nvSpPr>
        <p:spPr>
          <a:xfrm>
            <a:off x="335225" y="4383200"/>
            <a:ext cx="6450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gradient (parallel), different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92"/>
          <p:cNvSpPr txBox="1"/>
          <p:nvPr>
            <p:ph idx="1" type="body"/>
          </p:nvPr>
        </p:nvSpPr>
        <p:spPr>
          <a:xfrm>
            <a:off x="324000" y="710925"/>
            <a:ext cx="85716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a slider and a coordinate to study what happens when we change </a:t>
            </a:r>
            <a:r>
              <a:rPr lang="en-GB" sz="2000"/>
              <a:t>the</a:t>
            </a:r>
            <a:r>
              <a:rPr lang="en-GB" sz="2000"/>
              <a:t> </a:t>
            </a:r>
            <a:r>
              <a:rPr lang="en-GB" sz="2000"/>
              <a:t>value</a:t>
            </a:r>
            <a:r>
              <a:rPr lang="en-GB" sz="2000"/>
              <a:t>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44" name="Google Shape;114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pic>
        <p:nvPicPr>
          <p:cNvPr id="1145" name="Google Shape;114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448" y="1592250"/>
            <a:ext cx="7477878" cy="32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439" y="1080000"/>
            <a:ext cx="4696837" cy="32382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1" name="Google Shape;1151;p93"/>
          <p:cNvSpPr txBox="1"/>
          <p:nvPr>
            <p:ph idx="1" type="body"/>
          </p:nvPr>
        </p:nvSpPr>
        <p:spPr>
          <a:xfrm>
            <a:off x="324000" y="759300"/>
            <a:ext cx="366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now see this.</a:t>
            </a:r>
            <a:endParaRPr sz="2000"/>
          </a:p>
        </p:txBody>
      </p:sp>
      <p:sp>
        <p:nvSpPr>
          <p:cNvPr id="1152" name="Google Shape;115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graphicFrame>
        <p:nvGraphicFramePr>
          <p:cNvPr id="1153" name="Google Shape;1153;p93"/>
          <p:cNvGraphicFramePr/>
          <p:nvPr/>
        </p:nvGraphicFramePr>
        <p:xfrm>
          <a:off x="647700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72825"/>
                <a:gridCol w="147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intercept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(0, 3)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(0, 2)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(0, 1)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(0, 0)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−2)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4" name="Google Shape;1154;p93"/>
          <p:cNvSpPr txBox="1"/>
          <p:nvPr>
            <p:ph idx="1" type="body"/>
          </p:nvPr>
        </p:nvSpPr>
        <p:spPr>
          <a:xfrm>
            <a:off x="4134000" y="4493100"/>
            <a:ext cx="366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determines 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-intercept.</a:t>
            </a:r>
            <a:endParaRPr sz="2000"/>
          </a:p>
        </p:txBody>
      </p:sp>
      <p:graphicFrame>
        <p:nvGraphicFramePr>
          <p:cNvPr id="1155" name="Google Shape;1155;p93"/>
          <p:cNvGraphicFramePr/>
          <p:nvPr/>
        </p:nvGraphicFramePr>
        <p:xfrm>
          <a:off x="647700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72825"/>
                <a:gridCol w="147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(0, 3)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(0, 2)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(0, 1)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(0, 0)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−1)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−2)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655" y="1078375"/>
            <a:ext cx="4218721" cy="29230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1" name="Google Shape;1161;p94"/>
          <p:cNvSpPr txBox="1"/>
          <p:nvPr>
            <p:ph idx="1" type="body"/>
          </p:nvPr>
        </p:nvSpPr>
        <p:spPr>
          <a:xfrm>
            <a:off x="324000" y="759300"/>
            <a:ext cx="366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Set your desmos up to plot the line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162" name="Google Shape;11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pic>
        <p:nvPicPr>
          <p:cNvPr id="1163" name="Google Shape;116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554" y="1351109"/>
            <a:ext cx="2285700" cy="1770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4" name="Google Shape;1164;p94"/>
          <p:cNvSpPr txBox="1"/>
          <p:nvPr>
            <p:ph idx="1" type="body"/>
          </p:nvPr>
        </p:nvSpPr>
        <p:spPr>
          <a:xfrm>
            <a:off x="324000" y="1597500"/>
            <a:ext cx="2789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should be set up as a slider with steps of 1</a:t>
            </a:r>
            <a:endParaRPr sz="2000"/>
          </a:p>
        </p:txBody>
      </p:sp>
      <p:sp>
        <p:nvSpPr>
          <p:cNvPr id="1165" name="Google Shape;1165;p94"/>
          <p:cNvSpPr txBox="1"/>
          <p:nvPr>
            <p:ph idx="1" type="body"/>
          </p:nvPr>
        </p:nvSpPr>
        <p:spPr>
          <a:xfrm>
            <a:off x="324000" y="2509498"/>
            <a:ext cx="2962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Hit ‘</a:t>
            </a:r>
            <a:r>
              <a:rPr lang="en-GB" sz="2000">
                <a:solidFill>
                  <a:schemeClr val="accent5"/>
                </a:solidFill>
              </a:rPr>
              <a:t>play</a:t>
            </a:r>
            <a:r>
              <a:rPr lang="en-GB" sz="2000"/>
              <a:t>’.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notice?</a:t>
            </a:r>
            <a:endParaRPr sz="2000"/>
          </a:p>
        </p:txBody>
      </p:sp>
      <p:sp>
        <p:nvSpPr>
          <p:cNvPr id="1166" name="Google Shape;1166;p94"/>
          <p:cNvSpPr txBox="1"/>
          <p:nvPr/>
        </p:nvSpPr>
        <p:spPr>
          <a:xfrm>
            <a:off x="335225" y="3316400"/>
            <a:ext cx="8484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had the same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(parallel lines)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94"/>
          <p:cNvSpPr txBox="1"/>
          <p:nvPr/>
        </p:nvSpPr>
        <p:spPr>
          <a:xfrm>
            <a:off x="1915377" y="4459400"/>
            <a:ext cx="6416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respective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-intercepts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3),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(0, 2), (0, 1) ...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grpSp>
        <p:nvGrpSpPr>
          <p:cNvPr id="1173" name="Google Shape;1173;p95"/>
          <p:cNvGrpSpPr/>
          <p:nvPr/>
        </p:nvGrpSpPr>
        <p:grpSpPr>
          <a:xfrm>
            <a:off x="4320171" y="1078321"/>
            <a:ext cx="4500532" cy="3207729"/>
            <a:chOff x="4601655" y="1078375"/>
            <a:chExt cx="4218721" cy="2923026"/>
          </a:xfrm>
        </p:grpSpPr>
        <p:pic>
          <p:nvPicPr>
            <p:cNvPr id="1174" name="Google Shape;117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1655" y="1078375"/>
              <a:ext cx="4218721" cy="292302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75" name="Google Shape;1175;p95"/>
            <p:cNvPicPr preferRelativeResize="0"/>
            <p:nvPr/>
          </p:nvPicPr>
          <p:blipFill rotWithShape="1">
            <a:blip r:embed="rId4">
              <a:alphaModFix/>
            </a:blip>
            <a:srcRect b="0" l="0" r="13577" t="0"/>
            <a:stretch/>
          </p:blipFill>
          <p:spPr>
            <a:xfrm>
              <a:off x="4605700" y="1328639"/>
              <a:ext cx="1292474" cy="1158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6" name="Google Shape;1176;p95"/>
          <p:cNvSpPr txBox="1"/>
          <p:nvPr>
            <p:ph idx="1" type="body"/>
          </p:nvPr>
        </p:nvSpPr>
        <p:spPr>
          <a:xfrm>
            <a:off x="324000" y="759300"/>
            <a:ext cx="464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Fill in the missing values in the table.</a:t>
            </a:r>
            <a:endParaRPr sz="2000"/>
          </a:p>
        </p:txBody>
      </p:sp>
      <p:graphicFrame>
        <p:nvGraphicFramePr>
          <p:cNvPr id="1177" name="Google Shape;1177;p95"/>
          <p:cNvGraphicFramePr/>
          <p:nvPr/>
        </p:nvGraphicFramePr>
        <p:xfrm>
          <a:off x="7239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72825"/>
                <a:gridCol w="147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intercept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0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(0, 3)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(0, 2)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(0, 0)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−1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−2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−2)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8" name="Google Shape;1178;p95"/>
          <p:cNvSpPr txBox="1"/>
          <p:nvPr/>
        </p:nvSpPr>
        <p:spPr>
          <a:xfrm>
            <a:off x="-55502" y="2350119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− 2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/>
          </a:p>
        </p:txBody>
      </p:sp>
      <p:sp>
        <p:nvSpPr>
          <p:cNvPr id="1179" name="Google Shape;1179;p95"/>
          <p:cNvSpPr txBox="1"/>
          <p:nvPr/>
        </p:nvSpPr>
        <p:spPr>
          <a:xfrm>
            <a:off x="1361450" y="2745354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(0, 1)</a:t>
            </a:r>
            <a:endParaRPr/>
          </a:p>
        </p:txBody>
      </p:sp>
      <p:sp>
        <p:nvSpPr>
          <p:cNvPr id="1180" name="Google Shape;1180;p95"/>
          <p:cNvSpPr txBox="1"/>
          <p:nvPr/>
        </p:nvSpPr>
        <p:spPr>
          <a:xfrm>
            <a:off x="1412305" y="3492827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−1)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95"/>
          <p:cNvSpPr txBox="1"/>
          <p:nvPr/>
        </p:nvSpPr>
        <p:spPr>
          <a:xfrm>
            <a:off x="-49338" y="424869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−3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− 2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lines in the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determines the gradient whereas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/>
              <a:t>determines the                         .</a:t>
            </a:r>
            <a:endParaRPr sz="2400"/>
          </a:p>
        </p:txBody>
      </p:sp>
      <p:sp>
        <p:nvSpPr>
          <p:cNvPr id="1187" name="Google Shape;118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188" name="Google Shape;1188;p96"/>
          <p:cNvSpPr txBox="1"/>
          <p:nvPr>
            <p:ph idx="1" type="subTitle"/>
          </p:nvPr>
        </p:nvSpPr>
        <p:spPr>
          <a:xfrm>
            <a:off x="1034425" y="18377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-intercept</a:t>
            </a:r>
            <a:endParaRPr/>
          </a:p>
        </p:txBody>
      </p:sp>
      <p:sp>
        <p:nvSpPr>
          <p:cNvPr id="1189" name="Google Shape;1189;p96"/>
          <p:cNvSpPr txBox="1"/>
          <p:nvPr>
            <p:ph idx="3" type="subTitle"/>
          </p:nvPr>
        </p:nvSpPr>
        <p:spPr>
          <a:xfrm>
            <a:off x="1034425" y="2794251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190" name="Google Shape;1190;p96"/>
          <p:cNvSpPr txBox="1"/>
          <p:nvPr>
            <p:ph idx="4" type="subTitle"/>
          </p:nvPr>
        </p:nvSpPr>
        <p:spPr>
          <a:xfrm>
            <a:off x="1034425" y="3766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</a:t>
            </a:r>
            <a:r>
              <a:rPr lang="en-GB"/>
              <a:t>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-axis</a:t>
            </a:r>
            <a:endParaRPr/>
          </a:p>
        </p:txBody>
      </p:sp>
      <p:pic>
        <p:nvPicPr>
          <p:cNvPr id="1191" name="Google Shape;119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983" y="2810059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2" name="Google Shape;1192;p96"/>
          <p:cNvCxnSpPr/>
          <p:nvPr/>
        </p:nvCxnSpPr>
        <p:spPr>
          <a:xfrm>
            <a:off x="4406150" y="1470725"/>
            <a:ext cx="172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7"/>
          <p:cNvSpPr txBox="1"/>
          <p:nvPr>
            <p:ph type="title"/>
          </p:nvPr>
        </p:nvSpPr>
        <p:spPr>
          <a:xfrm>
            <a:off x="324000" y="748775"/>
            <a:ext cx="5338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the line through the origin is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−0.5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what is the second line?</a:t>
            </a:r>
            <a:endParaRPr/>
          </a:p>
        </p:txBody>
      </p:sp>
      <p:sp>
        <p:nvSpPr>
          <p:cNvPr id="1198" name="Google Shape;1198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199" name="Google Shape;1199;p97"/>
          <p:cNvSpPr txBox="1"/>
          <p:nvPr>
            <p:ph idx="1" type="subTitle"/>
          </p:nvPr>
        </p:nvSpPr>
        <p:spPr>
          <a:xfrm>
            <a:off x="1034425" y="1837775"/>
            <a:ext cx="2640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3 − 0.5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pic>
        <p:nvPicPr>
          <p:cNvPr id="1200" name="Google Shape;120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583" y="281005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97"/>
          <p:cNvPicPr preferRelativeResize="0"/>
          <p:nvPr/>
        </p:nvPicPr>
        <p:blipFill rotWithShape="1">
          <a:blip r:embed="rId4">
            <a:alphaModFix/>
          </a:blip>
          <a:srcRect b="0" l="8460" r="-8459" t="0"/>
          <a:stretch/>
        </p:blipFill>
        <p:spPr>
          <a:xfrm>
            <a:off x="5027700" y="1266615"/>
            <a:ext cx="3608098" cy="3552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7"/>
          <p:cNvSpPr txBox="1"/>
          <p:nvPr>
            <p:ph idx="1" type="subTitle"/>
          </p:nvPr>
        </p:nvSpPr>
        <p:spPr>
          <a:xfrm>
            <a:off x="1034425" y="2785866"/>
            <a:ext cx="2640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−0.5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400"/>
          </a:p>
        </p:txBody>
      </p:sp>
      <p:sp>
        <p:nvSpPr>
          <p:cNvPr id="1203" name="Google Shape;1203;p97"/>
          <p:cNvSpPr txBox="1"/>
          <p:nvPr>
            <p:ph idx="1" type="subTitle"/>
          </p:nvPr>
        </p:nvSpPr>
        <p:spPr>
          <a:xfrm>
            <a:off x="1034425" y="3742775"/>
            <a:ext cx="2640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−3 − 3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1204" name="Google Shape;1204;p97"/>
          <p:cNvSpPr txBox="1"/>
          <p:nvPr/>
        </p:nvSpPr>
        <p:spPr>
          <a:xfrm>
            <a:off x="2776150" y="3296225"/>
            <a:ext cx="2251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gradient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−0.5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−3)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8"/>
          <p:cNvSpPr txBox="1"/>
          <p:nvPr>
            <p:ph idx="1" type="body"/>
          </p:nvPr>
        </p:nvSpPr>
        <p:spPr>
          <a:xfrm>
            <a:off x="324000" y="1216500"/>
            <a:ext cx="71352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the lines and write a sentence or two comparing them.</a:t>
            </a:r>
            <a:endParaRPr/>
          </a:p>
        </p:txBody>
      </p:sp>
      <p:sp>
        <p:nvSpPr>
          <p:cNvPr id="1210" name="Google Shape;1210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211" name="Google Shape;1211;p98"/>
          <p:cNvSpPr txBox="1"/>
          <p:nvPr/>
        </p:nvSpPr>
        <p:spPr>
          <a:xfrm>
            <a:off x="487625" y="2097200"/>
            <a:ext cx="13902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98"/>
          <p:cNvSpPr txBox="1"/>
          <p:nvPr/>
        </p:nvSpPr>
        <p:spPr>
          <a:xfrm>
            <a:off x="324000" y="810000"/>
            <a:ext cx="7681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software should be used to complete this task.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99"/>
          <p:cNvSpPr txBox="1"/>
          <p:nvPr>
            <p:ph idx="1" type="body"/>
          </p:nvPr>
        </p:nvSpPr>
        <p:spPr>
          <a:xfrm>
            <a:off x="324000" y="759300"/>
            <a:ext cx="82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Plot the lines and complete the table.</a:t>
            </a:r>
            <a:endParaRPr/>
          </a:p>
        </p:txBody>
      </p:sp>
      <p:sp>
        <p:nvSpPr>
          <p:cNvPr id="1218" name="Google Shape;1218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graphicFrame>
        <p:nvGraphicFramePr>
          <p:cNvPr id="1219" name="Google Shape;1219;p99"/>
          <p:cNvGraphicFramePr/>
          <p:nvPr/>
        </p:nvGraphicFramePr>
        <p:xfrm>
          <a:off x="495300" y="13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63650"/>
                <a:gridCol w="1463650"/>
                <a:gridCol w="1463650"/>
              </a:tblGrid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0.2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0"/>
          <p:cNvSpPr txBox="1"/>
          <p:nvPr>
            <p:ph idx="1" type="body"/>
          </p:nvPr>
        </p:nvSpPr>
        <p:spPr>
          <a:xfrm>
            <a:off x="324000" y="759300"/>
            <a:ext cx="82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Using Desmos, draw the lines that recreate these patterns.</a:t>
            </a:r>
            <a:endParaRPr sz="2000"/>
          </a:p>
        </p:txBody>
      </p:sp>
      <p:sp>
        <p:nvSpPr>
          <p:cNvPr id="1225" name="Google Shape;122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pic>
        <p:nvPicPr>
          <p:cNvPr id="1226" name="Google Shape;122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97" y="1141252"/>
            <a:ext cx="3381232" cy="367739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7" name="Google Shape;122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5559" y="1150070"/>
            <a:ext cx="3679663" cy="36773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8" name="Google Shape;1228;p100"/>
          <p:cNvSpPr txBox="1"/>
          <p:nvPr>
            <p:ph idx="1" type="body"/>
          </p:nvPr>
        </p:nvSpPr>
        <p:spPr>
          <a:xfrm>
            <a:off x="324000" y="1140300"/>
            <a:ext cx="39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229" name="Google Shape;1229;p100"/>
          <p:cNvSpPr txBox="1"/>
          <p:nvPr>
            <p:ph idx="1" type="body"/>
          </p:nvPr>
        </p:nvSpPr>
        <p:spPr>
          <a:xfrm>
            <a:off x="4241479" y="1140300"/>
            <a:ext cx="39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1"/>
          <p:cNvSpPr txBox="1"/>
          <p:nvPr>
            <p:ph idx="1" type="body"/>
          </p:nvPr>
        </p:nvSpPr>
        <p:spPr>
          <a:xfrm>
            <a:off x="324000" y="759300"/>
            <a:ext cx="71352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the lines and write a sentence or two comparing them.</a:t>
            </a:r>
            <a:endParaRPr/>
          </a:p>
        </p:txBody>
      </p:sp>
      <p:sp>
        <p:nvSpPr>
          <p:cNvPr id="1235" name="Google Shape;123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236" name="Google Shape;1236;p101"/>
          <p:cNvSpPr txBox="1"/>
          <p:nvPr/>
        </p:nvSpPr>
        <p:spPr>
          <a:xfrm>
            <a:off x="487625" y="1640000"/>
            <a:ext cx="13902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37" name="Google Shape;123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025" y="1080001"/>
            <a:ext cx="3775446" cy="37474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8" name="Google Shape;1238;p101"/>
          <p:cNvSpPr txBox="1"/>
          <p:nvPr/>
        </p:nvSpPr>
        <p:spPr>
          <a:xfrm>
            <a:off x="467575" y="2859200"/>
            <a:ext cx="3852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by +3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-direction.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intercept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(0, 3)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9" name="Google Shape;1239;p101"/>
          <p:cNvSpPr txBox="1"/>
          <p:nvPr/>
        </p:nvSpPr>
        <p:spPr>
          <a:xfrm>
            <a:off x="467575" y="4078400"/>
            <a:ext cx="3852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 the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-direction.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intercept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101"/>
          <p:cNvSpPr txBox="1"/>
          <p:nvPr/>
        </p:nvSpPr>
        <p:spPr>
          <a:xfrm>
            <a:off x="1686775" y="1610302"/>
            <a:ext cx="2883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three lines have the 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ame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(making them parallel)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41" name="Google Shape;1241;p101"/>
          <p:cNvCxnSpPr/>
          <p:nvPr/>
        </p:nvCxnSpPr>
        <p:spPr>
          <a:xfrm>
            <a:off x="7489400" y="786825"/>
            <a:ext cx="0" cy="26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101"/>
          <p:cNvCxnSpPr/>
          <p:nvPr/>
        </p:nvCxnSpPr>
        <p:spPr>
          <a:xfrm>
            <a:off x="6956975" y="786825"/>
            <a:ext cx="0" cy="26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101"/>
          <p:cNvCxnSpPr/>
          <p:nvPr/>
        </p:nvCxnSpPr>
        <p:spPr>
          <a:xfrm>
            <a:off x="8224650" y="786825"/>
            <a:ext cx="0" cy="26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8" name="Google Shape;1248;p102"/>
          <p:cNvGraphicFramePr/>
          <p:nvPr/>
        </p:nvGraphicFramePr>
        <p:xfrm>
          <a:off x="495300" y="13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63650"/>
                <a:gridCol w="1463650"/>
                <a:gridCol w="1463650"/>
              </a:tblGrid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−2)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0.2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(0, 2)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49" name="Google Shape;124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125" y="1103040"/>
            <a:ext cx="3386674" cy="337967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0" name="Google Shape;1250;p102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Plot the lines and complete the table.</a:t>
            </a:r>
            <a:endParaRPr/>
          </a:p>
        </p:txBody>
      </p:sp>
      <p:sp>
        <p:nvSpPr>
          <p:cNvPr id="1251" name="Google Shape;125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252" name="Google Shape;1252;p102"/>
          <p:cNvSpPr/>
          <p:nvPr/>
        </p:nvSpPr>
        <p:spPr>
          <a:xfrm>
            <a:off x="1976791" y="1778970"/>
            <a:ext cx="1409700" cy="489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/>
          <p:nvPr/>
        </p:nvSpPr>
        <p:spPr>
          <a:xfrm>
            <a:off x="1976791" y="2269861"/>
            <a:ext cx="1409700" cy="489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102"/>
          <p:cNvSpPr/>
          <p:nvPr/>
        </p:nvSpPr>
        <p:spPr>
          <a:xfrm>
            <a:off x="1976791" y="2769570"/>
            <a:ext cx="1409700" cy="489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102"/>
          <p:cNvSpPr/>
          <p:nvPr/>
        </p:nvSpPr>
        <p:spPr>
          <a:xfrm>
            <a:off x="3424591" y="2269861"/>
            <a:ext cx="1409700" cy="489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102"/>
          <p:cNvSpPr/>
          <p:nvPr/>
        </p:nvSpPr>
        <p:spPr>
          <a:xfrm>
            <a:off x="3424591" y="2769570"/>
            <a:ext cx="1409700" cy="489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1" name="Google Shape;1261;p103"/>
          <p:cNvGraphicFramePr/>
          <p:nvPr/>
        </p:nvGraphicFramePr>
        <p:xfrm>
          <a:off x="495300" y="13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{EA379888-FF6F-43E1-B4EA-554646533D00}</a:tableStyleId>
              </a:tblPr>
              <a:tblGrid>
                <a:gridCol w="1463650"/>
                <a:gridCol w="1463650"/>
                <a:gridCol w="1463650"/>
              </a:tblGrid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−2)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0.2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(0, 2)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7 − 3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2" name="Google Shape;126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125" y="1103040"/>
            <a:ext cx="3386674" cy="337967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3" name="Google Shape;1263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125" y="1098600"/>
            <a:ext cx="3386675" cy="34031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4" name="Google Shape;1264;p10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Plot the lines and complete the table.</a:t>
            </a:r>
            <a:endParaRPr/>
          </a:p>
        </p:txBody>
      </p:sp>
      <p:sp>
        <p:nvSpPr>
          <p:cNvPr id="1265" name="Google Shape;126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1266" name="Google Shape;1266;p103"/>
          <p:cNvSpPr/>
          <p:nvPr/>
        </p:nvSpPr>
        <p:spPr>
          <a:xfrm>
            <a:off x="354139" y="3193916"/>
            <a:ext cx="1680900" cy="555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103"/>
          <p:cNvSpPr/>
          <p:nvPr/>
        </p:nvSpPr>
        <p:spPr>
          <a:xfrm>
            <a:off x="354139" y="3682677"/>
            <a:ext cx="1680900" cy="555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Draw the lines that recreate these patterns.</a:t>
            </a:r>
            <a:endParaRPr/>
          </a:p>
        </p:txBody>
      </p:sp>
      <p:sp>
        <p:nvSpPr>
          <p:cNvPr id="1273" name="Google Shape;1273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pic>
        <p:nvPicPr>
          <p:cNvPr id="1274" name="Google Shape;127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97" y="1141252"/>
            <a:ext cx="3381232" cy="367739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5" name="Google Shape;1275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5550" y="2008325"/>
            <a:ext cx="2567326" cy="27425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6" name="Google Shape;1276;p104"/>
          <p:cNvSpPr txBox="1"/>
          <p:nvPr>
            <p:ph idx="1" type="body"/>
          </p:nvPr>
        </p:nvSpPr>
        <p:spPr>
          <a:xfrm>
            <a:off x="324000" y="1140300"/>
            <a:ext cx="39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77" name="Google Shape;1277;p104"/>
          <p:cNvSpPr txBox="1"/>
          <p:nvPr/>
        </p:nvSpPr>
        <p:spPr>
          <a:xfrm>
            <a:off x="4311266" y="1140291"/>
            <a:ext cx="3664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lines of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(0, 4)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two lines of 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-intercept (0, −1)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104"/>
          <p:cNvSpPr/>
          <p:nvPr/>
        </p:nvSpPr>
        <p:spPr>
          <a:xfrm>
            <a:off x="2129200" y="1702668"/>
            <a:ext cx="396900" cy="379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104"/>
          <p:cNvSpPr/>
          <p:nvPr/>
        </p:nvSpPr>
        <p:spPr>
          <a:xfrm>
            <a:off x="2140430" y="3237898"/>
            <a:ext cx="396900" cy="379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5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Draw the lines that recreate these patterns.</a:t>
            </a:r>
            <a:endParaRPr/>
          </a:p>
        </p:txBody>
      </p:sp>
      <p:sp>
        <p:nvSpPr>
          <p:cNvPr id="1285" name="Google Shape;1285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</p:txBody>
      </p:sp>
      <p:pic>
        <p:nvPicPr>
          <p:cNvPr id="1286" name="Google Shape;1286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559" y="1150070"/>
            <a:ext cx="3679663" cy="36773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7" name="Google Shape;1287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690" y="2083800"/>
            <a:ext cx="2560359" cy="26787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8" name="Google Shape;1288;p105"/>
          <p:cNvSpPr txBox="1"/>
          <p:nvPr>
            <p:ph idx="1" type="body"/>
          </p:nvPr>
        </p:nvSpPr>
        <p:spPr>
          <a:xfrm>
            <a:off x="4241479" y="1140300"/>
            <a:ext cx="39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89" name="Google Shape;1289;p105"/>
          <p:cNvSpPr txBox="1"/>
          <p:nvPr/>
        </p:nvSpPr>
        <p:spPr>
          <a:xfrm>
            <a:off x="425075" y="1216500"/>
            <a:ext cx="2676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-intercepts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6),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(0, 3)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and (0, −2)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105"/>
          <p:cNvSpPr/>
          <p:nvPr/>
        </p:nvSpPr>
        <p:spPr>
          <a:xfrm>
            <a:off x="6221539" y="1126759"/>
            <a:ext cx="396900" cy="379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5"/>
          <p:cNvSpPr/>
          <p:nvPr/>
        </p:nvSpPr>
        <p:spPr>
          <a:xfrm>
            <a:off x="6221539" y="1964959"/>
            <a:ext cx="396900" cy="379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5"/>
          <p:cNvSpPr/>
          <p:nvPr/>
        </p:nvSpPr>
        <p:spPr>
          <a:xfrm>
            <a:off x="6221539" y="3370250"/>
            <a:ext cx="396900" cy="379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6"/>
          <p:cNvSpPr txBox="1"/>
          <p:nvPr>
            <p:ph idx="1" type="body"/>
          </p:nvPr>
        </p:nvSpPr>
        <p:spPr>
          <a:xfrm>
            <a:off x="324000" y="1232400"/>
            <a:ext cx="8113800" cy="24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 software can be used to see algebraic and graphical aspects of linear </a:t>
            </a:r>
            <a:r>
              <a:rPr lang="en-GB"/>
              <a:t>relationships and problem solve with them.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Dynamic software helps us quickly see that in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= mx + c</a:t>
            </a:r>
            <a:r>
              <a:rPr lang="en-GB"/>
              <a:t> it is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that determines the gradient and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that determines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-intercept.</a:t>
            </a:r>
            <a:endParaRPr/>
          </a:p>
        </p:txBody>
      </p:sp>
      <p:sp>
        <p:nvSpPr>
          <p:cNvPr id="1298" name="Google Shape;1298;p106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lang="en-GB"/>
              <a:t>dynamic</a:t>
            </a:r>
            <a:r>
              <a:rPr lang="en-GB"/>
              <a:t> software to explore linear relationships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04" name="Google Shape;1304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