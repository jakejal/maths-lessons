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581FF98-109A-4864-BAE1-F50A0EE258EB}">
  <a:tblStyle styleId="{8581FF98-109A-4864-BAE1-F50A0EE258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2" name="Shape 202"/>
        <p:cNvGrpSpPr/>
        <p:nvPr/>
      </p:nvGrpSpPr>
      <p:grpSpPr>
        <a:xfrm>
          <a:off x="0" y="0"/>
          <a:ext cx="0" cy="0"/>
        </a:xfrm>
      </p:grpSpPr>
      <p:sp>
        <p:nvSpPr>
          <p:cNvPr id="203" name="Google Shape;203;g1ec5c342b58_0_5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ec5c342b58_0_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0" name="Shape 230"/>
        <p:cNvGrpSpPr/>
        <p:nvPr/>
      </p:nvGrpSpPr>
      <p:grpSpPr>
        <a:xfrm>
          <a:off x="0" y="0"/>
          <a:ext cx="0" cy="0"/>
        </a:xfrm>
      </p:grpSpPr>
      <p:sp>
        <p:nvSpPr>
          <p:cNvPr id="231" name="Google Shape;23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6.png" /><Relationship Id="rId4" Type="http://schemas.openxmlformats.org/officeDocument/2006/relationships/image" Target="../media/image17.png" /><Relationship Id="rId5" Type="http://schemas.openxmlformats.org/officeDocument/2006/relationships/image" Target="../media/image18.png" /><Relationship Id="rId6" Type="http://schemas.openxmlformats.org/officeDocument/2006/relationships/image" Target="../media/image1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grpSp>
        <p:nvGrpSpPr>
          <p:cNvPr id="171" name="Google Shape;171;p20"/>
          <p:cNvGrpSpPr/>
          <p:nvPr/>
        </p:nvGrpSpPr>
        <p:grpSpPr>
          <a:xfrm>
            <a:off x="3692627" y="4300914"/>
            <a:ext cx="3092692" cy="2114138"/>
            <a:chOff x="3709584" y="809999"/>
            <a:chExt cx="5101768" cy="3487526"/>
          </a:xfrm>
        </p:grpSpPr>
        <p:pic>
          <p:nvPicPr>
            <p:cNvPr id="172" name="Google Shape;17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09584" y="809999"/>
              <a:ext cx="5101768" cy="3487526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73" name="Google Shape;173;p20"/>
            <p:cNvSpPr/>
            <p:nvPr/>
          </p:nvSpPr>
          <p:spPr>
            <a:xfrm>
              <a:off x="3987425" y="1120379"/>
              <a:ext cx="965700" cy="265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" name="Google Shape;174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5" name="Google Shape;17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dynamic software to explore linear relationships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1735850"/>
            <a:ext cx="3672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You are the teacher.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the line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explain to our Oak students the link between the algebra, the table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the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3986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Changing the gradient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2968325"/>
            <a:ext cx="35751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algebra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tells us that 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coordinate is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times 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coordinate; the table and coordinates reflect that.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2690175"/>
            <a:ext cx="36720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may have said: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4140225" y="1735893"/>
            <a:ext cx="2952208" cy="2032529"/>
            <a:chOff x="4572000" y="851400"/>
            <a:chExt cx="4236201" cy="2916529"/>
          </a:xfrm>
        </p:grpSpPr>
        <p:pic>
          <p:nvPicPr>
            <p:cNvPr id="181" name="Google Shape;18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72000" y="851400"/>
              <a:ext cx="4236201" cy="2916529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82" name="Google Shape;182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82550" y="1368900"/>
              <a:ext cx="934825" cy="1712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0"/>
          <p:cNvSpPr txBox="1"/>
          <p:nvPr/>
        </p:nvSpPr>
        <p:spPr>
          <a:xfrm>
            <a:off x="468000" y="3798714"/>
            <a:ext cx="66240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represents the gradient. For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we see the gradient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 the graph and a change of +3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for every +1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change 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 the table.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4358950"/>
            <a:ext cx="35751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Plot the lines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 descr="&lt;math xmlns=&quot;http://www.w3.org/1998/Math/MathML&quot; display=&quot;block&quot; data-is-equatio=&quot;1&quot; data-latex=&quot;y=\frac{1}{4}x&quot;&gt;&lt;mi&gt;y&lt;/mi&gt;&lt;mo&gt;=&lt;/mo&gt;&lt;mfrac&gt;&lt;mn&gt;1&lt;/mn&gt;&lt;mn&gt;4&lt;/mn&gt;&lt;/mfrac&gt;&lt;mi&gt;x&lt;/mi&gt;&lt;/math&gt;" title="y equals one fourth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0763" y="4265751"/>
            <a:ext cx="483300" cy="32143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68000" y="4652520"/>
            <a:ext cx="32271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Compare the two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5185893"/>
            <a:ext cx="26652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Same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-intercept of (0,0)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6035355"/>
            <a:ext cx="28242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Respective gradients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−4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68000" y="4914800"/>
            <a:ext cx="32271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may have said: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68000" y="5501948"/>
            <a:ext cx="28242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One has a positive gradient, one a negative gradient.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1" name="Google Shape;191;p20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38041" y="5968762"/>
            <a:ext cx="76138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468000" y="6445350"/>
            <a:ext cx="32271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Plot the coordinates (2.4, 3) and (1.4,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1.75) and draw the straight line that goes through both and the origin. What is this line?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3845025" y="6551333"/>
            <a:ext cx="3092938" cy="2097093"/>
            <a:chOff x="3732291" y="1518200"/>
            <a:chExt cx="5072886" cy="3487598"/>
          </a:xfrm>
        </p:grpSpPr>
        <p:pic>
          <p:nvPicPr>
            <p:cNvPr id="194" name="Google Shape;194;p2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732291" y="1518200"/>
              <a:ext cx="5072886" cy="3487598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95" name="Google Shape;195;p20"/>
            <p:cNvSpPr/>
            <p:nvPr/>
          </p:nvSpPr>
          <p:spPr>
            <a:xfrm>
              <a:off x="3747600" y="2689299"/>
              <a:ext cx="965700" cy="628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6" name="Google Shape;196;p20"/>
          <p:cNvSpPr txBox="1"/>
          <p:nvPr/>
        </p:nvSpPr>
        <p:spPr>
          <a:xfrm>
            <a:off x="468000" y="7360825"/>
            <a:ext cx="29523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Between the coordinates you see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 change of +1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+1.25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change 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telling us there is a gradient of +1.25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8000" y="8017875"/>
            <a:ext cx="2952300" cy="18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Lines in the form of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go through the origin.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68000" y="8475050"/>
            <a:ext cx="29523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With a gradient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+1.25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this must therefore be the line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1.25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8000" y="9106875"/>
            <a:ext cx="2952300" cy="6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Draw the lines that recreate this pattern.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0" descr="&lt;math xmlns=&quot;http://www.w3.org/1998/Math/MathML&quot; display=&quot;block&quot; data-is-equatio=&quot;1&quot; data-latex=&quot;y=\frac{1}{4}x\ \ \ \ \ y=-\frac{1}{4}x\ \ \ \ y=x\ \ \ \ y=-x\ \ \ \ y=4x\ \ \ \ y=-4x&quot;&gt;&lt;mi&gt;y&lt;/mi&gt;&lt;mo&gt;=&lt;/mo&gt;&lt;mfrac&gt;&lt;mn&gt;1&lt;/mn&gt;&lt;mn&gt;4&lt;/mn&gt;&lt;/mfrac&gt;&lt;mi&gt;x&lt;/mi&gt;&lt;mtext&gt;&lt;/mtext&gt;&lt;mtext&gt;&lt;/mtext&gt;&lt;mtext&gt;&lt;/mtext&gt;&lt;mtext&gt;&lt;/mtext&gt;&lt;mtext&gt;&lt;/mtext&gt;&lt;mi&gt;y&lt;/mi&gt;&lt;mo&gt;=&lt;/mo&gt;&lt;mo&gt;−&lt;/mo&gt;&lt;mfrac&gt;&lt;mn&gt;1&lt;/mn&gt;&lt;mn&gt;4&lt;/mn&gt;&lt;/mfrac&gt;&lt;mi&gt;x&lt;/mi&gt;&lt;mtext&gt;&lt;/mtext&gt;&lt;mtext&gt;&lt;/mtext&gt;&lt;mtext&gt;&lt;/mtext&gt;&lt;mtext&gt;&lt;/mtext&gt;&lt;mi&gt;y&lt;/mi&gt;&lt;mo&gt;=&lt;/mo&gt;&lt;mi&gt;x&lt;/mi&gt;&lt;mtext&gt;&lt;/mtext&gt;&lt;mtext&gt;&lt;/mtext&gt;&lt;mtext&gt;&lt;/mtext&gt;&lt;mtext&gt;&lt;/mtext&gt;&lt;mi&gt;y&lt;/mi&gt;&lt;mo&gt;=&lt;/mo&gt;&lt;mo&gt;−&lt;/mo&gt;&lt;mi&gt;x&lt;/mi&gt;&lt;mtext&gt;&lt;/mtext&gt;&lt;mtext&gt;&lt;/mtext&gt;&lt;mtext&gt;&lt;/mtext&gt;&lt;mtext&gt;&lt;/mtext&gt;&lt;mi&gt;y&lt;/mi&gt;&lt;mo&gt;=&lt;/mo&gt;&lt;mn&gt;4&lt;/mn&gt;&lt;mi&gt;x&lt;/mi&gt;&lt;mtext&gt;&lt;/mtext&gt;&lt;mtext&gt;&lt;/mtext&gt;&lt;mtext&gt;&lt;/mtext&gt;&lt;mtext&gt;&lt;/mtext&gt;&lt;mi&gt;y&lt;/mi&gt;&lt;mo&gt;=&lt;/mo&gt;&lt;mo&gt;−&lt;/mo&gt;&lt;mn&gt;4&lt;/mn&gt;&lt;mi&gt;x&lt;/mi&gt;&lt;/math&gt;" title="y equals one fourth x y equals negative one fourth x y equals x y equals negative x y equals 4 x y equals negative 4 x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84825" y="9430000"/>
            <a:ext cx="5790361" cy="505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20"/>
          <p:cNvCxnSpPr/>
          <p:nvPr/>
        </p:nvCxnSpPr>
        <p:spPr>
          <a:xfrm>
            <a:off x="4680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graphicFrame>
        <p:nvGraphicFramePr>
          <p:cNvPr id="206" name="Google Shape;206;p21"/>
          <p:cNvGraphicFramePr>
            <a:graphicFrameLocks noGrp="1"/>
          </p:cNvGraphicFramePr>
          <p:nvPr/>
        </p:nvGraphicFramePr>
        <p:xfrm>
          <a:off x="471278" y="559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{8581FF98-109A-4864-BAE1-F50A0EE258EB}</a:tableStyleId>
              </a:tblPr>
              <a:tblGrid>
                <a:gridCol w="1060875"/>
                <a:gridCol w="1060875"/>
                <a:gridCol w="1060875"/>
              </a:tblGrid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Line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Gradient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-intercept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(0, 7)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−2)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0.2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0.2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(0, 2)</a:t>
                      </a:r>
                      <a:endParaRPr sz="12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7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−3)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8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 7 − 3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(0, 7)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Using dynamic software to explore linear relationships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10572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 lines and write a sentence or two comparing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Changing the </a:t>
            </a:r>
            <a:r>
              <a:rPr lang="en-GB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-intercept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88050" y="1514450"/>
            <a:ext cx="1390200" cy="16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000" y="1261668"/>
            <a:ext cx="2633099" cy="261358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2" name="Google Shape;212;p21"/>
          <p:cNvSpPr txBox="1"/>
          <p:nvPr/>
        </p:nvSpPr>
        <p:spPr>
          <a:xfrm>
            <a:off x="1292700" y="2146773"/>
            <a:ext cx="26331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Translation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by +3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in the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-direction.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-intercept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(0, 3)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292700" y="2773667"/>
            <a:ext cx="2722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Translation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by −4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in the 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-direction.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-intercept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−4)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292700" y="1524252"/>
            <a:ext cx="28839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All three lines have the same gradient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makes them parallel.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5" name="Google Shape;215;p21"/>
          <p:cNvCxnSpPr/>
          <p:nvPr/>
        </p:nvCxnSpPr>
        <p:spPr>
          <a:xfrm flipH="1">
            <a:off x="6140483" y="1057200"/>
            <a:ext cx="0" cy="18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" name="Google Shape;216;p21"/>
          <p:cNvCxnSpPr/>
          <p:nvPr/>
        </p:nvCxnSpPr>
        <p:spPr>
          <a:xfrm flipH="1">
            <a:off x="5769155" y="1057200"/>
            <a:ext cx="0" cy="18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" name="Google Shape;217;p21"/>
          <p:cNvCxnSpPr/>
          <p:nvPr/>
        </p:nvCxnSpPr>
        <p:spPr>
          <a:xfrm flipH="1">
            <a:off x="6653267" y="1057200"/>
            <a:ext cx="0" cy="18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8" name="Google Shape;218;p21"/>
          <p:cNvSpPr txBox="1"/>
          <p:nvPr/>
        </p:nvSpPr>
        <p:spPr>
          <a:xfrm>
            <a:off x="468000" y="52951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Plot the lines and complete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1515899" y="5933900"/>
            <a:ext cx="1054500" cy="3480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515899" y="6283187"/>
            <a:ext cx="1054500" cy="3480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515899" y="6638748"/>
            <a:ext cx="1054500" cy="3480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599339" y="6283187"/>
            <a:ext cx="1054500" cy="3480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2599339" y="6638748"/>
            <a:ext cx="1054500" cy="3480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71300" y="6940681"/>
            <a:ext cx="1081800" cy="3954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471300" y="7288450"/>
            <a:ext cx="1081800" cy="3954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" name="Google Shape;226;p21"/>
          <p:cNvGrpSpPr/>
          <p:nvPr/>
        </p:nvGrpSpPr>
        <p:grpSpPr>
          <a:xfrm>
            <a:off x="4075837" y="5298930"/>
            <a:ext cx="2633139" cy="2651333"/>
            <a:chOff x="1301825" y="1165675"/>
            <a:chExt cx="3386674" cy="3410075"/>
          </a:xfrm>
        </p:grpSpPr>
        <p:pic>
          <p:nvPicPr>
            <p:cNvPr id="227" name="Google Shape;22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01825" y="1190025"/>
              <a:ext cx="3386674" cy="3379677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228" name="Google Shape;228;p21"/>
            <p:cNvCxnSpPr/>
            <p:nvPr/>
          </p:nvCxnSpPr>
          <p:spPr>
            <a:xfrm>
              <a:off x="2887190" y="1183950"/>
              <a:ext cx="1118100" cy="3391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Google Shape;229;p21"/>
            <p:cNvCxnSpPr/>
            <p:nvPr/>
          </p:nvCxnSpPr>
          <p:spPr>
            <a:xfrm flipH="1">
              <a:off x="2826925" y="1165675"/>
              <a:ext cx="502500" cy="3402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35" name="Google Shape;235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Using dynamic software to explore linear relationships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Draw the lines that recreate these patterns.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700" y="1101950"/>
            <a:ext cx="2626300" cy="285634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4900" y="1741850"/>
            <a:ext cx="1862194" cy="198927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1" name="Google Shape;241;p22"/>
          <p:cNvSpPr txBox="1"/>
          <p:nvPr/>
        </p:nvSpPr>
        <p:spPr>
          <a:xfrm>
            <a:off x="468000" y="1101000"/>
            <a:ext cx="396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3780000" y="1101000"/>
            <a:ext cx="33120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Two lines of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 i="1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-intercept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4), two lines of </a:t>
            </a: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-intercept (0,−1)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1942873" y="1538018"/>
            <a:ext cx="308400" cy="2949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1951596" y="2730475"/>
            <a:ext cx="308400" cy="2949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949" y="4349690"/>
            <a:ext cx="2626300" cy="262470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6" name="Google Shape;24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4898" y="4730425"/>
            <a:ext cx="1862199" cy="194827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7" name="Google Shape;247;p22"/>
          <p:cNvSpPr txBox="1"/>
          <p:nvPr/>
        </p:nvSpPr>
        <p:spPr>
          <a:xfrm>
            <a:off x="460865" y="4346600"/>
            <a:ext cx="396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3794550" y="4278750"/>
            <a:ext cx="29499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-intercepts of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(0, 6), (0, 3), and (0,−2)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1969740" y="4333053"/>
            <a:ext cx="283200" cy="2709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1969740" y="4931309"/>
            <a:ext cx="283200" cy="2709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1969740" y="5934321"/>
            <a:ext cx="283200" cy="270900"/>
          </a:xfrm>
          <a:prstGeom prst="ellipse">
            <a:avLst/>
          </a:prstGeom>
          <a:noFill/>
          <a:ln w="38100" cap="flat" cmpd="sng">
            <a:solidFill>
              <a:srgbClr val="5757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Using dynamic software to explore linear relationships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2024-01-08T16:52:13.187</cp:lastPrinted>
  <dcterms:created xsi:type="dcterms:W3CDTF">2024-01-08T16:52:13Z</dcterms:created>
  <dcterms:modified xsi:type="dcterms:W3CDTF">2024-01-08T16:52:09Z</dcterms:modified>
</cp:coreProperties>
</file>