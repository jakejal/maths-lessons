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FBE5B0C-FCDF-4F6A-9639-473080F7E0CB}">
  <a:tblStyle styleId="{4FBE5B0C-FCDF-4F6A-9639-473080F7E0C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29dd581494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9dd581494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295f05d7699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0" name="Google Shape;770;g295f05d769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g295f05d7699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8" name="Google Shape;778;g295f05d7699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297889412c3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3" name="Google Shape;823;g297889412c3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297889412c3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3" name="Google Shape;863;g297889412c3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g297889412c3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7" name="Google Shape;877;g297889412c3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g297889412c3_0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9" name="Google Shape;899;g297889412c3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g297889412c3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5" name="Google Shape;915;g297889412c3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297889412c3_0_3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3" name="Google Shape;923;g297889412c3_0_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g295f05d7699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6" name="Google Shape;936;g295f05d7699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g297889412c3_0_3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0" name="Google Shape;960;g297889412c3_0_3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g297889412c3_0_3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8" name="Google Shape;968;g297889412c3_0_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g297889412c3_0_3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6" name="Google Shape;976;g297889412c3_0_3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g297889412c3_0_4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1" name="Google Shape;991;g297889412c3_0_4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297889412c3_0_4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3" name="Google Shape;1033;g297889412c3_0_4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g297889412c3_0_4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1" name="Google Shape;1061;g297889412c3_0_4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g295f05d7699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2" name="Google Shape;1072;g295f05d7699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g297889412c3_0_5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0" name="Google Shape;1130;g297889412c3_0_5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g297889412c3_0_6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7" name="Google Shape;1147;g297889412c3_0_6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g297889412c3_0_7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3" name="Google Shape;1213;g297889412c3_0_7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2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g295f05d7699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4" name="Google Shape;1234;g295f05d7699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0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1" name="Google Shape;1241;g295f05d7699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2" name="Google Shape;1242;g295f05d7699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0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g295f05d7699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2" name="Google Shape;1262;g295f05d7699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5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g297889412c3_0_8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7" name="Google Shape;1277;g297889412c3_0_8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5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g297889412c3_0_9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7" name="Google Shape;1287;g297889412c3_0_9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5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Google Shape;1306;g297889412c3_0_9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7" name="Google Shape;1307;g297889412c3_0_9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3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g297889412c3_0_9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5" name="Google Shape;1325;g297889412c3_0_9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Google Shape;1342;g297889412c3_0_10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3" name="Google Shape;1343;g297889412c3_0_10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4" name="Shape 1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Google Shape;1365;g297889412c3_0_10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6" name="Google Shape;1366;g297889412c3_0_10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0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Google Shape;1391;g297889412c3_0_10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2" name="Google Shape;1392;g297889412c3_0_10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2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Google Shape;1403;g297889412c3_0_10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4" name="Google Shape;1404;g297889412c3_0_10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3" name="Shape 1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" name="Google Shape;1424;g297889412c3_0_1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5" name="Google Shape;1425;g297889412c3_0_1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9" name="Shape 1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" name="Google Shape;1440;g297889412c3_0_1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1" name="Google Shape;1441;g297889412c3_0_1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0" name="Shape 1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Google Shape;1451;g297889412c3_0_1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2" name="Google Shape;1452;g297889412c3_0_1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1" name="Shape 1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2" name="Google Shape;1462;g297889412c3_0_1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3" name="Google Shape;1463;g297889412c3_0_1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3" name="Shape 1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" name="Google Shape;1474;g297889412c3_0_1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5" name="Google Shape;1475;g297889412c3_0_1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0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Google Shape;1501;g297889412c3_0_1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2" name="Google Shape;1502;g297889412c3_0_1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6" name="Shape 1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7" name="Google Shape;1517;g29dd5814943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8" name="Google Shape;1518;g29dd5814943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1" name="Shape 1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2" name="Google Shape;1532;g297889412c3_0_1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3" name="Google Shape;1533;g297889412c3_0_1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0" name="Shape 1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1" name="Google Shape;1551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2" name="Google Shape;1552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6" name="Shape 1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7" name="Google Shape;1557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8" name="Google Shape;1558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10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9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12.png"/><Relationship Id="rId5" Type="http://schemas.openxmlformats.org/officeDocument/2006/relationships/image" Target="../media/image2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image" Target="../media/image20.png"/><Relationship Id="rId6" Type="http://schemas.openxmlformats.org/officeDocument/2006/relationships/image" Target="../media/image15.png"/><Relationship Id="rId7" Type="http://schemas.openxmlformats.org/officeDocument/2006/relationships/image" Target="../media/image2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29.png"/><Relationship Id="rId4" Type="http://schemas.openxmlformats.org/officeDocument/2006/relationships/image" Target="../media/image90.png"/><Relationship Id="rId5" Type="http://schemas.openxmlformats.org/officeDocument/2006/relationships/image" Target="../media/image25.png"/><Relationship Id="rId6" Type="http://schemas.openxmlformats.org/officeDocument/2006/relationships/image" Target="../media/image31.png"/><Relationship Id="rId7" Type="http://schemas.openxmlformats.org/officeDocument/2006/relationships/image" Target="../media/image14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90.png"/><Relationship Id="rId4" Type="http://schemas.openxmlformats.org/officeDocument/2006/relationships/image" Target="../media/image24.png"/><Relationship Id="rId9" Type="http://schemas.openxmlformats.org/officeDocument/2006/relationships/image" Target="../media/image14.png"/><Relationship Id="rId5" Type="http://schemas.openxmlformats.org/officeDocument/2006/relationships/image" Target="../media/image29.png"/><Relationship Id="rId6" Type="http://schemas.openxmlformats.org/officeDocument/2006/relationships/image" Target="../media/image26.png"/><Relationship Id="rId7" Type="http://schemas.openxmlformats.org/officeDocument/2006/relationships/image" Target="../media/image25.png"/><Relationship Id="rId8" Type="http://schemas.openxmlformats.org/officeDocument/2006/relationships/image" Target="../media/image3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90.png"/><Relationship Id="rId4" Type="http://schemas.openxmlformats.org/officeDocument/2006/relationships/image" Target="../media/image30.png"/><Relationship Id="rId11" Type="http://schemas.openxmlformats.org/officeDocument/2006/relationships/image" Target="../media/image14.png"/><Relationship Id="rId10" Type="http://schemas.openxmlformats.org/officeDocument/2006/relationships/image" Target="../media/image34.png"/><Relationship Id="rId9" Type="http://schemas.openxmlformats.org/officeDocument/2006/relationships/image" Target="../media/image31.png"/><Relationship Id="rId5" Type="http://schemas.openxmlformats.org/officeDocument/2006/relationships/image" Target="../media/image24.png"/><Relationship Id="rId6" Type="http://schemas.openxmlformats.org/officeDocument/2006/relationships/image" Target="../media/image29.png"/><Relationship Id="rId7" Type="http://schemas.openxmlformats.org/officeDocument/2006/relationships/image" Target="../media/image26.png"/><Relationship Id="rId8" Type="http://schemas.openxmlformats.org/officeDocument/2006/relationships/image" Target="../media/image25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6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6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4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4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4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4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5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5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1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7.png"/><Relationship Id="rId4" Type="http://schemas.openxmlformats.org/officeDocument/2006/relationships/image" Target="../media/image49.png"/><Relationship Id="rId5" Type="http://schemas.openxmlformats.org/officeDocument/2006/relationships/image" Target="../media/image54.png"/><Relationship Id="rId6" Type="http://schemas.openxmlformats.org/officeDocument/2006/relationships/image" Target="../media/image50.png"/><Relationship Id="rId7" Type="http://schemas.openxmlformats.org/officeDocument/2006/relationships/image" Target="../media/image5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2.png"/><Relationship Id="rId4" Type="http://schemas.openxmlformats.org/officeDocument/2006/relationships/image" Target="../media/image5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1.png"/><Relationship Id="rId4" Type="http://schemas.openxmlformats.org/officeDocument/2006/relationships/image" Target="../media/image43.png"/><Relationship Id="rId5" Type="http://schemas.openxmlformats.org/officeDocument/2006/relationships/image" Target="../media/image5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8.png"/><Relationship Id="rId4" Type="http://schemas.openxmlformats.org/officeDocument/2006/relationships/image" Target="../media/image69.png"/><Relationship Id="rId5" Type="http://schemas.openxmlformats.org/officeDocument/2006/relationships/image" Target="../media/image5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4.png"/><Relationship Id="rId4" Type="http://schemas.openxmlformats.org/officeDocument/2006/relationships/image" Target="../media/image66.png"/><Relationship Id="rId5" Type="http://schemas.openxmlformats.org/officeDocument/2006/relationships/image" Target="../media/image6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1.png"/><Relationship Id="rId4" Type="http://schemas.openxmlformats.org/officeDocument/2006/relationships/image" Target="../media/image54.png"/><Relationship Id="rId5" Type="http://schemas.openxmlformats.org/officeDocument/2006/relationships/image" Target="../media/image5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1.png"/><Relationship Id="rId4" Type="http://schemas.openxmlformats.org/officeDocument/2006/relationships/image" Target="../media/image54.png"/><Relationship Id="rId5" Type="http://schemas.openxmlformats.org/officeDocument/2006/relationships/image" Target="../media/image5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8.png"/><Relationship Id="rId4" Type="http://schemas.openxmlformats.org/officeDocument/2006/relationships/image" Target="../media/image5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8.png"/><Relationship Id="rId4" Type="http://schemas.openxmlformats.org/officeDocument/2006/relationships/image" Target="../media/image5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7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71.png"/><Relationship Id="rId4" Type="http://schemas.openxmlformats.org/officeDocument/2006/relationships/image" Target="../media/image58.png"/><Relationship Id="rId5" Type="http://schemas.openxmlformats.org/officeDocument/2006/relationships/image" Target="../media/image7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76.png"/><Relationship Id="rId4" Type="http://schemas.openxmlformats.org/officeDocument/2006/relationships/image" Target="../media/image7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73.png"/><Relationship Id="rId4" Type="http://schemas.openxmlformats.org/officeDocument/2006/relationships/image" Target="../media/image74.png"/><Relationship Id="rId5" Type="http://schemas.openxmlformats.org/officeDocument/2006/relationships/image" Target="../media/image77.png"/><Relationship Id="rId6" Type="http://schemas.openxmlformats.org/officeDocument/2006/relationships/image" Target="../media/image7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75.png"/><Relationship Id="rId4" Type="http://schemas.openxmlformats.org/officeDocument/2006/relationships/image" Target="../media/image79.png"/><Relationship Id="rId5" Type="http://schemas.openxmlformats.org/officeDocument/2006/relationships/image" Target="../media/image80.png"/><Relationship Id="rId6" Type="http://schemas.openxmlformats.org/officeDocument/2006/relationships/image" Target="../media/image8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75.png"/><Relationship Id="rId4" Type="http://schemas.openxmlformats.org/officeDocument/2006/relationships/image" Target="../media/image81.png"/><Relationship Id="rId5" Type="http://schemas.openxmlformats.org/officeDocument/2006/relationships/image" Target="../media/image85.png"/><Relationship Id="rId6" Type="http://schemas.openxmlformats.org/officeDocument/2006/relationships/image" Target="../media/image84.png"/><Relationship Id="rId7" Type="http://schemas.openxmlformats.org/officeDocument/2006/relationships/image" Target="../media/image8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73.png"/><Relationship Id="rId4" Type="http://schemas.openxmlformats.org/officeDocument/2006/relationships/image" Target="../media/image74.png"/><Relationship Id="rId5" Type="http://schemas.openxmlformats.org/officeDocument/2006/relationships/image" Target="../media/image77.png"/><Relationship Id="rId6" Type="http://schemas.openxmlformats.org/officeDocument/2006/relationships/image" Target="../media/image7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75.png"/><Relationship Id="rId4" Type="http://schemas.openxmlformats.org/officeDocument/2006/relationships/image" Target="../media/image79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80.png"/><Relationship Id="rId4" Type="http://schemas.openxmlformats.org/officeDocument/2006/relationships/image" Target="../media/image8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75.png"/><Relationship Id="rId4" Type="http://schemas.openxmlformats.org/officeDocument/2006/relationships/image" Target="../media/image81.png"/><Relationship Id="rId9" Type="http://schemas.openxmlformats.org/officeDocument/2006/relationships/image" Target="../media/image88.png"/><Relationship Id="rId5" Type="http://schemas.openxmlformats.org/officeDocument/2006/relationships/image" Target="../media/image85.png"/><Relationship Id="rId6" Type="http://schemas.openxmlformats.org/officeDocument/2006/relationships/image" Target="../media/image84.png"/><Relationship Id="rId7" Type="http://schemas.openxmlformats.org/officeDocument/2006/relationships/image" Target="../media/image83.png"/><Relationship Id="rId8" Type="http://schemas.openxmlformats.org/officeDocument/2006/relationships/image" Target="../media/image70.png"/><Relationship Id="rId10" Type="http://schemas.openxmlformats.org/officeDocument/2006/relationships/image" Target="../media/image89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8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Positive rate of change from a graph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Graphical representations of linear equations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calculate the positive rate of change (</a:t>
            </a:r>
            <a:r>
              <a:rPr b="1" lang="en-GB"/>
              <a:t>gradient</a:t>
            </a:r>
            <a:r>
              <a:rPr lang="en-GB"/>
              <a:t>) from a graph.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rate of change is how one variable changes with respect to another. If the change is constant, there is a linear relationship between the variables. </a:t>
            </a:r>
            <a:endParaRPr/>
          </a:p>
        </p:txBody>
      </p:sp>
      <p:sp>
        <p:nvSpPr>
          <p:cNvPr id="767" name="Google Shape;767;p67"/>
          <p:cNvSpPr txBox="1"/>
          <p:nvPr>
            <p:ph idx="1" type="subTitle"/>
          </p:nvPr>
        </p:nvSpPr>
        <p:spPr>
          <a:xfrm>
            <a:off x="324000" y="25938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</a:t>
            </a:r>
            <a:r>
              <a:rPr b="1" lang="en-GB"/>
              <a:t>gradient </a:t>
            </a:r>
            <a:r>
              <a:rPr lang="en-GB"/>
              <a:t>is a measure of how steep a line is. It is calculated by finding the rate of change in the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-direction with respect to the positive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-direction.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6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Defining gradient </a:t>
            </a:r>
            <a:endParaRPr/>
          </a:p>
        </p:txBody>
      </p:sp>
      <p:sp>
        <p:nvSpPr>
          <p:cNvPr id="773" name="Google Shape;773;p6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positive gradients from graphs  </a:t>
            </a:r>
            <a:endParaRPr/>
          </a:p>
        </p:txBody>
      </p:sp>
      <p:sp>
        <p:nvSpPr>
          <p:cNvPr id="774" name="Google Shape;774;p6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Positive rate of change from a graph</a:t>
            </a:r>
            <a:endParaRPr/>
          </a:p>
        </p:txBody>
      </p:sp>
      <p:pic>
        <p:nvPicPr>
          <p:cNvPr id="775" name="Google Shape;775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750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Defining gradient</a:t>
            </a:r>
            <a:endParaRPr/>
          </a:p>
        </p:txBody>
      </p:sp>
      <p:graphicFrame>
        <p:nvGraphicFramePr>
          <p:cNvPr id="781" name="Google Shape;781;p69"/>
          <p:cNvGraphicFramePr/>
          <p:nvPr/>
        </p:nvGraphicFramePr>
        <p:xfrm>
          <a:off x="381944" y="13392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{4FBE5B0C-FCDF-4F6A-9639-473080F7E0CB}</a:tableStyleId>
              </a:tblPr>
              <a:tblGrid>
                <a:gridCol w="240150"/>
                <a:gridCol w="240150"/>
                <a:gridCol w="240150"/>
                <a:gridCol w="240150"/>
              </a:tblGrid>
              <a:tr h="24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82" name="Google Shape;782;p69"/>
          <p:cNvGraphicFramePr/>
          <p:nvPr/>
        </p:nvGraphicFramePr>
        <p:xfrm>
          <a:off x="1881944" y="132574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{4FBE5B0C-FCDF-4F6A-9639-473080F7E0CB}</a:tableStyleId>
              </a:tblPr>
              <a:tblGrid>
                <a:gridCol w="240150"/>
                <a:gridCol w="240150"/>
                <a:gridCol w="240150"/>
                <a:gridCol w="240150"/>
              </a:tblGrid>
              <a:tr h="24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83" name="Google Shape;783;p69"/>
          <p:cNvGraphicFramePr/>
          <p:nvPr/>
        </p:nvGraphicFramePr>
        <p:xfrm>
          <a:off x="3374468" y="133177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{4FBE5B0C-FCDF-4F6A-9639-473080F7E0CB}</a:tableStyleId>
              </a:tblPr>
              <a:tblGrid>
                <a:gridCol w="240150"/>
                <a:gridCol w="240150"/>
                <a:gridCol w="240150"/>
                <a:gridCol w="240150"/>
              </a:tblGrid>
              <a:tr h="24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84" name="Google Shape;784;p69"/>
          <p:cNvGraphicFramePr/>
          <p:nvPr/>
        </p:nvGraphicFramePr>
        <p:xfrm>
          <a:off x="4874468" y="133177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{4FBE5B0C-FCDF-4F6A-9639-473080F7E0CB}</a:tableStyleId>
              </a:tblPr>
              <a:tblGrid>
                <a:gridCol w="240150"/>
                <a:gridCol w="240150"/>
                <a:gridCol w="240150"/>
                <a:gridCol w="240150"/>
              </a:tblGrid>
              <a:tr h="24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85" name="Google Shape;785;p69"/>
          <p:cNvSpPr txBox="1"/>
          <p:nvPr>
            <p:ph idx="1" type="body"/>
          </p:nvPr>
        </p:nvSpPr>
        <p:spPr>
          <a:xfrm>
            <a:off x="370375" y="2456838"/>
            <a:ext cx="8496000" cy="34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Whose pattern will reach the top of the page first? 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786" name="Google Shape;786;p69"/>
          <p:cNvGrpSpPr/>
          <p:nvPr/>
        </p:nvGrpSpPr>
        <p:grpSpPr>
          <a:xfrm>
            <a:off x="374479" y="1328221"/>
            <a:ext cx="964650" cy="962100"/>
            <a:chOff x="324000" y="2019000"/>
            <a:chExt cx="964650" cy="962100"/>
          </a:xfrm>
        </p:grpSpPr>
        <p:cxnSp>
          <p:nvCxnSpPr>
            <p:cNvPr id="787" name="Google Shape;787;p69"/>
            <p:cNvCxnSpPr/>
            <p:nvPr/>
          </p:nvCxnSpPr>
          <p:spPr>
            <a:xfrm>
              <a:off x="324000" y="2979000"/>
              <a:ext cx="2442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8" name="Google Shape;788;p69"/>
            <p:cNvCxnSpPr/>
            <p:nvPr/>
          </p:nvCxnSpPr>
          <p:spPr>
            <a:xfrm>
              <a:off x="568200" y="2739000"/>
              <a:ext cx="2442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9" name="Google Shape;789;p69"/>
            <p:cNvCxnSpPr/>
            <p:nvPr/>
          </p:nvCxnSpPr>
          <p:spPr>
            <a:xfrm>
              <a:off x="802275" y="2499000"/>
              <a:ext cx="2442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0" name="Google Shape;790;p69"/>
            <p:cNvCxnSpPr/>
            <p:nvPr/>
          </p:nvCxnSpPr>
          <p:spPr>
            <a:xfrm>
              <a:off x="1044450" y="2259000"/>
              <a:ext cx="2442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1" name="Google Shape;791;p69"/>
            <p:cNvCxnSpPr/>
            <p:nvPr/>
          </p:nvCxnSpPr>
          <p:spPr>
            <a:xfrm rot="-5400000">
              <a:off x="446100" y="2859000"/>
              <a:ext cx="2442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2" name="Google Shape;792;p69"/>
            <p:cNvCxnSpPr/>
            <p:nvPr/>
          </p:nvCxnSpPr>
          <p:spPr>
            <a:xfrm rot="-5400000">
              <a:off x="690300" y="2621100"/>
              <a:ext cx="2442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3" name="Google Shape;793;p69"/>
            <p:cNvCxnSpPr/>
            <p:nvPr/>
          </p:nvCxnSpPr>
          <p:spPr>
            <a:xfrm rot="-5400000">
              <a:off x="924375" y="2379000"/>
              <a:ext cx="2442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4" name="Google Shape;794;p69"/>
            <p:cNvCxnSpPr/>
            <p:nvPr/>
          </p:nvCxnSpPr>
          <p:spPr>
            <a:xfrm rot="-5400000">
              <a:off x="1166550" y="2141100"/>
              <a:ext cx="2442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795" name="Google Shape;795;p69"/>
          <p:cNvGrpSpPr/>
          <p:nvPr/>
        </p:nvGrpSpPr>
        <p:grpSpPr>
          <a:xfrm>
            <a:off x="1874479" y="1808221"/>
            <a:ext cx="966300" cy="484200"/>
            <a:chOff x="1824000" y="2499000"/>
            <a:chExt cx="966300" cy="484200"/>
          </a:xfrm>
        </p:grpSpPr>
        <p:cxnSp>
          <p:nvCxnSpPr>
            <p:cNvPr id="796" name="Google Shape;796;p69"/>
            <p:cNvCxnSpPr/>
            <p:nvPr/>
          </p:nvCxnSpPr>
          <p:spPr>
            <a:xfrm>
              <a:off x="1824000" y="2979000"/>
              <a:ext cx="4860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7" name="Google Shape;797;p69"/>
            <p:cNvCxnSpPr/>
            <p:nvPr/>
          </p:nvCxnSpPr>
          <p:spPr>
            <a:xfrm>
              <a:off x="2304300" y="2739000"/>
              <a:ext cx="4860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8" name="Google Shape;798;p69"/>
            <p:cNvCxnSpPr/>
            <p:nvPr/>
          </p:nvCxnSpPr>
          <p:spPr>
            <a:xfrm rot="-5400000">
              <a:off x="2187900" y="2861100"/>
              <a:ext cx="2442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9" name="Google Shape;799;p69"/>
            <p:cNvCxnSpPr/>
            <p:nvPr/>
          </p:nvCxnSpPr>
          <p:spPr>
            <a:xfrm rot="-5400000">
              <a:off x="2668200" y="2621100"/>
              <a:ext cx="2442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00" name="Google Shape;800;p69"/>
          <p:cNvGrpSpPr/>
          <p:nvPr/>
        </p:nvGrpSpPr>
        <p:grpSpPr>
          <a:xfrm>
            <a:off x="3374479" y="1320745"/>
            <a:ext cx="722475" cy="974952"/>
            <a:chOff x="3324000" y="2011524"/>
            <a:chExt cx="722475" cy="974952"/>
          </a:xfrm>
        </p:grpSpPr>
        <p:cxnSp>
          <p:nvCxnSpPr>
            <p:cNvPr id="801" name="Google Shape;801;p69"/>
            <p:cNvCxnSpPr/>
            <p:nvPr/>
          </p:nvCxnSpPr>
          <p:spPr>
            <a:xfrm>
              <a:off x="3324000" y="2979000"/>
              <a:ext cx="2442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2" name="Google Shape;802;p69"/>
            <p:cNvCxnSpPr/>
            <p:nvPr/>
          </p:nvCxnSpPr>
          <p:spPr>
            <a:xfrm>
              <a:off x="3568200" y="2499000"/>
              <a:ext cx="2442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3" name="Google Shape;803;p69"/>
            <p:cNvCxnSpPr/>
            <p:nvPr/>
          </p:nvCxnSpPr>
          <p:spPr>
            <a:xfrm>
              <a:off x="3802275" y="2026476"/>
              <a:ext cx="2442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4" name="Google Shape;804;p69"/>
            <p:cNvCxnSpPr/>
            <p:nvPr/>
          </p:nvCxnSpPr>
          <p:spPr>
            <a:xfrm rot="10800000">
              <a:off x="3802275" y="2011524"/>
              <a:ext cx="0" cy="500700"/>
            </a:xfrm>
            <a:prstGeom prst="straightConnector1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5" name="Google Shape;805;p69"/>
            <p:cNvCxnSpPr/>
            <p:nvPr/>
          </p:nvCxnSpPr>
          <p:spPr>
            <a:xfrm rot="10800000">
              <a:off x="3564150" y="2485776"/>
              <a:ext cx="0" cy="500700"/>
            </a:xfrm>
            <a:prstGeom prst="straightConnector1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06" name="Google Shape;806;p69"/>
          <p:cNvGrpSpPr/>
          <p:nvPr/>
        </p:nvGrpSpPr>
        <p:grpSpPr>
          <a:xfrm>
            <a:off x="4874479" y="1320745"/>
            <a:ext cx="966300" cy="967476"/>
            <a:chOff x="4824000" y="2011524"/>
            <a:chExt cx="966300" cy="967476"/>
          </a:xfrm>
        </p:grpSpPr>
        <p:cxnSp>
          <p:nvCxnSpPr>
            <p:cNvPr id="807" name="Google Shape;807;p69"/>
            <p:cNvCxnSpPr/>
            <p:nvPr/>
          </p:nvCxnSpPr>
          <p:spPr>
            <a:xfrm>
              <a:off x="4824000" y="2979000"/>
              <a:ext cx="4860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8" name="Google Shape;808;p69"/>
            <p:cNvCxnSpPr/>
            <p:nvPr/>
          </p:nvCxnSpPr>
          <p:spPr>
            <a:xfrm>
              <a:off x="5304300" y="2499000"/>
              <a:ext cx="4860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9" name="Google Shape;809;p69"/>
            <p:cNvCxnSpPr/>
            <p:nvPr/>
          </p:nvCxnSpPr>
          <p:spPr>
            <a:xfrm rot="10800000">
              <a:off x="5304300" y="2478299"/>
              <a:ext cx="0" cy="5007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10" name="Google Shape;810;p69"/>
            <p:cNvCxnSpPr/>
            <p:nvPr/>
          </p:nvCxnSpPr>
          <p:spPr>
            <a:xfrm rot="10800000">
              <a:off x="5774400" y="2011524"/>
              <a:ext cx="0" cy="5007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11" name="Google Shape;811;p69"/>
          <p:cNvSpPr txBox="1"/>
          <p:nvPr>
            <p:ph idx="1" type="body"/>
          </p:nvPr>
        </p:nvSpPr>
        <p:spPr>
          <a:xfrm>
            <a:off x="374479" y="984833"/>
            <a:ext cx="1086000" cy="29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Andeep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12" name="Google Shape;812;p69"/>
          <p:cNvSpPr txBox="1"/>
          <p:nvPr>
            <p:ph idx="1" type="body"/>
          </p:nvPr>
        </p:nvSpPr>
        <p:spPr>
          <a:xfrm>
            <a:off x="1881954" y="978071"/>
            <a:ext cx="1086000" cy="29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Izzy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13" name="Google Shape;813;p69"/>
          <p:cNvSpPr txBox="1"/>
          <p:nvPr>
            <p:ph idx="1" type="body"/>
          </p:nvPr>
        </p:nvSpPr>
        <p:spPr>
          <a:xfrm>
            <a:off x="3374479" y="983058"/>
            <a:ext cx="1086000" cy="29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Jun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14" name="Google Shape;814;p69"/>
          <p:cNvSpPr txBox="1"/>
          <p:nvPr>
            <p:ph idx="1" type="body"/>
          </p:nvPr>
        </p:nvSpPr>
        <p:spPr>
          <a:xfrm>
            <a:off x="4867004" y="981083"/>
            <a:ext cx="1086000" cy="29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Laura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15" name="Google Shape;815;p69"/>
          <p:cNvSpPr txBox="1"/>
          <p:nvPr>
            <p:ph idx="1" type="body"/>
          </p:nvPr>
        </p:nvSpPr>
        <p:spPr>
          <a:xfrm>
            <a:off x="402254" y="3507521"/>
            <a:ext cx="8496000" cy="34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Whose pattern do you think will reach the top of the page second? 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16" name="Google Shape;816;p69"/>
          <p:cNvSpPr txBox="1"/>
          <p:nvPr/>
        </p:nvSpPr>
        <p:spPr>
          <a:xfrm>
            <a:off x="335275" y="548725"/>
            <a:ext cx="792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Here are the beginnings of some students’ staircase patterns:</a:t>
            </a:r>
            <a:endParaRPr/>
          </a:p>
        </p:txBody>
      </p:sp>
      <p:sp>
        <p:nvSpPr>
          <p:cNvPr id="817" name="Google Shape;817;p69"/>
          <p:cNvSpPr txBox="1"/>
          <p:nvPr>
            <p:ph idx="1" type="body"/>
          </p:nvPr>
        </p:nvSpPr>
        <p:spPr>
          <a:xfrm>
            <a:off x="409925" y="2813603"/>
            <a:ext cx="8496000" cy="34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Jun’s pattern will reach the top first. It goes right 1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square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and up 2 squares.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  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18" name="Google Shape;818;p69"/>
          <p:cNvSpPr txBox="1"/>
          <p:nvPr>
            <p:ph idx="1" type="body"/>
          </p:nvPr>
        </p:nvSpPr>
        <p:spPr>
          <a:xfrm>
            <a:off x="425606" y="3126848"/>
            <a:ext cx="8496000" cy="34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His staircase is steepest.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19" name="Google Shape;819;p69"/>
          <p:cNvSpPr txBox="1"/>
          <p:nvPr>
            <p:ph idx="1" type="body"/>
          </p:nvPr>
        </p:nvSpPr>
        <p:spPr>
          <a:xfrm>
            <a:off x="413841" y="3907393"/>
            <a:ext cx="8496000" cy="34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Andeep’s and Laura’s will reach the top of the page at the same time.  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20" name="Google Shape;820;p69"/>
          <p:cNvSpPr txBox="1"/>
          <p:nvPr>
            <p:ph idx="1" type="body"/>
          </p:nvPr>
        </p:nvSpPr>
        <p:spPr>
          <a:xfrm>
            <a:off x="413850" y="4251800"/>
            <a:ext cx="8496000" cy="34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His goes right 1 up 1 and hers goes right 2 up 2.                             The overall movement is the same.  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Defining gradient</a:t>
            </a:r>
            <a:endParaRPr/>
          </a:p>
        </p:txBody>
      </p:sp>
      <p:graphicFrame>
        <p:nvGraphicFramePr>
          <p:cNvPr id="826" name="Google Shape;826;p70"/>
          <p:cNvGraphicFramePr/>
          <p:nvPr/>
        </p:nvGraphicFramePr>
        <p:xfrm>
          <a:off x="331466" y="9632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{4FBE5B0C-FCDF-4F6A-9639-473080F7E0CB}</a:tableStyleId>
              </a:tblPr>
              <a:tblGrid>
                <a:gridCol w="240150"/>
                <a:gridCol w="240150"/>
                <a:gridCol w="240150"/>
                <a:gridCol w="240150"/>
              </a:tblGrid>
              <a:tr h="24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27" name="Google Shape;827;p70"/>
          <p:cNvGraphicFramePr/>
          <p:nvPr/>
        </p:nvGraphicFramePr>
        <p:xfrm>
          <a:off x="1831466" y="94972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{4FBE5B0C-FCDF-4F6A-9639-473080F7E0CB}</a:tableStyleId>
              </a:tblPr>
              <a:tblGrid>
                <a:gridCol w="240150"/>
                <a:gridCol w="240150"/>
                <a:gridCol w="240150"/>
                <a:gridCol w="240150"/>
              </a:tblGrid>
              <a:tr h="24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28" name="Google Shape;828;p70"/>
          <p:cNvGraphicFramePr/>
          <p:nvPr/>
        </p:nvGraphicFramePr>
        <p:xfrm>
          <a:off x="3323990" y="9557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{4FBE5B0C-FCDF-4F6A-9639-473080F7E0CB}</a:tableStyleId>
              </a:tblPr>
              <a:tblGrid>
                <a:gridCol w="240150"/>
                <a:gridCol w="240150"/>
                <a:gridCol w="240150"/>
                <a:gridCol w="240150"/>
              </a:tblGrid>
              <a:tr h="24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29" name="Google Shape;829;p70"/>
          <p:cNvGraphicFramePr/>
          <p:nvPr/>
        </p:nvGraphicFramePr>
        <p:xfrm>
          <a:off x="4823990" y="9557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{4FBE5B0C-FCDF-4F6A-9639-473080F7E0CB}</a:tableStyleId>
              </a:tblPr>
              <a:tblGrid>
                <a:gridCol w="240150"/>
                <a:gridCol w="240150"/>
                <a:gridCol w="240150"/>
                <a:gridCol w="240150"/>
              </a:tblGrid>
              <a:tr h="24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30" name="Google Shape;830;p70"/>
          <p:cNvSpPr txBox="1"/>
          <p:nvPr>
            <p:ph idx="1" type="body"/>
          </p:nvPr>
        </p:nvSpPr>
        <p:spPr>
          <a:xfrm>
            <a:off x="324000" y="1971518"/>
            <a:ext cx="8496000" cy="34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What assumptions have you made?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cxnSp>
        <p:nvCxnSpPr>
          <p:cNvPr id="831" name="Google Shape;831;p70"/>
          <p:cNvCxnSpPr/>
          <p:nvPr/>
        </p:nvCxnSpPr>
        <p:spPr>
          <a:xfrm>
            <a:off x="324000" y="1912200"/>
            <a:ext cx="2442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2" name="Google Shape;832;p70"/>
          <p:cNvCxnSpPr/>
          <p:nvPr/>
        </p:nvCxnSpPr>
        <p:spPr>
          <a:xfrm>
            <a:off x="568200" y="1672200"/>
            <a:ext cx="2442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3" name="Google Shape;833;p70"/>
          <p:cNvCxnSpPr/>
          <p:nvPr/>
        </p:nvCxnSpPr>
        <p:spPr>
          <a:xfrm>
            <a:off x="802275" y="1432200"/>
            <a:ext cx="2442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4" name="Google Shape;834;p70"/>
          <p:cNvCxnSpPr/>
          <p:nvPr/>
        </p:nvCxnSpPr>
        <p:spPr>
          <a:xfrm>
            <a:off x="1044450" y="1192200"/>
            <a:ext cx="2442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5" name="Google Shape;835;p70"/>
          <p:cNvCxnSpPr/>
          <p:nvPr/>
        </p:nvCxnSpPr>
        <p:spPr>
          <a:xfrm rot="-5400000">
            <a:off x="446100" y="1792200"/>
            <a:ext cx="2442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6" name="Google Shape;836;p70"/>
          <p:cNvCxnSpPr/>
          <p:nvPr/>
        </p:nvCxnSpPr>
        <p:spPr>
          <a:xfrm rot="-5400000">
            <a:off x="690300" y="1554300"/>
            <a:ext cx="2442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7" name="Google Shape;837;p70"/>
          <p:cNvCxnSpPr/>
          <p:nvPr/>
        </p:nvCxnSpPr>
        <p:spPr>
          <a:xfrm rot="-5400000">
            <a:off x="924375" y="1312200"/>
            <a:ext cx="2442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8" name="Google Shape;838;p70"/>
          <p:cNvCxnSpPr/>
          <p:nvPr/>
        </p:nvCxnSpPr>
        <p:spPr>
          <a:xfrm rot="-5400000">
            <a:off x="1166550" y="1074300"/>
            <a:ext cx="2442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9" name="Google Shape;839;p70"/>
          <p:cNvCxnSpPr/>
          <p:nvPr/>
        </p:nvCxnSpPr>
        <p:spPr>
          <a:xfrm>
            <a:off x="1824000" y="1912200"/>
            <a:ext cx="4860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0" name="Google Shape;840;p70"/>
          <p:cNvCxnSpPr/>
          <p:nvPr/>
        </p:nvCxnSpPr>
        <p:spPr>
          <a:xfrm>
            <a:off x="2304300" y="1672200"/>
            <a:ext cx="4860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1" name="Google Shape;841;p70"/>
          <p:cNvCxnSpPr/>
          <p:nvPr/>
        </p:nvCxnSpPr>
        <p:spPr>
          <a:xfrm rot="-5400000">
            <a:off x="2187900" y="1794300"/>
            <a:ext cx="2442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2" name="Google Shape;842;p70"/>
          <p:cNvCxnSpPr/>
          <p:nvPr/>
        </p:nvCxnSpPr>
        <p:spPr>
          <a:xfrm rot="-5400000">
            <a:off x="2668200" y="1554300"/>
            <a:ext cx="2442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3" name="Google Shape;843;p70"/>
          <p:cNvCxnSpPr/>
          <p:nvPr/>
        </p:nvCxnSpPr>
        <p:spPr>
          <a:xfrm>
            <a:off x="3324000" y="1912200"/>
            <a:ext cx="244200" cy="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4" name="Google Shape;844;p70"/>
          <p:cNvCxnSpPr/>
          <p:nvPr/>
        </p:nvCxnSpPr>
        <p:spPr>
          <a:xfrm>
            <a:off x="3568200" y="1432200"/>
            <a:ext cx="244200" cy="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5" name="Google Shape;845;p70"/>
          <p:cNvCxnSpPr/>
          <p:nvPr/>
        </p:nvCxnSpPr>
        <p:spPr>
          <a:xfrm>
            <a:off x="3802275" y="959676"/>
            <a:ext cx="244200" cy="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6" name="Google Shape;846;p70"/>
          <p:cNvCxnSpPr/>
          <p:nvPr/>
        </p:nvCxnSpPr>
        <p:spPr>
          <a:xfrm rot="10800000">
            <a:off x="3802275" y="944724"/>
            <a:ext cx="0" cy="5007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7" name="Google Shape;847;p70"/>
          <p:cNvCxnSpPr/>
          <p:nvPr/>
        </p:nvCxnSpPr>
        <p:spPr>
          <a:xfrm rot="10800000">
            <a:off x="3564150" y="1418976"/>
            <a:ext cx="0" cy="5007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8" name="Google Shape;848;p70"/>
          <p:cNvCxnSpPr/>
          <p:nvPr/>
        </p:nvCxnSpPr>
        <p:spPr>
          <a:xfrm>
            <a:off x="4824000" y="1912200"/>
            <a:ext cx="486000" cy="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9" name="Google Shape;849;p70"/>
          <p:cNvCxnSpPr/>
          <p:nvPr/>
        </p:nvCxnSpPr>
        <p:spPr>
          <a:xfrm>
            <a:off x="5304300" y="1432200"/>
            <a:ext cx="486000" cy="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0" name="Google Shape;850;p70"/>
          <p:cNvCxnSpPr/>
          <p:nvPr/>
        </p:nvCxnSpPr>
        <p:spPr>
          <a:xfrm rot="10800000">
            <a:off x="5304300" y="1411499"/>
            <a:ext cx="0" cy="50070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1" name="Google Shape;851;p70"/>
          <p:cNvCxnSpPr/>
          <p:nvPr/>
        </p:nvCxnSpPr>
        <p:spPr>
          <a:xfrm rot="10800000">
            <a:off x="5774400" y="944724"/>
            <a:ext cx="0" cy="50070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2" name="Google Shape;852;p70"/>
          <p:cNvSpPr txBox="1"/>
          <p:nvPr>
            <p:ph idx="1" type="body"/>
          </p:nvPr>
        </p:nvSpPr>
        <p:spPr>
          <a:xfrm>
            <a:off x="324000" y="608813"/>
            <a:ext cx="1086000" cy="29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Andeep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53" name="Google Shape;853;p70"/>
          <p:cNvSpPr txBox="1"/>
          <p:nvPr>
            <p:ph idx="1" type="body"/>
          </p:nvPr>
        </p:nvSpPr>
        <p:spPr>
          <a:xfrm>
            <a:off x="1831475" y="602050"/>
            <a:ext cx="1086000" cy="29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Izzy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54" name="Google Shape;854;p70"/>
          <p:cNvSpPr txBox="1"/>
          <p:nvPr>
            <p:ph idx="1" type="body"/>
          </p:nvPr>
        </p:nvSpPr>
        <p:spPr>
          <a:xfrm>
            <a:off x="3324000" y="607038"/>
            <a:ext cx="1086000" cy="29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Jun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55" name="Google Shape;855;p70"/>
          <p:cNvSpPr txBox="1"/>
          <p:nvPr>
            <p:ph idx="1" type="body"/>
          </p:nvPr>
        </p:nvSpPr>
        <p:spPr>
          <a:xfrm>
            <a:off x="4816525" y="605063"/>
            <a:ext cx="1086000" cy="29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Laura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56" name="Google Shape;856;p70"/>
          <p:cNvSpPr txBox="1"/>
          <p:nvPr>
            <p:ph idx="1" type="body"/>
          </p:nvPr>
        </p:nvSpPr>
        <p:spPr>
          <a:xfrm>
            <a:off x="324000" y="2306750"/>
            <a:ext cx="8496000" cy="34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E.g. Their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pieces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of paper are all the same height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.  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57" name="Google Shape;857;p70"/>
          <p:cNvSpPr txBox="1"/>
          <p:nvPr>
            <p:ph idx="1" type="body"/>
          </p:nvPr>
        </p:nvSpPr>
        <p:spPr>
          <a:xfrm>
            <a:off x="324000" y="2750527"/>
            <a:ext cx="8496000" cy="34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Their staircases carry on in the same pattern.  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58" name="Google Shape;858;p70"/>
          <p:cNvSpPr txBox="1"/>
          <p:nvPr>
            <p:ph idx="1" type="body"/>
          </p:nvPr>
        </p:nvSpPr>
        <p:spPr>
          <a:xfrm>
            <a:off x="324000" y="3254254"/>
            <a:ext cx="8496000" cy="34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They all reach the top of the page before running out of width.  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59" name="Google Shape;859;p70"/>
          <p:cNvSpPr txBox="1"/>
          <p:nvPr>
            <p:ph idx="1" type="body"/>
          </p:nvPr>
        </p:nvSpPr>
        <p:spPr>
          <a:xfrm>
            <a:off x="324000" y="3771088"/>
            <a:ext cx="8496000" cy="34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We can </a:t>
            </a:r>
            <a:r>
              <a:rPr lang="en-GB" sz="1800"/>
              <a:t>describe</a:t>
            </a:r>
            <a:r>
              <a:rPr lang="en-GB" sz="1800"/>
              <a:t> the steepness of these </a:t>
            </a:r>
            <a:r>
              <a:rPr lang="en-GB" sz="1800"/>
              <a:t>staircases</a:t>
            </a:r>
            <a:r>
              <a:rPr lang="en-GB" sz="1800"/>
              <a:t> by looking at the </a:t>
            </a:r>
            <a:r>
              <a:rPr lang="en-GB" sz="1800"/>
              <a:t>number</a:t>
            </a:r>
            <a:r>
              <a:rPr lang="en-GB" sz="1800"/>
              <a:t> of squares moved in a horizontal and vertical direction.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60" name="Google Shape;860;p70"/>
          <p:cNvSpPr txBox="1"/>
          <p:nvPr>
            <p:ph idx="1" type="body"/>
          </p:nvPr>
        </p:nvSpPr>
        <p:spPr>
          <a:xfrm>
            <a:off x="324000" y="4545628"/>
            <a:ext cx="8496000" cy="34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E.g. Izzy’s staircase moves 2 </a:t>
            </a:r>
            <a:r>
              <a:rPr lang="en-GB" sz="1800"/>
              <a:t>squares</a:t>
            </a:r>
            <a:r>
              <a:rPr lang="en-GB" sz="1800"/>
              <a:t> right then 1 up.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Defining gradient</a:t>
            </a:r>
            <a:endParaRPr/>
          </a:p>
        </p:txBody>
      </p:sp>
      <p:sp>
        <p:nvSpPr>
          <p:cNvPr id="866" name="Google Shape;866;p71"/>
          <p:cNvSpPr txBox="1"/>
          <p:nvPr>
            <p:ph idx="1" type="body"/>
          </p:nvPr>
        </p:nvSpPr>
        <p:spPr>
          <a:xfrm>
            <a:off x="324000" y="6995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Aisha has plotted the linear relationships below.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What is the same and what is different about her four graphs? </a:t>
            </a:r>
            <a:endParaRPr sz="1800"/>
          </a:p>
        </p:txBody>
      </p:sp>
      <p:pic>
        <p:nvPicPr>
          <p:cNvPr id="867" name="Google Shape;867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1646200"/>
            <a:ext cx="2879300" cy="284280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68" name="Google Shape;868;p71"/>
          <p:cNvSpPr txBox="1"/>
          <p:nvPr>
            <p:ph idx="1" type="body"/>
          </p:nvPr>
        </p:nvSpPr>
        <p:spPr>
          <a:xfrm>
            <a:off x="3352250" y="1918200"/>
            <a:ext cx="5467800" cy="34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All her graphs are straight lines.  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69" name="Google Shape;869;p71"/>
          <p:cNvSpPr txBox="1"/>
          <p:nvPr>
            <p:ph idx="1" type="body"/>
          </p:nvPr>
        </p:nvSpPr>
        <p:spPr>
          <a:xfrm>
            <a:off x="3352250" y="2309550"/>
            <a:ext cx="5467800" cy="34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They all pass through the origin. 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70" name="Google Shape;870;p71"/>
          <p:cNvSpPr txBox="1"/>
          <p:nvPr>
            <p:ph idx="1" type="body"/>
          </p:nvPr>
        </p:nvSpPr>
        <p:spPr>
          <a:xfrm>
            <a:off x="3352250" y="3932400"/>
            <a:ext cx="5467800" cy="34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They have different steepnesses/ rates of change.   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71" name="Google Shape;871;p71"/>
          <p:cNvSpPr txBox="1"/>
          <p:nvPr>
            <p:ph idx="1" type="body"/>
          </p:nvPr>
        </p:nvSpPr>
        <p:spPr>
          <a:xfrm>
            <a:off x="3352250" y="4320675"/>
            <a:ext cx="5467800" cy="34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They rise at a different rate.    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72" name="Google Shape;872;p71"/>
          <p:cNvSpPr txBox="1"/>
          <p:nvPr>
            <p:ph idx="1" type="body"/>
          </p:nvPr>
        </p:nvSpPr>
        <p:spPr>
          <a:xfrm>
            <a:off x="3352250" y="2700900"/>
            <a:ext cx="5467800" cy="34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As the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/>
              <a:t>-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values increase so do the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/>
              <a:t>-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values (graphs go from bottom left to top right.)   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73" name="Google Shape;873;p71"/>
          <p:cNvSpPr txBox="1"/>
          <p:nvPr>
            <p:ph idx="1" type="body"/>
          </p:nvPr>
        </p:nvSpPr>
        <p:spPr>
          <a:xfrm>
            <a:off x="3352250" y="1610400"/>
            <a:ext cx="1927500" cy="32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 u="sng"/>
              <a:t>Similarities</a:t>
            </a:r>
            <a:r>
              <a:rPr lang="en-GB" sz="1800"/>
              <a:t>  </a:t>
            </a:r>
            <a:endParaRPr sz="1800"/>
          </a:p>
        </p:txBody>
      </p:sp>
      <p:sp>
        <p:nvSpPr>
          <p:cNvPr id="874" name="Google Shape;874;p71"/>
          <p:cNvSpPr txBox="1"/>
          <p:nvPr>
            <p:ph idx="1" type="body"/>
          </p:nvPr>
        </p:nvSpPr>
        <p:spPr>
          <a:xfrm>
            <a:off x="3352250" y="3564525"/>
            <a:ext cx="1927500" cy="32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 u="sng"/>
              <a:t>Differences</a:t>
            </a:r>
            <a:r>
              <a:rPr lang="en-GB" sz="1800"/>
              <a:t>  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Defining gradient</a:t>
            </a:r>
            <a:endParaRPr/>
          </a:p>
        </p:txBody>
      </p:sp>
      <p:sp>
        <p:nvSpPr>
          <p:cNvPr id="880" name="Google Shape;880;p72"/>
          <p:cNvSpPr txBox="1"/>
          <p:nvPr>
            <p:ph idx="1" type="body"/>
          </p:nvPr>
        </p:nvSpPr>
        <p:spPr>
          <a:xfrm>
            <a:off x="341825" y="669573"/>
            <a:ext cx="8496000" cy="55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Aisha’s classmates try to describe the rate of change for the green graph below.</a:t>
            </a:r>
            <a:r>
              <a:rPr lang="en-GB" sz="1800"/>
              <a:t>  </a:t>
            </a:r>
            <a:endParaRPr sz="1800"/>
          </a:p>
        </p:txBody>
      </p:sp>
      <p:sp>
        <p:nvSpPr>
          <p:cNvPr id="881" name="Google Shape;881;p72"/>
          <p:cNvSpPr txBox="1"/>
          <p:nvPr>
            <p:ph idx="1" type="body"/>
          </p:nvPr>
        </p:nvSpPr>
        <p:spPr>
          <a:xfrm>
            <a:off x="324000" y="4500300"/>
            <a:ext cx="6606300" cy="32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Whose description do you think is the best and why?</a:t>
            </a:r>
            <a:r>
              <a:rPr lang="en-GB" sz="1800"/>
              <a:t> </a:t>
            </a:r>
            <a:endParaRPr sz="1800"/>
          </a:p>
        </p:txBody>
      </p:sp>
      <p:pic>
        <p:nvPicPr>
          <p:cNvPr id="882" name="Google Shape;882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429002" y="2237712"/>
            <a:ext cx="683800" cy="661736"/>
          </a:xfrm>
          <a:prstGeom prst="rect">
            <a:avLst/>
          </a:prstGeom>
          <a:noFill/>
          <a:ln>
            <a:noFill/>
          </a:ln>
        </p:spPr>
      </p:pic>
      <p:pic>
        <p:nvPicPr>
          <p:cNvPr id="883" name="Google Shape;883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66073" y="1487314"/>
            <a:ext cx="483799" cy="623848"/>
          </a:xfrm>
          <a:prstGeom prst="rect">
            <a:avLst/>
          </a:prstGeom>
          <a:noFill/>
          <a:ln>
            <a:noFill/>
          </a:ln>
        </p:spPr>
      </p:pic>
      <p:pic>
        <p:nvPicPr>
          <p:cNvPr id="884" name="Google Shape;884;p7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955998" y="3971696"/>
            <a:ext cx="446257" cy="558038"/>
          </a:xfrm>
          <a:prstGeom prst="rect">
            <a:avLst/>
          </a:prstGeom>
          <a:noFill/>
          <a:ln>
            <a:noFill/>
          </a:ln>
        </p:spPr>
      </p:pic>
      <p:sp>
        <p:nvSpPr>
          <p:cNvPr id="885" name="Google Shape;885;p72"/>
          <p:cNvSpPr txBox="1"/>
          <p:nvPr/>
        </p:nvSpPr>
        <p:spPr>
          <a:xfrm>
            <a:off x="7747132" y="4480492"/>
            <a:ext cx="8640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6" name="Google Shape;886;p72"/>
          <p:cNvSpPr txBox="1"/>
          <p:nvPr/>
        </p:nvSpPr>
        <p:spPr>
          <a:xfrm>
            <a:off x="3298326" y="2899455"/>
            <a:ext cx="10170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7" name="Google Shape;887;p72"/>
          <p:cNvSpPr txBox="1"/>
          <p:nvPr/>
        </p:nvSpPr>
        <p:spPr>
          <a:xfrm>
            <a:off x="7771925" y="2150850"/>
            <a:ext cx="10659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88" name="Google Shape;888;p72"/>
          <p:cNvPicPr preferRelativeResize="0"/>
          <p:nvPr/>
        </p:nvPicPr>
        <p:blipFill rotWithShape="1">
          <a:blip r:embed="rId6">
            <a:alphaModFix/>
          </a:blip>
          <a:srcRect b="43690" l="0" r="57905" t="0"/>
          <a:stretch/>
        </p:blipFill>
        <p:spPr>
          <a:xfrm>
            <a:off x="5804000" y="969800"/>
            <a:ext cx="2389202" cy="913451"/>
          </a:xfrm>
          <a:prstGeom prst="rect">
            <a:avLst/>
          </a:prstGeom>
          <a:noFill/>
          <a:ln>
            <a:noFill/>
          </a:ln>
        </p:spPr>
      </p:pic>
      <p:sp>
        <p:nvSpPr>
          <p:cNvPr id="889" name="Google Shape;889;p72"/>
          <p:cNvSpPr txBox="1"/>
          <p:nvPr/>
        </p:nvSpPr>
        <p:spPr>
          <a:xfrm flipH="1">
            <a:off x="5904950" y="1000800"/>
            <a:ext cx="20652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graph goes 1 across and 2 up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90" name="Google Shape;890;p7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7600" y="1484262"/>
            <a:ext cx="2855024" cy="2876974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91" name="Google Shape;891;p72"/>
          <p:cNvPicPr preferRelativeResize="0"/>
          <p:nvPr/>
        </p:nvPicPr>
        <p:blipFill rotWithShape="1">
          <a:blip r:embed="rId6">
            <a:alphaModFix/>
          </a:blip>
          <a:srcRect b="43690" l="0" r="57905" t="0"/>
          <a:stretch/>
        </p:blipFill>
        <p:spPr>
          <a:xfrm flipH="1">
            <a:off x="4038598" y="1804875"/>
            <a:ext cx="3003802" cy="1226050"/>
          </a:xfrm>
          <a:prstGeom prst="rect">
            <a:avLst/>
          </a:prstGeom>
          <a:noFill/>
          <a:ln>
            <a:noFill/>
          </a:ln>
        </p:spPr>
      </p:pic>
      <p:sp>
        <p:nvSpPr>
          <p:cNvPr id="892" name="Google Shape;892;p72"/>
          <p:cNvSpPr txBox="1"/>
          <p:nvPr/>
        </p:nvSpPr>
        <p:spPr>
          <a:xfrm>
            <a:off x="4263550" y="1883250"/>
            <a:ext cx="2751600" cy="80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graph moves 1 in the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-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direction and 2 in the </a:t>
            </a:r>
            <a:r>
              <a:rPr i="1" lang="en-GB" sz="19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-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direction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93" name="Google Shape;893;p72"/>
          <p:cNvPicPr preferRelativeResize="0"/>
          <p:nvPr/>
        </p:nvPicPr>
        <p:blipFill rotWithShape="1">
          <a:blip r:embed="rId6">
            <a:alphaModFix/>
          </a:blip>
          <a:srcRect b="43690" l="0" r="57905" t="0"/>
          <a:stretch/>
        </p:blipFill>
        <p:spPr>
          <a:xfrm>
            <a:off x="4112800" y="3126425"/>
            <a:ext cx="3908977" cy="1390525"/>
          </a:xfrm>
          <a:prstGeom prst="rect">
            <a:avLst/>
          </a:prstGeom>
          <a:noFill/>
          <a:ln>
            <a:noFill/>
          </a:ln>
        </p:spPr>
      </p:pic>
      <p:sp>
        <p:nvSpPr>
          <p:cNvPr id="894" name="Google Shape;894;p72"/>
          <p:cNvSpPr txBox="1"/>
          <p:nvPr/>
        </p:nvSpPr>
        <p:spPr>
          <a:xfrm flipH="1">
            <a:off x="4172588" y="3093900"/>
            <a:ext cx="3654900" cy="11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For every 1 square in the positive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-direction, the graph rises 2 in the positive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-direction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95" name="Google Shape;895;p72"/>
          <p:cNvCxnSpPr/>
          <p:nvPr/>
        </p:nvCxnSpPr>
        <p:spPr>
          <a:xfrm flipH="1" rot="10800000">
            <a:off x="1525350" y="3012888"/>
            <a:ext cx="216600" cy="33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896" name="Google Shape;896;p72"/>
          <p:cNvCxnSpPr/>
          <p:nvPr/>
        </p:nvCxnSpPr>
        <p:spPr>
          <a:xfrm rot="10800000">
            <a:off x="1707228" y="2646519"/>
            <a:ext cx="0" cy="3327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Defining gradient</a:t>
            </a:r>
            <a:endParaRPr/>
          </a:p>
        </p:txBody>
      </p:sp>
      <p:sp>
        <p:nvSpPr>
          <p:cNvPr id="902" name="Google Shape;902;p73"/>
          <p:cNvSpPr txBox="1"/>
          <p:nvPr>
            <p:ph idx="1" type="body"/>
          </p:nvPr>
        </p:nvSpPr>
        <p:spPr>
          <a:xfrm>
            <a:off x="3369600" y="2919900"/>
            <a:ext cx="5450400" cy="32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Jun has made it clear which direction he is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referring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to.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903" name="Google Shape;903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879798" y="1990496"/>
            <a:ext cx="446257" cy="558038"/>
          </a:xfrm>
          <a:prstGeom prst="rect">
            <a:avLst/>
          </a:prstGeom>
          <a:noFill/>
          <a:ln>
            <a:noFill/>
          </a:ln>
        </p:spPr>
      </p:pic>
      <p:sp>
        <p:nvSpPr>
          <p:cNvPr id="904" name="Google Shape;904;p73"/>
          <p:cNvSpPr txBox="1"/>
          <p:nvPr/>
        </p:nvSpPr>
        <p:spPr>
          <a:xfrm>
            <a:off x="7670932" y="2499292"/>
            <a:ext cx="8640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05" name="Google Shape;905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7600" y="1484262"/>
            <a:ext cx="2855024" cy="2876974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06" name="Google Shape;906;p73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>
            <a:off x="4036600" y="1145225"/>
            <a:ext cx="3908977" cy="1390525"/>
          </a:xfrm>
          <a:prstGeom prst="rect">
            <a:avLst/>
          </a:prstGeom>
          <a:noFill/>
          <a:ln>
            <a:noFill/>
          </a:ln>
        </p:spPr>
      </p:pic>
      <p:sp>
        <p:nvSpPr>
          <p:cNvPr id="907" name="Google Shape;907;p73"/>
          <p:cNvSpPr txBox="1"/>
          <p:nvPr/>
        </p:nvSpPr>
        <p:spPr>
          <a:xfrm flipH="1">
            <a:off x="4096388" y="1112700"/>
            <a:ext cx="3654900" cy="11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every 1 square in the positive </a:t>
            </a:r>
            <a:r>
              <a:rPr i="1"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-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direction, the graph rises 2 in the positive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-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direction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08" name="Google Shape;908;p73"/>
          <p:cNvCxnSpPr/>
          <p:nvPr/>
        </p:nvCxnSpPr>
        <p:spPr>
          <a:xfrm flipH="1" rot="10800000">
            <a:off x="1525350" y="3012888"/>
            <a:ext cx="216600" cy="33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909" name="Google Shape;909;p73"/>
          <p:cNvCxnSpPr/>
          <p:nvPr/>
        </p:nvCxnSpPr>
        <p:spPr>
          <a:xfrm rot="10800000">
            <a:off x="1707228" y="2646519"/>
            <a:ext cx="0" cy="3327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910" name="Google Shape;910;p73"/>
          <p:cNvSpPr txBox="1"/>
          <p:nvPr>
            <p:ph idx="1" type="body"/>
          </p:nvPr>
        </p:nvSpPr>
        <p:spPr>
          <a:xfrm>
            <a:off x="3369600" y="3849800"/>
            <a:ext cx="5450400" cy="3201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He has described the rise as a </a:t>
            </a:r>
            <a:r>
              <a:rPr lang="en-GB" sz="2000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rPr>
              <a:t>rate of change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.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911" name="Google Shape;911;p73"/>
          <p:cNvCxnSpPr/>
          <p:nvPr/>
        </p:nvCxnSpPr>
        <p:spPr>
          <a:xfrm>
            <a:off x="4096400" y="1797277"/>
            <a:ext cx="10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2" name="Google Shape;912;p73"/>
          <p:cNvCxnSpPr/>
          <p:nvPr/>
        </p:nvCxnSpPr>
        <p:spPr>
          <a:xfrm>
            <a:off x="4096400" y="1456252"/>
            <a:ext cx="10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Defining gradient</a:t>
            </a:r>
            <a:endParaRPr/>
          </a:p>
        </p:txBody>
      </p:sp>
      <p:sp>
        <p:nvSpPr>
          <p:cNvPr id="918" name="Google Shape;918;p74"/>
          <p:cNvSpPr txBox="1"/>
          <p:nvPr>
            <p:ph idx="1" type="body"/>
          </p:nvPr>
        </p:nvSpPr>
        <p:spPr>
          <a:xfrm>
            <a:off x="324000" y="1620000"/>
            <a:ext cx="84960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We can refer to the </a:t>
            </a:r>
            <a:r>
              <a:rPr lang="en-GB" sz="2000">
                <a:solidFill>
                  <a:schemeClr val="accent4"/>
                </a:solidFill>
              </a:rPr>
              <a:t>rate of change</a:t>
            </a:r>
            <a:r>
              <a:rPr lang="en-GB" sz="2000"/>
              <a:t> in all graphs as the amount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/>
              <a:t> changes when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/>
              <a:t> increases by 1. </a:t>
            </a:r>
            <a:endParaRPr sz="2000"/>
          </a:p>
        </p:txBody>
      </p:sp>
      <p:sp>
        <p:nvSpPr>
          <p:cNvPr id="919" name="Google Shape;919;p74"/>
          <p:cNvSpPr txBox="1"/>
          <p:nvPr>
            <p:ph idx="1" type="body"/>
          </p:nvPr>
        </p:nvSpPr>
        <p:spPr>
          <a:xfrm>
            <a:off x="324000" y="725363"/>
            <a:ext cx="84960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It is useful to refer to the </a:t>
            </a:r>
            <a:r>
              <a:rPr lang="en-GB" sz="2000">
                <a:solidFill>
                  <a:schemeClr val="accent4"/>
                </a:solidFill>
              </a:rPr>
              <a:t>rate of change</a:t>
            </a:r>
            <a:r>
              <a:rPr lang="en-GB" sz="2000"/>
              <a:t> in all graphs in a similar way.</a:t>
            </a:r>
            <a:r>
              <a:rPr lang="en-GB" sz="2000"/>
              <a:t>   </a:t>
            </a:r>
            <a:endParaRPr sz="2000"/>
          </a:p>
        </p:txBody>
      </p:sp>
      <p:sp>
        <p:nvSpPr>
          <p:cNvPr id="920" name="Google Shape;920;p74"/>
          <p:cNvSpPr txBox="1"/>
          <p:nvPr>
            <p:ph idx="1" type="body"/>
          </p:nvPr>
        </p:nvSpPr>
        <p:spPr>
          <a:xfrm>
            <a:off x="324000" y="2654500"/>
            <a:ext cx="84960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We call this measure of rate of change, the </a:t>
            </a:r>
            <a:r>
              <a:rPr b="1" lang="en-GB" sz="2000"/>
              <a:t>gradient.</a:t>
            </a:r>
            <a:r>
              <a:rPr lang="en-GB" sz="2000"/>
              <a:t> 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Defining gradient</a:t>
            </a:r>
            <a:endParaRPr/>
          </a:p>
        </p:txBody>
      </p:sp>
      <p:sp>
        <p:nvSpPr>
          <p:cNvPr id="926" name="Google Shape;926;p75"/>
          <p:cNvSpPr txBox="1"/>
          <p:nvPr>
            <p:ph idx="1" type="body"/>
          </p:nvPr>
        </p:nvSpPr>
        <p:spPr>
          <a:xfrm>
            <a:off x="340375" y="785975"/>
            <a:ext cx="42315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</a:t>
            </a:r>
            <a:r>
              <a:rPr b="1" lang="en-GB" sz="1800"/>
              <a:t>gradient</a:t>
            </a:r>
            <a:r>
              <a:rPr lang="en-GB" sz="1800"/>
              <a:t> of this line is 3 </a:t>
            </a:r>
            <a:r>
              <a:rPr lang="en-GB" sz="1800"/>
              <a:t>because</a:t>
            </a:r>
            <a:r>
              <a:rPr lang="en-GB" sz="1800"/>
              <a:t> for every 1 square moved in the positive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/>
              <a:t>-direction, the graph increases by 3 in the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-direction.</a:t>
            </a:r>
            <a:endParaRPr sz="1800"/>
          </a:p>
        </p:txBody>
      </p:sp>
      <p:pic>
        <p:nvPicPr>
          <p:cNvPr id="927" name="Google Shape;927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0386" y="2160000"/>
            <a:ext cx="2628825" cy="2638924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928" name="Google Shape;928;p75"/>
          <p:cNvCxnSpPr/>
          <p:nvPr/>
        </p:nvCxnSpPr>
        <p:spPr>
          <a:xfrm flipH="1" rot="10800000">
            <a:off x="1437648" y="3372485"/>
            <a:ext cx="171600" cy="30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929" name="Google Shape;929;p75"/>
          <p:cNvCxnSpPr/>
          <p:nvPr/>
        </p:nvCxnSpPr>
        <p:spPr>
          <a:xfrm rot="10800000">
            <a:off x="1609183" y="2920390"/>
            <a:ext cx="0" cy="4551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med" w="med" type="none"/>
            <a:tailEnd len="med" w="med" type="triangle"/>
          </a:ln>
        </p:spPr>
      </p:cxnSp>
      <p:pic>
        <p:nvPicPr>
          <p:cNvPr id="930" name="Google Shape;930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4000" y="2156524"/>
            <a:ext cx="2628825" cy="264587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31" name="Google Shape;931;p75"/>
          <p:cNvSpPr txBox="1"/>
          <p:nvPr>
            <p:ph idx="1" type="body"/>
          </p:nvPr>
        </p:nvSpPr>
        <p:spPr>
          <a:xfrm>
            <a:off x="4671875" y="810000"/>
            <a:ext cx="42315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</a:t>
            </a:r>
            <a:r>
              <a:rPr b="1" lang="en-GB" sz="1800"/>
              <a:t>gradient</a:t>
            </a:r>
            <a:r>
              <a:rPr lang="en-GB" sz="1800"/>
              <a:t> of this line is 1 because for every 1 square moved in the positive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/>
              <a:t>-</a:t>
            </a:r>
            <a:r>
              <a:rPr lang="en-GB" sz="1800"/>
              <a:t>direction, the graph increases by 1 in the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</a:t>
            </a:r>
            <a:r>
              <a:rPr lang="en-GB" sz="1800"/>
              <a:t>direction.</a:t>
            </a:r>
            <a:endParaRPr sz="1800"/>
          </a:p>
        </p:txBody>
      </p:sp>
      <p:cxnSp>
        <p:nvCxnSpPr>
          <p:cNvPr id="932" name="Google Shape;932;p75"/>
          <p:cNvCxnSpPr/>
          <p:nvPr/>
        </p:nvCxnSpPr>
        <p:spPr>
          <a:xfrm flipH="1" rot="10800000">
            <a:off x="5253275" y="4319092"/>
            <a:ext cx="171600" cy="9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933" name="Google Shape;933;p75"/>
          <p:cNvCxnSpPr/>
          <p:nvPr/>
        </p:nvCxnSpPr>
        <p:spPr>
          <a:xfrm rot="10800000">
            <a:off x="5424810" y="4149293"/>
            <a:ext cx="0" cy="1707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dash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76"/>
          <p:cNvSpPr txBox="1"/>
          <p:nvPr>
            <p:ph idx="1" type="body"/>
          </p:nvPr>
        </p:nvSpPr>
        <p:spPr>
          <a:xfrm>
            <a:off x="857400" y="1399250"/>
            <a:ext cx="4570200" cy="6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For every 2 in the positive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/>
              <a:t>-</a:t>
            </a:r>
            <a:r>
              <a:rPr lang="en-GB" sz="1800"/>
              <a:t>direction the graph increases by 1 in the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</a:t>
            </a:r>
            <a:r>
              <a:rPr lang="en-GB" sz="1800"/>
              <a:t>direction.</a:t>
            </a:r>
            <a:endParaRPr sz="1800"/>
          </a:p>
        </p:txBody>
      </p:sp>
      <p:sp>
        <p:nvSpPr>
          <p:cNvPr id="939" name="Google Shape;939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Defining gradient</a:t>
            </a:r>
            <a:endParaRPr/>
          </a:p>
        </p:txBody>
      </p:sp>
      <p:sp>
        <p:nvSpPr>
          <p:cNvPr id="940" name="Google Shape;940;p76"/>
          <p:cNvSpPr txBox="1"/>
          <p:nvPr>
            <p:ph idx="4294967295" type="title"/>
          </p:nvPr>
        </p:nvSpPr>
        <p:spPr>
          <a:xfrm>
            <a:off x="324000" y="6914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GB" sz="2000"/>
              <a:t>Which of these describe the </a:t>
            </a:r>
            <a:r>
              <a:rPr lang="en-GB" sz="2000"/>
              <a:t>gradient</a:t>
            </a:r>
            <a:r>
              <a:rPr b="0" lang="en-GB" sz="2000"/>
              <a:t> of this line?</a:t>
            </a:r>
            <a:endParaRPr b="0" sz="2000"/>
          </a:p>
        </p:txBody>
      </p:sp>
      <p:sp>
        <p:nvSpPr>
          <p:cNvPr id="941" name="Google Shape;941;p76"/>
          <p:cNvSpPr txBox="1"/>
          <p:nvPr>
            <p:ph idx="4294967295" type="subTitle"/>
          </p:nvPr>
        </p:nvSpPr>
        <p:spPr>
          <a:xfrm>
            <a:off x="847950" y="2377200"/>
            <a:ext cx="49263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graph </a:t>
            </a:r>
            <a:r>
              <a:rPr lang="en-GB" sz="1800"/>
              <a:t>increases</a:t>
            </a:r>
            <a:r>
              <a:rPr lang="en-GB" sz="1800"/>
              <a:t> by 2 in the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</a:t>
            </a:r>
            <a:r>
              <a:rPr lang="en-GB" sz="1800"/>
              <a:t>direction for every 1 increase in the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/>
              <a:t>-</a:t>
            </a:r>
            <a:r>
              <a:rPr lang="en-GB" sz="1800"/>
              <a:t>direction.</a:t>
            </a:r>
            <a:endParaRPr sz="1800"/>
          </a:p>
        </p:txBody>
      </p:sp>
      <p:sp>
        <p:nvSpPr>
          <p:cNvPr id="942" name="Google Shape;942;p76"/>
          <p:cNvSpPr txBox="1"/>
          <p:nvPr>
            <p:ph idx="4294967295" type="subTitle"/>
          </p:nvPr>
        </p:nvSpPr>
        <p:spPr>
          <a:xfrm>
            <a:off x="857400" y="3335025"/>
            <a:ext cx="52953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For every 1 in the positive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</a:t>
            </a:r>
            <a:r>
              <a:rPr lang="en-GB" sz="1800"/>
              <a:t>direction the graph changes by  0.5  in the positive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/>
              <a:t>-</a:t>
            </a:r>
            <a:r>
              <a:rPr lang="en-GB" sz="1800"/>
              <a:t>direction.</a:t>
            </a:r>
            <a:endParaRPr sz="1800"/>
          </a:p>
        </p:txBody>
      </p:sp>
      <p:sp>
        <p:nvSpPr>
          <p:cNvPr descr="&lt;math xmlns=&quot;http://www.w3.org/1998/Math/MathML&quot; display=&quot;block&quot; data-is-equatio=&quot;1&quot; data-latex=&quot;\frac{1}{2}&quot;&gt;&lt;mfrac&gt;&lt;mn&gt;1&lt;/mn&gt;&lt;mn&gt;2&lt;/mn&gt;&lt;/mfrac&gt;&lt;/math&gt;" id="943" name="Google Shape;943;p76" title="one half"/>
          <p:cNvSpPr txBox="1"/>
          <p:nvPr>
            <p:ph idx="4294967295" type="subTitle"/>
          </p:nvPr>
        </p:nvSpPr>
        <p:spPr>
          <a:xfrm>
            <a:off x="857400" y="4320012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graph rises by 4 in the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-</a:t>
            </a:r>
            <a:r>
              <a:rPr lang="en-GB" sz="1800"/>
              <a:t>direction for every 2 in the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/>
              <a:t>-</a:t>
            </a:r>
            <a:r>
              <a:rPr lang="en-GB" sz="1800"/>
              <a:t>direction.</a:t>
            </a:r>
            <a:endParaRPr sz="1800"/>
          </a:p>
        </p:txBody>
      </p:sp>
      <p:pic>
        <p:nvPicPr>
          <p:cNvPr id="944" name="Google Shape;944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1408" y="2769875"/>
            <a:ext cx="396000" cy="419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45" name="Google Shape;945;p76"/>
          <p:cNvGrpSpPr/>
          <p:nvPr/>
        </p:nvGrpSpPr>
        <p:grpSpPr>
          <a:xfrm>
            <a:off x="323991" y="1461950"/>
            <a:ext cx="457200" cy="457200"/>
            <a:chOff x="1020916" y="1442088"/>
            <a:chExt cx="457200" cy="457200"/>
          </a:xfrm>
        </p:grpSpPr>
        <p:pic>
          <p:nvPicPr>
            <p:cNvPr id="946" name="Google Shape;946;p7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7" name="Google Shape;947;p7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48" name="Google Shape;948;p76"/>
          <p:cNvGrpSpPr/>
          <p:nvPr/>
        </p:nvGrpSpPr>
        <p:grpSpPr>
          <a:xfrm>
            <a:off x="323991" y="2398483"/>
            <a:ext cx="457200" cy="457200"/>
            <a:chOff x="1020916" y="1442088"/>
            <a:chExt cx="457200" cy="457200"/>
          </a:xfrm>
        </p:grpSpPr>
        <p:pic>
          <p:nvPicPr>
            <p:cNvPr id="949" name="Google Shape;949;p7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0" name="Google Shape;950;p7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51" name="Google Shape;951;p76"/>
          <p:cNvGrpSpPr/>
          <p:nvPr/>
        </p:nvGrpSpPr>
        <p:grpSpPr>
          <a:xfrm>
            <a:off x="323991" y="3335017"/>
            <a:ext cx="457200" cy="457200"/>
            <a:chOff x="1020916" y="1442088"/>
            <a:chExt cx="457200" cy="457200"/>
          </a:xfrm>
        </p:grpSpPr>
        <p:pic>
          <p:nvPicPr>
            <p:cNvPr id="952" name="Google Shape;952;p7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3" name="Google Shape;953;p7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54" name="Google Shape;954;p76"/>
          <p:cNvGrpSpPr/>
          <p:nvPr/>
        </p:nvGrpSpPr>
        <p:grpSpPr>
          <a:xfrm>
            <a:off x="323991" y="4271550"/>
            <a:ext cx="457200" cy="457200"/>
            <a:chOff x="1020916" y="1442088"/>
            <a:chExt cx="457200" cy="457200"/>
          </a:xfrm>
        </p:grpSpPr>
        <p:pic>
          <p:nvPicPr>
            <p:cNvPr id="955" name="Google Shape;955;p7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6" name="Google Shape;956;p7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957" name="Google Shape;957;p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28900" y="1296325"/>
            <a:ext cx="2512001" cy="2732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Defining gradient</a:t>
            </a:r>
            <a:endParaRPr/>
          </a:p>
        </p:txBody>
      </p:sp>
      <p:sp>
        <p:nvSpPr>
          <p:cNvPr id="963" name="Google Shape;963;p77"/>
          <p:cNvSpPr txBox="1"/>
          <p:nvPr>
            <p:ph idx="1" type="body"/>
          </p:nvPr>
        </p:nvSpPr>
        <p:spPr>
          <a:xfrm>
            <a:off x="332250" y="759300"/>
            <a:ext cx="8479500" cy="39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Graphs have a </a:t>
            </a:r>
            <a:r>
              <a:rPr lang="en-GB" sz="2000">
                <a:solidFill>
                  <a:schemeClr val="accent4"/>
                </a:solidFill>
              </a:rPr>
              <a:t>positive</a:t>
            </a:r>
            <a:r>
              <a:rPr lang="en-GB" sz="2000"/>
              <a:t> </a:t>
            </a:r>
            <a:r>
              <a:rPr b="1" lang="en-GB" sz="2000"/>
              <a:t>gradient</a:t>
            </a:r>
            <a:r>
              <a:rPr lang="en-GB" sz="2000"/>
              <a:t> if as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/>
              <a:t> </a:t>
            </a:r>
            <a:r>
              <a:rPr lang="en-GB" sz="2000"/>
              <a:t>increases,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/>
              <a:t> </a:t>
            </a:r>
            <a:r>
              <a:rPr lang="en-GB" sz="2000"/>
              <a:t>also increases.</a:t>
            </a:r>
            <a:endParaRPr sz="2000"/>
          </a:p>
        </p:txBody>
      </p:sp>
      <p:pic>
        <p:nvPicPr>
          <p:cNvPr id="964" name="Google Shape;964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650" y="1818600"/>
            <a:ext cx="2879300" cy="284280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65" name="Google Shape;965;p77"/>
          <p:cNvSpPr txBox="1"/>
          <p:nvPr>
            <p:ph idx="1" type="body"/>
          </p:nvPr>
        </p:nvSpPr>
        <p:spPr>
          <a:xfrm>
            <a:off x="3431500" y="1818600"/>
            <a:ext cx="5335500" cy="39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All these graphs have positive</a:t>
            </a:r>
            <a:r>
              <a:rPr lang="en-GB" sz="2000"/>
              <a:t> </a:t>
            </a:r>
            <a:r>
              <a:rPr b="1" lang="en-GB" sz="2000"/>
              <a:t>gradient</a:t>
            </a:r>
            <a:r>
              <a:rPr lang="en-GB" sz="2000"/>
              <a:t> because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/>
              <a:t> </a:t>
            </a:r>
            <a:r>
              <a:rPr lang="en-GB" sz="2000"/>
              <a:t>increases as the graph moves to the right (positive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/>
              <a:t>-direction)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Defining gradient</a:t>
            </a:r>
            <a:endParaRPr/>
          </a:p>
        </p:txBody>
      </p:sp>
      <p:sp>
        <p:nvSpPr>
          <p:cNvPr id="971" name="Google Shape;971;p78"/>
          <p:cNvSpPr txBox="1"/>
          <p:nvPr>
            <p:ph idx="1" type="body"/>
          </p:nvPr>
        </p:nvSpPr>
        <p:spPr>
          <a:xfrm>
            <a:off x="332250" y="759300"/>
            <a:ext cx="8479500" cy="39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Graphs have a </a:t>
            </a:r>
            <a:r>
              <a:rPr lang="en-GB" sz="2000">
                <a:solidFill>
                  <a:schemeClr val="accent4"/>
                </a:solidFill>
              </a:rPr>
              <a:t>positive</a:t>
            </a:r>
            <a:r>
              <a:rPr lang="en-GB" sz="2000"/>
              <a:t> </a:t>
            </a:r>
            <a:r>
              <a:rPr b="1" lang="en-GB" sz="2000"/>
              <a:t>gradient</a:t>
            </a:r>
            <a:r>
              <a:rPr lang="en-GB" sz="2000"/>
              <a:t> if as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/>
              <a:t> increases,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/>
              <a:t> also increases.</a:t>
            </a:r>
            <a:endParaRPr sz="2000"/>
          </a:p>
        </p:txBody>
      </p:sp>
      <p:sp>
        <p:nvSpPr>
          <p:cNvPr id="972" name="Google Shape;972;p78"/>
          <p:cNvSpPr txBox="1"/>
          <p:nvPr>
            <p:ph idx="1" type="body"/>
          </p:nvPr>
        </p:nvSpPr>
        <p:spPr>
          <a:xfrm>
            <a:off x="3431500" y="1818600"/>
            <a:ext cx="5388600" cy="39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</a:t>
            </a:r>
            <a:r>
              <a:rPr lang="en-GB" sz="2000"/>
              <a:t>hese graphs do </a:t>
            </a:r>
            <a:r>
              <a:rPr lang="en-GB" sz="2000">
                <a:solidFill>
                  <a:schemeClr val="accent4"/>
                </a:solidFill>
              </a:rPr>
              <a:t>not</a:t>
            </a:r>
            <a:r>
              <a:rPr lang="en-GB" sz="2000"/>
              <a:t> have positive </a:t>
            </a:r>
            <a:r>
              <a:rPr b="1" lang="en-GB" sz="2000"/>
              <a:t>gradient</a:t>
            </a:r>
            <a:r>
              <a:rPr lang="en-GB" sz="2000"/>
              <a:t> because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/>
              <a:t> decreases as the graph moves to the right (positive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/>
              <a:t>-</a:t>
            </a:r>
            <a:r>
              <a:rPr lang="en-GB" sz="2000"/>
              <a:t>direction)</a:t>
            </a:r>
            <a:endParaRPr sz="2000"/>
          </a:p>
        </p:txBody>
      </p:sp>
      <p:pic>
        <p:nvPicPr>
          <p:cNvPr id="973" name="Google Shape;973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200" y="1833750"/>
            <a:ext cx="2890700" cy="2920424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79"/>
          <p:cNvSpPr txBox="1"/>
          <p:nvPr>
            <p:ph idx="1" type="body"/>
          </p:nvPr>
        </p:nvSpPr>
        <p:spPr>
          <a:xfrm>
            <a:off x="324000" y="759300"/>
            <a:ext cx="82377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Which of these graphs have a positive </a:t>
            </a:r>
            <a:r>
              <a:rPr b="1" lang="en-GB" sz="2000"/>
              <a:t>gradient</a:t>
            </a:r>
            <a:r>
              <a:rPr lang="en-GB" sz="2000"/>
              <a:t>?</a:t>
            </a:r>
            <a:endParaRPr sz="2000"/>
          </a:p>
        </p:txBody>
      </p:sp>
      <p:sp>
        <p:nvSpPr>
          <p:cNvPr id="979" name="Google Shape;979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Defining gradient</a:t>
            </a:r>
            <a:endParaRPr/>
          </a:p>
        </p:txBody>
      </p:sp>
      <p:pic>
        <p:nvPicPr>
          <p:cNvPr id="980" name="Google Shape;980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4408" y="1294200"/>
            <a:ext cx="2796418" cy="2768252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81" name="Google Shape;981;p79"/>
          <p:cNvSpPr/>
          <p:nvPr/>
        </p:nvSpPr>
        <p:spPr>
          <a:xfrm>
            <a:off x="6706000" y="1383075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2" name="Google Shape;982;p79"/>
          <p:cNvSpPr/>
          <p:nvPr/>
        </p:nvSpPr>
        <p:spPr>
          <a:xfrm>
            <a:off x="7419100" y="1513050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3" name="Google Shape;983;p79"/>
          <p:cNvSpPr/>
          <p:nvPr/>
        </p:nvSpPr>
        <p:spPr>
          <a:xfrm>
            <a:off x="7800100" y="2411250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4" name="Google Shape;984;p79"/>
          <p:cNvSpPr/>
          <p:nvPr/>
        </p:nvSpPr>
        <p:spPr>
          <a:xfrm>
            <a:off x="7105000" y="3090150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5" name="Google Shape;985;p79"/>
          <p:cNvSpPr txBox="1"/>
          <p:nvPr>
            <p:ph idx="1" type="body"/>
          </p:nvPr>
        </p:nvSpPr>
        <p:spPr>
          <a:xfrm>
            <a:off x="324000" y="1734050"/>
            <a:ext cx="45354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A- pink graph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6" name="Google Shape;986;p79"/>
          <p:cNvSpPr txBox="1"/>
          <p:nvPr>
            <p:ph idx="1" type="body"/>
          </p:nvPr>
        </p:nvSpPr>
        <p:spPr>
          <a:xfrm>
            <a:off x="324000" y="2310900"/>
            <a:ext cx="45354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- purple graph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7" name="Google Shape;987;p79"/>
          <p:cNvSpPr txBox="1"/>
          <p:nvPr>
            <p:ph idx="1" type="body"/>
          </p:nvPr>
        </p:nvSpPr>
        <p:spPr>
          <a:xfrm>
            <a:off x="324000" y="2887750"/>
            <a:ext cx="45354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D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- green graph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8" name="Google Shape;988;p79"/>
          <p:cNvSpPr txBox="1"/>
          <p:nvPr>
            <p:ph idx="1" type="body"/>
          </p:nvPr>
        </p:nvSpPr>
        <p:spPr>
          <a:xfrm>
            <a:off x="324000" y="4125450"/>
            <a:ext cx="80715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- the blue graph does </a:t>
            </a:r>
            <a:r>
              <a:rPr lang="en-GB" sz="2000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rPr>
              <a:t>not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have a positive gradient because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decreases as the graph moves to the right.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Defining gradient</a:t>
            </a:r>
            <a:endParaRPr/>
          </a:p>
        </p:txBody>
      </p:sp>
      <p:sp>
        <p:nvSpPr>
          <p:cNvPr id="994" name="Google Shape;994;p80"/>
          <p:cNvSpPr txBox="1"/>
          <p:nvPr>
            <p:ph idx="1" type="body"/>
          </p:nvPr>
        </p:nvSpPr>
        <p:spPr>
          <a:xfrm>
            <a:off x="332250" y="759300"/>
            <a:ext cx="8479500" cy="39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We can sometimes see the </a:t>
            </a:r>
            <a:r>
              <a:rPr b="1" lang="en-GB" sz="1800"/>
              <a:t>gradient</a:t>
            </a:r>
            <a:r>
              <a:rPr lang="en-GB" sz="1800"/>
              <a:t> represented in a table of values if the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/>
              <a:t>-values increase by 1 </a:t>
            </a:r>
            <a:endParaRPr sz="1800"/>
          </a:p>
        </p:txBody>
      </p:sp>
      <p:graphicFrame>
        <p:nvGraphicFramePr>
          <p:cNvPr id="995" name="Google Shape;995;p80"/>
          <p:cNvGraphicFramePr/>
          <p:nvPr/>
        </p:nvGraphicFramePr>
        <p:xfrm>
          <a:off x="392050" y="1945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{4FBE5B0C-FCDF-4F6A-9639-473080F7E0CB}</a:tableStyleId>
              </a:tblPr>
              <a:tblGrid>
                <a:gridCol w="787225"/>
                <a:gridCol w="787225"/>
                <a:gridCol w="787225"/>
                <a:gridCol w="787225"/>
                <a:gridCol w="787225"/>
                <a:gridCol w="787225"/>
              </a:tblGrid>
              <a:tr h="303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996" name="Google Shape;996;p80"/>
          <p:cNvPicPr preferRelativeResize="0"/>
          <p:nvPr/>
        </p:nvPicPr>
        <p:blipFill rotWithShape="1">
          <a:blip r:embed="rId3">
            <a:alphaModFix/>
          </a:blip>
          <a:srcRect b="84458" l="57225" r="18284" t="0"/>
          <a:stretch/>
        </p:blipFill>
        <p:spPr>
          <a:xfrm>
            <a:off x="1569975" y="1626175"/>
            <a:ext cx="807400" cy="30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7" name="Google Shape;997;p80"/>
          <p:cNvPicPr preferRelativeResize="0"/>
          <p:nvPr/>
        </p:nvPicPr>
        <p:blipFill rotWithShape="1">
          <a:blip r:embed="rId3">
            <a:alphaModFix/>
          </a:blip>
          <a:srcRect b="84458" l="57225" r="18284" t="0"/>
          <a:stretch/>
        </p:blipFill>
        <p:spPr>
          <a:xfrm>
            <a:off x="2352083" y="1626175"/>
            <a:ext cx="807400" cy="30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8" name="Google Shape;998;p80"/>
          <p:cNvPicPr preferRelativeResize="0"/>
          <p:nvPr/>
        </p:nvPicPr>
        <p:blipFill rotWithShape="1">
          <a:blip r:embed="rId3">
            <a:alphaModFix/>
          </a:blip>
          <a:srcRect b="84458" l="57225" r="18284" t="0"/>
          <a:stretch/>
        </p:blipFill>
        <p:spPr>
          <a:xfrm>
            <a:off x="3134192" y="1626175"/>
            <a:ext cx="807400" cy="30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9" name="Google Shape;999;p80"/>
          <p:cNvPicPr preferRelativeResize="0"/>
          <p:nvPr/>
        </p:nvPicPr>
        <p:blipFill rotWithShape="1">
          <a:blip r:embed="rId3">
            <a:alphaModFix/>
          </a:blip>
          <a:srcRect b="84458" l="57225" r="18284" t="0"/>
          <a:stretch/>
        </p:blipFill>
        <p:spPr>
          <a:xfrm>
            <a:off x="3916300" y="1626175"/>
            <a:ext cx="807400" cy="30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000" name="Google Shape;1000;p80"/>
          <p:cNvSpPr/>
          <p:nvPr/>
        </p:nvSpPr>
        <p:spPr>
          <a:xfrm>
            <a:off x="1816625" y="1388250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1" name="Google Shape;1001;p80"/>
          <p:cNvSpPr/>
          <p:nvPr/>
        </p:nvSpPr>
        <p:spPr>
          <a:xfrm>
            <a:off x="2641875" y="1388250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2" name="Google Shape;1002;p80"/>
          <p:cNvSpPr/>
          <p:nvPr/>
        </p:nvSpPr>
        <p:spPr>
          <a:xfrm>
            <a:off x="3422250" y="1388250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3" name="Google Shape;1003;p80"/>
          <p:cNvSpPr/>
          <p:nvPr/>
        </p:nvSpPr>
        <p:spPr>
          <a:xfrm>
            <a:off x="4202625" y="1388250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04" name="Google Shape;1004;p80"/>
          <p:cNvPicPr preferRelativeResize="0"/>
          <p:nvPr/>
        </p:nvPicPr>
        <p:blipFill rotWithShape="1">
          <a:blip r:embed="rId3">
            <a:alphaModFix/>
          </a:blip>
          <a:srcRect b="84458" l="57225" r="18284" t="0"/>
          <a:stretch/>
        </p:blipFill>
        <p:spPr>
          <a:xfrm flipH="1" rot="10800000">
            <a:off x="1544675" y="2547600"/>
            <a:ext cx="807400" cy="30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5" name="Google Shape;1005;p80"/>
          <p:cNvPicPr preferRelativeResize="0"/>
          <p:nvPr/>
        </p:nvPicPr>
        <p:blipFill rotWithShape="1">
          <a:blip r:embed="rId3">
            <a:alphaModFix/>
          </a:blip>
          <a:srcRect b="84458" l="57225" r="18284" t="0"/>
          <a:stretch/>
        </p:blipFill>
        <p:spPr>
          <a:xfrm flipH="1" rot="10800000">
            <a:off x="2281925" y="2547600"/>
            <a:ext cx="807400" cy="30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6" name="Google Shape;1006;p80"/>
          <p:cNvPicPr preferRelativeResize="0"/>
          <p:nvPr/>
        </p:nvPicPr>
        <p:blipFill rotWithShape="1">
          <a:blip r:embed="rId3">
            <a:alphaModFix/>
          </a:blip>
          <a:srcRect b="84458" l="57225" r="18284" t="0"/>
          <a:stretch/>
        </p:blipFill>
        <p:spPr>
          <a:xfrm flipH="1" rot="10800000">
            <a:off x="3089325" y="2547600"/>
            <a:ext cx="807400" cy="30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7" name="Google Shape;1007;p80"/>
          <p:cNvPicPr preferRelativeResize="0"/>
          <p:nvPr/>
        </p:nvPicPr>
        <p:blipFill rotWithShape="1">
          <a:blip r:embed="rId3">
            <a:alphaModFix/>
          </a:blip>
          <a:srcRect b="84458" l="57225" r="18284" t="0"/>
          <a:stretch/>
        </p:blipFill>
        <p:spPr>
          <a:xfrm flipH="1" rot="10800000">
            <a:off x="3916300" y="2547600"/>
            <a:ext cx="807400" cy="30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008" name="Google Shape;1008;p80"/>
          <p:cNvSpPr/>
          <p:nvPr/>
        </p:nvSpPr>
        <p:spPr>
          <a:xfrm>
            <a:off x="1791325" y="2734225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9" name="Google Shape;1009;p80"/>
          <p:cNvSpPr/>
          <p:nvPr/>
        </p:nvSpPr>
        <p:spPr>
          <a:xfrm>
            <a:off x="2573100" y="2734225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0" name="Google Shape;1010;p80"/>
          <p:cNvSpPr/>
          <p:nvPr/>
        </p:nvSpPr>
        <p:spPr>
          <a:xfrm>
            <a:off x="3380850" y="2734225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1" name="Google Shape;1011;p80"/>
          <p:cNvSpPr/>
          <p:nvPr/>
        </p:nvSpPr>
        <p:spPr>
          <a:xfrm>
            <a:off x="4257900" y="2734225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2" name="Google Shape;1012;p80"/>
          <p:cNvSpPr txBox="1"/>
          <p:nvPr>
            <p:ph idx="1" type="body"/>
          </p:nvPr>
        </p:nvSpPr>
        <p:spPr>
          <a:xfrm>
            <a:off x="5315550" y="1963950"/>
            <a:ext cx="3496200" cy="39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As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/>
              <a:t> increases by 1,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 increases by 2 so the </a:t>
            </a:r>
            <a:r>
              <a:rPr b="1" lang="en-GB" sz="1800"/>
              <a:t>gradient</a:t>
            </a:r>
            <a:r>
              <a:rPr lang="en-GB" sz="1800"/>
              <a:t> is 2</a:t>
            </a:r>
            <a:r>
              <a:rPr lang="en-GB" sz="1800"/>
              <a:t> </a:t>
            </a:r>
            <a:endParaRPr sz="1800"/>
          </a:p>
        </p:txBody>
      </p:sp>
      <p:graphicFrame>
        <p:nvGraphicFramePr>
          <p:cNvPr id="1013" name="Google Shape;1013;p80"/>
          <p:cNvGraphicFramePr/>
          <p:nvPr/>
        </p:nvGraphicFramePr>
        <p:xfrm>
          <a:off x="368475" y="3719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{4FBE5B0C-FCDF-4F6A-9639-473080F7E0CB}</a:tableStyleId>
              </a:tblPr>
              <a:tblGrid>
                <a:gridCol w="787225"/>
                <a:gridCol w="787225"/>
                <a:gridCol w="787225"/>
                <a:gridCol w="787225"/>
                <a:gridCol w="787225"/>
                <a:gridCol w="787225"/>
              </a:tblGrid>
              <a:tr h="303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014" name="Google Shape;1014;p80"/>
          <p:cNvPicPr preferRelativeResize="0"/>
          <p:nvPr/>
        </p:nvPicPr>
        <p:blipFill rotWithShape="1">
          <a:blip r:embed="rId3">
            <a:alphaModFix/>
          </a:blip>
          <a:srcRect b="84458" l="57225" r="18284" t="0"/>
          <a:stretch/>
        </p:blipFill>
        <p:spPr>
          <a:xfrm>
            <a:off x="1546400" y="3400075"/>
            <a:ext cx="807400" cy="30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5" name="Google Shape;1015;p80"/>
          <p:cNvPicPr preferRelativeResize="0"/>
          <p:nvPr/>
        </p:nvPicPr>
        <p:blipFill rotWithShape="1">
          <a:blip r:embed="rId3">
            <a:alphaModFix/>
          </a:blip>
          <a:srcRect b="84458" l="57225" r="18284" t="0"/>
          <a:stretch/>
        </p:blipFill>
        <p:spPr>
          <a:xfrm>
            <a:off x="2328508" y="3400075"/>
            <a:ext cx="807400" cy="30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6" name="Google Shape;1016;p80"/>
          <p:cNvPicPr preferRelativeResize="0"/>
          <p:nvPr/>
        </p:nvPicPr>
        <p:blipFill rotWithShape="1">
          <a:blip r:embed="rId3">
            <a:alphaModFix/>
          </a:blip>
          <a:srcRect b="84458" l="57225" r="18284" t="0"/>
          <a:stretch/>
        </p:blipFill>
        <p:spPr>
          <a:xfrm>
            <a:off x="3110617" y="3400075"/>
            <a:ext cx="807400" cy="30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7" name="Google Shape;1017;p80"/>
          <p:cNvPicPr preferRelativeResize="0"/>
          <p:nvPr/>
        </p:nvPicPr>
        <p:blipFill rotWithShape="1">
          <a:blip r:embed="rId3">
            <a:alphaModFix/>
          </a:blip>
          <a:srcRect b="84458" l="57225" r="18284" t="0"/>
          <a:stretch/>
        </p:blipFill>
        <p:spPr>
          <a:xfrm>
            <a:off x="3892725" y="3400075"/>
            <a:ext cx="807400" cy="30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018" name="Google Shape;1018;p80"/>
          <p:cNvSpPr/>
          <p:nvPr/>
        </p:nvSpPr>
        <p:spPr>
          <a:xfrm>
            <a:off x="1793050" y="3162150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9" name="Google Shape;1019;p80"/>
          <p:cNvSpPr/>
          <p:nvPr/>
        </p:nvSpPr>
        <p:spPr>
          <a:xfrm>
            <a:off x="2618300" y="3162150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0" name="Google Shape;1020;p80"/>
          <p:cNvSpPr/>
          <p:nvPr/>
        </p:nvSpPr>
        <p:spPr>
          <a:xfrm>
            <a:off x="3398675" y="3162150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1" name="Google Shape;1021;p80"/>
          <p:cNvSpPr/>
          <p:nvPr/>
        </p:nvSpPr>
        <p:spPr>
          <a:xfrm>
            <a:off x="4179050" y="3162150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22" name="Google Shape;1022;p80"/>
          <p:cNvPicPr preferRelativeResize="0"/>
          <p:nvPr/>
        </p:nvPicPr>
        <p:blipFill rotWithShape="1">
          <a:blip r:embed="rId3">
            <a:alphaModFix/>
          </a:blip>
          <a:srcRect b="84458" l="57225" r="18284" t="0"/>
          <a:stretch/>
        </p:blipFill>
        <p:spPr>
          <a:xfrm flipH="1" rot="10800000">
            <a:off x="1521100" y="4321500"/>
            <a:ext cx="807400" cy="30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3" name="Google Shape;1023;p80"/>
          <p:cNvPicPr preferRelativeResize="0"/>
          <p:nvPr/>
        </p:nvPicPr>
        <p:blipFill rotWithShape="1">
          <a:blip r:embed="rId3">
            <a:alphaModFix/>
          </a:blip>
          <a:srcRect b="84458" l="57225" r="18284" t="0"/>
          <a:stretch/>
        </p:blipFill>
        <p:spPr>
          <a:xfrm flipH="1" rot="10800000">
            <a:off x="2258350" y="4321500"/>
            <a:ext cx="807400" cy="30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4" name="Google Shape;1024;p80"/>
          <p:cNvPicPr preferRelativeResize="0"/>
          <p:nvPr/>
        </p:nvPicPr>
        <p:blipFill rotWithShape="1">
          <a:blip r:embed="rId3">
            <a:alphaModFix/>
          </a:blip>
          <a:srcRect b="84458" l="57225" r="18284" t="0"/>
          <a:stretch/>
        </p:blipFill>
        <p:spPr>
          <a:xfrm flipH="1" rot="10800000">
            <a:off x="3065750" y="4321500"/>
            <a:ext cx="807400" cy="30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5" name="Google Shape;1025;p80"/>
          <p:cNvPicPr preferRelativeResize="0"/>
          <p:nvPr/>
        </p:nvPicPr>
        <p:blipFill rotWithShape="1">
          <a:blip r:embed="rId3">
            <a:alphaModFix/>
          </a:blip>
          <a:srcRect b="84458" l="57225" r="18284" t="0"/>
          <a:stretch/>
        </p:blipFill>
        <p:spPr>
          <a:xfrm flipH="1" rot="10800000">
            <a:off x="3892725" y="4321500"/>
            <a:ext cx="807400" cy="30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026" name="Google Shape;1026;p80"/>
          <p:cNvSpPr/>
          <p:nvPr/>
        </p:nvSpPr>
        <p:spPr>
          <a:xfrm>
            <a:off x="1767750" y="4508125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7" name="Google Shape;1027;p80"/>
          <p:cNvSpPr/>
          <p:nvPr/>
        </p:nvSpPr>
        <p:spPr>
          <a:xfrm>
            <a:off x="2549525" y="4508125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8" name="Google Shape;1028;p80"/>
          <p:cNvSpPr/>
          <p:nvPr/>
        </p:nvSpPr>
        <p:spPr>
          <a:xfrm>
            <a:off x="3357275" y="4508125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9" name="Google Shape;1029;p80"/>
          <p:cNvSpPr/>
          <p:nvPr/>
        </p:nvSpPr>
        <p:spPr>
          <a:xfrm>
            <a:off x="4234325" y="4508125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0" name="Google Shape;1030;p80"/>
          <p:cNvSpPr txBox="1"/>
          <p:nvPr>
            <p:ph idx="1" type="body"/>
          </p:nvPr>
        </p:nvSpPr>
        <p:spPr>
          <a:xfrm>
            <a:off x="5315550" y="3706500"/>
            <a:ext cx="3496200" cy="39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As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/>
              <a:t> increases by 1,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 increases by 4 so the </a:t>
            </a:r>
            <a:r>
              <a:rPr b="1" lang="en-GB" sz="1800"/>
              <a:t>gradient</a:t>
            </a:r>
            <a:r>
              <a:rPr lang="en-GB" sz="1800"/>
              <a:t> is 4</a:t>
            </a:r>
            <a:r>
              <a:rPr lang="en-GB" sz="1800"/>
              <a:t> 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Defining gradient</a:t>
            </a:r>
            <a:endParaRPr/>
          </a:p>
        </p:txBody>
      </p:sp>
      <p:graphicFrame>
        <p:nvGraphicFramePr>
          <p:cNvPr id="1036" name="Google Shape;1036;p81"/>
          <p:cNvGraphicFramePr/>
          <p:nvPr/>
        </p:nvGraphicFramePr>
        <p:xfrm>
          <a:off x="392050" y="1335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{4FBE5B0C-FCDF-4F6A-9639-473080F7E0CB}</a:tableStyleId>
              </a:tblPr>
              <a:tblGrid>
                <a:gridCol w="787225"/>
                <a:gridCol w="787225"/>
                <a:gridCol w="787225"/>
                <a:gridCol w="787225"/>
                <a:gridCol w="787225"/>
                <a:gridCol w="787225"/>
              </a:tblGrid>
              <a:tr h="303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037" name="Google Shape;1037;p81"/>
          <p:cNvPicPr preferRelativeResize="0"/>
          <p:nvPr/>
        </p:nvPicPr>
        <p:blipFill rotWithShape="1">
          <a:blip r:embed="rId3">
            <a:alphaModFix/>
          </a:blip>
          <a:srcRect b="84458" l="57225" r="18284" t="0"/>
          <a:stretch/>
        </p:blipFill>
        <p:spPr>
          <a:xfrm>
            <a:off x="1569975" y="1016575"/>
            <a:ext cx="807400" cy="30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8" name="Google Shape;1038;p81"/>
          <p:cNvPicPr preferRelativeResize="0"/>
          <p:nvPr/>
        </p:nvPicPr>
        <p:blipFill rotWithShape="1">
          <a:blip r:embed="rId3">
            <a:alphaModFix/>
          </a:blip>
          <a:srcRect b="84458" l="57225" r="18284" t="0"/>
          <a:stretch/>
        </p:blipFill>
        <p:spPr>
          <a:xfrm>
            <a:off x="2352083" y="1016575"/>
            <a:ext cx="807400" cy="30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9" name="Google Shape;1039;p81"/>
          <p:cNvPicPr preferRelativeResize="0"/>
          <p:nvPr/>
        </p:nvPicPr>
        <p:blipFill rotWithShape="1">
          <a:blip r:embed="rId3">
            <a:alphaModFix/>
          </a:blip>
          <a:srcRect b="84458" l="57225" r="18284" t="0"/>
          <a:stretch/>
        </p:blipFill>
        <p:spPr>
          <a:xfrm>
            <a:off x="3134192" y="1016575"/>
            <a:ext cx="807400" cy="30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0" name="Google Shape;1040;p81"/>
          <p:cNvPicPr preferRelativeResize="0"/>
          <p:nvPr/>
        </p:nvPicPr>
        <p:blipFill rotWithShape="1">
          <a:blip r:embed="rId3">
            <a:alphaModFix/>
          </a:blip>
          <a:srcRect b="84458" l="57225" r="18284" t="0"/>
          <a:stretch/>
        </p:blipFill>
        <p:spPr>
          <a:xfrm>
            <a:off x="3916300" y="1016575"/>
            <a:ext cx="807400" cy="30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041" name="Google Shape;1041;p81"/>
          <p:cNvSpPr/>
          <p:nvPr/>
        </p:nvSpPr>
        <p:spPr>
          <a:xfrm>
            <a:off x="1816625" y="778650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2" name="Google Shape;1042;p81"/>
          <p:cNvSpPr/>
          <p:nvPr/>
        </p:nvSpPr>
        <p:spPr>
          <a:xfrm>
            <a:off x="2641875" y="778650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3" name="Google Shape;1043;p81"/>
          <p:cNvSpPr/>
          <p:nvPr/>
        </p:nvSpPr>
        <p:spPr>
          <a:xfrm>
            <a:off x="3422250" y="778650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4" name="Google Shape;1044;p81"/>
          <p:cNvSpPr/>
          <p:nvPr/>
        </p:nvSpPr>
        <p:spPr>
          <a:xfrm>
            <a:off x="4202625" y="778650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45" name="Google Shape;1045;p81"/>
          <p:cNvPicPr preferRelativeResize="0"/>
          <p:nvPr/>
        </p:nvPicPr>
        <p:blipFill rotWithShape="1">
          <a:blip r:embed="rId3">
            <a:alphaModFix/>
          </a:blip>
          <a:srcRect b="84458" l="57225" r="18284" t="0"/>
          <a:stretch/>
        </p:blipFill>
        <p:spPr>
          <a:xfrm flipH="1" rot="10800000">
            <a:off x="1544675" y="1938000"/>
            <a:ext cx="807400" cy="30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6" name="Google Shape;1046;p81"/>
          <p:cNvPicPr preferRelativeResize="0"/>
          <p:nvPr/>
        </p:nvPicPr>
        <p:blipFill rotWithShape="1">
          <a:blip r:embed="rId3">
            <a:alphaModFix/>
          </a:blip>
          <a:srcRect b="84458" l="57225" r="18284" t="0"/>
          <a:stretch/>
        </p:blipFill>
        <p:spPr>
          <a:xfrm flipH="1" rot="10800000">
            <a:off x="2281925" y="1938000"/>
            <a:ext cx="807400" cy="30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7" name="Google Shape;1047;p81"/>
          <p:cNvPicPr preferRelativeResize="0"/>
          <p:nvPr/>
        </p:nvPicPr>
        <p:blipFill rotWithShape="1">
          <a:blip r:embed="rId3">
            <a:alphaModFix/>
          </a:blip>
          <a:srcRect b="84458" l="57225" r="18284" t="0"/>
          <a:stretch/>
        </p:blipFill>
        <p:spPr>
          <a:xfrm flipH="1" rot="10800000">
            <a:off x="3089325" y="1938000"/>
            <a:ext cx="807400" cy="30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8" name="Google Shape;1048;p81"/>
          <p:cNvPicPr preferRelativeResize="0"/>
          <p:nvPr/>
        </p:nvPicPr>
        <p:blipFill rotWithShape="1">
          <a:blip r:embed="rId3">
            <a:alphaModFix/>
          </a:blip>
          <a:srcRect b="84458" l="57225" r="18284" t="0"/>
          <a:stretch/>
        </p:blipFill>
        <p:spPr>
          <a:xfrm flipH="1" rot="10800000">
            <a:off x="3916300" y="1938000"/>
            <a:ext cx="807400" cy="30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049" name="Google Shape;1049;p81"/>
          <p:cNvSpPr/>
          <p:nvPr/>
        </p:nvSpPr>
        <p:spPr>
          <a:xfrm>
            <a:off x="1791325" y="2124625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0" name="Google Shape;1050;p81"/>
          <p:cNvSpPr/>
          <p:nvPr/>
        </p:nvSpPr>
        <p:spPr>
          <a:xfrm>
            <a:off x="2573100" y="2124625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1" name="Google Shape;1051;p81"/>
          <p:cNvSpPr/>
          <p:nvPr/>
        </p:nvSpPr>
        <p:spPr>
          <a:xfrm>
            <a:off x="3380850" y="2124625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2" name="Google Shape;1052;p81"/>
          <p:cNvSpPr/>
          <p:nvPr/>
        </p:nvSpPr>
        <p:spPr>
          <a:xfrm>
            <a:off x="4257900" y="2124625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3" name="Google Shape;1053;p81"/>
          <p:cNvSpPr txBox="1"/>
          <p:nvPr>
            <p:ph idx="1" type="body"/>
          </p:nvPr>
        </p:nvSpPr>
        <p:spPr>
          <a:xfrm>
            <a:off x="324000" y="2928350"/>
            <a:ext cx="7451100" cy="39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Where has Aisha </a:t>
            </a:r>
            <a:r>
              <a:rPr lang="en-GB" sz="1800"/>
              <a:t>gone</a:t>
            </a:r>
            <a:r>
              <a:rPr lang="en-GB" sz="1800"/>
              <a:t> wrong?</a:t>
            </a:r>
            <a:endParaRPr sz="1800"/>
          </a:p>
        </p:txBody>
      </p:sp>
      <p:pic>
        <p:nvPicPr>
          <p:cNvPr id="1054" name="Google Shape;1054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166176" y="1506323"/>
            <a:ext cx="487825" cy="921151"/>
          </a:xfrm>
          <a:prstGeom prst="rect">
            <a:avLst/>
          </a:prstGeom>
          <a:noFill/>
          <a:ln>
            <a:noFill/>
          </a:ln>
        </p:spPr>
      </p:pic>
      <p:sp>
        <p:nvSpPr>
          <p:cNvPr id="1055" name="Google Shape;1055;p81"/>
          <p:cNvSpPr txBox="1"/>
          <p:nvPr/>
        </p:nvSpPr>
        <p:spPr>
          <a:xfrm flipH="1">
            <a:off x="7885325" y="2427474"/>
            <a:ext cx="966300" cy="3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56" name="Google Shape;1056;p81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>
            <a:off x="5181000" y="810000"/>
            <a:ext cx="3039575" cy="17037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7" name="Google Shape;1057;p81"/>
          <p:cNvSpPr txBox="1"/>
          <p:nvPr/>
        </p:nvSpPr>
        <p:spPr>
          <a:xfrm flipH="1">
            <a:off x="5272309" y="938349"/>
            <a:ext cx="2780100" cy="11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graph of these points has different gradients at different points.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8" name="Google Shape;1058;p81"/>
          <p:cNvSpPr txBox="1"/>
          <p:nvPr>
            <p:ph idx="1" type="body"/>
          </p:nvPr>
        </p:nvSpPr>
        <p:spPr>
          <a:xfrm>
            <a:off x="324000" y="3387900"/>
            <a:ext cx="8496000" cy="39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Gradient describes the change in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for every 1 increase in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. Aisha’s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values do not all increase by 1 each time.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Defining gradient</a:t>
            </a:r>
            <a:endParaRPr/>
          </a:p>
        </p:txBody>
      </p:sp>
      <p:sp>
        <p:nvSpPr>
          <p:cNvPr id="1064" name="Google Shape;1064;p82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</a:t>
            </a:r>
            <a:r>
              <a:rPr i="1" lang="en-GB" sz="24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/>
              <a:t>-</a:t>
            </a:r>
            <a:r>
              <a:rPr lang="en-GB"/>
              <a:t>values do not increase by 1</a:t>
            </a:r>
            <a:endParaRPr/>
          </a:p>
        </p:txBody>
      </p:sp>
      <p:sp>
        <p:nvSpPr>
          <p:cNvPr id="1065" name="Google Shape;1065;p82"/>
          <p:cNvSpPr txBox="1"/>
          <p:nvPr>
            <p:ph idx="2" type="subTitle"/>
          </p:nvPr>
        </p:nvSpPr>
        <p:spPr>
          <a:xfrm>
            <a:off x="324000" y="1080000"/>
            <a:ext cx="59328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</a:t>
            </a:r>
            <a:r>
              <a:rPr b="1" lang="en-GB" sz="2000"/>
              <a:t>gradient</a:t>
            </a:r>
            <a:r>
              <a:rPr lang="en-GB" sz="2000"/>
              <a:t> of the line made by plotting these points is 2</a:t>
            </a:r>
            <a:endParaRPr sz="2000"/>
          </a:p>
        </p:txBody>
      </p:sp>
      <p:sp>
        <p:nvSpPr>
          <p:cNvPr id="1066" name="Google Shape;1066;p8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</a:t>
            </a:r>
            <a:r>
              <a:rPr i="1" lang="en-GB" sz="24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/>
              <a:t>-</a:t>
            </a:r>
            <a:r>
              <a:rPr lang="en-GB"/>
              <a:t>values increase by 2</a:t>
            </a:r>
            <a:endParaRPr/>
          </a:p>
        </p:txBody>
      </p:sp>
      <p:graphicFrame>
        <p:nvGraphicFramePr>
          <p:cNvPr id="1067" name="Google Shape;1067;p82"/>
          <p:cNvGraphicFramePr/>
          <p:nvPr/>
        </p:nvGraphicFramePr>
        <p:xfrm>
          <a:off x="6349675" y="108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{4FBE5B0C-FCDF-4F6A-9639-473080F7E0CB}</a:tableStyleId>
              </a:tblPr>
              <a:tblGrid>
                <a:gridCol w="607975"/>
                <a:gridCol w="607975"/>
                <a:gridCol w="607975"/>
                <a:gridCol w="607975"/>
              </a:tblGrid>
              <a:tr h="223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068" name="Google Shape;1068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92608" y="180547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9" name="Google Shape;1069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76408" y="319612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p83"/>
          <p:cNvSpPr txBox="1"/>
          <p:nvPr>
            <p:ph idx="1" type="body"/>
          </p:nvPr>
        </p:nvSpPr>
        <p:spPr>
          <a:xfrm>
            <a:off x="324000" y="759300"/>
            <a:ext cx="8496000" cy="37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a) Starting with the steepest, put these steps in order.</a:t>
            </a:r>
            <a:endParaRPr sz="1800"/>
          </a:p>
        </p:txBody>
      </p:sp>
      <p:sp>
        <p:nvSpPr>
          <p:cNvPr id="1075" name="Google Shape;1075;p8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Defining gradient</a:t>
            </a:r>
            <a:endParaRPr/>
          </a:p>
        </p:txBody>
      </p:sp>
      <p:graphicFrame>
        <p:nvGraphicFramePr>
          <p:cNvPr id="1076" name="Google Shape;1076;p83"/>
          <p:cNvGraphicFramePr/>
          <p:nvPr/>
        </p:nvGraphicFramePr>
        <p:xfrm>
          <a:off x="628800" y="1256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{4FBE5B0C-FCDF-4F6A-9639-473080F7E0CB}</a:tableStyleId>
              </a:tblPr>
              <a:tblGrid>
                <a:gridCol w="216150"/>
                <a:gridCol w="224275"/>
                <a:gridCol w="208025"/>
                <a:gridCol w="216150"/>
                <a:gridCol w="216150"/>
                <a:gridCol w="216150"/>
                <a:gridCol w="216150"/>
                <a:gridCol w="216150"/>
                <a:gridCol w="216150"/>
                <a:gridCol w="216150"/>
                <a:gridCol w="216150"/>
                <a:gridCol w="216150"/>
                <a:gridCol w="216150"/>
                <a:gridCol w="216150"/>
                <a:gridCol w="216150"/>
                <a:gridCol w="216150"/>
                <a:gridCol w="216150"/>
                <a:gridCol w="216150"/>
                <a:gridCol w="216150"/>
                <a:gridCol w="216150"/>
              </a:tblGrid>
              <a:tr h="215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</a:tr>
              <a:tr h="215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</a:tr>
              <a:tr h="215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</a:tr>
              <a:tr h="215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</a:tr>
              <a:tr h="215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</a:tr>
              <a:tr h="215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</a:tr>
              <a:tr h="215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</a:tr>
              <a:tr h="224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</a:tr>
              <a:tr h="215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</a:tr>
            </a:tbl>
          </a:graphicData>
        </a:graphic>
      </p:graphicFrame>
      <p:graphicFrame>
        <p:nvGraphicFramePr>
          <p:cNvPr id="1077" name="Google Shape;1077;p83"/>
          <p:cNvGraphicFramePr/>
          <p:nvPr/>
        </p:nvGraphicFramePr>
        <p:xfrm>
          <a:off x="4303350" y="1256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{4FBE5B0C-FCDF-4F6A-9639-473080F7E0CB}</a:tableStyleId>
              </a:tblPr>
              <a:tblGrid>
                <a:gridCol w="216150"/>
                <a:gridCol w="216150"/>
                <a:gridCol w="216150"/>
                <a:gridCol w="216150"/>
                <a:gridCol w="216150"/>
                <a:gridCol w="216150"/>
                <a:gridCol w="216150"/>
                <a:gridCol w="216150"/>
                <a:gridCol w="216150"/>
                <a:gridCol w="216150"/>
                <a:gridCol w="216150"/>
                <a:gridCol w="216150"/>
                <a:gridCol w="216150"/>
                <a:gridCol w="216150"/>
                <a:gridCol w="216150"/>
                <a:gridCol w="216150"/>
                <a:gridCol w="216150"/>
                <a:gridCol w="216150"/>
                <a:gridCol w="216150"/>
                <a:gridCol w="216150"/>
              </a:tblGrid>
              <a:tr h="215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</a:tr>
              <a:tr h="215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</a:tr>
              <a:tr h="215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</a:tr>
              <a:tr h="215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</a:tr>
              <a:tr h="215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</a:tr>
              <a:tr h="215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</a:tr>
              <a:tr h="215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</a:tr>
              <a:tr h="224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</a:tr>
              <a:tr h="215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</a:tr>
            </a:tbl>
          </a:graphicData>
        </a:graphic>
      </p:graphicFrame>
      <p:cxnSp>
        <p:nvCxnSpPr>
          <p:cNvPr id="1078" name="Google Shape;1078;p83"/>
          <p:cNvCxnSpPr/>
          <p:nvPr/>
        </p:nvCxnSpPr>
        <p:spPr>
          <a:xfrm>
            <a:off x="837324" y="2340000"/>
            <a:ext cx="231900" cy="36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9" name="Google Shape;1079;p83"/>
          <p:cNvCxnSpPr/>
          <p:nvPr/>
        </p:nvCxnSpPr>
        <p:spPr>
          <a:xfrm>
            <a:off x="1061099" y="2120425"/>
            <a:ext cx="231900" cy="36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0" name="Google Shape;1080;p83"/>
          <p:cNvCxnSpPr/>
          <p:nvPr/>
        </p:nvCxnSpPr>
        <p:spPr>
          <a:xfrm>
            <a:off x="1277249" y="1904550"/>
            <a:ext cx="231900" cy="36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1" name="Google Shape;1081;p83"/>
          <p:cNvCxnSpPr/>
          <p:nvPr/>
        </p:nvCxnSpPr>
        <p:spPr>
          <a:xfrm>
            <a:off x="1493399" y="1688675"/>
            <a:ext cx="231900" cy="36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2" name="Google Shape;1082;p83"/>
          <p:cNvCxnSpPr/>
          <p:nvPr/>
        </p:nvCxnSpPr>
        <p:spPr>
          <a:xfrm>
            <a:off x="1274747" y="2992700"/>
            <a:ext cx="231900" cy="36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3" name="Google Shape;1083;p83"/>
          <p:cNvCxnSpPr/>
          <p:nvPr/>
        </p:nvCxnSpPr>
        <p:spPr>
          <a:xfrm>
            <a:off x="1490099" y="2556563"/>
            <a:ext cx="231900" cy="36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4" name="Google Shape;1084;p83"/>
          <p:cNvCxnSpPr/>
          <p:nvPr/>
        </p:nvCxnSpPr>
        <p:spPr>
          <a:xfrm>
            <a:off x="1707047" y="2122613"/>
            <a:ext cx="231900" cy="36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5" name="Google Shape;1085;p83"/>
          <p:cNvCxnSpPr/>
          <p:nvPr/>
        </p:nvCxnSpPr>
        <p:spPr>
          <a:xfrm>
            <a:off x="2357999" y="2122625"/>
            <a:ext cx="8790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6" name="Google Shape;1086;p83"/>
          <p:cNvCxnSpPr/>
          <p:nvPr/>
        </p:nvCxnSpPr>
        <p:spPr>
          <a:xfrm>
            <a:off x="3220799" y="1690475"/>
            <a:ext cx="8910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7" name="Google Shape;1087;p83"/>
          <p:cNvCxnSpPr/>
          <p:nvPr/>
        </p:nvCxnSpPr>
        <p:spPr>
          <a:xfrm>
            <a:off x="4091699" y="1257238"/>
            <a:ext cx="8649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8" name="Google Shape;1088;p83"/>
          <p:cNvCxnSpPr/>
          <p:nvPr/>
        </p:nvCxnSpPr>
        <p:spPr>
          <a:xfrm>
            <a:off x="4964869" y="2776825"/>
            <a:ext cx="2157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9" name="Google Shape;1089;p83"/>
          <p:cNvCxnSpPr/>
          <p:nvPr/>
        </p:nvCxnSpPr>
        <p:spPr>
          <a:xfrm>
            <a:off x="5179219" y="2124125"/>
            <a:ext cx="2157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0" name="Google Shape;1090;p83"/>
          <p:cNvCxnSpPr/>
          <p:nvPr/>
        </p:nvCxnSpPr>
        <p:spPr>
          <a:xfrm>
            <a:off x="5397169" y="1472800"/>
            <a:ext cx="2157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1" name="Google Shape;1091;p83"/>
          <p:cNvCxnSpPr/>
          <p:nvPr/>
        </p:nvCxnSpPr>
        <p:spPr>
          <a:xfrm>
            <a:off x="4944356" y="3201382"/>
            <a:ext cx="6573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2" name="Google Shape;1092;p83"/>
          <p:cNvCxnSpPr/>
          <p:nvPr/>
        </p:nvCxnSpPr>
        <p:spPr>
          <a:xfrm>
            <a:off x="5592806" y="2775132"/>
            <a:ext cx="6573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3" name="Google Shape;1093;p83"/>
          <p:cNvCxnSpPr/>
          <p:nvPr/>
        </p:nvCxnSpPr>
        <p:spPr>
          <a:xfrm>
            <a:off x="6250106" y="2339682"/>
            <a:ext cx="6573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4" name="Google Shape;1094;p83"/>
          <p:cNvCxnSpPr/>
          <p:nvPr/>
        </p:nvCxnSpPr>
        <p:spPr>
          <a:xfrm>
            <a:off x="5809075" y="2098900"/>
            <a:ext cx="6573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5" name="Google Shape;1095;p83"/>
          <p:cNvCxnSpPr/>
          <p:nvPr/>
        </p:nvCxnSpPr>
        <p:spPr>
          <a:xfrm>
            <a:off x="6472424" y="1895003"/>
            <a:ext cx="6573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6" name="Google Shape;1096;p83"/>
          <p:cNvCxnSpPr/>
          <p:nvPr/>
        </p:nvCxnSpPr>
        <p:spPr>
          <a:xfrm>
            <a:off x="7105975" y="1670251"/>
            <a:ext cx="6573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7" name="Google Shape;1097;p83"/>
          <p:cNvCxnSpPr/>
          <p:nvPr/>
        </p:nvCxnSpPr>
        <p:spPr>
          <a:xfrm rot="5400000">
            <a:off x="946947" y="2230950"/>
            <a:ext cx="231900" cy="36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8" name="Google Shape;1098;p83"/>
          <p:cNvCxnSpPr/>
          <p:nvPr/>
        </p:nvCxnSpPr>
        <p:spPr>
          <a:xfrm rot="5400000">
            <a:off x="1170247" y="2018700"/>
            <a:ext cx="231900" cy="36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9" name="Google Shape;1099;p83"/>
          <p:cNvCxnSpPr/>
          <p:nvPr/>
        </p:nvCxnSpPr>
        <p:spPr>
          <a:xfrm rot="5400000">
            <a:off x="1372347" y="1790400"/>
            <a:ext cx="231900" cy="36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0" name="Google Shape;1100;p83"/>
          <p:cNvCxnSpPr/>
          <p:nvPr/>
        </p:nvCxnSpPr>
        <p:spPr>
          <a:xfrm flipH="1">
            <a:off x="1499075" y="2541850"/>
            <a:ext cx="3600" cy="4581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1" name="Google Shape;1101;p83"/>
          <p:cNvCxnSpPr/>
          <p:nvPr/>
        </p:nvCxnSpPr>
        <p:spPr>
          <a:xfrm flipH="1">
            <a:off x="1711813" y="2112750"/>
            <a:ext cx="3600" cy="4581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2" name="Google Shape;1102;p83"/>
          <p:cNvCxnSpPr/>
          <p:nvPr/>
        </p:nvCxnSpPr>
        <p:spPr>
          <a:xfrm flipH="1">
            <a:off x="5590992" y="2762657"/>
            <a:ext cx="3600" cy="4581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3" name="Google Shape;1103;p83"/>
          <p:cNvCxnSpPr/>
          <p:nvPr/>
        </p:nvCxnSpPr>
        <p:spPr>
          <a:xfrm flipH="1">
            <a:off x="6232392" y="2328707"/>
            <a:ext cx="3600" cy="4581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4" name="Google Shape;1104;p83"/>
          <p:cNvCxnSpPr/>
          <p:nvPr/>
        </p:nvCxnSpPr>
        <p:spPr>
          <a:xfrm>
            <a:off x="3226197" y="1676250"/>
            <a:ext cx="0" cy="4695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5" name="Google Shape;1105;p83"/>
          <p:cNvCxnSpPr/>
          <p:nvPr/>
        </p:nvCxnSpPr>
        <p:spPr>
          <a:xfrm>
            <a:off x="4089276" y="1255974"/>
            <a:ext cx="0" cy="4413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6" name="Google Shape;1106;p83"/>
          <p:cNvCxnSpPr/>
          <p:nvPr/>
        </p:nvCxnSpPr>
        <p:spPr>
          <a:xfrm rot="5400000">
            <a:off x="6354669" y="2000104"/>
            <a:ext cx="231900" cy="36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7" name="Google Shape;1107;p83"/>
          <p:cNvCxnSpPr/>
          <p:nvPr/>
        </p:nvCxnSpPr>
        <p:spPr>
          <a:xfrm rot="5400000">
            <a:off x="6991820" y="1760400"/>
            <a:ext cx="231900" cy="36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8" name="Google Shape;1108;p83"/>
          <p:cNvCxnSpPr/>
          <p:nvPr/>
        </p:nvCxnSpPr>
        <p:spPr>
          <a:xfrm>
            <a:off x="5176129" y="2111650"/>
            <a:ext cx="0" cy="6687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9" name="Google Shape;1109;p83"/>
          <p:cNvCxnSpPr/>
          <p:nvPr/>
        </p:nvCxnSpPr>
        <p:spPr>
          <a:xfrm>
            <a:off x="5387454" y="1468475"/>
            <a:ext cx="0" cy="6687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0" name="Google Shape;1110;p83"/>
          <p:cNvCxnSpPr/>
          <p:nvPr/>
        </p:nvCxnSpPr>
        <p:spPr>
          <a:xfrm>
            <a:off x="2357999" y="2768050"/>
            <a:ext cx="8790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1" name="Google Shape;1111;p83"/>
          <p:cNvCxnSpPr/>
          <p:nvPr/>
        </p:nvCxnSpPr>
        <p:spPr>
          <a:xfrm>
            <a:off x="3214150" y="2543350"/>
            <a:ext cx="0" cy="2289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2" name="Google Shape;1112;p83"/>
          <p:cNvCxnSpPr/>
          <p:nvPr/>
        </p:nvCxnSpPr>
        <p:spPr>
          <a:xfrm>
            <a:off x="3214149" y="2558375"/>
            <a:ext cx="8790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3" name="Google Shape;1113;p83"/>
          <p:cNvCxnSpPr/>
          <p:nvPr/>
        </p:nvCxnSpPr>
        <p:spPr>
          <a:xfrm>
            <a:off x="4082450" y="2329325"/>
            <a:ext cx="0" cy="2289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4" name="Google Shape;1114;p83"/>
          <p:cNvCxnSpPr/>
          <p:nvPr/>
        </p:nvCxnSpPr>
        <p:spPr>
          <a:xfrm>
            <a:off x="4082449" y="2334138"/>
            <a:ext cx="8910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5" name="Google Shape;1115;p83"/>
          <p:cNvSpPr/>
          <p:nvPr/>
        </p:nvSpPr>
        <p:spPr>
          <a:xfrm>
            <a:off x="960650" y="1515338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6" name="Google Shape;1116;p83"/>
          <p:cNvSpPr/>
          <p:nvPr/>
        </p:nvSpPr>
        <p:spPr>
          <a:xfrm>
            <a:off x="1345363" y="2147925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7" name="Google Shape;1117;p83"/>
          <p:cNvSpPr/>
          <p:nvPr/>
        </p:nvSpPr>
        <p:spPr>
          <a:xfrm>
            <a:off x="3069138" y="1301375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8" name="Google Shape;1118;p83"/>
          <p:cNvSpPr/>
          <p:nvPr/>
        </p:nvSpPr>
        <p:spPr>
          <a:xfrm>
            <a:off x="3656038" y="2139600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9" name="Google Shape;1119;p83"/>
          <p:cNvSpPr/>
          <p:nvPr/>
        </p:nvSpPr>
        <p:spPr>
          <a:xfrm>
            <a:off x="5012563" y="1435713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0" name="Google Shape;1120;p83"/>
          <p:cNvSpPr/>
          <p:nvPr/>
        </p:nvSpPr>
        <p:spPr>
          <a:xfrm>
            <a:off x="5808942" y="2290570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1" name="Google Shape;1121;p83"/>
          <p:cNvSpPr/>
          <p:nvPr/>
        </p:nvSpPr>
        <p:spPr>
          <a:xfrm>
            <a:off x="6743459" y="1352388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G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2" name="Google Shape;1122;p83"/>
          <p:cNvSpPr txBox="1"/>
          <p:nvPr>
            <p:ph idx="1" type="body"/>
          </p:nvPr>
        </p:nvSpPr>
        <p:spPr>
          <a:xfrm>
            <a:off x="324000" y="3428825"/>
            <a:ext cx="6270000" cy="37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b) Draw staircase H so it is the steepest staircase.</a:t>
            </a:r>
            <a:endParaRPr sz="1800"/>
          </a:p>
        </p:txBody>
      </p:sp>
      <p:sp>
        <p:nvSpPr>
          <p:cNvPr id="1123" name="Google Shape;1123;p83"/>
          <p:cNvSpPr txBox="1"/>
          <p:nvPr>
            <p:ph idx="1" type="body"/>
          </p:nvPr>
        </p:nvSpPr>
        <p:spPr>
          <a:xfrm>
            <a:off x="324000" y="4014000"/>
            <a:ext cx="6270000" cy="37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</a:t>
            </a:r>
            <a:r>
              <a:rPr lang="en-GB" sz="1800"/>
              <a:t>) Another set of steps join point P to point Q. Where would these steps go in your order of steepness?</a:t>
            </a:r>
            <a:endParaRPr sz="1800"/>
          </a:p>
        </p:txBody>
      </p:sp>
      <p:sp>
        <p:nvSpPr>
          <p:cNvPr id="1124" name="Google Shape;1124;p83"/>
          <p:cNvSpPr/>
          <p:nvPr/>
        </p:nvSpPr>
        <p:spPr>
          <a:xfrm>
            <a:off x="6980209" y="2323713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125" name="Google Shape;1125;p83"/>
          <p:cNvGraphicFramePr/>
          <p:nvPr/>
        </p:nvGraphicFramePr>
        <p:xfrm>
          <a:off x="6678100" y="3662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{4FBE5B0C-FCDF-4F6A-9639-473080F7E0CB}</a:tableStyleId>
              </a:tblPr>
              <a:tblGrid>
                <a:gridCol w="216150"/>
                <a:gridCol w="224275"/>
                <a:gridCol w="208025"/>
                <a:gridCol w="216150"/>
                <a:gridCol w="216150"/>
                <a:gridCol w="216150"/>
                <a:gridCol w="216150"/>
              </a:tblGrid>
              <a:tr h="215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</a:tr>
              <a:tr h="215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</a:tr>
              <a:tr h="215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</a:tr>
              <a:tr h="215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</a:tr>
              <a:tr h="215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</a:tr>
            </a:tbl>
          </a:graphicData>
        </a:graphic>
      </p:graphicFrame>
      <p:sp>
        <p:nvSpPr>
          <p:cNvPr id="1126" name="Google Shape;1126;p83"/>
          <p:cNvSpPr/>
          <p:nvPr/>
        </p:nvSpPr>
        <p:spPr>
          <a:xfrm>
            <a:off x="7694448" y="3662850"/>
            <a:ext cx="4995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 Q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7" name="Google Shape;1127;p83"/>
          <p:cNvSpPr/>
          <p:nvPr/>
        </p:nvSpPr>
        <p:spPr>
          <a:xfrm>
            <a:off x="6824896" y="4514550"/>
            <a:ext cx="43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 P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p84"/>
          <p:cNvSpPr txBox="1"/>
          <p:nvPr>
            <p:ph idx="1" type="body"/>
          </p:nvPr>
        </p:nvSpPr>
        <p:spPr>
          <a:xfrm>
            <a:off x="324000" y="702900"/>
            <a:ext cx="4176600" cy="37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2)  Which lines have a positive </a:t>
            </a:r>
            <a:r>
              <a:rPr b="1" lang="en-GB" sz="1800"/>
              <a:t>gradient</a:t>
            </a:r>
            <a:r>
              <a:rPr lang="en-GB" sz="1800"/>
              <a:t>?</a:t>
            </a:r>
            <a:endParaRPr sz="1800"/>
          </a:p>
        </p:txBody>
      </p:sp>
      <p:sp>
        <p:nvSpPr>
          <p:cNvPr id="1133" name="Google Shape;1133;p8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Defining gradient</a:t>
            </a:r>
            <a:endParaRPr/>
          </a:p>
        </p:txBody>
      </p:sp>
      <p:pic>
        <p:nvPicPr>
          <p:cNvPr id="1134" name="Google Shape;1134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850" y="1620000"/>
            <a:ext cx="3528450" cy="258865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35" name="Google Shape;1135;p84"/>
          <p:cNvSpPr txBox="1"/>
          <p:nvPr>
            <p:ph idx="1" type="body"/>
          </p:nvPr>
        </p:nvSpPr>
        <p:spPr>
          <a:xfrm>
            <a:off x="4572000" y="702900"/>
            <a:ext cx="4176600" cy="37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3)</a:t>
            </a:r>
            <a:r>
              <a:rPr lang="en-GB" sz="1800"/>
              <a:t>  Which tables of values show a relationship which will have positive </a:t>
            </a:r>
            <a:r>
              <a:rPr b="1" lang="en-GB" sz="1800"/>
              <a:t>gradient</a:t>
            </a:r>
            <a:r>
              <a:rPr lang="en-GB" sz="1800"/>
              <a:t> when plotted?</a:t>
            </a:r>
            <a:endParaRPr sz="1800"/>
          </a:p>
        </p:txBody>
      </p:sp>
      <p:graphicFrame>
        <p:nvGraphicFramePr>
          <p:cNvPr id="1136" name="Google Shape;1136;p84"/>
          <p:cNvGraphicFramePr/>
          <p:nvPr/>
        </p:nvGraphicFramePr>
        <p:xfrm>
          <a:off x="4876800" y="1861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{4FBE5B0C-FCDF-4F6A-9639-473080F7E0CB}</a:tableStyleId>
              </a:tblPr>
              <a:tblGrid>
                <a:gridCol w="708000"/>
                <a:gridCol w="708000"/>
                <a:gridCol w="708000"/>
                <a:gridCol w="708000"/>
                <a:gridCol w="708000"/>
              </a:tblGrid>
              <a:tr h="223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37" name="Google Shape;1137;p84"/>
          <p:cNvGraphicFramePr/>
          <p:nvPr/>
        </p:nvGraphicFramePr>
        <p:xfrm>
          <a:off x="4876800" y="3802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{4FBE5B0C-FCDF-4F6A-9639-473080F7E0CB}</a:tableStyleId>
              </a:tblPr>
              <a:tblGrid>
                <a:gridCol w="708000"/>
                <a:gridCol w="708000"/>
                <a:gridCol w="708000"/>
                <a:gridCol w="708000"/>
                <a:gridCol w="708000"/>
              </a:tblGrid>
              <a:tr h="223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38" name="Google Shape;1138;p84"/>
          <p:cNvGraphicFramePr/>
          <p:nvPr/>
        </p:nvGraphicFramePr>
        <p:xfrm>
          <a:off x="4876800" y="2832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{4FBE5B0C-FCDF-4F6A-9639-473080F7E0CB}</a:tableStyleId>
              </a:tblPr>
              <a:tblGrid>
                <a:gridCol w="708000"/>
                <a:gridCol w="708000"/>
                <a:gridCol w="708000"/>
                <a:gridCol w="708000"/>
                <a:gridCol w="708000"/>
              </a:tblGrid>
              <a:tr h="223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39" name="Google Shape;1139;p84"/>
          <p:cNvSpPr/>
          <p:nvPr/>
        </p:nvSpPr>
        <p:spPr>
          <a:xfrm>
            <a:off x="628025" y="3474500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0" name="Google Shape;1140;p84"/>
          <p:cNvSpPr/>
          <p:nvPr/>
        </p:nvSpPr>
        <p:spPr>
          <a:xfrm>
            <a:off x="433850" y="2608850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1" name="Google Shape;1141;p84"/>
          <p:cNvSpPr/>
          <p:nvPr/>
        </p:nvSpPr>
        <p:spPr>
          <a:xfrm>
            <a:off x="484250" y="1901800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/>
          </a:p>
        </p:txBody>
      </p:sp>
      <p:sp>
        <p:nvSpPr>
          <p:cNvPr id="1142" name="Google Shape;1142;p84"/>
          <p:cNvSpPr/>
          <p:nvPr/>
        </p:nvSpPr>
        <p:spPr>
          <a:xfrm>
            <a:off x="1939100" y="1620000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/>
          </a:p>
        </p:txBody>
      </p:sp>
      <p:sp>
        <p:nvSpPr>
          <p:cNvPr id="1143" name="Google Shape;1143;p84"/>
          <p:cNvSpPr/>
          <p:nvPr/>
        </p:nvSpPr>
        <p:spPr>
          <a:xfrm>
            <a:off x="2887200" y="1620000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/>
          </a:p>
        </p:txBody>
      </p:sp>
      <p:graphicFrame>
        <p:nvGraphicFramePr>
          <p:cNvPr id="1144" name="Google Shape;1144;p84"/>
          <p:cNvGraphicFramePr/>
          <p:nvPr/>
        </p:nvGraphicFramePr>
        <p:xfrm>
          <a:off x="4515238" y="1889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{4FBE5B0C-FCDF-4F6A-9639-473080F7E0CB}</a:tableStyleId>
              </a:tblPr>
              <a:tblGrid>
                <a:gridCol w="617525"/>
              </a:tblGrid>
              <a:tr h="980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80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80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p85"/>
          <p:cNvSpPr txBox="1"/>
          <p:nvPr>
            <p:ph idx="1" type="body"/>
          </p:nvPr>
        </p:nvSpPr>
        <p:spPr>
          <a:xfrm>
            <a:off x="324000" y="6831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a) </a:t>
            </a:r>
            <a:r>
              <a:rPr lang="en-GB" sz="1800"/>
              <a:t>Starting with the steepest, put these steps in order.</a:t>
            </a:r>
            <a:endParaRPr sz="1800"/>
          </a:p>
        </p:txBody>
      </p:sp>
      <p:sp>
        <p:nvSpPr>
          <p:cNvPr id="1150" name="Google Shape;1150;p8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Defining gradient</a:t>
            </a:r>
            <a:endParaRPr/>
          </a:p>
        </p:txBody>
      </p:sp>
      <p:graphicFrame>
        <p:nvGraphicFramePr>
          <p:cNvPr id="1151" name="Google Shape;1151;p85"/>
          <p:cNvGraphicFramePr/>
          <p:nvPr/>
        </p:nvGraphicFramePr>
        <p:xfrm>
          <a:off x="628800" y="1333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{4FBE5B0C-FCDF-4F6A-9639-473080F7E0CB}</a:tableStyleId>
              </a:tblPr>
              <a:tblGrid>
                <a:gridCol w="216150"/>
                <a:gridCol w="224275"/>
                <a:gridCol w="208025"/>
                <a:gridCol w="216150"/>
                <a:gridCol w="216150"/>
                <a:gridCol w="216150"/>
                <a:gridCol w="216150"/>
                <a:gridCol w="216150"/>
                <a:gridCol w="216150"/>
                <a:gridCol w="216150"/>
                <a:gridCol w="216150"/>
                <a:gridCol w="216150"/>
                <a:gridCol w="216150"/>
                <a:gridCol w="216150"/>
                <a:gridCol w="216150"/>
                <a:gridCol w="216150"/>
                <a:gridCol w="216150"/>
                <a:gridCol w="216150"/>
                <a:gridCol w="216150"/>
                <a:gridCol w="216150"/>
              </a:tblGrid>
              <a:tr h="215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</a:tr>
              <a:tr h="215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</a:tr>
              <a:tr h="215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</a:tr>
              <a:tr h="215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</a:tr>
              <a:tr h="215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</a:tr>
              <a:tr h="215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</a:tr>
              <a:tr h="215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</a:tr>
              <a:tr h="224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</a:tr>
              <a:tr h="215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</a:tr>
            </a:tbl>
          </a:graphicData>
        </a:graphic>
      </p:graphicFrame>
      <p:graphicFrame>
        <p:nvGraphicFramePr>
          <p:cNvPr id="1152" name="Google Shape;1152;p85"/>
          <p:cNvGraphicFramePr/>
          <p:nvPr/>
        </p:nvGraphicFramePr>
        <p:xfrm>
          <a:off x="4303350" y="1333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{4FBE5B0C-FCDF-4F6A-9639-473080F7E0CB}</a:tableStyleId>
              </a:tblPr>
              <a:tblGrid>
                <a:gridCol w="216150"/>
                <a:gridCol w="216150"/>
                <a:gridCol w="216150"/>
                <a:gridCol w="216150"/>
                <a:gridCol w="216150"/>
                <a:gridCol w="216150"/>
                <a:gridCol w="216150"/>
                <a:gridCol w="216150"/>
                <a:gridCol w="216150"/>
                <a:gridCol w="216150"/>
                <a:gridCol w="216150"/>
                <a:gridCol w="216150"/>
                <a:gridCol w="216150"/>
                <a:gridCol w="216150"/>
                <a:gridCol w="216150"/>
                <a:gridCol w="216150"/>
                <a:gridCol w="216150"/>
                <a:gridCol w="216150"/>
                <a:gridCol w="216150"/>
                <a:gridCol w="216150"/>
              </a:tblGrid>
              <a:tr h="215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</a:tr>
              <a:tr h="215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</a:tr>
              <a:tr h="215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</a:tr>
              <a:tr h="215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</a:tr>
              <a:tr h="215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</a:tr>
              <a:tr h="215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</a:tr>
              <a:tr h="215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</a:tr>
              <a:tr h="224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</a:tr>
              <a:tr h="215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</a:tr>
            </a:tbl>
          </a:graphicData>
        </a:graphic>
      </p:graphicFrame>
      <p:cxnSp>
        <p:nvCxnSpPr>
          <p:cNvPr id="1153" name="Google Shape;1153;p85"/>
          <p:cNvCxnSpPr/>
          <p:nvPr/>
        </p:nvCxnSpPr>
        <p:spPr>
          <a:xfrm>
            <a:off x="837324" y="2416200"/>
            <a:ext cx="231900" cy="36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4" name="Google Shape;1154;p85"/>
          <p:cNvCxnSpPr/>
          <p:nvPr/>
        </p:nvCxnSpPr>
        <p:spPr>
          <a:xfrm>
            <a:off x="1061099" y="2196625"/>
            <a:ext cx="231900" cy="36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5" name="Google Shape;1155;p85"/>
          <p:cNvCxnSpPr/>
          <p:nvPr/>
        </p:nvCxnSpPr>
        <p:spPr>
          <a:xfrm>
            <a:off x="1277249" y="1980750"/>
            <a:ext cx="231900" cy="36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6" name="Google Shape;1156;p85"/>
          <p:cNvCxnSpPr/>
          <p:nvPr/>
        </p:nvCxnSpPr>
        <p:spPr>
          <a:xfrm>
            <a:off x="1493399" y="1764875"/>
            <a:ext cx="231900" cy="36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7" name="Google Shape;1157;p85"/>
          <p:cNvCxnSpPr/>
          <p:nvPr/>
        </p:nvCxnSpPr>
        <p:spPr>
          <a:xfrm>
            <a:off x="1274747" y="3068900"/>
            <a:ext cx="231900" cy="36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8" name="Google Shape;1158;p85"/>
          <p:cNvCxnSpPr/>
          <p:nvPr/>
        </p:nvCxnSpPr>
        <p:spPr>
          <a:xfrm>
            <a:off x="1490099" y="2632763"/>
            <a:ext cx="231900" cy="36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9" name="Google Shape;1159;p85"/>
          <p:cNvCxnSpPr/>
          <p:nvPr/>
        </p:nvCxnSpPr>
        <p:spPr>
          <a:xfrm>
            <a:off x="1707047" y="2198813"/>
            <a:ext cx="231900" cy="36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0" name="Google Shape;1160;p85"/>
          <p:cNvCxnSpPr/>
          <p:nvPr/>
        </p:nvCxnSpPr>
        <p:spPr>
          <a:xfrm>
            <a:off x="2357999" y="2198825"/>
            <a:ext cx="8790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1" name="Google Shape;1161;p85"/>
          <p:cNvCxnSpPr/>
          <p:nvPr/>
        </p:nvCxnSpPr>
        <p:spPr>
          <a:xfrm>
            <a:off x="3220799" y="1766675"/>
            <a:ext cx="8910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2" name="Google Shape;1162;p85"/>
          <p:cNvCxnSpPr/>
          <p:nvPr/>
        </p:nvCxnSpPr>
        <p:spPr>
          <a:xfrm>
            <a:off x="4091699" y="1333438"/>
            <a:ext cx="8649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3" name="Google Shape;1163;p85"/>
          <p:cNvCxnSpPr/>
          <p:nvPr/>
        </p:nvCxnSpPr>
        <p:spPr>
          <a:xfrm>
            <a:off x="4964869" y="2853025"/>
            <a:ext cx="2157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4" name="Google Shape;1164;p85"/>
          <p:cNvCxnSpPr/>
          <p:nvPr/>
        </p:nvCxnSpPr>
        <p:spPr>
          <a:xfrm>
            <a:off x="5179219" y="2200325"/>
            <a:ext cx="2157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5" name="Google Shape;1165;p85"/>
          <p:cNvCxnSpPr/>
          <p:nvPr/>
        </p:nvCxnSpPr>
        <p:spPr>
          <a:xfrm>
            <a:off x="5397169" y="1549000"/>
            <a:ext cx="2157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6" name="Google Shape;1166;p85"/>
          <p:cNvCxnSpPr/>
          <p:nvPr/>
        </p:nvCxnSpPr>
        <p:spPr>
          <a:xfrm>
            <a:off x="4944356" y="3277582"/>
            <a:ext cx="6573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7" name="Google Shape;1167;p85"/>
          <p:cNvCxnSpPr/>
          <p:nvPr/>
        </p:nvCxnSpPr>
        <p:spPr>
          <a:xfrm>
            <a:off x="5592806" y="2851332"/>
            <a:ext cx="6573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8" name="Google Shape;1168;p85"/>
          <p:cNvCxnSpPr/>
          <p:nvPr/>
        </p:nvCxnSpPr>
        <p:spPr>
          <a:xfrm>
            <a:off x="6250106" y="2415882"/>
            <a:ext cx="6573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9" name="Google Shape;1169;p85"/>
          <p:cNvCxnSpPr/>
          <p:nvPr/>
        </p:nvCxnSpPr>
        <p:spPr>
          <a:xfrm>
            <a:off x="5809075" y="2175100"/>
            <a:ext cx="6573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0" name="Google Shape;1170;p85"/>
          <p:cNvCxnSpPr/>
          <p:nvPr/>
        </p:nvCxnSpPr>
        <p:spPr>
          <a:xfrm>
            <a:off x="6472424" y="1948775"/>
            <a:ext cx="6573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1" name="Google Shape;1171;p85"/>
          <p:cNvCxnSpPr/>
          <p:nvPr/>
        </p:nvCxnSpPr>
        <p:spPr>
          <a:xfrm>
            <a:off x="7105975" y="1738975"/>
            <a:ext cx="6573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2" name="Google Shape;1172;p85"/>
          <p:cNvCxnSpPr/>
          <p:nvPr/>
        </p:nvCxnSpPr>
        <p:spPr>
          <a:xfrm rot="5400000">
            <a:off x="946947" y="2307150"/>
            <a:ext cx="231900" cy="36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3" name="Google Shape;1173;p85"/>
          <p:cNvCxnSpPr/>
          <p:nvPr/>
        </p:nvCxnSpPr>
        <p:spPr>
          <a:xfrm rot="5400000">
            <a:off x="1170247" y="2094900"/>
            <a:ext cx="231900" cy="36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4" name="Google Shape;1174;p85"/>
          <p:cNvCxnSpPr/>
          <p:nvPr/>
        </p:nvCxnSpPr>
        <p:spPr>
          <a:xfrm rot="5400000">
            <a:off x="1372347" y="1866600"/>
            <a:ext cx="231900" cy="36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5" name="Google Shape;1175;p85"/>
          <p:cNvCxnSpPr/>
          <p:nvPr/>
        </p:nvCxnSpPr>
        <p:spPr>
          <a:xfrm flipH="1">
            <a:off x="1499075" y="2618050"/>
            <a:ext cx="3600" cy="4581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6" name="Google Shape;1176;p85"/>
          <p:cNvCxnSpPr/>
          <p:nvPr/>
        </p:nvCxnSpPr>
        <p:spPr>
          <a:xfrm flipH="1">
            <a:off x="1711813" y="2188950"/>
            <a:ext cx="3600" cy="4581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7" name="Google Shape;1177;p85"/>
          <p:cNvCxnSpPr/>
          <p:nvPr/>
        </p:nvCxnSpPr>
        <p:spPr>
          <a:xfrm flipH="1">
            <a:off x="5590992" y="2838857"/>
            <a:ext cx="3600" cy="4581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8" name="Google Shape;1178;p85"/>
          <p:cNvCxnSpPr/>
          <p:nvPr/>
        </p:nvCxnSpPr>
        <p:spPr>
          <a:xfrm flipH="1">
            <a:off x="6232392" y="2404907"/>
            <a:ext cx="3600" cy="4581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9" name="Google Shape;1179;p85"/>
          <p:cNvCxnSpPr/>
          <p:nvPr/>
        </p:nvCxnSpPr>
        <p:spPr>
          <a:xfrm>
            <a:off x="3226197" y="1752450"/>
            <a:ext cx="0" cy="4695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0" name="Google Shape;1180;p85"/>
          <p:cNvCxnSpPr/>
          <p:nvPr/>
        </p:nvCxnSpPr>
        <p:spPr>
          <a:xfrm>
            <a:off x="4089276" y="1332174"/>
            <a:ext cx="0" cy="4413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1" name="Google Shape;1181;p85"/>
          <p:cNvCxnSpPr/>
          <p:nvPr/>
        </p:nvCxnSpPr>
        <p:spPr>
          <a:xfrm rot="5400000">
            <a:off x="6354669" y="2053876"/>
            <a:ext cx="231900" cy="36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2" name="Google Shape;1182;p85"/>
          <p:cNvCxnSpPr/>
          <p:nvPr/>
        </p:nvCxnSpPr>
        <p:spPr>
          <a:xfrm rot="5400000">
            <a:off x="6991820" y="1836600"/>
            <a:ext cx="231900" cy="36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3" name="Google Shape;1183;p85"/>
          <p:cNvCxnSpPr/>
          <p:nvPr/>
        </p:nvCxnSpPr>
        <p:spPr>
          <a:xfrm>
            <a:off x="5176129" y="2187850"/>
            <a:ext cx="0" cy="6687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4" name="Google Shape;1184;p85"/>
          <p:cNvCxnSpPr/>
          <p:nvPr/>
        </p:nvCxnSpPr>
        <p:spPr>
          <a:xfrm>
            <a:off x="5387454" y="1544675"/>
            <a:ext cx="0" cy="6687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5" name="Google Shape;1185;p85"/>
          <p:cNvCxnSpPr/>
          <p:nvPr/>
        </p:nvCxnSpPr>
        <p:spPr>
          <a:xfrm>
            <a:off x="2357999" y="2844250"/>
            <a:ext cx="8790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6" name="Google Shape;1186;p85"/>
          <p:cNvCxnSpPr/>
          <p:nvPr/>
        </p:nvCxnSpPr>
        <p:spPr>
          <a:xfrm>
            <a:off x="3214150" y="2619550"/>
            <a:ext cx="0" cy="2289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7" name="Google Shape;1187;p85"/>
          <p:cNvCxnSpPr/>
          <p:nvPr/>
        </p:nvCxnSpPr>
        <p:spPr>
          <a:xfrm>
            <a:off x="3214149" y="2634575"/>
            <a:ext cx="8790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8" name="Google Shape;1188;p85"/>
          <p:cNvCxnSpPr/>
          <p:nvPr/>
        </p:nvCxnSpPr>
        <p:spPr>
          <a:xfrm>
            <a:off x="4082450" y="2405525"/>
            <a:ext cx="0" cy="2289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9" name="Google Shape;1189;p85"/>
          <p:cNvCxnSpPr/>
          <p:nvPr/>
        </p:nvCxnSpPr>
        <p:spPr>
          <a:xfrm>
            <a:off x="4082449" y="2410338"/>
            <a:ext cx="8910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0" name="Google Shape;1190;p85"/>
          <p:cNvSpPr/>
          <p:nvPr/>
        </p:nvSpPr>
        <p:spPr>
          <a:xfrm>
            <a:off x="960650" y="1591538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1" name="Google Shape;1191;p85"/>
          <p:cNvSpPr/>
          <p:nvPr/>
        </p:nvSpPr>
        <p:spPr>
          <a:xfrm>
            <a:off x="1345363" y="2224125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2" name="Google Shape;1192;p85"/>
          <p:cNvSpPr/>
          <p:nvPr/>
        </p:nvSpPr>
        <p:spPr>
          <a:xfrm>
            <a:off x="3069138" y="1377575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3" name="Google Shape;1193;p85"/>
          <p:cNvSpPr/>
          <p:nvPr/>
        </p:nvSpPr>
        <p:spPr>
          <a:xfrm>
            <a:off x="3656038" y="2215800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4" name="Google Shape;1194;p85"/>
          <p:cNvSpPr/>
          <p:nvPr/>
        </p:nvSpPr>
        <p:spPr>
          <a:xfrm>
            <a:off x="5012563" y="1511913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5" name="Google Shape;1195;p85"/>
          <p:cNvSpPr/>
          <p:nvPr/>
        </p:nvSpPr>
        <p:spPr>
          <a:xfrm>
            <a:off x="5808942" y="2366770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6" name="Google Shape;1196;p85"/>
          <p:cNvSpPr/>
          <p:nvPr/>
        </p:nvSpPr>
        <p:spPr>
          <a:xfrm>
            <a:off x="6743459" y="1428588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G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7" name="Google Shape;1197;p85"/>
          <p:cNvSpPr txBox="1"/>
          <p:nvPr>
            <p:ph idx="1" type="body"/>
          </p:nvPr>
        </p:nvSpPr>
        <p:spPr>
          <a:xfrm>
            <a:off x="324000" y="3470000"/>
            <a:ext cx="6270000" cy="37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b) Draw staircase H so it is the steepest staircase.</a:t>
            </a:r>
            <a:endParaRPr sz="1800"/>
          </a:p>
        </p:txBody>
      </p:sp>
      <p:sp>
        <p:nvSpPr>
          <p:cNvPr id="1198" name="Google Shape;1198;p85"/>
          <p:cNvSpPr txBox="1"/>
          <p:nvPr>
            <p:ph idx="1" type="body"/>
          </p:nvPr>
        </p:nvSpPr>
        <p:spPr>
          <a:xfrm>
            <a:off x="324000" y="3937800"/>
            <a:ext cx="6270000" cy="37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c) Another set of steps join point P to point Q. Where would these steps go in order of steepness?</a:t>
            </a:r>
            <a:endParaRPr sz="1800"/>
          </a:p>
        </p:txBody>
      </p:sp>
      <p:sp>
        <p:nvSpPr>
          <p:cNvPr id="1199" name="Google Shape;1199;p85"/>
          <p:cNvSpPr/>
          <p:nvPr/>
        </p:nvSpPr>
        <p:spPr>
          <a:xfrm>
            <a:off x="6980209" y="2399913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200" name="Google Shape;1200;p85"/>
          <p:cNvGraphicFramePr/>
          <p:nvPr/>
        </p:nvGraphicFramePr>
        <p:xfrm>
          <a:off x="6678100" y="3662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{4FBE5B0C-FCDF-4F6A-9639-473080F7E0CB}</a:tableStyleId>
              </a:tblPr>
              <a:tblGrid>
                <a:gridCol w="216150"/>
                <a:gridCol w="224275"/>
                <a:gridCol w="208025"/>
                <a:gridCol w="216150"/>
                <a:gridCol w="216150"/>
                <a:gridCol w="216150"/>
                <a:gridCol w="216150"/>
              </a:tblGrid>
              <a:tr h="215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</a:tr>
              <a:tr h="215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</a:tr>
              <a:tr h="215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</a:tr>
              <a:tr h="215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</a:tr>
              <a:tr h="215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</a:tr>
            </a:tbl>
          </a:graphicData>
        </a:graphic>
      </p:graphicFrame>
      <p:sp>
        <p:nvSpPr>
          <p:cNvPr id="1201" name="Google Shape;1201;p85"/>
          <p:cNvSpPr/>
          <p:nvPr/>
        </p:nvSpPr>
        <p:spPr>
          <a:xfrm>
            <a:off x="7694448" y="3662850"/>
            <a:ext cx="4995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 Q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2" name="Google Shape;1202;p85"/>
          <p:cNvSpPr/>
          <p:nvPr/>
        </p:nvSpPr>
        <p:spPr>
          <a:xfrm>
            <a:off x="6824896" y="4514550"/>
            <a:ext cx="43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 P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3" name="Google Shape;1203;p85"/>
          <p:cNvSpPr txBox="1"/>
          <p:nvPr>
            <p:ph idx="1" type="body"/>
          </p:nvPr>
        </p:nvSpPr>
        <p:spPr>
          <a:xfrm>
            <a:off x="361375" y="978038"/>
            <a:ext cx="8496000" cy="37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steepest: E - B - A - F - C - G - D  least steep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204" name="Google Shape;1204;p85"/>
          <p:cNvCxnSpPr/>
          <p:nvPr/>
        </p:nvCxnSpPr>
        <p:spPr>
          <a:xfrm>
            <a:off x="7545600" y="3276975"/>
            <a:ext cx="2364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5" name="Google Shape;1205;p85"/>
          <p:cNvCxnSpPr/>
          <p:nvPr/>
        </p:nvCxnSpPr>
        <p:spPr>
          <a:xfrm>
            <a:off x="7763275" y="2401150"/>
            <a:ext cx="0" cy="8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6" name="Google Shape;1206;p85"/>
          <p:cNvCxnSpPr/>
          <p:nvPr/>
        </p:nvCxnSpPr>
        <p:spPr>
          <a:xfrm>
            <a:off x="7758850" y="2427600"/>
            <a:ext cx="2364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7" name="Google Shape;1207;p85"/>
          <p:cNvCxnSpPr/>
          <p:nvPr/>
        </p:nvCxnSpPr>
        <p:spPr>
          <a:xfrm>
            <a:off x="7977900" y="1539300"/>
            <a:ext cx="0" cy="89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8" name="Google Shape;1208;p85"/>
          <p:cNvCxnSpPr/>
          <p:nvPr/>
        </p:nvCxnSpPr>
        <p:spPr>
          <a:xfrm>
            <a:off x="7962226" y="1545426"/>
            <a:ext cx="2364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9" name="Google Shape;1209;p85"/>
          <p:cNvSpPr/>
          <p:nvPr/>
        </p:nvSpPr>
        <p:spPr>
          <a:xfrm>
            <a:off x="7849544" y="2542475"/>
            <a:ext cx="4995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10" name="Google Shape;1210;p85"/>
          <p:cNvSpPr txBox="1"/>
          <p:nvPr>
            <p:ph idx="1" type="body"/>
          </p:nvPr>
        </p:nvSpPr>
        <p:spPr>
          <a:xfrm>
            <a:off x="324000" y="4545750"/>
            <a:ext cx="8496000" cy="37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Same as A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4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p86"/>
          <p:cNvSpPr txBox="1"/>
          <p:nvPr>
            <p:ph idx="1" type="body"/>
          </p:nvPr>
        </p:nvSpPr>
        <p:spPr>
          <a:xfrm>
            <a:off x="324000" y="759300"/>
            <a:ext cx="42480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2)  Which lines have a positive </a:t>
            </a:r>
            <a:r>
              <a:rPr b="1" lang="en-GB" sz="1800"/>
              <a:t>gradient</a:t>
            </a:r>
            <a:r>
              <a:rPr lang="en-GB" sz="1800"/>
              <a:t>?</a:t>
            </a:r>
            <a:endParaRPr sz="1800"/>
          </a:p>
        </p:txBody>
      </p:sp>
      <p:sp>
        <p:nvSpPr>
          <p:cNvPr id="1216" name="Google Shape;1216;p8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Defining gradient</a:t>
            </a:r>
            <a:endParaRPr/>
          </a:p>
        </p:txBody>
      </p:sp>
      <p:pic>
        <p:nvPicPr>
          <p:cNvPr id="1217" name="Google Shape;1217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850" y="1620000"/>
            <a:ext cx="3528450" cy="258865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18" name="Google Shape;1218;p86"/>
          <p:cNvSpPr txBox="1"/>
          <p:nvPr>
            <p:ph idx="1" type="body"/>
          </p:nvPr>
        </p:nvSpPr>
        <p:spPr>
          <a:xfrm>
            <a:off x="4572000" y="702900"/>
            <a:ext cx="4176600" cy="37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3)  Which tables of values show a relationship which will have positive </a:t>
            </a:r>
            <a:r>
              <a:rPr b="1" lang="en-GB" sz="1800"/>
              <a:t>gradient</a:t>
            </a:r>
            <a:r>
              <a:rPr lang="en-GB" sz="1800"/>
              <a:t> when plotted?</a:t>
            </a:r>
            <a:endParaRPr sz="1800"/>
          </a:p>
        </p:txBody>
      </p:sp>
      <p:graphicFrame>
        <p:nvGraphicFramePr>
          <p:cNvPr id="1219" name="Google Shape;1219;p86"/>
          <p:cNvGraphicFramePr/>
          <p:nvPr/>
        </p:nvGraphicFramePr>
        <p:xfrm>
          <a:off x="4876800" y="1709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{4FBE5B0C-FCDF-4F6A-9639-473080F7E0CB}</a:tableStyleId>
              </a:tblPr>
              <a:tblGrid>
                <a:gridCol w="708000"/>
                <a:gridCol w="708000"/>
                <a:gridCol w="708000"/>
                <a:gridCol w="708000"/>
                <a:gridCol w="708000"/>
              </a:tblGrid>
              <a:tr h="223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20" name="Google Shape;1220;p86"/>
          <p:cNvGraphicFramePr/>
          <p:nvPr/>
        </p:nvGraphicFramePr>
        <p:xfrm>
          <a:off x="4876800" y="3812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{4FBE5B0C-FCDF-4F6A-9639-473080F7E0CB}</a:tableStyleId>
              </a:tblPr>
              <a:tblGrid>
                <a:gridCol w="708000"/>
                <a:gridCol w="708000"/>
                <a:gridCol w="708000"/>
                <a:gridCol w="708000"/>
                <a:gridCol w="708000"/>
              </a:tblGrid>
              <a:tr h="223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21" name="Google Shape;1221;p86"/>
          <p:cNvGraphicFramePr/>
          <p:nvPr/>
        </p:nvGraphicFramePr>
        <p:xfrm>
          <a:off x="4876800" y="2734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{4FBE5B0C-FCDF-4F6A-9639-473080F7E0CB}</a:tableStyleId>
              </a:tblPr>
              <a:tblGrid>
                <a:gridCol w="708000"/>
                <a:gridCol w="708000"/>
                <a:gridCol w="708000"/>
                <a:gridCol w="708000"/>
                <a:gridCol w="708000"/>
              </a:tblGrid>
              <a:tr h="223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22" name="Google Shape;1222;p86"/>
          <p:cNvSpPr/>
          <p:nvPr/>
        </p:nvSpPr>
        <p:spPr>
          <a:xfrm>
            <a:off x="628025" y="3474500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3" name="Google Shape;1223;p86"/>
          <p:cNvSpPr/>
          <p:nvPr/>
        </p:nvSpPr>
        <p:spPr>
          <a:xfrm>
            <a:off x="433850" y="2608850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4" name="Google Shape;1224;p86"/>
          <p:cNvSpPr/>
          <p:nvPr/>
        </p:nvSpPr>
        <p:spPr>
          <a:xfrm>
            <a:off x="484250" y="1901800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/>
          </a:p>
        </p:txBody>
      </p:sp>
      <p:sp>
        <p:nvSpPr>
          <p:cNvPr id="1225" name="Google Shape;1225;p86"/>
          <p:cNvSpPr/>
          <p:nvPr/>
        </p:nvSpPr>
        <p:spPr>
          <a:xfrm>
            <a:off x="1939100" y="1620000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/>
          </a:p>
        </p:txBody>
      </p:sp>
      <p:sp>
        <p:nvSpPr>
          <p:cNvPr id="1226" name="Google Shape;1226;p86"/>
          <p:cNvSpPr/>
          <p:nvPr/>
        </p:nvSpPr>
        <p:spPr>
          <a:xfrm>
            <a:off x="2887200" y="1620000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/>
          </a:p>
        </p:txBody>
      </p:sp>
      <p:graphicFrame>
        <p:nvGraphicFramePr>
          <p:cNvPr id="1227" name="Google Shape;1227;p86"/>
          <p:cNvGraphicFramePr/>
          <p:nvPr/>
        </p:nvGraphicFramePr>
        <p:xfrm>
          <a:off x="4515238" y="1889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{4FBE5B0C-FCDF-4F6A-9639-473080F7E0CB}</a:tableStyleId>
              </a:tblPr>
              <a:tblGrid>
                <a:gridCol w="617525"/>
              </a:tblGrid>
              <a:tr h="980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80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80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28" name="Google Shape;1228;p86"/>
          <p:cNvSpPr txBox="1"/>
          <p:nvPr>
            <p:ph idx="1" type="body"/>
          </p:nvPr>
        </p:nvSpPr>
        <p:spPr>
          <a:xfrm>
            <a:off x="324000" y="4340150"/>
            <a:ext cx="4248000" cy="4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A, B and E have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positive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gradients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29" name="Google Shape;1229;p86"/>
          <p:cNvSpPr txBox="1"/>
          <p:nvPr>
            <p:ph idx="1" type="body"/>
          </p:nvPr>
        </p:nvSpPr>
        <p:spPr>
          <a:xfrm>
            <a:off x="4396800" y="2356250"/>
            <a:ext cx="4248000" cy="4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Positive,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increases as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increases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30" name="Google Shape;1230;p86"/>
          <p:cNvSpPr txBox="1"/>
          <p:nvPr>
            <p:ph idx="1" type="body"/>
          </p:nvPr>
        </p:nvSpPr>
        <p:spPr>
          <a:xfrm>
            <a:off x="4396800" y="4480052"/>
            <a:ext cx="4248000" cy="4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Positive,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increases as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increases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31" name="Google Shape;1231;p86"/>
          <p:cNvSpPr txBox="1"/>
          <p:nvPr>
            <p:ph idx="1" type="body"/>
          </p:nvPr>
        </p:nvSpPr>
        <p:spPr>
          <a:xfrm>
            <a:off x="4396800" y="3348200"/>
            <a:ext cx="4500000" cy="4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Not p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ositive,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decreases as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increases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5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p8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Defining gradient </a:t>
            </a:r>
            <a:endParaRPr/>
          </a:p>
        </p:txBody>
      </p:sp>
      <p:sp>
        <p:nvSpPr>
          <p:cNvPr id="1237" name="Google Shape;1237;p8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positive gradients from graphs  </a:t>
            </a:r>
            <a:endParaRPr/>
          </a:p>
        </p:txBody>
      </p:sp>
      <p:sp>
        <p:nvSpPr>
          <p:cNvPr id="1238" name="Google Shape;1238;p8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Positive rate of change from a graph</a:t>
            </a:r>
            <a:endParaRPr/>
          </a:p>
        </p:txBody>
      </p:sp>
      <p:pic>
        <p:nvPicPr>
          <p:cNvPr id="1239" name="Google Shape;1239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750" y="2990094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4" name="Google Shape;1244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200" y="1246275"/>
            <a:ext cx="3367299" cy="2812124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45" name="Google Shape;1245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positive gradients from graphs</a:t>
            </a:r>
            <a:endParaRPr/>
          </a:p>
        </p:txBody>
      </p:sp>
      <p:sp>
        <p:nvSpPr>
          <p:cNvPr id="1246" name="Google Shape;1246;p88"/>
          <p:cNvSpPr txBox="1"/>
          <p:nvPr>
            <p:ph idx="1" type="body"/>
          </p:nvPr>
        </p:nvSpPr>
        <p:spPr>
          <a:xfrm>
            <a:off x="324000" y="759300"/>
            <a:ext cx="8237700" cy="38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We can calculate the </a:t>
            </a:r>
            <a:r>
              <a:rPr b="1" lang="en-GB"/>
              <a:t>gradient</a:t>
            </a:r>
            <a:r>
              <a:rPr lang="en-GB"/>
              <a:t> from any graph.</a:t>
            </a:r>
            <a:endParaRPr/>
          </a:p>
        </p:txBody>
      </p:sp>
      <p:sp>
        <p:nvSpPr>
          <p:cNvPr id="1247" name="Google Shape;1247;p88"/>
          <p:cNvSpPr txBox="1"/>
          <p:nvPr>
            <p:ph idx="1" type="body"/>
          </p:nvPr>
        </p:nvSpPr>
        <p:spPr>
          <a:xfrm>
            <a:off x="4320000" y="1322475"/>
            <a:ext cx="4382100" cy="38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Pick a point on the line.</a:t>
            </a:r>
            <a:endParaRPr sz="2000"/>
          </a:p>
        </p:txBody>
      </p:sp>
      <p:sp>
        <p:nvSpPr>
          <p:cNvPr id="1248" name="Google Shape;1248;p88"/>
          <p:cNvSpPr/>
          <p:nvPr/>
        </p:nvSpPr>
        <p:spPr>
          <a:xfrm>
            <a:off x="1174498" y="2924675"/>
            <a:ext cx="43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endParaRPr sz="2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9" name="Google Shape;1249;p88"/>
          <p:cNvSpPr txBox="1"/>
          <p:nvPr>
            <p:ph idx="1" type="body"/>
          </p:nvPr>
        </p:nvSpPr>
        <p:spPr>
          <a:xfrm>
            <a:off x="4320000" y="2005675"/>
            <a:ext cx="4500000" cy="38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Draw an arrow to show a step of 1 in the positive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/>
              <a:t>-</a:t>
            </a:r>
            <a:r>
              <a:rPr lang="en-GB" sz="2000"/>
              <a:t>direction.</a:t>
            </a:r>
            <a:endParaRPr sz="2000"/>
          </a:p>
        </p:txBody>
      </p:sp>
      <p:cxnSp>
        <p:nvCxnSpPr>
          <p:cNvPr id="1250" name="Google Shape;1250;p88"/>
          <p:cNvCxnSpPr/>
          <p:nvPr/>
        </p:nvCxnSpPr>
        <p:spPr>
          <a:xfrm flipH="1" rot="10800000">
            <a:off x="1240174" y="3149125"/>
            <a:ext cx="376200" cy="3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251" name="Google Shape;1251;p88"/>
          <p:cNvCxnSpPr/>
          <p:nvPr/>
        </p:nvCxnSpPr>
        <p:spPr>
          <a:xfrm rot="10800000">
            <a:off x="1601721" y="2460325"/>
            <a:ext cx="0" cy="6888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1252" name="Google Shape;1252;p88"/>
          <p:cNvSpPr txBox="1"/>
          <p:nvPr>
            <p:ph idx="1" type="body"/>
          </p:nvPr>
        </p:nvSpPr>
        <p:spPr>
          <a:xfrm>
            <a:off x="4320000" y="2901900"/>
            <a:ext cx="4500000" cy="38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Draw an arrow vertically until you reach the line again.</a:t>
            </a:r>
            <a:endParaRPr sz="2000"/>
          </a:p>
        </p:txBody>
      </p:sp>
      <p:sp>
        <p:nvSpPr>
          <p:cNvPr id="1253" name="Google Shape;1253;p88"/>
          <p:cNvSpPr/>
          <p:nvPr/>
        </p:nvSpPr>
        <p:spPr>
          <a:xfrm>
            <a:off x="1528845" y="2232275"/>
            <a:ext cx="43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endParaRPr sz="2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4" name="Google Shape;1254;p88"/>
          <p:cNvSpPr/>
          <p:nvPr/>
        </p:nvSpPr>
        <p:spPr>
          <a:xfrm>
            <a:off x="1589100" y="2690700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+2</a:t>
            </a:r>
            <a:endParaRPr/>
          </a:p>
        </p:txBody>
      </p:sp>
      <p:sp>
        <p:nvSpPr>
          <p:cNvPr id="1255" name="Google Shape;1255;p88"/>
          <p:cNvSpPr/>
          <p:nvPr/>
        </p:nvSpPr>
        <p:spPr>
          <a:xfrm>
            <a:off x="1234650" y="3149125"/>
            <a:ext cx="3141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+1</a:t>
            </a:r>
            <a:endParaRPr/>
          </a:p>
        </p:txBody>
      </p:sp>
      <p:sp>
        <p:nvSpPr>
          <p:cNvPr id="1256" name="Google Shape;1256;p88"/>
          <p:cNvSpPr txBox="1"/>
          <p:nvPr>
            <p:ph idx="1" type="body"/>
          </p:nvPr>
        </p:nvSpPr>
        <p:spPr>
          <a:xfrm>
            <a:off x="324000" y="4127700"/>
            <a:ext cx="5178300" cy="38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This graph has a </a:t>
            </a:r>
            <a:r>
              <a:rPr b="1" lang="en-GB" sz="2000"/>
              <a:t>gradient</a:t>
            </a:r>
            <a:r>
              <a:rPr lang="en-GB" sz="2000"/>
              <a:t> of 2 because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/>
              <a:t> increases by 2 when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/>
              <a:t> increases by 1</a:t>
            </a:r>
            <a:endParaRPr sz="2000"/>
          </a:p>
        </p:txBody>
      </p:sp>
      <p:graphicFrame>
        <p:nvGraphicFramePr>
          <p:cNvPr id="1257" name="Google Shape;1257;p88"/>
          <p:cNvGraphicFramePr/>
          <p:nvPr/>
        </p:nvGraphicFramePr>
        <p:xfrm>
          <a:off x="5502300" y="3886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{4FBE5B0C-FCDF-4F6A-9639-473080F7E0CB}</a:tableStyleId>
              </a:tblPr>
              <a:tblGrid>
                <a:gridCol w="1417825"/>
                <a:gridCol w="14178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 </a:t>
                      </a: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 </a:t>
                      </a: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258" name="Google Shape;1258;p88"/>
          <p:cNvCxnSpPr/>
          <p:nvPr/>
        </p:nvCxnSpPr>
        <p:spPr>
          <a:xfrm flipH="1" rot="10800000">
            <a:off x="5083700" y="4481425"/>
            <a:ext cx="2340000" cy="1836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9" name="Google Shape;1259;p88"/>
          <p:cNvSpPr/>
          <p:nvPr/>
        </p:nvSpPr>
        <p:spPr>
          <a:xfrm>
            <a:off x="7423675" y="4306175"/>
            <a:ext cx="434400" cy="299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4" name="Google Shape;1264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6300" y="1407605"/>
            <a:ext cx="2259279" cy="219355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65" name="Google Shape;1265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15700" y="1394405"/>
            <a:ext cx="2201550" cy="2213694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66" name="Google Shape;1266;p8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3351" y="1407605"/>
            <a:ext cx="2201549" cy="2193557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67" name="Google Shape;1267;p89"/>
          <p:cNvSpPr txBox="1"/>
          <p:nvPr>
            <p:ph idx="1" type="body"/>
          </p:nvPr>
        </p:nvSpPr>
        <p:spPr>
          <a:xfrm>
            <a:off x="324000" y="759300"/>
            <a:ext cx="8237700" cy="4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Match the graphs to the correct </a:t>
            </a:r>
            <a:r>
              <a:rPr b="1" lang="en-GB"/>
              <a:t>gradients.</a:t>
            </a:r>
            <a:r>
              <a:rPr lang="en-GB"/>
              <a:t> </a:t>
            </a:r>
            <a:endParaRPr/>
          </a:p>
        </p:txBody>
      </p:sp>
      <p:sp>
        <p:nvSpPr>
          <p:cNvPr id="1268" name="Google Shape;1268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positive gradients from graphs</a:t>
            </a:r>
            <a:endParaRPr/>
          </a:p>
        </p:txBody>
      </p:sp>
      <p:sp>
        <p:nvSpPr>
          <p:cNvPr id="1269" name="Google Shape;1269;p89"/>
          <p:cNvSpPr txBox="1"/>
          <p:nvPr>
            <p:ph idx="1" type="body"/>
          </p:nvPr>
        </p:nvSpPr>
        <p:spPr>
          <a:xfrm>
            <a:off x="882713" y="4075350"/>
            <a:ext cx="1379400" cy="4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gradient: 1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270" name="Google Shape;1270;p89"/>
          <p:cNvSpPr txBox="1"/>
          <p:nvPr>
            <p:ph idx="1" type="body"/>
          </p:nvPr>
        </p:nvSpPr>
        <p:spPr>
          <a:xfrm>
            <a:off x="3684850" y="4075350"/>
            <a:ext cx="1986000" cy="4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gradient: 2 </a:t>
            </a:r>
            <a:endParaRPr sz="2000"/>
          </a:p>
        </p:txBody>
      </p:sp>
      <p:sp>
        <p:nvSpPr>
          <p:cNvPr id="1271" name="Google Shape;1271;p89"/>
          <p:cNvSpPr txBox="1"/>
          <p:nvPr>
            <p:ph idx="1" type="body"/>
          </p:nvPr>
        </p:nvSpPr>
        <p:spPr>
          <a:xfrm>
            <a:off x="6466200" y="4075350"/>
            <a:ext cx="1986000" cy="4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gradient: 3 </a:t>
            </a:r>
            <a:endParaRPr sz="2000"/>
          </a:p>
        </p:txBody>
      </p:sp>
      <p:cxnSp>
        <p:nvCxnSpPr>
          <p:cNvPr id="1272" name="Google Shape;1272;p89"/>
          <p:cNvCxnSpPr>
            <a:stCxn id="1266" idx="2"/>
            <a:endCxn id="1271" idx="0"/>
          </p:cNvCxnSpPr>
          <p:nvPr/>
        </p:nvCxnSpPr>
        <p:spPr>
          <a:xfrm>
            <a:off x="1584125" y="3601162"/>
            <a:ext cx="5875200" cy="4743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3" name="Google Shape;1273;p89"/>
          <p:cNvCxnSpPr/>
          <p:nvPr/>
        </p:nvCxnSpPr>
        <p:spPr>
          <a:xfrm flipH="1">
            <a:off x="1572431" y="3652688"/>
            <a:ext cx="2816100" cy="4350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4" name="Google Shape;1274;p89"/>
          <p:cNvCxnSpPr/>
          <p:nvPr/>
        </p:nvCxnSpPr>
        <p:spPr>
          <a:xfrm flipH="1">
            <a:off x="4319990" y="3626906"/>
            <a:ext cx="2925300" cy="4866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8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9" name="Google Shape;1279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1640225"/>
            <a:ext cx="3389848" cy="24997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80" name="Google Shape;1280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positive gradients from graphs</a:t>
            </a:r>
            <a:endParaRPr/>
          </a:p>
        </p:txBody>
      </p:sp>
      <p:sp>
        <p:nvSpPr>
          <p:cNvPr id="1281" name="Google Shape;1281;p90"/>
          <p:cNvSpPr txBox="1"/>
          <p:nvPr>
            <p:ph idx="1" type="body"/>
          </p:nvPr>
        </p:nvSpPr>
        <p:spPr>
          <a:xfrm>
            <a:off x="324000" y="759300"/>
            <a:ext cx="8496000" cy="38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2000"/>
              <a:t>Gradient</a:t>
            </a:r>
            <a:r>
              <a:rPr lang="en-GB" sz="2000"/>
              <a:t> describes the change in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/>
              <a:t> for an increase of 1 in the positive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/>
              <a:t> direction.</a:t>
            </a:r>
            <a:endParaRPr sz="2000"/>
          </a:p>
        </p:txBody>
      </p:sp>
      <p:sp>
        <p:nvSpPr>
          <p:cNvPr id="1282" name="Google Shape;1282;p90"/>
          <p:cNvSpPr txBox="1"/>
          <p:nvPr>
            <p:ph idx="1" type="body"/>
          </p:nvPr>
        </p:nvSpPr>
        <p:spPr>
          <a:xfrm>
            <a:off x="3842675" y="1660488"/>
            <a:ext cx="5261400" cy="103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We need to read the scales on our axis carefully to label an increase of 1 in the positive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/>
              <a:t>-direction correctly.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283" name="Google Shape;1283;p90"/>
          <p:cNvSpPr txBox="1"/>
          <p:nvPr>
            <p:ph idx="1" type="body"/>
          </p:nvPr>
        </p:nvSpPr>
        <p:spPr>
          <a:xfrm>
            <a:off x="3842675" y="2990800"/>
            <a:ext cx="52614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What do you notice about the scales on these axis?</a:t>
            </a:r>
            <a:endParaRPr sz="2000"/>
          </a:p>
        </p:txBody>
      </p:sp>
      <p:sp>
        <p:nvSpPr>
          <p:cNvPr id="1284" name="Google Shape;1284;p90"/>
          <p:cNvSpPr txBox="1"/>
          <p:nvPr>
            <p:ph idx="1" type="body"/>
          </p:nvPr>
        </p:nvSpPr>
        <p:spPr>
          <a:xfrm>
            <a:off x="3872850" y="3747000"/>
            <a:ext cx="47679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axis has a step of 0.5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9" name="Google Shape;1289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802025"/>
            <a:ext cx="3389848" cy="24997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90" name="Google Shape;1290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positive gradients from graphs</a:t>
            </a:r>
            <a:endParaRPr/>
          </a:p>
        </p:txBody>
      </p:sp>
      <p:sp>
        <p:nvSpPr>
          <p:cNvPr id="1291" name="Google Shape;1291;p91"/>
          <p:cNvSpPr txBox="1"/>
          <p:nvPr>
            <p:ph idx="1" type="body"/>
          </p:nvPr>
        </p:nvSpPr>
        <p:spPr>
          <a:xfrm>
            <a:off x="3842675" y="1287725"/>
            <a:ext cx="4977300" cy="38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Pick any integer point. </a:t>
            </a:r>
            <a:endParaRPr sz="2000"/>
          </a:p>
        </p:txBody>
      </p:sp>
      <p:sp>
        <p:nvSpPr>
          <p:cNvPr id="1292" name="Google Shape;1292;p91"/>
          <p:cNvSpPr/>
          <p:nvPr/>
        </p:nvSpPr>
        <p:spPr>
          <a:xfrm>
            <a:off x="1849027" y="1763500"/>
            <a:ext cx="2070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endParaRPr sz="23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93" name="Google Shape;1293;p91"/>
          <p:cNvCxnSpPr/>
          <p:nvPr/>
        </p:nvCxnSpPr>
        <p:spPr>
          <a:xfrm>
            <a:off x="1943356" y="1995575"/>
            <a:ext cx="6507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294" name="Google Shape;1294;p91"/>
          <p:cNvCxnSpPr/>
          <p:nvPr/>
        </p:nvCxnSpPr>
        <p:spPr>
          <a:xfrm rot="10800000">
            <a:off x="2594046" y="1374575"/>
            <a:ext cx="0" cy="6210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1295" name="Google Shape;1295;p91"/>
          <p:cNvSpPr/>
          <p:nvPr/>
        </p:nvSpPr>
        <p:spPr>
          <a:xfrm>
            <a:off x="2512602" y="1147506"/>
            <a:ext cx="43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endParaRPr sz="2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6" name="Google Shape;1296;p91"/>
          <p:cNvSpPr txBox="1"/>
          <p:nvPr>
            <p:ph idx="1" type="body"/>
          </p:nvPr>
        </p:nvSpPr>
        <p:spPr>
          <a:xfrm>
            <a:off x="3842675" y="1836938"/>
            <a:ext cx="5261400" cy="103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Draw an arrow to show a step of 1 in the positive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/>
              <a:t>-</a:t>
            </a:r>
            <a:r>
              <a:rPr lang="en-GB" sz="2000"/>
              <a:t>direction. </a:t>
            </a:r>
            <a:endParaRPr sz="2000"/>
          </a:p>
        </p:txBody>
      </p:sp>
      <p:sp>
        <p:nvSpPr>
          <p:cNvPr id="1297" name="Google Shape;1297;p91"/>
          <p:cNvSpPr/>
          <p:nvPr/>
        </p:nvSpPr>
        <p:spPr>
          <a:xfrm>
            <a:off x="2167988" y="1995575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+1</a:t>
            </a:r>
            <a:endParaRPr/>
          </a:p>
        </p:txBody>
      </p:sp>
      <p:sp>
        <p:nvSpPr>
          <p:cNvPr id="1298" name="Google Shape;1298;p91"/>
          <p:cNvSpPr txBox="1"/>
          <p:nvPr>
            <p:ph idx="1" type="body"/>
          </p:nvPr>
        </p:nvSpPr>
        <p:spPr>
          <a:xfrm>
            <a:off x="3842675" y="2897900"/>
            <a:ext cx="52614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Draw a vertical arrow until you reach the line again.</a:t>
            </a:r>
            <a:endParaRPr sz="2000"/>
          </a:p>
        </p:txBody>
      </p:sp>
      <p:sp>
        <p:nvSpPr>
          <p:cNvPr id="1299" name="Google Shape;1299;p91"/>
          <p:cNvSpPr/>
          <p:nvPr/>
        </p:nvSpPr>
        <p:spPr>
          <a:xfrm>
            <a:off x="2632888" y="1490525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+2</a:t>
            </a:r>
            <a:endParaRPr/>
          </a:p>
        </p:txBody>
      </p:sp>
      <p:sp>
        <p:nvSpPr>
          <p:cNvPr id="1300" name="Google Shape;1300;p91"/>
          <p:cNvSpPr txBox="1"/>
          <p:nvPr>
            <p:ph idx="1" type="body"/>
          </p:nvPr>
        </p:nvSpPr>
        <p:spPr>
          <a:xfrm>
            <a:off x="324000" y="3730875"/>
            <a:ext cx="4248000" cy="38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This graph has a </a:t>
            </a:r>
            <a:r>
              <a:rPr b="1" lang="en-GB" sz="2000"/>
              <a:t>gradient</a:t>
            </a:r>
            <a:r>
              <a:rPr lang="en-GB" sz="2000"/>
              <a:t> of 2 because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/>
              <a:t> increases by 2 when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/>
              <a:t> increases by 1</a:t>
            </a:r>
            <a:endParaRPr sz="2000"/>
          </a:p>
        </p:txBody>
      </p:sp>
      <p:graphicFrame>
        <p:nvGraphicFramePr>
          <p:cNvPr id="1301" name="Google Shape;1301;p91"/>
          <p:cNvGraphicFramePr/>
          <p:nvPr/>
        </p:nvGraphicFramePr>
        <p:xfrm>
          <a:off x="4838975" y="3730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{4FBE5B0C-FCDF-4F6A-9639-473080F7E0CB}</a:tableStyleId>
              </a:tblPr>
              <a:tblGrid>
                <a:gridCol w="1417825"/>
                <a:gridCol w="14178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 </a:t>
                      </a: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 </a:t>
                      </a: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302" name="Google Shape;1302;p91"/>
          <p:cNvCxnSpPr/>
          <p:nvPr/>
        </p:nvCxnSpPr>
        <p:spPr>
          <a:xfrm flipH="1" rot="10800000">
            <a:off x="4417138" y="4315825"/>
            <a:ext cx="2340000" cy="1836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3" name="Google Shape;1303;p91"/>
          <p:cNvSpPr/>
          <p:nvPr/>
        </p:nvSpPr>
        <p:spPr>
          <a:xfrm>
            <a:off x="6757113" y="4140575"/>
            <a:ext cx="434400" cy="299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4" name="Google Shape;1304;p91"/>
          <p:cNvSpPr txBox="1"/>
          <p:nvPr>
            <p:ph idx="1" type="body"/>
          </p:nvPr>
        </p:nvSpPr>
        <p:spPr>
          <a:xfrm>
            <a:off x="3842675" y="810000"/>
            <a:ext cx="4977300" cy="38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Let’s find the </a:t>
            </a:r>
            <a:r>
              <a:rPr b="1" lang="en-GB" sz="2000"/>
              <a:t>gradient</a:t>
            </a:r>
            <a:r>
              <a:rPr lang="en-GB" sz="2000"/>
              <a:t>:</a:t>
            </a:r>
            <a:r>
              <a:rPr lang="en-GB" sz="2000"/>
              <a:t> 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8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9" name="Google Shape;1309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95324" y="1030388"/>
            <a:ext cx="3032976" cy="26602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10" name="Google Shape;1310;p92"/>
          <p:cNvSpPr txBox="1"/>
          <p:nvPr>
            <p:ph idx="1" type="body"/>
          </p:nvPr>
        </p:nvSpPr>
        <p:spPr>
          <a:xfrm>
            <a:off x="324000" y="627450"/>
            <a:ext cx="8237700" cy="4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Jun has tried to calculate the </a:t>
            </a:r>
            <a:r>
              <a:rPr b="1" lang="en-GB" sz="2000"/>
              <a:t>gradient</a:t>
            </a:r>
            <a:r>
              <a:rPr lang="en-GB" sz="2000"/>
              <a:t> of this line. 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311" name="Google Shape;1311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positive gradients from graphs</a:t>
            </a:r>
            <a:endParaRPr/>
          </a:p>
        </p:txBody>
      </p:sp>
      <p:sp>
        <p:nvSpPr>
          <p:cNvPr id="1312" name="Google Shape;1312;p92"/>
          <p:cNvSpPr txBox="1"/>
          <p:nvPr>
            <p:ph idx="1" type="body"/>
          </p:nvPr>
        </p:nvSpPr>
        <p:spPr>
          <a:xfrm>
            <a:off x="324000" y="1130700"/>
            <a:ext cx="4288800" cy="4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Identify his mistakes. What advice would you give him?</a:t>
            </a:r>
            <a:r>
              <a:rPr lang="en-GB" sz="2000"/>
              <a:t> </a:t>
            </a:r>
            <a:endParaRPr sz="2000"/>
          </a:p>
        </p:txBody>
      </p:sp>
      <p:cxnSp>
        <p:nvCxnSpPr>
          <p:cNvPr id="1313" name="Google Shape;1313;p92"/>
          <p:cNvCxnSpPr/>
          <p:nvPr/>
        </p:nvCxnSpPr>
        <p:spPr>
          <a:xfrm>
            <a:off x="6264280" y="2817944"/>
            <a:ext cx="3819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314" name="Google Shape;1314;p92"/>
          <p:cNvCxnSpPr/>
          <p:nvPr/>
        </p:nvCxnSpPr>
        <p:spPr>
          <a:xfrm rot="10800000">
            <a:off x="6638700" y="2478102"/>
            <a:ext cx="0" cy="3405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1315" name="Google Shape;1315;p92"/>
          <p:cNvSpPr/>
          <p:nvPr/>
        </p:nvSpPr>
        <p:spPr>
          <a:xfrm>
            <a:off x="6283223" y="2835424"/>
            <a:ext cx="3141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+1</a:t>
            </a:r>
            <a:endParaRPr/>
          </a:p>
        </p:txBody>
      </p:sp>
      <p:sp>
        <p:nvSpPr>
          <p:cNvPr id="1316" name="Google Shape;1316;p92"/>
          <p:cNvSpPr/>
          <p:nvPr/>
        </p:nvSpPr>
        <p:spPr>
          <a:xfrm>
            <a:off x="6698408" y="2476228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+1</a:t>
            </a:r>
            <a:endParaRPr/>
          </a:p>
        </p:txBody>
      </p:sp>
      <p:pic>
        <p:nvPicPr>
          <p:cNvPr id="1317" name="Google Shape;1317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2877" y="2230021"/>
            <a:ext cx="446257" cy="558038"/>
          </a:xfrm>
          <a:prstGeom prst="rect">
            <a:avLst/>
          </a:prstGeom>
          <a:noFill/>
          <a:ln>
            <a:noFill/>
          </a:ln>
        </p:spPr>
      </p:pic>
      <p:sp>
        <p:nvSpPr>
          <p:cNvPr id="1318" name="Google Shape;1318;p92"/>
          <p:cNvSpPr txBox="1"/>
          <p:nvPr/>
        </p:nvSpPr>
        <p:spPr>
          <a:xfrm flipH="1">
            <a:off x="324000" y="2738817"/>
            <a:ext cx="8640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19" name="Google Shape;1319;p92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 flipH="1">
            <a:off x="979124" y="1854600"/>
            <a:ext cx="2235576" cy="864026"/>
          </a:xfrm>
          <a:prstGeom prst="rect">
            <a:avLst/>
          </a:prstGeom>
          <a:noFill/>
          <a:ln>
            <a:noFill/>
          </a:ln>
        </p:spPr>
      </p:pic>
      <p:sp>
        <p:nvSpPr>
          <p:cNvPr id="1320" name="Google Shape;1320;p92"/>
          <p:cNvSpPr txBox="1"/>
          <p:nvPr/>
        </p:nvSpPr>
        <p:spPr>
          <a:xfrm>
            <a:off x="1137550" y="1902600"/>
            <a:ext cx="20025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gradient is 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1" name="Google Shape;1321;p92"/>
          <p:cNvSpPr txBox="1"/>
          <p:nvPr>
            <p:ph idx="1" type="body"/>
          </p:nvPr>
        </p:nvSpPr>
        <p:spPr>
          <a:xfrm>
            <a:off x="324000" y="4039125"/>
            <a:ext cx="8496000" cy="4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He needs to look at the scale on the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-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axis and see how much the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-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values have increased, not just count the squares.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22" name="Google Shape;1322;p92"/>
          <p:cNvSpPr txBox="1"/>
          <p:nvPr>
            <p:ph idx="1" type="body"/>
          </p:nvPr>
        </p:nvSpPr>
        <p:spPr>
          <a:xfrm>
            <a:off x="324000" y="3134225"/>
            <a:ext cx="4812000" cy="4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E.g.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He needs to look at the scale on the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/>
              <a:t>-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axis and move across 1, not 1 square.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7" name="Google Shape;1327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95324" y="1030388"/>
            <a:ext cx="3032976" cy="26602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28" name="Google Shape;1328;p93"/>
          <p:cNvSpPr txBox="1"/>
          <p:nvPr>
            <p:ph idx="1" type="body"/>
          </p:nvPr>
        </p:nvSpPr>
        <p:spPr>
          <a:xfrm>
            <a:off x="324000" y="627450"/>
            <a:ext cx="8237700" cy="4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Jun has tried to calculate the </a:t>
            </a:r>
            <a:r>
              <a:rPr b="1" lang="en-GB" sz="2000"/>
              <a:t>gradient</a:t>
            </a:r>
            <a:r>
              <a:rPr lang="en-GB" sz="2000"/>
              <a:t> of this line.  </a:t>
            </a:r>
            <a:endParaRPr sz="2000"/>
          </a:p>
        </p:txBody>
      </p:sp>
      <p:sp>
        <p:nvSpPr>
          <p:cNvPr id="1329" name="Google Shape;1329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positive gradients from graphs</a:t>
            </a:r>
            <a:endParaRPr/>
          </a:p>
        </p:txBody>
      </p:sp>
      <p:sp>
        <p:nvSpPr>
          <p:cNvPr id="1330" name="Google Shape;1330;p93"/>
          <p:cNvSpPr txBox="1"/>
          <p:nvPr>
            <p:ph idx="1" type="body"/>
          </p:nvPr>
        </p:nvSpPr>
        <p:spPr>
          <a:xfrm>
            <a:off x="324000" y="1130700"/>
            <a:ext cx="4288800" cy="4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Identify his mistakes. What advice would you give him? </a:t>
            </a:r>
            <a:endParaRPr sz="2000"/>
          </a:p>
        </p:txBody>
      </p:sp>
      <p:cxnSp>
        <p:nvCxnSpPr>
          <p:cNvPr id="1331" name="Google Shape;1331;p93"/>
          <p:cNvCxnSpPr/>
          <p:nvPr/>
        </p:nvCxnSpPr>
        <p:spPr>
          <a:xfrm>
            <a:off x="6264280" y="2817944"/>
            <a:ext cx="17799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332" name="Google Shape;1332;p93"/>
          <p:cNvCxnSpPr/>
          <p:nvPr/>
        </p:nvCxnSpPr>
        <p:spPr>
          <a:xfrm rot="10800000">
            <a:off x="8044175" y="1211140"/>
            <a:ext cx="0" cy="16068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1333" name="Google Shape;1333;p93"/>
          <p:cNvSpPr/>
          <p:nvPr/>
        </p:nvSpPr>
        <p:spPr>
          <a:xfrm>
            <a:off x="6997173" y="2817949"/>
            <a:ext cx="3141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+1</a:t>
            </a:r>
            <a:endParaRPr/>
          </a:p>
        </p:txBody>
      </p:sp>
      <p:sp>
        <p:nvSpPr>
          <p:cNvPr id="1334" name="Google Shape;1334;p93"/>
          <p:cNvSpPr/>
          <p:nvPr/>
        </p:nvSpPr>
        <p:spPr>
          <a:xfrm>
            <a:off x="8127970" y="1820000"/>
            <a:ext cx="5085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+10</a:t>
            </a:r>
            <a:endParaRPr/>
          </a:p>
        </p:txBody>
      </p:sp>
      <p:pic>
        <p:nvPicPr>
          <p:cNvPr id="1335" name="Google Shape;1335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2877" y="2534821"/>
            <a:ext cx="446257" cy="558038"/>
          </a:xfrm>
          <a:prstGeom prst="rect">
            <a:avLst/>
          </a:prstGeom>
          <a:noFill/>
          <a:ln>
            <a:noFill/>
          </a:ln>
        </p:spPr>
      </p:pic>
      <p:sp>
        <p:nvSpPr>
          <p:cNvPr id="1336" name="Google Shape;1336;p93"/>
          <p:cNvSpPr txBox="1"/>
          <p:nvPr/>
        </p:nvSpPr>
        <p:spPr>
          <a:xfrm flipH="1">
            <a:off x="324000" y="3043617"/>
            <a:ext cx="8640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37" name="Google Shape;1337;p93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 flipH="1">
            <a:off x="979126" y="2159400"/>
            <a:ext cx="2856074" cy="1034351"/>
          </a:xfrm>
          <a:prstGeom prst="rect">
            <a:avLst/>
          </a:prstGeom>
          <a:noFill/>
          <a:ln>
            <a:noFill/>
          </a:ln>
        </p:spPr>
      </p:pic>
      <p:sp>
        <p:nvSpPr>
          <p:cNvPr id="1338" name="Google Shape;1338;p93"/>
          <p:cNvSpPr txBox="1"/>
          <p:nvPr/>
        </p:nvSpPr>
        <p:spPr>
          <a:xfrm>
            <a:off x="1185900" y="2263050"/>
            <a:ext cx="25650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Thanks, so the gradient is actually 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9" name="Google Shape;1339;p93"/>
          <p:cNvSpPr/>
          <p:nvPr/>
        </p:nvSpPr>
        <p:spPr>
          <a:xfrm>
            <a:off x="6126000" y="1116750"/>
            <a:ext cx="261600" cy="1761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340" name="Google Shape;1340;p93"/>
          <p:cNvGraphicFramePr/>
          <p:nvPr/>
        </p:nvGraphicFramePr>
        <p:xfrm>
          <a:off x="324000" y="3722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{4FBE5B0C-FCDF-4F6A-9639-473080F7E0CB}</a:tableStyleId>
              </a:tblPr>
              <a:tblGrid>
                <a:gridCol w="1417825"/>
                <a:gridCol w="14178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 </a:t>
                      </a: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 </a:t>
                      </a: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4" name="Shape 1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45" name="Google Shape;1345;p94"/>
          <p:cNvGraphicFramePr/>
          <p:nvPr/>
        </p:nvGraphicFramePr>
        <p:xfrm>
          <a:off x="3726725" y="279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{4FBE5B0C-FCDF-4F6A-9639-473080F7E0CB}</a:tableStyleId>
              </a:tblPr>
              <a:tblGrid>
                <a:gridCol w="1417825"/>
                <a:gridCol w="14178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 </a:t>
                      </a: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 </a:t>
                      </a: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346" name="Google Shape;1346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625" y="836375"/>
            <a:ext cx="2694442" cy="264725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47" name="Google Shape;1347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positiv</a:t>
            </a:r>
            <a:r>
              <a:rPr lang="en-GB"/>
              <a:t>e gradients from graphs</a:t>
            </a:r>
            <a:endParaRPr/>
          </a:p>
        </p:txBody>
      </p:sp>
      <p:sp>
        <p:nvSpPr>
          <p:cNvPr id="1348" name="Google Shape;1348;p94"/>
          <p:cNvSpPr txBox="1"/>
          <p:nvPr>
            <p:ph idx="1" type="body"/>
          </p:nvPr>
        </p:nvSpPr>
        <p:spPr>
          <a:xfrm>
            <a:off x="3648300" y="810000"/>
            <a:ext cx="5171700" cy="38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Izzy is calculating the </a:t>
            </a:r>
            <a:r>
              <a:rPr b="1" lang="en-GB" sz="1800"/>
              <a:t>gradient</a:t>
            </a:r>
            <a:r>
              <a:rPr lang="en-GB" sz="1800"/>
              <a:t> of this line.</a:t>
            </a:r>
            <a:endParaRPr sz="1800"/>
          </a:p>
        </p:txBody>
      </p:sp>
      <p:sp>
        <p:nvSpPr>
          <p:cNvPr id="1349" name="Google Shape;1349;p94"/>
          <p:cNvSpPr/>
          <p:nvPr/>
        </p:nvSpPr>
        <p:spPr>
          <a:xfrm>
            <a:off x="1365606" y="2046479"/>
            <a:ext cx="2070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endParaRPr sz="23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50" name="Google Shape;1350;p94"/>
          <p:cNvCxnSpPr/>
          <p:nvPr/>
        </p:nvCxnSpPr>
        <p:spPr>
          <a:xfrm>
            <a:off x="1447531" y="2280102"/>
            <a:ext cx="5709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351" name="Google Shape;1351;p94"/>
          <p:cNvCxnSpPr/>
          <p:nvPr/>
        </p:nvCxnSpPr>
        <p:spPr>
          <a:xfrm rot="10800000">
            <a:off x="2018421" y="1166200"/>
            <a:ext cx="0" cy="11139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1352" name="Google Shape;1352;p94"/>
          <p:cNvSpPr/>
          <p:nvPr/>
        </p:nvSpPr>
        <p:spPr>
          <a:xfrm>
            <a:off x="1937700" y="922206"/>
            <a:ext cx="43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endParaRPr sz="2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3" name="Google Shape;1353;p94"/>
          <p:cNvSpPr/>
          <p:nvPr/>
        </p:nvSpPr>
        <p:spPr>
          <a:xfrm>
            <a:off x="1527738" y="2280100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+3</a:t>
            </a:r>
            <a:endParaRPr/>
          </a:p>
        </p:txBody>
      </p:sp>
      <p:sp>
        <p:nvSpPr>
          <p:cNvPr id="1354" name="Google Shape;1354;p94"/>
          <p:cNvSpPr txBox="1"/>
          <p:nvPr>
            <p:ph idx="1" type="body"/>
          </p:nvPr>
        </p:nvSpPr>
        <p:spPr>
          <a:xfrm>
            <a:off x="3626100" y="1425450"/>
            <a:ext cx="52614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squares representing a step of 1 are quite small so she has drawn her arrows like this:</a:t>
            </a:r>
            <a:endParaRPr sz="1800"/>
          </a:p>
        </p:txBody>
      </p:sp>
      <p:sp>
        <p:nvSpPr>
          <p:cNvPr id="1355" name="Google Shape;1355;p94"/>
          <p:cNvSpPr/>
          <p:nvPr/>
        </p:nvSpPr>
        <p:spPr>
          <a:xfrm>
            <a:off x="2057988" y="1620000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+6</a:t>
            </a:r>
            <a:endParaRPr/>
          </a:p>
        </p:txBody>
      </p:sp>
      <p:sp>
        <p:nvSpPr>
          <p:cNvPr id="1356" name="Google Shape;1356;p94"/>
          <p:cNvSpPr txBox="1"/>
          <p:nvPr>
            <p:ph idx="1" type="body"/>
          </p:nvPr>
        </p:nvSpPr>
        <p:spPr>
          <a:xfrm>
            <a:off x="324000" y="4080650"/>
            <a:ext cx="8507100" cy="38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can we do to these values so they show the change in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 for an increase of 1 in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/>
              <a:t>?</a:t>
            </a:r>
            <a:endParaRPr sz="1800"/>
          </a:p>
        </p:txBody>
      </p:sp>
      <p:sp>
        <p:nvSpPr>
          <p:cNvPr id="1357" name="Google Shape;1357;p94"/>
          <p:cNvSpPr txBox="1"/>
          <p:nvPr>
            <p:ph idx="1" type="body"/>
          </p:nvPr>
        </p:nvSpPr>
        <p:spPr>
          <a:xfrm>
            <a:off x="3637200" y="2267538"/>
            <a:ext cx="5193900" cy="38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Can she still calculate the </a:t>
            </a:r>
            <a:r>
              <a:rPr b="1" lang="en-GB" sz="1800"/>
              <a:t>gradient</a:t>
            </a:r>
            <a:r>
              <a:rPr lang="en-GB" sz="1800"/>
              <a:t>?</a:t>
            </a:r>
            <a:r>
              <a:rPr lang="en-GB" sz="1800"/>
              <a:t>  </a:t>
            </a:r>
            <a:endParaRPr sz="1800"/>
          </a:p>
        </p:txBody>
      </p:sp>
      <p:pic>
        <p:nvPicPr>
          <p:cNvPr id="1358" name="Google Shape;1358;p94"/>
          <p:cNvPicPr preferRelativeResize="0"/>
          <p:nvPr/>
        </p:nvPicPr>
        <p:blipFill rotWithShape="1">
          <a:blip r:embed="rId4">
            <a:alphaModFix/>
          </a:blip>
          <a:srcRect b="59597" l="61559" r="13951" t="27330"/>
          <a:stretch/>
        </p:blipFill>
        <p:spPr>
          <a:xfrm flipH="1" rot="-5400000">
            <a:off x="3202488" y="3355811"/>
            <a:ext cx="685948" cy="36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9" name="Google Shape;1359;p94"/>
          <p:cNvPicPr preferRelativeResize="0"/>
          <p:nvPr/>
        </p:nvPicPr>
        <p:blipFill rotWithShape="1">
          <a:blip r:embed="rId4">
            <a:alphaModFix/>
          </a:blip>
          <a:srcRect b="59597" l="61559" r="13951" t="27330"/>
          <a:stretch/>
        </p:blipFill>
        <p:spPr>
          <a:xfrm rot="5400000">
            <a:off x="6400663" y="3355811"/>
            <a:ext cx="685948" cy="36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360" name="Google Shape;1360;p94"/>
          <p:cNvSpPr/>
          <p:nvPr/>
        </p:nvSpPr>
        <p:spPr>
          <a:xfrm>
            <a:off x="3074063" y="3342525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÷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/>
          </a:p>
        </p:txBody>
      </p:sp>
      <p:sp>
        <p:nvSpPr>
          <p:cNvPr id="1361" name="Google Shape;1361;p94"/>
          <p:cNvSpPr/>
          <p:nvPr/>
        </p:nvSpPr>
        <p:spPr>
          <a:xfrm>
            <a:off x="6900913" y="3342525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÷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/>
          </a:p>
        </p:txBody>
      </p:sp>
      <p:sp>
        <p:nvSpPr>
          <p:cNvPr id="1362" name="Google Shape;1362;p94"/>
          <p:cNvSpPr/>
          <p:nvPr/>
        </p:nvSpPr>
        <p:spPr>
          <a:xfrm>
            <a:off x="5144550" y="3556900"/>
            <a:ext cx="1417800" cy="384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3" name="Google Shape;1363;p94"/>
          <p:cNvSpPr/>
          <p:nvPr/>
        </p:nvSpPr>
        <p:spPr>
          <a:xfrm>
            <a:off x="3726725" y="3556900"/>
            <a:ext cx="1417800" cy="389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692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7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68" name="Google Shape;1368;p95"/>
          <p:cNvGraphicFramePr/>
          <p:nvPr/>
        </p:nvGraphicFramePr>
        <p:xfrm>
          <a:off x="3879125" y="813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{4FBE5B0C-FCDF-4F6A-9639-473080F7E0CB}</a:tableStyleId>
              </a:tblPr>
              <a:tblGrid>
                <a:gridCol w="1417825"/>
                <a:gridCol w="14178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 </a:t>
                      </a: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 </a:t>
                      </a: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369" name="Google Shape;1369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625" y="836375"/>
            <a:ext cx="2694442" cy="264725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70" name="Google Shape;1370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positive gradients from graphs</a:t>
            </a:r>
            <a:endParaRPr/>
          </a:p>
        </p:txBody>
      </p:sp>
      <p:sp>
        <p:nvSpPr>
          <p:cNvPr id="1371" name="Google Shape;1371;p95"/>
          <p:cNvSpPr/>
          <p:nvPr/>
        </p:nvSpPr>
        <p:spPr>
          <a:xfrm>
            <a:off x="1365606" y="2046479"/>
            <a:ext cx="2070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endParaRPr sz="23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72" name="Google Shape;1372;p95"/>
          <p:cNvCxnSpPr/>
          <p:nvPr/>
        </p:nvCxnSpPr>
        <p:spPr>
          <a:xfrm>
            <a:off x="1447531" y="2280102"/>
            <a:ext cx="5709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373" name="Google Shape;1373;p95"/>
          <p:cNvCxnSpPr/>
          <p:nvPr/>
        </p:nvCxnSpPr>
        <p:spPr>
          <a:xfrm rot="10800000">
            <a:off x="2018421" y="1166200"/>
            <a:ext cx="0" cy="11139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1374" name="Google Shape;1374;p95"/>
          <p:cNvSpPr/>
          <p:nvPr/>
        </p:nvSpPr>
        <p:spPr>
          <a:xfrm>
            <a:off x="1937700" y="922206"/>
            <a:ext cx="434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endParaRPr sz="2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5" name="Google Shape;1375;p95"/>
          <p:cNvSpPr/>
          <p:nvPr/>
        </p:nvSpPr>
        <p:spPr>
          <a:xfrm>
            <a:off x="1527738" y="2280100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+3</a:t>
            </a:r>
            <a:endParaRPr/>
          </a:p>
        </p:txBody>
      </p:sp>
      <p:sp>
        <p:nvSpPr>
          <p:cNvPr id="1376" name="Google Shape;1376;p95"/>
          <p:cNvSpPr/>
          <p:nvPr/>
        </p:nvSpPr>
        <p:spPr>
          <a:xfrm>
            <a:off x="2057988" y="1620000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+6</a:t>
            </a:r>
            <a:endParaRPr/>
          </a:p>
        </p:txBody>
      </p:sp>
      <p:sp>
        <p:nvSpPr>
          <p:cNvPr id="1377" name="Google Shape;1377;p95"/>
          <p:cNvSpPr txBox="1"/>
          <p:nvPr>
            <p:ph idx="1" type="body"/>
          </p:nvPr>
        </p:nvSpPr>
        <p:spPr>
          <a:xfrm>
            <a:off x="3369600" y="2302525"/>
            <a:ext cx="3534300" cy="38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This line has a </a:t>
            </a:r>
            <a:r>
              <a:rPr b="1" lang="en-GB" sz="1800"/>
              <a:t>gradient</a:t>
            </a:r>
            <a:r>
              <a:rPr lang="en-GB" sz="1800"/>
              <a:t> of 2 </a:t>
            </a:r>
            <a:endParaRPr sz="1800"/>
          </a:p>
        </p:txBody>
      </p:sp>
      <p:sp>
        <p:nvSpPr>
          <p:cNvPr id="1378" name="Google Shape;1378;p95"/>
          <p:cNvSpPr/>
          <p:nvPr/>
        </p:nvSpPr>
        <p:spPr>
          <a:xfrm>
            <a:off x="3879125" y="1575700"/>
            <a:ext cx="1417800" cy="384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79" name="Google Shape;1379;p95"/>
          <p:cNvPicPr preferRelativeResize="0"/>
          <p:nvPr/>
        </p:nvPicPr>
        <p:blipFill rotWithShape="1">
          <a:blip r:embed="rId4">
            <a:alphaModFix/>
          </a:blip>
          <a:srcRect b="59597" l="61559" r="13951" t="27330"/>
          <a:stretch/>
        </p:blipFill>
        <p:spPr>
          <a:xfrm flipH="1" rot="-5400000">
            <a:off x="3354888" y="1374611"/>
            <a:ext cx="685948" cy="36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0" name="Google Shape;1380;p95"/>
          <p:cNvPicPr preferRelativeResize="0"/>
          <p:nvPr/>
        </p:nvPicPr>
        <p:blipFill rotWithShape="1">
          <a:blip r:embed="rId4">
            <a:alphaModFix/>
          </a:blip>
          <a:srcRect b="59597" l="61559" r="13951" t="27330"/>
          <a:stretch/>
        </p:blipFill>
        <p:spPr>
          <a:xfrm rot="5400000">
            <a:off x="6553063" y="1374611"/>
            <a:ext cx="685948" cy="36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381" name="Google Shape;1381;p95"/>
          <p:cNvSpPr/>
          <p:nvPr/>
        </p:nvSpPr>
        <p:spPr>
          <a:xfrm>
            <a:off x="3226463" y="1361325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÷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/>
          </a:p>
        </p:txBody>
      </p:sp>
      <p:sp>
        <p:nvSpPr>
          <p:cNvPr id="1382" name="Google Shape;1382;p95"/>
          <p:cNvSpPr/>
          <p:nvPr/>
        </p:nvSpPr>
        <p:spPr>
          <a:xfrm>
            <a:off x="7053313" y="1361325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÷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/>
          </a:p>
        </p:txBody>
      </p:sp>
      <p:sp>
        <p:nvSpPr>
          <p:cNvPr id="1383" name="Google Shape;1383;p95"/>
          <p:cNvSpPr/>
          <p:nvPr/>
        </p:nvSpPr>
        <p:spPr>
          <a:xfrm>
            <a:off x="5296950" y="1575700"/>
            <a:ext cx="1417800" cy="384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4" name="Google Shape;1384;p95"/>
          <p:cNvSpPr/>
          <p:nvPr/>
        </p:nvSpPr>
        <p:spPr>
          <a:xfrm>
            <a:off x="5788650" y="1618450"/>
            <a:ext cx="434400" cy="299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5" name="Google Shape;1385;p95"/>
          <p:cNvSpPr txBox="1"/>
          <p:nvPr>
            <p:ph idx="1" type="body"/>
          </p:nvPr>
        </p:nvSpPr>
        <p:spPr>
          <a:xfrm>
            <a:off x="3369600" y="2922500"/>
            <a:ext cx="5450400" cy="38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This is a ratio table.  </a:t>
            </a:r>
            <a:endParaRPr sz="1800"/>
          </a:p>
        </p:txBody>
      </p:sp>
      <p:sp>
        <p:nvSpPr>
          <p:cNvPr id="1386" name="Google Shape;1386;p95"/>
          <p:cNvSpPr txBox="1"/>
          <p:nvPr>
            <p:ph idx="1" type="body"/>
          </p:nvPr>
        </p:nvSpPr>
        <p:spPr>
          <a:xfrm>
            <a:off x="3369600" y="3395400"/>
            <a:ext cx="5450400" cy="38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You can either divide the values so the change in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/>
              <a:t> becomes 1 </a:t>
            </a:r>
            <a:r>
              <a:rPr lang="en-GB" sz="1800"/>
              <a:t>  </a:t>
            </a:r>
            <a:endParaRPr sz="1800"/>
          </a:p>
        </p:txBody>
      </p:sp>
      <p:sp>
        <p:nvSpPr>
          <p:cNvPr id="1387" name="Google Shape;1387;p95"/>
          <p:cNvSpPr txBox="1"/>
          <p:nvPr>
            <p:ph idx="1" type="body"/>
          </p:nvPr>
        </p:nvSpPr>
        <p:spPr>
          <a:xfrm>
            <a:off x="3369600" y="4166925"/>
            <a:ext cx="5450400" cy="38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Or you can look at the relationship between the changes in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/>
              <a:t> and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 </a:t>
            </a:r>
            <a:r>
              <a:rPr lang="en-GB" sz="1800"/>
              <a:t>  </a:t>
            </a:r>
            <a:endParaRPr sz="1800"/>
          </a:p>
        </p:txBody>
      </p:sp>
      <p:pic>
        <p:nvPicPr>
          <p:cNvPr id="1388" name="Google Shape;1388;p95"/>
          <p:cNvPicPr preferRelativeResize="0"/>
          <p:nvPr/>
        </p:nvPicPr>
        <p:blipFill rotWithShape="1">
          <a:blip r:embed="rId4">
            <a:alphaModFix/>
          </a:blip>
          <a:srcRect b="59597" l="61559" r="13951" t="27330"/>
          <a:stretch/>
        </p:blipFill>
        <p:spPr>
          <a:xfrm flipH="1" rot="10800000">
            <a:off x="4481025" y="1913850"/>
            <a:ext cx="1806300" cy="36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389" name="Google Shape;1389;p95"/>
          <p:cNvSpPr/>
          <p:nvPr/>
        </p:nvSpPr>
        <p:spPr>
          <a:xfrm>
            <a:off x="5179713" y="1917500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3" name="Shape 1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4" name="Google Shape;1394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512" y="1401530"/>
            <a:ext cx="3767082" cy="23042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95" name="Google Shape;1395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positive gradients from graphs</a:t>
            </a:r>
            <a:endParaRPr/>
          </a:p>
        </p:txBody>
      </p:sp>
      <p:cxnSp>
        <p:nvCxnSpPr>
          <p:cNvPr id="1396" name="Google Shape;1396;p96"/>
          <p:cNvCxnSpPr/>
          <p:nvPr/>
        </p:nvCxnSpPr>
        <p:spPr>
          <a:xfrm>
            <a:off x="1732981" y="2064482"/>
            <a:ext cx="3453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397" name="Google Shape;1397;p96"/>
          <p:cNvCxnSpPr/>
          <p:nvPr/>
        </p:nvCxnSpPr>
        <p:spPr>
          <a:xfrm rot="10800000">
            <a:off x="2081875" y="1878430"/>
            <a:ext cx="0" cy="1956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1398" name="Google Shape;1398;p96"/>
          <p:cNvSpPr/>
          <p:nvPr/>
        </p:nvSpPr>
        <p:spPr>
          <a:xfrm>
            <a:off x="1684788" y="2013655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+1</a:t>
            </a:r>
            <a:endParaRPr/>
          </a:p>
        </p:txBody>
      </p:sp>
      <p:sp>
        <p:nvSpPr>
          <p:cNvPr id="1399" name="Google Shape;1399;p96"/>
          <p:cNvSpPr txBox="1"/>
          <p:nvPr>
            <p:ph idx="1" type="body"/>
          </p:nvPr>
        </p:nvSpPr>
        <p:spPr>
          <a:xfrm>
            <a:off x="324000" y="741657"/>
            <a:ext cx="8496000" cy="38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Using ratio tables can be really useful when the </a:t>
            </a:r>
            <a:r>
              <a:rPr b="1" lang="en-GB" sz="1800"/>
              <a:t>gradient</a:t>
            </a:r>
            <a:r>
              <a:rPr lang="en-GB" sz="1800"/>
              <a:t> is a non-integer value.</a:t>
            </a:r>
            <a:r>
              <a:rPr lang="en-GB" sz="1800"/>
              <a:t>   </a:t>
            </a:r>
            <a:endParaRPr sz="1800"/>
          </a:p>
        </p:txBody>
      </p:sp>
      <p:sp>
        <p:nvSpPr>
          <p:cNvPr id="1400" name="Google Shape;1400;p96"/>
          <p:cNvSpPr txBox="1"/>
          <p:nvPr>
            <p:ph idx="1" type="body"/>
          </p:nvPr>
        </p:nvSpPr>
        <p:spPr>
          <a:xfrm>
            <a:off x="4320000" y="1547875"/>
            <a:ext cx="4652400" cy="38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Looking at an increase of 1 in the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/>
              <a:t>-direction gives a non-integer value.</a:t>
            </a:r>
            <a:r>
              <a:rPr lang="en-GB" sz="1800"/>
              <a:t>   </a:t>
            </a:r>
            <a:endParaRPr sz="1800"/>
          </a:p>
        </p:txBody>
      </p:sp>
      <p:sp>
        <p:nvSpPr>
          <p:cNvPr id="1401" name="Google Shape;1401;p96"/>
          <p:cNvSpPr txBox="1"/>
          <p:nvPr>
            <p:ph idx="1" type="body"/>
          </p:nvPr>
        </p:nvSpPr>
        <p:spPr>
          <a:xfrm>
            <a:off x="4320000" y="2507700"/>
            <a:ext cx="4652400" cy="38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Without more grid lines, it is hard to see the exact amount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 has increased by.</a:t>
            </a:r>
            <a:r>
              <a:rPr lang="en-GB" sz="1800"/>
              <a:t>   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5" name="Shape 1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6" name="Google Shape;1406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512" y="1395475"/>
            <a:ext cx="3767082" cy="23042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07" name="Google Shape;1407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positive gradients from graphs</a:t>
            </a:r>
            <a:endParaRPr/>
          </a:p>
        </p:txBody>
      </p:sp>
      <p:cxnSp>
        <p:nvCxnSpPr>
          <p:cNvPr id="1408" name="Google Shape;1408;p97"/>
          <p:cNvCxnSpPr/>
          <p:nvPr/>
        </p:nvCxnSpPr>
        <p:spPr>
          <a:xfrm>
            <a:off x="1732981" y="2058427"/>
            <a:ext cx="7341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409" name="Google Shape;1409;p97"/>
          <p:cNvCxnSpPr/>
          <p:nvPr/>
        </p:nvCxnSpPr>
        <p:spPr>
          <a:xfrm rot="10800000">
            <a:off x="2467075" y="1700400"/>
            <a:ext cx="0" cy="3900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1410" name="Google Shape;1410;p97"/>
          <p:cNvSpPr/>
          <p:nvPr/>
        </p:nvSpPr>
        <p:spPr>
          <a:xfrm>
            <a:off x="1942963" y="2058425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+2</a:t>
            </a:r>
            <a:endParaRPr/>
          </a:p>
        </p:txBody>
      </p:sp>
      <p:sp>
        <p:nvSpPr>
          <p:cNvPr id="1411" name="Google Shape;1411;p97"/>
          <p:cNvSpPr txBox="1"/>
          <p:nvPr>
            <p:ph idx="1" type="body"/>
          </p:nvPr>
        </p:nvSpPr>
        <p:spPr>
          <a:xfrm>
            <a:off x="327750" y="810000"/>
            <a:ext cx="8644800" cy="38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Instead we could look at an increase of 2 in the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/>
              <a:t>-direction</a:t>
            </a:r>
            <a:r>
              <a:rPr lang="en-GB" sz="1800"/>
              <a:t> </a:t>
            </a:r>
            <a:endParaRPr sz="1800"/>
          </a:p>
        </p:txBody>
      </p:sp>
      <p:graphicFrame>
        <p:nvGraphicFramePr>
          <p:cNvPr id="1412" name="Google Shape;1412;p97"/>
          <p:cNvGraphicFramePr/>
          <p:nvPr/>
        </p:nvGraphicFramePr>
        <p:xfrm>
          <a:off x="5022125" y="138822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{4FBE5B0C-FCDF-4F6A-9639-473080F7E0CB}</a:tableStyleId>
              </a:tblPr>
              <a:tblGrid>
                <a:gridCol w="1417800"/>
                <a:gridCol w="1417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 </a:t>
                      </a: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 </a:t>
                      </a: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13" name="Google Shape;1413;p97"/>
          <p:cNvSpPr/>
          <p:nvPr/>
        </p:nvSpPr>
        <p:spPr>
          <a:xfrm>
            <a:off x="5022125" y="2150227"/>
            <a:ext cx="1417800" cy="731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692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14" name="Google Shape;1414;p97"/>
          <p:cNvPicPr preferRelativeResize="0"/>
          <p:nvPr/>
        </p:nvPicPr>
        <p:blipFill rotWithShape="1">
          <a:blip r:embed="rId4">
            <a:alphaModFix/>
          </a:blip>
          <a:srcRect b="59597" l="61559" r="13951" t="27330"/>
          <a:stretch/>
        </p:blipFill>
        <p:spPr>
          <a:xfrm flipH="1" rot="-5400000">
            <a:off x="4497888" y="1949139"/>
            <a:ext cx="685948" cy="36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5" name="Google Shape;1415;p97"/>
          <p:cNvPicPr preferRelativeResize="0"/>
          <p:nvPr/>
        </p:nvPicPr>
        <p:blipFill rotWithShape="1">
          <a:blip r:embed="rId4">
            <a:alphaModFix/>
          </a:blip>
          <a:srcRect b="59597" l="61559" r="13951" t="27330"/>
          <a:stretch/>
        </p:blipFill>
        <p:spPr>
          <a:xfrm rot="5400000">
            <a:off x="7696063" y="1949139"/>
            <a:ext cx="685948" cy="36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6" name="Google Shape;1416;p97"/>
          <p:cNvSpPr/>
          <p:nvPr/>
        </p:nvSpPr>
        <p:spPr>
          <a:xfrm>
            <a:off x="8196313" y="1935852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÷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/>
          </a:p>
        </p:txBody>
      </p:sp>
      <p:sp>
        <p:nvSpPr>
          <p:cNvPr id="1417" name="Google Shape;1417;p97"/>
          <p:cNvSpPr/>
          <p:nvPr/>
        </p:nvSpPr>
        <p:spPr>
          <a:xfrm>
            <a:off x="2507855" y="1716239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+1</a:t>
            </a:r>
            <a:endParaRPr/>
          </a:p>
        </p:txBody>
      </p:sp>
      <p:sp>
        <p:nvSpPr>
          <p:cNvPr id="1418" name="Google Shape;1418;p97"/>
          <p:cNvSpPr/>
          <p:nvPr/>
        </p:nvSpPr>
        <p:spPr>
          <a:xfrm>
            <a:off x="4369463" y="1901427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÷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/>
          </a:p>
        </p:txBody>
      </p:sp>
      <p:sp>
        <p:nvSpPr>
          <p:cNvPr id="1419" name="Google Shape;1419;p97"/>
          <p:cNvSpPr txBox="1"/>
          <p:nvPr>
            <p:ph idx="1" type="body"/>
          </p:nvPr>
        </p:nvSpPr>
        <p:spPr>
          <a:xfrm>
            <a:off x="4320000" y="3139390"/>
            <a:ext cx="4500000" cy="38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Then we can divide both values to see the change in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800"/>
              <a:t> for an increase of 1 in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/>
              <a:t> </a:t>
            </a:r>
            <a:r>
              <a:rPr lang="en-GB" sz="1800"/>
              <a:t> 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1420" name="Google Shape;1420;p97" title="one hal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59413" y="2226124"/>
            <a:ext cx="178875" cy="569929"/>
          </a:xfrm>
          <a:prstGeom prst="rect">
            <a:avLst/>
          </a:prstGeom>
          <a:noFill/>
          <a:ln>
            <a:noFill/>
          </a:ln>
        </p:spPr>
      </p:pic>
      <p:sp>
        <p:nvSpPr>
          <p:cNvPr id="1421" name="Google Shape;1421;p97"/>
          <p:cNvSpPr txBox="1"/>
          <p:nvPr>
            <p:ph idx="1" type="body"/>
          </p:nvPr>
        </p:nvSpPr>
        <p:spPr>
          <a:xfrm>
            <a:off x="327750" y="4131000"/>
            <a:ext cx="8488500" cy="38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This line has a </a:t>
            </a:r>
            <a:r>
              <a:rPr b="1" lang="en-GB" sz="1800"/>
              <a:t>gradient</a:t>
            </a:r>
            <a:r>
              <a:rPr lang="en-GB" sz="1800"/>
              <a:t> of      , </a:t>
            </a:r>
            <a:r>
              <a:rPr lang="en-GB" sz="1800"/>
              <a:t>fractions are often easier to work with than decimals so where possible, write your </a:t>
            </a:r>
            <a:r>
              <a:rPr b="1" lang="en-GB" sz="1800"/>
              <a:t>gradient</a:t>
            </a:r>
            <a:r>
              <a:rPr lang="en-GB" sz="1800"/>
              <a:t> as a fraction.</a:t>
            </a:r>
            <a:r>
              <a:rPr lang="en-GB" sz="1800"/>
              <a:t> </a:t>
            </a:r>
            <a:r>
              <a:rPr lang="en-GB" sz="1800"/>
              <a:t>  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1422" name="Google Shape;1422;p97" title="one hal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56363" y="3945671"/>
            <a:ext cx="178875" cy="5699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6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p98"/>
          <p:cNvSpPr txBox="1"/>
          <p:nvPr>
            <p:ph idx="1" type="body"/>
          </p:nvPr>
        </p:nvSpPr>
        <p:spPr>
          <a:xfrm>
            <a:off x="324000" y="732100"/>
            <a:ext cx="8237700" cy="41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Fill in the </a:t>
            </a:r>
            <a:r>
              <a:rPr b="1" lang="en-GB" sz="2000"/>
              <a:t>gradient</a:t>
            </a:r>
            <a:r>
              <a:rPr lang="en-GB" sz="2000"/>
              <a:t> of each line in each ratio table. </a:t>
            </a:r>
            <a:r>
              <a:rPr lang="en-GB" sz="2000"/>
              <a:t>  </a:t>
            </a:r>
            <a:endParaRPr sz="2000"/>
          </a:p>
        </p:txBody>
      </p:sp>
      <p:sp>
        <p:nvSpPr>
          <p:cNvPr id="1428" name="Google Shape;1428;p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positive gradients from graphs</a:t>
            </a:r>
            <a:endParaRPr/>
          </a:p>
        </p:txBody>
      </p:sp>
      <p:graphicFrame>
        <p:nvGraphicFramePr>
          <p:cNvPr id="1429" name="Google Shape;1429;p98"/>
          <p:cNvGraphicFramePr/>
          <p:nvPr/>
        </p:nvGraphicFramePr>
        <p:xfrm>
          <a:off x="428650" y="1206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{4FBE5B0C-FCDF-4F6A-9639-473080F7E0CB}</a:tableStyleId>
              </a:tblPr>
              <a:tblGrid>
                <a:gridCol w="1506200"/>
                <a:gridCol w="15062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 </a:t>
                      </a: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72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 </a:t>
                      </a: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72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30" name="Google Shape;1430;p98"/>
          <p:cNvGraphicFramePr/>
          <p:nvPr/>
        </p:nvGraphicFramePr>
        <p:xfrm>
          <a:off x="4939575" y="1206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{4FBE5B0C-FCDF-4F6A-9639-473080F7E0CB}</a:tableStyleId>
              </a:tblPr>
              <a:tblGrid>
                <a:gridCol w="1506200"/>
                <a:gridCol w="15062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 </a:t>
                      </a: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72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 </a:t>
                      </a: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72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31" name="Google Shape;1431;p98"/>
          <p:cNvGraphicFramePr/>
          <p:nvPr/>
        </p:nvGraphicFramePr>
        <p:xfrm>
          <a:off x="428650" y="324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{4FBE5B0C-FCDF-4F6A-9639-473080F7E0CB}</a:tableStyleId>
              </a:tblPr>
              <a:tblGrid>
                <a:gridCol w="1506200"/>
                <a:gridCol w="15062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 </a:t>
                      </a: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72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 </a:t>
                      </a: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72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32" name="Google Shape;1432;p98"/>
          <p:cNvGraphicFramePr/>
          <p:nvPr/>
        </p:nvGraphicFramePr>
        <p:xfrm>
          <a:off x="4939575" y="324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{4FBE5B0C-FCDF-4F6A-9639-473080F7E0CB}</a:tableStyleId>
              </a:tblPr>
              <a:tblGrid>
                <a:gridCol w="1506200"/>
                <a:gridCol w="15062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 </a:t>
                      </a: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72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 </a:t>
                      </a: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72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33" name="Google Shape;1433;p98"/>
          <p:cNvSpPr/>
          <p:nvPr/>
        </p:nvSpPr>
        <p:spPr>
          <a:xfrm>
            <a:off x="1922650" y="1968500"/>
            <a:ext cx="1417800" cy="731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692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34" name="Google Shape;1434;p98"/>
          <p:cNvSpPr/>
          <p:nvPr/>
        </p:nvSpPr>
        <p:spPr>
          <a:xfrm>
            <a:off x="4939575" y="1968500"/>
            <a:ext cx="1417800" cy="731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692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35" name="Google Shape;1435;p98"/>
          <p:cNvSpPr/>
          <p:nvPr/>
        </p:nvSpPr>
        <p:spPr>
          <a:xfrm>
            <a:off x="6433575" y="1968500"/>
            <a:ext cx="1417800" cy="731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692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36" name="Google Shape;1436;p98"/>
          <p:cNvSpPr/>
          <p:nvPr/>
        </p:nvSpPr>
        <p:spPr>
          <a:xfrm>
            <a:off x="4939575" y="4002000"/>
            <a:ext cx="1417800" cy="731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692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2}&quot;&gt;&lt;mfrac&gt;&lt;mn&gt;3&lt;/mn&gt;&lt;mn&gt;2&lt;/mn&gt;&lt;/mfrac&gt;&lt;/math&gt;" id="1437" name="Google Shape;1437;p98" title="three halve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0650" y="4123715"/>
            <a:ext cx="161800" cy="5155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3}&quot;&gt;&lt;mfrac&gt;&lt;mn&gt;5&lt;/mn&gt;&lt;mn&gt;3&lt;/mn&gt;&lt;/mfrac&gt;&lt;/math&gt;" id="1438" name="Google Shape;1438;p98" title="five third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61563" y="4121400"/>
            <a:ext cx="161825" cy="52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2" name="Shape 1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" name="Google Shape;1443;p99"/>
          <p:cNvSpPr txBox="1"/>
          <p:nvPr>
            <p:ph idx="1" type="body"/>
          </p:nvPr>
        </p:nvSpPr>
        <p:spPr>
          <a:xfrm>
            <a:off x="324000" y="759300"/>
            <a:ext cx="8496000" cy="44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Find the </a:t>
            </a:r>
            <a:r>
              <a:rPr b="1" lang="en-GB" sz="1800"/>
              <a:t>gradient</a:t>
            </a:r>
            <a:r>
              <a:rPr lang="en-GB" sz="1800"/>
              <a:t> of each line. You can draw a ratio table to help you.</a:t>
            </a:r>
            <a:endParaRPr sz="1800"/>
          </a:p>
        </p:txBody>
      </p:sp>
      <p:sp>
        <p:nvSpPr>
          <p:cNvPr id="1444" name="Google Shape;1444;p9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Calculating positive gradients from graphs</a:t>
            </a:r>
            <a:endParaRPr/>
          </a:p>
        </p:txBody>
      </p:sp>
      <p:pic>
        <p:nvPicPr>
          <p:cNvPr id="1445" name="Google Shape;1445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071" y="1627338"/>
            <a:ext cx="2016458" cy="2251762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46" name="Google Shape;1446;p99"/>
          <p:cNvPicPr preferRelativeResize="0"/>
          <p:nvPr/>
        </p:nvPicPr>
        <p:blipFill rotWithShape="1">
          <a:blip r:embed="rId4">
            <a:alphaModFix/>
          </a:blip>
          <a:srcRect b="20413" l="0" r="0" t="0"/>
          <a:stretch/>
        </p:blipFill>
        <p:spPr>
          <a:xfrm>
            <a:off x="2473725" y="1627350"/>
            <a:ext cx="2016450" cy="22517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47" name="Google Shape;1447;p99"/>
          <p:cNvPicPr preferRelativeResize="0"/>
          <p:nvPr/>
        </p:nvPicPr>
        <p:blipFill rotWithShape="1">
          <a:blip r:embed="rId5">
            <a:alphaModFix/>
          </a:blip>
          <a:srcRect b="1244" l="0" r="3362" t="0"/>
          <a:stretch/>
        </p:blipFill>
        <p:spPr>
          <a:xfrm>
            <a:off x="4598350" y="1627350"/>
            <a:ext cx="2016450" cy="22517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48" name="Google Shape;1448;p99"/>
          <p:cNvPicPr preferRelativeResize="0"/>
          <p:nvPr/>
        </p:nvPicPr>
        <p:blipFill rotWithShape="1">
          <a:blip r:embed="rId6">
            <a:alphaModFix/>
          </a:blip>
          <a:srcRect b="2818" l="0" r="0" t="0"/>
          <a:stretch/>
        </p:blipFill>
        <p:spPr>
          <a:xfrm>
            <a:off x="6723000" y="1627350"/>
            <a:ext cx="2016475" cy="2251749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graphicFrame>
        <p:nvGraphicFramePr>
          <p:cNvPr id="1449" name="Google Shape;1449;p99"/>
          <p:cNvGraphicFramePr/>
          <p:nvPr/>
        </p:nvGraphicFramePr>
        <p:xfrm>
          <a:off x="349075" y="1282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{4FBE5B0C-FCDF-4F6A-9639-473080F7E0CB}</a:tableStyleId>
              </a:tblPr>
              <a:tblGrid>
                <a:gridCol w="2117725"/>
                <a:gridCol w="2117725"/>
                <a:gridCol w="2117725"/>
                <a:gridCol w="2117725"/>
              </a:tblGrid>
              <a:tr h="33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3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p100"/>
          <p:cNvSpPr txBox="1"/>
          <p:nvPr>
            <p:ph idx="1" type="body"/>
          </p:nvPr>
        </p:nvSpPr>
        <p:spPr>
          <a:xfrm>
            <a:off x="324000" y="759300"/>
            <a:ext cx="8237700" cy="44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Find the </a:t>
            </a:r>
            <a:r>
              <a:rPr b="1" lang="en-GB" sz="1800"/>
              <a:t>gradient</a:t>
            </a:r>
            <a:r>
              <a:rPr lang="en-GB" sz="1800"/>
              <a:t> of each line. </a:t>
            </a:r>
            <a:r>
              <a:rPr lang="en-GB" sz="1800"/>
              <a:t>You can draw a ratio table to help you.</a:t>
            </a:r>
            <a:endParaRPr sz="1800"/>
          </a:p>
        </p:txBody>
      </p:sp>
      <p:sp>
        <p:nvSpPr>
          <p:cNvPr id="1455" name="Google Shape;1455;p10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Calculating positive gradients from graphs</a:t>
            </a:r>
            <a:endParaRPr/>
          </a:p>
        </p:txBody>
      </p:sp>
      <p:graphicFrame>
        <p:nvGraphicFramePr>
          <p:cNvPr id="1456" name="Google Shape;1456;p100"/>
          <p:cNvGraphicFramePr/>
          <p:nvPr/>
        </p:nvGraphicFramePr>
        <p:xfrm>
          <a:off x="349075" y="1282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{4FBE5B0C-FCDF-4F6A-9639-473080F7E0CB}</a:tableStyleId>
              </a:tblPr>
              <a:tblGrid>
                <a:gridCol w="2117725"/>
                <a:gridCol w="2117725"/>
                <a:gridCol w="2117725"/>
                <a:gridCol w="2117725"/>
              </a:tblGrid>
              <a:tr h="33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457" name="Google Shape;1457;p100"/>
          <p:cNvPicPr preferRelativeResize="0"/>
          <p:nvPr/>
        </p:nvPicPr>
        <p:blipFill rotWithShape="1">
          <a:blip r:embed="rId3">
            <a:alphaModFix/>
          </a:blip>
          <a:srcRect b="0" l="0" r="2657" t="0"/>
          <a:stretch/>
        </p:blipFill>
        <p:spPr>
          <a:xfrm>
            <a:off x="324025" y="1627350"/>
            <a:ext cx="2041526" cy="22517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58" name="Google Shape;1458;p100"/>
          <p:cNvPicPr preferRelativeResize="0"/>
          <p:nvPr/>
        </p:nvPicPr>
        <p:blipFill rotWithShape="1">
          <a:blip r:embed="rId4">
            <a:alphaModFix/>
          </a:blip>
          <a:srcRect b="0" l="0" r="11707" t="0"/>
          <a:stretch/>
        </p:blipFill>
        <p:spPr>
          <a:xfrm>
            <a:off x="2473713" y="1627350"/>
            <a:ext cx="2016475" cy="22517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59" name="Google Shape;1459;p100"/>
          <p:cNvPicPr preferRelativeResize="0"/>
          <p:nvPr/>
        </p:nvPicPr>
        <p:blipFill rotWithShape="1">
          <a:blip r:embed="rId5">
            <a:alphaModFix/>
          </a:blip>
          <a:srcRect b="4879" l="0" r="0" t="0"/>
          <a:stretch/>
        </p:blipFill>
        <p:spPr>
          <a:xfrm>
            <a:off x="6739625" y="1627350"/>
            <a:ext cx="2016474" cy="2251749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60" name="Google Shape;1460;p10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06675" y="1633963"/>
            <a:ext cx="2016475" cy="223851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4" name="Shape 1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" name="Google Shape;1465;p101"/>
          <p:cNvSpPr txBox="1"/>
          <p:nvPr>
            <p:ph idx="1" type="body"/>
          </p:nvPr>
        </p:nvSpPr>
        <p:spPr>
          <a:xfrm>
            <a:off x="324000" y="759300"/>
            <a:ext cx="8237700" cy="44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Find the </a:t>
            </a:r>
            <a:r>
              <a:rPr b="1" lang="en-GB" sz="1800"/>
              <a:t>gradient</a:t>
            </a:r>
            <a:r>
              <a:rPr lang="en-GB" sz="1800"/>
              <a:t> of each line. </a:t>
            </a:r>
            <a:r>
              <a:rPr lang="en-GB" sz="1800"/>
              <a:t>You can draw a ratio table to help you.</a:t>
            </a:r>
            <a:endParaRPr sz="1800"/>
          </a:p>
        </p:txBody>
      </p:sp>
      <p:sp>
        <p:nvSpPr>
          <p:cNvPr id="1466" name="Google Shape;1466;p10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Calculating positive gradients from graphs</a:t>
            </a:r>
            <a:endParaRPr/>
          </a:p>
        </p:txBody>
      </p:sp>
      <p:graphicFrame>
        <p:nvGraphicFramePr>
          <p:cNvPr id="1467" name="Google Shape;1467;p101"/>
          <p:cNvGraphicFramePr/>
          <p:nvPr/>
        </p:nvGraphicFramePr>
        <p:xfrm>
          <a:off x="349075" y="1282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{4FBE5B0C-FCDF-4F6A-9639-473080F7E0CB}</a:tableStyleId>
              </a:tblPr>
              <a:tblGrid>
                <a:gridCol w="2117725"/>
                <a:gridCol w="2117725"/>
                <a:gridCol w="2117725"/>
                <a:gridCol w="2117725"/>
              </a:tblGrid>
              <a:tr h="33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k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468" name="Google Shape;1468;p101"/>
          <p:cNvPicPr preferRelativeResize="0"/>
          <p:nvPr/>
        </p:nvPicPr>
        <p:blipFill rotWithShape="1">
          <a:blip r:embed="rId3">
            <a:alphaModFix/>
          </a:blip>
          <a:srcRect b="0" l="0" r="2657" t="0"/>
          <a:stretch/>
        </p:blipFill>
        <p:spPr>
          <a:xfrm>
            <a:off x="324025" y="1627350"/>
            <a:ext cx="2041526" cy="22517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69" name="Google Shape;1469;p101"/>
          <p:cNvPicPr preferRelativeResize="0"/>
          <p:nvPr/>
        </p:nvPicPr>
        <p:blipFill rotWithShape="1">
          <a:blip r:embed="rId4">
            <a:alphaModFix/>
          </a:blip>
          <a:srcRect b="0" l="0" r="10984" t="0"/>
          <a:stretch/>
        </p:blipFill>
        <p:spPr>
          <a:xfrm>
            <a:off x="6702250" y="1614375"/>
            <a:ext cx="1991012" cy="227770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70" name="Google Shape;1470;p101"/>
          <p:cNvPicPr preferRelativeResize="0"/>
          <p:nvPr/>
        </p:nvPicPr>
        <p:blipFill rotWithShape="1">
          <a:blip r:embed="rId5">
            <a:alphaModFix/>
          </a:blip>
          <a:srcRect b="0" l="0" r="23165" t="0"/>
          <a:stretch/>
        </p:blipFill>
        <p:spPr>
          <a:xfrm>
            <a:off x="324025" y="1627350"/>
            <a:ext cx="2041524" cy="22517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71" name="Google Shape;1471;p10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80088" y="1627730"/>
            <a:ext cx="2016475" cy="225097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72" name="Google Shape;1472;p101"/>
          <p:cNvPicPr preferRelativeResize="0"/>
          <p:nvPr/>
        </p:nvPicPr>
        <p:blipFill rotWithShape="1">
          <a:blip r:embed="rId7">
            <a:alphaModFix/>
          </a:blip>
          <a:srcRect b="0" l="0" r="32405" t="0"/>
          <a:stretch/>
        </p:blipFill>
        <p:spPr>
          <a:xfrm>
            <a:off x="4591175" y="1614363"/>
            <a:ext cx="2016475" cy="2277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6" name="Shape 1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7" name="Google Shape;1477;p102"/>
          <p:cNvSpPr txBox="1"/>
          <p:nvPr>
            <p:ph idx="1" type="body"/>
          </p:nvPr>
        </p:nvSpPr>
        <p:spPr>
          <a:xfrm>
            <a:off x="324000" y="759300"/>
            <a:ext cx="84960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Find the </a:t>
            </a:r>
            <a:r>
              <a:rPr b="1" lang="en-GB" sz="1800"/>
              <a:t>gradient</a:t>
            </a:r>
            <a:r>
              <a:rPr lang="en-GB" sz="1800"/>
              <a:t> of each line. </a:t>
            </a:r>
            <a:r>
              <a:rPr lang="en-GB" sz="1800"/>
              <a:t>You can draw a ratio table to help you.</a:t>
            </a:r>
            <a:endParaRPr sz="1800"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78" name="Google Shape;1478;p10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Calculating positive gradients from graphs</a:t>
            </a:r>
            <a:endParaRPr/>
          </a:p>
        </p:txBody>
      </p:sp>
      <p:pic>
        <p:nvPicPr>
          <p:cNvPr id="1479" name="Google Shape;1479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071" y="1627338"/>
            <a:ext cx="2016458" cy="2251762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80" name="Google Shape;1480;p102"/>
          <p:cNvPicPr preferRelativeResize="0"/>
          <p:nvPr/>
        </p:nvPicPr>
        <p:blipFill rotWithShape="1">
          <a:blip r:embed="rId4">
            <a:alphaModFix/>
          </a:blip>
          <a:srcRect b="20413" l="0" r="0" t="0"/>
          <a:stretch/>
        </p:blipFill>
        <p:spPr>
          <a:xfrm>
            <a:off x="2473725" y="1627350"/>
            <a:ext cx="2016450" cy="22517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81" name="Google Shape;1481;p102"/>
          <p:cNvPicPr preferRelativeResize="0"/>
          <p:nvPr/>
        </p:nvPicPr>
        <p:blipFill rotWithShape="1">
          <a:blip r:embed="rId5">
            <a:alphaModFix/>
          </a:blip>
          <a:srcRect b="1244" l="0" r="3362" t="0"/>
          <a:stretch/>
        </p:blipFill>
        <p:spPr>
          <a:xfrm>
            <a:off x="4598350" y="1627350"/>
            <a:ext cx="2016450" cy="22517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82" name="Google Shape;1482;p102"/>
          <p:cNvPicPr preferRelativeResize="0"/>
          <p:nvPr/>
        </p:nvPicPr>
        <p:blipFill rotWithShape="1">
          <a:blip r:embed="rId6">
            <a:alphaModFix/>
          </a:blip>
          <a:srcRect b="2818" l="0" r="0" t="0"/>
          <a:stretch/>
        </p:blipFill>
        <p:spPr>
          <a:xfrm>
            <a:off x="6723000" y="1627350"/>
            <a:ext cx="2016475" cy="2251749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graphicFrame>
        <p:nvGraphicFramePr>
          <p:cNvPr id="1483" name="Google Shape;1483;p102"/>
          <p:cNvGraphicFramePr/>
          <p:nvPr/>
        </p:nvGraphicFramePr>
        <p:xfrm>
          <a:off x="349075" y="1282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{4FBE5B0C-FCDF-4F6A-9639-473080F7E0CB}</a:tableStyleId>
              </a:tblPr>
              <a:tblGrid>
                <a:gridCol w="2117725"/>
                <a:gridCol w="2117725"/>
                <a:gridCol w="2117725"/>
                <a:gridCol w="2117725"/>
              </a:tblGrid>
              <a:tr h="33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84" name="Google Shape;1484;p102"/>
          <p:cNvSpPr txBox="1"/>
          <p:nvPr>
            <p:ph idx="1" type="body"/>
          </p:nvPr>
        </p:nvSpPr>
        <p:spPr>
          <a:xfrm>
            <a:off x="1210450" y="4110750"/>
            <a:ext cx="293700" cy="4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500">
                <a:latin typeface="Kalam"/>
                <a:ea typeface="Kalam"/>
                <a:cs typeface="Kalam"/>
                <a:sym typeface="Kalam"/>
              </a:rPr>
              <a:t>3</a:t>
            </a:r>
            <a:endParaRPr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85" name="Google Shape;1485;p102"/>
          <p:cNvSpPr txBox="1"/>
          <p:nvPr>
            <p:ph idx="1" type="body"/>
          </p:nvPr>
        </p:nvSpPr>
        <p:spPr>
          <a:xfrm>
            <a:off x="3369600" y="4110750"/>
            <a:ext cx="293700" cy="4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500">
                <a:latin typeface="Kalam"/>
                <a:ea typeface="Kalam"/>
                <a:cs typeface="Kalam"/>
                <a:sym typeface="Kalam"/>
              </a:rPr>
              <a:t>2</a:t>
            </a:r>
            <a:endParaRPr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86" name="Google Shape;1486;p102"/>
          <p:cNvSpPr txBox="1"/>
          <p:nvPr>
            <p:ph idx="1" type="body"/>
          </p:nvPr>
        </p:nvSpPr>
        <p:spPr>
          <a:xfrm>
            <a:off x="5459725" y="4110750"/>
            <a:ext cx="293700" cy="4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500">
                <a:latin typeface="Kalam"/>
                <a:ea typeface="Kalam"/>
                <a:cs typeface="Kalam"/>
                <a:sym typeface="Kalam"/>
              </a:rPr>
              <a:t>1</a:t>
            </a:r>
            <a:endParaRPr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87" name="Google Shape;1487;p102"/>
          <p:cNvSpPr txBox="1"/>
          <p:nvPr>
            <p:ph idx="1" type="body"/>
          </p:nvPr>
        </p:nvSpPr>
        <p:spPr>
          <a:xfrm>
            <a:off x="7584388" y="4110750"/>
            <a:ext cx="293700" cy="4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500">
                <a:latin typeface="Kalam"/>
                <a:ea typeface="Kalam"/>
                <a:cs typeface="Kalam"/>
                <a:sym typeface="Kalam"/>
              </a:rPr>
              <a:t>2</a:t>
            </a:r>
            <a:endParaRPr sz="25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488" name="Google Shape;1488;p102"/>
          <p:cNvGrpSpPr/>
          <p:nvPr/>
        </p:nvGrpSpPr>
        <p:grpSpPr>
          <a:xfrm>
            <a:off x="1281275" y="2187373"/>
            <a:ext cx="191400" cy="587402"/>
            <a:chOff x="1281275" y="2187373"/>
            <a:chExt cx="191400" cy="587402"/>
          </a:xfrm>
        </p:grpSpPr>
        <p:cxnSp>
          <p:nvCxnSpPr>
            <p:cNvPr id="1489" name="Google Shape;1489;p102"/>
            <p:cNvCxnSpPr/>
            <p:nvPr/>
          </p:nvCxnSpPr>
          <p:spPr>
            <a:xfrm>
              <a:off x="1281275" y="2774775"/>
              <a:ext cx="191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dash"/>
              <a:round/>
              <a:headEnd len="med" w="med" type="none"/>
              <a:tailEnd len="med" w="med" type="triangle"/>
            </a:ln>
          </p:spPr>
        </p:cxnSp>
        <p:cxnSp>
          <p:nvCxnSpPr>
            <p:cNvPr id="1490" name="Google Shape;1490;p102"/>
            <p:cNvCxnSpPr/>
            <p:nvPr/>
          </p:nvCxnSpPr>
          <p:spPr>
            <a:xfrm rot="10800000">
              <a:off x="1472650" y="2187373"/>
              <a:ext cx="0" cy="5874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dash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1491" name="Google Shape;1491;p102"/>
          <p:cNvGrpSpPr/>
          <p:nvPr/>
        </p:nvGrpSpPr>
        <p:grpSpPr>
          <a:xfrm>
            <a:off x="3369600" y="2774699"/>
            <a:ext cx="238800" cy="465301"/>
            <a:chOff x="3369600" y="2774699"/>
            <a:chExt cx="238800" cy="465301"/>
          </a:xfrm>
        </p:grpSpPr>
        <p:cxnSp>
          <p:nvCxnSpPr>
            <p:cNvPr id="1492" name="Google Shape;1492;p102"/>
            <p:cNvCxnSpPr/>
            <p:nvPr/>
          </p:nvCxnSpPr>
          <p:spPr>
            <a:xfrm>
              <a:off x="3369600" y="3240000"/>
              <a:ext cx="2388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dash"/>
              <a:round/>
              <a:headEnd len="med" w="med" type="none"/>
              <a:tailEnd len="med" w="med" type="triangle"/>
            </a:ln>
          </p:spPr>
        </p:cxnSp>
        <p:cxnSp>
          <p:nvCxnSpPr>
            <p:cNvPr id="1493" name="Google Shape;1493;p102"/>
            <p:cNvCxnSpPr/>
            <p:nvPr/>
          </p:nvCxnSpPr>
          <p:spPr>
            <a:xfrm rot="10800000">
              <a:off x="3608375" y="2774699"/>
              <a:ext cx="0" cy="4653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dash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1494" name="Google Shape;1494;p102"/>
          <p:cNvGrpSpPr/>
          <p:nvPr/>
        </p:nvGrpSpPr>
        <p:grpSpPr>
          <a:xfrm>
            <a:off x="5001700" y="2502224"/>
            <a:ext cx="238800" cy="235801"/>
            <a:chOff x="5001700" y="2502224"/>
            <a:chExt cx="238800" cy="235801"/>
          </a:xfrm>
        </p:grpSpPr>
        <p:cxnSp>
          <p:nvCxnSpPr>
            <p:cNvPr id="1495" name="Google Shape;1495;p102"/>
            <p:cNvCxnSpPr/>
            <p:nvPr/>
          </p:nvCxnSpPr>
          <p:spPr>
            <a:xfrm>
              <a:off x="5001700" y="2738025"/>
              <a:ext cx="2388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dash"/>
              <a:round/>
              <a:headEnd len="med" w="med" type="none"/>
              <a:tailEnd len="med" w="med" type="triangle"/>
            </a:ln>
          </p:spPr>
        </p:cxnSp>
        <p:cxnSp>
          <p:nvCxnSpPr>
            <p:cNvPr id="1496" name="Google Shape;1496;p102"/>
            <p:cNvCxnSpPr/>
            <p:nvPr/>
          </p:nvCxnSpPr>
          <p:spPr>
            <a:xfrm rot="10800000">
              <a:off x="5240500" y="2502224"/>
              <a:ext cx="0" cy="2358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dash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1497" name="Google Shape;1497;p102"/>
          <p:cNvGrpSpPr/>
          <p:nvPr/>
        </p:nvGrpSpPr>
        <p:grpSpPr>
          <a:xfrm>
            <a:off x="7018600" y="2856999"/>
            <a:ext cx="191400" cy="369601"/>
            <a:chOff x="7018600" y="2856999"/>
            <a:chExt cx="191400" cy="369601"/>
          </a:xfrm>
        </p:grpSpPr>
        <p:cxnSp>
          <p:nvCxnSpPr>
            <p:cNvPr id="1498" name="Google Shape;1498;p102"/>
            <p:cNvCxnSpPr/>
            <p:nvPr/>
          </p:nvCxnSpPr>
          <p:spPr>
            <a:xfrm>
              <a:off x="7018600" y="3226600"/>
              <a:ext cx="191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dash"/>
              <a:round/>
              <a:headEnd len="med" w="med" type="none"/>
              <a:tailEnd len="med" w="med" type="triangle"/>
            </a:ln>
          </p:spPr>
        </p:cxnSp>
        <p:cxnSp>
          <p:nvCxnSpPr>
            <p:cNvPr id="1499" name="Google Shape;1499;p102"/>
            <p:cNvCxnSpPr/>
            <p:nvPr/>
          </p:nvCxnSpPr>
          <p:spPr>
            <a:xfrm rot="10800000">
              <a:off x="7210000" y="2856999"/>
              <a:ext cx="0" cy="3696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dash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3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Google Shape;1504;p10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Find the </a:t>
            </a:r>
            <a:r>
              <a:rPr b="1" lang="en-GB" sz="1800"/>
              <a:t>gradient</a:t>
            </a:r>
            <a:r>
              <a:rPr lang="en-GB" sz="1800"/>
              <a:t> of each line. </a:t>
            </a:r>
            <a:r>
              <a:rPr lang="en-GB" sz="1800"/>
              <a:t>You can draw a ratio table to help you.</a:t>
            </a:r>
            <a:endParaRPr sz="1800"/>
          </a:p>
        </p:txBody>
      </p:sp>
      <p:sp>
        <p:nvSpPr>
          <p:cNvPr id="1505" name="Google Shape;1505;p10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Calculating positive gradients from graphs</a:t>
            </a:r>
            <a:endParaRPr/>
          </a:p>
        </p:txBody>
      </p:sp>
      <p:graphicFrame>
        <p:nvGraphicFramePr>
          <p:cNvPr id="1506" name="Google Shape;1506;p103"/>
          <p:cNvGraphicFramePr/>
          <p:nvPr/>
        </p:nvGraphicFramePr>
        <p:xfrm>
          <a:off x="349075" y="1282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{4FBE5B0C-FCDF-4F6A-9639-473080F7E0CB}</a:tableStyleId>
              </a:tblPr>
              <a:tblGrid>
                <a:gridCol w="2117725"/>
                <a:gridCol w="2117725"/>
                <a:gridCol w="2117725"/>
                <a:gridCol w="2117725"/>
              </a:tblGrid>
              <a:tr h="33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507" name="Google Shape;1507;p103"/>
          <p:cNvPicPr preferRelativeResize="0"/>
          <p:nvPr/>
        </p:nvPicPr>
        <p:blipFill rotWithShape="1">
          <a:blip r:embed="rId3">
            <a:alphaModFix/>
          </a:blip>
          <a:srcRect b="0" l="0" r="2657" t="0"/>
          <a:stretch/>
        </p:blipFill>
        <p:spPr>
          <a:xfrm>
            <a:off x="324025" y="1627350"/>
            <a:ext cx="2041526" cy="22517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08" name="Google Shape;1508;p103"/>
          <p:cNvPicPr preferRelativeResize="0"/>
          <p:nvPr/>
        </p:nvPicPr>
        <p:blipFill rotWithShape="1">
          <a:blip r:embed="rId4">
            <a:alphaModFix/>
          </a:blip>
          <a:srcRect b="0" l="0" r="11707" t="0"/>
          <a:stretch/>
        </p:blipFill>
        <p:spPr>
          <a:xfrm>
            <a:off x="2473713" y="1627350"/>
            <a:ext cx="2016475" cy="22517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09" name="Google Shape;1509;p103"/>
          <p:cNvSpPr txBox="1"/>
          <p:nvPr>
            <p:ph idx="1" type="body"/>
          </p:nvPr>
        </p:nvSpPr>
        <p:spPr>
          <a:xfrm>
            <a:off x="1210450" y="4110750"/>
            <a:ext cx="293700" cy="4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500">
                <a:latin typeface="Kalam"/>
                <a:ea typeface="Kalam"/>
                <a:cs typeface="Kalam"/>
                <a:sym typeface="Kalam"/>
              </a:rPr>
              <a:t>6</a:t>
            </a:r>
            <a:endParaRPr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10" name="Google Shape;1510;p103"/>
          <p:cNvSpPr txBox="1"/>
          <p:nvPr>
            <p:ph idx="1" type="body"/>
          </p:nvPr>
        </p:nvSpPr>
        <p:spPr>
          <a:xfrm>
            <a:off x="3369600" y="4110750"/>
            <a:ext cx="293700" cy="4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500">
                <a:latin typeface="Kalam"/>
                <a:ea typeface="Kalam"/>
                <a:cs typeface="Kalam"/>
                <a:sym typeface="Kalam"/>
              </a:rPr>
              <a:t>2</a:t>
            </a:r>
            <a:endParaRPr sz="25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511" name="Google Shape;1511;p103"/>
          <p:cNvGraphicFramePr/>
          <p:nvPr/>
        </p:nvGraphicFramePr>
        <p:xfrm>
          <a:off x="4790488" y="19790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{4FBE5B0C-FCDF-4F6A-9639-473080F7E0CB}</a:tableStyleId>
              </a:tblPr>
              <a:tblGrid>
                <a:gridCol w="1466300"/>
                <a:gridCol w="14663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 </a:t>
                      </a: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720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 </a:t>
                      </a: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7200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0.5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</a:tr>
            </a:tbl>
          </a:graphicData>
        </a:graphic>
      </p:graphicFrame>
      <p:cxnSp>
        <p:nvCxnSpPr>
          <p:cNvPr id="1512" name="Google Shape;1512;p103"/>
          <p:cNvCxnSpPr/>
          <p:nvPr/>
        </p:nvCxnSpPr>
        <p:spPr>
          <a:xfrm flipH="1" rot="10800000">
            <a:off x="3686206" y="2629490"/>
            <a:ext cx="210900" cy="54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513" name="Google Shape;1513;p103"/>
          <p:cNvCxnSpPr/>
          <p:nvPr/>
        </p:nvCxnSpPr>
        <p:spPr>
          <a:xfrm rot="10800000">
            <a:off x="3897100" y="2421588"/>
            <a:ext cx="0" cy="2133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514" name="Google Shape;1514;p103"/>
          <p:cNvCxnSpPr/>
          <p:nvPr/>
        </p:nvCxnSpPr>
        <p:spPr>
          <a:xfrm>
            <a:off x="1293250" y="2972025"/>
            <a:ext cx="3738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515" name="Google Shape;1515;p103"/>
          <p:cNvCxnSpPr/>
          <p:nvPr/>
        </p:nvCxnSpPr>
        <p:spPr>
          <a:xfrm rot="10800000">
            <a:off x="1664683" y="1859314"/>
            <a:ext cx="0" cy="11127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9" name="Shape 1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Google Shape;1520;p10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Find the </a:t>
            </a:r>
            <a:r>
              <a:rPr b="1" lang="en-GB" sz="1800"/>
              <a:t>gradient</a:t>
            </a:r>
            <a:r>
              <a:rPr lang="en-GB" sz="1800"/>
              <a:t> of each line. </a:t>
            </a:r>
            <a:r>
              <a:rPr lang="en-GB" sz="1800"/>
              <a:t>You can draw a ratio table to help you.</a:t>
            </a:r>
            <a:endParaRPr sz="1800"/>
          </a:p>
        </p:txBody>
      </p:sp>
      <p:sp>
        <p:nvSpPr>
          <p:cNvPr id="1521" name="Google Shape;1521;p10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Calculating positive gradients from graphs</a:t>
            </a:r>
            <a:endParaRPr/>
          </a:p>
        </p:txBody>
      </p:sp>
      <p:graphicFrame>
        <p:nvGraphicFramePr>
          <p:cNvPr id="1522" name="Google Shape;1522;p104"/>
          <p:cNvGraphicFramePr/>
          <p:nvPr/>
        </p:nvGraphicFramePr>
        <p:xfrm>
          <a:off x="349075" y="1282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{4FBE5B0C-FCDF-4F6A-9639-473080F7E0CB}</a:tableStyleId>
              </a:tblPr>
              <a:tblGrid>
                <a:gridCol w="2117725"/>
                <a:gridCol w="2117725"/>
                <a:gridCol w="2117725"/>
                <a:gridCol w="2117725"/>
              </a:tblGrid>
              <a:tr h="33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523" name="Google Shape;1523;p104"/>
          <p:cNvPicPr preferRelativeResize="0"/>
          <p:nvPr/>
        </p:nvPicPr>
        <p:blipFill rotWithShape="1">
          <a:blip r:embed="rId3">
            <a:alphaModFix/>
          </a:blip>
          <a:srcRect b="4879" l="0" r="0" t="0"/>
          <a:stretch/>
        </p:blipFill>
        <p:spPr>
          <a:xfrm>
            <a:off x="4911275" y="1574125"/>
            <a:ext cx="2016474" cy="2251749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24" name="Google Shape;1524;p10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5175" y="1633963"/>
            <a:ext cx="2016475" cy="223851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25" name="Google Shape;1525;p104"/>
          <p:cNvSpPr txBox="1"/>
          <p:nvPr>
            <p:ph idx="1" type="body"/>
          </p:nvPr>
        </p:nvSpPr>
        <p:spPr>
          <a:xfrm>
            <a:off x="1421125" y="4110750"/>
            <a:ext cx="293700" cy="4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500">
                <a:latin typeface="Kalam"/>
                <a:ea typeface="Kalam"/>
                <a:cs typeface="Kalam"/>
                <a:sym typeface="Kalam"/>
              </a:rPr>
              <a:t>7</a:t>
            </a:r>
            <a:endParaRPr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26" name="Google Shape;1526;p104"/>
          <p:cNvSpPr txBox="1"/>
          <p:nvPr>
            <p:ph idx="1" type="body"/>
          </p:nvPr>
        </p:nvSpPr>
        <p:spPr>
          <a:xfrm>
            <a:off x="5755588" y="4110750"/>
            <a:ext cx="293700" cy="4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500">
                <a:latin typeface="Kalam"/>
                <a:ea typeface="Kalam"/>
                <a:cs typeface="Kalam"/>
                <a:sym typeface="Kalam"/>
              </a:rPr>
              <a:t>15</a:t>
            </a:r>
            <a:endParaRPr sz="25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527" name="Google Shape;1527;p104"/>
          <p:cNvCxnSpPr/>
          <p:nvPr/>
        </p:nvCxnSpPr>
        <p:spPr>
          <a:xfrm>
            <a:off x="1241100" y="3598550"/>
            <a:ext cx="8811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528" name="Google Shape;1528;p104"/>
          <p:cNvCxnSpPr/>
          <p:nvPr/>
        </p:nvCxnSpPr>
        <p:spPr>
          <a:xfrm rot="10800000">
            <a:off x="2122300" y="2214046"/>
            <a:ext cx="0" cy="13845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529" name="Google Shape;1529;p104"/>
          <p:cNvCxnSpPr/>
          <p:nvPr/>
        </p:nvCxnSpPr>
        <p:spPr>
          <a:xfrm>
            <a:off x="5441750" y="3031875"/>
            <a:ext cx="2502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530" name="Google Shape;1530;p104"/>
          <p:cNvCxnSpPr/>
          <p:nvPr/>
        </p:nvCxnSpPr>
        <p:spPr>
          <a:xfrm rot="10800000">
            <a:off x="5691925" y="2295673"/>
            <a:ext cx="0" cy="7362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4" name="Shape 1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5" name="Google Shape;1535;p105"/>
          <p:cNvSpPr txBox="1"/>
          <p:nvPr>
            <p:ph idx="1" type="body"/>
          </p:nvPr>
        </p:nvSpPr>
        <p:spPr>
          <a:xfrm>
            <a:off x="324000" y="6831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Find the </a:t>
            </a:r>
            <a:r>
              <a:rPr b="1" lang="en-GB" sz="1800"/>
              <a:t>gradient</a:t>
            </a:r>
            <a:r>
              <a:rPr lang="en-GB" sz="1800"/>
              <a:t> of each line. </a:t>
            </a:r>
            <a:r>
              <a:rPr lang="en-GB" sz="1800"/>
              <a:t>You can draw a ratio table to help you.</a:t>
            </a:r>
            <a:endParaRPr sz="1800"/>
          </a:p>
        </p:txBody>
      </p:sp>
      <p:sp>
        <p:nvSpPr>
          <p:cNvPr id="1536" name="Google Shape;1536;p10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Calculating positive gradients from graphs</a:t>
            </a:r>
            <a:endParaRPr/>
          </a:p>
        </p:txBody>
      </p:sp>
      <p:graphicFrame>
        <p:nvGraphicFramePr>
          <p:cNvPr id="1537" name="Google Shape;1537;p105"/>
          <p:cNvGraphicFramePr/>
          <p:nvPr/>
        </p:nvGraphicFramePr>
        <p:xfrm>
          <a:off x="349075" y="1054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{4FBE5B0C-FCDF-4F6A-9639-473080F7E0CB}</a:tableStyleId>
              </a:tblPr>
              <a:tblGrid>
                <a:gridCol w="2117725"/>
                <a:gridCol w="2117725"/>
                <a:gridCol w="2117725"/>
                <a:gridCol w="2117725"/>
              </a:tblGrid>
              <a:tr h="33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k)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538" name="Google Shape;1538;p105"/>
          <p:cNvPicPr preferRelativeResize="0"/>
          <p:nvPr/>
        </p:nvPicPr>
        <p:blipFill rotWithShape="1">
          <a:blip r:embed="rId3">
            <a:alphaModFix/>
          </a:blip>
          <a:srcRect b="9592" l="0" r="2657" t="0"/>
          <a:stretch/>
        </p:blipFill>
        <p:spPr>
          <a:xfrm>
            <a:off x="324025" y="1398750"/>
            <a:ext cx="2041526" cy="2035774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39" name="Google Shape;1539;p105"/>
          <p:cNvPicPr preferRelativeResize="0"/>
          <p:nvPr/>
        </p:nvPicPr>
        <p:blipFill rotWithShape="1">
          <a:blip r:embed="rId4">
            <a:alphaModFix/>
          </a:blip>
          <a:srcRect b="10055" l="0" r="10984" t="0"/>
          <a:stretch/>
        </p:blipFill>
        <p:spPr>
          <a:xfrm>
            <a:off x="4601500" y="1385774"/>
            <a:ext cx="1991000" cy="204875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40" name="Google Shape;1540;p105"/>
          <p:cNvPicPr preferRelativeResize="0"/>
          <p:nvPr/>
        </p:nvPicPr>
        <p:blipFill rotWithShape="1">
          <a:blip r:embed="rId5">
            <a:alphaModFix/>
          </a:blip>
          <a:srcRect b="9016" l="0" r="23165" t="0"/>
          <a:stretch/>
        </p:blipFill>
        <p:spPr>
          <a:xfrm>
            <a:off x="324025" y="1385774"/>
            <a:ext cx="2041524" cy="20487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41" name="Google Shape;1541;p105"/>
          <p:cNvPicPr preferRelativeResize="0"/>
          <p:nvPr/>
        </p:nvPicPr>
        <p:blipFill rotWithShape="1">
          <a:blip r:embed="rId6">
            <a:alphaModFix/>
          </a:blip>
          <a:srcRect b="8983" l="0" r="0" t="0"/>
          <a:stretch/>
        </p:blipFill>
        <p:spPr>
          <a:xfrm>
            <a:off x="6702250" y="1385774"/>
            <a:ext cx="2016475" cy="2048749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42" name="Google Shape;1542;p105"/>
          <p:cNvPicPr preferRelativeResize="0"/>
          <p:nvPr/>
        </p:nvPicPr>
        <p:blipFill rotWithShape="1">
          <a:blip r:embed="rId7">
            <a:alphaModFix/>
          </a:blip>
          <a:srcRect b="10055" l="0" r="32405" t="0"/>
          <a:stretch/>
        </p:blipFill>
        <p:spPr>
          <a:xfrm>
            <a:off x="2475275" y="1385774"/>
            <a:ext cx="2016475" cy="204875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graphicFrame>
        <p:nvGraphicFramePr>
          <p:cNvPr id="1543" name="Google Shape;1543;p105"/>
          <p:cNvGraphicFramePr/>
          <p:nvPr/>
        </p:nvGraphicFramePr>
        <p:xfrm>
          <a:off x="349075" y="3502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{4FBE5B0C-FCDF-4F6A-9639-473080F7E0CB}</a:tableStyleId>
              </a:tblPr>
              <a:tblGrid>
                <a:gridCol w="1020750"/>
                <a:gridCol w="1020775"/>
              </a:tblGrid>
              <a:tr h="348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8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44" name="Google Shape;1544;p105"/>
          <p:cNvGraphicFramePr/>
          <p:nvPr/>
        </p:nvGraphicFramePr>
        <p:xfrm>
          <a:off x="2467575" y="3502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{4FBE5B0C-FCDF-4F6A-9639-473080F7E0CB}</a:tableStyleId>
              </a:tblPr>
              <a:tblGrid>
                <a:gridCol w="1020750"/>
                <a:gridCol w="1020775"/>
              </a:tblGrid>
              <a:tr h="348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8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45" name="Google Shape;1545;p105"/>
          <p:cNvGraphicFramePr/>
          <p:nvPr/>
        </p:nvGraphicFramePr>
        <p:xfrm>
          <a:off x="4586075" y="3502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{4FBE5B0C-FCDF-4F6A-9639-473080F7E0CB}</a:tableStyleId>
              </a:tblPr>
              <a:tblGrid>
                <a:gridCol w="1020750"/>
                <a:gridCol w="1020775"/>
              </a:tblGrid>
              <a:tr h="435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15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46" name="Google Shape;1546;p105"/>
          <p:cNvGraphicFramePr/>
          <p:nvPr/>
        </p:nvGraphicFramePr>
        <p:xfrm>
          <a:off x="6704575" y="3502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{4FBE5B0C-FCDF-4F6A-9639-473080F7E0CB}</a:tableStyleId>
              </a:tblPr>
              <a:tblGrid>
                <a:gridCol w="1020750"/>
                <a:gridCol w="1020775"/>
              </a:tblGrid>
              <a:tr h="37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8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1547" name="Google Shape;1547;p105" title="one half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806277" y="3941250"/>
            <a:ext cx="144225" cy="45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1548" name="Google Shape;1548;p105" title="one third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936952" y="3932341"/>
            <a:ext cx="144225" cy="4773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3}&quot;&gt;&lt;mfrac&gt;&lt;mn&gt;4&lt;/mn&gt;&lt;mn&gt;3&lt;/mn&gt;&lt;/mfrac&gt;&lt;/math&gt;" id="1549" name="Google Shape;1549;p105" title="four thirds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183330" y="3928900"/>
            <a:ext cx="144225" cy="48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3" name="Shape 1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4" name="Google Shape;1554;p106"/>
          <p:cNvSpPr txBox="1"/>
          <p:nvPr>
            <p:ph idx="1" type="body"/>
          </p:nvPr>
        </p:nvSpPr>
        <p:spPr>
          <a:xfrm>
            <a:off x="324000" y="99775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/>
              <a:t>Gradient</a:t>
            </a:r>
            <a:r>
              <a:rPr lang="en-GB" sz="2000"/>
              <a:t> measures the amount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/>
              <a:t> changes when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/>
              <a:t> increases by 1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If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/>
              <a:t> increases as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/>
              <a:t> increases, the </a:t>
            </a:r>
            <a:r>
              <a:rPr b="1" lang="en-GB" sz="2000"/>
              <a:t>gradient</a:t>
            </a:r>
            <a:r>
              <a:rPr lang="en-GB" sz="2000"/>
              <a:t> is positive.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The </a:t>
            </a:r>
            <a:r>
              <a:rPr b="1" lang="en-GB" sz="2000"/>
              <a:t>gradient</a:t>
            </a:r>
            <a:r>
              <a:rPr lang="en-GB" sz="2000"/>
              <a:t> can be found from any graph by considering the change in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/>
              <a:t> for each increase of 1 in the positive</a:t>
            </a:r>
            <a:r>
              <a:rPr lang="en-GB" sz="2000"/>
              <a:t>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-</a:t>
            </a:r>
            <a:r>
              <a:rPr lang="en-GB" sz="2000"/>
              <a:t>direction.</a:t>
            </a:r>
            <a:endParaRPr sz="1800"/>
          </a:p>
        </p:txBody>
      </p:sp>
      <p:sp>
        <p:nvSpPr>
          <p:cNvPr id="1555" name="Google Shape;1555;p106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Positive rate of change from a graph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9" name="Shape 1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0" name="Google Shape;1560;p107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561" name="Google Shape;1561;p10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