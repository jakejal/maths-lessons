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3002024-F60A-4C2C-BC6D-EB2205EDD6CE}">
  <a:tblStyle styleId="{43002024-F60A-4C2C-BC6D-EB2205EDD6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6.png" /><Relationship Id="rId11" Type="http://schemas.openxmlformats.org/officeDocument/2006/relationships/image" Target="../media/image17.png" /><Relationship Id="rId12" Type="http://schemas.openxmlformats.org/officeDocument/2006/relationships/image" Target="../media/image18.png" /><Relationship Id="rId13" Type="http://schemas.openxmlformats.org/officeDocument/2006/relationships/image" Target="../media/image19.png" /><Relationship Id="rId14" Type="http://schemas.openxmlformats.org/officeDocument/2006/relationships/image" Target="../media/image20.png" /><Relationship Id="rId15" Type="http://schemas.openxmlformats.org/officeDocument/2006/relationships/image" Target="../media/image21.png" /><Relationship Id="rId16" Type="http://schemas.openxmlformats.org/officeDocument/2006/relationships/image" Target="../media/image22.png" /><Relationship Id="rId17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Positive rate of change from a graph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01375"/>
            <a:ext cx="66240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Put these steps in order from steepest to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gentlest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09031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Defining gradient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4360225"/>
            <a:ext cx="4888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staircase H so it is the steepest staircase.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828025"/>
            <a:ext cx="4888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Another set of steps join point P to point Q. Where would these steps go in order of steepness?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5356500" y="4828025"/>
          <a:ext cx="1400000" cy="10668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  <a:gridCol w="200000"/>
                <a:gridCol w="200000"/>
              </a:tblGrid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14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6296648" y="4828025"/>
            <a:ext cx="4995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Q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503296" y="5603525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P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23599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steepest: E - B - A - F - C - G - D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gentlest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5435975"/>
            <a:ext cx="250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Same as 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650650"/>
            <a:ext cx="6624000" cy="169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56225" y="5992625"/>
            <a:ext cx="4248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lines have a positive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25" y="6319925"/>
            <a:ext cx="2500200" cy="183426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20"/>
          <p:cNvSpPr txBox="1"/>
          <p:nvPr/>
        </p:nvSpPr>
        <p:spPr>
          <a:xfrm>
            <a:off x="3780000" y="5992625"/>
            <a:ext cx="3312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Which tables of values show a relationship which will have positive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when plotted?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4130711" y="6770575"/>
          <a:ext cx="2963750" cy="37425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4130711" y="8736144"/>
          <a:ext cx="2963750" cy="3743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0"/>
          <p:cNvGraphicFramePr>
            <a:graphicFrameLocks noGrp="1"/>
          </p:cNvGraphicFramePr>
          <p:nvPr/>
        </p:nvGraphicFramePr>
        <p:xfrm>
          <a:off x="4130711" y="7740154"/>
          <a:ext cx="2963750" cy="3743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592750"/>
                <a:gridCol w="592750"/>
                <a:gridCol w="592750"/>
                <a:gridCol w="592750"/>
                <a:gridCol w="592750"/>
              </a:tblGrid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/>
          <p:nvPr/>
        </p:nvSpPr>
        <p:spPr>
          <a:xfrm>
            <a:off x="612314" y="7633988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74725" y="702060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10438" y="6519603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/>
          </a:p>
        </p:txBody>
      </p:sp>
      <p:sp>
        <p:nvSpPr>
          <p:cNvPr id="192" name="Google Shape;192;p20"/>
          <p:cNvSpPr/>
          <p:nvPr/>
        </p:nvSpPr>
        <p:spPr>
          <a:xfrm>
            <a:off x="1541319" y="631992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/>
          </a:p>
        </p:txBody>
      </p:sp>
      <p:sp>
        <p:nvSpPr>
          <p:cNvPr id="193" name="Google Shape;193;p20"/>
          <p:cNvSpPr/>
          <p:nvPr/>
        </p:nvSpPr>
        <p:spPr>
          <a:xfrm>
            <a:off x="2213127" y="6319925"/>
            <a:ext cx="222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/>
          </a:p>
        </p:txBody>
      </p:sp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3780000" y="6679025"/>
          <a:ext cx="617525" cy="294195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617525"/>
              </a:tblGrid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80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 txBox="1"/>
          <p:nvPr/>
        </p:nvSpPr>
        <p:spPr>
          <a:xfrm>
            <a:off x="456225" y="8346925"/>
            <a:ext cx="29637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A, B and E have positive gradients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145850" y="7296300"/>
            <a:ext cx="296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Positive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increases as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145850" y="9263425"/>
            <a:ext cx="29637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Positive,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increases as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145850" y="8250050"/>
            <a:ext cx="296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Not positive,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decreases as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increases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Positive rate of change from a graph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1057200"/>
            <a:ext cx="6624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each line. You 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draw a ratio table to help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Calculating positive gradients from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710219"/>
            <a:ext cx="1552104" cy="1733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4">
            <a:alphaModFix/>
          </a:blip>
          <a:srcRect b="20413"/>
          <a:stretch>
            <a:fillRect/>
          </a:stretch>
        </p:blipFill>
        <p:spPr>
          <a:xfrm>
            <a:off x="2128461" y="1710229"/>
            <a:ext cx="1552100" cy="17331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5">
            <a:alphaModFix/>
          </a:blip>
          <a:srcRect r="3362" b="1244"/>
          <a:stretch>
            <a:fillRect/>
          </a:stretch>
        </p:blipFill>
        <p:spPr>
          <a:xfrm>
            <a:off x="3763824" y="1710229"/>
            <a:ext cx="1552099" cy="17331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6">
            <a:alphaModFix/>
          </a:blip>
          <a:srcRect b="2818"/>
          <a:stretch>
            <a:fillRect/>
          </a:stretch>
        </p:blipFill>
        <p:spPr>
          <a:xfrm>
            <a:off x="5399206" y="1710229"/>
            <a:ext cx="1552119" cy="173319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4" name="Google Shape;214;p21"/>
          <p:cNvGraphicFramePr>
            <a:graphicFrameLocks noGrp="1"/>
          </p:cNvGraphicFramePr>
          <p:nvPr/>
        </p:nvGraphicFramePr>
        <p:xfrm>
          <a:off x="468000" y="14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1"/>
          <p:cNvSpPr txBox="1"/>
          <p:nvPr/>
        </p:nvSpPr>
        <p:spPr>
          <a:xfrm>
            <a:off x="1051539" y="3514494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710493" y="3514494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369446" y="3514494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028400" y="3514494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1210586" y="2141265"/>
            <a:ext cx="147321" cy="452123"/>
            <a:chOff x="1281275" y="2187373"/>
            <a:chExt cx="191400" cy="587402"/>
          </a:xfrm>
        </p:grpSpPr>
        <p:cxnSp>
          <p:nvCxnSpPr>
            <p:cNvPr id="220" name="Google Shape;220;p21"/>
            <p:cNvCxnSpPr/>
            <p:nvPr/>
          </p:nvCxnSpPr>
          <p:spPr>
            <a:xfrm>
              <a:off x="1281275" y="2774775"/>
              <a:ext cx="1914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21" name="Google Shape;221;p21"/>
            <p:cNvCxnSpPr/>
            <p:nvPr/>
          </p:nvCxnSpPr>
          <p:spPr>
            <a:xfrm rot="10800000" flipH="1">
              <a:off x="1472650" y="2187373"/>
              <a:ext cx="0" cy="5874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22" name="Google Shape;222;p21"/>
          <p:cNvGrpSpPr/>
          <p:nvPr/>
        </p:nvGrpSpPr>
        <p:grpSpPr>
          <a:xfrm>
            <a:off x="2817970" y="2593330"/>
            <a:ext cx="183804" cy="358142"/>
            <a:chOff x="3369600" y="2774699"/>
            <a:chExt cx="238800" cy="465301"/>
          </a:xfrm>
        </p:grpSpPr>
        <p:cxnSp>
          <p:nvCxnSpPr>
            <p:cNvPr id="223" name="Google Shape;223;p21"/>
            <p:cNvCxnSpPr/>
            <p:nvPr/>
          </p:nvCxnSpPr>
          <p:spPr>
            <a:xfrm>
              <a:off x="3369600" y="3240000"/>
              <a:ext cx="238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10800000" flipH="1">
              <a:off x="3608375" y="2774699"/>
              <a:ext cx="0" cy="4653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25" name="Google Shape;225;p21"/>
          <p:cNvGrpSpPr/>
          <p:nvPr/>
        </p:nvGrpSpPr>
        <p:grpSpPr>
          <a:xfrm>
            <a:off x="4074197" y="2383606"/>
            <a:ext cx="183804" cy="181496"/>
            <a:chOff x="5001700" y="2502224"/>
            <a:chExt cx="238800" cy="235801"/>
          </a:xfrm>
        </p:grpSpPr>
        <p:cxnSp>
          <p:nvCxnSpPr>
            <p:cNvPr id="226" name="Google Shape;226;p21"/>
            <p:cNvCxnSpPr/>
            <p:nvPr/>
          </p:nvCxnSpPr>
          <p:spPr>
            <a:xfrm>
              <a:off x="5001700" y="2738025"/>
              <a:ext cx="238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27" name="Google Shape;227;p21"/>
            <p:cNvCxnSpPr/>
            <p:nvPr/>
          </p:nvCxnSpPr>
          <p:spPr>
            <a:xfrm rot="10800000" flipH="1">
              <a:off x="5240500" y="2502224"/>
              <a:ext cx="0" cy="235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28" name="Google Shape;228;p21"/>
          <p:cNvGrpSpPr/>
          <p:nvPr/>
        </p:nvGrpSpPr>
        <p:grpSpPr>
          <a:xfrm>
            <a:off x="5626605" y="2656676"/>
            <a:ext cx="147321" cy="284482"/>
            <a:chOff x="7018600" y="2856999"/>
            <a:chExt cx="191400" cy="369601"/>
          </a:xfrm>
        </p:grpSpPr>
        <p:cxnSp>
          <p:nvCxnSpPr>
            <p:cNvPr id="229" name="Google Shape;229;p21"/>
            <p:cNvCxnSpPr/>
            <p:nvPr/>
          </p:nvCxnSpPr>
          <p:spPr>
            <a:xfrm>
              <a:off x="7018600" y="3226600"/>
              <a:ext cx="1914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230" name="Google Shape;230;p21"/>
            <p:cNvCxnSpPr/>
            <p:nvPr/>
          </p:nvCxnSpPr>
          <p:spPr>
            <a:xfrm rot="10800000" flipH="1">
              <a:off x="7210000" y="2856999"/>
              <a:ext cx="0" cy="3696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231" name="Google Shape;231;p21"/>
          <p:cNvGraphicFramePr>
            <a:graphicFrameLocks noGrp="1"/>
          </p:cNvGraphicFramePr>
          <p:nvPr/>
        </p:nvGraphicFramePr>
        <p:xfrm>
          <a:off x="493050" y="3841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1655975"/>
                <a:gridCol w="1655975"/>
                <a:gridCol w="1655975"/>
                <a:gridCol w="165597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2" name="Google Shape;232;p21"/>
          <p:cNvPicPr preferRelativeResize="0"/>
          <p:nvPr/>
        </p:nvPicPr>
        <p:blipFill>
          <a:blip r:embed="rId7">
            <a:alphaModFix/>
          </a:blip>
          <a:srcRect r="2657"/>
          <a:stretch>
            <a:fillRect/>
          </a:stretch>
        </p:blipFill>
        <p:spPr>
          <a:xfrm>
            <a:off x="468000" y="4124069"/>
            <a:ext cx="1571393" cy="1733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8">
            <a:alphaModFix/>
          </a:blip>
          <a:srcRect r="11707"/>
          <a:stretch>
            <a:fillRect/>
          </a:stretch>
        </p:blipFill>
        <p:spPr>
          <a:xfrm>
            <a:off x="2122646" y="4124069"/>
            <a:ext cx="1552111" cy="1733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4" name="Google Shape;234;p21"/>
          <p:cNvSpPr txBox="1"/>
          <p:nvPr/>
        </p:nvSpPr>
        <p:spPr>
          <a:xfrm>
            <a:off x="1051550" y="5884076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753500" y="5884076"/>
            <a:ext cx="2937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 rot="10800000" flipH="1">
            <a:off x="3055920" y="4895385"/>
            <a:ext cx="162300" cy="42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21"/>
          <p:cNvCxnSpPr/>
          <p:nvPr/>
        </p:nvCxnSpPr>
        <p:spPr>
          <a:xfrm rot="10800000" flipH="1">
            <a:off x="3218248" y="4735483"/>
            <a:ext cx="0" cy="1641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1214027" y="5159082"/>
            <a:ext cx="2877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39" name="Google Shape;239;p21"/>
          <p:cNvCxnSpPr/>
          <p:nvPr/>
        </p:nvCxnSpPr>
        <p:spPr>
          <a:xfrm rot="10800000" flipH="1">
            <a:off x="1499924" y="4302574"/>
            <a:ext cx="0" cy="8565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graphicFrame>
        <p:nvGraphicFramePr>
          <p:cNvPr id="240" name="Google Shape;240;p21"/>
          <p:cNvGraphicFramePr>
            <a:graphicFrameLocks noGrp="1"/>
          </p:cNvGraphicFramePr>
          <p:nvPr/>
        </p:nvGraphicFramePr>
        <p:xfrm>
          <a:off x="3763825" y="3816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1696925"/>
                <a:gridCol w="169692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41" name="Google Shape;241;p21"/>
          <p:cNvPicPr preferRelativeResize="0"/>
          <p:nvPr/>
        </p:nvPicPr>
        <p:blipFill>
          <a:blip r:embed="rId9">
            <a:alphaModFix/>
          </a:blip>
          <a:srcRect b="4879"/>
          <a:stretch>
            <a:fillRect/>
          </a:stretch>
        </p:blipFill>
        <p:spPr>
          <a:xfrm>
            <a:off x="5412650" y="4115500"/>
            <a:ext cx="1552101" cy="17331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8000" y="4114007"/>
            <a:ext cx="1571400" cy="17444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3" name="Google Shape;243;p21"/>
          <p:cNvSpPr txBox="1"/>
          <p:nvPr/>
        </p:nvSpPr>
        <p:spPr>
          <a:xfrm>
            <a:off x="4455448" y="5884076"/>
            <a:ext cx="2265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090199" y="5884076"/>
            <a:ext cx="2265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>
            <a:off x="4230185" y="5644959"/>
            <a:ext cx="6867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21"/>
          <p:cNvCxnSpPr/>
          <p:nvPr/>
        </p:nvCxnSpPr>
        <p:spPr>
          <a:xfrm rot="10800000" flipH="1">
            <a:off x="4916887" y="4565856"/>
            <a:ext cx="0" cy="10791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21"/>
          <p:cNvCxnSpPr/>
          <p:nvPr/>
        </p:nvCxnSpPr>
        <p:spPr>
          <a:xfrm>
            <a:off x="5826039" y="5251491"/>
            <a:ext cx="195000" cy="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21"/>
          <p:cNvCxnSpPr/>
          <p:nvPr/>
        </p:nvCxnSpPr>
        <p:spPr>
          <a:xfrm rot="10800000" flipH="1">
            <a:off x="6020995" y="4677890"/>
            <a:ext cx="0" cy="5736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triangle" w="med" len="med"/>
          </a:ln>
        </p:spPr>
      </p:cxnSp>
      <p:graphicFrame>
        <p:nvGraphicFramePr>
          <p:cNvPr id="249" name="Google Shape;249;p21"/>
          <p:cNvGraphicFramePr>
            <a:graphicFrameLocks noGrp="1"/>
          </p:cNvGraphicFramePr>
          <p:nvPr/>
        </p:nvGraphicFramePr>
        <p:xfrm>
          <a:off x="493050" y="644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1655975"/>
                <a:gridCol w="1655975"/>
                <a:gridCol w="1655975"/>
                <a:gridCol w="1655975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50" name="Google Shape;250;p21"/>
          <p:cNvPicPr preferRelativeResize="0"/>
          <p:nvPr/>
        </p:nvPicPr>
        <p:blipFill>
          <a:blip r:embed="rId7">
            <a:alphaModFix/>
          </a:blip>
          <a:srcRect r="2657"/>
          <a:stretch>
            <a:fillRect/>
          </a:stretch>
        </p:blipFill>
        <p:spPr>
          <a:xfrm>
            <a:off x="468000" y="6735047"/>
            <a:ext cx="1563557" cy="1724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1" name="Google Shape;251;p21"/>
          <p:cNvPicPr preferRelativeResize="0"/>
          <p:nvPr/>
        </p:nvPicPr>
        <p:blipFill>
          <a:blip r:embed="rId11">
            <a:alphaModFix/>
          </a:blip>
          <a:srcRect r="10984"/>
          <a:stretch>
            <a:fillRect/>
          </a:stretch>
        </p:blipFill>
        <p:spPr>
          <a:xfrm>
            <a:off x="3759158" y="6725100"/>
            <a:ext cx="1524871" cy="17444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2" name="Google Shape;252;p21"/>
          <p:cNvPicPr preferRelativeResize="0"/>
          <p:nvPr/>
        </p:nvPicPr>
        <p:blipFill>
          <a:blip r:embed="rId12">
            <a:alphaModFix/>
          </a:blip>
          <a:srcRect r="23165"/>
          <a:stretch>
            <a:fillRect/>
          </a:stretch>
        </p:blipFill>
        <p:spPr>
          <a:xfrm>
            <a:off x="468000" y="6725100"/>
            <a:ext cx="1563560" cy="172455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3" name="Google Shape;253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83216" y="6725100"/>
            <a:ext cx="1544372" cy="172395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4" name="Google Shape;254;p21"/>
          <p:cNvPicPr preferRelativeResize="0"/>
          <p:nvPr/>
        </p:nvPicPr>
        <p:blipFill>
          <a:blip r:embed="rId14">
            <a:alphaModFix/>
          </a:blip>
          <a:srcRect r="32405"/>
          <a:stretch>
            <a:fillRect/>
          </a:stretch>
        </p:blipFill>
        <p:spPr>
          <a:xfrm>
            <a:off x="2130744" y="6725100"/>
            <a:ext cx="1544375" cy="17444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55" name="Google Shape;255;p21"/>
          <p:cNvGraphicFramePr>
            <a:graphicFrameLocks noGrp="1"/>
          </p:cNvGraphicFramePr>
          <p:nvPr/>
        </p:nvGraphicFramePr>
        <p:xfrm>
          <a:off x="468000" y="874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785700"/>
                <a:gridCol w="785700"/>
              </a:tblGrid>
              <a:tr h="268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9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Google Shape;256;p21"/>
          <p:cNvGraphicFramePr>
            <a:graphicFrameLocks noGrp="1"/>
          </p:cNvGraphicFramePr>
          <p:nvPr/>
        </p:nvGraphicFramePr>
        <p:xfrm>
          <a:off x="2121765" y="87399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781775"/>
                <a:gridCol w="781775"/>
              </a:tblGrid>
              <a:tr h="309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8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7" name="Google Shape;257;p21"/>
          <p:cNvGraphicFramePr>
            <a:graphicFrameLocks noGrp="1"/>
          </p:cNvGraphicFramePr>
          <p:nvPr/>
        </p:nvGraphicFramePr>
        <p:xfrm>
          <a:off x="3758000" y="874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785700"/>
                <a:gridCol w="785700"/>
              </a:tblGrid>
              <a:tr h="335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21"/>
          <p:cNvGraphicFramePr>
            <a:graphicFrameLocks noGrp="1"/>
          </p:cNvGraphicFramePr>
          <p:nvPr/>
        </p:nvGraphicFramePr>
        <p:xfrm>
          <a:off x="5383225" y="874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{43002024-F60A-4C2C-BC6D-EB2205EDD6CE}</a:tableStyleId>
              </a:tblPr>
              <a:tblGrid>
                <a:gridCol w="776050"/>
                <a:gridCol w="776050"/>
              </a:tblGrid>
              <a:tr h="350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7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59" name="Google Shape;259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92600" y="9062689"/>
            <a:ext cx="112412" cy="3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204000" y="9095428"/>
            <a:ext cx="111678" cy="3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&lt;math xmlns=&quot;http://www.w3.org/1998/Math/MathML&quot; display=&quot;block&quot; data-is-equatio=&quot;1&quot; data-latex=&quot;\frac{4}{3}&quot;&gt;&lt;mfrac&gt;&lt;mn&gt;4&lt;/mn&gt;&lt;mn&gt;3&lt;/mn&gt;&lt;/mfrac&gt;&lt;/math&gt;" title="four thirds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03740" y="9122290"/>
            <a:ext cx="111600" cy="34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Positive rate of change from a graph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2024-01-08T16:48:47.804</cp:lastPrinted>
  <dcterms:created xsi:type="dcterms:W3CDTF">2024-01-08T16:48:47Z</dcterms:created>
  <dcterms:modified xsi:type="dcterms:W3CDTF">2024-01-08T16:49:14Z</dcterms:modified>
</cp:coreProperties>
</file>