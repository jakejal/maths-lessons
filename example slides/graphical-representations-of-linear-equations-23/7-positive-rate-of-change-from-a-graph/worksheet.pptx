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0244974-BCF6-4FA1-B3A2-374B4E09F28A}">
  <a:tblStyle styleId="{50244974-BCF6-4FA1-B3A2-374B4E09F28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2" name="Shape 182"/>
        <p:cNvGrpSpPr/>
        <p:nvPr/>
      </p:nvGrpSpPr>
      <p:grpSpPr>
        <a:xfrm>
          <a:off x="0" y="0"/>
          <a:ext cx="0" cy="0"/>
        </a:xfrm>
      </p:grpSpPr>
      <p:sp>
        <p:nvSpPr>
          <p:cNvPr id="183" name="Google Shape;183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10" Type="http://schemas.openxmlformats.org/officeDocument/2006/relationships/image" Target="../media/image14.png" /><Relationship Id="rId11" Type="http://schemas.openxmlformats.org/officeDocument/2006/relationships/image" Target="../media/image15.png" /><Relationship Id="rId12" Type="http://schemas.openxmlformats.org/officeDocument/2006/relationships/image" Target="../media/image16.png" /><Relationship Id="rId13" Type="http://schemas.openxmlformats.org/officeDocument/2006/relationships/image" Target="../media/image17.png" /><Relationship Id="rId14" Type="http://schemas.openxmlformats.org/officeDocument/2006/relationships/image" Target="../media/image18.png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Relationship Id="rId6" Type="http://schemas.openxmlformats.org/officeDocument/2006/relationships/image" Target="../media/image10.png" /><Relationship Id="rId7" Type="http://schemas.openxmlformats.org/officeDocument/2006/relationships/image" Target="../media/image11.png" /><Relationship Id="rId8" Type="http://schemas.openxmlformats.org/officeDocument/2006/relationships/image" Target="../media/image12.png" /><Relationship Id="rId9" Type="http://schemas.openxmlformats.org/officeDocument/2006/relationships/image" Target="../media/image13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pic>
        <p:nvPicPr>
          <p:cNvPr id="159" name="Google Shape;15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750" y="2618838"/>
            <a:ext cx="6610499" cy="1680833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Positive rate of change from a graph</a:t>
            </a:r>
            <a:endParaRPr/>
          </a:p>
        </p:txBody>
      </p:sp>
      <p:sp>
        <p:nvSpPr>
          <p:cNvPr id="161" name="Google Shape;16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2" name="Google Shape;162;p20"/>
          <p:cNvSpPr txBox="1"/>
          <p:nvPr/>
        </p:nvSpPr>
        <p:spPr>
          <a:xfrm>
            <a:off x="468000" y="1701375"/>
            <a:ext cx="6624000" cy="3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Put these steps in order from steepest to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gentlest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1409031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Defining gradient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68000" y="4360225"/>
            <a:ext cx="48885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Draw staircase H so it is the steepest staircase.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468000" y="4828025"/>
            <a:ext cx="48885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Another set of steps join point P to point Q. Where would these steps go in order of steepness?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6" name="Google Shape;166;p20"/>
          <p:cNvGraphicFramePr>
            <a:graphicFrameLocks noGrp="1"/>
          </p:cNvGraphicFramePr>
          <p:nvPr/>
        </p:nvGraphicFramePr>
        <p:xfrm>
          <a:off x="5356500" y="4828025"/>
          <a:ext cx="1400000" cy="1066800"/>
        </p:xfrm>
        <a:graphic>
          <a:graphicData uri="http://schemas.openxmlformats.org/drawingml/2006/table">
            <a:tbl>
              <a:tblPr>
                <a:noFill/>
                <a:tableStyleId>{50244974-BCF6-4FA1-B3A2-374B4E09F28A}</a:tableStyleId>
              </a:tblPr>
              <a:tblGrid>
                <a:gridCol w="200000"/>
                <a:gridCol w="200000"/>
                <a:gridCol w="200000"/>
                <a:gridCol w="200000"/>
                <a:gridCol w="200000"/>
                <a:gridCol w="200000"/>
                <a:gridCol w="200000"/>
              </a:tblGrid>
              <a:tr h="145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/>
                </a:tc>
              </a:tr>
              <a:tr h="145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/>
                </a:tc>
              </a:tr>
              <a:tr h="145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/>
                </a:tc>
              </a:tr>
              <a:tr h="145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/>
                </a:tc>
              </a:tr>
              <a:tr h="145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167" name="Google Shape;167;p20"/>
          <p:cNvSpPr/>
          <p:nvPr/>
        </p:nvSpPr>
        <p:spPr>
          <a:xfrm>
            <a:off x="6296648" y="4828025"/>
            <a:ext cx="499500" cy="3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× Q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/>
          <p:nvPr/>
        </p:nvSpPr>
        <p:spPr>
          <a:xfrm>
            <a:off x="5503296" y="5603525"/>
            <a:ext cx="434400" cy="3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× P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456225" y="5992625"/>
            <a:ext cx="42480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Which lines have a positive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gradient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0" name="Google Shape;17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725" y="6319925"/>
            <a:ext cx="2500200" cy="1834268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71" name="Google Shape;171;p20"/>
          <p:cNvSpPr txBox="1"/>
          <p:nvPr/>
        </p:nvSpPr>
        <p:spPr>
          <a:xfrm>
            <a:off x="3780000" y="5992625"/>
            <a:ext cx="33120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 Which tables of values show a relationship which will have positive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gradient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when plotted?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2" name="Google Shape;172;p20"/>
          <p:cNvGraphicFramePr>
            <a:graphicFrameLocks noGrp="1"/>
          </p:cNvGraphicFramePr>
          <p:nvPr/>
        </p:nvGraphicFramePr>
        <p:xfrm>
          <a:off x="4130711" y="6770575"/>
          <a:ext cx="2963750" cy="374250"/>
        </p:xfrm>
        <a:graphic>
          <a:graphicData uri="http://schemas.openxmlformats.org/drawingml/2006/table">
            <a:tbl>
              <a:tblPr>
                <a:noFill/>
                <a:tableStyleId>{50244974-BCF6-4FA1-B3A2-374B4E09F28A}</a:tableStyleId>
              </a:tblPr>
              <a:tblGrid>
                <a:gridCol w="592750"/>
                <a:gridCol w="592750"/>
                <a:gridCol w="592750"/>
                <a:gridCol w="592750"/>
                <a:gridCol w="592750"/>
              </a:tblGrid>
              <a:tr h="1871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871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73" name="Google Shape;173;p20"/>
          <p:cNvGraphicFramePr>
            <a:graphicFrameLocks noGrp="1"/>
          </p:cNvGraphicFramePr>
          <p:nvPr/>
        </p:nvGraphicFramePr>
        <p:xfrm>
          <a:off x="4130711" y="8736144"/>
          <a:ext cx="2963750" cy="374300"/>
        </p:xfrm>
        <a:graphic>
          <a:graphicData uri="http://schemas.openxmlformats.org/drawingml/2006/table">
            <a:tbl>
              <a:tblPr>
                <a:noFill/>
                <a:tableStyleId>{50244974-BCF6-4FA1-B3A2-374B4E09F28A}</a:tableStyleId>
              </a:tblPr>
              <a:tblGrid>
                <a:gridCol w="592750"/>
                <a:gridCol w="592750"/>
                <a:gridCol w="592750"/>
                <a:gridCol w="592750"/>
                <a:gridCol w="592750"/>
              </a:tblGrid>
              <a:tr h="187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87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74" name="Google Shape;174;p20"/>
          <p:cNvGraphicFramePr>
            <a:graphicFrameLocks noGrp="1"/>
          </p:cNvGraphicFramePr>
          <p:nvPr/>
        </p:nvGraphicFramePr>
        <p:xfrm>
          <a:off x="4130711" y="7740154"/>
          <a:ext cx="2963750" cy="374300"/>
        </p:xfrm>
        <a:graphic>
          <a:graphicData uri="http://schemas.openxmlformats.org/drawingml/2006/table">
            <a:tbl>
              <a:tblPr>
                <a:noFill/>
                <a:tableStyleId>{50244974-BCF6-4FA1-B3A2-374B4E09F28A}</a:tableStyleId>
              </a:tblPr>
              <a:tblGrid>
                <a:gridCol w="592750"/>
                <a:gridCol w="592750"/>
                <a:gridCol w="592750"/>
                <a:gridCol w="592750"/>
                <a:gridCol w="592750"/>
              </a:tblGrid>
              <a:tr h="187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87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75" name="Google Shape;175;p20"/>
          <p:cNvSpPr/>
          <p:nvPr/>
        </p:nvSpPr>
        <p:spPr>
          <a:xfrm>
            <a:off x="612314" y="7633988"/>
            <a:ext cx="222600" cy="2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474725" y="7020605"/>
            <a:ext cx="222600" cy="2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510438" y="6519603"/>
            <a:ext cx="222600" cy="2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/>
          </a:p>
        </p:txBody>
      </p:sp>
      <p:sp>
        <p:nvSpPr>
          <p:cNvPr id="178" name="Google Shape;178;p20"/>
          <p:cNvSpPr/>
          <p:nvPr/>
        </p:nvSpPr>
        <p:spPr>
          <a:xfrm>
            <a:off x="1541319" y="6319925"/>
            <a:ext cx="222600" cy="2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200"/>
          </a:p>
        </p:txBody>
      </p:sp>
      <p:sp>
        <p:nvSpPr>
          <p:cNvPr id="179" name="Google Shape;179;p20"/>
          <p:cNvSpPr/>
          <p:nvPr/>
        </p:nvSpPr>
        <p:spPr>
          <a:xfrm>
            <a:off x="2213127" y="6319925"/>
            <a:ext cx="222600" cy="2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200"/>
          </a:p>
        </p:txBody>
      </p:sp>
      <p:graphicFrame>
        <p:nvGraphicFramePr>
          <p:cNvPr id="180" name="Google Shape;180;p20"/>
          <p:cNvGraphicFramePr>
            <a:graphicFrameLocks noGrp="1"/>
          </p:cNvGraphicFramePr>
          <p:nvPr/>
        </p:nvGraphicFramePr>
        <p:xfrm>
          <a:off x="3780000" y="6679025"/>
          <a:ext cx="617525" cy="2941950"/>
        </p:xfrm>
        <a:graphic>
          <a:graphicData uri="http://schemas.openxmlformats.org/drawingml/2006/table">
            <a:tbl>
              <a:tblPr>
                <a:noFill/>
                <a:tableStyleId>{50244974-BCF6-4FA1-B3A2-374B4E09F28A}</a:tableStyleId>
              </a:tblPr>
              <a:tblGrid>
                <a:gridCol w="617525"/>
              </a:tblGrid>
              <a:tr h="9806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806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806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cxnSp>
        <p:nvCxnSpPr>
          <p:cNvPr id="181" name="Google Shape;181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5" name="Shape 185"/>
        <p:cNvGrpSpPr/>
        <p:nvPr/>
      </p:nvGrpSpPr>
      <p:grpSpPr>
        <a:xfrm>
          <a:off x="0" y="0"/>
          <a:ext cx="0" cy="0"/>
        </a:xfrm>
      </p:grpSpPr>
      <p:sp>
        <p:nvSpPr>
          <p:cNvPr id="186" name="Google Shape;186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87" name="Google Shape;187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Positive rate of change from a graph</a:t>
            </a:r>
            <a:endParaRPr/>
          </a:p>
        </p:txBody>
      </p:sp>
      <p:sp>
        <p:nvSpPr>
          <p:cNvPr id="188" name="Google Shape;188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1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90" name="Google Shape;190;p21"/>
          <p:cNvSpPr txBox="1"/>
          <p:nvPr/>
        </p:nvSpPr>
        <p:spPr>
          <a:xfrm>
            <a:off x="468000" y="720000"/>
            <a:ext cx="6624000" cy="7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Calculating positive gradients from graphs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1"/>
          <p:cNvSpPr txBox="1"/>
          <p:nvPr/>
        </p:nvSpPr>
        <p:spPr>
          <a:xfrm>
            <a:off x="468000" y="1057200"/>
            <a:ext cx="6624000" cy="3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Find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gradient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each line You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can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draw a ratio table to help you.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2" name="Google Shape;19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075" y="1710219"/>
            <a:ext cx="1552104" cy="1733199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93" name="Google Shape;193;p21"/>
          <p:cNvPicPr preferRelativeResize="0"/>
          <p:nvPr/>
        </p:nvPicPr>
        <p:blipFill>
          <a:blip r:embed="rId4">
            <a:alphaModFix/>
          </a:blip>
          <a:srcRect b="20413"/>
          <a:stretch>
            <a:fillRect/>
          </a:stretch>
        </p:blipFill>
        <p:spPr>
          <a:xfrm>
            <a:off x="2128461" y="1710229"/>
            <a:ext cx="1552100" cy="173319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94" name="Google Shape;194;p21"/>
          <p:cNvPicPr preferRelativeResize="0"/>
          <p:nvPr/>
        </p:nvPicPr>
        <p:blipFill>
          <a:blip r:embed="rId5">
            <a:alphaModFix/>
          </a:blip>
          <a:srcRect r="3362" b="1244"/>
          <a:stretch>
            <a:fillRect/>
          </a:stretch>
        </p:blipFill>
        <p:spPr>
          <a:xfrm>
            <a:off x="3763824" y="1710229"/>
            <a:ext cx="1552099" cy="1733191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95" name="Google Shape;195;p21"/>
          <p:cNvPicPr preferRelativeResize="0"/>
          <p:nvPr/>
        </p:nvPicPr>
        <p:blipFill>
          <a:blip r:embed="rId6">
            <a:alphaModFix/>
          </a:blip>
          <a:srcRect b="2818"/>
          <a:stretch>
            <a:fillRect/>
          </a:stretch>
        </p:blipFill>
        <p:spPr>
          <a:xfrm>
            <a:off x="5399206" y="1710229"/>
            <a:ext cx="1552119" cy="173319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graphicFrame>
        <p:nvGraphicFramePr>
          <p:cNvPr id="196" name="Google Shape;196;p21"/>
          <p:cNvGraphicFramePr>
            <a:graphicFrameLocks noGrp="1"/>
          </p:cNvGraphicFramePr>
          <p:nvPr/>
        </p:nvGraphicFramePr>
        <p:xfrm>
          <a:off x="468000" y="1426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{50244974-BCF6-4FA1-B3A2-374B4E09F28A}</a:tableStyleId>
              </a:tblPr>
              <a:tblGrid>
                <a:gridCol w="1656000"/>
                <a:gridCol w="1656000"/>
                <a:gridCol w="1656000"/>
                <a:gridCol w="1656000"/>
              </a:tblGrid>
              <a:tr h="263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97" name="Google Shape;197;p21"/>
          <p:cNvGraphicFramePr>
            <a:graphicFrameLocks noGrp="1"/>
          </p:cNvGraphicFramePr>
          <p:nvPr/>
        </p:nvGraphicFramePr>
        <p:xfrm>
          <a:off x="493050" y="38415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{50244974-BCF6-4FA1-B3A2-374B4E09F28A}</a:tableStyleId>
              </a:tblPr>
              <a:tblGrid>
                <a:gridCol w="1655975"/>
                <a:gridCol w="1655975"/>
                <a:gridCol w="1655975"/>
                <a:gridCol w="1655975"/>
              </a:tblGrid>
              <a:tr h="263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198" name="Google Shape;198;p21"/>
          <p:cNvPicPr preferRelativeResize="0"/>
          <p:nvPr/>
        </p:nvPicPr>
        <p:blipFill>
          <a:blip r:embed="rId7">
            <a:alphaModFix/>
          </a:blip>
          <a:srcRect r="2657"/>
          <a:stretch>
            <a:fillRect/>
          </a:stretch>
        </p:blipFill>
        <p:spPr>
          <a:xfrm>
            <a:off x="468000" y="4124069"/>
            <a:ext cx="1571393" cy="1733199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99" name="Google Shape;199;p21"/>
          <p:cNvPicPr preferRelativeResize="0"/>
          <p:nvPr/>
        </p:nvPicPr>
        <p:blipFill>
          <a:blip r:embed="rId8">
            <a:alphaModFix/>
          </a:blip>
          <a:srcRect r="11707"/>
          <a:stretch>
            <a:fillRect/>
          </a:stretch>
        </p:blipFill>
        <p:spPr>
          <a:xfrm>
            <a:off x="2122646" y="4124069"/>
            <a:ext cx="1552111" cy="1733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graphicFrame>
        <p:nvGraphicFramePr>
          <p:cNvPr id="200" name="Google Shape;200;p21"/>
          <p:cNvGraphicFramePr>
            <a:graphicFrameLocks noGrp="1"/>
          </p:cNvGraphicFramePr>
          <p:nvPr/>
        </p:nvGraphicFramePr>
        <p:xfrm>
          <a:off x="3763825" y="381645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{50244974-BCF6-4FA1-B3A2-374B4E09F28A}</a:tableStyleId>
              </a:tblPr>
              <a:tblGrid>
                <a:gridCol w="1696925"/>
                <a:gridCol w="1696925"/>
              </a:tblGrid>
              <a:tr h="263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201" name="Google Shape;201;p21"/>
          <p:cNvPicPr preferRelativeResize="0"/>
          <p:nvPr/>
        </p:nvPicPr>
        <p:blipFill>
          <a:blip r:embed="rId9">
            <a:alphaModFix/>
          </a:blip>
          <a:srcRect b="4879"/>
          <a:stretch>
            <a:fillRect/>
          </a:stretch>
        </p:blipFill>
        <p:spPr>
          <a:xfrm>
            <a:off x="5412650" y="4115500"/>
            <a:ext cx="1552101" cy="1733198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02" name="Google Shape;202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758000" y="4114007"/>
            <a:ext cx="1571400" cy="1744412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graphicFrame>
        <p:nvGraphicFramePr>
          <p:cNvPr id="203" name="Google Shape;203;p21"/>
          <p:cNvGraphicFramePr>
            <a:graphicFrameLocks noGrp="1"/>
          </p:cNvGraphicFramePr>
          <p:nvPr/>
        </p:nvGraphicFramePr>
        <p:xfrm>
          <a:off x="493050" y="6446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{50244974-BCF6-4FA1-B3A2-374B4E09F28A}</a:tableStyleId>
              </a:tblPr>
              <a:tblGrid>
                <a:gridCol w="1655975"/>
                <a:gridCol w="1655975"/>
                <a:gridCol w="1655975"/>
                <a:gridCol w="1655975"/>
              </a:tblGrid>
              <a:tr h="263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j)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k)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204" name="Google Shape;204;p21"/>
          <p:cNvPicPr preferRelativeResize="0"/>
          <p:nvPr/>
        </p:nvPicPr>
        <p:blipFill>
          <a:blip r:embed="rId7">
            <a:alphaModFix/>
          </a:blip>
          <a:srcRect r="2657"/>
          <a:stretch>
            <a:fillRect/>
          </a:stretch>
        </p:blipFill>
        <p:spPr>
          <a:xfrm>
            <a:off x="468000" y="6735047"/>
            <a:ext cx="1563557" cy="172455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05" name="Google Shape;205;p21"/>
          <p:cNvPicPr preferRelativeResize="0"/>
          <p:nvPr/>
        </p:nvPicPr>
        <p:blipFill>
          <a:blip r:embed="rId11">
            <a:alphaModFix/>
          </a:blip>
          <a:srcRect r="10984"/>
          <a:stretch>
            <a:fillRect/>
          </a:stretch>
        </p:blipFill>
        <p:spPr>
          <a:xfrm>
            <a:off x="3759158" y="6725100"/>
            <a:ext cx="1524871" cy="1744424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06" name="Google Shape;206;p21"/>
          <p:cNvPicPr preferRelativeResize="0"/>
          <p:nvPr/>
        </p:nvPicPr>
        <p:blipFill>
          <a:blip r:embed="rId12">
            <a:alphaModFix/>
          </a:blip>
          <a:srcRect r="23165"/>
          <a:stretch>
            <a:fillRect/>
          </a:stretch>
        </p:blipFill>
        <p:spPr>
          <a:xfrm>
            <a:off x="468000" y="6725100"/>
            <a:ext cx="1563560" cy="1724551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07" name="Google Shape;207;p2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383216" y="6725100"/>
            <a:ext cx="1544372" cy="1723952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08" name="Google Shape;208;p21"/>
          <p:cNvPicPr preferRelativeResize="0"/>
          <p:nvPr/>
        </p:nvPicPr>
        <p:blipFill>
          <a:blip r:embed="rId14">
            <a:alphaModFix/>
          </a:blip>
          <a:srcRect r="32405"/>
          <a:stretch>
            <a:fillRect/>
          </a:stretch>
        </p:blipFill>
        <p:spPr>
          <a:xfrm>
            <a:off x="2130744" y="6725100"/>
            <a:ext cx="1544375" cy="1744425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2.14"/>
  <p:tag name="AS_TITLE" val="Aspose.Slides for .NET Standard 2.0"/>
  <p:tag name="AS_VERSION" val="23.1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22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Times</vt:lpstr>
      <vt:lpstr>simple-light-2</vt:lpstr>
      <vt:lpstr>Positive rate of change from a graph</vt:lpstr>
      <vt:lpstr>PowerPoint Presentation</vt:lpstr>
    </vt:vector>
  </TitlesOfParts>
  <LinksUpToDate>0</LinksUpToDate>
  <SharedDoc>0</SharedDoc>
  <HyperlinksChanged>0</HyperlinksChanged>
  <Application>Aspose.Slides for .NET</Application>
  <AppVersion>23.1200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2024-01-08T16:48:57.266</cp:lastPrinted>
  <dcterms:created xsi:type="dcterms:W3CDTF">2024-01-08T16:48:57Z</dcterms:created>
  <dcterms:modified xsi:type="dcterms:W3CDTF">2024-01-08T16:48:50Z</dcterms:modified>
</cp:coreProperties>
</file>