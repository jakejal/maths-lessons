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0BE5AE-2D76-4F78-9A4B-14624C39280E}">
  <a:tblStyle styleId="{040BE5AE-2D76-4F78-9A4B-14624C3928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a12ef5fb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12ef5fb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83346eb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83346e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8964b6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8964b6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af65a545f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af65a545f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Turn off ‘minor gridlines’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 in ‘Term number (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)’ in the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label box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Change the lower bound of the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to −0.5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 in ‘Term value (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)’ in the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label box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Change the ‘step’ on both axes to 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98964b695e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98964b695e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it is acceptable to plot points, mathematicians prefer to plot crosses for their accuracy.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98964b695e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98964b695e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Remember you can use shift and drag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resize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 axes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8964b695e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8964b695e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8964b695e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98964b695e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8964b695e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8964b695e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8964b695e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8964b695e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98964b695e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98964b695e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98964b695e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98964b695e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98964b695e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98964b695e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8964b695e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8964b695e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98964b695e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98964b695e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98964b695e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8964b695e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98964b695e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8964b695e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98964b695e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98964b695e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98964b695e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98964b695e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98964b695e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98964b695e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98964b695e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98964b695e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98964b695e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98964b695e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8964b695e_0_1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8964b695e_0_1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98964b695e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98964b695e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98964b695e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98964b695e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98964b695e_0_1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98964b695e_0_1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98964b695e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8964b695e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98964b695e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98964b695e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98964b695e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98964b695e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98964b695e_0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98964b695e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9910226a1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9910226a1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9910226a1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9910226a1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9910226a1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9910226a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9910226a1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9910226a1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9910226a1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9910226a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910226a1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910226a1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910226a1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910226a1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70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0.png"/><Relationship Id="rId4" Type="http://schemas.openxmlformats.org/officeDocument/2006/relationships/image" Target="../media/image25.png"/><Relationship Id="rId9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0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40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Relationship Id="rId7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4.png"/><Relationship Id="rId6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8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6.png"/><Relationship Id="rId4" Type="http://schemas.openxmlformats.org/officeDocument/2006/relationships/image" Target="../media/image83.png"/><Relationship Id="rId5" Type="http://schemas.openxmlformats.org/officeDocument/2006/relationships/image" Target="../media/image8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Relationship Id="rId5" Type="http://schemas.openxmlformats.org/officeDocument/2006/relationships/image" Target="../media/image81.png"/><Relationship Id="rId6" Type="http://schemas.openxmlformats.org/officeDocument/2006/relationships/image" Target="../media/image8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0.png"/><Relationship Id="rId4" Type="http://schemas.openxmlformats.org/officeDocument/2006/relationships/image" Target="../media/image69.png"/><Relationship Id="rId5" Type="http://schemas.openxmlformats.org/officeDocument/2006/relationships/image" Target="../media/image88.png"/><Relationship Id="rId6" Type="http://schemas.openxmlformats.org/officeDocument/2006/relationships/image" Target="../media/image9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7.png"/><Relationship Id="rId7" Type="http://schemas.openxmlformats.org/officeDocument/2006/relationships/image" Target="../media/image9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8.png"/><Relationship Id="rId4" Type="http://schemas.openxmlformats.org/officeDocument/2006/relationships/image" Target="../media/image94.png"/><Relationship Id="rId5" Type="http://schemas.openxmlformats.org/officeDocument/2006/relationships/image" Target="../media/image9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9" Type="http://schemas.openxmlformats.org/officeDocument/2006/relationships/image" Target="../media/image103.png"/><Relationship Id="rId5" Type="http://schemas.openxmlformats.org/officeDocument/2006/relationships/image" Target="../media/image93.png"/><Relationship Id="rId6" Type="http://schemas.openxmlformats.org/officeDocument/2006/relationships/image" Target="../media/image97.png"/><Relationship Id="rId7" Type="http://schemas.openxmlformats.org/officeDocument/2006/relationships/image" Target="../media/image96.png"/><Relationship Id="rId8" Type="http://schemas.openxmlformats.org/officeDocument/2006/relationships/image" Target="../media/image69.png"/><Relationship Id="rId10" Type="http://schemas.openxmlformats.org/officeDocument/2006/relationships/image" Target="../media/image10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technology to quickly represent a set of coordinates graphically.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27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arithmetic</a:t>
            </a:r>
            <a:r>
              <a:rPr lang="en-GB">
                <a:highlight>
                  <a:schemeClr val="lt1"/>
                </a:highlight>
              </a:rPr>
              <a:t> (or linear) sequence is a sequence where the difference between successive terms is a constant.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chemeClr val="lt1"/>
                </a:highlight>
              </a:rPr>
              <a:t>Example: 6, 11, 16, 21, … has a constant difference of +5 therefore it is arithmetic (linear).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chemeClr val="lt1"/>
                </a:highlight>
              </a:rPr>
              <a:t>Non-example: 1, 2, 4, 8, … does not have a constant difference therefore it is not arithmetic, it is non-linear.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05442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780" name="Google Shape;780;p69"/>
          <p:cNvSpPr txBox="1"/>
          <p:nvPr/>
        </p:nvSpPr>
        <p:spPr>
          <a:xfrm>
            <a:off x="324000" y="759300"/>
            <a:ext cx="71859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started: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 up a web browser and go 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desmos.com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ind and press the ‘graphing calculator’ button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screen should look like this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630" y="2519635"/>
            <a:ext cx="5187405" cy="23555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0"/>
          <p:cNvSpPr txBox="1"/>
          <p:nvPr>
            <p:ph idx="1" type="body"/>
          </p:nvPr>
        </p:nvSpPr>
        <p:spPr>
          <a:xfrm>
            <a:off x="324000" y="810000"/>
            <a:ext cx="8114700" cy="29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graph settings menu to update the axes.</a:t>
            </a:r>
            <a:endParaRPr/>
          </a:p>
        </p:txBody>
      </p:sp>
      <p:sp>
        <p:nvSpPr>
          <p:cNvPr id="787" name="Google Shape;7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pic>
        <p:nvPicPr>
          <p:cNvPr id="788" name="Google Shape;78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47875"/>
            <a:ext cx="8074573" cy="3437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794" name="Google Shape;794;p71"/>
          <p:cNvSpPr txBox="1"/>
          <p:nvPr>
            <p:ph idx="1" type="body"/>
          </p:nvPr>
        </p:nvSpPr>
        <p:spPr>
          <a:xfrm>
            <a:off x="241700" y="783563"/>
            <a:ext cx="94968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</a:t>
            </a:r>
            <a:r>
              <a:rPr lang="en-GB" sz="1800"/>
              <a:t>e can plot coordinate points and use crosses for greater accuracy.</a:t>
            </a:r>
            <a:endParaRPr sz="1800"/>
          </a:p>
        </p:txBody>
      </p:sp>
      <p:pic>
        <p:nvPicPr>
          <p:cNvPr id="795" name="Google Shape;79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01" y="1384725"/>
            <a:ext cx="7449023" cy="34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01" name="Google Shape;801;p72"/>
          <p:cNvSpPr txBox="1"/>
          <p:nvPr>
            <p:ph idx="1" type="body"/>
          </p:nvPr>
        </p:nvSpPr>
        <p:spPr>
          <a:xfrm>
            <a:off x="324000" y="806375"/>
            <a:ext cx="8465100" cy="11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Let’s plot a graphical representation of the arithmetic sequence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It will be easier to plot all the points using the Desmos table function.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802" name="Google Shape;80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393" y="1620001"/>
            <a:ext cx="6561707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2"/>
          <p:cNvSpPr txBox="1"/>
          <p:nvPr/>
        </p:nvSpPr>
        <p:spPr>
          <a:xfrm>
            <a:off x="7784199" y="689700"/>
            <a:ext cx="108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09" name="Google Shape;809;p73"/>
          <p:cNvSpPr txBox="1"/>
          <p:nvPr>
            <p:ph idx="1" type="body"/>
          </p:nvPr>
        </p:nvSpPr>
        <p:spPr>
          <a:xfrm>
            <a:off x="324000" y="835500"/>
            <a:ext cx="8397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quick, graphical representation of the arithmetic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− 8.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0" name="Google Shape;81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322675"/>
            <a:ext cx="7535299" cy="342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"/>
          <p:cNvSpPr txBox="1"/>
          <p:nvPr>
            <p:ph idx="1" type="body"/>
          </p:nvPr>
        </p:nvSpPr>
        <p:spPr>
          <a:xfrm>
            <a:off x="324000" y="759300"/>
            <a:ext cx="7675500" cy="17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first ten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 the coordinates on desmos, and scale your axis appropriately to show them all.</a:t>
            </a:r>
            <a:endParaRPr/>
          </a:p>
        </p:txBody>
      </p:sp>
      <p:sp>
        <p:nvSpPr>
          <p:cNvPr id="816" name="Google Shape;81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graphicFrame>
        <p:nvGraphicFramePr>
          <p:cNvPr id="817" name="Google Shape;817;p74"/>
          <p:cNvGraphicFramePr/>
          <p:nvPr/>
        </p:nvGraphicFramePr>
        <p:xfrm>
          <a:off x="557198" y="2538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{040BE5AE-2D76-4F78-9A4B-14624C39280E}</a:tableStyleId>
              </a:tblPr>
              <a:tblGrid>
                <a:gridCol w="2379375"/>
                <a:gridCol w="492800"/>
                <a:gridCol w="492800"/>
                <a:gridCol w="492800"/>
                <a:gridCol w="492800"/>
                <a:gridCol w="492800"/>
                <a:gridCol w="492800"/>
                <a:gridCol w="492800"/>
                <a:gridCol w="492800"/>
                <a:gridCol w="492800"/>
                <a:gridCol w="492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graphicFrame>
        <p:nvGraphicFramePr>
          <p:cNvPr id="823" name="Google Shape;823;p75"/>
          <p:cNvGraphicFramePr/>
          <p:nvPr/>
        </p:nvGraphicFramePr>
        <p:xfrm>
          <a:off x="480998" y="862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{040BE5AE-2D76-4F78-9A4B-14624C39280E}</a:tableStyleId>
              </a:tblPr>
              <a:tblGrid>
                <a:gridCol w="2567525"/>
                <a:gridCol w="531775"/>
                <a:gridCol w="531775"/>
                <a:gridCol w="531775"/>
                <a:gridCol w="531775"/>
                <a:gridCol w="531775"/>
                <a:gridCol w="531775"/>
                <a:gridCol w="531775"/>
                <a:gridCol w="531775"/>
                <a:gridCol w="531775"/>
                <a:gridCol w="5317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4" name="Google Shape;82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98" y="1954250"/>
            <a:ext cx="7226849" cy="2967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5" name="Google Shape;825;p75"/>
          <p:cNvSpPr txBox="1"/>
          <p:nvPr>
            <p:ph idx="1" type="body"/>
          </p:nvPr>
        </p:nvSpPr>
        <p:spPr>
          <a:xfrm>
            <a:off x="6648600" y="3883500"/>
            <a:ext cx="11085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40 − 7n</a:t>
            </a:r>
            <a:endParaRPr sz="2000"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31" name="Google Shape;831;p76"/>
          <p:cNvSpPr txBox="1"/>
          <p:nvPr>
            <p:ph idx="1" type="body"/>
          </p:nvPr>
        </p:nvSpPr>
        <p:spPr>
          <a:xfrm>
            <a:off x="324000" y="835500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If we want to plot a series of</a:t>
            </a:r>
            <a:r>
              <a:rPr lang="en-GB" sz="1900"/>
              <a:t> coordinates, the table function is quickest.</a:t>
            </a:r>
            <a:endParaRPr sz="1900"/>
          </a:p>
        </p:txBody>
      </p:sp>
      <p:sp>
        <p:nvSpPr>
          <p:cNvPr id="832" name="Google Shape;832;p76"/>
          <p:cNvSpPr txBox="1"/>
          <p:nvPr>
            <p:ph idx="1" type="body"/>
          </p:nvPr>
        </p:nvSpPr>
        <p:spPr>
          <a:xfrm>
            <a:off x="324000" y="1235025"/>
            <a:ext cx="32418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Sam</a:t>
            </a:r>
            <a:r>
              <a:rPr lang="en-GB" sz="1800"/>
              <a:t>e coordinates plotted far quicker.</a:t>
            </a:r>
            <a:endParaRPr sz="1800"/>
          </a:p>
        </p:txBody>
      </p:sp>
      <p:grpSp>
        <p:nvGrpSpPr>
          <p:cNvPr id="833" name="Google Shape;833;p76"/>
          <p:cNvGrpSpPr/>
          <p:nvPr/>
        </p:nvGrpSpPr>
        <p:grpSpPr>
          <a:xfrm>
            <a:off x="3833075" y="1245300"/>
            <a:ext cx="4609398" cy="3581399"/>
            <a:chOff x="3833075" y="1245300"/>
            <a:chExt cx="4609398" cy="3581399"/>
          </a:xfrm>
        </p:grpSpPr>
        <p:pic>
          <p:nvPicPr>
            <p:cNvPr id="834" name="Google Shape;834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33075" y="1245300"/>
              <a:ext cx="4609398" cy="35813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35" name="Google Shape;835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3322" y="1568625"/>
              <a:ext cx="1040500" cy="1376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6" name="Google Shape;83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3075" y="1240750"/>
            <a:ext cx="4609402" cy="3581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7" name="Google Shape;83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8404" y="1553224"/>
            <a:ext cx="1261175" cy="258692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6"/>
          <p:cNvSpPr txBox="1"/>
          <p:nvPr>
            <p:ph idx="1" type="body"/>
          </p:nvPr>
        </p:nvSpPr>
        <p:spPr>
          <a:xfrm>
            <a:off x="324000" y="1997025"/>
            <a:ext cx="312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are some more</a:t>
            </a:r>
            <a:r>
              <a:rPr lang="en-GB" sz="1800"/>
              <a:t> coordinates that fit this same rule. The rule is…</a:t>
            </a:r>
            <a:endParaRPr sz="1800"/>
          </a:p>
        </p:txBody>
      </p:sp>
      <p:sp>
        <p:nvSpPr>
          <p:cNvPr id="839" name="Google Shape;839;p76"/>
          <p:cNvSpPr txBox="1"/>
          <p:nvPr>
            <p:ph idx="1" type="body"/>
          </p:nvPr>
        </p:nvSpPr>
        <p:spPr>
          <a:xfrm>
            <a:off x="324000" y="3063825"/>
            <a:ext cx="312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</a:t>
            </a:r>
            <a:r>
              <a:rPr lang="en-GB" sz="1800"/>
              <a:t>coordinate is always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times 5 minus 8.</a:t>
            </a:r>
            <a:endParaRPr sz="1800"/>
          </a:p>
        </p:txBody>
      </p:sp>
      <p:sp>
        <p:nvSpPr>
          <p:cNvPr id="840" name="Google Shape;840;p76"/>
          <p:cNvSpPr txBox="1"/>
          <p:nvPr>
            <p:ph idx="1" type="body"/>
          </p:nvPr>
        </p:nvSpPr>
        <p:spPr>
          <a:xfrm>
            <a:off x="1086000" y="4130625"/>
            <a:ext cx="1903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5 −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76"/>
          <p:cNvSpPr txBox="1"/>
          <p:nvPr>
            <p:ph idx="1" type="body"/>
          </p:nvPr>
        </p:nvSpPr>
        <p:spPr>
          <a:xfrm>
            <a:off x="1086000" y="4511625"/>
            <a:ext cx="13608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" name="Google Shape;84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875" y="1240750"/>
            <a:ext cx="4609402" cy="3581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7" name="Google Shape;84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9586" y="1553224"/>
            <a:ext cx="1261175" cy="258692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49" name="Google Shape;849;p77"/>
          <p:cNvSpPr txBox="1"/>
          <p:nvPr>
            <p:ph idx="1" type="body"/>
          </p:nvPr>
        </p:nvSpPr>
        <p:spPr>
          <a:xfrm>
            <a:off x="324000" y="835500"/>
            <a:ext cx="80628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Unlike term numbers for specific sequences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) the variable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can </a:t>
            </a:r>
            <a:r>
              <a:rPr lang="en-GB" sz="2000"/>
              <a:t>have non-integer values.</a:t>
            </a:r>
            <a:endParaRPr sz="2000"/>
          </a:p>
        </p:txBody>
      </p:sp>
      <p:sp>
        <p:nvSpPr>
          <p:cNvPr id="850" name="Google Shape;850;p77"/>
          <p:cNvSpPr txBox="1"/>
          <p:nvPr>
            <p:ph idx="1" type="body"/>
          </p:nvPr>
        </p:nvSpPr>
        <p:spPr>
          <a:xfrm>
            <a:off x="324000" y="1768425"/>
            <a:ext cx="312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 we can plot…</a:t>
            </a:r>
            <a:endParaRPr sz="1900"/>
          </a:p>
        </p:txBody>
      </p:sp>
      <p:grpSp>
        <p:nvGrpSpPr>
          <p:cNvPr id="851" name="Google Shape;851;p77"/>
          <p:cNvGrpSpPr/>
          <p:nvPr/>
        </p:nvGrpSpPr>
        <p:grpSpPr>
          <a:xfrm>
            <a:off x="3758600" y="1245775"/>
            <a:ext cx="4609401" cy="3581399"/>
            <a:chOff x="3758600" y="1245775"/>
            <a:chExt cx="4609401" cy="3581399"/>
          </a:xfrm>
        </p:grpSpPr>
        <p:pic>
          <p:nvPicPr>
            <p:cNvPr id="852" name="Google Shape;852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58600" y="1245775"/>
              <a:ext cx="4609401" cy="35813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53" name="Google Shape;853;p7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60375" y="1589575"/>
              <a:ext cx="1204488" cy="25869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4" name="Google Shape;854;p77"/>
          <p:cNvSpPr txBox="1"/>
          <p:nvPr>
            <p:ph idx="1" type="body"/>
          </p:nvPr>
        </p:nvSpPr>
        <p:spPr>
          <a:xfrm>
            <a:off x="324000" y="2301825"/>
            <a:ext cx="312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Or even</a:t>
            </a:r>
            <a:r>
              <a:rPr lang="en-GB" sz="1900"/>
              <a:t>…</a:t>
            </a:r>
            <a:endParaRPr sz="1900"/>
          </a:p>
        </p:txBody>
      </p:sp>
      <p:pic>
        <p:nvPicPr>
          <p:cNvPr id="855" name="Google Shape;85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7550" y="1248100"/>
            <a:ext cx="4609402" cy="35723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61" name="Google Shape;861;p78"/>
          <p:cNvSpPr txBox="1"/>
          <p:nvPr>
            <p:ph idx="1" type="body"/>
          </p:nvPr>
        </p:nvSpPr>
        <p:spPr>
          <a:xfrm>
            <a:off x="324000" y="835500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plot </a:t>
            </a:r>
            <a:r>
              <a:rPr lang="en-GB" sz="1900"/>
              <a:t>non-integer values </a:t>
            </a:r>
            <a:r>
              <a:rPr lang="en-GB" sz="1900"/>
              <a:t>even faster start a table like this...</a:t>
            </a:r>
            <a:endParaRPr sz="1900"/>
          </a:p>
        </p:txBody>
      </p:sp>
      <p:sp>
        <p:nvSpPr>
          <p:cNvPr id="862" name="Google Shape;862;p78"/>
          <p:cNvSpPr txBox="1"/>
          <p:nvPr>
            <p:ph idx="1" type="body"/>
          </p:nvPr>
        </p:nvSpPr>
        <p:spPr>
          <a:xfrm>
            <a:off x="324000" y="2378025"/>
            <a:ext cx="31266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Leave your cursor here so that this box is flashing.</a:t>
            </a:r>
            <a:endParaRPr sz="1900"/>
          </a:p>
        </p:txBody>
      </p:sp>
      <p:grpSp>
        <p:nvGrpSpPr>
          <p:cNvPr id="863" name="Google Shape;863;p78"/>
          <p:cNvGrpSpPr/>
          <p:nvPr/>
        </p:nvGrpSpPr>
        <p:grpSpPr>
          <a:xfrm>
            <a:off x="3786925" y="1247875"/>
            <a:ext cx="4609399" cy="3572300"/>
            <a:chOff x="3786925" y="1247875"/>
            <a:chExt cx="4609399" cy="3572300"/>
          </a:xfrm>
        </p:grpSpPr>
        <p:pic>
          <p:nvPicPr>
            <p:cNvPr id="864" name="Google Shape;864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86925" y="1247875"/>
              <a:ext cx="4609399" cy="3572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65" name="Google Shape;865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48876" y="1593613"/>
              <a:ext cx="1257975" cy="1498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6" name="Google Shape;866;p78"/>
          <p:cNvSpPr txBox="1"/>
          <p:nvPr>
            <p:ph idx="1" type="body"/>
          </p:nvPr>
        </p:nvSpPr>
        <p:spPr>
          <a:xfrm>
            <a:off x="324000" y="3368625"/>
            <a:ext cx="33687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Press ‘enter’ multiple times.</a:t>
            </a:r>
            <a:endParaRPr sz="1900"/>
          </a:p>
        </p:txBody>
      </p:sp>
      <p:grpSp>
        <p:nvGrpSpPr>
          <p:cNvPr id="867" name="Google Shape;867;p78"/>
          <p:cNvGrpSpPr/>
          <p:nvPr/>
        </p:nvGrpSpPr>
        <p:grpSpPr>
          <a:xfrm>
            <a:off x="3450600" y="2723452"/>
            <a:ext cx="872085" cy="352200"/>
            <a:chOff x="3820067" y="998448"/>
            <a:chExt cx="872085" cy="352200"/>
          </a:xfrm>
        </p:grpSpPr>
        <p:cxnSp>
          <p:nvCxnSpPr>
            <p:cNvPr id="868" name="Google Shape;868;p78"/>
            <p:cNvCxnSpPr>
              <a:stCxn id="862" idx="3"/>
              <a:endCxn id="869" idx="2"/>
            </p:cNvCxnSpPr>
            <p:nvPr/>
          </p:nvCxnSpPr>
          <p:spPr>
            <a:xfrm>
              <a:off x="3820067" y="1001770"/>
              <a:ext cx="503100" cy="172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9" name="Google Shape;869;p78"/>
            <p:cNvSpPr/>
            <p:nvPr/>
          </p:nvSpPr>
          <p:spPr>
            <a:xfrm>
              <a:off x="4323153" y="998448"/>
              <a:ext cx="369000" cy="352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75" name="Google Shape;875;p79"/>
          <p:cNvSpPr txBox="1"/>
          <p:nvPr>
            <p:ph idx="1" type="body"/>
          </p:nvPr>
        </p:nvSpPr>
        <p:spPr>
          <a:xfrm>
            <a:off x="324000" y="835500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plot non-integer values even faster start a table like this...</a:t>
            </a:r>
            <a:endParaRPr sz="1900"/>
          </a:p>
        </p:txBody>
      </p:sp>
      <p:sp>
        <p:nvSpPr>
          <p:cNvPr id="876" name="Google Shape;876;p79"/>
          <p:cNvSpPr txBox="1"/>
          <p:nvPr>
            <p:ph idx="1" type="body"/>
          </p:nvPr>
        </p:nvSpPr>
        <p:spPr>
          <a:xfrm>
            <a:off x="324000" y="1311225"/>
            <a:ext cx="33687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In this moment it is better to plot points to see this rule.</a:t>
            </a:r>
            <a:endParaRPr sz="1900"/>
          </a:p>
        </p:txBody>
      </p:sp>
      <p:sp>
        <p:nvSpPr>
          <p:cNvPr id="877" name="Google Shape;877;p79"/>
          <p:cNvSpPr txBox="1"/>
          <p:nvPr>
            <p:ph idx="1" type="body"/>
          </p:nvPr>
        </p:nvSpPr>
        <p:spPr>
          <a:xfrm>
            <a:off x="324000" y="2149425"/>
            <a:ext cx="3368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Change crosses to points by clicking and holding</a:t>
            </a:r>
            <a:r>
              <a:rPr lang="en-GB" sz="1900"/>
              <a:t> </a:t>
            </a:r>
            <a:r>
              <a:rPr lang="en-GB" sz="1900">
                <a:solidFill>
                  <a:schemeClr val="accent4"/>
                </a:solidFill>
              </a:rPr>
              <a:t>here</a:t>
            </a:r>
            <a:r>
              <a:rPr lang="en-GB" sz="1900"/>
              <a:t>.</a:t>
            </a:r>
            <a:endParaRPr sz="1900"/>
          </a:p>
        </p:txBody>
      </p:sp>
      <p:pic>
        <p:nvPicPr>
          <p:cNvPr id="878" name="Google Shape;87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725" y="1236125"/>
            <a:ext cx="4609398" cy="35723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9" name="Google Shape;87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3725" y="1252700"/>
            <a:ext cx="4609402" cy="35557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80" name="Google Shape;880;p79"/>
          <p:cNvGrpSpPr/>
          <p:nvPr/>
        </p:nvGrpSpPr>
        <p:grpSpPr>
          <a:xfrm>
            <a:off x="3669624" y="1534322"/>
            <a:ext cx="957861" cy="869122"/>
            <a:chOff x="3734291" y="998448"/>
            <a:chExt cx="957861" cy="869122"/>
          </a:xfrm>
        </p:grpSpPr>
        <p:cxnSp>
          <p:nvCxnSpPr>
            <p:cNvPr id="881" name="Google Shape;881;p79"/>
            <p:cNvCxnSpPr>
              <a:endCxn id="882" idx="3"/>
            </p:cNvCxnSpPr>
            <p:nvPr/>
          </p:nvCxnSpPr>
          <p:spPr>
            <a:xfrm flipH="1" rot="10800000">
              <a:off x="3734291" y="1299069"/>
              <a:ext cx="642900" cy="568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2" name="Google Shape;882;p79"/>
            <p:cNvSpPr/>
            <p:nvPr/>
          </p:nvSpPr>
          <p:spPr>
            <a:xfrm>
              <a:off x="4323153" y="998448"/>
              <a:ext cx="369000" cy="352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888" name="Google Shape;888;p80"/>
          <p:cNvSpPr txBox="1"/>
          <p:nvPr>
            <p:ph idx="1" type="body"/>
          </p:nvPr>
        </p:nvSpPr>
        <p:spPr>
          <a:xfrm>
            <a:off x="324000" y="835500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if we make the increment smaller than 0.1?</a:t>
            </a:r>
            <a:endParaRPr sz="2000"/>
          </a:p>
        </p:txBody>
      </p:sp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24000" y="1616025"/>
            <a:ext cx="3368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Smaller than 0.05?</a:t>
            </a:r>
            <a:endParaRPr sz="2000"/>
          </a:p>
        </p:txBody>
      </p:sp>
      <p:sp>
        <p:nvSpPr>
          <p:cNvPr id="890" name="Google Shape;890;p80"/>
          <p:cNvSpPr txBox="1"/>
          <p:nvPr>
            <p:ph idx="1" type="body"/>
          </p:nvPr>
        </p:nvSpPr>
        <p:spPr>
          <a:xfrm>
            <a:off x="324000" y="2073225"/>
            <a:ext cx="3368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continue to decrease the steps forever we end up with a straight, solid line.</a:t>
            </a:r>
            <a:endParaRPr sz="2000"/>
          </a:p>
        </p:txBody>
      </p:sp>
      <p:pic>
        <p:nvPicPr>
          <p:cNvPr id="891" name="Google Shape;89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725" y="1236125"/>
            <a:ext cx="4609398" cy="35723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2" name="Google Shape;89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3725" y="1252700"/>
            <a:ext cx="4609402" cy="35557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3" name="Google Shape;89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0" y="1243325"/>
            <a:ext cx="4609398" cy="35723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4" name="Google Shape;894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00" y="1254875"/>
            <a:ext cx="4609402" cy="3572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5" name="Google Shape;895;p80"/>
          <p:cNvSpPr txBox="1"/>
          <p:nvPr>
            <p:ph idx="1" type="body"/>
          </p:nvPr>
        </p:nvSpPr>
        <p:spPr>
          <a:xfrm>
            <a:off x="324000" y="3521025"/>
            <a:ext cx="3045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line is a graphical representation of the rule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01" name="Google Shape;901;p81"/>
          <p:cNvSpPr txBox="1"/>
          <p:nvPr>
            <p:ph idx="1" type="body"/>
          </p:nvPr>
        </p:nvSpPr>
        <p:spPr>
          <a:xfrm>
            <a:off x="257650" y="759450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don’t need a table to plot the infinite points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2" name="Google Shape;9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1239000"/>
            <a:ext cx="7121649" cy="30739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3" name="Google Shape;903;p81"/>
          <p:cNvSpPr txBox="1"/>
          <p:nvPr>
            <p:ph idx="1" type="body"/>
          </p:nvPr>
        </p:nvSpPr>
        <p:spPr>
          <a:xfrm>
            <a:off x="324000" y="1311225"/>
            <a:ext cx="11199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Just type the rule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here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904" name="Google Shape;904;p81"/>
          <p:cNvGrpSpPr/>
          <p:nvPr/>
        </p:nvGrpSpPr>
        <p:grpSpPr>
          <a:xfrm>
            <a:off x="1397750" y="1458125"/>
            <a:ext cx="1431408" cy="352200"/>
            <a:chOff x="3977017" y="998450"/>
            <a:chExt cx="1431408" cy="352200"/>
          </a:xfrm>
        </p:grpSpPr>
        <p:cxnSp>
          <p:nvCxnSpPr>
            <p:cNvPr id="905" name="Google Shape;905;p81"/>
            <p:cNvCxnSpPr/>
            <p:nvPr/>
          </p:nvCxnSpPr>
          <p:spPr>
            <a:xfrm flipH="1" rot="10800000">
              <a:off x="3977017" y="1174525"/>
              <a:ext cx="311700" cy="12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6" name="Google Shape;906;p81"/>
            <p:cNvSpPr/>
            <p:nvPr/>
          </p:nvSpPr>
          <p:spPr>
            <a:xfrm>
              <a:off x="4288525" y="998450"/>
              <a:ext cx="1119900" cy="352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7" name="Google Shape;90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6975" y="1235025"/>
            <a:ext cx="7121649" cy="30739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8" name="Google Shape;908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2100" y="1227975"/>
            <a:ext cx="7121649" cy="30739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9" name="Google Shape;909;p81"/>
          <p:cNvSpPr txBox="1"/>
          <p:nvPr>
            <p:ph idx="1" type="body"/>
          </p:nvPr>
        </p:nvSpPr>
        <p:spPr>
          <a:xfrm>
            <a:off x="324000" y="4538589"/>
            <a:ext cx="8496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Resize your axes to appreciate the</a:t>
            </a:r>
            <a:r>
              <a:rPr lang="en-GB" sz="2000"/>
              <a:t> infinite nature of this rule.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2"/>
          <p:cNvSpPr txBox="1"/>
          <p:nvPr>
            <p:ph idx="1" type="subTitle"/>
          </p:nvPr>
        </p:nvSpPr>
        <p:spPr>
          <a:xfrm>
            <a:off x="980575" y="3881925"/>
            <a:ext cx="7083000" cy="4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generate the whole line of infinite points by just typing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9 − 4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into Desmos.</a:t>
            </a:r>
            <a:endParaRPr sz="2000"/>
          </a:p>
        </p:txBody>
      </p:sp>
      <p:sp>
        <p:nvSpPr>
          <p:cNvPr id="915" name="Google Shape;915;p82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plot a rule like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9 − 4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you have to create a table of values.</a:t>
            </a:r>
            <a:endParaRPr i="1" sz="2000"/>
          </a:p>
        </p:txBody>
      </p:sp>
      <p:sp>
        <p:nvSpPr>
          <p:cNvPr id="916" name="Google Shape;91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17" name="Google Shape;917;p82"/>
          <p:cNvSpPr txBox="1"/>
          <p:nvPr>
            <p:ph idx="1" type="subTitle"/>
          </p:nvPr>
        </p:nvSpPr>
        <p:spPr>
          <a:xfrm>
            <a:off x="980575" y="3196125"/>
            <a:ext cx="7839300" cy="4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 sure to</a:t>
            </a:r>
            <a:r>
              <a:rPr lang="en-GB" sz="2000"/>
              <a:t> make the incremental steps in your table really small.</a:t>
            </a:r>
            <a:endParaRPr sz="2000"/>
          </a:p>
        </p:txBody>
      </p:sp>
      <p:pic>
        <p:nvPicPr>
          <p:cNvPr id="918" name="Google Shape;91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508" y="18218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241" y="402009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pic>
        <p:nvPicPr>
          <p:cNvPr id="925" name="Google Shape;92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0" y="1619999"/>
            <a:ext cx="7430815" cy="317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6" name="Google Shape;926;p83"/>
          <p:cNvSpPr txBox="1"/>
          <p:nvPr>
            <p:ph idx="4294967295" type="subTitle"/>
          </p:nvPr>
        </p:nvSpPr>
        <p:spPr>
          <a:xfrm>
            <a:off x="323990" y="745425"/>
            <a:ext cx="7083000" cy="4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generate the whole line of infinite points by just typing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9 − 4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into Desmos.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4"/>
          <p:cNvSpPr txBox="1"/>
          <p:nvPr>
            <p:ph idx="1" type="body"/>
          </p:nvPr>
        </p:nvSpPr>
        <p:spPr>
          <a:xfrm>
            <a:off x="324000" y="7593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Use the table function in Desmos to generate the </a:t>
            </a:r>
            <a:r>
              <a:rPr lang="en-GB"/>
              <a:t>first</a:t>
            </a:r>
            <a:r>
              <a:rPr lang="en-GB"/>
              <a:t> ten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Once plotted resize your axes so that all ten terms are visible.</a:t>
            </a:r>
            <a:endParaRPr/>
          </a:p>
        </p:txBody>
      </p:sp>
      <p:sp>
        <p:nvSpPr>
          <p:cNvPr id="932" name="Google Shape;932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33" name="Google Shape;933;p84"/>
          <p:cNvSpPr txBox="1"/>
          <p:nvPr>
            <p:ph idx="1" type="body"/>
          </p:nvPr>
        </p:nvSpPr>
        <p:spPr>
          <a:xfrm>
            <a:off x="324000" y="2717435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Use the table function to generate the first ten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2.65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− 17.5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Use your graphical representation to identify the first positive term.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5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Use Desmos to explore if the sequences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− 40</a:t>
            </a:r>
            <a:r>
              <a:rPr lang="en-GB"/>
              <a:t> and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i="1" lang="en-GB"/>
              <a:t> </a:t>
            </a:r>
            <a:r>
              <a:rPr lang="en-GB"/>
              <a:t>share a common term.</a:t>
            </a:r>
            <a:endParaRPr/>
          </a:p>
        </p:txBody>
      </p:sp>
      <p:sp>
        <p:nvSpPr>
          <p:cNvPr id="939" name="Google Shape;93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40" name="Google Shape;940;p85"/>
          <p:cNvSpPr txBox="1"/>
          <p:nvPr>
            <p:ph idx="1" type="body"/>
          </p:nvPr>
        </p:nvSpPr>
        <p:spPr>
          <a:xfrm>
            <a:off x="324000" y="2588100"/>
            <a:ext cx="6855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) Use Desmos to graphically represent the rules and</a:t>
            </a:r>
            <a:r>
              <a:rPr i="1"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3.26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+ 18.7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Identify the quadrant in which they intersect.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6\frac{1}{2}-\frac{1}{4}x&quot;&gt;&lt;mi&gt;y&lt;/mi&gt;&lt;mo&gt;=&lt;/mo&gt;&lt;mn&gt;6&lt;/mn&gt;&lt;mfrac&gt;&lt;mn&gt;1&lt;/mn&gt;&lt;mn&gt;2&lt;/mn&gt;&lt;/mfrac&gt;&lt;mo&gt;−&lt;/mo&gt;&lt;mfrac&gt;&lt;mn&gt;1&lt;/mn&gt;&lt;mn&gt;4&lt;/mn&gt;&lt;/mfrac&gt;&lt;mi&gt;x&lt;/mi&gt;&lt;/math&gt;" id="941" name="Google Shape;941;p85" title="y equals 6 and one half minu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335" y="2442327"/>
            <a:ext cx="1625925" cy="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6"/>
          <p:cNvSpPr txBox="1"/>
          <p:nvPr>
            <p:ph idx="1" type="body"/>
          </p:nvPr>
        </p:nvSpPr>
        <p:spPr>
          <a:xfrm>
            <a:off x="324000" y="759300"/>
            <a:ext cx="8237700" cy="8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1) Use the table function in Desmos to generate the first ten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20 − 4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pic>
        <p:nvPicPr>
          <p:cNvPr id="948" name="Google Shape;94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30" y="1538435"/>
            <a:ext cx="7575291" cy="32772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87"/>
          <p:cNvSpPr txBox="1"/>
          <p:nvPr>
            <p:ph idx="1" type="body"/>
          </p:nvPr>
        </p:nvSpPr>
        <p:spPr>
          <a:xfrm>
            <a:off x="324000" y="759300"/>
            <a:ext cx="8237700" cy="8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Use the table function to generate the first ten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2.65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− 17.5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your graphical representation to identify the first positive term.</a:t>
            </a:r>
            <a:endParaRPr/>
          </a:p>
        </p:txBody>
      </p:sp>
      <p:sp>
        <p:nvSpPr>
          <p:cNvPr id="954" name="Google Shape;95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pic>
        <p:nvPicPr>
          <p:cNvPr id="955" name="Google Shape;95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75" y="2426450"/>
            <a:ext cx="7913073" cy="2383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6" name="Google Shape;956;p87"/>
          <p:cNvSpPr/>
          <p:nvPr/>
        </p:nvSpPr>
        <p:spPr>
          <a:xfrm>
            <a:off x="5870218" y="3215250"/>
            <a:ext cx="369000" cy="352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7"/>
          <p:cNvSpPr txBox="1"/>
          <p:nvPr>
            <p:ph idx="1" type="body"/>
          </p:nvPr>
        </p:nvSpPr>
        <p:spPr>
          <a:xfrm>
            <a:off x="2887200" y="1902300"/>
            <a:ext cx="45720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7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term is the first positive one.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8"/>
          <p:cNvSpPr txBox="1"/>
          <p:nvPr>
            <p:ph idx="1" type="body"/>
          </p:nvPr>
        </p:nvSpPr>
        <p:spPr>
          <a:xfrm>
            <a:off x="324000" y="759300"/>
            <a:ext cx="71352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Use Desmos to explore if the sequences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− 40 </a:t>
            </a:r>
            <a:r>
              <a:rPr lang="en-GB"/>
              <a:t>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56 − 3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/>
              <a:t>share a common term.</a:t>
            </a:r>
            <a:endParaRPr/>
          </a:p>
        </p:txBody>
      </p:sp>
      <p:sp>
        <p:nvSpPr>
          <p:cNvPr id="963" name="Google Shape;963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64" name="Google Shape;964;p88"/>
          <p:cNvSpPr txBox="1"/>
          <p:nvPr>
            <p:ph idx="1" type="body"/>
          </p:nvPr>
        </p:nvSpPr>
        <p:spPr>
          <a:xfrm>
            <a:off x="3801600" y="2207100"/>
            <a:ext cx="49308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Zoom in and click on the shared coordinate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65" name="Google Shape;9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76" y="1926621"/>
            <a:ext cx="3348101" cy="28804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6" name="Google Shape;96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996" y="2651577"/>
            <a:ext cx="2381375" cy="21640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7" name="Google Shape;967;p88"/>
          <p:cNvSpPr txBox="1"/>
          <p:nvPr>
            <p:ph idx="1" type="body"/>
          </p:nvPr>
        </p:nvSpPr>
        <p:spPr>
          <a:xfrm>
            <a:off x="326475" y="1521300"/>
            <a:ext cx="50508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Use the table function to plot multiple terms.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88"/>
          <p:cNvSpPr txBox="1"/>
          <p:nvPr>
            <p:ph idx="1" type="body"/>
          </p:nvPr>
        </p:nvSpPr>
        <p:spPr>
          <a:xfrm>
            <a:off x="3801600" y="2651568"/>
            <a:ext cx="2266800" cy="5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coordinates are in the form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this is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term with a value of 20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88"/>
          <p:cNvSpPr txBox="1"/>
          <p:nvPr>
            <p:ph idx="1" type="body"/>
          </p:nvPr>
        </p:nvSpPr>
        <p:spPr>
          <a:xfrm>
            <a:off x="3801600" y="4470035"/>
            <a:ext cx="22668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 a shared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term.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75" name="Google Shape;975;p89"/>
          <p:cNvSpPr txBox="1"/>
          <p:nvPr>
            <p:ph idx="1" type="body"/>
          </p:nvPr>
        </p:nvSpPr>
        <p:spPr>
          <a:xfrm>
            <a:off x="6293125" y="2359500"/>
            <a:ext cx="25155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intersect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in the second quadrant.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89"/>
          <p:cNvSpPr txBox="1"/>
          <p:nvPr>
            <p:ph idx="1" type="body"/>
          </p:nvPr>
        </p:nvSpPr>
        <p:spPr>
          <a:xfrm>
            <a:off x="324000" y="964825"/>
            <a:ext cx="6663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Use Desmos to graphically represent the rules and</a:t>
            </a:r>
            <a:r>
              <a:rPr i="1"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3.26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+ 18.7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Identify the quadrant in which they intersect.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6\frac{1}{2}-\frac{1}{4}x&quot;&gt;&lt;mi&gt;y&lt;/mi&gt;&lt;mo&gt;=&lt;/mo&gt;&lt;mn&gt;6&lt;/mn&gt;&lt;mfrac&gt;&lt;mn&gt;1&lt;/mn&gt;&lt;mn&gt;2&lt;/mn&gt;&lt;/mfrac&gt;&lt;mo&gt;−&lt;/mo&gt;&lt;mfrac&gt;&lt;mn&gt;1&lt;/mn&gt;&lt;mn&gt;4&lt;/mn&gt;&lt;/mfrac&gt;&lt;mi&gt;x&lt;/mi&gt;&lt;/math&gt;" id="977" name="Google Shape;977;p89" title="y equals 6 and one half minu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335" y="819062"/>
            <a:ext cx="1625925" cy="6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" y="2343150"/>
            <a:ext cx="2456300" cy="15803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9" name="Google Shape;97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7062" y="2331617"/>
            <a:ext cx="3037854" cy="24539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0" name="Google Shape;980;p89"/>
          <p:cNvSpPr/>
          <p:nvPr/>
        </p:nvSpPr>
        <p:spPr>
          <a:xfrm>
            <a:off x="3958213" y="2845783"/>
            <a:ext cx="369000" cy="352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and rules using technology</a:t>
            </a:r>
            <a:endParaRPr/>
          </a:p>
        </p:txBody>
      </p:sp>
      <p:sp>
        <p:nvSpPr>
          <p:cNvPr id="986" name="Google Shape;986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987" name="Google Shape;987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  <p:pic>
        <p:nvPicPr>
          <p:cNvPr id="988" name="Google Shape;98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99188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91"/>
          <p:cNvSpPr txBox="1"/>
          <p:nvPr>
            <p:ph idx="1" type="body"/>
          </p:nvPr>
        </p:nvSpPr>
        <p:spPr>
          <a:xfrm>
            <a:off x="324000" y="759300"/>
            <a:ext cx="82377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of these coordinates fit a rule except one.</a:t>
            </a:r>
            <a:endParaRPr/>
          </a:p>
        </p:txBody>
      </p:sp>
      <p:sp>
        <p:nvSpPr>
          <p:cNvPr id="994" name="Google Shape;99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995" name="Google Shape;995;p91"/>
          <p:cNvSpPr txBox="1"/>
          <p:nvPr>
            <p:ph idx="1" type="body"/>
          </p:nvPr>
        </p:nvSpPr>
        <p:spPr>
          <a:xfrm>
            <a:off x="335533" y="1274140"/>
            <a:ext cx="1004700" cy="24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(1, 2)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(−3, −7)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(3, 5)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</a:t>
            </a:r>
            <a:r>
              <a:rPr lang="en-GB"/>
              <a:t>−1</a:t>
            </a:r>
            <a:r>
              <a:rPr lang="en-GB"/>
              <a:t>, </a:t>
            </a:r>
            <a:r>
              <a:rPr lang="en-GB"/>
              <a:t>−3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(0, </a:t>
            </a:r>
            <a:r>
              <a:rPr lang="en-GB"/>
              <a:t>−1</a:t>
            </a:r>
            <a:r>
              <a:rPr lang="en-GB"/>
              <a:t>)</a:t>
            </a:r>
            <a:endParaRPr/>
          </a:p>
        </p:txBody>
      </p:sp>
      <p:sp>
        <p:nvSpPr>
          <p:cNvPr id="996" name="Google Shape;996;p91"/>
          <p:cNvSpPr txBox="1"/>
          <p:nvPr>
            <p:ph idx="1" type="body"/>
          </p:nvPr>
        </p:nvSpPr>
        <p:spPr>
          <a:xfrm>
            <a:off x="1695600" y="1281175"/>
            <a:ext cx="63333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an axes and plotting by hand would take a long time. Using technology can make us more efficient.</a:t>
            </a:r>
            <a:endParaRPr/>
          </a:p>
        </p:txBody>
      </p:sp>
      <p:sp>
        <p:nvSpPr>
          <p:cNvPr id="997" name="Google Shape;997;p91"/>
          <p:cNvSpPr txBox="1"/>
          <p:nvPr>
            <p:ph idx="1" type="body"/>
          </p:nvPr>
        </p:nvSpPr>
        <p:spPr>
          <a:xfrm>
            <a:off x="1695600" y="2805175"/>
            <a:ext cx="63333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 these coordinates into a table in Desmos and plot them.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Top-tip: Put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-coordinates in order of lowest to highest.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2"/>
          <p:cNvSpPr txBox="1"/>
          <p:nvPr>
            <p:ph idx="1" type="body"/>
          </p:nvPr>
        </p:nvSpPr>
        <p:spPr>
          <a:xfrm>
            <a:off x="324000" y="759300"/>
            <a:ext cx="82377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of these coordinates fit a rule except one.</a:t>
            </a:r>
            <a:endParaRPr/>
          </a:p>
        </p:txBody>
      </p:sp>
      <p:sp>
        <p:nvSpPr>
          <p:cNvPr id="1003" name="Google Shape;100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 b="0" sz="1800"/>
          </a:p>
        </p:txBody>
      </p:sp>
      <p:sp>
        <p:nvSpPr>
          <p:cNvPr id="1004" name="Google Shape;1004;p92"/>
          <p:cNvSpPr txBox="1"/>
          <p:nvPr>
            <p:ph idx="1" type="body"/>
          </p:nvPr>
        </p:nvSpPr>
        <p:spPr>
          <a:xfrm>
            <a:off x="335533" y="1274140"/>
            <a:ext cx="1004700" cy="24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(1, 2)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(−3, −7)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(3, 5)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(−1, −3)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(0, −1)</a:t>
            </a:r>
            <a:endParaRPr/>
          </a:p>
        </p:txBody>
      </p:sp>
      <p:sp>
        <p:nvSpPr>
          <p:cNvPr id="1005" name="Google Shape;1005;p92"/>
          <p:cNvSpPr txBox="1"/>
          <p:nvPr>
            <p:ph idx="1" type="body"/>
          </p:nvPr>
        </p:nvSpPr>
        <p:spPr>
          <a:xfrm>
            <a:off x="1688950" y="1204975"/>
            <a:ext cx="1611600" cy="11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Notice,</a:t>
            </a:r>
            <a:r>
              <a:rPr lang="en-GB" sz="1800"/>
              <a:t>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-coordinates are in order.</a:t>
            </a:r>
            <a:endParaRPr sz="1800"/>
          </a:p>
        </p:txBody>
      </p:sp>
      <p:pic>
        <p:nvPicPr>
          <p:cNvPr id="1006" name="Google Shape;10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21" y="1086300"/>
            <a:ext cx="4239907" cy="3734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7" name="Google Shape;100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795" y="1423105"/>
            <a:ext cx="1166800" cy="2020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8" name="Google Shape;1008;p92"/>
          <p:cNvGrpSpPr/>
          <p:nvPr/>
        </p:nvGrpSpPr>
        <p:grpSpPr>
          <a:xfrm>
            <a:off x="4103341" y="1997775"/>
            <a:ext cx="3245300" cy="720417"/>
            <a:chOff x="3799043" y="-41019"/>
            <a:chExt cx="2929500" cy="1306050"/>
          </a:xfrm>
        </p:grpSpPr>
        <p:cxnSp>
          <p:nvCxnSpPr>
            <p:cNvPr id="1009" name="Google Shape;1009;p92"/>
            <p:cNvCxnSpPr>
              <a:endCxn id="1010" idx="2"/>
            </p:cNvCxnSpPr>
            <p:nvPr/>
          </p:nvCxnSpPr>
          <p:spPr>
            <a:xfrm flipH="1" rot="10800000">
              <a:off x="3799043" y="243231"/>
              <a:ext cx="2647800" cy="1021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0" name="Google Shape;1010;p92"/>
            <p:cNvSpPr/>
            <p:nvPr/>
          </p:nvSpPr>
          <p:spPr>
            <a:xfrm>
              <a:off x="6446843" y="-41019"/>
              <a:ext cx="281700" cy="568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11" name="Google Shape;1011;p92"/>
          <p:cNvCxnSpPr>
            <a:stCxn id="1005" idx="3"/>
          </p:cNvCxnSpPr>
          <p:nvPr/>
        </p:nvCxnSpPr>
        <p:spPr>
          <a:xfrm>
            <a:off x="3300550" y="1775425"/>
            <a:ext cx="1061100" cy="383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92"/>
          <p:cNvSpPr txBox="1"/>
          <p:nvPr>
            <p:ph idx="1" type="body"/>
          </p:nvPr>
        </p:nvSpPr>
        <p:spPr>
          <a:xfrm>
            <a:off x="1688950" y="2576575"/>
            <a:ext cx="2404200" cy="11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his coordinate looks slightly out of line. How can we be sure that’s the one that doesn’t fit the rule?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21" y="1086300"/>
            <a:ext cx="4239907" cy="3734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8" name="Google Shape;101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795" y="1423105"/>
            <a:ext cx="1166800" cy="202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3525" y="1376960"/>
            <a:ext cx="2561424" cy="25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 b="0" sz="1800"/>
          </a:p>
        </p:txBody>
      </p:sp>
      <p:sp>
        <p:nvSpPr>
          <p:cNvPr id="1021" name="Google Shape;1021;p93"/>
          <p:cNvSpPr txBox="1"/>
          <p:nvPr>
            <p:ph idx="1" type="body"/>
          </p:nvPr>
        </p:nvSpPr>
        <p:spPr>
          <a:xfrm>
            <a:off x="324000" y="1204975"/>
            <a:ext cx="24807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Click and hold here.</a:t>
            </a:r>
            <a:endParaRPr sz="2000"/>
          </a:p>
        </p:txBody>
      </p:sp>
      <p:grpSp>
        <p:nvGrpSpPr>
          <p:cNvPr id="1022" name="Google Shape;1022;p93"/>
          <p:cNvGrpSpPr/>
          <p:nvPr/>
        </p:nvGrpSpPr>
        <p:grpSpPr>
          <a:xfrm>
            <a:off x="2804700" y="1354375"/>
            <a:ext cx="2341146" cy="423628"/>
            <a:chOff x="4002472" y="1279140"/>
            <a:chExt cx="2113329" cy="767999"/>
          </a:xfrm>
        </p:grpSpPr>
        <p:cxnSp>
          <p:nvCxnSpPr>
            <p:cNvPr id="1023" name="Google Shape;1023;p93"/>
            <p:cNvCxnSpPr>
              <a:stCxn id="1021" idx="3"/>
              <a:endCxn id="1024" idx="2"/>
            </p:cNvCxnSpPr>
            <p:nvPr/>
          </p:nvCxnSpPr>
          <p:spPr>
            <a:xfrm>
              <a:off x="4002472" y="1279140"/>
              <a:ext cx="1777200" cy="456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4" name="Google Shape;1024;p93"/>
            <p:cNvSpPr/>
            <p:nvPr/>
          </p:nvSpPr>
          <p:spPr>
            <a:xfrm>
              <a:off x="5779802" y="1424639"/>
              <a:ext cx="336000" cy="622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5" name="Google Shape;1025;p93"/>
          <p:cNvSpPr txBox="1"/>
          <p:nvPr>
            <p:ph idx="1" type="body"/>
          </p:nvPr>
        </p:nvSpPr>
        <p:spPr>
          <a:xfrm>
            <a:off x="324000" y="2652775"/>
            <a:ext cx="1881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Turn on</a:t>
            </a:r>
            <a:r>
              <a:rPr lang="en-GB" sz="2000"/>
              <a:t> ‘</a:t>
            </a:r>
            <a:r>
              <a:rPr lang="en-GB" sz="2000"/>
              <a:t>lines</a:t>
            </a:r>
            <a:r>
              <a:rPr lang="en-GB" sz="2000"/>
              <a:t>’.</a:t>
            </a:r>
            <a:endParaRPr sz="2000"/>
          </a:p>
        </p:txBody>
      </p:sp>
      <p:grpSp>
        <p:nvGrpSpPr>
          <p:cNvPr id="1026" name="Google Shape;1026;p93"/>
          <p:cNvGrpSpPr/>
          <p:nvPr/>
        </p:nvGrpSpPr>
        <p:grpSpPr>
          <a:xfrm>
            <a:off x="2205000" y="2802175"/>
            <a:ext cx="4510976" cy="693831"/>
            <a:chOff x="3461129" y="1279140"/>
            <a:chExt cx="4072013" cy="1257851"/>
          </a:xfrm>
        </p:grpSpPr>
        <p:cxnSp>
          <p:nvCxnSpPr>
            <p:cNvPr id="1027" name="Google Shape;1027;p93"/>
            <p:cNvCxnSpPr>
              <a:stCxn id="1025" idx="3"/>
              <a:endCxn id="1028" idx="2"/>
            </p:cNvCxnSpPr>
            <p:nvPr/>
          </p:nvCxnSpPr>
          <p:spPr>
            <a:xfrm>
              <a:off x="3461129" y="1279140"/>
              <a:ext cx="3735900" cy="946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8" name="Google Shape;1028;p93"/>
            <p:cNvSpPr/>
            <p:nvPr/>
          </p:nvSpPr>
          <p:spPr>
            <a:xfrm>
              <a:off x="7197142" y="1914492"/>
              <a:ext cx="336000" cy="622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25" y="1086300"/>
            <a:ext cx="4239899" cy="37340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4" name="Google Shape;103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 b="0" sz="1800"/>
          </a:p>
        </p:txBody>
      </p:sp>
      <p:sp>
        <p:nvSpPr>
          <p:cNvPr id="1035" name="Google Shape;1035;p94"/>
          <p:cNvSpPr txBox="1"/>
          <p:nvPr>
            <p:ph idx="1" type="body"/>
          </p:nvPr>
        </p:nvSpPr>
        <p:spPr>
          <a:xfrm>
            <a:off x="324000" y="1357375"/>
            <a:ext cx="35994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see the moment our linear pattern is broken?</a:t>
            </a:r>
            <a:endParaRPr sz="2000"/>
          </a:p>
        </p:txBody>
      </p:sp>
      <p:cxnSp>
        <p:nvCxnSpPr>
          <p:cNvPr id="1036" name="Google Shape;1036;p94"/>
          <p:cNvCxnSpPr>
            <a:stCxn id="1035" idx="3"/>
          </p:cNvCxnSpPr>
          <p:nvPr/>
        </p:nvCxnSpPr>
        <p:spPr>
          <a:xfrm>
            <a:off x="3923400" y="1702825"/>
            <a:ext cx="3240600" cy="804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94"/>
          <p:cNvSpPr txBox="1"/>
          <p:nvPr>
            <p:ph idx="1" type="body"/>
          </p:nvPr>
        </p:nvSpPr>
        <p:spPr>
          <a:xfrm>
            <a:off x="324000" y="2195575"/>
            <a:ext cx="35994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further test </a:t>
            </a:r>
            <a:r>
              <a:rPr lang="en-GB" sz="2000"/>
              <a:t>(1, 2)</a:t>
            </a:r>
            <a:r>
              <a:rPr lang="en-GB" sz="2000"/>
              <a:t> by removing it from our table and plotting it on it’s own.</a:t>
            </a:r>
            <a:endParaRPr sz="2000"/>
          </a:p>
        </p:txBody>
      </p:sp>
      <p:grpSp>
        <p:nvGrpSpPr>
          <p:cNvPr id="1038" name="Google Shape;1038;p94"/>
          <p:cNvGrpSpPr/>
          <p:nvPr/>
        </p:nvGrpSpPr>
        <p:grpSpPr>
          <a:xfrm>
            <a:off x="4156400" y="1086075"/>
            <a:ext cx="4239899" cy="3734099"/>
            <a:chOff x="4156400" y="1086075"/>
            <a:chExt cx="4239899" cy="3734099"/>
          </a:xfrm>
        </p:grpSpPr>
        <p:pic>
          <p:nvPicPr>
            <p:cNvPr id="1039" name="Google Shape;103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56400" y="1086075"/>
              <a:ext cx="4239899" cy="3734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3725" y="1433008"/>
              <a:ext cx="1547175" cy="2584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1" name="Google Shape;1041;p94"/>
          <p:cNvSpPr txBox="1"/>
          <p:nvPr>
            <p:ph idx="1" type="body"/>
          </p:nvPr>
        </p:nvSpPr>
        <p:spPr>
          <a:xfrm>
            <a:off x="324000" y="3490975"/>
            <a:ext cx="3288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All other points align.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(1, 2) does not fit the rule.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5"/>
          <p:cNvSpPr txBox="1"/>
          <p:nvPr>
            <p:ph idx="1" type="body"/>
          </p:nvPr>
        </p:nvSpPr>
        <p:spPr>
          <a:xfrm>
            <a:off x="324000" y="759300"/>
            <a:ext cx="82377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of these coordinates fit the rule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1.7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− 7.6</a:t>
            </a:r>
            <a:r>
              <a:rPr lang="en-GB"/>
              <a:t> except one.</a:t>
            </a:r>
            <a:endParaRPr/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 b="0" sz="1800"/>
          </a:p>
        </p:txBody>
      </p:sp>
      <p:sp>
        <p:nvSpPr>
          <p:cNvPr id="1048" name="Google Shape;1048;p95"/>
          <p:cNvSpPr txBox="1"/>
          <p:nvPr>
            <p:ph idx="1" type="body"/>
          </p:nvPr>
        </p:nvSpPr>
        <p:spPr>
          <a:xfrm>
            <a:off x="335525" y="1274150"/>
            <a:ext cx="1494000" cy="3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(−3, −12.7)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(−2, −11)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(−1, −9.3)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(0, −7.6)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 −5.3)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 −4.2)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(3, −2.5)</a:t>
            </a:r>
            <a:endParaRPr/>
          </a:p>
        </p:txBody>
      </p:sp>
      <p:sp>
        <p:nvSpPr>
          <p:cNvPr id="1049" name="Google Shape;1049;p95"/>
          <p:cNvSpPr txBox="1"/>
          <p:nvPr>
            <p:ph idx="1" type="body"/>
          </p:nvPr>
        </p:nvSpPr>
        <p:spPr>
          <a:xfrm>
            <a:off x="2069950" y="1281175"/>
            <a:ext cx="6039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</a:t>
            </a:r>
            <a:r>
              <a:rPr lang="en-GB" sz="2000"/>
              <a:t>could</a:t>
            </a:r>
            <a:r>
              <a:rPr lang="en-GB" sz="2000"/>
              <a:t> test using substitution.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95"/>
          <p:cNvSpPr txBox="1"/>
          <p:nvPr>
            <p:ph idx="1" type="body"/>
          </p:nvPr>
        </p:nvSpPr>
        <p:spPr>
          <a:xfrm>
            <a:off x="2069950" y="1814575"/>
            <a:ext cx="6039600" cy="11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1.7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− 7.6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1.7(−3)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− 7.6 = −12.7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first coordinates fits the rule but, to test all of them like this will be time consuming.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6"/>
          <p:cNvSpPr txBox="1"/>
          <p:nvPr>
            <p:ph idx="1" type="body"/>
          </p:nvPr>
        </p:nvSpPr>
        <p:spPr>
          <a:xfrm>
            <a:off x="324000" y="759300"/>
            <a:ext cx="82377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of these coordinates fit the rule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1.7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− 7.6 </a:t>
            </a:r>
            <a:r>
              <a:rPr lang="en-GB"/>
              <a:t>except one.</a:t>
            </a:r>
            <a:endParaRPr/>
          </a:p>
        </p:txBody>
      </p:sp>
      <p:sp>
        <p:nvSpPr>
          <p:cNvPr id="1056" name="Google Shape;105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if points fit a rule</a:t>
            </a:r>
            <a:endParaRPr b="0" sz="1800"/>
          </a:p>
        </p:txBody>
      </p:sp>
      <p:sp>
        <p:nvSpPr>
          <p:cNvPr id="1057" name="Google Shape;1057;p96"/>
          <p:cNvSpPr txBox="1"/>
          <p:nvPr>
            <p:ph idx="1" type="body"/>
          </p:nvPr>
        </p:nvSpPr>
        <p:spPr>
          <a:xfrm>
            <a:off x="335525" y="1274150"/>
            <a:ext cx="1472100" cy="3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(−3, −12.7)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(−2, −11)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(−1, −9.3)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(0, −7.6)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 −5.3)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 −4.2)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(3, −2.5)</a:t>
            </a:r>
            <a:endParaRPr/>
          </a:p>
        </p:txBody>
      </p:sp>
      <p:sp>
        <p:nvSpPr>
          <p:cNvPr id="1058" name="Google Shape;1058;p96"/>
          <p:cNvSpPr txBox="1"/>
          <p:nvPr>
            <p:ph idx="1" type="body"/>
          </p:nvPr>
        </p:nvSpPr>
        <p:spPr>
          <a:xfrm>
            <a:off x="2069950" y="1281175"/>
            <a:ext cx="6039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 the coordinates using the table function in Desmos, then plot the line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1.7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− 7.6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59" name="Google Shape;1059;p96"/>
          <p:cNvGrpSpPr/>
          <p:nvPr/>
        </p:nvGrpSpPr>
        <p:grpSpPr>
          <a:xfrm>
            <a:off x="2102175" y="2079825"/>
            <a:ext cx="3130499" cy="2735800"/>
            <a:chOff x="2102175" y="2079825"/>
            <a:chExt cx="3130499" cy="2735800"/>
          </a:xfrm>
        </p:grpSpPr>
        <p:pic>
          <p:nvPicPr>
            <p:cNvPr id="1060" name="Google Shape;1060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2175" y="2079825"/>
              <a:ext cx="3130499" cy="2735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61" name="Google Shape;106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0625" y="2331900"/>
              <a:ext cx="888934" cy="1988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2" name="Google Shape;1062;p96"/>
          <p:cNvGrpSpPr/>
          <p:nvPr/>
        </p:nvGrpSpPr>
        <p:grpSpPr>
          <a:xfrm>
            <a:off x="2103253" y="2077900"/>
            <a:ext cx="3117015" cy="2735800"/>
            <a:chOff x="4770253" y="2077900"/>
            <a:chExt cx="3117015" cy="2735800"/>
          </a:xfrm>
        </p:grpSpPr>
        <p:pic>
          <p:nvPicPr>
            <p:cNvPr id="1063" name="Google Shape;1063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75475" y="2077900"/>
              <a:ext cx="3111793" cy="2735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64" name="Google Shape;106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80690" y="2331900"/>
              <a:ext cx="888934" cy="19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9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70253" y="4421782"/>
              <a:ext cx="969550" cy="273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6" name="Google Shape;1066;p96"/>
          <p:cNvSpPr txBox="1"/>
          <p:nvPr>
            <p:ph idx="1" type="body"/>
          </p:nvPr>
        </p:nvSpPr>
        <p:spPr>
          <a:xfrm>
            <a:off x="5775799" y="2976100"/>
            <a:ext cx="30441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(1, −5.3) does not fit the rule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1.7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− 7.6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96"/>
          <p:cNvSpPr/>
          <p:nvPr/>
        </p:nvSpPr>
        <p:spPr>
          <a:xfrm>
            <a:off x="4351023" y="3205770"/>
            <a:ext cx="372300" cy="34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97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term is not in the same arithmetic (linear) sequence as the others?</a:t>
            </a:r>
            <a:endParaRPr/>
          </a:p>
        </p:txBody>
      </p:sp>
      <p:sp>
        <p:nvSpPr>
          <p:cNvPr id="1073" name="Google Shape;1073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074" name="Google Shape;1074;p97"/>
          <p:cNvSpPr txBox="1"/>
          <p:nvPr>
            <p:ph idx="1" type="subTitle"/>
          </p:nvPr>
        </p:nvSpPr>
        <p:spPr>
          <a:xfrm>
            <a:off x="1034425" y="1837775"/>
            <a:ext cx="207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1</a:t>
            </a:r>
            <a:r>
              <a:rPr baseline="30000" lang="en-GB"/>
              <a:t>st</a:t>
            </a:r>
            <a:r>
              <a:rPr lang="en-GB"/>
              <a:t> term</a:t>
            </a:r>
            <a:endParaRPr/>
          </a:p>
        </p:txBody>
      </p:sp>
      <p:pic>
        <p:nvPicPr>
          <p:cNvPr id="1075" name="Google Shape;107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681" y="1197605"/>
            <a:ext cx="3120250" cy="356489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6" name="Google Shape;1076;p97"/>
          <p:cNvSpPr txBox="1"/>
          <p:nvPr>
            <p:ph idx="1" type="subTitle"/>
          </p:nvPr>
        </p:nvSpPr>
        <p:spPr>
          <a:xfrm>
            <a:off x="1034425" y="2807574"/>
            <a:ext cx="207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/>
              <a:t>2</a:t>
            </a:r>
            <a:r>
              <a:rPr baseline="30000" lang="en-GB"/>
              <a:t>nd</a:t>
            </a:r>
            <a:r>
              <a:rPr lang="en-GB"/>
              <a:t> term</a:t>
            </a:r>
            <a:endParaRPr/>
          </a:p>
        </p:txBody>
      </p:sp>
      <p:sp>
        <p:nvSpPr>
          <p:cNvPr id="1077" name="Google Shape;1077;p97"/>
          <p:cNvSpPr txBox="1"/>
          <p:nvPr>
            <p:ph idx="1" type="subTitle"/>
          </p:nvPr>
        </p:nvSpPr>
        <p:spPr>
          <a:xfrm>
            <a:off x="1034425" y="3777373"/>
            <a:ext cx="207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/>
              <a:t>3</a:t>
            </a:r>
            <a:r>
              <a:rPr baseline="30000" lang="en-GB"/>
              <a:t>r</a:t>
            </a:r>
            <a:r>
              <a:rPr baseline="30000" lang="en-GB"/>
              <a:t>d</a:t>
            </a:r>
            <a:r>
              <a:rPr lang="en-GB"/>
              <a:t> term</a:t>
            </a:r>
            <a:endParaRPr/>
          </a:p>
        </p:txBody>
      </p:sp>
      <p:pic>
        <p:nvPicPr>
          <p:cNvPr id="1078" name="Google Shape;1078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4308" y="282395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525" y="1197600"/>
            <a:ext cx="3120251" cy="3564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0" name="Google Shape;1080;p97"/>
          <p:cNvSpPr txBox="1"/>
          <p:nvPr>
            <p:ph idx="4294967295" type="body"/>
          </p:nvPr>
        </p:nvSpPr>
        <p:spPr>
          <a:xfrm>
            <a:off x="3298270" y="2869825"/>
            <a:ext cx="18444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 is out of line.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81" name="Google Shape;1081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1225" y="1197600"/>
            <a:ext cx="3120250" cy="3564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98"/>
          <p:cNvSpPr txBox="1"/>
          <p:nvPr>
            <p:ph idx="1" type="body"/>
          </p:nvPr>
        </p:nvSpPr>
        <p:spPr>
          <a:xfrm>
            <a:off x="324000" y="759300"/>
            <a:ext cx="7135200" cy="8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1) </a:t>
            </a:r>
            <a:r>
              <a:rPr lang="en-GB"/>
              <a:t>Use Desmos to find which coordinate does not fit the same rule as the others.</a:t>
            </a:r>
            <a:endParaRPr/>
          </a:p>
        </p:txBody>
      </p:sp>
      <p:sp>
        <p:nvSpPr>
          <p:cNvPr id="1087" name="Google Shape;1087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088" name="Google Shape;1088;p98"/>
          <p:cNvSpPr txBox="1"/>
          <p:nvPr>
            <p:ph idx="4294967295" type="body"/>
          </p:nvPr>
        </p:nvSpPr>
        <p:spPr>
          <a:xfrm>
            <a:off x="4819803" y="1274150"/>
            <a:ext cx="1437000" cy="34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(−5,  23)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(1, 5)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(−1, −11)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(0, 8)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(4, 4)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(−3, 17)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(6, −10)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094" name="Google Shape;1094;p99"/>
          <p:cNvSpPr txBox="1"/>
          <p:nvPr>
            <p:ph idx="4294967295" type="title"/>
          </p:nvPr>
        </p:nvSpPr>
        <p:spPr>
          <a:xfrm>
            <a:off x="324000" y="752337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2) Which coordinates fit the rule    </a:t>
            </a:r>
            <a:r>
              <a:rPr b="0"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lang="en-GB"/>
              <a:t>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y=\frac{7}{4}x-\frac{2}{3}&quot;&gt;&lt;mi&gt;y&lt;/mi&gt;&lt;mo&gt;=&lt;/mo&gt;&lt;mfrac&gt;&lt;mn&gt;7&lt;/mn&gt;&lt;mn&gt;4&lt;/mn&gt;&lt;/mfrac&gt;&lt;mi&gt;x&lt;/mi&gt;&lt;mo&gt;−&lt;/mo&gt;&lt;mfrac&gt;&lt;mn&gt;2&lt;/mn&gt;&lt;mn&gt;3&lt;/mn&gt;&lt;/mfrac&gt;&lt;/math&gt;" id="1095" name="Google Shape;1095;p99" title="y equals seven fourths x minus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200" y="702369"/>
            <a:ext cx="1653650" cy="68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,\frac{17}{6}\right)&quot;&gt;&lt;mrow data-mjx-texclass=&quot;INNER&quot;&gt;&lt;mo data-mjx-texclass=&quot;OPEN&quot;&gt;(&lt;/mo&gt;&lt;mn&gt;2&lt;/mn&gt;&lt;mo&gt;,&lt;/mo&gt;&lt;mfrac&gt;&lt;mn&gt;17&lt;/mn&gt;&lt;mn&gt;6&lt;/mn&gt;&lt;/mfrac&gt;&lt;mo data-mjx-texclass=&quot;CLOSE&quot;&gt;)&lt;/mo&gt;&lt;/mrow&gt;&lt;/math&gt;" id="1096" name="Google Shape;1096;p99" title="open paren 2 comma seventeen sixth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01" y="2263110"/>
            <a:ext cx="976627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2,-\frac{25}{6}\right)&quot;&gt;&lt;mrow data-mjx-texclass=&quot;INNER&quot;&gt;&lt;mo data-mjx-texclass=&quot;OPEN&quot;&gt;(&lt;/mo&gt;&lt;mo&gt;−&lt;/mo&gt;&lt;mn&gt;2&lt;/mn&gt;&lt;mo&gt;,&lt;/mo&gt;&lt;mo&gt;−&lt;/mo&gt;&lt;mfrac&gt;&lt;mn&gt;25&lt;/mn&gt;&lt;mn&gt;6&lt;/mn&gt;&lt;/mfrac&gt;&lt;mo data-mjx-texclass=&quot;CLOSE&quot;&gt;)&lt;/mo&gt;&lt;/mrow&gt;&lt;/math&gt;" id="1097" name="Google Shape;1097;p99" title="open paren negative 2 comma negative 25 over 6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701" y="3084995"/>
            <a:ext cx="1365550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2}{3},2\right)&quot;&gt;&lt;mrow data-mjx-texclass=&quot;INNER&quot;&gt;&lt;mo data-mjx-texclass=&quot;OPEN&quot;&gt;(&lt;/mo&gt;&lt;mfrac&gt;&lt;mn&gt;2&lt;/mn&gt;&lt;mn&gt;3&lt;/mn&gt;&lt;/mfrac&gt;&lt;mo&gt;,&lt;/mo&gt;&lt;mn&gt;2&lt;/mn&gt;&lt;mo data-mjx-texclass=&quot;CLOSE&quot;&gt;)&lt;/mo&gt;&lt;/mrow&gt;&lt;/math&gt;" id="1098" name="Google Shape;1098;p99" title="open paren two thirds comma 2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701" y="3906880"/>
            <a:ext cx="834022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1}{2},\frac{5}{24}\right)&quot;&gt;&lt;mrow data-mjx-texclass=&quot;INNER&quot;&gt;&lt;mo data-mjx-texclass=&quot;OPEN&quot;&gt;(&lt;/mo&gt;&lt;mfrac&gt;&lt;mn&gt;1&lt;/mn&gt;&lt;mn&gt;2&lt;/mn&gt;&lt;/mfrac&gt;&lt;mo&gt;,&lt;/mo&gt;&lt;mfrac&gt;&lt;mn&gt;5&lt;/mn&gt;&lt;mn&gt;24&lt;/mn&gt;&lt;/mfrac&gt;&lt;mo data-mjx-texclass=&quot;CLOSE&quot;&gt;)&lt;/mo&gt;&lt;/mrow&gt;&lt;/math&gt;" id="1099" name="Google Shape;1099;p99" title="open paren one half comma 5 over 2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701" y="1441225"/>
            <a:ext cx="1080340" cy="704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0"/>
          <p:cNvSpPr txBox="1"/>
          <p:nvPr>
            <p:ph idx="1" type="body"/>
          </p:nvPr>
        </p:nvSpPr>
        <p:spPr>
          <a:xfrm>
            <a:off x="324000" y="759300"/>
            <a:ext cx="8237700" cy="28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Use Desmos to graphically </a:t>
            </a:r>
            <a:r>
              <a:rPr lang="en-GB"/>
              <a:t>represent</a:t>
            </a:r>
            <a:r>
              <a:rPr lang="en-GB"/>
              <a:t> the rules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− 13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which of these three coordinates fits both rules.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(5, 7)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(6, 5)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(7, 8)</a:t>
            </a:r>
            <a:endParaRPr/>
          </a:p>
        </p:txBody>
      </p:sp>
      <p:sp>
        <p:nvSpPr>
          <p:cNvPr id="1105" name="Google Shape;110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01"/>
          <p:cNvSpPr txBox="1"/>
          <p:nvPr>
            <p:ph idx="1" type="body"/>
          </p:nvPr>
        </p:nvSpPr>
        <p:spPr>
          <a:xfrm>
            <a:off x="324000" y="759300"/>
            <a:ext cx="71352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Use Desmos to find which coordinate does not fit the same rule as the others.</a:t>
            </a:r>
            <a:endParaRPr/>
          </a:p>
        </p:txBody>
      </p:sp>
      <p:sp>
        <p:nvSpPr>
          <p:cNvPr id="1111" name="Google Shape;1111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112" name="Google Shape;1112;p101"/>
          <p:cNvSpPr txBox="1"/>
          <p:nvPr>
            <p:ph idx="4294967295" type="body"/>
          </p:nvPr>
        </p:nvSpPr>
        <p:spPr>
          <a:xfrm>
            <a:off x="335524" y="1578950"/>
            <a:ext cx="1187400" cy="3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(−5, 23)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(1, 5)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(−1, −11)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(0, 8)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(4, 4)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(−3, 17)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(6, −10)</a:t>
            </a:r>
            <a:endParaRPr sz="1800"/>
          </a:p>
        </p:txBody>
      </p:sp>
      <p:pic>
        <p:nvPicPr>
          <p:cNvPr id="1113" name="Google Shape;111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252" y="1390775"/>
            <a:ext cx="3512872" cy="3406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4" name="Google Shape;1114;p101"/>
          <p:cNvSpPr txBox="1"/>
          <p:nvPr>
            <p:ph idx="1" type="body"/>
          </p:nvPr>
        </p:nvSpPr>
        <p:spPr>
          <a:xfrm>
            <a:off x="1686550" y="1623025"/>
            <a:ext cx="28854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Plot using a table for speed and switch on ‘lines’.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101"/>
          <p:cNvSpPr/>
          <p:nvPr/>
        </p:nvSpPr>
        <p:spPr>
          <a:xfrm>
            <a:off x="7500765" y="3152635"/>
            <a:ext cx="372300" cy="34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101"/>
          <p:cNvSpPr txBox="1"/>
          <p:nvPr>
            <p:ph idx="1" type="body"/>
          </p:nvPr>
        </p:nvSpPr>
        <p:spPr>
          <a:xfrm>
            <a:off x="1686550" y="2766025"/>
            <a:ext cx="28854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 4) looks out of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17" name="Google Shape;1117;p101"/>
          <p:cNvGrpSpPr/>
          <p:nvPr/>
        </p:nvGrpSpPr>
        <p:grpSpPr>
          <a:xfrm>
            <a:off x="4876525" y="1367710"/>
            <a:ext cx="3494599" cy="3447302"/>
            <a:chOff x="4952725" y="1367710"/>
            <a:chExt cx="3494599" cy="3447302"/>
          </a:xfrm>
        </p:grpSpPr>
        <p:pic>
          <p:nvPicPr>
            <p:cNvPr id="1118" name="Google Shape;11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2725" y="1367710"/>
              <a:ext cx="3494599" cy="344730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19" name="Google Shape;1119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69047" y="1632325"/>
              <a:ext cx="1084650" cy="2597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0" name="Google Shape;1120;p101"/>
          <p:cNvSpPr txBox="1"/>
          <p:nvPr>
            <p:ph idx="1" type="body"/>
          </p:nvPr>
        </p:nvSpPr>
        <p:spPr>
          <a:xfrm>
            <a:off x="1686550" y="3375625"/>
            <a:ext cx="25827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Plot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it separately to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confirm that it does not fit the same rule.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126" name="Google Shape;1126;p102"/>
          <p:cNvSpPr txBox="1"/>
          <p:nvPr>
            <p:ph idx="4294967295" type="title"/>
          </p:nvPr>
        </p:nvSpPr>
        <p:spPr>
          <a:xfrm>
            <a:off x="324000" y="752337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2) Which coordinates fit the rule    </a:t>
            </a:r>
            <a:r>
              <a:rPr b="0"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lang="en-GB"/>
              <a:t>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y=\frac{7}{4}x-\frac{2}{3}&quot;&gt;&lt;mi&gt;y&lt;/mi&gt;&lt;mo&gt;=&lt;/mo&gt;&lt;mfrac&gt;&lt;mn&gt;7&lt;/mn&gt;&lt;mn&gt;4&lt;/mn&gt;&lt;/mfrac&gt;&lt;mi&gt;x&lt;/mi&gt;&lt;mo&gt;−&lt;/mo&gt;&lt;mfrac&gt;&lt;mn&gt;2&lt;/mn&gt;&lt;mn&gt;3&lt;/mn&gt;&lt;/mfrac&gt;&lt;/math&gt;" id="1127" name="Google Shape;1127;p102" title="y equals seven fourths x minus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200" y="702369"/>
            <a:ext cx="1653650" cy="68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,\frac{17}{6}\right)&quot;&gt;&lt;mrow data-mjx-texclass=&quot;INNER&quot;&gt;&lt;mo data-mjx-texclass=&quot;OPEN&quot;&gt;(&lt;/mo&gt;&lt;mn&gt;2&lt;/mn&gt;&lt;mo&gt;,&lt;/mo&gt;&lt;mfrac&gt;&lt;mn&gt;17&lt;/mn&gt;&lt;mn&gt;6&lt;/mn&gt;&lt;/mfrac&gt;&lt;mo data-mjx-texclass=&quot;CLOSE&quot;&gt;)&lt;/mo&gt;&lt;/mrow&gt;&lt;/math&gt;" id="1128" name="Google Shape;1128;p102" title="open paren 2 comma seventeen sixth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01" y="2263110"/>
            <a:ext cx="976627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2,-\frac{25}{6}\right)&quot;&gt;&lt;mrow data-mjx-texclass=&quot;INNER&quot;&gt;&lt;mo data-mjx-texclass=&quot;OPEN&quot;&gt;(&lt;/mo&gt;&lt;mo&gt;−&lt;/mo&gt;&lt;mn&gt;2&lt;/mn&gt;&lt;mo&gt;,&lt;/mo&gt;&lt;mo&gt;−&lt;/mo&gt;&lt;mfrac&gt;&lt;mn&gt;25&lt;/mn&gt;&lt;mn&gt;6&lt;/mn&gt;&lt;/mfrac&gt;&lt;mo data-mjx-texclass=&quot;CLOSE&quot;&gt;)&lt;/mo&gt;&lt;/mrow&gt;&lt;/math&gt;" id="1129" name="Google Shape;1129;p102" title="open paren negative 2 comma negative 25 over 6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701" y="3084995"/>
            <a:ext cx="1365550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2}{3},2\right)&quot;&gt;&lt;mrow data-mjx-texclass=&quot;INNER&quot;&gt;&lt;mo data-mjx-texclass=&quot;OPEN&quot;&gt;(&lt;/mo&gt;&lt;mfrac&gt;&lt;mn&gt;2&lt;/mn&gt;&lt;mn&gt;3&lt;/mn&gt;&lt;/mfrac&gt;&lt;mo&gt;,&lt;/mo&gt;&lt;mn&gt;2&lt;/mn&gt;&lt;mo data-mjx-texclass=&quot;CLOSE&quot;&gt;)&lt;/mo&gt;&lt;/mrow&gt;&lt;/math&gt;" id="1130" name="Google Shape;1130;p102" title="open paren two thirds comma 2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701" y="3906880"/>
            <a:ext cx="834022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1}{2},\frac{5}{24}\right)&quot;&gt;&lt;mrow data-mjx-texclass=&quot;INNER&quot;&gt;&lt;mo data-mjx-texclass=&quot;OPEN&quot;&gt;(&lt;/mo&gt;&lt;mfrac&gt;&lt;mn&gt;1&lt;/mn&gt;&lt;mn&gt;2&lt;/mn&gt;&lt;/mfrac&gt;&lt;mo&gt;,&lt;/mo&gt;&lt;mfrac&gt;&lt;mn&gt;5&lt;/mn&gt;&lt;mn&gt;24&lt;/mn&gt;&lt;/mfrac&gt;&lt;mo data-mjx-texclass=&quot;CLOSE&quot;&gt;)&lt;/mo&gt;&lt;/mrow&gt;&lt;/math&gt;" id="1131" name="Google Shape;1131;p102" title="open paren one half comma 5 over 2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701" y="1441225"/>
            <a:ext cx="1080340" cy="70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708" y="15932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4513" y="240836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18508" y="324656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5" name="Google Shape;1135;p102"/>
          <p:cNvGrpSpPr/>
          <p:nvPr/>
        </p:nvGrpSpPr>
        <p:grpSpPr>
          <a:xfrm>
            <a:off x="4627678" y="1517425"/>
            <a:ext cx="3662996" cy="3298199"/>
            <a:chOff x="3789478" y="1517425"/>
            <a:chExt cx="3662996" cy="3298199"/>
          </a:xfrm>
        </p:grpSpPr>
        <p:pic>
          <p:nvPicPr>
            <p:cNvPr id="1136" name="Google Shape;1136;p10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789478" y="1517425"/>
              <a:ext cx="3662996" cy="32981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37" name="Google Shape;1137;p10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827326" y="1811150"/>
              <a:ext cx="1080350" cy="25904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8" name="Google Shape;1138;p102"/>
          <p:cNvSpPr/>
          <p:nvPr/>
        </p:nvSpPr>
        <p:spPr>
          <a:xfrm>
            <a:off x="7223558" y="2138970"/>
            <a:ext cx="372300" cy="34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102"/>
          <p:cNvSpPr/>
          <p:nvPr/>
        </p:nvSpPr>
        <p:spPr>
          <a:xfrm>
            <a:off x="4831269" y="2866367"/>
            <a:ext cx="834000" cy="34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102"/>
          <p:cNvSpPr txBox="1"/>
          <p:nvPr>
            <p:ph idx="1" type="body"/>
          </p:nvPr>
        </p:nvSpPr>
        <p:spPr>
          <a:xfrm>
            <a:off x="1619400" y="4098526"/>
            <a:ext cx="2434500" cy="3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does not fit the rule.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" name="Google Shape;1145;p103"/>
          <p:cNvGrpSpPr/>
          <p:nvPr/>
        </p:nvGrpSpPr>
        <p:grpSpPr>
          <a:xfrm>
            <a:off x="1371276" y="1990359"/>
            <a:ext cx="4162168" cy="2825199"/>
            <a:chOff x="76136" y="3145825"/>
            <a:chExt cx="3546798" cy="2150076"/>
          </a:xfrm>
        </p:grpSpPr>
        <p:pic>
          <p:nvPicPr>
            <p:cNvPr id="1146" name="Google Shape;114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36" y="3145825"/>
              <a:ext cx="3546798" cy="21500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47" name="Google Shape;114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5611" y="3332815"/>
              <a:ext cx="856438" cy="18327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8" name="Google Shape;1148;p103"/>
          <p:cNvSpPr txBox="1"/>
          <p:nvPr>
            <p:ph idx="1" type="body"/>
          </p:nvPr>
        </p:nvSpPr>
        <p:spPr>
          <a:xfrm>
            <a:off x="324000" y="759300"/>
            <a:ext cx="76365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Use Desmos to graphically represent the rules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− 13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which of these three coordinates fits both rules.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(5, 7)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(6, 5)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(7, 8)</a:t>
            </a:r>
            <a:endParaRPr/>
          </a:p>
        </p:txBody>
      </p:sp>
      <p:sp>
        <p:nvSpPr>
          <p:cNvPr id="1149" name="Google Shape;1149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if points fit a rule</a:t>
            </a:r>
            <a:endParaRPr/>
          </a:p>
        </p:txBody>
      </p:sp>
      <p:sp>
        <p:nvSpPr>
          <p:cNvPr id="1150" name="Google Shape;1150;p103"/>
          <p:cNvSpPr txBox="1"/>
          <p:nvPr>
            <p:ph idx="1" type="body"/>
          </p:nvPr>
        </p:nvSpPr>
        <p:spPr>
          <a:xfrm>
            <a:off x="5935200" y="2793625"/>
            <a:ext cx="2616600" cy="3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coordinate (6, 5) fits both rules.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103"/>
          <p:cNvSpPr/>
          <p:nvPr/>
        </p:nvSpPr>
        <p:spPr>
          <a:xfrm>
            <a:off x="4228696" y="3041832"/>
            <a:ext cx="282900" cy="244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04"/>
          <p:cNvSpPr txBox="1"/>
          <p:nvPr>
            <p:ph idx="1" type="body"/>
          </p:nvPr>
        </p:nvSpPr>
        <p:spPr>
          <a:xfrm>
            <a:off x="324000" y="1080000"/>
            <a:ext cx="8199900" cy="22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software like Desmos to rapidly plot coordinates, arithmetic sequences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, and rules such as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7 − 3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can also use Desmos to see more quickly if a point does or does not fit a rule.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04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63" name="Google Shape;116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