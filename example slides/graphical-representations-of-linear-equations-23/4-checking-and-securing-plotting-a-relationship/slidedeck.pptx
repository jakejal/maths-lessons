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746F09-D507-44DA-AB91-2C2DD68339FD}">
  <a:tblStyle styleId="{6F746F09-D507-44DA-AB91-2C2DD68339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91a8496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91a8496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991a8496f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991a8496f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91a8496f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91a8496f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991a8496f6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991a8496f6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991a8496f6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991a8496f6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991a8496f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991a8496f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2991a8496f6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2991a8496f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991a8496f6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991a8496f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991a8496f6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991a8496f6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2991a8496f6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991a8496f6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991a8496f6_1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991a8496f6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991a8496f6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2991a8496f6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991a8496f6_1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991a8496f6_1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991a8496f6_1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991a8496f6_1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991a8496f6_1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991a8496f6_1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991a8496f6_1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991a8496f6_1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991a8496f6_1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2991a8496f6_1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991a8496f6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2991a8496f6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991a8496f6_1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2991a8496f6_1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991a8496f6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2991a8496f6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1ec58134d5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1ec58134d5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2991a8496f6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991a8496f6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1ec58134d5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1ec58134d5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991a8496f6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991a8496f6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991a8496f6_2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991a8496f6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991a8496f6_2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991a8496f6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2991a8496f6_2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2991a8496f6_2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2991a8496f6_2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2991a8496f6_2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9994ed627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9994ed627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29994ed627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9994ed627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29994ed627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29994ed627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9994ed627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9994ed627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9994ed627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29994ed627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29994ed6274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29994ed6274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29994ed6274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29994ed6274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29994ed627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29994ed627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29994ed6274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29994ed6274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96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96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96.png"/><Relationship Id="rId4" Type="http://schemas.openxmlformats.org/officeDocument/2006/relationships/image" Target="../media/image29.png"/><Relationship Id="rId11" Type="http://schemas.openxmlformats.org/officeDocument/2006/relationships/image" Target="../media/image22.png"/><Relationship Id="rId10" Type="http://schemas.openxmlformats.org/officeDocument/2006/relationships/image" Target="../media/image39.png"/><Relationship Id="rId9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Relationship Id="rId4" Type="http://schemas.openxmlformats.org/officeDocument/2006/relationships/image" Target="../media/image46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3.png"/><Relationship Id="rId4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4.png"/><Relationship Id="rId5" Type="http://schemas.openxmlformats.org/officeDocument/2006/relationships/image" Target="../media/image54.png"/><Relationship Id="rId6" Type="http://schemas.openxmlformats.org/officeDocument/2006/relationships/image" Target="../media/image53.png"/><Relationship Id="rId7" Type="http://schemas.openxmlformats.org/officeDocument/2006/relationships/image" Target="../media/image59.png"/><Relationship Id="rId8" Type="http://schemas.openxmlformats.org/officeDocument/2006/relationships/image" Target="../media/image66.png"/><Relationship Id="rId11" Type="http://schemas.openxmlformats.org/officeDocument/2006/relationships/image" Target="../media/image67.png"/><Relationship Id="rId10" Type="http://schemas.openxmlformats.org/officeDocument/2006/relationships/image" Target="../media/image65.png"/><Relationship Id="rId12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1.png"/><Relationship Id="rId4" Type="http://schemas.openxmlformats.org/officeDocument/2006/relationships/image" Target="../media/image46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8.png"/><Relationship Id="rId4" Type="http://schemas.openxmlformats.org/officeDocument/2006/relationships/image" Target="../media/image7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1.png"/><Relationship Id="rId4" Type="http://schemas.openxmlformats.org/officeDocument/2006/relationships/image" Target="../media/image69.png"/><Relationship Id="rId5" Type="http://schemas.openxmlformats.org/officeDocument/2006/relationships/image" Target="../media/image46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7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8.png"/><Relationship Id="rId4" Type="http://schemas.openxmlformats.org/officeDocument/2006/relationships/image" Target="../media/image7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9.png"/><Relationship Id="rId4" Type="http://schemas.openxmlformats.org/officeDocument/2006/relationships/image" Target="../media/image46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9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46.png"/><Relationship Id="rId7" Type="http://schemas.openxmlformats.org/officeDocument/2006/relationships/image" Target="../media/image8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Relationship Id="rId5" Type="http://schemas.openxmlformats.org/officeDocument/2006/relationships/image" Target="../media/image82.png"/><Relationship Id="rId6" Type="http://schemas.openxmlformats.org/officeDocument/2006/relationships/image" Target="../media/image4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5.png"/><Relationship Id="rId4" Type="http://schemas.openxmlformats.org/officeDocument/2006/relationships/image" Target="../media/image83.png"/><Relationship Id="rId5" Type="http://schemas.openxmlformats.org/officeDocument/2006/relationships/image" Target="../media/image87.png"/><Relationship Id="rId6" Type="http://schemas.openxmlformats.org/officeDocument/2006/relationships/image" Target="../media/image8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6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5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46.png"/><Relationship Id="rId6" Type="http://schemas.openxmlformats.org/officeDocument/2006/relationships/image" Target="../media/image9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46.png"/><Relationship Id="rId6" Type="http://schemas.openxmlformats.org/officeDocument/2006/relationships/image" Target="../media/image90.png"/><Relationship Id="rId7" Type="http://schemas.openxmlformats.org/officeDocument/2006/relationships/image" Target="../media/image9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1.png"/><Relationship Id="rId4" Type="http://schemas.openxmlformats.org/officeDocument/2006/relationships/image" Target="../media/image95.png"/><Relationship Id="rId5" Type="http://schemas.openxmlformats.org/officeDocument/2006/relationships/image" Target="../media/image9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plotting a relationship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a graphical representation to show all of the points (within a range) that satisfy a relationship.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Substitute means to put in place of another.  In algebra, substitution can be used to replace variables with values.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</a:t>
            </a:r>
            <a:r>
              <a:rPr lang="en-GB"/>
              <a:t>understanding</a:t>
            </a:r>
            <a:r>
              <a:rPr lang="en-GB"/>
              <a:t> of plotting a relationship</a:t>
            </a:r>
            <a:endParaRPr/>
          </a:p>
        </p:txBody>
      </p:sp>
      <p:sp>
        <p:nvSpPr>
          <p:cNvPr id="772" name="Google Shape;772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plotting a relationship</a:t>
            </a:r>
            <a:endParaRPr/>
          </a:p>
        </p:txBody>
      </p:sp>
      <p:sp>
        <p:nvSpPr>
          <p:cNvPr id="773" name="Google Shape;773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plotting a relationship</a:t>
            </a:r>
            <a:endParaRPr/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290" y="204989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6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446778" y="2170847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9"/>
          <p:cNvSpPr txBox="1"/>
          <p:nvPr>
            <p:ph idx="1" type="body"/>
          </p:nvPr>
        </p:nvSpPr>
        <p:spPr>
          <a:xfrm>
            <a:off x="324000" y="759300"/>
            <a:ext cx="71352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 and Laura are talking about numbers.</a:t>
            </a:r>
            <a:endParaRPr/>
          </a:p>
        </p:txBody>
      </p:sp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642802" y="1262630"/>
            <a:ext cx="3838500" cy="6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You think of some numbers and I’ll do something to them.</a:t>
            </a:r>
            <a:endParaRPr sz="2000"/>
          </a:p>
        </p:txBody>
      </p:sp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1894130" y="2149433"/>
            <a:ext cx="3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2400"/>
          </a:p>
        </p:txBody>
      </p:sp>
      <p:pic>
        <p:nvPicPr>
          <p:cNvPr id="784" name="Google Shape;78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7650" y="2487178"/>
            <a:ext cx="952196" cy="122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818" y="2599810"/>
            <a:ext cx="975630" cy="1277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6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84221" y="1215438"/>
            <a:ext cx="4248801" cy="9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6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2742179" y="2312390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9"/>
          <p:cNvSpPr txBox="1"/>
          <p:nvPr>
            <p:ph idx="1" type="body"/>
          </p:nvPr>
        </p:nvSpPr>
        <p:spPr>
          <a:xfrm>
            <a:off x="3154933" y="2290300"/>
            <a:ext cx="3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/>
          </a:p>
        </p:txBody>
      </p:sp>
      <p:pic>
        <p:nvPicPr>
          <p:cNvPr id="789" name="Google Shape;789;p6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rot="10800000">
            <a:off x="1446778" y="3498986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9"/>
          <p:cNvSpPr txBox="1"/>
          <p:nvPr>
            <p:ph idx="1" type="body"/>
          </p:nvPr>
        </p:nvSpPr>
        <p:spPr>
          <a:xfrm>
            <a:off x="1817926" y="3562633"/>
            <a:ext cx="42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400"/>
          </a:p>
        </p:txBody>
      </p:sp>
      <p:pic>
        <p:nvPicPr>
          <p:cNvPr id="791" name="Google Shape;791;p6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 rot="10800000">
            <a:off x="2742179" y="3655450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69"/>
          <p:cNvSpPr txBox="1"/>
          <p:nvPr>
            <p:ph idx="1" type="body"/>
          </p:nvPr>
        </p:nvSpPr>
        <p:spPr>
          <a:xfrm>
            <a:off x="3154933" y="3703502"/>
            <a:ext cx="3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/>
          </a:p>
        </p:txBody>
      </p:sp>
      <p:pic>
        <p:nvPicPr>
          <p:cNvPr id="793" name="Google Shape;793;p6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446778" y="2856647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9"/>
          <p:cNvSpPr txBox="1"/>
          <p:nvPr>
            <p:ph idx="1" type="body"/>
          </p:nvPr>
        </p:nvSpPr>
        <p:spPr>
          <a:xfrm>
            <a:off x="1894130" y="2835233"/>
            <a:ext cx="3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/>
          </a:p>
        </p:txBody>
      </p:sp>
      <p:pic>
        <p:nvPicPr>
          <p:cNvPr id="795" name="Google Shape;795;p6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2742179" y="2998190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9"/>
          <p:cNvSpPr txBox="1"/>
          <p:nvPr>
            <p:ph idx="1" type="body"/>
          </p:nvPr>
        </p:nvSpPr>
        <p:spPr>
          <a:xfrm>
            <a:off x="3154933" y="2976100"/>
            <a:ext cx="3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/>
          </a:p>
        </p:txBody>
      </p:sp>
      <p:pic>
        <p:nvPicPr>
          <p:cNvPr id="797" name="Google Shape;797;p6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rot="10800000">
            <a:off x="1446778" y="4173253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69"/>
          <p:cNvSpPr txBox="1"/>
          <p:nvPr>
            <p:ph idx="1" type="body"/>
          </p:nvPr>
        </p:nvSpPr>
        <p:spPr>
          <a:xfrm>
            <a:off x="1817926" y="4236900"/>
            <a:ext cx="42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 sz="2400"/>
          </a:p>
        </p:txBody>
      </p:sp>
      <p:pic>
        <p:nvPicPr>
          <p:cNvPr id="799" name="Google Shape;799;p6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 rot="10800000">
            <a:off x="2742179" y="4329717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9"/>
          <p:cNvSpPr txBox="1"/>
          <p:nvPr>
            <p:ph idx="1" type="body"/>
          </p:nvPr>
        </p:nvSpPr>
        <p:spPr>
          <a:xfrm>
            <a:off x="3033726" y="4377780"/>
            <a:ext cx="42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endParaRPr sz="2400"/>
          </a:p>
        </p:txBody>
      </p:sp>
      <p:sp>
        <p:nvSpPr>
          <p:cNvPr id="801" name="Google Shape;801;p69"/>
          <p:cNvSpPr txBox="1"/>
          <p:nvPr>
            <p:ph idx="1" type="body"/>
          </p:nvPr>
        </p:nvSpPr>
        <p:spPr>
          <a:xfrm>
            <a:off x="5770900" y="2112375"/>
            <a:ext cx="3083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is the relationship between </a:t>
            </a:r>
            <a:r>
              <a:rPr lang="en-GB" sz="2000"/>
              <a:t>Andeep and Laura’s numbers?</a:t>
            </a:r>
            <a:endParaRPr sz="2000"/>
          </a:p>
        </p:txBody>
      </p:sp>
      <p:sp>
        <p:nvSpPr>
          <p:cNvPr id="802" name="Google Shape;802;p69"/>
          <p:cNvSpPr txBox="1"/>
          <p:nvPr>
            <p:ph idx="1" type="body"/>
          </p:nvPr>
        </p:nvSpPr>
        <p:spPr>
          <a:xfrm>
            <a:off x="5770900" y="3294925"/>
            <a:ext cx="30492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Andeep’s number is always half of Laura’s.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9-11-2023/b854cf73-861f-4f2a-ab92-a03091983260&quot; data-equatio-type=&quot;desmos&quot;&gt;&lt;mglyph src=&quot;https://equatio-api.texthelp.com/desmos/get/09-11-2023/b854cf73-861f-4f2a-ab92-a03091983260&quot; alt=&quot;Equatio Desmos Graph&quot;/&gt;&lt;/math&gt;" id="807" name="Google Shape;807;p70" title="Equatio Desmos Graph"/>
          <p:cNvPicPr preferRelativeResize="0"/>
          <p:nvPr/>
        </p:nvPicPr>
        <p:blipFill rotWithShape="1">
          <a:blip r:embed="rId3">
            <a:alphaModFix/>
          </a:blip>
          <a:srcRect b="5294" l="11953" r="10527" t="0"/>
          <a:stretch/>
        </p:blipFill>
        <p:spPr>
          <a:xfrm>
            <a:off x="5067635" y="1694734"/>
            <a:ext cx="3396300" cy="3111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7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446778" y="2170847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70"/>
          <p:cNvSpPr txBox="1"/>
          <p:nvPr>
            <p:ph idx="1" type="body"/>
          </p:nvPr>
        </p:nvSpPr>
        <p:spPr>
          <a:xfrm>
            <a:off x="324000" y="759300"/>
            <a:ext cx="71352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Andeep’s number is always half of Laura’s.</a:t>
            </a:r>
            <a:endParaRPr/>
          </a:p>
        </p:txBody>
      </p:sp>
      <p:sp>
        <p:nvSpPr>
          <p:cNvPr id="810" name="Google Shape;81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811" name="Google Shape;811;p70"/>
          <p:cNvSpPr txBox="1"/>
          <p:nvPr>
            <p:ph idx="1" type="body"/>
          </p:nvPr>
        </p:nvSpPr>
        <p:spPr>
          <a:xfrm>
            <a:off x="1894130" y="2149433"/>
            <a:ext cx="3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2400"/>
          </a:p>
        </p:txBody>
      </p:sp>
      <p:pic>
        <p:nvPicPr>
          <p:cNvPr id="812" name="Google Shape;812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7650" y="2487178"/>
            <a:ext cx="952196" cy="122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818" y="2599810"/>
            <a:ext cx="975630" cy="1277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7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2742179" y="2312390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>
            <p:ph idx="1" type="body"/>
          </p:nvPr>
        </p:nvSpPr>
        <p:spPr>
          <a:xfrm>
            <a:off x="3154933" y="2290300"/>
            <a:ext cx="3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/>
          </a:p>
        </p:txBody>
      </p:sp>
      <p:pic>
        <p:nvPicPr>
          <p:cNvPr id="816" name="Google Shape;816;p7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rot="10800000">
            <a:off x="1446778" y="3498986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0"/>
          <p:cNvSpPr txBox="1"/>
          <p:nvPr>
            <p:ph idx="1" type="body"/>
          </p:nvPr>
        </p:nvSpPr>
        <p:spPr>
          <a:xfrm>
            <a:off x="1817926" y="3562633"/>
            <a:ext cx="42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400"/>
          </a:p>
        </p:txBody>
      </p:sp>
      <p:pic>
        <p:nvPicPr>
          <p:cNvPr id="818" name="Google Shape;818;p7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 rot="10800000">
            <a:off x="2742179" y="3655450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70"/>
          <p:cNvSpPr txBox="1"/>
          <p:nvPr>
            <p:ph idx="1" type="body"/>
          </p:nvPr>
        </p:nvSpPr>
        <p:spPr>
          <a:xfrm>
            <a:off x="3154933" y="3703502"/>
            <a:ext cx="3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/>
          </a:p>
        </p:txBody>
      </p:sp>
      <p:pic>
        <p:nvPicPr>
          <p:cNvPr id="820" name="Google Shape;820;p7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446778" y="2856647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70"/>
          <p:cNvSpPr txBox="1"/>
          <p:nvPr>
            <p:ph idx="1" type="body"/>
          </p:nvPr>
        </p:nvSpPr>
        <p:spPr>
          <a:xfrm>
            <a:off x="1894130" y="2835233"/>
            <a:ext cx="3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/>
          </a:p>
        </p:txBody>
      </p:sp>
      <p:pic>
        <p:nvPicPr>
          <p:cNvPr id="822" name="Google Shape;822;p7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2742179" y="2998190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0"/>
          <p:cNvSpPr txBox="1"/>
          <p:nvPr>
            <p:ph idx="1" type="body"/>
          </p:nvPr>
        </p:nvSpPr>
        <p:spPr>
          <a:xfrm>
            <a:off x="3154933" y="2976100"/>
            <a:ext cx="3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/>
          </a:p>
        </p:txBody>
      </p:sp>
      <p:pic>
        <p:nvPicPr>
          <p:cNvPr id="824" name="Google Shape;824;p7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rot="10800000">
            <a:off x="1446778" y="4173253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0"/>
          <p:cNvSpPr txBox="1"/>
          <p:nvPr>
            <p:ph idx="1" type="body"/>
          </p:nvPr>
        </p:nvSpPr>
        <p:spPr>
          <a:xfrm>
            <a:off x="1817926" y="4236900"/>
            <a:ext cx="42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 sz="2400"/>
          </a:p>
        </p:txBody>
      </p:sp>
      <p:pic>
        <p:nvPicPr>
          <p:cNvPr id="826" name="Google Shape;826;p7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 rot="10800000">
            <a:off x="2742179" y="4329717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0"/>
          <p:cNvSpPr txBox="1"/>
          <p:nvPr>
            <p:ph idx="1" type="body"/>
          </p:nvPr>
        </p:nvSpPr>
        <p:spPr>
          <a:xfrm>
            <a:off x="3033726" y="4377780"/>
            <a:ext cx="42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endParaRPr sz="2400"/>
          </a:p>
        </p:txBody>
      </p:sp>
      <p:sp>
        <p:nvSpPr>
          <p:cNvPr id="828" name="Google Shape;828;p70"/>
          <p:cNvSpPr txBox="1"/>
          <p:nvPr>
            <p:ph idx="1" type="body"/>
          </p:nvPr>
        </p:nvSpPr>
        <p:spPr>
          <a:xfrm>
            <a:off x="324000" y="1304233"/>
            <a:ext cx="71352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represent this relationship graphically.</a:t>
            </a:r>
            <a:endParaRPr/>
          </a:p>
        </p:txBody>
      </p:sp>
      <p:sp>
        <p:nvSpPr>
          <p:cNvPr id="829" name="Google Shape;829;p70"/>
          <p:cNvSpPr txBox="1"/>
          <p:nvPr/>
        </p:nvSpPr>
        <p:spPr>
          <a:xfrm rot="-5400000">
            <a:off x="4368180" y="2487017"/>
            <a:ext cx="221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Andeep’s number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 txBox="1"/>
          <p:nvPr/>
        </p:nvSpPr>
        <p:spPr>
          <a:xfrm>
            <a:off x="6677245" y="3934825"/>
            <a:ext cx="198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Laura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’s number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1" name="Google Shape;831;p70"/>
          <p:cNvCxnSpPr/>
          <p:nvPr/>
        </p:nvCxnSpPr>
        <p:spPr>
          <a:xfrm flipH="1" rot="10800000">
            <a:off x="5053550" y="2553450"/>
            <a:ext cx="3425100" cy="168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32" name="Google Shape;832;p70"/>
          <p:cNvGrpSpPr/>
          <p:nvPr/>
        </p:nvGrpSpPr>
        <p:grpSpPr>
          <a:xfrm>
            <a:off x="1558765" y="2101042"/>
            <a:ext cx="5720525" cy="1325858"/>
            <a:chOff x="1558765" y="2101042"/>
            <a:chExt cx="5720525" cy="1325858"/>
          </a:xfrm>
        </p:grpSpPr>
        <p:sp>
          <p:nvSpPr>
            <p:cNvPr id="833" name="Google Shape;833;p70"/>
            <p:cNvSpPr/>
            <p:nvPr/>
          </p:nvSpPr>
          <p:spPr>
            <a:xfrm>
              <a:off x="1558765" y="2101042"/>
              <a:ext cx="2094900" cy="6516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4" name="Google Shape;834;p70"/>
            <p:cNvSpPr/>
            <p:nvPr/>
          </p:nvSpPr>
          <p:spPr>
            <a:xfrm>
              <a:off x="6904290" y="3076800"/>
              <a:ext cx="375000" cy="3501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5" name="Google Shape;835;p70"/>
          <p:cNvGrpSpPr/>
          <p:nvPr/>
        </p:nvGrpSpPr>
        <p:grpSpPr>
          <a:xfrm>
            <a:off x="1558765" y="2786842"/>
            <a:ext cx="5293395" cy="845592"/>
            <a:chOff x="1558765" y="2786842"/>
            <a:chExt cx="5293395" cy="845592"/>
          </a:xfrm>
        </p:grpSpPr>
        <p:sp>
          <p:nvSpPr>
            <p:cNvPr id="836" name="Google Shape;836;p70"/>
            <p:cNvSpPr/>
            <p:nvPr/>
          </p:nvSpPr>
          <p:spPr>
            <a:xfrm>
              <a:off x="1558765" y="2786842"/>
              <a:ext cx="2094900" cy="6516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7" name="Google Shape;837;p70"/>
            <p:cNvSpPr/>
            <p:nvPr/>
          </p:nvSpPr>
          <p:spPr>
            <a:xfrm>
              <a:off x="6477160" y="3282335"/>
              <a:ext cx="375000" cy="3501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843" name="Google Shape;843;p71"/>
          <p:cNvSpPr txBox="1"/>
          <p:nvPr>
            <p:ph idx="1" type="body"/>
          </p:nvPr>
        </p:nvSpPr>
        <p:spPr>
          <a:xfrm>
            <a:off x="324000" y="6935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Identify the relationship that links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 to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-coordinate.</a:t>
            </a:r>
            <a:endParaRPr sz="1800"/>
          </a:p>
        </p:txBody>
      </p:sp>
      <p:sp>
        <p:nvSpPr>
          <p:cNvPr id="844" name="Google Shape;84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845" name="Google Shape;845;p71"/>
          <p:cNvSpPr txBox="1"/>
          <p:nvPr>
            <p:ph idx="1" type="body"/>
          </p:nvPr>
        </p:nvSpPr>
        <p:spPr>
          <a:xfrm>
            <a:off x="324000" y="1634200"/>
            <a:ext cx="399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(0, 2), (3, 5), (5, 7), (8, 10)</a:t>
            </a:r>
            <a:endParaRPr sz="2000"/>
          </a:p>
        </p:txBody>
      </p:sp>
      <p:sp>
        <p:nvSpPr>
          <p:cNvPr id="846" name="Google Shape;846;p71"/>
          <p:cNvSpPr txBox="1"/>
          <p:nvPr>
            <p:ph idx="1" type="body"/>
          </p:nvPr>
        </p:nvSpPr>
        <p:spPr>
          <a:xfrm>
            <a:off x="324000" y="2442330"/>
            <a:ext cx="399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(0, −2), (2, 0), (4, 2), (7, 5)</a:t>
            </a:r>
            <a:endParaRPr sz="2000"/>
          </a:p>
        </p:txBody>
      </p:sp>
      <p:sp>
        <p:nvSpPr>
          <p:cNvPr id="847" name="Google Shape;847;p71"/>
          <p:cNvSpPr txBox="1"/>
          <p:nvPr>
            <p:ph idx="1" type="body"/>
          </p:nvPr>
        </p:nvSpPr>
        <p:spPr>
          <a:xfrm>
            <a:off x="324000" y="3250460"/>
            <a:ext cx="399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(0, 0), (2, 4), (3, 6), (5,10)</a:t>
            </a:r>
            <a:endParaRPr sz="2000"/>
          </a:p>
        </p:txBody>
      </p:sp>
      <p:sp>
        <p:nvSpPr>
          <p:cNvPr id="848" name="Google Shape;848;p71"/>
          <p:cNvSpPr txBox="1"/>
          <p:nvPr>
            <p:ph idx="1" type="body"/>
          </p:nvPr>
        </p:nvSpPr>
        <p:spPr>
          <a:xfrm>
            <a:off x="324000" y="4058590"/>
            <a:ext cx="399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(0, 10), (2, 8), (3, 7), (7, 3)</a:t>
            </a:r>
            <a:endParaRPr sz="2000"/>
          </a:p>
        </p:txBody>
      </p:sp>
      <p:sp>
        <p:nvSpPr>
          <p:cNvPr id="849" name="Google Shape;849;p71"/>
          <p:cNvSpPr txBox="1"/>
          <p:nvPr>
            <p:ph idx="1" type="body"/>
          </p:nvPr>
        </p:nvSpPr>
        <p:spPr>
          <a:xfrm>
            <a:off x="3850031" y="1681251"/>
            <a:ext cx="49233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-coordinate is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-coordinate plus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0" name="Google Shape;850;p71"/>
          <p:cNvSpPr txBox="1"/>
          <p:nvPr>
            <p:ph idx="1" type="body"/>
          </p:nvPr>
        </p:nvSpPr>
        <p:spPr>
          <a:xfrm>
            <a:off x="3850031" y="2465490"/>
            <a:ext cx="49233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-coordinate is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-coordinate minus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1" name="Google Shape;851;p71"/>
          <p:cNvSpPr txBox="1"/>
          <p:nvPr>
            <p:ph idx="1" type="body"/>
          </p:nvPr>
        </p:nvSpPr>
        <p:spPr>
          <a:xfrm>
            <a:off x="3850031" y="3286804"/>
            <a:ext cx="49233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-coordinate is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-coordinate times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2" name="Google Shape;852;p71"/>
          <p:cNvSpPr txBox="1"/>
          <p:nvPr>
            <p:ph idx="1" type="body"/>
          </p:nvPr>
        </p:nvSpPr>
        <p:spPr>
          <a:xfrm>
            <a:off x="3850031" y="4119651"/>
            <a:ext cx="49233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-coordinates sum to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10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3" name="Google Shape;853;p7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795406" y="1949368"/>
            <a:ext cx="455352" cy="29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7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1474065" y="1949368"/>
            <a:ext cx="455352" cy="297623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1"/>
          <p:cNvSpPr/>
          <p:nvPr/>
        </p:nvSpPr>
        <p:spPr>
          <a:xfrm>
            <a:off x="829161" y="2268101"/>
            <a:ext cx="455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1"/>
          <p:cNvSpPr/>
          <p:nvPr/>
        </p:nvSpPr>
        <p:spPr>
          <a:xfrm>
            <a:off x="1514961" y="2268101"/>
            <a:ext cx="455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7" name="Google Shape;857;p7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2197076" y="1949368"/>
            <a:ext cx="455352" cy="29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3008487" y="1949368"/>
            <a:ext cx="455352" cy="297623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1"/>
          <p:cNvSpPr/>
          <p:nvPr/>
        </p:nvSpPr>
        <p:spPr>
          <a:xfrm>
            <a:off x="2230831" y="2268101"/>
            <a:ext cx="455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1"/>
          <p:cNvSpPr/>
          <p:nvPr/>
        </p:nvSpPr>
        <p:spPr>
          <a:xfrm>
            <a:off x="3058609" y="2268101"/>
            <a:ext cx="455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1" name="Google Shape;861;p7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783873" y="2787568"/>
            <a:ext cx="455352" cy="29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7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1615068" y="2787568"/>
            <a:ext cx="455352" cy="297623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1"/>
          <p:cNvSpPr/>
          <p:nvPr/>
        </p:nvSpPr>
        <p:spPr>
          <a:xfrm>
            <a:off x="817628" y="3106301"/>
            <a:ext cx="455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1"/>
          <p:cNvSpPr/>
          <p:nvPr/>
        </p:nvSpPr>
        <p:spPr>
          <a:xfrm>
            <a:off x="1651797" y="3106301"/>
            <a:ext cx="455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5" name="Google Shape;865;p7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2367398" y="2787568"/>
            <a:ext cx="455352" cy="29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7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3114892" y="2787568"/>
            <a:ext cx="455352" cy="297623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71"/>
          <p:cNvSpPr/>
          <p:nvPr/>
        </p:nvSpPr>
        <p:spPr>
          <a:xfrm>
            <a:off x="2370197" y="3106301"/>
            <a:ext cx="455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1"/>
          <p:cNvSpPr/>
          <p:nvPr/>
        </p:nvSpPr>
        <p:spPr>
          <a:xfrm>
            <a:off x="3154150" y="3106301"/>
            <a:ext cx="455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9" name="Google Shape;869;p7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707673" y="3625768"/>
            <a:ext cx="455352" cy="29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7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1446608" y="3625768"/>
            <a:ext cx="455352" cy="297623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71"/>
          <p:cNvSpPr/>
          <p:nvPr/>
        </p:nvSpPr>
        <p:spPr>
          <a:xfrm>
            <a:off x="741428" y="3944501"/>
            <a:ext cx="455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1"/>
          <p:cNvSpPr/>
          <p:nvPr/>
        </p:nvSpPr>
        <p:spPr>
          <a:xfrm>
            <a:off x="1503428" y="3944501"/>
            <a:ext cx="455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3" name="Google Shape;873;p7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2185543" y="3625768"/>
            <a:ext cx="455352" cy="29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3003651" y="3625768"/>
            <a:ext cx="455352" cy="297623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1"/>
          <p:cNvSpPr/>
          <p:nvPr/>
        </p:nvSpPr>
        <p:spPr>
          <a:xfrm>
            <a:off x="2219298" y="3944501"/>
            <a:ext cx="455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1"/>
          <p:cNvSpPr/>
          <p:nvPr/>
        </p:nvSpPr>
        <p:spPr>
          <a:xfrm>
            <a:off x="3004363" y="3944501"/>
            <a:ext cx="455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1"/>
          <p:cNvSpPr/>
          <p:nvPr/>
        </p:nvSpPr>
        <p:spPr>
          <a:xfrm>
            <a:off x="232119" y="4536212"/>
            <a:ext cx="11358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0+10=10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1"/>
          <p:cNvSpPr/>
          <p:nvPr/>
        </p:nvSpPr>
        <p:spPr>
          <a:xfrm>
            <a:off x="1375119" y="4536212"/>
            <a:ext cx="998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2+8=10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1"/>
          <p:cNvSpPr/>
          <p:nvPr/>
        </p:nvSpPr>
        <p:spPr>
          <a:xfrm>
            <a:off x="2365719" y="4536212"/>
            <a:ext cx="998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3+7=10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1"/>
          <p:cNvSpPr/>
          <p:nvPr/>
        </p:nvSpPr>
        <p:spPr>
          <a:xfrm>
            <a:off x="3432519" y="4536212"/>
            <a:ext cx="998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7+3=10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1"/>
          <p:cNvSpPr txBox="1"/>
          <p:nvPr/>
        </p:nvSpPr>
        <p:spPr>
          <a:xfrm>
            <a:off x="324000" y="1156200"/>
            <a:ext cx="81120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18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write these as equations using mathematical notation?</a:t>
            </a:r>
            <a:endParaRPr sz="1800"/>
          </a:p>
        </p:txBody>
      </p:sp>
      <p:sp>
        <p:nvSpPr>
          <p:cNvPr id="882" name="Google Shape;882;p71"/>
          <p:cNvSpPr txBox="1"/>
          <p:nvPr/>
        </p:nvSpPr>
        <p:spPr>
          <a:xfrm>
            <a:off x="5151350" y="19493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/>
          </a:p>
        </p:txBody>
      </p:sp>
      <p:sp>
        <p:nvSpPr>
          <p:cNvPr id="883" name="Google Shape;883;p71"/>
          <p:cNvSpPr txBox="1"/>
          <p:nvPr/>
        </p:nvSpPr>
        <p:spPr>
          <a:xfrm>
            <a:off x="5151350" y="27875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4" name="Google Shape;884;p71"/>
          <p:cNvSpPr txBox="1"/>
          <p:nvPr/>
        </p:nvSpPr>
        <p:spPr>
          <a:xfrm>
            <a:off x="5151350" y="36257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885" name="Google Shape;885;p71"/>
          <p:cNvSpPr txBox="1"/>
          <p:nvPr/>
        </p:nvSpPr>
        <p:spPr>
          <a:xfrm>
            <a:off x="5209200" y="43764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891" name="Google Shape;891;p72"/>
          <p:cNvSpPr txBox="1"/>
          <p:nvPr>
            <p:ph idx="1" type="body"/>
          </p:nvPr>
        </p:nvSpPr>
        <p:spPr>
          <a:xfrm>
            <a:off x="324000" y="1618515"/>
            <a:ext cx="399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(0, 2), (3, 5), (5, 7), (8, 10)</a:t>
            </a:r>
            <a:endParaRPr/>
          </a:p>
        </p:txBody>
      </p:sp>
      <p:sp>
        <p:nvSpPr>
          <p:cNvPr id="892" name="Google Shape;892;p72"/>
          <p:cNvSpPr txBox="1"/>
          <p:nvPr>
            <p:ph idx="1" type="body"/>
          </p:nvPr>
        </p:nvSpPr>
        <p:spPr>
          <a:xfrm>
            <a:off x="4320000" y="1618515"/>
            <a:ext cx="4500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-coordinate is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-coordinate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3" name="Google Shape;893;p72"/>
          <p:cNvSpPr txBox="1"/>
          <p:nvPr>
            <p:ph idx="1" type="body"/>
          </p:nvPr>
        </p:nvSpPr>
        <p:spPr>
          <a:xfrm>
            <a:off x="324000" y="759300"/>
            <a:ext cx="6517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plot these points to see the nature of the relationship.</a:t>
            </a:r>
            <a:endParaRPr/>
          </a:p>
        </p:txBody>
      </p:sp>
      <p:sp>
        <p:nvSpPr>
          <p:cNvPr id="894" name="Google Shape;894;p72"/>
          <p:cNvSpPr txBox="1"/>
          <p:nvPr>
            <p:ph idx="1" type="body"/>
          </p:nvPr>
        </p:nvSpPr>
        <p:spPr>
          <a:xfrm>
            <a:off x="5767800" y="1941840"/>
            <a:ext cx="14544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9-11-2023/5fc0c737-eaad-4561-ba79-2b12085e9612&quot; data-equatio-type=&quot;desmos&quot;&gt;&lt;mglyph src=&quot;https://equatio-api.texthelp.com/desmos/get/09-11-2023/5fc0c737-eaad-4561-ba79-2b12085e9612&quot; alt=&quot;Equatio Desmos Graph&quot;/&gt;&lt;/math&gt;" id="895" name="Google Shape;895;p72" title="Equatio Desmos Graph"/>
          <p:cNvPicPr preferRelativeResize="0"/>
          <p:nvPr/>
        </p:nvPicPr>
        <p:blipFill rotWithShape="1">
          <a:blip r:embed="rId3">
            <a:alphaModFix/>
          </a:blip>
          <a:srcRect b="16012" l="8759" r="43003" t="18921"/>
          <a:stretch/>
        </p:blipFill>
        <p:spPr>
          <a:xfrm>
            <a:off x="1057925" y="2160000"/>
            <a:ext cx="2621226" cy="26518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6" name="Google Shape;896;p72"/>
          <p:cNvCxnSpPr/>
          <p:nvPr/>
        </p:nvCxnSpPr>
        <p:spPr>
          <a:xfrm flipH="1" rot="10800000">
            <a:off x="1051775" y="2161225"/>
            <a:ext cx="2248800" cy="2248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72"/>
          <p:cNvSpPr txBox="1"/>
          <p:nvPr>
            <p:ph idx="1" type="body"/>
          </p:nvPr>
        </p:nvSpPr>
        <p:spPr>
          <a:xfrm>
            <a:off x="4320000" y="2574527"/>
            <a:ext cx="2405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linear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relationship.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9-11-2023/8d277c49-516d-4ba4-af4b-ff583aaacea2&quot; data-equatio-type=&quot;desmos&quot;&gt;&lt;mglyph src=&quot;https://equatio-api.texthelp.com/desmos/get/09-11-2023/8d277c49-516d-4ba4-af4b-ff583aaacea2&quot; alt=&quot;Equatio Desmos Graph&quot;/&gt;&lt;/math&gt;" id="902" name="Google Shape;902;p73" title="Equatio Desmos Graph"/>
          <p:cNvPicPr preferRelativeResize="0"/>
          <p:nvPr/>
        </p:nvPicPr>
        <p:blipFill rotWithShape="1">
          <a:blip r:embed="rId3">
            <a:alphaModFix/>
          </a:blip>
          <a:srcRect b="18744" l="0" r="48696" t="14761"/>
          <a:stretch/>
        </p:blipFill>
        <p:spPr>
          <a:xfrm>
            <a:off x="1066800" y="2160248"/>
            <a:ext cx="2728076" cy="26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904" name="Google Shape;904;p73"/>
          <p:cNvSpPr txBox="1"/>
          <p:nvPr>
            <p:ph idx="1" type="body"/>
          </p:nvPr>
        </p:nvSpPr>
        <p:spPr>
          <a:xfrm>
            <a:off x="324000" y="1641580"/>
            <a:ext cx="399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(0, −2), (2, 0), (4, 2), (7, 5)</a:t>
            </a:r>
            <a:endParaRPr/>
          </a:p>
        </p:txBody>
      </p:sp>
      <p:sp>
        <p:nvSpPr>
          <p:cNvPr id="905" name="Google Shape;905;p73"/>
          <p:cNvSpPr txBox="1"/>
          <p:nvPr>
            <p:ph idx="1" type="body"/>
          </p:nvPr>
        </p:nvSpPr>
        <p:spPr>
          <a:xfrm>
            <a:off x="4320000" y="1617689"/>
            <a:ext cx="4500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-coordinate is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-coordinate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6" name="Google Shape;906;p73"/>
          <p:cNvSpPr txBox="1"/>
          <p:nvPr>
            <p:ph idx="1" type="body"/>
          </p:nvPr>
        </p:nvSpPr>
        <p:spPr>
          <a:xfrm>
            <a:off x="5767800" y="1960377"/>
            <a:ext cx="14544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07" name="Google Shape;907;p73"/>
          <p:cNvCxnSpPr/>
          <p:nvPr/>
        </p:nvCxnSpPr>
        <p:spPr>
          <a:xfrm flipH="1" rot="10800000">
            <a:off x="1109438" y="2207362"/>
            <a:ext cx="2617800" cy="2602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Google Shape;908;p73"/>
          <p:cNvSpPr txBox="1"/>
          <p:nvPr>
            <p:ph idx="1" type="body"/>
          </p:nvPr>
        </p:nvSpPr>
        <p:spPr>
          <a:xfrm>
            <a:off x="4320000" y="2574527"/>
            <a:ext cx="2405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linear relationship.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9" name="Google Shape;909;p73"/>
          <p:cNvSpPr txBox="1"/>
          <p:nvPr>
            <p:ph idx="1" type="body"/>
          </p:nvPr>
        </p:nvSpPr>
        <p:spPr>
          <a:xfrm>
            <a:off x="324000" y="759300"/>
            <a:ext cx="6517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plot these points to see the nature of the relationship.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9-11-2023/641bbfc2-d53f-4a7c-a0f7-ae8cbb229cf1&quot; data-equatio-type=&quot;desmos&quot;&gt;&lt;mglyph src=&quot;https://equatio-api.texthelp.com/desmos/get/09-11-2023/641bbfc2-d53f-4a7c-a0f7-ae8cbb229cf1&quot; alt=&quot;Equatio Desmos Graph&quot;/&gt;&lt;/math&gt;" id="914" name="Google Shape;914;p74" title="Equatio Desmos Graph"/>
          <p:cNvPicPr preferRelativeResize="0"/>
          <p:nvPr/>
        </p:nvPicPr>
        <p:blipFill rotWithShape="1">
          <a:blip r:embed="rId3">
            <a:alphaModFix/>
          </a:blip>
          <a:srcRect b="16954" l="7900" r="46326" t="20041"/>
          <a:stretch/>
        </p:blipFill>
        <p:spPr>
          <a:xfrm>
            <a:off x="1075200" y="2164776"/>
            <a:ext cx="2568784" cy="265180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916" name="Google Shape;916;p74"/>
          <p:cNvSpPr txBox="1"/>
          <p:nvPr>
            <p:ph idx="1" type="body"/>
          </p:nvPr>
        </p:nvSpPr>
        <p:spPr>
          <a:xfrm>
            <a:off x="324000" y="1634575"/>
            <a:ext cx="399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(0, 0), (2, 4), (3, 6), (5,10)</a:t>
            </a:r>
            <a:endParaRPr/>
          </a:p>
        </p:txBody>
      </p:sp>
      <p:sp>
        <p:nvSpPr>
          <p:cNvPr id="917" name="Google Shape;917;p74"/>
          <p:cNvSpPr txBox="1"/>
          <p:nvPr>
            <p:ph idx="1" type="body"/>
          </p:nvPr>
        </p:nvSpPr>
        <p:spPr>
          <a:xfrm>
            <a:off x="4320000" y="1623868"/>
            <a:ext cx="4500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-coordinate is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-coordinate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8" name="Google Shape;918;p74"/>
          <p:cNvSpPr txBox="1"/>
          <p:nvPr>
            <p:ph idx="1" type="body"/>
          </p:nvPr>
        </p:nvSpPr>
        <p:spPr>
          <a:xfrm>
            <a:off x="5767800" y="1978915"/>
            <a:ext cx="14544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19" name="Google Shape;919;p74"/>
          <p:cNvCxnSpPr/>
          <p:nvPr/>
        </p:nvCxnSpPr>
        <p:spPr>
          <a:xfrm flipH="1" rot="10800000">
            <a:off x="1247825" y="2161150"/>
            <a:ext cx="1314600" cy="2606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0" name="Google Shape;920;p74"/>
          <p:cNvSpPr txBox="1"/>
          <p:nvPr>
            <p:ph idx="1" type="body"/>
          </p:nvPr>
        </p:nvSpPr>
        <p:spPr>
          <a:xfrm>
            <a:off x="4320000" y="2574527"/>
            <a:ext cx="2405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linear relationship.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1" name="Google Shape;921;p74"/>
          <p:cNvSpPr txBox="1"/>
          <p:nvPr>
            <p:ph idx="1" type="body"/>
          </p:nvPr>
        </p:nvSpPr>
        <p:spPr>
          <a:xfrm>
            <a:off x="324000" y="759300"/>
            <a:ext cx="6517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plot these points to see the nature of the relationship.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9-11-2023/c3c09ff4-4dd1-47b6-a6e1-0d18007a902d&quot; data-equatio-type=&quot;desmos&quot;&gt;&lt;mglyph src=&quot;https://equatio-api.texthelp.com/desmos/get/09-11-2023/c3c09ff4-4dd1-47b6-a6e1-0d18007a902d&quot; alt=&quot;Equatio Desmos Graph&quot;/&gt;&lt;/math&gt;" id="926" name="Google Shape;926;p75" title="Equatio Desmos Graph"/>
          <p:cNvPicPr preferRelativeResize="0"/>
          <p:nvPr/>
        </p:nvPicPr>
        <p:blipFill rotWithShape="1">
          <a:blip r:embed="rId3">
            <a:alphaModFix/>
          </a:blip>
          <a:srcRect b="20085" l="10102" r="44998" t="17806"/>
          <a:stretch/>
        </p:blipFill>
        <p:spPr>
          <a:xfrm>
            <a:off x="1073975" y="2155701"/>
            <a:ext cx="2556068" cy="2651801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928" name="Google Shape;928;p75"/>
          <p:cNvSpPr txBox="1"/>
          <p:nvPr>
            <p:ph idx="1" type="body"/>
          </p:nvPr>
        </p:nvSpPr>
        <p:spPr>
          <a:xfrm>
            <a:off x="324000" y="1627570"/>
            <a:ext cx="399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(0, 10), (2, 8), (3, 7), (7, 3)</a:t>
            </a:r>
            <a:endParaRPr/>
          </a:p>
        </p:txBody>
      </p:sp>
      <p:sp>
        <p:nvSpPr>
          <p:cNvPr id="929" name="Google Shape;929;p75"/>
          <p:cNvSpPr txBox="1"/>
          <p:nvPr>
            <p:ph idx="1" type="body"/>
          </p:nvPr>
        </p:nvSpPr>
        <p:spPr>
          <a:xfrm>
            <a:off x="4320000" y="1641580"/>
            <a:ext cx="4500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-coordinates sum to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10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0" name="Google Shape;930;p75"/>
          <p:cNvSpPr txBox="1"/>
          <p:nvPr>
            <p:ph idx="1" type="body"/>
          </p:nvPr>
        </p:nvSpPr>
        <p:spPr>
          <a:xfrm>
            <a:off x="5767800" y="1999502"/>
            <a:ext cx="14544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31" name="Google Shape;931;p75"/>
          <p:cNvCxnSpPr/>
          <p:nvPr/>
        </p:nvCxnSpPr>
        <p:spPr>
          <a:xfrm>
            <a:off x="1086350" y="2218850"/>
            <a:ext cx="2502600" cy="2514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2" name="Google Shape;932;p75"/>
          <p:cNvSpPr txBox="1"/>
          <p:nvPr>
            <p:ph idx="1" type="body"/>
          </p:nvPr>
        </p:nvSpPr>
        <p:spPr>
          <a:xfrm>
            <a:off x="4320000" y="2574527"/>
            <a:ext cx="2405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linear relationship.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3" name="Google Shape;933;p75"/>
          <p:cNvSpPr txBox="1"/>
          <p:nvPr>
            <p:ph idx="1" type="body"/>
          </p:nvPr>
        </p:nvSpPr>
        <p:spPr>
          <a:xfrm>
            <a:off x="324000" y="759300"/>
            <a:ext cx="6517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plot these points to see the nature of the relationship.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7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-coordinate is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-coordinate plus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/>
          </a:p>
        </p:txBody>
      </p:sp>
      <p:sp>
        <p:nvSpPr>
          <p:cNvPr id="939" name="Google Shape;939;p7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940" name="Google Shape;940;p76"/>
          <p:cNvSpPr txBox="1"/>
          <p:nvPr>
            <p:ph type="title"/>
          </p:nvPr>
        </p:nvSpPr>
        <p:spPr>
          <a:xfrm>
            <a:off x="324000" y="74877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relationship do you see in these coordinates?</a:t>
            </a:r>
            <a:endParaRPr/>
          </a:p>
        </p:txBody>
      </p:sp>
      <p:sp>
        <p:nvSpPr>
          <p:cNvPr id="941" name="Google Shape;941;p7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-coordinate is double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-coordinate</a:t>
            </a:r>
            <a:endParaRPr/>
          </a:p>
        </p:txBody>
      </p:sp>
      <p:sp>
        <p:nvSpPr>
          <p:cNvPr id="942" name="Google Shape;942;p7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-coordinate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-coordinate </a:t>
            </a:r>
            <a:r>
              <a:rPr lang="en-GB">
                <a:solidFill>
                  <a:schemeClr val="accent4"/>
                </a:solidFill>
              </a:rPr>
              <a:t>sum </a:t>
            </a:r>
            <a:r>
              <a:rPr lang="en-GB"/>
              <a:t>to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943" name="Google Shape;943;p76"/>
          <p:cNvSpPr txBox="1"/>
          <p:nvPr/>
        </p:nvSpPr>
        <p:spPr>
          <a:xfrm>
            <a:off x="334870" y="1143000"/>
            <a:ext cx="273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6), (0, 3), (−3, 0)</a:t>
            </a:r>
            <a:endParaRPr/>
          </a:p>
        </p:txBody>
      </p:sp>
      <p:pic>
        <p:nvPicPr>
          <p:cNvPr id="944" name="Google Shape;94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3756" y="183778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76"/>
          <p:cNvSpPr txBox="1"/>
          <p:nvPr>
            <p:ph idx="4294967295" type="body"/>
          </p:nvPr>
        </p:nvSpPr>
        <p:spPr>
          <a:xfrm>
            <a:off x="1195800" y="2281260"/>
            <a:ext cx="54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coordinates fit the relationship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6" name="Google Shape;946;p76"/>
          <p:cNvSpPr txBox="1"/>
          <p:nvPr>
            <p:ph idx="4294967295" type="body"/>
          </p:nvPr>
        </p:nvSpPr>
        <p:spPr>
          <a:xfrm>
            <a:off x="1195800" y="3218725"/>
            <a:ext cx="38001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Only true for the first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coordinate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7" name="Google Shape;947;p76"/>
          <p:cNvSpPr txBox="1"/>
          <p:nvPr>
            <p:ph idx="4294967295" type="body"/>
          </p:nvPr>
        </p:nvSpPr>
        <p:spPr>
          <a:xfrm>
            <a:off x="1202800" y="4209325"/>
            <a:ext cx="43191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Only true for the second coordinate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953" name="Google Shape;953;p77"/>
          <p:cNvSpPr txBox="1"/>
          <p:nvPr>
            <p:ph idx="1" type="body"/>
          </p:nvPr>
        </p:nvSpPr>
        <p:spPr>
          <a:xfrm>
            <a:off x="324000" y="2160975"/>
            <a:ext cx="1360800" cy="21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(1, −2)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(0, −5)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(5, 10)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(3, 4)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(−2, −11)</a:t>
            </a:r>
            <a:endParaRPr/>
          </a:p>
        </p:txBody>
      </p:sp>
      <p:sp>
        <p:nvSpPr>
          <p:cNvPr id="954" name="Google Shape;954;p77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We can work the other way around. We can use a relationship to generate coordinates.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77"/>
          <p:cNvSpPr txBox="1"/>
          <p:nvPr>
            <p:ph idx="4294967295" type="title"/>
          </p:nvPr>
        </p:nvSpPr>
        <p:spPr>
          <a:xfrm>
            <a:off x="324000" y="1586975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The </a:t>
            </a:r>
            <a:r>
              <a:rPr b="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lang="en-GB" sz="2000"/>
              <a:t>-coordinate is three times the </a:t>
            </a:r>
            <a:r>
              <a:rPr b="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lang="en-GB" sz="2000"/>
              <a:t>-</a:t>
            </a:r>
            <a:r>
              <a:rPr b="0" lang="en-GB" sz="2000"/>
              <a:t>co</a:t>
            </a:r>
            <a:r>
              <a:rPr b="0" lang="en-GB" sz="2000"/>
              <a:t>ordinate then minus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/>
          </a:p>
        </p:txBody>
      </p:sp>
      <p:pic>
        <p:nvPicPr>
          <p:cNvPr descr="&lt;math xmlns=&quot;http://www.w3.org/1998/Math/MathML&quot; data-is-equatio=&quot;1&quot; data-equatio-url=&quot;https://equatio-api.texthelp.com/desmos/get/09-11-2023/e08e59be-277c-4054-a404-4ec461d794f1&quot; data-equatio-type=&quot;desmos&quot;&gt;&lt;mglyph src=&quot;https://equatio-api.texthelp.com/desmos/get/09-11-2023/e08e59be-277c-4054-a404-4ec461d794f1&quot; alt=&quot;Equatio Desmos Graph&quot;/&gt;&lt;/math&gt;" id="956" name="Google Shape;956;p77" title="Equatio Desmos Graph"/>
          <p:cNvPicPr preferRelativeResize="0"/>
          <p:nvPr/>
        </p:nvPicPr>
        <p:blipFill rotWithShape="1">
          <a:blip r:embed="rId3">
            <a:alphaModFix/>
          </a:blip>
          <a:srcRect b="10896" l="6402" r="44156" t="4573"/>
          <a:stretch/>
        </p:blipFill>
        <p:spPr>
          <a:xfrm>
            <a:off x="2887189" y="2160975"/>
            <a:ext cx="2067098" cy="2650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7" name="Google Shape;957;p77"/>
          <p:cNvCxnSpPr/>
          <p:nvPr/>
        </p:nvCxnSpPr>
        <p:spPr>
          <a:xfrm flipH="1" rot="10800000">
            <a:off x="3381375" y="2151800"/>
            <a:ext cx="885900" cy="2663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8" name="Google Shape;958;p77"/>
          <p:cNvSpPr txBox="1"/>
          <p:nvPr>
            <p:ph idx="1" type="body"/>
          </p:nvPr>
        </p:nvSpPr>
        <p:spPr>
          <a:xfrm>
            <a:off x="5445900" y="3518100"/>
            <a:ext cx="2627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This is the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linear relationship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9" name="Google Shape;959;p77"/>
          <p:cNvSpPr txBox="1"/>
          <p:nvPr>
            <p:ph idx="4294967295" type="title"/>
          </p:nvPr>
        </p:nvSpPr>
        <p:spPr>
          <a:xfrm>
            <a:off x="5445900" y="2151800"/>
            <a:ext cx="3374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What are the remaining missing </a:t>
            </a:r>
            <a:r>
              <a:rPr b="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lang="en-GB" sz="2000"/>
              <a:t>-coordinates?</a:t>
            </a:r>
            <a:endParaRPr b="0" sz="2000"/>
          </a:p>
        </p:txBody>
      </p:sp>
      <p:grpSp>
        <p:nvGrpSpPr>
          <p:cNvPr id="960" name="Google Shape;960;p77"/>
          <p:cNvGrpSpPr/>
          <p:nvPr/>
        </p:nvGrpSpPr>
        <p:grpSpPr>
          <a:xfrm>
            <a:off x="713435" y="2214810"/>
            <a:ext cx="358340" cy="363590"/>
            <a:chOff x="682735" y="2195785"/>
            <a:chExt cx="358340" cy="363590"/>
          </a:xfrm>
        </p:grpSpPr>
        <p:sp>
          <p:nvSpPr>
            <p:cNvPr id="961" name="Google Shape;961;p77"/>
            <p:cNvSpPr/>
            <p:nvPr/>
          </p:nvSpPr>
          <p:spPr>
            <a:xfrm>
              <a:off x="682735" y="2195785"/>
              <a:ext cx="357600" cy="352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62" name="Google Shape;962;p77"/>
            <p:cNvCxnSpPr/>
            <p:nvPr/>
          </p:nvCxnSpPr>
          <p:spPr>
            <a:xfrm rot="10800000">
              <a:off x="688575" y="2559375"/>
              <a:ext cx="352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63" name="Google Shape;963;p77"/>
          <p:cNvGrpSpPr/>
          <p:nvPr/>
        </p:nvGrpSpPr>
        <p:grpSpPr>
          <a:xfrm>
            <a:off x="713435" y="2716635"/>
            <a:ext cx="358340" cy="363590"/>
            <a:chOff x="682735" y="2195785"/>
            <a:chExt cx="358340" cy="363590"/>
          </a:xfrm>
        </p:grpSpPr>
        <p:sp>
          <p:nvSpPr>
            <p:cNvPr id="964" name="Google Shape;964;p77"/>
            <p:cNvSpPr/>
            <p:nvPr/>
          </p:nvSpPr>
          <p:spPr>
            <a:xfrm>
              <a:off x="682735" y="2195785"/>
              <a:ext cx="357600" cy="352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65" name="Google Shape;965;p77"/>
            <p:cNvCxnSpPr/>
            <p:nvPr/>
          </p:nvCxnSpPr>
          <p:spPr>
            <a:xfrm rot="10800000">
              <a:off x="688575" y="2559375"/>
              <a:ext cx="352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66" name="Google Shape;966;p77"/>
          <p:cNvGrpSpPr/>
          <p:nvPr/>
        </p:nvGrpSpPr>
        <p:grpSpPr>
          <a:xfrm>
            <a:off x="713435" y="3301560"/>
            <a:ext cx="358340" cy="363590"/>
            <a:chOff x="682735" y="2195785"/>
            <a:chExt cx="358340" cy="363590"/>
          </a:xfrm>
        </p:grpSpPr>
        <p:sp>
          <p:nvSpPr>
            <p:cNvPr id="967" name="Google Shape;967;p77"/>
            <p:cNvSpPr/>
            <p:nvPr/>
          </p:nvSpPr>
          <p:spPr>
            <a:xfrm>
              <a:off x="682735" y="2195785"/>
              <a:ext cx="357600" cy="352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68" name="Google Shape;968;p77"/>
            <p:cNvCxnSpPr/>
            <p:nvPr/>
          </p:nvCxnSpPr>
          <p:spPr>
            <a:xfrm rot="10800000">
              <a:off x="688575" y="2559375"/>
              <a:ext cx="352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69" name="Google Shape;969;p77"/>
          <p:cNvGrpSpPr/>
          <p:nvPr/>
        </p:nvGrpSpPr>
        <p:grpSpPr>
          <a:xfrm>
            <a:off x="713435" y="3829860"/>
            <a:ext cx="358340" cy="363590"/>
            <a:chOff x="682735" y="2195785"/>
            <a:chExt cx="358340" cy="363590"/>
          </a:xfrm>
        </p:grpSpPr>
        <p:sp>
          <p:nvSpPr>
            <p:cNvPr id="970" name="Google Shape;970;p77"/>
            <p:cNvSpPr/>
            <p:nvPr/>
          </p:nvSpPr>
          <p:spPr>
            <a:xfrm>
              <a:off x="682735" y="2195785"/>
              <a:ext cx="357600" cy="352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71" name="Google Shape;971;p77"/>
            <p:cNvCxnSpPr/>
            <p:nvPr/>
          </p:nvCxnSpPr>
          <p:spPr>
            <a:xfrm rot="10800000">
              <a:off x="688575" y="2559375"/>
              <a:ext cx="352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2" name="Google Shape;972;p77"/>
          <p:cNvGrpSpPr/>
          <p:nvPr/>
        </p:nvGrpSpPr>
        <p:grpSpPr>
          <a:xfrm>
            <a:off x="911794" y="4319940"/>
            <a:ext cx="425923" cy="363590"/>
            <a:chOff x="682735" y="2195785"/>
            <a:chExt cx="358340" cy="363590"/>
          </a:xfrm>
        </p:grpSpPr>
        <p:sp>
          <p:nvSpPr>
            <p:cNvPr id="973" name="Google Shape;973;p77"/>
            <p:cNvSpPr/>
            <p:nvPr/>
          </p:nvSpPr>
          <p:spPr>
            <a:xfrm>
              <a:off x="682735" y="2195785"/>
              <a:ext cx="357600" cy="352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74" name="Google Shape;974;p77"/>
            <p:cNvCxnSpPr/>
            <p:nvPr/>
          </p:nvCxnSpPr>
          <p:spPr>
            <a:xfrm rot="10800000">
              <a:off x="688575" y="2559375"/>
              <a:ext cx="352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980" name="Google Shape;980;p78"/>
          <p:cNvSpPr txBox="1"/>
          <p:nvPr>
            <p:ph idx="1" type="body"/>
          </p:nvPr>
        </p:nvSpPr>
        <p:spPr>
          <a:xfrm>
            <a:off x="324000" y="74735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can be useful to use a table of values to plot such a relationship.</a:t>
            </a:r>
            <a:endParaRPr sz="2000"/>
          </a:p>
        </p:txBody>
      </p:sp>
      <p:sp>
        <p:nvSpPr>
          <p:cNvPr id="981" name="Google Shape;981;p78"/>
          <p:cNvSpPr txBox="1"/>
          <p:nvPr>
            <p:ph idx="1" type="body"/>
          </p:nvPr>
        </p:nvSpPr>
        <p:spPr>
          <a:xfrm>
            <a:off x="357600" y="1618500"/>
            <a:ext cx="13041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82" name="Google Shape;982;p78"/>
          <p:cNvGraphicFramePr/>
          <p:nvPr/>
        </p:nvGraphicFramePr>
        <p:xfrm>
          <a:off x="349815" y="2184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490900"/>
                <a:gridCol w="421475"/>
                <a:gridCol w="421475"/>
                <a:gridCol w="421475"/>
                <a:gridCol w="421475"/>
                <a:gridCol w="421475"/>
                <a:gridCol w="421475"/>
              </a:tblGrid>
              <a:tr h="41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3" name="Google Shape;983;p78"/>
          <p:cNvSpPr txBox="1"/>
          <p:nvPr>
            <p:ph idx="4294967295" type="title"/>
          </p:nvPr>
        </p:nvSpPr>
        <p:spPr>
          <a:xfrm>
            <a:off x="4142269" y="2051227"/>
            <a:ext cx="18837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b="0" lang="en-GB" sz="2400">
                <a:latin typeface="Times New Roman"/>
                <a:ea typeface="Times New Roman"/>
                <a:cs typeface="Times New Roman"/>
                <a:sym typeface="Times New Roman"/>
              </a:rPr>
              <a:t>(0) + 3</a:t>
            </a:r>
            <a:endParaRPr b="0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>
                <a:latin typeface="Times New Roman"/>
                <a:ea typeface="Times New Roman"/>
                <a:cs typeface="Times New Roman"/>
                <a:sym typeface="Times New Roman"/>
              </a:rPr>
              <a:t>= 0 + 3 = 3</a:t>
            </a:r>
            <a:endParaRPr b="0"/>
          </a:p>
        </p:txBody>
      </p:sp>
      <p:sp>
        <p:nvSpPr>
          <p:cNvPr id="984" name="Google Shape;984;p78"/>
          <p:cNvSpPr txBox="1"/>
          <p:nvPr>
            <p:ph idx="1" type="body"/>
          </p:nvPr>
        </p:nvSpPr>
        <p:spPr>
          <a:xfrm>
            <a:off x="3932375" y="1618502"/>
            <a:ext cx="13041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5" name="Google Shape;985;p78"/>
          <p:cNvSpPr txBox="1"/>
          <p:nvPr>
            <p:ph idx="4294967295" type="title"/>
          </p:nvPr>
        </p:nvSpPr>
        <p:spPr>
          <a:xfrm>
            <a:off x="6459505" y="2051227"/>
            <a:ext cx="18837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>
                <a:latin typeface="Times New Roman"/>
                <a:ea typeface="Times New Roman"/>
                <a:cs typeface="Times New Roman"/>
                <a:sym typeface="Times New Roman"/>
              </a:rPr>
              <a:t>= 5(1) + 3</a:t>
            </a:r>
            <a:endParaRPr b="0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>
                <a:latin typeface="Times New Roman"/>
                <a:ea typeface="Times New Roman"/>
                <a:cs typeface="Times New Roman"/>
                <a:sym typeface="Times New Roman"/>
              </a:rPr>
              <a:t>= 5 + 3 = 8</a:t>
            </a:r>
            <a:endParaRPr b="0"/>
          </a:p>
        </p:txBody>
      </p:sp>
      <p:sp>
        <p:nvSpPr>
          <p:cNvPr id="986" name="Google Shape;986;p78"/>
          <p:cNvSpPr txBox="1"/>
          <p:nvPr>
            <p:ph idx="1" type="body"/>
          </p:nvPr>
        </p:nvSpPr>
        <p:spPr>
          <a:xfrm>
            <a:off x="324000" y="35787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Plotting consecutive integer values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allows us to more easily see patterns in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coordinates generated by a relationship.</a:t>
            </a:r>
            <a:endParaRPr sz="2000"/>
          </a:p>
        </p:txBody>
      </p:sp>
      <p:sp>
        <p:nvSpPr>
          <p:cNvPr id="987" name="Google Shape;987;p78"/>
          <p:cNvSpPr/>
          <p:nvPr/>
        </p:nvSpPr>
        <p:spPr>
          <a:xfrm>
            <a:off x="885125" y="2683100"/>
            <a:ext cx="330000" cy="2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8"/>
          <p:cNvSpPr/>
          <p:nvPr/>
        </p:nvSpPr>
        <p:spPr>
          <a:xfrm>
            <a:off x="1308227" y="2685300"/>
            <a:ext cx="330000" cy="2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9" name="Google Shape;989;p78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1814644" y="2998902"/>
            <a:ext cx="555168" cy="447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78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2224057" y="2998902"/>
            <a:ext cx="555168" cy="447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78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2636819" y="2998902"/>
            <a:ext cx="555168" cy="447252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78"/>
          <p:cNvSpPr/>
          <p:nvPr/>
        </p:nvSpPr>
        <p:spPr>
          <a:xfrm>
            <a:off x="1731327" y="2685300"/>
            <a:ext cx="330000" cy="2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8"/>
          <p:cNvSpPr/>
          <p:nvPr/>
        </p:nvSpPr>
        <p:spPr>
          <a:xfrm>
            <a:off x="2154427" y="2685300"/>
            <a:ext cx="330000" cy="2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8"/>
          <p:cNvSpPr/>
          <p:nvPr/>
        </p:nvSpPr>
        <p:spPr>
          <a:xfrm>
            <a:off x="2577527" y="2683100"/>
            <a:ext cx="330000" cy="2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8"/>
          <p:cNvSpPr/>
          <p:nvPr/>
        </p:nvSpPr>
        <p:spPr>
          <a:xfrm>
            <a:off x="3000627" y="2683100"/>
            <a:ext cx="330000" cy="2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9-11-2023/35152c4a-4c55-4533-b8ff-8bf1fec7fedc&quot; data-equatio-type=&quot;desmos&quot;&gt;&lt;mglyph src=&quot;https://equatio-api.texthelp.com/desmos/get/09-11-2023/35152c4a-4c55-4533-b8ff-8bf1fec7fedc&quot; alt=&quot;Equatio Desmos Graph&quot;/&gt;&lt;/math&gt;" id="1000" name="Google Shape;1000;p79" title="Equatio Desmos Graph"/>
          <p:cNvPicPr preferRelativeResize="0"/>
          <p:nvPr/>
        </p:nvPicPr>
        <p:blipFill rotWithShape="1">
          <a:blip r:embed="rId3">
            <a:alphaModFix/>
          </a:blip>
          <a:srcRect b="0" l="18586" r="55331" t="0"/>
          <a:stretch/>
        </p:blipFill>
        <p:spPr>
          <a:xfrm>
            <a:off x="4822153" y="1278075"/>
            <a:ext cx="1370876" cy="3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1002" name="Google Shape;1002;p79"/>
          <p:cNvSpPr txBox="1"/>
          <p:nvPr>
            <p:ph idx="1" type="body"/>
          </p:nvPr>
        </p:nvSpPr>
        <p:spPr>
          <a:xfrm>
            <a:off x="324000" y="759300"/>
            <a:ext cx="7135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Sometimes we’ll have to substitute negative numbers from</a:t>
            </a:r>
            <a:r>
              <a:rPr lang="en-GB" sz="2000"/>
              <a:t> a table of values.</a:t>
            </a:r>
            <a:endParaRPr sz="2000"/>
          </a:p>
        </p:txBody>
      </p:sp>
      <p:sp>
        <p:nvSpPr>
          <p:cNvPr id="1003" name="Google Shape;1003;p79"/>
          <p:cNvSpPr txBox="1"/>
          <p:nvPr>
            <p:ph idx="1" type="body"/>
          </p:nvPr>
        </p:nvSpPr>
        <p:spPr>
          <a:xfrm>
            <a:off x="357600" y="1618500"/>
            <a:ext cx="16956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9 − 4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04" name="Google Shape;1004;p79"/>
          <p:cNvGraphicFramePr/>
          <p:nvPr/>
        </p:nvGraphicFramePr>
        <p:xfrm>
          <a:off x="349815" y="2184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547175"/>
                <a:gridCol w="469800"/>
                <a:gridCol w="469800"/>
                <a:gridCol w="469800"/>
                <a:gridCol w="469800"/>
                <a:gridCol w="469800"/>
                <a:gridCol w="469800"/>
                <a:gridCol w="469800"/>
              </a:tblGrid>
              <a:tr h="41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05" name="Google Shape;1005;p79"/>
          <p:cNvCxnSpPr/>
          <p:nvPr/>
        </p:nvCxnSpPr>
        <p:spPr>
          <a:xfrm rot="10800000">
            <a:off x="5176825" y="1295275"/>
            <a:ext cx="708000" cy="3508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6" name="Google Shape;1006;p79"/>
          <p:cNvSpPr txBox="1"/>
          <p:nvPr>
            <p:ph idx="1" type="body"/>
          </p:nvPr>
        </p:nvSpPr>
        <p:spPr>
          <a:xfrm>
            <a:off x="6249100" y="2168925"/>
            <a:ext cx="24573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linear relationship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9 − 4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7" name="Google Shape;1007;p79"/>
          <p:cNvSpPr txBox="1"/>
          <p:nvPr>
            <p:ph idx="1" type="body"/>
          </p:nvPr>
        </p:nvSpPr>
        <p:spPr>
          <a:xfrm>
            <a:off x="324000" y="3426300"/>
            <a:ext cx="4721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Start with the zero and positive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values and try to spot a pattern.</a:t>
            </a:r>
            <a:endParaRPr sz="2000"/>
          </a:p>
        </p:txBody>
      </p:sp>
      <p:graphicFrame>
        <p:nvGraphicFramePr>
          <p:cNvPr id="1008" name="Google Shape;1008;p79"/>
          <p:cNvGraphicFramePr/>
          <p:nvPr/>
        </p:nvGraphicFramePr>
        <p:xfrm>
          <a:off x="349815" y="2184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547175"/>
                <a:gridCol w="469800"/>
                <a:gridCol w="469800"/>
                <a:gridCol w="469800"/>
                <a:gridCol w="469800"/>
                <a:gridCol w="469800"/>
                <a:gridCol w="469800"/>
                <a:gridCol w="469800"/>
              </a:tblGrid>
              <a:tr h="41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9" name="Google Shape;1009;p79"/>
          <p:cNvSpPr/>
          <p:nvPr/>
        </p:nvSpPr>
        <p:spPr>
          <a:xfrm>
            <a:off x="2286074" y="2149588"/>
            <a:ext cx="1920300" cy="463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0" name="Google Shape;1010;p79"/>
          <p:cNvGrpSpPr/>
          <p:nvPr/>
        </p:nvGrpSpPr>
        <p:grpSpPr>
          <a:xfrm>
            <a:off x="2460661" y="3006573"/>
            <a:ext cx="1572762" cy="447252"/>
            <a:chOff x="2460661" y="3006573"/>
            <a:chExt cx="1572762" cy="447252"/>
          </a:xfrm>
        </p:grpSpPr>
        <p:pic>
          <p:nvPicPr>
            <p:cNvPr id="1011" name="Google Shape;1011;p79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2460661" y="3006573"/>
              <a:ext cx="603288" cy="447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2" name="Google Shape;1012;p79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2940320" y="3006573"/>
              <a:ext cx="603288" cy="447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3" name="Google Shape;1013;p79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3430135" y="3006573"/>
              <a:ext cx="603288" cy="4472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4" name="Google Shape;1014;p79"/>
          <p:cNvGrpSpPr/>
          <p:nvPr/>
        </p:nvGrpSpPr>
        <p:grpSpPr>
          <a:xfrm>
            <a:off x="1001625" y="3006573"/>
            <a:ext cx="1575744" cy="447252"/>
            <a:chOff x="1001625" y="3006573"/>
            <a:chExt cx="1575744" cy="447252"/>
          </a:xfrm>
        </p:grpSpPr>
        <p:pic>
          <p:nvPicPr>
            <p:cNvPr id="1015" name="Google Shape;1015;p79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494422" y="3006573"/>
              <a:ext cx="603288" cy="447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6" name="Google Shape;1016;p79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974081" y="3006573"/>
              <a:ext cx="603288" cy="447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7" name="Google Shape;1017;p79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001625" y="3006573"/>
              <a:ext cx="603288" cy="447252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018" name="Google Shape;1018;p79"/>
          <p:cNvGraphicFramePr/>
          <p:nvPr/>
        </p:nvGraphicFramePr>
        <p:xfrm>
          <a:off x="349815" y="2184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547175"/>
                <a:gridCol w="469800"/>
                <a:gridCol w="469800"/>
                <a:gridCol w="469800"/>
                <a:gridCol w="469800"/>
                <a:gridCol w="469800"/>
                <a:gridCol w="469800"/>
                <a:gridCol w="469800"/>
              </a:tblGrid>
              <a:tr h="41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graphicFrame>
        <p:nvGraphicFramePr>
          <p:cNvPr id="1024" name="Google Shape;1024;p80"/>
          <p:cNvGraphicFramePr/>
          <p:nvPr/>
        </p:nvGraphicFramePr>
        <p:xfrm>
          <a:off x="3681791" y="21368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584875"/>
                <a:gridCol w="502175"/>
                <a:gridCol w="502175"/>
                <a:gridCol w="502175"/>
                <a:gridCol w="502175"/>
                <a:gridCol w="502175"/>
                <a:gridCol w="502175"/>
              </a:tblGrid>
              <a:tr h="60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5" name="Google Shape;1025;p80"/>
          <p:cNvSpPr txBox="1"/>
          <p:nvPr>
            <p:ph type="title"/>
          </p:nvPr>
        </p:nvSpPr>
        <p:spPr>
          <a:xfrm>
            <a:off x="324000" y="675000"/>
            <a:ext cx="70938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are the two missing values from this table of values for the relationship                       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\frac{1}{2}x-\frac{1}{3}&quot;&gt;&lt;mi&gt;y&lt;/mi&gt;&lt;mo&gt;=&lt;/mo&gt;&lt;mfrac&gt;&lt;mn&gt;1&lt;/mn&gt;&lt;mn&gt;2&lt;/mn&gt;&lt;/mfrac&gt;&lt;mi&gt;x&lt;/mi&gt;&lt;mo&gt;−&lt;/mo&gt;&lt;mfrac&gt;&lt;mn&gt;1&lt;/mn&gt;&lt;mn&gt;3&lt;/mn&gt;&lt;/mfrac&gt;&lt;/math&gt;" id="1026" name="Google Shape;1026;p80" title="y equals one half x minu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019" y="1142287"/>
            <a:ext cx="1372700" cy="57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}&quot;&gt;&lt;mo&gt;−&lt;/mo&gt;&lt;mfrac&gt;&lt;mn&gt;1&lt;/mn&gt;&lt;mn&gt;3&lt;/mn&gt;&lt;/mfrac&gt;&lt;/math&gt;" id="1027" name="Google Shape;1027;p80" title="negative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6800" y="1571562"/>
            <a:ext cx="435481" cy="657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5}{3}&quot;&gt;&lt;mo&gt;−&lt;/mo&gt;&lt;mfrac&gt;&lt;mn&gt;5&lt;/mn&gt;&lt;mn&gt;3&lt;/mn&gt;&lt;/mfrac&gt;&lt;/math&gt;" id="1028" name="Google Shape;1028;p80" title="negative five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5734" y="4038016"/>
            <a:ext cx="435482" cy="660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2}{3}&quot;&gt;&lt;mo&gt;−&lt;/mo&gt;&lt;mfrac&gt;&lt;mn&gt;2&lt;/mn&gt;&lt;mn&gt;3&lt;/mn&gt;&lt;/mfrac&gt;&lt;/math&gt;" id="1029" name="Google Shape;1029;p80" title="negative 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4969" y="2400020"/>
            <a:ext cx="435481" cy="657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030" name="Google Shape;1030;p80" title="one six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69899" y="3228479"/>
            <a:ext cx="198807" cy="639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}&quot;&gt;&lt;mo&gt;−&lt;/mo&gt;&lt;mfrac&gt;&lt;mn&gt;1&lt;/mn&gt;&lt;mn&gt;3&lt;/mn&gt;&lt;/mfrac&gt;&lt;/math&gt;" id="1031" name="Google Shape;1031;p80" title="negative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2901" y="2811212"/>
            <a:ext cx="278325" cy="4205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5}{6}&quot;&gt;&lt;mo&gt;−&lt;/mo&gt;&lt;mfrac&gt;&lt;mn&gt;5&lt;/mn&gt;&lt;mn&gt;6&lt;/mn&gt;&lt;/mfrac&gt;&lt;/math&gt;" id="1032" name="Google Shape;1032;p80" title="negative five six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69349" y="2822437"/>
            <a:ext cx="27832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033" name="Google Shape;1033;p80" title="one six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82475" y="2775950"/>
            <a:ext cx="159300" cy="51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034" name="Google Shape;1034;p80" title="two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43016" y="2763395"/>
            <a:ext cx="159309" cy="52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3}&quot;&gt;&lt;mfrac&gt;&lt;mn&gt;5&lt;/mn&gt;&lt;mn&gt;3&lt;/mn&gt;&lt;/mfrac&gt;&lt;/math&gt;" id="1035" name="Google Shape;1035;p80" title="five third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31194" y="2764437"/>
            <a:ext cx="166478" cy="5351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6}&quot;&gt;&lt;mfrac&gt;&lt;mn&gt;7&lt;/mn&gt;&lt;mn&gt;6&lt;/mn&gt;&lt;/mfrac&gt;&lt;/math&gt;" id="1036" name="Google Shape;1036;p80" title="seven six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41969" y="2771312"/>
            <a:ext cx="159309" cy="512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4806" y="177400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8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4806" y="337420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81"/>
          <p:cNvSpPr txBox="1"/>
          <p:nvPr>
            <p:ph idx="1" type="body"/>
          </p:nvPr>
        </p:nvSpPr>
        <p:spPr>
          <a:xfrm>
            <a:off x="324000" y="759300"/>
            <a:ext cx="8237700" cy="37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Match the relationship to the table of values.</a:t>
            </a:r>
            <a:endParaRPr/>
          </a:p>
        </p:txBody>
      </p:sp>
      <p:sp>
        <p:nvSpPr>
          <p:cNvPr id="1044" name="Google Shape;104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1045" name="Google Shape;1045;p81"/>
          <p:cNvSpPr txBox="1"/>
          <p:nvPr>
            <p:ph idx="1" type="body"/>
          </p:nvPr>
        </p:nvSpPr>
        <p:spPr>
          <a:xfrm>
            <a:off x="1601700" y="1313700"/>
            <a:ext cx="1282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46" name="Google Shape;1046;p81"/>
          <p:cNvGraphicFramePr/>
          <p:nvPr/>
        </p:nvGraphicFramePr>
        <p:xfrm>
          <a:off x="4828108" y="12087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547175"/>
                <a:gridCol w="469800"/>
                <a:gridCol w="469800"/>
                <a:gridCol w="469800"/>
                <a:gridCol w="469800"/>
                <a:gridCol w="469800"/>
              </a:tblGrid>
              <a:tr h="343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7" name="Google Shape;1047;p81"/>
          <p:cNvGraphicFramePr/>
          <p:nvPr/>
        </p:nvGraphicFramePr>
        <p:xfrm>
          <a:off x="4828108" y="21530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547175"/>
                <a:gridCol w="469800"/>
                <a:gridCol w="469800"/>
                <a:gridCol w="469800"/>
                <a:gridCol w="469800"/>
                <a:gridCol w="469800"/>
              </a:tblGrid>
              <a:tr h="343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8" name="Google Shape;1048;p81"/>
          <p:cNvGraphicFramePr/>
          <p:nvPr/>
        </p:nvGraphicFramePr>
        <p:xfrm>
          <a:off x="4828108" y="4043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547175"/>
                <a:gridCol w="469800"/>
                <a:gridCol w="469800"/>
                <a:gridCol w="469800"/>
                <a:gridCol w="469800"/>
                <a:gridCol w="469800"/>
              </a:tblGrid>
              <a:tr h="343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9" name="Google Shape;1049;p81"/>
          <p:cNvSpPr txBox="1"/>
          <p:nvPr>
            <p:ph idx="1" type="body"/>
          </p:nvPr>
        </p:nvSpPr>
        <p:spPr>
          <a:xfrm>
            <a:off x="1424400" y="2304300"/>
            <a:ext cx="14601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5 − 2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0" name="Google Shape;1050;p81"/>
          <p:cNvSpPr txBox="1"/>
          <p:nvPr>
            <p:ph idx="1" type="body"/>
          </p:nvPr>
        </p:nvSpPr>
        <p:spPr>
          <a:xfrm>
            <a:off x="1601700" y="3218700"/>
            <a:ext cx="1282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1" name="Google Shape;1051;p81"/>
          <p:cNvSpPr txBox="1"/>
          <p:nvPr>
            <p:ph idx="1" type="body"/>
          </p:nvPr>
        </p:nvSpPr>
        <p:spPr>
          <a:xfrm>
            <a:off x="1476600" y="4209300"/>
            <a:ext cx="14079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52" name="Google Shape;1052;p81"/>
          <p:cNvGraphicFramePr/>
          <p:nvPr/>
        </p:nvGraphicFramePr>
        <p:xfrm>
          <a:off x="4828108" y="30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547175"/>
                <a:gridCol w="469800"/>
                <a:gridCol w="469800"/>
                <a:gridCol w="469800"/>
                <a:gridCol w="469800"/>
                <a:gridCol w="469800"/>
              </a:tblGrid>
              <a:tr h="343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53" name="Google Shape;1053;p81"/>
          <p:cNvCxnSpPr>
            <a:endCxn id="1045" idx="3"/>
          </p:cNvCxnSpPr>
          <p:nvPr/>
        </p:nvCxnSpPr>
        <p:spPr>
          <a:xfrm rot="10800000">
            <a:off x="2884500" y="1521600"/>
            <a:ext cx="1959000" cy="2907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4" name="Google Shape;1054;p81"/>
          <p:cNvCxnSpPr>
            <a:endCxn id="1049" idx="3"/>
          </p:cNvCxnSpPr>
          <p:nvPr/>
        </p:nvCxnSpPr>
        <p:spPr>
          <a:xfrm flipH="1">
            <a:off x="2884500" y="1597200"/>
            <a:ext cx="1938300" cy="915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81"/>
          <p:cNvCxnSpPr>
            <a:endCxn id="1050" idx="3"/>
          </p:cNvCxnSpPr>
          <p:nvPr/>
        </p:nvCxnSpPr>
        <p:spPr>
          <a:xfrm flipH="1">
            <a:off x="2884500" y="2511600"/>
            <a:ext cx="1938300" cy="915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81"/>
          <p:cNvCxnSpPr/>
          <p:nvPr/>
        </p:nvCxnSpPr>
        <p:spPr>
          <a:xfrm flipH="1">
            <a:off x="2884500" y="3502200"/>
            <a:ext cx="1938300" cy="915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9-11-2023/de693b11-d95a-4434-a79f-3e65d0c596c8&quot; data-equatio-type=&quot;desmos&quot;&gt;&lt;mglyph src=&quot;https://equatio-api.texthelp.com/desmos/get/09-11-2023/de693b11-d95a-4434-a79f-3e65d0c596c8&quot; alt=&quot;Equatio Desmos Graph&quot;/&gt;&lt;/math&gt;" id="1061" name="Google Shape;1061;p82" title="Equatio Desmos Graph"/>
          <p:cNvPicPr preferRelativeResize="0"/>
          <p:nvPr/>
        </p:nvPicPr>
        <p:blipFill rotWithShape="1">
          <a:blip r:embed="rId3">
            <a:alphaModFix/>
          </a:blip>
          <a:srcRect b="0" l="17981" r="20224" t="12426"/>
          <a:stretch/>
        </p:blipFill>
        <p:spPr>
          <a:xfrm>
            <a:off x="4322650" y="1082525"/>
            <a:ext cx="3425100" cy="372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8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73800" y="1215437"/>
            <a:ext cx="3641001" cy="1516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1064" name="Google Shape;1064;p82"/>
          <p:cNvSpPr txBox="1"/>
          <p:nvPr>
            <p:ph idx="4294967295" type="body"/>
          </p:nvPr>
        </p:nvSpPr>
        <p:spPr>
          <a:xfrm>
            <a:off x="324000" y="759300"/>
            <a:ext cx="71352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Laura says...</a:t>
            </a:r>
            <a:endParaRPr/>
          </a:p>
        </p:txBody>
      </p:sp>
      <p:pic>
        <p:nvPicPr>
          <p:cNvPr id="1065" name="Google Shape;1065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4650" y="2255666"/>
            <a:ext cx="889656" cy="1077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329201" y="2570800"/>
            <a:ext cx="911549" cy="1121714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82"/>
          <p:cNvSpPr txBox="1"/>
          <p:nvPr>
            <p:ph idx="4294967295" type="body"/>
          </p:nvPr>
        </p:nvSpPr>
        <p:spPr>
          <a:xfrm>
            <a:off x="324000" y="3971225"/>
            <a:ext cx="3916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Plot some points to graphically represent this relationship.</a:t>
            </a:r>
            <a:endParaRPr sz="2000"/>
          </a:p>
        </p:txBody>
      </p:sp>
      <p:sp>
        <p:nvSpPr>
          <p:cNvPr id="1068" name="Google Shape;1068;p82"/>
          <p:cNvSpPr txBox="1"/>
          <p:nvPr/>
        </p:nvSpPr>
        <p:spPr>
          <a:xfrm>
            <a:off x="5704062" y="2636101"/>
            <a:ext cx="221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Andeep’s number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2"/>
          <p:cNvSpPr txBox="1"/>
          <p:nvPr/>
        </p:nvSpPr>
        <p:spPr>
          <a:xfrm rot="-5400000">
            <a:off x="4225026" y="1351121"/>
            <a:ext cx="198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Laura’s number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2"/>
          <p:cNvSpPr txBox="1"/>
          <p:nvPr>
            <p:ph idx="4294967295" type="body"/>
          </p:nvPr>
        </p:nvSpPr>
        <p:spPr>
          <a:xfrm>
            <a:off x="566600" y="1262625"/>
            <a:ext cx="3319200" cy="6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Whatever number Andeep chooses I’m going to subtract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000"/>
              <a:t> from it.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1076" name="Google Shape;1076;p83"/>
          <p:cNvSpPr txBox="1"/>
          <p:nvPr>
            <p:ph idx="4294967295" type="body"/>
          </p:nvPr>
        </p:nvSpPr>
        <p:spPr>
          <a:xfrm>
            <a:off x="324000" y="759300"/>
            <a:ext cx="76746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Complete the tables of values and plot these relationships.</a:t>
            </a:r>
            <a:endParaRPr sz="2000"/>
          </a:p>
        </p:txBody>
      </p:sp>
      <p:sp>
        <p:nvSpPr>
          <p:cNvPr id="1077" name="Google Shape;1077;p83"/>
          <p:cNvSpPr txBox="1"/>
          <p:nvPr>
            <p:ph idx="4294967295" type="body"/>
          </p:nvPr>
        </p:nvSpPr>
        <p:spPr>
          <a:xfrm>
            <a:off x="631164" y="1344936"/>
            <a:ext cx="1282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8" name="Google Shape;1078;p83"/>
          <p:cNvSpPr txBox="1"/>
          <p:nvPr>
            <p:ph idx="4294967295" type="body"/>
          </p:nvPr>
        </p:nvSpPr>
        <p:spPr>
          <a:xfrm>
            <a:off x="631164" y="4219712"/>
            <a:ext cx="14601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4 − 2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9" name="Google Shape;1079;p83"/>
          <p:cNvSpPr txBox="1"/>
          <p:nvPr>
            <p:ph idx="4294967295" type="body"/>
          </p:nvPr>
        </p:nvSpPr>
        <p:spPr>
          <a:xfrm>
            <a:off x="631164" y="2267997"/>
            <a:ext cx="1282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4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80" name="Google Shape;1080;p83"/>
          <p:cNvGraphicFramePr/>
          <p:nvPr/>
        </p:nvGraphicFramePr>
        <p:xfrm>
          <a:off x="2223579" y="11599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456350"/>
                <a:gridCol w="391850"/>
                <a:gridCol w="391850"/>
                <a:gridCol w="391850"/>
                <a:gridCol w="391850"/>
                <a:gridCol w="391850"/>
                <a:gridCol w="391850"/>
                <a:gridCol w="391850"/>
              </a:tblGrid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y=\frac{1}{2}x+3&quot;&gt;&lt;mi&gt;y&lt;/mi&gt;&lt;mo&gt;=&lt;/mo&gt;&lt;mfrac&gt;&lt;mn&gt;1&lt;/mn&gt;&lt;mn&gt;2&lt;/mn&gt;&lt;/mfrac&gt;&lt;mi&gt;x&lt;/mi&gt;&lt;mo&gt;+&lt;/mo&gt;&lt;mn&gt;3&lt;/mn&gt;&lt;/math&gt;" id="1081" name="Google Shape;1081;p83" title="y equals one half x plu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550" y="3138999"/>
            <a:ext cx="1353375" cy="594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2" name="Google Shape;1082;p83"/>
          <p:cNvGraphicFramePr/>
          <p:nvPr/>
        </p:nvGraphicFramePr>
        <p:xfrm>
          <a:off x="2223579" y="21251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456375"/>
                <a:gridCol w="391850"/>
                <a:gridCol w="391850"/>
                <a:gridCol w="391850"/>
                <a:gridCol w="391850"/>
                <a:gridCol w="391850"/>
                <a:gridCol w="391850"/>
                <a:gridCol w="391850"/>
              </a:tblGrid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83" name="Google Shape;1083;p83"/>
          <p:cNvGraphicFramePr/>
          <p:nvPr/>
        </p:nvGraphicFramePr>
        <p:xfrm>
          <a:off x="2223579" y="3090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456375"/>
                <a:gridCol w="391850"/>
                <a:gridCol w="391850"/>
                <a:gridCol w="391850"/>
                <a:gridCol w="391850"/>
                <a:gridCol w="391850"/>
                <a:gridCol w="391850"/>
                <a:gridCol w="391850"/>
              </a:tblGrid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84" name="Google Shape;1084;p83"/>
          <p:cNvGraphicFramePr/>
          <p:nvPr/>
        </p:nvGraphicFramePr>
        <p:xfrm>
          <a:off x="2223579" y="40555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456375"/>
                <a:gridCol w="391850"/>
                <a:gridCol w="391850"/>
                <a:gridCol w="391850"/>
                <a:gridCol w="391850"/>
                <a:gridCol w="391850"/>
                <a:gridCol w="391850"/>
                <a:gridCol w="391850"/>
              </a:tblGrid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5" name="Google Shape;1085;p83"/>
          <p:cNvSpPr txBox="1"/>
          <p:nvPr>
            <p:ph idx="4294967295" type="body"/>
          </p:nvPr>
        </p:nvSpPr>
        <p:spPr>
          <a:xfrm>
            <a:off x="324000" y="1140300"/>
            <a:ext cx="3072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86" name="Google Shape;1086;p83"/>
          <p:cNvSpPr txBox="1"/>
          <p:nvPr>
            <p:ph idx="4294967295" type="body"/>
          </p:nvPr>
        </p:nvSpPr>
        <p:spPr>
          <a:xfrm>
            <a:off x="324000" y="2054700"/>
            <a:ext cx="3072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87" name="Google Shape;1087;p83"/>
          <p:cNvSpPr txBox="1"/>
          <p:nvPr>
            <p:ph idx="4294967295" type="body"/>
          </p:nvPr>
        </p:nvSpPr>
        <p:spPr>
          <a:xfrm>
            <a:off x="324000" y="3045300"/>
            <a:ext cx="3072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88" name="Google Shape;1088;p83"/>
          <p:cNvSpPr txBox="1"/>
          <p:nvPr>
            <p:ph idx="4294967295" type="body"/>
          </p:nvPr>
        </p:nvSpPr>
        <p:spPr>
          <a:xfrm>
            <a:off x="324000" y="3990936"/>
            <a:ext cx="3072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r>
              <a:rPr lang="en-GB" sz="2000"/>
              <a:t>)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09-11-2023/9c5b6b8c-c143-4c7a-a38d-8235d4805953&quot; data-equatio-type=&quot;desmos&quot;&gt;&lt;mglyph src=&quot;https://equatio-api.texthelp.com/desmos/get/09-11-2023/9c5b6b8c-c143-4c7a-a38d-8235d4805953&quot; alt=&quot;Equatio Desmos Graph&quot;/&gt;&lt;/math&gt;" id="1089" name="Google Shape;1089;p83" title="Equatio Desmos Graph"/>
          <p:cNvPicPr preferRelativeResize="0"/>
          <p:nvPr/>
        </p:nvPicPr>
        <p:blipFill rotWithShape="1">
          <a:blip r:embed="rId4">
            <a:alphaModFix/>
          </a:blip>
          <a:srcRect b="6494" l="36337" r="34403" t="7261"/>
          <a:stretch/>
        </p:blipFill>
        <p:spPr>
          <a:xfrm>
            <a:off x="6252142" y="1080000"/>
            <a:ext cx="1687090" cy="37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1095" name="Google Shape;1095;p84"/>
          <p:cNvSpPr txBox="1"/>
          <p:nvPr>
            <p:ph idx="4294967295" type="body"/>
          </p:nvPr>
        </p:nvSpPr>
        <p:spPr>
          <a:xfrm>
            <a:off x="324000" y="759300"/>
            <a:ext cx="76746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) Complete the tables of values for this relationship.</a:t>
            </a:r>
            <a:endParaRPr/>
          </a:p>
        </p:txBody>
      </p:sp>
      <p:sp>
        <p:nvSpPr>
          <p:cNvPr id="1096" name="Google Shape;1096;p84"/>
          <p:cNvSpPr txBox="1"/>
          <p:nvPr>
            <p:ph idx="4294967295" type="body"/>
          </p:nvPr>
        </p:nvSpPr>
        <p:spPr>
          <a:xfrm>
            <a:off x="631175" y="1363462"/>
            <a:ext cx="19314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 1.5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− 0.8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97" name="Google Shape;1097;p84"/>
          <p:cNvGraphicFramePr/>
          <p:nvPr/>
        </p:nvGraphicFramePr>
        <p:xfrm>
          <a:off x="394779" y="20237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580575"/>
                <a:gridCol w="646850"/>
                <a:gridCol w="646850"/>
                <a:gridCol w="646850"/>
                <a:gridCol w="646850"/>
                <a:gridCol w="646850"/>
                <a:gridCol w="646850"/>
              </a:tblGrid>
              <a:tr h="50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8" name="Google Shape;1098;p84"/>
          <p:cNvSpPr txBox="1"/>
          <p:nvPr>
            <p:ph idx="4294967295" type="body"/>
          </p:nvPr>
        </p:nvSpPr>
        <p:spPr>
          <a:xfrm>
            <a:off x="324000" y="3578700"/>
            <a:ext cx="4625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 suitable axes to graphically represent the coordinates.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9-11-2023/de693b11-d95a-4434-a79f-3e65d0c596c8&quot; data-equatio-type=&quot;desmos&quot;&gt;&lt;mglyph src=&quot;https://equatio-api.texthelp.com/desmos/get/09-11-2023/de693b11-d95a-4434-a79f-3e65d0c596c8&quot; alt=&quot;Equatio Desmos Graph&quot;/&gt;&lt;/math&gt;" id="1103" name="Google Shape;1103;p85" title="Equatio Desmos Graph"/>
          <p:cNvPicPr preferRelativeResize="0"/>
          <p:nvPr/>
        </p:nvPicPr>
        <p:blipFill rotWithShape="1">
          <a:blip r:embed="rId3">
            <a:alphaModFix/>
          </a:blip>
          <a:srcRect b="0" l="17981" r="20224" t="12426"/>
          <a:stretch/>
        </p:blipFill>
        <p:spPr>
          <a:xfrm>
            <a:off x="4322650" y="1082525"/>
            <a:ext cx="3425100" cy="372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1-2023/4dbe7419-97ad-40f6-910b-760a2b3b94dd&quot; data-equatio-type=&quot;desmos&quot;&gt;&lt;mglyph src=&quot;https://equatio-api.texthelp.com/desmos/get/09-11-2023/4dbe7419-97ad-40f6-910b-760a2b3b94dd&quot; alt=&quot;Equatio Desmos Graph&quot;/&gt;&lt;/math&gt;" id="1104" name="Google Shape;1104;p85" title="Equatio Desmos Graph"/>
          <p:cNvPicPr preferRelativeResize="0"/>
          <p:nvPr/>
        </p:nvPicPr>
        <p:blipFill rotWithShape="1">
          <a:blip r:embed="rId4">
            <a:alphaModFix/>
          </a:blip>
          <a:srcRect b="0" l="17981" r="20224" t="12426"/>
          <a:stretch/>
        </p:blipFill>
        <p:spPr>
          <a:xfrm>
            <a:off x="4322650" y="1082525"/>
            <a:ext cx="3425100" cy="372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85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73800" y="1215437"/>
            <a:ext cx="3641001" cy="1516649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1107" name="Google Shape;1107;p85"/>
          <p:cNvSpPr txBox="1"/>
          <p:nvPr>
            <p:ph idx="4294967295" type="body"/>
          </p:nvPr>
        </p:nvSpPr>
        <p:spPr>
          <a:xfrm>
            <a:off x="324000" y="759300"/>
            <a:ext cx="71352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Laura says...</a:t>
            </a:r>
            <a:endParaRPr/>
          </a:p>
        </p:txBody>
      </p:sp>
      <p:pic>
        <p:nvPicPr>
          <p:cNvPr id="1108" name="Google Shape;1108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4650" y="2255666"/>
            <a:ext cx="889656" cy="1077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3329201" y="2570800"/>
            <a:ext cx="911549" cy="1121714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85"/>
          <p:cNvSpPr txBox="1"/>
          <p:nvPr>
            <p:ph idx="4294967295" type="body"/>
          </p:nvPr>
        </p:nvSpPr>
        <p:spPr>
          <a:xfrm>
            <a:off x="324000" y="3971225"/>
            <a:ext cx="3916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Plot some points to graphically represent this relationship.</a:t>
            </a:r>
            <a:endParaRPr sz="2000"/>
          </a:p>
        </p:txBody>
      </p:sp>
      <p:sp>
        <p:nvSpPr>
          <p:cNvPr id="1111" name="Google Shape;1111;p85"/>
          <p:cNvSpPr txBox="1"/>
          <p:nvPr>
            <p:ph idx="4294967295" type="body"/>
          </p:nvPr>
        </p:nvSpPr>
        <p:spPr>
          <a:xfrm>
            <a:off x="566600" y="1262625"/>
            <a:ext cx="3319200" cy="6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Whatever number Andeep chooses I’m going to subtract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000"/>
              <a:t> from it.</a:t>
            </a:r>
            <a:endParaRPr sz="2000"/>
          </a:p>
        </p:txBody>
      </p:sp>
      <p:cxnSp>
        <p:nvCxnSpPr>
          <p:cNvPr id="1112" name="Google Shape;1112;p85"/>
          <p:cNvCxnSpPr/>
          <p:nvPr/>
        </p:nvCxnSpPr>
        <p:spPr>
          <a:xfrm flipH="1" rot="10800000">
            <a:off x="4458400" y="1347275"/>
            <a:ext cx="3279900" cy="3373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ata-is-equatio=&quot;1&quot; data-equatio-url=&quot;https://equatio-api.texthelp.com/desmos/get/09-11-2023/448aba76-93e2-4f8d-885e-b93b7db68f6e&quot; data-equatio-type=&quot;desmos&quot;&gt;&lt;mglyph src=&quot;https://equatio-api.texthelp.com/desmos/get/09-11-2023/448aba76-93e2-4f8d-885e-b93b7db68f6e&quot; alt=&quot;Equatio Desmos Graph&quot;/&gt;&lt;/math&gt;" id="1113" name="Google Shape;1113;p85" title="Equatio Desmos Graph"/>
          <p:cNvPicPr preferRelativeResize="0"/>
          <p:nvPr/>
        </p:nvPicPr>
        <p:blipFill rotWithShape="1">
          <a:blip r:embed="rId8">
            <a:alphaModFix/>
          </a:blip>
          <a:srcRect b="13276" l="15407" r="32819" t="12051"/>
          <a:stretch/>
        </p:blipFill>
        <p:spPr>
          <a:xfrm>
            <a:off x="4316400" y="1080000"/>
            <a:ext cx="3438000" cy="374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85"/>
          <p:cNvSpPr txBox="1"/>
          <p:nvPr/>
        </p:nvSpPr>
        <p:spPr>
          <a:xfrm rot="-5400000">
            <a:off x="4225026" y="1351121"/>
            <a:ext cx="198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Laura’s num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5"/>
          <p:cNvSpPr txBox="1"/>
          <p:nvPr/>
        </p:nvSpPr>
        <p:spPr>
          <a:xfrm>
            <a:off x="5704062" y="2636101"/>
            <a:ext cx="221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Andeep’s number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6" name="Google Shape;1116;p85"/>
          <p:cNvCxnSpPr/>
          <p:nvPr/>
        </p:nvCxnSpPr>
        <p:spPr>
          <a:xfrm flipH="1" rot="10800000">
            <a:off x="4458400" y="1347275"/>
            <a:ext cx="3279900" cy="3373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1122" name="Google Shape;1122;p86"/>
          <p:cNvSpPr txBox="1"/>
          <p:nvPr>
            <p:ph idx="4294967295" type="body"/>
          </p:nvPr>
        </p:nvSpPr>
        <p:spPr>
          <a:xfrm>
            <a:off x="324000" y="759300"/>
            <a:ext cx="76746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Complete the tables of values and plot these relationships.</a:t>
            </a:r>
            <a:endParaRPr sz="2000"/>
          </a:p>
        </p:txBody>
      </p:sp>
      <p:sp>
        <p:nvSpPr>
          <p:cNvPr id="1123" name="Google Shape;1123;p86"/>
          <p:cNvSpPr txBox="1"/>
          <p:nvPr>
            <p:ph idx="4294967295" type="body"/>
          </p:nvPr>
        </p:nvSpPr>
        <p:spPr>
          <a:xfrm>
            <a:off x="554964" y="1421136"/>
            <a:ext cx="1282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24" name="Google Shape;1124;p86"/>
          <p:cNvGraphicFramePr/>
          <p:nvPr/>
        </p:nvGraphicFramePr>
        <p:xfrm>
          <a:off x="1918779" y="12361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456350"/>
                <a:gridCol w="391850"/>
                <a:gridCol w="391850"/>
                <a:gridCol w="391850"/>
                <a:gridCol w="391850"/>
                <a:gridCol w="391850"/>
                <a:gridCol w="391850"/>
                <a:gridCol w="391850"/>
              </a:tblGrid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5" name="Google Shape;1125;p86"/>
          <p:cNvSpPr txBox="1"/>
          <p:nvPr>
            <p:ph idx="4294967295" type="body"/>
          </p:nvPr>
        </p:nvSpPr>
        <p:spPr>
          <a:xfrm>
            <a:off x="324000" y="1140300"/>
            <a:ext cx="3072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graphicFrame>
        <p:nvGraphicFramePr>
          <p:cNvPr id="1126" name="Google Shape;1126;p86"/>
          <p:cNvGraphicFramePr/>
          <p:nvPr/>
        </p:nvGraphicFramePr>
        <p:xfrm>
          <a:off x="1918779" y="12361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456350"/>
                <a:gridCol w="391850"/>
                <a:gridCol w="391850"/>
                <a:gridCol w="391850"/>
                <a:gridCol w="391850"/>
                <a:gridCol w="391850"/>
                <a:gridCol w="391850"/>
                <a:gridCol w="391850"/>
              </a:tblGrid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09-11-2023/225fba2d-dee7-4665-bba1-5a8b4c29958b&quot; data-equatio-type=&quot;desmos&quot;&gt;&lt;mglyph src=&quot;https://equatio-api.texthelp.com/desmos/get/09-11-2023/225fba2d-dee7-4665-bba1-5a8b4c29958b&quot; alt=&quot;Equatio Desmos Graph&quot;/&gt;&lt;/math&gt;" id="1127" name="Google Shape;1127;p86" title="Equatio Desmos Graph"/>
          <p:cNvPicPr preferRelativeResize="0"/>
          <p:nvPr/>
        </p:nvPicPr>
        <p:blipFill rotWithShape="1">
          <a:blip r:embed="rId3">
            <a:alphaModFix/>
          </a:blip>
          <a:srcRect b="6501" l="36843" r="34738" t="6813"/>
          <a:stretch/>
        </p:blipFill>
        <p:spPr>
          <a:xfrm>
            <a:off x="5760000" y="1080000"/>
            <a:ext cx="1630150" cy="3729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8" name="Google Shape;1128;p86"/>
          <p:cNvCxnSpPr/>
          <p:nvPr/>
        </p:nvCxnSpPr>
        <p:spPr>
          <a:xfrm flipH="1" rot="10800000">
            <a:off x="5772600" y="1515275"/>
            <a:ext cx="1602900" cy="3229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1134" name="Google Shape;1134;p87"/>
          <p:cNvSpPr txBox="1"/>
          <p:nvPr>
            <p:ph idx="4294967295" type="body"/>
          </p:nvPr>
        </p:nvSpPr>
        <p:spPr>
          <a:xfrm>
            <a:off x="324000" y="759300"/>
            <a:ext cx="76746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Complete the tables of values and plot these relationships.</a:t>
            </a:r>
            <a:endParaRPr sz="2000"/>
          </a:p>
        </p:txBody>
      </p:sp>
      <p:sp>
        <p:nvSpPr>
          <p:cNvPr id="1135" name="Google Shape;1135;p87"/>
          <p:cNvSpPr txBox="1"/>
          <p:nvPr>
            <p:ph idx="4294967295" type="body"/>
          </p:nvPr>
        </p:nvSpPr>
        <p:spPr>
          <a:xfrm>
            <a:off x="554964" y="1430697"/>
            <a:ext cx="1282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4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36" name="Google Shape;1136;p87"/>
          <p:cNvGraphicFramePr/>
          <p:nvPr/>
        </p:nvGraphicFramePr>
        <p:xfrm>
          <a:off x="1918779" y="12878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456375"/>
                <a:gridCol w="391850"/>
                <a:gridCol w="391850"/>
                <a:gridCol w="391850"/>
                <a:gridCol w="391850"/>
                <a:gridCol w="391850"/>
                <a:gridCol w="391850"/>
                <a:gridCol w="391850"/>
              </a:tblGrid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7" name="Google Shape;1137;p87"/>
          <p:cNvSpPr txBox="1"/>
          <p:nvPr>
            <p:ph idx="4294967295" type="body"/>
          </p:nvPr>
        </p:nvSpPr>
        <p:spPr>
          <a:xfrm>
            <a:off x="324000" y="1141200"/>
            <a:ext cx="3072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graphicFrame>
        <p:nvGraphicFramePr>
          <p:cNvPr id="1138" name="Google Shape;1138;p87"/>
          <p:cNvGraphicFramePr/>
          <p:nvPr/>
        </p:nvGraphicFramePr>
        <p:xfrm>
          <a:off x="1918779" y="12878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456375"/>
                <a:gridCol w="391850"/>
                <a:gridCol w="391850"/>
                <a:gridCol w="391850"/>
                <a:gridCol w="391850"/>
                <a:gridCol w="391850"/>
                <a:gridCol w="391850"/>
                <a:gridCol w="391850"/>
              </a:tblGrid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09-11-2023/0c4f24f8-56f0-4cdd-a9bc-3c042dba28ce&quot; data-equatio-type=&quot;desmos&quot;&gt;&lt;mglyph src=&quot;https://equatio-api.texthelp.com/desmos/get/09-11-2023/0c4f24f8-56f0-4cdd-a9bc-3c042dba28ce&quot; alt=&quot;Equatio Desmos Graph&quot;/&gt;&lt;/math&gt;" id="1139" name="Google Shape;1139;p87" title="Equatio Desmos Graph"/>
          <p:cNvPicPr preferRelativeResize="0"/>
          <p:nvPr/>
        </p:nvPicPr>
        <p:blipFill rotWithShape="1">
          <a:blip r:embed="rId3">
            <a:alphaModFix/>
          </a:blip>
          <a:srcRect b="13158" l="36336" r="34739" t="5915"/>
          <a:stretch/>
        </p:blipFill>
        <p:spPr>
          <a:xfrm>
            <a:off x="5760000" y="1080000"/>
            <a:ext cx="1578324" cy="331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0" name="Google Shape;1140;p87"/>
          <p:cNvCxnSpPr/>
          <p:nvPr/>
        </p:nvCxnSpPr>
        <p:spPr>
          <a:xfrm rot="10800000">
            <a:off x="5767342" y="1531817"/>
            <a:ext cx="1579800" cy="1557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1146" name="Google Shape;1146;p88"/>
          <p:cNvSpPr txBox="1"/>
          <p:nvPr>
            <p:ph idx="4294967295" type="body"/>
          </p:nvPr>
        </p:nvSpPr>
        <p:spPr>
          <a:xfrm>
            <a:off x="324000" y="759300"/>
            <a:ext cx="76746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Complete the tables of values and plot these relationships.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\frac{1}{2}x+3&quot;&gt;&lt;mi&gt;y&lt;/mi&gt;&lt;mo&gt;=&lt;/mo&gt;&lt;mfrac&gt;&lt;mn&gt;1&lt;/mn&gt;&lt;mn&gt;2&lt;/mn&gt;&lt;/mfrac&gt;&lt;mi&gt;x&lt;/mi&gt;&lt;mo&gt;+&lt;/mo&gt;&lt;mn&gt;3&lt;/mn&gt;&lt;/math&gt;" id="1147" name="Google Shape;1147;p88" title="y equals one half x plu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17" y="1311099"/>
            <a:ext cx="1353375" cy="594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8" name="Google Shape;1148;p88"/>
          <p:cNvGraphicFramePr/>
          <p:nvPr/>
        </p:nvGraphicFramePr>
        <p:xfrm>
          <a:off x="2018044" y="11862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456375"/>
                <a:gridCol w="391850"/>
                <a:gridCol w="391850"/>
                <a:gridCol w="391850"/>
                <a:gridCol w="391850"/>
                <a:gridCol w="391850"/>
                <a:gridCol w="391850"/>
                <a:gridCol w="391850"/>
              </a:tblGrid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9" name="Google Shape;1149;p88"/>
          <p:cNvSpPr txBox="1"/>
          <p:nvPr>
            <p:ph idx="4294967295" type="body"/>
          </p:nvPr>
        </p:nvSpPr>
        <p:spPr>
          <a:xfrm>
            <a:off x="324000" y="1141200"/>
            <a:ext cx="3072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graphicFrame>
        <p:nvGraphicFramePr>
          <p:cNvPr id="1150" name="Google Shape;1150;p88"/>
          <p:cNvGraphicFramePr/>
          <p:nvPr/>
        </p:nvGraphicFramePr>
        <p:xfrm>
          <a:off x="2018044" y="11862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456375"/>
                <a:gridCol w="391850"/>
                <a:gridCol w="391850"/>
                <a:gridCol w="391850"/>
                <a:gridCol w="391850"/>
                <a:gridCol w="391850"/>
                <a:gridCol w="391850"/>
                <a:gridCol w="391850"/>
              </a:tblGrid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09-11-2023/48f27817-8067-40c8-97b6-0f74d9166316&quot; data-equatio-type=&quot;desmos&quot;&gt;&lt;mglyph src=&quot;https://equatio-api.texthelp.com/desmos/get/09-11-2023/48f27817-8067-40c8-97b6-0f74d9166316&quot; alt=&quot;Equatio Desmos Graph&quot;/&gt;&lt;/math&gt;" id="1151" name="Google Shape;1151;p88" title="Equatio Desmos Graph"/>
          <p:cNvPicPr preferRelativeResize="0"/>
          <p:nvPr/>
        </p:nvPicPr>
        <p:blipFill rotWithShape="1">
          <a:blip r:embed="rId4">
            <a:alphaModFix/>
          </a:blip>
          <a:srcRect b="0" l="29948" r="38436" t="9181"/>
          <a:stretch/>
        </p:blipFill>
        <p:spPr>
          <a:xfrm>
            <a:off x="5771680" y="1080000"/>
            <a:ext cx="1538936" cy="3315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2" name="Google Shape;1152;p88"/>
          <p:cNvCxnSpPr/>
          <p:nvPr/>
        </p:nvCxnSpPr>
        <p:spPr>
          <a:xfrm flipH="1" rot="10800000">
            <a:off x="5760000" y="1815792"/>
            <a:ext cx="1566300" cy="786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1158" name="Google Shape;1158;p89"/>
          <p:cNvSpPr txBox="1"/>
          <p:nvPr>
            <p:ph idx="4294967295" type="body"/>
          </p:nvPr>
        </p:nvSpPr>
        <p:spPr>
          <a:xfrm>
            <a:off x="324000" y="759300"/>
            <a:ext cx="76746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Complete the tables of values and plot these relationships.</a:t>
            </a:r>
            <a:endParaRPr sz="2000"/>
          </a:p>
        </p:txBody>
      </p:sp>
      <p:sp>
        <p:nvSpPr>
          <p:cNvPr id="1159" name="Google Shape;1159;p89"/>
          <p:cNvSpPr txBox="1"/>
          <p:nvPr>
            <p:ph idx="4294967295" type="body"/>
          </p:nvPr>
        </p:nvSpPr>
        <p:spPr>
          <a:xfrm>
            <a:off x="543432" y="1446176"/>
            <a:ext cx="14601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4 − 2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60" name="Google Shape;1160;p89"/>
          <p:cNvGraphicFramePr/>
          <p:nvPr/>
        </p:nvGraphicFramePr>
        <p:xfrm>
          <a:off x="2018044" y="12058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456375"/>
                <a:gridCol w="391850"/>
                <a:gridCol w="391850"/>
                <a:gridCol w="391850"/>
                <a:gridCol w="391850"/>
                <a:gridCol w="391850"/>
                <a:gridCol w="391850"/>
                <a:gridCol w="391850"/>
              </a:tblGrid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1" name="Google Shape;1161;p89"/>
          <p:cNvSpPr txBox="1"/>
          <p:nvPr>
            <p:ph idx="4294967295" type="body"/>
          </p:nvPr>
        </p:nvSpPr>
        <p:spPr>
          <a:xfrm>
            <a:off x="324000" y="1141200"/>
            <a:ext cx="3072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d)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09-11-2023/e203c8d8-5b82-41bb-b065-f033a724ecc1&quot; data-equatio-type=&quot;desmos&quot;&gt;&lt;mglyph src=&quot;https://equatio-api.texthelp.com/desmos/get/09-11-2023/e203c8d8-5b82-41bb-b065-f033a724ecc1&quot; alt=&quot;Equatio Desmos Graph&quot;/&gt;&lt;/math&gt;" id="1162" name="Google Shape;1162;p89" title="Equatio Desmos Graph"/>
          <p:cNvPicPr preferRelativeResize="0"/>
          <p:nvPr/>
        </p:nvPicPr>
        <p:blipFill rotWithShape="1">
          <a:blip r:embed="rId3">
            <a:alphaModFix/>
          </a:blip>
          <a:srcRect b="6280" l="37346" r="35771" t="6367"/>
          <a:stretch/>
        </p:blipFill>
        <p:spPr>
          <a:xfrm>
            <a:off x="5760000" y="1069971"/>
            <a:ext cx="1538926" cy="375042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63" name="Google Shape;1163;p89"/>
          <p:cNvGraphicFramePr/>
          <p:nvPr/>
        </p:nvGraphicFramePr>
        <p:xfrm>
          <a:off x="2018044" y="12058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456375"/>
                <a:gridCol w="391850"/>
                <a:gridCol w="391850"/>
                <a:gridCol w="391850"/>
                <a:gridCol w="391850"/>
                <a:gridCol w="391850"/>
                <a:gridCol w="391850"/>
                <a:gridCol w="391850"/>
              </a:tblGrid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64" name="Google Shape;1164;p89"/>
          <p:cNvCxnSpPr/>
          <p:nvPr/>
        </p:nvCxnSpPr>
        <p:spPr>
          <a:xfrm>
            <a:off x="5829675" y="1100200"/>
            <a:ext cx="1441500" cy="2894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9-11-2023/297ac0a4-9680-4eaf-abc4-d618500fee82&quot; data-equatio-type=&quot;desmos&quot;&gt;&lt;mglyph src=&quot;https://equatio-api.texthelp.com/desmos/get/09-11-2023/297ac0a4-9680-4eaf-abc4-d618500fee82&quot; alt=&quot;Equatio Desmos Graph&quot;/&gt;&lt;/math&gt;" id="1169" name="Google Shape;1169;p90" title="Equatio Desmos Graph"/>
          <p:cNvPicPr preferRelativeResize="0"/>
          <p:nvPr/>
        </p:nvPicPr>
        <p:blipFill rotWithShape="1">
          <a:blip r:embed="rId3">
            <a:alphaModFix/>
          </a:blip>
          <a:srcRect b="8653" l="3043" r="42809" t="1207"/>
          <a:stretch/>
        </p:blipFill>
        <p:spPr>
          <a:xfrm>
            <a:off x="5120436" y="1080001"/>
            <a:ext cx="2992640" cy="373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1171" name="Google Shape;1171;p90"/>
          <p:cNvSpPr txBox="1"/>
          <p:nvPr>
            <p:ph idx="4294967295" type="body"/>
          </p:nvPr>
        </p:nvSpPr>
        <p:spPr>
          <a:xfrm>
            <a:off x="324000" y="759300"/>
            <a:ext cx="76746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Complete the tables of values for this relationship.</a:t>
            </a:r>
            <a:endParaRPr sz="2000"/>
          </a:p>
        </p:txBody>
      </p:sp>
      <p:sp>
        <p:nvSpPr>
          <p:cNvPr id="1172" name="Google Shape;1172;p90"/>
          <p:cNvSpPr txBox="1"/>
          <p:nvPr>
            <p:ph idx="4294967295" type="body"/>
          </p:nvPr>
        </p:nvSpPr>
        <p:spPr>
          <a:xfrm>
            <a:off x="631175" y="1363462"/>
            <a:ext cx="19314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 1.5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− 0.8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73" name="Google Shape;1173;p90"/>
          <p:cNvGraphicFramePr/>
          <p:nvPr/>
        </p:nvGraphicFramePr>
        <p:xfrm>
          <a:off x="394779" y="20237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580575"/>
                <a:gridCol w="646850"/>
                <a:gridCol w="646850"/>
                <a:gridCol w="646850"/>
                <a:gridCol w="646850"/>
                <a:gridCol w="646850"/>
                <a:gridCol w="646850"/>
              </a:tblGrid>
              <a:tr h="50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−0.8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−0.5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.4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4" name="Google Shape;1174;p90"/>
          <p:cNvSpPr txBox="1"/>
          <p:nvPr>
            <p:ph idx="4294967295" type="body"/>
          </p:nvPr>
        </p:nvSpPr>
        <p:spPr>
          <a:xfrm>
            <a:off x="324000" y="3578700"/>
            <a:ext cx="4625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Draw suitable axes to graphically represent the coordinates.</a:t>
            </a:r>
            <a:endParaRPr sz="2000"/>
          </a:p>
        </p:txBody>
      </p:sp>
      <p:cxnSp>
        <p:nvCxnSpPr>
          <p:cNvPr id="1175" name="Google Shape;1175;p90"/>
          <p:cNvCxnSpPr/>
          <p:nvPr/>
        </p:nvCxnSpPr>
        <p:spPr>
          <a:xfrm flipH="1">
            <a:off x="5837617" y="1400050"/>
            <a:ext cx="2260500" cy="3378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9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a relationship</a:t>
            </a:r>
            <a:endParaRPr/>
          </a:p>
        </p:txBody>
      </p:sp>
      <p:sp>
        <p:nvSpPr>
          <p:cNvPr id="1181" name="Google Shape;1181;p9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plotting a relationship</a:t>
            </a:r>
            <a:endParaRPr/>
          </a:p>
        </p:txBody>
      </p:sp>
      <p:sp>
        <p:nvSpPr>
          <p:cNvPr id="1182" name="Google Shape;1182;p9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plotting a relationship</a:t>
            </a:r>
            <a:endParaRPr/>
          </a:p>
        </p:txBody>
      </p:sp>
      <p:pic>
        <p:nvPicPr>
          <p:cNvPr id="1183" name="Google Shape;118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290" y="298736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9-11-2023/9f456257-5ab1-4edd-a242-def322a2ee79&quot; data-equatio-type=&quot;desmos&quot;&gt;&lt;mglyph src=&quot;https://equatio-api.texthelp.com/desmos/get/09-11-2023/9f456257-5ab1-4edd-a242-def322a2ee79&quot; alt=&quot;Equatio Desmos Graph&quot;/&gt;&lt;/math&gt;" id="1188" name="Google Shape;1188;p92" title="Equatio Desmos Graph"/>
          <p:cNvPicPr preferRelativeResize="0"/>
          <p:nvPr/>
        </p:nvPicPr>
        <p:blipFill rotWithShape="1">
          <a:blip r:embed="rId3">
            <a:alphaModFix/>
          </a:blip>
          <a:srcRect b="6803" l="7311" r="38207" t="0"/>
          <a:stretch/>
        </p:blipFill>
        <p:spPr>
          <a:xfrm>
            <a:off x="5399950" y="1240650"/>
            <a:ext cx="2929976" cy="335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9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446778" y="2170847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92"/>
          <p:cNvSpPr txBox="1"/>
          <p:nvPr>
            <p:ph idx="1" type="body"/>
          </p:nvPr>
        </p:nvSpPr>
        <p:spPr>
          <a:xfrm>
            <a:off x="324000" y="743950"/>
            <a:ext cx="8107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Andeep’s number is always the square of Laura’s.</a:t>
            </a:r>
            <a:endParaRPr/>
          </a:p>
        </p:txBody>
      </p:sp>
      <p:sp>
        <p:nvSpPr>
          <p:cNvPr id="1191" name="Google Shape;119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</a:t>
            </a:r>
            <a:r>
              <a:rPr lang="en-GB"/>
              <a:t>understanding of plotting a relationship</a:t>
            </a:r>
            <a:endParaRPr/>
          </a:p>
        </p:txBody>
      </p:sp>
      <p:sp>
        <p:nvSpPr>
          <p:cNvPr id="1192" name="Google Shape;1192;p92"/>
          <p:cNvSpPr txBox="1"/>
          <p:nvPr>
            <p:ph idx="1" type="body"/>
          </p:nvPr>
        </p:nvSpPr>
        <p:spPr>
          <a:xfrm>
            <a:off x="1894130" y="2149433"/>
            <a:ext cx="3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2400"/>
          </a:p>
        </p:txBody>
      </p:sp>
      <p:pic>
        <p:nvPicPr>
          <p:cNvPr id="1193" name="Google Shape;1193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7650" y="2487178"/>
            <a:ext cx="952196" cy="122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818" y="2599810"/>
            <a:ext cx="975630" cy="1277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9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2742179" y="2312390"/>
            <a:ext cx="1074898" cy="45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9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rot="10800000">
            <a:off x="1446778" y="3498986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92"/>
          <p:cNvSpPr txBox="1"/>
          <p:nvPr>
            <p:ph idx="1" type="body"/>
          </p:nvPr>
        </p:nvSpPr>
        <p:spPr>
          <a:xfrm>
            <a:off x="1817926" y="3562633"/>
            <a:ext cx="42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400"/>
          </a:p>
        </p:txBody>
      </p:sp>
      <p:pic>
        <p:nvPicPr>
          <p:cNvPr id="1198" name="Google Shape;1198;p9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 rot="10800000">
            <a:off x="2742179" y="3655450"/>
            <a:ext cx="1074898" cy="45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9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446778" y="2856647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92"/>
          <p:cNvSpPr txBox="1"/>
          <p:nvPr>
            <p:ph idx="1" type="body"/>
          </p:nvPr>
        </p:nvSpPr>
        <p:spPr>
          <a:xfrm>
            <a:off x="1894130" y="2835233"/>
            <a:ext cx="3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/>
          </a:p>
        </p:txBody>
      </p:sp>
      <p:pic>
        <p:nvPicPr>
          <p:cNvPr id="1201" name="Google Shape;1201;p9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2742179" y="2998190"/>
            <a:ext cx="1074898" cy="45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9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rot="10800000">
            <a:off x="1446778" y="4173253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92"/>
          <p:cNvSpPr txBox="1"/>
          <p:nvPr>
            <p:ph idx="1" type="body"/>
          </p:nvPr>
        </p:nvSpPr>
        <p:spPr>
          <a:xfrm>
            <a:off x="1894126" y="4236900"/>
            <a:ext cx="42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2400"/>
          </a:p>
        </p:txBody>
      </p:sp>
      <p:pic>
        <p:nvPicPr>
          <p:cNvPr id="1204" name="Google Shape;1204;p9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 rot="10800000">
            <a:off x="2742179" y="4329717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92"/>
          <p:cNvSpPr txBox="1"/>
          <p:nvPr>
            <p:ph idx="1" type="body"/>
          </p:nvPr>
        </p:nvSpPr>
        <p:spPr>
          <a:xfrm>
            <a:off x="324000" y="1235175"/>
            <a:ext cx="4273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represent this relationship graphically.</a:t>
            </a:r>
            <a:endParaRPr/>
          </a:p>
        </p:txBody>
      </p:sp>
      <p:sp>
        <p:nvSpPr>
          <p:cNvPr id="1206" name="Google Shape;1206;p92"/>
          <p:cNvSpPr txBox="1"/>
          <p:nvPr/>
        </p:nvSpPr>
        <p:spPr>
          <a:xfrm>
            <a:off x="6757973" y="3992488"/>
            <a:ext cx="192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Laura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’s number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92"/>
          <p:cNvSpPr txBox="1"/>
          <p:nvPr/>
        </p:nvSpPr>
        <p:spPr>
          <a:xfrm rot="-5400000">
            <a:off x="4174150" y="2101425"/>
            <a:ext cx="212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Andeep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’s number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8" name="Google Shape;1208;p92"/>
          <p:cNvCxnSpPr/>
          <p:nvPr/>
        </p:nvCxnSpPr>
        <p:spPr>
          <a:xfrm flipH="1">
            <a:off x="5664775" y="3164525"/>
            <a:ext cx="2560200" cy="1257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9" name="Google Shape;1209;p92"/>
          <p:cNvCxnSpPr/>
          <p:nvPr/>
        </p:nvCxnSpPr>
        <p:spPr>
          <a:xfrm flipH="1">
            <a:off x="6241350" y="1930550"/>
            <a:ext cx="2110500" cy="2537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0" name="Google Shape;1210;p92"/>
          <p:cNvCxnSpPr/>
          <p:nvPr/>
        </p:nvCxnSpPr>
        <p:spPr>
          <a:xfrm flipH="1">
            <a:off x="6552825" y="1376975"/>
            <a:ext cx="1649100" cy="3159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1" name="Google Shape;1211;p92"/>
          <p:cNvSpPr txBox="1"/>
          <p:nvPr>
            <p:ph idx="1" type="body"/>
          </p:nvPr>
        </p:nvSpPr>
        <p:spPr>
          <a:xfrm>
            <a:off x="3078719" y="2290300"/>
            <a:ext cx="5379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endParaRPr sz="2400"/>
          </a:p>
        </p:txBody>
      </p:sp>
      <p:sp>
        <p:nvSpPr>
          <p:cNvPr id="1212" name="Google Shape;1212;p92"/>
          <p:cNvSpPr txBox="1"/>
          <p:nvPr>
            <p:ph idx="1" type="body"/>
          </p:nvPr>
        </p:nvSpPr>
        <p:spPr>
          <a:xfrm>
            <a:off x="3002520" y="3703500"/>
            <a:ext cx="5379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2400"/>
          </a:p>
        </p:txBody>
      </p:sp>
      <p:sp>
        <p:nvSpPr>
          <p:cNvPr id="1213" name="Google Shape;1213;p92"/>
          <p:cNvSpPr txBox="1"/>
          <p:nvPr>
            <p:ph idx="1" type="body"/>
          </p:nvPr>
        </p:nvSpPr>
        <p:spPr>
          <a:xfrm>
            <a:off x="3078723" y="2976100"/>
            <a:ext cx="42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2400"/>
          </a:p>
        </p:txBody>
      </p:sp>
      <p:sp>
        <p:nvSpPr>
          <p:cNvPr id="1214" name="Google Shape;1214;p92"/>
          <p:cNvSpPr txBox="1"/>
          <p:nvPr>
            <p:ph idx="1" type="body"/>
          </p:nvPr>
        </p:nvSpPr>
        <p:spPr>
          <a:xfrm>
            <a:off x="3186125" y="4377775"/>
            <a:ext cx="3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2400"/>
          </a:p>
        </p:txBody>
      </p:sp>
      <p:grpSp>
        <p:nvGrpSpPr>
          <p:cNvPr id="1215" name="Google Shape;1215;p92"/>
          <p:cNvGrpSpPr/>
          <p:nvPr/>
        </p:nvGrpSpPr>
        <p:grpSpPr>
          <a:xfrm>
            <a:off x="1618905" y="2101042"/>
            <a:ext cx="5754695" cy="1399153"/>
            <a:chOff x="1558765" y="2786842"/>
            <a:chExt cx="5754695" cy="1399153"/>
          </a:xfrm>
        </p:grpSpPr>
        <p:sp>
          <p:nvSpPr>
            <p:cNvPr id="1216" name="Google Shape;1216;p92"/>
            <p:cNvSpPr/>
            <p:nvPr/>
          </p:nvSpPr>
          <p:spPr>
            <a:xfrm>
              <a:off x="1558765" y="2786842"/>
              <a:ext cx="2094900" cy="651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7" name="Google Shape;1217;p92"/>
            <p:cNvSpPr/>
            <p:nvPr/>
          </p:nvSpPr>
          <p:spPr>
            <a:xfrm>
              <a:off x="6938460" y="3835895"/>
              <a:ext cx="375000" cy="3501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8" name="Google Shape;1218;p92"/>
          <p:cNvGrpSpPr/>
          <p:nvPr/>
        </p:nvGrpSpPr>
        <p:grpSpPr>
          <a:xfrm>
            <a:off x="1618905" y="2793847"/>
            <a:ext cx="5247265" cy="1306893"/>
            <a:chOff x="1558765" y="2786842"/>
            <a:chExt cx="5247265" cy="1306893"/>
          </a:xfrm>
        </p:grpSpPr>
        <p:sp>
          <p:nvSpPr>
            <p:cNvPr id="1219" name="Google Shape;1219;p92"/>
            <p:cNvSpPr/>
            <p:nvPr/>
          </p:nvSpPr>
          <p:spPr>
            <a:xfrm>
              <a:off x="1558765" y="2786842"/>
              <a:ext cx="2094900" cy="651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0" name="Google Shape;1220;p92"/>
            <p:cNvSpPr/>
            <p:nvPr/>
          </p:nvSpPr>
          <p:spPr>
            <a:xfrm>
              <a:off x="6431030" y="3743635"/>
              <a:ext cx="375000" cy="3501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1" name="Google Shape;1221;p92"/>
          <p:cNvSpPr txBox="1"/>
          <p:nvPr/>
        </p:nvSpPr>
        <p:spPr>
          <a:xfrm>
            <a:off x="3903575" y="37150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</a:t>
            </a:r>
            <a:endParaRPr/>
          </a:p>
        </p:txBody>
      </p:sp>
      <p:sp>
        <p:nvSpPr>
          <p:cNvPr id="1222" name="Google Shape;1222;p92"/>
          <p:cNvSpPr txBox="1"/>
          <p:nvPr/>
        </p:nvSpPr>
        <p:spPr>
          <a:xfrm>
            <a:off x="137050" y="38812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9-11-2023/9f456257-5ab1-4edd-a242-def322a2ee79&quot; data-equatio-type=&quot;desmos&quot;&gt;&lt;mglyph src=&quot;https://equatio-api.texthelp.com/desmos/get/09-11-2023/9f456257-5ab1-4edd-a242-def322a2ee79&quot; alt=&quot;Equatio Desmos Graph&quot;/&gt;&lt;/math&gt;" id="1227" name="Google Shape;1227;p93" title="Equatio Desmos Graph"/>
          <p:cNvPicPr preferRelativeResize="0"/>
          <p:nvPr/>
        </p:nvPicPr>
        <p:blipFill rotWithShape="1">
          <a:blip r:embed="rId3">
            <a:alphaModFix/>
          </a:blip>
          <a:srcRect b="6803" l="7311" r="38207" t="0"/>
          <a:stretch/>
        </p:blipFill>
        <p:spPr>
          <a:xfrm>
            <a:off x="5399950" y="1240650"/>
            <a:ext cx="2929976" cy="33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</a:t>
            </a:r>
            <a:r>
              <a:rPr lang="en-GB"/>
              <a:t> understanding of plotting a relationship</a:t>
            </a:r>
            <a:endParaRPr/>
          </a:p>
        </p:txBody>
      </p:sp>
      <p:pic>
        <p:nvPicPr>
          <p:cNvPr id="1229" name="Google Shape;1229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7650" y="2487178"/>
            <a:ext cx="952196" cy="122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818" y="2599810"/>
            <a:ext cx="975630" cy="1277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9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rot="10800000">
            <a:off x="1446778" y="3498986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p93"/>
          <p:cNvSpPr txBox="1"/>
          <p:nvPr>
            <p:ph idx="1" type="body"/>
          </p:nvPr>
        </p:nvSpPr>
        <p:spPr>
          <a:xfrm>
            <a:off x="1894126" y="3562633"/>
            <a:ext cx="42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2400"/>
          </a:p>
        </p:txBody>
      </p:sp>
      <p:pic>
        <p:nvPicPr>
          <p:cNvPr id="1233" name="Google Shape;1233;p9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 rot="10800000">
            <a:off x="2742179" y="3655450"/>
            <a:ext cx="1074898" cy="45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9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1446778" y="2856647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93"/>
          <p:cNvSpPr txBox="1"/>
          <p:nvPr>
            <p:ph idx="1" type="body"/>
          </p:nvPr>
        </p:nvSpPr>
        <p:spPr>
          <a:xfrm>
            <a:off x="1894130" y="2835233"/>
            <a:ext cx="3048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/>
          </a:p>
        </p:txBody>
      </p:sp>
      <p:pic>
        <p:nvPicPr>
          <p:cNvPr id="1236" name="Google Shape;1236;p9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2742179" y="2998190"/>
            <a:ext cx="1074898" cy="45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7" name="Google Shape;1237;p9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rot="10800000">
            <a:off x="1446778" y="4173253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3"/>
          <p:cNvSpPr txBox="1"/>
          <p:nvPr>
            <p:ph idx="1" type="body"/>
          </p:nvPr>
        </p:nvSpPr>
        <p:spPr>
          <a:xfrm>
            <a:off x="1782225" y="4236900"/>
            <a:ext cx="5379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2400"/>
          </a:p>
        </p:txBody>
      </p:sp>
      <p:pic>
        <p:nvPicPr>
          <p:cNvPr id="1239" name="Google Shape;1239;p9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 rot="10800000">
            <a:off x="2742179" y="4329717"/>
            <a:ext cx="1074898" cy="451837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93"/>
          <p:cNvSpPr txBox="1"/>
          <p:nvPr>
            <p:ph idx="1" type="body"/>
          </p:nvPr>
        </p:nvSpPr>
        <p:spPr>
          <a:xfrm>
            <a:off x="3002520" y="3703500"/>
            <a:ext cx="5379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endParaRPr sz="2400"/>
          </a:p>
        </p:txBody>
      </p:sp>
      <p:sp>
        <p:nvSpPr>
          <p:cNvPr id="1241" name="Google Shape;1241;p93"/>
          <p:cNvSpPr txBox="1"/>
          <p:nvPr>
            <p:ph idx="1" type="body"/>
          </p:nvPr>
        </p:nvSpPr>
        <p:spPr>
          <a:xfrm>
            <a:off x="3078723" y="2976100"/>
            <a:ext cx="42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2400"/>
          </a:p>
        </p:txBody>
      </p:sp>
      <p:sp>
        <p:nvSpPr>
          <p:cNvPr id="1242" name="Google Shape;1242;p93"/>
          <p:cNvSpPr txBox="1"/>
          <p:nvPr>
            <p:ph idx="1" type="body"/>
          </p:nvPr>
        </p:nvSpPr>
        <p:spPr>
          <a:xfrm>
            <a:off x="2953025" y="4377775"/>
            <a:ext cx="5379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2400"/>
          </a:p>
        </p:txBody>
      </p:sp>
      <p:sp>
        <p:nvSpPr>
          <p:cNvPr id="1243" name="Google Shape;1243;p93"/>
          <p:cNvSpPr txBox="1"/>
          <p:nvPr>
            <p:ph idx="1" type="body"/>
          </p:nvPr>
        </p:nvSpPr>
        <p:spPr>
          <a:xfrm>
            <a:off x="324000" y="699250"/>
            <a:ext cx="6393600" cy="3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It’s a non-</a:t>
            </a:r>
            <a:r>
              <a:rPr lang="en-GB" sz="2000"/>
              <a:t>linear relationship! We now have a curve.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09-11-2023/1b26fe22-b09a-409d-bb95-cba82387aa24&quot; data-equatio-type=&quot;desmos&quot;&gt;&lt;mglyph src=&quot;https://equatio-api.texthelp.com/desmos/get/09-11-2023/1b26fe22-b09a-409d-bb95-cba82387aa24&quot; alt=&quot;Equatio Desmos Graph&quot;/&gt;&lt;/math&gt;" id="1244" name="Google Shape;1244;p93" title="Equatio Desmos Graph"/>
          <p:cNvPicPr preferRelativeResize="0"/>
          <p:nvPr/>
        </p:nvPicPr>
        <p:blipFill rotWithShape="1">
          <a:blip r:embed="rId7">
            <a:alphaModFix/>
          </a:blip>
          <a:srcRect b="6279" l="7082" r="38601" t="0"/>
          <a:stretch/>
        </p:blipFill>
        <p:spPr>
          <a:xfrm>
            <a:off x="5376700" y="1240650"/>
            <a:ext cx="2929976" cy="338031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5" name="Google Shape;1245;p93"/>
          <p:cNvSpPr txBox="1"/>
          <p:nvPr/>
        </p:nvSpPr>
        <p:spPr>
          <a:xfrm>
            <a:off x="6757973" y="3992488"/>
            <a:ext cx="192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Laura’s number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93"/>
          <p:cNvSpPr txBox="1"/>
          <p:nvPr/>
        </p:nvSpPr>
        <p:spPr>
          <a:xfrm rot="-5400000">
            <a:off x="4174150" y="2101425"/>
            <a:ext cx="212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Andeep’s number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93"/>
          <p:cNvSpPr txBox="1"/>
          <p:nvPr>
            <p:ph idx="1" type="body"/>
          </p:nvPr>
        </p:nvSpPr>
        <p:spPr>
          <a:xfrm>
            <a:off x="324000" y="1135100"/>
            <a:ext cx="4686600" cy="96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All the points on the curve will satisfy the relationship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“Andeep’s number = Laura’s squared”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48" name="Google Shape;1248;p93"/>
          <p:cNvSpPr/>
          <p:nvPr/>
        </p:nvSpPr>
        <p:spPr>
          <a:xfrm>
            <a:off x="6232500" y="3967708"/>
            <a:ext cx="375000" cy="350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93"/>
          <p:cNvSpPr/>
          <p:nvPr/>
        </p:nvSpPr>
        <p:spPr>
          <a:xfrm>
            <a:off x="7234632" y="2771573"/>
            <a:ext cx="375000" cy="350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93"/>
          <p:cNvSpPr/>
          <p:nvPr/>
        </p:nvSpPr>
        <p:spPr>
          <a:xfrm>
            <a:off x="7996632" y="1247573"/>
            <a:ext cx="375000" cy="350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93"/>
          <p:cNvSpPr txBox="1"/>
          <p:nvPr>
            <p:ph idx="1" type="body"/>
          </p:nvPr>
        </p:nvSpPr>
        <p:spPr>
          <a:xfrm>
            <a:off x="2460758" y="2173620"/>
            <a:ext cx="9756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All relationships we plot are linear.</a:t>
            </a:r>
            <a:endParaRPr/>
          </a:p>
        </p:txBody>
      </p:sp>
      <p:sp>
        <p:nvSpPr>
          <p:cNvPr id="1257" name="Google Shape;125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plotting a relationship</a:t>
            </a:r>
            <a:endParaRPr/>
          </a:p>
        </p:txBody>
      </p:sp>
      <p:sp>
        <p:nvSpPr>
          <p:cNvPr id="1258" name="Google Shape;1258;p94"/>
          <p:cNvSpPr txBox="1"/>
          <p:nvPr>
            <p:ph idx="2" type="subTitle"/>
          </p:nvPr>
        </p:nvSpPr>
        <p:spPr>
          <a:xfrm>
            <a:off x="980575" y="3043725"/>
            <a:ext cx="6242700" cy="44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always get a common difference and that plots a straight line.</a:t>
            </a:r>
            <a:endParaRPr sz="2000"/>
          </a:p>
        </p:txBody>
      </p:sp>
      <p:sp>
        <p:nvSpPr>
          <p:cNvPr id="1259" name="Google Shape;1259;p94"/>
          <p:cNvSpPr txBox="1"/>
          <p:nvPr>
            <p:ph idx="3" type="subTitle"/>
          </p:nvPr>
        </p:nvSpPr>
        <p:spPr>
          <a:xfrm>
            <a:off x="980575" y="3964150"/>
            <a:ext cx="6478500" cy="44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Some relationships are linear, some are non-linear and have other shapes like curves rather than lines.</a:t>
            </a:r>
            <a:endParaRPr sz="2000"/>
          </a:p>
        </p:txBody>
      </p:sp>
      <p:pic>
        <p:nvPicPr>
          <p:cNvPr id="1260" name="Google Shape;126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3006" y="1805287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6006" y="413620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6" name="Google Shape;1266;p95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571998" y="1571775"/>
            <a:ext cx="4144527" cy="1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95"/>
          <p:cNvSpPr txBox="1"/>
          <p:nvPr>
            <p:ph idx="1" type="body"/>
          </p:nvPr>
        </p:nvSpPr>
        <p:spPr>
          <a:xfrm>
            <a:off x="4686575" y="1696100"/>
            <a:ext cx="3644100" cy="44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So do all</a:t>
            </a:r>
            <a:r>
              <a:rPr lang="en-GB" sz="2100"/>
              <a:t> non-linear relationships always form an upward curve?</a:t>
            </a:r>
            <a:endParaRPr sz="2100"/>
          </a:p>
        </p:txBody>
      </p:sp>
      <p:sp>
        <p:nvSpPr>
          <p:cNvPr id="1268" name="Google Shape;126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plotting a relationship</a:t>
            </a:r>
            <a:endParaRPr/>
          </a:p>
        </p:txBody>
      </p:sp>
      <p:pic>
        <p:nvPicPr>
          <p:cNvPr id="1269" name="Google Shape;1269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9595" y="3292975"/>
            <a:ext cx="710358" cy="915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1-2023/1b26fe22-b09a-409d-bb95-cba82387aa24&quot; data-equatio-type=&quot;desmos&quot;&gt;&lt;mglyph src=&quot;https://equatio-api.texthelp.com/desmos/get/09-11-2023/1b26fe22-b09a-409d-bb95-cba82387aa24&quot; alt=&quot;Equatio Desmos Graph&quot;/&gt;&lt;/math&gt;" id="1270" name="Google Shape;1270;p95" title="Equatio Desmos Graph"/>
          <p:cNvPicPr preferRelativeResize="0"/>
          <p:nvPr/>
        </p:nvPicPr>
        <p:blipFill rotWithShape="1">
          <a:blip r:embed="rId5">
            <a:alphaModFix/>
          </a:blip>
          <a:srcRect b="6279" l="7082" r="38601" t="0"/>
          <a:stretch/>
        </p:blipFill>
        <p:spPr>
          <a:xfrm>
            <a:off x="814870" y="892860"/>
            <a:ext cx="2992956" cy="3497791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71" name="Google Shape;1271;p95"/>
          <p:cNvSpPr txBox="1"/>
          <p:nvPr/>
        </p:nvSpPr>
        <p:spPr>
          <a:xfrm>
            <a:off x="1184898" y="4358688"/>
            <a:ext cx="192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Laura’s number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95"/>
          <p:cNvSpPr txBox="1"/>
          <p:nvPr/>
        </p:nvSpPr>
        <p:spPr>
          <a:xfrm rot="-5400000">
            <a:off x="-601237" y="2382200"/>
            <a:ext cx="212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Andeep’s number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3" name="Google Shape;1273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92150" y="3292987"/>
            <a:ext cx="737062" cy="965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8" name="Google Shape;1278;p96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912850" y="768161"/>
            <a:ext cx="4407900" cy="13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plotting a relationship</a:t>
            </a:r>
            <a:endParaRPr/>
          </a:p>
        </p:txBody>
      </p:sp>
      <p:pic>
        <p:nvPicPr>
          <p:cNvPr id="1280" name="Google Shape;1280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200" y="17659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96"/>
          <p:cNvSpPr txBox="1"/>
          <p:nvPr/>
        </p:nvSpPr>
        <p:spPr>
          <a:xfrm>
            <a:off x="757344" y="2465794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96"/>
          <p:cNvSpPr txBox="1"/>
          <p:nvPr>
            <p:ph idx="1" type="body"/>
          </p:nvPr>
        </p:nvSpPr>
        <p:spPr>
          <a:xfrm>
            <a:off x="1348038" y="846719"/>
            <a:ext cx="3809100" cy="44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We’ve been given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1800"/>
              <a:t> cookies and told to share them but I’m the only one here. Yay! I get all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283" name="Google Shape;1283;p96"/>
          <p:cNvSpPr txBox="1"/>
          <p:nvPr/>
        </p:nvSpPr>
        <p:spPr>
          <a:xfrm>
            <a:off x="7073126" y="3435427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4" name="Google Shape;1284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118193" y="2693350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96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3012770" y="2062061"/>
            <a:ext cx="5368074" cy="943349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96"/>
          <p:cNvSpPr txBox="1"/>
          <p:nvPr>
            <p:ph idx="1" type="body"/>
          </p:nvPr>
        </p:nvSpPr>
        <p:spPr>
          <a:xfrm>
            <a:off x="3176850" y="2130895"/>
            <a:ext cx="4770900" cy="44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Sorry Izzy. You’re going to have to share them now.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60 ÷ 2 = 30</a:t>
            </a:r>
            <a:r>
              <a:rPr lang="en-GB" sz="1800"/>
              <a:t> so we’ll get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800"/>
              <a:t> </a:t>
            </a:r>
            <a:r>
              <a:rPr lang="en-GB" sz="1800"/>
              <a:t>each.</a:t>
            </a:r>
            <a:endParaRPr sz="1800"/>
          </a:p>
        </p:txBody>
      </p:sp>
      <p:pic>
        <p:nvPicPr>
          <p:cNvPr id="1287" name="Google Shape;1287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5121" y="3838596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96"/>
          <p:cNvSpPr txBox="1"/>
          <p:nvPr/>
        </p:nvSpPr>
        <p:spPr>
          <a:xfrm>
            <a:off x="571621" y="4368382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9" name="Google Shape;1289;p96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616882" y="3030200"/>
            <a:ext cx="4987802" cy="9433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96"/>
          <p:cNvSpPr txBox="1"/>
          <p:nvPr>
            <p:ph idx="1" type="body"/>
          </p:nvPr>
        </p:nvSpPr>
        <p:spPr>
          <a:xfrm>
            <a:off x="1085759" y="3121500"/>
            <a:ext cx="4520400" cy="44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love cookies! No way I’m missing out</a:t>
            </a:r>
            <a:r>
              <a:rPr lang="en-GB" sz="1800"/>
              <a:t>.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60 ÷ 3 = 20</a:t>
            </a:r>
            <a:r>
              <a:rPr lang="en-GB" sz="1800"/>
              <a:t>  We now have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800"/>
              <a:t> each.</a:t>
            </a:r>
            <a:endParaRPr sz="1800"/>
          </a:p>
        </p:txBody>
      </p:sp>
      <p:sp>
        <p:nvSpPr>
          <p:cNvPr id="1291" name="Google Shape;1291;p96"/>
          <p:cNvSpPr txBox="1"/>
          <p:nvPr>
            <p:ph idx="1" type="body"/>
          </p:nvPr>
        </p:nvSpPr>
        <p:spPr>
          <a:xfrm>
            <a:off x="2338655" y="4047125"/>
            <a:ext cx="5273100" cy="44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does this relationship look like?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Can we plot it?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</a:t>
            </a:r>
            <a:r>
              <a:rPr lang="en-GB"/>
              <a:t> understanding of plotting a relationship</a:t>
            </a:r>
            <a:endParaRPr/>
          </a:p>
        </p:txBody>
      </p:sp>
      <p:sp>
        <p:nvSpPr>
          <p:cNvPr id="1297" name="Google Shape;1297;p97"/>
          <p:cNvSpPr txBox="1"/>
          <p:nvPr>
            <p:ph idx="1" type="body"/>
          </p:nvPr>
        </p:nvSpPr>
        <p:spPr>
          <a:xfrm>
            <a:off x="323775" y="770525"/>
            <a:ext cx="7180500" cy="44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2000"/>
              <a:t> cookies shared by the number of people in the room.</a:t>
            </a:r>
            <a:endParaRPr sz="2000"/>
          </a:p>
        </p:txBody>
      </p:sp>
      <p:graphicFrame>
        <p:nvGraphicFramePr>
          <p:cNvPr id="1298" name="Google Shape;1298;p97"/>
          <p:cNvGraphicFramePr/>
          <p:nvPr/>
        </p:nvGraphicFramePr>
        <p:xfrm>
          <a:off x="502131" y="1224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158985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</a:tblGrid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Cookies 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99" name="Google Shape;1299;p97"/>
          <p:cNvGraphicFramePr/>
          <p:nvPr/>
        </p:nvGraphicFramePr>
        <p:xfrm>
          <a:off x="502131" y="1224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158985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</a:tblGrid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Cookies 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00" name="Google Shape;1300;p97"/>
          <p:cNvGraphicFramePr/>
          <p:nvPr/>
        </p:nvGraphicFramePr>
        <p:xfrm>
          <a:off x="502131" y="1224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158985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</a:tblGrid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Cookies 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1" name="Google Shape;1301;p97"/>
          <p:cNvSpPr txBox="1"/>
          <p:nvPr>
            <p:ph idx="1" type="body"/>
          </p:nvPr>
        </p:nvSpPr>
        <p:spPr>
          <a:xfrm>
            <a:off x="323775" y="3251434"/>
            <a:ext cx="5181300" cy="3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How might we describe this relationship?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60}{4}=15&quot;&gt;&lt;mfrac&gt;&lt;mn&gt;60&lt;/mn&gt;&lt;mn&gt;4&lt;/mn&gt;&lt;/mfrac&gt;&lt;mo&gt;=&lt;/mo&gt;&lt;mn&gt;15&lt;/mn&gt;&lt;/math&gt;" id="1302" name="Google Shape;1302;p97" title="60 over 4 equals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997" y="2265850"/>
            <a:ext cx="1131586" cy="679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0}{10}=6&quot;&gt;&lt;mfrac&gt;&lt;mn&gt;60&lt;/mn&gt;&lt;mn&gt;10&lt;/mn&gt;&lt;/mfrac&gt;&lt;mo&gt;=&lt;/mo&gt;&lt;mn&gt;6&lt;/mn&gt;&lt;/math&gt;" id="1303" name="Google Shape;1303;p97" title="60 over 10 equal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0453" y="2265850"/>
            <a:ext cx="982693" cy="6898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0}{30}=2&quot;&gt;&lt;mfrac&gt;&lt;mn&gt;60&lt;/mn&gt;&lt;mn&gt;30&lt;/mn&gt;&lt;/mfrac&gt;&lt;mo&gt;=&lt;/mo&gt;&lt;mn&gt;2&lt;/mn&gt;&lt;/math&gt;" id="1304" name="Google Shape;1304;p97" title="60 over 30 equal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8932" y="2265850"/>
            <a:ext cx="982693" cy="6898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0}{p}=c&quot;&gt;&lt;mfrac&gt;&lt;mn&gt;60&lt;/mn&gt;&lt;mi&gt;p&lt;/mi&gt;&lt;/mfrac&gt;&lt;mo&gt;=&lt;/mo&gt;&lt;mi&gt;c&lt;/mi&gt;&lt;/math&gt;" id="1305" name="Google Shape;1305;p97" title="60 over p equals c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9475" y="2269035"/>
            <a:ext cx="949202" cy="73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1-2023/e5858ea0-50d4-49f0-9f9a-7420c30e7623&quot; data-equatio-type=&quot;desmos&quot;&gt;&lt;mglyph src=&quot;https://equatio-api.texthelp.com/desmos/get/10-11-2023/e5858ea0-50d4-49f0-9f9a-7420c30e7623&quot; alt=&quot;Equatio Desmos Graph&quot;/&gt;&lt;/math&gt;" id="1310" name="Google Shape;1310;p98" title="Equatio Desmos Graph"/>
          <p:cNvPicPr preferRelativeResize="0"/>
          <p:nvPr/>
        </p:nvPicPr>
        <p:blipFill rotWithShape="1">
          <a:blip r:embed="rId3">
            <a:alphaModFix/>
          </a:blip>
          <a:srcRect b="0" l="10054" r="14291" t="0"/>
          <a:stretch/>
        </p:blipFill>
        <p:spPr>
          <a:xfrm>
            <a:off x="4265196" y="2160000"/>
            <a:ext cx="2690774" cy="266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1-2023/1a274a53-8028-4453-9d30-508e747652d2&quot; data-equatio-type=&quot;desmos&quot;&gt;&lt;mglyph src=&quot;https://equatio-api.texthelp.com/desmos/get/10-11-2023/1a274a53-8028-4453-9d30-508e747652d2&quot; alt=&quot;Equatio Desmos Graph&quot;/&gt;&lt;/math&gt;" id="1311" name="Google Shape;1311;p98" title="Equatio Desmos Graph"/>
          <p:cNvPicPr preferRelativeResize="0"/>
          <p:nvPr/>
        </p:nvPicPr>
        <p:blipFill rotWithShape="1">
          <a:blip r:embed="rId4">
            <a:alphaModFix/>
          </a:blip>
          <a:srcRect b="1224" l="10663" r="14502" t="0"/>
          <a:stretch/>
        </p:blipFill>
        <p:spPr>
          <a:xfrm>
            <a:off x="4287600" y="2160000"/>
            <a:ext cx="2661652" cy="2634855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</a:t>
            </a:r>
            <a:r>
              <a:rPr lang="en-GB"/>
              <a:t> understanding of plotting a relationship</a:t>
            </a:r>
            <a:endParaRPr/>
          </a:p>
        </p:txBody>
      </p:sp>
      <p:sp>
        <p:nvSpPr>
          <p:cNvPr id="1313" name="Google Shape;1313;p98"/>
          <p:cNvSpPr txBox="1"/>
          <p:nvPr>
            <p:ph idx="1" type="body"/>
          </p:nvPr>
        </p:nvSpPr>
        <p:spPr>
          <a:xfrm>
            <a:off x="323775" y="770525"/>
            <a:ext cx="7180500" cy="44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2000"/>
              <a:t> cookies shared by the number of people in the room.</a:t>
            </a:r>
            <a:endParaRPr sz="2000"/>
          </a:p>
        </p:txBody>
      </p:sp>
      <p:graphicFrame>
        <p:nvGraphicFramePr>
          <p:cNvPr id="1314" name="Google Shape;1314;p98"/>
          <p:cNvGraphicFramePr/>
          <p:nvPr/>
        </p:nvGraphicFramePr>
        <p:xfrm>
          <a:off x="502131" y="1224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158985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  <a:gridCol w="524600"/>
              </a:tblGrid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Cookies 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5" name="Google Shape;1315;p98"/>
          <p:cNvSpPr txBox="1"/>
          <p:nvPr>
            <p:ph idx="1" type="body"/>
          </p:nvPr>
        </p:nvSpPr>
        <p:spPr>
          <a:xfrm>
            <a:off x="6953175" y="4450586"/>
            <a:ext cx="1284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Pe</a:t>
            </a:r>
            <a:r>
              <a:rPr lang="en-GB" sz="1800"/>
              <a:t>ople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/>
          </a:p>
        </p:txBody>
      </p:sp>
      <p:sp>
        <p:nvSpPr>
          <p:cNvPr id="1316" name="Google Shape;1316;p98"/>
          <p:cNvSpPr txBox="1"/>
          <p:nvPr>
            <p:ph idx="1" type="body"/>
          </p:nvPr>
        </p:nvSpPr>
        <p:spPr>
          <a:xfrm rot="-5400000">
            <a:off x="3416696" y="2621786"/>
            <a:ext cx="1284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Cookies</a:t>
            </a:r>
            <a:r>
              <a:rPr lang="en-GB" sz="18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/>
          </a:p>
        </p:txBody>
      </p:sp>
      <p:sp>
        <p:nvSpPr>
          <p:cNvPr id="1317" name="Google Shape;1317;p98"/>
          <p:cNvSpPr txBox="1"/>
          <p:nvPr>
            <p:ph idx="1" type="body"/>
          </p:nvPr>
        </p:nvSpPr>
        <p:spPr>
          <a:xfrm>
            <a:off x="323775" y="3251425"/>
            <a:ext cx="3288300" cy="3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How will the relationship look when plotted?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60}{p}=c&quot;&gt;&lt;mfrac&gt;&lt;mn&gt;60&lt;/mn&gt;&lt;mi&gt;p&lt;/mi&gt;&lt;/mfrac&gt;&lt;mo&gt;=&lt;/mo&gt;&lt;mi&gt;c&lt;/mi&gt;&lt;/math&gt;" id="1318" name="Google Shape;1318;p98" title="60 over p equals c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475" y="2269035"/>
            <a:ext cx="949202" cy="73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99"/>
          <p:cNvSpPr txBox="1"/>
          <p:nvPr>
            <p:ph type="title"/>
          </p:nvPr>
        </p:nvSpPr>
        <p:spPr>
          <a:xfrm>
            <a:off x="324000" y="748775"/>
            <a:ext cx="73935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Which words might you use to describe this relationship?</a:t>
            </a:r>
            <a:endParaRPr sz="2100"/>
          </a:p>
        </p:txBody>
      </p:sp>
      <p:sp>
        <p:nvSpPr>
          <p:cNvPr id="1324" name="Google Shape;1324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plotting a relationship</a:t>
            </a:r>
            <a:endParaRPr/>
          </a:p>
        </p:txBody>
      </p:sp>
      <p:sp>
        <p:nvSpPr>
          <p:cNvPr id="1325" name="Google Shape;1325;p99"/>
          <p:cNvSpPr txBox="1"/>
          <p:nvPr>
            <p:ph idx="1" type="subTitle"/>
          </p:nvPr>
        </p:nvSpPr>
        <p:spPr>
          <a:xfrm>
            <a:off x="904486" y="1849005"/>
            <a:ext cx="328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Curve</a:t>
            </a:r>
            <a:endParaRPr sz="2100"/>
          </a:p>
        </p:txBody>
      </p:sp>
      <p:sp>
        <p:nvSpPr>
          <p:cNvPr id="1326" name="Google Shape;1326;p99"/>
          <p:cNvSpPr txBox="1"/>
          <p:nvPr>
            <p:ph idx="3" type="subTitle"/>
          </p:nvPr>
        </p:nvSpPr>
        <p:spPr>
          <a:xfrm>
            <a:off x="904486" y="2805481"/>
            <a:ext cx="328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Decreasing</a:t>
            </a:r>
            <a:endParaRPr sz="2100"/>
          </a:p>
        </p:txBody>
      </p:sp>
      <p:sp>
        <p:nvSpPr>
          <p:cNvPr id="1327" name="Google Shape;1327;p99"/>
          <p:cNvSpPr txBox="1"/>
          <p:nvPr>
            <p:ph idx="4" type="subTitle"/>
          </p:nvPr>
        </p:nvSpPr>
        <p:spPr>
          <a:xfrm>
            <a:off x="904486" y="3778204"/>
            <a:ext cx="326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Linear</a:t>
            </a:r>
            <a:endParaRPr sz="21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1-2023/1a274a53-8028-4453-9d30-508e747652d2&quot; data-equatio-type=&quot;desmos&quot;&gt;&lt;mglyph src=&quot;https://equatio-api.texthelp.com/desmos/get/10-11-2023/1a274a53-8028-4453-9d30-508e747652d2&quot; alt=&quot;Equatio Desmos Graph&quot;/&gt;&lt;/math&gt;" id="1328" name="Google Shape;1328;p99" title="Equatio Desmos Graph"/>
          <p:cNvPicPr preferRelativeResize="0"/>
          <p:nvPr/>
        </p:nvPicPr>
        <p:blipFill rotWithShape="1">
          <a:blip r:embed="rId3">
            <a:alphaModFix/>
          </a:blip>
          <a:srcRect b="1224" l="10663" r="14502" t="0"/>
          <a:stretch/>
        </p:blipFill>
        <p:spPr>
          <a:xfrm>
            <a:off x="4811166" y="1398000"/>
            <a:ext cx="2661652" cy="26348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99"/>
          <p:cNvSpPr txBox="1"/>
          <p:nvPr>
            <p:ph idx="4294967295" type="body"/>
          </p:nvPr>
        </p:nvSpPr>
        <p:spPr>
          <a:xfrm>
            <a:off x="6343575" y="3993386"/>
            <a:ext cx="1284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People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/>
          </a:p>
        </p:txBody>
      </p:sp>
      <p:sp>
        <p:nvSpPr>
          <p:cNvPr id="1330" name="Google Shape;1330;p99"/>
          <p:cNvSpPr txBox="1"/>
          <p:nvPr>
            <p:ph idx="4294967295" type="body"/>
          </p:nvPr>
        </p:nvSpPr>
        <p:spPr>
          <a:xfrm rot="-5400000">
            <a:off x="3950096" y="1859786"/>
            <a:ext cx="1284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Cookies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60}{p}=c&quot;&gt;&lt;mfrac&gt;&lt;mn&gt;60&lt;/mn&gt;&lt;mi&gt;p&lt;/mi&gt;&lt;/mfrac&gt;&lt;mo&gt;=&lt;/mo&gt;&lt;mi&gt;c&lt;/mi&gt;&lt;/math&gt;" id="1331" name="Google Shape;1331;p99" title="60 over p equals c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1275" y="1507035"/>
            <a:ext cx="949202" cy="731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9606" y="1805287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5406" y="2784656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99"/>
          <p:cNvSpPr txBox="1"/>
          <p:nvPr>
            <p:ph idx="4294967295" type="body"/>
          </p:nvPr>
        </p:nvSpPr>
        <p:spPr>
          <a:xfrm>
            <a:off x="923224" y="4120986"/>
            <a:ext cx="44784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can model all sorts of relationships in maths; they won’t all be linear.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Google Shape;133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0320" y="2018745"/>
            <a:ext cx="832983" cy="1074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0" name="Google Shape;1340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181" y="1964876"/>
            <a:ext cx="853482" cy="111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1" name="Google Shape;1341;p10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rot="10800000">
            <a:off x="1229408" y="2508391"/>
            <a:ext cx="537902" cy="451839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100"/>
          <p:cNvSpPr txBox="1"/>
          <p:nvPr>
            <p:ph idx="4294967295" type="body"/>
          </p:nvPr>
        </p:nvSpPr>
        <p:spPr>
          <a:xfrm>
            <a:off x="1407623" y="2572028"/>
            <a:ext cx="297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/>
          </a:p>
        </p:txBody>
      </p:sp>
      <p:pic>
        <p:nvPicPr>
          <p:cNvPr id="1343" name="Google Shape;1343;p10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 rot="10800000">
            <a:off x="1861471" y="2664853"/>
            <a:ext cx="537902" cy="451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4" name="Google Shape;1344;p10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229408" y="1866050"/>
            <a:ext cx="537902" cy="451839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Securing understanding of plotting a relationship</a:t>
            </a:r>
            <a:endParaRPr/>
          </a:p>
        </p:txBody>
      </p:sp>
      <p:pic>
        <p:nvPicPr>
          <p:cNvPr id="1346" name="Google Shape;1346;p10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1861471" y="2007600"/>
            <a:ext cx="537902" cy="451835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100"/>
          <p:cNvSpPr txBox="1"/>
          <p:nvPr>
            <p:ph idx="4294967295" type="body"/>
          </p:nvPr>
        </p:nvSpPr>
        <p:spPr>
          <a:xfrm>
            <a:off x="1935720" y="2712900"/>
            <a:ext cx="5379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 sz="2400"/>
          </a:p>
        </p:txBody>
      </p:sp>
      <p:sp>
        <p:nvSpPr>
          <p:cNvPr id="1348" name="Google Shape;1348;p100"/>
          <p:cNvSpPr txBox="1"/>
          <p:nvPr>
            <p:ph idx="4294967295" type="body"/>
          </p:nvPr>
        </p:nvSpPr>
        <p:spPr>
          <a:xfrm>
            <a:off x="1935720" y="1985500"/>
            <a:ext cx="42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2400"/>
          </a:p>
        </p:txBody>
      </p:sp>
      <p:sp>
        <p:nvSpPr>
          <p:cNvPr id="1349" name="Google Shape;1349;p100"/>
          <p:cNvSpPr txBox="1"/>
          <p:nvPr>
            <p:ph idx="4294967295" type="body"/>
          </p:nvPr>
        </p:nvSpPr>
        <p:spPr>
          <a:xfrm>
            <a:off x="335575" y="762100"/>
            <a:ext cx="2732700" cy="3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This time Andeep is squaring Laura’s number and adding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350" name="Google Shape;1350;p100"/>
          <p:cNvSpPr txBox="1"/>
          <p:nvPr>
            <p:ph idx="4294967295" type="body"/>
          </p:nvPr>
        </p:nvSpPr>
        <p:spPr>
          <a:xfrm>
            <a:off x="335575" y="3330450"/>
            <a:ext cx="4488300" cy="6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</a:t>
            </a:r>
            <a:r>
              <a:rPr lang="en-GB" sz="1800"/>
              <a:t>) Complete the table of values and plot the relationship.</a:t>
            </a:r>
            <a:endParaRPr sz="1800"/>
          </a:p>
        </p:txBody>
      </p:sp>
      <p:graphicFrame>
        <p:nvGraphicFramePr>
          <p:cNvPr id="1351" name="Google Shape;1351;p100"/>
          <p:cNvGraphicFramePr/>
          <p:nvPr/>
        </p:nvGraphicFramePr>
        <p:xfrm>
          <a:off x="3267792" y="81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1400875"/>
                <a:gridCol w="315275"/>
                <a:gridCol w="425775"/>
                <a:gridCol w="425775"/>
                <a:gridCol w="425775"/>
                <a:gridCol w="425775"/>
                <a:gridCol w="425775"/>
                <a:gridCol w="425775"/>
                <a:gridCol w="425775"/>
                <a:gridCol w="425775"/>
                <a:gridCol w="425775"/>
              </a:tblGrid>
              <a:tr h="25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2" name="Google Shape;1352;p100"/>
          <p:cNvSpPr txBox="1"/>
          <p:nvPr/>
        </p:nvSpPr>
        <p:spPr>
          <a:xfrm rot="-5400000">
            <a:off x="4350591" y="2578673"/>
            <a:ext cx="212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Andeep’s number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1-2023/0e637b72-d611-4ef0-b3eb-826c304a5890&quot; data-equatio-type=&quot;desmos&quot;&gt;&lt;mglyph src=&quot;https://equatio-api.texthelp.com/desmos/get/10-11-2023/0e637b72-d611-4ef0-b3eb-826c304a5890&quot; alt=&quot;Equatio Desmos Graph&quot;/&gt;&lt;/math&gt;" id="1353" name="Google Shape;1353;p100" title="Equatio Desmos Graph"/>
          <p:cNvPicPr preferRelativeResize="0"/>
          <p:nvPr/>
        </p:nvPicPr>
        <p:blipFill rotWithShape="1">
          <a:blip r:embed="rId6">
            <a:alphaModFix/>
          </a:blip>
          <a:srcRect b="0" l="7899" r="38359" t="0"/>
          <a:stretch/>
        </p:blipFill>
        <p:spPr>
          <a:xfrm>
            <a:off x="5642346" y="1737396"/>
            <a:ext cx="2208492" cy="3082125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4" name="Google Shape;1354;p100"/>
          <p:cNvSpPr txBox="1"/>
          <p:nvPr/>
        </p:nvSpPr>
        <p:spPr>
          <a:xfrm>
            <a:off x="6652077" y="4256497"/>
            <a:ext cx="192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Laura’s number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100"/>
          <p:cNvSpPr txBox="1"/>
          <p:nvPr>
            <p:ph idx="4294967295" type="body"/>
          </p:nvPr>
        </p:nvSpPr>
        <p:spPr>
          <a:xfrm>
            <a:off x="335575" y="4027480"/>
            <a:ext cx="46485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</a:t>
            </a:r>
            <a:r>
              <a:rPr lang="en-GB" sz="1800"/>
              <a:t>) Explain why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(5,25)</a:t>
            </a:r>
            <a:r>
              <a:rPr lang="en-GB" sz="1800"/>
              <a:t> is not on this curve.</a:t>
            </a:r>
            <a:endParaRPr sz="1800"/>
          </a:p>
        </p:txBody>
      </p:sp>
      <p:sp>
        <p:nvSpPr>
          <p:cNvPr id="1356" name="Google Shape;1356;p100"/>
          <p:cNvSpPr txBox="1"/>
          <p:nvPr>
            <p:ph idx="4294967295" type="body"/>
          </p:nvPr>
        </p:nvSpPr>
        <p:spPr>
          <a:xfrm>
            <a:off x="335575" y="4549650"/>
            <a:ext cx="4488300" cy="3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</a:t>
            </a:r>
            <a:r>
              <a:rPr lang="en-GB" sz="1800"/>
              <a:t>) Write this relationship algebraically.</a:t>
            </a:r>
            <a:endParaRPr sz="1800"/>
          </a:p>
        </p:txBody>
      </p:sp>
      <p:sp>
        <p:nvSpPr>
          <p:cNvPr id="1357" name="Google Shape;1357;p100"/>
          <p:cNvSpPr txBox="1"/>
          <p:nvPr>
            <p:ph idx="4294967295" type="body"/>
          </p:nvPr>
        </p:nvSpPr>
        <p:spPr>
          <a:xfrm>
            <a:off x="1407623" y="1832489"/>
            <a:ext cx="297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Securing understanding of plotting a relationship</a:t>
            </a:r>
            <a:endParaRPr/>
          </a:p>
        </p:txBody>
      </p:sp>
      <p:sp>
        <p:nvSpPr>
          <p:cNvPr id="1363" name="Google Shape;1363;p101"/>
          <p:cNvSpPr txBox="1"/>
          <p:nvPr>
            <p:ph idx="4294967295" type="body"/>
          </p:nvPr>
        </p:nvSpPr>
        <p:spPr>
          <a:xfrm>
            <a:off x="335575" y="762100"/>
            <a:ext cx="3294000" cy="3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This time the Oak pupils are sharing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24 </a:t>
            </a:r>
            <a:r>
              <a:rPr lang="en-GB" sz="1800"/>
              <a:t>apples.</a:t>
            </a:r>
            <a:endParaRPr sz="1800"/>
          </a:p>
        </p:txBody>
      </p:sp>
      <p:sp>
        <p:nvSpPr>
          <p:cNvPr id="1364" name="Google Shape;1364;p101"/>
          <p:cNvSpPr txBox="1"/>
          <p:nvPr>
            <p:ph idx="4294967295" type="body"/>
          </p:nvPr>
        </p:nvSpPr>
        <p:spPr>
          <a:xfrm>
            <a:off x="335575" y="1882650"/>
            <a:ext cx="3799500" cy="6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Complete the table of values and plot the relationship.</a:t>
            </a:r>
            <a:endParaRPr sz="1800"/>
          </a:p>
        </p:txBody>
      </p:sp>
      <p:sp>
        <p:nvSpPr>
          <p:cNvPr id="1365" name="Google Shape;1365;p101"/>
          <p:cNvSpPr txBox="1"/>
          <p:nvPr>
            <p:ph idx="4294967295" type="body"/>
          </p:nvPr>
        </p:nvSpPr>
        <p:spPr>
          <a:xfrm>
            <a:off x="335575" y="2644650"/>
            <a:ext cx="3563700" cy="3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</a:t>
            </a:r>
            <a:r>
              <a:rPr lang="en-GB" sz="1800"/>
              <a:t>) Write this relationship algebraically.</a:t>
            </a:r>
            <a:endParaRPr sz="1800"/>
          </a:p>
        </p:txBody>
      </p:sp>
      <p:graphicFrame>
        <p:nvGraphicFramePr>
          <p:cNvPr id="1366" name="Google Shape;1366;p101"/>
          <p:cNvGraphicFramePr/>
          <p:nvPr/>
        </p:nvGraphicFramePr>
        <p:xfrm>
          <a:off x="3819508" y="8208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1372250"/>
                <a:gridCol w="452800"/>
                <a:gridCol w="452800"/>
                <a:gridCol w="452800"/>
                <a:gridCol w="452800"/>
                <a:gridCol w="452800"/>
                <a:gridCol w="452800"/>
                <a:gridCol w="452800"/>
                <a:gridCol w="452800"/>
              </a:tblGrid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Apples 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7" name="Google Shape;1367;p101"/>
          <p:cNvSpPr txBox="1"/>
          <p:nvPr>
            <p:ph idx="4294967295" type="body"/>
          </p:nvPr>
        </p:nvSpPr>
        <p:spPr>
          <a:xfrm rot="-5400000">
            <a:off x="3927636" y="2536768"/>
            <a:ext cx="1284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Apples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1-2023/1194b9c4-598a-4afc-8ec5-6fd6aaf561b3&quot; data-equatio-type=&quot;desmos&quot;&gt;&lt;mglyph src=&quot;https://equatio-api.texthelp.com/desmos/get/10-11-2023/1194b9c4-598a-4afc-8ec5-6fd6aaf561b3&quot; alt=&quot;Equatio Desmos Graph&quot;/&gt;&lt;/math&gt;" id="1368" name="Google Shape;1368;p101" title="Equatio Desmos Graph"/>
          <p:cNvPicPr preferRelativeResize="0"/>
          <p:nvPr/>
        </p:nvPicPr>
        <p:blipFill rotWithShape="1">
          <a:blip r:embed="rId3">
            <a:alphaModFix/>
          </a:blip>
          <a:srcRect b="17164" l="5631" r="33941" t="2924"/>
          <a:stretch/>
        </p:blipFill>
        <p:spPr>
          <a:xfrm>
            <a:off x="4851478" y="1846274"/>
            <a:ext cx="2931910" cy="27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101"/>
          <p:cNvSpPr txBox="1"/>
          <p:nvPr>
            <p:ph idx="4294967295" type="body"/>
          </p:nvPr>
        </p:nvSpPr>
        <p:spPr>
          <a:xfrm>
            <a:off x="6973223" y="4504325"/>
            <a:ext cx="1284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People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4" name="Google Shape;1374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0320" y="1866345"/>
            <a:ext cx="832983" cy="1074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181" y="1812476"/>
            <a:ext cx="853482" cy="111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6" name="Google Shape;1376;p10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rot="10800000">
            <a:off x="1229408" y="2355991"/>
            <a:ext cx="537902" cy="451839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2"/>
          <p:cNvSpPr txBox="1"/>
          <p:nvPr>
            <p:ph idx="4294967295" type="body"/>
          </p:nvPr>
        </p:nvSpPr>
        <p:spPr>
          <a:xfrm>
            <a:off x="1407623" y="2419628"/>
            <a:ext cx="297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/>
          </a:p>
        </p:txBody>
      </p:sp>
      <p:pic>
        <p:nvPicPr>
          <p:cNvPr id="1378" name="Google Shape;1378;p10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 rot="10800000">
            <a:off x="1861471" y="2512453"/>
            <a:ext cx="537902" cy="451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p10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229408" y="1866050"/>
            <a:ext cx="537902" cy="451839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Securing understanding of plotting a relationship</a:t>
            </a:r>
            <a:endParaRPr/>
          </a:p>
        </p:txBody>
      </p:sp>
      <p:pic>
        <p:nvPicPr>
          <p:cNvPr id="1381" name="Google Shape;1381;p10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1861471" y="2007600"/>
            <a:ext cx="537902" cy="451835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102"/>
          <p:cNvSpPr txBox="1"/>
          <p:nvPr>
            <p:ph idx="4294967295" type="body"/>
          </p:nvPr>
        </p:nvSpPr>
        <p:spPr>
          <a:xfrm>
            <a:off x="1935720" y="2560500"/>
            <a:ext cx="5379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 sz="2400"/>
          </a:p>
        </p:txBody>
      </p:sp>
      <p:sp>
        <p:nvSpPr>
          <p:cNvPr id="1383" name="Google Shape;1383;p102"/>
          <p:cNvSpPr txBox="1"/>
          <p:nvPr>
            <p:ph idx="4294967295" type="body"/>
          </p:nvPr>
        </p:nvSpPr>
        <p:spPr>
          <a:xfrm>
            <a:off x="1935720" y="1985500"/>
            <a:ext cx="426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2400"/>
          </a:p>
        </p:txBody>
      </p:sp>
      <p:sp>
        <p:nvSpPr>
          <p:cNvPr id="1384" name="Google Shape;1384;p102"/>
          <p:cNvSpPr txBox="1"/>
          <p:nvPr>
            <p:ph idx="4294967295" type="body"/>
          </p:nvPr>
        </p:nvSpPr>
        <p:spPr>
          <a:xfrm>
            <a:off x="335575" y="762100"/>
            <a:ext cx="2732700" cy="3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This time Andeep is squaring Laura’s number and adding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385" name="Google Shape;1385;p102"/>
          <p:cNvSpPr txBox="1"/>
          <p:nvPr>
            <p:ph idx="4294967295" type="body"/>
          </p:nvPr>
        </p:nvSpPr>
        <p:spPr>
          <a:xfrm>
            <a:off x="335575" y="3025650"/>
            <a:ext cx="4488300" cy="6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Complete the table of values and plot the relationship.</a:t>
            </a:r>
            <a:endParaRPr sz="1800"/>
          </a:p>
        </p:txBody>
      </p:sp>
      <p:graphicFrame>
        <p:nvGraphicFramePr>
          <p:cNvPr id="1386" name="Google Shape;1386;p102"/>
          <p:cNvGraphicFramePr/>
          <p:nvPr/>
        </p:nvGraphicFramePr>
        <p:xfrm>
          <a:off x="3267792" y="81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1400875"/>
                <a:gridCol w="315275"/>
                <a:gridCol w="425775"/>
                <a:gridCol w="425775"/>
                <a:gridCol w="425775"/>
                <a:gridCol w="425775"/>
                <a:gridCol w="425775"/>
                <a:gridCol w="425775"/>
                <a:gridCol w="425775"/>
                <a:gridCol w="425775"/>
                <a:gridCol w="425775"/>
              </a:tblGrid>
              <a:tr h="25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7" name="Google Shape;1387;p102"/>
          <p:cNvSpPr txBox="1"/>
          <p:nvPr/>
        </p:nvSpPr>
        <p:spPr>
          <a:xfrm rot="-5400000">
            <a:off x="4883991" y="2578673"/>
            <a:ext cx="212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Andeep’s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1-2023/0e637b72-d611-4ef0-b3eb-826c304a5890&quot; data-equatio-type=&quot;desmos&quot;&gt;&lt;mglyph src=&quot;https://equatio-api.texthelp.com/desmos/get/10-11-2023/0e637b72-d611-4ef0-b3eb-826c304a5890&quot; alt=&quot;Equatio Desmos Graph&quot;/&gt;&lt;/math&gt;" id="1388" name="Google Shape;1388;p102" title="Equatio Desmos Graph"/>
          <p:cNvPicPr preferRelativeResize="0"/>
          <p:nvPr/>
        </p:nvPicPr>
        <p:blipFill rotWithShape="1">
          <a:blip r:embed="rId6">
            <a:alphaModFix/>
          </a:blip>
          <a:srcRect b="0" l="7899" r="38359" t="0"/>
          <a:stretch/>
        </p:blipFill>
        <p:spPr>
          <a:xfrm>
            <a:off x="6175746" y="1737396"/>
            <a:ext cx="2208492" cy="3082125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ata-is-equatio=&quot;1&quot; data-equatio-url=&quot;https://equatio-api.texthelp.com/desmos/get/10-11-2023/f7082b5a-9011-4baf-9452-d0455df48bdd&quot; data-equatio-type=&quot;desmos&quot;&gt;&lt;mglyph src=&quot;https://equatio-api.texthelp.com/desmos/get/10-11-2023/f7082b5a-9011-4baf-9452-d0455df48bdd&quot; alt=&quot;Equatio Desmos Graph&quot;/&gt;&lt;/math&gt;" id="1389" name="Google Shape;1389;p102" title="Equatio Desmos Graph"/>
          <p:cNvPicPr preferRelativeResize="0"/>
          <p:nvPr/>
        </p:nvPicPr>
        <p:blipFill rotWithShape="1">
          <a:blip r:embed="rId7">
            <a:alphaModFix/>
          </a:blip>
          <a:srcRect b="0" l="8188" r="38361" t="0"/>
          <a:stretch/>
        </p:blipFill>
        <p:spPr>
          <a:xfrm>
            <a:off x="6188400" y="1737525"/>
            <a:ext cx="2196600" cy="3082001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0" name="Google Shape;1390;p102"/>
          <p:cNvSpPr txBox="1"/>
          <p:nvPr/>
        </p:nvSpPr>
        <p:spPr>
          <a:xfrm>
            <a:off x="6652077" y="4256497"/>
            <a:ext cx="192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Laura’s number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02"/>
          <p:cNvSpPr txBox="1"/>
          <p:nvPr>
            <p:ph idx="4294967295" type="body"/>
          </p:nvPr>
        </p:nvSpPr>
        <p:spPr>
          <a:xfrm>
            <a:off x="335575" y="3646480"/>
            <a:ext cx="46485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Explain why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(5,25)</a:t>
            </a:r>
            <a:r>
              <a:rPr lang="en-GB" sz="1800"/>
              <a:t> is not on this curve.</a:t>
            </a:r>
            <a:endParaRPr sz="1800"/>
          </a:p>
        </p:txBody>
      </p:sp>
      <p:sp>
        <p:nvSpPr>
          <p:cNvPr id="1392" name="Google Shape;1392;p102"/>
          <p:cNvSpPr txBox="1"/>
          <p:nvPr>
            <p:ph idx="4294967295" type="body"/>
          </p:nvPr>
        </p:nvSpPr>
        <p:spPr>
          <a:xfrm>
            <a:off x="335575" y="4473450"/>
            <a:ext cx="4488300" cy="3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Write this relationship algebraically.</a:t>
            </a:r>
            <a:endParaRPr sz="1800"/>
          </a:p>
        </p:txBody>
      </p:sp>
      <p:sp>
        <p:nvSpPr>
          <p:cNvPr id="1393" name="Google Shape;1393;p102"/>
          <p:cNvSpPr txBox="1"/>
          <p:nvPr>
            <p:ph idx="4294967295" type="body"/>
          </p:nvPr>
        </p:nvSpPr>
        <p:spPr>
          <a:xfrm>
            <a:off x="1407623" y="1832489"/>
            <a:ext cx="297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400"/>
          </a:p>
        </p:txBody>
      </p:sp>
      <p:graphicFrame>
        <p:nvGraphicFramePr>
          <p:cNvPr id="1394" name="Google Shape;1394;p102"/>
          <p:cNvGraphicFramePr/>
          <p:nvPr/>
        </p:nvGraphicFramePr>
        <p:xfrm>
          <a:off x="3267792" y="81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1400875"/>
                <a:gridCol w="315275"/>
                <a:gridCol w="425775"/>
                <a:gridCol w="425775"/>
                <a:gridCol w="425775"/>
                <a:gridCol w="425775"/>
                <a:gridCol w="425775"/>
                <a:gridCol w="425775"/>
                <a:gridCol w="425775"/>
                <a:gridCol w="425775"/>
                <a:gridCol w="425775"/>
              </a:tblGrid>
              <a:tr h="25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5" name="Google Shape;1395;p102"/>
          <p:cNvSpPr txBox="1"/>
          <p:nvPr>
            <p:ph idx="4294967295" type="body"/>
          </p:nvPr>
        </p:nvSpPr>
        <p:spPr>
          <a:xfrm>
            <a:off x="335575" y="4024727"/>
            <a:ext cx="51423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does not fit the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relationship.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+ 10 ≠ 25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6" name="Google Shape;1396;p102"/>
          <p:cNvSpPr txBox="1"/>
          <p:nvPr>
            <p:ph idx="4294967295" type="body"/>
          </p:nvPr>
        </p:nvSpPr>
        <p:spPr>
          <a:xfrm>
            <a:off x="4674320" y="4434230"/>
            <a:ext cx="16545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+ 10</a:t>
            </a:r>
            <a:endParaRPr baseline="30000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Securing understanding of plotting a relationship</a:t>
            </a:r>
            <a:endParaRPr/>
          </a:p>
        </p:txBody>
      </p:sp>
      <p:sp>
        <p:nvSpPr>
          <p:cNvPr id="1402" name="Google Shape;1402;p103"/>
          <p:cNvSpPr txBox="1"/>
          <p:nvPr>
            <p:ph idx="4294967295" type="body"/>
          </p:nvPr>
        </p:nvSpPr>
        <p:spPr>
          <a:xfrm>
            <a:off x="335575" y="762100"/>
            <a:ext cx="3294000" cy="3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This time the Oak pupils are sharing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24 </a:t>
            </a:r>
            <a:r>
              <a:rPr lang="en-GB" sz="1800"/>
              <a:t>apples.</a:t>
            </a:r>
            <a:endParaRPr sz="1800"/>
          </a:p>
        </p:txBody>
      </p:sp>
      <p:sp>
        <p:nvSpPr>
          <p:cNvPr id="1403" name="Google Shape;1403;p103"/>
          <p:cNvSpPr txBox="1"/>
          <p:nvPr>
            <p:ph idx="4294967295" type="body"/>
          </p:nvPr>
        </p:nvSpPr>
        <p:spPr>
          <a:xfrm>
            <a:off x="335575" y="1882650"/>
            <a:ext cx="3799500" cy="6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Complete the table of values and plot the relationship.</a:t>
            </a:r>
            <a:endParaRPr sz="1800"/>
          </a:p>
        </p:txBody>
      </p:sp>
      <p:sp>
        <p:nvSpPr>
          <p:cNvPr id="1404" name="Google Shape;1404;p103"/>
          <p:cNvSpPr txBox="1"/>
          <p:nvPr>
            <p:ph idx="4294967295" type="body"/>
          </p:nvPr>
        </p:nvSpPr>
        <p:spPr>
          <a:xfrm>
            <a:off x="335575" y="2644650"/>
            <a:ext cx="3563700" cy="3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Write this relationship algebraically.</a:t>
            </a:r>
            <a:endParaRPr sz="1800"/>
          </a:p>
        </p:txBody>
      </p:sp>
      <p:graphicFrame>
        <p:nvGraphicFramePr>
          <p:cNvPr id="1405" name="Google Shape;1405;p103"/>
          <p:cNvGraphicFramePr/>
          <p:nvPr/>
        </p:nvGraphicFramePr>
        <p:xfrm>
          <a:off x="3819508" y="8208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1372250"/>
                <a:gridCol w="452800"/>
                <a:gridCol w="452800"/>
                <a:gridCol w="452800"/>
                <a:gridCol w="452800"/>
                <a:gridCol w="452800"/>
                <a:gridCol w="452800"/>
                <a:gridCol w="452800"/>
                <a:gridCol w="452800"/>
              </a:tblGrid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Apples 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6" name="Google Shape;1406;p103"/>
          <p:cNvSpPr txBox="1"/>
          <p:nvPr>
            <p:ph idx="4294967295" type="body"/>
          </p:nvPr>
        </p:nvSpPr>
        <p:spPr>
          <a:xfrm rot="-5400000">
            <a:off x="3927636" y="2536768"/>
            <a:ext cx="1284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Apples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1-2023/1194b9c4-598a-4afc-8ec5-6fd6aaf561b3&quot; data-equatio-type=&quot;desmos&quot;&gt;&lt;mglyph src=&quot;https://equatio-api.texthelp.com/desmos/get/10-11-2023/1194b9c4-598a-4afc-8ec5-6fd6aaf561b3&quot; alt=&quot;Equatio Desmos Graph&quot;/&gt;&lt;/math&gt;" id="1407" name="Google Shape;1407;p103" title="Equatio Desmos Graph"/>
          <p:cNvPicPr preferRelativeResize="0"/>
          <p:nvPr/>
        </p:nvPicPr>
        <p:blipFill rotWithShape="1">
          <a:blip r:embed="rId3">
            <a:alphaModFix/>
          </a:blip>
          <a:srcRect b="17164" l="5631" r="33941" t="2924"/>
          <a:stretch/>
        </p:blipFill>
        <p:spPr>
          <a:xfrm>
            <a:off x="4851478" y="1846274"/>
            <a:ext cx="2931910" cy="276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1-2023/c32a10c2-ea22-4457-b042-0cbf83cca403&quot; data-equatio-type=&quot;desmos&quot;&gt;&lt;mglyph src=&quot;https://equatio-api.texthelp.com/desmos/get/10-11-2023/c32a10c2-ea22-4457-b042-0cbf83cca403&quot; alt=&quot;Equatio Desmos Graph&quot;/&gt;&lt;/math&gt;" id="1408" name="Google Shape;1408;p103" title="Equatio Desmos Graph"/>
          <p:cNvPicPr preferRelativeResize="0"/>
          <p:nvPr/>
        </p:nvPicPr>
        <p:blipFill rotWithShape="1">
          <a:blip r:embed="rId4">
            <a:alphaModFix/>
          </a:blip>
          <a:srcRect b="18248" l="5631" r="33941" t="2924"/>
          <a:stretch/>
        </p:blipFill>
        <p:spPr>
          <a:xfrm>
            <a:off x="4852800" y="1846274"/>
            <a:ext cx="2931910" cy="2730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p}=a&quot;&gt;&lt;mfrac&gt;&lt;mn&gt;24&lt;/mn&gt;&lt;mi&gt;p&lt;/mi&gt;&lt;/mfrac&gt;&lt;mo&gt;=&lt;/mo&gt;&lt;mi&gt;a&lt;/mi&gt;&lt;/math&gt;" id="1409" name="Google Shape;1409;p103" title="24 over p equals a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9030" y="3345227"/>
            <a:ext cx="946425" cy="7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0" name="Google Shape;1410;p103"/>
          <p:cNvSpPr txBox="1"/>
          <p:nvPr>
            <p:ph idx="4294967295" type="body"/>
          </p:nvPr>
        </p:nvSpPr>
        <p:spPr>
          <a:xfrm>
            <a:off x="6973223" y="4504325"/>
            <a:ext cx="1284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People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/>
          </a:p>
        </p:txBody>
      </p:sp>
      <p:graphicFrame>
        <p:nvGraphicFramePr>
          <p:cNvPr id="1411" name="Google Shape;1411;p103"/>
          <p:cNvGraphicFramePr/>
          <p:nvPr/>
        </p:nvGraphicFramePr>
        <p:xfrm>
          <a:off x="3819508" y="8208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{6F746F09-D507-44DA-AB91-2C2DD68339FD}</a:tableStyleId>
              </a:tblPr>
              <a:tblGrid>
                <a:gridCol w="1372250"/>
                <a:gridCol w="452800"/>
                <a:gridCol w="452800"/>
                <a:gridCol w="452800"/>
                <a:gridCol w="452800"/>
                <a:gridCol w="452800"/>
                <a:gridCol w="452800"/>
                <a:gridCol w="452800"/>
                <a:gridCol w="452800"/>
              </a:tblGrid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Apples 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104"/>
          <p:cNvSpPr txBox="1"/>
          <p:nvPr>
            <p:ph idx="1" type="body"/>
          </p:nvPr>
        </p:nvSpPr>
        <p:spPr>
          <a:xfrm>
            <a:off x="324000" y="1080000"/>
            <a:ext cx="8113800" cy="21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use graphical representations to show all the points that satisfy a mathematical relationship.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Sometimes the relationship is linear, sometimes it is non-linear however, all points on the line or curve satisfy the relationship.</a:t>
            </a:r>
            <a:endParaRPr/>
          </a:p>
        </p:txBody>
      </p:sp>
      <p:sp>
        <p:nvSpPr>
          <p:cNvPr id="1417" name="Google Shape;1417;p10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plotting a relationship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23" name="Google Shape;1423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