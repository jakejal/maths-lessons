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2CD822-42AC-400F-9C34-B724CEBF2189}">
  <a:tblStyle styleId="{312CD822-42AC-400F-9C34-B724CEBF21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a223bc406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a223bc406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9a970fdad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9a970fdad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9a970fdade_0_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a970fdade_0_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9a970fdade_0_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29a970fdade_0_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29a970fdade_0_9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29a970fdade_0_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9a970fdade_0_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9a970fdade_0_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29a970fdade_0_1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29a970fdade_0_1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29a970fdade_0_1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29a970fdade_0_1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9a970fdade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9a970fdade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9a970fdade_0_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9a970fdade_0_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9a970fdad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9a970fdad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29a970fdade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29a970fdade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9a970fdade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9a970fdade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9a970fdad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9a970fdad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29a970fdade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29a970fdade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29a970fdade_0_1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9a970fdade_0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29a970fdade_0_1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29a970fdade_0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29a970fdade_0_1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29a970fdade_0_1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29a970fdade_0_1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29a970fdade_0_1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29a970fdade_0_1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29a970fdade_0_1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29a970fdade_0_1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29a970fdade_0_1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9a970fdade_0_1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29a970fdade_0_1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9a970fdade_0_1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9a970fdade_0_1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29a970fdade_0_1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29a970fdade_0_1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9a970fdade_0_1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29a970fdade_0_1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29a970fdade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29a970fdade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9a970fdade_0_1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29a970fdade_0_1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9a970fdade_0_1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29a970fdade_0_1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29a970fdade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29a970fdade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29a970fdade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29a970fdade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29a970fdade_0_1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29a970fdade_0_1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29a970fdade_0_1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29a970fdade_0_1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29a970fdade_0_1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9a970fdade_0_1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29a970fdade_0_1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29a970fdade_0_1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78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1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8.png"/><Relationship Id="rId4" Type="http://schemas.openxmlformats.org/officeDocument/2006/relationships/image" Target="../media/image23.png"/><Relationship Id="rId9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8.png"/><Relationship Id="rId4" Type="http://schemas.openxmlformats.org/officeDocument/2006/relationships/image" Target="../media/image32.png"/><Relationship Id="rId11" Type="http://schemas.openxmlformats.org/officeDocument/2006/relationships/image" Target="../media/image17.png"/><Relationship Id="rId10" Type="http://schemas.openxmlformats.org/officeDocument/2006/relationships/image" Target="../media/image34.png"/><Relationship Id="rId9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Relationship Id="rId4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60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11" Type="http://schemas.openxmlformats.org/officeDocument/2006/relationships/image" Target="../media/image64.png"/><Relationship Id="rId10" Type="http://schemas.openxmlformats.org/officeDocument/2006/relationships/image" Target="../media/image61.png"/><Relationship Id="rId13" Type="http://schemas.openxmlformats.org/officeDocument/2006/relationships/image" Target="../media/image62.png"/><Relationship Id="rId12" Type="http://schemas.openxmlformats.org/officeDocument/2006/relationships/image" Target="../media/image6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2.png"/><Relationship Id="rId6" Type="http://schemas.openxmlformats.org/officeDocument/2006/relationships/image" Target="../media/image6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60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11" Type="http://schemas.openxmlformats.org/officeDocument/2006/relationships/image" Target="../media/image64.png"/><Relationship Id="rId10" Type="http://schemas.openxmlformats.org/officeDocument/2006/relationships/image" Target="../media/image61.png"/><Relationship Id="rId13" Type="http://schemas.openxmlformats.org/officeDocument/2006/relationships/image" Target="../media/image62.png"/><Relationship Id="rId12" Type="http://schemas.openxmlformats.org/officeDocument/2006/relationships/image" Target="../media/image6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5.png"/><Relationship Id="rId4" Type="http://schemas.openxmlformats.org/officeDocument/2006/relationships/image" Target="../media/image68.png"/><Relationship Id="rId5" Type="http://schemas.openxmlformats.org/officeDocument/2006/relationships/image" Target="../media/image71.png"/><Relationship Id="rId6" Type="http://schemas.openxmlformats.org/officeDocument/2006/relationships/image" Target="../media/image7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9" Type="http://schemas.openxmlformats.org/officeDocument/2006/relationships/image" Target="../media/image74.png"/><Relationship Id="rId5" Type="http://schemas.openxmlformats.org/officeDocument/2006/relationships/image" Target="../media/image62.png"/><Relationship Id="rId6" Type="http://schemas.openxmlformats.org/officeDocument/2006/relationships/image" Target="../media/image69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6.png"/><Relationship Id="rId6" Type="http://schemas.openxmlformats.org/officeDocument/2006/relationships/image" Target="../media/image8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2.png"/><Relationship Id="rId4" Type="http://schemas.openxmlformats.org/officeDocument/2006/relationships/image" Target="../media/image8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equation of the 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40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4000">
                <a:latin typeface="Times"/>
                <a:ea typeface="Times"/>
                <a:cs typeface="Times"/>
                <a:sym typeface="Times"/>
              </a:rPr>
              <a:t>0</a:t>
            </a:r>
            <a:endParaRPr sz="4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that writing linear 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/>
              <a:t> may be more appropriate.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1146050"/>
            <a:ext cx="8496000" cy="7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 equation of a line is any equation whose graph forms a straight line. 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Equations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/>
              <a:t> </a:t>
            </a:r>
            <a:endParaRPr/>
          </a:p>
        </p:txBody>
      </p:sp>
      <p:sp>
        <p:nvSpPr>
          <p:cNvPr id="772" name="Google Shape;772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Equations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773" name="Google Shape;773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equation of the line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774" name="Google Shape;77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257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 = mx + c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80" name="Google Shape;780;p69"/>
          <p:cNvSpPr txBox="1"/>
          <p:nvPr>
            <p:ph idx="1" type="body"/>
          </p:nvPr>
        </p:nvSpPr>
        <p:spPr>
          <a:xfrm>
            <a:off x="324000" y="759300"/>
            <a:ext cx="8496000" cy="71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format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2000"/>
              <a:t> for an equation of a straight line is useful to identify the gradient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</a:t>
            </a:r>
            <a:r>
              <a:rPr lang="en-GB" sz="2000"/>
              <a:t>intercept.</a:t>
            </a:r>
            <a:endParaRPr sz="2000"/>
          </a:p>
        </p:txBody>
      </p:sp>
      <p:sp>
        <p:nvSpPr>
          <p:cNvPr id="781" name="Google Shape;781;p69"/>
          <p:cNvSpPr txBox="1"/>
          <p:nvPr>
            <p:ph idx="1" type="body"/>
          </p:nvPr>
        </p:nvSpPr>
        <p:spPr>
          <a:xfrm>
            <a:off x="324000" y="1746650"/>
            <a:ext cx="8496000" cy="71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coefficient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is the gradient as this tells us how much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will increase for each increase of 1 in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direction. </a:t>
            </a:r>
            <a:endParaRPr sz="2000"/>
          </a:p>
        </p:txBody>
      </p:sp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000" y="2648375"/>
            <a:ext cx="5450400" cy="71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/>
              <a:t>constant</a:t>
            </a:r>
            <a:r>
              <a:rPr lang="en-GB" sz="2000"/>
              <a:t> represents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</a:t>
            </a:r>
            <a:r>
              <a:rPr lang="en-GB" sz="2000"/>
              <a:t>intercept</a:t>
            </a:r>
            <a:r>
              <a:rPr lang="en-GB" sz="2000"/>
              <a:t> as this is the value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is zero.</a:t>
            </a:r>
            <a:r>
              <a:rPr lang="en-GB" sz="1800"/>
              <a:t> </a:t>
            </a:r>
            <a:r>
              <a:rPr lang="en-GB" sz="1800"/>
              <a:t> </a:t>
            </a:r>
            <a:endParaRPr sz="1800"/>
          </a:p>
        </p:txBody>
      </p:sp>
      <p:pic>
        <p:nvPicPr>
          <p:cNvPr id="783" name="Google Shape;78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500" y="2195725"/>
            <a:ext cx="1960125" cy="254174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784" name="Google Shape;784;p69"/>
          <p:cNvCxnSpPr/>
          <p:nvPr/>
        </p:nvCxnSpPr>
        <p:spPr>
          <a:xfrm flipH="1">
            <a:off x="5235200" y="3543500"/>
            <a:ext cx="2026500" cy="294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5" name="Google Shape;785;p69"/>
          <p:cNvSpPr txBox="1"/>
          <p:nvPr/>
        </p:nvSpPr>
        <p:spPr>
          <a:xfrm>
            <a:off x="3432375" y="35501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0 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i="1"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-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axis) </a:t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 = mx + c</a:t>
            </a:r>
            <a:endParaRPr/>
          </a:p>
        </p:txBody>
      </p:sp>
      <p:sp>
        <p:nvSpPr>
          <p:cNvPr id="791" name="Google Shape;791;p70"/>
          <p:cNvSpPr txBox="1"/>
          <p:nvPr>
            <p:ph idx="1" type="body"/>
          </p:nvPr>
        </p:nvSpPr>
        <p:spPr>
          <a:xfrm>
            <a:off x="353055" y="787944"/>
            <a:ext cx="8496000" cy="71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will 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be for the equation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800"/>
              <a:t> ? </a:t>
            </a:r>
            <a:endParaRPr sz="1800"/>
          </a:p>
        </p:txBody>
      </p:sp>
      <p:sp>
        <p:nvSpPr>
          <p:cNvPr id="792" name="Google Shape;792;p70"/>
          <p:cNvSpPr txBox="1"/>
          <p:nvPr>
            <p:ph idx="1" type="body"/>
          </p:nvPr>
        </p:nvSpPr>
        <p:spPr>
          <a:xfrm>
            <a:off x="353055" y="1247244"/>
            <a:ext cx="8496000" cy="71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know 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occurs when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coordinate is 0 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793" name="Google Shape;793;p70"/>
          <p:cNvSpPr txBox="1"/>
          <p:nvPr>
            <p:ph idx="1" type="body"/>
          </p:nvPr>
        </p:nvSpPr>
        <p:spPr>
          <a:xfrm>
            <a:off x="353055" y="1629794"/>
            <a:ext cx="8496000" cy="71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Substituting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= 0</a:t>
            </a:r>
            <a:r>
              <a:rPr lang="en-GB" sz="1800"/>
              <a:t> into the equation of the line</a:t>
            </a:r>
            <a:endParaRPr sz="1800"/>
          </a:p>
        </p:txBody>
      </p:sp>
      <p:sp>
        <p:nvSpPr>
          <p:cNvPr id="794" name="Google Shape;794;p70"/>
          <p:cNvSpPr txBox="1"/>
          <p:nvPr>
            <p:ph idx="1" type="body"/>
          </p:nvPr>
        </p:nvSpPr>
        <p:spPr>
          <a:xfrm>
            <a:off x="353055" y="2020494"/>
            <a:ext cx="20511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2 (0) + 5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95" name="Google Shape;795;p70"/>
          <p:cNvSpPr txBox="1"/>
          <p:nvPr>
            <p:ph idx="1" type="body"/>
          </p:nvPr>
        </p:nvSpPr>
        <p:spPr>
          <a:xfrm>
            <a:off x="353055" y="2433894"/>
            <a:ext cx="20511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0 + 5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96" name="Google Shape;796;p70"/>
          <p:cNvSpPr txBox="1"/>
          <p:nvPr>
            <p:ph idx="1" type="body"/>
          </p:nvPr>
        </p:nvSpPr>
        <p:spPr>
          <a:xfrm>
            <a:off x="353055" y="2867994"/>
            <a:ext cx="20511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5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97" name="Google Shape;797;p70"/>
          <p:cNvSpPr txBox="1"/>
          <p:nvPr>
            <p:ph idx="1" type="body"/>
          </p:nvPr>
        </p:nvSpPr>
        <p:spPr>
          <a:xfrm>
            <a:off x="328386" y="3363671"/>
            <a:ext cx="8496000" cy="28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Multiplying any value by 0 gives an answer of 0</a:t>
            </a:r>
            <a:endParaRPr sz="1800"/>
          </a:p>
        </p:txBody>
      </p:sp>
      <p:sp>
        <p:nvSpPr>
          <p:cNvPr id="798" name="Google Shape;798;p70"/>
          <p:cNvSpPr txBox="1"/>
          <p:nvPr>
            <p:ph idx="1" type="body"/>
          </p:nvPr>
        </p:nvSpPr>
        <p:spPr>
          <a:xfrm>
            <a:off x="328386" y="3806221"/>
            <a:ext cx="8496000" cy="28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0</a:t>
            </a:r>
            <a:r>
              <a:rPr lang="en-GB" sz="1800"/>
              <a:t>, the value of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term must be 0, for any </a:t>
            </a:r>
            <a:r>
              <a:rPr lang="en-GB" sz="1800"/>
              <a:t>coefficient</a:t>
            </a:r>
            <a:r>
              <a:rPr lang="en-GB" sz="1800"/>
              <a:t>. </a:t>
            </a:r>
            <a:endParaRPr sz="1800"/>
          </a:p>
        </p:txBody>
      </p:sp>
      <p:sp>
        <p:nvSpPr>
          <p:cNvPr id="799" name="Google Shape;799;p70"/>
          <p:cNvSpPr txBox="1"/>
          <p:nvPr>
            <p:ph idx="1" type="body"/>
          </p:nvPr>
        </p:nvSpPr>
        <p:spPr>
          <a:xfrm>
            <a:off x="328386" y="4248771"/>
            <a:ext cx="8496000" cy="28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makes 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 equal to the constant. </a:t>
            </a:r>
            <a:r>
              <a:rPr lang="en-GB" sz="1800"/>
              <a:t>Hence</a:t>
            </a:r>
            <a:r>
              <a:rPr lang="en-GB" sz="1800"/>
              <a:t> the constant is the 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</a:t>
            </a:r>
            <a:r>
              <a:rPr lang="en-GB" sz="1800"/>
              <a:t>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00" name="Google Shape;800;p70"/>
          <p:cNvSpPr txBox="1"/>
          <p:nvPr>
            <p:ph idx="1" type="body"/>
          </p:nvPr>
        </p:nvSpPr>
        <p:spPr>
          <a:xfrm>
            <a:off x="7150530" y="787944"/>
            <a:ext cx="909900" cy="3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(0, 5)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400" y="1801900"/>
            <a:ext cx="2129250" cy="302605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6" name="Google Shape;80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 = mx + c</a:t>
            </a:r>
            <a:endParaRPr/>
          </a:p>
        </p:txBody>
      </p:sp>
      <p:sp>
        <p:nvSpPr>
          <p:cNvPr id="807" name="Google Shape;807;p71"/>
          <p:cNvSpPr txBox="1"/>
          <p:nvPr>
            <p:ph idx="1" type="body"/>
          </p:nvPr>
        </p:nvSpPr>
        <p:spPr>
          <a:xfrm>
            <a:off x="324000" y="759300"/>
            <a:ext cx="84960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Knowing these key features can help us draw graphs from their equations.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08" name="Google Shape;808;p71"/>
          <p:cNvSpPr txBox="1"/>
          <p:nvPr>
            <p:ph idx="1" type="body"/>
          </p:nvPr>
        </p:nvSpPr>
        <p:spPr>
          <a:xfrm>
            <a:off x="324000" y="1218600"/>
            <a:ext cx="8496000" cy="71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</a:t>
            </a:r>
            <a:r>
              <a:rPr lang="en-GB" sz="1800"/>
              <a:t> could we draw the graph of</a:t>
            </a:r>
            <a:r>
              <a:rPr lang="en-GB" sz="2000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</a:rPr>
              <a:t>?</a:t>
            </a:r>
            <a:r>
              <a:rPr lang="en-GB" sz="1800"/>
              <a:t> </a:t>
            </a:r>
            <a:r>
              <a:rPr lang="en-GB" sz="2000"/>
              <a:t>  </a:t>
            </a:r>
            <a:endParaRPr sz="2000"/>
          </a:p>
        </p:txBody>
      </p:sp>
      <p:sp>
        <p:nvSpPr>
          <p:cNvPr id="809" name="Google Shape;809;p71"/>
          <p:cNvSpPr txBox="1"/>
          <p:nvPr>
            <p:ph idx="1" type="body"/>
          </p:nvPr>
        </p:nvSpPr>
        <p:spPr>
          <a:xfrm>
            <a:off x="324000" y="1677350"/>
            <a:ext cx="42480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could use a table of values.</a:t>
            </a:r>
            <a:endParaRPr sz="1800"/>
          </a:p>
        </p:txBody>
      </p:sp>
      <p:graphicFrame>
        <p:nvGraphicFramePr>
          <p:cNvPr id="810" name="Google Shape;810;p71"/>
          <p:cNvGraphicFramePr/>
          <p:nvPr/>
        </p:nvGraphicFramePr>
        <p:xfrm>
          <a:off x="323988" y="227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{312CD822-42AC-400F-9C34-B724CEBF2189}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31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0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1" name="Google Shape;811;p71"/>
          <p:cNvSpPr/>
          <p:nvPr/>
        </p:nvSpPr>
        <p:spPr>
          <a:xfrm>
            <a:off x="1904125" y="2584600"/>
            <a:ext cx="5193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1"/>
          <p:cNvSpPr/>
          <p:nvPr/>
        </p:nvSpPr>
        <p:spPr>
          <a:xfrm>
            <a:off x="2423300" y="2584600"/>
            <a:ext cx="5193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1"/>
          <p:cNvSpPr/>
          <p:nvPr/>
        </p:nvSpPr>
        <p:spPr>
          <a:xfrm>
            <a:off x="2948125" y="2584600"/>
            <a:ext cx="5193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71"/>
          <p:cNvSpPr/>
          <p:nvPr/>
        </p:nvSpPr>
        <p:spPr>
          <a:xfrm>
            <a:off x="1373650" y="2584600"/>
            <a:ext cx="5193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71"/>
          <p:cNvSpPr/>
          <p:nvPr/>
        </p:nvSpPr>
        <p:spPr>
          <a:xfrm>
            <a:off x="843175" y="2584600"/>
            <a:ext cx="5193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6" name="Google Shape;816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4400" y="1794350"/>
            <a:ext cx="2186600" cy="302605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7" name="Google Shape;817;p71"/>
          <p:cNvSpPr txBox="1"/>
          <p:nvPr>
            <p:ph idx="1" type="body"/>
          </p:nvPr>
        </p:nvSpPr>
        <p:spPr>
          <a:xfrm>
            <a:off x="324000" y="3189225"/>
            <a:ext cx="42480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Then plot these coordinates. </a:t>
            </a:r>
            <a:endParaRPr sz="1800"/>
          </a:p>
        </p:txBody>
      </p:sp>
      <p:sp>
        <p:nvSpPr>
          <p:cNvPr id="818" name="Google Shape;818;p71"/>
          <p:cNvSpPr txBox="1"/>
          <p:nvPr>
            <p:ph idx="1" type="body"/>
          </p:nvPr>
        </p:nvSpPr>
        <p:spPr>
          <a:xfrm>
            <a:off x="324000" y="3896575"/>
            <a:ext cx="42480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Then draw a line through them.</a:t>
            </a:r>
            <a:r>
              <a:rPr lang="en-GB" sz="1600"/>
              <a:t> </a:t>
            </a:r>
            <a:endParaRPr sz="1600"/>
          </a:p>
        </p:txBody>
      </p:sp>
      <p:cxnSp>
        <p:nvCxnSpPr>
          <p:cNvPr id="819" name="Google Shape;819;p71"/>
          <p:cNvCxnSpPr/>
          <p:nvPr/>
        </p:nvCxnSpPr>
        <p:spPr>
          <a:xfrm>
            <a:off x="6495900" y="1794350"/>
            <a:ext cx="1011900" cy="3033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 = mx + c</a:t>
            </a:r>
            <a:endParaRPr/>
          </a:p>
        </p:txBody>
      </p:sp>
      <p:sp>
        <p:nvSpPr>
          <p:cNvPr id="825" name="Google Shape;825;p72"/>
          <p:cNvSpPr txBox="1"/>
          <p:nvPr>
            <p:ph idx="1" type="body"/>
          </p:nvPr>
        </p:nvSpPr>
        <p:spPr>
          <a:xfrm>
            <a:off x="324000" y="683100"/>
            <a:ext cx="84960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Or we could use the key features of the graph: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26" name="Google Shape;826;p72"/>
          <p:cNvSpPr txBox="1"/>
          <p:nvPr>
            <p:ph idx="1" type="body"/>
          </p:nvPr>
        </p:nvSpPr>
        <p:spPr>
          <a:xfrm>
            <a:off x="324000" y="1142400"/>
            <a:ext cx="8496000" cy="71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4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827" name="Google Shape;827;p72"/>
          <p:cNvSpPr txBox="1"/>
          <p:nvPr>
            <p:ph idx="1" type="body"/>
          </p:nvPr>
        </p:nvSpPr>
        <p:spPr>
          <a:xfrm>
            <a:off x="324000" y="1614575"/>
            <a:ext cx="57924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know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is (0,4) so we can plot it.</a:t>
            </a:r>
            <a:endParaRPr sz="1800"/>
          </a:p>
        </p:txBody>
      </p:sp>
      <p:sp>
        <p:nvSpPr>
          <p:cNvPr id="828" name="Google Shape;828;p72"/>
          <p:cNvSpPr txBox="1"/>
          <p:nvPr>
            <p:ph idx="1" type="body"/>
          </p:nvPr>
        </p:nvSpPr>
        <p:spPr>
          <a:xfrm>
            <a:off x="324000" y="2081575"/>
            <a:ext cx="42480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know the gradient is </a:t>
            </a:r>
            <a:r>
              <a:rPr lang="en-GB" sz="1800">
                <a:solidFill>
                  <a:srgbClr val="222222"/>
                </a:solidFill>
              </a:rPr>
              <a:t>−3</a:t>
            </a:r>
            <a:r>
              <a:rPr lang="en-GB" sz="1800"/>
              <a:t> 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29" name="Google Shape;829;p72"/>
          <p:cNvSpPr txBox="1"/>
          <p:nvPr>
            <p:ph idx="1" type="body"/>
          </p:nvPr>
        </p:nvSpPr>
        <p:spPr>
          <a:xfrm>
            <a:off x="324000" y="3033950"/>
            <a:ext cx="52518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now plot the coordinate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</a:t>
            </a:r>
            <a:r>
              <a:rPr lang="en-GB" sz="1800"/>
              <a:t> </a:t>
            </a:r>
            <a:endParaRPr sz="1800"/>
          </a:p>
        </p:txBody>
      </p:sp>
      <p:pic>
        <p:nvPicPr>
          <p:cNvPr id="830" name="Google Shape;830;p72"/>
          <p:cNvPicPr preferRelativeResize="0"/>
          <p:nvPr/>
        </p:nvPicPr>
        <p:blipFill rotWithShape="1">
          <a:blip r:embed="rId3">
            <a:alphaModFix/>
          </a:blip>
          <a:srcRect b="0" l="5051" r="0" t="0"/>
          <a:stretch/>
        </p:blipFill>
        <p:spPr>
          <a:xfrm>
            <a:off x="6458875" y="928100"/>
            <a:ext cx="2361125" cy="345795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31" name="Google Shape;831;p72"/>
          <p:cNvSpPr/>
          <p:nvPr/>
        </p:nvSpPr>
        <p:spPr>
          <a:xfrm>
            <a:off x="7406725" y="2000850"/>
            <a:ext cx="339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2"/>
          <p:cNvSpPr txBox="1"/>
          <p:nvPr>
            <p:ph idx="1" type="body"/>
          </p:nvPr>
        </p:nvSpPr>
        <p:spPr>
          <a:xfrm>
            <a:off x="324000" y="2565075"/>
            <a:ext cx="53373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For every 1 increase in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,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 decreases by 3 </a:t>
            </a:r>
            <a:r>
              <a:rPr lang="en-GB" sz="1800"/>
              <a:t>  </a:t>
            </a:r>
            <a:endParaRPr sz="1800"/>
          </a:p>
        </p:txBody>
      </p:sp>
      <p:grpSp>
        <p:nvGrpSpPr>
          <p:cNvPr id="833" name="Google Shape;833;p72"/>
          <p:cNvGrpSpPr/>
          <p:nvPr/>
        </p:nvGrpSpPr>
        <p:grpSpPr>
          <a:xfrm>
            <a:off x="7562675" y="2160010"/>
            <a:ext cx="282300" cy="813470"/>
            <a:chOff x="7562675" y="2160010"/>
            <a:chExt cx="282300" cy="813470"/>
          </a:xfrm>
        </p:grpSpPr>
        <p:cxnSp>
          <p:nvCxnSpPr>
            <p:cNvPr id="834" name="Google Shape;834;p72"/>
            <p:cNvCxnSpPr/>
            <p:nvPr/>
          </p:nvCxnSpPr>
          <p:spPr>
            <a:xfrm>
              <a:off x="7562675" y="2160010"/>
              <a:ext cx="2823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835" name="Google Shape;835;p72"/>
            <p:cNvCxnSpPr/>
            <p:nvPr/>
          </p:nvCxnSpPr>
          <p:spPr>
            <a:xfrm>
              <a:off x="7844967" y="2171580"/>
              <a:ext cx="0" cy="80190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</p:grpSp>
      <p:sp>
        <p:nvSpPr>
          <p:cNvPr id="836" name="Google Shape;836;p72"/>
          <p:cNvSpPr/>
          <p:nvPr/>
        </p:nvSpPr>
        <p:spPr>
          <a:xfrm>
            <a:off x="7685743" y="2793675"/>
            <a:ext cx="339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2"/>
          <p:cNvSpPr txBox="1"/>
          <p:nvPr>
            <p:ph idx="1" type="body"/>
          </p:nvPr>
        </p:nvSpPr>
        <p:spPr>
          <a:xfrm>
            <a:off x="324000" y="3551400"/>
            <a:ext cx="52518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continue the pattern and plot the coordinate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38" name="Google Shape;838;p72"/>
          <p:cNvSpPr/>
          <p:nvPr/>
        </p:nvSpPr>
        <p:spPr>
          <a:xfrm>
            <a:off x="7945193" y="3577625"/>
            <a:ext cx="339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9" name="Google Shape;839;p72"/>
          <p:cNvCxnSpPr/>
          <p:nvPr/>
        </p:nvCxnSpPr>
        <p:spPr>
          <a:xfrm>
            <a:off x="7148875" y="928100"/>
            <a:ext cx="1177800" cy="3477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0" name="Google Shape;840;p72"/>
          <p:cNvSpPr txBox="1"/>
          <p:nvPr>
            <p:ph idx="1" type="body"/>
          </p:nvPr>
        </p:nvSpPr>
        <p:spPr>
          <a:xfrm>
            <a:off x="324000" y="4328900"/>
            <a:ext cx="61617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Then we can draw the rest of the line with gradient </a:t>
            </a:r>
            <a:r>
              <a:rPr lang="en-GB" sz="1800">
                <a:solidFill>
                  <a:srgbClr val="222222"/>
                </a:solidFill>
              </a:rPr>
              <a:t>−3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 = mx + c</a:t>
            </a:r>
            <a:endParaRPr/>
          </a:p>
        </p:txBody>
      </p:sp>
      <p:sp>
        <p:nvSpPr>
          <p:cNvPr id="846" name="Google Shape;846;p73"/>
          <p:cNvSpPr txBox="1"/>
          <p:nvPr>
            <p:ph idx="1" type="body"/>
          </p:nvPr>
        </p:nvSpPr>
        <p:spPr>
          <a:xfrm>
            <a:off x="324000" y="810000"/>
            <a:ext cx="84255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Can you think of any equations of lines which cannot be written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2000"/>
              <a:t>?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847" name="Google Shape;847;p73"/>
          <p:cNvSpPr txBox="1"/>
          <p:nvPr>
            <p:ph idx="1" type="body"/>
          </p:nvPr>
        </p:nvSpPr>
        <p:spPr>
          <a:xfrm>
            <a:off x="324000" y="2307475"/>
            <a:ext cx="20136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Vertical lines!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8" name="Google Shape;848;p73"/>
          <p:cNvSpPr txBox="1"/>
          <p:nvPr>
            <p:ph idx="1" type="body"/>
          </p:nvPr>
        </p:nvSpPr>
        <p:spPr>
          <a:xfrm>
            <a:off x="324000" y="1663550"/>
            <a:ext cx="84960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Can you think of any lines which will not have a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</a:t>
            </a:r>
            <a:r>
              <a:rPr lang="en-GB" sz="2000"/>
              <a:t>intercept?</a:t>
            </a:r>
            <a:endParaRPr sz="2000"/>
          </a:p>
        </p:txBody>
      </p:sp>
      <p:pic>
        <p:nvPicPr>
          <p:cNvPr id="849" name="Google Shape;84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3350" y="2160000"/>
            <a:ext cx="2040625" cy="2637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0" name="Google Shape;850;p73"/>
          <p:cNvSpPr txBox="1"/>
          <p:nvPr>
            <p:ph idx="1" type="body"/>
          </p:nvPr>
        </p:nvSpPr>
        <p:spPr>
          <a:xfrm>
            <a:off x="324000" y="2827525"/>
            <a:ext cx="53574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coordinates lie on this line?</a:t>
            </a:r>
            <a:endParaRPr sz="2000"/>
          </a:p>
        </p:txBody>
      </p:sp>
      <p:pic>
        <p:nvPicPr>
          <p:cNvPr id="851" name="Google Shape;851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7800" y="2148650"/>
            <a:ext cx="2071702" cy="2660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2" name="Google Shape;852;p73"/>
          <p:cNvSpPr txBox="1"/>
          <p:nvPr>
            <p:ph idx="1" type="body"/>
          </p:nvPr>
        </p:nvSpPr>
        <p:spPr>
          <a:xfrm>
            <a:off x="324000" y="3376000"/>
            <a:ext cx="40260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could we call this line?</a:t>
            </a:r>
            <a:endParaRPr sz="2000"/>
          </a:p>
        </p:txBody>
      </p:sp>
      <p:sp>
        <p:nvSpPr>
          <p:cNvPr id="853" name="Google Shape;853;p73"/>
          <p:cNvSpPr txBox="1"/>
          <p:nvPr>
            <p:ph idx="1" type="body"/>
          </p:nvPr>
        </p:nvSpPr>
        <p:spPr>
          <a:xfrm>
            <a:off x="324000" y="3840750"/>
            <a:ext cx="20136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3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 = mx + c</a:t>
            </a:r>
            <a:endParaRPr/>
          </a:p>
        </p:txBody>
      </p:sp>
      <p:sp>
        <p:nvSpPr>
          <p:cNvPr id="859" name="Google Shape;859;p74"/>
          <p:cNvSpPr txBox="1"/>
          <p:nvPr>
            <p:ph idx="1" type="body"/>
          </p:nvPr>
        </p:nvSpPr>
        <p:spPr>
          <a:xfrm>
            <a:off x="324000" y="962400"/>
            <a:ext cx="84960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Equations for vertical lines can be written in the form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= a</a:t>
            </a:r>
            <a:r>
              <a:rPr lang="en-GB"/>
              <a:t> where (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/>
              <a:t>, 0) is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-intercept. </a:t>
            </a:r>
            <a:r>
              <a:rPr lang="en-GB"/>
              <a:t>  </a:t>
            </a:r>
            <a:endParaRPr/>
          </a:p>
        </p:txBody>
      </p:sp>
      <p:sp>
        <p:nvSpPr>
          <p:cNvPr id="860" name="Google Shape;860;p74"/>
          <p:cNvSpPr txBox="1"/>
          <p:nvPr>
            <p:ph idx="1" type="body"/>
          </p:nvPr>
        </p:nvSpPr>
        <p:spPr>
          <a:xfrm>
            <a:off x="324000" y="2120750"/>
            <a:ext cx="84960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They cannot be written in the form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 = mx + 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1" name="Google Shape;861;p74"/>
          <p:cNvSpPr txBox="1"/>
          <p:nvPr>
            <p:ph idx="1" type="body"/>
          </p:nvPr>
        </p:nvSpPr>
        <p:spPr>
          <a:xfrm>
            <a:off x="324000" y="2935275"/>
            <a:ext cx="84960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They do not have a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-intercept.</a:t>
            </a:r>
            <a:endParaRPr/>
          </a:p>
        </p:txBody>
      </p:sp>
      <p:sp>
        <p:nvSpPr>
          <p:cNvPr id="862" name="Google Shape;862;p74"/>
          <p:cNvSpPr txBox="1"/>
          <p:nvPr>
            <p:ph idx="1" type="body"/>
          </p:nvPr>
        </p:nvSpPr>
        <p:spPr>
          <a:xfrm>
            <a:off x="324000" y="3673600"/>
            <a:ext cx="8496000" cy="7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Their gradient is infinite and cannot be written as a numerical value.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5"/>
          <p:cNvSpPr txBox="1"/>
          <p:nvPr>
            <p:ph idx="1" type="subTitle"/>
          </p:nvPr>
        </p:nvSpPr>
        <p:spPr>
          <a:xfrm>
            <a:off x="980575" y="3196125"/>
            <a:ext cx="783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Once you have </a:t>
            </a:r>
            <a:r>
              <a:rPr lang="en-GB" sz="1800"/>
              <a:t>found</a:t>
            </a:r>
            <a:r>
              <a:rPr lang="en-GB" sz="1800"/>
              <a:t> the gradient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you can write the equation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</a:t>
            </a:r>
            <a:endParaRPr sz="1600"/>
          </a:p>
        </p:txBody>
      </p:sp>
      <p:sp>
        <p:nvSpPr>
          <p:cNvPr id="868" name="Google Shape;868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 = mx + c</a:t>
            </a:r>
            <a:endParaRPr/>
          </a:p>
        </p:txBody>
      </p:sp>
      <p:sp>
        <p:nvSpPr>
          <p:cNvPr id="869" name="Google Shape;869;p75"/>
          <p:cNvSpPr txBox="1"/>
          <p:nvPr>
            <p:ph idx="2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All </a:t>
            </a:r>
            <a:r>
              <a:rPr lang="en-GB" sz="2000"/>
              <a:t>straight</a:t>
            </a:r>
            <a:r>
              <a:rPr lang="en-GB" sz="2000"/>
              <a:t> lines can be written in the form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 = mx + 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0" name="Google Shape;870;p75"/>
          <p:cNvSpPr txBox="1"/>
          <p:nvPr>
            <p:ph idx="3" type="subTitle"/>
          </p:nvPr>
        </p:nvSpPr>
        <p:spPr>
          <a:xfrm>
            <a:off x="980575" y="408959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Vertical lines cannot be written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1800"/>
              <a:t> as they do not have a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and the gradient is infinite. </a:t>
            </a:r>
            <a:endParaRPr sz="1800"/>
          </a:p>
        </p:txBody>
      </p:sp>
      <p:pic>
        <p:nvPicPr>
          <p:cNvPr id="871" name="Google Shape;87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4908" y="18197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7183" y="42896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6"/>
          <p:cNvSpPr txBox="1"/>
          <p:nvPr>
            <p:ph idx="1" type="body"/>
          </p:nvPr>
        </p:nvSpPr>
        <p:spPr>
          <a:xfrm>
            <a:off x="324000" y="694200"/>
            <a:ext cx="82377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Match each graph to its equation.</a:t>
            </a:r>
            <a:endParaRPr sz="1800"/>
          </a:p>
        </p:txBody>
      </p:sp>
      <p:sp>
        <p:nvSpPr>
          <p:cNvPr id="878" name="Google Shape;878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 = mx + c</a:t>
            </a:r>
            <a:endParaRPr/>
          </a:p>
        </p:txBody>
      </p:sp>
      <p:pic>
        <p:nvPicPr>
          <p:cNvPr id="879" name="Google Shape;87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850" y="1071232"/>
            <a:ext cx="1370687" cy="136378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0" name="Google Shape;880;p76"/>
          <p:cNvPicPr preferRelativeResize="0"/>
          <p:nvPr/>
        </p:nvPicPr>
        <p:blipFill rotWithShape="1">
          <a:blip r:embed="rId4">
            <a:alphaModFix/>
          </a:blip>
          <a:srcRect b="3157" l="0" r="0" t="0"/>
          <a:stretch/>
        </p:blipFill>
        <p:spPr>
          <a:xfrm>
            <a:off x="7184625" y="1071225"/>
            <a:ext cx="1404150" cy="134412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1" name="Google Shape;881;p76"/>
          <p:cNvPicPr preferRelativeResize="0"/>
          <p:nvPr/>
        </p:nvPicPr>
        <p:blipFill rotWithShape="1">
          <a:blip r:embed="rId5">
            <a:alphaModFix/>
          </a:blip>
          <a:srcRect b="2647" l="0" r="0" t="0"/>
          <a:stretch/>
        </p:blipFill>
        <p:spPr>
          <a:xfrm>
            <a:off x="3842850" y="1071232"/>
            <a:ext cx="1404150" cy="13637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2" name="Google Shape;882;p76"/>
          <p:cNvPicPr preferRelativeResize="0"/>
          <p:nvPr/>
        </p:nvPicPr>
        <p:blipFill rotWithShape="1">
          <a:blip r:embed="rId6">
            <a:alphaModFix/>
          </a:blip>
          <a:srcRect b="3772" l="0" r="0" t="0"/>
          <a:stretch/>
        </p:blipFill>
        <p:spPr>
          <a:xfrm>
            <a:off x="2037950" y="1071232"/>
            <a:ext cx="1432501" cy="138792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3" name="Google Shape;883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42850" y="2544597"/>
            <a:ext cx="1404150" cy="139082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4" name="Google Shape;884;p76"/>
          <p:cNvPicPr preferRelativeResize="0"/>
          <p:nvPr/>
        </p:nvPicPr>
        <p:blipFill rotWithShape="1">
          <a:blip r:embed="rId8">
            <a:alphaModFix/>
          </a:blip>
          <a:srcRect b="3325" l="0" r="0" t="0"/>
          <a:stretch/>
        </p:blipFill>
        <p:spPr>
          <a:xfrm>
            <a:off x="2037950" y="2546038"/>
            <a:ext cx="1432499" cy="138792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5" name="Google Shape;885;p76"/>
          <p:cNvPicPr preferRelativeResize="0"/>
          <p:nvPr/>
        </p:nvPicPr>
        <p:blipFill rotWithShape="1">
          <a:blip r:embed="rId9">
            <a:alphaModFix/>
          </a:blip>
          <a:srcRect b="3670" l="0" r="0" t="0"/>
          <a:stretch/>
        </p:blipFill>
        <p:spPr>
          <a:xfrm>
            <a:off x="5565413" y="2544353"/>
            <a:ext cx="1432500" cy="139130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6" name="Google Shape;886;p7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8134" y="2538566"/>
            <a:ext cx="1390112" cy="13603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7" name="Google Shape;887;p76"/>
          <p:cNvPicPr preferRelativeResize="0"/>
          <p:nvPr/>
        </p:nvPicPr>
        <p:blipFill rotWithShape="1">
          <a:blip r:embed="rId11">
            <a:alphaModFix/>
          </a:blip>
          <a:srcRect b="3166" l="0" r="0" t="0"/>
          <a:stretch/>
        </p:blipFill>
        <p:spPr>
          <a:xfrm>
            <a:off x="5572575" y="1071225"/>
            <a:ext cx="1418175" cy="13637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8" name="Google Shape;888;p7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177607" y="2538566"/>
            <a:ext cx="1418181" cy="140286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889" name="Google Shape;889;p76"/>
          <p:cNvGraphicFramePr/>
          <p:nvPr/>
        </p:nvGraphicFramePr>
        <p:xfrm>
          <a:off x="357113" y="9663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{312CD822-42AC-400F-9C34-B724CEBF2189}</a:tableStyleId>
              </a:tblPr>
              <a:tblGrid>
                <a:gridCol w="1705225"/>
                <a:gridCol w="1533975"/>
                <a:gridCol w="1876475"/>
                <a:gridCol w="1705225"/>
                <a:gridCol w="1705225"/>
              </a:tblGrid>
              <a:tr h="40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c) 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    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90" name="Google Shape;890;p76"/>
          <p:cNvGraphicFramePr/>
          <p:nvPr/>
        </p:nvGraphicFramePr>
        <p:xfrm>
          <a:off x="363716" y="24407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{312CD822-42AC-400F-9C34-B724CEBF2189}</a:tableStyleId>
              </a:tblPr>
              <a:tblGrid>
                <a:gridCol w="1705225"/>
                <a:gridCol w="1533975"/>
                <a:gridCol w="1876475"/>
                <a:gridCol w="1705225"/>
                <a:gridCol w="1705225"/>
              </a:tblGrid>
              <a:tr h="40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    g)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h) 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i)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j)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1" name="Google Shape;891;p76"/>
          <p:cNvSpPr txBox="1"/>
          <p:nvPr>
            <p:ph idx="1" type="body"/>
          </p:nvPr>
        </p:nvSpPr>
        <p:spPr>
          <a:xfrm>
            <a:off x="3033163" y="4015242"/>
            <a:ext cx="557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/>
          </a:p>
        </p:txBody>
      </p:sp>
      <p:sp>
        <p:nvSpPr>
          <p:cNvPr id="892" name="Google Shape;892;p76"/>
          <p:cNvSpPr txBox="1"/>
          <p:nvPr>
            <p:ph idx="1" type="body"/>
          </p:nvPr>
        </p:nvSpPr>
        <p:spPr>
          <a:xfrm>
            <a:off x="4266378" y="4015254"/>
            <a:ext cx="720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/>
          </a:p>
        </p:txBody>
      </p:sp>
      <p:sp>
        <p:nvSpPr>
          <p:cNvPr id="893" name="Google Shape;893;p76"/>
          <p:cNvSpPr txBox="1"/>
          <p:nvPr>
            <p:ph idx="1" type="body"/>
          </p:nvPr>
        </p:nvSpPr>
        <p:spPr>
          <a:xfrm>
            <a:off x="1722425" y="4483188"/>
            <a:ext cx="1212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/>
          </a:p>
        </p:txBody>
      </p:sp>
      <p:sp>
        <p:nvSpPr>
          <p:cNvPr id="894" name="Google Shape;894;p76"/>
          <p:cNvSpPr txBox="1"/>
          <p:nvPr>
            <p:ph idx="1" type="body"/>
          </p:nvPr>
        </p:nvSpPr>
        <p:spPr>
          <a:xfrm>
            <a:off x="3050225" y="4483188"/>
            <a:ext cx="1212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/>
          </a:p>
        </p:txBody>
      </p:sp>
      <p:sp>
        <p:nvSpPr>
          <p:cNvPr id="895" name="Google Shape;895;p76"/>
          <p:cNvSpPr txBox="1"/>
          <p:nvPr>
            <p:ph idx="1" type="body"/>
          </p:nvPr>
        </p:nvSpPr>
        <p:spPr>
          <a:xfrm>
            <a:off x="324000" y="4483188"/>
            <a:ext cx="1212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/>
          </a:p>
        </p:txBody>
      </p:sp>
      <p:sp>
        <p:nvSpPr>
          <p:cNvPr id="896" name="Google Shape;896;p76"/>
          <p:cNvSpPr txBox="1"/>
          <p:nvPr>
            <p:ph idx="1" type="body"/>
          </p:nvPr>
        </p:nvSpPr>
        <p:spPr>
          <a:xfrm>
            <a:off x="1753747" y="4015254"/>
            <a:ext cx="629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</a:t>
            </a:r>
            <a:endParaRPr sz="2000"/>
          </a:p>
        </p:txBody>
      </p:sp>
      <p:sp>
        <p:nvSpPr>
          <p:cNvPr id="897" name="Google Shape;897;p76"/>
          <p:cNvSpPr txBox="1"/>
          <p:nvPr>
            <p:ph idx="1" type="body"/>
          </p:nvPr>
        </p:nvSpPr>
        <p:spPr>
          <a:xfrm>
            <a:off x="398125" y="4015242"/>
            <a:ext cx="1212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</a:t>
            </a:r>
            <a:endParaRPr sz="2000"/>
          </a:p>
        </p:txBody>
      </p:sp>
      <p:grpSp>
        <p:nvGrpSpPr>
          <p:cNvPr id="898" name="Google Shape;898;p76"/>
          <p:cNvGrpSpPr/>
          <p:nvPr/>
        </p:nvGrpSpPr>
        <p:grpSpPr>
          <a:xfrm>
            <a:off x="6848638" y="4015265"/>
            <a:ext cx="1390200" cy="420675"/>
            <a:chOff x="5746975" y="4317986"/>
            <a:chExt cx="1390200" cy="420675"/>
          </a:xfrm>
        </p:grpSpPr>
        <p:sp>
          <p:nvSpPr>
            <p:cNvPr id="899" name="Google Shape;899;p76"/>
            <p:cNvSpPr/>
            <p:nvPr/>
          </p:nvSpPr>
          <p:spPr>
            <a:xfrm>
              <a:off x="5746975" y="4340975"/>
              <a:ext cx="1390200" cy="374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=   </a:t>
              </a:r>
              <a:r>
                <a:rPr i="1"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900" name="Google Shape;900;p76" title="one half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6091353" y="4317986"/>
              <a:ext cx="132025" cy="420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1" name="Google Shape;901;p76"/>
          <p:cNvGrpSpPr/>
          <p:nvPr/>
        </p:nvGrpSpPr>
        <p:grpSpPr>
          <a:xfrm>
            <a:off x="5472800" y="4015265"/>
            <a:ext cx="1390200" cy="420675"/>
            <a:chOff x="6338275" y="4427799"/>
            <a:chExt cx="1390200" cy="420675"/>
          </a:xfrm>
        </p:grpSpPr>
        <p:sp>
          <p:nvSpPr>
            <p:cNvPr id="902" name="Google Shape;902;p76"/>
            <p:cNvSpPr/>
            <p:nvPr/>
          </p:nvSpPr>
          <p:spPr>
            <a:xfrm>
              <a:off x="6338275" y="4450788"/>
              <a:ext cx="1390200" cy="374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=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2 −   </a:t>
              </a:r>
              <a:r>
                <a:rPr i="1"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903" name="Google Shape;903;p76" title="one half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7121078" y="4427799"/>
              <a:ext cx="132025" cy="420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4" name="Google Shape;904;p76"/>
          <p:cNvSpPr txBox="1"/>
          <p:nvPr>
            <p:ph idx="1" type="body"/>
          </p:nvPr>
        </p:nvSpPr>
        <p:spPr>
          <a:xfrm>
            <a:off x="4223413" y="4483188"/>
            <a:ext cx="1212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77"/>
          <p:cNvSpPr txBox="1"/>
          <p:nvPr>
            <p:ph idx="1" type="body"/>
          </p:nvPr>
        </p:nvSpPr>
        <p:spPr>
          <a:xfrm>
            <a:off x="324000" y="703650"/>
            <a:ext cx="8496000" cy="6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For each question, work out an equation for the line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1800"/>
              <a:t> and use the key features to draw the line on the axes. </a:t>
            </a:r>
            <a:endParaRPr sz="1200"/>
          </a:p>
        </p:txBody>
      </p:sp>
      <p:sp>
        <p:nvSpPr>
          <p:cNvPr id="910" name="Google Shape;910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 = mx + c</a:t>
            </a:r>
            <a:endParaRPr/>
          </a:p>
        </p:txBody>
      </p:sp>
      <p:sp>
        <p:nvSpPr>
          <p:cNvPr id="911" name="Google Shape;911;p77"/>
          <p:cNvSpPr txBox="1"/>
          <p:nvPr>
            <p:ph idx="1" type="body"/>
          </p:nvPr>
        </p:nvSpPr>
        <p:spPr>
          <a:xfrm>
            <a:off x="324000" y="3847050"/>
            <a:ext cx="3382200" cy="9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gradient:   3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intercept: (0,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2)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equation: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/>
          </a:p>
        </p:txBody>
      </p:sp>
      <p:sp>
        <p:nvSpPr>
          <p:cNvPr id="912" name="Google Shape;912;p77"/>
          <p:cNvSpPr txBox="1"/>
          <p:nvPr>
            <p:ph idx="1" type="body"/>
          </p:nvPr>
        </p:nvSpPr>
        <p:spPr>
          <a:xfrm>
            <a:off x="3280037" y="3847050"/>
            <a:ext cx="2829000" cy="9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gradient:  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1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intercept: (0, </a:t>
            </a:r>
            <a:r>
              <a:rPr lang="en-GB" sz="1800">
                <a:solidFill>
                  <a:srgbClr val="222222"/>
                </a:solidFill>
              </a:rPr>
              <a:t>5</a:t>
            </a:r>
            <a:r>
              <a:rPr lang="en-GB" sz="1800"/>
              <a:t>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equation: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/>
          </a:p>
        </p:txBody>
      </p:sp>
      <p:sp>
        <p:nvSpPr>
          <p:cNvPr id="913" name="Google Shape;913;p77"/>
          <p:cNvSpPr txBox="1"/>
          <p:nvPr>
            <p:ph idx="1" type="body"/>
          </p:nvPr>
        </p:nvSpPr>
        <p:spPr>
          <a:xfrm>
            <a:off x="6205925" y="3770850"/>
            <a:ext cx="2829000" cy="9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gradient: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4</a:t>
            </a:r>
            <a:r>
              <a:rPr lang="en-GB" sz="1800"/>
              <a:t> </a:t>
            </a:r>
            <a:endParaRPr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intercept: (0,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3</a:t>
            </a:r>
            <a:r>
              <a:rPr lang="en-GB" sz="1800"/>
              <a:t>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equation:</a:t>
            </a:r>
            <a:endParaRPr sz="1800"/>
          </a:p>
        </p:txBody>
      </p:sp>
      <p:pic>
        <p:nvPicPr>
          <p:cNvPr id="914" name="Google Shape;914;p77"/>
          <p:cNvPicPr preferRelativeResize="0"/>
          <p:nvPr/>
        </p:nvPicPr>
        <p:blipFill rotWithShape="1">
          <a:blip r:embed="rId3">
            <a:alphaModFix/>
          </a:blip>
          <a:srcRect b="8045" l="0" r="0" t="0"/>
          <a:stretch/>
        </p:blipFill>
        <p:spPr>
          <a:xfrm>
            <a:off x="358425" y="1716884"/>
            <a:ext cx="2008675" cy="2003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5" name="Google Shape;915;p77"/>
          <p:cNvPicPr preferRelativeResize="0"/>
          <p:nvPr/>
        </p:nvPicPr>
        <p:blipFill rotWithShape="1">
          <a:blip r:embed="rId3">
            <a:alphaModFix/>
          </a:blip>
          <a:srcRect b="8045" l="0" r="0" t="0"/>
          <a:stretch/>
        </p:blipFill>
        <p:spPr>
          <a:xfrm>
            <a:off x="3297864" y="1716884"/>
            <a:ext cx="2008675" cy="2003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6" name="Google Shape;916;p77"/>
          <p:cNvPicPr preferRelativeResize="0"/>
          <p:nvPr/>
        </p:nvPicPr>
        <p:blipFill rotWithShape="1">
          <a:blip r:embed="rId3">
            <a:alphaModFix/>
          </a:blip>
          <a:srcRect b="8045" l="0" r="0" t="0"/>
          <a:stretch/>
        </p:blipFill>
        <p:spPr>
          <a:xfrm>
            <a:off x="6237303" y="1716884"/>
            <a:ext cx="2008675" cy="2003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7" name="Google Shape;917;p77"/>
          <p:cNvSpPr txBox="1"/>
          <p:nvPr>
            <p:ph idx="1" type="body"/>
          </p:nvPr>
        </p:nvSpPr>
        <p:spPr>
          <a:xfrm>
            <a:off x="299200" y="1326750"/>
            <a:ext cx="3219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</a:t>
            </a:r>
            <a:endParaRPr sz="1200"/>
          </a:p>
        </p:txBody>
      </p:sp>
      <p:sp>
        <p:nvSpPr>
          <p:cNvPr id="918" name="Google Shape;918;p77"/>
          <p:cNvSpPr txBox="1"/>
          <p:nvPr>
            <p:ph idx="1" type="body"/>
          </p:nvPr>
        </p:nvSpPr>
        <p:spPr>
          <a:xfrm>
            <a:off x="3243650" y="1326750"/>
            <a:ext cx="3219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</a:t>
            </a:r>
            <a:r>
              <a:rPr lang="en-GB" sz="1800"/>
              <a:t>)</a:t>
            </a:r>
            <a:endParaRPr sz="1200"/>
          </a:p>
        </p:txBody>
      </p:sp>
      <p:sp>
        <p:nvSpPr>
          <p:cNvPr id="919" name="Google Shape;919;p77"/>
          <p:cNvSpPr txBox="1"/>
          <p:nvPr>
            <p:ph idx="1" type="body"/>
          </p:nvPr>
        </p:nvSpPr>
        <p:spPr>
          <a:xfrm>
            <a:off x="6188100" y="1326750"/>
            <a:ext cx="3219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</a:t>
            </a:r>
            <a:r>
              <a:rPr lang="en-GB" sz="1800"/>
              <a:t>)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78"/>
          <p:cNvSpPr txBox="1"/>
          <p:nvPr>
            <p:ph idx="1" type="body"/>
          </p:nvPr>
        </p:nvSpPr>
        <p:spPr>
          <a:xfrm>
            <a:off x="324000" y="703650"/>
            <a:ext cx="8496000" cy="6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For each question, work out an equation for the line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1800"/>
              <a:t> and use the key features to draw the line on the axes. </a:t>
            </a:r>
            <a:endParaRPr sz="1200"/>
          </a:p>
        </p:txBody>
      </p:sp>
      <p:sp>
        <p:nvSpPr>
          <p:cNvPr id="925" name="Google Shape;925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 = mx + c</a:t>
            </a:r>
            <a:endParaRPr/>
          </a:p>
        </p:txBody>
      </p:sp>
      <p:sp>
        <p:nvSpPr>
          <p:cNvPr id="926" name="Google Shape;926;p78"/>
          <p:cNvSpPr txBox="1"/>
          <p:nvPr>
            <p:ph idx="1" type="body"/>
          </p:nvPr>
        </p:nvSpPr>
        <p:spPr>
          <a:xfrm>
            <a:off x="324000" y="3847050"/>
            <a:ext cx="3382200" cy="9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gradient:  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intercept: (0, </a:t>
            </a:r>
            <a:r>
              <a:rPr lang="en-GB" sz="1800"/>
              <a:t>4</a:t>
            </a:r>
            <a:r>
              <a:rPr lang="en-GB" sz="1800"/>
              <a:t>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equation:</a:t>
            </a:r>
            <a:endParaRPr sz="1800"/>
          </a:p>
        </p:txBody>
      </p:sp>
      <p:sp>
        <p:nvSpPr>
          <p:cNvPr id="927" name="Google Shape;927;p78"/>
          <p:cNvSpPr txBox="1"/>
          <p:nvPr>
            <p:ph idx="1" type="body"/>
          </p:nvPr>
        </p:nvSpPr>
        <p:spPr>
          <a:xfrm>
            <a:off x="3280037" y="3847050"/>
            <a:ext cx="2829000" cy="9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gradient:  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intercept: (0,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1</a:t>
            </a:r>
            <a:r>
              <a:rPr lang="en-GB" sz="1800"/>
              <a:t>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equation:</a:t>
            </a:r>
            <a:endParaRPr sz="1800"/>
          </a:p>
        </p:txBody>
      </p:sp>
      <p:sp>
        <p:nvSpPr>
          <p:cNvPr id="928" name="Google Shape;928;p78"/>
          <p:cNvSpPr txBox="1"/>
          <p:nvPr>
            <p:ph idx="1" type="body"/>
          </p:nvPr>
        </p:nvSpPr>
        <p:spPr>
          <a:xfrm>
            <a:off x="6205925" y="3770850"/>
            <a:ext cx="2829000" cy="9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gradient: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intercept: (0, </a:t>
            </a:r>
            <a:r>
              <a:rPr lang="en-GB" sz="1800">
                <a:solidFill>
                  <a:srgbClr val="222222"/>
                </a:solidFill>
              </a:rPr>
              <a:t>0</a:t>
            </a:r>
            <a:r>
              <a:rPr lang="en-GB" sz="1800"/>
              <a:t>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equation: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929" name="Google Shape;929;p78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2675" y="3717152"/>
            <a:ext cx="150500" cy="4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78"/>
          <p:cNvPicPr preferRelativeResize="0"/>
          <p:nvPr/>
        </p:nvPicPr>
        <p:blipFill rotWithShape="1">
          <a:blip r:embed="rId4">
            <a:alphaModFix/>
          </a:blip>
          <a:srcRect b="8045" l="0" r="0" t="0"/>
          <a:stretch/>
        </p:blipFill>
        <p:spPr>
          <a:xfrm>
            <a:off x="358425" y="1640684"/>
            <a:ext cx="2008675" cy="2003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931" name="Google Shape;931;p78"/>
          <p:cNvGraphicFramePr/>
          <p:nvPr/>
        </p:nvGraphicFramePr>
        <p:xfrm>
          <a:off x="308950" y="12217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{312CD822-42AC-400F-9C34-B724CEBF2189}</a:tableStyleId>
              </a:tblPr>
              <a:tblGrid>
                <a:gridCol w="2842025"/>
                <a:gridCol w="2842025"/>
                <a:gridCol w="2842025"/>
              </a:tblGrid>
              <a:tr h="40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f) 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32" name="Google Shape;932;p78"/>
          <p:cNvPicPr preferRelativeResize="0"/>
          <p:nvPr/>
        </p:nvPicPr>
        <p:blipFill rotWithShape="1">
          <a:blip r:embed="rId4">
            <a:alphaModFix/>
          </a:blip>
          <a:srcRect b="8045" l="0" r="0" t="0"/>
          <a:stretch/>
        </p:blipFill>
        <p:spPr>
          <a:xfrm>
            <a:off x="3297864" y="1640684"/>
            <a:ext cx="2008675" cy="2003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3" name="Google Shape;933;p78"/>
          <p:cNvPicPr preferRelativeResize="0"/>
          <p:nvPr/>
        </p:nvPicPr>
        <p:blipFill rotWithShape="1">
          <a:blip r:embed="rId4">
            <a:alphaModFix/>
          </a:blip>
          <a:srcRect b="8045" l="0" r="0" t="0"/>
          <a:stretch/>
        </p:blipFill>
        <p:spPr>
          <a:xfrm>
            <a:off x="6237303" y="1640684"/>
            <a:ext cx="2008675" cy="2003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934" name="Google Shape;934;p78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4831" y="3737163"/>
            <a:ext cx="150500" cy="47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3}&quot;&gt;&lt;mo&gt;−&lt;/mo&gt;&lt;mfrac&gt;&lt;mn&gt;1&lt;/mn&gt;&lt;mn&gt;3&lt;/mn&gt;&lt;/mfrac&gt;&lt;/math&gt;" id="935" name="Google Shape;935;p78" title="negative 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55325" y="3726460"/>
            <a:ext cx="317372" cy="47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79"/>
          <p:cNvSpPr txBox="1"/>
          <p:nvPr>
            <p:ph idx="1" type="body"/>
          </p:nvPr>
        </p:nvSpPr>
        <p:spPr>
          <a:xfrm>
            <a:off x="324000" y="684375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Match each graph to its equation.</a:t>
            </a:r>
            <a:endParaRPr sz="1800"/>
          </a:p>
        </p:txBody>
      </p:sp>
      <p:sp>
        <p:nvSpPr>
          <p:cNvPr id="941" name="Google Shape;941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 = mx + c</a:t>
            </a:r>
            <a:endParaRPr/>
          </a:p>
        </p:txBody>
      </p:sp>
      <p:pic>
        <p:nvPicPr>
          <p:cNvPr id="942" name="Google Shape;94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850" y="1114050"/>
            <a:ext cx="1370687" cy="136378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3" name="Google Shape;943;p79"/>
          <p:cNvPicPr preferRelativeResize="0"/>
          <p:nvPr/>
        </p:nvPicPr>
        <p:blipFill rotWithShape="1">
          <a:blip r:embed="rId4">
            <a:alphaModFix/>
          </a:blip>
          <a:srcRect b="3157" l="0" r="0" t="0"/>
          <a:stretch/>
        </p:blipFill>
        <p:spPr>
          <a:xfrm>
            <a:off x="7184625" y="1114043"/>
            <a:ext cx="1404150" cy="134412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4" name="Google Shape;944;p79"/>
          <p:cNvPicPr preferRelativeResize="0"/>
          <p:nvPr/>
        </p:nvPicPr>
        <p:blipFill rotWithShape="1">
          <a:blip r:embed="rId5">
            <a:alphaModFix/>
          </a:blip>
          <a:srcRect b="2647" l="0" r="0" t="0"/>
          <a:stretch/>
        </p:blipFill>
        <p:spPr>
          <a:xfrm>
            <a:off x="3842850" y="1114050"/>
            <a:ext cx="1404150" cy="13637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5" name="Google Shape;945;p79"/>
          <p:cNvPicPr preferRelativeResize="0"/>
          <p:nvPr/>
        </p:nvPicPr>
        <p:blipFill rotWithShape="1">
          <a:blip r:embed="rId6">
            <a:alphaModFix/>
          </a:blip>
          <a:srcRect b="3772" l="0" r="0" t="0"/>
          <a:stretch/>
        </p:blipFill>
        <p:spPr>
          <a:xfrm>
            <a:off x="2037950" y="1114050"/>
            <a:ext cx="1432501" cy="138792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6" name="Google Shape;946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36250" y="2936309"/>
            <a:ext cx="1404150" cy="139082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7" name="Google Shape;947;p79"/>
          <p:cNvPicPr preferRelativeResize="0"/>
          <p:nvPr/>
        </p:nvPicPr>
        <p:blipFill rotWithShape="1">
          <a:blip r:embed="rId8">
            <a:alphaModFix/>
          </a:blip>
          <a:srcRect b="3325" l="0" r="0" t="0"/>
          <a:stretch/>
        </p:blipFill>
        <p:spPr>
          <a:xfrm>
            <a:off x="2031350" y="2937749"/>
            <a:ext cx="1432499" cy="138792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8" name="Google Shape;948;p79"/>
          <p:cNvPicPr preferRelativeResize="0"/>
          <p:nvPr/>
        </p:nvPicPr>
        <p:blipFill rotWithShape="1">
          <a:blip r:embed="rId9">
            <a:alphaModFix/>
          </a:blip>
          <a:srcRect b="3670" l="0" r="0" t="0"/>
          <a:stretch/>
        </p:blipFill>
        <p:spPr>
          <a:xfrm>
            <a:off x="5558813" y="2936064"/>
            <a:ext cx="1432500" cy="139130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9" name="Google Shape;949;p7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1534" y="2930278"/>
            <a:ext cx="1390112" cy="13603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50" name="Google Shape;950;p79"/>
          <p:cNvPicPr preferRelativeResize="0"/>
          <p:nvPr/>
        </p:nvPicPr>
        <p:blipFill rotWithShape="1">
          <a:blip r:embed="rId11">
            <a:alphaModFix/>
          </a:blip>
          <a:srcRect b="3166" l="0" r="0" t="0"/>
          <a:stretch/>
        </p:blipFill>
        <p:spPr>
          <a:xfrm>
            <a:off x="5572575" y="1114043"/>
            <a:ext cx="1418175" cy="13637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51" name="Google Shape;951;p7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171007" y="2930278"/>
            <a:ext cx="1418181" cy="140286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952" name="Google Shape;952;p79"/>
          <p:cNvGraphicFramePr/>
          <p:nvPr/>
        </p:nvGraphicFramePr>
        <p:xfrm>
          <a:off x="357113" y="10091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{312CD822-42AC-400F-9C34-B724CEBF2189}</a:tableStyleId>
              </a:tblPr>
              <a:tblGrid>
                <a:gridCol w="1705225"/>
                <a:gridCol w="1533975"/>
                <a:gridCol w="1876475"/>
                <a:gridCol w="1705225"/>
                <a:gridCol w="1705225"/>
              </a:tblGrid>
              <a:tr h="40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c) 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    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3" name="Google Shape;953;p79"/>
          <p:cNvGraphicFramePr/>
          <p:nvPr/>
        </p:nvGraphicFramePr>
        <p:xfrm>
          <a:off x="357116" y="28324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{312CD822-42AC-400F-9C34-B724CEBF2189}</a:tableStyleId>
              </a:tblPr>
              <a:tblGrid>
                <a:gridCol w="1705225"/>
                <a:gridCol w="1533975"/>
                <a:gridCol w="1876475"/>
                <a:gridCol w="1705225"/>
                <a:gridCol w="1705225"/>
              </a:tblGrid>
              <a:tr h="40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    g)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h) 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i)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j)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4" name="Google Shape;954;p79"/>
          <p:cNvSpPr txBox="1"/>
          <p:nvPr>
            <p:ph idx="1" type="body"/>
          </p:nvPr>
        </p:nvSpPr>
        <p:spPr>
          <a:xfrm>
            <a:off x="407838" y="2511428"/>
            <a:ext cx="557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/>
          </a:p>
        </p:txBody>
      </p:sp>
      <p:sp>
        <p:nvSpPr>
          <p:cNvPr id="955" name="Google Shape;955;p79"/>
          <p:cNvSpPr txBox="1"/>
          <p:nvPr>
            <p:ph idx="1" type="body"/>
          </p:nvPr>
        </p:nvSpPr>
        <p:spPr>
          <a:xfrm>
            <a:off x="7183453" y="2511428"/>
            <a:ext cx="720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/>
          </a:p>
        </p:txBody>
      </p:sp>
      <p:sp>
        <p:nvSpPr>
          <p:cNvPr id="956" name="Google Shape;956;p79"/>
          <p:cNvSpPr txBox="1"/>
          <p:nvPr>
            <p:ph idx="1" type="body"/>
          </p:nvPr>
        </p:nvSpPr>
        <p:spPr>
          <a:xfrm>
            <a:off x="5561438" y="4385477"/>
            <a:ext cx="1212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/>
          </a:p>
        </p:txBody>
      </p:sp>
      <p:sp>
        <p:nvSpPr>
          <p:cNvPr id="957" name="Google Shape;957;p79"/>
          <p:cNvSpPr txBox="1"/>
          <p:nvPr>
            <p:ph idx="1" type="body"/>
          </p:nvPr>
        </p:nvSpPr>
        <p:spPr>
          <a:xfrm>
            <a:off x="3836400" y="2511428"/>
            <a:ext cx="1212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/>
          </a:p>
        </p:txBody>
      </p:sp>
      <p:sp>
        <p:nvSpPr>
          <p:cNvPr id="958" name="Google Shape;958;p79"/>
          <p:cNvSpPr txBox="1"/>
          <p:nvPr>
            <p:ph idx="1" type="body"/>
          </p:nvPr>
        </p:nvSpPr>
        <p:spPr>
          <a:xfrm>
            <a:off x="2037950" y="2511428"/>
            <a:ext cx="1212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endParaRPr sz="2000"/>
          </a:p>
        </p:txBody>
      </p:sp>
      <p:sp>
        <p:nvSpPr>
          <p:cNvPr id="959" name="Google Shape;959;p79"/>
          <p:cNvSpPr txBox="1"/>
          <p:nvPr>
            <p:ph idx="1" type="body"/>
          </p:nvPr>
        </p:nvSpPr>
        <p:spPr>
          <a:xfrm>
            <a:off x="371697" y="4385502"/>
            <a:ext cx="629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</a:t>
            </a:r>
            <a:endParaRPr sz="2000"/>
          </a:p>
        </p:txBody>
      </p:sp>
      <p:sp>
        <p:nvSpPr>
          <p:cNvPr id="960" name="Google Shape;960;p79"/>
          <p:cNvSpPr txBox="1"/>
          <p:nvPr>
            <p:ph idx="1" type="body"/>
          </p:nvPr>
        </p:nvSpPr>
        <p:spPr>
          <a:xfrm>
            <a:off x="5561450" y="2511428"/>
            <a:ext cx="1212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</a:t>
            </a:r>
            <a:endParaRPr sz="2000"/>
          </a:p>
        </p:txBody>
      </p:sp>
      <p:grpSp>
        <p:nvGrpSpPr>
          <p:cNvPr id="961" name="Google Shape;961;p79"/>
          <p:cNvGrpSpPr/>
          <p:nvPr/>
        </p:nvGrpSpPr>
        <p:grpSpPr>
          <a:xfrm>
            <a:off x="3836238" y="4385502"/>
            <a:ext cx="1390200" cy="420675"/>
            <a:chOff x="5746975" y="4317986"/>
            <a:chExt cx="1390200" cy="420675"/>
          </a:xfrm>
        </p:grpSpPr>
        <p:sp>
          <p:nvSpPr>
            <p:cNvPr id="962" name="Google Shape;962;p79"/>
            <p:cNvSpPr/>
            <p:nvPr/>
          </p:nvSpPr>
          <p:spPr>
            <a:xfrm>
              <a:off x="5746975" y="4340975"/>
              <a:ext cx="1390200" cy="3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=   </a:t>
              </a:r>
              <a:r>
                <a:rPr i="1"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963" name="Google Shape;963;p79" title="one half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6091353" y="4317986"/>
              <a:ext cx="132025" cy="420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4" name="Google Shape;964;p79"/>
          <p:cNvGrpSpPr/>
          <p:nvPr/>
        </p:nvGrpSpPr>
        <p:grpSpPr>
          <a:xfrm>
            <a:off x="2031350" y="4385502"/>
            <a:ext cx="1390200" cy="420675"/>
            <a:chOff x="6338275" y="4427799"/>
            <a:chExt cx="1390200" cy="420675"/>
          </a:xfrm>
        </p:grpSpPr>
        <p:sp>
          <p:nvSpPr>
            <p:cNvPr id="965" name="Google Shape;965;p79"/>
            <p:cNvSpPr/>
            <p:nvPr/>
          </p:nvSpPr>
          <p:spPr>
            <a:xfrm>
              <a:off x="6338275" y="4450788"/>
              <a:ext cx="1390200" cy="3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= 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2 −   </a:t>
              </a:r>
              <a:r>
                <a:rPr i="1"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966" name="Google Shape;966;p79" title="one half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7121078" y="4427799"/>
              <a:ext cx="132025" cy="420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7" name="Google Shape;967;p79"/>
          <p:cNvSpPr txBox="1"/>
          <p:nvPr>
            <p:ph idx="1" type="body"/>
          </p:nvPr>
        </p:nvSpPr>
        <p:spPr>
          <a:xfrm>
            <a:off x="7181338" y="4385502"/>
            <a:ext cx="1212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p80"/>
          <p:cNvPicPr preferRelativeResize="0"/>
          <p:nvPr/>
        </p:nvPicPr>
        <p:blipFill rotWithShape="1">
          <a:blip r:embed="rId3">
            <a:alphaModFix/>
          </a:blip>
          <a:srcRect b="8045" l="0" r="0" t="0"/>
          <a:stretch/>
        </p:blipFill>
        <p:spPr>
          <a:xfrm>
            <a:off x="6237303" y="1412084"/>
            <a:ext cx="2008675" cy="2003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3" name="Google Shape;973;p80"/>
          <p:cNvSpPr txBox="1"/>
          <p:nvPr>
            <p:ph idx="1" type="body"/>
          </p:nvPr>
        </p:nvSpPr>
        <p:spPr>
          <a:xfrm>
            <a:off x="324000" y="759300"/>
            <a:ext cx="84960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For each question, work out an equation for the line </a:t>
            </a:r>
            <a:r>
              <a:rPr lang="en-GB" sz="1800"/>
              <a:t>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 </a:t>
            </a:r>
            <a:r>
              <a:rPr lang="en-GB" sz="1800"/>
              <a:t>and use the key features to draw the line on the axes. </a:t>
            </a:r>
            <a:endParaRPr sz="1200"/>
          </a:p>
        </p:txBody>
      </p:sp>
      <p:sp>
        <p:nvSpPr>
          <p:cNvPr id="974" name="Google Shape;974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 = mx + c</a:t>
            </a:r>
            <a:endParaRPr/>
          </a:p>
        </p:txBody>
      </p:sp>
      <p:sp>
        <p:nvSpPr>
          <p:cNvPr id="975" name="Google Shape;975;p80"/>
          <p:cNvSpPr txBox="1"/>
          <p:nvPr>
            <p:ph idx="1" type="body"/>
          </p:nvPr>
        </p:nvSpPr>
        <p:spPr>
          <a:xfrm>
            <a:off x="324000" y="3575175"/>
            <a:ext cx="3382200" cy="9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gradient:   3</a:t>
            </a:r>
            <a:endParaRPr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intercept: (0,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1800"/>
              <a:t>2)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equation: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endParaRPr sz="1800"/>
          </a:p>
        </p:txBody>
      </p:sp>
      <p:sp>
        <p:nvSpPr>
          <p:cNvPr id="976" name="Google Shape;976;p80"/>
          <p:cNvSpPr txBox="1"/>
          <p:nvPr>
            <p:ph idx="1" type="body"/>
          </p:nvPr>
        </p:nvSpPr>
        <p:spPr>
          <a:xfrm>
            <a:off x="3280037" y="3575175"/>
            <a:ext cx="2829000" cy="9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gradient:  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1800"/>
              <a:t>1</a:t>
            </a:r>
            <a:endParaRPr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intercept: (0, </a:t>
            </a:r>
            <a:r>
              <a:rPr lang="en-GB" sz="1900">
                <a:solidFill>
                  <a:srgbClr val="222222"/>
                </a:solidFill>
              </a:rPr>
              <a:t>5</a:t>
            </a:r>
            <a:r>
              <a:rPr lang="en-GB" sz="1800"/>
              <a:t>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equation: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</a:t>
            </a:r>
            <a:endParaRPr sz="1800"/>
          </a:p>
        </p:txBody>
      </p:sp>
      <p:sp>
        <p:nvSpPr>
          <p:cNvPr id="977" name="Google Shape;977;p80"/>
          <p:cNvSpPr txBox="1"/>
          <p:nvPr>
            <p:ph idx="1" type="body"/>
          </p:nvPr>
        </p:nvSpPr>
        <p:spPr>
          <a:xfrm>
            <a:off x="6200575" y="3575175"/>
            <a:ext cx="2829000" cy="9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</a:t>
            </a:r>
            <a:r>
              <a:rPr lang="en-GB" sz="1800"/>
              <a:t>radient: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4</a:t>
            </a:r>
            <a:r>
              <a:rPr lang="en-GB" sz="1800"/>
              <a:t>  </a:t>
            </a:r>
            <a:endParaRPr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intercept: (0,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3</a:t>
            </a:r>
            <a:r>
              <a:rPr lang="en-GB" sz="1800"/>
              <a:t>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equation: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</a:t>
            </a:r>
            <a:endParaRPr sz="1800"/>
          </a:p>
        </p:txBody>
      </p:sp>
      <p:pic>
        <p:nvPicPr>
          <p:cNvPr id="978" name="Google Shape;978;p80"/>
          <p:cNvPicPr preferRelativeResize="0"/>
          <p:nvPr/>
        </p:nvPicPr>
        <p:blipFill rotWithShape="1">
          <a:blip r:embed="rId3">
            <a:alphaModFix/>
          </a:blip>
          <a:srcRect b="8045" l="0" r="0" t="0"/>
          <a:stretch/>
        </p:blipFill>
        <p:spPr>
          <a:xfrm>
            <a:off x="358425" y="1412084"/>
            <a:ext cx="2008675" cy="2003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9" name="Google Shape;979;p80"/>
          <p:cNvPicPr preferRelativeResize="0"/>
          <p:nvPr/>
        </p:nvPicPr>
        <p:blipFill rotWithShape="1">
          <a:blip r:embed="rId3">
            <a:alphaModFix/>
          </a:blip>
          <a:srcRect b="8045" l="0" r="0" t="0"/>
          <a:stretch/>
        </p:blipFill>
        <p:spPr>
          <a:xfrm>
            <a:off x="3297864" y="1412084"/>
            <a:ext cx="2008675" cy="2003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0" name="Google Shape;98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425" y="1412075"/>
            <a:ext cx="2065296" cy="20154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1" name="Google Shape;981;p80"/>
          <p:cNvPicPr preferRelativeResize="0"/>
          <p:nvPr/>
        </p:nvPicPr>
        <p:blipFill rotWithShape="1">
          <a:blip r:embed="rId5">
            <a:alphaModFix/>
          </a:blip>
          <a:srcRect b="4979" l="0" r="0" t="0"/>
          <a:stretch/>
        </p:blipFill>
        <p:spPr>
          <a:xfrm>
            <a:off x="3280025" y="1409508"/>
            <a:ext cx="2026525" cy="2015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2" name="Google Shape;982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37325" y="1376409"/>
            <a:ext cx="2008675" cy="202884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983" name="Google Shape;983;p80"/>
          <p:cNvGraphicFramePr/>
          <p:nvPr/>
        </p:nvGraphicFramePr>
        <p:xfrm>
          <a:off x="308950" y="12979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{312CD822-42AC-400F-9C34-B724CEBF2189}</a:tableStyleId>
              </a:tblPr>
              <a:tblGrid>
                <a:gridCol w="2842025"/>
                <a:gridCol w="2842025"/>
                <a:gridCol w="2842025"/>
              </a:tblGrid>
              <a:tr h="402450"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Lexend"/>
                        <a:buAutoNum type="alphaLcParenR"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b)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c) 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1"/>
          <p:cNvSpPr txBox="1"/>
          <p:nvPr>
            <p:ph idx="1" type="body"/>
          </p:nvPr>
        </p:nvSpPr>
        <p:spPr>
          <a:xfrm>
            <a:off x="324000" y="626875"/>
            <a:ext cx="8496000" cy="65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For each question, work out an equation for the line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1800"/>
              <a:t> and use the key features to draw the line on the axes. </a:t>
            </a:r>
            <a:endParaRPr sz="1200"/>
          </a:p>
        </p:txBody>
      </p:sp>
      <p:sp>
        <p:nvSpPr>
          <p:cNvPr id="989" name="Google Shape;989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 = mx + c</a:t>
            </a:r>
            <a:endParaRPr/>
          </a:p>
        </p:txBody>
      </p:sp>
      <p:sp>
        <p:nvSpPr>
          <p:cNvPr id="990" name="Google Shape;990;p81"/>
          <p:cNvSpPr txBox="1"/>
          <p:nvPr>
            <p:ph idx="1" type="body"/>
          </p:nvPr>
        </p:nvSpPr>
        <p:spPr>
          <a:xfrm>
            <a:off x="324000" y="3590420"/>
            <a:ext cx="3382200" cy="9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</a:t>
            </a:r>
            <a:r>
              <a:rPr lang="en-GB" sz="1800"/>
              <a:t>radient:</a:t>
            </a:r>
            <a:endParaRPr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intercept: (0, 4)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equation: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endParaRPr sz="1800"/>
          </a:p>
        </p:txBody>
      </p:sp>
      <p:sp>
        <p:nvSpPr>
          <p:cNvPr id="991" name="Google Shape;991;p81"/>
          <p:cNvSpPr txBox="1"/>
          <p:nvPr>
            <p:ph idx="1" type="body"/>
          </p:nvPr>
        </p:nvSpPr>
        <p:spPr>
          <a:xfrm>
            <a:off x="3280025" y="3590420"/>
            <a:ext cx="2829000" cy="9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</a:t>
            </a:r>
            <a:r>
              <a:rPr lang="en-GB" sz="1800"/>
              <a:t>radient: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intercept: (0,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1)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equation: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</a:t>
            </a:r>
            <a:endParaRPr sz="1800"/>
          </a:p>
        </p:txBody>
      </p:sp>
      <p:sp>
        <p:nvSpPr>
          <p:cNvPr id="992" name="Google Shape;992;p81"/>
          <p:cNvSpPr txBox="1"/>
          <p:nvPr>
            <p:ph idx="1" type="body"/>
          </p:nvPr>
        </p:nvSpPr>
        <p:spPr>
          <a:xfrm>
            <a:off x="6205925" y="3590420"/>
            <a:ext cx="2829000" cy="10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gradient: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intercept: (0, </a:t>
            </a:r>
            <a:r>
              <a:rPr lang="en-GB" sz="1800">
                <a:solidFill>
                  <a:srgbClr val="222222"/>
                </a:solidFill>
              </a:rPr>
              <a:t>0</a:t>
            </a:r>
            <a:r>
              <a:rPr lang="en-GB" sz="1800"/>
              <a:t>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equation: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993" name="Google Shape;993;p81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1275" y="3471210"/>
            <a:ext cx="150500" cy="4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81"/>
          <p:cNvPicPr preferRelativeResize="0"/>
          <p:nvPr/>
        </p:nvPicPr>
        <p:blipFill rotWithShape="1">
          <a:blip r:embed="rId4">
            <a:alphaModFix/>
          </a:blip>
          <a:srcRect b="8045" l="0" r="0" t="0"/>
          <a:stretch/>
        </p:blipFill>
        <p:spPr>
          <a:xfrm>
            <a:off x="358425" y="1412084"/>
            <a:ext cx="2008675" cy="2003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95" name="Google Shape;995;p81"/>
          <p:cNvPicPr preferRelativeResize="0"/>
          <p:nvPr/>
        </p:nvPicPr>
        <p:blipFill rotWithShape="1">
          <a:blip r:embed="rId4">
            <a:alphaModFix/>
          </a:blip>
          <a:srcRect b="8045" l="0" r="0" t="0"/>
          <a:stretch/>
        </p:blipFill>
        <p:spPr>
          <a:xfrm>
            <a:off x="3297864" y="1412084"/>
            <a:ext cx="2008675" cy="2003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96" name="Google Shape;996;p81"/>
          <p:cNvPicPr preferRelativeResize="0"/>
          <p:nvPr/>
        </p:nvPicPr>
        <p:blipFill rotWithShape="1">
          <a:blip r:embed="rId4">
            <a:alphaModFix/>
          </a:blip>
          <a:srcRect b="8045" l="0" r="0" t="0"/>
          <a:stretch/>
        </p:blipFill>
        <p:spPr>
          <a:xfrm>
            <a:off x="6237303" y="1412084"/>
            <a:ext cx="2008675" cy="2003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997" name="Google Shape;997;p81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4831" y="3480533"/>
            <a:ext cx="150500" cy="47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3}&quot;&gt;&lt;mo&gt;−&lt;/mo&gt;&lt;mfrac&gt;&lt;mn&gt;1&lt;/mn&gt;&lt;mn&gt;3&lt;/mn&gt;&lt;/mfrac&gt;&lt;/math&gt;" id="998" name="Google Shape;998;p81" title="negative 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20000" y="3480530"/>
            <a:ext cx="317372" cy="47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999" name="Google Shape;999;p81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3459" y="4380737"/>
            <a:ext cx="125053" cy="39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3}&quot;&gt;&lt;mo&gt;−&lt;/mo&gt;&lt;mfrac&gt;&lt;mn&gt;1&lt;/mn&gt;&lt;mn&gt;3&lt;/mn&gt;&lt;/mfrac&gt;&lt;/math&gt;" id="1000" name="Google Shape;1000;p81" title="negative 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19750" y="4379430"/>
            <a:ext cx="262015" cy="39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001" name="Google Shape;1001;p81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8475" y="4356722"/>
            <a:ext cx="120522" cy="3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08987" y="1399612"/>
            <a:ext cx="2065300" cy="202967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03" name="Google Shape;1003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0604" y="1388649"/>
            <a:ext cx="2026499" cy="205017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04" name="Google Shape;1004;p8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97875" y="1417130"/>
            <a:ext cx="2065301" cy="201734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005" name="Google Shape;1005;p81"/>
          <p:cNvGraphicFramePr/>
          <p:nvPr/>
        </p:nvGraphicFramePr>
        <p:xfrm>
          <a:off x="293925" y="12870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{312CD822-42AC-400F-9C34-B724CEBF2189}</a:tableStyleId>
              </a:tblPr>
              <a:tblGrid>
                <a:gridCol w="2842025"/>
                <a:gridCol w="2842025"/>
                <a:gridCol w="2842025"/>
              </a:tblGrid>
              <a:tr h="40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f) 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8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Equations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/>
              <a:t> </a:t>
            </a:r>
            <a:endParaRPr/>
          </a:p>
        </p:txBody>
      </p:sp>
      <p:sp>
        <p:nvSpPr>
          <p:cNvPr id="1011" name="Google Shape;1011;p82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Equations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012" name="Google Shape;1012;p8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equation of the line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013" name="Google Shape;101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82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19" name="Google Shape;1019;p83"/>
          <p:cNvSpPr txBox="1"/>
          <p:nvPr>
            <p:ph idx="1" type="body"/>
          </p:nvPr>
        </p:nvSpPr>
        <p:spPr>
          <a:xfrm>
            <a:off x="324000" y="759300"/>
            <a:ext cx="8496000" cy="69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Writing equations of lines in other forms can help us identify other features of a graph. </a:t>
            </a:r>
            <a:endParaRPr sz="1800"/>
          </a:p>
        </p:txBody>
      </p:sp>
      <p:sp>
        <p:nvSpPr>
          <p:cNvPr id="1020" name="Google Shape;1020;p83"/>
          <p:cNvSpPr txBox="1"/>
          <p:nvPr>
            <p:ph idx="1" type="body"/>
          </p:nvPr>
        </p:nvSpPr>
        <p:spPr>
          <a:xfrm>
            <a:off x="324000" y="1458300"/>
            <a:ext cx="8496000" cy="30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is a bar model to show the equation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021" name="Google Shape;1021;p83"/>
          <p:cNvSpPr/>
          <p:nvPr/>
        </p:nvSpPr>
        <p:spPr>
          <a:xfrm>
            <a:off x="6647250" y="1474500"/>
            <a:ext cx="16266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2" name="Google Shape;1022;p83"/>
          <p:cNvSpPr/>
          <p:nvPr/>
        </p:nvSpPr>
        <p:spPr>
          <a:xfrm>
            <a:off x="6647250" y="1862401"/>
            <a:ext cx="10608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3" name="Google Shape;1023;p83"/>
          <p:cNvSpPr/>
          <p:nvPr/>
        </p:nvSpPr>
        <p:spPr>
          <a:xfrm>
            <a:off x="8273774" y="1474500"/>
            <a:ext cx="4956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4" name="Google Shape;1024;p83"/>
          <p:cNvSpPr/>
          <p:nvPr/>
        </p:nvSpPr>
        <p:spPr>
          <a:xfrm>
            <a:off x="7708239" y="1862401"/>
            <a:ext cx="10608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5" name="Google Shape;1025;p83"/>
          <p:cNvSpPr txBox="1"/>
          <p:nvPr>
            <p:ph idx="1" type="body"/>
          </p:nvPr>
        </p:nvSpPr>
        <p:spPr>
          <a:xfrm>
            <a:off x="324000" y="1980200"/>
            <a:ext cx="6281100" cy="4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other equations can we write for this bar model?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026" name="Google Shape;1026;p83"/>
          <p:cNvSpPr txBox="1"/>
          <p:nvPr>
            <p:ph idx="1" type="body"/>
          </p:nvPr>
        </p:nvSpPr>
        <p:spPr>
          <a:xfrm>
            <a:off x="324000" y="2428600"/>
            <a:ext cx="2563200" cy="30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+ 3 = 2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7" name="Google Shape;1027;p83"/>
          <p:cNvSpPr txBox="1"/>
          <p:nvPr>
            <p:ph idx="1" type="body"/>
          </p:nvPr>
        </p:nvSpPr>
        <p:spPr>
          <a:xfrm>
            <a:off x="2410150" y="2428588"/>
            <a:ext cx="2563200" cy="30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i="1"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3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8" name="Google Shape;1028;p83"/>
          <p:cNvSpPr txBox="1"/>
          <p:nvPr>
            <p:ph idx="1" type="body"/>
          </p:nvPr>
        </p:nvSpPr>
        <p:spPr>
          <a:xfrm>
            <a:off x="324000" y="3034800"/>
            <a:ext cx="8496000" cy="4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value would we get if we did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− 3</a:t>
            </a:r>
            <a:r>
              <a:rPr lang="en-GB" sz="1800">
                <a:solidFill>
                  <a:srgbClr val="222222"/>
                </a:solidFill>
              </a:rPr>
              <a:t>?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029" name="Google Shape;1029;p83"/>
          <p:cNvSpPr txBox="1"/>
          <p:nvPr>
            <p:ph idx="1" type="body"/>
          </p:nvPr>
        </p:nvSpPr>
        <p:spPr>
          <a:xfrm>
            <a:off x="324000" y="3539600"/>
            <a:ext cx="765000" cy="4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Zero</a:t>
            </a:r>
            <a:r>
              <a:rPr lang="en-GB" sz="1800"/>
              <a:t> 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030" name="Google Shape;1030;p83"/>
          <p:cNvSpPr txBox="1"/>
          <p:nvPr>
            <p:ph idx="1" type="body"/>
          </p:nvPr>
        </p:nvSpPr>
        <p:spPr>
          <a:xfrm>
            <a:off x="3925725" y="2428600"/>
            <a:ext cx="1848600" cy="30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3 + </a:t>
            </a:r>
            <a:r>
              <a:rPr i="1"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31" name="Google Shape;1031;p83"/>
          <p:cNvSpPr txBox="1"/>
          <p:nvPr>
            <p:ph idx="1" type="body"/>
          </p:nvPr>
        </p:nvSpPr>
        <p:spPr>
          <a:xfrm>
            <a:off x="324000" y="4177400"/>
            <a:ext cx="8496000" cy="4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All these relationships are the same, so the graphs of all these equations would be the same as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032" name="Google Shape;1032;p83"/>
          <p:cNvSpPr txBox="1"/>
          <p:nvPr>
            <p:ph idx="1" type="body"/>
          </p:nvPr>
        </p:nvSpPr>
        <p:spPr>
          <a:xfrm>
            <a:off x="1242300" y="3539600"/>
            <a:ext cx="5313600" cy="4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− 3 = 0</a:t>
            </a:r>
            <a:r>
              <a:rPr lang="en-GB" sz="1800"/>
              <a:t> is also true for this bar model. 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033" name="Google Shape;1033;p83"/>
          <p:cNvSpPr/>
          <p:nvPr/>
        </p:nvSpPr>
        <p:spPr>
          <a:xfrm>
            <a:off x="6647200" y="1869075"/>
            <a:ext cx="2122200" cy="38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3"/>
          <p:cNvSpPr/>
          <p:nvPr/>
        </p:nvSpPr>
        <p:spPr>
          <a:xfrm>
            <a:off x="6647250" y="1474500"/>
            <a:ext cx="1626600" cy="38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3"/>
          <p:cNvSpPr/>
          <p:nvPr/>
        </p:nvSpPr>
        <p:spPr>
          <a:xfrm>
            <a:off x="8273800" y="1474500"/>
            <a:ext cx="495600" cy="38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84"/>
          <p:cNvSpPr txBox="1"/>
          <p:nvPr>
            <p:ph idx="1" type="body"/>
          </p:nvPr>
        </p:nvSpPr>
        <p:spPr>
          <a:xfrm>
            <a:off x="324000" y="12927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However, a</a:t>
            </a:r>
            <a:r>
              <a:rPr lang="en-GB" sz="2000">
                <a:solidFill>
                  <a:srgbClr val="222222"/>
                </a:solidFill>
              </a:rPr>
              <a:t>nother form for the equation of a straight line is</a:t>
            </a:r>
            <a:r>
              <a:rPr lang="en-GB" sz="2000">
                <a:solidFill>
                  <a:srgbClr val="222222"/>
                </a:solidFill>
              </a:rPr>
              <a:t>: </a:t>
            </a:r>
            <a:endParaRPr sz="20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bx + c =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>
                <a:solidFill>
                  <a:srgbClr val="222222"/>
                </a:solidFill>
              </a:rPr>
              <a:t> </a:t>
            </a:r>
            <a:endParaRPr>
              <a:solidFill>
                <a:srgbClr val="222222"/>
              </a:solidFill>
            </a:endParaRPr>
          </a:p>
        </p:txBody>
      </p:sp>
      <p:sp>
        <p:nvSpPr>
          <p:cNvPr id="1041" name="Google Shape;1041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042" name="Google Shape;1042;p84"/>
          <p:cNvSpPr txBox="1"/>
          <p:nvPr/>
        </p:nvSpPr>
        <p:spPr>
          <a:xfrm>
            <a:off x="324000" y="2387700"/>
            <a:ext cx="1578600" cy="14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 sz="22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2}{3}&quot;&gt;&lt;mfrac&gt;&lt;mn&gt;2&lt;/mn&gt;&lt;mn&gt;3&lt;/mn&gt;&lt;/mfrac&gt;&lt;/math&gt;" id="1043" name="Google Shape;1043;p84" title="two thirds"/>
          <p:cNvSpPr txBox="1"/>
          <p:nvPr/>
        </p:nvSpPr>
        <p:spPr>
          <a:xfrm>
            <a:off x="1978800" y="2303800"/>
            <a:ext cx="1702200" cy="13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+ 1= 0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0 =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 + y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5 </a:t>
            </a:r>
            <a:endParaRPr sz="2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4" name="Google Shape;1044;p84"/>
          <p:cNvSpPr txBox="1"/>
          <p:nvPr/>
        </p:nvSpPr>
        <p:spPr>
          <a:xfrm>
            <a:off x="5188950" y="2387700"/>
            <a:ext cx="19521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Non- examples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y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3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2}{3}&quot;&gt;&lt;mfrac&gt;&lt;mn&gt;2&lt;/mn&gt;&lt;mn&gt;3&lt;/mn&gt;&lt;/mfrac&gt;&lt;/math&gt;" id="1045" name="Google Shape;1045;p84" title="two thirds"/>
          <p:cNvSpPr txBox="1"/>
          <p:nvPr/>
        </p:nvSpPr>
        <p:spPr>
          <a:xfrm>
            <a:off x="7070775" y="2387700"/>
            <a:ext cx="17022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10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 = 1</a:t>
            </a:r>
            <a:endParaRPr sz="2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6" name="Google Shape;1046;p84"/>
          <p:cNvSpPr txBox="1"/>
          <p:nvPr>
            <p:ph idx="1" type="body"/>
          </p:nvPr>
        </p:nvSpPr>
        <p:spPr>
          <a:xfrm>
            <a:off x="324000" y="810000"/>
            <a:ext cx="8237700" cy="4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</a:rPr>
              <a:t>We often see equations of </a:t>
            </a:r>
            <a:r>
              <a:rPr lang="en-GB" sz="1900">
                <a:solidFill>
                  <a:srgbClr val="222222"/>
                </a:solidFill>
              </a:rPr>
              <a:t>straight</a:t>
            </a:r>
            <a:r>
              <a:rPr lang="en-GB" sz="1900">
                <a:solidFill>
                  <a:srgbClr val="222222"/>
                </a:solidFill>
              </a:rPr>
              <a:t> lines written in the form </a:t>
            </a:r>
            <a:r>
              <a:rPr i="1"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= m</a:t>
            </a:r>
            <a:r>
              <a:rPr i="1"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c </a:t>
            </a:r>
            <a:endParaRPr sz="1900">
              <a:solidFill>
                <a:srgbClr val="222222"/>
              </a:solidFill>
            </a:endParaRPr>
          </a:p>
        </p:txBody>
      </p:sp>
      <p:sp>
        <p:nvSpPr>
          <p:cNvPr id="1047" name="Google Shape;1047;p84"/>
          <p:cNvSpPr txBox="1"/>
          <p:nvPr>
            <p:ph idx="1" type="body"/>
          </p:nvPr>
        </p:nvSpPr>
        <p:spPr>
          <a:xfrm>
            <a:off x="324000" y="4208700"/>
            <a:ext cx="8237700" cy="4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Notice all the equations have been made equal to 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85"/>
          <p:cNvSpPr/>
          <p:nvPr/>
        </p:nvSpPr>
        <p:spPr>
          <a:xfrm>
            <a:off x="2509700" y="1918625"/>
            <a:ext cx="72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53" name="Google Shape;1053;p85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use bar models to help write equations in the required form.</a:t>
            </a:r>
            <a:endParaRPr sz="2000"/>
          </a:p>
        </p:txBody>
      </p:sp>
      <p:sp>
        <p:nvSpPr>
          <p:cNvPr id="1054" name="Google Shape;105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055" name="Google Shape;1055;p85"/>
          <p:cNvSpPr txBox="1"/>
          <p:nvPr>
            <p:ph idx="1" type="body"/>
          </p:nvPr>
        </p:nvSpPr>
        <p:spPr>
          <a:xfrm>
            <a:off x="324000" y="2521050"/>
            <a:ext cx="84960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we want to write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056" name="Google Shape;1056;p85"/>
          <p:cNvSpPr/>
          <p:nvPr/>
        </p:nvSpPr>
        <p:spPr>
          <a:xfrm>
            <a:off x="324050" y="1530725"/>
            <a:ext cx="29058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i="1"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57" name="Google Shape;1057;p85"/>
          <p:cNvSpPr/>
          <p:nvPr/>
        </p:nvSpPr>
        <p:spPr>
          <a:xfrm>
            <a:off x="324050" y="1918625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58" name="Google Shape;1058;p85"/>
          <p:cNvSpPr/>
          <p:nvPr/>
        </p:nvSpPr>
        <p:spPr>
          <a:xfrm>
            <a:off x="2509700" y="1918625"/>
            <a:ext cx="720000" cy="38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85"/>
          <p:cNvSpPr/>
          <p:nvPr/>
        </p:nvSpPr>
        <p:spPr>
          <a:xfrm>
            <a:off x="867350" y="1918625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0" name="Google Shape;1060;p85"/>
          <p:cNvSpPr/>
          <p:nvPr/>
        </p:nvSpPr>
        <p:spPr>
          <a:xfrm>
            <a:off x="1414800" y="1918625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1" name="Google Shape;1061;p85"/>
          <p:cNvSpPr/>
          <p:nvPr/>
        </p:nvSpPr>
        <p:spPr>
          <a:xfrm>
            <a:off x="1962250" y="1918625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2" name="Google Shape;1062;p85"/>
          <p:cNvSpPr txBox="1"/>
          <p:nvPr>
            <p:ph idx="1" type="body"/>
          </p:nvPr>
        </p:nvSpPr>
        <p:spPr>
          <a:xfrm>
            <a:off x="324000" y="2899050"/>
            <a:ext cx="8142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y = </a:t>
            </a:r>
            <a:endParaRPr/>
          </a:p>
        </p:txBody>
      </p:sp>
      <p:sp>
        <p:nvSpPr>
          <p:cNvPr id="1063" name="Google Shape;1063;p85"/>
          <p:cNvSpPr txBox="1"/>
          <p:nvPr>
            <p:ph idx="1" type="body"/>
          </p:nvPr>
        </p:nvSpPr>
        <p:spPr>
          <a:xfrm>
            <a:off x="778550" y="2899050"/>
            <a:ext cx="8142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</a:t>
            </a:r>
            <a:endParaRPr/>
          </a:p>
        </p:txBody>
      </p:sp>
      <p:sp>
        <p:nvSpPr>
          <p:cNvPr id="1064" name="Google Shape;1064;p85"/>
          <p:cNvSpPr/>
          <p:nvPr/>
        </p:nvSpPr>
        <p:spPr>
          <a:xfrm>
            <a:off x="328200" y="1918625"/>
            <a:ext cx="2174100" cy="38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85"/>
          <p:cNvSpPr txBox="1"/>
          <p:nvPr>
            <p:ph idx="1" type="body"/>
          </p:nvPr>
        </p:nvSpPr>
        <p:spPr>
          <a:xfrm>
            <a:off x="1106600" y="2899050"/>
            <a:ext cx="8142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+ 5</a:t>
            </a:r>
            <a:endParaRPr/>
          </a:p>
        </p:txBody>
      </p:sp>
      <p:sp>
        <p:nvSpPr>
          <p:cNvPr id="1066" name="Google Shape;1066;p85"/>
          <p:cNvSpPr txBox="1"/>
          <p:nvPr>
            <p:ph idx="1" type="body"/>
          </p:nvPr>
        </p:nvSpPr>
        <p:spPr>
          <a:xfrm>
            <a:off x="324000" y="338175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we want to write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ay + bx + c =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0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067" name="Google Shape;1067;p85"/>
          <p:cNvSpPr txBox="1"/>
          <p:nvPr>
            <p:ph idx="1" type="body"/>
          </p:nvPr>
        </p:nvSpPr>
        <p:spPr>
          <a:xfrm>
            <a:off x="324000" y="3879475"/>
            <a:ext cx="8142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</a:t>
            </a:r>
            <a:endParaRPr/>
          </a:p>
        </p:txBody>
      </p:sp>
      <p:sp>
        <p:nvSpPr>
          <p:cNvPr id="1068" name="Google Shape;1068;p85"/>
          <p:cNvSpPr txBox="1"/>
          <p:nvPr>
            <p:ph idx="1" type="body"/>
          </p:nvPr>
        </p:nvSpPr>
        <p:spPr>
          <a:xfrm>
            <a:off x="633625" y="3879475"/>
            <a:ext cx="8142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+ 5</a:t>
            </a:r>
            <a:endParaRPr/>
          </a:p>
        </p:txBody>
      </p:sp>
      <p:sp>
        <p:nvSpPr>
          <p:cNvPr id="1069" name="Google Shape;1069;p85"/>
          <p:cNvSpPr txBox="1"/>
          <p:nvPr>
            <p:ph idx="1" type="body"/>
          </p:nvPr>
        </p:nvSpPr>
        <p:spPr>
          <a:xfrm>
            <a:off x="1008150" y="3879475"/>
            <a:ext cx="8142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endParaRPr i="1" sz="1800"/>
          </a:p>
        </p:txBody>
      </p:sp>
      <p:sp>
        <p:nvSpPr>
          <p:cNvPr id="1070" name="Google Shape;1070;p85"/>
          <p:cNvSpPr txBox="1"/>
          <p:nvPr>
            <p:ph idx="1" type="body"/>
          </p:nvPr>
        </p:nvSpPr>
        <p:spPr>
          <a:xfrm>
            <a:off x="1446000" y="3879475"/>
            <a:ext cx="8142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= 0 </a:t>
            </a:r>
            <a:endParaRPr i="1" sz="1800"/>
          </a:p>
        </p:txBody>
      </p:sp>
      <p:sp>
        <p:nvSpPr>
          <p:cNvPr id="1071" name="Google Shape;1071;p85"/>
          <p:cNvSpPr txBox="1"/>
          <p:nvPr>
            <p:ph idx="1" type="body"/>
          </p:nvPr>
        </p:nvSpPr>
        <p:spPr>
          <a:xfrm>
            <a:off x="324000" y="4337550"/>
            <a:ext cx="26694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</a:t>
            </a:r>
            <a:r>
              <a:rPr lang="en-GB"/>
              <a:t>r 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5 = 0 </a:t>
            </a:r>
            <a:endParaRPr i="1"/>
          </a:p>
        </p:txBody>
      </p:sp>
      <p:sp>
        <p:nvSpPr>
          <p:cNvPr id="1072" name="Google Shape;1072;p85"/>
          <p:cNvSpPr/>
          <p:nvPr/>
        </p:nvSpPr>
        <p:spPr>
          <a:xfrm>
            <a:off x="324000" y="1530725"/>
            <a:ext cx="2905800" cy="38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86"/>
          <p:cNvSpPr txBox="1"/>
          <p:nvPr>
            <p:ph idx="1" type="body"/>
          </p:nvPr>
        </p:nvSpPr>
        <p:spPr>
          <a:xfrm>
            <a:off x="361625" y="759300"/>
            <a:ext cx="740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What would the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</a:rPr>
              <a:t>-intercept be for the graph of the equation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x −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 sz="2000">
                <a:solidFill>
                  <a:srgbClr val="222222"/>
                </a:solidFill>
              </a:rPr>
              <a:t> ?</a:t>
            </a:r>
            <a:r>
              <a:rPr lang="en-GB" sz="2000">
                <a:solidFill>
                  <a:srgbClr val="222222"/>
                </a:solidFill>
              </a:rPr>
              <a:t> </a:t>
            </a:r>
            <a:endParaRPr sz="2000">
              <a:solidFill>
                <a:srgbClr val="222222"/>
              </a:solidFill>
            </a:endParaRPr>
          </a:p>
        </p:txBody>
      </p:sp>
      <p:sp>
        <p:nvSpPr>
          <p:cNvPr id="1078" name="Google Shape;107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079" name="Google Shape;1079;p86"/>
          <p:cNvSpPr txBox="1"/>
          <p:nvPr>
            <p:ph idx="1" type="body"/>
          </p:nvPr>
        </p:nvSpPr>
        <p:spPr>
          <a:xfrm>
            <a:off x="361625" y="3011400"/>
            <a:ext cx="8458500" cy="37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What value of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</a:rPr>
              <a:t> would make this statement true?</a:t>
            </a:r>
            <a:endParaRPr sz="2000">
              <a:solidFill>
                <a:srgbClr val="222222"/>
              </a:solidFill>
            </a:endParaRPr>
          </a:p>
        </p:txBody>
      </p:sp>
      <p:sp>
        <p:nvSpPr>
          <p:cNvPr id="1080" name="Google Shape;1080;p86"/>
          <p:cNvSpPr txBox="1"/>
          <p:nvPr>
            <p:ph idx="1" type="body"/>
          </p:nvPr>
        </p:nvSpPr>
        <p:spPr>
          <a:xfrm>
            <a:off x="361625" y="1518275"/>
            <a:ext cx="8201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S</a:t>
            </a:r>
            <a:r>
              <a:rPr lang="en-GB" sz="2000">
                <a:solidFill>
                  <a:srgbClr val="222222"/>
                </a:solidFill>
              </a:rPr>
              <a:t>ubstitute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 sz="2000">
                <a:solidFill>
                  <a:srgbClr val="222222"/>
                </a:solidFill>
              </a:rPr>
              <a:t> into the equation.</a:t>
            </a:r>
            <a:endParaRPr sz="2000">
              <a:solidFill>
                <a:srgbClr val="222222"/>
              </a:solidFill>
            </a:endParaRPr>
          </a:p>
        </p:txBody>
      </p:sp>
      <p:sp>
        <p:nvSpPr>
          <p:cNvPr id="1081" name="Google Shape;1081;p86"/>
          <p:cNvSpPr txBox="1"/>
          <p:nvPr>
            <p:ph idx="1" type="body"/>
          </p:nvPr>
        </p:nvSpPr>
        <p:spPr>
          <a:xfrm>
            <a:off x="361625" y="1972450"/>
            <a:ext cx="8201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(0)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10 = 0</a:t>
            </a:r>
            <a:r>
              <a:rPr lang="en-GB">
                <a:solidFill>
                  <a:srgbClr val="222222"/>
                </a:solidFill>
              </a:rPr>
              <a:t> </a:t>
            </a:r>
            <a:endParaRPr>
              <a:solidFill>
                <a:srgbClr val="222222"/>
              </a:solidFill>
            </a:endParaRPr>
          </a:p>
        </p:txBody>
      </p:sp>
      <p:sp>
        <p:nvSpPr>
          <p:cNvPr id="1082" name="Google Shape;1082;p86"/>
          <p:cNvSpPr txBox="1"/>
          <p:nvPr>
            <p:ph idx="1" type="body"/>
          </p:nvPr>
        </p:nvSpPr>
        <p:spPr>
          <a:xfrm>
            <a:off x="361625" y="2419975"/>
            <a:ext cx="8201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10 = 0 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3" name="Google Shape;1083;p86"/>
          <p:cNvSpPr txBox="1"/>
          <p:nvPr>
            <p:ph idx="1" type="body"/>
          </p:nvPr>
        </p:nvSpPr>
        <p:spPr>
          <a:xfrm>
            <a:off x="361625" y="3448550"/>
            <a:ext cx="8201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10</a:t>
            </a:r>
            <a:r>
              <a:rPr lang="en-GB">
                <a:solidFill>
                  <a:srgbClr val="222222"/>
                </a:solidFill>
              </a:rPr>
              <a:t> </a:t>
            </a:r>
            <a:endParaRPr>
              <a:solidFill>
                <a:srgbClr val="222222"/>
              </a:solidFill>
            </a:endParaRPr>
          </a:p>
        </p:txBody>
      </p:sp>
      <p:sp>
        <p:nvSpPr>
          <p:cNvPr id="1084" name="Google Shape;1084;p86"/>
          <p:cNvSpPr txBox="1"/>
          <p:nvPr>
            <p:ph idx="1" type="body"/>
          </p:nvPr>
        </p:nvSpPr>
        <p:spPr>
          <a:xfrm>
            <a:off x="361625" y="3999300"/>
            <a:ext cx="8201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The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</a:rPr>
              <a:t>-</a:t>
            </a:r>
            <a:r>
              <a:rPr lang="en-GB" sz="2000">
                <a:solidFill>
                  <a:srgbClr val="222222"/>
                </a:solidFill>
              </a:rPr>
              <a:t>intercept would be (0, 10) </a:t>
            </a:r>
            <a:endParaRPr sz="2000">
              <a:solidFill>
                <a:srgbClr val="22222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8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090" name="Google Shape;1090;p8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 out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 for each graph.</a:t>
            </a:r>
            <a:endParaRPr/>
          </a:p>
        </p:txBody>
      </p:sp>
      <p:sp>
        <p:nvSpPr>
          <p:cNvPr id="1091" name="Google Shape;1091;p87"/>
          <p:cNvSpPr txBox="1"/>
          <p:nvPr>
            <p:ph idx="1" type="subTitle"/>
          </p:nvPr>
        </p:nvSpPr>
        <p:spPr>
          <a:xfrm>
            <a:off x="1034425" y="4123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 + y </a:t>
            </a:r>
            <a:r>
              <a:rPr i="1"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0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2" name="Google Shape;1092;p8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i="1"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x + </a:t>
            </a: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i="1"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093" name="Google Shape;1093;p87"/>
          <p:cNvSpPr txBox="1"/>
          <p:nvPr>
            <p:ph idx="4" type="subTitle"/>
          </p:nvPr>
        </p:nvSpPr>
        <p:spPr>
          <a:xfrm>
            <a:off x="1034425" y="1684125"/>
            <a:ext cx="6357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y + x </a:t>
            </a:r>
            <a:r>
              <a:rPr i="1"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i="1"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094" name="Google Shape;1094;p87"/>
          <p:cNvSpPr txBox="1"/>
          <p:nvPr>
            <p:ph idx="5" type="subTitle"/>
          </p:nvPr>
        </p:nvSpPr>
        <p:spPr>
          <a:xfrm>
            <a:off x="1034425" y="3275625"/>
            <a:ext cx="52224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i="1"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 x </a:t>
            </a:r>
            <a:r>
              <a:rPr i="1"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5</a:t>
            </a:r>
            <a:r>
              <a:rPr i="1"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095" name="Google Shape;1095;p87"/>
          <p:cNvSpPr txBox="1"/>
          <p:nvPr>
            <p:ph idx="4294967295" type="body"/>
          </p:nvPr>
        </p:nvSpPr>
        <p:spPr>
          <a:xfrm>
            <a:off x="4320000" y="1686075"/>
            <a:ext cx="3343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he</a:t>
            </a:r>
            <a:r>
              <a:rPr lang="en-GB">
                <a:solidFill>
                  <a:srgbClr val="222222"/>
                </a:solidFill>
              </a:rPr>
              <a:t> 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solidFill>
                  <a:srgbClr val="222222"/>
                </a:solidFill>
              </a:rPr>
              <a:t>-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intercept is (0, 1)</a:t>
            </a:r>
            <a:r>
              <a:rPr lang="en-GB">
                <a:solidFill>
                  <a:srgbClr val="222222"/>
                </a:solidFill>
              </a:rPr>
              <a:t> </a:t>
            </a:r>
            <a:endParaRPr>
              <a:solidFill>
                <a:srgbClr val="222222"/>
              </a:solidFill>
            </a:endParaRPr>
          </a:p>
        </p:txBody>
      </p:sp>
      <p:sp>
        <p:nvSpPr>
          <p:cNvPr id="1096" name="Google Shape;1096;p87"/>
          <p:cNvSpPr txBox="1"/>
          <p:nvPr>
            <p:ph idx="4294967295" type="body"/>
          </p:nvPr>
        </p:nvSpPr>
        <p:spPr>
          <a:xfrm>
            <a:off x="4320000" y="2481825"/>
            <a:ext cx="3343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he</a:t>
            </a:r>
            <a:r>
              <a:rPr lang="en-GB">
                <a:solidFill>
                  <a:srgbClr val="222222"/>
                </a:solidFill>
              </a:rPr>
              <a:t> 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solidFill>
                  <a:srgbClr val="222222"/>
                </a:solidFill>
              </a:rPr>
              <a:t>-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intercept is (0, 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−12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r>
              <a:rPr lang="en-GB">
                <a:solidFill>
                  <a:srgbClr val="222222"/>
                </a:solidFill>
              </a:rPr>
              <a:t> </a:t>
            </a:r>
            <a:endParaRPr>
              <a:solidFill>
                <a:srgbClr val="222222"/>
              </a:solidFill>
            </a:endParaRPr>
          </a:p>
        </p:txBody>
      </p:sp>
      <p:sp>
        <p:nvSpPr>
          <p:cNvPr id="1097" name="Google Shape;1097;p87"/>
          <p:cNvSpPr txBox="1"/>
          <p:nvPr>
            <p:ph idx="4294967295" type="body"/>
          </p:nvPr>
        </p:nvSpPr>
        <p:spPr>
          <a:xfrm>
            <a:off x="4320000" y="3340813"/>
            <a:ext cx="3343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he</a:t>
            </a:r>
            <a:r>
              <a:rPr lang="en-GB">
                <a:solidFill>
                  <a:srgbClr val="222222"/>
                </a:solidFill>
              </a:rPr>
              <a:t> 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solidFill>
                  <a:srgbClr val="222222"/>
                </a:solidFill>
              </a:rPr>
              <a:t>-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intercept is (0, −5)</a:t>
            </a:r>
            <a:r>
              <a:rPr lang="en-GB">
                <a:solidFill>
                  <a:srgbClr val="222222"/>
                </a:solidFill>
              </a:rPr>
              <a:t> </a:t>
            </a:r>
            <a:endParaRPr>
              <a:solidFill>
                <a:srgbClr val="222222"/>
              </a:solidFill>
            </a:endParaRPr>
          </a:p>
        </p:txBody>
      </p:sp>
      <p:sp>
        <p:nvSpPr>
          <p:cNvPr id="1098" name="Google Shape;1098;p87"/>
          <p:cNvSpPr txBox="1"/>
          <p:nvPr>
            <p:ph idx="4294967295" type="body"/>
          </p:nvPr>
        </p:nvSpPr>
        <p:spPr>
          <a:xfrm>
            <a:off x="4320000" y="4123788"/>
            <a:ext cx="3343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he</a:t>
            </a:r>
            <a:r>
              <a:rPr lang="en-GB">
                <a:solidFill>
                  <a:srgbClr val="222222"/>
                </a:solidFill>
              </a:rPr>
              <a:t> 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solidFill>
                  <a:srgbClr val="222222"/>
                </a:solidFill>
              </a:rPr>
              <a:t>-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intercept is (0, 3)</a:t>
            </a:r>
            <a:r>
              <a:rPr lang="en-GB">
                <a:solidFill>
                  <a:srgbClr val="222222"/>
                </a:solidFill>
              </a:rPr>
              <a:t> </a:t>
            </a:r>
            <a:endParaRPr>
              <a:solidFill>
                <a:srgbClr val="22222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88"/>
          <p:cNvPicPr preferRelativeResize="0"/>
          <p:nvPr/>
        </p:nvPicPr>
        <p:blipFill rotWithShape="1">
          <a:blip r:embed="rId3">
            <a:alphaModFix/>
          </a:blip>
          <a:srcRect b="0" l="0" r="4725" t="0"/>
          <a:stretch/>
        </p:blipFill>
        <p:spPr>
          <a:xfrm>
            <a:off x="324000" y="2678225"/>
            <a:ext cx="3456326" cy="21604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04" name="Google Shape;1104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105" name="Google Shape;1105;p88"/>
          <p:cNvSpPr txBox="1"/>
          <p:nvPr>
            <p:ph idx="1" type="body"/>
          </p:nvPr>
        </p:nvSpPr>
        <p:spPr>
          <a:xfrm>
            <a:off x="324000" y="810000"/>
            <a:ext cx="8237700" cy="5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use a similar idea to find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/>
              <a:t>intercepts of the graph.</a:t>
            </a:r>
            <a:endParaRPr sz="2000"/>
          </a:p>
        </p:txBody>
      </p:sp>
      <p:pic>
        <p:nvPicPr>
          <p:cNvPr id="1106" name="Google Shape;1106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999" y="2678225"/>
            <a:ext cx="3494324" cy="21604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07" name="Google Shape;1107;p88"/>
          <p:cNvSpPr txBox="1"/>
          <p:nvPr>
            <p:ph idx="1" type="body"/>
          </p:nvPr>
        </p:nvSpPr>
        <p:spPr>
          <a:xfrm>
            <a:off x="324000" y="1461300"/>
            <a:ext cx="8237700" cy="5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</a:t>
            </a:r>
            <a:r>
              <a:rPr lang="en-GB" sz="2000"/>
              <a:t>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/>
              <a:t>intercept is where the graph crosses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/>
              <a:t>axis.</a:t>
            </a:r>
            <a:endParaRPr sz="2000"/>
          </a:p>
        </p:txBody>
      </p:sp>
      <p:sp>
        <p:nvSpPr>
          <p:cNvPr id="1108" name="Google Shape;1108;p88"/>
          <p:cNvSpPr txBox="1"/>
          <p:nvPr>
            <p:ph idx="1" type="body"/>
          </p:nvPr>
        </p:nvSpPr>
        <p:spPr>
          <a:xfrm>
            <a:off x="324000" y="2007600"/>
            <a:ext cx="8237700" cy="5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are the coordinates of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-intercepts for these </a:t>
            </a:r>
            <a:r>
              <a:rPr lang="en-GB" sz="2000"/>
              <a:t>graphs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109" name="Google Shape;1109;p88"/>
          <p:cNvSpPr txBox="1"/>
          <p:nvPr>
            <p:ph idx="1" type="body"/>
          </p:nvPr>
        </p:nvSpPr>
        <p:spPr>
          <a:xfrm>
            <a:off x="4320000" y="2659925"/>
            <a:ext cx="4394100" cy="5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do you notice?</a:t>
            </a:r>
            <a:endParaRPr sz="2000"/>
          </a:p>
        </p:txBody>
      </p:sp>
      <p:sp>
        <p:nvSpPr>
          <p:cNvPr id="1110" name="Google Shape;1110;p88"/>
          <p:cNvSpPr txBox="1"/>
          <p:nvPr>
            <p:ph idx="1" type="body"/>
          </p:nvPr>
        </p:nvSpPr>
        <p:spPr>
          <a:xfrm>
            <a:off x="4320000" y="3205200"/>
            <a:ext cx="4394100" cy="5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intercepts have a</a:t>
            </a:r>
            <a:r>
              <a:rPr lang="en-GB" sz="2000"/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value of 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116" name="Google Shape;1116;p89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Where would the graph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x −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 </a:t>
            </a:r>
            <a:r>
              <a:rPr lang="en-GB" sz="2000">
                <a:solidFill>
                  <a:srgbClr val="222222"/>
                </a:solidFill>
              </a:rPr>
              <a:t>cross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/>
              <a:t>axis</a:t>
            </a:r>
            <a:r>
              <a:rPr lang="en-GB" sz="2000">
                <a:solidFill>
                  <a:srgbClr val="222222"/>
                </a:solidFill>
              </a:rPr>
              <a:t>? </a:t>
            </a:r>
            <a:endParaRPr sz="2000">
              <a:solidFill>
                <a:srgbClr val="222222"/>
              </a:solidFill>
            </a:endParaRPr>
          </a:p>
        </p:txBody>
      </p:sp>
      <p:sp>
        <p:nvSpPr>
          <p:cNvPr id="1117" name="Google Shape;1117;p89"/>
          <p:cNvSpPr txBox="1"/>
          <p:nvPr>
            <p:ph idx="1" type="body"/>
          </p:nvPr>
        </p:nvSpPr>
        <p:spPr>
          <a:xfrm>
            <a:off x="324000" y="3011400"/>
            <a:ext cx="8496000" cy="37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What value of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</a:rPr>
              <a:t> would make this statement true?</a:t>
            </a:r>
            <a:endParaRPr sz="2000">
              <a:solidFill>
                <a:srgbClr val="222222"/>
              </a:solidFill>
            </a:endParaRPr>
          </a:p>
        </p:txBody>
      </p:sp>
      <p:sp>
        <p:nvSpPr>
          <p:cNvPr id="1118" name="Google Shape;1118;p89"/>
          <p:cNvSpPr txBox="1"/>
          <p:nvPr>
            <p:ph idx="1" type="body"/>
          </p:nvPr>
        </p:nvSpPr>
        <p:spPr>
          <a:xfrm>
            <a:off x="324000" y="13914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Lines cross the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</a:rPr>
              <a:t>-</a:t>
            </a:r>
            <a:r>
              <a:rPr lang="en-GB" sz="2000">
                <a:solidFill>
                  <a:srgbClr val="222222"/>
                </a:solidFill>
              </a:rPr>
              <a:t>axis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0</a:t>
            </a:r>
            <a:r>
              <a:rPr lang="en-GB" sz="2000">
                <a:solidFill>
                  <a:srgbClr val="222222"/>
                </a:solidFill>
              </a:rPr>
              <a:t> so substitute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0</a:t>
            </a:r>
            <a:r>
              <a:rPr lang="en-GB" sz="2000">
                <a:solidFill>
                  <a:srgbClr val="222222"/>
                </a:solidFill>
              </a:rPr>
              <a:t> into the equation. </a:t>
            </a:r>
            <a:endParaRPr sz="2000">
              <a:solidFill>
                <a:srgbClr val="222222"/>
              </a:solidFill>
            </a:endParaRPr>
          </a:p>
        </p:txBody>
      </p:sp>
      <p:sp>
        <p:nvSpPr>
          <p:cNvPr id="1119" name="Google Shape;1119;p89"/>
          <p:cNvSpPr txBox="1"/>
          <p:nvPr>
            <p:ph idx="1" type="body"/>
          </p:nvPr>
        </p:nvSpPr>
        <p:spPr>
          <a:xfrm>
            <a:off x="324000" y="212485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(0)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− 5 = 0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20" name="Google Shape;1120;p89"/>
          <p:cNvSpPr txBox="1"/>
          <p:nvPr>
            <p:ph idx="1" type="body"/>
          </p:nvPr>
        </p:nvSpPr>
        <p:spPr>
          <a:xfrm>
            <a:off x="324000" y="2572375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− 5 = 0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21" name="Google Shape;1121;p89"/>
          <p:cNvSpPr txBox="1"/>
          <p:nvPr>
            <p:ph idx="1" type="body"/>
          </p:nvPr>
        </p:nvSpPr>
        <p:spPr>
          <a:xfrm>
            <a:off x="324000" y="344855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5</a:t>
            </a:r>
            <a:r>
              <a:rPr lang="en-GB" sz="2000">
                <a:solidFill>
                  <a:srgbClr val="222222"/>
                </a:solidFill>
              </a:rPr>
              <a:t> </a:t>
            </a:r>
            <a:endParaRPr sz="2000">
              <a:solidFill>
                <a:srgbClr val="222222"/>
              </a:solidFill>
            </a:endParaRPr>
          </a:p>
        </p:txBody>
      </p:sp>
      <p:sp>
        <p:nvSpPr>
          <p:cNvPr id="1122" name="Google Shape;1122;p89"/>
          <p:cNvSpPr txBox="1"/>
          <p:nvPr>
            <p:ph idx="1" type="body"/>
          </p:nvPr>
        </p:nvSpPr>
        <p:spPr>
          <a:xfrm>
            <a:off x="324000" y="399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The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</a:rPr>
              <a:t>-</a:t>
            </a:r>
            <a:r>
              <a:rPr lang="en-GB" sz="2000">
                <a:solidFill>
                  <a:srgbClr val="222222"/>
                </a:solidFill>
              </a:rPr>
              <a:t>intercept would be (5, 0) </a:t>
            </a:r>
            <a:endParaRPr sz="2000">
              <a:solidFill>
                <a:srgbClr val="22222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9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-</a:t>
            </a:r>
            <a:r>
              <a:rPr lang="en-GB"/>
              <a:t>intercepts for these graphs?</a:t>
            </a:r>
            <a:endParaRPr/>
          </a:p>
        </p:txBody>
      </p:sp>
      <p:sp>
        <p:nvSpPr>
          <p:cNvPr id="1128" name="Google Shape;1128;p9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129" name="Google Shape;1129;p9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y + x 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130" name="Google Shape;1130;p9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x +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131" name="Google Shape;1131;p9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x + y 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132" name="Google Shape;1132;p90"/>
          <p:cNvSpPr txBox="1"/>
          <p:nvPr>
            <p:ph idx="4294967295" type="body"/>
          </p:nvPr>
        </p:nvSpPr>
        <p:spPr>
          <a:xfrm>
            <a:off x="4320000" y="1837775"/>
            <a:ext cx="3343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he</a:t>
            </a:r>
            <a:r>
              <a:rPr lang="en-GB">
                <a:solidFill>
                  <a:srgbClr val="222222"/>
                </a:solidFill>
              </a:rPr>
              <a:t> 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</a:rPr>
              <a:t>-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intercept is (1, 0)</a:t>
            </a:r>
            <a:r>
              <a:rPr lang="en-GB">
                <a:solidFill>
                  <a:srgbClr val="222222"/>
                </a:solidFill>
              </a:rPr>
              <a:t> </a:t>
            </a:r>
            <a:endParaRPr>
              <a:solidFill>
                <a:srgbClr val="222222"/>
              </a:solidFill>
            </a:endParaRPr>
          </a:p>
        </p:txBody>
      </p:sp>
      <p:sp>
        <p:nvSpPr>
          <p:cNvPr id="1133" name="Google Shape;1133;p90"/>
          <p:cNvSpPr txBox="1"/>
          <p:nvPr>
            <p:ph idx="4294967295" type="body"/>
          </p:nvPr>
        </p:nvSpPr>
        <p:spPr>
          <a:xfrm>
            <a:off x="4320000" y="2794247"/>
            <a:ext cx="3343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he</a:t>
            </a:r>
            <a:r>
              <a:rPr lang="en-GB">
                <a:solidFill>
                  <a:srgbClr val="222222"/>
                </a:solidFill>
              </a:rPr>
              <a:t> 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</a:rPr>
              <a:t>-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intercept is (−12, 0)</a:t>
            </a:r>
            <a:r>
              <a:rPr lang="en-GB">
                <a:solidFill>
                  <a:srgbClr val="222222"/>
                </a:solidFill>
              </a:rPr>
              <a:t> </a:t>
            </a:r>
            <a:endParaRPr>
              <a:solidFill>
                <a:srgbClr val="222222"/>
              </a:solidFill>
            </a:endParaRPr>
          </a:p>
        </p:txBody>
      </p:sp>
      <p:sp>
        <p:nvSpPr>
          <p:cNvPr id="1134" name="Google Shape;1134;p90"/>
          <p:cNvSpPr txBox="1"/>
          <p:nvPr>
            <p:ph idx="4294967295" type="body"/>
          </p:nvPr>
        </p:nvSpPr>
        <p:spPr>
          <a:xfrm>
            <a:off x="4320000" y="3766965"/>
            <a:ext cx="3343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he</a:t>
            </a:r>
            <a:r>
              <a:rPr lang="en-GB">
                <a:solidFill>
                  <a:srgbClr val="222222"/>
                </a:solidFill>
              </a:rPr>
              <a:t> 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</a:rPr>
              <a:t>-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intercept is (3, 0)</a:t>
            </a:r>
            <a:r>
              <a:rPr lang="en-GB">
                <a:solidFill>
                  <a:srgbClr val="222222"/>
                </a:solidFill>
              </a:rPr>
              <a:t> </a:t>
            </a:r>
            <a:endParaRPr>
              <a:solidFill>
                <a:srgbClr val="22222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9" name="Google Shape;113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2100" y="1619675"/>
            <a:ext cx="2104100" cy="20372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40" name="Google Shape;1140;p91"/>
          <p:cNvSpPr txBox="1"/>
          <p:nvPr>
            <p:ph idx="1" type="subTitle"/>
          </p:nvPr>
        </p:nvSpPr>
        <p:spPr>
          <a:xfrm>
            <a:off x="337825" y="810000"/>
            <a:ext cx="39822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Draw the graph with equation        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x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141" name="Google Shape;114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142" name="Google Shape;1142;p91"/>
          <p:cNvSpPr txBox="1"/>
          <p:nvPr>
            <p:ph idx="4294967295" type="body"/>
          </p:nvPr>
        </p:nvSpPr>
        <p:spPr>
          <a:xfrm>
            <a:off x="337825" y="1620000"/>
            <a:ext cx="2605800" cy="37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solidFill>
                  <a:srgbClr val="222222"/>
                </a:solidFill>
              </a:rPr>
              <a:t>-</a:t>
            </a:r>
            <a:r>
              <a:rPr lang="en-GB" sz="1800">
                <a:solidFill>
                  <a:srgbClr val="222222"/>
                </a:solidFill>
              </a:rPr>
              <a:t>intercept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143" name="Google Shape;1143;p91"/>
          <p:cNvSpPr txBox="1"/>
          <p:nvPr>
            <p:ph idx="4294967295" type="body"/>
          </p:nvPr>
        </p:nvSpPr>
        <p:spPr>
          <a:xfrm>
            <a:off x="337825" y="2057150"/>
            <a:ext cx="1826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(0)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3 = 0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4" name="Google Shape;1144;p91"/>
          <p:cNvSpPr txBox="1"/>
          <p:nvPr>
            <p:ph idx="4294967295" type="body"/>
          </p:nvPr>
        </p:nvSpPr>
        <p:spPr>
          <a:xfrm>
            <a:off x="337825" y="2527728"/>
            <a:ext cx="1826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−3</a:t>
            </a:r>
            <a:r>
              <a:rPr lang="en-GB" sz="1800">
                <a:solidFill>
                  <a:srgbClr val="222222"/>
                </a:solidFill>
              </a:rPr>
              <a:t>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145" name="Google Shape;1145;p91"/>
          <p:cNvSpPr txBox="1"/>
          <p:nvPr>
            <p:ph idx="4294967295" type="body"/>
          </p:nvPr>
        </p:nvSpPr>
        <p:spPr>
          <a:xfrm>
            <a:off x="337825" y="2919303"/>
            <a:ext cx="1826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(0, </a:t>
            </a:r>
            <a:r>
              <a:rPr lang="en-GB" sz="1800">
                <a:solidFill>
                  <a:srgbClr val="222222"/>
                </a:solidFill>
              </a:rPr>
              <a:t>−3</a:t>
            </a:r>
            <a:r>
              <a:rPr lang="en-GB" sz="1800">
                <a:solidFill>
                  <a:srgbClr val="222222"/>
                </a:solidFill>
              </a:rPr>
              <a:t>)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146" name="Google Shape;1146;p91"/>
          <p:cNvSpPr txBox="1"/>
          <p:nvPr>
            <p:ph idx="4294967295" type="body"/>
          </p:nvPr>
        </p:nvSpPr>
        <p:spPr>
          <a:xfrm>
            <a:off x="324000" y="3352475"/>
            <a:ext cx="2605800" cy="37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</a:rPr>
              <a:t>-</a:t>
            </a:r>
            <a:r>
              <a:rPr lang="en-GB" sz="1800">
                <a:solidFill>
                  <a:srgbClr val="222222"/>
                </a:solidFill>
              </a:rPr>
              <a:t>intercept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147" name="Google Shape;1147;p91"/>
          <p:cNvSpPr txBox="1"/>
          <p:nvPr>
            <p:ph idx="4294967295" type="body"/>
          </p:nvPr>
        </p:nvSpPr>
        <p:spPr>
          <a:xfrm>
            <a:off x="324000" y="3721975"/>
            <a:ext cx="3982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(0)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3 = 0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8" name="Google Shape;1148;p91"/>
          <p:cNvSpPr txBox="1"/>
          <p:nvPr>
            <p:ph idx="4294967295" type="body"/>
          </p:nvPr>
        </p:nvSpPr>
        <p:spPr>
          <a:xfrm>
            <a:off x="324000" y="4157150"/>
            <a:ext cx="2563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</a:t>
            </a:r>
            <a:r>
              <a:rPr lang="en-GB" sz="1800">
                <a:solidFill>
                  <a:srgbClr val="222222"/>
                </a:solidFill>
              </a:rPr>
              <a:t>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149" name="Google Shape;1149;p91"/>
          <p:cNvSpPr txBox="1"/>
          <p:nvPr>
            <p:ph idx="4294967295" type="body"/>
          </p:nvPr>
        </p:nvSpPr>
        <p:spPr>
          <a:xfrm>
            <a:off x="337825" y="4524678"/>
            <a:ext cx="1826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(</a:t>
            </a:r>
            <a:r>
              <a:rPr lang="en-GB" sz="1800">
                <a:solidFill>
                  <a:srgbClr val="222222"/>
                </a:solidFill>
              </a:rPr>
              <a:t>−3</a:t>
            </a:r>
            <a:r>
              <a:rPr lang="en-GB" sz="1800">
                <a:solidFill>
                  <a:srgbClr val="222222"/>
                </a:solidFill>
              </a:rPr>
              <a:t>, 0)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150" name="Google Shape;1150;p91"/>
          <p:cNvSpPr/>
          <p:nvPr/>
        </p:nvSpPr>
        <p:spPr>
          <a:xfrm>
            <a:off x="2561360" y="2451021"/>
            <a:ext cx="339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91"/>
          <p:cNvSpPr/>
          <p:nvPr/>
        </p:nvSpPr>
        <p:spPr>
          <a:xfrm>
            <a:off x="3111283" y="2990755"/>
            <a:ext cx="339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2" name="Google Shape;1152;p91"/>
          <p:cNvCxnSpPr/>
          <p:nvPr/>
        </p:nvCxnSpPr>
        <p:spPr>
          <a:xfrm>
            <a:off x="2192323" y="2086902"/>
            <a:ext cx="1595100" cy="1602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3" name="Google Shape;1153;p91"/>
          <p:cNvSpPr txBox="1"/>
          <p:nvPr>
            <p:ph idx="1" type="subTitle"/>
          </p:nvPr>
        </p:nvSpPr>
        <p:spPr>
          <a:xfrm>
            <a:off x="4833625" y="810000"/>
            <a:ext cx="39822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Draw the graph with equation        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x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pic>
        <p:nvPicPr>
          <p:cNvPr id="1154" name="Google Shape;115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1725" y="1627150"/>
            <a:ext cx="2104100" cy="20372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5" name="Google Shape;1155;p91"/>
          <p:cNvSpPr txBox="1"/>
          <p:nvPr>
            <p:ph idx="4294967295" type="body"/>
          </p:nvPr>
        </p:nvSpPr>
        <p:spPr>
          <a:xfrm>
            <a:off x="4847450" y="1627475"/>
            <a:ext cx="2605800" cy="37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solidFill>
                  <a:srgbClr val="222222"/>
                </a:solidFill>
              </a:rPr>
              <a:t>-</a:t>
            </a:r>
            <a:r>
              <a:rPr lang="en-GB" sz="1800">
                <a:solidFill>
                  <a:srgbClr val="222222"/>
                </a:solidFill>
              </a:rPr>
              <a:t>intercept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156" name="Google Shape;1156;p91"/>
          <p:cNvSpPr txBox="1"/>
          <p:nvPr>
            <p:ph idx="4294967295" type="body"/>
          </p:nvPr>
        </p:nvSpPr>
        <p:spPr>
          <a:xfrm>
            <a:off x="4847450" y="2064625"/>
            <a:ext cx="1826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(0)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 = 0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7" name="Google Shape;1157;p91"/>
          <p:cNvSpPr txBox="1"/>
          <p:nvPr>
            <p:ph idx="4294967295" type="body"/>
          </p:nvPr>
        </p:nvSpPr>
        <p:spPr>
          <a:xfrm>
            <a:off x="4847450" y="2535203"/>
            <a:ext cx="1826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−1</a:t>
            </a:r>
            <a:r>
              <a:rPr lang="en-GB" sz="1800">
                <a:solidFill>
                  <a:srgbClr val="222222"/>
                </a:solidFill>
              </a:rPr>
              <a:t>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158" name="Google Shape;1158;p91"/>
          <p:cNvSpPr txBox="1"/>
          <p:nvPr>
            <p:ph idx="4294967295" type="body"/>
          </p:nvPr>
        </p:nvSpPr>
        <p:spPr>
          <a:xfrm>
            <a:off x="4847450" y="2926778"/>
            <a:ext cx="1826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(0, −1)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159" name="Google Shape;1159;p91"/>
          <p:cNvSpPr txBox="1"/>
          <p:nvPr>
            <p:ph idx="4294967295" type="body"/>
          </p:nvPr>
        </p:nvSpPr>
        <p:spPr>
          <a:xfrm>
            <a:off x="4833625" y="3359950"/>
            <a:ext cx="2605800" cy="37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</a:rPr>
              <a:t>-</a:t>
            </a:r>
            <a:r>
              <a:rPr lang="en-GB" sz="1800">
                <a:solidFill>
                  <a:srgbClr val="222222"/>
                </a:solidFill>
              </a:rPr>
              <a:t>intercept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160" name="Google Shape;1160;p91"/>
          <p:cNvSpPr txBox="1"/>
          <p:nvPr>
            <p:ph idx="4294967295" type="body"/>
          </p:nvPr>
        </p:nvSpPr>
        <p:spPr>
          <a:xfrm>
            <a:off x="4833625" y="3729450"/>
            <a:ext cx="3982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(0)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 = 0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1" name="Google Shape;1161;p91"/>
          <p:cNvSpPr txBox="1"/>
          <p:nvPr>
            <p:ph idx="4294967295" type="body"/>
          </p:nvPr>
        </p:nvSpPr>
        <p:spPr>
          <a:xfrm>
            <a:off x="4833625" y="4164625"/>
            <a:ext cx="2563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−1</a:t>
            </a:r>
            <a:r>
              <a:rPr lang="en-GB" sz="1800">
                <a:solidFill>
                  <a:srgbClr val="222222"/>
                </a:solidFill>
              </a:rPr>
              <a:t>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162" name="Google Shape;1162;p91"/>
          <p:cNvSpPr txBox="1"/>
          <p:nvPr>
            <p:ph idx="4294967295" type="body"/>
          </p:nvPr>
        </p:nvSpPr>
        <p:spPr>
          <a:xfrm>
            <a:off x="4847450" y="4532153"/>
            <a:ext cx="1826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(−1, 0)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163" name="Google Shape;1163;p91"/>
          <p:cNvSpPr/>
          <p:nvPr/>
        </p:nvSpPr>
        <p:spPr>
          <a:xfrm>
            <a:off x="7446461" y="2447738"/>
            <a:ext cx="339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91"/>
          <p:cNvSpPr/>
          <p:nvPr/>
        </p:nvSpPr>
        <p:spPr>
          <a:xfrm>
            <a:off x="7620908" y="2617230"/>
            <a:ext cx="339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5" name="Google Shape;1165;p91"/>
          <p:cNvCxnSpPr/>
          <p:nvPr/>
        </p:nvCxnSpPr>
        <p:spPr>
          <a:xfrm>
            <a:off x="6711723" y="1751102"/>
            <a:ext cx="1945200" cy="1951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92"/>
          <p:cNvSpPr/>
          <p:nvPr/>
        </p:nvSpPr>
        <p:spPr>
          <a:xfrm>
            <a:off x="324000" y="1490400"/>
            <a:ext cx="6007800" cy="55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172" name="Google Shape;1172;p92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Let's</a:t>
            </a:r>
            <a:r>
              <a:rPr lang="en-GB" sz="1800">
                <a:solidFill>
                  <a:srgbClr val="222222"/>
                </a:solidFill>
              </a:rPr>
              <a:t> have a look at some graphs in the form</a:t>
            </a:r>
            <a:r>
              <a:rPr lang="en-GB" sz="1800">
                <a:solidFill>
                  <a:srgbClr val="222222"/>
                </a:solidFill>
              </a:rPr>
              <a:t>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bx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 </a:t>
            </a:r>
            <a:r>
              <a:rPr lang="en-GB" sz="1800">
                <a:solidFill>
                  <a:srgbClr val="222222"/>
                </a:solidFill>
              </a:rPr>
              <a:t>where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>
                <a:solidFill>
                  <a:srgbClr val="222222"/>
                </a:solidFill>
              </a:rPr>
              <a:t> and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800">
                <a:solidFill>
                  <a:srgbClr val="222222"/>
                </a:solidFill>
              </a:rPr>
              <a:t> are not 1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173" name="Google Shape;1173;p92"/>
          <p:cNvSpPr txBox="1"/>
          <p:nvPr>
            <p:ph idx="1" type="body"/>
          </p:nvPr>
        </p:nvSpPr>
        <p:spPr>
          <a:xfrm>
            <a:off x="705000" y="1620000"/>
            <a:ext cx="546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Draw the graph with equation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−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 sz="1800">
                <a:solidFill>
                  <a:srgbClr val="222222"/>
                </a:solidFill>
              </a:rPr>
              <a:t>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174" name="Google Shape;1174;p92"/>
          <p:cNvSpPr txBox="1"/>
          <p:nvPr>
            <p:ph idx="1" type="body"/>
          </p:nvPr>
        </p:nvSpPr>
        <p:spPr>
          <a:xfrm>
            <a:off x="324000" y="2569825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Lines cross the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solidFill>
                  <a:srgbClr val="222222"/>
                </a:solidFill>
              </a:rPr>
              <a:t>-</a:t>
            </a:r>
            <a:r>
              <a:rPr lang="en-GB" sz="1800">
                <a:solidFill>
                  <a:srgbClr val="222222"/>
                </a:solidFill>
              </a:rPr>
              <a:t>axis when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0</a:t>
            </a:r>
            <a:r>
              <a:rPr lang="en-GB" sz="1800">
                <a:solidFill>
                  <a:srgbClr val="222222"/>
                </a:solidFill>
              </a:rPr>
              <a:t> so substitute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0</a:t>
            </a:r>
            <a:r>
              <a:rPr lang="en-GB" sz="1800">
                <a:solidFill>
                  <a:srgbClr val="222222"/>
                </a:solidFill>
              </a:rPr>
              <a:t> into the equation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175" name="Google Shape;1175;p92"/>
          <p:cNvSpPr txBox="1"/>
          <p:nvPr>
            <p:ph idx="1" type="body"/>
          </p:nvPr>
        </p:nvSpPr>
        <p:spPr>
          <a:xfrm>
            <a:off x="324000" y="2986238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3(0) − 6 = 0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6" name="Google Shape;1176;p92"/>
          <p:cNvSpPr txBox="1"/>
          <p:nvPr>
            <p:ph idx="1" type="body"/>
          </p:nvPr>
        </p:nvSpPr>
        <p:spPr>
          <a:xfrm>
            <a:off x="324000" y="3490725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0 − 6 = 0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7" name="Google Shape;1177;p92"/>
          <p:cNvSpPr txBox="1"/>
          <p:nvPr>
            <p:ph idx="1" type="body"/>
          </p:nvPr>
        </p:nvSpPr>
        <p:spPr>
          <a:xfrm>
            <a:off x="324000" y="399825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− 6 = 0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8" name="Google Shape;1178;p92"/>
          <p:cNvSpPr txBox="1"/>
          <p:nvPr>
            <p:ph idx="1" type="body"/>
          </p:nvPr>
        </p:nvSpPr>
        <p:spPr>
          <a:xfrm>
            <a:off x="324000" y="44997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6 </a:t>
            </a:r>
            <a:r>
              <a:rPr lang="en-GB" sz="1800">
                <a:solidFill>
                  <a:srgbClr val="222222"/>
                </a:solidFill>
              </a:rPr>
              <a:t>because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(6) − 6 = 0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9" name="Google Shape;1179;p92"/>
          <p:cNvSpPr txBox="1"/>
          <p:nvPr>
            <p:ph idx="1" type="body"/>
          </p:nvPr>
        </p:nvSpPr>
        <p:spPr>
          <a:xfrm>
            <a:off x="324000" y="2102400"/>
            <a:ext cx="2605800" cy="37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solidFill>
                  <a:srgbClr val="222222"/>
                </a:solidFill>
              </a:rPr>
              <a:t>-</a:t>
            </a:r>
            <a:r>
              <a:rPr lang="en-GB" sz="1800">
                <a:solidFill>
                  <a:srgbClr val="222222"/>
                </a:solidFill>
              </a:rPr>
              <a:t>intercept </a:t>
            </a:r>
            <a:endParaRPr sz="1800">
              <a:solidFill>
                <a:srgbClr val="22222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185" name="Google Shape;1185;p93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This time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6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6" name="Google Shape;1186;p93"/>
          <p:cNvSpPr/>
          <p:nvPr/>
        </p:nvSpPr>
        <p:spPr>
          <a:xfrm>
            <a:off x="324000" y="1966200"/>
            <a:ext cx="162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7" name="Google Shape;1187;p93"/>
          <p:cNvSpPr txBox="1"/>
          <p:nvPr>
            <p:ph idx="1" type="body"/>
          </p:nvPr>
        </p:nvSpPr>
        <p:spPr>
          <a:xfrm>
            <a:off x="324000" y="129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What value for 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solidFill>
                  <a:srgbClr val="222222"/>
                </a:solidFill>
              </a:rPr>
              <a:t> would make this true?</a:t>
            </a:r>
            <a:endParaRPr>
              <a:solidFill>
                <a:srgbClr val="222222"/>
              </a:solidFill>
            </a:endParaRPr>
          </a:p>
        </p:txBody>
      </p:sp>
      <p:sp>
        <p:nvSpPr>
          <p:cNvPr id="1188" name="Google Shape;1188;p93"/>
          <p:cNvSpPr/>
          <p:nvPr/>
        </p:nvSpPr>
        <p:spPr>
          <a:xfrm>
            <a:off x="1944000" y="1966200"/>
            <a:ext cx="162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9" name="Google Shape;1189;p93"/>
          <p:cNvSpPr/>
          <p:nvPr/>
        </p:nvSpPr>
        <p:spPr>
          <a:xfrm>
            <a:off x="324000" y="2353800"/>
            <a:ext cx="324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6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0" name="Google Shape;1190;p93"/>
          <p:cNvSpPr/>
          <p:nvPr/>
        </p:nvSpPr>
        <p:spPr>
          <a:xfrm>
            <a:off x="4376200" y="1966200"/>
            <a:ext cx="162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1" name="Google Shape;1191;p93"/>
          <p:cNvSpPr/>
          <p:nvPr/>
        </p:nvSpPr>
        <p:spPr>
          <a:xfrm>
            <a:off x="5996200" y="1966200"/>
            <a:ext cx="162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2" name="Google Shape;1192;p93"/>
          <p:cNvSpPr/>
          <p:nvPr/>
        </p:nvSpPr>
        <p:spPr>
          <a:xfrm>
            <a:off x="4376200" y="2353800"/>
            <a:ext cx="54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3" name="Google Shape;1193;p93"/>
          <p:cNvSpPr/>
          <p:nvPr/>
        </p:nvSpPr>
        <p:spPr>
          <a:xfrm>
            <a:off x="4916200" y="2353800"/>
            <a:ext cx="54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4" name="Google Shape;1194;p93"/>
          <p:cNvSpPr/>
          <p:nvPr/>
        </p:nvSpPr>
        <p:spPr>
          <a:xfrm>
            <a:off x="5456200" y="2353800"/>
            <a:ext cx="54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5" name="Google Shape;1195;p93"/>
          <p:cNvSpPr/>
          <p:nvPr/>
        </p:nvSpPr>
        <p:spPr>
          <a:xfrm>
            <a:off x="5996200" y="2353800"/>
            <a:ext cx="54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6" name="Google Shape;1196;p93"/>
          <p:cNvSpPr/>
          <p:nvPr/>
        </p:nvSpPr>
        <p:spPr>
          <a:xfrm>
            <a:off x="6536200" y="2353800"/>
            <a:ext cx="54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7" name="Google Shape;1197;p93"/>
          <p:cNvSpPr/>
          <p:nvPr/>
        </p:nvSpPr>
        <p:spPr>
          <a:xfrm>
            <a:off x="7076200" y="2353800"/>
            <a:ext cx="54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8" name="Google Shape;1198;p93"/>
          <p:cNvSpPr txBox="1"/>
          <p:nvPr>
            <p:ph idx="1" type="body"/>
          </p:nvPr>
        </p:nvSpPr>
        <p:spPr>
          <a:xfrm>
            <a:off x="3897675" y="2110825"/>
            <a:ext cx="215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=</a:t>
            </a:r>
            <a:endParaRPr>
              <a:solidFill>
                <a:srgbClr val="222222"/>
              </a:solidFill>
            </a:endParaRPr>
          </a:p>
        </p:txBody>
      </p:sp>
      <p:sp>
        <p:nvSpPr>
          <p:cNvPr id="1199" name="Google Shape;1199;p93"/>
          <p:cNvSpPr/>
          <p:nvPr/>
        </p:nvSpPr>
        <p:spPr>
          <a:xfrm>
            <a:off x="4376200" y="3081250"/>
            <a:ext cx="162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0" name="Google Shape;1200;p93"/>
          <p:cNvSpPr/>
          <p:nvPr/>
        </p:nvSpPr>
        <p:spPr>
          <a:xfrm>
            <a:off x="4376200" y="3468850"/>
            <a:ext cx="54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1" name="Google Shape;1201;p93"/>
          <p:cNvSpPr/>
          <p:nvPr/>
        </p:nvSpPr>
        <p:spPr>
          <a:xfrm>
            <a:off x="4916200" y="3468850"/>
            <a:ext cx="54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2" name="Google Shape;1202;p93"/>
          <p:cNvSpPr/>
          <p:nvPr/>
        </p:nvSpPr>
        <p:spPr>
          <a:xfrm>
            <a:off x="5456200" y="3468850"/>
            <a:ext cx="54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3" name="Google Shape;1203;p93"/>
          <p:cNvSpPr txBox="1"/>
          <p:nvPr>
            <p:ph idx="1" type="body"/>
          </p:nvPr>
        </p:nvSpPr>
        <p:spPr>
          <a:xfrm>
            <a:off x="324000" y="3999300"/>
            <a:ext cx="2310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So</a:t>
            </a:r>
            <a:r>
              <a:rPr lang="en-GB">
                <a:solidFill>
                  <a:srgbClr val="222222"/>
                </a:solidFill>
              </a:rPr>
              <a:t> 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3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4" name="Google Shape;1204;p93"/>
          <p:cNvSpPr txBox="1"/>
          <p:nvPr>
            <p:ph idx="1" type="body"/>
          </p:nvPr>
        </p:nvSpPr>
        <p:spPr>
          <a:xfrm>
            <a:off x="324000" y="4481100"/>
            <a:ext cx="7292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The 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solidFill>
                  <a:srgbClr val="222222"/>
                </a:solidFill>
              </a:rPr>
              <a:t>-</a:t>
            </a:r>
            <a:r>
              <a:rPr lang="en-GB">
                <a:solidFill>
                  <a:srgbClr val="222222"/>
                </a:solidFill>
              </a:rPr>
              <a:t>intercept for 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−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 </a:t>
            </a:r>
            <a:r>
              <a:rPr i="1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>
                <a:solidFill>
                  <a:srgbClr val="222222"/>
                </a:solidFill>
              </a:rPr>
              <a:t> would be (0, 3) </a:t>
            </a:r>
            <a:endParaRPr>
              <a:solidFill>
                <a:srgbClr val="22222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94"/>
          <p:cNvSpPr/>
          <p:nvPr/>
        </p:nvSpPr>
        <p:spPr>
          <a:xfrm>
            <a:off x="399425" y="815100"/>
            <a:ext cx="6007800" cy="98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211" name="Google Shape;1211;p94"/>
          <p:cNvSpPr txBox="1"/>
          <p:nvPr>
            <p:ph idx="1" type="body"/>
          </p:nvPr>
        </p:nvSpPr>
        <p:spPr>
          <a:xfrm>
            <a:off x="533700" y="873250"/>
            <a:ext cx="5178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Draw the graph with equation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−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 sz="1800">
                <a:solidFill>
                  <a:srgbClr val="222222"/>
                </a:solidFill>
              </a:rPr>
              <a:t>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212" name="Google Shape;1212;p94"/>
          <p:cNvSpPr txBox="1"/>
          <p:nvPr>
            <p:ph idx="1" type="body"/>
          </p:nvPr>
        </p:nvSpPr>
        <p:spPr>
          <a:xfrm>
            <a:off x="324000" y="21534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Lines cross the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</a:rPr>
              <a:t>-</a:t>
            </a:r>
            <a:r>
              <a:rPr lang="en-GB" sz="1800">
                <a:solidFill>
                  <a:srgbClr val="222222"/>
                </a:solidFill>
              </a:rPr>
              <a:t>axis when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0</a:t>
            </a:r>
            <a:r>
              <a:rPr lang="en-GB" sz="1800">
                <a:solidFill>
                  <a:srgbClr val="222222"/>
                </a:solidFill>
              </a:rPr>
              <a:t> so substitute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0</a:t>
            </a:r>
            <a:r>
              <a:rPr lang="en-GB" sz="1800">
                <a:solidFill>
                  <a:srgbClr val="222222"/>
                </a:solidFill>
              </a:rPr>
              <a:t> into the equation.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213" name="Google Shape;1213;p94"/>
          <p:cNvSpPr txBox="1"/>
          <p:nvPr>
            <p:ph idx="1" type="body"/>
          </p:nvPr>
        </p:nvSpPr>
        <p:spPr>
          <a:xfrm>
            <a:off x="324000" y="2734450"/>
            <a:ext cx="234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2(0)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− 6 = 0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4" name="Google Shape;1214;p94"/>
          <p:cNvSpPr txBox="1"/>
          <p:nvPr>
            <p:ph idx="1" type="body"/>
          </p:nvPr>
        </p:nvSpPr>
        <p:spPr>
          <a:xfrm>
            <a:off x="324000" y="3240000"/>
            <a:ext cx="1896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 + 3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− 6 = 0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5" name="Google Shape;1215;p94"/>
          <p:cNvSpPr txBox="1"/>
          <p:nvPr>
            <p:ph idx="1" type="body"/>
          </p:nvPr>
        </p:nvSpPr>
        <p:spPr>
          <a:xfrm>
            <a:off x="324000" y="3745550"/>
            <a:ext cx="2563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− 6 = 0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6" name="Google Shape;1216;p94"/>
          <p:cNvSpPr txBox="1"/>
          <p:nvPr>
            <p:ph idx="1" type="body"/>
          </p:nvPr>
        </p:nvSpPr>
        <p:spPr>
          <a:xfrm>
            <a:off x="324000" y="42511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6 </a:t>
            </a:r>
            <a:r>
              <a:rPr lang="en-GB" sz="1800">
                <a:solidFill>
                  <a:srgbClr val="222222"/>
                </a:solidFill>
              </a:rPr>
              <a:t>because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(6) − 6 = 0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7" name="Google Shape;1217;p94"/>
          <p:cNvSpPr txBox="1"/>
          <p:nvPr>
            <p:ph idx="1" type="body"/>
          </p:nvPr>
        </p:nvSpPr>
        <p:spPr>
          <a:xfrm>
            <a:off x="533700" y="1299300"/>
            <a:ext cx="5599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The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solidFill>
                  <a:srgbClr val="222222"/>
                </a:solidFill>
              </a:rPr>
              <a:t>-</a:t>
            </a:r>
            <a:r>
              <a:rPr lang="en-GB" sz="1800">
                <a:solidFill>
                  <a:srgbClr val="222222"/>
                </a:solidFill>
              </a:rPr>
              <a:t>intercept for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−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 sz="1800">
                <a:solidFill>
                  <a:srgbClr val="222222"/>
                </a:solidFill>
              </a:rPr>
              <a:t> would be (0, 3)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218" name="Google Shape;1218;p94"/>
          <p:cNvSpPr/>
          <p:nvPr/>
        </p:nvSpPr>
        <p:spPr>
          <a:xfrm>
            <a:off x="3877800" y="2786100"/>
            <a:ext cx="72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9" name="Google Shape;1219;p94"/>
          <p:cNvSpPr/>
          <p:nvPr/>
        </p:nvSpPr>
        <p:spPr>
          <a:xfrm>
            <a:off x="3877800" y="3173700"/>
            <a:ext cx="216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6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0" name="Google Shape;1220;p94"/>
          <p:cNvSpPr/>
          <p:nvPr/>
        </p:nvSpPr>
        <p:spPr>
          <a:xfrm>
            <a:off x="6570600" y="3169100"/>
            <a:ext cx="36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1" name="Google Shape;1221;p94"/>
          <p:cNvSpPr/>
          <p:nvPr/>
        </p:nvSpPr>
        <p:spPr>
          <a:xfrm>
            <a:off x="6927173" y="3169100"/>
            <a:ext cx="36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2" name="Google Shape;1222;p94"/>
          <p:cNvSpPr txBox="1"/>
          <p:nvPr>
            <p:ph idx="1" type="body"/>
          </p:nvPr>
        </p:nvSpPr>
        <p:spPr>
          <a:xfrm>
            <a:off x="6092075" y="2930725"/>
            <a:ext cx="215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rgbClr val="222222"/>
                </a:solidFill>
              </a:rPr>
              <a:t>=</a:t>
            </a:r>
            <a:endParaRPr sz="2600">
              <a:solidFill>
                <a:srgbClr val="222222"/>
              </a:solidFill>
            </a:endParaRPr>
          </a:p>
        </p:txBody>
      </p:sp>
      <p:sp>
        <p:nvSpPr>
          <p:cNvPr id="1223" name="Google Shape;1223;p94"/>
          <p:cNvSpPr/>
          <p:nvPr/>
        </p:nvSpPr>
        <p:spPr>
          <a:xfrm>
            <a:off x="4597800" y="2786100"/>
            <a:ext cx="72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4" name="Google Shape;1224;p94"/>
          <p:cNvSpPr/>
          <p:nvPr/>
        </p:nvSpPr>
        <p:spPr>
          <a:xfrm>
            <a:off x="5317627" y="2786100"/>
            <a:ext cx="72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5" name="Google Shape;1225;p94"/>
          <p:cNvSpPr/>
          <p:nvPr/>
        </p:nvSpPr>
        <p:spPr>
          <a:xfrm>
            <a:off x="7290440" y="3169100"/>
            <a:ext cx="36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6" name="Google Shape;1226;p94"/>
          <p:cNvSpPr/>
          <p:nvPr/>
        </p:nvSpPr>
        <p:spPr>
          <a:xfrm>
            <a:off x="7650514" y="3169100"/>
            <a:ext cx="36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7" name="Google Shape;1227;p94"/>
          <p:cNvSpPr/>
          <p:nvPr/>
        </p:nvSpPr>
        <p:spPr>
          <a:xfrm>
            <a:off x="8010280" y="3169100"/>
            <a:ext cx="36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8" name="Google Shape;1228;p94"/>
          <p:cNvSpPr/>
          <p:nvPr/>
        </p:nvSpPr>
        <p:spPr>
          <a:xfrm>
            <a:off x="8370605" y="3169100"/>
            <a:ext cx="36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9" name="Google Shape;1229;p94"/>
          <p:cNvSpPr/>
          <p:nvPr/>
        </p:nvSpPr>
        <p:spPr>
          <a:xfrm>
            <a:off x="6570600" y="2786100"/>
            <a:ext cx="72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0" name="Google Shape;1230;p94"/>
          <p:cNvSpPr/>
          <p:nvPr/>
        </p:nvSpPr>
        <p:spPr>
          <a:xfrm>
            <a:off x="7290600" y="2786100"/>
            <a:ext cx="72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1" name="Google Shape;1231;p94"/>
          <p:cNvSpPr/>
          <p:nvPr/>
        </p:nvSpPr>
        <p:spPr>
          <a:xfrm>
            <a:off x="8010427" y="2786100"/>
            <a:ext cx="720000" cy="3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2" name="Google Shape;1232;p94"/>
          <p:cNvSpPr txBox="1"/>
          <p:nvPr>
            <p:ph idx="1" type="body"/>
          </p:nvPr>
        </p:nvSpPr>
        <p:spPr>
          <a:xfrm>
            <a:off x="3848400" y="3745550"/>
            <a:ext cx="1447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So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2 </a:t>
            </a:r>
            <a:endParaRPr sz="2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3" name="Google Shape;1233;p94"/>
          <p:cNvSpPr txBox="1"/>
          <p:nvPr>
            <p:ph idx="1" type="body"/>
          </p:nvPr>
        </p:nvSpPr>
        <p:spPr>
          <a:xfrm>
            <a:off x="3848400" y="4160400"/>
            <a:ext cx="4975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The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</a:rPr>
              <a:t>-</a:t>
            </a:r>
            <a:r>
              <a:rPr lang="en-GB" sz="1800">
                <a:solidFill>
                  <a:srgbClr val="222222"/>
                </a:solidFill>
              </a:rPr>
              <a:t>intercept for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−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 sz="1800">
                <a:solidFill>
                  <a:srgbClr val="222222"/>
                </a:solidFill>
              </a:rPr>
              <a:t> is (2,0) </a:t>
            </a:r>
            <a:endParaRPr sz="1800">
              <a:solidFill>
                <a:srgbClr val="22222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95"/>
          <p:cNvSpPr/>
          <p:nvPr/>
        </p:nvSpPr>
        <p:spPr>
          <a:xfrm>
            <a:off x="357265" y="815100"/>
            <a:ext cx="6007800" cy="1377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240" name="Google Shape;1240;p95"/>
          <p:cNvSpPr txBox="1"/>
          <p:nvPr>
            <p:ph idx="1" type="body"/>
          </p:nvPr>
        </p:nvSpPr>
        <p:spPr>
          <a:xfrm>
            <a:off x="491540" y="873250"/>
            <a:ext cx="5178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Draw the graph with equation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−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 sz="1800">
                <a:solidFill>
                  <a:srgbClr val="222222"/>
                </a:solidFill>
              </a:rPr>
              <a:t>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241" name="Google Shape;1241;p95"/>
          <p:cNvSpPr txBox="1"/>
          <p:nvPr>
            <p:ph idx="1" type="body"/>
          </p:nvPr>
        </p:nvSpPr>
        <p:spPr>
          <a:xfrm>
            <a:off x="491540" y="1299300"/>
            <a:ext cx="5599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The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solidFill>
                  <a:srgbClr val="222222"/>
                </a:solidFill>
              </a:rPr>
              <a:t>-</a:t>
            </a:r>
            <a:r>
              <a:rPr lang="en-GB" sz="1800">
                <a:solidFill>
                  <a:srgbClr val="222222"/>
                </a:solidFill>
              </a:rPr>
              <a:t>intercept for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−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 sz="1800">
                <a:solidFill>
                  <a:srgbClr val="222222"/>
                </a:solidFill>
              </a:rPr>
              <a:t> would be (0, 3)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242" name="Google Shape;1242;p95"/>
          <p:cNvSpPr txBox="1"/>
          <p:nvPr>
            <p:ph idx="1" type="body"/>
          </p:nvPr>
        </p:nvSpPr>
        <p:spPr>
          <a:xfrm>
            <a:off x="491540" y="1676225"/>
            <a:ext cx="4975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The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</a:rPr>
              <a:t>-</a:t>
            </a:r>
            <a:r>
              <a:rPr lang="en-GB" sz="1800">
                <a:solidFill>
                  <a:srgbClr val="222222"/>
                </a:solidFill>
              </a:rPr>
              <a:t>intercept for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−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 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 sz="1800">
                <a:solidFill>
                  <a:srgbClr val="222222"/>
                </a:solidFill>
              </a:rPr>
              <a:t> is (2, 0) </a:t>
            </a:r>
            <a:endParaRPr sz="1800">
              <a:solidFill>
                <a:srgbClr val="222222"/>
              </a:solidFill>
            </a:endParaRPr>
          </a:p>
        </p:txBody>
      </p:sp>
      <p:pic>
        <p:nvPicPr>
          <p:cNvPr id="1243" name="Google Shape;124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325" y="2320201"/>
            <a:ext cx="2551644" cy="249282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4" name="Google Shape;1244;p95"/>
          <p:cNvSpPr/>
          <p:nvPr/>
        </p:nvSpPr>
        <p:spPr>
          <a:xfrm>
            <a:off x="765532" y="3526472"/>
            <a:ext cx="339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95"/>
          <p:cNvSpPr/>
          <p:nvPr/>
        </p:nvSpPr>
        <p:spPr>
          <a:xfrm>
            <a:off x="1184918" y="4135565"/>
            <a:ext cx="339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6" name="Google Shape;1246;p95"/>
          <p:cNvCxnSpPr/>
          <p:nvPr/>
        </p:nvCxnSpPr>
        <p:spPr>
          <a:xfrm>
            <a:off x="358375" y="2860200"/>
            <a:ext cx="1335300" cy="19602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where the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 coordinate is zero</a:t>
            </a:r>
            <a:endParaRPr/>
          </a:p>
        </p:txBody>
      </p:sp>
      <p:sp>
        <p:nvSpPr>
          <p:cNvPr id="1252" name="Google Shape;1252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253" name="Google Shape;1253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</a:t>
            </a:r>
            <a:r>
              <a:rPr lang="en-GB"/>
              <a:t>here the gradient is zero</a:t>
            </a:r>
            <a:endParaRPr/>
          </a:p>
        </p:txBody>
      </p:sp>
      <p:pic>
        <p:nvPicPr>
          <p:cNvPr id="1254" name="Google Shape;125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4933" y="27551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the correct option to complete the </a:t>
            </a:r>
            <a:r>
              <a:rPr lang="en-GB"/>
              <a:t>sentence.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-intercept is                                   .</a:t>
            </a:r>
            <a:endParaRPr/>
          </a:p>
        </p:txBody>
      </p:sp>
      <p:sp>
        <p:nvSpPr>
          <p:cNvPr id="1256" name="Google Shape;1256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</a:t>
            </a:r>
            <a:r>
              <a:rPr lang="en-GB"/>
              <a:t>here the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 coordinate is zero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1257" name="Google Shape;1257;p96"/>
          <p:cNvCxnSpPr/>
          <p:nvPr/>
        </p:nvCxnSpPr>
        <p:spPr>
          <a:xfrm>
            <a:off x="2745225" y="1470717"/>
            <a:ext cx="2598600" cy="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97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For each equation, work out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intercept,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</a:t>
            </a:r>
            <a:r>
              <a:rPr lang="en-GB" sz="1800"/>
              <a:t>intercept and draw the graph.</a:t>
            </a:r>
            <a:endParaRPr sz="1800"/>
          </a:p>
        </p:txBody>
      </p:sp>
      <p:sp>
        <p:nvSpPr>
          <p:cNvPr id="1263" name="Google Shape;1263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pic>
        <p:nvPicPr>
          <p:cNvPr id="1264" name="Google Shape;126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575" y="1943677"/>
            <a:ext cx="1776323" cy="175635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265" name="Google Shape;1265;p97"/>
          <p:cNvGraphicFramePr/>
          <p:nvPr/>
        </p:nvGraphicFramePr>
        <p:xfrm>
          <a:off x="478575" y="156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{312CD822-42AC-400F-9C34-B724CEBF2189}</a:tableStyleId>
              </a:tblPr>
              <a:tblGrid>
                <a:gridCol w="2787650"/>
                <a:gridCol w="2730450"/>
                <a:gridCol w="2823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i="1"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 + x −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 </a:t>
                      </a:r>
                      <a:r>
                        <a:rPr i="1"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i="1"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 + x −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 </a:t>
                      </a:r>
                      <a:r>
                        <a:rPr i="1"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c)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i="1"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 + x +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 </a:t>
                      </a:r>
                      <a:r>
                        <a:rPr i="1"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6" name="Google Shape;1266;p97"/>
          <p:cNvSpPr txBox="1"/>
          <p:nvPr>
            <p:ph idx="1" type="body"/>
          </p:nvPr>
        </p:nvSpPr>
        <p:spPr>
          <a:xfrm>
            <a:off x="476400" y="4495625"/>
            <a:ext cx="28029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</a:t>
            </a:r>
            <a:r>
              <a:rPr lang="en-GB" sz="1800"/>
              <a:t>intercept </a:t>
            </a:r>
            <a:r>
              <a:rPr lang="en-GB" sz="1800"/>
              <a:t>(</a:t>
            </a:r>
            <a:r>
              <a:rPr lang="en-GB" sz="1800" u="sng"/>
              <a:t>    </a:t>
            </a:r>
            <a:r>
              <a:rPr lang="en-GB" sz="1800"/>
              <a:t>,0)</a:t>
            </a:r>
            <a:endParaRPr sz="1800"/>
          </a:p>
        </p:txBody>
      </p:sp>
      <p:sp>
        <p:nvSpPr>
          <p:cNvPr id="1267" name="Google Shape;1267;p97"/>
          <p:cNvSpPr txBox="1"/>
          <p:nvPr>
            <p:ph idx="1" type="body"/>
          </p:nvPr>
        </p:nvSpPr>
        <p:spPr>
          <a:xfrm>
            <a:off x="476400" y="4129500"/>
            <a:ext cx="28029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(</a:t>
            </a:r>
            <a:r>
              <a:rPr lang="en-GB" sz="1800"/>
              <a:t>0</a:t>
            </a:r>
            <a:r>
              <a:rPr lang="en-GB" sz="1800"/>
              <a:t>,</a:t>
            </a:r>
            <a:r>
              <a:rPr lang="en-GB" sz="1800" u="sng"/>
              <a:t>    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268" name="Google Shape;1268;p97"/>
          <p:cNvSpPr txBox="1"/>
          <p:nvPr>
            <p:ph idx="1" type="body"/>
          </p:nvPr>
        </p:nvSpPr>
        <p:spPr>
          <a:xfrm>
            <a:off x="3324950" y="4495625"/>
            <a:ext cx="28029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</a:t>
            </a:r>
            <a:r>
              <a:rPr lang="en-GB" sz="1800"/>
              <a:t>intercept (</a:t>
            </a:r>
            <a:r>
              <a:rPr lang="en-GB" sz="1800" u="sng"/>
              <a:t>    </a:t>
            </a:r>
            <a:r>
              <a:rPr lang="en-GB" sz="1800"/>
              <a:t>,</a:t>
            </a:r>
            <a:r>
              <a:rPr lang="en-GB" sz="1800" u="sng"/>
              <a:t>    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269" name="Google Shape;1269;p97"/>
          <p:cNvSpPr txBox="1"/>
          <p:nvPr>
            <p:ph idx="1" type="body"/>
          </p:nvPr>
        </p:nvSpPr>
        <p:spPr>
          <a:xfrm>
            <a:off x="3324950" y="4129500"/>
            <a:ext cx="28029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(</a:t>
            </a:r>
            <a:r>
              <a:rPr lang="en-GB" sz="1800" u="sng"/>
              <a:t>    </a:t>
            </a:r>
            <a:r>
              <a:rPr lang="en-GB" sz="1800"/>
              <a:t>,</a:t>
            </a:r>
            <a:r>
              <a:rPr lang="en-GB" sz="1800" u="sng"/>
              <a:t>    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270" name="Google Shape;1270;p97"/>
          <p:cNvSpPr txBox="1"/>
          <p:nvPr>
            <p:ph idx="1" type="body"/>
          </p:nvPr>
        </p:nvSpPr>
        <p:spPr>
          <a:xfrm>
            <a:off x="6171325" y="4495625"/>
            <a:ext cx="28029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</a:t>
            </a:r>
            <a:r>
              <a:rPr lang="en-GB" sz="1800"/>
              <a:t>intercept (</a:t>
            </a:r>
            <a:r>
              <a:rPr lang="en-GB" sz="1800" u="sng"/>
              <a:t>    </a:t>
            </a:r>
            <a:r>
              <a:rPr lang="en-GB" sz="1800"/>
              <a:t>,</a:t>
            </a:r>
            <a:r>
              <a:rPr lang="en-GB" sz="1800" u="sng"/>
              <a:t>    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271" name="Google Shape;1271;p97"/>
          <p:cNvSpPr txBox="1"/>
          <p:nvPr>
            <p:ph idx="1" type="body"/>
          </p:nvPr>
        </p:nvSpPr>
        <p:spPr>
          <a:xfrm>
            <a:off x="6171325" y="4129500"/>
            <a:ext cx="28029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(</a:t>
            </a:r>
            <a:r>
              <a:rPr lang="en-GB" sz="1800" u="sng"/>
              <a:t>    </a:t>
            </a:r>
            <a:r>
              <a:rPr lang="en-GB" sz="1800"/>
              <a:t>,</a:t>
            </a:r>
            <a:r>
              <a:rPr lang="en-GB" sz="1800" u="sng"/>
              <a:t>    </a:t>
            </a:r>
            <a:r>
              <a:rPr lang="en-GB" sz="1800"/>
              <a:t>)</a:t>
            </a:r>
            <a:endParaRPr sz="1800"/>
          </a:p>
        </p:txBody>
      </p:sp>
      <p:pic>
        <p:nvPicPr>
          <p:cNvPr id="1272" name="Google Shape;127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4950" y="1943677"/>
            <a:ext cx="1776323" cy="175635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73" name="Google Shape;127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1325" y="1943677"/>
            <a:ext cx="1776323" cy="175635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98"/>
          <p:cNvSpPr txBox="1"/>
          <p:nvPr>
            <p:ph idx="1" type="body"/>
          </p:nvPr>
        </p:nvSpPr>
        <p:spPr>
          <a:xfrm>
            <a:off x="324000" y="759300"/>
            <a:ext cx="41379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</a:t>
            </a:r>
            <a:r>
              <a:rPr lang="en-GB" sz="1800"/>
              <a:t>From the bar model, write the relationship as as an equation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1800"/>
              <a:t>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by + c = 0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9" name="Google Shape;1279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280" name="Google Shape;1280;p98"/>
          <p:cNvSpPr txBox="1"/>
          <p:nvPr>
            <p:ph idx="1" type="body"/>
          </p:nvPr>
        </p:nvSpPr>
        <p:spPr>
          <a:xfrm>
            <a:off x="4572000" y="675988"/>
            <a:ext cx="42480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Fill in the missing working, then draw the graph of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1" name="Google Shape;1281;p98"/>
          <p:cNvSpPr/>
          <p:nvPr/>
        </p:nvSpPr>
        <p:spPr>
          <a:xfrm>
            <a:off x="710475" y="1875425"/>
            <a:ext cx="1664400" cy="318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2" name="Google Shape;1282;p98"/>
          <p:cNvSpPr/>
          <p:nvPr/>
        </p:nvSpPr>
        <p:spPr>
          <a:xfrm>
            <a:off x="710475" y="2196629"/>
            <a:ext cx="720000" cy="318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3" name="Google Shape;1283;p98"/>
          <p:cNvSpPr/>
          <p:nvPr/>
        </p:nvSpPr>
        <p:spPr>
          <a:xfrm>
            <a:off x="2374874" y="1875425"/>
            <a:ext cx="495600" cy="318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4" name="Google Shape;1284;p98"/>
          <p:cNvSpPr/>
          <p:nvPr/>
        </p:nvSpPr>
        <p:spPr>
          <a:xfrm>
            <a:off x="710475" y="3685008"/>
            <a:ext cx="1004100" cy="320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5" name="Google Shape;1285;p98"/>
          <p:cNvSpPr/>
          <p:nvPr/>
        </p:nvSpPr>
        <p:spPr>
          <a:xfrm>
            <a:off x="710479" y="3364875"/>
            <a:ext cx="1995300" cy="320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6" name="Google Shape;1286;p98"/>
          <p:cNvSpPr/>
          <p:nvPr/>
        </p:nvSpPr>
        <p:spPr>
          <a:xfrm>
            <a:off x="1714566" y="3685008"/>
            <a:ext cx="495600" cy="320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7" name="Google Shape;1287;p98"/>
          <p:cNvSpPr/>
          <p:nvPr/>
        </p:nvSpPr>
        <p:spPr>
          <a:xfrm>
            <a:off x="2210164" y="3685008"/>
            <a:ext cx="495600" cy="320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8" name="Google Shape;1288;p98"/>
          <p:cNvSpPr/>
          <p:nvPr/>
        </p:nvSpPr>
        <p:spPr>
          <a:xfrm>
            <a:off x="1430475" y="2196629"/>
            <a:ext cx="720000" cy="318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9" name="Google Shape;1289;p98"/>
          <p:cNvSpPr/>
          <p:nvPr/>
        </p:nvSpPr>
        <p:spPr>
          <a:xfrm>
            <a:off x="2150475" y="2196629"/>
            <a:ext cx="720000" cy="318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0" name="Google Shape;1290;p98"/>
          <p:cNvSpPr txBox="1"/>
          <p:nvPr>
            <p:ph idx="1" type="body"/>
          </p:nvPr>
        </p:nvSpPr>
        <p:spPr>
          <a:xfrm>
            <a:off x="710475" y="2571750"/>
            <a:ext cx="3609600" cy="6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b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c = 0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1" name="Google Shape;1291;p98"/>
          <p:cNvSpPr txBox="1"/>
          <p:nvPr>
            <p:ph idx="1" type="body"/>
          </p:nvPr>
        </p:nvSpPr>
        <p:spPr>
          <a:xfrm>
            <a:off x="710475" y="4194900"/>
            <a:ext cx="3609600" cy="6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b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c = 0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2" name="Google Shape;1292;p98"/>
          <p:cNvSpPr/>
          <p:nvPr/>
        </p:nvSpPr>
        <p:spPr>
          <a:xfrm>
            <a:off x="281849" y="1821500"/>
            <a:ext cx="4956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98"/>
          <p:cNvSpPr/>
          <p:nvPr/>
        </p:nvSpPr>
        <p:spPr>
          <a:xfrm>
            <a:off x="281849" y="3365475"/>
            <a:ext cx="4956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4" name="Google Shape;1294;p98"/>
          <p:cNvCxnSpPr/>
          <p:nvPr/>
        </p:nvCxnSpPr>
        <p:spPr>
          <a:xfrm>
            <a:off x="4426775" y="702675"/>
            <a:ext cx="0" cy="4122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5" name="Google Shape;1295;p98"/>
          <p:cNvSpPr txBox="1"/>
          <p:nvPr>
            <p:ph idx="4294967295" type="body"/>
          </p:nvPr>
        </p:nvSpPr>
        <p:spPr>
          <a:xfrm>
            <a:off x="4572000" y="1784025"/>
            <a:ext cx="215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5(0) − 20 = 0 </a:t>
            </a:r>
            <a:endParaRPr sz="18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6" name="Google Shape;1296;p98"/>
          <p:cNvSpPr txBox="1"/>
          <p:nvPr>
            <p:ph idx="4294967295" type="body"/>
          </p:nvPr>
        </p:nvSpPr>
        <p:spPr>
          <a:xfrm>
            <a:off x="4572000" y="2104725"/>
            <a:ext cx="4248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− 20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0 </a:t>
            </a:r>
            <a:endParaRPr sz="18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7" name="Google Shape;1297;p98"/>
          <p:cNvSpPr txBox="1"/>
          <p:nvPr>
            <p:ph idx="4294967295" type="body"/>
          </p:nvPr>
        </p:nvSpPr>
        <p:spPr>
          <a:xfrm>
            <a:off x="4572000" y="2459075"/>
            <a:ext cx="1684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lang="en-GB" sz="18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18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8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8" name="Google Shape;1298;p98"/>
          <p:cNvSpPr txBox="1"/>
          <p:nvPr>
            <p:ph idx="4294967295" type="body"/>
          </p:nvPr>
        </p:nvSpPr>
        <p:spPr>
          <a:xfrm>
            <a:off x="4572000" y="1447100"/>
            <a:ext cx="2605800" cy="37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solidFill>
                  <a:srgbClr val="222222"/>
                </a:solidFill>
              </a:rPr>
              <a:t>-</a:t>
            </a:r>
            <a:r>
              <a:rPr lang="en-GB" sz="1800">
                <a:solidFill>
                  <a:srgbClr val="222222"/>
                </a:solidFill>
              </a:rPr>
              <a:t>intercept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299" name="Google Shape;1299;p98"/>
          <p:cNvSpPr txBox="1"/>
          <p:nvPr>
            <p:ph idx="4294967295" type="body"/>
          </p:nvPr>
        </p:nvSpPr>
        <p:spPr>
          <a:xfrm>
            <a:off x="4572000" y="2813425"/>
            <a:ext cx="1995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10         </a:t>
            </a:r>
            <a:r>
              <a:rPr lang="en-GB" sz="1800">
                <a:solidFill>
                  <a:srgbClr val="222222"/>
                </a:solidFill>
              </a:rPr>
              <a:t>(</a:t>
            </a:r>
            <a:r>
              <a:rPr lang="en-GB" sz="1800" u="sng">
                <a:solidFill>
                  <a:srgbClr val="222222"/>
                </a:solidFill>
              </a:rPr>
              <a:t>    </a:t>
            </a:r>
            <a:r>
              <a:rPr lang="en-GB" sz="1800">
                <a:solidFill>
                  <a:srgbClr val="222222"/>
                </a:solidFill>
              </a:rPr>
              <a:t>,</a:t>
            </a:r>
            <a:r>
              <a:rPr lang="en-GB" sz="1800" u="sng">
                <a:solidFill>
                  <a:srgbClr val="222222"/>
                </a:solidFill>
              </a:rPr>
              <a:t>    </a:t>
            </a:r>
            <a:r>
              <a:rPr lang="en-GB" sz="1800">
                <a:solidFill>
                  <a:srgbClr val="222222"/>
                </a:solidFill>
              </a:rPr>
              <a:t>)</a:t>
            </a:r>
            <a:r>
              <a:rPr lang="en-GB" sz="18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8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0" name="Google Shape;1300;p98"/>
          <p:cNvSpPr txBox="1"/>
          <p:nvPr>
            <p:ph idx="4294967295" type="body"/>
          </p:nvPr>
        </p:nvSpPr>
        <p:spPr>
          <a:xfrm>
            <a:off x="4572000" y="3536625"/>
            <a:ext cx="215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− 20 = 0 </a:t>
            </a:r>
            <a:endParaRPr sz="18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1" name="Google Shape;1301;p98"/>
          <p:cNvSpPr txBox="1"/>
          <p:nvPr>
            <p:ph idx="4294967295" type="body"/>
          </p:nvPr>
        </p:nvSpPr>
        <p:spPr>
          <a:xfrm>
            <a:off x="4572000" y="3857325"/>
            <a:ext cx="4248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8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0 </a:t>
            </a:r>
            <a:endParaRPr sz="18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2" name="Google Shape;1302;p98"/>
          <p:cNvSpPr txBox="1"/>
          <p:nvPr>
            <p:ph idx="4294967295" type="body"/>
          </p:nvPr>
        </p:nvSpPr>
        <p:spPr>
          <a:xfrm>
            <a:off x="4572000" y="4211675"/>
            <a:ext cx="1684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lang="en-GB" sz="18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18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8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3" name="Google Shape;1303;p98"/>
          <p:cNvSpPr txBox="1"/>
          <p:nvPr>
            <p:ph idx="4294967295" type="body"/>
          </p:nvPr>
        </p:nvSpPr>
        <p:spPr>
          <a:xfrm>
            <a:off x="4572000" y="3199700"/>
            <a:ext cx="2605800" cy="37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</a:rPr>
              <a:t>-</a:t>
            </a:r>
            <a:r>
              <a:rPr lang="en-GB" sz="1800">
                <a:solidFill>
                  <a:srgbClr val="222222"/>
                </a:solidFill>
              </a:rPr>
              <a:t>intercept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304" name="Google Shape;1304;p98"/>
          <p:cNvSpPr txBox="1"/>
          <p:nvPr>
            <p:ph idx="4294967295" type="body"/>
          </p:nvPr>
        </p:nvSpPr>
        <p:spPr>
          <a:xfrm>
            <a:off x="4572000" y="4566025"/>
            <a:ext cx="215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4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1800">
                <a:solidFill>
                  <a:srgbClr val="222222"/>
                </a:solidFill>
              </a:rPr>
              <a:t>(</a:t>
            </a:r>
            <a:r>
              <a:rPr lang="en-GB" sz="1800" u="sng">
                <a:solidFill>
                  <a:srgbClr val="222222"/>
                </a:solidFill>
              </a:rPr>
              <a:t>    </a:t>
            </a:r>
            <a:r>
              <a:rPr lang="en-GB" sz="1800">
                <a:solidFill>
                  <a:srgbClr val="222222"/>
                </a:solidFill>
              </a:rPr>
              <a:t>,</a:t>
            </a:r>
            <a:r>
              <a:rPr lang="en-GB" sz="1800" u="sng">
                <a:solidFill>
                  <a:srgbClr val="222222"/>
                </a:solidFill>
              </a:rPr>
              <a:t>    </a:t>
            </a:r>
            <a:r>
              <a:rPr lang="en-GB" sz="1800">
                <a:solidFill>
                  <a:srgbClr val="222222"/>
                </a:solidFill>
              </a:rPr>
              <a:t>)</a:t>
            </a:r>
            <a:r>
              <a:rPr lang="en-GB" sz="18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8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305" name="Google Shape;1305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6087" y="1443488"/>
            <a:ext cx="2177685" cy="28820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99"/>
          <p:cNvSpPr txBox="1"/>
          <p:nvPr>
            <p:ph idx="1" type="body"/>
          </p:nvPr>
        </p:nvSpPr>
        <p:spPr>
          <a:xfrm>
            <a:off x="324000" y="759300"/>
            <a:ext cx="8237700" cy="8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For each equation, work out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intercept,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</a:t>
            </a:r>
            <a:r>
              <a:rPr lang="en-GB" sz="1800"/>
              <a:t>intercept and draw the graph.</a:t>
            </a:r>
            <a:endParaRPr sz="1800"/>
          </a:p>
        </p:txBody>
      </p:sp>
      <p:sp>
        <p:nvSpPr>
          <p:cNvPr id="1311" name="Google Shape;1311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pic>
        <p:nvPicPr>
          <p:cNvPr id="1312" name="Google Shape;1312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575" y="1943677"/>
            <a:ext cx="1776323" cy="175635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313" name="Google Shape;1313;p99"/>
          <p:cNvGraphicFramePr/>
          <p:nvPr/>
        </p:nvGraphicFramePr>
        <p:xfrm>
          <a:off x="478575" y="156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{312CD822-42AC-400F-9C34-B724CEBF2189}</a:tableStyleId>
              </a:tblPr>
              <a:tblGrid>
                <a:gridCol w="2787650"/>
                <a:gridCol w="2730450"/>
                <a:gridCol w="2823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i="1"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 + x −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 </a:t>
                      </a:r>
                      <a:r>
                        <a:rPr i="1"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i="1"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 + x −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 </a:t>
                      </a:r>
                      <a:r>
                        <a:rPr i="1"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c)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i="1"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 + x +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 </a:t>
                      </a:r>
                      <a:r>
                        <a:rPr i="1"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4" name="Google Shape;1314;p99"/>
          <p:cNvSpPr txBox="1"/>
          <p:nvPr>
            <p:ph idx="1" type="body"/>
          </p:nvPr>
        </p:nvSpPr>
        <p:spPr>
          <a:xfrm>
            <a:off x="476400" y="4495625"/>
            <a:ext cx="28029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</a:t>
            </a:r>
            <a:r>
              <a:rPr lang="en-GB" sz="1800"/>
              <a:t>intercept (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800"/>
              <a:t>, 0)</a:t>
            </a:r>
            <a:endParaRPr sz="1800"/>
          </a:p>
        </p:txBody>
      </p:sp>
      <p:sp>
        <p:nvSpPr>
          <p:cNvPr id="1315" name="Google Shape;1315;p99"/>
          <p:cNvSpPr txBox="1"/>
          <p:nvPr>
            <p:ph idx="1" type="body"/>
          </p:nvPr>
        </p:nvSpPr>
        <p:spPr>
          <a:xfrm>
            <a:off x="476400" y="4129500"/>
            <a:ext cx="28029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(0,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316" name="Google Shape;1316;p99"/>
          <p:cNvSpPr txBox="1"/>
          <p:nvPr>
            <p:ph idx="1" type="body"/>
          </p:nvPr>
        </p:nvSpPr>
        <p:spPr>
          <a:xfrm>
            <a:off x="3324950" y="4495625"/>
            <a:ext cx="28029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</a:t>
            </a:r>
            <a:r>
              <a:rPr lang="en-GB" sz="1800"/>
              <a:t>intercept (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2, 0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317" name="Google Shape;1317;p99"/>
          <p:cNvSpPr txBox="1"/>
          <p:nvPr>
            <p:ph idx="1" type="body"/>
          </p:nvPr>
        </p:nvSpPr>
        <p:spPr>
          <a:xfrm>
            <a:off x="3324950" y="4129500"/>
            <a:ext cx="28029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(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0, 2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318" name="Google Shape;1318;p99"/>
          <p:cNvSpPr txBox="1"/>
          <p:nvPr>
            <p:ph idx="1" type="body"/>
          </p:nvPr>
        </p:nvSpPr>
        <p:spPr>
          <a:xfrm>
            <a:off x="6171325" y="4495625"/>
            <a:ext cx="28029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</a:t>
            </a:r>
            <a:r>
              <a:rPr lang="en-GB" sz="1800"/>
              <a:t>intercept (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/>
              <a:t>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319" name="Google Shape;1319;p99"/>
          <p:cNvSpPr txBox="1"/>
          <p:nvPr>
            <p:ph idx="1" type="body"/>
          </p:nvPr>
        </p:nvSpPr>
        <p:spPr>
          <a:xfrm>
            <a:off x="6171325" y="4129500"/>
            <a:ext cx="28029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(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0,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/>
              <a:t>)</a:t>
            </a:r>
            <a:endParaRPr sz="1800"/>
          </a:p>
        </p:txBody>
      </p:sp>
      <p:pic>
        <p:nvPicPr>
          <p:cNvPr id="1320" name="Google Shape;1320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4950" y="1943677"/>
            <a:ext cx="1776323" cy="175635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21" name="Google Shape;132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1325" y="1943677"/>
            <a:ext cx="1776323" cy="175635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22" name="Google Shape;1322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400" y="1943675"/>
            <a:ext cx="1804880" cy="17650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23" name="Google Shape;1323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7025" y="1938963"/>
            <a:ext cx="1804875" cy="175663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24" name="Google Shape;1324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7650" y="1934782"/>
            <a:ext cx="1804875" cy="178359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9" name="Google Shape;132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6087" y="1443488"/>
            <a:ext cx="2177685" cy="28820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30" name="Google Shape;1330;p100"/>
          <p:cNvSpPr txBox="1"/>
          <p:nvPr>
            <p:ph idx="1" type="body"/>
          </p:nvPr>
        </p:nvSpPr>
        <p:spPr>
          <a:xfrm>
            <a:off x="324000" y="759300"/>
            <a:ext cx="40677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From the bar model, write the relationship as as an equation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1800"/>
              <a:t>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by + c = 0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1" name="Google Shape;1331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332" name="Google Shape;1332;p100"/>
          <p:cNvSpPr txBox="1"/>
          <p:nvPr>
            <p:ph idx="1" type="body"/>
          </p:nvPr>
        </p:nvSpPr>
        <p:spPr>
          <a:xfrm>
            <a:off x="4572000" y="675988"/>
            <a:ext cx="42480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Fill in the missing working, then draw the graph of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3" name="Google Shape;1333;p100"/>
          <p:cNvSpPr/>
          <p:nvPr/>
        </p:nvSpPr>
        <p:spPr>
          <a:xfrm>
            <a:off x="710475" y="1875425"/>
            <a:ext cx="1664400" cy="318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4" name="Google Shape;1334;p100"/>
          <p:cNvSpPr/>
          <p:nvPr/>
        </p:nvSpPr>
        <p:spPr>
          <a:xfrm>
            <a:off x="710475" y="2196629"/>
            <a:ext cx="720000" cy="318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5" name="Google Shape;1335;p100"/>
          <p:cNvSpPr/>
          <p:nvPr/>
        </p:nvSpPr>
        <p:spPr>
          <a:xfrm>
            <a:off x="2374874" y="1875425"/>
            <a:ext cx="495600" cy="318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6" name="Google Shape;1336;p100"/>
          <p:cNvSpPr/>
          <p:nvPr/>
        </p:nvSpPr>
        <p:spPr>
          <a:xfrm>
            <a:off x="710475" y="3685008"/>
            <a:ext cx="1004100" cy="320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7" name="Google Shape;1337;p100"/>
          <p:cNvSpPr/>
          <p:nvPr/>
        </p:nvSpPr>
        <p:spPr>
          <a:xfrm>
            <a:off x="710479" y="3364875"/>
            <a:ext cx="1995300" cy="320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8" name="Google Shape;1338;p100"/>
          <p:cNvSpPr/>
          <p:nvPr/>
        </p:nvSpPr>
        <p:spPr>
          <a:xfrm>
            <a:off x="1714566" y="3685008"/>
            <a:ext cx="495600" cy="320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9" name="Google Shape;1339;p100"/>
          <p:cNvSpPr/>
          <p:nvPr/>
        </p:nvSpPr>
        <p:spPr>
          <a:xfrm>
            <a:off x="2210164" y="3685008"/>
            <a:ext cx="495600" cy="320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0" name="Google Shape;1340;p100"/>
          <p:cNvSpPr/>
          <p:nvPr/>
        </p:nvSpPr>
        <p:spPr>
          <a:xfrm>
            <a:off x="1430475" y="2196629"/>
            <a:ext cx="720000" cy="318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1" name="Google Shape;1341;p100"/>
          <p:cNvSpPr/>
          <p:nvPr/>
        </p:nvSpPr>
        <p:spPr>
          <a:xfrm>
            <a:off x="2150475" y="2196629"/>
            <a:ext cx="720000" cy="318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2" name="Google Shape;1342;p100"/>
          <p:cNvSpPr txBox="1"/>
          <p:nvPr>
            <p:ph idx="1" type="body"/>
          </p:nvPr>
        </p:nvSpPr>
        <p:spPr>
          <a:xfrm>
            <a:off x="710475" y="2571750"/>
            <a:ext cx="3609600" cy="6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endParaRPr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b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c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− y 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3" name="Google Shape;1343;p100"/>
          <p:cNvSpPr txBox="1"/>
          <p:nvPr>
            <p:ph idx="1" type="body"/>
          </p:nvPr>
        </p:nvSpPr>
        <p:spPr>
          <a:xfrm>
            <a:off x="710475" y="4146807"/>
            <a:ext cx="3609600" cy="6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b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c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y 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4" name="Google Shape;1344;p100"/>
          <p:cNvSpPr/>
          <p:nvPr/>
        </p:nvSpPr>
        <p:spPr>
          <a:xfrm>
            <a:off x="281849" y="1821500"/>
            <a:ext cx="4956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100"/>
          <p:cNvSpPr/>
          <p:nvPr/>
        </p:nvSpPr>
        <p:spPr>
          <a:xfrm>
            <a:off x="281849" y="3365475"/>
            <a:ext cx="4956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6" name="Google Shape;1346;p100"/>
          <p:cNvCxnSpPr/>
          <p:nvPr/>
        </p:nvCxnSpPr>
        <p:spPr>
          <a:xfrm>
            <a:off x="4426775" y="702675"/>
            <a:ext cx="0" cy="4122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7" name="Google Shape;1347;p100"/>
          <p:cNvSpPr txBox="1"/>
          <p:nvPr>
            <p:ph idx="4294967295" type="body"/>
          </p:nvPr>
        </p:nvSpPr>
        <p:spPr>
          <a:xfrm>
            <a:off x="4572000" y="1784025"/>
            <a:ext cx="215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5(0) − 20 = 0 </a:t>
            </a:r>
            <a:endParaRPr sz="18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8" name="Google Shape;1348;p100"/>
          <p:cNvSpPr txBox="1"/>
          <p:nvPr>
            <p:ph idx="4294967295" type="body"/>
          </p:nvPr>
        </p:nvSpPr>
        <p:spPr>
          <a:xfrm>
            <a:off x="4572000" y="2104725"/>
            <a:ext cx="4248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− 20 = 0 </a:t>
            </a:r>
            <a:endParaRPr sz="18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9" name="Google Shape;1349;p100"/>
          <p:cNvSpPr txBox="1"/>
          <p:nvPr>
            <p:ph idx="4294967295" type="body"/>
          </p:nvPr>
        </p:nvSpPr>
        <p:spPr>
          <a:xfrm>
            <a:off x="4572000" y="2459075"/>
            <a:ext cx="1684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18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0" name="Google Shape;1350;p100"/>
          <p:cNvSpPr txBox="1"/>
          <p:nvPr>
            <p:ph idx="4294967295" type="body"/>
          </p:nvPr>
        </p:nvSpPr>
        <p:spPr>
          <a:xfrm>
            <a:off x="4572000" y="1447100"/>
            <a:ext cx="2605800" cy="37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solidFill>
                  <a:srgbClr val="222222"/>
                </a:solidFill>
              </a:rPr>
              <a:t>-i</a:t>
            </a:r>
            <a:r>
              <a:rPr lang="en-GB" sz="1800">
                <a:solidFill>
                  <a:srgbClr val="222222"/>
                </a:solidFill>
              </a:rPr>
              <a:t>ntercept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351" name="Google Shape;1351;p100"/>
          <p:cNvSpPr txBox="1"/>
          <p:nvPr>
            <p:ph idx="4294967295" type="body"/>
          </p:nvPr>
        </p:nvSpPr>
        <p:spPr>
          <a:xfrm>
            <a:off x="4572000" y="2813425"/>
            <a:ext cx="1995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10         </a:t>
            </a:r>
            <a:r>
              <a:rPr lang="en-GB" sz="2000">
                <a:solidFill>
                  <a:srgbClr val="222222"/>
                </a:solidFill>
              </a:rPr>
              <a:t>(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, 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2000">
                <a:solidFill>
                  <a:srgbClr val="222222"/>
                </a:solidFill>
              </a:rPr>
              <a:t>)</a:t>
            </a:r>
            <a:endParaRPr sz="18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2" name="Google Shape;1352;p100"/>
          <p:cNvSpPr txBox="1"/>
          <p:nvPr>
            <p:ph idx="4294967295" type="body"/>
          </p:nvPr>
        </p:nvSpPr>
        <p:spPr>
          <a:xfrm>
            <a:off x="4572000" y="3536625"/>
            <a:ext cx="215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2(0)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− 20 = 0 </a:t>
            </a:r>
            <a:endParaRPr sz="18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3" name="Google Shape;1353;p100"/>
          <p:cNvSpPr txBox="1"/>
          <p:nvPr>
            <p:ph idx="4294967295" type="body"/>
          </p:nvPr>
        </p:nvSpPr>
        <p:spPr>
          <a:xfrm>
            <a:off x="4572000" y="3857325"/>
            <a:ext cx="4248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0 </a:t>
            </a:r>
            <a:endParaRPr sz="18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4" name="Google Shape;1354;p100"/>
          <p:cNvSpPr txBox="1"/>
          <p:nvPr>
            <p:ph idx="4294967295" type="body"/>
          </p:nvPr>
        </p:nvSpPr>
        <p:spPr>
          <a:xfrm>
            <a:off x="4572000" y="4211675"/>
            <a:ext cx="1684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20</a:t>
            </a:r>
            <a:endParaRPr sz="18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5" name="Google Shape;1355;p100"/>
          <p:cNvSpPr txBox="1"/>
          <p:nvPr>
            <p:ph idx="4294967295" type="body"/>
          </p:nvPr>
        </p:nvSpPr>
        <p:spPr>
          <a:xfrm>
            <a:off x="4572000" y="3199700"/>
            <a:ext cx="2605800" cy="37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</a:rPr>
              <a:t>-</a:t>
            </a:r>
            <a:r>
              <a:rPr lang="en-GB" sz="1800">
                <a:solidFill>
                  <a:srgbClr val="222222"/>
                </a:solidFill>
              </a:rPr>
              <a:t>intercept 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1356" name="Google Shape;1356;p100"/>
          <p:cNvSpPr txBox="1"/>
          <p:nvPr>
            <p:ph idx="4294967295" type="body"/>
          </p:nvPr>
        </p:nvSpPr>
        <p:spPr>
          <a:xfrm>
            <a:off x="4572000" y="4566025"/>
            <a:ext cx="215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4           </a:t>
            </a:r>
            <a:r>
              <a:rPr lang="en-GB" sz="1800">
                <a:solidFill>
                  <a:srgbClr val="222222"/>
                </a:solidFill>
              </a:rPr>
              <a:t>(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4, 0</a:t>
            </a:r>
            <a:r>
              <a:rPr lang="en-GB" sz="1800">
                <a:solidFill>
                  <a:srgbClr val="222222"/>
                </a:solidFill>
              </a:rPr>
              <a:t>)</a:t>
            </a:r>
            <a:endParaRPr sz="18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357" name="Google Shape;1357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6075" y="1407540"/>
            <a:ext cx="2177699" cy="291746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101"/>
          <p:cNvSpPr txBox="1"/>
          <p:nvPr>
            <p:ph idx="1" type="body"/>
          </p:nvPr>
        </p:nvSpPr>
        <p:spPr>
          <a:xfrm>
            <a:off x="307500" y="810000"/>
            <a:ext cx="8496000" cy="38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equations can be written in multiple forms.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When in the form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/>
              <a:t> we can draw the graph of the equation from the gradient and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When in the form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/>
              <a:t> we can draw the graph of the equation from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 and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-</a:t>
            </a:r>
            <a:r>
              <a:rPr lang="en-GB"/>
              <a:t>intercept.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</a:t>
            </a:r>
            <a:r>
              <a:rPr lang="en-GB"/>
              <a:t> occurs when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=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/>
              <a:t> and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-</a:t>
            </a:r>
            <a:r>
              <a:rPr lang="en-GB"/>
              <a:t>intercept occurs when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63" name="Google Shape;1363;p10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equation of the line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02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69" name="Google Shape;1369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