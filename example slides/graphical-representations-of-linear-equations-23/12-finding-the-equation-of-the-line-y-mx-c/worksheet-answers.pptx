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675297D2-A411-410A-B79D-9C0694F6B5F2}">
  <a:tblStyle styleId="{675297D2-A411-410A-B79D-9C0694F6B5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4" name="Shape 194"/>
        <p:cNvGrpSpPr/>
        <p:nvPr/>
      </p:nvGrpSpPr>
      <p:grpSpPr>
        <a:xfrm>
          <a:off x="0" y="0"/>
          <a:ext cx="0" cy="0"/>
        </a:xfrm>
      </p:grpSpPr>
      <p:sp>
        <p:nvSpPr>
          <p:cNvPr id="195" name="Google Shape;19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5.png" /><Relationship Id="rId4" Type="http://schemas.openxmlformats.org/officeDocument/2006/relationships/image" Target="../media/image16.png" /><Relationship Id="rId5" Type="http://schemas.openxmlformats.org/officeDocument/2006/relationships/image" Target="../media/image17.png" /><Relationship Id="rId6" Type="http://schemas.openxmlformats.org/officeDocument/2006/relationships/image" Target="../media/image18.png" /><Relationship Id="rId7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equation of the line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83050" y="1804875"/>
            <a:ext cx="66090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graph, work out an equation for the line in the form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 mx +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676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Writing the equation of a line from key features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7900" y="4722550"/>
            <a:ext cx="16827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(0, 3)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468000" y="2131350"/>
          <a:ext cx="6624000" cy="454125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2208000"/>
                <a:gridCol w="2208000"/>
                <a:gridCol w="2208000"/>
              </a:tblGrid>
              <a:tr h="454125">
                <a:tc>
                  <a:txBody>
                    <a:bodyPr vert="horz" wrap="square"/>
                    <a:lstStyle/>
                    <a:p>
                      <a:pPr marL="457200" lvl="0" indent="-3048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1200"/>
                        <a:buFont typeface="Lexend"/>
                        <a:buAutoNum type="alphaLcParenR"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4568" y="2585475"/>
            <a:ext cx="1497832" cy="19411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4">
            <a:alphaModFix/>
          </a:blip>
          <a:srcRect l="3018" r="4968"/>
          <a:stretch>
            <a:fillRect/>
          </a:stretch>
        </p:blipFill>
        <p:spPr>
          <a:xfrm>
            <a:off x="2412571" y="2585475"/>
            <a:ext cx="1972347" cy="194114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00" y="2592744"/>
            <a:ext cx="1252040" cy="190893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0" name="Google Shape;180;p20"/>
          <p:cNvSpPr txBox="1"/>
          <p:nvPr/>
        </p:nvSpPr>
        <p:spPr>
          <a:xfrm>
            <a:off x="2412575" y="4722550"/>
            <a:ext cx="19725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984575" y="4722550"/>
            <a:ext cx="16827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 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82" name="Google Shape;182;p20"/>
          <p:cNvGraphicFramePr>
            <a:graphicFrameLocks noGrp="1"/>
          </p:cNvGraphicFramePr>
          <p:nvPr/>
        </p:nvGraphicFramePr>
        <p:xfrm>
          <a:off x="467900" y="5532775"/>
          <a:ext cx="6624000" cy="40245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2208000"/>
                <a:gridCol w="2208000"/>
                <a:gridCol w="2208000"/>
              </a:tblGrid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 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83" name="Google Shape;18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9951" y="5967750"/>
            <a:ext cx="1599215" cy="177509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31588" y="5967750"/>
            <a:ext cx="1264287" cy="184186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801" y="5967750"/>
            <a:ext cx="2044792" cy="175520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6" name="Google Shape;186;p20"/>
          <p:cNvSpPr txBox="1"/>
          <p:nvPr/>
        </p:nvSpPr>
        <p:spPr>
          <a:xfrm>
            <a:off x="467802" y="8009875"/>
            <a:ext cx="1972200" cy="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  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 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827603" y="8009875"/>
            <a:ext cx="1599300" cy="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983281" y="8009875"/>
            <a:ext cx="2913600" cy="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 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0.2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+ 0.2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89" name="Google Shape;189;p20" descr="&lt;math xmlns=&quot;http://www.w3.org/1998/Math/MathML&quot; display=&quot;block&quot; data-is-equatio=&quot;1&quot; data-latex=&quot;-\frac{4}{3}&quot;&gt;&lt;mo&gt;−&lt;/mo&gt;&lt;mfrac&gt;&lt;mn&gt;4&lt;/mn&gt;&lt;mn&gt;3&lt;/mn&gt;&lt;/mfrac&gt;&lt;/math&gt;" title="negative four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32675" y="7932475"/>
            <a:ext cx="182167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08086" y="7932451"/>
            <a:ext cx="84942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36208" y="8389651"/>
            <a:ext cx="84942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isplay=&quot;block&quot; data-is-equatio=&quot;1&quot; data-latex=&quot;-\frac{4}{3}&quot;&gt;&lt;mo&gt;−&lt;/mo&gt;&lt;mfrac&gt;&lt;mn&gt;4&lt;/mn&gt;&lt;mn&gt;3&lt;/mn&gt;&lt;/mfrac&gt;&lt;/math&gt;" title="negative four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30509" y="8389675"/>
            <a:ext cx="182167" cy="27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20"/>
          <p:cNvCxnSpPr/>
          <p:nvPr/>
        </p:nvCxnSpPr>
        <p:spPr>
          <a:xfrm>
            <a:off x="4823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7" name="Shape 197"/>
        <p:cNvGrpSpPr/>
        <p:nvPr/>
      </p:nvGrpSpPr>
      <p:grpSpPr>
        <a:xfrm>
          <a:off x="0" y="0"/>
          <a:ext cx="0" cy="0"/>
        </a:xfrm>
      </p:grpSpPr>
      <p:sp>
        <p:nvSpPr>
          <p:cNvPr id="198" name="Google Shape;198;p21"/>
          <p:cNvSpPr txBox="1"/>
          <p:nvPr/>
        </p:nvSpPr>
        <p:spPr>
          <a:xfrm>
            <a:off x="5638025" y="8508075"/>
            <a:ext cx="14538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Gradient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0" name="Google Shape;20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Finding the equation of the line </a:t>
            </a: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Finding the equation of a line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equation of the line which has the table of values shown.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5" name="Google Shape;205;p21"/>
          <p:cNvGraphicFramePr>
            <a:graphicFrameLocks noGrp="1"/>
          </p:cNvGraphicFramePr>
          <p:nvPr/>
        </p:nvGraphicFramePr>
        <p:xfrm>
          <a:off x="896263" y="13836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680700"/>
                <a:gridCol w="680700"/>
                <a:gridCol w="680700"/>
                <a:gridCol w="680700"/>
              </a:tblGrid>
              <a:tr h="247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6" name="Google Shape;206;p21"/>
          <p:cNvGraphicFramePr>
            <a:graphicFrameLocks noGrp="1"/>
          </p:cNvGraphicFramePr>
          <p:nvPr/>
        </p:nvGraphicFramePr>
        <p:xfrm>
          <a:off x="896263" y="20533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677950"/>
                <a:gridCol w="677950"/>
                <a:gridCol w="677950"/>
                <a:gridCol w="677950"/>
              </a:tblGrid>
              <a:tr h="248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7" name="Google Shape;207;p21"/>
          <p:cNvGraphicFramePr>
            <a:graphicFrameLocks noGrp="1"/>
          </p:cNvGraphicFramePr>
          <p:nvPr/>
        </p:nvGraphicFramePr>
        <p:xfrm>
          <a:off x="896263" y="2831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650775"/>
                <a:gridCol w="650775"/>
                <a:gridCol w="650775"/>
                <a:gridCol w="650775"/>
                <a:gridCol w="650775"/>
              </a:tblGrid>
              <a:tr h="247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r>
                        <a:rPr lang="en-GB" sz="1200">
                          <a:solidFill>
                            <a:srgbClr val="E6F2F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r>
                        <a:rPr lang="en-GB" sz="1200">
                          <a:solidFill>
                            <a:srgbClr val="E6F2F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8" name="Google Shape;208;p21"/>
          <p:cNvGraphicFramePr>
            <a:graphicFrameLocks noGrp="1"/>
          </p:cNvGraphicFramePr>
          <p:nvPr/>
        </p:nvGraphicFramePr>
        <p:xfrm>
          <a:off x="896263" y="35773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650775"/>
                <a:gridCol w="650775"/>
                <a:gridCol w="650775"/>
                <a:gridCol w="650775"/>
                <a:gridCol w="650775"/>
              </a:tblGrid>
              <a:tr h="247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r>
                        <a:rPr lang="en-GB" sz="1200">
                          <a:solidFill>
                            <a:srgbClr val="E6F2F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r>
                        <a:rPr lang="en-GB" sz="1200">
                          <a:solidFill>
                            <a:srgbClr val="E6F2F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9" name="Google Shape;209;p21"/>
          <p:cNvGraphicFramePr>
            <a:graphicFrameLocks noGrp="1"/>
          </p:cNvGraphicFramePr>
          <p:nvPr/>
        </p:nvGraphicFramePr>
        <p:xfrm>
          <a:off x="468000" y="12429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471750"/>
              </a:tblGrid>
              <a:tr h="740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40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40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40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21"/>
          <p:cNvSpPr txBox="1"/>
          <p:nvPr/>
        </p:nvSpPr>
        <p:spPr>
          <a:xfrm>
            <a:off x="4405675" y="1383605"/>
            <a:ext cx="26061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405675" y="2085330"/>
            <a:ext cx="26061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11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405675" y="2831405"/>
            <a:ext cx="26061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405675" y="3577480"/>
            <a:ext cx="26061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4217091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Calculate the equation of each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4716866"/>
            <a:ext cx="1401159" cy="147310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6" name="Google Shape;2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6579" y="4683317"/>
            <a:ext cx="1453920" cy="147308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7" name="Google Shape;21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7918" y="4693856"/>
            <a:ext cx="1401159" cy="145199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8" name="Google Shape;21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6497" y="4671850"/>
            <a:ext cx="1355503" cy="149600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19" name="Google Shape;219;p21"/>
          <p:cNvGraphicFramePr>
            <a:graphicFrameLocks noGrp="1"/>
          </p:cNvGraphicFramePr>
          <p:nvPr/>
        </p:nvGraphicFramePr>
        <p:xfrm>
          <a:off x="468000" y="432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0" name="Google Shape;220;p21"/>
          <p:cNvGraphicFramePr>
            <a:graphicFrameLocks noGrp="1"/>
          </p:cNvGraphicFramePr>
          <p:nvPr/>
        </p:nvGraphicFramePr>
        <p:xfrm>
          <a:off x="464365" y="63457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700575"/>
                <a:gridCol w="700575"/>
              </a:tblGrid>
              <a:tr h="181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2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2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1" name="Google Shape;221;p21"/>
          <p:cNvGraphicFramePr>
            <a:graphicFrameLocks noGrp="1"/>
          </p:cNvGraphicFramePr>
          <p:nvPr/>
        </p:nvGraphicFramePr>
        <p:xfrm>
          <a:off x="2206565" y="63457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726975"/>
                <a:gridCol w="726975"/>
              </a:tblGrid>
              <a:tr h="180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1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1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2" name="Google Shape;222;p21"/>
          <p:cNvGraphicFramePr>
            <a:graphicFrameLocks noGrp="1"/>
          </p:cNvGraphicFramePr>
          <p:nvPr/>
        </p:nvGraphicFramePr>
        <p:xfrm>
          <a:off x="3997915" y="63457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700575"/>
                <a:gridCol w="700575"/>
              </a:tblGrid>
              <a:tr h="189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9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9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3" name="Google Shape;223;p21"/>
          <p:cNvGraphicFramePr>
            <a:graphicFrameLocks noGrp="1"/>
          </p:cNvGraphicFramePr>
          <p:nvPr/>
        </p:nvGraphicFramePr>
        <p:xfrm>
          <a:off x="5638015" y="63457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726975"/>
                <a:gridCol w="726975"/>
              </a:tblGrid>
              <a:tr h="205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4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4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21"/>
          <p:cNvSpPr txBox="1"/>
          <p:nvPr/>
        </p:nvSpPr>
        <p:spPr>
          <a:xfrm>
            <a:off x="464325" y="6932628"/>
            <a:ext cx="20667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2215775" y="6932628"/>
            <a:ext cx="20667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999675" y="6932628"/>
            <a:ext cx="20667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661471" y="6932625"/>
            <a:ext cx="1401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68000" y="7197325"/>
            <a:ext cx="66240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 Calculate the equation of the line passing through the coordinates given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9" name="Google Shape;229;p21"/>
          <p:cNvGraphicFramePr>
            <a:graphicFrameLocks noGrp="1"/>
          </p:cNvGraphicFramePr>
          <p:nvPr/>
        </p:nvGraphicFramePr>
        <p:xfrm>
          <a:off x="465613" y="74032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1569175"/>
                <a:gridCol w="1605275"/>
                <a:gridCol w="1679850"/>
                <a:gridCol w="1769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(3, 5) and (5, 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 (3, 5) and (7,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c) (3, 5) and (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−2, 10)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 (3, 5) and (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−15, 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30" name="Google Shape;230;p21"/>
          <p:cNvGraphicFramePr>
            <a:graphicFrameLocks noGrp="1"/>
          </p:cNvGraphicFramePr>
          <p:nvPr/>
        </p:nvGraphicFramePr>
        <p:xfrm>
          <a:off x="458440" y="782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780425"/>
                <a:gridCol w="780425"/>
              </a:tblGrid>
              <a:tr h="207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78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31" name="Google Shape;231;p21"/>
          <p:cNvGraphicFramePr>
            <a:graphicFrameLocks noGrp="1"/>
          </p:cNvGraphicFramePr>
          <p:nvPr/>
        </p:nvGraphicFramePr>
        <p:xfrm>
          <a:off x="2215740" y="782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726975"/>
                <a:gridCol w="726975"/>
              </a:tblGrid>
              <a:tr h="207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−20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78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32" name="Google Shape;232;p21"/>
          <p:cNvGraphicFramePr>
            <a:graphicFrameLocks noGrp="1"/>
          </p:cNvGraphicFramePr>
          <p:nvPr/>
        </p:nvGraphicFramePr>
        <p:xfrm>
          <a:off x="458438" y="884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390225"/>
                <a:gridCol w="390225"/>
                <a:gridCol w="390225"/>
                <a:gridCol w="390225"/>
              </a:tblGrid>
              <a:tr h="219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0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3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4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5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33" name="Google Shape;233;p21"/>
          <p:cNvGraphicFramePr>
            <a:graphicFrameLocks noGrp="1"/>
          </p:cNvGraphicFramePr>
          <p:nvPr/>
        </p:nvGraphicFramePr>
        <p:xfrm>
          <a:off x="2218921" y="884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363450"/>
                <a:gridCol w="363450"/>
                <a:gridCol w="363450"/>
                <a:gridCol w="363450"/>
              </a:tblGrid>
              <a:tr h="219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0…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3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4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5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−9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21"/>
          <p:cNvSpPr txBox="1"/>
          <p:nvPr/>
        </p:nvSpPr>
        <p:spPr>
          <a:xfrm>
            <a:off x="458400" y="9443725"/>
            <a:ext cx="15609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5" name="Google Shape;235;p21"/>
          <p:cNvGraphicFramePr>
            <a:graphicFrameLocks noGrp="1"/>
          </p:cNvGraphicFramePr>
          <p:nvPr/>
        </p:nvGraphicFramePr>
        <p:xfrm>
          <a:off x="3999640" y="782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700650"/>
                <a:gridCol w="700650"/>
              </a:tblGrid>
              <a:tr h="207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−5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78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36" name="Google Shape;236;p21"/>
          <p:cNvGraphicFramePr>
            <a:graphicFrameLocks noGrp="1"/>
          </p:cNvGraphicFramePr>
          <p:nvPr/>
        </p:nvGraphicFramePr>
        <p:xfrm>
          <a:off x="4023882" y="884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350325"/>
                <a:gridCol w="350325"/>
                <a:gridCol w="350325"/>
                <a:gridCol w="350325"/>
              </a:tblGrid>
              <a:tr h="219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4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 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7" name="Google Shape;237;p21"/>
          <p:cNvSpPr txBox="1"/>
          <p:nvPr/>
        </p:nvSpPr>
        <p:spPr>
          <a:xfrm>
            <a:off x="458400" y="8508075"/>
            <a:ext cx="15609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Gradient =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2215775" y="8508075"/>
            <a:ext cx="14538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Gradient =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3999675" y="8508075"/>
            <a:ext cx="14013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Gradient =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40" name="Google Shape;240;p21"/>
          <p:cNvGraphicFramePr>
            <a:graphicFrameLocks noGrp="1"/>
          </p:cNvGraphicFramePr>
          <p:nvPr/>
        </p:nvGraphicFramePr>
        <p:xfrm>
          <a:off x="5638015" y="782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726975"/>
                <a:gridCol w="726975"/>
              </a:tblGrid>
              <a:tr h="257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</a:t>
                      </a:r>
                      <a:endParaRPr sz="12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41" name="Google Shape;241;p21"/>
          <p:cNvGraphicFramePr>
            <a:graphicFrameLocks noGrp="1"/>
          </p:cNvGraphicFramePr>
          <p:nvPr/>
        </p:nvGraphicFramePr>
        <p:xfrm>
          <a:off x="5638037" y="88445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{675297D2-A411-410A-B79D-9C0694F6B5F2}</a:tableStyleId>
              </a:tblPr>
              <a:tblGrid>
                <a:gridCol w="363500"/>
                <a:gridCol w="363500"/>
                <a:gridCol w="363500"/>
                <a:gridCol w="363500"/>
              </a:tblGrid>
              <a:tr h="219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4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 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 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 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42" name="Google Shape;242;p2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86753" y="8152247"/>
            <a:ext cx="73785" cy="24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2218925" y="9443725"/>
            <a:ext cx="16845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017950" y="9443725"/>
            <a:ext cx="15609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5631199" y="9447650"/>
            <a:ext cx="14541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 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" name="Google Shape;246;p2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84536" y="8480867"/>
            <a:ext cx="73785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13136" y="9425556"/>
            <a:ext cx="73785" cy="24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Finding the equation of the line y = mx + c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2024-01-08T16:50:50.332</cp:lastPrinted>
  <dcterms:created xsi:type="dcterms:W3CDTF">2024-01-08T16:50:50Z</dcterms:created>
  <dcterms:modified xsi:type="dcterms:W3CDTF">2024-01-08T16:51:16Z</dcterms:modified>
</cp:coreProperties>
</file>