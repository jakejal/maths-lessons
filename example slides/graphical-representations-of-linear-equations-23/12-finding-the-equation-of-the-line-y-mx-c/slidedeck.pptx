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710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</p:sldIdLst>
  <p:sldSz cx="9144000" cy="5143500"/>
  <p:notesSz cx="6858000" cy="9144000"/>
  <p:embeddedFontLst>
    <p:embeddedFont>
      <p:font typeface="Lexend" panose="00000000000000000000"/>
      <p:regular r:id="rId43"/>
    </p:embeddedFont>
    <p:embeddedFont>
      <p:font typeface="Lexend Medium" panose="00000000000000000000"/>
      <p:regular r:id="rId44"/>
    </p:embeddedFont>
    <p:embeddedFont>
      <p:font typeface="Kalam" panose="02000000000000000000"/>
      <p:regular r:id="rId45"/>
    </p:embeddedFont>
    <p:embeddedFont>
      <p:font typeface="Lexend Light" panose="00000000000000000000"/>
      <p:regular r:id="rId46"/>
    </p:embeddedFont>
  </p:embeddedFontLst>
  <p:custDataLst>
    <p:tags r:id="rId42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30249E52-1068-44D2-81A8-249747264F2E}">
  <a:tblStyle styleId="{30249E52-1068-44D2-81A8-249747264F2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slide" Target="slides/slide8.xml" /><Relationship Id="rId11" Type="http://schemas.openxmlformats.org/officeDocument/2006/relationships/slide" Target="slides/slide9.xml" /><Relationship Id="rId12" Type="http://schemas.openxmlformats.org/officeDocument/2006/relationships/slide" Target="slides/slide10.xml" /><Relationship Id="rId13" Type="http://schemas.openxmlformats.org/officeDocument/2006/relationships/slide" Target="slides/slide11.xml" /><Relationship Id="rId14" Type="http://schemas.openxmlformats.org/officeDocument/2006/relationships/slide" Target="slides/slide12.xml" /><Relationship Id="rId15" Type="http://schemas.openxmlformats.org/officeDocument/2006/relationships/slide" Target="slides/slide13.xml" /><Relationship Id="rId16" Type="http://schemas.openxmlformats.org/officeDocument/2006/relationships/slide" Target="slides/slide14.xml" /><Relationship Id="rId17" Type="http://schemas.openxmlformats.org/officeDocument/2006/relationships/slide" Target="slides/slide15.xml" /><Relationship Id="rId18" Type="http://schemas.openxmlformats.org/officeDocument/2006/relationships/slide" Target="slides/slide16.xml" /><Relationship Id="rId19" Type="http://schemas.openxmlformats.org/officeDocument/2006/relationships/slide" Target="slides/slide17.xml" /><Relationship Id="rId2" Type="http://schemas.openxmlformats.org/officeDocument/2006/relationships/notesMaster" Target="notesMasters/notesMaster1.xml" /><Relationship Id="rId20" Type="http://schemas.openxmlformats.org/officeDocument/2006/relationships/slide" Target="slides/slide18.xml" /><Relationship Id="rId21" Type="http://schemas.openxmlformats.org/officeDocument/2006/relationships/slide" Target="slides/slide19.xml" /><Relationship Id="rId22" Type="http://schemas.openxmlformats.org/officeDocument/2006/relationships/slide" Target="slides/slide20.xml" /><Relationship Id="rId23" Type="http://schemas.openxmlformats.org/officeDocument/2006/relationships/slide" Target="slides/slide21.xml" /><Relationship Id="rId24" Type="http://schemas.openxmlformats.org/officeDocument/2006/relationships/slide" Target="slides/slide22.xml" /><Relationship Id="rId25" Type="http://schemas.openxmlformats.org/officeDocument/2006/relationships/slide" Target="slides/slide23.xml" /><Relationship Id="rId26" Type="http://schemas.openxmlformats.org/officeDocument/2006/relationships/slide" Target="slides/slide24.xml" /><Relationship Id="rId27" Type="http://schemas.openxmlformats.org/officeDocument/2006/relationships/slide" Target="slides/slide25.xml" /><Relationship Id="rId28" Type="http://schemas.openxmlformats.org/officeDocument/2006/relationships/slide" Target="slides/slide26.xml" /><Relationship Id="rId29" Type="http://schemas.openxmlformats.org/officeDocument/2006/relationships/slide" Target="slides/slide27.xml" /><Relationship Id="rId3" Type="http://schemas.openxmlformats.org/officeDocument/2006/relationships/slide" Target="slides/slide1.xml" /><Relationship Id="rId30" Type="http://schemas.openxmlformats.org/officeDocument/2006/relationships/slide" Target="slides/slide28.xml" /><Relationship Id="rId31" Type="http://schemas.openxmlformats.org/officeDocument/2006/relationships/slide" Target="slides/slide29.xml" /><Relationship Id="rId32" Type="http://schemas.openxmlformats.org/officeDocument/2006/relationships/slide" Target="slides/slide30.xml" /><Relationship Id="rId33" Type="http://schemas.openxmlformats.org/officeDocument/2006/relationships/slide" Target="slides/slide31.xml" /><Relationship Id="rId34" Type="http://schemas.openxmlformats.org/officeDocument/2006/relationships/slide" Target="slides/slide32.xml" /><Relationship Id="rId35" Type="http://schemas.openxmlformats.org/officeDocument/2006/relationships/slide" Target="slides/slide33.xml" /><Relationship Id="rId36" Type="http://schemas.openxmlformats.org/officeDocument/2006/relationships/slide" Target="slides/slide34.xml" /><Relationship Id="rId37" Type="http://schemas.openxmlformats.org/officeDocument/2006/relationships/slide" Target="slides/slide35.xml" /><Relationship Id="rId38" Type="http://schemas.openxmlformats.org/officeDocument/2006/relationships/slide" Target="slides/slide36.xml" /><Relationship Id="rId39" Type="http://schemas.openxmlformats.org/officeDocument/2006/relationships/slide" Target="slides/slide37.xml" /><Relationship Id="rId4" Type="http://schemas.openxmlformats.org/officeDocument/2006/relationships/slide" Target="slides/slide2.xml" /><Relationship Id="rId40" Type="http://schemas.openxmlformats.org/officeDocument/2006/relationships/slide" Target="slides/slide38.xml" /><Relationship Id="rId41" Type="http://schemas.openxmlformats.org/officeDocument/2006/relationships/slide" Target="slides/slide39.xml" /><Relationship Id="rId42" Type="http://schemas.openxmlformats.org/officeDocument/2006/relationships/tags" Target="tags/tag1.xml" /><Relationship Id="rId43" Type="http://schemas.openxmlformats.org/officeDocument/2006/relationships/font" Target="fonts/font1.fntdata" /><Relationship Id="rId44" Type="http://schemas.openxmlformats.org/officeDocument/2006/relationships/font" Target="fonts/font2.fntdata" /><Relationship Id="rId45" Type="http://schemas.openxmlformats.org/officeDocument/2006/relationships/font" Target="fonts/font3.fntdata" /><Relationship Id="rId46" Type="http://schemas.openxmlformats.org/officeDocument/2006/relationships/font" Target="fonts/font4.fntdata" /><Relationship Id="rId47" Type="http://schemas.openxmlformats.org/officeDocument/2006/relationships/presProps" Target="presProps.xml" /><Relationship Id="rId48" Type="http://schemas.openxmlformats.org/officeDocument/2006/relationships/viewProps" Target="viewProps.xml" /><Relationship Id="rId49" Type="http://schemas.openxmlformats.org/officeDocument/2006/relationships/theme" Target="theme/theme1.xml" /><Relationship Id="rId5" Type="http://schemas.openxmlformats.org/officeDocument/2006/relationships/slide" Target="slides/slide3.xml" /><Relationship Id="rId50" Type="http://schemas.openxmlformats.org/officeDocument/2006/relationships/tableStyles" Target="tableStyles.xml" /><Relationship Id="rId6" Type="http://schemas.openxmlformats.org/officeDocument/2006/relationships/slide" Target="slides/slide4.xml" /><Relationship Id="rId7" Type="http://schemas.openxmlformats.org/officeDocument/2006/relationships/slide" Target="slides/slide5.xml" /><Relationship Id="rId8" Type="http://schemas.openxmlformats.org/officeDocument/2006/relationships/slide" Target="slides/slide6.xml" /><Relationship Id="rId9" Type="http://schemas.openxmlformats.org/officeDocument/2006/relationships/slide" Target="slides/slide7.xml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_rels/notesSlide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.xml" /><Relationship Id="rId2" Type="http://schemas.openxmlformats.org/officeDocument/2006/relationships/notesMaster" Target="../notesMasters/notesMaster1.xml" /></Relationships>
</file>

<file path=ppt/notesSlides/_rels/notesSlide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5.xml" /><Relationship Id="rId2" Type="http://schemas.openxmlformats.org/officeDocument/2006/relationships/notesMaster" Target="../notesMasters/notesMaster1.xml" /></Relationships>
</file>

<file path=ppt/notesSlides/_rels/notesSlide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6.xml" /><Relationship Id="rId2" Type="http://schemas.openxmlformats.org/officeDocument/2006/relationships/notesMaster" Target="../notesMasters/notesMaster1.xml" /></Relationships>
</file>

<file path=ppt/notesSlides/_rels/notesSlide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7.xml" /><Relationship Id="rId2" Type="http://schemas.openxmlformats.org/officeDocument/2006/relationships/notesMaster" Target="../notesMasters/notesMaster1.xml" /></Relationships>
</file>

<file path=ppt/notesSlides/_rels/notesSlide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8.xml" /><Relationship Id="rId2" Type="http://schemas.openxmlformats.org/officeDocument/2006/relationships/notesMaster" Target="../notesMasters/notesMaster1.xml" /></Relationships>
</file>

<file path=ppt/notesSlides/_rels/notesSlide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9.xml" /><Relationship Id="rId2" Type="http://schemas.openxmlformats.org/officeDocument/2006/relationships/notesMaster" Target="../notesMasters/notesMaster1.xml" /></Relationships>
</file>

<file path=ppt/notesSlides/_rels/notesSlide1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0.xml" /><Relationship Id="rId2" Type="http://schemas.openxmlformats.org/officeDocument/2006/relationships/notesMaster" Target="../notesMasters/notesMaster1.xml" /></Relationships>
</file>

<file path=ppt/notesSlides/_rels/notesSlide1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1.xml" /><Relationship Id="rId2" Type="http://schemas.openxmlformats.org/officeDocument/2006/relationships/notesMaster" Target="../notesMasters/notesMaster1.xml" /></Relationships>
</file>

<file path=ppt/notesSlides/_rels/notesSlide1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2.xml" /><Relationship Id="rId2" Type="http://schemas.openxmlformats.org/officeDocument/2006/relationships/notesMaster" Target="../notesMasters/notesMaster1.xml" /></Relationships>
</file>

<file path=ppt/notesSlides/_rels/notesSlide1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3.xml" /><Relationship Id="rId2" Type="http://schemas.openxmlformats.org/officeDocument/2006/relationships/notesMaster" Target="../notesMasters/notesMaster1.xml" /></Relationships>
</file>

<file path=ppt/notesSlides/_rels/notesSlide1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4.xml" /><Relationship Id="rId2" Type="http://schemas.openxmlformats.org/officeDocument/2006/relationships/notesMaster" Target="../notesMasters/notesMaster1.xml" /></Relationships>
</file>

<file path=ppt/notesSlides/_rels/notesSlide1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5.xml" /><Relationship Id="rId2" Type="http://schemas.openxmlformats.org/officeDocument/2006/relationships/notesMaster" Target="../notesMasters/notesMaster1.xml" /></Relationships>
</file>

<file path=ppt/notesSlides/_rels/notesSlide1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6.xml" /><Relationship Id="rId2" Type="http://schemas.openxmlformats.org/officeDocument/2006/relationships/notesMaster" Target="../notesMasters/notesMaster1.xml" /></Relationships>
</file>

<file path=ppt/notesSlides/_rels/notesSlide1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7.xml" /><Relationship Id="rId2" Type="http://schemas.openxmlformats.org/officeDocument/2006/relationships/notesMaster" Target="../notesMasters/notesMaster1.xml" /></Relationships>
</file>

<file path=ppt/notesSlides/_rels/notesSlide1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8.xml" /><Relationship Id="rId2" Type="http://schemas.openxmlformats.org/officeDocument/2006/relationships/notesMaster" Target="../notesMasters/notesMaster1.xml" /></Relationships>
</file>

<file path=ppt/notesSlides/_rels/notesSlide1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9.xml" /><Relationship Id="rId2" Type="http://schemas.openxmlformats.org/officeDocument/2006/relationships/notesMaster" Target="../notesMasters/notesMaster1.xml" /></Relationships>
</file>

<file path=ppt/notesSlides/_rels/notesSlide2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0.xml" /><Relationship Id="rId2" Type="http://schemas.openxmlformats.org/officeDocument/2006/relationships/notesMaster" Target="../notesMasters/notesMaster1.xml" /></Relationships>
</file>

<file path=ppt/notesSlides/_rels/notesSlide2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1.xml" /><Relationship Id="rId2" Type="http://schemas.openxmlformats.org/officeDocument/2006/relationships/notesMaster" Target="../notesMasters/notesMaster1.xml" /></Relationships>
</file>

<file path=ppt/notesSlides/_rels/notesSlide2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2.xml" /><Relationship Id="rId2" Type="http://schemas.openxmlformats.org/officeDocument/2006/relationships/notesMaster" Target="../notesMasters/notesMaster1.xml" /></Relationships>
</file>

<file path=ppt/notesSlides/_rels/notesSlide2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3.xml" /><Relationship Id="rId2" Type="http://schemas.openxmlformats.org/officeDocument/2006/relationships/notesMaster" Target="../notesMasters/notesMaster1.xml" /></Relationships>
</file>

<file path=ppt/notesSlides/_rels/notesSlide2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4.xml" /><Relationship Id="rId2" Type="http://schemas.openxmlformats.org/officeDocument/2006/relationships/notesMaster" Target="../notesMasters/notesMaster1.xml" /></Relationships>
</file>

<file path=ppt/notesSlides/_rels/notesSlide2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5.xml" /><Relationship Id="rId2" Type="http://schemas.openxmlformats.org/officeDocument/2006/relationships/notesMaster" Target="../notesMasters/notesMaster1.xml" /></Relationships>
</file>

<file path=ppt/notesSlides/_rels/notesSlide2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6.xml" /><Relationship Id="rId2" Type="http://schemas.openxmlformats.org/officeDocument/2006/relationships/notesMaster" Target="../notesMasters/notesMaster1.xml" /></Relationships>
</file>

<file path=ppt/notesSlides/_rels/notesSlide2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7.xml" /><Relationship Id="rId2" Type="http://schemas.openxmlformats.org/officeDocument/2006/relationships/notesMaster" Target="../notesMasters/notesMaster1.xml" /></Relationships>
</file>

<file path=ppt/notesSlides/_rels/notesSlide2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8.xml" /><Relationship Id="rId2" Type="http://schemas.openxmlformats.org/officeDocument/2006/relationships/notesMaster" Target="../notesMasters/notesMaster1.xml" /></Relationships>
</file>

<file path=ppt/notesSlides/_rels/notesSlide2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9.xml" /><Relationship Id="rId2" Type="http://schemas.openxmlformats.org/officeDocument/2006/relationships/notesMaster" Target="../notesMasters/notesMaster1.xml" /></Relationships>
</file>

<file path=ppt/notesSlides/_rels/notesSlide3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0.xml" /><Relationship Id="rId2" Type="http://schemas.openxmlformats.org/officeDocument/2006/relationships/notesMaster" Target="../notesMasters/notesMaster1.xml" /></Relationships>
</file>

<file path=ppt/notesSlides/_rels/notesSlide3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1.xml" /><Relationship Id="rId2" Type="http://schemas.openxmlformats.org/officeDocument/2006/relationships/notesMaster" Target="../notesMasters/notesMaster1.xml" /></Relationships>
</file>

<file path=ppt/notesSlides/_rels/notesSlide3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2.xml" /><Relationship Id="rId2" Type="http://schemas.openxmlformats.org/officeDocument/2006/relationships/notesMaster" Target="../notesMasters/notesMaster1.xml" /></Relationships>
</file>

<file path=ppt/notesSlides/_rels/notesSlide3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3.xml" /><Relationship Id="rId2" Type="http://schemas.openxmlformats.org/officeDocument/2006/relationships/notesMaster" Target="../notesMasters/notesMaster1.xml" /></Relationships>
</file>

<file path=ppt/notesSlides/_rels/notesSlide3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4.xml" /><Relationship Id="rId2" Type="http://schemas.openxmlformats.org/officeDocument/2006/relationships/notesMaster" Target="../notesMasters/notesMaster1.xml" /></Relationships>
</file>

<file path=ppt/notesSlides/_rels/notesSlide3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5.xml" /><Relationship Id="rId2" Type="http://schemas.openxmlformats.org/officeDocument/2006/relationships/notesMaster" Target="../notesMasters/notesMaster1.xml" /></Relationships>
</file>

<file path=ppt/notesSlides/_rels/notesSlide3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6.xml" /><Relationship Id="rId2" Type="http://schemas.openxmlformats.org/officeDocument/2006/relationships/notesMaster" Target="../notesMasters/notesMaster1.xml" /></Relationships>
</file>

<file path=ppt/notesSlides/_rels/notesSlide3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7.xml" /><Relationship Id="rId2" Type="http://schemas.openxmlformats.org/officeDocument/2006/relationships/notesMaster" Target="../notesMasters/notesMaster1.xml" /></Relationships>
</file>

<file path=ppt/notesSlides/_rels/notesSlide3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8.xml" /><Relationship Id="rId2" Type="http://schemas.openxmlformats.org/officeDocument/2006/relationships/notesMaster" Target="../notesMasters/notesMaster1.xml" /></Relationships>
</file>

<file path=ppt/notesSlides/_rels/notesSlide3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9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46" name="Shape 746"/>
        <p:cNvGrpSpPr/>
        <p:nvPr/>
      </p:nvGrpSpPr>
      <p:grpSpPr>
        <a:xfrm>
          <a:off x="0" y="0"/>
          <a:ext cx="0" cy="0"/>
        </a:xfrm>
      </p:grpSpPr>
      <p:sp>
        <p:nvSpPr>
          <p:cNvPr id="747" name="Google Shape;747;g279955a40ae_0_83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79955a40ae_0_83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52" name="Shape 752"/>
        <p:cNvGrpSpPr/>
        <p:nvPr/>
      </p:nvGrpSpPr>
      <p:grpSpPr>
        <a:xfrm>
          <a:off x="0" y="0"/>
          <a:ext cx="0" cy="0"/>
        </a:xfrm>
      </p:grpSpPr>
      <p:sp>
        <p:nvSpPr>
          <p:cNvPr id="753" name="Google Shape;753;g279955a40ae_0_83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57" name="Shape 757"/>
        <p:cNvGrpSpPr/>
        <p:nvPr/>
      </p:nvGrpSpPr>
      <p:grpSpPr>
        <a:xfrm>
          <a:off x="0" y="0"/>
          <a:ext cx="0" cy="0"/>
        </a:xfrm>
      </p:grpSpPr>
      <p:sp>
        <p:nvSpPr>
          <p:cNvPr id="758" name="Google Shape;758;g279955a40ae_0_84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62" name="Shape 762"/>
        <p:cNvGrpSpPr/>
        <p:nvPr/>
      </p:nvGrpSpPr>
      <p:grpSpPr>
        <a:xfrm>
          <a:off x="0" y="0"/>
          <a:ext cx="0" cy="0"/>
        </a:xfrm>
      </p:grpSpPr>
      <p:sp>
        <p:nvSpPr>
          <p:cNvPr id="763" name="Google Shape;763;g2a207fd33e7_0_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2a207fd33e7_0_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69" name="Shape 769"/>
        <p:cNvGrpSpPr/>
        <p:nvPr/>
      </p:nvGrpSpPr>
      <p:grpSpPr>
        <a:xfrm>
          <a:off x="0" y="0"/>
          <a:ext cx="0" cy="0"/>
        </a:xfrm>
      </p:grpSpPr>
      <p:sp>
        <p:nvSpPr>
          <p:cNvPr id="770" name="Google Shape;770;g299aac48c8f_0_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1" name="Google Shape;771;g299aac48c8f_0_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77" name="Shape 777"/>
        <p:cNvGrpSpPr/>
        <p:nvPr/>
      </p:nvGrpSpPr>
      <p:grpSpPr>
        <a:xfrm>
          <a:off x="0" y="0"/>
          <a:ext cx="0" cy="0"/>
        </a:xfrm>
      </p:grpSpPr>
      <p:sp>
        <p:nvSpPr>
          <p:cNvPr id="778" name="Google Shape;778;g299aac48c8f_0_1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9" name="Google Shape;779;g299aac48c8f_0_1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90" name="Shape 790"/>
        <p:cNvGrpSpPr/>
        <p:nvPr/>
      </p:nvGrpSpPr>
      <p:grpSpPr>
        <a:xfrm>
          <a:off x="0" y="0"/>
          <a:ext cx="0" cy="0"/>
        </a:xfrm>
      </p:grpSpPr>
      <p:sp>
        <p:nvSpPr>
          <p:cNvPr id="791" name="Google Shape;791;g299aac48c8f_0_3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2" name="Google Shape;792;g299aac48c8f_0_3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07" name="Shape 807"/>
        <p:cNvGrpSpPr/>
        <p:nvPr/>
      </p:nvGrpSpPr>
      <p:grpSpPr>
        <a:xfrm>
          <a:off x="0" y="0"/>
          <a:ext cx="0" cy="0"/>
        </a:xfrm>
      </p:grpSpPr>
      <p:sp>
        <p:nvSpPr>
          <p:cNvPr id="808" name="Google Shape;808;g299aac48c8f_0_5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9" name="Google Shape;809;g299aac48c8f_0_5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31" name="Shape 831"/>
        <p:cNvGrpSpPr/>
        <p:nvPr/>
      </p:nvGrpSpPr>
      <p:grpSpPr>
        <a:xfrm>
          <a:off x="0" y="0"/>
          <a:ext cx="0" cy="0"/>
        </a:xfrm>
      </p:grpSpPr>
      <p:sp>
        <p:nvSpPr>
          <p:cNvPr id="832" name="Google Shape;832;g299aac48c8f_0_7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3" name="Google Shape;833;g299aac48c8f_0_7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43" name="Shape 843"/>
        <p:cNvGrpSpPr/>
        <p:nvPr/>
      </p:nvGrpSpPr>
      <p:grpSpPr>
        <a:xfrm>
          <a:off x="0" y="0"/>
          <a:ext cx="0" cy="0"/>
        </a:xfrm>
      </p:grpSpPr>
      <p:sp>
        <p:nvSpPr>
          <p:cNvPr id="844" name="Google Shape;844;g299aac48c8f_0_8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5" name="Google Shape;845;g299aac48c8f_0_8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61" name="Shape 861"/>
        <p:cNvGrpSpPr/>
        <p:nvPr/>
      </p:nvGrpSpPr>
      <p:grpSpPr>
        <a:xfrm>
          <a:off x="0" y="0"/>
          <a:ext cx="0" cy="0"/>
        </a:xfrm>
      </p:grpSpPr>
      <p:sp>
        <p:nvSpPr>
          <p:cNvPr id="862" name="Google Shape;862;g299aac48c8f_0_10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3" name="Google Shape;863;g299aac48c8f_0_10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74" name="Shape 874"/>
        <p:cNvGrpSpPr/>
        <p:nvPr/>
      </p:nvGrpSpPr>
      <p:grpSpPr>
        <a:xfrm>
          <a:off x="0" y="0"/>
          <a:ext cx="0" cy="0"/>
        </a:xfrm>
      </p:grpSpPr>
      <p:sp>
        <p:nvSpPr>
          <p:cNvPr id="875" name="Google Shape;875;g299aac48c8f_0_12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6" name="Google Shape;876;g299aac48c8f_0_12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95" name="Shape 895"/>
        <p:cNvGrpSpPr/>
        <p:nvPr/>
      </p:nvGrpSpPr>
      <p:grpSpPr>
        <a:xfrm>
          <a:off x="0" y="0"/>
          <a:ext cx="0" cy="0"/>
        </a:xfrm>
      </p:grpSpPr>
      <p:sp>
        <p:nvSpPr>
          <p:cNvPr id="896" name="Google Shape;896;g299aac48c8f_0_15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7" name="Google Shape;897;g299aac48c8f_0_15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06" name="Shape 906"/>
        <p:cNvGrpSpPr/>
        <p:nvPr/>
      </p:nvGrpSpPr>
      <p:grpSpPr>
        <a:xfrm>
          <a:off x="0" y="0"/>
          <a:ext cx="0" cy="0"/>
        </a:xfrm>
      </p:grpSpPr>
      <p:sp>
        <p:nvSpPr>
          <p:cNvPr id="907" name="Google Shape;907;g299aac48c8f_0_16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8" name="Google Shape;908;g299aac48c8f_0_16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17" name="Shape 917"/>
        <p:cNvGrpSpPr/>
        <p:nvPr/>
      </p:nvGrpSpPr>
      <p:grpSpPr>
        <a:xfrm>
          <a:off x="0" y="0"/>
          <a:ext cx="0" cy="0"/>
        </a:xfrm>
      </p:grpSpPr>
      <p:sp>
        <p:nvSpPr>
          <p:cNvPr id="918" name="Google Shape;918;g299aac48c8f_0_17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9" name="Google Shape;919;g299aac48c8f_0_17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28" name="Shape 928"/>
        <p:cNvGrpSpPr/>
        <p:nvPr/>
      </p:nvGrpSpPr>
      <p:grpSpPr>
        <a:xfrm>
          <a:off x="0" y="0"/>
          <a:ext cx="0" cy="0"/>
        </a:xfrm>
      </p:grpSpPr>
      <p:sp>
        <p:nvSpPr>
          <p:cNvPr id="929" name="Google Shape;929;g299aac48c8f_0_18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0" name="Google Shape;930;g299aac48c8f_0_18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41" name="Shape 941"/>
        <p:cNvGrpSpPr/>
        <p:nvPr/>
      </p:nvGrpSpPr>
      <p:grpSpPr>
        <a:xfrm>
          <a:off x="0" y="0"/>
          <a:ext cx="0" cy="0"/>
        </a:xfrm>
      </p:grpSpPr>
      <p:sp>
        <p:nvSpPr>
          <p:cNvPr id="942" name="Google Shape;942;g299aac48c8f_0_21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3" name="Google Shape;943;g299aac48c8f_0_21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54" name="Shape 954"/>
        <p:cNvGrpSpPr/>
        <p:nvPr/>
      </p:nvGrpSpPr>
      <p:grpSpPr>
        <a:xfrm>
          <a:off x="0" y="0"/>
          <a:ext cx="0" cy="0"/>
        </a:xfrm>
      </p:grpSpPr>
      <p:sp>
        <p:nvSpPr>
          <p:cNvPr id="955" name="Google Shape;955;g299aac48c8f_0_25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6" name="Google Shape;956;g299aac48c8f_0_25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67" name="Shape 967"/>
        <p:cNvGrpSpPr/>
        <p:nvPr/>
      </p:nvGrpSpPr>
      <p:grpSpPr>
        <a:xfrm>
          <a:off x="0" y="0"/>
          <a:ext cx="0" cy="0"/>
        </a:xfrm>
      </p:grpSpPr>
      <p:sp>
        <p:nvSpPr>
          <p:cNvPr id="968" name="Google Shape;968;g299aac48c8f_0_26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9" name="Google Shape;969;g299aac48c8f_0_26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84" name="Shape 984"/>
        <p:cNvGrpSpPr/>
        <p:nvPr/>
      </p:nvGrpSpPr>
      <p:grpSpPr>
        <a:xfrm>
          <a:off x="0" y="0"/>
          <a:ext cx="0" cy="0"/>
        </a:xfrm>
      </p:grpSpPr>
      <p:sp>
        <p:nvSpPr>
          <p:cNvPr id="985" name="Google Shape;985;g299aac48c8f_0_1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6" name="Google Shape;986;g299aac48c8f_0_1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92" name="Shape 992"/>
        <p:cNvGrpSpPr/>
        <p:nvPr/>
      </p:nvGrpSpPr>
      <p:grpSpPr>
        <a:xfrm>
          <a:off x="0" y="0"/>
          <a:ext cx="0" cy="0"/>
        </a:xfrm>
      </p:grpSpPr>
      <p:sp>
        <p:nvSpPr>
          <p:cNvPr id="993" name="Google Shape;993;g299aac48c8f_0_32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4" name="Google Shape;994;g299aac48c8f_0_32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07" name="Shape 1007"/>
        <p:cNvGrpSpPr/>
        <p:nvPr/>
      </p:nvGrpSpPr>
      <p:grpSpPr>
        <a:xfrm>
          <a:off x="0" y="0"/>
          <a:ext cx="0" cy="0"/>
        </a:xfrm>
      </p:grpSpPr>
      <p:sp>
        <p:nvSpPr>
          <p:cNvPr id="1008" name="Google Shape;1008;g29a7c396705_0_3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9" name="Google Shape;1009;g29a7c396705_0_3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25" name="Shape 1025"/>
        <p:cNvGrpSpPr/>
        <p:nvPr/>
      </p:nvGrpSpPr>
      <p:grpSpPr>
        <a:xfrm>
          <a:off x="0" y="0"/>
          <a:ext cx="0" cy="0"/>
        </a:xfrm>
      </p:grpSpPr>
      <p:sp>
        <p:nvSpPr>
          <p:cNvPr id="1026" name="Google Shape;1026;g29a7c396705_0_1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7" name="Google Shape;1027;g29a7c396705_0_1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47" name="Shape 1047"/>
        <p:cNvGrpSpPr/>
        <p:nvPr/>
      </p:nvGrpSpPr>
      <p:grpSpPr>
        <a:xfrm>
          <a:off x="0" y="0"/>
          <a:ext cx="0" cy="0"/>
        </a:xfrm>
      </p:grpSpPr>
      <p:sp>
        <p:nvSpPr>
          <p:cNvPr id="1048" name="Google Shape;1048;g29a7c396705_0_5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9" name="Google Shape;1049;g29a7c396705_0_5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74" name="Shape 1074"/>
        <p:cNvGrpSpPr/>
        <p:nvPr/>
      </p:nvGrpSpPr>
      <p:grpSpPr>
        <a:xfrm>
          <a:off x="0" y="0"/>
          <a:ext cx="0" cy="0"/>
        </a:xfrm>
      </p:grpSpPr>
      <p:sp>
        <p:nvSpPr>
          <p:cNvPr id="1075" name="Google Shape;1075;g29a7c396705_0_8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6" name="Google Shape;1076;g29a7c396705_0_8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84" name="Shape 1084"/>
        <p:cNvGrpSpPr/>
        <p:nvPr/>
      </p:nvGrpSpPr>
      <p:grpSpPr>
        <a:xfrm>
          <a:off x="0" y="0"/>
          <a:ext cx="0" cy="0"/>
        </a:xfrm>
      </p:grpSpPr>
      <p:sp>
        <p:nvSpPr>
          <p:cNvPr id="1085" name="Google Shape;1085;g29a7c396705_0_10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6" name="Google Shape;1086;g29a7c396705_0_10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96" name="Shape 1096"/>
        <p:cNvGrpSpPr/>
        <p:nvPr/>
      </p:nvGrpSpPr>
      <p:grpSpPr>
        <a:xfrm>
          <a:off x="0" y="0"/>
          <a:ext cx="0" cy="0"/>
        </a:xfrm>
      </p:grpSpPr>
      <p:sp>
        <p:nvSpPr>
          <p:cNvPr id="1097" name="Google Shape;1097;g29a7c396705_0_11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8" name="Google Shape;1098;g29a7c396705_0_11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04" name="Shape 1104"/>
        <p:cNvGrpSpPr/>
        <p:nvPr/>
      </p:nvGrpSpPr>
      <p:grpSpPr>
        <a:xfrm>
          <a:off x="0" y="0"/>
          <a:ext cx="0" cy="0"/>
        </a:xfrm>
      </p:grpSpPr>
      <p:sp>
        <p:nvSpPr>
          <p:cNvPr id="1105" name="Google Shape;1105;g29a7c396705_0_12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6" name="Google Shape;1106;g29a7c396705_0_12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31" name="Shape 1131"/>
        <p:cNvGrpSpPr/>
        <p:nvPr/>
      </p:nvGrpSpPr>
      <p:grpSpPr>
        <a:xfrm>
          <a:off x="0" y="0"/>
          <a:ext cx="0" cy="0"/>
        </a:xfrm>
      </p:grpSpPr>
      <p:sp>
        <p:nvSpPr>
          <p:cNvPr id="1132" name="Google Shape;1132;g29a7c396705_0_16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3" name="Google Shape;1133;g29a7c396705_0_16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49" name="Shape 1149"/>
        <p:cNvGrpSpPr/>
        <p:nvPr/>
      </p:nvGrpSpPr>
      <p:grpSpPr>
        <a:xfrm>
          <a:off x="0" y="0"/>
          <a:ext cx="0" cy="0"/>
        </a:xfrm>
      </p:grpSpPr>
      <p:sp>
        <p:nvSpPr>
          <p:cNvPr id="1150" name="Google Shape;1150;g29a7c396705_0_19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1" name="Google Shape;1151;g29a7c396705_0_19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86" name="Shape 1186"/>
        <p:cNvGrpSpPr/>
        <p:nvPr/>
      </p:nvGrpSpPr>
      <p:grpSpPr>
        <a:xfrm>
          <a:off x="0" y="0"/>
          <a:ext cx="0" cy="0"/>
        </a:xfrm>
      </p:grpSpPr>
      <p:sp>
        <p:nvSpPr>
          <p:cNvPr id="1187" name="Google Shape;1187;g29a7c396705_0_24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8" name="Google Shape;1188;g29a7c396705_0_24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09" name="Shape 1209"/>
        <p:cNvGrpSpPr/>
        <p:nvPr/>
      </p:nvGrpSpPr>
      <p:grpSpPr>
        <a:xfrm>
          <a:off x="0" y="0"/>
          <a:ext cx="0" cy="0"/>
        </a:xfrm>
      </p:grpSpPr>
      <p:sp>
        <p:nvSpPr>
          <p:cNvPr id="1210" name="Google Shape;1210;g29a7c396705_0_29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1" name="Google Shape;1211;g29a7c396705_0_29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20" name="Shape 1220"/>
        <p:cNvGrpSpPr/>
        <p:nvPr/>
      </p:nvGrpSpPr>
      <p:grpSpPr>
        <a:xfrm>
          <a:off x="0" y="0"/>
          <a:ext cx="0" cy="0"/>
        </a:xfrm>
      </p:grpSpPr>
      <p:sp>
        <p:nvSpPr>
          <p:cNvPr id="1221" name="Google Shape;1221;g29a7c396705_0_32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2" name="Google Shape;1222;g29a7c396705_0_32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31" name="Shape 1231"/>
        <p:cNvGrpSpPr/>
        <p:nvPr/>
      </p:nvGrpSpPr>
      <p:grpSpPr>
        <a:xfrm>
          <a:off x="0" y="0"/>
          <a:ext cx="0" cy="0"/>
        </a:xfrm>
      </p:grpSpPr>
      <p:sp>
        <p:nvSpPr>
          <p:cNvPr id="1232" name="Google Shape;1232;g29a7c396705_0_33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3" name="Google Shape;1233;g29a7c396705_0_33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48" name="Shape 1248"/>
        <p:cNvGrpSpPr/>
        <p:nvPr/>
      </p:nvGrpSpPr>
      <p:grpSpPr>
        <a:xfrm>
          <a:off x="0" y="0"/>
          <a:ext cx="0" cy="0"/>
        </a:xfrm>
      </p:grpSpPr>
      <p:sp>
        <p:nvSpPr>
          <p:cNvPr id="1249" name="Google Shape;1249;g29a7c396705_0_35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0" name="Google Shape;1250;g29a7c396705_0_35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63" name="Shape 1263"/>
        <p:cNvGrpSpPr/>
        <p:nvPr/>
      </p:nvGrpSpPr>
      <p:grpSpPr>
        <a:xfrm>
          <a:off x="0" y="0"/>
          <a:ext cx="0" cy="0"/>
        </a:xfrm>
      </p:grpSpPr>
      <p:sp>
        <p:nvSpPr>
          <p:cNvPr id="1264" name="Google Shape;1264;g29a7c396705_0_36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5" name="Google Shape;1265;g29a7c396705_0_36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82" name="Shape 1282"/>
        <p:cNvGrpSpPr/>
        <p:nvPr/>
      </p:nvGrpSpPr>
      <p:grpSpPr>
        <a:xfrm>
          <a:off x="0" y="0"/>
          <a:ext cx="0" cy="0"/>
        </a:xfrm>
      </p:grpSpPr>
      <p:sp>
        <p:nvSpPr>
          <p:cNvPr id="1283" name="Google Shape;1283;g29a7c396705_0_37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4" name="Google Shape;1284;g29a7c396705_0_37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08" name="Shape 1308"/>
        <p:cNvGrpSpPr/>
        <p:nvPr/>
      </p:nvGrpSpPr>
      <p:grpSpPr>
        <a:xfrm>
          <a:off x="0" y="0"/>
          <a:ext cx="0" cy="0"/>
        </a:xfrm>
      </p:grpSpPr>
      <p:sp>
        <p:nvSpPr>
          <p:cNvPr id="1309" name="Google Shape;1309;g279955a40ae_0_84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0" name="Google Shape;1310;g279955a40ae_0_84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14" name="Shape 1314"/>
        <p:cNvGrpSpPr/>
        <p:nvPr/>
      </p:nvGrpSpPr>
      <p:grpSpPr>
        <a:xfrm>
          <a:off x="0" y="0"/>
          <a:ext cx="0" cy="0"/>
        </a:xfrm>
      </p:grpSpPr>
      <p:sp>
        <p:nvSpPr>
          <p:cNvPr id="1315" name="Google Shape;1315;g279955a40ae_0_85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6" name="Google Shape;1316;g279955a40ae_0_85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6.png" /><Relationship Id="rId4" Type="http://schemas.openxmlformats.org/officeDocument/2006/relationships/image" Target="../media/image7.png" /><Relationship Id="rId5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8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.png" /><Relationship Id="rId2" Type="http://schemas.openxmlformats.org/officeDocument/2006/relationships/image" Target="../media/image1.png" /><Relationship Id="rId3" Type="http://schemas.openxmlformats.org/officeDocument/2006/relationships/image" Target="../media/image9.png" /><Relationship Id="rId4" Type="http://schemas.openxmlformats.org/officeDocument/2006/relationships/image" Target="../media/image10.png" /><Relationship Id="rId5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1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12.png" /><Relationship Id="rId4" Type="http://schemas.openxmlformats.org/officeDocument/2006/relationships/image" Target="../media/image13.png" /><Relationship Id="rId5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4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6.png" /><Relationship Id="rId2" Type="http://schemas.openxmlformats.org/officeDocument/2006/relationships/image" Target="../media/image17.png" /><Relationship Id="rId3" Type="http://schemas.openxmlformats.org/officeDocument/2006/relationships/image" Target="../media/image18.png" /><Relationship Id="rId4" Type="http://schemas.openxmlformats.org/officeDocument/2006/relationships/image" Target="../media/image19.png" /><Relationship Id="rId5" Type="http://schemas.openxmlformats.org/officeDocument/2006/relationships/image" Target="../media/image20.png" /><Relationship Id="rId6" Type="http://schemas.openxmlformats.org/officeDocument/2006/relationships/image" Target="../media/image21.png" /><Relationship Id="rId7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3.png" /><Relationship Id="rId2" Type="http://schemas.openxmlformats.org/officeDocument/2006/relationships/image" Target="../media/image24.png" /><Relationship Id="rId3" Type="http://schemas.openxmlformats.org/officeDocument/2006/relationships/image" Target="../media/image25.png" /><Relationship Id="rId4" Type="http://schemas.openxmlformats.org/officeDocument/2006/relationships/image" Target="../media/image26.png" /><Relationship Id="rId5" Type="http://schemas.openxmlformats.org/officeDocument/2006/relationships/image" Target="../media/image27.png" /><Relationship Id="rId6" Type="http://schemas.openxmlformats.org/officeDocument/2006/relationships/image" Target="../media/image22.png" /><Relationship Id="rId7" Type="http://schemas.openxmlformats.org/officeDocument/2006/relationships/slideMaster" Target="../slideMasters/slideMaster1.xml" /></Relationships>
</file>

<file path=ppt/slideLayouts/_rels/slideLayout1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2" Type="http://schemas.openxmlformats.org/officeDocument/2006/relationships/image" Target="../media/image25.png" /><Relationship Id="rId3" Type="http://schemas.openxmlformats.org/officeDocument/2006/relationships/image" Target="../media/image23.png" /><Relationship Id="rId4" Type="http://schemas.openxmlformats.org/officeDocument/2006/relationships/image" Target="../media/image24.png" /><Relationship Id="rId5" Type="http://schemas.openxmlformats.org/officeDocument/2006/relationships/image" Target="../media/image29.png" /><Relationship Id="rId6" Type="http://schemas.openxmlformats.org/officeDocument/2006/relationships/image" Target="../media/image26.png" /><Relationship Id="rId7" Type="http://schemas.openxmlformats.org/officeDocument/2006/relationships/image" Target="../media/image27.png" /><Relationship Id="rId8" Type="http://schemas.openxmlformats.org/officeDocument/2006/relationships/image" Target="../media/image22.png" /><Relationship Id="rId9" Type="http://schemas.openxmlformats.org/officeDocument/2006/relationships/slideMaster" Target="../slideMasters/slideMaster1.xml" /></Relationships>
</file>

<file path=ppt/slideLayouts/_rels/slideLayout2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10" Type="http://schemas.openxmlformats.org/officeDocument/2006/relationships/image" Target="../media/image22.png" /><Relationship Id="rId11" Type="http://schemas.openxmlformats.org/officeDocument/2006/relationships/slideMaster" Target="../slideMasters/slideMaster1.xml" /><Relationship Id="rId2" Type="http://schemas.openxmlformats.org/officeDocument/2006/relationships/image" Target="../media/image25.png" /><Relationship Id="rId3" Type="http://schemas.openxmlformats.org/officeDocument/2006/relationships/image" Target="../media/image30.png" /><Relationship Id="rId4" Type="http://schemas.openxmlformats.org/officeDocument/2006/relationships/image" Target="../media/image23.png" /><Relationship Id="rId5" Type="http://schemas.openxmlformats.org/officeDocument/2006/relationships/image" Target="../media/image24.png" /><Relationship Id="rId6" Type="http://schemas.openxmlformats.org/officeDocument/2006/relationships/image" Target="../media/image29.png" /><Relationship Id="rId7" Type="http://schemas.openxmlformats.org/officeDocument/2006/relationships/image" Target="../media/image26.png" /><Relationship Id="rId8" Type="http://schemas.openxmlformats.org/officeDocument/2006/relationships/image" Target="../media/image27.png" /><Relationship Id="rId9" Type="http://schemas.openxmlformats.org/officeDocument/2006/relationships/image" Target="../media/image31.png" /></Relationships>
</file>

<file path=ppt/slideLayouts/_rels/slideLayout2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8.png" /><Relationship Id="rId2" Type="http://schemas.openxmlformats.org/officeDocument/2006/relationships/image" Target="../media/image32.png" /><Relationship Id="rId3" Type="http://schemas.openxmlformats.org/officeDocument/2006/relationships/image" Target="../media/image37.png" /><Relationship Id="rId4" Type="http://schemas.openxmlformats.org/officeDocument/2006/relationships/image" Target="../media/image39.png" /><Relationship Id="rId5" Type="http://schemas.openxmlformats.org/officeDocument/2006/relationships/slideMaster" Target="../slideMasters/slideMaster1.xml" /></Relationships>
</file>

<file path=ppt/slideLayouts/_rels/slideLayout3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5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5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2.png" /><Relationship Id="rId2" Type="http://schemas.openxmlformats.org/officeDocument/2006/relationships/slideMaster" Target="../slideMasters/slideMaster1.xml" /></Relationships>
</file>

<file path=ppt/slideLayouts/_rels/slideLayout6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1.xml" /></Relationships>
</file>

<file path=ppt/slideLayouts/_rels/slideLayout6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English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English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subTitle" idx="1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aths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pic>
        <p:nvPicPr>
          <p:cNvPr id="18" name="Google Shape;18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Maths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Geography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</a:xfrm>
      </p:grpSpPr>
      <p:pic>
        <p:nvPicPr>
          <p:cNvPr id="26" name="Google Shape;26;p4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Geography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type="subTitle" idx="1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History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pic>
        <p:nvPicPr>
          <p:cNvPr id="34" name="Google Shape;34;p5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History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type="subTitle" idx="1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usic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</a:xfrm>
      </p:grpSpPr>
      <p:pic>
        <p:nvPicPr>
          <p:cNvPr id="45" name="Google Shape;45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Music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type="subTitle" idx="1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Science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Science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>
          <a:blip r:embed="rId2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Biology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</a:xfrm>
      </p:grpSpPr>
      <p:pic>
        <p:nvPicPr>
          <p:cNvPr id="64" name="Google Shape;64;p8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Biology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type="subTitle" idx="1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Physics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</a:xfrm>
      </p:grpSpPr>
      <p:pic>
        <p:nvPicPr>
          <p:cNvPr id="72" name="Google Shape;72;p9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Physics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Chemistry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</a:xfrm>
      </p:grpSpPr>
      <p:pic>
        <p:nvPicPr>
          <p:cNvPr id="83" name="Google Shape;83;p10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Chemistry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type="subTitle" idx="1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800" b="1">
                <a:latin typeface="Lexend"/>
                <a:ea typeface="Lexend"/>
                <a:cs typeface="Lexend"/>
                <a:sym typeface="Lexend"/>
              </a:rPr>
              <a:t>Outcome</a:t>
            </a:r>
            <a:endParaRPr sz="2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lang="en-GB" sz="1200" i="1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 on                                          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1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>
          <a:blip r:embed="rId5">
            <a:alphaModFix/>
          </a:blip>
          <a:srcRect l="3910" b="5222"/>
          <a:stretch>
            <a:fillRect/>
          </a:stretch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type="subTitle" idx="1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type="subTitle" idx="2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type="subTitle" idx="3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type="subTitle" idx="1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type="subTitle" idx="2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type="subTitle" idx="3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type="subTitle" idx="1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type="subTitle" idx="2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type="subTitle" idx="3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type="subTitle" idx="4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type="subTitle" idx="1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type="subTitle" idx="2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type="subTitle" idx="3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type="subTitle" idx="4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type="subTitle" idx="1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type="subTitle" idx="2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type="subTitle" idx="3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type="subTitle" idx="4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type="subTitle" idx="5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type="subTitle" idx="1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type="subTitle" idx="2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type="subTitle" idx="3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type="subTitle" idx="4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5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>
          <a:blip r:embed="rId1">
            <a:alphaModFix/>
          </a:blip>
          <a:srcRect t="3678" b="3669"/>
          <a:stretch>
            <a:fillRect/>
          </a:stretch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rcRect t="3678" b="3669"/>
          <a:stretch>
            <a:fillRect/>
          </a:stretch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rcRect l="74623"/>
          <a:stretch>
            <a:fillRect/>
          </a:stretch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>
          <a:blip r:embed="rId6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</a:xfrm>
      </p:grpSpPr>
      <p:pic>
        <p:nvPicPr>
          <p:cNvPr id="169" name="Google Shape;169;p20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>
          <a:blip r:embed="rId3">
            <a:alphaModFix/>
          </a:blip>
          <a:srcRect t="3678" b="3669"/>
          <a:stretch>
            <a:fillRect/>
          </a:stretch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 flipH="1">
            <a:off x="647802" y="1841898"/>
            <a:ext cx="0" cy="23664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type="title" idx="2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type="title" idx="3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>
          <a:blip r:embed="rId8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type="title" idx="4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2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</a:xfrm>
      </p:grpSpPr>
      <p:pic>
        <p:nvPicPr>
          <p:cNvPr id="187" name="Google Shape;187;p21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>
          <a:blip r:embed="rId3">
            <a:alphaModFix/>
          </a:blip>
          <a:srcRect t="4387" b="4396"/>
          <a:stretch>
            <a:fillRect/>
          </a:stretch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>
          <a:blip r:embed="rId5">
            <a:alphaModFix/>
          </a:blip>
          <a:srcRect t="3678" b="3669"/>
          <a:stretch>
            <a:fillRect/>
          </a:stretch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type="title" idx="2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type="title" idx="3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type="title" idx="4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>
          <a:blip r:embed="rId10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type="title" idx="5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2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1" name="Google Shape;211;p2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2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</a:xfrm>
      </p:grpSpPr>
      <p:pic>
        <p:nvPicPr>
          <p:cNvPr id="216" name="Google Shape;216;p2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8" name="Google Shape;218;p2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</a:xfrm>
      </p:grpSpPr>
      <p:pic>
        <p:nvPicPr>
          <p:cNvPr id="223" name="Google Shape;223;p2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5" name="Google Shape;225;p2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</a:xfrm>
      </p:grpSpPr>
      <p:pic>
        <p:nvPicPr>
          <p:cNvPr id="230" name="Google Shape;230;p2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32" name="Google Shape;232;p2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40" name="Google Shape;240;p26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53" name="Google Shape;253;p27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66" name="Google Shape;266;p28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79" name="Google Shape;279;p29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type="subTitle" idx="1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type="subTitle" idx="2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</a:xfrm>
      </p:grpSpPr>
      <p:pic>
        <p:nvPicPr>
          <p:cNvPr id="312" name="Google Shape;312;p3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</a:xfrm>
      </p:grpSpPr>
      <p:pic>
        <p:nvPicPr>
          <p:cNvPr id="335" name="Google Shape;335;p3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</a:xfrm>
      </p:grpSpPr>
      <p:pic>
        <p:nvPicPr>
          <p:cNvPr id="358" name="Google Shape;358;p3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</a:xfrm>
      </p:grpSpPr>
      <p:pic>
        <p:nvPicPr>
          <p:cNvPr id="400" name="Google Shape;400;p3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</a:xfrm>
      </p:grpSpPr>
      <p:pic>
        <p:nvPicPr>
          <p:cNvPr id="419" name="Google Shape;419;p3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</a:xfrm>
      </p:grpSpPr>
      <p:pic>
        <p:nvPicPr>
          <p:cNvPr id="438" name="Google Shape;438;p3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</a:xfrm>
      </p:grpSpPr>
      <p:pic>
        <p:nvPicPr>
          <p:cNvPr id="480" name="Google Shape;480;p3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</a:xfrm>
      </p:grpSpPr>
      <p:pic>
        <p:nvPicPr>
          <p:cNvPr id="503" name="Google Shape;503;p40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</a:xfrm>
      </p:grpSpPr>
      <p:pic>
        <p:nvPicPr>
          <p:cNvPr id="526" name="Google Shape;526;p4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56" name="Google Shape;556;p42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57" name="Google Shape;557;p42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</a:xfrm>
      </p:grpSpPr>
      <p:pic>
        <p:nvPicPr>
          <p:cNvPr id="568" name="Google Shape;568;p4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75" name="Google Shape;575;p43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76" name="Google Shape;576;p43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</a:xfrm>
      </p:grpSpPr>
      <p:pic>
        <p:nvPicPr>
          <p:cNvPr id="587" name="Google Shape;587;p4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94" name="Google Shape;594;p44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95" name="Google Shape;595;p44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</a:xfrm>
      </p:grpSpPr>
      <p:pic>
        <p:nvPicPr>
          <p:cNvPr id="606" name="Google Shape;606;p4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613" name="Google Shape;613;p45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614" name="Google Shape;614;p45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27" name="Google Shape;627;p46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</a:xfrm>
      </p:grpSpPr>
      <p:pic>
        <p:nvPicPr>
          <p:cNvPr id="632" name="Google Shape;632;p4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34" name="Google Shape;634;p47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</a:xfrm>
      </p:grpSpPr>
      <p:pic>
        <p:nvPicPr>
          <p:cNvPr id="639" name="Google Shape;639;p48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41" name="Google Shape;641;p48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</a:xfrm>
      </p:grpSpPr>
      <p:pic>
        <p:nvPicPr>
          <p:cNvPr id="646" name="Google Shape;646;p4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48" name="Google Shape;648;p49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55" name="Google Shape;655;p50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</a:xfrm>
      </p:grpSpPr>
      <p:pic>
        <p:nvPicPr>
          <p:cNvPr id="661" name="Google Shape;661;p5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63" name="Google Shape;663;p51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</a:xfrm>
      </p:grpSpPr>
      <p:pic>
        <p:nvPicPr>
          <p:cNvPr id="669" name="Google Shape;669;p5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71" name="Google Shape;671;p5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</a:xfrm>
      </p:grpSpPr>
      <p:pic>
        <p:nvPicPr>
          <p:cNvPr id="677" name="Google Shape;677;p5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79" name="Google Shape;679;p5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87" name="Google Shape;687;p5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</a:xfrm>
      </p:grpSpPr>
      <p:pic>
        <p:nvPicPr>
          <p:cNvPr id="693" name="Google Shape;693;p5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95" name="Google Shape;695;p5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</a:xfrm>
      </p:grpSpPr>
      <p:pic>
        <p:nvPicPr>
          <p:cNvPr id="701" name="Google Shape;701;p5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03" name="Google Shape;703;p56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</a:xfrm>
      </p:grpSpPr>
      <p:pic>
        <p:nvPicPr>
          <p:cNvPr id="709" name="Google Shape;709;p5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11" name="Google Shape;711;p57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3 Projectable quiz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6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6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type="subTitle" idx="1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6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None/>
              <a:defRPr/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slideLayout" Target="../slideLayouts/slideLayout12.xml" /><Relationship Id="rId13" Type="http://schemas.openxmlformats.org/officeDocument/2006/relationships/slideLayout" Target="../slideLayouts/slideLayout13.xml" /><Relationship Id="rId14" Type="http://schemas.openxmlformats.org/officeDocument/2006/relationships/slideLayout" Target="../slideLayouts/slideLayout14.xml" /><Relationship Id="rId15" Type="http://schemas.openxmlformats.org/officeDocument/2006/relationships/slideLayout" Target="../slideLayouts/slideLayout15.xml" /><Relationship Id="rId16" Type="http://schemas.openxmlformats.org/officeDocument/2006/relationships/slideLayout" Target="../slideLayouts/slideLayout16.xml" /><Relationship Id="rId17" Type="http://schemas.openxmlformats.org/officeDocument/2006/relationships/slideLayout" Target="../slideLayouts/slideLayout17.xml" /><Relationship Id="rId18" Type="http://schemas.openxmlformats.org/officeDocument/2006/relationships/slideLayout" Target="../slideLayouts/slideLayout18.xml" /><Relationship Id="rId19" Type="http://schemas.openxmlformats.org/officeDocument/2006/relationships/slideLayout" Target="../slideLayouts/slideLayout19.xml" /><Relationship Id="rId2" Type="http://schemas.openxmlformats.org/officeDocument/2006/relationships/slideLayout" Target="../slideLayouts/slideLayout2.xml" /><Relationship Id="rId20" Type="http://schemas.openxmlformats.org/officeDocument/2006/relationships/slideLayout" Target="../slideLayouts/slideLayout20.xml" /><Relationship Id="rId21" Type="http://schemas.openxmlformats.org/officeDocument/2006/relationships/slideLayout" Target="../slideLayouts/slideLayout21.xml" /><Relationship Id="rId22" Type="http://schemas.openxmlformats.org/officeDocument/2006/relationships/slideLayout" Target="../slideLayouts/slideLayout22.xml" /><Relationship Id="rId23" Type="http://schemas.openxmlformats.org/officeDocument/2006/relationships/slideLayout" Target="../slideLayouts/slideLayout23.xml" /><Relationship Id="rId24" Type="http://schemas.openxmlformats.org/officeDocument/2006/relationships/slideLayout" Target="../slideLayouts/slideLayout24.xml" /><Relationship Id="rId25" Type="http://schemas.openxmlformats.org/officeDocument/2006/relationships/slideLayout" Target="../slideLayouts/slideLayout25.xml" /><Relationship Id="rId26" Type="http://schemas.openxmlformats.org/officeDocument/2006/relationships/slideLayout" Target="../slideLayouts/slideLayout26.xml" /><Relationship Id="rId27" Type="http://schemas.openxmlformats.org/officeDocument/2006/relationships/slideLayout" Target="../slideLayouts/slideLayout27.xml" /><Relationship Id="rId28" Type="http://schemas.openxmlformats.org/officeDocument/2006/relationships/slideLayout" Target="../slideLayouts/slideLayout28.xml" /><Relationship Id="rId29" Type="http://schemas.openxmlformats.org/officeDocument/2006/relationships/slideLayout" Target="../slideLayouts/slideLayout29.xml" /><Relationship Id="rId3" Type="http://schemas.openxmlformats.org/officeDocument/2006/relationships/slideLayout" Target="../slideLayouts/slideLayout3.xml" /><Relationship Id="rId30" Type="http://schemas.openxmlformats.org/officeDocument/2006/relationships/slideLayout" Target="../slideLayouts/slideLayout30.xml" /><Relationship Id="rId31" Type="http://schemas.openxmlformats.org/officeDocument/2006/relationships/slideLayout" Target="../slideLayouts/slideLayout31.xml" /><Relationship Id="rId32" Type="http://schemas.openxmlformats.org/officeDocument/2006/relationships/slideLayout" Target="../slideLayouts/slideLayout32.xml" /><Relationship Id="rId33" Type="http://schemas.openxmlformats.org/officeDocument/2006/relationships/slideLayout" Target="../slideLayouts/slideLayout33.xml" /><Relationship Id="rId34" Type="http://schemas.openxmlformats.org/officeDocument/2006/relationships/slideLayout" Target="../slideLayouts/slideLayout34.xml" /><Relationship Id="rId35" Type="http://schemas.openxmlformats.org/officeDocument/2006/relationships/slideLayout" Target="../slideLayouts/slideLayout35.xml" /><Relationship Id="rId36" Type="http://schemas.openxmlformats.org/officeDocument/2006/relationships/slideLayout" Target="../slideLayouts/slideLayout36.xml" /><Relationship Id="rId37" Type="http://schemas.openxmlformats.org/officeDocument/2006/relationships/slideLayout" Target="../slideLayouts/slideLayout37.xml" /><Relationship Id="rId38" Type="http://schemas.openxmlformats.org/officeDocument/2006/relationships/slideLayout" Target="../slideLayouts/slideLayout38.xml" /><Relationship Id="rId39" Type="http://schemas.openxmlformats.org/officeDocument/2006/relationships/slideLayout" Target="../slideLayouts/slideLayout39.xml" /><Relationship Id="rId4" Type="http://schemas.openxmlformats.org/officeDocument/2006/relationships/slideLayout" Target="../slideLayouts/slideLayout4.xml" /><Relationship Id="rId40" Type="http://schemas.openxmlformats.org/officeDocument/2006/relationships/slideLayout" Target="../slideLayouts/slideLayout40.xml" /><Relationship Id="rId41" Type="http://schemas.openxmlformats.org/officeDocument/2006/relationships/slideLayout" Target="../slideLayouts/slideLayout41.xml" /><Relationship Id="rId42" Type="http://schemas.openxmlformats.org/officeDocument/2006/relationships/slideLayout" Target="../slideLayouts/slideLayout42.xml" /><Relationship Id="rId43" Type="http://schemas.openxmlformats.org/officeDocument/2006/relationships/slideLayout" Target="../slideLayouts/slideLayout43.xml" /><Relationship Id="rId44" Type="http://schemas.openxmlformats.org/officeDocument/2006/relationships/slideLayout" Target="../slideLayouts/slideLayout44.xml" /><Relationship Id="rId45" Type="http://schemas.openxmlformats.org/officeDocument/2006/relationships/slideLayout" Target="../slideLayouts/slideLayout45.xml" /><Relationship Id="rId46" Type="http://schemas.openxmlformats.org/officeDocument/2006/relationships/slideLayout" Target="../slideLayouts/slideLayout46.xml" /><Relationship Id="rId47" Type="http://schemas.openxmlformats.org/officeDocument/2006/relationships/slideLayout" Target="../slideLayouts/slideLayout47.xml" /><Relationship Id="rId48" Type="http://schemas.openxmlformats.org/officeDocument/2006/relationships/slideLayout" Target="../slideLayouts/slideLayout48.xml" /><Relationship Id="rId49" Type="http://schemas.openxmlformats.org/officeDocument/2006/relationships/slideLayout" Target="../slideLayouts/slideLayout49.xml" /><Relationship Id="rId5" Type="http://schemas.openxmlformats.org/officeDocument/2006/relationships/slideLayout" Target="../slideLayouts/slideLayout5.xml" /><Relationship Id="rId50" Type="http://schemas.openxmlformats.org/officeDocument/2006/relationships/slideLayout" Target="../slideLayouts/slideLayout50.xml" /><Relationship Id="rId51" Type="http://schemas.openxmlformats.org/officeDocument/2006/relationships/slideLayout" Target="../slideLayouts/slideLayout51.xml" /><Relationship Id="rId52" Type="http://schemas.openxmlformats.org/officeDocument/2006/relationships/slideLayout" Target="../slideLayouts/slideLayout52.xml" /><Relationship Id="rId53" Type="http://schemas.openxmlformats.org/officeDocument/2006/relationships/slideLayout" Target="../slideLayouts/slideLayout53.xml" /><Relationship Id="rId54" Type="http://schemas.openxmlformats.org/officeDocument/2006/relationships/slideLayout" Target="../slideLayouts/slideLayout54.xml" /><Relationship Id="rId55" Type="http://schemas.openxmlformats.org/officeDocument/2006/relationships/slideLayout" Target="../slideLayouts/slideLayout55.xml" /><Relationship Id="rId56" Type="http://schemas.openxmlformats.org/officeDocument/2006/relationships/slideLayout" Target="../slideLayouts/slideLayout56.xml" /><Relationship Id="rId57" Type="http://schemas.openxmlformats.org/officeDocument/2006/relationships/slideLayout" Target="../slideLayouts/slideLayout57.xml" /><Relationship Id="rId58" Type="http://schemas.openxmlformats.org/officeDocument/2006/relationships/slideLayout" Target="../slideLayouts/slideLayout58.xml" /><Relationship Id="rId59" Type="http://schemas.openxmlformats.org/officeDocument/2006/relationships/slideLayout" Target="../slideLayouts/slideLayout59.xml" /><Relationship Id="rId6" Type="http://schemas.openxmlformats.org/officeDocument/2006/relationships/slideLayout" Target="../slideLayouts/slideLayout6.xml" /><Relationship Id="rId60" Type="http://schemas.openxmlformats.org/officeDocument/2006/relationships/slideLayout" Target="../slideLayouts/slideLayout60.xml" /><Relationship Id="rId61" Type="http://schemas.openxmlformats.org/officeDocument/2006/relationships/slideLayout" Target="../slideLayouts/slideLayout61.xml" /><Relationship Id="rId62" Type="http://schemas.openxmlformats.org/officeDocument/2006/relationships/slideLayout" Target="../slideLayouts/slideLayout62.xml" /><Relationship Id="rId63" Type="http://schemas.openxmlformats.org/officeDocument/2006/relationships/image" Target="../media/image42.png" /><Relationship Id="rId64" Type="http://schemas.openxmlformats.org/officeDocument/2006/relationships/theme" Target="../theme/theme1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195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4925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lnSpc>
                <a:spcPct val="130000"/>
              </a:lnSpc>
              <a:spcBef>
                <a:spcPts val="4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63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  <p:sldLayoutId id="2147483709" r:id="rId62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3.xml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 /><Relationship Id="rId2" Type="http://schemas.openxmlformats.org/officeDocument/2006/relationships/notesSlide" Target="../notesSlides/notesSlide4.xml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8.xml" /><Relationship Id="rId2" Type="http://schemas.openxmlformats.org/officeDocument/2006/relationships/notesSlide" Target="../notesSlides/notesSlide5.xml" /><Relationship Id="rId3" Type="http://schemas.openxmlformats.org/officeDocument/2006/relationships/image" Target="../media/image43.png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6.xml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7.xml" /><Relationship Id="rId3" Type="http://schemas.openxmlformats.org/officeDocument/2006/relationships/image" Target="../media/image44.png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8.xml" /><Relationship Id="rId3" Type="http://schemas.openxmlformats.org/officeDocument/2006/relationships/image" Target="../media/image45.png" /><Relationship Id="rId4" Type="http://schemas.openxmlformats.org/officeDocument/2006/relationships/image" Target="../media/image46.png" /><Relationship Id="rId5" Type="http://schemas.openxmlformats.org/officeDocument/2006/relationships/image" Target="../media/image47.png" /><Relationship Id="rId6" Type="http://schemas.openxmlformats.org/officeDocument/2006/relationships/image" Target="../media/image48.png" /><Relationship Id="rId7" Type="http://schemas.openxmlformats.org/officeDocument/2006/relationships/image" Target="../media/image49.png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3.xml" /><Relationship Id="rId2" Type="http://schemas.openxmlformats.org/officeDocument/2006/relationships/notesSlide" Target="../notesSlides/notesSlide9.xml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0.xml" /><Relationship Id="rId3" Type="http://schemas.openxmlformats.org/officeDocument/2006/relationships/image" Target="../media/image50.png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1.xml" /><Relationship Id="rId3" Type="http://schemas.openxmlformats.org/officeDocument/2006/relationships/image" Target="../media/image51.png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2.xml" /><Relationship Id="rId3" Type="http://schemas.openxmlformats.org/officeDocument/2006/relationships/image" Target="../media/image52.png" /><Relationship Id="rId4" Type="http://schemas.openxmlformats.org/officeDocument/2006/relationships/image" Target="../media/image53.png" /><Relationship Id="rId5" Type="http://schemas.openxmlformats.org/officeDocument/2006/relationships/image" Target="../media/image54.png" /></Relationships>
</file>

<file path=ppt/slides/_rels/slide1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9.xml" /><Relationship Id="rId2" Type="http://schemas.openxmlformats.org/officeDocument/2006/relationships/notesSlide" Target="../notesSlides/notesSlide13.xml" /><Relationship Id="rId3" Type="http://schemas.openxmlformats.org/officeDocument/2006/relationships/image" Target="../media/image55.png" /><Relationship Id="rId4" Type="http://schemas.openxmlformats.org/officeDocument/2006/relationships/image" Target="../media/image56.png" /></Relationships>
</file>

<file path=ppt/slides/_rels/slide1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9.xml" /><Relationship Id="rId2" Type="http://schemas.openxmlformats.org/officeDocument/2006/relationships/notesSlide" Target="../notesSlides/notesSlide14.xml" /><Relationship Id="rId3" Type="http://schemas.openxmlformats.org/officeDocument/2006/relationships/image" Target="../media/image56.png" /><Relationship Id="rId4" Type="http://schemas.openxmlformats.org/officeDocument/2006/relationships/image" Target="../media/image57.png" /></Relationships>
</file>

<file path=ppt/slides/_rels/slide1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9.xml" /><Relationship Id="rId2" Type="http://schemas.openxmlformats.org/officeDocument/2006/relationships/notesSlide" Target="../notesSlides/notesSlide15.xml" /><Relationship Id="rId3" Type="http://schemas.openxmlformats.org/officeDocument/2006/relationships/image" Target="../media/image58.png" /><Relationship Id="rId4" Type="http://schemas.openxmlformats.org/officeDocument/2006/relationships/image" Target="../media/image56.png" /></Relationships>
</file>

<file path=ppt/slides/_rels/slide1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9.xml" /><Relationship Id="rId2" Type="http://schemas.openxmlformats.org/officeDocument/2006/relationships/notesSlide" Target="../notesSlides/notesSlide16.xml" /><Relationship Id="rId3" Type="http://schemas.openxmlformats.org/officeDocument/2006/relationships/image" Target="../media/image59.png" /><Relationship Id="rId4" Type="http://schemas.openxmlformats.org/officeDocument/2006/relationships/image" Target="../media/image60.png" /><Relationship Id="rId5" Type="http://schemas.openxmlformats.org/officeDocument/2006/relationships/image" Target="../media/image61.png" /></Relationships>
</file>

<file path=ppt/slides/_rels/slide1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9.xml" /><Relationship Id="rId2" Type="http://schemas.openxmlformats.org/officeDocument/2006/relationships/notesSlide" Target="../notesSlides/notesSlide17.xml" /><Relationship Id="rId3" Type="http://schemas.openxmlformats.org/officeDocument/2006/relationships/image" Target="../media/image62.png" /><Relationship Id="rId4" Type="http://schemas.openxmlformats.org/officeDocument/2006/relationships/image" Target="../media/image63.png" /><Relationship Id="rId5" Type="http://schemas.openxmlformats.org/officeDocument/2006/relationships/image" Target="../media/image64.png" /></Relationships>
</file>

<file path=ppt/slides/_rels/slide1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3.xml" /><Relationship Id="rId2" Type="http://schemas.openxmlformats.org/officeDocument/2006/relationships/notesSlide" Target="../notesSlides/notesSlide18.xml" /><Relationship Id="rId3" Type="http://schemas.openxmlformats.org/officeDocument/2006/relationships/image" Target="../media/image59.png" /><Relationship Id="rId4" Type="http://schemas.openxmlformats.org/officeDocument/2006/relationships/image" Target="../media/image60.png" /><Relationship Id="rId5" Type="http://schemas.openxmlformats.org/officeDocument/2006/relationships/image" Target="../media/image61.png" /></Relationships>
</file>

<file path=ppt/slides/_rels/slide1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3.xml" /><Relationship Id="rId2" Type="http://schemas.openxmlformats.org/officeDocument/2006/relationships/notesSlide" Target="../notesSlides/notesSlide19.xml" /><Relationship Id="rId3" Type="http://schemas.openxmlformats.org/officeDocument/2006/relationships/image" Target="../media/image62.png" /><Relationship Id="rId4" Type="http://schemas.openxmlformats.org/officeDocument/2006/relationships/image" Target="../media/image63.png" /><Relationship Id="rId5" Type="http://schemas.openxmlformats.org/officeDocument/2006/relationships/image" Target="../media/image64.png" /><Relationship Id="rId6" Type="http://schemas.openxmlformats.org/officeDocument/2006/relationships/image" Target="../media/image65.png" /><Relationship Id="rId7" Type="http://schemas.openxmlformats.org/officeDocument/2006/relationships/image" Target="../media/image66.png" /></Relationships>
</file>

<file path=ppt/slides/_rels/slide2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8.xml" /><Relationship Id="rId2" Type="http://schemas.openxmlformats.org/officeDocument/2006/relationships/notesSlide" Target="../notesSlides/notesSlide20.xml" /><Relationship Id="rId3" Type="http://schemas.openxmlformats.org/officeDocument/2006/relationships/image" Target="../media/image43.png" /></Relationships>
</file>

<file path=ppt/slides/_rels/slide2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1.xml" /><Relationship Id="rId3" Type="http://schemas.openxmlformats.org/officeDocument/2006/relationships/image" Target="../media/image67.png" /></Relationships>
</file>

<file path=ppt/slides/_rels/slide2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2.xml" /><Relationship Id="rId3" Type="http://schemas.openxmlformats.org/officeDocument/2006/relationships/image" Target="../media/image67.png" /></Relationships>
</file>

<file path=ppt/slides/_rels/slide2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3.xml" /><Relationship Id="rId3" Type="http://schemas.openxmlformats.org/officeDocument/2006/relationships/image" Target="../media/image68.png" /></Relationships>
</file>

<file path=ppt/slides/_rels/slide2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6.xml" /><Relationship Id="rId2" Type="http://schemas.openxmlformats.org/officeDocument/2006/relationships/notesSlide" Target="../notesSlides/notesSlide24.xml" /><Relationship Id="rId3" Type="http://schemas.openxmlformats.org/officeDocument/2006/relationships/image" Target="../media/image69.png" /><Relationship Id="rId4" Type="http://schemas.openxmlformats.org/officeDocument/2006/relationships/image" Target="../media/image70.png" /></Relationships>
</file>

<file path=ppt/slides/_rels/slide2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5.xml" /></Relationships>
</file>

<file path=ppt/slides/_rels/slide2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6.xml" /></Relationships>
</file>

<file path=ppt/slides/_rels/slide2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7.xml" /></Relationships>
</file>

<file path=ppt/slides/_rels/slide2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8.xml" /><Relationship Id="rId3" Type="http://schemas.openxmlformats.org/officeDocument/2006/relationships/image" Target="../media/image67.png" /></Relationships>
</file>

<file path=ppt/slides/_rels/slide2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9.xml" /></Relationships>
</file>

<file path=ppt/slides/_rels/slide3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6.xml" /><Relationship Id="rId2" Type="http://schemas.openxmlformats.org/officeDocument/2006/relationships/notesSlide" Target="../notesSlides/notesSlide30.xml" /><Relationship Id="rId3" Type="http://schemas.openxmlformats.org/officeDocument/2006/relationships/image" Target="../media/image67.png" /></Relationships>
</file>

<file path=ppt/slides/_rels/slide3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6.xml" /><Relationship Id="rId2" Type="http://schemas.openxmlformats.org/officeDocument/2006/relationships/notesSlide" Target="../notesSlides/notesSlide31.xml" /></Relationships>
</file>

<file path=ppt/slides/_rels/slide3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0.xml" /><Relationship Id="rId2" Type="http://schemas.openxmlformats.org/officeDocument/2006/relationships/notesSlide" Target="../notesSlides/notesSlide32.xml" /></Relationships>
</file>

<file path=ppt/slides/_rels/slide3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0.xml" /><Relationship Id="rId2" Type="http://schemas.openxmlformats.org/officeDocument/2006/relationships/notesSlide" Target="../notesSlides/notesSlide33.xml" /><Relationship Id="rId3" Type="http://schemas.openxmlformats.org/officeDocument/2006/relationships/image" Target="../media/image71.png" /><Relationship Id="rId4" Type="http://schemas.openxmlformats.org/officeDocument/2006/relationships/image" Target="../media/image72.png" /><Relationship Id="rId5" Type="http://schemas.openxmlformats.org/officeDocument/2006/relationships/image" Target="../media/image73.png" /><Relationship Id="rId6" Type="http://schemas.openxmlformats.org/officeDocument/2006/relationships/image" Target="../media/image74.png" /></Relationships>
</file>

<file path=ppt/slides/_rels/slide3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0.xml" /><Relationship Id="rId2" Type="http://schemas.openxmlformats.org/officeDocument/2006/relationships/notesSlide" Target="../notesSlides/notesSlide34.xml" /></Relationships>
</file>

<file path=ppt/slides/_rels/slide3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4.xml" /><Relationship Id="rId2" Type="http://schemas.openxmlformats.org/officeDocument/2006/relationships/notesSlide" Target="../notesSlides/notesSlide35.xml" /></Relationships>
</file>

<file path=ppt/slides/_rels/slide3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4.xml" /><Relationship Id="rId2" Type="http://schemas.openxmlformats.org/officeDocument/2006/relationships/notesSlide" Target="../notesSlides/notesSlide36.xml" /><Relationship Id="rId3" Type="http://schemas.openxmlformats.org/officeDocument/2006/relationships/image" Target="../media/image71.png" /><Relationship Id="rId4" Type="http://schemas.openxmlformats.org/officeDocument/2006/relationships/image" Target="../media/image72.png" /><Relationship Id="rId5" Type="http://schemas.openxmlformats.org/officeDocument/2006/relationships/image" Target="../media/image73.png" /><Relationship Id="rId6" Type="http://schemas.openxmlformats.org/officeDocument/2006/relationships/image" Target="../media/image74.png" /></Relationships>
</file>

<file path=ppt/slides/_rels/slide3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4.xml" /><Relationship Id="rId2" Type="http://schemas.openxmlformats.org/officeDocument/2006/relationships/notesSlide" Target="../notesSlides/notesSlide37.xml" /><Relationship Id="rId3" Type="http://schemas.openxmlformats.org/officeDocument/2006/relationships/image" Target="../media/image65.png" /></Relationships>
</file>

<file path=ppt/slides/_rels/slide3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7.xml" /><Relationship Id="rId2" Type="http://schemas.openxmlformats.org/officeDocument/2006/relationships/notesSlide" Target="../notesSlides/notesSlide38.xml" /></Relationships>
</file>

<file path=ppt/slides/_rels/slide3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1.xml" /><Relationship Id="rId2" Type="http://schemas.openxmlformats.org/officeDocument/2006/relationships/notesSlide" Target="../notesSlides/notesSlide39.xml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image" Target="../media/image75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49" name="Shape 749"/>
        <p:cNvGrpSpPr/>
        <p:nvPr/>
      </p:nvGrpSpPr>
      <p:grpSpPr>
        <a:xfrm>
          <a:off x="0" y="0"/>
          <a: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Finding the equation of the line </a:t>
            </a:r>
            <a:r>
              <a:rPr lang="en-GB" sz="4200" i="1">
                <a:latin typeface="Times"/>
                <a:ea typeface="Times"/>
                <a:cs typeface="Times"/>
                <a:sym typeface="Times"/>
              </a:rPr>
              <a:t>y = mx + c</a:t>
            </a:r>
            <a:endParaRPr sz="4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751" name="Google Shape;751;p64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Graphical representations of linear equations</a:t>
            </a:r>
            <a:endParaRPr/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="0">
  <p:cSld name="">
    <p:spTree>
      <p:nvGrpSpPr>
        <p:cNvPr id="755" name="Shape 755"/>
        <p:cNvGrpSpPr/>
        <p:nvPr/>
      </p:nvGrpSpPr>
      <p:grpSpPr>
        <a:xfrm>
          <a:off x="0" y="0"/>
          <a: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78975" y="7244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60" name="Shape 760"/>
        <p:cNvGrpSpPr/>
        <p:nvPr/>
      </p:nvGrpSpPr>
      <p:grpSpPr>
        <a:xfrm>
          <a:off x="0" y="0"/>
          <a:ext cx="0" cy="0"/>
        </a:xfrm>
      </p:grpSpPr>
      <p:sp>
        <p:nvSpPr>
          <p:cNvPr id="761" name="Google Shape;761;p66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I can find the equation of the line in the form </a:t>
            </a:r>
            <a:r>
              <a:rPr lang="en-GB" sz="2200" i="1">
                <a:latin typeface="Times"/>
                <a:ea typeface="Times"/>
                <a:cs typeface="Times"/>
                <a:sym typeface="Times"/>
              </a:rPr>
              <a:t>y = mx + c</a:t>
            </a:r>
            <a:endParaRPr sz="2200" i="1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65" name="Shape 765"/>
        <p:cNvGrpSpPr/>
        <p:nvPr/>
      </p:nvGrpSpPr>
      <p:grpSpPr>
        <a:xfrm>
          <a:off x="0" y="0"/>
          <a:ext cx="0" cy="0"/>
        </a:xfrm>
      </p:grpSpPr>
      <p:sp>
        <p:nvSpPr>
          <p:cNvPr id="766" name="Google Shape;766;p67"/>
          <p:cNvSpPr txBox="1"/>
          <p:nvPr>
            <p:ph type="subTitle" idx="2"/>
          </p:nvPr>
        </p:nvSpPr>
        <p:spPr>
          <a:xfrm>
            <a:off x="324000" y="2162525"/>
            <a:ext cx="8496000" cy="1153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 gradient is a measure of how steep a line is. It is calculated by finding the rate of change in the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/>
              <a:t>-direction with respect to the positive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/>
              <a:t>-direction. </a:t>
            </a:r>
            <a:endParaRPr/>
          </a:p>
        </p:txBody>
      </p:sp>
      <p:sp>
        <p:nvSpPr>
          <p:cNvPr id="767" name="Google Shape;767;p67"/>
          <p:cNvSpPr txBox="1"/>
          <p:nvPr>
            <p:ph type="subTitle" idx="1"/>
          </p:nvPr>
        </p:nvSpPr>
        <p:spPr>
          <a:xfrm>
            <a:off x="324000" y="1146050"/>
            <a:ext cx="8496000" cy="71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An equation of a line is any equation whose graph forms a straight line.  </a:t>
            </a:r>
            <a:endParaRPr/>
          </a:p>
        </p:txBody>
      </p:sp>
      <p:sp>
        <p:nvSpPr>
          <p:cNvPr id="768" name="Google Shape;768;p67"/>
          <p:cNvSpPr txBox="1"/>
          <p:nvPr>
            <p:ph type="subTitle" idx="3"/>
          </p:nvPr>
        </p:nvSpPr>
        <p:spPr>
          <a:xfrm>
            <a:off x="324000" y="3636225"/>
            <a:ext cx="8496000" cy="797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An intercept is the coordinate where a line or curve meets a given axis.  </a:t>
            </a:r>
            <a:endParaRPr/>
          </a:p>
        </p:txBody>
      </p:sp>
    </p:spTree>
  </p:cSld>
  <p:clrMapOvr>
    <a:masterClrMapping/>
  </p:clrMapOvr>
  <p:transition/>
  <p:timing/>
</p:sld>
</file>

<file path=ppt/slides/slide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72" name="Shape 772"/>
        <p:cNvGrpSpPr/>
        <p:nvPr/>
      </p:nvGrpSpPr>
      <p:grpSpPr>
        <a:xfrm>
          <a:off x="0" y="0"/>
          <a:ext cx="0" cy="0"/>
        </a:xfrm>
      </p:grpSpPr>
      <p:sp>
        <p:nvSpPr>
          <p:cNvPr id="773" name="Google Shape;773;p6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Writing the equation of a line from key features</a:t>
            </a:r>
            <a:endParaRPr/>
          </a:p>
        </p:txBody>
      </p:sp>
      <p:sp>
        <p:nvSpPr>
          <p:cNvPr id="774" name="Google Shape;774;p68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Finding the equation of a line</a:t>
            </a:r>
            <a:endParaRPr/>
          </a:p>
        </p:txBody>
      </p:sp>
      <p:sp>
        <p:nvSpPr>
          <p:cNvPr id="775" name="Google Shape;775;p68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Finding the equation of the line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 = mx + c</a:t>
            </a:r>
            <a:endParaRPr sz="2000" i="1"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776" name="Google Shape;776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250" y="20521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80" name="Shape 780"/>
        <p:cNvGrpSpPr/>
        <p:nvPr/>
      </p:nvGrpSpPr>
      <p:grpSpPr>
        <a:xfrm>
          <a:off x="0" y="0"/>
          <a:ext cx="0" cy="0"/>
        </a:xfrm>
      </p:grpSpPr>
      <p:sp>
        <p:nvSpPr>
          <p:cNvPr id="781" name="Google Shape;781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Writing the equation of a line from key features</a:t>
            </a:r>
            <a:endParaRPr/>
          </a:p>
        </p:txBody>
      </p:sp>
      <p:sp>
        <p:nvSpPr>
          <p:cNvPr id="782" name="Google Shape;782;p69"/>
          <p:cNvSpPr txBox="1"/>
          <p:nvPr>
            <p:ph type="body" idx="1"/>
          </p:nvPr>
        </p:nvSpPr>
        <p:spPr>
          <a:xfrm>
            <a:off x="324000" y="1473075"/>
            <a:ext cx="8237700" cy="75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Any equation representing a linear relationship between </a:t>
            </a:r>
            <a:r>
              <a:rPr lang="en-GB" sz="21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900"/>
              <a:t> and </a:t>
            </a:r>
            <a:r>
              <a:rPr lang="en-GB" sz="21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900"/>
              <a:t> values will form a linear graph when plotted.</a:t>
            </a:r>
            <a:endParaRPr sz="1900"/>
          </a:p>
        </p:txBody>
      </p:sp>
      <p:sp>
        <p:nvSpPr>
          <p:cNvPr id="783" name="Google Shape;783;p69"/>
          <p:cNvSpPr txBox="1"/>
          <p:nvPr>
            <p:ph type="body" idx="1"/>
          </p:nvPr>
        </p:nvSpPr>
        <p:spPr>
          <a:xfrm>
            <a:off x="324000" y="810000"/>
            <a:ext cx="8237700" cy="35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Equations of straight lines can be written in a variety of ways.</a:t>
            </a:r>
            <a:endParaRPr sz="1900"/>
          </a:p>
        </p:txBody>
      </p:sp>
      <p:sp>
        <p:nvSpPr>
          <p:cNvPr id="784" name="Google Shape;784;p69"/>
          <p:cNvSpPr txBox="1"/>
          <p:nvPr>
            <p:ph type="body" idx="1"/>
          </p:nvPr>
        </p:nvSpPr>
        <p:spPr>
          <a:xfrm>
            <a:off x="324000" y="2428688"/>
            <a:ext cx="8237700" cy="75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When an equation of a line is written in the form </a:t>
            </a:r>
            <a:r>
              <a:rPr lang="en-GB" sz="2100" i="1">
                <a:latin typeface="Times"/>
                <a:ea typeface="Times"/>
                <a:cs typeface="Times"/>
                <a:sym typeface="Times"/>
              </a:rPr>
              <a:t>y = mx + c</a:t>
            </a:r>
            <a:r>
              <a:rPr lang="en-GB" sz="1900"/>
              <a:t> the gradient and </a:t>
            </a:r>
            <a:r>
              <a:rPr lang="en-GB" sz="21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900"/>
              <a:t>-intercept are easy to identify.</a:t>
            </a:r>
            <a:endParaRPr sz="1900"/>
          </a:p>
        </p:txBody>
      </p:sp>
      <p:sp>
        <p:nvSpPr>
          <p:cNvPr id="785" name="Google Shape;785;p69"/>
          <p:cNvSpPr txBox="1"/>
          <p:nvPr/>
        </p:nvSpPr>
        <p:spPr>
          <a:xfrm>
            <a:off x="324000" y="3285650"/>
            <a:ext cx="84960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3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 = mx + c</a:t>
            </a:r>
            <a:r>
              <a:rPr lang="en-GB" sz="26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786" name="Google Shape;786;p69"/>
          <p:cNvCxnSpPr/>
          <p:nvPr/>
        </p:nvCxnSpPr>
        <p:spPr>
          <a:xfrm flipH="1">
            <a:off x="3572375" y="3717300"/>
            <a:ext cx="859500" cy="3906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87" name="Google Shape;787;p69"/>
          <p:cNvSpPr txBox="1"/>
          <p:nvPr/>
        </p:nvSpPr>
        <p:spPr>
          <a:xfrm>
            <a:off x="626875" y="4147175"/>
            <a:ext cx="3636000" cy="8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coefficient of 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(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m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is the gradient of the line.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8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788" name="Google Shape;788;p69"/>
          <p:cNvCxnSpPr/>
          <p:nvPr/>
        </p:nvCxnSpPr>
        <p:spPr>
          <a:xfrm>
            <a:off x="5288850" y="3717300"/>
            <a:ext cx="742500" cy="4611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89" name="Google Shape;789;p69"/>
          <p:cNvSpPr txBox="1"/>
          <p:nvPr/>
        </p:nvSpPr>
        <p:spPr>
          <a:xfrm>
            <a:off x="5009700" y="4147163"/>
            <a:ext cx="3810300" cy="3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constant (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c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is the </a:t>
            </a:r>
            <a:r>
              <a:rPr lang="en-GB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-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intercept.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8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93" name="Shape 793"/>
        <p:cNvGrpSpPr/>
        <p:nvPr/>
      </p:nvGrpSpPr>
      <p:grpSpPr>
        <a:xfrm>
          <a:off x="0" y="0"/>
          <a:ext cx="0" cy="0"/>
        </a:xfrm>
      </p:grpSpPr>
      <p:sp>
        <p:nvSpPr>
          <p:cNvPr id="794" name="Google Shape;794;p70"/>
          <p:cNvSpPr txBox="1"/>
          <p:nvPr/>
        </p:nvSpPr>
        <p:spPr>
          <a:xfrm>
            <a:off x="324000" y="1855200"/>
            <a:ext cx="8496000" cy="41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For example: This line has a gradient of 4 and a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-intercept of (0, 7)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8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795" name="Google Shape;795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Writing the equation of a line from key features</a:t>
            </a:r>
            <a:endParaRPr/>
          </a:p>
        </p:txBody>
      </p:sp>
      <p:sp>
        <p:nvSpPr>
          <p:cNvPr id="796" name="Google Shape;796;p70"/>
          <p:cNvSpPr txBox="1"/>
          <p:nvPr>
            <p:ph type="body" idx="1"/>
          </p:nvPr>
        </p:nvSpPr>
        <p:spPr>
          <a:xfrm>
            <a:off x="324000" y="814863"/>
            <a:ext cx="8237700" cy="75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This means, if we know the gradient and </a:t>
            </a:r>
            <a:r>
              <a:rPr lang="en-GB" sz="21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900"/>
              <a:t>-intercept, we can write an equation for the line.</a:t>
            </a:r>
            <a:endParaRPr sz="1900"/>
          </a:p>
        </p:txBody>
      </p:sp>
      <p:sp>
        <p:nvSpPr>
          <p:cNvPr id="797" name="Google Shape;797;p70"/>
          <p:cNvSpPr txBox="1"/>
          <p:nvPr/>
        </p:nvSpPr>
        <p:spPr>
          <a:xfrm>
            <a:off x="2887200" y="2571275"/>
            <a:ext cx="5932800" cy="41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 equation for this line is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4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+ 7</a:t>
            </a:r>
            <a:endParaRPr sz="2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8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798" name="Google Shape;798;p70"/>
          <p:cNvSpPr txBox="1"/>
          <p:nvPr/>
        </p:nvSpPr>
        <p:spPr>
          <a:xfrm>
            <a:off x="2887300" y="3118225"/>
            <a:ext cx="5932800" cy="41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Can we draw a different line with gradient 4 and       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-intercept 7?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8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799" name="Google Shape;799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998" y="2284591"/>
            <a:ext cx="1649975" cy="2231008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800" name="Google Shape;800;p70"/>
          <p:cNvSpPr txBox="1"/>
          <p:nvPr/>
        </p:nvSpPr>
        <p:spPr>
          <a:xfrm>
            <a:off x="2887200" y="3897725"/>
            <a:ext cx="5932800" cy="41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No, this graph is uniquely described by its gradient and </a:t>
            </a:r>
            <a:r>
              <a:rPr lang="en-GB" sz="22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-intercept.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801" name="Google Shape;801;p70"/>
          <p:cNvGrpSpPr/>
          <p:nvPr/>
        </p:nvGrpSpPr>
        <p:grpSpPr>
          <a:xfrm>
            <a:off x="3418075" y="1858350"/>
            <a:ext cx="2942450" cy="1017800"/>
            <a:chOff x="3418075" y="1858350"/>
            <a:chExt cx="2942450" cy="1017800"/>
          </a:xfrm>
        </p:grpSpPr>
        <p:sp>
          <p:nvSpPr>
            <p:cNvPr id="802" name="Google Shape;802;p70"/>
            <p:cNvSpPr/>
            <p:nvPr/>
          </p:nvSpPr>
          <p:spPr>
            <a:xfrm>
              <a:off x="3418075" y="1858350"/>
              <a:ext cx="1508400" cy="352500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03" name="Google Shape;803;p70"/>
            <p:cNvSpPr/>
            <p:nvPr/>
          </p:nvSpPr>
          <p:spPr>
            <a:xfrm>
              <a:off x="6200025" y="2582150"/>
              <a:ext cx="160500" cy="294000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04" name="Google Shape;804;p70"/>
          <p:cNvGrpSpPr/>
          <p:nvPr/>
        </p:nvGrpSpPr>
        <p:grpSpPr>
          <a:xfrm>
            <a:off x="5606874" y="1892800"/>
            <a:ext cx="2222400" cy="972685"/>
            <a:chOff x="3418063" y="1915958"/>
            <a:chExt cx="2222400" cy="1088745"/>
          </a:xfrm>
        </p:grpSpPr>
        <p:sp>
          <p:nvSpPr>
            <p:cNvPr id="805" name="Google Shape;805;p70"/>
            <p:cNvSpPr/>
            <p:nvPr/>
          </p:nvSpPr>
          <p:spPr>
            <a:xfrm>
              <a:off x="3418063" y="1915958"/>
              <a:ext cx="2222400" cy="352500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06" name="Google Shape;806;p70"/>
            <p:cNvSpPr/>
            <p:nvPr/>
          </p:nvSpPr>
          <p:spPr>
            <a:xfrm>
              <a:off x="4332675" y="2710703"/>
              <a:ext cx="333900" cy="294000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10" name="Shape 810"/>
        <p:cNvGrpSpPr/>
        <p:nvPr/>
      </p:nvGrpSpPr>
      <p:grpSpPr>
        <a:xfrm>
          <a:off x="0" y="0"/>
          <a:ext cx="0" cy="0"/>
        </a:xfrm>
      </p:grpSpPr>
      <p:sp>
        <p:nvSpPr>
          <p:cNvPr id="811" name="Google Shape;811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Writing the equation of a line from key features</a:t>
            </a:r>
            <a:endParaRPr/>
          </a:p>
        </p:txBody>
      </p:sp>
      <p:sp>
        <p:nvSpPr>
          <p:cNvPr id="812" name="Google Shape;812;p71"/>
          <p:cNvSpPr txBox="1"/>
          <p:nvPr>
            <p:ph type="body" idx="1"/>
          </p:nvPr>
        </p:nvSpPr>
        <p:spPr>
          <a:xfrm>
            <a:off x="324000" y="814863"/>
            <a:ext cx="8237700" cy="75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Lucas has drawn a line with </a:t>
            </a:r>
            <a:r>
              <a:rPr lang="en-GB" sz="21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900"/>
              <a:t>-intercept (0, 5) and gradient </a:t>
            </a:r>
            <a:r>
              <a:rPr lang="en-GB" sz="1900">
                <a:solidFill>
                  <a:srgbClr val="222222"/>
                </a:solidFill>
              </a:rPr>
              <a:t>−</a:t>
            </a:r>
            <a:r>
              <a:rPr lang="en-GB" sz="1900"/>
              <a:t>2</a:t>
            </a:r>
            <a:endParaRPr sz="1900"/>
          </a:p>
        </p:txBody>
      </p:sp>
      <p:sp>
        <p:nvSpPr>
          <p:cNvPr id="813" name="Google Shape;813;p71"/>
          <p:cNvSpPr txBox="1"/>
          <p:nvPr/>
        </p:nvSpPr>
        <p:spPr>
          <a:xfrm>
            <a:off x="2217270" y="3157614"/>
            <a:ext cx="773700" cy="3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4" name="Google Shape;814;p71"/>
          <p:cNvSpPr txBox="1"/>
          <p:nvPr/>
        </p:nvSpPr>
        <p:spPr>
          <a:xfrm>
            <a:off x="324000" y="3157614"/>
            <a:ext cx="910500" cy="3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5" name="Google Shape;815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2489992" y="2667151"/>
            <a:ext cx="443871" cy="492403"/>
          </a:xfrm>
          <a:prstGeom prst="rect">
            <a:avLst/>
          </a:prstGeom>
          <a:noFill/>
          <a:ln>
            <a:noFill/>
          </a:ln>
        </p:spPr>
      </p:pic>
      <p:pic>
        <p:nvPicPr>
          <p:cNvPr id="816" name="Google Shape;816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7112" y="2634048"/>
            <a:ext cx="387923" cy="558609"/>
          </a:xfrm>
          <a:prstGeom prst="rect">
            <a:avLst/>
          </a:prstGeom>
          <a:noFill/>
          <a:ln>
            <a:noFill/>
          </a:ln>
        </p:spPr>
      </p:pic>
      <p:sp>
        <p:nvSpPr>
          <p:cNvPr id="817" name="Google Shape;817;p71"/>
          <p:cNvSpPr txBox="1"/>
          <p:nvPr/>
        </p:nvSpPr>
        <p:spPr>
          <a:xfrm flipH="1">
            <a:off x="4354250" y="3189575"/>
            <a:ext cx="1068600" cy="2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8" name="Google Shape;818;p7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4392619" y="2657402"/>
            <a:ext cx="443850" cy="511898"/>
          </a:xfrm>
          <a:prstGeom prst="rect">
            <a:avLst/>
          </a:prstGeom>
          <a:noFill/>
          <a:ln>
            <a:noFill/>
          </a:ln>
        </p:spPr>
      </p:pic>
      <p:pic>
        <p:nvPicPr>
          <p:cNvPr id="819" name="Google Shape;819;p7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6447625" y="2549050"/>
            <a:ext cx="675955" cy="654150"/>
          </a:xfrm>
          <a:prstGeom prst="rect">
            <a:avLst/>
          </a:prstGeom>
          <a:noFill/>
          <a:ln>
            <a:noFill/>
          </a:ln>
        </p:spPr>
      </p:pic>
      <p:sp>
        <p:nvSpPr>
          <p:cNvPr id="820" name="Google Shape;820;p71"/>
          <p:cNvSpPr txBox="1"/>
          <p:nvPr/>
        </p:nvSpPr>
        <p:spPr>
          <a:xfrm flipH="1">
            <a:off x="6251300" y="3189575"/>
            <a:ext cx="1068600" cy="2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21" name="Google Shape;821;p71"/>
          <p:cNvPicPr preferRelativeResize="0"/>
          <p:nvPr/>
        </p:nvPicPr>
        <p:blipFill>
          <a:blip r:embed="rId7">
            <a:alphaModFix/>
          </a:blip>
          <a:srcRect r="57905" b="43690"/>
          <a:stretch>
            <a:fillRect/>
          </a:stretch>
        </p:blipFill>
        <p:spPr>
          <a:xfrm flipH="1">
            <a:off x="558923" y="1543800"/>
            <a:ext cx="1949102" cy="1147275"/>
          </a:xfrm>
          <a:prstGeom prst="rect">
            <a:avLst/>
          </a:prstGeom>
          <a:noFill/>
          <a:ln>
            <a:noFill/>
          </a:ln>
        </p:spPr>
      </p:pic>
      <p:sp>
        <p:nvSpPr>
          <p:cNvPr id="822" name="Google Shape;822;p71"/>
          <p:cNvSpPr/>
          <p:nvPr/>
        </p:nvSpPr>
        <p:spPr>
          <a:xfrm>
            <a:off x="731950" y="1625563"/>
            <a:ext cx="1738200" cy="5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equation is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+ 5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823" name="Google Shape;823;p71"/>
          <p:cNvPicPr preferRelativeResize="0"/>
          <p:nvPr/>
        </p:nvPicPr>
        <p:blipFill>
          <a:blip r:embed="rId7">
            <a:alphaModFix/>
          </a:blip>
          <a:srcRect r="57905" b="43690"/>
          <a:stretch>
            <a:fillRect/>
          </a:stretch>
        </p:blipFill>
        <p:spPr>
          <a:xfrm flipH="1">
            <a:off x="2640273" y="1543800"/>
            <a:ext cx="1949102" cy="1147275"/>
          </a:xfrm>
          <a:prstGeom prst="rect">
            <a:avLst/>
          </a:prstGeom>
          <a:noFill/>
          <a:ln>
            <a:noFill/>
          </a:ln>
        </p:spPr>
      </p:pic>
      <p:sp>
        <p:nvSpPr>
          <p:cNvPr id="824" name="Google Shape;824;p71"/>
          <p:cNvSpPr/>
          <p:nvPr/>
        </p:nvSpPr>
        <p:spPr>
          <a:xfrm>
            <a:off x="2779550" y="1625575"/>
            <a:ext cx="1738200" cy="5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equation is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5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825" name="Google Shape;825;p71"/>
          <p:cNvPicPr preferRelativeResize="0"/>
          <p:nvPr/>
        </p:nvPicPr>
        <p:blipFill>
          <a:blip r:embed="rId7">
            <a:alphaModFix/>
          </a:blip>
          <a:srcRect r="57905" b="43690"/>
          <a:stretch>
            <a:fillRect/>
          </a:stretch>
        </p:blipFill>
        <p:spPr>
          <a:xfrm flipH="1">
            <a:off x="4609999" y="1543800"/>
            <a:ext cx="2076001" cy="1113601"/>
          </a:xfrm>
          <a:prstGeom prst="rect">
            <a:avLst/>
          </a:prstGeom>
          <a:noFill/>
          <a:ln>
            <a:noFill/>
          </a:ln>
        </p:spPr>
      </p:pic>
      <p:sp>
        <p:nvSpPr>
          <p:cNvPr id="826" name="Google Shape;826;p71"/>
          <p:cNvSpPr/>
          <p:nvPr/>
        </p:nvSpPr>
        <p:spPr>
          <a:xfrm>
            <a:off x="4858100" y="1625575"/>
            <a:ext cx="1827900" cy="5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equation is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5 + 2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endParaRPr sz="2300" i="1"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827" name="Google Shape;827;p71"/>
          <p:cNvPicPr preferRelativeResize="0"/>
          <p:nvPr/>
        </p:nvPicPr>
        <p:blipFill>
          <a:blip r:embed="rId7">
            <a:alphaModFix/>
          </a:blip>
          <a:srcRect r="57905" b="43690"/>
          <a:stretch>
            <a:fillRect/>
          </a:stretch>
        </p:blipFill>
        <p:spPr>
          <a:xfrm flipH="1">
            <a:off x="6749975" y="1543800"/>
            <a:ext cx="1993825" cy="1113601"/>
          </a:xfrm>
          <a:prstGeom prst="rect">
            <a:avLst/>
          </a:prstGeom>
          <a:noFill/>
          <a:ln>
            <a:noFill/>
          </a:ln>
        </p:spPr>
      </p:pic>
      <p:sp>
        <p:nvSpPr>
          <p:cNvPr id="828" name="Google Shape;828;p71"/>
          <p:cNvSpPr/>
          <p:nvPr/>
        </p:nvSpPr>
        <p:spPr>
          <a:xfrm>
            <a:off x="6991700" y="1625563"/>
            <a:ext cx="1949100" cy="5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equation is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5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endParaRPr sz="20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29" name="Google Shape;829;p71"/>
          <p:cNvSpPr txBox="1"/>
          <p:nvPr>
            <p:ph type="body" idx="1"/>
          </p:nvPr>
        </p:nvSpPr>
        <p:spPr>
          <a:xfrm>
            <a:off x="324000" y="3619719"/>
            <a:ext cx="8237700" cy="40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Who is correct?</a:t>
            </a:r>
            <a:endParaRPr sz="1900"/>
          </a:p>
        </p:txBody>
      </p:sp>
      <p:sp>
        <p:nvSpPr>
          <p:cNvPr id="830" name="Google Shape;830;p71"/>
          <p:cNvSpPr txBox="1"/>
          <p:nvPr>
            <p:ph type="body" idx="1"/>
          </p:nvPr>
        </p:nvSpPr>
        <p:spPr>
          <a:xfrm>
            <a:off x="324000" y="4049119"/>
            <a:ext cx="8237700" cy="40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Sam and Izzy. The </a:t>
            </a:r>
            <a:r>
              <a:rPr lang="en-GB" sz="23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100">
                <a:latin typeface="Kalam"/>
                <a:ea typeface="Kalam"/>
                <a:cs typeface="Kalam"/>
                <a:sym typeface="Kalam"/>
              </a:rPr>
              <a:t>-intercept is the constant and the coefficient of </a:t>
            </a:r>
            <a:r>
              <a:rPr lang="en-GB" sz="23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latin typeface="Kalam"/>
                <a:ea typeface="Kalam"/>
                <a:cs typeface="Kalam"/>
                <a:sym typeface="Kalam"/>
              </a:rPr>
              <a:t> is the gradient.</a:t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34" name="Shape 834"/>
        <p:cNvGrpSpPr/>
        <p:nvPr/>
      </p:nvGrpSpPr>
      <p:grpSpPr>
        <a:xfrm>
          <a:off x="0" y="0"/>
          <a:ext cx="0" cy="0"/>
        </a:xfrm>
      </p:grpSpPr>
      <p:sp>
        <p:nvSpPr>
          <p:cNvPr id="835" name="Google Shape;835;p72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900"/>
              <a:t>Gradient 5 and </a:t>
            </a:r>
            <a:r>
              <a:rPr lang="en-GB" sz="21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900"/>
              <a:t>-intercept (0, </a:t>
            </a:r>
            <a:r>
              <a:rPr lang="en-GB" sz="1900">
                <a:solidFill>
                  <a:srgbClr val="222222"/>
                </a:solidFill>
              </a:rPr>
              <a:t>−</a:t>
            </a:r>
            <a:r>
              <a:rPr lang="en-GB" sz="1900"/>
              <a:t>4)</a:t>
            </a:r>
            <a:endParaRPr/>
          </a:p>
        </p:txBody>
      </p:sp>
      <p:sp>
        <p:nvSpPr>
          <p:cNvPr id="836" name="Google Shape;836;p72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Writing the equation of a line from key features</a:t>
            </a:r>
            <a:endParaRPr/>
          </a:p>
        </p:txBody>
      </p:sp>
      <p:sp>
        <p:nvSpPr>
          <p:cNvPr id="837" name="Google Shape;837;p7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Write the equation for the line which has these features:</a:t>
            </a:r>
            <a:endParaRPr/>
          </a:p>
        </p:txBody>
      </p:sp>
      <p:sp>
        <p:nvSpPr>
          <p:cNvPr id="838" name="Google Shape;838;p72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900"/>
              <a:t>Gradient </a:t>
            </a:r>
            <a:r>
              <a:rPr lang="en-GB" sz="1900">
                <a:solidFill>
                  <a:srgbClr val="222222"/>
                </a:solidFill>
              </a:rPr>
              <a:t>−</a:t>
            </a:r>
            <a:r>
              <a:rPr lang="en-GB" sz="1900"/>
              <a:t>1 and </a:t>
            </a:r>
            <a:r>
              <a:rPr lang="en-GB" sz="21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900"/>
              <a:t>-intercept (0, 3)</a:t>
            </a:r>
            <a:endParaRPr/>
          </a:p>
        </p:txBody>
      </p:sp>
      <p:sp>
        <p:nvSpPr>
          <p:cNvPr id="839" name="Google Shape;839;p72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900"/>
              <a:t>Gradient </a:t>
            </a:r>
            <a:r>
              <a:rPr lang="en-GB" sz="1900">
                <a:solidFill>
                  <a:srgbClr val="222222"/>
                </a:solidFill>
              </a:rPr>
              <a:t>−</a:t>
            </a:r>
            <a:r>
              <a:rPr lang="en-GB" sz="1900"/>
              <a:t>4 and </a:t>
            </a:r>
            <a:r>
              <a:rPr lang="en-GB" sz="21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900"/>
              <a:t>-intercept (0, 0)</a:t>
            </a:r>
            <a:endParaRPr/>
          </a:p>
        </p:txBody>
      </p:sp>
      <p:sp>
        <p:nvSpPr>
          <p:cNvPr id="840" name="Google Shape;840;p72"/>
          <p:cNvSpPr txBox="1"/>
          <p:nvPr>
            <p:ph type="subTitle" idx="4"/>
          </p:nvPr>
        </p:nvSpPr>
        <p:spPr>
          <a:xfrm>
            <a:off x="5094175" y="1854000"/>
            <a:ext cx="37257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= 5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 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or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    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4 + 5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sz="2400"/>
          </a:p>
        </p:txBody>
      </p:sp>
      <p:sp>
        <p:nvSpPr>
          <p:cNvPr id="841" name="Google Shape;841;p72"/>
          <p:cNvSpPr txBox="1"/>
          <p:nvPr>
            <p:ph type="subTitle" idx="4"/>
          </p:nvPr>
        </p:nvSpPr>
        <p:spPr>
          <a:xfrm>
            <a:off x="5063375" y="2826500"/>
            <a:ext cx="37257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+ 3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 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or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    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3 − 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sz="2400" i="1"/>
          </a:p>
        </p:txBody>
      </p:sp>
      <p:sp>
        <p:nvSpPr>
          <p:cNvPr id="842" name="Google Shape;842;p72"/>
          <p:cNvSpPr txBox="1"/>
          <p:nvPr>
            <p:ph type="subTitle" idx="4"/>
          </p:nvPr>
        </p:nvSpPr>
        <p:spPr>
          <a:xfrm>
            <a:off x="5063375" y="3799000"/>
            <a:ext cx="37257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−4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+ 0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  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or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   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−4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sz="2400" i="1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46" name="Shape 846"/>
        <p:cNvGrpSpPr/>
        <p:nvPr/>
      </p:nvGrpSpPr>
      <p:grpSpPr>
        <a:xfrm>
          <a:off x="0" y="0"/>
          <a:ext cx="0" cy="0"/>
        </a:xfrm>
      </p:grpSpPr>
      <p:sp>
        <p:nvSpPr>
          <p:cNvPr id="847" name="Google Shape;847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Writing the equation of a line from key features</a:t>
            </a:r>
            <a:endParaRPr/>
          </a:p>
        </p:txBody>
      </p:sp>
      <p:sp>
        <p:nvSpPr>
          <p:cNvPr id="848" name="Google Shape;848;p73"/>
          <p:cNvSpPr txBox="1"/>
          <p:nvPr>
            <p:ph type="body" idx="1"/>
          </p:nvPr>
        </p:nvSpPr>
        <p:spPr>
          <a:xfrm>
            <a:off x="324000" y="759300"/>
            <a:ext cx="8237700" cy="50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We can work out the equation of a line from its graph.</a:t>
            </a:r>
            <a:endParaRPr sz="2000"/>
          </a:p>
        </p:txBody>
      </p:sp>
      <p:pic>
        <p:nvPicPr>
          <p:cNvPr id="849" name="Google Shape;849;p73"/>
          <p:cNvPicPr preferRelativeResize="0"/>
          <p:nvPr/>
        </p:nvPicPr>
        <p:blipFill>
          <a:blip r:embed="rId3">
            <a:alphaModFix/>
          </a:blip>
          <a:srcRect l="15690"/>
          <a:stretch>
            <a:fillRect/>
          </a:stretch>
        </p:blipFill>
        <p:spPr>
          <a:xfrm>
            <a:off x="324000" y="1588225"/>
            <a:ext cx="2261850" cy="3232176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850" name="Google Shape;850;p73"/>
          <p:cNvSpPr txBox="1"/>
          <p:nvPr>
            <p:ph type="body" idx="1"/>
          </p:nvPr>
        </p:nvSpPr>
        <p:spPr>
          <a:xfrm>
            <a:off x="2887200" y="1588225"/>
            <a:ext cx="5932800" cy="70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We need to calculate the gradient and find 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y-</a:t>
            </a:r>
            <a:r>
              <a:rPr lang="en-GB" sz="2000"/>
              <a:t>intercept.</a:t>
            </a:r>
            <a:endParaRPr sz="2000"/>
          </a:p>
        </p:txBody>
      </p:sp>
      <p:grpSp>
        <p:nvGrpSpPr>
          <p:cNvPr id="851" name="Google Shape;851;p73"/>
          <p:cNvGrpSpPr/>
          <p:nvPr/>
        </p:nvGrpSpPr>
        <p:grpSpPr>
          <a:xfrm>
            <a:off x="1141425" y="2374475"/>
            <a:ext cx="366300" cy="325525"/>
            <a:chOff x="1141425" y="2374475"/>
            <a:chExt cx="366300" cy="325525"/>
          </a:xfrm>
        </p:grpSpPr>
        <p:cxnSp>
          <p:nvCxnSpPr>
            <p:cNvPr id="852" name="Google Shape;852;p73"/>
            <p:cNvCxnSpPr/>
            <p:nvPr/>
          </p:nvCxnSpPr>
          <p:spPr>
            <a:xfrm>
              <a:off x="1197825" y="2700000"/>
              <a:ext cx="309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4"/>
              </a:solidFill>
              <a:prstDash val="dash"/>
              <a:round/>
              <a:headEnd type="none" w="med" len="med"/>
              <a:tailEnd type="triangle" w="med" len="med"/>
            </a:ln>
          </p:spPr>
        </p:cxnSp>
        <p:sp>
          <p:nvSpPr>
            <p:cNvPr id="853" name="Google Shape;853;p73"/>
            <p:cNvSpPr/>
            <p:nvPr/>
          </p:nvSpPr>
          <p:spPr>
            <a:xfrm>
              <a:off x="1141425" y="2374475"/>
              <a:ext cx="366300" cy="24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+1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54" name="Google Shape;854;p73"/>
          <p:cNvGrpSpPr/>
          <p:nvPr/>
        </p:nvGrpSpPr>
        <p:grpSpPr>
          <a:xfrm>
            <a:off x="1479541" y="2700000"/>
            <a:ext cx="388409" cy="548100"/>
            <a:chOff x="1479541" y="2700000"/>
            <a:chExt cx="388409" cy="548100"/>
          </a:xfrm>
        </p:grpSpPr>
        <p:cxnSp>
          <p:nvCxnSpPr>
            <p:cNvPr id="855" name="Google Shape;855;p73"/>
            <p:cNvCxnSpPr/>
            <p:nvPr/>
          </p:nvCxnSpPr>
          <p:spPr>
            <a:xfrm flipH="1">
              <a:off x="1479541" y="2700000"/>
              <a:ext cx="0" cy="548100"/>
            </a:xfrm>
            <a:prstGeom prst="straightConnector1">
              <a:avLst/>
            </a:prstGeom>
            <a:noFill/>
            <a:ln w="19050" cap="flat" cmpd="sng">
              <a:solidFill>
                <a:schemeClr val="accent4"/>
              </a:solidFill>
              <a:prstDash val="dash"/>
              <a:round/>
              <a:headEnd type="none" w="med" len="med"/>
              <a:tailEnd type="triangle" w="med" len="med"/>
            </a:ln>
          </p:spPr>
        </p:cxnSp>
        <p:sp>
          <p:nvSpPr>
            <p:cNvPr id="856" name="Google Shape;856;p73"/>
            <p:cNvSpPr/>
            <p:nvPr/>
          </p:nvSpPr>
          <p:spPr>
            <a:xfrm>
              <a:off x="1501650" y="2801675"/>
              <a:ext cx="366300" cy="24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rgbClr val="222222"/>
                  </a:solidFill>
                  <a:latin typeface="Lexend"/>
                  <a:ea typeface="Lexend"/>
                  <a:cs typeface="Lexend"/>
                  <a:sym typeface="Lexend"/>
                </a:rPr>
                <a:t>−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57" name="Google Shape;857;p73"/>
          <p:cNvSpPr txBox="1"/>
          <p:nvPr>
            <p:ph type="body" idx="1"/>
          </p:nvPr>
        </p:nvSpPr>
        <p:spPr>
          <a:xfrm>
            <a:off x="2887200" y="2670675"/>
            <a:ext cx="5932800" cy="70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The gradient is </a:t>
            </a:r>
            <a:r>
              <a:rPr lang="en-GB" sz="2000">
                <a:solidFill>
                  <a:srgbClr val="222222"/>
                </a:solidFill>
              </a:rPr>
              <a:t>−</a:t>
            </a:r>
            <a:r>
              <a:rPr lang="en-GB" sz="2000"/>
              <a:t>2</a:t>
            </a:r>
            <a:endParaRPr sz="2000"/>
          </a:p>
        </p:txBody>
      </p:sp>
      <p:sp>
        <p:nvSpPr>
          <p:cNvPr id="858" name="Google Shape;858;p73"/>
          <p:cNvSpPr txBox="1"/>
          <p:nvPr>
            <p:ph type="body" idx="1"/>
          </p:nvPr>
        </p:nvSpPr>
        <p:spPr>
          <a:xfrm>
            <a:off x="2887200" y="3271550"/>
            <a:ext cx="5932800" cy="70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The 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/>
              <a:t>-intercept is (0, 3)</a:t>
            </a:r>
            <a:endParaRPr sz="2000"/>
          </a:p>
        </p:txBody>
      </p:sp>
      <p:sp>
        <p:nvSpPr>
          <p:cNvPr id="859" name="Google Shape;859;p73"/>
          <p:cNvSpPr/>
          <p:nvPr/>
        </p:nvSpPr>
        <p:spPr>
          <a:xfrm>
            <a:off x="1021646" y="2557658"/>
            <a:ext cx="232500" cy="2466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0" name="Google Shape;860;p73"/>
          <p:cNvSpPr txBox="1"/>
          <p:nvPr>
            <p:ph type="body" idx="1"/>
          </p:nvPr>
        </p:nvSpPr>
        <p:spPr>
          <a:xfrm>
            <a:off x="2887200" y="3903075"/>
            <a:ext cx="5932800" cy="70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The equation of the line is 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+ 3 </a:t>
            </a:r>
            <a:r>
              <a:rPr lang="en-GB" sz="2000"/>
              <a:t>or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                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= 3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2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64" name="Shape 864"/>
        <p:cNvGrpSpPr/>
        <p:nvPr/>
      </p:nvGrpSpPr>
      <p:grpSpPr>
        <a:xfrm>
          <a:off x="0" y="0"/>
          <a:ext cx="0" cy="0"/>
        </a:xfrm>
      </p:grpSpPr>
      <p:sp>
        <p:nvSpPr>
          <p:cNvPr id="865" name="Google Shape;865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Writing the equation of a line from key features</a:t>
            </a:r>
            <a:endParaRPr/>
          </a:p>
        </p:txBody>
      </p:sp>
      <p:sp>
        <p:nvSpPr>
          <p:cNvPr id="866" name="Google Shape;866;p74"/>
          <p:cNvSpPr txBox="1"/>
          <p:nvPr>
            <p:ph type="body" idx="1"/>
          </p:nvPr>
        </p:nvSpPr>
        <p:spPr>
          <a:xfrm>
            <a:off x="324000" y="759300"/>
            <a:ext cx="8237700" cy="50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If the purple graph (A) is 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+ 3</a:t>
            </a:r>
            <a:r>
              <a:rPr lang="en-GB" sz="2000"/>
              <a:t> what is the equation of the green graph (B)?</a:t>
            </a:r>
            <a:endParaRPr sz="2000"/>
          </a:p>
        </p:txBody>
      </p:sp>
      <p:sp>
        <p:nvSpPr>
          <p:cNvPr id="867" name="Google Shape;867;p74"/>
          <p:cNvSpPr txBox="1"/>
          <p:nvPr>
            <p:ph type="body" idx="1"/>
          </p:nvPr>
        </p:nvSpPr>
        <p:spPr>
          <a:xfrm>
            <a:off x="2887200" y="1588225"/>
            <a:ext cx="5932800" cy="70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How do you know?</a:t>
            </a:r>
            <a:endParaRPr sz="2000"/>
          </a:p>
        </p:txBody>
      </p:sp>
      <p:sp>
        <p:nvSpPr>
          <p:cNvPr id="868" name="Google Shape;868;p74"/>
          <p:cNvSpPr txBox="1"/>
          <p:nvPr>
            <p:ph type="body" idx="1"/>
          </p:nvPr>
        </p:nvSpPr>
        <p:spPr>
          <a:xfrm>
            <a:off x="2887200" y="2670675"/>
            <a:ext cx="5932800" cy="70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gradient is the same as A because they are parallel. The 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-intercept is (0, 1).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69" name="Google Shape;869;p74"/>
          <p:cNvSpPr txBox="1"/>
          <p:nvPr>
            <p:ph type="body" idx="1"/>
          </p:nvPr>
        </p:nvSpPr>
        <p:spPr>
          <a:xfrm>
            <a:off x="2887200" y="3611400"/>
            <a:ext cx="5932800" cy="70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green graph (B) is a translation of the purple graph (A). It has moved down 2.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70" name="Google Shape;870;p74"/>
          <p:cNvSpPr txBox="1"/>
          <p:nvPr>
            <p:ph type="body" idx="1"/>
          </p:nvPr>
        </p:nvSpPr>
        <p:spPr>
          <a:xfrm>
            <a:off x="2887200" y="2035925"/>
            <a:ext cx="5932800" cy="50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+ 1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or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 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= 1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2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871" name="Google Shape;871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999" y="1509575"/>
            <a:ext cx="2261850" cy="3310824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872" name="Google Shape;872;p74"/>
          <p:cNvSpPr txBox="1"/>
          <p:nvPr/>
        </p:nvSpPr>
        <p:spPr>
          <a:xfrm>
            <a:off x="827528" y="1569679"/>
            <a:ext cx="4410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3" name="Google Shape;873;p74"/>
          <p:cNvSpPr txBox="1"/>
          <p:nvPr/>
        </p:nvSpPr>
        <p:spPr>
          <a:xfrm>
            <a:off x="489900" y="2160000"/>
            <a:ext cx="4410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77" name="Shape 877"/>
        <p:cNvGrpSpPr/>
        <p:nvPr/>
      </p:nvGrpSpPr>
      <p:grpSpPr>
        <a:xfrm>
          <a:off x="0" y="0"/>
          <a:ext cx="0" cy="0"/>
        </a:xfrm>
      </p:grpSpPr>
      <p:sp>
        <p:nvSpPr>
          <p:cNvPr id="878" name="Google Shape;878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Writing the equation of a line from key features</a:t>
            </a:r>
            <a:endParaRPr/>
          </a:p>
        </p:txBody>
      </p:sp>
      <p:sp>
        <p:nvSpPr>
          <p:cNvPr id="879" name="Google Shape;879;p75"/>
          <p:cNvSpPr txBox="1"/>
          <p:nvPr>
            <p:ph type="body" idx="1"/>
          </p:nvPr>
        </p:nvSpPr>
        <p:spPr>
          <a:xfrm>
            <a:off x="324000" y="759300"/>
            <a:ext cx="8237700" cy="50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We need to be careful to check the scales when reading graphs.</a:t>
            </a:r>
            <a:endParaRPr sz="2000"/>
          </a:p>
        </p:txBody>
      </p:sp>
      <p:sp>
        <p:nvSpPr>
          <p:cNvPr id="880" name="Google Shape;880;p75"/>
          <p:cNvSpPr txBox="1"/>
          <p:nvPr>
            <p:ph type="body" idx="1"/>
          </p:nvPr>
        </p:nvSpPr>
        <p:spPr>
          <a:xfrm>
            <a:off x="2887200" y="2023800"/>
            <a:ext cx="5932800" cy="70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Using ratio tables can help us calculate gradient accurately.</a:t>
            </a:r>
            <a:endParaRPr sz="2000"/>
          </a:p>
        </p:txBody>
      </p:sp>
      <p:sp>
        <p:nvSpPr>
          <p:cNvPr id="881" name="Google Shape;881;p75"/>
          <p:cNvSpPr txBox="1"/>
          <p:nvPr>
            <p:ph type="body" idx="1"/>
          </p:nvPr>
        </p:nvSpPr>
        <p:spPr>
          <a:xfrm>
            <a:off x="2887200" y="1386725"/>
            <a:ext cx="5932800" cy="70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What is the equation of this line?</a:t>
            </a:r>
            <a:endParaRPr sz="2000"/>
          </a:p>
        </p:txBody>
      </p:sp>
      <p:pic>
        <p:nvPicPr>
          <p:cNvPr id="882" name="Google Shape;882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1472575"/>
            <a:ext cx="2432101" cy="25164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graphicFrame>
        <p:nvGraphicFramePr>
          <p:cNvPr id="883" name="Google Shape;883;p75"/>
          <p:cNvGraphicFramePr>
            <a:graphicFrameLocks noGrp="1"/>
          </p:cNvGraphicFramePr>
          <p:nvPr/>
        </p:nvGraphicFramePr>
        <p:xfrm>
          <a:off x="2887197" y="286856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{30249E52-1068-44D2-81A8-249747264F2E}</a:tableStyleId>
              </a:tblPr>
              <a:tblGrid>
                <a:gridCol w="1463100"/>
                <a:gridCol w="1463100"/>
              </a:tblGrid>
              <a:tr h="2758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in </a:t>
                      </a: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20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in </a:t>
                      </a: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58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58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cxnSp>
        <p:nvCxnSpPr>
          <p:cNvPr id="884" name="Google Shape;884;p75"/>
          <p:cNvCxnSpPr/>
          <p:nvPr/>
        </p:nvCxnSpPr>
        <p:spPr>
          <a:xfrm>
            <a:off x="824400" y="3418700"/>
            <a:ext cx="479100" cy="0"/>
          </a:xfrm>
          <a:prstGeom prst="straightConnector1">
            <a:avLst/>
          </a:prstGeom>
          <a:noFill/>
          <a:ln w="19050" cap="flat" cmpd="sng">
            <a:solidFill>
              <a:schemeClr val="accent4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885" name="Google Shape;885;p75"/>
          <p:cNvSpPr/>
          <p:nvPr/>
        </p:nvSpPr>
        <p:spPr>
          <a:xfrm>
            <a:off x="739800" y="3462875"/>
            <a:ext cx="5637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+10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6" name="Google Shape;886;p75"/>
          <p:cNvSpPr/>
          <p:nvPr/>
        </p:nvSpPr>
        <p:spPr>
          <a:xfrm>
            <a:off x="725700" y="2011475"/>
            <a:ext cx="676500" cy="2115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7" name="Google Shape;887;p75"/>
          <p:cNvSpPr/>
          <p:nvPr/>
        </p:nvSpPr>
        <p:spPr>
          <a:xfrm rot="5400000">
            <a:off x="429450" y="3100625"/>
            <a:ext cx="642000" cy="1479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88" name="Google Shape;888;p75"/>
          <p:cNvCxnSpPr/>
          <p:nvPr/>
        </p:nvCxnSpPr>
        <p:spPr>
          <a:xfrm rot="10800000" flipH="1">
            <a:off x="1303500" y="2966050"/>
            <a:ext cx="0" cy="465300"/>
          </a:xfrm>
          <a:prstGeom prst="straightConnector1">
            <a:avLst/>
          </a:prstGeom>
          <a:noFill/>
          <a:ln w="19050" cap="flat" cmpd="sng">
            <a:solidFill>
              <a:schemeClr val="accent4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889" name="Google Shape;889;p75"/>
          <p:cNvSpPr/>
          <p:nvPr/>
        </p:nvSpPr>
        <p:spPr>
          <a:xfrm>
            <a:off x="1258200" y="3127925"/>
            <a:ext cx="5637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90" name="Google Shape;890;p75" descr="&lt;math xmlns=&quot;http://www.w3.org/1998/Math/MathML&quot; display=&quot;block&quot; data-is-equatio=&quot;1&quot; data-latex=&quot;\frac{4}{10}=\frac{2}{5}&quot;&gt;&lt;mfrac&gt;&lt;mn&gt;4&lt;/mn&gt;&lt;mn&gt;10&lt;/mn&gt;&lt;/mfrac&gt;&lt;mo&gt;=&lt;/mo&gt;&lt;mfrac&gt;&lt;mn&gt;2&lt;/mn&gt;&lt;mn&gt;5&lt;/mn&gt;&lt;/mfrac&gt;&lt;/math&gt;" title="four tenths equals two fif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98854" y="3499334"/>
            <a:ext cx="721896" cy="465300"/>
          </a:xfrm>
          <a:prstGeom prst="rect">
            <a:avLst/>
          </a:prstGeom>
          <a:noFill/>
          <a:ln>
            <a:noFill/>
          </a:ln>
        </p:spPr>
      </p:pic>
      <p:sp>
        <p:nvSpPr>
          <p:cNvPr id="891" name="Google Shape;891;p75"/>
          <p:cNvSpPr txBox="1"/>
          <p:nvPr>
            <p:ph type="body" idx="1"/>
          </p:nvPr>
        </p:nvSpPr>
        <p:spPr>
          <a:xfrm>
            <a:off x="5876250" y="2868550"/>
            <a:ext cx="2333100" cy="70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The 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/>
              <a:t>-intercept is (0, </a:t>
            </a:r>
            <a:r>
              <a:rPr lang="en-GB" sz="1900">
                <a:solidFill>
                  <a:srgbClr val="222222"/>
                </a:solidFill>
              </a:rPr>
              <a:t>−</a:t>
            </a:r>
            <a:r>
              <a:rPr lang="en-GB" sz="2000"/>
              <a:t>12)</a:t>
            </a:r>
            <a:endParaRPr sz="2000"/>
          </a:p>
        </p:txBody>
      </p:sp>
      <p:sp>
        <p:nvSpPr>
          <p:cNvPr id="892" name="Google Shape;892;p75"/>
          <p:cNvSpPr txBox="1"/>
          <p:nvPr>
            <p:ph type="body" idx="1"/>
          </p:nvPr>
        </p:nvSpPr>
        <p:spPr>
          <a:xfrm>
            <a:off x="2887200" y="4148375"/>
            <a:ext cx="5932800" cy="56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The equation of the line is 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=     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12 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893" name="Google Shape;893;p75" descr="&lt;math xmlns=&quot;http://www.w3.org/1998/Math/MathML&quot; display=&quot;block&quot; data-is-equatio=&quot;1&quot; data-latex=&quot;\frac{2}{5}&quot;&gt;&lt;mfrac&gt;&lt;mn&gt;2&lt;/mn&gt;&lt;mn&gt;5&lt;/mn&gt;&lt;/mfrac&gt;&lt;/math&gt;" title="two fif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61954" y="4084958"/>
            <a:ext cx="147900" cy="475398"/>
          </a:xfrm>
          <a:prstGeom prst="rect">
            <a:avLst/>
          </a:prstGeom>
          <a:noFill/>
          <a:ln>
            <a:noFill/>
          </a:ln>
        </p:spPr>
      </p:pic>
      <p:sp>
        <p:nvSpPr>
          <p:cNvPr id="894" name="Google Shape;894;p75"/>
          <p:cNvSpPr/>
          <p:nvPr/>
        </p:nvSpPr>
        <p:spPr>
          <a:xfrm rot="5400000">
            <a:off x="627900" y="3347425"/>
            <a:ext cx="245100" cy="1479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98" name="Shape 898"/>
        <p:cNvGrpSpPr/>
        <p:nvPr/>
      </p:nvGrpSpPr>
      <p:grpSpPr>
        <a:xfrm>
          <a:off x="0" y="0"/>
          <a:ext cx="0" cy="0"/>
        </a:xfrm>
      </p:grpSpPr>
      <p:sp>
        <p:nvSpPr>
          <p:cNvPr id="899" name="Google Shape;899;p76"/>
          <p:cNvSpPr txBox="1"/>
          <p:nvPr>
            <p:ph type="subTitle" idx="1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The gradient is negative.</a:t>
            </a:r>
            <a:endParaRPr/>
          </a:p>
        </p:txBody>
      </p:sp>
      <p:sp>
        <p:nvSpPr>
          <p:cNvPr id="900" name="Google Shape;900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Writing the equation of a line from key features</a:t>
            </a:r>
            <a:endParaRPr/>
          </a:p>
        </p:txBody>
      </p:sp>
      <p:sp>
        <p:nvSpPr>
          <p:cNvPr id="901" name="Google Shape;901;p76"/>
          <p:cNvSpPr txBox="1"/>
          <p:nvPr>
            <p:ph type="subTitle" idx="2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This line has the equation </a:t>
            </a:r>
            <a:r>
              <a:rPr lang="en-GB" sz="24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400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4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24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400">
                <a:latin typeface="Times"/>
                <a:ea typeface="Times"/>
                <a:cs typeface="Times"/>
                <a:sym typeface="Times"/>
              </a:rPr>
              <a:t> + 2</a:t>
            </a:r>
            <a:r>
              <a:rPr lang="en-GB"/>
              <a:t> </a:t>
            </a:r>
            <a:endParaRPr/>
          </a:p>
        </p:txBody>
      </p:sp>
      <p:sp>
        <p:nvSpPr>
          <p:cNvPr id="902" name="Google Shape;902;p76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The </a:t>
            </a:r>
            <a:r>
              <a:rPr lang="en-GB" sz="24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/>
              <a:t>-intercept is negative.</a:t>
            </a:r>
            <a:endParaRPr/>
          </a:p>
        </p:txBody>
      </p:sp>
      <p:pic>
        <p:nvPicPr>
          <p:cNvPr id="903" name="Google Shape;903;p76"/>
          <p:cNvPicPr preferRelativeResize="0"/>
          <p:nvPr/>
        </p:nvPicPr>
        <p:blipFill>
          <a:blip r:embed="rId3">
            <a:alphaModFix/>
          </a:blip>
          <a:srcRect l="15420" r="17965" b="8382"/>
          <a:stretch>
            <a:fillRect/>
          </a:stretch>
        </p:blipFill>
        <p:spPr>
          <a:xfrm>
            <a:off x="7002125" y="686484"/>
            <a:ext cx="1431051" cy="2357367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904" name="Google Shape;904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37708" y="17970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5" name="Google Shape;905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08883" y="319612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09" name="Shape 909"/>
        <p:cNvGrpSpPr/>
        <p:nvPr/>
      </p:nvGrpSpPr>
      <p:grpSpPr>
        <a:xfrm>
          <a:off x="0" y="0"/>
          <a:ext cx="0" cy="0"/>
        </a:xfrm>
      </p:grpSpPr>
      <p:sp>
        <p:nvSpPr>
          <p:cNvPr id="910" name="Google Shape;910;p77"/>
          <p:cNvSpPr txBox="1"/>
          <p:nvPr>
            <p:ph type="subTitle" idx="1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The </a:t>
            </a:r>
            <a:r>
              <a:rPr lang="en-GB" sz="24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/>
              <a:t>-intercept is 2 and the gradient is 4 </a:t>
            </a:r>
            <a:endParaRPr/>
          </a:p>
        </p:txBody>
      </p:sp>
      <p:sp>
        <p:nvSpPr>
          <p:cNvPr id="911" name="Google Shape;911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Writing the equation of a line from key features</a:t>
            </a:r>
            <a:endParaRPr/>
          </a:p>
        </p:txBody>
      </p:sp>
      <p:sp>
        <p:nvSpPr>
          <p:cNvPr id="912" name="Google Shape;912;p77"/>
          <p:cNvSpPr txBox="1"/>
          <p:nvPr>
            <p:ph type="subTitle" idx="2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This line has the equation </a:t>
            </a:r>
            <a:r>
              <a:rPr lang="en-GB" sz="24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400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4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sz="24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400">
                <a:latin typeface="Times"/>
                <a:ea typeface="Times"/>
                <a:cs typeface="Times"/>
                <a:sym typeface="Times"/>
              </a:rPr>
              <a:t> + 2</a:t>
            </a:r>
            <a:r>
              <a:rPr lang="en-GB"/>
              <a:t> </a:t>
            </a:r>
            <a:endParaRPr/>
          </a:p>
        </p:txBody>
      </p:sp>
      <p:sp>
        <p:nvSpPr>
          <p:cNvPr id="913" name="Google Shape;913;p77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 </a:t>
            </a:r>
            <a:r>
              <a:rPr lang="en-GB" sz="24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/>
              <a:t>-intercept is 4 and the gradient is 2</a:t>
            </a:r>
            <a:endParaRPr/>
          </a:p>
        </p:txBody>
      </p:sp>
      <p:pic>
        <p:nvPicPr>
          <p:cNvPr id="914" name="Google Shape;914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5958" y="183927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5" name="Google Shape;915;p77"/>
          <p:cNvPicPr preferRelativeResize="0"/>
          <p:nvPr/>
        </p:nvPicPr>
        <p:blipFill>
          <a:blip r:embed="rId4">
            <a:alphaModFix/>
          </a:blip>
          <a:srcRect l="9676" r="8936"/>
          <a:stretch>
            <a:fillRect/>
          </a:stretch>
        </p:blipFill>
        <p:spPr>
          <a:xfrm>
            <a:off x="7046400" y="736325"/>
            <a:ext cx="1569150" cy="2336974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916" name="Google Shape;916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68958" y="314720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20" name="Shape 920"/>
        <p:cNvGrpSpPr/>
        <p:nvPr/>
      </p:nvGrpSpPr>
      <p:grpSpPr>
        <a:xfrm>
          <a:off x="0" y="0"/>
          <a:ext cx="0" cy="0"/>
        </a:xfrm>
      </p:grpSpPr>
      <p:sp>
        <p:nvSpPr>
          <p:cNvPr id="921" name="Google Shape;921;p78"/>
          <p:cNvSpPr txBox="1"/>
          <p:nvPr>
            <p:ph type="subTitle" idx="1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The gradient is less than 12</a:t>
            </a:r>
            <a:endParaRPr/>
          </a:p>
        </p:txBody>
      </p:sp>
      <p:sp>
        <p:nvSpPr>
          <p:cNvPr id="922" name="Google Shape;922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Writing the equation of a line from key features</a:t>
            </a:r>
            <a:endParaRPr/>
          </a:p>
        </p:txBody>
      </p:sp>
      <p:sp>
        <p:nvSpPr>
          <p:cNvPr id="923" name="Google Shape;923;p78"/>
          <p:cNvSpPr txBox="1"/>
          <p:nvPr>
            <p:ph type="subTitle" idx="2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This line has the equation </a:t>
            </a:r>
            <a:r>
              <a:rPr lang="en-GB" sz="24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400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4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12</a:t>
            </a:r>
            <a:r>
              <a:rPr lang="en-GB" sz="24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400">
                <a:latin typeface="Times"/>
                <a:ea typeface="Times"/>
                <a:cs typeface="Times"/>
                <a:sym typeface="Times"/>
              </a:rPr>
              <a:t> + 2</a:t>
            </a:r>
            <a:r>
              <a:rPr lang="en-GB"/>
              <a:t> </a:t>
            </a:r>
            <a:endParaRPr/>
          </a:p>
        </p:txBody>
      </p:sp>
      <p:sp>
        <p:nvSpPr>
          <p:cNvPr id="924" name="Google Shape;924;p78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The </a:t>
            </a:r>
            <a:r>
              <a:rPr lang="en-GB" sz="24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/>
              <a:t>-intercept should be negative.</a:t>
            </a:r>
            <a:endParaRPr/>
          </a:p>
        </p:txBody>
      </p:sp>
      <p:pic>
        <p:nvPicPr>
          <p:cNvPr id="925" name="Google Shape;925;p78"/>
          <p:cNvPicPr preferRelativeResize="0"/>
          <p:nvPr/>
        </p:nvPicPr>
        <p:blipFill>
          <a:blip r:embed="rId3">
            <a:alphaModFix/>
          </a:blip>
          <a:srcRect l="9982"/>
          <a:stretch>
            <a:fillRect/>
          </a:stretch>
        </p:blipFill>
        <p:spPr>
          <a:xfrm>
            <a:off x="7046400" y="749525"/>
            <a:ext cx="1647750" cy="2310576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926" name="Google Shape;926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30658" y="17970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7" name="Google Shape;927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13708" y="404035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31" name="Shape 931"/>
        <p:cNvGrpSpPr/>
        <p:nvPr/>
      </p:nvGrpSpPr>
      <p:grpSpPr>
        <a:xfrm>
          <a:off x="0" y="0"/>
          <a:ext cx="0" cy="0"/>
        </a:xfrm>
      </p:grpSpPr>
      <p:sp>
        <p:nvSpPr>
          <p:cNvPr id="932" name="Google Shape;932;p79"/>
          <p:cNvSpPr txBox="1"/>
          <p:nvPr>
            <p:ph type="body" idx="1"/>
          </p:nvPr>
        </p:nvSpPr>
        <p:spPr>
          <a:xfrm>
            <a:off x="324000" y="759300"/>
            <a:ext cx="8496000" cy="382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55600" algn="l" rtl="0">
              <a:spcBef>
                <a:spcPct val="0"/>
              </a:spcBef>
              <a:spcAft>
                <a:spcPct val="0"/>
              </a:spcAft>
              <a:buSzPts val="2000"/>
              <a:buAutoNum type="arabicParenR"/>
            </a:pPr>
            <a:r>
              <a:rPr lang="en-GB" sz="1800"/>
              <a:t>For each graph, work out an equation for the line in the form</a:t>
            </a:r>
            <a:r>
              <a:rPr lang="en-GB" sz="2000"/>
              <a:t> </a:t>
            </a:r>
            <a:r>
              <a:rPr lang="en-GB" sz="2100" i="1">
                <a:latin typeface="Times"/>
                <a:ea typeface="Times"/>
                <a:cs typeface="Times"/>
                <a:sym typeface="Times"/>
              </a:rPr>
              <a:t>y = mx + c</a:t>
            </a:r>
            <a:endParaRPr sz="1300"/>
          </a:p>
        </p:txBody>
      </p:sp>
      <p:sp>
        <p:nvSpPr>
          <p:cNvPr id="933" name="Google Shape;933;p79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Writing the equation of a line from key features</a:t>
            </a:r>
            <a:endParaRPr/>
          </a:p>
        </p:txBody>
      </p:sp>
      <p:sp>
        <p:nvSpPr>
          <p:cNvPr id="934" name="Google Shape;934;p79"/>
          <p:cNvSpPr txBox="1"/>
          <p:nvPr>
            <p:ph type="body" idx="1"/>
          </p:nvPr>
        </p:nvSpPr>
        <p:spPr>
          <a:xfrm>
            <a:off x="324000" y="3847050"/>
            <a:ext cx="3382200" cy="94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gradient:</a:t>
            </a:r>
            <a:r>
              <a:rPr lang="en-GB" sz="1800" u="sng">
                <a:solidFill>
                  <a:schemeClr val="lt1"/>
                </a:solidFill>
              </a:rPr>
              <a:t>.</a:t>
            </a:r>
            <a:endParaRPr sz="1800" u="sng">
              <a:solidFill>
                <a:schemeClr val="lt1"/>
              </a:solidFill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/>
              <a:t>-intercept:</a:t>
            </a:r>
            <a:endParaRPr sz="1800"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equation:</a:t>
            </a:r>
            <a:endParaRPr sz="1800"/>
          </a:p>
        </p:txBody>
      </p:sp>
      <p:sp>
        <p:nvSpPr>
          <p:cNvPr id="935" name="Google Shape;935;p79"/>
          <p:cNvSpPr txBox="1"/>
          <p:nvPr>
            <p:ph type="body" idx="1"/>
          </p:nvPr>
        </p:nvSpPr>
        <p:spPr>
          <a:xfrm>
            <a:off x="3219275" y="3847050"/>
            <a:ext cx="3382200" cy="94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gradient:</a:t>
            </a:r>
            <a:r>
              <a:rPr lang="en-GB" sz="1800" u="sng"/>
              <a:t> </a:t>
            </a:r>
            <a:endParaRPr sz="1800" u="sng">
              <a:solidFill>
                <a:schemeClr val="lt1"/>
              </a:solidFill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/>
              <a:t>-intercept:</a:t>
            </a:r>
            <a:endParaRPr sz="1800"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equation:</a:t>
            </a:r>
            <a:r>
              <a:rPr lang="en-GB" sz="1800" u="sng">
                <a:solidFill>
                  <a:schemeClr val="lt1"/>
                </a:solidFill>
              </a:rPr>
              <a:t>.</a:t>
            </a:r>
            <a:endParaRPr sz="1800"/>
          </a:p>
        </p:txBody>
      </p:sp>
      <p:sp>
        <p:nvSpPr>
          <p:cNvPr id="936" name="Google Shape;936;p79"/>
          <p:cNvSpPr txBox="1"/>
          <p:nvPr>
            <p:ph type="body" idx="1"/>
          </p:nvPr>
        </p:nvSpPr>
        <p:spPr>
          <a:xfrm>
            <a:off x="6114550" y="3847050"/>
            <a:ext cx="3382200" cy="94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gradient:</a:t>
            </a:r>
            <a:r>
              <a:rPr lang="en-GB" sz="1800" u="sng">
                <a:solidFill>
                  <a:schemeClr val="lt1"/>
                </a:solidFill>
              </a:rPr>
              <a:t>.</a:t>
            </a:r>
            <a:endParaRPr sz="1800" u="sng">
              <a:solidFill>
                <a:schemeClr val="lt1"/>
              </a:solidFill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/>
              <a:t>-intercept:</a:t>
            </a:r>
            <a:r>
              <a:rPr lang="en-GB" sz="1800" u="sng">
                <a:solidFill>
                  <a:schemeClr val="lt1"/>
                </a:solidFill>
              </a:rPr>
              <a:t>.</a:t>
            </a:r>
            <a:endParaRPr sz="1800"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equation:</a:t>
            </a:r>
            <a:r>
              <a:rPr lang="en-GB" sz="1800" u="sng">
                <a:solidFill>
                  <a:schemeClr val="lt1"/>
                </a:solidFill>
              </a:rPr>
              <a:t>.</a:t>
            </a:r>
            <a:endParaRPr sz="1800"/>
          </a:p>
        </p:txBody>
      </p:sp>
      <p:graphicFrame>
        <p:nvGraphicFramePr>
          <p:cNvPr id="937" name="Google Shape;937;p79"/>
          <p:cNvGraphicFramePr>
            <a:graphicFrameLocks noGrp="1"/>
          </p:cNvGraphicFramePr>
          <p:nvPr/>
        </p:nvGraphicFramePr>
        <p:xfrm>
          <a:off x="308950" y="1141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{30249E52-1068-44D2-81A8-249747264F2E}</a:tableStyleId>
              </a:tblPr>
              <a:tblGrid>
                <a:gridCol w="2842025"/>
                <a:gridCol w="2842025"/>
                <a:gridCol w="2842025"/>
              </a:tblGrid>
              <a:tr h="402450">
                <a:tc>
                  <a:txBody>
                    <a:bodyPr vert="horz" wrap="square"/>
                    <a:lstStyle/>
                    <a:p>
                      <a:pPr marL="457200" lvl="0" indent="-34290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SzPts val="1800"/>
                        <a:buFont typeface="Lexend"/>
                        <a:buAutoNum type="alphaLcParenR"/>
                      </a:pP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 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c) </a:t>
                      </a:r>
                      <a:endParaRPr sz="20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938" name="Google Shape;938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24300" y="1583575"/>
            <a:ext cx="1694808" cy="2196426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939" name="Google Shape;939;p79"/>
          <p:cNvPicPr preferRelativeResize="0"/>
          <p:nvPr/>
        </p:nvPicPr>
        <p:blipFill>
          <a:blip r:embed="rId4">
            <a:alphaModFix/>
          </a:blip>
          <a:srcRect l="3018" r="4968"/>
          <a:stretch>
            <a:fillRect/>
          </a:stretch>
        </p:blipFill>
        <p:spPr>
          <a:xfrm>
            <a:off x="3214065" y="1583575"/>
            <a:ext cx="2231726" cy="2196424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940" name="Google Shape;940;p7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4000" y="1591800"/>
            <a:ext cx="1416694" cy="2159975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  <p:transition/>
  <p:timing/>
</p:sld>
</file>

<file path=ppt/slides/slide1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44" name="Shape 944"/>
        <p:cNvGrpSpPr/>
        <p:nvPr/>
      </p:nvGrpSpPr>
      <p:grpSpPr>
        <a:xfrm>
          <a:off x="0" y="0"/>
          <a:ext cx="0" cy="0"/>
        </a:xfrm>
      </p:grpSpPr>
      <p:sp>
        <p:nvSpPr>
          <p:cNvPr id="945" name="Google Shape;945;p80"/>
          <p:cNvSpPr txBox="1"/>
          <p:nvPr>
            <p:ph type="body" idx="1"/>
          </p:nvPr>
        </p:nvSpPr>
        <p:spPr>
          <a:xfrm>
            <a:off x="324000" y="759300"/>
            <a:ext cx="8496000" cy="382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55600" algn="l" rtl="0">
              <a:spcBef>
                <a:spcPct val="0"/>
              </a:spcBef>
              <a:spcAft>
                <a:spcPct val="0"/>
              </a:spcAft>
              <a:buSzPts val="2000"/>
              <a:buAutoNum type="arabicParenR"/>
            </a:pPr>
            <a:r>
              <a:rPr lang="en-GB" sz="1800"/>
              <a:t>For each graph, work out an equation for the line in the form</a:t>
            </a:r>
            <a:r>
              <a:rPr lang="en-GB" sz="2000"/>
              <a:t> </a:t>
            </a:r>
            <a:r>
              <a:rPr lang="en-GB" sz="2100" i="1">
                <a:latin typeface="Times"/>
                <a:ea typeface="Times"/>
                <a:cs typeface="Times"/>
                <a:sym typeface="Times"/>
              </a:rPr>
              <a:t>y = mx + c</a:t>
            </a:r>
            <a:endParaRPr sz="1300"/>
          </a:p>
        </p:txBody>
      </p:sp>
      <p:sp>
        <p:nvSpPr>
          <p:cNvPr id="946" name="Google Shape;946;p80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Writing the equation of a line from key features</a:t>
            </a:r>
            <a:endParaRPr/>
          </a:p>
        </p:txBody>
      </p:sp>
      <p:sp>
        <p:nvSpPr>
          <p:cNvPr id="947" name="Google Shape;947;p80"/>
          <p:cNvSpPr txBox="1"/>
          <p:nvPr>
            <p:ph type="body" idx="1"/>
          </p:nvPr>
        </p:nvSpPr>
        <p:spPr>
          <a:xfrm>
            <a:off x="324000" y="3847050"/>
            <a:ext cx="3382200" cy="94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gradient:</a:t>
            </a:r>
            <a:endParaRPr sz="1800" u="sng">
              <a:solidFill>
                <a:schemeClr val="lt1"/>
              </a:solidFill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/>
              <a:t>-intercept:</a:t>
            </a:r>
            <a:endParaRPr sz="1800"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equation:</a:t>
            </a:r>
            <a:endParaRPr sz="1800"/>
          </a:p>
        </p:txBody>
      </p:sp>
      <p:sp>
        <p:nvSpPr>
          <p:cNvPr id="948" name="Google Shape;948;p80"/>
          <p:cNvSpPr txBox="1"/>
          <p:nvPr>
            <p:ph type="body" idx="1"/>
          </p:nvPr>
        </p:nvSpPr>
        <p:spPr>
          <a:xfrm>
            <a:off x="3219275" y="3847050"/>
            <a:ext cx="3382200" cy="94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gradient:</a:t>
            </a:r>
            <a:endParaRPr sz="1800" u="sng">
              <a:solidFill>
                <a:schemeClr val="lt1"/>
              </a:solidFill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/>
              <a:t>-intercept:</a:t>
            </a:r>
            <a:endParaRPr sz="1800"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equation:</a:t>
            </a:r>
            <a:endParaRPr sz="1800"/>
          </a:p>
        </p:txBody>
      </p:sp>
      <p:sp>
        <p:nvSpPr>
          <p:cNvPr id="949" name="Google Shape;949;p80"/>
          <p:cNvSpPr txBox="1"/>
          <p:nvPr>
            <p:ph type="body" idx="1"/>
          </p:nvPr>
        </p:nvSpPr>
        <p:spPr>
          <a:xfrm>
            <a:off x="6114550" y="3847050"/>
            <a:ext cx="3382200" cy="94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gradient:</a:t>
            </a:r>
            <a:endParaRPr sz="1800" u="sng">
              <a:solidFill>
                <a:schemeClr val="lt1"/>
              </a:solidFill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/>
              <a:t>-intercept:</a:t>
            </a:r>
            <a:r>
              <a:rPr lang="en-GB" sz="1800" u="sng">
                <a:solidFill>
                  <a:schemeClr val="lt1"/>
                </a:solidFill>
              </a:rPr>
              <a:t>.</a:t>
            </a:r>
            <a:endParaRPr sz="1800"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equation:</a:t>
            </a:r>
            <a:r>
              <a:rPr lang="en-GB" sz="1800" u="sng">
                <a:solidFill>
                  <a:schemeClr val="lt1"/>
                </a:solidFill>
              </a:rPr>
              <a:t>.</a:t>
            </a:r>
            <a:endParaRPr sz="1800"/>
          </a:p>
        </p:txBody>
      </p:sp>
      <p:graphicFrame>
        <p:nvGraphicFramePr>
          <p:cNvPr id="950" name="Google Shape;950;p80"/>
          <p:cNvGraphicFramePr>
            <a:graphicFrameLocks noGrp="1"/>
          </p:cNvGraphicFramePr>
          <p:nvPr/>
        </p:nvGraphicFramePr>
        <p:xfrm>
          <a:off x="308950" y="1141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{30249E52-1068-44D2-81A8-249747264F2E}</a:tableStyleId>
              </a:tblPr>
              <a:tblGrid>
                <a:gridCol w="2842025"/>
                <a:gridCol w="2842025"/>
                <a:gridCol w="2842025"/>
              </a:tblGrid>
              <a:tr h="4024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e) 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f) </a:t>
                      </a:r>
                      <a:endParaRPr sz="20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951" name="Google Shape;951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8675" y="1576325"/>
            <a:ext cx="1893812" cy="2102075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952" name="Google Shape;952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69600" y="1576325"/>
            <a:ext cx="1442902" cy="2102076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953" name="Google Shape;953;p8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4000" y="1576325"/>
            <a:ext cx="2448891" cy="2102075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  <p:transition/>
  <p:timing/>
</p:sld>
</file>

<file path=ppt/slides/slide1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57" name="Shape 957"/>
        <p:cNvGrpSpPr/>
        <p:nvPr/>
      </p:nvGrpSpPr>
      <p:grpSpPr>
        <a:xfrm>
          <a:off x="0" y="0"/>
          <a:ext cx="0" cy="0"/>
        </a:xfrm>
      </p:grpSpPr>
      <p:sp>
        <p:nvSpPr>
          <p:cNvPr id="958" name="Google Shape;958;p81"/>
          <p:cNvSpPr txBox="1"/>
          <p:nvPr>
            <p:ph type="body" idx="1"/>
          </p:nvPr>
        </p:nvSpPr>
        <p:spPr>
          <a:xfrm>
            <a:off x="324000" y="759300"/>
            <a:ext cx="8496000" cy="41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55600" algn="l" rtl="0">
              <a:spcBef>
                <a:spcPct val="0"/>
              </a:spcBef>
              <a:spcAft>
                <a:spcPct val="0"/>
              </a:spcAft>
              <a:buSzPts val="2000"/>
              <a:buAutoNum type="arabicParenR"/>
            </a:pPr>
            <a:r>
              <a:rPr lang="en-GB" sz="1800"/>
              <a:t>For each graph, work out an equation for the line in the form</a:t>
            </a:r>
            <a:r>
              <a:rPr lang="en-GB" sz="2000"/>
              <a:t> </a:t>
            </a:r>
            <a:r>
              <a:rPr lang="en-GB" sz="2100" i="1">
                <a:latin typeface="Times"/>
                <a:ea typeface="Times"/>
                <a:cs typeface="Times"/>
                <a:sym typeface="Times"/>
              </a:rPr>
              <a:t>y = mx + c</a:t>
            </a:r>
            <a:endParaRPr sz="1300"/>
          </a:p>
        </p:txBody>
      </p:sp>
      <p:sp>
        <p:nvSpPr>
          <p:cNvPr id="959" name="Google Shape;959;p81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Writing the equation of a line from key features</a:t>
            </a:r>
            <a:endParaRPr/>
          </a:p>
        </p:txBody>
      </p:sp>
      <p:sp>
        <p:nvSpPr>
          <p:cNvPr id="960" name="Google Shape;960;p81"/>
          <p:cNvSpPr txBox="1"/>
          <p:nvPr>
            <p:ph type="body" idx="1"/>
          </p:nvPr>
        </p:nvSpPr>
        <p:spPr>
          <a:xfrm>
            <a:off x="324000" y="3770850"/>
            <a:ext cx="3382200" cy="94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gradient:  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2</a:t>
            </a:r>
            <a:endParaRPr sz="2000" u="sng">
              <a:solidFill>
                <a:schemeClr val="lt1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/>
              <a:t>-intercept: 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(0, 3)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equation: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2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+ 3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graphicFrame>
        <p:nvGraphicFramePr>
          <p:cNvPr id="961" name="Google Shape;961;p81"/>
          <p:cNvGraphicFramePr>
            <a:graphicFrameLocks noGrp="1"/>
          </p:cNvGraphicFramePr>
          <p:nvPr/>
        </p:nvGraphicFramePr>
        <p:xfrm>
          <a:off x="308950" y="1141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{30249E52-1068-44D2-81A8-249747264F2E}</a:tableStyleId>
              </a:tblPr>
              <a:tblGrid>
                <a:gridCol w="2842025"/>
                <a:gridCol w="2842025"/>
                <a:gridCol w="2842025"/>
              </a:tblGrid>
              <a:tr h="402450">
                <a:tc>
                  <a:txBody>
                    <a:bodyPr vert="horz" wrap="square"/>
                    <a:lstStyle/>
                    <a:p>
                      <a:pPr marL="457200" lvl="0" indent="-34290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SzPts val="1800"/>
                        <a:buFont typeface="Lexend"/>
                        <a:buAutoNum type="alphaLcParenR"/>
                      </a:pP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 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c) </a:t>
                      </a:r>
                      <a:endParaRPr sz="20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962" name="Google Shape;962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24300" y="1583575"/>
            <a:ext cx="1694808" cy="2196426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963" name="Google Shape;963;p81"/>
          <p:cNvPicPr preferRelativeResize="0"/>
          <p:nvPr/>
        </p:nvPicPr>
        <p:blipFill>
          <a:blip r:embed="rId4">
            <a:alphaModFix/>
          </a:blip>
          <a:srcRect l="3018" r="4968"/>
          <a:stretch>
            <a:fillRect/>
          </a:stretch>
        </p:blipFill>
        <p:spPr>
          <a:xfrm>
            <a:off x="3214065" y="1583575"/>
            <a:ext cx="2231726" cy="2196424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964" name="Google Shape;964;p8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4000" y="1591800"/>
            <a:ext cx="1416694" cy="2159975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965" name="Google Shape;965;p81"/>
          <p:cNvSpPr txBox="1"/>
          <p:nvPr>
            <p:ph type="body" idx="1"/>
          </p:nvPr>
        </p:nvSpPr>
        <p:spPr>
          <a:xfrm>
            <a:off x="3214075" y="3770850"/>
            <a:ext cx="3382200" cy="94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gradient:  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1</a:t>
            </a:r>
            <a:endParaRPr sz="2000" u="sng">
              <a:solidFill>
                <a:schemeClr val="lt1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/>
              <a:t>-intercept: 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(0, </a:t>
            </a: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4)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equation: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4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66" name="Google Shape;966;p81"/>
          <p:cNvSpPr txBox="1"/>
          <p:nvPr>
            <p:ph type="body" idx="1"/>
          </p:nvPr>
        </p:nvSpPr>
        <p:spPr>
          <a:xfrm>
            <a:off x="6109675" y="3770850"/>
            <a:ext cx="3382200" cy="94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gradient:   </a:t>
            </a: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3</a:t>
            </a:r>
            <a:endParaRPr sz="2000" u="sng">
              <a:solidFill>
                <a:schemeClr val="lt1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/>
              <a:t>-intercept: 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(0, </a:t>
            </a: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0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)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equation: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ransition/>
  <p:timing/>
</p:sld>
</file>

<file path=ppt/slides/slide1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70" name="Shape 970"/>
        <p:cNvGrpSpPr/>
        <p:nvPr/>
      </p:nvGrpSpPr>
      <p:grpSpPr>
        <a:xfrm>
          <a:off x="0" y="0"/>
          <a:ext cx="0" cy="0"/>
        </a:xfrm>
      </p:grpSpPr>
      <p:sp>
        <p:nvSpPr>
          <p:cNvPr id="971" name="Google Shape;971;p82"/>
          <p:cNvSpPr txBox="1"/>
          <p:nvPr>
            <p:ph type="body" idx="1"/>
          </p:nvPr>
        </p:nvSpPr>
        <p:spPr>
          <a:xfrm>
            <a:off x="324000" y="759300"/>
            <a:ext cx="84960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55600" algn="l" rtl="0">
              <a:spcBef>
                <a:spcPct val="0"/>
              </a:spcBef>
              <a:spcAft>
                <a:spcPct val="0"/>
              </a:spcAft>
              <a:buSzPts val="2000"/>
              <a:buAutoNum type="arabicParenR"/>
            </a:pPr>
            <a:r>
              <a:rPr lang="en-GB" sz="1800"/>
              <a:t>For each graph, work out an equation for the line in the form</a:t>
            </a:r>
            <a:r>
              <a:rPr lang="en-GB" sz="2000"/>
              <a:t> </a:t>
            </a:r>
            <a:r>
              <a:rPr lang="en-GB" sz="2100" i="1">
                <a:latin typeface="Times"/>
                <a:ea typeface="Times"/>
                <a:cs typeface="Times"/>
                <a:sym typeface="Times"/>
              </a:rPr>
              <a:t>y = mx + c</a:t>
            </a:r>
            <a:endParaRPr sz="1300"/>
          </a:p>
        </p:txBody>
      </p:sp>
      <p:sp>
        <p:nvSpPr>
          <p:cNvPr id="972" name="Google Shape;972;p82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Writing the equation of a line from key features</a:t>
            </a:r>
            <a:endParaRPr/>
          </a:p>
        </p:txBody>
      </p:sp>
      <p:graphicFrame>
        <p:nvGraphicFramePr>
          <p:cNvPr id="973" name="Google Shape;973;p82"/>
          <p:cNvGraphicFramePr>
            <a:graphicFrameLocks noGrp="1"/>
          </p:cNvGraphicFramePr>
          <p:nvPr/>
        </p:nvGraphicFramePr>
        <p:xfrm>
          <a:off x="308950" y="1065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{30249E52-1068-44D2-81A8-249747264F2E}</a:tableStyleId>
              </a:tblPr>
              <a:tblGrid>
                <a:gridCol w="2842025"/>
                <a:gridCol w="2842025"/>
                <a:gridCol w="2842025"/>
              </a:tblGrid>
              <a:tr h="4024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e) 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f) </a:t>
                      </a:r>
                      <a:endParaRPr sz="20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974" name="Google Shape;974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8675" y="1500125"/>
            <a:ext cx="1825150" cy="2025876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975" name="Google Shape;975;p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69600" y="1500125"/>
            <a:ext cx="1442902" cy="2102076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976" name="Google Shape;976;p8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4000" y="1500125"/>
            <a:ext cx="2333675" cy="2003175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977" name="Google Shape;977;p82"/>
          <p:cNvSpPr txBox="1"/>
          <p:nvPr>
            <p:ph type="body" idx="1"/>
          </p:nvPr>
        </p:nvSpPr>
        <p:spPr>
          <a:xfrm>
            <a:off x="324000" y="3694650"/>
            <a:ext cx="3382200" cy="94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gradient:   </a:t>
            </a:r>
            <a:endParaRPr sz="2000" u="sng">
              <a:solidFill>
                <a:schemeClr val="lt1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/>
              <a:t>-intercept: 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(0, </a:t>
            </a: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3)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equation: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  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3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978" name="Google Shape;978;p82" descr="&lt;math xmlns=&quot;http://www.w3.org/1998/Math/MathML&quot; display=&quot;block&quot; data-is-equatio=&quot;1&quot; data-latex=&quot;\frac{1}{3}&quot;&gt;&lt;mfrac&gt;&lt;mn&gt;1&lt;/mn&gt;&lt;mn&gt;3&lt;/mn&gt;&lt;/mfrac&gt;&lt;/math&gt;" title="one third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94400" y="4320001"/>
            <a:ext cx="14011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79" name="Google Shape;979;p82"/>
          <p:cNvSpPr txBox="1"/>
          <p:nvPr>
            <p:ph type="body" idx="1"/>
          </p:nvPr>
        </p:nvSpPr>
        <p:spPr>
          <a:xfrm>
            <a:off x="3369600" y="3694650"/>
            <a:ext cx="3382200" cy="94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gradient:  </a:t>
            </a: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6</a:t>
            </a:r>
            <a:r>
              <a:rPr lang="en-GB" sz="1800"/>
              <a:t> </a:t>
            </a:r>
            <a:endParaRPr sz="2000" u="sng">
              <a:solidFill>
                <a:schemeClr val="lt1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/>
              <a:t>-intercept: 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(0, </a:t>
            </a: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8)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equation: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−6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8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80" name="Google Shape;980;p82"/>
          <p:cNvSpPr txBox="1"/>
          <p:nvPr>
            <p:ph type="body" idx="1"/>
          </p:nvPr>
        </p:nvSpPr>
        <p:spPr>
          <a:xfrm>
            <a:off x="5906275" y="3694650"/>
            <a:ext cx="2913600" cy="94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gradient:  </a:t>
            </a:r>
            <a:endParaRPr sz="2000" u="sng">
              <a:solidFill>
                <a:schemeClr val="lt1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/>
              <a:t>-intercept: 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(0, </a:t>
            </a: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0.2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)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equation: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   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+ 0.2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981" name="Google Shape;981;p82" descr="&lt;math xmlns=&quot;http://www.w3.org/1998/Math/MathML&quot; display=&quot;block&quot; data-is-equatio=&quot;1&quot; data-latex=&quot;-\frac{4}{3}&quot;&gt;&lt;mo&gt;−&lt;/mo&gt;&lt;mfrac&gt;&lt;mn&gt;4&lt;/mn&gt;&lt;mn&gt;3&lt;/mn&gt;&lt;/mfrac&gt;&lt;/math&gt;" title="negative four third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945326" y="3617251"/>
            <a:ext cx="300413" cy="45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2" name="Google Shape;982;p82" descr="&lt;math xmlns=&quot;http://www.w3.org/1998/Math/MathML&quot; display=&quot;block&quot; data-is-equatio=&quot;1&quot; data-latex=&quot;-\frac{4}{3}&quot;&gt;&lt;mo&gt;−&lt;/mo&gt;&lt;mfrac&gt;&lt;mn&gt;4&lt;/mn&gt;&lt;mn&gt;3&lt;/mn&gt;&lt;/mfrac&gt;&lt;/math&gt;" title="negative four third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362440" y="4288947"/>
            <a:ext cx="300413" cy="45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3" name="Google Shape;983;p82" descr="&lt;math xmlns=&quot;http://www.w3.org/1998/Math/MathML&quot; display=&quot;block&quot; data-is-equatio=&quot;1&quot; data-latex=&quot;\frac{1}{3}&quot;&gt;&lt;mfrac&gt;&lt;mn&gt;1&lt;/mn&gt;&lt;mn&gt;3&lt;/mn&gt;&lt;/mfrac&gt;&lt;/math&gt;" title="one third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84225" y="3617226"/>
            <a:ext cx="14011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2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87" name="Shape 987"/>
        <p:cNvGrpSpPr/>
        <p:nvPr/>
      </p:nvGrpSpPr>
      <p:grpSpPr>
        <a:xfrm>
          <a:off x="0" y="0"/>
          <a:ext cx="0" cy="0"/>
        </a:xfrm>
      </p:grpSpPr>
      <p:sp>
        <p:nvSpPr>
          <p:cNvPr id="988" name="Google Shape;988;p83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Writing the equation of a line from key features</a:t>
            </a:r>
            <a:endParaRPr/>
          </a:p>
        </p:txBody>
      </p:sp>
      <p:sp>
        <p:nvSpPr>
          <p:cNvPr id="989" name="Google Shape;989;p83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Finding the equation of a line</a:t>
            </a:r>
            <a:endParaRPr/>
          </a:p>
        </p:txBody>
      </p:sp>
      <p:sp>
        <p:nvSpPr>
          <p:cNvPr id="990" name="Google Shape;990;p83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Finding the equation of the line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 = mx + c</a:t>
            </a:r>
            <a:endParaRPr sz="2000" i="1"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991" name="Google Shape;991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250" y="2987638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2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95" name="Shape 995"/>
        <p:cNvGrpSpPr/>
        <p:nvPr/>
      </p:nvGrpSpPr>
      <p:grpSpPr>
        <a:xfrm>
          <a:off x="0" y="0"/>
          <a:ext cx="0" cy="0"/>
        </a:xfrm>
      </p:grpSpPr>
      <p:sp>
        <p:nvSpPr>
          <p:cNvPr id="996" name="Google Shape;996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Finding the equation of a line</a:t>
            </a:r>
            <a:endParaRPr/>
          </a:p>
        </p:txBody>
      </p:sp>
      <p:sp>
        <p:nvSpPr>
          <p:cNvPr id="997" name="Google Shape;997;p84"/>
          <p:cNvSpPr txBox="1"/>
          <p:nvPr>
            <p:ph type="body" idx="1"/>
          </p:nvPr>
        </p:nvSpPr>
        <p:spPr>
          <a:xfrm>
            <a:off x="324000" y="759300"/>
            <a:ext cx="8237700" cy="51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We can calculate the equation of a line from its table of values.</a:t>
            </a:r>
            <a:endParaRPr sz="2000"/>
          </a:p>
        </p:txBody>
      </p:sp>
      <p:graphicFrame>
        <p:nvGraphicFramePr>
          <p:cNvPr id="998" name="Google Shape;998;p84"/>
          <p:cNvGraphicFramePr>
            <a:graphicFrameLocks noGrp="1"/>
          </p:cNvGraphicFramePr>
          <p:nvPr/>
        </p:nvGraphicFramePr>
        <p:xfrm>
          <a:off x="323988" y="1673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{30249E52-1068-44D2-81A8-249747264F2E}</a:tableStyleId>
              </a:tblPr>
              <a:tblGrid>
                <a:gridCol w="787225"/>
                <a:gridCol w="787225"/>
                <a:gridCol w="787225"/>
                <a:gridCol w="787225"/>
              </a:tblGrid>
              <a:tr h="2862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20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84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sz="20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999" name="Google Shape;999;p84"/>
          <p:cNvPicPr preferRelativeResize="0"/>
          <p:nvPr/>
        </p:nvPicPr>
        <p:blipFill>
          <a:blip r:embed="rId3">
            <a:alphaModFix/>
          </a:blip>
          <a:srcRect l="61559" t="27330" r="13951" b="59597"/>
          <a:stretch>
            <a:fillRect/>
          </a:stretch>
        </p:blipFill>
        <p:spPr>
          <a:xfrm>
            <a:off x="2315400" y="1389174"/>
            <a:ext cx="885900" cy="284202"/>
          </a:xfrm>
          <a:prstGeom prst="rect">
            <a:avLst/>
          </a:prstGeom>
          <a:noFill/>
          <a:ln>
            <a:noFill/>
          </a:ln>
        </p:spPr>
      </p:pic>
      <p:sp>
        <p:nvSpPr>
          <p:cNvPr id="1000" name="Google Shape;1000;p84"/>
          <p:cNvSpPr/>
          <p:nvPr/>
        </p:nvSpPr>
        <p:spPr>
          <a:xfrm>
            <a:off x="2467050" y="1108075"/>
            <a:ext cx="582600" cy="2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01" name="Google Shape;1001;p84"/>
          <p:cNvPicPr preferRelativeResize="0"/>
          <p:nvPr/>
        </p:nvPicPr>
        <p:blipFill>
          <a:blip r:embed="rId3">
            <a:alphaModFix/>
          </a:blip>
          <a:srcRect l="61559" t="27330" r="13951" b="59597"/>
          <a:stretch>
            <a:fillRect/>
          </a:stretch>
        </p:blipFill>
        <p:spPr>
          <a:xfrm rot="10800000" flipH="1">
            <a:off x="2315400" y="2322962"/>
            <a:ext cx="885900" cy="284202"/>
          </a:xfrm>
          <a:prstGeom prst="rect">
            <a:avLst/>
          </a:prstGeom>
          <a:noFill/>
          <a:ln>
            <a:noFill/>
          </a:ln>
        </p:spPr>
      </p:pic>
      <p:sp>
        <p:nvSpPr>
          <p:cNvPr id="1002" name="Google Shape;1002;p84"/>
          <p:cNvSpPr/>
          <p:nvPr/>
        </p:nvSpPr>
        <p:spPr>
          <a:xfrm>
            <a:off x="2467050" y="2580825"/>
            <a:ext cx="582600" cy="2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+4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3" name="Google Shape;1003;p84"/>
          <p:cNvSpPr txBox="1"/>
          <p:nvPr/>
        </p:nvSpPr>
        <p:spPr>
          <a:xfrm>
            <a:off x="4320000" y="1673375"/>
            <a:ext cx="4204800" cy="4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When </a:t>
            </a:r>
            <a:r>
              <a:rPr lang="en-GB" sz="21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increases by 1, </a:t>
            </a:r>
            <a:r>
              <a:rPr lang="en-GB" sz="21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increases </a:t>
            </a:r>
            <a:r>
              <a:rPr lang="en-GB" sz="1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by 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4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gradient of the line is </a:t>
            </a: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1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4" name="Google Shape;1004;p84"/>
          <p:cNvSpPr txBox="1"/>
          <p:nvPr/>
        </p:nvSpPr>
        <p:spPr>
          <a:xfrm>
            <a:off x="4320000" y="2903100"/>
            <a:ext cx="4253700" cy="4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The</a:t>
            </a:r>
            <a:r>
              <a:rPr lang="en-GB" sz="1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1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-</a:t>
            </a:r>
            <a:r>
              <a:rPr lang="en-GB" sz="1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tercept is (0, </a:t>
            </a: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)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5" name="Google Shape;1005;p84"/>
          <p:cNvSpPr txBox="1"/>
          <p:nvPr/>
        </p:nvSpPr>
        <p:spPr>
          <a:xfrm>
            <a:off x="324000" y="3540950"/>
            <a:ext cx="7186800" cy="4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The</a:t>
            </a:r>
            <a:r>
              <a:rPr lang="en-GB" sz="1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equation of the line could be written as </a:t>
            </a:r>
            <a:r>
              <a:rPr lang="en-GB" sz="21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sz="21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− 4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900" i="1">
                <a:latin typeface="Lexend"/>
                <a:ea typeface="Lexend"/>
                <a:cs typeface="Lexend"/>
                <a:sym typeface="Lexend"/>
              </a:rPr>
              <a:t> </a:t>
            </a:r>
            <a:endParaRPr sz="19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6" name="Google Shape;1006;p84"/>
          <p:cNvSpPr/>
          <p:nvPr/>
        </p:nvSpPr>
        <p:spPr>
          <a:xfrm>
            <a:off x="1898450" y="1678250"/>
            <a:ext cx="787200" cy="6135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10" name="Shape 1010"/>
        <p:cNvGrpSpPr/>
        <p:nvPr/>
      </p:nvGrpSpPr>
      <p:grpSpPr>
        <a:xfrm>
          <a:off x="0" y="0"/>
          <a:ext cx="0" cy="0"/>
        </a:xfrm>
      </p:grpSpPr>
      <p:sp>
        <p:nvSpPr>
          <p:cNvPr id="1011" name="Google Shape;1011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Finding the equation of a line</a:t>
            </a:r>
            <a:endParaRPr/>
          </a:p>
        </p:txBody>
      </p:sp>
      <p:sp>
        <p:nvSpPr>
          <p:cNvPr id="1012" name="Google Shape;1012;p85"/>
          <p:cNvSpPr txBox="1"/>
          <p:nvPr>
            <p:ph type="body" idx="1"/>
          </p:nvPr>
        </p:nvSpPr>
        <p:spPr>
          <a:xfrm>
            <a:off x="324000" y="759300"/>
            <a:ext cx="8496000" cy="51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If we do not know the </a:t>
            </a:r>
            <a:r>
              <a:rPr lang="en-GB" sz="21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900"/>
              <a:t>-intercept, we can calculate it from the gradient.</a:t>
            </a:r>
            <a:endParaRPr sz="1900"/>
          </a:p>
        </p:txBody>
      </p:sp>
      <p:graphicFrame>
        <p:nvGraphicFramePr>
          <p:cNvPr id="1013" name="Google Shape;1013;p85"/>
          <p:cNvGraphicFramePr>
            <a:graphicFrameLocks noGrp="1"/>
          </p:cNvGraphicFramePr>
          <p:nvPr/>
        </p:nvGraphicFramePr>
        <p:xfrm>
          <a:off x="323988" y="1825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{30249E52-1068-44D2-81A8-249747264F2E}</a:tableStyleId>
              </a:tblPr>
              <a:tblGrid>
                <a:gridCol w="787225"/>
                <a:gridCol w="787225"/>
                <a:gridCol w="787225"/>
                <a:gridCol w="787225"/>
              </a:tblGrid>
              <a:tr h="2862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20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84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sz="20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1014" name="Google Shape;1014;p85"/>
          <p:cNvPicPr preferRelativeResize="0"/>
          <p:nvPr/>
        </p:nvPicPr>
        <p:blipFill>
          <a:blip r:embed="rId3">
            <a:alphaModFix/>
          </a:blip>
          <a:srcRect l="61559" t="27330" r="13951" b="59597"/>
          <a:stretch>
            <a:fillRect/>
          </a:stretch>
        </p:blipFill>
        <p:spPr>
          <a:xfrm>
            <a:off x="1452200" y="1492349"/>
            <a:ext cx="885900" cy="284202"/>
          </a:xfrm>
          <a:prstGeom prst="rect">
            <a:avLst/>
          </a:prstGeom>
          <a:noFill/>
          <a:ln>
            <a:noFill/>
          </a:ln>
        </p:spPr>
      </p:pic>
      <p:sp>
        <p:nvSpPr>
          <p:cNvPr id="1015" name="Google Shape;1015;p85"/>
          <p:cNvSpPr/>
          <p:nvPr/>
        </p:nvSpPr>
        <p:spPr>
          <a:xfrm>
            <a:off x="1603850" y="1211250"/>
            <a:ext cx="582600" cy="2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16" name="Google Shape;1016;p85"/>
          <p:cNvPicPr preferRelativeResize="0"/>
          <p:nvPr/>
        </p:nvPicPr>
        <p:blipFill>
          <a:blip r:embed="rId3">
            <a:alphaModFix/>
          </a:blip>
          <a:srcRect l="61559" t="27330" r="13951" b="59597"/>
          <a:stretch>
            <a:fillRect/>
          </a:stretch>
        </p:blipFill>
        <p:spPr>
          <a:xfrm rot="10800000" flipH="1">
            <a:off x="1452200" y="2401799"/>
            <a:ext cx="885900" cy="284202"/>
          </a:xfrm>
          <a:prstGeom prst="rect">
            <a:avLst/>
          </a:prstGeom>
          <a:noFill/>
          <a:ln>
            <a:noFill/>
          </a:ln>
        </p:spPr>
      </p:pic>
      <p:sp>
        <p:nvSpPr>
          <p:cNvPr id="1017" name="Google Shape;1017;p85"/>
          <p:cNvSpPr/>
          <p:nvPr/>
        </p:nvSpPr>
        <p:spPr>
          <a:xfrm>
            <a:off x="1603850" y="2687550"/>
            <a:ext cx="582600" cy="2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8" name="Google Shape;1018;p85"/>
          <p:cNvSpPr txBox="1"/>
          <p:nvPr/>
        </p:nvSpPr>
        <p:spPr>
          <a:xfrm>
            <a:off x="4271150" y="1825775"/>
            <a:ext cx="4253700" cy="4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gradient of the line is </a:t>
            </a: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019" name="Google Shape;1019;p85"/>
          <p:cNvGraphicFramePr>
            <a:graphicFrameLocks noGrp="1"/>
          </p:cNvGraphicFramePr>
          <p:nvPr/>
        </p:nvGraphicFramePr>
        <p:xfrm>
          <a:off x="320688" y="3147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{30249E52-1068-44D2-81A8-249747264F2E}</a:tableStyleId>
              </a:tblPr>
              <a:tblGrid>
                <a:gridCol w="720150"/>
                <a:gridCol w="720150"/>
                <a:gridCol w="720150"/>
                <a:gridCol w="720150"/>
                <a:gridCol w="698675"/>
              </a:tblGrid>
              <a:tr h="2862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20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9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84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sz="20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1020" name="Google Shape;1020;p85"/>
          <p:cNvPicPr preferRelativeResize="0"/>
          <p:nvPr/>
        </p:nvPicPr>
        <p:blipFill>
          <a:blip r:embed="rId3">
            <a:alphaModFix/>
          </a:blip>
          <a:srcRect l="61559" t="27330" r="13951" b="59597"/>
          <a:stretch>
            <a:fillRect/>
          </a:stretch>
        </p:blipFill>
        <p:spPr>
          <a:xfrm rot="10800000">
            <a:off x="1272075" y="3770649"/>
            <a:ext cx="885900" cy="284202"/>
          </a:xfrm>
          <a:prstGeom prst="rect">
            <a:avLst/>
          </a:prstGeom>
          <a:noFill/>
          <a:ln>
            <a:noFill/>
          </a:ln>
        </p:spPr>
      </p:pic>
      <p:sp>
        <p:nvSpPr>
          <p:cNvPr id="1021" name="Google Shape;1021;p85"/>
          <p:cNvSpPr/>
          <p:nvPr/>
        </p:nvSpPr>
        <p:spPr>
          <a:xfrm flipH="1">
            <a:off x="1423725" y="4056400"/>
            <a:ext cx="582600" cy="2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+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2" name="Google Shape;1022;p85"/>
          <p:cNvSpPr/>
          <p:nvPr/>
        </p:nvSpPr>
        <p:spPr>
          <a:xfrm>
            <a:off x="1039175" y="3456600"/>
            <a:ext cx="721800" cy="3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3" name="Google Shape;1023;p85"/>
          <p:cNvSpPr txBox="1"/>
          <p:nvPr/>
        </p:nvSpPr>
        <p:spPr>
          <a:xfrm>
            <a:off x="4320000" y="3131700"/>
            <a:ext cx="4253700" cy="4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The</a:t>
            </a:r>
            <a:r>
              <a:rPr lang="en-GB" sz="1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1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-</a:t>
            </a:r>
            <a:r>
              <a:rPr lang="en-GB" sz="1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tercept is (0, 14)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4" name="Google Shape;1024;p85"/>
          <p:cNvSpPr txBox="1"/>
          <p:nvPr/>
        </p:nvSpPr>
        <p:spPr>
          <a:xfrm>
            <a:off x="320700" y="4469025"/>
            <a:ext cx="7186800" cy="4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The</a:t>
            </a:r>
            <a:r>
              <a:rPr lang="en-GB" sz="1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equation of the line could be written as </a:t>
            </a:r>
            <a:r>
              <a:rPr lang="en-GB" sz="21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1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+ 14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900" i="1">
                <a:latin typeface="Lexend"/>
                <a:ea typeface="Lexend"/>
                <a:cs typeface="Lexend"/>
                <a:sym typeface="Lexend"/>
              </a:rPr>
              <a:t> </a:t>
            </a:r>
            <a:endParaRPr sz="19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28" name="Shape 1028"/>
        <p:cNvGrpSpPr/>
        <p:nvPr/>
      </p:nvGrpSpPr>
      <p:grpSpPr>
        <a:xfrm>
          <a:off x="0" y="0"/>
          <a:ext cx="0" cy="0"/>
        </a:xfrm>
      </p:grpSpPr>
      <p:sp>
        <p:nvSpPr>
          <p:cNvPr id="1029" name="Google Shape;1029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Finding the equation of a line</a:t>
            </a:r>
            <a:endParaRPr/>
          </a:p>
        </p:txBody>
      </p:sp>
      <p:sp>
        <p:nvSpPr>
          <p:cNvPr id="1030" name="Google Shape;1030;p86"/>
          <p:cNvSpPr txBox="1"/>
          <p:nvPr>
            <p:ph type="body" idx="1"/>
          </p:nvPr>
        </p:nvSpPr>
        <p:spPr>
          <a:xfrm>
            <a:off x="324000" y="759300"/>
            <a:ext cx="8237700" cy="51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We can calculate the equation of a line if we know the 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/>
              <a:t>-intercept and another coordinate.</a:t>
            </a:r>
            <a:endParaRPr sz="2000"/>
          </a:p>
        </p:txBody>
      </p:sp>
      <p:sp>
        <p:nvSpPr>
          <p:cNvPr id="1031" name="Google Shape;1031;p86"/>
          <p:cNvSpPr txBox="1"/>
          <p:nvPr/>
        </p:nvSpPr>
        <p:spPr>
          <a:xfrm>
            <a:off x="2681325" y="2838900"/>
            <a:ext cx="3103800" cy="4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gradient is </a:t>
            </a: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2" name="Google Shape;1032;p86"/>
          <p:cNvSpPr txBox="1"/>
          <p:nvPr/>
        </p:nvSpPr>
        <p:spPr>
          <a:xfrm>
            <a:off x="2681325" y="3294625"/>
            <a:ext cx="2799300" cy="4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The</a:t>
            </a:r>
            <a:r>
              <a:rPr lang="en-GB" sz="1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1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-</a:t>
            </a:r>
            <a:r>
              <a:rPr lang="en-GB" sz="1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tercept is (0, 4)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3" name="Google Shape;1033;p86"/>
          <p:cNvSpPr txBox="1"/>
          <p:nvPr/>
        </p:nvSpPr>
        <p:spPr>
          <a:xfrm>
            <a:off x="324000" y="4279100"/>
            <a:ext cx="7186800" cy="4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The</a:t>
            </a:r>
            <a:r>
              <a:rPr lang="en-GB" sz="1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equation of the line could be written as </a:t>
            </a:r>
            <a:r>
              <a:rPr lang="en-GB" sz="21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1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+ 4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900" i="1">
                <a:latin typeface="Lexend"/>
                <a:ea typeface="Lexend"/>
                <a:cs typeface="Lexend"/>
                <a:sym typeface="Lexend"/>
              </a:rPr>
              <a:t> </a:t>
            </a:r>
            <a:endParaRPr sz="19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34" name="Google Shape;1034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526" y="1679300"/>
            <a:ext cx="2094325" cy="2235125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graphicFrame>
        <p:nvGraphicFramePr>
          <p:cNvPr id="1035" name="Google Shape;1035;p86"/>
          <p:cNvGraphicFramePr>
            <a:graphicFrameLocks noGrp="1"/>
          </p:cNvGraphicFramePr>
          <p:nvPr/>
        </p:nvGraphicFramePr>
        <p:xfrm>
          <a:off x="2681322" y="16876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{30249E52-1068-44D2-81A8-249747264F2E}</a:tableStyleId>
              </a:tblPr>
              <a:tblGrid>
                <a:gridCol w="1463100"/>
                <a:gridCol w="1463100"/>
              </a:tblGrid>
              <a:tr h="3119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in </a:t>
                      </a: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20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in </a:t>
                      </a: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72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19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036" name="Google Shape;1036;p86"/>
          <p:cNvSpPr/>
          <p:nvPr/>
        </p:nvSpPr>
        <p:spPr>
          <a:xfrm>
            <a:off x="2681320" y="2314616"/>
            <a:ext cx="1463100" cy="3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7" name="Google Shape;1037;p86"/>
          <p:cNvSpPr/>
          <p:nvPr/>
        </p:nvSpPr>
        <p:spPr>
          <a:xfrm>
            <a:off x="4144420" y="2314616"/>
            <a:ext cx="1463100" cy="3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8" name="Google Shape;1038;p86"/>
          <p:cNvSpPr/>
          <p:nvPr/>
        </p:nvSpPr>
        <p:spPr>
          <a:xfrm>
            <a:off x="4144420" y="2002203"/>
            <a:ext cx="1463100" cy="3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9" name="Google Shape;1039;p86"/>
          <p:cNvSpPr/>
          <p:nvPr/>
        </p:nvSpPr>
        <p:spPr>
          <a:xfrm>
            <a:off x="2681320" y="2002191"/>
            <a:ext cx="1463100" cy="3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0" name="Google Shape;1040;p86"/>
          <p:cNvSpPr/>
          <p:nvPr/>
        </p:nvSpPr>
        <p:spPr>
          <a:xfrm>
            <a:off x="1066000" y="2891200"/>
            <a:ext cx="187800" cy="2307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41" name="Google Shape;1041;p86"/>
          <p:cNvGrpSpPr/>
          <p:nvPr/>
        </p:nvGrpSpPr>
        <p:grpSpPr>
          <a:xfrm>
            <a:off x="1341775" y="2255175"/>
            <a:ext cx="480198" cy="847452"/>
            <a:chOff x="1341775" y="2255175"/>
            <a:chExt cx="480198" cy="847452"/>
          </a:xfrm>
        </p:grpSpPr>
        <p:sp>
          <p:nvSpPr>
            <p:cNvPr id="1042" name="Google Shape;1042;p86"/>
            <p:cNvSpPr/>
            <p:nvPr/>
          </p:nvSpPr>
          <p:spPr>
            <a:xfrm>
              <a:off x="1341775" y="2901927"/>
              <a:ext cx="147900" cy="200700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43" name="Google Shape;1043;p86"/>
            <p:cNvSpPr/>
            <p:nvPr/>
          </p:nvSpPr>
          <p:spPr>
            <a:xfrm>
              <a:off x="1674073" y="2255175"/>
              <a:ext cx="147900" cy="200700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44" name="Google Shape;1044;p86"/>
          <p:cNvGrpSpPr/>
          <p:nvPr/>
        </p:nvGrpSpPr>
        <p:grpSpPr>
          <a:xfrm>
            <a:off x="1518652" y="2260538"/>
            <a:ext cx="566211" cy="846363"/>
            <a:chOff x="1280452" y="2260538"/>
            <a:chExt cx="566211" cy="846363"/>
          </a:xfrm>
        </p:grpSpPr>
        <p:sp>
          <p:nvSpPr>
            <p:cNvPr id="1045" name="Google Shape;1045;p86"/>
            <p:cNvSpPr/>
            <p:nvPr/>
          </p:nvSpPr>
          <p:spPr>
            <a:xfrm>
              <a:off x="1280452" y="2906202"/>
              <a:ext cx="147900" cy="200700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46" name="Google Shape;1046;p86"/>
            <p:cNvSpPr/>
            <p:nvPr/>
          </p:nvSpPr>
          <p:spPr>
            <a:xfrm>
              <a:off x="1615063" y="2260538"/>
              <a:ext cx="231600" cy="200700"/>
            </a:xfrm>
            <a:prstGeom prst="roundRect">
              <a:avLst>
                <a:gd name="adj" fmla="val 16667"/>
              </a:avLst>
            </a:prstGeom>
            <a:noFill/>
            <a:ln w="1905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50" name="Shape 1050"/>
        <p:cNvGrpSpPr/>
        <p:nvPr/>
      </p:nvGrpSpPr>
      <p:grpSpPr>
        <a:xfrm>
          <a:off x="0" y="0"/>
          <a:ext cx="0" cy="0"/>
        </a:xfrm>
      </p:grpSpPr>
      <p:pic>
        <p:nvPicPr>
          <p:cNvPr id="1051" name="Google Shape;1051;p87"/>
          <p:cNvPicPr preferRelativeResize="0"/>
          <p:nvPr/>
        </p:nvPicPr>
        <p:blipFill>
          <a:blip r:embed="rId3">
            <a:alphaModFix/>
          </a:blip>
          <a:srcRect l="12288"/>
          <a:stretch>
            <a:fillRect/>
          </a:stretch>
        </p:blipFill>
        <p:spPr>
          <a:xfrm>
            <a:off x="4861474" y="1317788"/>
            <a:ext cx="1306801" cy="1572626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052" name="Google Shape;1052;p87"/>
          <p:cNvSpPr txBox="1"/>
          <p:nvPr>
            <p:ph type="subTitle" idx="1"/>
          </p:nvPr>
        </p:nvSpPr>
        <p:spPr>
          <a:xfrm>
            <a:off x="337825" y="810000"/>
            <a:ext cx="3982200" cy="33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Calculate the equation of this line.</a:t>
            </a:r>
            <a:endParaRPr/>
          </a:p>
        </p:txBody>
      </p:sp>
      <p:sp>
        <p:nvSpPr>
          <p:cNvPr id="1053" name="Google Shape;1053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Finding the equation of a line</a:t>
            </a:r>
            <a:endParaRPr/>
          </a:p>
        </p:txBody>
      </p:sp>
      <p:pic>
        <p:nvPicPr>
          <p:cNvPr id="1054" name="Google Shape;1054;p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7825" y="1459325"/>
            <a:ext cx="1346975" cy="1572633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graphicFrame>
        <p:nvGraphicFramePr>
          <p:cNvPr id="1055" name="Google Shape;1055;p87"/>
          <p:cNvGraphicFramePr>
            <a:graphicFrameLocks noGrp="1"/>
          </p:cNvGraphicFramePr>
          <p:nvPr/>
        </p:nvGraphicFramePr>
        <p:xfrm>
          <a:off x="1790240" y="1452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{30249E52-1068-44D2-81A8-249747264F2E}</a:tableStyleId>
              </a:tblPr>
              <a:tblGrid>
                <a:gridCol w="1265200"/>
                <a:gridCol w="1265200"/>
              </a:tblGrid>
              <a:tr h="3119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in </a:t>
                      </a:r>
                      <a:r>
                        <a:rPr lang="en-GB" sz="19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9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in </a:t>
                      </a:r>
                      <a:r>
                        <a:rPr lang="en-GB" sz="19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72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19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056" name="Google Shape;1056;p87"/>
          <p:cNvSpPr/>
          <p:nvPr/>
        </p:nvSpPr>
        <p:spPr>
          <a:xfrm>
            <a:off x="1790250" y="2079975"/>
            <a:ext cx="1265100" cy="3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7" name="Google Shape;1057;p87"/>
          <p:cNvSpPr/>
          <p:nvPr/>
        </p:nvSpPr>
        <p:spPr>
          <a:xfrm>
            <a:off x="3062425" y="2079975"/>
            <a:ext cx="1265100" cy="3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−4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8" name="Google Shape;1058;p87"/>
          <p:cNvSpPr/>
          <p:nvPr/>
        </p:nvSpPr>
        <p:spPr>
          <a:xfrm>
            <a:off x="3062550" y="1767550"/>
            <a:ext cx="1265100" cy="3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−12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9" name="Google Shape;1059;p87"/>
          <p:cNvSpPr/>
          <p:nvPr/>
        </p:nvSpPr>
        <p:spPr>
          <a:xfrm>
            <a:off x="1790250" y="1767550"/>
            <a:ext cx="1265100" cy="3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0" name="Google Shape;1060;p87"/>
          <p:cNvSpPr txBox="1"/>
          <p:nvPr/>
        </p:nvSpPr>
        <p:spPr>
          <a:xfrm>
            <a:off x="1790250" y="2614650"/>
            <a:ext cx="2530500" cy="4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gradient is </a:t>
            </a: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−4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1" name="Google Shape;1061;p87"/>
          <p:cNvSpPr txBox="1"/>
          <p:nvPr/>
        </p:nvSpPr>
        <p:spPr>
          <a:xfrm>
            <a:off x="337825" y="3283900"/>
            <a:ext cx="2799300" cy="4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-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tercept is (0, 8)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2" name="Google Shape;1062;p87"/>
          <p:cNvSpPr/>
          <p:nvPr/>
        </p:nvSpPr>
        <p:spPr>
          <a:xfrm>
            <a:off x="502825" y="1731607"/>
            <a:ext cx="187800" cy="2307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3" name="Google Shape;1063;p87"/>
          <p:cNvSpPr txBox="1"/>
          <p:nvPr/>
        </p:nvSpPr>
        <p:spPr>
          <a:xfrm>
            <a:off x="324000" y="3936950"/>
            <a:ext cx="4003800" cy="4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equation of the line could be written as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+ 8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 i="1">
                <a:latin typeface="Lexend"/>
                <a:ea typeface="Lexend"/>
                <a:cs typeface="Lexend"/>
                <a:sym typeface="Lexend"/>
              </a:rPr>
              <a:t> </a:t>
            </a:r>
            <a:endParaRPr sz="18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4" name="Google Shape;1064;p87"/>
          <p:cNvSpPr txBox="1"/>
          <p:nvPr>
            <p:ph type="subTitle" idx="1"/>
          </p:nvPr>
        </p:nvSpPr>
        <p:spPr>
          <a:xfrm>
            <a:off x="4833625" y="810000"/>
            <a:ext cx="3982200" cy="33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Calculate the equation of this line.</a:t>
            </a:r>
            <a:endParaRPr/>
          </a:p>
        </p:txBody>
      </p:sp>
      <p:graphicFrame>
        <p:nvGraphicFramePr>
          <p:cNvPr id="1065" name="Google Shape;1065;p87"/>
          <p:cNvGraphicFramePr>
            <a:graphicFrameLocks noGrp="1"/>
          </p:cNvGraphicFramePr>
          <p:nvPr/>
        </p:nvGraphicFramePr>
        <p:xfrm>
          <a:off x="6286040" y="1452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{30249E52-1068-44D2-81A8-249747264F2E}</a:tableStyleId>
              </a:tblPr>
              <a:tblGrid>
                <a:gridCol w="1265200"/>
                <a:gridCol w="1265200"/>
              </a:tblGrid>
              <a:tr h="3119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in </a:t>
                      </a:r>
                      <a:r>
                        <a:rPr lang="en-GB" sz="19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9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in </a:t>
                      </a:r>
                      <a:r>
                        <a:rPr lang="en-GB" sz="19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72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19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066" name="Google Shape;1066;p87"/>
          <p:cNvSpPr/>
          <p:nvPr/>
        </p:nvSpPr>
        <p:spPr>
          <a:xfrm>
            <a:off x="6286050" y="2079975"/>
            <a:ext cx="1265100" cy="3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1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1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67" name="Google Shape;1067;p87"/>
          <p:cNvSpPr/>
          <p:nvPr/>
        </p:nvSpPr>
        <p:spPr>
          <a:xfrm>
            <a:off x="7558225" y="2079975"/>
            <a:ext cx="1265100" cy="3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1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−3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68" name="Google Shape;1068;p87"/>
          <p:cNvSpPr/>
          <p:nvPr/>
        </p:nvSpPr>
        <p:spPr>
          <a:xfrm>
            <a:off x="7558350" y="1767550"/>
            <a:ext cx="1265100" cy="3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1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−6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69" name="Google Shape;1069;p87"/>
          <p:cNvSpPr/>
          <p:nvPr/>
        </p:nvSpPr>
        <p:spPr>
          <a:xfrm>
            <a:off x="6286050" y="1767550"/>
            <a:ext cx="1265100" cy="3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70" name="Google Shape;1070;p87"/>
          <p:cNvSpPr txBox="1"/>
          <p:nvPr/>
        </p:nvSpPr>
        <p:spPr>
          <a:xfrm>
            <a:off x="6286050" y="2614650"/>
            <a:ext cx="2530500" cy="4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gradient is </a:t>
            </a: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−3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71" name="Google Shape;1071;p87"/>
          <p:cNvSpPr txBox="1"/>
          <p:nvPr/>
        </p:nvSpPr>
        <p:spPr>
          <a:xfrm>
            <a:off x="4833625" y="3283900"/>
            <a:ext cx="3239100" cy="4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</a:t>
            </a: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2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-</a:t>
            </a: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in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tercept is (0, </a:t>
            </a: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−4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)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72" name="Google Shape;1072;p87"/>
          <p:cNvSpPr/>
          <p:nvPr/>
        </p:nvSpPr>
        <p:spPr>
          <a:xfrm>
            <a:off x="4998625" y="1731607"/>
            <a:ext cx="187800" cy="2307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3" name="Google Shape;1073;p87"/>
          <p:cNvSpPr txBox="1"/>
          <p:nvPr/>
        </p:nvSpPr>
        <p:spPr>
          <a:xfrm>
            <a:off x="4819800" y="3936950"/>
            <a:ext cx="4003800" cy="4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</a:t>
            </a: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equation of the line could be written as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− 4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 i="1">
                <a:latin typeface="Lexend"/>
                <a:ea typeface="Lexend"/>
                <a:cs typeface="Lexend"/>
                <a:sym typeface="Lexend"/>
              </a:rPr>
              <a:t> </a:t>
            </a:r>
            <a:endParaRPr sz="18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77" name="Shape 1077"/>
        <p:cNvGrpSpPr/>
        <p:nvPr/>
      </p:nvGrpSpPr>
      <p:grpSpPr>
        <a:xfrm>
          <a:off x="0" y="0"/>
          <a:ext cx="0" cy="0"/>
        </a:xfrm>
      </p:grpSpPr>
      <p:sp>
        <p:nvSpPr>
          <p:cNvPr id="1078" name="Google Shape;1078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Finding the equation of a line</a:t>
            </a:r>
            <a:endParaRPr/>
          </a:p>
        </p:txBody>
      </p:sp>
      <p:sp>
        <p:nvSpPr>
          <p:cNvPr id="1079" name="Google Shape;1079;p88"/>
          <p:cNvSpPr txBox="1"/>
          <p:nvPr>
            <p:ph type="body" idx="1"/>
          </p:nvPr>
        </p:nvSpPr>
        <p:spPr>
          <a:xfrm>
            <a:off x="324000" y="759300"/>
            <a:ext cx="8496000" cy="51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We can calculate the equation of a line if we know any two coordinates on the line.</a:t>
            </a:r>
            <a:endParaRPr sz="1800"/>
          </a:p>
        </p:txBody>
      </p:sp>
      <p:sp>
        <p:nvSpPr>
          <p:cNvPr id="1080" name="Google Shape;1080;p88"/>
          <p:cNvSpPr txBox="1"/>
          <p:nvPr/>
        </p:nvSpPr>
        <p:spPr>
          <a:xfrm>
            <a:off x="324000" y="1758900"/>
            <a:ext cx="8496000" cy="4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What is the equation of the line which passes through (3, 5) and (12, 14)? </a:t>
            </a:r>
            <a:r>
              <a:rPr lang="en-GB" sz="1800" i="1">
                <a:latin typeface="Lexend"/>
                <a:ea typeface="Lexend"/>
                <a:cs typeface="Lexend"/>
                <a:sym typeface="Lexend"/>
              </a:rPr>
              <a:t> </a:t>
            </a:r>
            <a:endParaRPr sz="18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1" name="Google Shape;1081;p88"/>
          <p:cNvSpPr txBox="1"/>
          <p:nvPr/>
        </p:nvSpPr>
        <p:spPr>
          <a:xfrm>
            <a:off x="324000" y="2431550"/>
            <a:ext cx="8496000" cy="4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Remember that the equation of the line shows a relationship between the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and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values in a coordinate pair. </a:t>
            </a:r>
            <a:r>
              <a:rPr lang="en-GB" sz="1800" i="1">
                <a:latin typeface="Lexend"/>
                <a:ea typeface="Lexend"/>
                <a:cs typeface="Lexend"/>
                <a:sym typeface="Lexend"/>
              </a:rPr>
              <a:t> </a:t>
            </a:r>
            <a:endParaRPr sz="18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2" name="Google Shape;1082;p88"/>
          <p:cNvSpPr txBox="1"/>
          <p:nvPr/>
        </p:nvSpPr>
        <p:spPr>
          <a:xfrm>
            <a:off x="324000" y="3378900"/>
            <a:ext cx="8496000" cy="4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Can you spot a relationship which is true for both coordinates? </a:t>
            </a:r>
            <a:r>
              <a:rPr lang="en-GB" sz="1800" i="1">
                <a:latin typeface="Lexend"/>
                <a:ea typeface="Lexend"/>
                <a:cs typeface="Lexend"/>
                <a:sym typeface="Lexend"/>
              </a:rPr>
              <a:t> </a:t>
            </a:r>
            <a:endParaRPr sz="18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3" name="Google Shape;1083;p88"/>
          <p:cNvSpPr txBox="1"/>
          <p:nvPr/>
        </p:nvSpPr>
        <p:spPr>
          <a:xfrm>
            <a:off x="324000" y="3918900"/>
            <a:ext cx="8496000" cy="4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1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1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 + 2 </a:t>
            </a:r>
            <a:r>
              <a:rPr lang="en-GB" sz="1900" i="1">
                <a:latin typeface="Lexend"/>
                <a:ea typeface="Lexend"/>
                <a:cs typeface="Lexend"/>
                <a:sym typeface="Lexend"/>
              </a:rPr>
              <a:t> </a:t>
            </a:r>
            <a:endParaRPr sz="19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87" name="Shape 1087"/>
        <p:cNvGrpSpPr/>
        <p:nvPr/>
      </p:nvGrpSpPr>
      <p:grpSpPr>
        <a:xfrm>
          <a:off x="0" y="0"/>
          <a:ext cx="0" cy="0"/>
        </a:xfrm>
      </p:grpSpPr>
      <p:sp>
        <p:nvSpPr>
          <p:cNvPr id="1088" name="Google Shape;1088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Finding the equation of a line</a:t>
            </a:r>
            <a:endParaRPr/>
          </a:p>
        </p:txBody>
      </p:sp>
      <p:sp>
        <p:nvSpPr>
          <p:cNvPr id="1089" name="Google Shape;1089;p89"/>
          <p:cNvSpPr txBox="1"/>
          <p:nvPr>
            <p:ph type="body" idx="1"/>
          </p:nvPr>
        </p:nvSpPr>
        <p:spPr>
          <a:xfrm>
            <a:off x="324000" y="759300"/>
            <a:ext cx="8496000" cy="51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Can you spot the relationship between the </a:t>
            </a:r>
            <a:r>
              <a:rPr lang="en-GB" sz="21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900"/>
              <a:t> and </a:t>
            </a:r>
            <a:r>
              <a:rPr lang="en-GB" sz="21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900"/>
              <a:t> coordinates for each these coordinates?</a:t>
            </a:r>
            <a:endParaRPr sz="1900"/>
          </a:p>
        </p:txBody>
      </p:sp>
      <p:sp>
        <p:nvSpPr>
          <p:cNvPr id="1090" name="Google Shape;1090;p89"/>
          <p:cNvSpPr txBox="1"/>
          <p:nvPr/>
        </p:nvSpPr>
        <p:spPr>
          <a:xfrm>
            <a:off x="324000" y="1844700"/>
            <a:ext cx="8496000" cy="4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(3, 6) and (5, 10)</a:t>
            </a:r>
            <a:endParaRPr sz="19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1" name="Google Shape;1091;p89"/>
          <p:cNvSpPr txBox="1"/>
          <p:nvPr/>
        </p:nvSpPr>
        <p:spPr>
          <a:xfrm>
            <a:off x="4320000" y="1758900"/>
            <a:ext cx="4248000" cy="4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1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 = 2</a:t>
            </a:r>
            <a:r>
              <a:rPr lang="en-GB" sz="21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900" i="1">
                <a:latin typeface="Lexend"/>
                <a:ea typeface="Lexend"/>
                <a:cs typeface="Lexend"/>
                <a:sym typeface="Lexend"/>
              </a:rPr>
              <a:t> </a:t>
            </a:r>
            <a:endParaRPr sz="19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2" name="Google Shape;1092;p89"/>
          <p:cNvSpPr txBox="1"/>
          <p:nvPr/>
        </p:nvSpPr>
        <p:spPr>
          <a:xfrm>
            <a:off x="324000" y="2700000"/>
            <a:ext cx="8496000" cy="4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(8, 8) and (15, 15)</a:t>
            </a:r>
            <a:endParaRPr sz="19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3" name="Google Shape;1093;p89"/>
          <p:cNvSpPr txBox="1"/>
          <p:nvPr/>
        </p:nvSpPr>
        <p:spPr>
          <a:xfrm>
            <a:off x="324000" y="3555300"/>
            <a:ext cx="8496000" cy="4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(7, 4) and (2, </a:t>
            </a: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−1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)</a:t>
            </a:r>
            <a:endParaRPr sz="19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4" name="Google Shape;1094;p89"/>
          <p:cNvSpPr txBox="1"/>
          <p:nvPr/>
        </p:nvSpPr>
        <p:spPr>
          <a:xfrm>
            <a:off x="4320000" y="2657100"/>
            <a:ext cx="4248000" cy="4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1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1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900" i="1">
                <a:latin typeface="Lexend"/>
                <a:ea typeface="Lexend"/>
                <a:cs typeface="Lexend"/>
                <a:sym typeface="Lexend"/>
              </a:rPr>
              <a:t> </a:t>
            </a:r>
            <a:endParaRPr sz="19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5" name="Google Shape;1095;p89"/>
          <p:cNvSpPr txBox="1"/>
          <p:nvPr/>
        </p:nvSpPr>
        <p:spPr>
          <a:xfrm>
            <a:off x="4320000" y="3512125"/>
            <a:ext cx="4248000" cy="4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1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100" i="1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− 3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900" i="1">
                <a:latin typeface="Lexend"/>
                <a:ea typeface="Lexend"/>
                <a:cs typeface="Lexend"/>
                <a:sym typeface="Lexend"/>
              </a:rPr>
              <a:t> </a:t>
            </a:r>
            <a:endParaRPr sz="19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99" name="Shape 1099"/>
        <p:cNvGrpSpPr/>
        <p:nvPr/>
      </p:nvGrpSpPr>
      <p:grpSpPr>
        <a:xfrm>
          <a:off x="0" y="0"/>
          <a:ext cx="0" cy="0"/>
        </a:xfrm>
      </p:grpSpPr>
      <p:sp>
        <p:nvSpPr>
          <p:cNvPr id="1100" name="Google Shape;1100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Finding the equation of a line</a:t>
            </a:r>
            <a:endParaRPr/>
          </a:p>
        </p:txBody>
      </p:sp>
      <p:sp>
        <p:nvSpPr>
          <p:cNvPr id="1101" name="Google Shape;1101;p90"/>
          <p:cNvSpPr txBox="1"/>
          <p:nvPr>
            <p:ph type="body" idx="1"/>
          </p:nvPr>
        </p:nvSpPr>
        <p:spPr>
          <a:xfrm>
            <a:off x="324000" y="759300"/>
            <a:ext cx="8496000" cy="51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Most of the time it will be too tricky to spot the relationship from 2 coordinates.</a:t>
            </a:r>
            <a:endParaRPr sz="1900"/>
          </a:p>
        </p:txBody>
      </p:sp>
      <p:sp>
        <p:nvSpPr>
          <p:cNvPr id="1102" name="Google Shape;1102;p90"/>
          <p:cNvSpPr txBox="1"/>
          <p:nvPr/>
        </p:nvSpPr>
        <p:spPr>
          <a:xfrm>
            <a:off x="324000" y="1758900"/>
            <a:ext cx="8496000" cy="4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Instead we can find the gradient and </a:t>
            </a:r>
            <a:r>
              <a:rPr lang="en-GB" sz="21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-intercept and work the equation out from them.</a:t>
            </a:r>
            <a:endParaRPr sz="19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3" name="Google Shape;1103;p90"/>
          <p:cNvSpPr txBox="1"/>
          <p:nvPr/>
        </p:nvSpPr>
        <p:spPr>
          <a:xfrm>
            <a:off x="324000" y="2838900"/>
            <a:ext cx="8496000" cy="4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We can then check the relationship holds true for both coordinates.</a:t>
            </a:r>
            <a:endParaRPr sz="19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07" name="Shape 1107"/>
        <p:cNvGrpSpPr/>
        <p:nvPr/>
      </p:nvGrpSpPr>
      <p:grpSpPr>
        <a:xfrm>
          <a:off x="0" y="0"/>
          <a:ext cx="0" cy="0"/>
        </a:xfrm>
      </p:grpSpPr>
      <p:sp>
        <p:nvSpPr>
          <p:cNvPr id="1108" name="Google Shape;1108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Finding the equation of a line</a:t>
            </a:r>
            <a:endParaRPr/>
          </a:p>
        </p:txBody>
      </p:sp>
      <p:sp>
        <p:nvSpPr>
          <p:cNvPr id="1109" name="Google Shape;1109;p91"/>
          <p:cNvSpPr txBox="1"/>
          <p:nvPr>
            <p:ph type="body" idx="1"/>
          </p:nvPr>
        </p:nvSpPr>
        <p:spPr>
          <a:xfrm>
            <a:off x="324000" y="759300"/>
            <a:ext cx="8496000" cy="51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Lets calculate the equation of the line joining (3, 4) and (5, 8)</a:t>
            </a:r>
            <a:endParaRPr sz="1900"/>
          </a:p>
        </p:txBody>
      </p:sp>
      <p:sp>
        <p:nvSpPr>
          <p:cNvPr id="1110" name="Google Shape;1110;p91"/>
          <p:cNvSpPr txBox="1"/>
          <p:nvPr/>
        </p:nvSpPr>
        <p:spPr>
          <a:xfrm>
            <a:off x="334100" y="4265800"/>
            <a:ext cx="8496000" cy="4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The equation of the line could be written as </a:t>
            </a:r>
            <a:r>
              <a:rPr lang="en-GB" sz="21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= 2</a:t>
            </a:r>
            <a:r>
              <a:rPr lang="en-GB" sz="21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− 2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 </a:t>
            </a:r>
            <a:endParaRPr sz="19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1" name="Google Shape;1111;p91"/>
          <p:cNvSpPr txBox="1"/>
          <p:nvPr/>
        </p:nvSpPr>
        <p:spPr>
          <a:xfrm>
            <a:off x="1467875" y="1740515"/>
            <a:ext cx="993000" cy="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112" name="Google Shape;1112;p91"/>
          <p:cNvGraphicFramePr>
            <a:graphicFrameLocks noGrp="1"/>
          </p:cNvGraphicFramePr>
          <p:nvPr/>
        </p:nvGraphicFramePr>
        <p:xfrm>
          <a:off x="3007622" y="14953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{30249E52-1068-44D2-81A8-249747264F2E}</a:tableStyleId>
              </a:tblPr>
              <a:tblGrid>
                <a:gridCol w="1463100"/>
                <a:gridCol w="1463100"/>
              </a:tblGrid>
              <a:tr h="2758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in </a:t>
                      </a: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20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in </a:t>
                      </a: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58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58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113" name="Google Shape;1113;p91"/>
          <p:cNvSpPr/>
          <p:nvPr/>
        </p:nvSpPr>
        <p:spPr>
          <a:xfrm>
            <a:off x="3015400" y="2079647"/>
            <a:ext cx="1463100" cy="2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4" name="Google Shape;1114;p91"/>
          <p:cNvSpPr/>
          <p:nvPr/>
        </p:nvSpPr>
        <p:spPr>
          <a:xfrm>
            <a:off x="4478500" y="2079647"/>
            <a:ext cx="1463100" cy="2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5" name="Google Shape;1115;p91"/>
          <p:cNvSpPr txBox="1"/>
          <p:nvPr/>
        </p:nvSpPr>
        <p:spPr>
          <a:xfrm>
            <a:off x="324000" y="2177413"/>
            <a:ext cx="1641900" cy="4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gradient = </a:t>
            </a: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116" name="Google Shape;1116;p91"/>
          <p:cNvGraphicFramePr>
            <a:graphicFrameLocks noGrp="1"/>
          </p:cNvGraphicFramePr>
          <p:nvPr/>
        </p:nvGraphicFramePr>
        <p:xfrm>
          <a:off x="3007613" y="2562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{30249E52-1068-44D2-81A8-249747264F2E}</a:tableStyleId>
              </a:tblPr>
              <a:tblGrid>
                <a:gridCol w="524825"/>
                <a:gridCol w="524825"/>
                <a:gridCol w="524825"/>
                <a:gridCol w="524825"/>
                <a:gridCol w="524825"/>
                <a:gridCol w="524825"/>
              </a:tblGrid>
              <a:tr h="3123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20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…..</a:t>
                      </a:r>
                      <a:endParaRPr sz="18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…..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84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sz="20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…..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…..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117" name="Google Shape;1117;p91"/>
          <p:cNvSpPr/>
          <p:nvPr/>
        </p:nvSpPr>
        <p:spPr>
          <a:xfrm>
            <a:off x="4162950" y="3338438"/>
            <a:ext cx="314100" cy="4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8" name="Google Shape;1118;p91"/>
          <p:cNvSpPr txBox="1"/>
          <p:nvPr/>
        </p:nvSpPr>
        <p:spPr>
          <a:xfrm>
            <a:off x="324000" y="2648550"/>
            <a:ext cx="3045600" cy="4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× 3 = 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9" name="Google Shape;1119;p91"/>
          <p:cNvSpPr/>
          <p:nvPr/>
        </p:nvSpPr>
        <p:spPr>
          <a:xfrm>
            <a:off x="4698650" y="2583675"/>
            <a:ext cx="314100" cy="3027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0" name="Google Shape;1120;p91"/>
          <p:cNvSpPr txBox="1"/>
          <p:nvPr/>
        </p:nvSpPr>
        <p:spPr>
          <a:xfrm>
            <a:off x="324000" y="3115075"/>
            <a:ext cx="3045600" cy="4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 = −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1" name="Google Shape;1121;p91"/>
          <p:cNvSpPr txBox="1"/>
          <p:nvPr/>
        </p:nvSpPr>
        <p:spPr>
          <a:xfrm>
            <a:off x="511475" y="1740515"/>
            <a:ext cx="993000" cy="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4) 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22" name="Google Shape;1122;p91"/>
          <p:cNvSpPr/>
          <p:nvPr/>
        </p:nvSpPr>
        <p:spPr>
          <a:xfrm>
            <a:off x="909450" y="1207463"/>
            <a:ext cx="314100" cy="4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3" name="Google Shape;1123;p91"/>
          <p:cNvSpPr/>
          <p:nvPr/>
        </p:nvSpPr>
        <p:spPr>
          <a:xfrm flipH="1">
            <a:off x="3532450" y="2874700"/>
            <a:ext cx="512100" cy="3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24" name="Google Shape;1124;p91"/>
          <p:cNvPicPr preferRelativeResize="0"/>
          <p:nvPr/>
        </p:nvPicPr>
        <p:blipFill>
          <a:blip r:embed="rId3">
            <a:alphaModFix/>
          </a:blip>
          <a:srcRect l="61559" t="27330" r="13951" b="59597"/>
          <a:stretch>
            <a:fillRect/>
          </a:stretch>
        </p:blipFill>
        <p:spPr>
          <a:xfrm>
            <a:off x="593863" y="1554322"/>
            <a:ext cx="1188024" cy="2842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5" name="Google Shape;1125;p91"/>
          <p:cNvPicPr preferRelativeResize="0"/>
          <p:nvPr/>
        </p:nvPicPr>
        <p:blipFill>
          <a:blip r:embed="rId3">
            <a:alphaModFix/>
          </a:blip>
          <a:srcRect l="61559" t="27330" r="13951" b="59597"/>
          <a:stretch>
            <a:fillRect/>
          </a:stretch>
        </p:blipFill>
        <p:spPr>
          <a:xfrm>
            <a:off x="854643" y="1554322"/>
            <a:ext cx="1188024" cy="284202"/>
          </a:xfrm>
          <a:prstGeom prst="rect">
            <a:avLst/>
          </a:prstGeom>
          <a:noFill/>
          <a:ln>
            <a:noFill/>
          </a:ln>
        </p:spPr>
      </p:pic>
      <p:sp>
        <p:nvSpPr>
          <p:cNvPr id="1126" name="Google Shape;1126;p91"/>
          <p:cNvSpPr/>
          <p:nvPr/>
        </p:nvSpPr>
        <p:spPr>
          <a:xfrm>
            <a:off x="1370700" y="1207463"/>
            <a:ext cx="314100" cy="4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27" name="Google Shape;1127;p91"/>
          <p:cNvPicPr preferRelativeResize="0"/>
          <p:nvPr/>
        </p:nvPicPr>
        <p:blipFill>
          <a:blip r:embed="rId3">
            <a:alphaModFix/>
          </a:blip>
          <a:srcRect l="61559" t="27330" r="13951" b="59597"/>
          <a:stretch>
            <a:fillRect/>
          </a:stretch>
        </p:blipFill>
        <p:spPr>
          <a:xfrm rot="10800000" flipH="1">
            <a:off x="4824000" y="3173526"/>
            <a:ext cx="597076" cy="264749"/>
          </a:xfrm>
          <a:prstGeom prst="rect">
            <a:avLst/>
          </a:prstGeom>
          <a:noFill/>
          <a:ln>
            <a:noFill/>
          </a:ln>
        </p:spPr>
      </p:pic>
      <p:sp>
        <p:nvSpPr>
          <p:cNvPr id="1128" name="Google Shape;1128;p91"/>
          <p:cNvSpPr/>
          <p:nvPr/>
        </p:nvSpPr>
        <p:spPr>
          <a:xfrm>
            <a:off x="4925550" y="3338438"/>
            <a:ext cx="314100" cy="4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29" name="Google Shape;1129;p91"/>
          <p:cNvPicPr preferRelativeResize="0"/>
          <p:nvPr/>
        </p:nvPicPr>
        <p:blipFill>
          <a:blip r:embed="rId3">
            <a:alphaModFix/>
          </a:blip>
          <a:srcRect l="61559" t="27330" r="13951" b="59597"/>
          <a:stretch>
            <a:fillRect/>
          </a:stretch>
        </p:blipFill>
        <p:spPr>
          <a:xfrm rot="10800000">
            <a:off x="3700588" y="3183251"/>
            <a:ext cx="1132024" cy="264749"/>
          </a:xfrm>
          <a:prstGeom prst="rect">
            <a:avLst/>
          </a:prstGeom>
          <a:noFill/>
          <a:ln>
            <a:noFill/>
          </a:ln>
        </p:spPr>
      </p:pic>
      <p:sp>
        <p:nvSpPr>
          <p:cNvPr id="1130" name="Google Shape;1130;p91"/>
          <p:cNvSpPr/>
          <p:nvPr/>
        </p:nvSpPr>
        <p:spPr>
          <a:xfrm>
            <a:off x="6562575" y="1277100"/>
            <a:ext cx="2257500" cy="2651400"/>
          </a:xfrm>
          <a:prstGeom prst="roundRect">
            <a:avLst>
              <a:gd name="adj" fmla="val 8385"/>
            </a:avLst>
          </a:prstGeom>
          <a:solidFill>
            <a:srgbClr val="E6F2F2"/>
          </a:solidFill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000" tIns="18000" rIns="18000" bIns="1800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Remember that when just given coordinates, a sketch of the two coordinates can help you to check if the gradient is positive or negative.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34" name="Shape 1134"/>
        <p:cNvGrpSpPr/>
        <p:nvPr/>
      </p:nvGrpSpPr>
      <p:grpSpPr>
        <a:xfrm>
          <a:off x="0" y="0"/>
          <a:ext cx="0" cy="0"/>
        </a:xfrm>
      </p:grpSpPr>
      <p:sp>
        <p:nvSpPr>
          <p:cNvPr id="1135" name="Google Shape;1135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Finding the equation of a line</a:t>
            </a:r>
            <a:endParaRPr/>
          </a:p>
        </p:txBody>
      </p:sp>
      <p:sp>
        <p:nvSpPr>
          <p:cNvPr id="1136" name="Google Shape;1136;p92"/>
          <p:cNvSpPr txBox="1"/>
          <p:nvPr>
            <p:ph type="body" idx="1"/>
          </p:nvPr>
        </p:nvSpPr>
        <p:spPr>
          <a:xfrm>
            <a:off x="324000" y="1620000"/>
            <a:ext cx="8496000" cy="51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Now we check this relationship works for the coordinates (3, 4) and (5, 8)</a:t>
            </a:r>
            <a:endParaRPr sz="1900"/>
          </a:p>
        </p:txBody>
      </p:sp>
      <p:sp>
        <p:nvSpPr>
          <p:cNvPr id="1137" name="Google Shape;1137;p92"/>
          <p:cNvSpPr txBox="1"/>
          <p:nvPr/>
        </p:nvSpPr>
        <p:spPr>
          <a:xfrm>
            <a:off x="324000" y="810000"/>
            <a:ext cx="8496000" cy="4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The equation of the line could be written as </a:t>
            </a:r>
            <a:r>
              <a:rPr lang="en-GB" sz="21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= 2</a:t>
            </a:r>
            <a:r>
              <a:rPr lang="en-GB" sz="21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−2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 </a:t>
            </a:r>
            <a:endParaRPr sz="19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8" name="Google Shape;1138;p92"/>
          <p:cNvSpPr txBox="1"/>
          <p:nvPr/>
        </p:nvSpPr>
        <p:spPr>
          <a:xfrm>
            <a:off x="324000" y="3240000"/>
            <a:ext cx="3729300" cy="4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 (3)</a:t>
            </a:r>
            <a:r>
              <a:rPr lang="en-GB" sz="21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− 2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 </a:t>
            </a:r>
            <a:endParaRPr sz="19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9" name="Google Shape;1139;p92"/>
          <p:cNvSpPr txBox="1"/>
          <p:nvPr>
            <p:ph type="body" idx="1"/>
          </p:nvPr>
        </p:nvSpPr>
        <p:spPr>
          <a:xfrm>
            <a:off x="324000" y="2312850"/>
            <a:ext cx="8496000" cy="51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Substitute the </a:t>
            </a:r>
            <a:r>
              <a:rPr lang="en-GB" sz="21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900"/>
              <a:t> value into the right hand side of the equation and see if it equals the </a:t>
            </a:r>
            <a:r>
              <a:rPr lang="en-GB" sz="21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900"/>
              <a:t> value  (3, 4) and (5, 8)</a:t>
            </a:r>
            <a:endParaRPr sz="1900"/>
          </a:p>
        </p:txBody>
      </p:sp>
      <p:sp>
        <p:nvSpPr>
          <p:cNvPr id="1140" name="Google Shape;1140;p92"/>
          <p:cNvSpPr txBox="1"/>
          <p:nvPr/>
        </p:nvSpPr>
        <p:spPr>
          <a:xfrm>
            <a:off x="324000" y="3641100"/>
            <a:ext cx="3729300" cy="4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6</a:t>
            </a:r>
            <a:r>
              <a:rPr lang="en-GB" sz="21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− 2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 </a:t>
            </a:r>
            <a:endParaRPr sz="19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1" name="Google Shape;1141;p92"/>
          <p:cNvSpPr txBox="1"/>
          <p:nvPr/>
        </p:nvSpPr>
        <p:spPr>
          <a:xfrm>
            <a:off x="324000" y="4119450"/>
            <a:ext cx="3729300" cy="4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= 4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 </a:t>
            </a:r>
            <a:endParaRPr sz="19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2" name="Google Shape;1142;p92"/>
          <p:cNvSpPr txBox="1"/>
          <p:nvPr/>
        </p:nvSpPr>
        <p:spPr>
          <a:xfrm>
            <a:off x="324000" y="4459550"/>
            <a:ext cx="3729300" cy="4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 (3, 4) is on the line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= 2</a:t>
            </a:r>
            <a:r>
              <a:rPr lang="en-GB" sz="21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− 2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 </a:t>
            </a:r>
            <a:endParaRPr sz="19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3" name="Google Shape;1143;p92"/>
          <p:cNvSpPr txBox="1"/>
          <p:nvPr/>
        </p:nvSpPr>
        <p:spPr>
          <a:xfrm>
            <a:off x="4320000" y="3240000"/>
            <a:ext cx="4500000" cy="4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 (5)</a:t>
            </a:r>
            <a:r>
              <a:rPr lang="en-GB" sz="21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− 2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 </a:t>
            </a:r>
            <a:endParaRPr sz="19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4" name="Google Shape;1144;p92"/>
          <p:cNvSpPr txBox="1"/>
          <p:nvPr/>
        </p:nvSpPr>
        <p:spPr>
          <a:xfrm>
            <a:off x="4320000" y="3641100"/>
            <a:ext cx="4500000" cy="4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10</a:t>
            </a:r>
            <a:r>
              <a:rPr lang="en-GB" sz="21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− 2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 </a:t>
            </a:r>
            <a:endParaRPr sz="19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5" name="Google Shape;1145;p92"/>
          <p:cNvSpPr txBox="1"/>
          <p:nvPr/>
        </p:nvSpPr>
        <p:spPr>
          <a:xfrm>
            <a:off x="4320000" y="4119450"/>
            <a:ext cx="4500000" cy="4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= 8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 </a:t>
            </a:r>
            <a:endParaRPr sz="19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6" name="Google Shape;1146;p92"/>
          <p:cNvSpPr txBox="1"/>
          <p:nvPr/>
        </p:nvSpPr>
        <p:spPr>
          <a:xfrm>
            <a:off x="4320000" y="4459550"/>
            <a:ext cx="4500000" cy="4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 (5, 8) is on the line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= 2</a:t>
            </a:r>
            <a:r>
              <a:rPr lang="en-GB" sz="21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− 2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 </a:t>
            </a:r>
            <a:endParaRPr sz="19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7" name="Google Shape;1147;p92"/>
          <p:cNvSpPr/>
          <p:nvPr/>
        </p:nvSpPr>
        <p:spPr>
          <a:xfrm>
            <a:off x="2837550" y="2738100"/>
            <a:ext cx="186000" cy="2496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8" name="Google Shape;1148;p92"/>
          <p:cNvSpPr/>
          <p:nvPr/>
        </p:nvSpPr>
        <p:spPr>
          <a:xfrm>
            <a:off x="4020850" y="2737833"/>
            <a:ext cx="186000" cy="2496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52" name="Shape 1152"/>
        <p:cNvGrpSpPr/>
        <p:nvPr/>
      </p:nvGrpSpPr>
      <p:grpSpPr>
        <a:xfrm>
          <a:off x="0" y="0"/>
          <a:ext cx="0" cy="0"/>
        </a:xfrm>
      </p:grpSpPr>
      <p:sp>
        <p:nvSpPr>
          <p:cNvPr id="1153" name="Google Shape;1153;p93"/>
          <p:cNvSpPr txBox="1"/>
          <p:nvPr>
            <p:ph type="subTitle" idx="1"/>
          </p:nvPr>
        </p:nvSpPr>
        <p:spPr>
          <a:xfrm>
            <a:off x="334800" y="741900"/>
            <a:ext cx="4169100" cy="33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Calculate the equation of the line which goes through (</a:t>
            </a:r>
            <a:r>
              <a:rPr lang="en-GB">
                <a:solidFill>
                  <a:srgbClr val="222222"/>
                </a:solidFill>
              </a:rPr>
              <a:t>5, 4) and (9, −16)</a:t>
            </a:r>
            <a:endParaRPr/>
          </a:p>
        </p:txBody>
      </p:sp>
      <p:sp>
        <p:nvSpPr>
          <p:cNvPr id="1154" name="Google Shape;1154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Finding the equation of a line</a:t>
            </a:r>
            <a:endParaRPr/>
          </a:p>
        </p:txBody>
      </p:sp>
      <p:graphicFrame>
        <p:nvGraphicFramePr>
          <p:cNvPr id="1155" name="Google Shape;1155;p93"/>
          <p:cNvGraphicFramePr>
            <a:graphicFrameLocks noGrp="1"/>
          </p:cNvGraphicFramePr>
          <p:nvPr/>
        </p:nvGraphicFramePr>
        <p:xfrm>
          <a:off x="342440" y="1529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{30249E52-1068-44D2-81A8-249747264F2E}</a:tableStyleId>
              </a:tblPr>
              <a:tblGrid>
                <a:gridCol w="1265200"/>
                <a:gridCol w="1265200"/>
              </a:tblGrid>
              <a:tr h="3119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in </a:t>
                      </a:r>
                      <a:r>
                        <a:rPr lang="en-GB" sz="19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9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in </a:t>
                      </a:r>
                      <a:r>
                        <a:rPr lang="en-GB" sz="19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72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19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156" name="Google Shape;1156;p93"/>
          <p:cNvSpPr/>
          <p:nvPr/>
        </p:nvSpPr>
        <p:spPr>
          <a:xfrm>
            <a:off x="342450" y="2156175"/>
            <a:ext cx="1265100" cy="3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7" name="Google Shape;1157;p93"/>
          <p:cNvSpPr/>
          <p:nvPr/>
        </p:nvSpPr>
        <p:spPr>
          <a:xfrm>
            <a:off x="1614625" y="2156175"/>
            <a:ext cx="1265100" cy="3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−5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8" name="Google Shape;1158;p93"/>
          <p:cNvSpPr/>
          <p:nvPr/>
        </p:nvSpPr>
        <p:spPr>
          <a:xfrm>
            <a:off x="1614750" y="1843750"/>
            <a:ext cx="1265100" cy="3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−20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9" name="Google Shape;1159;p93"/>
          <p:cNvSpPr/>
          <p:nvPr/>
        </p:nvSpPr>
        <p:spPr>
          <a:xfrm>
            <a:off x="342450" y="1843750"/>
            <a:ext cx="1265100" cy="3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0" name="Google Shape;1160;p93"/>
          <p:cNvSpPr txBox="1"/>
          <p:nvPr/>
        </p:nvSpPr>
        <p:spPr>
          <a:xfrm>
            <a:off x="342400" y="2534000"/>
            <a:ext cx="2530500" cy="4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gradient is </a:t>
            </a: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−5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1" name="Google Shape;1161;p93"/>
          <p:cNvSpPr txBox="1"/>
          <p:nvPr/>
        </p:nvSpPr>
        <p:spPr>
          <a:xfrm>
            <a:off x="342450" y="4010850"/>
            <a:ext cx="2799300" cy="4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-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tercept is (0, 29)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2" name="Google Shape;1162;p93"/>
          <p:cNvSpPr txBox="1"/>
          <p:nvPr/>
        </p:nvSpPr>
        <p:spPr>
          <a:xfrm>
            <a:off x="324000" y="4389100"/>
            <a:ext cx="4104900" cy="4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Equation of the line: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5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+ 29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 i="1">
                <a:latin typeface="Lexend"/>
                <a:ea typeface="Lexend"/>
                <a:cs typeface="Lexend"/>
                <a:sym typeface="Lexend"/>
              </a:rPr>
              <a:t> </a:t>
            </a:r>
            <a:endParaRPr sz="18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163" name="Google Shape;1163;p93"/>
          <p:cNvGraphicFramePr>
            <a:graphicFrameLocks noGrp="1"/>
          </p:cNvGraphicFramePr>
          <p:nvPr/>
        </p:nvGraphicFramePr>
        <p:xfrm>
          <a:off x="337813" y="2902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{30249E52-1068-44D2-81A8-249747264F2E}</a:tableStyleId>
              </a:tblPr>
              <a:tblGrid>
                <a:gridCol w="576225"/>
                <a:gridCol w="576225"/>
                <a:gridCol w="576225"/>
                <a:gridCol w="576225"/>
                <a:gridCol w="576225"/>
                <a:gridCol w="576225"/>
              </a:tblGrid>
              <a:tr h="3123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20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9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…..</a:t>
                      </a:r>
                      <a:endParaRPr sz="19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9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…..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84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sz="20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…..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…..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−16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164" name="Google Shape;1164;p93"/>
          <p:cNvSpPr/>
          <p:nvPr/>
        </p:nvSpPr>
        <p:spPr>
          <a:xfrm>
            <a:off x="1570030" y="3615475"/>
            <a:ext cx="443400" cy="4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+25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65" name="Google Shape;1165;p93"/>
          <p:cNvPicPr preferRelativeResize="0"/>
          <p:nvPr/>
        </p:nvPicPr>
        <p:blipFill>
          <a:blip r:embed="rId3">
            <a:alphaModFix/>
          </a:blip>
          <a:srcRect l="61559" t="27330" r="13951" b="59597"/>
          <a:stretch>
            <a:fillRect/>
          </a:stretch>
        </p:blipFill>
        <p:spPr>
          <a:xfrm rot="10800000" flipH="1">
            <a:off x="2329663" y="3495351"/>
            <a:ext cx="597076" cy="264749"/>
          </a:xfrm>
          <a:prstGeom prst="rect">
            <a:avLst/>
          </a:prstGeom>
          <a:noFill/>
          <a:ln>
            <a:noFill/>
          </a:ln>
        </p:spPr>
      </p:pic>
      <p:sp>
        <p:nvSpPr>
          <p:cNvPr id="1166" name="Google Shape;1166;p93"/>
          <p:cNvSpPr/>
          <p:nvPr/>
        </p:nvSpPr>
        <p:spPr>
          <a:xfrm>
            <a:off x="2471150" y="3681716"/>
            <a:ext cx="314100" cy="4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67" name="Google Shape;1167;p93"/>
          <p:cNvPicPr preferRelativeResize="0"/>
          <p:nvPr/>
        </p:nvPicPr>
        <p:blipFill>
          <a:blip r:embed="rId3">
            <a:alphaModFix/>
          </a:blip>
          <a:srcRect l="61559" t="27330" r="13951" b="59597"/>
          <a:stretch>
            <a:fillRect/>
          </a:stretch>
        </p:blipFill>
        <p:spPr>
          <a:xfrm rot="10800000">
            <a:off x="1197650" y="3495351"/>
            <a:ext cx="1132024" cy="264749"/>
          </a:xfrm>
          <a:prstGeom prst="rect">
            <a:avLst/>
          </a:prstGeom>
          <a:noFill/>
          <a:ln>
            <a:noFill/>
          </a:ln>
        </p:spPr>
      </p:pic>
      <p:sp>
        <p:nvSpPr>
          <p:cNvPr id="1168" name="Google Shape;1168;p93"/>
          <p:cNvSpPr/>
          <p:nvPr/>
        </p:nvSpPr>
        <p:spPr>
          <a:xfrm>
            <a:off x="2066500" y="2890425"/>
            <a:ext cx="576300" cy="3120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9" name="Google Shape;1169;p93"/>
          <p:cNvSpPr txBox="1"/>
          <p:nvPr>
            <p:ph type="subTitle" idx="1"/>
          </p:nvPr>
        </p:nvSpPr>
        <p:spPr>
          <a:xfrm>
            <a:off x="4650900" y="776425"/>
            <a:ext cx="41691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Calculate the equation of the line which goes through (</a:t>
            </a:r>
            <a:r>
              <a:rPr lang="en-GB">
                <a:solidFill>
                  <a:srgbClr val="222222"/>
                </a:solidFill>
              </a:rPr>
              <a:t>4, −3) and (6, 17)</a:t>
            </a:r>
            <a:endParaRPr/>
          </a:p>
        </p:txBody>
      </p:sp>
      <p:graphicFrame>
        <p:nvGraphicFramePr>
          <p:cNvPr id="1170" name="Google Shape;1170;p93"/>
          <p:cNvGraphicFramePr>
            <a:graphicFrameLocks noGrp="1"/>
          </p:cNvGraphicFramePr>
          <p:nvPr/>
        </p:nvGraphicFramePr>
        <p:xfrm>
          <a:off x="4842440" y="1597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{30249E52-1068-44D2-81A8-249747264F2E}</a:tableStyleId>
              </a:tblPr>
              <a:tblGrid>
                <a:gridCol w="1265200"/>
                <a:gridCol w="1265200"/>
              </a:tblGrid>
              <a:tr h="3119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in </a:t>
                      </a:r>
                      <a:r>
                        <a:rPr lang="en-GB" sz="19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9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in </a:t>
                      </a:r>
                      <a:r>
                        <a:rPr lang="en-GB" sz="19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72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19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171" name="Google Shape;1171;p93"/>
          <p:cNvSpPr/>
          <p:nvPr/>
        </p:nvSpPr>
        <p:spPr>
          <a:xfrm>
            <a:off x="4842450" y="2224275"/>
            <a:ext cx="1265100" cy="3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1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72" name="Google Shape;1172;p93"/>
          <p:cNvSpPr/>
          <p:nvPr/>
        </p:nvSpPr>
        <p:spPr>
          <a:xfrm>
            <a:off x="6114625" y="2224275"/>
            <a:ext cx="1265100" cy="3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10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73" name="Google Shape;1173;p93"/>
          <p:cNvSpPr/>
          <p:nvPr/>
        </p:nvSpPr>
        <p:spPr>
          <a:xfrm>
            <a:off x="6114750" y="1911850"/>
            <a:ext cx="1265100" cy="3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20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74" name="Google Shape;1174;p93"/>
          <p:cNvSpPr/>
          <p:nvPr/>
        </p:nvSpPr>
        <p:spPr>
          <a:xfrm>
            <a:off x="4842450" y="1911850"/>
            <a:ext cx="1265100" cy="3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75" name="Google Shape;1175;p93"/>
          <p:cNvSpPr txBox="1"/>
          <p:nvPr/>
        </p:nvSpPr>
        <p:spPr>
          <a:xfrm>
            <a:off x="4842400" y="2602100"/>
            <a:ext cx="2530500" cy="4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gradient is </a:t>
            </a: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10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76" name="Google Shape;1176;p93"/>
          <p:cNvSpPr txBox="1"/>
          <p:nvPr/>
        </p:nvSpPr>
        <p:spPr>
          <a:xfrm>
            <a:off x="4842450" y="4078950"/>
            <a:ext cx="3195900" cy="4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</a:t>
            </a: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2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-</a:t>
            </a: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in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tercept is (0, </a:t>
            </a:r>
            <a:r>
              <a:rPr lang="en-GB" sz="21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43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)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77" name="Google Shape;1177;p93"/>
          <p:cNvSpPr txBox="1"/>
          <p:nvPr/>
        </p:nvSpPr>
        <p:spPr>
          <a:xfrm>
            <a:off x="4824000" y="4457200"/>
            <a:ext cx="3798900" cy="4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Equation of the line: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10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43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 i="1">
                <a:latin typeface="Lexend"/>
                <a:ea typeface="Lexend"/>
                <a:cs typeface="Lexend"/>
                <a:sym typeface="Lexend"/>
              </a:rPr>
              <a:t> </a:t>
            </a:r>
            <a:endParaRPr sz="18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178" name="Google Shape;1178;p93"/>
          <p:cNvGraphicFramePr>
            <a:graphicFrameLocks noGrp="1"/>
          </p:cNvGraphicFramePr>
          <p:nvPr/>
        </p:nvGraphicFramePr>
        <p:xfrm>
          <a:off x="4837813" y="2971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{30249E52-1068-44D2-81A8-249747264F2E}</a:tableStyleId>
              </a:tblPr>
              <a:tblGrid>
                <a:gridCol w="576225"/>
                <a:gridCol w="576225"/>
                <a:gridCol w="576225"/>
                <a:gridCol w="576225"/>
                <a:gridCol w="576225"/>
                <a:gridCol w="576225"/>
              </a:tblGrid>
              <a:tr h="3123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20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1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 sz="2100">
                        <a:solidFill>
                          <a:srgbClr val="222222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1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…..</a:t>
                      </a:r>
                      <a:endParaRPr sz="2100">
                        <a:solidFill>
                          <a:srgbClr val="222222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1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2100">
                        <a:solidFill>
                          <a:srgbClr val="222222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1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…..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84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sz="20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…..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−3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1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…..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17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179" name="Google Shape;1179;p93"/>
          <p:cNvSpPr/>
          <p:nvPr/>
        </p:nvSpPr>
        <p:spPr>
          <a:xfrm>
            <a:off x="6906518" y="3681725"/>
            <a:ext cx="443400" cy="4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+10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180" name="Google Shape;1180;p93"/>
          <p:cNvPicPr preferRelativeResize="0"/>
          <p:nvPr/>
        </p:nvPicPr>
        <p:blipFill>
          <a:blip r:embed="rId3">
            <a:alphaModFix/>
          </a:blip>
          <a:srcRect l="61559" t="27330" r="13951" b="59597"/>
          <a:stretch>
            <a:fillRect/>
          </a:stretch>
        </p:blipFill>
        <p:spPr>
          <a:xfrm rot="10800000" flipH="1">
            <a:off x="6829663" y="3563451"/>
            <a:ext cx="597076" cy="264749"/>
          </a:xfrm>
          <a:prstGeom prst="rect">
            <a:avLst/>
          </a:prstGeom>
          <a:noFill/>
          <a:ln>
            <a:noFill/>
          </a:ln>
        </p:spPr>
      </p:pic>
      <p:sp>
        <p:nvSpPr>
          <p:cNvPr id="1181" name="Google Shape;1181;p93"/>
          <p:cNvSpPr/>
          <p:nvPr/>
        </p:nvSpPr>
        <p:spPr>
          <a:xfrm>
            <a:off x="6054000" y="3794788"/>
            <a:ext cx="546900" cy="4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−40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182" name="Google Shape;1182;p93"/>
          <p:cNvPicPr preferRelativeResize="0"/>
          <p:nvPr/>
        </p:nvPicPr>
        <p:blipFill>
          <a:blip r:embed="rId3">
            <a:alphaModFix/>
          </a:blip>
          <a:srcRect l="61559" t="27330" r="13951" b="59597"/>
          <a:stretch>
            <a:fillRect/>
          </a:stretch>
        </p:blipFill>
        <p:spPr>
          <a:xfrm rot="10800000">
            <a:off x="5697650" y="3563451"/>
            <a:ext cx="1132024" cy="264749"/>
          </a:xfrm>
          <a:prstGeom prst="rect">
            <a:avLst/>
          </a:prstGeom>
          <a:noFill/>
          <a:ln>
            <a:noFill/>
          </a:ln>
        </p:spPr>
      </p:pic>
      <p:sp>
        <p:nvSpPr>
          <p:cNvPr id="1183" name="Google Shape;1183;p93"/>
          <p:cNvSpPr/>
          <p:nvPr/>
        </p:nvSpPr>
        <p:spPr>
          <a:xfrm>
            <a:off x="6566500" y="2970153"/>
            <a:ext cx="576300" cy="3120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4" name="Google Shape;1184;p93"/>
          <p:cNvSpPr/>
          <p:nvPr/>
        </p:nvSpPr>
        <p:spPr>
          <a:xfrm flipH="1">
            <a:off x="5414050" y="3283400"/>
            <a:ext cx="576300" cy="3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43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85" name="Google Shape;1185;p93"/>
          <p:cNvSpPr/>
          <p:nvPr/>
        </p:nvSpPr>
        <p:spPr>
          <a:xfrm flipH="1">
            <a:off x="914050" y="3215300"/>
            <a:ext cx="576300" cy="3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29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89" name="Shape 1189"/>
        <p:cNvGrpSpPr/>
        <p:nvPr/>
      </p:nvGrpSpPr>
      <p:grpSpPr>
        <a:xfrm>
          <a:off x="0" y="0"/>
          <a:ext cx="0" cy="0"/>
        </a:xfrm>
      </p:grpSpPr>
      <p:sp>
        <p:nvSpPr>
          <p:cNvPr id="1190" name="Google Shape;1190;p94"/>
          <p:cNvSpPr txBox="1"/>
          <p:nvPr>
            <p:ph type="subTitle" idx="1"/>
          </p:nvPr>
        </p:nvSpPr>
        <p:spPr>
          <a:xfrm>
            <a:off x="334800" y="741900"/>
            <a:ext cx="4113000" cy="706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Check if the coordinates (</a:t>
            </a:r>
            <a:r>
              <a:rPr lang="en-GB">
                <a:solidFill>
                  <a:srgbClr val="222222"/>
                </a:solidFill>
              </a:rPr>
              <a:t>5, 4) and (9, −16) are on the line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5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+ 29</a:t>
            </a:r>
            <a:endParaRPr/>
          </a:p>
        </p:txBody>
      </p:sp>
      <p:sp>
        <p:nvSpPr>
          <p:cNvPr id="1191" name="Google Shape;1191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Finding the equation of a line</a:t>
            </a:r>
            <a:endParaRPr/>
          </a:p>
        </p:txBody>
      </p:sp>
      <p:sp>
        <p:nvSpPr>
          <p:cNvPr id="1192" name="Google Shape;1192;p94"/>
          <p:cNvSpPr txBox="1"/>
          <p:nvPr/>
        </p:nvSpPr>
        <p:spPr>
          <a:xfrm>
            <a:off x="334800" y="1579375"/>
            <a:ext cx="3729300" cy="4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 (5)</a:t>
            </a:r>
            <a:r>
              <a:rPr lang="en-GB" sz="1800" i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+ 29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3" name="Google Shape;1193;p94"/>
          <p:cNvSpPr txBox="1"/>
          <p:nvPr/>
        </p:nvSpPr>
        <p:spPr>
          <a:xfrm>
            <a:off x="334800" y="1980475"/>
            <a:ext cx="3729300" cy="4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25</a:t>
            </a:r>
            <a:r>
              <a:rPr lang="en-GB" sz="1800" i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+ 29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4" name="Google Shape;1194;p94"/>
          <p:cNvSpPr txBox="1"/>
          <p:nvPr/>
        </p:nvSpPr>
        <p:spPr>
          <a:xfrm>
            <a:off x="334800" y="2373500"/>
            <a:ext cx="3729300" cy="4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4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5" name="Google Shape;1195;p94"/>
          <p:cNvSpPr txBox="1"/>
          <p:nvPr/>
        </p:nvSpPr>
        <p:spPr>
          <a:xfrm>
            <a:off x="334800" y="2774600"/>
            <a:ext cx="3985200" cy="4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 (5, 4) is on the line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5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29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6" name="Google Shape;1196;p94"/>
          <p:cNvSpPr txBox="1"/>
          <p:nvPr/>
        </p:nvSpPr>
        <p:spPr>
          <a:xfrm>
            <a:off x="334800" y="3328938"/>
            <a:ext cx="3729300" cy="4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 (9)</a:t>
            </a:r>
            <a:r>
              <a:rPr lang="en-GB" sz="1800" i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+ 29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7" name="Google Shape;1197;p94"/>
          <p:cNvSpPr txBox="1"/>
          <p:nvPr/>
        </p:nvSpPr>
        <p:spPr>
          <a:xfrm>
            <a:off x="334800" y="3730038"/>
            <a:ext cx="3729300" cy="4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45</a:t>
            </a:r>
            <a:r>
              <a:rPr lang="en-GB" sz="1800" i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+ 29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8" name="Google Shape;1198;p94"/>
          <p:cNvSpPr txBox="1"/>
          <p:nvPr/>
        </p:nvSpPr>
        <p:spPr>
          <a:xfrm>
            <a:off x="334800" y="4123063"/>
            <a:ext cx="3729300" cy="4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</a:t>
            </a: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16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9" name="Google Shape;1199;p94"/>
          <p:cNvSpPr txBox="1"/>
          <p:nvPr/>
        </p:nvSpPr>
        <p:spPr>
          <a:xfrm>
            <a:off x="334800" y="4524163"/>
            <a:ext cx="3985200" cy="4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 (9, </a:t>
            </a: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−16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is on the line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5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29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0" name="Google Shape;1200;p94"/>
          <p:cNvSpPr txBox="1"/>
          <p:nvPr>
            <p:ph type="subTitle" idx="1"/>
          </p:nvPr>
        </p:nvSpPr>
        <p:spPr>
          <a:xfrm>
            <a:off x="4830600" y="743338"/>
            <a:ext cx="4169100" cy="706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Check if the coordinates (</a:t>
            </a:r>
            <a:r>
              <a:rPr lang="en-GB">
                <a:solidFill>
                  <a:srgbClr val="222222"/>
                </a:solidFill>
              </a:rPr>
              <a:t>4, −3) and (6, 17) are on the line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10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43</a:t>
            </a:r>
            <a:endParaRPr/>
          </a:p>
        </p:txBody>
      </p:sp>
      <p:sp>
        <p:nvSpPr>
          <p:cNvPr id="1201" name="Google Shape;1201;p94"/>
          <p:cNvSpPr txBox="1"/>
          <p:nvPr/>
        </p:nvSpPr>
        <p:spPr>
          <a:xfrm>
            <a:off x="4830600" y="1579375"/>
            <a:ext cx="3729300" cy="4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(4)</a:t>
            </a:r>
            <a:r>
              <a:rPr lang="en-GB" sz="1800" i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43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2" name="Google Shape;1202;p94"/>
          <p:cNvSpPr txBox="1"/>
          <p:nvPr/>
        </p:nvSpPr>
        <p:spPr>
          <a:xfrm>
            <a:off x="4830600" y="1980475"/>
            <a:ext cx="3729300" cy="4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40</a:t>
            </a:r>
            <a:r>
              <a:rPr lang="en-GB" sz="1800" i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43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3" name="Google Shape;1203;p94"/>
          <p:cNvSpPr txBox="1"/>
          <p:nvPr/>
        </p:nvSpPr>
        <p:spPr>
          <a:xfrm>
            <a:off x="4830600" y="2373500"/>
            <a:ext cx="3729300" cy="4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</a:t>
            </a: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4" name="Google Shape;1204;p94"/>
          <p:cNvSpPr txBox="1"/>
          <p:nvPr/>
        </p:nvSpPr>
        <p:spPr>
          <a:xfrm>
            <a:off x="4830600" y="2774600"/>
            <a:ext cx="4169100" cy="4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(</a:t>
            </a: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4, −3)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is on the line</a:t>
            </a: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= 10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43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5" name="Google Shape;1205;p94"/>
          <p:cNvSpPr txBox="1"/>
          <p:nvPr/>
        </p:nvSpPr>
        <p:spPr>
          <a:xfrm>
            <a:off x="4830600" y="3328938"/>
            <a:ext cx="3729300" cy="4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(6)</a:t>
            </a:r>
            <a:r>
              <a:rPr lang="en-GB" sz="1800" i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43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6" name="Google Shape;1206;p94"/>
          <p:cNvSpPr txBox="1"/>
          <p:nvPr/>
        </p:nvSpPr>
        <p:spPr>
          <a:xfrm>
            <a:off x="4830600" y="3730038"/>
            <a:ext cx="3729300" cy="4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60</a:t>
            </a:r>
            <a:r>
              <a:rPr lang="en-GB" sz="1800" i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43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7" name="Google Shape;1207;p94"/>
          <p:cNvSpPr txBox="1"/>
          <p:nvPr/>
        </p:nvSpPr>
        <p:spPr>
          <a:xfrm>
            <a:off x="4830600" y="4123063"/>
            <a:ext cx="3729300" cy="4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</a:t>
            </a: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17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8" name="Google Shape;1208;p94"/>
          <p:cNvSpPr txBox="1"/>
          <p:nvPr/>
        </p:nvSpPr>
        <p:spPr>
          <a:xfrm>
            <a:off x="4830600" y="4534882"/>
            <a:ext cx="3985200" cy="4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(6, 17)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is on the line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= 10</a:t>
            </a:r>
            <a:r>
              <a:rPr lang="en-GB" sz="20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43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12" name="Shape 1212"/>
        <p:cNvGrpSpPr/>
        <p:nvPr/>
      </p:nvGrpSpPr>
      <p:grpSpPr>
        <a:xfrm>
          <a:off x="0" y="0"/>
          <a:ext cx="0" cy="0"/>
        </a:xfrm>
      </p:grpSpPr>
      <p:sp>
        <p:nvSpPr>
          <p:cNvPr id="1213" name="Google Shape;1213;p95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Finding the equation of a line</a:t>
            </a:r>
            <a:endParaRPr/>
          </a:p>
        </p:txBody>
      </p:sp>
      <p:sp>
        <p:nvSpPr>
          <p:cNvPr id="1214" name="Google Shape;1214;p95"/>
          <p:cNvSpPr txBox="1"/>
          <p:nvPr>
            <p:ph type="body" idx="1"/>
          </p:nvPr>
        </p:nvSpPr>
        <p:spPr>
          <a:xfrm>
            <a:off x="324000" y="759300"/>
            <a:ext cx="8496000" cy="36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AutoNum type="arabicParenR"/>
            </a:pPr>
            <a:r>
              <a:rPr lang="en-GB" sz="1800"/>
              <a:t>Calculate the equation of the line which has the table of values shown.</a:t>
            </a:r>
            <a:endParaRPr sz="1800"/>
          </a:p>
        </p:txBody>
      </p:sp>
      <p:graphicFrame>
        <p:nvGraphicFramePr>
          <p:cNvPr id="1215" name="Google Shape;1215;p95"/>
          <p:cNvGraphicFramePr>
            <a:graphicFrameLocks noGrp="1"/>
          </p:cNvGraphicFramePr>
          <p:nvPr/>
        </p:nvGraphicFramePr>
        <p:xfrm>
          <a:off x="704988" y="1444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{30249E52-1068-44D2-81A8-249747264F2E}</a:tableStyleId>
              </a:tblPr>
              <a:tblGrid>
                <a:gridCol w="787225"/>
                <a:gridCol w="787225"/>
                <a:gridCol w="787225"/>
                <a:gridCol w="787225"/>
              </a:tblGrid>
              <a:tr h="2862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20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84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sz="20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216" name="Google Shape;1216;p95"/>
          <p:cNvGraphicFramePr>
            <a:graphicFrameLocks noGrp="1"/>
          </p:cNvGraphicFramePr>
          <p:nvPr/>
        </p:nvGraphicFramePr>
        <p:xfrm>
          <a:off x="704988" y="2343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{30249E52-1068-44D2-81A8-249747264F2E}</a:tableStyleId>
              </a:tblPr>
              <a:tblGrid>
                <a:gridCol w="787225"/>
                <a:gridCol w="787225"/>
                <a:gridCol w="787225"/>
                <a:gridCol w="787225"/>
              </a:tblGrid>
              <a:tr h="2887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20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84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sz="20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217" name="Google Shape;1217;p95"/>
          <p:cNvGraphicFramePr>
            <a:graphicFrameLocks noGrp="1"/>
          </p:cNvGraphicFramePr>
          <p:nvPr/>
        </p:nvGraphicFramePr>
        <p:xfrm>
          <a:off x="704988" y="3197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{30249E52-1068-44D2-81A8-249747264F2E}</a:tableStyleId>
              </a:tblPr>
              <a:tblGrid>
                <a:gridCol w="752600"/>
                <a:gridCol w="752600"/>
                <a:gridCol w="752600"/>
                <a:gridCol w="752600"/>
                <a:gridCol w="752600"/>
              </a:tblGrid>
              <a:tr h="2862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20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…</a:t>
                      </a:r>
                      <a:r>
                        <a:rPr lang="en-GB" sz="19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..</a:t>
                      </a: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</a:t>
                      </a:r>
                      <a:endParaRPr sz="19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84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sz="20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…</a:t>
                      </a:r>
                      <a:r>
                        <a:rPr lang="en-GB" sz="19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..</a:t>
                      </a:r>
                      <a:endParaRPr sz="19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218" name="Google Shape;1218;p95"/>
          <p:cNvGraphicFramePr>
            <a:graphicFrameLocks noGrp="1"/>
          </p:cNvGraphicFramePr>
          <p:nvPr/>
        </p:nvGraphicFramePr>
        <p:xfrm>
          <a:off x="704988" y="4095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{30249E52-1068-44D2-81A8-249747264F2E}</a:tableStyleId>
              </a:tblPr>
              <a:tblGrid>
                <a:gridCol w="752600"/>
                <a:gridCol w="752600"/>
                <a:gridCol w="752600"/>
                <a:gridCol w="752600"/>
                <a:gridCol w="752600"/>
              </a:tblGrid>
              <a:tr h="2862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20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…</a:t>
                      </a:r>
                      <a:r>
                        <a:rPr lang="en-GB" sz="19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..</a:t>
                      </a:r>
                      <a:endParaRPr sz="19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84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sz="20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…</a:t>
                      </a:r>
                      <a:r>
                        <a:rPr lang="en-GB" sz="19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..</a:t>
                      </a:r>
                      <a:endParaRPr sz="19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219" name="Google Shape;1219;p95"/>
          <p:cNvGraphicFramePr>
            <a:graphicFrameLocks noGrp="1"/>
          </p:cNvGraphicFramePr>
          <p:nvPr/>
        </p:nvGraphicFramePr>
        <p:xfrm>
          <a:off x="276725" y="1304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{30249E52-1068-44D2-81A8-249747264F2E}</a:tableStyleId>
              </a:tblPr>
              <a:tblGrid>
                <a:gridCol w="471750"/>
              </a:tblGrid>
              <a:tr h="8790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8790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8790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8790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/>
</p:sld>
</file>

<file path=ppt/slides/slide3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23" name="Shape 1223"/>
        <p:cNvGrpSpPr/>
        <p:nvPr/>
      </p:nvGrpSpPr>
      <p:grpSpPr>
        <a:xfrm>
          <a:off x="0" y="0"/>
          <a:ext cx="0" cy="0"/>
        </a:xfrm>
      </p:grpSpPr>
      <p:sp>
        <p:nvSpPr>
          <p:cNvPr id="1224" name="Google Shape;1224;p96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Finding the equation of a line</a:t>
            </a:r>
            <a:endParaRPr/>
          </a:p>
        </p:txBody>
      </p:sp>
      <p:sp>
        <p:nvSpPr>
          <p:cNvPr id="1225" name="Google Shape;1225;p96"/>
          <p:cNvSpPr txBox="1"/>
          <p:nvPr>
            <p:ph type="body" idx="1"/>
          </p:nvPr>
        </p:nvSpPr>
        <p:spPr>
          <a:xfrm>
            <a:off x="324000" y="759300"/>
            <a:ext cx="8496000" cy="36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2)   Calculate the equation of each line.</a:t>
            </a:r>
            <a:endParaRPr sz="1800"/>
          </a:p>
        </p:txBody>
      </p:sp>
      <p:pic>
        <p:nvPicPr>
          <p:cNvPr id="1226" name="Google Shape;1226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1661463"/>
            <a:ext cx="1731650" cy="1820574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227" name="Google Shape;1227;p9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72656" y="1620000"/>
            <a:ext cx="1796855" cy="182055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228" name="Google Shape;1228;p9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86518" y="1633025"/>
            <a:ext cx="1731650" cy="1794487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229" name="Google Shape;1229;p9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35175" y="1605828"/>
            <a:ext cx="1675225" cy="1848875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graphicFrame>
        <p:nvGraphicFramePr>
          <p:cNvPr id="1230" name="Google Shape;1230;p96"/>
          <p:cNvGraphicFramePr>
            <a:graphicFrameLocks noGrp="1"/>
          </p:cNvGraphicFramePr>
          <p:nvPr/>
        </p:nvGraphicFramePr>
        <p:xfrm>
          <a:off x="324000" y="1204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{30249E52-1068-44D2-81A8-249747264F2E}</a:tableStyleId>
              </a:tblPr>
              <a:tblGrid>
                <a:gridCol w="2124000"/>
                <a:gridCol w="2124000"/>
                <a:gridCol w="2124000"/>
                <a:gridCol w="212400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c)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d)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/>
</p:sld>
</file>

<file path=ppt/slides/slide3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34" name="Shape 1234"/>
        <p:cNvGrpSpPr/>
        <p:nvPr/>
      </p:nvGrpSpPr>
      <p:grpSpPr>
        <a:xfrm>
          <a:off x="0" y="0"/>
          <a:ext cx="0" cy="0"/>
        </a:xfrm>
      </p:grpSpPr>
      <p:sp>
        <p:nvSpPr>
          <p:cNvPr id="1235" name="Google Shape;1235;p97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Finding the equation of a line</a:t>
            </a:r>
            <a:endParaRPr/>
          </a:p>
        </p:txBody>
      </p:sp>
      <p:sp>
        <p:nvSpPr>
          <p:cNvPr id="1236" name="Google Shape;1236;p97"/>
          <p:cNvSpPr txBox="1"/>
          <p:nvPr>
            <p:ph type="body" idx="1"/>
          </p:nvPr>
        </p:nvSpPr>
        <p:spPr>
          <a:xfrm>
            <a:off x="324000" y="759300"/>
            <a:ext cx="8496000" cy="36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3)   Calculate the equation of the line passing through the coordinates given</a:t>
            </a:r>
            <a:endParaRPr sz="1800"/>
          </a:p>
        </p:txBody>
      </p:sp>
      <p:graphicFrame>
        <p:nvGraphicFramePr>
          <p:cNvPr id="1237" name="Google Shape;1237;p97"/>
          <p:cNvGraphicFramePr>
            <a:graphicFrameLocks noGrp="1"/>
          </p:cNvGraphicFramePr>
          <p:nvPr/>
        </p:nvGraphicFramePr>
        <p:xfrm>
          <a:off x="324000" y="1204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{30249E52-1068-44D2-81A8-249747264F2E}</a:tableStyleId>
              </a:tblPr>
              <a:tblGrid>
                <a:gridCol w="2156150"/>
                <a:gridCol w="2034200"/>
                <a:gridCol w="2048600"/>
                <a:gridCol w="247950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 (3,5) and (5,13)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b) (3,5) and (7,</a:t>
                      </a:r>
                      <a:r>
                        <a:rPr lang="en-GB" sz="18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−9)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c) (3,5) and (</a:t>
                      </a:r>
                      <a:r>
                        <a:rPr lang="en-GB" sz="18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−2,0)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d) (3,5) and (</a:t>
                      </a:r>
                      <a:r>
                        <a:rPr lang="en-GB" sz="18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−15,−1)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238" name="Google Shape;1238;p97"/>
          <p:cNvGraphicFramePr>
            <a:graphicFrameLocks noGrp="1"/>
          </p:cNvGraphicFramePr>
          <p:nvPr/>
        </p:nvGraphicFramePr>
        <p:xfrm>
          <a:off x="323990" y="1813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{30249E52-1068-44D2-81A8-249747264F2E}</a:tableStyleId>
              </a:tblPr>
              <a:tblGrid>
                <a:gridCol w="1017100"/>
                <a:gridCol w="1017100"/>
              </a:tblGrid>
              <a:tr h="3119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</a:t>
                      </a:r>
                      <a:r>
                        <a:rPr lang="en-GB" sz="19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9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</a:t>
                      </a:r>
                      <a:r>
                        <a:rPr lang="en-GB" sz="19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72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19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239" name="Google Shape;1239;p97"/>
          <p:cNvGraphicFramePr>
            <a:graphicFrameLocks noGrp="1"/>
          </p:cNvGraphicFramePr>
          <p:nvPr/>
        </p:nvGraphicFramePr>
        <p:xfrm>
          <a:off x="2480140" y="1813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{30249E52-1068-44D2-81A8-249747264F2E}</a:tableStyleId>
              </a:tblPr>
              <a:tblGrid>
                <a:gridCol w="1017100"/>
                <a:gridCol w="1017100"/>
              </a:tblGrid>
              <a:tr h="3119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</a:t>
                      </a:r>
                      <a:r>
                        <a:rPr lang="en-GB" sz="19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9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</a:t>
                      </a:r>
                      <a:r>
                        <a:rPr lang="en-GB" sz="19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72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19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240" name="Google Shape;1240;p97"/>
          <p:cNvGraphicFramePr>
            <a:graphicFrameLocks noGrp="1"/>
          </p:cNvGraphicFramePr>
          <p:nvPr/>
        </p:nvGraphicFramePr>
        <p:xfrm>
          <a:off x="323988" y="324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{30249E52-1068-44D2-81A8-249747264F2E}</a:tableStyleId>
              </a:tblPr>
              <a:tblGrid>
                <a:gridCol w="508550"/>
                <a:gridCol w="508550"/>
                <a:gridCol w="508550"/>
                <a:gridCol w="508550"/>
              </a:tblGrid>
              <a:tr h="2862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20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0 …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3</a:t>
                      </a:r>
                      <a:r>
                        <a:rPr lang="en-GB" sz="13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 sz="18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…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84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sz="20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…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5</a:t>
                      </a:r>
                      <a:r>
                        <a:rPr lang="en-GB" sz="13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 sz="18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…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241" name="Google Shape;1241;p97"/>
          <p:cNvGraphicFramePr>
            <a:graphicFrameLocks noGrp="1"/>
          </p:cNvGraphicFramePr>
          <p:nvPr/>
        </p:nvGraphicFramePr>
        <p:xfrm>
          <a:off x="2480138" y="324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{30249E52-1068-44D2-81A8-249747264F2E}</a:tableStyleId>
              </a:tblPr>
              <a:tblGrid>
                <a:gridCol w="508550"/>
                <a:gridCol w="508550"/>
                <a:gridCol w="508550"/>
                <a:gridCol w="508550"/>
              </a:tblGrid>
              <a:tr h="2862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20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0 …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3</a:t>
                      </a:r>
                      <a:r>
                        <a:rPr lang="en-GB" sz="13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 sz="18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…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84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sz="20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…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5</a:t>
                      </a:r>
                      <a:r>
                        <a:rPr lang="en-GB" sz="13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 sz="18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…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−9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242" name="Google Shape;1242;p97"/>
          <p:cNvSpPr txBox="1"/>
          <p:nvPr>
            <p:ph type="body" idx="1"/>
          </p:nvPr>
        </p:nvSpPr>
        <p:spPr>
          <a:xfrm>
            <a:off x="323950" y="4534500"/>
            <a:ext cx="2034300" cy="36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Equation:</a:t>
            </a:r>
            <a:endParaRPr sz="1800"/>
          </a:p>
        </p:txBody>
      </p:sp>
      <p:sp>
        <p:nvSpPr>
          <p:cNvPr id="1243" name="Google Shape;1243;p97"/>
          <p:cNvSpPr txBox="1"/>
          <p:nvPr>
            <p:ph type="body" idx="1"/>
          </p:nvPr>
        </p:nvSpPr>
        <p:spPr>
          <a:xfrm>
            <a:off x="2482271" y="4534500"/>
            <a:ext cx="2034300" cy="36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Equation:</a:t>
            </a:r>
            <a:endParaRPr sz="1800"/>
          </a:p>
        </p:txBody>
      </p:sp>
      <p:sp>
        <p:nvSpPr>
          <p:cNvPr id="1244" name="Google Shape;1244;p97"/>
          <p:cNvSpPr txBox="1"/>
          <p:nvPr>
            <p:ph type="body" idx="1"/>
          </p:nvPr>
        </p:nvSpPr>
        <p:spPr>
          <a:xfrm>
            <a:off x="4582690" y="4534500"/>
            <a:ext cx="2034300" cy="36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Equation:</a:t>
            </a:r>
            <a:endParaRPr sz="1800"/>
          </a:p>
        </p:txBody>
      </p:sp>
      <p:sp>
        <p:nvSpPr>
          <p:cNvPr id="1245" name="Google Shape;1245;p97"/>
          <p:cNvSpPr txBox="1"/>
          <p:nvPr>
            <p:ph type="body" idx="1"/>
          </p:nvPr>
        </p:nvSpPr>
        <p:spPr>
          <a:xfrm>
            <a:off x="6685125" y="4534500"/>
            <a:ext cx="2034300" cy="36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Equation:</a:t>
            </a:r>
            <a:endParaRPr sz="1800"/>
          </a:p>
        </p:txBody>
      </p:sp>
      <p:graphicFrame>
        <p:nvGraphicFramePr>
          <p:cNvPr id="1246" name="Google Shape;1246;p97"/>
          <p:cNvGraphicFramePr>
            <a:graphicFrameLocks noGrp="1"/>
          </p:cNvGraphicFramePr>
          <p:nvPr/>
        </p:nvGraphicFramePr>
        <p:xfrm>
          <a:off x="4636290" y="1813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{30249E52-1068-44D2-81A8-249747264F2E}</a:tableStyleId>
              </a:tblPr>
              <a:tblGrid>
                <a:gridCol w="1017100"/>
                <a:gridCol w="1017100"/>
              </a:tblGrid>
              <a:tr h="3119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</a:t>
                      </a:r>
                      <a:r>
                        <a:rPr lang="en-GB" sz="19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9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</a:t>
                      </a:r>
                      <a:r>
                        <a:rPr lang="en-GB" sz="19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72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19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247" name="Google Shape;1247;p97"/>
          <p:cNvGraphicFramePr>
            <a:graphicFrameLocks noGrp="1"/>
          </p:cNvGraphicFramePr>
          <p:nvPr/>
        </p:nvGraphicFramePr>
        <p:xfrm>
          <a:off x="4636288" y="324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{30249E52-1068-44D2-81A8-249747264F2E}</a:tableStyleId>
              </a:tblPr>
              <a:tblGrid>
                <a:gridCol w="508550"/>
                <a:gridCol w="508550"/>
                <a:gridCol w="508550"/>
                <a:gridCol w="508550"/>
              </a:tblGrid>
              <a:tr h="2862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20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84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sz="20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/>
</p:sld>
</file>

<file path=ppt/slides/slide3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51" name="Shape 1251"/>
        <p:cNvGrpSpPr/>
        <p:nvPr/>
      </p:nvGrpSpPr>
      <p:grpSpPr>
        <a:xfrm>
          <a:off x="0" y="0"/>
          <a:ext cx="0" cy="0"/>
        </a:xfrm>
      </p:grpSpPr>
      <p:sp>
        <p:nvSpPr>
          <p:cNvPr id="1252" name="Google Shape;1252;p98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Finding the equation of a line</a:t>
            </a:r>
            <a:endParaRPr/>
          </a:p>
        </p:txBody>
      </p:sp>
      <p:sp>
        <p:nvSpPr>
          <p:cNvPr id="1253" name="Google Shape;1253;p98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AutoNum type="arabicParenR"/>
            </a:pPr>
            <a:r>
              <a:rPr lang="en-GB" sz="1800"/>
              <a:t>Calculate the equation of the line which has the table of values shown.</a:t>
            </a:r>
            <a:endParaRPr sz="1800"/>
          </a:p>
        </p:txBody>
      </p:sp>
      <p:graphicFrame>
        <p:nvGraphicFramePr>
          <p:cNvPr id="1254" name="Google Shape;1254;p98"/>
          <p:cNvGraphicFramePr>
            <a:graphicFrameLocks noGrp="1"/>
          </p:cNvGraphicFramePr>
          <p:nvPr/>
        </p:nvGraphicFramePr>
        <p:xfrm>
          <a:off x="704988" y="1444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{30249E52-1068-44D2-81A8-249747264F2E}</a:tableStyleId>
              </a:tblPr>
              <a:tblGrid>
                <a:gridCol w="787225"/>
                <a:gridCol w="787225"/>
                <a:gridCol w="787225"/>
                <a:gridCol w="787225"/>
              </a:tblGrid>
              <a:tr h="2862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20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84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sz="20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255" name="Google Shape;1255;p98"/>
          <p:cNvGraphicFramePr>
            <a:graphicFrameLocks noGrp="1"/>
          </p:cNvGraphicFramePr>
          <p:nvPr/>
        </p:nvGraphicFramePr>
        <p:xfrm>
          <a:off x="704988" y="2343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{30249E52-1068-44D2-81A8-249747264F2E}</a:tableStyleId>
              </a:tblPr>
              <a:tblGrid>
                <a:gridCol w="787225"/>
                <a:gridCol w="787225"/>
                <a:gridCol w="787225"/>
                <a:gridCol w="787225"/>
              </a:tblGrid>
              <a:tr h="2887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20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84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sz="20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256" name="Google Shape;1256;p98"/>
          <p:cNvGraphicFramePr>
            <a:graphicFrameLocks noGrp="1"/>
          </p:cNvGraphicFramePr>
          <p:nvPr/>
        </p:nvGraphicFramePr>
        <p:xfrm>
          <a:off x="704988" y="3197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{30249E52-1068-44D2-81A8-249747264F2E}</a:tableStyleId>
              </a:tblPr>
              <a:tblGrid>
                <a:gridCol w="752600"/>
                <a:gridCol w="752600"/>
                <a:gridCol w="752600"/>
                <a:gridCol w="752600"/>
                <a:gridCol w="752600"/>
              </a:tblGrid>
              <a:tr h="2862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20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…</a:t>
                      </a:r>
                      <a:r>
                        <a:rPr lang="en-GB" sz="1900">
                          <a:solidFill>
                            <a:srgbClr val="E6F2F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..</a:t>
                      </a: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</a:t>
                      </a:r>
                      <a:endParaRPr sz="19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84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sz="20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…</a:t>
                      </a:r>
                      <a:r>
                        <a:rPr lang="en-GB" sz="1900">
                          <a:solidFill>
                            <a:srgbClr val="E6F2F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..</a:t>
                      </a:r>
                      <a:endParaRPr sz="19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257" name="Google Shape;1257;p98"/>
          <p:cNvGraphicFramePr>
            <a:graphicFrameLocks noGrp="1"/>
          </p:cNvGraphicFramePr>
          <p:nvPr/>
        </p:nvGraphicFramePr>
        <p:xfrm>
          <a:off x="704988" y="4095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{30249E52-1068-44D2-81A8-249747264F2E}</a:tableStyleId>
              </a:tblPr>
              <a:tblGrid>
                <a:gridCol w="752600"/>
                <a:gridCol w="752600"/>
                <a:gridCol w="752600"/>
                <a:gridCol w="752600"/>
                <a:gridCol w="752600"/>
              </a:tblGrid>
              <a:tr h="2862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20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…</a:t>
                      </a:r>
                      <a:r>
                        <a:rPr lang="en-GB" sz="1900">
                          <a:solidFill>
                            <a:srgbClr val="E6F2F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..</a:t>
                      </a:r>
                      <a:endParaRPr sz="19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84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sz="20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22 </a:t>
                      </a: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…</a:t>
                      </a:r>
                      <a:r>
                        <a:rPr lang="en-GB" sz="1900">
                          <a:solidFill>
                            <a:srgbClr val="E6F2F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9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258" name="Google Shape;1258;p98"/>
          <p:cNvGraphicFramePr>
            <a:graphicFrameLocks noGrp="1"/>
          </p:cNvGraphicFramePr>
          <p:nvPr/>
        </p:nvGraphicFramePr>
        <p:xfrm>
          <a:off x="276725" y="1304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{30249E52-1068-44D2-81A8-249747264F2E}</a:tableStyleId>
              </a:tblPr>
              <a:tblGrid>
                <a:gridCol w="471750"/>
              </a:tblGrid>
              <a:tr h="8790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8790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8790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8790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259" name="Google Shape;1259;p98"/>
          <p:cNvSpPr txBox="1"/>
          <p:nvPr/>
        </p:nvSpPr>
        <p:spPr>
          <a:xfrm>
            <a:off x="4824000" y="1444775"/>
            <a:ext cx="3729300" cy="4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= 4</a:t>
            </a:r>
            <a:r>
              <a:rPr lang="en-GB" sz="22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7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</a:t>
            </a:r>
            <a:endParaRPr sz="22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0" name="Google Shape;1260;p98"/>
          <p:cNvSpPr txBox="1"/>
          <p:nvPr/>
        </p:nvSpPr>
        <p:spPr>
          <a:xfrm>
            <a:off x="4824000" y="2298900"/>
            <a:ext cx="3729300" cy="4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11</a:t>
            </a:r>
            <a:r>
              <a:rPr lang="en-GB" sz="22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+ 3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</a:t>
            </a:r>
            <a:endParaRPr sz="22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1" name="Google Shape;1261;p98"/>
          <p:cNvSpPr txBox="1"/>
          <p:nvPr/>
        </p:nvSpPr>
        <p:spPr>
          <a:xfrm>
            <a:off x="4824000" y="3197375"/>
            <a:ext cx="3729300" cy="4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2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+ 7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</a:t>
            </a:r>
            <a:endParaRPr sz="22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2" name="Google Shape;1262;p98"/>
          <p:cNvSpPr txBox="1"/>
          <p:nvPr/>
        </p:nvSpPr>
        <p:spPr>
          <a:xfrm>
            <a:off x="4824000" y="4095850"/>
            <a:ext cx="3729300" cy="4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2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22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</a:t>
            </a:r>
            <a:endParaRPr sz="22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3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66" name="Shape 1266"/>
        <p:cNvGrpSpPr/>
        <p:nvPr/>
      </p:nvGrpSpPr>
      <p:grpSpPr>
        <a:xfrm>
          <a:off x="0" y="0"/>
          <a:ext cx="0" cy="0"/>
        </a:xfrm>
      </p:grpSpPr>
      <p:sp>
        <p:nvSpPr>
          <p:cNvPr id="1267" name="Google Shape;1267;p99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Finding the equation of a line</a:t>
            </a:r>
            <a:endParaRPr/>
          </a:p>
        </p:txBody>
      </p:sp>
      <p:sp>
        <p:nvSpPr>
          <p:cNvPr id="1268" name="Google Shape;1268;p99"/>
          <p:cNvSpPr txBox="1"/>
          <p:nvPr>
            <p:ph type="body" idx="1"/>
          </p:nvPr>
        </p:nvSpPr>
        <p:spPr>
          <a:xfrm>
            <a:off x="324000" y="759300"/>
            <a:ext cx="82377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2)   Calculate the equation of each line.</a:t>
            </a:r>
            <a:endParaRPr sz="1800"/>
          </a:p>
        </p:txBody>
      </p:sp>
      <p:pic>
        <p:nvPicPr>
          <p:cNvPr id="1269" name="Google Shape;1269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1585263"/>
            <a:ext cx="1731650" cy="1820574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270" name="Google Shape;1270;p9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72656" y="1543800"/>
            <a:ext cx="1796855" cy="182055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271" name="Google Shape;1271;p9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86518" y="1556825"/>
            <a:ext cx="1731650" cy="1794487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272" name="Google Shape;1272;p9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35175" y="1529628"/>
            <a:ext cx="1675225" cy="1848875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graphicFrame>
        <p:nvGraphicFramePr>
          <p:cNvPr id="1273" name="Google Shape;1273;p99"/>
          <p:cNvGraphicFramePr>
            <a:graphicFrameLocks noGrp="1"/>
          </p:cNvGraphicFramePr>
          <p:nvPr/>
        </p:nvGraphicFramePr>
        <p:xfrm>
          <a:off x="324000" y="1128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{30249E52-1068-44D2-81A8-249747264F2E}</a:tableStyleId>
              </a:tblPr>
              <a:tblGrid>
                <a:gridCol w="2124000"/>
                <a:gridCol w="2124000"/>
                <a:gridCol w="2124000"/>
                <a:gridCol w="212400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c)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d)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274" name="Google Shape;1274;p99"/>
          <p:cNvGraphicFramePr>
            <a:graphicFrameLocks noGrp="1"/>
          </p:cNvGraphicFramePr>
          <p:nvPr/>
        </p:nvGraphicFramePr>
        <p:xfrm>
          <a:off x="323990" y="3507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{30249E52-1068-44D2-81A8-249747264F2E}</a:tableStyleId>
              </a:tblPr>
              <a:tblGrid>
                <a:gridCol w="1017100"/>
                <a:gridCol w="1017100"/>
              </a:tblGrid>
              <a:tr h="2544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</a:t>
                      </a:r>
                      <a:r>
                        <a:rPr lang="en-GB" sz="19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9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</a:t>
                      </a:r>
                      <a:r>
                        <a:rPr lang="en-GB" sz="19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410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12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410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275" name="Google Shape;1275;p99"/>
          <p:cNvGraphicFramePr>
            <a:graphicFrameLocks noGrp="1"/>
          </p:cNvGraphicFramePr>
          <p:nvPr/>
        </p:nvGraphicFramePr>
        <p:xfrm>
          <a:off x="2472640" y="3507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{30249E52-1068-44D2-81A8-249747264F2E}</a:tableStyleId>
              </a:tblPr>
              <a:tblGrid>
                <a:gridCol w="1017100"/>
                <a:gridCol w="1017100"/>
              </a:tblGrid>
              <a:tr h="2544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</a:t>
                      </a:r>
                      <a:r>
                        <a:rPr lang="en-GB" sz="19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9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</a:t>
                      </a:r>
                      <a:r>
                        <a:rPr lang="en-GB" sz="19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410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−36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410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−12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276" name="Google Shape;1276;p99"/>
          <p:cNvGraphicFramePr>
            <a:graphicFrameLocks noGrp="1"/>
          </p:cNvGraphicFramePr>
          <p:nvPr/>
        </p:nvGraphicFramePr>
        <p:xfrm>
          <a:off x="4621290" y="3507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{30249E52-1068-44D2-81A8-249747264F2E}</a:tableStyleId>
              </a:tblPr>
              <a:tblGrid>
                <a:gridCol w="1017100"/>
                <a:gridCol w="1017100"/>
              </a:tblGrid>
              <a:tr h="2544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</a:t>
                      </a:r>
                      <a:r>
                        <a:rPr lang="en-GB" sz="19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9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</a:t>
                      </a:r>
                      <a:r>
                        <a:rPr lang="en-GB" sz="19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410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−12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410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−4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277" name="Google Shape;1277;p99"/>
          <p:cNvGraphicFramePr>
            <a:graphicFrameLocks noGrp="1"/>
          </p:cNvGraphicFramePr>
          <p:nvPr/>
        </p:nvGraphicFramePr>
        <p:xfrm>
          <a:off x="6785790" y="3507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{30249E52-1068-44D2-81A8-249747264F2E}</a:tableStyleId>
              </a:tblPr>
              <a:tblGrid>
                <a:gridCol w="1017100"/>
                <a:gridCol w="1017100"/>
              </a:tblGrid>
              <a:tr h="2544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</a:t>
                      </a:r>
                      <a:r>
                        <a:rPr lang="en-GB" sz="19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9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</a:t>
                      </a:r>
                      <a:r>
                        <a:rPr lang="en-GB" sz="19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410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−36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410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−12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278" name="Google Shape;1278;p99"/>
          <p:cNvSpPr txBox="1"/>
          <p:nvPr/>
        </p:nvSpPr>
        <p:spPr>
          <a:xfrm>
            <a:off x="323950" y="4474983"/>
            <a:ext cx="2066700" cy="4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= 4</a:t>
            </a:r>
            <a:r>
              <a:rPr lang="en-GB" sz="22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2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12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</a:t>
            </a:r>
            <a:endParaRPr sz="22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9" name="Google Shape;1279;p99"/>
          <p:cNvSpPr txBox="1"/>
          <p:nvPr/>
        </p:nvSpPr>
        <p:spPr>
          <a:xfrm>
            <a:off x="2456400" y="4474983"/>
            <a:ext cx="2066700" cy="4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−1</a:t>
            </a:r>
            <a:r>
              <a:rPr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2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2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12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</a:t>
            </a:r>
            <a:endParaRPr sz="22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0" name="Google Shape;1280;p99"/>
          <p:cNvSpPr txBox="1"/>
          <p:nvPr/>
        </p:nvSpPr>
        <p:spPr>
          <a:xfrm>
            <a:off x="4621300" y="4474983"/>
            <a:ext cx="2066700" cy="4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−4</a:t>
            </a:r>
            <a:r>
              <a:rPr lang="en-GB" sz="22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12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</a:t>
            </a:r>
            <a:endParaRPr sz="22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1" name="Google Shape;1281;p99"/>
          <p:cNvSpPr txBox="1"/>
          <p:nvPr/>
        </p:nvSpPr>
        <p:spPr>
          <a:xfrm>
            <a:off x="6786200" y="4474983"/>
            <a:ext cx="2066700" cy="4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−12</a:t>
            </a:r>
            <a:r>
              <a:rPr lang="en-GB" sz="22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12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</a:t>
            </a:r>
            <a:endParaRPr sz="22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3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85" name="Shape 1285"/>
        <p:cNvGrpSpPr/>
        <p:nvPr/>
      </p:nvGrpSpPr>
      <p:grpSpPr>
        <a:xfrm>
          <a:off x="0" y="0"/>
          <a:ext cx="0" cy="0"/>
        </a:xfrm>
      </p:grpSpPr>
      <p:sp>
        <p:nvSpPr>
          <p:cNvPr id="1286" name="Google Shape;1286;p100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Finding the equation of a line</a:t>
            </a:r>
            <a:endParaRPr/>
          </a:p>
        </p:txBody>
      </p:sp>
      <p:sp>
        <p:nvSpPr>
          <p:cNvPr id="1287" name="Google Shape;1287;p100"/>
          <p:cNvSpPr txBox="1"/>
          <p:nvPr>
            <p:ph type="body" idx="1"/>
          </p:nvPr>
        </p:nvSpPr>
        <p:spPr>
          <a:xfrm>
            <a:off x="324000" y="759300"/>
            <a:ext cx="8496000" cy="286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3)   Calculate the equation of the line passing through the coordinates given</a:t>
            </a:r>
            <a:endParaRPr sz="1800"/>
          </a:p>
        </p:txBody>
      </p:sp>
      <p:graphicFrame>
        <p:nvGraphicFramePr>
          <p:cNvPr id="1288" name="Google Shape;1288;p100"/>
          <p:cNvGraphicFramePr>
            <a:graphicFrameLocks noGrp="1"/>
          </p:cNvGraphicFramePr>
          <p:nvPr/>
        </p:nvGraphicFramePr>
        <p:xfrm>
          <a:off x="323990" y="1813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{30249E52-1068-44D2-81A8-249747264F2E}</a:tableStyleId>
              </a:tblPr>
              <a:tblGrid>
                <a:gridCol w="1017100"/>
                <a:gridCol w="1017100"/>
              </a:tblGrid>
              <a:tr h="3119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</a:t>
                      </a:r>
                      <a:r>
                        <a:rPr lang="en-GB" sz="19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9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</a:t>
                      </a:r>
                      <a:r>
                        <a:rPr lang="en-GB" sz="19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72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19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289" name="Google Shape;1289;p100"/>
          <p:cNvGraphicFramePr>
            <a:graphicFrameLocks noGrp="1"/>
          </p:cNvGraphicFramePr>
          <p:nvPr/>
        </p:nvGraphicFramePr>
        <p:xfrm>
          <a:off x="2480140" y="1813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{30249E52-1068-44D2-81A8-249747264F2E}</a:tableStyleId>
              </a:tblPr>
              <a:tblGrid>
                <a:gridCol w="1017100"/>
                <a:gridCol w="1017100"/>
              </a:tblGrid>
              <a:tr h="3119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</a:t>
                      </a:r>
                      <a:r>
                        <a:rPr lang="en-GB" sz="19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9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</a:t>
                      </a:r>
                      <a:r>
                        <a:rPr lang="en-GB" sz="19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72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   −20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19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</a:t>
                      </a: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290" name="Google Shape;1290;p100"/>
          <p:cNvGraphicFramePr>
            <a:graphicFrameLocks noGrp="1"/>
          </p:cNvGraphicFramePr>
          <p:nvPr/>
        </p:nvGraphicFramePr>
        <p:xfrm>
          <a:off x="323988" y="324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{30249E52-1068-44D2-81A8-249747264F2E}</a:tableStyleId>
              </a:tblPr>
              <a:tblGrid>
                <a:gridCol w="508550"/>
                <a:gridCol w="508550"/>
                <a:gridCol w="508550"/>
                <a:gridCol w="508550"/>
              </a:tblGrid>
              <a:tr h="2862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20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0 …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3</a:t>
                      </a:r>
                      <a:r>
                        <a:rPr lang="en-GB" sz="13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 sz="18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…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84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sz="20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−7</a:t>
                      </a:r>
                      <a:endParaRPr sz="19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5</a:t>
                      </a:r>
                      <a:r>
                        <a:rPr lang="en-GB" sz="13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 sz="18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…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291" name="Google Shape;1291;p100"/>
          <p:cNvGraphicFramePr>
            <a:graphicFrameLocks noGrp="1"/>
          </p:cNvGraphicFramePr>
          <p:nvPr/>
        </p:nvGraphicFramePr>
        <p:xfrm>
          <a:off x="2480138" y="324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{30249E52-1068-44D2-81A8-249747264F2E}</a:tableStyleId>
              </a:tblPr>
              <a:tblGrid>
                <a:gridCol w="508550"/>
                <a:gridCol w="508550"/>
                <a:gridCol w="508550"/>
                <a:gridCol w="508550"/>
              </a:tblGrid>
              <a:tr h="2862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20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0…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3</a:t>
                      </a:r>
                      <a:r>
                        <a:rPr lang="en-GB" sz="13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 sz="18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…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84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sz="20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 sz="9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 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20</a:t>
                      </a:r>
                      <a:endParaRPr sz="19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5</a:t>
                      </a:r>
                      <a:r>
                        <a:rPr lang="en-GB" sz="13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 sz="18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…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−9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292" name="Google Shape;1292;p100"/>
          <p:cNvSpPr txBox="1"/>
          <p:nvPr>
            <p:ph type="body" idx="1"/>
          </p:nvPr>
        </p:nvSpPr>
        <p:spPr>
          <a:xfrm>
            <a:off x="323950" y="4053150"/>
            <a:ext cx="2034300" cy="36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Equation: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4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7</a:t>
            </a:r>
            <a:endParaRPr sz="2000"/>
          </a:p>
        </p:txBody>
      </p:sp>
      <p:graphicFrame>
        <p:nvGraphicFramePr>
          <p:cNvPr id="1293" name="Google Shape;1293;p100"/>
          <p:cNvGraphicFramePr>
            <a:graphicFrameLocks noGrp="1"/>
          </p:cNvGraphicFramePr>
          <p:nvPr/>
        </p:nvGraphicFramePr>
        <p:xfrm>
          <a:off x="4636290" y="1813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{30249E52-1068-44D2-81A8-249747264F2E}</a:tableStyleId>
              </a:tblPr>
              <a:tblGrid>
                <a:gridCol w="1017100"/>
                <a:gridCol w="1017100"/>
              </a:tblGrid>
              <a:tr h="3119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</a:t>
                      </a:r>
                      <a:r>
                        <a:rPr lang="en-GB" sz="19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9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</a:t>
                      </a:r>
                      <a:r>
                        <a:rPr lang="en-GB" sz="19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lang="en-GB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72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   −5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19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   −</a:t>
                      </a: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294" name="Google Shape;1294;p100"/>
          <p:cNvGraphicFramePr>
            <a:graphicFrameLocks noGrp="1"/>
          </p:cNvGraphicFramePr>
          <p:nvPr/>
        </p:nvGraphicFramePr>
        <p:xfrm>
          <a:off x="4636288" y="324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{30249E52-1068-44D2-81A8-249747264F2E}</a:tableStyleId>
              </a:tblPr>
              <a:tblGrid>
                <a:gridCol w="508550"/>
                <a:gridCol w="508550"/>
                <a:gridCol w="508550"/>
                <a:gridCol w="508550"/>
              </a:tblGrid>
              <a:tr h="2862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20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0 </a:t>
                      </a:r>
                      <a:endParaRPr sz="19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…</a:t>
                      </a:r>
                      <a:r>
                        <a:rPr lang="en-GB" sz="18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84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sz="20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8  </a:t>
                      </a:r>
                      <a:endParaRPr sz="19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…  </a:t>
                      </a:r>
                      <a:endParaRPr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295" name="Google Shape;1295;p100"/>
          <p:cNvSpPr txBox="1"/>
          <p:nvPr>
            <p:ph type="body" idx="1"/>
          </p:nvPr>
        </p:nvSpPr>
        <p:spPr>
          <a:xfrm>
            <a:off x="323950" y="2816225"/>
            <a:ext cx="2034300" cy="36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Gradient = 4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96" name="Google Shape;1296;p100"/>
          <p:cNvSpPr txBox="1"/>
          <p:nvPr>
            <p:ph type="body" idx="1"/>
          </p:nvPr>
        </p:nvSpPr>
        <p:spPr>
          <a:xfrm>
            <a:off x="2482275" y="2816225"/>
            <a:ext cx="2034300" cy="36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Gradient = </a:t>
            </a: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5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97" name="Google Shape;1297;p100"/>
          <p:cNvSpPr txBox="1"/>
          <p:nvPr>
            <p:ph type="body" idx="1"/>
          </p:nvPr>
        </p:nvSpPr>
        <p:spPr>
          <a:xfrm>
            <a:off x="4640600" y="2816225"/>
            <a:ext cx="2034300" cy="36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Gradient = </a:t>
            </a: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1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298" name="Google Shape;1298;p100"/>
          <p:cNvGraphicFramePr>
            <a:graphicFrameLocks noGrp="1"/>
          </p:cNvGraphicFramePr>
          <p:nvPr/>
        </p:nvGraphicFramePr>
        <p:xfrm>
          <a:off x="7098415" y="1693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{30249E52-1068-44D2-81A8-249747264F2E}</a:tableStyleId>
              </a:tblPr>
              <a:tblGrid>
                <a:gridCol w="780425"/>
                <a:gridCol w="780425"/>
              </a:tblGrid>
              <a:tr h="3172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18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   6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19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   </a:t>
                      </a:r>
                      <a:endParaRPr sz="2000">
                        <a:solidFill>
                          <a:srgbClr val="222222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0">
                        <a:solidFill>
                          <a:srgbClr val="222222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299" name="Google Shape;1299;p100"/>
          <p:cNvGraphicFramePr>
            <a:graphicFrameLocks noGrp="1"/>
          </p:cNvGraphicFramePr>
          <p:nvPr/>
        </p:nvGraphicFramePr>
        <p:xfrm>
          <a:off x="6769888" y="31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{30249E52-1068-44D2-81A8-249747264F2E}</a:tableStyleId>
              </a:tblPr>
              <a:tblGrid>
                <a:gridCol w="508550"/>
                <a:gridCol w="508550"/>
                <a:gridCol w="508550"/>
                <a:gridCol w="508550"/>
              </a:tblGrid>
              <a:tr h="2862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20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0 </a:t>
                      </a:r>
                      <a:endParaRPr sz="19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… </a:t>
                      </a:r>
                      <a:endParaRPr sz="19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3 </a:t>
                      </a:r>
                      <a:endParaRPr sz="19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84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sz="2000"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4  </a:t>
                      </a:r>
                      <a:endParaRPr sz="19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…  </a:t>
                      </a:r>
                      <a:endParaRPr sz="19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5  </a:t>
                      </a:r>
                      <a:endParaRPr sz="19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300" name="Google Shape;1300;p100"/>
          <p:cNvSpPr txBox="1"/>
          <p:nvPr>
            <p:ph type="body" idx="1"/>
          </p:nvPr>
        </p:nvSpPr>
        <p:spPr>
          <a:xfrm>
            <a:off x="6769850" y="2726463"/>
            <a:ext cx="2034300" cy="36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Gradient =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301" name="Google Shape;1301;p100" descr="&lt;math xmlns=&quot;http://www.w3.org/1998/Math/MathML&quot; display=&quot;block&quot; data-is-equatio=&quot;1&quot; data-latex=&quot;\frac{1}{3}&quot;&gt;&lt;mfrac&gt;&lt;mn&gt;1&lt;/mn&gt;&lt;mn&gt;3&lt;/mn&gt;&lt;/mfrac&gt;&lt;/math&gt;" title="one thir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85375" y="2075946"/>
            <a:ext cx="139450" cy="4615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2" name="Google Shape;1302;p100" descr="&lt;math xmlns=&quot;http://www.w3.org/1998/Math/MathML&quot; display=&quot;block&quot; data-is-equatio=&quot;1&quot; data-latex=&quot;\frac{1}{3}&quot;&gt;&lt;mfrac&gt;&lt;mn&gt;1&lt;/mn&gt;&lt;mn&gt;3&lt;/mn&gt;&lt;/mfrac&gt;&lt;/math&gt;" title="one thir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45925" y="2663824"/>
            <a:ext cx="139441" cy="46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3" name="Google Shape;1303;p100"/>
          <p:cNvSpPr txBox="1"/>
          <p:nvPr>
            <p:ph type="body" idx="1"/>
          </p:nvPr>
        </p:nvSpPr>
        <p:spPr>
          <a:xfrm>
            <a:off x="2482275" y="4053150"/>
            <a:ext cx="2034300" cy="36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Equation: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5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+ 20</a:t>
            </a:r>
            <a:endParaRPr sz="2000"/>
          </a:p>
        </p:txBody>
      </p:sp>
      <p:sp>
        <p:nvSpPr>
          <p:cNvPr id="1304" name="Google Shape;1304;p100"/>
          <p:cNvSpPr txBox="1"/>
          <p:nvPr>
            <p:ph type="body" idx="1"/>
          </p:nvPr>
        </p:nvSpPr>
        <p:spPr>
          <a:xfrm>
            <a:off x="4572000" y="4053150"/>
            <a:ext cx="2034300" cy="36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Equation: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+ 8</a:t>
            </a:r>
            <a:endParaRPr sz="2000"/>
          </a:p>
        </p:txBody>
      </p:sp>
      <p:sp>
        <p:nvSpPr>
          <p:cNvPr id="1305" name="Google Shape;1305;p100"/>
          <p:cNvSpPr txBox="1"/>
          <p:nvPr>
            <p:ph type="body" idx="1"/>
          </p:nvPr>
        </p:nvSpPr>
        <p:spPr>
          <a:xfrm>
            <a:off x="6769850" y="3976475"/>
            <a:ext cx="2034300" cy="36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Equation: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  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+ 4</a:t>
            </a:r>
            <a:endParaRPr sz="2000"/>
          </a:p>
        </p:txBody>
      </p:sp>
      <p:pic>
        <p:nvPicPr>
          <p:cNvPr id="1306" name="Google Shape;1306;p100" descr="&lt;math xmlns=&quot;http://www.w3.org/1998/Math/MathML&quot; display=&quot;block&quot; data-is-equatio=&quot;1&quot; data-latex=&quot;\frac{1}{3}&quot;&gt;&lt;mfrac&gt;&lt;mn&gt;1&lt;/mn&gt;&lt;mn&gt;3&lt;/mn&gt;&lt;/mfrac&gt;&lt;/math&gt;" title="one thir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38275" y="4358899"/>
            <a:ext cx="139441" cy="4615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07" name="Google Shape;1307;p100"/>
          <p:cNvGraphicFramePr>
            <a:graphicFrameLocks noGrp="1"/>
          </p:cNvGraphicFramePr>
          <p:nvPr/>
        </p:nvGraphicFramePr>
        <p:xfrm>
          <a:off x="324000" y="1204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{30249E52-1068-44D2-81A8-249747264F2E}</a:tableStyleId>
              </a:tblPr>
              <a:tblGrid>
                <a:gridCol w="2156150"/>
                <a:gridCol w="2034200"/>
                <a:gridCol w="2048600"/>
                <a:gridCol w="247950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 (3,5) and (5,13)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b) (3,5) and (7,</a:t>
                      </a:r>
                      <a:r>
                        <a:rPr lang="en-GB" sz="18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−9)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c) (3,5) and (</a:t>
                      </a:r>
                      <a:r>
                        <a:rPr lang="en-GB" sz="18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−2,0)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d) (3,5) and (</a:t>
                      </a:r>
                      <a:r>
                        <a:rPr lang="en-GB" sz="18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−15,−1)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/>
</p:sld>
</file>

<file path=ppt/slides/slide3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11" name="Shape 1311"/>
        <p:cNvGrpSpPr/>
        <p:nvPr/>
      </p:nvGrpSpPr>
      <p:grpSpPr>
        <a:xfrm>
          <a:off x="0" y="0"/>
          <a:ext cx="0" cy="0"/>
        </a:xfrm>
      </p:grpSpPr>
      <p:sp>
        <p:nvSpPr>
          <p:cNvPr id="1312" name="Google Shape;1312;p101"/>
          <p:cNvSpPr txBox="1"/>
          <p:nvPr>
            <p:ph type="body" idx="1"/>
          </p:nvPr>
        </p:nvSpPr>
        <p:spPr>
          <a:xfrm>
            <a:off x="324000" y="1126100"/>
            <a:ext cx="8496000" cy="369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We can write the equation of a line in the form 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y = mx + c</a:t>
            </a:r>
            <a:r>
              <a:rPr lang="en-GB"/>
              <a:t> when we are given the gradient and 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/>
              <a:t>-intercept.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We can write the equation of any line given the graph of the line.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We can write the equation of any line given a table of values for that line.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We can write the equation of any line given any two coordinates on the line. 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2000"/>
          </a:p>
        </p:txBody>
      </p:sp>
      <p:sp>
        <p:nvSpPr>
          <p:cNvPr id="1313" name="Google Shape;1313;p101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Finding the equation of the line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y = mx + c</a:t>
            </a:r>
            <a:endParaRPr sz="2000" i="1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ransition/>
  <p:timing/>
</p:sld>
</file>

<file path=ppt/slides/slide3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17" name="Shape 1317"/>
        <p:cNvGrpSpPr/>
        <p:nvPr/>
      </p:nvGrpSpPr>
      <p:grpSpPr>
        <a:xfrm>
          <a:off x="0" y="0"/>
          <a:ext cx="0" cy="0"/>
        </a:xfrm>
      </p:grpSpPr>
      <p:sp>
        <p:nvSpPr>
          <p:cNvPr id="1318" name="Google Shape;1318;p102"/>
          <p:cNvSpPr txBox="1"/>
          <p:nvPr>
            <p:ph type="subTitle" idx="1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319" name="Google Shape;1319;p10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2.14"/>
  <p:tag name="AS_TITLE" val="Aspose.Slides for .NET Standard 2.0"/>
  <p:tag name="AS_VERSION" val="23.1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307</Paragraphs>
  <Slides>39</Slides>
  <Notes>39</Notes>
  <TotalTime>0</TotalTime>
  <HiddenSlides>1</HiddenSlides>
  <MMClips>0</MMClips>
  <ScaleCrop>0</ScaleCrop>
  <HeadingPairs>
    <vt:vector baseType="variant" size="6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baseType="lpstr" size="49">
      <vt:lpstr>Arial</vt:lpstr>
      <vt:lpstr>Lexend</vt:lpstr>
      <vt:lpstr>Lexend Medium</vt:lpstr>
      <vt:lpstr>Kalam</vt:lpstr>
      <vt:lpstr>Lexend Light</vt:lpstr>
      <vt:lpstr>Calibri</vt:lpstr>
      <vt:lpstr>ABeeZee</vt:lpstr>
      <vt:lpstr>Times</vt:lpstr>
      <vt:lpstr>Times New Roman</vt:lpstr>
      <vt:lpstr>simple-light-2</vt:lpstr>
      <vt:lpstr>Finding the equation of the line y = mx + c</vt:lpstr>
      <vt:lpstr>PowerPoint Presentation</vt:lpstr>
      <vt:lpstr>PowerPoint Presentation</vt:lpstr>
      <vt:lpstr>PowerPoint Presentation</vt:lpstr>
      <vt:lpstr>Writing the equation of a line from key features</vt:lpstr>
      <vt:lpstr>Writing the equation of a line from key features</vt:lpstr>
      <vt:lpstr>Writing the equation of a line from key features</vt:lpstr>
      <vt:lpstr>Writing the equation of a line from key features</vt:lpstr>
      <vt:lpstr>Writing the equation of a line from key features</vt:lpstr>
      <vt:lpstr>Writing the equation of a line from key features</vt:lpstr>
      <vt:lpstr>Writing the equation of a line from key features</vt:lpstr>
      <vt:lpstr>Writing the equation of a line from key features</vt:lpstr>
      <vt:lpstr>Writing the equation of a line from key features</vt:lpstr>
      <vt:lpstr>Writing the equation of a line from key features</vt:lpstr>
      <vt:lpstr>Writing the equation of a line from key features</vt:lpstr>
      <vt:lpstr>PowerPoint Presentation</vt:lpstr>
      <vt:lpstr>PowerPoint Presentation</vt:lpstr>
      <vt:lpstr>PowerPoint Presentation</vt:lpstr>
      <vt:lpstr>PowerPoint Presentation</vt:lpstr>
      <vt:lpstr>Writing the equation of a line from key features</vt:lpstr>
      <vt:lpstr>Finding the equation of a line</vt:lpstr>
      <vt:lpstr>Finding the equation of a line</vt:lpstr>
      <vt:lpstr>Finding the equation of a line</vt:lpstr>
      <vt:lpstr>Finding the equation of a line</vt:lpstr>
      <vt:lpstr>Finding the equation of a line</vt:lpstr>
      <vt:lpstr>Finding the equation of a line</vt:lpstr>
      <vt:lpstr>Finding the equation of a line</vt:lpstr>
      <vt:lpstr>Finding the equation of a line</vt:lpstr>
      <vt:lpstr>Finding the equation of a line</vt:lpstr>
      <vt:lpstr>Finding the equation of a line</vt:lpstr>
      <vt:lpstr>Finding the equation of a 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Finding the equation of the line y = mx + c</vt:lpstr>
      <vt:lpstr>PowerPoint Presentation</vt:lpstr>
    </vt:vector>
  </TitlesOfParts>
  <LinksUpToDate>0</LinksUpToDate>
  <SharedDoc>0</SharedDoc>
  <HyperlinksChanged>0</HyperlinksChanged>
  <Application>Aspose.Slides for .NET</Application>
  <AppVersion>23.1200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2024-01-08T16:51:32.247</cp:lastPrinted>
  <dcterms:created xsi:type="dcterms:W3CDTF">2024-01-08T16:51:32Z</dcterms:created>
  <dcterms:modified xsi:type="dcterms:W3CDTF">2024-01-08T16:51:32Z</dcterms:modified>
</cp:coreProperties>
</file>