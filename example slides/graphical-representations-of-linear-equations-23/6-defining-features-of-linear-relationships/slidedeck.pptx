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/>
  <p:notesSz cx="6858000" cy="9144000"/>
  <p:embeddedFontLst>
    <p:embeddedFont>
      <p:font typeface="Lexend" panose="00000000000000000000"/>
      <p:regular r:id="rId44"/>
    </p:embeddedFont>
    <p:embeddedFont>
      <p:font typeface="Lexend Medium" panose="00000000000000000000"/>
      <p:regular r:id="rId45"/>
    </p:embeddedFont>
    <p:embeddedFont>
      <p:font typeface="Kalam" panose="02000000000000000000"/>
      <p:regular r:id="rId46"/>
    </p:embeddedFont>
    <p:embeddedFont>
      <p:font typeface="Lexend Light" panose="00000000000000000000"/>
      <p:regular r:id="rId47"/>
    </p:embeddedFont>
  </p:embeddedFontLst>
  <p:custDataLst>
    <p:tags r:id="rId43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9470F08-4F26-4ECD-9B23-35E9A460CBB0}">
  <a:tblStyle styleId="{F9470F08-4F26-4ECD-9B23-35E9A460CB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tags" Target="tags/tag1.xml" /><Relationship Id="rId44" Type="http://schemas.openxmlformats.org/officeDocument/2006/relationships/font" Target="fonts/font1.fntdata" /><Relationship Id="rId45" Type="http://schemas.openxmlformats.org/officeDocument/2006/relationships/font" Target="fonts/font2.fntdata" /><Relationship Id="rId46" Type="http://schemas.openxmlformats.org/officeDocument/2006/relationships/font" Target="fonts/font3.fntdata" /><Relationship Id="rId47" Type="http://schemas.openxmlformats.org/officeDocument/2006/relationships/font" Target="fonts/font4.fntdata" /><Relationship Id="rId48" Type="http://schemas.openxmlformats.org/officeDocument/2006/relationships/presProps" Target="presProps.xml" /><Relationship Id="rId49" Type="http://schemas.openxmlformats.org/officeDocument/2006/relationships/viewProps" Target="viewProps.xml" /><Relationship Id="rId5" Type="http://schemas.openxmlformats.org/officeDocument/2006/relationships/slide" Target="slides/slide3.xml" /><Relationship Id="rId50" Type="http://schemas.openxmlformats.org/officeDocument/2006/relationships/theme" Target="theme/theme1.xml" /><Relationship Id="rId51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a798db944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a798db94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g29a798db944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a798db944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6" name="Shape 776"/>
        <p:cNvGrpSpPr/>
        <p:nvPr/>
      </p:nvGrpSpPr>
      <p:grpSpPr>
        <a:xfrm>
          <a:off x="0" y="0"/>
          <a:ext cx="0" cy="0"/>
        </a:xfrm>
      </p:grpSpPr>
      <p:sp>
        <p:nvSpPr>
          <p:cNvPr id="777" name="Google Shape;777;g29a798db944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9a798db944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8" name="Shape 788"/>
        <p:cNvGrpSpPr/>
        <p:nvPr/>
      </p:nvGrpSpPr>
      <p:grpSpPr>
        <a:xfrm>
          <a:off x="0" y="0"/>
          <a:ext cx="0" cy="0"/>
        </a:xfrm>
      </p:grpSpPr>
      <p:sp>
        <p:nvSpPr>
          <p:cNvPr id="789" name="Google Shape;789;g29a798db944_0_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9a798db944_0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5" name="Shape 805"/>
        <p:cNvGrpSpPr/>
        <p:nvPr/>
      </p:nvGrpSpPr>
      <p:grpSpPr>
        <a:xfrm>
          <a:off x="0" y="0"/>
          <a:ext cx="0" cy="0"/>
        </a:xfrm>
      </p:grpSpPr>
      <p:sp>
        <p:nvSpPr>
          <p:cNvPr id="806" name="Google Shape;806;g29a798db944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9a798db944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3" name="Shape 813"/>
        <p:cNvGrpSpPr/>
        <p:nvPr/>
      </p:nvGrpSpPr>
      <p:grpSpPr>
        <a:xfrm>
          <a:off x="0" y="0"/>
          <a:ext cx="0" cy="0"/>
        </a:xfrm>
      </p:grpSpPr>
      <p:sp>
        <p:nvSpPr>
          <p:cNvPr id="814" name="Google Shape;814;g29a798db944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9a798db944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8" name="Shape 828"/>
        <p:cNvGrpSpPr/>
        <p:nvPr/>
      </p:nvGrpSpPr>
      <p:grpSpPr>
        <a:xfrm>
          <a:off x="0" y="0"/>
          <a:ext cx="0" cy="0"/>
        </a:xfrm>
      </p:grpSpPr>
      <p:sp>
        <p:nvSpPr>
          <p:cNvPr id="829" name="Google Shape;829;g29a798db944_0_1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9a798db944_0_1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2" name="Shape 872"/>
        <p:cNvGrpSpPr/>
        <p:nvPr/>
      </p:nvGrpSpPr>
      <p:grpSpPr>
        <a:xfrm>
          <a:off x="0" y="0"/>
          <a:ext cx="0" cy="0"/>
        </a:xfrm>
      </p:grpSpPr>
      <p:sp>
        <p:nvSpPr>
          <p:cNvPr id="873" name="Google Shape;873;g29a798db944_0_1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a798db944_0_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7" name="Shape 917"/>
        <p:cNvGrpSpPr/>
        <p:nvPr/>
      </p:nvGrpSpPr>
      <p:grpSpPr>
        <a:xfrm>
          <a:off x="0" y="0"/>
          <a:ext cx="0" cy="0"/>
        </a:xfrm>
      </p:grpSpPr>
      <p:sp>
        <p:nvSpPr>
          <p:cNvPr id="918" name="Google Shape;918;g29a798db944_0_2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9a798db944_0_2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1" name="Shape 961"/>
        <p:cNvGrpSpPr/>
        <p:nvPr/>
      </p:nvGrpSpPr>
      <p:grpSpPr>
        <a:xfrm>
          <a:off x="0" y="0"/>
          <a:ext cx="0" cy="0"/>
        </a:xfrm>
      </p:grpSpPr>
      <p:sp>
        <p:nvSpPr>
          <p:cNvPr id="962" name="Google Shape;962;g29a798db944_0_1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9a798db944_0_1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g29a798db944_0_3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9a798db944_0_3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g29a798db944_0_4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9a798db944_0_4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0" name="Shape 1030"/>
        <p:cNvGrpSpPr/>
        <p:nvPr/>
      </p:nvGrpSpPr>
      <p:grpSpPr>
        <a:xfrm>
          <a:off x="0" y="0"/>
          <a:ext cx="0" cy="0"/>
        </a:xfrm>
      </p:grpSpPr>
      <p:sp>
        <p:nvSpPr>
          <p:cNvPr id="1031" name="Google Shape;1031;g29a798db944_0_4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9a798db944_0_4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8" name="Shape 1048"/>
        <p:cNvGrpSpPr/>
        <p:nvPr/>
      </p:nvGrpSpPr>
      <p:grpSpPr>
        <a:xfrm>
          <a:off x="0" y="0"/>
          <a:ext cx="0" cy="0"/>
        </a:xfrm>
      </p:grpSpPr>
      <p:sp>
        <p:nvSpPr>
          <p:cNvPr id="1049" name="Google Shape;1049;g29a798db944_0_4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9a798db944_0_4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6" name="Shape 1066"/>
        <p:cNvGrpSpPr/>
        <p:nvPr/>
      </p:nvGrpSpPr>
      <p:grpSpPr>
        <a:xfrm>
          <a:off x="0" y="0"/>
          <a:ext cx="0" cy="0"/>
        </a:xfrm>
      </p:grpSpPr>
      <p:sp>
        <p:nvSpPr>
          <p:cNvPr id="1067" name="Google Shape;1067;g29a798db944_0_4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9a798db944_0_4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8" name="Shape 1078"/>
        <p:cNvGrpSpPr/>
        <p:nvPr/>
      </p:nvGrpSpPr>
      <p:grpSpPr>
        <a:xfrm>
          <a:off x="0" y="0"/>
          <a:ext cx="0" cy="0"/>
        </a:xfrm>
      </p:grpSpPr>
      <p:sp>
        <p:nvSpPr>
          <p:cNvPr id="1079" name="Google Shape;1079;g29a798db944_0_5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9a798db944_0_5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0" name="Shape 1090"/>
        <p:cNvGrpSpPr/>
        <p:nvPr/>
      </p:nvGrpSpPr>
      <p:grpSpPr>
        <a:xfrm>
          <a:off x="0" y="0"/>
          <a:ext cx="0" cy="0"/>
        </a:xfrm>
      </p:grpSpPr>
      <p:sp>
        <p:nvSpPr>
          <p:cNvPr id="1091" name="Google Shape;1091;g29a798db944_0_5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9a798db944_0_5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2" name="Shape 1112"/>
        <p:cNvGrpSpPr/>
        <p:nvPr/>
      </p:nvGrpSpPr>
      <p:grpSpPr>
        <a:xfrm>
          <a:off x="0" y="0"/>
          <a:ext cx="0" cy="0"/>
        </a:xfrm>
      </p:grpSpPr>
      <p:sp>
        <p:nvSpPr>
          <p:cNvPr id="1113" name="Google Shape;1113;g29a798db944_0_5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9a798db944_0_5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sp>
        <p:nvSpPr>
          <p:cNvPr id="1134" name="Google Shape;1134;g29a798db944_0_5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9a798db944_0_5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7" name="Shape 1147"/>
        <p:cNvGrpSpPr/>
        <p:nvPr/>
      </p:nvGrpSpPr>
      <p:grpSpPr>
        <a:xfrm>
          <a:off x="0" y="0"/>
          <a:ext cx="0" cy="0"/>
        </a:xfrm>
      </p:grpSpPr>
      <p:sp>
        <p:nvSpPr>
          <p:cNvPr id="1148" name="Google Shape;1148;g29a798db944_0_5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9a798db944_0_5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1" name="Shape 1161"/>
        <p:cNvGrpSpPr/>
        <p:nvPr/>
      </p:nvGrpSpPr>
      <p:grpSpPr>
        <a:xfrm>
          <a:off x="0" y="0"/>
          <a:ext cx="0" cy="0"/>
        </a:xfrm>
      </p:grpSpPr>
      <p:sp>
        <p:nvSpPr>
          <p:cNvPr id="1162" name="Google Shape;1162;g29a798db944_0_6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9a798db944_0_6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9" name="Shape 1169"/>
        <p:cNvGrpSpPr/>
        <p:nvPr/>
      </p:nvGrpSpPr>
      <p:grpSpPr>
        <a:xfrm>
          <a:off x="0" y="0"/>
          <a:ext cx="0" cy="0"/>
        </a:xfrm>
      </p:grpSpPr>
      <p:sp>
        <p:nvSpPr>
          <p:cNvPr id="1170" name="Google Shape;1170;g29a798db944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9a798db944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0" name="Shape 1180"/>
        <p:cNvGrpSpPr/>
        <p:nvPr/>
      </p:nvGrpSpPr>
      <p:grpSpPr>
        <a:xfrm>
          <a:off x="0" y="0"/>
          <a:ext cx="0" cy="0"/>
        </a:xfrm>
      </p:grpSpPr>
      <p:sp>
        <p:nvSpPr>
          <p:cNvPr id="1181" name="Google Shape;1181;g29a798db944_0_7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9a798db944_0_7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2" name="Shape 1192"/>
        <p:cNvGrpSpPr/>
        <p:nvPr/>
      </p:nvGrpSpPr>
      <p:grpSpPr>
        <a:xfrm>
          <a:off x="0" y="0"/>
          <a:ext cx="0" cy="0"/>
        </a:xfrm>
      </p:grpSpPr>
      <p:sp>
        <p:nvSpPr>
          <p:cNvPr id="1193" name="Google Shape;1193;g29a798db944_0_6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9a798db944_0_6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3" name="Shape 1203"/>
        <p:cNvGrpSpPr/>
        <p:nvPr/>
      </p:nvGrpSpPr>
      <p:grpSpPr>
        <a:xfrm>
          <a:off x="0" y="0"/>
          <a:ext cx="0" cy="0"/>
        </a:xfrm>
      </p:grpSpPr>
      <p:sp>
        <p:nvSpPr>
          <p:cNvPr id="1204" name="Google Shape;1204;g29a798db944_0_6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9a798db944_0_6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7" name="Shape 1217"/>
        <p:cNvGrpSpPr/>
        <p:nvPr/>
      </p:nvGrpSpPr>
      <p:grpSpPr>
        <a:xfrm>
          <a:off x="0" y="0"/>
          <a:ext cx="0" cy="0"/>
        </a:xfrm>
      </p:grpSpPr>
      <p:sp>
        <p:nvSpPr>
          <p:cNvPr id="1218" name="Google Shape;1218;g29a798db944_0_7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9a798db944_0_7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g29a798db944_0_7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9a798db944_0_7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5" name="Shape 1245"/>
        <p:cNvGrpSpPr/>
        <p:nvPr/>
      </p:nvGrpSpPr>
      <p:grpSpPr>
        <a:xfrm>
          <a:off x="0" y="0"/>
          <a:ext cx="0" cy="0"/>
        </a:xfrm>
      </p:grpSpPr>
      <p:sp>
        <p:nvSpPr>
          <p:cNvPr id="1246" name="Google Shape;1246;g29a798db944_0_7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9a798db944_0_7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0" name="Shape 1260"/>
        <p:cNvGrpSpPr/>
        <p:nvPr/>
      </p:nvGrpSpPr>
      <p:grpSpPr>
        <a:xfrm>
          <a:off x="0" y="0"/>
          <a:ext cx="0" cy="0"/>
        </a:xfrm>
      </p:grpSpPr>
      <p:sp>
        <p:nvSpPr>
          <p:cNvPr id="1261" name="Google Shape;1261;g29a798db944_0_7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9a798db944_0_7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2" name="Shape 1272"/>
        <p:cNvGrpSpPr/>
        <p:nvPr/>
      </p:nvGrpSpPr>
      <p:grpSpPr>
        <a:xfrm>
          <a:off x="0" y="0"/>
          <a:ext cx="0" cy="0"/>
        </a:xfrm>
      </p:grpSpPr>
      <p:sp>
        <p:nvSpPr>
          <p:cNvPr id="1273" name="Google Shape;1273;g29a798db944_0_7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9a798db944_0_7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6" name="Shape 1286"/>
        <p:cNvGrpSpPr/>
        <p:nvPr/>
      </p:nvGrpSpPr>
      <p:grpSpPr>
        <a:xfrm>
          <a:off x="0" y="0"/>
          <a:ext cx="0" cy="0"/>
        </a:xfrm>
      </p:grpSpPr>
      <p:sp>
        <p:nvSpPr>
          <p:cNvPr id="1287" name="Google Shape;1287;g29a798db944_0_8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29a798db944_0_8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8" name="Shape 1298"/>
        <p:cNvGrpSpPr/>
        <p:nvPr/>
      </p:nvGrpSpPr>
      <p:grpSpPr>
        <a:xfrm>
          <a:off x="0" y="0"/>
          <a:ext cx="0" cy="0"/>
        </a:xfrm>
      </p:grpSpPr>
      <p:sp>
        <p:nvSpPr>
          <p:cNvPr id="1299" name="Google Shape;1299;g29a798db944_0_8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9a798db944_0_8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8" name="Shape 1308"/>
        <p:cNvGrpSpPr/>
        <p:nvPr/>
      </p:nvGrpSpPr>
      <p:grpSpPr>
        <a:xfrm>
          <a:off x="0" y="0"/>
          <a:ext cx="0" cy="0"/>
        </a:xfrm>
      </p:grpSpPr>
      <p:sp>
        <p:nvSpPr>
          <p:cNvPr id="1309" name="Google Shape;1309;g29a798db944_0_8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9a798db944_0_8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3" name="Shape 1323"/>
        <p:cNvGrpSpPr/>
        <p:nvPr/>
      </p:nvGrpSpPr>
      <p:grpSpPr>
        <a:xfrm>
          <a:off x="0" y="0"/>
          <a:ext cx="0" cy="0"/>
        </a:xfrm>
      </p:grpSpPr>
      <p:sp>
        <p:nvSpPr>
          <p:cNvPr id="1324" name="Google Shape;1324;g29a798db944_0_8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9a798db944_0_8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5" name="Shape 1335"/>
        <p:cNvGrpSpPr/>
        <p:nvPr/>
      </p:nvGrpSpPr>
      <p:grpSpPr>
        <a:xfrm>
          <a:off x="0" y="0"/>
          <a:ext cx="0" cy="0"/>
        </a:xfrm>
      </p:grpSpPr>
      <p:sp>
        <p:nvSpPr>
          <p:cNvPr id="1336" name="Google Shape;1336;g29a798db944_0_8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9a798db944_0_8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7" name="Shape 1347"/>
        <p:cNvGrpSpPr/>
        <p:nvPr/>
      </p:nvGrpSpPr>
      <p:grpSpPr>
        <a:xfrm>
          <a:off x="0" y="0"/>
          <a:ext cx="0" cy="0"/>
        </a:xfrm>
      </p:grpSpPr>
      <p:sp>
        <p:nvSpPr>
          <p:cNvPr id="1348" name="Google Shape;1348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3" name="Shape 1353"/>
        <p:cNvGrpSpPr/>
        <p:nvPr/>
      </p:nvGrpSpPr>
      <p:grpSpPr>
        <a:xfrm>
          <a:off x="0" y="0"/>
          <a:ext cx="0" cy="0"/>
        </a:xfrm>
      </p:grpSpPr>
      <p:sp>
        <p:nvSpPr>
          <p:cNvPr id="1354" name="Google Shape;1354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5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6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9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0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9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0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1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1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2.png" /><Relationship Id="rId4" Type="http://schemas.openxmlformats.org/officeDocument/2006/relationships/image" Target="../media/image4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3.png" /><Relationship Id="rId4" Type="http://schemas.openxmlformats.org/officeDocument/2006/relationships/image" Target="../media/image47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47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56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54.png" /><Relationship Id="rId4" Type="http://schemas.openxmlformats.org/officeDocument/2006/relationships/image" Target="../media/image62.png" /><Relationship Id="rId5" Type="http://schemas.openxmlformats.org/officeDocument/2006/relationships/image" Target="../media/image55.png" /><Relationship Id="rId6" Type="http://schemas.openxmlformats.org/officeDocument/2006/relationships/image" Target="../media/image56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Defining features of linear relationships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appreciate that there are key elements to any linear relationship; rate of change and intercept point.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10698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rate of change</a:t>
            </a:r>
            <a:r>
              <a:rPr lang="en-GB"/>
              <a:t> is how quickly one variable changes with respect to another. If the change is constant, there is a linear relationship between the variables.</a:t>
            </a:r>
            <a:endParaRPr/>
          </a:p>
        </p:txBody>
      </p:sp>
      <p:sp>
        <p:nvSpPr>
          <p:cNvPr id="767" name="Google Shape;767;p67"/>
          <p:cNvSpPr txBox="1"/>
          <p:nvPr>
            <p:ph type="subTitle" idx="2"/>
          </p:nvPr>
        </p:nvSpPr>
        <p:spPr>
          <a:xfrm>
            <a:off x="324001" y="23911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lang="en-GB" b="1"/>
              <a:t>intercept</a:t>
            </a:r>
            <a:r>
              <a:rPr lang="en-GB"/>
              <a:t> is the coordinate where a line or curve meets a given axis.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Defining features of linear relationships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20" y="206553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graphicFrame>
        <p:nvGraphicFramePr>
          <p:cNvPr id="780" name="Google Shape;780;p69"/>
          <p:cNvGraphicFramePr>
            <a:graphicFrameLocks noGrp="1"/>
          </p:cNvGraphicFramePr>
          <p:nvPr/>
        </p:nvGraphicFramePr>
        <p:xfrm>
          <a:off x="3285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781" name="Google Shape;781;p69"/>
          <p:cNvGraphicFramePr>
            <a:graphicFrameLocks noGrp="1"/>
          </p:cNvGraphicFramePr>
          <p:nvPr/>
        </p:nvGraphicFramePr>
        <p:xfrm>
          <a:off x="3285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features of linear relationships </a:t>
            </a:r>
            <a:endParaRPr/>
          </a:p>
        </p:txBody>
      </p:sp>
      <p:sp>
        <p:nvSpPr>
          <p:cNvPr id="783" name="Google Shape;783;p69"/>
          <p:cNvSpPr txBox="1"/>
          <p:nvPr/>
        </p:nvSpPr>
        <p:spPr>
          <a:xfrm>
            <a:off x="324000" y="770825"/>
            <a:ext cx="8148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first five terms of th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arithmetic (linear) sequence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and describe the sequence in words.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9"/>
          <p:cNvSpPr txBox="1"/>
          <p:nvPr/>
        </p:nvSpPr>
        <p:spPr>
          <a:xfrm>
            <a:off x="347066" y="2922950"/>
            <a:ext cx="521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+ 2:  5, 8, 11, 14, 17, …</a:t>
            </a:r>
            <a:endParaRPr sz="2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85" name="Google Shape;785;p69"/>
          <p:cNvGraphicFramePr>
            <a:graphicFrameLocks noGrp="1"/>
          </p:cNvGraphicFramePr>
          <p:nvPr/>
        </p:nvGraphicFramePr>
        <p:xfrm>
          <a:off x="3285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86" name="Google Shape;786;p69"/>
          <p:cNvSpPr txBox="1"/>
          <p:nvPr/>
        </p:nvSpPr>
        <p:spPr>
          <a:xfrm>
            <a:off x="347100" y="3498575"/>
            <a:ext cx="8472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sequence starts 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and has a constant difference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every time.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347100" y="4412964"/>
            <a:ext cx="8472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Those words are unique to this sequence.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1" name="Shape 791"/>
        <p:cNvGrpSpPr/>
        <p:nvPr/>
      </p:nvGrpSpPr>
      <p:grpSpPr>
        <a:xfrm>
          <a:off x="0" y="0"/>
          <a:ext cx="0" cy="0"/>
        </a:xfrm>
      </p:grpSpPr>
      <p:sp>
        <p:nvSpPr>
          <p:cNvPr id="792" name="Google Shape;79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Numerical features of linear relationships </a:t>
            </a:r>
            <a:endParaRPr/>
          </a:p>
        </p:txBody>
      </p:sp>
      <p:sp>
        <p:nvSpPr>
          <p:cNvPr id="793" name="Google Shape;793;p70"/>
          <p:cNvSpPr txBox="1"/>
          <p:nvPr/>
        </p:nvSpPr>
        <p:spPr>
          <a:xfrm>
            <a:off x="324000" y="770825"/>
            <a:ext cx="71352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Here are the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first five terms of th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sequence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0"/>
          <p:cNvSpPr txBox="1"/>
          <p:nvPr/>
        </p:nvSpPr>
        <p:spPr>
          <a:xfrm>
            <a:off x="324646" y="2965175"/>
            <a:ext cx="49782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Why is this sequence not linear?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95" name="Google Shape;795;p70"/>
          <p:cNvGraphicFramePr>
            <a:graphicFrameLocks noGrp="1"/>
          </p:cNvGraphicFramePr>
          <p:nvPr/>
        </p:nvGraphicFramePr>
        <p:xfrm>
          <a:off x="328598" y="1395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2396000"/>
                <a:gridCol w="496250"/>
                <a:gridCol w="496250"/>
                <a:gridCol w="496250"/>
                <a:gridCol w="496250"/>
                <a:gridCol w="496250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796" name="Google Shape;796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2895400" y="2303749"/>
            <a:ext cx="638008" cy="36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3402897" y="2303749"/>
            <a:ext cx="638008" cy="36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3910394" y="2303749"/>
            <a:ext cx="638008" cy="36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4417892" y="2303749"/>
            <a:ext cx="638008" cy="368851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70"/>
          <p:cNvSpPr txBox="1"/>
          <p:nvPr/>
        </p:nvSpPr>
        <p:spPr>
          <a:xfrm>
            <a:off x="3018900" y="2595689"/>
            <a:ext cx="2907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+9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3498544" y="2595700"/>
            <a:ext cx="399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+15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70"/>
          <p:cNvSpPr txBox="1"/>
          <p:nvPr/>
        </p:nvSpPr>
        <p:spPr>
          <a:xfrm>
            <a:off x="4031944" y="2595700"/>
            <a:ext cx="399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+21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70"/>
          <p:cNvSpPr txBox="1"/>
          <p:nvPr/>
        </p:nvSpPr>
        <p:spPr>
          <a:xfrm>
            <a:off x="4565344" y="2595700"/>
            <a:ext cx="3993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+27</a:t>
            </a:r>
            <a:endParaRPr sz="20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70"/>
          <p:cNvSpPr txBox="1"/>
          <p:nvPr/>
        </p:nvSpPr>
        <p:spPr>
          <a:xfrm>
            <a:off x="324652" y="3498575"/>
            <a:ext cx="78852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is not a constant difference.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8" name="Shape 808"/>
        <p:cNvGrpSpPr/>
        <p:nvPr/>
      </p:nvGrpSpPr>
      <p:grpSpPr>
        <a:xfrm>
          <a:off x="0" y="0"/>
          <a:ext cx="0" cy="0"/>
        </a:xfrm>
      </p:grpSpPr>
      <p:sp>
        <p:nvSpPr>
          <p:cNvPr id="809" name="Google Shape;80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Numerical features of linear relationships </a:t>
            </a:r>
            <a:endParaRPr/>
          </a:p>
        </p:txBody>
      </p:sp>
      <p:sp>
        <p:nvSpPr>
          <p:cNvPr id="810" name="Google Shape;810;p71"/>
          <p:cNvSpPr txBox="1"/>
          <p:nvPr/>
        </p:nvSpPr>
        <p:spPr>
          <a:xfrm>
            <a:off x="324000" y="804525"/>
            <a:ext cx="7609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Complete the table of values for the  linear relationship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11" name="Google Shape;811;p71"/>
          <p:cNvGraphicFramePr>
            <a:graphicFrameLocks noGrp="1"/>
          </p:cNvGraphicFramePr>
          <p:nvPr/>
        </p:nvGraphicFramePr>
        <p:xfrm>
          <a:off x="330671" y="20093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12" name="Google Shape;812;p71"/>
          <p:cNvGraphicFramePr>
            <a:graphicFrameLocks noGrp="1"/>
          </p:cNvGraphicFramePr>
          <p:nvPr/>
        </p:nvGraphicFramePr>
        <p:xfrm>
          <a:off x="330671" y="20093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6" name="Shape 816"/>
        <p:cNvGrpSpPr/>
        <p:nvPr/>
      </p:nvGrpSpPr>
      <p:grpSpPr>
        <a:xfrm>
          <a:off x="0" y="0"/>
          <a:ext cx="0" cy="0"/>
        </a:xfrm>
      </p:grpSpPr>
      <p:graphicFrame>
        <p:nvGraphicFramePr>
          <p:cNvPr id="817" name="Google Shape;817;p72"/>
          <p:cNvGraphicFramePr>
            <a:graphicFrameLocks noGrp="1"/>
          </p:cNvGraphicFramePr>
          <p:nvPr/>
        </p:nvGraphicFramePr>
        <p:xfrm>
          <a:off x="4584567" y="2005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18" name="Google Shape;81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Numerical features of linear relationships </a:t>
            </a:r>
            <a:endParaRPr/>
          </a:p>
        </p:txBody>
      </p:sp>
      <p:sp>
        <p:nvSpPr>
          <p:cNvPr id="819" name="Google Shape;819;p72"/>
          <p:cNvSpPr txBox="1"/>
          <p:nvPr/>
        </p:nvSpPr>
        <p:spPr>
          <a:xfrm>
            <a:off x="324000" y="804516"/>
            <a:ext cx="31260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linear relationship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2"/>
          <p:cNvSpPr txBox="1"/>
          <p:nvPr/>
        </p:nvSpPr>
        <p:spPr>
          <a:xfrm>
            <a:off x="347100" y="4093880"/>
            <a:ext cx="46527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constant difference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21" name="Google Shape;821;p72"/>
          <p:cNvGraphicFramePr>
            <a:graphicFrameLocks noGrp="1"/>
          </p:cNvGraphicFramePr>
          <p:nvPr/>
        </p:nvGraphicFramePr>
        <p:xfrm>
          <a:off x="330671" y="20093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22" name="Google Shape;822;p72"/>
          <p:cNvGraphicFramePr>
            <a:graphicFrameLocks noGrp="1"/>
          </p:cNvGraphicFramePr>
          <p:nvPr/>
        </p:nvGraphicFramePr>
        <p:xfrm>
          <a:off x="4584567" y="2005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23" name="Google Shape;823;p72"/>
          <p:cNvGraphicFramePr>
            <a:graphicFrameLocks noGrp="1"/>
          </p:cNvGraphicFramePr>
          <p:nvPr/>
        </p:nvGraphicFramePr>
        <p:xfrm>
          <a:off x="4584567" y="2005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24" name="Google Shape;824;p72"/>
          <p:cNvSpPr txBox="1"/>
          <p:nvPr/>
        </p:nvSpPr>
        <p:spPr>
          <a:xfrm>
            <a:off x="4570325" y="804525"/>
            <a:ext cx="3270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arithmetic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(linear) sequence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2"/>
          <p:cNvSpPr txBox="1"/>
          <p:nvPr/>
        </p:nvSpPr>
        <p:spPr>
          <a:xfrm>
            <a:off x="347100" y="3249920"/>
            <a:ext cx="84729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similarities do you see?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2"/>
          <p:cNvSpPr txBox="1"/>
          <p:nvPr/>
        </p:nvSpPr>
        <p:spPr>
          <a:xfrm>
            <a:off x="347100" y="4500400"/>
            <a:ext cx="82038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plotted, the coordinates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(1, 5), (2, 8), (3, 11)...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72"/>
          <p:cNvSpPr txBox="1"/>
          <p:nvPr/>
        </p:nvSpPr>
        <p:spPr>
          <a:xfrm>
            <a:off x="347075" y="3698591"/>
            <a:ext cx="42249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8, 11, 14, 17, …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graphicFrame>
        <p:nvGraphicFramePr>
          <p:cNvPr id="832" name="Google Shape;832;p73"/>
          <p:cNvGraphicFramePr>
            <a:graphicFrameLocks noGrp="1"/>
          </p:cNvGraphicFramePr>
          <p:nvPr/>
        </p:nvGraphicFramePr>
        <p:xfrm>
          <a:off x="4584567" y="2005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33" name="Google Shape;83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Numerical features of linear relationships </a:t>
            </a:r>
            <a:endParaRPr/>
          </a:p>
        </p:txBody>
      </p:sp>
      <p:sp>
        <p:nvSpPr>
          <p:cNvPr id="834" name="Google Shape;834;p73"/>
          <p:cNvSpPr txBox="1"/>
          <p:nvPr/>
        </p:nvSpPr>
        <p:spPr>
          <a:xfrm>
            <a:off x="324000" y="804516"/>
            <a:ext cx="31260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linear relationship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5" name="Google Shape;835;p73"/>
          <p:cNvGraphicFramePr>
            <a:graphicFrameLocks noGrp="1"/>
          </p:cNvGraphicFramePr>
          <p:nvPr/>
        </p:nvGraphicFramePr>
        <p:xfrm>
          <a:off x="330671" y="20093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36" name="Google Shape;836;p73"/>
          <p:cNvGraphicFramePr>
            <a:graphicFrameLocks noGrp="1"/>
          </p:cNvGraphicFramePr>
          <p:nvPr/>
        </p:nvGraphicFramePr>
        <p:xfrm>
          <a:off x="4584567" y="2005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37" name="Google Shape;837;p73"/>
          <p:cNvGraphicFramePr>
            <a:graphicFrameLocks noGrp="1"/>
          </p:cNvGraphicFramePr>
          <p:nvPr/>
        </p:nvGraphicFramePr>
        <p:xfrm>
          <a:off x="4584567" y="2005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38" name="Google Shape;838;p73"/>
          <p:cNvSpPr txBox="1"/>
          <p:nvPr/>
        </p:nvSpPr>
        <p:spPr>
          <a:xfrm>
            <a:off x="4570325" y="804525"/>
            <a:ext cx="3270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arithmetic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(linear) sequence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3"/>
          <p:cNvSpPr/>
          <p:nvPr/>
        </p:nvSpPr>
        <p:spPr>
          <a:xfrm>
            <a:off x="1017950" y="1805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0" name="Google Shape;840;p73"/>
          <p:cNvSpPr/>
          <p:nvPr/>
        </p:nvSpPr>
        <p:spPr>
          <a:xfrm>
            <a:off x="1416399" y="1805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1" name="Google Shape;841;p73"/>
          <p:cNvSpPr/>
          <p:nvPr/>
        </p:nvSpPr>
        <p:spPr>
          <a:xfrm>
            <a:off x="1820898" y="1805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2" name="Google Shape;842;p73"/>
          <p:cNvSpPr/>
          <p:nvPr/>
        </p:nvSpPr>
        <p:spPr>
          <a:xfrm>
            <a:off x="2225398" y="1805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3" name="Google Shape;843;p73"/>
          <p:cNvSpPr txBox="1"/>
          <p:nvPr/>
        </p:nvSpPr>
        <p:spPr>
          <a:xfrm>
            <a:off x="1041017" y="1526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4" name="Google Shape;844;p73"/>
          <p:cNvSpPr txBox="1"/>
          <p:nvPr/>
        </p:nvSpPr>
        <p:spPr>
          <a:xfrm>
            <a:off x="1455403" y="1526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73"/>
          <p:cNvSpPr txBox="1"/>
          <p:nvPr/>
        </p:nvSpPr>
        <p:spPr>
          <a:xfrm>
            <a:off x="1883502" y="1526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73"/>
          <p:cNvSpPr txBox="1"/>
          <p:nvPr/>
        </p:nvSpPr>
        <p:spPr>
          <a:xfrm>
            <a:off x="2297888" y="1526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73"/>
          <p:cNvSpPr/>
          <p:nvPr/>
        </p:nvSpPr>
        <p:spPr>
          <a:xfrm rot="10800000" flipH="1">
            <a:off x="1017950" y="27958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8" name="Google Shape;848;p73"/>
          <p:cNvSpPr/>
          <p:nvPr/>
        </p:nvSpPr>
        <p:spPr>
          <a:xfrm rot="10800000" flipH="1">
            <a:off x="1416399" y="27958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9" name="Google Shape;849;p73"/>
          <p:cNvSpPr/>
          <p:nvPr/>
        </p:nvSpPr>
        <p:spPr>
          <a:xfrm rot="10800000" flipH="1">
            <a:off x="1820898" y="27958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0" name="Google Shape;850;p73"/>
          <p:cNvSpPr/>
          <p:nvPr/>
        </p:nvSpPr>
        <p:spPr>
          <a:xfrm rot="10800000" flipH="1">
            <a:off x="2225398" y="27958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1" name="Google Shape;851;p73"/>
          <p:cNvSpPr txBox="1"/>
          <p:nvPr/>
        </p:nvSpPr>
        <p:spPr>
          <a:xfrm>
            <a:off x="1041017" y="31271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73"/>
          <p:cNvSpPr txBox="1"/>
          <p:nvPr/>
        </p:nvSpPr>
        <p:spPr>
          <a:xfrm>
            <a:off x="1455403" y="31271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3" name="Google Shape;853;p73"/>
          <p:cNvSpPr txBox="1"/>
          <p:nvPr/>
        </p:nvSpPr>
        <p:spPr>
          <a:xfrm>
            <a:off x="1883502" y="31271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4" name="Google Shape;854;p73"/>
          <p:cNvSpPr txBox="1"/>
          <p:nvPr/>
        </p:nvSpPr>
        <p:spPr>
          <a:xfrm>
            <a:off x="2297888" y="31271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73"/>
          <p:cNvSpPr/>
          <p:nvPr/>
        </p:nvSpPr>
        <p:spPr>
          <a:xfrm rot="10800000" flipH="1">
            <a:off x="6755411" y="27958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6" name="Google Shape;856;p73"/>
          <p:cNvSpPr/>
          <p:nvPr/>
        </p:nvSpPr>
        <p:spPr>
          <a:xfrm rot="10800000" flipH="1">
            <a:off x="7153859" y="27958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7" name="Google Shape;857;p73"/>
          <p:cNvSpPr/>
          <p:nvPr/>
        </p:nvSpPr>
        <p:spPr>
          <a:xfrm rot="10800000" flipH="1">
            <a:off x="7558359" y="27958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8" name="Google Shape;858;p73"/>
          <p:cNvSpPr/>
          <p:nvPr/>
        </p:nvSpPr>
        <p:spPr>
          <a:xfrm rot="10800000" flipH="1">
            <a:off x="7962858" y="27958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9" name="Google Shape;859;p73"/>
          <p:cNvSpPr txBox="1"/>
          <p:nvPr/>
        </p:nvSpPr>
        <p:spPr>
          <a:xfrm>
            <a:off x="6778478" y="31271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0" name="Google Shape;860;p73"/>
          <p:cNvSpPr txBox="1"/>
          <p:nvPr/>
        </p:nvSpPr>
        <p:spPr>
          <a:xfrm>
            <a:off x="7192864" y="31271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1" name="Google Shape;861;p73"/>
          <p:cNvSpPr txBox="1"/>
          <p:nvPr/>
        </p:nvSpPr>
        <p:spPr>
          <a:xfrm>
            <a:off x="7620963" y="31271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2" name="Google Shape;862;p73"/>
          <p:cNvSpPr txBox="1"/>
          <p:nvPr/>
        </p:nvSpPr>
        <p:spPr>
          <a:xfrm>
            <a:off x="8035349" y="31271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3" name="Google Shape;863;p73"/>
          <p:cNvSpPr/>
          <p:nvPr/>
        </p:nvSpPr>
        <p:spPr>
          <a:xfrm>
            <a:off x="6732950" y="1805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4" name="Google Shape;864;p73"/>
          <p:cNvSpPr/>
          <p:nvPr/>
        </p:nvSpPr>
        <p:spPr>
          <a:xfrm>
            <a:off x="7131399" y="1805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5" name="Google Shape;865;p73"/>
          <p:cNvSpPr/>
          <p:nvPr/>
        </p:nvSpPr>
        <p:spPr>
          <a:xfrm>
            <a:off x="7535898" y="1805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6" name="Google Shape;866;p73"/>
          <p:cNvSpPr/>
          <p:nvPr/>
        </p:nvSpPr>
        <p:spPr>
          <a:xfrm>
            <a:off x="7940398" y="1805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7" name="Google Shape;867;p73"/>
          <p:cNvSpPr txBox="1"/>
          <p:nvPr/>
        </p:nvSpPr>
        <p:spPr>
          <a:xfrm>
            <a:off x="6756017" y="1526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8" name="Google Shape;868;p73"/>
          <p:cNvSpPr txBox="1"/>
          <p:nvPr/>
        </p:nvSpPr>
        <p:spPr>
          <a:xfrm>
            <a:off x="7170403" y="1526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p73"/>
          <p:cNvSpPr txBox="1"/>
          <p:nvPr/>
        </p:nvSpPr>
        <p:spPr>
          <a:xfrm>
            <a:off x="7598502" y="1526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73"/>
          <p:cNvSpPr txBox="1"/>
          <p:nvPr/>
        </p:nvSpPr>
        <p:spPr>
          <a:xfrm>
            <a:off x="8012888" y="1526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73"/>
          <p:cNvSpPr txBox="1"/>
          <p:nvPr/>
        </p:nvSpPr>
        <p:spPr>
          <a:xfrm>
            <a:off x="347100" y="3538025"/>
            <a:ext cx="75885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also call this a constant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2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graphicFrame>
        <p:nvGraphicFramePr>
          <p:cNvPr id="876" name="Google Shape;876;p74"/>
          <p:cNvGraphicFramePr>
            <a:graphicFrameLocks noGrp="1"/>
          </p:cNvGraphicFramePr>
          <p:nvPr/>
        </p:nvGraphicFramePr>
        <p:xfrm>
          <a:off x="328598" y="1646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77" name="Google Shape;87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Numerical features of linear relationships </a:t>
            </a:r>
            <a:endParaRPr/>
          </a:p>
        </p:txBody>
      </p:sp>
      <p:graphicFrame>
        <p:nvGraphicFramePr>
          <p:cNvPr id="878" name="Google Shape;878;p74"/>
          <p:cNvGraphicFramePr>
            <a:graphicFrameLocks noGrp="1"/>
          </p:cNvGraphicFramePr>
          <p:nvPr/>
        </p:nvGraphicFramePr>
        <p:xfrm>
          <a:off x="328598" y="1646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79" name="Google Shape;879;p74"/>
          <p:cNvGraphicFramePr>
            <a:graphicFrameLocks noGrp="1"/>
          </p:cNvGraphicFramePr>
          <p:nvPr/>
        </p:nvGraphicFramePr>
        <p:xfrm>
          <a:off x="328598" y="1646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80" name="Google Shape;880;p74"/>
          <p:cNvSpPr txBox="1"/>
          <p:nvPr/>
        </p:nvSpPr>
        <p:spPr>
          <a:xfrm>
            <a:off x="314354" y="1207975"/>
            <a:ext cx="11142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1" name="Google Shape;881;p74" descr="&lt;math xmlns=&quot;http://www.w3.org/1998/Math/MathML&quot; data-is-equatio=&quot;1&quot; data-equatio-url=&quot;https://equatio-api.texthelp.com/desmos/get/13-11-2023/c545b731-d455-4234-9d07-9b9b99949cc4&quot; data-equatio-type=&quot;desmos&quot;&gt;&lt;mglyph src=&quot;https://equatio-api.texthelp.com/desmos/get/13-11-2023/c545b731-d455-4234-9d07-9b9b99949cc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593" t="3802" r="60464" b="13885"/>
          <a:stretch>
            <a:fillRect/>
          </a:stretch>
        </p:blipFill>
        <p:spPr>
          <a:xfrm>
            <a:off x="6275820" y="1091983"/>
            <a:ext cx="1324388" cy="3726141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4"/>
          <p:cNvSpPr txBox="1"/>
          <p:nvPr/>
        </p:nvSpPr>
        <p:spPr>
          <a:xfrm>
            <a:off x="6029304" y="1109325"/>
            <a:ext cx="3516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3" name="Google Shape;883;p74"/>
          <p:cNvSpPr txBox="1"/>
          <p:nvPr/>
        </p:nvSpPr>
        <p:spPr>
          <a:xfrm>
            <a:off x="7705445" y="4451279"/>
            <a:ext cx="2757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74"/>
          <p:cNvSpPr txBox="1"/>
          <p:nvPr/>
        </p:nvSpPr>
        <p:spPr>
          <a:xfrm>
            <a:off x="324000" y="806050"/>
            <a:ext cx="59667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plotted we can see this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4"/>
          <p:cNvSpPr/>
          <p:nvPr/>
        </p:nvSpPr>
        <p:spPr>
          <a:xfrm>
            <a:off x="2497029" y="1424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6" name="Google Shape;886;p74"/>
          <p:cNvSpPr/>
          <p:nvPr/>
        </p:nvSpPr>
        <p:spPr>
          <a:xfrm>
            <a:off x="2895477" y="1424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7" name="Google Shape;887;p74"/>
          <p:cNvSpPr/>
          <p:nvPr/>
        </p:nvSpPr>
        <p:spPr>
          <a:xfrm>
            <a:off x="3299977" y="1424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8" name="Google Shape;888;p74"/>
          <p:cNvSpPr/>
          <p:nvPr/>
        </p:nvSpPr>
        <p:spPr>
          <a:xfrm>
            <a:off x="3704476" y="1424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9" name="Google Shape;889;p74"/>
          <p:cNvSpPr txBox="1"/>
          <p:nvPr/>
        </p:nvSpPr>
        <p:spPr>
          <a:xfrm>
            <a:off x="2520096" y="1145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2934482" y="1145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74"/>
          <p:cNvSpPr txBox="1"/>
          <p:nvPr/>
        </p:nvSpPr>
        <p:spPr>
          <a:xfrm>
            <a:off x="3362581" y="1145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74"/>
          <p:cNvSpPr txBox="1"/>
          <p:nvPr/>
        </p:nvSpPr>
        <p:spPr>
          <a:xfrm>
            <a:off x="3776967" y="1145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74"/>
          <p:cNvSpPr/>
          <p:nvPr/>
        </p:nvSpPr>
        <p:spPr>
          <a:xfrm rot="10800000" flipH="1">
            <a:off x="2497029" y="242605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4" name="Google Shape;894;p74"/>
          <p:cNvSpPr/>
          <p:nvPr/>
        </p:nvSpPr>
        <p:spPr>
          <a:xfrm rot="10800000" flipH="1">
            <a:off x="2895477" y="242605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5" name="Google Shape;895;p74"/>
          <p:cNvSpPr/>
          <p:nvPr/>
        </p:nvSpPr>
        <p:spPr>
          <a:xfrm rot="10800000" flipH="1">
            <a:off x="3299977" y="242605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6" name="Google Shape;896;p74"/>
          <p:cNvSpPr/>
          <p:nvPr/>
        </p:nvSpPr>
        <p:spPr>
          <a:xfrm rot="10800000" flipH="1">
            <a:off x="3704476" y="242605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7" name="Google Shape;897;p74"/>
          <p:cNvSpPr txBox="1"/>
          <p:nvPr/>
        </p:nvSpPr>
        <p:spPr>
          <a:xfrm>
            <a:off x="2520096" y="275741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p74"/>
          <p:cNvSpPr txBox="1"/>
          <p:nvPr/>
        </p:nvSpPr>
        <p:spPr>
          <a:xfrm>
            <a:off x="2934482" y="275741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74"/>
          <p:cNvSpPr txBox="1"/>
          <p:nvPr/>
        </p:nvSpPr>
        <p:spPr>
          <a:xfrm>
            <a:off x="3362581" y="275741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74"/>
          <p:cNvSpPr txBox="1"/>
          <p:nvPr/>
        </p:nvSpPr>
        <p:spPr>
          <a:xfrm>
            <a:off x="3776967" y="275741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01" name="Google Shape;901;p74"/>
          <p:cNvGrpSpPr/>
          <p:nvPr/>
        </p:nvGrpSpPr>
        <p:grpSpPr>
          <a:xfrm>
            <a:off x="6691313" y="3240189"/>
            <a:ext cx="532334" cy="758937"/>
            <a:chOff x="6762586" y="3328975"/>
            <a:chExt cx="532334" cy="1066372"/>
          </a:xfrm>
        </p:grpSpPr>
        <p:grpSp>
          <p:nvGrpSpPr>
            <p:cNvPr id="902" name="Google Shape;902;p74"/>
            <p:cNvGrpSpPr/>
            <p:nvPr/>
          </p:nvGrpSpPr>
          <p:grpSpPr>
            <a:xfrm>
              <a:off x="6762586" y="3328975"/>
              <a:ext cx="213539" cy="771600"/>
              <a:chOff x="6762586" y="3328975"/>
              <a:chExt cx="213539" cy="771600"/>
            </a:xfrm>
          </p:grpSpPr>
          <p:cxnSp>
            <p:nvCxnSpPr>
              <p:cNvPr id="903" name="Google Shape;903;p74"/>
              <p:cNvCxnSpPr/>
              <p:nvPr/>
            </p:nvCxnSpPr>
            <p:spPr>
              <a:xfrm>
                <a:off x="6762586" y="4092128"/>
                <a:ext cx="210900" cy="5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904" name="Google Shape;904;p74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905" name="Google Shape;905;p74"/>
            <p:cNvSpPr/>
            <p:nvPr/>
          </p:nvSpPr>
          <p:spPr>
            <a:xfrm>
              <a:off x="6819500" y="4192847"/>
              <a:ext cx="295800" cy="202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p74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07" name="Google Shape;907;p74"/>
          <p:cNvGrpSpPr/>
          <p:nvPr/>
        </p:nvGrpSpPr>
        <p:grpSpPr>
          <a:xfrm>
            <a:off x="6895002" y="2740086"/>
            <a:ext cx="180740" cy="524997"/>
            <a:chOff x="6762586" y="3328975"/>
            <a:chExt cx="213539" cy="771600"/>
          </a:xfrm>
        </p:grpSpPr>
        <p:cxnSp>
          <p:nvCxnSpPr>
            <p:cNvPr id="908" name="Google Shape;908;p74"/>
            <p:cNvCxnSpPr/>
            <p:nvPr/>
          </p:nvCxnSpPr>
          <p:spPr>
            <a:xfrm>
              <a:off x="6762586" y="4092128"/>
              <a:ext cx="210900" cy="54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09" name="Google Shape;909;p74"/>
            <p:cNvCxnSpPr/>
            <p:nvPr/>
          </p:nvCxnSpPr>
          <p:spPr>
            <a:xfrm rot="10800000" flipH="1">
              <a:off x="6975225" y="3328975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10" name="Google Shape;910;p74"/>
          <p:cNvGrpSpPr/>
          <p:nvPr/>
        </p:nvGrpSpPr>
        <p:grpSpPr>
          <a:xfrm>
            <a:off x="7066452" y="2211361"/>
            <a:ext cx="180740" cy="524997"/>
            <a:chOff x="6762586" y="3328975"/>
            <a:chExt cx="213539" cy="771600"/>
          </a:xfrm>
        </p:grpSpPr>
        <p:cxnSp>
          <p:nvCxnSpPr>
            <p:cNvPr id="911" name="Google Shape;911;p74"/>
            <p:cNvCxnSpPr/>
            <p:nvPr/>
          </p:nvCxnSpPr>
          <p:spPr>
            <a:xfrm>
              <a:off x="6762586" y="4092128"/>
              <a:ext cx="210900" cy="54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2" name="Google Shape;912;p74"/>
            <p:cNvCxnSpPr/>
            <p:nvPr/>
          </p:nvCxnSpPr>
          <p:spPr>
            <a:xfrm rot="10800000" flipH="1">
              <a:off x="6975225" y="3328975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13" name="Google Shape;913;p74"/>
          <p:cNvGrpSpPr/>
          <p:nvPr/>
        </p:nvGrpSpPr>
        <p:grpSpPr>
          <a:xfrm>
            <a:off x="7237902" y="1692248"/>
            <a:ext cx="180740" cy="524997"/>
            <a:chOff x="6762586" y="3328975"/>
            <a:chExt cx="213539" cy="771600"/>
          </a:xfrm>
        </p:grpSpPr>
        <p:cxnSp>
          <p:nvCxnSpPr>
            <p:cNvPr id="914" name="Google Shape;914;p74"/>
            <p:cNvCxnSpPr/>
            <p:nvPr/>
          </p:nvCxnSpPr>
          <p:spPr>
            <a:xfrm>
              <a:off x="6762586" y="4092128"/>
              <a:ext cx="210900" cy="54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5" name="Google Shape;915;p74"/>
            <p:cNvCxnSpPr/>
            <p:nvPr/>
          </p:nvCxnSpPr>
          <p:spPr>
            <a:xfrm rot="10800000" flipH="1">
              <a:off x="6975225" y="3328975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16" name="Google Shape;916;p74"/>
          <p:cNvSpPr txBox="1"/>
          <p:nvPr/>
        </p:nvSpPr>
        <p:spPr>
          <a:xfrm>
            <a:off x="324639" y="3233225"/>
            <a:ext cx="40242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sp>
        <p:nvSpPr>
          <p:cNvPr id="921" name="Google Shape;92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Numerical features of linear relationships </a:t>
            </a:r>
            <a:endParaRPr/>
          </a:p>
        </p:txBody>
      </p:sp>
      <p:pic>
        <p:nvPicPr>
          <p:cNvPr id="922" name="Google Shape;922;p75" descr="&lt;math xmlns=&quot;http://www.w3.org/1998/Math/MathML&quot; data-is-equatio=&quot;1&quot; data-equatio-url=&quot;https://equatio-api.texthelp.com/desmos/get/13-11-2023/c545b731-d455-4234-9d07-9b9b99949cc4&quot; data-equatio-type=&quot;desmos&quot;&gt;&lt;mglyph src=&quot;https://equatio-api.texthelp.com/desmos/get/13-11-2023/c545b731-d455-4234-9d07-9b9b99949cc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593" t="3802" r="60464" b="13885"/>
          <a:stretch>
            <a:fillRect/>
          </a:stretch>
        </p:blipFill>
        <p:spPr>
          <a:xfrm>
            <a:off x="6275820" y="1091983"/>
            <a:ext cx="1324388" cy="3726141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5"/>
          <p:cNvSpPr txBox="1"/>
          <p:nvPr/>
        </p:nvSpPr>
        <p:spPr>
          <a:xfrm>
            <a:off x="324000" y="806050"/>
            <a:ext cx="59667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plotted we can see this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5"/>
          <p:cNvSpPr/>
          <p:nvPr/>
        </p:nvSpPr>
        <p:spPr>
          <a:xfrm>
            <a:off x="2497029" y="1424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5" name="Google Shape;925;p75"/>
          <p:cNvSpPr/>
          <p:nvPr/>
        </p:nvSpPr>
        <p:spPr>
          <a:xfrm>
            <a:off x="2895477" y="1424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6" name="Google Shape;926;p75"/>
          <p:cNvSpPr/>
          <p:nvPr/>
        </p:nvSpPr>
        <p:spPr>
          <a:xfrm>
            <a:off x="3299977" y="1424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7" name="Google Shape;927;p75"/>
          <p:cNvSpPr/>
          <p:nvPr/>
        </p:nvSpPr>
        <p:spPr>
          <a:xfrm>
            <a:off x="3704476" y="142422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8" name="Google Shape;928;p75"/>
          <p:cNvSpPr txBox="1"/>
          <p:nvPr/>
        </p:nvSpPr>
        <p:spPr>
          <a:xfrm>
            <a:off x="2520096" y="1145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75"/>
          <p:cNvSpPr txBox="1"/>
          <p:nvPr/>
        </p:nvSpPr>
        <p:spPr>
          <a:xfrm>
            <a:off x="2934482" y="1145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75"/>
          <p:cNvSpPr txBox="1"/>
          <p:nvPr/>
        </p:nvSpPr>
        <p:spPr>
          <a:xfrm>
            <a:off x="3362581" y="1145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75"/>
          <p:cNvSpPr txBox="1"/>
          <p:nvPr/>
        </p:nvSpPr>
        <p:spPr>
          <a:xfrm>
            <a:off x="3776967" y="114598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75"/>
          <p:cNvSpPr/>
          <p:nvPr/>
        </p:nvSpPr>
        <p:spPr>
          <a:xfrm rot="10800000" flipH="1">
            <a:off x="2497029" y="242605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3" name="Google Shape;933;p75"/>
          <p:cNvSpPr/>
          <p:nvPr/>
        </p:nvSpPr>
        <p:spPr>
          <a:xfrm rot="10800000" flipH="1">
            <a:off x="2895477" y="242605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4" name="Google Shape;934;p75"/>
          <p:cNvSpPr/>
          <p:nvPr/>
        </p:nvSpPr>
        <p:spPr>
          <a:xfrm rot="10800000" flipH="1">
            <a:off x="3299977" y="242605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5" name="Google Shape;935;p75"/>
          <p:cNvSpPr/>
          <p:nvPr/>
        </p:nvSpPr>
        <p:spPr>
          <a:xfrm rot="10800000" flipH="1">
            <a:off x="3704476" y="2426055"/>
            <a:ext cx="3771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6" name="Google Shape;936;p75"/>
          <p:cNvSpPr txBox="1"/>
          <p:nvPr/>
        </p:nvSpPr>
        <p:spPr>
          <a:xfrm>
            <a:off x="2520096" y="275741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75"/>
          <p:cNvSpPr txBox="1"/>
          <p:nvPr/>
        </p:nvSpPr>
        <p:spPr>
          <a:xfrm>
            <a:off x="2934482" y="275741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75"/>
          <p:cNvSpPr txBox="1"/>
          <p:nvPr/>
        </p:nvSpPr>
        <p:spPr>
          <a:xfrm>
            <a:off x="3362581" y="275741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75"/>
          <p:cNvSpPr txBox="1"/>
          <p:nvPr/>
        </p:nvSpPr>
        <p:spPr>
          <a:xfrm>
            <a:off x="3776967" y="2757416"/>
            <a:ext cx="3771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40" name="Google Shape;940;p75"/>
          <p:cNvGrpSpPr/>
          <p:nvPr/>
        </p:nvGrpSpPr>
        <p:grpSpPr>
          <a:xfrm>
            <a:off x="6691313" y="3240189"/>
            <a:ext cx="532334" cy="758937"/>
            <a:chOff x="6762586" y="3328975"/>
            <a:chExt cx="532334" cy="1066372"/>
          </a:xfrm>
        </p:grpSpPr>
        <p:grpSp>
          <p:nvGrpSpPr>
            <p:cNvPr id="941" name="Google Shape;941;p75"/>
            <p:cNvGrpSpPr/>
            <p:nvPr/>
          </p:nvGrpSpPr>
          <p:grpSpPr>
            <a:xfrm>
              <a:off x="6762586" y="3328975"/>
              <a:ext cx="213539" cy="771600"/>
              <a:chOff x="6762586" y="3328975"/>
              <a:chExt cx="213539" cy="771600"/>
            </a:xfrm>
          </p:grpSpPr>
          <p:cxnSp>
            <p:nvCxnSpPr>
              <p:cNvPr id="942" name="Google Shape;942;p75"/>
              <p:cNvCxnSpPr/>
              <p:nvPr/>
            </p:nvCxnSpPr>
            <p:spPr>
              <a:xfrm>
                <a:off x="6762586" y="4092128"/>
                <a:ext cx="210900" cy="5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943" name="Google Shape;943;p75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944" name="Google Shape;944;p75"/>
            <p:cNvSpPr/>
            <p:nvPr/>
          </p:nvSpPr>
          <p:spPr>
            <a:xfrm>
              <a:off x="6819500" y="4192847"/>
              <a:ext cx="295800" cy="202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5" name="Google Shape;945;p75"/>
            <p:cNvSpPr/>
            <p:nvPr/>
          </p:nvSpPr>
          <p:spPr>
            <a:xfrm>
              <a:off x="6999120" y="3698680"/>
              <a:ext cx="295800" cy="202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46" name="Google Shape;946;p75"/>
          <p:cNvGrpSpPr/>
          <p:nvPr/>
        </p:nvGrpSpPr>
        <p:grpSpPr>
          <a:xfrm>
            <a:off x="6895002" y="2740086"/>
            <a:ext cx="180740" cy="524997"/>
            <a:chOff x="6762586" y="3328975"/>
            <a:chExt cx="213539" cy="771600"/>
          </a:xfrm>
        </p:grpSpPr>
        <p:cxnSp>
          <p:nvCxnSpPr>
            <p:cNvPr id="947" name="Google Shape;947;p75"/>
            <p:cNvCxnSpPr/>
            <p:nvPr/>
          </p:nvCxnSpPr>
          <p:spPr>
            <a:xfrm>
              <a:off x="6762586" y="4092128"/>
              <a:ext cx="210900" cy="54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48" name="Google Shape;948;p75"/>
            <p:cNvCxnSpPr/>
            <p:nvPr/>
          </p:nvCxnSpPr>
          <p:spPr>
            <a:xfrm rot="10800000" flipH="1">
              <a:off x="6975225" y="3328975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49" name="Google Shape;949;p75"/>
          <p:cNvGrpSpPr/>
          <p:nvPr/>
        </p:nvGrpSpPr>
        <p:grpSpPr>
          <a:xfrm>
            <a:off x="7066452" y="2211361"/>
            <a:ext cx="180740" cy="524997"/>
            <a:chOff x="6762586" y="3328975"/>
            <a:chExt cx="213539" cy="771600"/>
          </a:xfrm>
        </p:grpSpPr>
        <p:cxnSp>
          <p:nvCxnSpPr>
            <p:cNvPr id="950" name="Google Shape;950;p75"/>
            <p:cNvCxnSpPr/>
            <p:nvPr/>
          </p:nvCxnSpPr>
          <p:spPr>
            <a:xfrm>
              <a:off x="6762586" y="4092128"/>
              <a:ext cx="210900" cy="54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51" name="Google Shape;951;p75"/>
            <p:cNvCxnSpPr/>
            <p:nvPr/>
          </p:nvCxnSpPr>
          <p:spPr>
            <a:xfrm rot="10800000" flipH="1">
              <a:off x="6975225" y="3328975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52" name="Google Shape;952;p75"/>
          <p:cNvGrpSpPr/>
          <p:nvPr/>
        </p:nvGrpSpPr>
        <p:grpSpPr>
          <a:xfrm>
            <a:off x="7237902" y="1692248"/>
            <a:ext cx="180740" cy="524997"/>
            <a:chOff x="6762586" y="3328975"/>
            <a:chExt cx="213539" cy="771600"/>
          </a:xfrm>
        </p:grpSpPr>
        <p:cxnSp>
          <p:nvCxnSpPr>
            <p:cNvPr id="953" name="Google Shape;953;p75"/>
            <p:cNvCxnSpPr/>
            <p:nvPr/>
          </p:nvCxnSpPr>
          <p:spPr>
            <a:xfrm>
              <a:off x="6762586" y="4092128"/>
              <a:ext cx="210900" cy="54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54" name="Google Shape;954;p75"/>
            <p:cNvCxnSpPr/>
            <p:nvPr/>
          </p:nvCxnSpPr>
          <p:spPr>
            <a:xfrm rot="10800000" flipH="1">
              <a:off x="6975225" y="3328975"/>
              <a:ext cx="900" cy="7716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55" name="Google Shape;955;p75"/>
          <p:cNvSpPr txBox="1"/>
          <p:nvPr/>
        </p:nvSpPr>
        <p:spPr>
          <a:xfrm>
            <a:off x="324639" y="3233225"/>
            <a:ext cx="40242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2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75"/>
          <p:cNvSpPr txBox="1"/>
          <p:nvPr/>
        </p:nvSpPr>
        <p:spPr>
          <a:xfrm>
            <a:off x="324000" y="1185525"/>
            <a:ext cx="17307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7" name="Google Shape;957;p75"/>
          <p:cNvGraphicFramePr>
            <a:graphicFrameLocks noGrp="1"/>
          </p:cNvGraphicFramePr>
          <p:nvPr/>
        </p:nvGraphicFramePr>
        <p:xfrm>
          <a:off x="1820980" y="16283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58" name="Google Shape;958;p75"/>
          <p:cNvSpPr txBox="1"/>
          <p:nvPr/>
        </p:nvSpPr>
        <p:spPr>
          <a:xfrm>
            <a:off x="7675917" y="44669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9" name="Google Shape;959;p75"/>
          <p:cNvSpPr txBox="1"/>
          <p:nvPr/>
        </p:nvSpPr>
        <p:spPr>
          <a:xfrm>
            <a:off x="6053257" y="11141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0" name="Google Shape;960;p75"/>
          <p:cNvSpPr txBox="1"/>
          <p:nvPr/>
        </p:nvSpPr>
        <p:spPr>
          <a:xfrm>
            <a:off x="324651" y="4071425"/>
            <a:ext cx="44994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difference is that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any integer or non-integer value.</a:t>
            </a:r>
            <a:endParaRPr sz="22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4" name="Shape 964"/>
        <p:cNvGrpSpPr/>
        <p:nvPr/>
      </p:nvGrpSpPr>
      <p:grpSpPr>
        <a:xfrm>
          <a:off x="0" y="0"/>
          <a:ext cx="0" cy="0"/>
        </a:xfrm>
      </p:grpSpPr>
      <p:sp>
        <p:nvSpPr>
          <p:cNvPr id="965" name="Google Shape;96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Numerical features of linear relationships </a:t>
            </a:r>
            <a:endParaRPr/>
          </a:p>
        </p:txBody>
      </p:sp>
      <p:sp>
        <p:nvSpPr>
          <p:cNvPr id="966" name="Google Shape;966;p76"/>
          <p:cNvSpPr txBox="1"/>
          <p:nvPr/>
        </p:nvSpPr>
        <p:spPr>
          <a:xfrm>
            <a:off x="324000" y="804525"/>
            <a:ext cx="84960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Complete the table of values for the linear relationship</a:t>
            </a:r>
            <a:r>
              <a:rPr lang="en-GB"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7" name="Google Shape;967;p76"/>
          <p:cNvGraphicFramePr>
            <a:graphicFrameLocks noGrp="1"/>
          </p:cNvGraphicFramePr>
          <p:nvPr/>
        </p:nvGraphicFramePr>
        <p:xfrm>
          <a:off x="330671" y="1323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690275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68" name="Google Shape;968;p76"/>
          <p:cNvGraphicFramePr>
            <a:graphicFrameLocks noGrp="1"/>
          </p:cNvGraphicFramePr>
          <p:nvPr/>
        </p:nvGraphicFramePr>
        <p:xfrm>
          <a:off x="330671" y="1323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690275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69" name="Google Shape;969;p76"/>
          <p:cNvGraphicFramePr>
            <a:graphicFrameLocks noGrp="1"/>
          </p:cNvGraphicFramePr>
          <p:nvPr/>
        </p:nvGraphicFramePr>
        <p:xfrm>
          <a:off x="330671" y="1323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690275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  <a:gridCol w="592700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70" name="Google Shape;970;p76"/>
          <p:cNvSpPr txBox="1"/>
          <p:nvPr/>
        </p:nvSpPr>
        <p:spPr>
          <a:xfrm>
            <a:off x="1512535" y="43907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p76"/>
          <p:cNvSpPr txBox="1"/>
          <p:nvPr/>
        </p:nvSpPr>
        <p:spPr>
          <a:xfrm>
            <a:off x="315796" y="23333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2" name="Google Shape;972;p76" descr="&lt;math xmlns=&quot;http://www.w3.org/1998/Math/MathML&quot; data-is-equatio=&quot;1&quot; data-equatio-url=&quot;https://equatio-api.texthelp.com/desmos/get/13-11-2023/732c2997-2d05-4817-8ea4-eccdae83aa51&quot; data-equatio-type=&quot;desmos&quot;&gt;&lt;mglyph src=&quot;https://equatio-api.texthelp.com/desmos/get/13-11-2023/732c2997-2d05-4817-8ea4-eccdae83aa51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0375" t="4234" r="53627" b="12577"/>
          <a:stretch>
            <a:fillRect/>
          </a:stretch>
        </p:blipFill>
        <p:spPr>
          <a:xfrm>
            <a:off x="460439" y="2407780"/>
            <a:ext cx="1006726" cy="2416099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6"/>
          <p:cNvSpPr txBox="1"/>
          <p:nvPr/>
        </p:nvSpPr>
        <p:spPr>
          <a:xfrm>
            <a:off x="1707250" y="2505789"/>
            <a:ext cx="66615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now have coordinates plotted in three quadrants.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6"/>
          <p:cNvSpPr txBox="1"/>
          <p:nvPr/>
        </p:nvSpPr>
        <p:spPr>
          <a:xfrm>
            <a:off x="1707250" y="3160311"/>
            <a:ext cx="66615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see that if we plotted the infinite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inputs we would get a straight line.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5" name="Google Shape;975;p76"/>
          <p:cNvCxnSpPr/>
          <p:nvPr/>
        </p:nvCxnSpPr>
        <p:spPr>
          <a:xfrm rot="10800000" flipH="1">
            <a:off x="530075" y="2396500"/>
            <a:ext cx="808500" cy="24258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6" name="Google Shape;976;p76"/>
          <p:cNvSpPr txBox="1"/>
          <p:nvPr/>
        </p:nvSpPr>
        <p:spPr>
          <a:xfrm>
            <a:off x="1707250" y="4074707"/>
            <a:ext cx="69087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Our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has not changed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For every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7" name="Google Shape;977;p76"/>
          <p:cNvGrpSpPr/>
          <p:nvPr/>
        </p:nvGrpSpPr>
        <p:grpSpPr>
          <a:xfrm>
            <a:off x="736916" y="2629887"/>
            <a:ext cx="525932" cy="1659171"/>
            <a:chOff x="736916" y="2629887"/>
            <a:chExt cx="525932" cy="1659171"/>
          </a:xfrm>
        </p:grpSpPr>
        <p:grpSp>
          <p:nvGrpSpPr>
            <p:cNvPr id="978" name="Google Shape;978;p76"/>
            <p:cNvGrpSpPr/>
            <p:nvPr/>
          </p:nvGrpSpPr>
          <p:grpSpPr>
            <a:xfrm>
              <a:off x="736916" y="3882424"/>
              <a:ext cx="121120" cy="406633"/>
              <a:chOff x="6762586" y="3328975"/>
              <a:chExt cx="213539" cy="771600"/>
            </a:xfrm>
          </p:grpSpPr>
          <p:cxnSp>
            <p:nvCxnSpPr>
              <p:cNvPr id="979" name="Google Shape;979;p76"/>
              <p:cNvCxnSpPr/>
              <p:nvPr/>
            </p:nvCxnSpPr>
            <p:spPr>
              <a:xfrm rot="10800000" flipH="1">
                <a:off x="6762586" y="4088228"/>
                <a:ext cx="205200" cy="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0" name="Google Shape;980;p76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981" name="Google Shape;981;p76"/>
            <p:cNvGrpSpPr/>
            <p:nvPr/>
          </p:nvGrpSpPr>
          <p:grpSpPr>
            <a:xfrm>
              <a:off x="870266" y="3468087"/>
              <a:ext cx="121120" cy="406633"/>
              <a:chOff x="6762586" y="3328975"/>
              <a:chExt cx="213539" cy="771600"/>
            </a:xfrm>
          </p:grpSpPr>
          <p:cxnSp>
            <p:nvCxnSpPr>
              <p:cNvPr id="982" name="Google Shape;982;p76"/>
              <p:cNvCxnSpPr/>
              <p:nvPr/>
            </p:nvCxnSpPr>
            <p:spPr>
              <a:xfrm rot="10800000" flipH="1">
                <a:off x="6762586" y="4088228"/>
                <a:ext cx="205200" cy="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3" name="Google Shape;983;p76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984" name="Google Shape;984;p76"/>
            <p:cNvGrpSpPr/>
            <p:nvPr/>
          </p:nvGrpSpPr>
          <p:grpSpPr>
            <a:xfrm>
              <a:off x="1013141" y="3044224"/>
              <a:ext cx="121120" cy="406633"/>
              <a:chOff x="6762586" y="3328975"/>
              <a:chExt cx="213539" cy="771600"/>
            </a:xfrm>
          </p:grpSpPr>
          <p:cxnSp>
            <p:nvCxnSpPr>
              <p:cNvPr id="985" name="Google Shape;985;p76"/>
              <p:cNvCxnSpPr/>
              <p:nvPr/>
            </p:nvCxnSpPr>
            <p:spPr>
              <a:xfrm rot="10800000" flipH="1">
                <a:off x="6762586" y="4088228"/>
                <a:ext cx="205200" cy="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76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987" name="Google Shape;987;p76"/>
            <p:cNvGrpSpPr/>
            <p:nvPr/>
          </p:nvGrpSpPr>
          <p:grpSpPr>
            <a:xfrm>
              <a:off x="1141729" y="2629887"/>
              <a:ext cx="121120" cy="406633"/>
              <a:chOff x="6762586" y="3328975"/>
              <a:chExt cx="213539" cy="771600"/>
            </a:xfrm>
          </p:grpSpPr>
          <p:cxnSp>
            <p:nvCxnSpPr>
              <p:cNvPr id="988" name="Google Shape;988;p76"/>
              <p:cNvCxnSpPr/>
              <p:nvPr/>
            </p:nvCxnSpPr>
            <p:spPr>
              <a:xfrm rot="10800000" flipH="1">
                <a:off x="6762586" y="4088228"/>
                <a:ext cx="205200" cy="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9" name="Google Shape;989;p76"/>
              <p:cNvCxnSpPr/>
              <p:nvPr/>
            </p:nvCxnSpPr>
            <p:spPr>
              <a:xfrm rot="10800000" flipH="1">
                <a:off x="6975225" y="3328975"/>
                <a:ext cx="900" cy="771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45AD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3" name="Shape 993"/>
        <p:cNvGrpSpPr/>
        <p:nvPr/>
      </p:nvGrpSpPr>
      <p:grpSpPr>
        <a:xfrm>
          <a:off x="0" y="0"/>
          <a:ext cx="0" cy="0"/>
        </a:xfrm>
      </p:grpSpPr>
      <p:sp>
        <p:nvSpPr>
          <p:cNvPr id="994" name="Google Shape;994;p77"/>
          <p:cNvSpPr txBox="1"/>
          <p:nvPr>
            <p:ph type="title"/>
          </p:nvPr>
        </p:nvSpPr>
        <p:spPr>
          <a:xfrm>
            <a:off x="324000" y="748772"/>
            <a:ext cx="8179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is true for the linear relationship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/>
              <a:t>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Numerical features of linear relationships </a:t>
            </a:r>
            <a:endParaRPr/>
          </a:p>
        </p:txBody>
      </p:sp>
      <p:sp>
        <p:nvSpPr>
          <p:cNvPr id="996" name="Google Shape;996;p77"/>
          <p:cNvSpPr txBox="1"/>
          <p:nvPr>
            <p:ph type="subTitle" idx="1"/>
          </p:nvPr>
        </p:nvSpPr>
        <p:spPr>
          <a:xfrm>
            <a:off x="1034425" y="1685375"/>
            <a:ext cx="3989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+8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997" name="Google Shape;997;p77"/>
          <p:cNvGraphicFramePr>
            <a:graphicFrameLocks noGrp="1"/>
          </p:cNvGraphicFramePr>
          <p:nvPr/>
        </p:nvGraphicFramePr>
        <p:xfrm>
          <a:off x="5549471" y="11711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30750"/>
                <a:gridCol w="539900"/>
                <a:gridCol w="448400"/>
                <a:gridCol w="448400"/>
                <a:gridCol w="448400"/>
                <a:gridCol w="448400"/>
                <a:gridCol w="448400"/>
              </a:tblGrid>
              <a:tr h="355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5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−9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98" name="Google Shape;998;p77"/>
          <p:cNvSpPr txBox="1"/>
          <p:nvPr>
            <p:ph type="subTitle" idx="1"/>
          </p:nvPr>
        </p:nvSpPr>
        <p:spPr>
          <a:xfrm>
            <a:off x="1034425" y="2655645"/>
            <a:ext cx="3989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999" name="Google Shape;999;p77"/>
          <p:cNvSpPr txBox="1"/>
          <p:nvPr>
            <p:ph type="subTitle" idx="1"/>
          </p:nvPr>
        </p:nvSpPr>
        <p:spPr>
          <a:xfrm>
            <a:off x="1034425" y="3615750"/>
            <a:ext cx="3989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+2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+16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pic>
        <p:nvPicPr>
          <p:cNvPr id="1000" name="Google Shape;100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993" y="376831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747" y="282308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958" y="184298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77"/>
          <p:cNvSpPr/>
          <p:nvPr/>
        </p:nvSpPr>
        <p:spPr>
          <a:xfrm rot="10800000" flipH="1">
            <a:off x="6281650" y="1862158"/>
            <a:ext cx="4257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4" name="Google Shape;1004;p77"/>
          <p:cNvSpPr/>
          <p:nvPr/>
        </p:nvSpPr>
        <p:spPr>
          <a:xfrm rot="10800000" flipH="1">
            <a:off x="6731355" y="1862158"/>
            <a:ext cx="4257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5" name="Google Shape;1005;p77"/>
          <p:cNvSpPr/>
          <p:nvPr/>
        </p:nvSpPr>
        <p:spPr>
          <a:xfrm rot="10800000" flipH="1">
            <a:off x="7187890" y="1862158"/>
            <a:ext cx="4257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6" name="Google Shape;1006;p77"/>
          <p:cNvSpPr/>
          <p:nvPr/>
        </p:nvSpPr>
        <p:spPr>
          <a:xfrm rot="10800000" flipH="1">
            <a:off x="7644424" y="1862158"/>
            <a:ext cx="4257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7" name="Google Shape;1007;p77"/>
          <p:cNvSpPr txBox="1"/>
          <p:nvPr/>
        </p:nvSpPr>
        <p:spPr>
          <a:xfrm>
            <a:off x="6307684" y="2193519"/>
            <a:ext cx="425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+8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8" name="Google Shape;1008;p77"/>
          <p:cNvSpPr txBox="1"/>
          <p:nvPr/>
        </p:nvSpPr>
        <p:spPr>
          <a:xfrm>
            <a:off x="6775377" y="2193519"/>
            <a:ext cx="425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+8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9" name="Google Shape;1009;p77"/>
          <p:cNvSpPr txBox="1"/>
          <p:nvPr/>
        </p:nvSpPr>
        <p:spPr>
          <a:xfrm>
            <a:off x="7258547" y="2193519"/>
            <a:ext cx="425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+8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0" name="Google Shape;1010;p77"/>
          <p:cNvSpPr txBox="1"/>
          <p:nvPr/>
        </p:nvSpPr>
        <p:spPr>
          <a:xfrm>
            <a:off x="7726240" y="2193519"/>
            <a:ext cx="425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+8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77"/>
          <p:cNvSpPr/>
          <p:nvPr/>
        </p:nvSpPr>
        <p:spPr>
          <a:xfrm rot="10800000" flipH="1">
            <a:off x="8114548" y="1862158"/>
            <a:ext cx="4257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2" name="Google Shape;1012;p77"/>
          <p:cNvSpPr txBox="1"/>
          <p:nvPr/>
        </p:nvSpPr>
        <p:spPr>
          <a:xfrm>
            <a:off x="8196364" y="2193519"/>
            <a:ext cx="425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+8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6" name="Shape 1016"/>
        <p:cNvGrpSpPr/>
        <p:nvPr/>
      </p:nvGrpSpPr>
      <p:grpSpPr>
        <a:xfrm>
          <a:off x="0" y="0"/>
          <a:ext cx="0" cy="0"/>
        </a:xfrm>
      </p:grpSpPr>
      <p:sp>
        <p:nvSpPr>
          <p:cNvPr id="1017" name="Google Shape;1017;p78"/>
          <p:cNvSpPr txBox="1"/>
          <p:nvPr>
            <p:ph type="title"/>
          </p:nvPr>
        </p:nvSpPr>
        <p:spPr>
          <a:xfrm>
            <a:off x="324000" y="748772"/>
            <a:ext cx="8179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is true for the linear relationship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/>
              <a:t>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p7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features of linear relationships </a:t>
            </a:r>
            <a:endParaRPr/>
          </a:p>
        </p:txBody>
      </p:sp>
      <p:sp>
        <p:nvSpPr>
          <p:cNvPr id="1019" name="Google Shape;1019;p78"/>
          <p:cNvSpPr txBox="1"/>
          <p:nvPr>
            <p:ph type="subTitle" idx="1"/>
          </p:nvPr>
        </p:nvSpPr>
        <p:spPr>
          <a:xfrm>
            <a:off x="1034425" y="1685375"/>
            <a:ext cx="3989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+8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020" name="Google Shape;1020;p78"/>
          <p:cNvGraphicFramePr>
            <a:graphicFrameLocks noGrp="1"/>
          </p:cNvGraphicFramePr>
          <p:nvPr/>
        </p:nvGraphicFramePr>
        <p:xfrm>
          <a:off x="5549471" y="11711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30750"/>
                <a:gridCol w="539900"/>
                <a:gridCol w="448400"/>
                <a:gridCol w="448400"/>
                <a:gridCol w="448400"/>
                <a:gridCol w="448400"/>
                <a:gridCol w="448400"/>
              </a:tblGrid>
              <a:tr h="355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5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−9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21" name="Google Shape;1021;p78"/>
          <p:cNvSpPr txBox="1"/>
          <p:nvPr>
            <p:ph type="subTitle" idx="1"/>
          </p:nvPr>
        </p:nvSpPr>
        <p:spPr>
          <a:xfrm>
            <a:off x="1034425" y="2655645"/>
            <a:ext cx="3989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022" name="Google Shape;1022;p78"/>
          <p:cNvSpPr txBox="1"/>
          <p:nvPr>
            <p:ph type="subTitle" idx="1"/>
          </p:nvPr>
        </p:nvSpPr>
        <p:spPr>
          <a:xfrm>
            <a:off x="1034425" y="3615750"/>
            <a:ext cx="3989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+2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+16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pic>
        <p:nvPicPr>
          <p:cNvPr id="1023" name="Google Shape;102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993" y="376831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747" y="282308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958" y="184298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78"/>
          <p:cNvSpPr/>
          <p:nvPr/>
        </p:nvSpPr>
        <p:spPr>
          <a:xfrm rot="10800000" flipH="1">
            <a:off x="6281650" y="1862158"/>
            <a:ext cx="8925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7" name="Google Shape;1027;p78"/>
          <p:cNvSpPr/>
          <p:nvPr/>
        </p:nvSpPr>
        <p:spPr>
          <a:xfrm rot="10800000" flipH="1">
            <a:off x="7224469" y="1862158"/>
            <a:ext cx="892500" cy="339600"/>
          </a:xfrm>
          <a:prstGeom prst="arc">
            <a:avLst>
              <a:gd name="adj1" fmla="val 10729459"/>
              <a:gd name="adj2" fmla="val 0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8" name="Google Shape;1028;p78"/>
          <p:cNvSpPr txBox="1"/>
          <p:nvPr/>
        </p:nvSpPr>
        <p:spPr>
          <a:xfrm>
            <a:off x="6520124" y="2193525"/>
            <a:ext cx="80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+16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78"/>
          <p:cNvSpPr txBox="1"/>
          <p:nvPr/>
        </p:nvSpPr>
        <p:spPr>
          <a:xfrm>
            <a:off x="7404393" y="2193525"/>
            <a:ext cx="8049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+16</a:t>
            </a:r>
            <a:endParaRPr sz="20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3" name="Shape 1033"/>
        <p:cNvGrpSpPr/>
        <p:nvPr/>
      </p:nvGrpSpPr>
      <p:grpSpPr>
        <a:xfrm>
          <a:off x="0" y="0"/>
          <a:ext cx="0" cy="0"/>
        </a:xfrm>
      </p:grpSpPr>
      <p:sp>
        <p:nvSpPr>
          <p:cNvPr id="1034" name="Google Shape;1034;p79"/>
          <p:cNvSpPr txBox="1"/>
          <p:nvPr>
            <p:ph type="body" idx="1"/>
          </p:nvPr>
        </p:nvSpPr>
        <p:spPr>
          <a:xfrm>
            <a:off x="324000" y="759300"/>
            <a:ext cx="84960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1) These are tables of values for linear relationships. Fill in the missing values and complete the statements about the </a:t>
            </a:r>
            <a:r>
              <a:rPr lang="en-GB" sz="1900" b="1"/>
              <a:t>rate of change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035" name="Google Shape;1035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sp>
        <p:nvSpPr>
          <p:cNvPr id="1036" name="Google Shape;1036;p79"/>
          <p:cNvSpPr txBox="1"/>
          <p:nvPr>
            <p:ph type="subTitle" idx="4294967295"/>
          </p:nvPr>
        </p:nvSpPr>
        <p:spPr>
          <a:xfrm>
            <a:off x="318130" y="2599780"/>
            <a:ext cx="7633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+5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037" name="Google Shape;1037;p79"/>
          <p:cNvGraphicFramePr>
            <a:graphicFrameLocks noGrp="1"/>
          </p:cNvGraphicFramePr>
          <p:nvPr/>
        </p:nvGraphicFramePr>
        <p:xfrm>
          <a:off x="81490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38" name="Google Shape;1038;p79"/>
          <p:cNvSpPr txBox="1"/>
          <p:nvPr>
            <p:ph type="subTitle" idx="4294967295"/>
          </p:nvPr>
        </p:nvSpPr>
        <p:spPr>
          <a:xfrm>
            <a:off x="318130" y="1532975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1039" name="Google Shape;1039;p79"/>
          <p:cNvSpPr txBox="1"/>
          <p:nvPr>
            <p:ph type="subTitle" idx="4294967295"/>
          </p:nvPr>
        </p:nvSpPr>
        <p:spPr>
          <a:xfrm>
            <a:off x="318130" y="4377755"/>
            <a:ext cx="7633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+7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040" name="Google Shape;1040;p79"/>
          <p:cNvGraphicFramePr>
            <a:graphicFrameLocks noGrp="1"/>
          </p:cNvGraphicFramePr>
          <p:nvPr/>
        </p:nvGraphicFramePr>
        <p:xfrm>
          <a:off x="814906" y="3400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41" name="Google Shape;1041;p79"/>
          <p:cNvSpPr txBox="1"/>
          <p:nvPr>
            <p:ph type="subTitle" idx="4294967295"/>
          </p:nvPr>
        </p:nvSpPr>
        <p:spPr>
          <a:xfrm>
            <a:off x="318130" y="3310950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grpSp>
        <p:nvGrpSpPr>
          <p:cNvPr id="1042" name="Google Shape;1042;p79"/>
          <p:cNvGrpSpPr/>
          <p:nvPr/>
        </p:nvGrpSpPr>
        <p:grpSpPr>
          <a:xfrm>
            <a:off x="6227800" y="2621525"/>
            <a:ext cx="344700" cy="337200"/>
            <a:chOff x="6243350" y="2596150"/>
            <a:chExt cx="344700" cy="337200"/>
          </a:xfrm>
        </p:grpSpPr>
        <p:sp>
          <p:nvSpPr>
            <p:cNvPr id="1043" name="Google Shape;1043;p79"/>
            <p:cNvSpPr/>
            <p:nvPr/>
          </p:nvSpPr>
          <p:spPr>
            <a:xfrm>
              <a:off x="6243350" y="2596150"/>
              <a:ext cx="344700" cy="337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4" name="Google Shape;1044;p79"/>
            <p:cNvCxnSpPr/>
            <p:nvPr/>
          </p:nvCxnSpPr>
          <p:spPr>
            <a:xfrm>
              <a:off x="6294170" y="2886025"/>
              <a:ext cx="2439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45" name="Google Shape;1045;p79"/>
          <p:cNvGrpSpPr/>
          <p:nvPr/>
        </p:nvGrpSpPr>
        <p:grpSpPr>
          <a:xfrm>
            <a:off x="6207470" y="4394455"/>
            <a:ext cx="344700" cy="337200"/>
            <a:chOff x="6243350" y="2596150"/>
            <a:chExt cx="344700" cy="337200"/>
          </a:xfrm>
        </p:grpSpPr>
        <p:sp>
          <p:nvSpPr>
            <p:cNvPr id="1046" name="Google Shape;1046;p79"/>
            <p:cNvSpPr/>
            <p:nvPr/>
          </p:nvSpPr>
          <p:spPr>
            <a:xfrm>
              <a:off x="6243350" y="2596150"/>
              <a:ext cx="344700" cy="337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7" name="Google Shape;1047;p79"/>
            <p:cNvCxnSpPr/>
            <p:nvPr/>
          </p:nvCxnSpPr>
          <p:spPr>
            <a:xfrm>
              <a:off x="6294170" y="2886025"/>
              <a:ext cx="2439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1" name="Shape 1051"/>
        <p:cNvGrpSpPr/>
        <p:nvPr/>
      </p:nvGrpSpPr>
      <p:grpSpPr>
        <a:xfrm>
          <a:off x="0" y="0"/>
          <a:ext cx="0" cy="0"/>
        </a:xfrm>
      </p:grpSpPr>
      <p:sp>
        <p:nvSpPr>
          <p:cNvPr id="1052" name="Google Shape;1052;p80"/>
          <p:cNvSpPr txBox="1"/>
          <p:nvPr>
            <p:ph type="body" idx="1"/>
          </p:nvPr>
        </p:nvSpPr>
        <p:spPr>
          <a:xfrm>
            <a:off x="324000" y="759300"/>
            <a:ext cx="84960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1) These are tables of values for linear relationships. Fill in the missing values and complete the statements about the </a:t>
            </a:r>
            <a:r>
              <a:rPr lang="en-GB" sz="1900" b="1"/>
              <a:t>rate of change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053" name="Google Shape;1053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sp>
        <p:nvSpPr>
          <p:cNvPr id="1054" name="Google Shape;1054;p80"/>
          <p:cNvSpPr txBox="1"/>
          <p:nvPr>
            <p:ph type="subTitle" idx="4294967295"/>
          </p:nvPr>
        </p:nvSpPr>
        <p:spPr>
          <a:xfrm>
            <a:off x="318130" y="2599780"/>
            <a:ext cx="7633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+1.5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055" name="Google Shape;1055;p80"/>
          <p:cNvGraphicFramePr>
            <a:graphicFrameLocks noGrp="1"/>
          </p:cNvGraphicFramePr>
          <p:nvPr/>
        </p:nvGraphicFramePr>
        <p:xfrm>
          <a:off x="81490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56" name="Google Shape;1056;p80"/>
          <p:cNvSpPr txBox="1"/>
          <p:nvPr>
            <p:ph type="subTitle" idx="4294967295"/>
          </p:nvPr>
        </p:nvSpPr>
        <p:spPr>
          <a:xfrm>
            <a:off x="318130" y="1532975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  <p:sp>
        <p:nvSpPr>
          <p:cNvPr id="1057" name="Google Shape;1057;p80"/>
          <p:cNvSpPr txBox="1"/>
          <p:nvPr>
            <p:ph type="subTitle" idx="4294967295"/>
          </p:nvPr>
        </p:nvSpPr>
        <p:spPr>
          <a:xfrm>
            <a:off x="318130" y="4377755"/>
            <a:ext cx="7633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−5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058" name="Google Shape;1058;p80"/>
          <p:cNvGraphicFramePr>
            <a:graphicFrameLocks noGrp="1"/>
          </p:cNvGraphicFramePr>
          <p:nvPr/>
        </p:nvGraphicFramePr>
        <p:xfrm>
          <a:off x="814906" y="3400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59" name="Google Shape;1059;p80"/>
          <p:cNvSpPr txBox="1"/>
          <p:nvPr>
            <p:ph type="subTitle" idx="4294967295"/>
          </p:nvPr>
        </p:nvSpPr>
        <p:spPr>
          <a:xfrm>
            <a:off x="318130" y="3310950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/>
          </a:p>
        </p:txBody>
      </p:sp>
      <p:grpSp>
        <p:nvGrpSpPr>
          <p:cNvPr id="1060" name="Google Shape;1060;p80"/>
          <p:cNvGrpSpPr/>
          <p:nvPr/>
        </p:nvGrpSpPr>
        <p:grpSpPr>
          <a:xfrm>
            <a:off x="6217650" y="2626575"/>
            <a:ext cx="517429" cy="337200"/>
            <a:chOff x="6243350" y="2596150"/>
            <a:chExt cx="344700" cy="337200"/>
          </a:xfrm>
        </p:grpSpPr>
        <p:sp>
          <p:nvSpPr>
            <p:cNvPr id="1061" name="Google Shape;1061;p80"/>
            <p:cNvSpPr/>
            <p:nvPr/>
          </p:nvSpPr>
          <p:spPr>
            <a:xfrm>
              <a:off x="6243350" y="2596150"/>
              <a:ext cx="344700" cy="337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2" name="Google Shape;1062;p80"/>
            <p:cNvCxnSpPr/>
            <p:nvPr/>
          </p:nvCxnSpPr>
          <p:spPr>
            <a:xfrm>
              <a:off x="6294170" y="2886025"/>
              <a:ext cx="2439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63" name="Google Shape;1063;p80"/>
          <p:cNvGrpSpPr/>
          <p:nvPr/>
        </p:nvGrpSpPr>
        <p:grpSpPr>
          <a:xfrm>
            <a:off x="6217576" y="4389350"/>
            <a:ext cx="344700" cy="337200"/>
            <a:chOff x="6243350" y="2596150"/>
            <a:chExt cx="344700" cy="337200"/>
          </a:xfrm>
        </p:grpSpPr>
        <p:sp>
          <p:nvSpPr>
            <p:cNvPr id="1064" name="Google Shape;1064;p80"/>
            <p:cNvSpPr/>
            <p:nvPr/>
          </p:nvSpPr>
          <p:spPr>
            <a:xfrm>
              <a:off x="6243350" y="2596150"/>
              <a:ext cx="344700" cy="337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5" name="Google Shape;1065;p80"/>
            <p:cNvCxnSpPr/>
            <p:nvPr/>
          </p:nvCxnSpPr>
          <p:spPr>
            <a:xfrm>
              <a:off x="6294170" y="2886025"/>
              <a:ext cx="2439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9" name="Shape 1069"/>
        <p:cNvGrpSpPr/>
        <p:nvPr/>
      </p:nvGrpSpPr>
      <p:grpSpPr>
        <a:xfrm>
          <a:off x="0" y="0"/>
          <a:ext cx="0" cy="0"/>
        </a:xfrm>
      </p:grpSpPr>
      <p:pic>
        <p:nvPicPr>
          <p:cNvPr id="1070" name="Google Shape;1070;p81" descr="&lt;math xmlns=&quot;http://www.w3.org/1998/Math/MathML&quot; data-is-equatio=&quot;1&quot; data-equatio-url=&quot;https://equatio-api.texthelp.com/desmos/get/13-11-2023/7594bd0b-4ba5-4840-a617-c446a807949b&quot; data-equatio-type=&quot;desmos&quot;&gt;&lt;mglyph src=&quot;https://equatio-api.texthelp.com/desmos/get/13-11-2023/7594bd0b-4ba5-4840-a617-c446a807949b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6416" t="13322" r="41339" b="13556"/>
          <a:stretch>
            <a:fillRect/>
          </a:stretch>
        </p:blipFill>
        <p:spPr>
          <a:xfrm>
            <a:off x="592425" y="1622976"/>
            <a:ext cx="2462008" cy="31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81"/>
          <p:cNvSpPr txBox="1"/>
          <p:nvPr>
            <p:ph type="body" idx="1"/>
          </p:nvPr>
        </p:nvSpPr>
        <p:spPr>
          <a:xfrm>
            <a:off x="324000" y="759300"/>
            <a:ext cx="84960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2) Use the graph to complete the table and write a sentence about the </a:t>
            </a:r>
            <a:r>
              <a:rPr lang="en-GB" sz="1900" b="1"/>
              <a:t>rate of change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072" name="Google Shape;1072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graphicFrame>
        <p:nvGraphicFramePr>
          <p:cNvPr id="1073" name="Google Shape;1073;p81"/>
          <p:cNvGraphicFramePr>
            <a:graphicFrameLocks noGrp="1"/>
          </p:cNvGraphicFramePr>
          <p:nvPr/>
        </p:nvGraphicFramePr>
        <p:xfrm>
          <a:off x="341745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375750"/>
                <a:gridCol w="470900"/>
                <a:gridCol w="470900"/>
                <a:gridCol w="391150"/>
                <a:gridCol w="391150"/>
                <a:gridCol w="391150"/>
                <a:gridCol w="391150"/>
                <a:gridCol w="391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74" name="Google Shape;1074;p81"/>
          <p:cNvSpPr txBox="1"/>
          <p:nvPr/>
        </p:nvSpPr>
        <p:spPr>
          <a:xfrm>
            <a:off x="3103917" y="290745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81"/>
          <p:cNvSpPr txBox="1"/>
          <p:nvPr/>
        </p:nvSpPr>
        <p:spPr>
          <a:xfrm>
            <a:off x="1709857" y="13427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6" name="Google Shape;1076;p81"/>
          <p:cNvCxnSpPr/>
          <p:nvPr/>
        </p:nvCxnSpPr>
        <p:spPr>
          <a:xfrm rot="10800000" flipH="1">
            <a:off x="1282825" y="1609950"/>
            <a:ext cx="1585800" cy="31920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7" name="Google Shape;1077;p81"/>
          <p:cNvSpPr txBox="1"/>
          <p:nvPr>
            <p:ph type="subTitle" idx="4294967295"/>
          </p:nvPr>
        </p:nvSpPr>
        <p:spPr>
          <a:xfrm>
            <a:off x="318130" y="1456775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1" name="Shape 1081"/>
        <p:cNvGrpSpPr/>
        <p:nvPr/>
      </p:nvGrpSpPr>
      <p:grpSpPr>
        <a:xfrm>
          <a:off x="0" y="0"/>
          <a:ext cx="0" cy="0"/>
        </a:xfrm>
      </p:grpSpPr>
      <p:pic>
        <p:nvPicPr>
          <p:cNvPr id="1082" name="Google Shape;1082;p82" descr="&lt;math xmlns=&quot;http://www.w3.org/1998/Math/MathML&quot; data-is-equatio=&quot;1&quot; data-equatio-url=&quot;https://equatio-api.texthelp.com/desmos/get/13-11-2023/56d6d0a8-a762-40e4-8364-e80e857dbf7e&quot; data-equatio-type=&quot;desmos&quot;&gt;&lt;mglyph src=&quot;https://equatio-api.texthelp.com/desmos/get/13-11-2023/56d6d0a8-a762-40e4-8364-e80e857dbf7e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5826" t="12922" r="27406"/>
          <a:stretch>
            <a:fillRect/>
          </a:stretch>
        </p:blipFill>
        <p:spPr>
          <a:xfrm>
            <a:off x="704175" y="1609950"/>
            <a:ext cx="2778396" cy="31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82"/>
          <p:cNvSpPr txBox="1"/>
          <p:nvPr>
            <p:ph type="body" idx="1"/>
          </p:nvPr>
        </p:nvSpPr>
        <p:spPr>
          <a:xfrm>
            <a:off x="324000" y="759300"/>
            <a:ext cx="84960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2) Use the graph to complete the table and write a sentence about the </a:t>
            </a:r>
            <a:r>
              <a:rPr lang="en-GB" sz="1900" b="1"/>
              <a:t>rate of change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084" name="Google Shape;1084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graphicFrame>
        <p:nvGraphicFramePr>
          <p:cNvPr id="1085" name="Google Shape;1085;p82"/>
          <p:cNvGraphicFramePr>
            <a:graphicFrameLocks noGrp="1"/>
          </p:cNvGraphicFramePr>
          <p:nvPr/>
        </p:nvGraphicFramePr>
        <p:xfrm>
          <a:off x="395085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26750"/>
                <a:gridCol w="534800"/>
                <a:gridCol w="534800"/>
                <a:gridCol w="444225"/>
                <a:gridCol w="444225"/>
                <a:gridCol w="444225"/>
                <a:gridCol w="637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86" name="Google Shape;1086;p82"/>
          <p:cNvSpPr txBox="1"/>
          <p:nvPr/>
        </p:nvSpPr>
        <p:spPr>
          <a:xfrm>
            <a:off x="3561117" y="382185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82"/>
          <p:cNvSpPr txBox="1"/>
          <p:nvPr/>
        </p:nvSpPr>
        <p:spPr>
          <a:xfrm>
            <a:off x="2014657" y="13427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88" name="Google Shape;1088;p82"/>
          <p:cNvCxnSpPr/>
          <p:nvPr/>
        </p:nvCxnSpPr>
        <p:spPr>
          <a:xfrm rot="10800000">
            <a:off x="1099775" y="1660900"/>
            <a:ext cx="2378700" cy="27243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9" name="Google Shape;1089;p82"/>
          <p:cNvSpPr txBox="1"/>
          <p:nvPr>
            <p:ph type="subTitle" idx="4294967295"/>
          </p:nvPr>
        </p:nvSpPr>
        <p:spPr>
          <a:xfrm>
            <a:off x="318130" y="1456775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3" name="Shape 1093"/>
        <p:cNvGrpSpPr/>
        <p:nvPr/>
      </p:nvGrpSpPr>
      <p:grpSpPr>
        <a:xfrm>
          <a:off x="0" y="0"/>
          <a:ext cx="0" cy="0"/>
        </a:xfrm>
      </p:grpSpPr>
      <p:sp>
        <p:nvSpPr>
          <p:cNvPr id="1094" name="Google Shape;1094;p83"/>
          <p:cNvSpPr txBox="1"/>
          <p:nvPr>
            <p:ph type="body" idx="1"/>
          </p:nvPr>
        </p:nvSpPr>
        <p:spPr>
          <a:xfrm>
            <a:off x="324000" y="759300"/>
            <a:ext cx="8237700" cy="7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1) These are tables of values for linear relationships. Fill in the missing values and complete the statements about the </a:t>
            </a:r>
            <a:r>
              <a:rPr lang="en-GB" sz="1900" b="1"/>
              <a:t>rate of change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095" name="Google Shape;1095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sp>
        <p:nvSpPr>
          <p:cNvPr id="1096" name="Google Shape;1096;p83"/>
          <p:cNvSpPr txBox="1"/>
          <p:nvPr>
            <p:ph type="subTitle" idx="4294967295"/>
          </p:nvPr>
        </p:nvSpPr>
        <p:spPr>
          <a:xfrm>
            <a:off x="318130" y="2599780"/>
            <a:ext cx="7633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+5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097" name="Google Shape;1097;p83"/>
          <p:cNvGraphicFramePr>
            <a:graphicFrameLocks noGrp="1"/>
          </p:cNvGraphicFramePr>
          <p:nvPr/>
        </p:nvGraphicFramePr>
        <p:xfrm>
          <a:off x="81490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98" name="Google Shape;1098;p83"/>
          <p:cNvSpPr txBox="1"/>
          <p:nvPr>
            <p:ph type="subTitle" idx="4294967295"/>
          </p:nvPr>
        </p:nvSpPr>
        <p:spPr>
          <a:xfrm>
            <a:off x="318130" y="1532975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1099" name="Google Shape;1099;p83"/>
          <p:cNvSpPr txBox="1"/>
          <p:nvPr>
            <p:ph type="subTitle" idx="4294967295"/>
          </p:nvPr>
        </p:nvSpPr>
        <p:spPr>
          <a:xfrm>
            <a:off x="318130" y="4377755"/>
            <a:ext cx="7633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+7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100" name="Google Shape;1100;p83"/>
          <p:cNvGraphicFramePr>
            <a:graphicFrameLocks noGrp="1"/>
          </p:cNvGraphicFramePr>
          <p:nvPr/>
        </p:nvGraphicFramePr>
        <p:xfrm>
          <a:off x="814906" y="3400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01" name="Google Shape;1101;p83"/>
          <p:cNvSpPr txBox="1"/>
          <p:nvPr>
            <p:ph type="subTitle" idx="4294967295"/>
          </p:nvPr>
        </p:nvSpPr>
        <p:spPr>
          <a:xfrm>
            <a:off x="318130" y="3310950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graphicFrame>
        <p:nvGraphicFramePr>
          <p:cNvPr id="1102" name="Google Shape;1102;p83"/>
          <p:cNvGraphicFramePr>
            <a:graphicFrameLocks noGrp="1"/>
          </p:cNvGraphicFramePr>
          <p:nvPr/>
        </p:nvGraphicFramePr>
        <p:xfrm>
          <a:off x="81490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103" name="Google Shape;1103;p83"/>
          <p:cNvCxnSpPr>
            <a:stCxn id="1104" idx="2"/>
            <a:endCxn id="1104" idx="2"/>
          </p:cNvCxnSpPr>
          <p:nvPr/>
        </p:nvCxnSpPr>
        <p:spPr>
          <a:xfrm flipH="1">
            <a:off x="6415700" y="293335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5" name="Google Shape;1105;p83"/>
          <p:cNvCxnSpPr>
            <a:stCxn id="1104" idx="2"/>
            <a:endCxn id="1104" idx="2"/>
          </p:cNvCxnSpPr>
          <p:nvPr/>
        </p:nvCxnSpPr>
        <p:spPr>
          <a:xfrm flipH="1">
            <a:off x="6415700" y="293335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6" name="Google Shape;1106;p83"/>
          <p:cNvGrpSpPr/>
          <p:nvPr/>
        </p:nvGrpSpPr>
        <p:grpSpPr>
          <a:xfrm>
            <a:off x="6243350" y="2596150"/>
            <a:ext cx="344700" cy="337200"/>
            <a:chOff x="6243350" y="2596150"/>
            <a:chExt cx="344700" cy="337200"/>
          </a:xfrm>
        </p:grpSpPr>
        <p:sp>
          <p:nvSpPr>
            <p:cNvPr id="1104" name="Google Shape;1104;p83"/>
            <p:cNvSpPr/>
            <p:nvPr/>
          </p:nvSpPr>
          <p:spPr>
            <a:xfrm>
              <a:off x="6243350" y="2596150"/>
              <a:ext cx="344700" cy="337200"/>
            </a:xfrm>
            <a:prstGeom prst="rect">
              <a:avLst/>
            </a:prstGeom>
            <a:solidFill>
              <a:srgbClr val="F2EEFA"/>
            </a:solidFill>
            <a:ln w="9525" cap="flat" cmpd="sng">
              <a:solidFill>
                <a:srgbClr val="F2EE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7" name="Google Shape;1107;p83"/>
            <p:cNvCxnSpPr/>
            <p:nvPr/>
          </p:nvCxnSpPr>
          <p:spPr>
            <a:xfrm>
              <a:off x="6294170" y="2886025"/>
              <a:ext cx="2439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08" name="Google Shape;1108;p83"/>
          <p:cNvGrpSpPr/>
          <p:nvPr/>
        </p:nvGrpSpPr>
        <p:grpSpPr>
          <a:xfrm>
            <a:off x="6223020" y="4404620"/>
            <a:ext cx="344700" cy="337200"/>
            <a:chOff x="6243350" y="2596150"/>
            <a:chExt cx="344700" cy="337200"/>
          </a:xfrm>
        </p:grpSpPr>
        <p:sp>
          <p:nvSpPr>
            <p:cNvPr id="1109" name="Google Shape;1109;p83"/>
            <p:cNvSpPr/>
            <p:nvPr/>
          </p:nvSpPr>
          <p:spPr>
            <a:xfrm>
              <a:off x="6243350" y="2596150"/>
              <a:ext cx="344700" cy="337200"/>
            </a:xfrm>
            <a:prstGeom prst="rect">
              <a:avLst/>
            </a:prstGeom>
            <a:solidFill>
              <a:srgbClr val="F2EEFA"/>
            </a:solidFill>
            <a:ln w="9525" cap="flat" cmpd="sng">
              <a:solidFill>
                <a:srgbClr val="F2EE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0" name="Google Shape;1110;p83"/>
            <p:cNvCxnSpPr/>
            <p:nvPr/>
          </p:nvCxnSpPr>
          <p:spPr>
            <a:xfrm>
              <a:off x="6294170" y="2886025"/>
              <a:ext cx="2439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111" name="Google Shape;1111;p83"/>
          <p:cNvGraphicFramePr>
            <a:graphicFrameLocks noGrp="1"/>
          </p:cNvGraphicFramePr>
          <p:nvPr/>
        </p:nvGraphicFramePr>
        <p:xfrm>
          <a:off x="814906" y="3400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−18</a:t>
                      </a:r>
                      <a:endParaRPr sz="1600"/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−11</a:t>
                      </a:r>
                      <a:endParaRPr sz="1600"/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600"/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/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/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5" name="Shape 1115"/>
        <p:cNvGrpSpPr/>
        <p:nvPr/>
      </p:nvGrpSpPr>
      <p:grpSpPr>
        <a:xfrm>
          <a:off x="0" y="0"/>
          <a:ext cx="0" cy="0"/>
        </a:xfrm>
      </p:grpSpPr>
      <p:sp>
        <p:nvSpPr>
          <p:cNvPr id="1116" name="Google Shape;1116;p84"/>
          <p:cNvSpPr txBox="1"/>
          <p:nvPr>
            <p:ph type="body" idx="1"/>
          </p:nvPr>
        </p:nvSpPr>
        <p:spPr>
          <a:xfrm>
            <a:off x="324000" y="759300"/>
            <a:ext cx="8237700" cy="7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1) These are tables of values for linear relationships. Fill in the missing values and complete the statements about the </a:t>
            </a:r>
            <a:r>
              <a:rPr lang="en-GB" sz="1900" b="1"/>
              <a:t>rate of change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117" name="Google Shape;1117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sp>
        <p:nvSpPr>
          <p:cNvPr id="1118" name="Google Shape;1118;p84"/>
          <p:cNvSpPr txBox="1"/>
          <p:nvPr>
            <p:ph type="subTitle" idx="4294967295"/>
          </p:nvPr>
        </p:nvSpPr>
        <p:spPr>
          <a:xfrm>
            <a:off x="318130" y="2599780"/>
            <a:ext cx="7633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+1.5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119" name="Google Shape;1119;p84"/>
          <p:cNvGraphicFramePr>
            <a:graphicFrameLocks noGrp="1"/>
          </p:cNvGraphicFramePr>
          <p:nvPr/>
        </p:nvGraphicFramePr>
        <p:xfrm>
          <a:off x="81490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20" name="Google Shape;1120;p84"/>
          <p:cNvSpPr txBox="1"/>
          <p:nvPr>
            <p:ph type="subTitle" idx="4294967295"/>
          </p:nvPr>
        </p:nvSpPr>
        <p:spPr>
          <a:xfrm>
            <a:off x="318130" y="1532975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  <p:sp>
        <p:nvSpPr>
          <p:cNvPr id="1121" name="Google Shape;1121;p84"/>
          <p:cNvSpPr txBox="1"/>
          <p:nvPr>
            <p:ph type="subTitle" idx="4294967295"/>
          </p:nvPr>
        </p:nvSpPr>
        <p:spPr>
          <a:xfrm>
            <a:off x="318130" y="4377755"/>
            <a:ext cx="7633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−5 </a:t>
            </a:r>
            <a:r>
              <a:rPr lang="en-GB" sz="2000"/>
              <a:t>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122" name="Google Shape;1122;p84"/>
          <p:cNvGraphicFramePr>
            <a:graphicFrameLocks noGrp="1"/>
          </p:cNvGraphicFramePr>
          <p:nvPr/>
        </p:nvGraphicFramePr>
        <p:xfrm>
          <a:off x="814906" y="3400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23" name="Google Shape;1123;p84"/>
          <p:cNvSpPr txBox="1"/>
          <p:nvPr>
            <p:ph type="subTitle" idx="4294967295"/>
          </p:nvPr>
        </p:nvSpPr>
        <p:spPr>
          <a:xfrm>
            <a:off x="318130" y="3310950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/>
          </a:p>
        </p:txBody>
      </p:sp>
      <p:grpSp>
        <p:nvGrpSpPr>
          <p:cNvPr id="1124" name="Google Shape;1124;p84"/>
          <p:cNvGrpSpPr/>
          <p:nvPr/>
        </p:nvGrpSpPr>
        <p:grpSpPr>
          <a:xfrm>
            <a:off x="6228065" y="4404620"/>
            <a:ext cx="344700" cy="337200"/>
            <a:chOff x="6243350" y="2596150"/>
            <a:chExt cx="344700" cy="337200"/>
          </a:xfrm>
        </p:grpSpPr>
        <p:sp>
          <p:nvSpPr>
            <p:cNvPr id="1125" name="Google Shape;1125;p84"/>
            <p:cNvSpPr/>
            <p:nvPr/>
          </p:nvSpPr>
          <p:spPr>
            <a:xfrm>
              <a:off x="6243350" y="2596150"/>
              <a:ext cx="344700" cy="337200"/>
            </a:xfrm>
            <a:prstGeom prst="rect">
              <a:avLst/>
            </a:prstGeom>
            <a:solidFill>
              <a:srgbClr val="F2EEFA"/>
            </a:solidFill>
            <a:ln w="9525" cap="flat" cmpd="sng">
              <a:solidFill>
                <a:srgbClr val="F2EE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6" name="Google Shape;1126;p84"/>
            <p:cNvCxnSpPr/>
            <p:nvPr/>
          </p:nvCxnSpPr>
          <p:spPr>
            <a:xfrm>
              <a:off x="6294170" y="2886025"/>
              <a:ext cx="2439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27" name="Google Shape;1127;p84"/>
          <p:cNvGrpSpPr/>
          <p:nvPr/>
        </p:nvGrpSpPr>
        <p:grpSpPr>
          <a:xfrm>
            <a:off x="6228063" y="2621525"/>
            <a:ext cx="533699" cy="337200"/>
            <a:chOff x="6243350" y="2596150"/>
            <a:chExt cx="344700" cy="337200"/>
          </a:xfrm>
        </p:grpSpPr>
        <p:sp>
          <p:nvSpPr>
            <p:cNvPr id="1128" name="Google Shape;1128;p84"/>
            <p:cNvSpPr/>
            <p:nvPr/>
          </p:nvSpPr>
          <p:spPr>
            <a:xfrm>
              <a:off x="6243350" y="2596150"/>
              <a:ext cx="344700" cy="337200"/>
            </a:xfrm>
            <a:prstGeom prst="rect">
              <a:avLst/>
            </a:prstGeom>
            <a:solidFill>
              <a:srgbClr val="F2EEFA"/>
            </a:solidFill>
            <a:ln w="9525" cap="flat" cmpd="sng">
              <a:solidFill>
                <a:srgbClr val="F2EE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9" name="Google Shape;1129;p84"/>
            <p:cNvCxnSpPr/>
            <p:nvPr/>
          </p:nvCxnSpPr>
          <p:spPr>
            <a:xfrm>
              <a:off x="6294170" y="2886025"/>
              <a:ext cx="2439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130" name="Google Shape;1130;p84"/>
          <p:cNvGraphicFramePr>
            <a:graphicFrameLocks noGrp="1"/>
          </p:cNvGraphicFramePr>
          <p:nvPr/>
        </p:nvGraphicFramePr>
        <p:xfrm>
          <a:off x="81490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31" name="Google Shape;1131;p84"/>
          <p:cNvGraphicFramePr>
            <a:graphicFrameLocks noGrp="1"/>
          </p:cNvGraphicFramePr>
          <p:nvPr/>
        </p:nvGraphicFramePr>
        <p:xfrm>
          <a:off x="81490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32" name="Google Shape;1132;p84"/>
          <p:cNvGraphicFramePr>
            <a:graphicFrameLocks noGrp="1"/>
          </p:cNvGraphicFramePr>
          <p:nvPr/>
        </p:nvGraphicFramePr>
        <p:xfrm>
          <a:off x="814906" y="3400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8075"/>
                <a:gridCol w="611750"/>
                <a:gridCol w="508075"/>
                <a:gridCol w="508075"/>
                <a:gridCol w="508075"/>
                <a:gridCol w="508075"/>
                <a:gridCol w="508075"/>
                <a:gridCol w="5080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6" name="Shape 1136"/>
        <p:cNvGrpSpPr/>
        <p:nvPr/>
      </p:nvGrpSpPr>
      <p:grpSpPr>
        <a:xfrm>
          <a:off x="0" y="0"/>
          <a:ext cx="0" cy="0"/>
        </a:xfrm>
      </p:grpSpPr>
      <p:pic>
        <p:nvPicPr>
          <p:cNvPr id="1137" name="Google Shape;1137;p85" descr="&lt;math xmlns=&quot;http://www.w3.org/1998/Math/MathML&quot; data-is-equatio=&quot;1&quot; data-equatio-url=&quot;https://equatio-api.texthelp.com/desmos/get/13-11-2023/7594bd0b-4ba5-4840-a617-c446a807949b&quot; data-equatio-type=&quot;desmos&quot;&gt;&lt;mglyph src=&quot;https://equatio-api.texthelp.com/desmos/get/13-11-2023/7594bd0b-4ba5-4840-a617-c446a807949b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6416" t="13322" r="41339" b="13556"/>
          <a:stretch>
            <a:fillRect/>
          </a:stretch>
        </p:blipFill>
        <p:spPr>
          <a:xfrm>
            <a:off x="592425" y="1622976"/>
            <a:ext cx="2462008" cy="31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85"/>
          <p:cNvSpPr txBox="1"/>
          <p:nvPr>
            <p:ph type="body" idx="1"/>
          </p:nvPr>
        </p:nvSpPr>
        <p:spPr>
          <a:xfrm>
            <a:off x="324000" y="759300"/>
            <a:ext cx="8237700" cy="6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2) Use the graph to complete the table and write a sentence about the </a:t>
            </a:r>
            <a:r>
              <a:rPr lang="en-GB" sz="1900" b="1"/>
              <a:t>rate of change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139" name="Google Shape;1139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sp>
        <p:nvSpPr>
          <p:cNvPr id="1140" name="Google Shape;1140;p85"/>
          <p:cNvSpPr txBox="1"/>
          <p:nvPr>
            <p:ph type="subTitle" idx="4294967295"/>
          </p:nvPr>
        </p:nvSpPr>
        <p:spPr>
          <a:xfrm>
            <a:off x="3611153" y="2686155"/>
            <a:ext cx="327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2000"/>
              <a:t>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2000"/>
              <a:t>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141" name="Google Shape;1141;p85"/>
          <p:cNvGraphicFramePr>
            <a:graphicFrameLocks noGrp="1"/>
          </p:cNvGraphicFramePr>
          <p:nvPr/>
        </p:nvGraphicFramePr>
        <p:xfrm>
          <a:off x="341745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375750"/>
                <a:gridCol w="470900"/>
                <a:gridCol w="470900"/>
                <a:gridCol w="391150"/>
                <a:gridCol w="391150"/>
                <a:gridCol w="391150"/>
                <a:gridCol w="391150"/>
                <a:gridCol w="391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42" name="Google Shape;1142;p85"/>
          <p:cNvSpPr txBox="1"/>
          <p:nvPr/>
        </p:nvSpPr>
        <p:spPr>
          <a:xfrm>
            <a:off x="3103917" y="290745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85"/>
          <p:cNvSpPr txBox="1"/>
          <p:nvPr/>
        </p:nvSpPr>
        <p:spPr>
          <a:xfrm>
            <a:off x="1709857" y="13427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44" name="Google Shape;1144;p85"/>
          <p:cNvCxnSpPr/>
          <p:nvPr/>
        </p:nvCxnSpPr>
        <p:spPr>
          <a:xfrm rot="10800000" flipH="1">
            <a:off x="1282825" y="1609950"/>
            <a:ext cx="1585800" cy="31920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5" name="Google Shape;1145;p85"/>
          <p:cNvSpPr txBox="1"/>
          <p:nvPr>
            <p:ph type="subTitle" idx="4294967295"/>
          </p:nvPr>
        </p:nvSpPr>
        <p:spPr>
          <a:xfrm>
            <a:off x="318130" y="1456775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graphicFrame>
        <p:nvGraphicFramePr>
          <p:cNvPr id="1146" name="Google Shape;1146;p85"/>
          <p:cNvGraphicFramePr>
            <a:graphicFrameLocks noGrp="1"/>
          </p:cNvGraphicFramePr>
          <p:nvPr/>
        </p:nvGraphicFramePr>
        <p:xfrm>
          <a:off x="341745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375750"/>
                <a:gridCol w="470900"/>
                <a:gridCol w="470900"/>
                <a:gridCol w="391150"/>
                <a:gridCol w="391150"/>
                <a:gridCol w="391150"/>
                <a:gridCol w="391150"/>
                <a:gridCol w="391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0" name="Shape 1150"/>
        <p:cNvGrpSpPr/>
        <p:nvPr/>
      </p:nvGrpSpPr>
      <p:grpSpPr>
        <a:xfrm>
          <a:off x="0" y="0"/>
          <a:ext cx="0" cy="0"/>
        </a:xfrm>
      </p:grpSpPr>
      <p:pic>
        <p:nvPicPr>
          <p:cNvPr id="1151" name="Google Shape;1151;p86" descr="&lt;math xmlns=&quot;http://www.w3.org/1998/Math/MathML&quot; data-is-equatio=&quot;1&quot; data-equatio-url=&quot;https://equatio-api.texthelp.com/desmos/get/13-11-2023/56d6d0a8-a762-40e4-8364-e80e857dbf7e&quot; data-equatio-type=&quot;desmos&quot;&gt;&lt;mglyph src=&quot;https://equatio-api.texthelp.com/desmos/get/13-11-2023/56d6d0a8-a762-40e4-8364-e80e857dbf7e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5826" t="12922" r="27406"/>
          <a:stretch>
            <a:fillRect/>
          </a:stretch>
        </p:blipFill>
        <p:spPr>
          <a:xfrm>
            <a:off x="704175" y="1609950"/>
            <a:ext cx="2778396" cy="31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86"/>
          <p:cNvSpPr txBox="1"/>
          <p:nvPr>
            <p:ph type="body" idx="1"/>
          </p:nvPr>
        </p:nvSpPr>
        <p:spPr>
          <a:xfrm>
            <a:off x="324000" y="759300"/>
            <a:ext cx="8237700" cy="6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2) Use the graph to complete the table and write a sentence about the </a:t>
            </a:r>
            <a:r>
              <a:rPr lang="en-GB" sz="1900" b="1"/>
              <a:t>rate of change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1153" name="Google Shape;1153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sp>
        <p:nvSpPr>
          <p:cNvPr id="1154" name="Google Shape;1154;p86"/>
          <p:cNvSpPr txBox="1"/>
          <p:nvPr>
            <p:ph type="subTitle" idx="4294967295"/>
          </p:nvPr>
        </p:nvSpPr>
        <p:spPr>
          <a:xfrm>
            <a:off x="4144553" y="2686155"/>
            <a:ext cx="327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every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2000"/>
              <a:t>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a change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−0.3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2000"/>
              <a:t>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graphicFrame>
        <p:nvGraphicFramePr>
          <p:cNvPr id="1155" name="Google Shape;1155;p86"/>
          <p:cNvGraphicFramePr>
            <a:graphicFrameLocks noGrp="1"/>
          </p:cNvGraphicFramePr>
          <p:nvPr/>
        </p:nvGraphicFramePr>
        <p:xfrm>
          <a:off x="395085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26750"/>
                <a:gridCol w="534800"/>
                <a:gridCol w="534800"/>
                <a:gridCol w="444225"/>
                <a:gridCol w="444225"/>
                <a:gridCol w="444225"/>
                <a:gridCol w="637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56" name="Google Shape;1156;p86"/>
          <p:cNvSpPr txBox="1"/>
          <p:nvPr/>
        </p:nvSpPr>
        <p:spPr>
          <a:xfrm>
            <a:off x="3561117" y="382185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7" name="Google Shape;1157;p86"/>
          <p:cNvSpPr txBox="1"/>
          <p:nvPr/>
        </p:nvSpPr>
        <p:spPr>
          <a:xfrm>
            <a:off x="2014657" y="13427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58" name="Google Shape;1158;p86"/>
          <p:cNvCxnSpPr/>
          <p:nvPr/>
        </p:nvCxnSpPr>
        <p:spPr>
          <a:xfrm rot="10800000">
            <a:off x="1099775" y="1660900"/>
            <a:ext cx="2378700" cy="27243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9" name="Google Shape;1159;p86"/>
          <p:cNvSpPr txBox="1"/>
          <p:nvPr>
            <p:ph type="subTitle" idx="4294967295"/>
          </p:nvPr>
        </p:nvSpPr>
        <p:spPr>
          <a:xfrm>
            <a:off x="318130" y="1456775"/>
            <a:ext cx="344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graphicFrame>
        <p:nvGraphicFramePr>
          <p:cNvPr id="1160" name="Google Shape;1160;p86"/>
          <p:cNvGraphicFramePr>
            <a:graphicFrameLocks noGrp="1"/>
          </p:cNvGraphicFramePr>
          <p:nvPr/>
        </p:nvGraphicFramePr>
        <p:xfrm>
          <a:off x="3950856" y="1622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26750"/>
                <a:gridCol w="534800"/>
                <a:gridCol w="534800"/>
                <a:gridCol w="444225"/>
                <a:gridCol w="444225"/>
                <a:gridCol w="444225"/>
                <a:gridCol w="637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4" name="Shape 1164"/>
        <p:cNvGrpSpPr/>
        <p:nvPr/>
      </p:nvGrpSpPr>
      <p:grpSpPr>
        <a:xfrm>
          <a:off x="0" y="0"/>
          <a:ext cx="0" cy="0"/>
        </a:xfrm>
      </p:grpSpPr>
      <p:sp>
        <p:nvSpPr>
          <p:cNvPr id="1165" name="Google Shape;1165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features of linear relationships</a:t>
            </a:r>
            <a:endParaRPr/>
          </a:p>
        </p:txBody>
      </p:sp>
      <p:sp>
        <p:nvSpPr>
          <p:cNvPr id="1166" name="Google Shape;1166;p8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167" name="Google Shape;1167;p8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Defining features of linear relationships</a:t>
            </a:r>
            <a:endParaRPr/>
          </a:p>
        </p:txBody>
      </p:sp>
      <p:pic>
        <p:nvPicPr>
          <p:cNvPr id="1168" name="Google Shape;116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20" y="299009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2" name="Shape 1172"/>
        <p:cNvGrpSpPr/>
        <p:nvPr/>
      </p:nvGrpSpPr>
      <p:grpSpPr>
        <a:xfrm>
          <a:off x="0" y="0"/>
          <a:ext cx="0" cy="0"/>
        </a:xfrm>
      </p:grpSpPr>
      <p:sp>
        <p:nvSpPr>
          <p:cNvPr id="1173" name="Google Shape;117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graphicFrame>
        <p:nvGraphicFramePr>
          <p:cNvPr id="1174" name="Google Shape;1174;p88"/>
          <p:cNvGraphicFramePr>
            <a:graphicFrameLocks noGrp="1"/>
          </p:cNvGraphicFramePr>
          <p:nvPr/>
        </p:nvGraphicFramePr>
        <p:xfrm>
          <a:off x="317367" y="1319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75" name="Google Shape;1175;p88"/>
          <p:cNvSpPr txBox="1"/>
          <p:nvPr/>
        </p:nvSpPr>
        <p:spPr>
          <a:xfrm>
            <a:off x="330675" y="804525"/>
            <a:ext cx="75102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arithmetic (linear) sequence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8"/>
          <p:cNvSpPr txBox="1"/>
          <p:nvPr/>
        </p:nvSpPr>
        <p:spPr>
          <a:xfrm>
            <a:off x="4826475" y="1337925"/>
            <a:ext cx="39663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Starts at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changes by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is unique to this sequence.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7" name="Google Shape;1177;p88"/>
          <p:cNvSpPr txBox="1"/>
          <p:nvPr/>
        </p:nvSpPr>
        <p:spPr>
          <a:xfrm>
            <a:off x="320493" y="2577450"/>
            <a:ext cx="66243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if we said, “Start at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time”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8" name="Google Shape;1178;p88"/>
          <p:cNvSpPr txBox="1"/>
          <p:nvPr/>
        </p:nvSpPr>
        <p:spPr>
          <a:xfrm>
            <a:off x="320500" y="3110850"/>
            <a:ext cx="7071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would only ever get the sequence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9, 16, 23, 30, …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other sequence could come from this rule.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9" name="Google Shape;1179;p88"/>
          <p:cNvSpPr txBox="1"/>
          <p:nvPr/>
        </p:nvSpPr>
        <p:spPr>
          <a:xfrm>
            <a:off x="320500" y="3949050"/>
            <a:ext cx="7071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given starting point, and a given constant difference, generates a unique arithmetic sequence.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3" name="Shape 1183"/>
        <p:cNvGrpSpPr/>
        <p:nvPr/>
      </p:nvGrpSpPr>
      <p:grpSpPr>
        <a:xfrm>
          <a:off x="0" y="0"/>
          <a:ext cx="0" cy="0"/>
        </a:xfrm>
      </p:grpSpPr>
      <p:sp>
        <p:nvSpPr>
          <p:cNvPr id="1184" name="Google Shape;118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185" name="Google Shape;1185;p89"/>
          <p:cNvSpPr txBox="1"/>
          <p:nvPr/>
        </p:nvSpPr>
        <p:spPr>
          <a:xfrm>
            <a:off x="324000" y="2567290"/>
            <a:ext cx="67224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linear relationship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86" name="Google Shape;1186;p89"/>
          <p:cNvGraphicFramePr>
            <a:graphicFrameLocks noGrp="1"/>
          </p:cNvGraphicFramePr>
          <p:nvPr/>
        </p:nvGraphicFramePr>
        <p:xfrm>
          <a:off x="325551" y="3228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87" name="Google Shape;1187;p89"/>
          <p:cNvGraphicFramePr>
            <a:graphicFrameLocks noGrp="1"/>
          </p:cNvGraphicFramePr>
          <p:nvPr/>
        </p:nvGraphicFramePr>
        <p:xfrm>
          <a:off x="317367" y="1319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88" name="Google Shape;1188;p89"/>
          <p:cNvSpPr txBox="1"/>
          <p:nvPr/>
        </p:nvSpPr>
        <p:spPr>
          <a:xfrm>
            <a:off x="330675" y="804525"/>
            <a:ext cx="75102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arithmetic (linear) sequence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9"/>
          <p:cNvSpPr txBox="1"/>
          <p:nvPr/>
        </p:nvSpPr>
        <p:spPr>
          <a:xfrm>
            <a:off x="4826475" y="1337925"/>
            <a:ext cx="39663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Starts at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changes by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0" name="Google Shape;1190;p89"/>
          <p:cNvSpPr txBox="1"/>
          <p:nvPr/>
        </p:nvSpPr>
        <p:spPr>
          <a:xfrm>
            <a:off x="4826475" y="3242925"/>
            <a:ext cx="39663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Where does this start?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9"/>
          <p:cNvSpPr txBox="1"/>
          <p:nvPr/>
        </p:nvSpPr>
        <p:spPr>
          <a:xfrm>
            <a:off x="4826475" y="3776325"/>
            <a:ext cx="39663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can’t say, “It starts at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” because we could have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5" name="Shape 1195"/>
        <p:cNvGrpSpPr/>
        <p:nvPr/>
      </p:nvGrpSpPr>
      <p:grpSpPr>
        <a:xfrm>
          <a:off x="0" y="0"/>
          <a:ext cx="0" cy="0"/>
        </a:xfrm>
      </p:grpSpPr>
      <p:sp>
        <p:nvSpPr>
          <p:cNvPr id="1196" name="Google Shape;11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197" name="Google Shape;1197;p90"/>
          <p:cNvSpPr txBox="1"/>
          <p:nvPr/>
        </p:nvSpPr>
        <p:spPr>
          <a:xfrm>
            <a:off x="324000" y="2567290"/>
            <a:ext cx="67224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linear relationship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98" name="Google Shape;1198;p90"/>
          <p:cNvGraphicFramePr>
            <a:graphicFrameLocks noGrp="1"/>
          </p:cNvGraphicFramePr>
          <p:nvPr/>
        </p:nvGraphicFramePr>
        <p:xfrm>
          <a:off x="325551" y="3228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86575"/>
                <a:gridCol w="417750"/>
                <a:gridCol w="417750"/>
                <a:gridCol w="417750"/>
                <a:gridCol w="417750"/>
                <a:gridCol w="417750"/>
                <a:gridCol w="417750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99" name="Google Shape;1199;p90"/>
          <p:cNvGraphicFramePr>
            <a:graphicFrameLocks noGrp="1"/>
          </p:cNvGraphicFramePr>
          <p:nvPr/>
        </p:nvGraphicFramePr>
        <p:xfrm>
          <a:off x="317367" y="1319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00" name="Google Shape;1200;p90"/>
          <p:cNvSpPr txBox="1"/>
          <p:nvPr/>
        </p:nvSpPr>
        <p:spPr>
          <a:xfrm>
            <a:off x="330675" y="804525"/>
            <a:ext cx="75102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arithmetic (linear) sequence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0"/>
          <p:cNvSpPr txBox="1"/>
          <p:nvPr/>
        </p:nvSpPr>
        <p:spPr>
          <a:xfrm>
            <a:off x="4826475" y="3242925"/>
            <a:ext cx="39663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Where does this start?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90"/>
          <p:cNvSpPr txBox="1"/>
          <p:nvPr/>
        </p:nvSpPr>
        <p:spPr>
          <a:xfrm>
            <a:off x="4826475" y="3700125"/>
            <a:ext cx="3795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can’t say, “It starts at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” because we could have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6" name="Shape 1206"/>
        <p:cNvGrpSpPr/>
        <p:nvPr/>
      </p:nvGrpSpPr>
      <p:grpSpPr>
        <a:xfrm>
          <a:off x="0" y="0"/>
          <a:ext cx="0" cy="0"/>
        </a:xfrm>
      </p:grpSpPr>
      <p:sp>
        <p:nvSpPr>
          <p:cNvPr id="1207" name="Google Shape;120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208" name="Google Shape;1208;p91"/>
          <p:cNvSpPr txBox="1"/>
          <p:nvPr/>
        </p:nvSpPr>
        <p:spPr>
          <a:xfrm>
            <a:off x="324000" y="814700"/>
            <a:ext cx="4587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linear relationship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9" name="Google Shape;1209;p91"/>
          <p:cNvGraphicFramePr>
            <a:graphicFrameLocks noGrp="1"/>
          </p:cNvGraphicFramePr>
          <p:nvPr/>
        </p:nvGraphicFramePr>
        <p:xfrm>
          <a:off x="325551" y="1323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60100"/>
                <a:gridCol w="395000"/>
                <a:gridCol w="395000"/>
                <a:gridCol w="395000"/>
                <a:gridCol w="395000"/>
                <a:gridCol w="395000"/>
                <a:gridCol w="395000"/>
                <a:gridCol w="395000"/>
                <a:gridCol w="395000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10" name="Google Shape;1210;p91"/>
          <p:cNvSpPr txBox="1"/>
          <p:nvPr/>
        </p:nvSpPr>
        <p:spPr>
          <a:xfrm>
            <a:off x="330675" y="2404725"/>
            <a:ext cx="39663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plotted we can see that it has no start and no end. It goes on infinitely in both directions.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1"/>
          <p:cNvSpPr txBox="1"/>
          <p:nvPr/>
        </p:nvSpPr>
        <p:spPr>
          <a:xfrm>
            <a:off x="330675" y="3451195"/>
            <a:ext cx="42414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However, it has unique features which help us to define it.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2" name="Google Shape;1212;p91"/>
          <p:cNvSpPr txBox="1"/>
          <p:nvPr/>
        </p:nvSpPr>
        <p:spPr>
          <a:xfrm>
            <a:off x="7980717" y="36491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3" name="Google Shape;1213;p91"/>
          <p:cNvSpPr txBox="1"/>
          <p:nvPr/>
        </p:nvSpPr>
        <p:spPr>
          <a:xfrm>
            <a:off x="6662857" y="7331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4" name="Google Shape;1214;p91" descr="&lt;math xmlns=&quot;http://www.w3.org/1998/Math/MathML&quot; data-is-equatio=&quot;1&quot; data-equatio-url=&quot;https://equatio-api.texthelp.com/desmos/get/13-11-2023/d9895459-37b2-48e6-9d9e-9b96d1a64f44&quot; data-equatio-type=&quot;desmos&quot;&gt;&lt;mglyph src=&quot;https://equatio-api.texthelp.com/desmos/get/13-11-2023/d9895459-37b2-48e6-9d9e-9b96d1a64f4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0337" t="3633" r="42526"/>
          <a:stretch>
            <a:fillRect/>
          </a:stretch>
        </p:blipFill>
        <p:spPr>
          <a:xfrm>
            <a:off x="5482450" y="1080000"/>
            <a:ext cx="2446254" cy="37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1"/>
          <p:cNvSpPr txBox="1"/>
          <p:nvPr/>
        </p:nvSpPr>
        <p:spPr>
          <a:xfrm>
            <a:off x="330675" y="4152200"/>
            <a:ext cx="46947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intercept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Where our line meets the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-axis, in this case at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6" name="Google Shape;1216;p91"/>
          <p:cNvSpPr/>
          <p:nvPr/>
        </p:nvSpPr>
        <p:spPr>
          <a:xfrm>
            <a:off x="6533095" y="2550430"/>
            <a:ext cx="335400" cy="3483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0" name="Shape 1220"/>
        <p:cNvGrpSpPr/>
        <p:nvPr/>
      </p:nvGrpSpPr>
      <p:grpSpPr>
        <a:xfrm>
          <a:off x="0" y="0"/>
          <a:ext cx="0" cy="0"/>
        </a:xfrm>
      </p:grpSpPr>
      <p:sp>
        <p:nvSpPr>
          <p:cNvPr id="1221" name="Google Shape;122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222" name="Google Shape;1222;p92"/>
          <p:cNvSpPr txBox="1"/>
          <p:nvPr/>
        </p:nvSpPr>
        <p:spPr>
          <a:xfrm>
            <a:off x="324000" y="814700"/>
            <a:ext cx="4587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linear relationship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23" name="Google Shape;1223;p92"/>
          <p:cNvGraphicFramePr>
            <a:graphicFrameLocks noGrp="1"/>
          </p:cNvGraphicFramePr>
          <p:nvPr/>
        </p:nvGraphicFramePr>
        <p:xfrm>
          <a:off x="325551" y="1323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60100"/>
                <a:gridCol w="395000"/>
                <a:gridCol w="395000"/>
                <a:gridCol w="395000"/>
                <a:gridCol w="395000"/>
                <a:gridCol w="395000"/>
                <a:gridCol w="395000"/>
                <a:gridCol w="395000"/>
                <a:gridCol w="395000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24" name="Google Shape;1224;p92"/>
          <p:cNvSpPr txBox="1"/>
          <p:nvPr/>
        </p:nvSpPr>
        <p:spPr>
          <a:xfrm>
            <a:off x="7980717" y="36491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5" name="Google Shape;1225;p92"/>
          <p:cNvSpPr txBox="1"/>
          <p:nvPr/>
        </p:nvSpPr>
        <p:spPr>
          <a:xfrm>
            <a:off x="6662857" y="7331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6" name="Google Shape;1226;p92" descr="&lt;math xmlns=&quot;http://www.w3.org/1998/Math/MathML&quot; data-is-equatio=&quot;1&quot; data-equatio-url=&quot;https://equatio-api.texthelp.com/desmos/get/13-11-2023/d9895459-37b2-48e6-9d9e-9b96d1a64f44&quot; data-equatio-type=&quot;desmos&quot;&gt;&lt;mglyph src=&quot;https://equatio-api.texthelp.com/desmos/get/13-11-2023/d9895459-37b2-48e6-9d9e-9b96d1a64f4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0337" t="3633" r="42526"/>
          <a:stretch>
            <a:fillRect/>
          </a:stretch>
        </p:blipFill>
        <p:spPr>
          <a:xfrm>
            <a:off x="5482450" y="1080000"/>
            <a:ext cx="2446254" cy="37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92"/>
          <p:cNvSpPr/>
          <p:nvPr/>
        </p:nvSpPr>
        <p:spPr>
          <a:xfrm>
            <a:off x="6533095" y="2550430"/>
            <a:ext cx="335400" cy="3483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2"/>
          <p:cNvSpPr txBox="1"/>
          <p:nvPr/>
        </p:nvSpPr>
        <p:spPr>
          <a:xfrm>
            <a:off x="324000" y="2491100"/>
            <a:ext cx="4587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line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has a constant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2"/>
          <p:cNvSpPr txBox="1"/>
          <p:nvPr/>
        </p:nvSpPr>
        <p:spPr>
          <a:xfrm>
            <a:off x="324000" y="3862700"/>
            <a:ext cx="45000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features will always produce this straight line.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3" name="Shape 1233"/>
        <p:cNvGrpSpPr/>
        <p:nvPr/>
      </p:nvGrpSpPr>
      <p:grpSpPr>
        <a:xfrm>
          <a:off x="0" y="0"/>
          <a:ext cx="0" cy="0"/>
        </a:xfrm>
      </p:grpSpPr>
      <p:pic>
        <p:nvPicPr>
          <p:cNvPr id="1234" name="Google Shape;1234;p93" descr="&lt;math xmlns=&quot;http://www.w3.org/1998/Math/MathML&quot; data-is-equatio=&quot;1&quot; data-equatio-url=&quot;https://equatio-api.texthelp.com/desmos/get/13-11-2023/ef477278-f24a-443d-92f5-8b2cdb2303dc&quot; data-equatio-type=&quot;desmos&quot;&gt;&lt;mglyph src=&quot;https://equatio-api.texthelp.com/desmos/get/13-11-2023/ef477278-f24a-443d-92f5-8b2cdb2303dc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453" t="14558" r="45490" b="4469"/>
          <a:stretch>
            <a:fillRect/>
          </a:stretch>
        </p:blipFill>
        <p:spPr>
          <a:xfrm>
            <a:off x="5716838" y="1076501"/>
            <a:ext cx="2288612" cy="37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3"/>
          <p:cNvSpPr txBox="1"/>
          <p:nvPr>
            <p:ph type="title"/>
          </p:nvPr>
        </p:nvSpPr>
        <p:spPr>
          <a:xfrm>
            <a:off x="324000" y="748775"/>
            <a:ext cx="52179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</a:t>
            </a:r>
            <a:r>
              <a:rPr lang="en-GB" b="1"/>
              <a:t>intercept</a:t>
            </a:r>
            <a:r>
              <a:rPr lang="en-GB"/>
              <a:t> of this line?</a:t>
            </a:r>
            <a:endParaRPr/>
          </a:p>
        </p:txBody>
      </p:sp>
      <p:sp>
        <p:nvSpPr>
          <p:cNvPr id="1236" name="Google Shape;1236;p9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237" name="Google Shape;1237;p93"/>
          <p:cNvSpPr txBox="1"/>
          <p:nvPr>
            <p:ph type="subTitle" idx="1"/>
          </p:nvPr>
        </p:nvSpPr>
        <p:spPr>
          <a:xfrm>
            <a:off x="1034425" y="1837775"/>
            <a:ext cx="1020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93"/>
          <p:cNvSpPr txBox="1"/>
          <p:nvPr>
            <p:ph type="subTitle" idx="3"/>
          </p:nvPr>
        </p:nvSpPr>
        <p:spPr>
          <a:xfrm>
            <a:off x="1034425" y="2794252"/>
            <a:ext cx="1020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(0, 6)</a:t>
            </a:r>
            <a:endParaRPr/>
          </a:p>
        </p:txBody>
      </p:sp>
      <p:sp>
        <p:nvSpPr>
          <p:cNvPr id="1239" name="Google Shape;1239;p93"/>
          <p:cNvSpPr txBox="1"/>
          <p:nvPr>
            <p:ph type="subTitle" idx="4"/>
          </p:nvPr>
        </p:nvSpPr>
        <p:spPr>
          <a:xfrm>
            <a:off x="1034425" y="3766975"/>
            <a:ext cx="1015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(−2, 0)</a:t>
            </a:r>
            <a:endParaRPr/>
          </a:p>
        </p:txBody>
      </p:sp>
      <p:sp>
        <p:nvSpPr>
          <p:cNvPr id="1240" name="Google Shape;1240;p93"/>
          <p:cNvSpPr txBox="1"/>
          <p:nvPr/>
        </p:nvSpPr>
        <p:spPr>
          <a:xfrm>
            <a:off x="8133117" y="36491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1" name="Google Shape;1241;p93"/>
          <p:cNvSpPr txBox="1"/>
          <p:nvPr/>
        </p:nvSpPr>
        <p:spPr>
          <a:xfrm>
            <a:off x="6815257" y="7331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2" name="Google Shape;1242;p93"/>
          <p:cNvSpPr/>
          <p:nvPr/>
        </p:nvSpPr>
        <p:spPr>
          <a:xfrm>
            <a:off x="6685495" y="2047525"/>
            <a:ext cx="335400" cy="3483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3" name="Google Shape;1243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158" y="281325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93"/>
          <p:cNvSpPr txBox="1"/>
          <p:nvPr/>
        </p:nvSpPr>
        <p:spPr>
          <a:xfrm>
            <a:off x="2359100" y="2709525"/>
            <a:ext cx="3309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intercepts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-axis at the coordinate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(0, 6)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pic>
        <p:nvPicPr>
          <p:cNvPr id="1249" name="Google Shape;1249;p94" descr="&lt;math xmlns=&quot;http://www.w3.org/1998/Math/MathML&quot; data-is-equatio=&quot;1&quot; data-equatio-url=&quot;https://equatio-api.texthelp.com/desmos/get/13-11-2023/cc8c960d-f940-4062-8c40-f2f47501ade4&quot; data-equatio-type=&quot;desmos&quot;&gt;&lt;mglyph src=&quot;https://equatio-api.texthelp.com/desmos/get/13-11-2023/cc8c960d-f940-4062-8c40-f2f47501ade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9896" t="3045" r="30664" b="2960"/>
          <a:stretch>
            <a:fillRect/>
          </a:stretch>
        </p:blipFill>
        <p:spPr>
          <a:xfrm>
            <a:off x="4868830" y="1075565"/>
            <a:ext cx="3162520" cy="37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94"/>
          <p:cNvSpPr txBox="1"/>
          <p:nvPr>
            <p:ph type="title"/>
          </p:nvPr>
        </p:nvSpPr>
        <p:spPr>
          <a:xfrm>
            <a:off x="324000" y="748775"/>
            <a:ext cx="52179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</a:t>
            </a:r>
            <a:r>
              <a:rPr lang="en-GB" b="1"/>
              <a:t>intercept</a:t>
            </a:r>
            <a:r>
              <a:rPr lang="en-GB"/>
              <a:t> of this line?</a:t>
            </a:r>
            <a:endParaRPr/>
          </a:p>
        </p:txBody>
      </p:sp>
      <p:sp>
        <p:nvSpPr>
          <p:cNvPr id="1251" name="Google Shape;1251;p9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252" name="Google Shape;1252;p94"/>
          <p:cNvSpPr txBox="1"/>
          <p:nvPr>
            <p:ph type="subTitle" idx="1"/>
          </p:nvPr>
        </p:nvSpPr>
        <p:spPr>
          <a:xfrm>
            <a:off x="1034425" y="1837775"/>
            <a:ext cx="1020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−3)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3" name="Google Shape;1253;p94"/>
          <p:cNvSpPr txBox="1"/>
          <p:nvPr>
            <p:ph type="subTitle" idx="3"/>
          </p:nvPr>
        </p:nvSpPr>
        <p:spPr>
          <a:xfrm>
            <a:off x="1034425" y="2794252"/>
            <a:ext cx="1020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/>
          </a:p>
        </p:txBody>
      </p:sp>
      <p:sp>
        <p:nvSpPr>
          <p:cNvPr id="1254" name="Google Shape;1254;p94"/>
          <p:cNvSpPr txBox="1"/>
          <p:nvPr>
            <p:ph type="subTitle" idx="4"/>
          </p:nvPr>
        </p:nvSpPr>
        <p:spPr>
          <a:xfrm>
            <a:off x="1034425" y="3766975"/>
            <a:ext cx="1015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(−3, 0)</a:t>
            </a:r>
            <a:endParaRPr/>
          </a:p>
        </p:txBody>
      </p:sp>
      <p:sp>
        <p:nvSpPr>
          <p:cNvPr id="1255" name="Google Shape;1255;p94"/>
          <p:cNvSpPr txBox="1"/>
          <p:nvPr/>
        </p:nvSpPr>
        <p:spPr>
          <a:xfrm>
            <a:off x="8133117" y="364912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6" name="Google Shape;1256;p94"/>
          <p:cNvSpPr txBox="1"/>
          <p:nvPr/>
        </p:nvSpPr>
        <p:spPr>
          <a:xfrm>
            <a:off x="6403762" y="733195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7" name="Google Shape;1257;p94"/>
          <p:cNvSpPr/>
          <p:nvPr/>
        </p:nvSpPr>
        <p:spPr>
          <a:xfrm>
            <a:off x="6228295" y="3474995"/>
            <a:ext cx="335400" cy="3483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8" name="Google Shape;125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3558" y="182265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94"/>
          <p:cNvSpPr txBox="1"/>
          <p:nvPr/>
        </p:nvSpPr>
        <p:spPr>
          <a:xfrm>
            <a:off x="2511500" y="1490325"/>
            <a:ext cx="23124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intercepts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-axis at the coordinate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(0,−3)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3" name="Shape 1263"/>
        <p:cNvGrpSpPr/>
        <p:nvPr/>
      </p:nvGrpSpPr>
      <p:grpSpPr>
        <a:xfrm>
          <a:off x="0" y="0"/>
          <a:ext cx="0" cy="0"/>
        </a:xfrm>
      </p:grpSpPr>
      <p:sp>
        <p:nvSpPr>
          <p:cNvPr id="1264" name="Google Shape;1264;p95"/>
          <p:cNvSpPr txBox="1"/>
          <p:nvPr>
            <p:ph type="title"/>
          </p:nvPr>
        </p:nvSpPr>
        <p:spPr>
          <a:xfrm>
            <a:off x="324000" y="748775"/>
            <a:ext cx="71799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</a:t>
            </a:r>
            <a:r>
              <a:rPr lang="en-GB" b="1"/>
              <a:t>intercept</a:t>
            </a:r>
            <a:r>
              <a:rPr lang="en-GB"/>
              <a:t> of the line plotted from this table of values.?</a:t>
            </a:r>
            <a:endParaRPr/>
          </a:p>
        </p:txBody>
      </p:sp>
      <p:sp>
        <p:nvSpPr>
          <p:cNvPr id="1265" name="Google Shape;1265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266" name="Google Shape;1266;p95"/>
          <p:cNvSpPr txBox="1"/>
          <p:nvPr>
            <p:ph type="subTitle" idx="1"/>
          </p:nvPr>
        </p:nvSpPr>
        <p:spPr>
          <a:xfrm>
            <a:off x="1034425" y="1837775"/>
            <a:ext cx="1020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(5, 0)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7" name="Google Shape;1267;p95"/>
          <p:cNvSpPr txBox="1"/>
          <p:nvPr>
            <p:ph type="subTitle" idx="3"/>
          </p:nvPr>
        </p:nvSpPr>
        <p:spPr>
          <a:xfrm>
            <a:off x="1034425" y="2794252"/>
            <a:ext cx="1020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268" name="Google Shape;1268;p95"/>
          <p:cNvSpPr txBox="1"/>
          <p:nvPr>
            <p:ph type="subTitle" idx="4"/>
          </p:nvPr>
        </p:nvSpPr>
        <p:spPr>
          <a:xfrm>
            <a:off x="1034425" y="3766975"/>
            <a:ext cx="1015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/>
          </a:p>
        </p:txBody>
      </p:sp>
      <p:pic>
        <p:nvPicPr>
          <p:cNvPr id="1269" name="Google Shape;126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558" y="380385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95"/>
          <p:cNvSpPr txBox="1"/>
          <p:nvPr/>
        </p:nvSpPr>
        <p:spPr>
          <a:xfrm>
            <a:off x="2587700" y="3700125"/>
            <a:ext cx="3487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intercepts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-axis when the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-coordinate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71" name="Google Shape;1271;p95"/>
          <p:cNvGraphicFramePr>
            <a:graphicFrameLocks noGrp="1"/>
          </p:cNvGraphicFramePr>
          <p:nvPr/>
        </p:nvGraphicFramePr>
        <p:xfrm>
          <a:off x="4308281" y="12473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460100"/>
                <a:gridCol w="395000"/>
                <a:gridCol w="395000"/>
                <a:gridCol w="395000"/>
                <a:gridCol w="395000"/>
                <a:gridCol w="395000"/>
                <a:gridCol w="395000"/>
                <a:gridCol w="395000"/>
                <a:gridCol w="395000"/>
              </a:tblGrid>
              <a:tr h="46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5" name="Shape 1275"/>
        <p:cNvGrpSpPr/>
        <p:nvPr/>
      </p:nvGrpSpPr>
      <p:grpSpPr>
        <a:xfrm>
          <a:off x="0" y="0"/>
          <a:ext cx="0" cy="0"/>
        </a:xfrm>
      </p:grpSpPr>
      <p:pic>
        <p:nvPicPr>
          <p:cNvPr id="1276" name="Google Shape;1276;p96" descr="&lt;math xmlns=&quot;http://www.w3.org/1998/Math/MathML&quot; data-is-equatio=&quot;1&quot; data-equatio-url=&quot;https://equatio-api.texthelp.com/desmos/get/13-11-2023/86687f5e-b8a2-4f5a-ae14-e482506d2931&quot; data-equatio-type=&quot;desmos&quot;&gt;&lt;mglyph src=&quot;https://equatio-api.texthelp.com/desmos/get/13-11-2023/86687f5e-b8a2-4f5a-ae14-e482506d2931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7011" r="59617" b="4104"/>
          <a:stretch>
            <a:fillRect/>
          </a:stretch>
        </p:blipFill>
        <p:spPr>
          <a:xfrm>
            <a:off x="6562075" y="1628350"/>
            <a:ext cx="1481014" cy="31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96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Izzy has completed a table of values and plotted coordinates for the linear relationship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endParaRPr/>
          </a:p>
        </p:txBody>
      </p:sp>
      <p:sp>
        <p:nvSpPr>
          <p:cNvPr id="1278" name="Google Shape;1278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graphicFrame>
        <p:nvGraphicFramePr>
          <p:cNvPr id="1279" name="Google Shape;1279;p96"/>
          <p:cNvGraphicFramePr>
            <a:graphicFrameLocks noGrp="1"/>
          </p:cNvGraphicFramePr>
          <p:nvPr/>
        </p:nvGraphicFramePr>
        <p:xfrm>
          <a:off x="4069516" y="16283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352400"/>
                <a:gridCol w="407250"/>
                <a:gridCol w="407250"/>
                <a:gridCol w="407250"/>
                <a:gridCol w="407250"/>
              </a:tblGrid>
              <a:tr h="398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80" name="Google Shape;1280;p96"/>
          <p:cNvSpPr txBox="1"/>
          <p:nvPr/>
        </p:nvSpPr>
        <p:spPr>
          <a:xfrm>
            <a:off x="8056917" y="421302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1" name="Google Shape;1281;p96"/>
          <p:cNvSpPr txBox="1"/>
          <p:nvPr/>
        </p:nvSpPr>
        <p:spPr>
          <a:xfrm>
            <a:off x="6744177" y="152569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2" name="Google Shape;128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5130" y="3249327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96"/>
          <p:cNvPicPr preferRelativeResize="0"/>
          <p:nvPr/>
        </p:nvPicPr>
        <p:blipFill>
          <a:blip r:embed="rId5">
            <a:alphaModFix/>
          </a:blip>
          <a:srcRect l="40550" t="13015" b="4760"/>
          <a:stretch>
            <a:fillRect/>
          </a:stretch>
        </p:blipFill>
        <p:spPr>
          <a:xfrm flipH="1">
            <a:off x="378663" y="2576275"/>
            <a:ext cx="5061652" cy="120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96"/>
          <p:cNvSpPr txBox="1"/>
          <p:nvPr>
            <p:ph type="body" idx="1"/>
          </p:nvPr>
        </p:nvSpPr>
        <p:spPr>
          <a:xfrm>
            <a:off x="476400" y="2664300"/>
            <a:ext cx="4669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line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000"/>
              <a:t> starts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2000"/>
              <a:t>and has a </a:t>
            </a:r>
            <a:r>
              <a:rPr lang="en-GB" sz="2000" b="1"/>
              <a:t>rate of change</a:t>
            </a:r>
            <a:r>
              <a:rPr lang="en-GB" sz="2000"/>
              <a:t>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+4 </a:t>
            </a:r>
            <a:r>
              <a:rPr lang="en-GB" sz="2000"/>
              <a:t>each time.</a:t>
            </a:r>
            <a:endParaRPr sz="2000"/>
          </a:p>
        </p:txBody>
      </p:sp>
      <p:sp>
        <p:nvSpPr>
          <p:cNvPr id="1285" name="Google Shape;1285;p96"/>
          <p:cNvSpPr txBox="1"/>
          <p:nvPr>
            <p:ph type="body" idx="1"/>
          </p:nvPr>
        </p:nvSpPr>
        <p:spPr>
          <a:xfrm>
            <a:off x="324000" y="3883500"/>
            <a:ext cx="4669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Write a sentence to put in Izzy’s book explaining what she needs to change.</a:t>
            </a:r>
            <a:endParaRPr sz="2000"/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9" name="Shape 1289"/>
        <p:cNvGrpSpPr/>
        <p:nvPr/>
      </p:nvGrpSpPr>
      <p:grpSpPr>
        <a:xfrm>
          <a:off x="0" y="0"/>
          <a:ext cx="0" cy="0"/>
        </a:xfrm>
      </p:grpSpPr>
      <p:sp>
        <p:nvSpPr>
          <p:cNvPr id="1290" name="Google Shape;1290;p97"/>
          <p:cNvSpPr txBox="1"/>
          <p:nvPr>
            <p:ph type="body" idx="1"/>
          </p:nvPr>
        </p:nvSpPr>
        <p:spPr>
          <a:xfrm>
            <a:off x="324000" y="759300"/>
            <a:ext cx="82377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Match the graphs to their unique descriptions.</a:t>
            </a:r>
            <a:endParaRPr/>
          </a:p>
        </p:txBody>
      </p:sp>
      <p:sp>
        <p:nvSpPr>
          <p:cNvPr id="1291" name="Google Shape;1291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pic>
        <p:nvPicPr>
          <p:cNvPr id="1292" name="Google Shape;1292;p97" descr="&lt;math xmlns=&quot;http://www.w3.org/1998/Math/MathML&quot; data-is-equatio=&quot;1&quot; data-equatio-url=&quot;https://equatio-api.texthelp.com/desmos/get/13-11-2023/5681ceab-d7da-4b0b-9949-dd6364ac7412&quot; data-equatio-type=&quot;desmos&quot;&gt;&lt;mglyph src=&quot;https://equatio-api.texthelp.com/desmos/get/13-11-2023/5681ceab-d7da-4b0b-9949-dd6364ac7412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0698" t="8379" r="33609" b="17397"/>
          <a:stretch>
            <a:fillRect/>
          </a:stretch>
        </p:blipFill>
        <p:spPr>
          <a:xfrm>
            <a:off x="3202760" y="2298447"/>
            <a:ext cx="2333444" cy="252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97" descr="&lt;math xmlns=&quot;http://www.w3.org/1998/Math/MathML&quot; data-is-equatio=&quot;1&quot; data-equatio-url=&quot;https://equatio-api.texthelp.com/desmos/get/13-11-2023/a2ebacdd-c79d-47aa-8df3-6fd59fd35c9f&quot; data-equatio-type=&quot;desmos&quot;&gt;&lt;mglyph src=&quot;https://equatio-api.texthelp.com/desmos/get/13-11-2023/a2ebacdd-c79d-47aa-8df3-6fd59fd35c9f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2118" t="10495" r="33780" b="17119"/>
          <a:stretch>
            <a:fillRect/>
          </a:stretch>
        </p:blipFill>
        <p:spPr>
          <a:xfrm>
            <a:off x="6149798" y="2320576"/>
            <a:ext cx="2304102" cy="250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97" descr="&lt;math xmlns=&quot;http://www.w3.org/1998/Math/MathML&quot; data-is-equatio=&quot;1&quot; data-equatio-url=&quot;https://equatio-api.texthelp.com/desmos/get/13-11-2023/db684f9e-5996-40b6-8ea9-bf2db77484f9&quot; data-equatio-type=&quot;desmos&quot;&gt;&lt;mglyph src=&quot;https://equatio-api.texthelp.com/desmos/get/13-11-2023/db684f9e-5996-40b6-8ea9-bf2db77484f9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11503" t="10836" r="33509" b="14940"/>
          <a:stretch>
            <a:fillRect/>
          </a:stretch>
        </p:blipFill>
        <p:spPr>
          <a:xfrm>
            <a:off x="320100" y="2295100"/>
            <a:ext cx="2304102" cy="25286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97"/>
          <p:cNvSpPr txBox="1"/>
          <p:nvPr/>
        </p:nvSpPr>
        <p:spPr>
          <a:xfrm>
            <a:off x="324000" y="1195700"/>
            <a:ext cx="2442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7"/>
          <p:cNvSpPr txBox="1"/>
          <p:nvPr/>
        </p:nvSpPr>
        <p:spPr>
          <a:xfrm>
            <a:off x="6191400" y="1195700"/>
            <a:ext cx="2442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−5)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7"/>
          <p:cNvSpPr txBox="1"/>
          <p:nvPr/>
        </p:nvSpPr>
        <p:spPr>
          <a:xfrm>
            <a:off x="3219600" y="1195700"/>
            <a:ext cx="2442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sp>
        <p:nvSpPr>
          <p:cNvPr id="1302" name="Google Shape;1302;p98"/>
          <p:cNvSpPr txBox="1"/>
          <p:nvPr>
            <p:ph type="body" idx="1"/>
          </p:nvPr>
        </p:nvSpPr>
        <p:spPr>
          <a:xfrm>
            <a:off x="324000" y="759300"/>
            <a:ext cx="82377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3) Write unique descriptions for these two graphs. Be sure to include the words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</a:t>
            </a:r>
            <a:r>
              <a:rPr lang="en-GB" b="1"/>
              <a:t>intercept</a:t>
            </a:r>
            <a:r>
              <a:rPr lang="en-GB"/>
              <a:t> and </a:t>
            </a:r>
            <a:r>
              <a:rPr lang="en-GB" b="1"/>
              <a:t>rate of change</a:t>
            </a:r>
            <a:r>
              <a:rPr lang="en-GB"/>
              <a:t>.</a:t>
            </a:r>
            <a:endParaRPr/>
          </a:p>
        </p:txBody>
      </p:sp>
      <p:sp>
        <p:nvSpPr>
          <p:cNvPr id="1303" name="Google Shape;1303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pic>
        <p:nvPicPr>
          <p:cNvPr id="1304" name="Google Shape;1304;p98" descr="&lt;math xmlns=&quot;http://www.w3.org/1998/Math/MathML&quot; data-is-equatio=&quot;1&quot; data-equatio-url=&quot;https://equatio-api.texthelp.com/desmos/get/13-11-2023/b56c62cb-b7eb-490d-8bea-f48c4e1546d9&quot; data-equatio-type=&quot;desmos&quot;&gt;&lt;mglyph src=&quot;https://equatio-api.texthelp.com/desmos/get/13-11-2023/b56c62cb-b7eb-490d-8bea-f48c4e1546d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2706" t="19646" r="31561" b="32529"/>
          <a:stretch>
            <a:fillRect/>
          </a:stretch>
        </p:blipFill>
        <p:spPr>
          <a:xfrm>
            <a:off x="643100" y="1620000"/>
            <a:ext cx="3340300" cy="2149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98"/>
          <p:cNvSpPr txBox="1"/>
          <p:nvPr/>
        </p:nvSpPr>
        <p:spPr>
          <a:xfrm>
            <a:off x="324000" y="1607195"/>
            <a:ext cx="294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98"/>
          <p:cNvSpPr txBox="1"/>
          <p:nvPr/>
        </p:nvSpPr>
        <p:spPr>
          <a:xfrm>
            <a:off x="5048400" y="1607195"/>
            <a:ext cx="294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7" name="Google Shape;1307;p98" descr="&lt;math xmlns=&quot;http://www.w3.org/1998/Math/MathML&quot; data-is-equatio=&quot;1&quot; data-equatio-url=&quot;https://equatio-api.texthelp.com/desmos/get/13-11-2023/fca40dee-3492-4348-b54d-0c740784d3ca&quot; data-equatio-type=&quot;desmos&quot;&gt;&lt;mglyph src=&quot;https://equatio-api.texthelp.com/desmos/get/13-11-2023/fca40dee-3492-4348-b54d-0c740784d3ca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4259" t="22055" r="29189" b="22848"/>
          <a:stretch>
            <a:fillRect/>
          </a:stretch>
        </p:blipFill>
        <p:spPr>
          <a:xfrm>
            <a:off x="5356257" y="1635350"/>
            <a:ext cx="3462542" cy="214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1" name="Shape 1311"/>
        <p:cNvGrpSpPr/>
        <p:nvPr/>
      </p:nvGrpSpPr>
      <p:grpSpPr>
        <a:xfrm>
          <a:off x="0" y="0"/>
          <a:ext cx="0" cy="0"/>
        </a:xfrm>
      </p:grpSpPr>
      <p:pic>
        <p:nvPicPr>
          <p:cNvPr id="1312" name="Google Shape;1312;p99" descr="&lt;math xmlns=&quot;http://www.w3.org/1998/Math/MathML&quot; data-is-equatio=&quot;1&quot; data-equatio-url=&quot;https://equatio-api.texthelp.com/desmos/get/13-11-2023/86687f5e-b8a2-4f5a-ae14-e482506d2931&quot; data-equatio-type=&quot;desmos&quot;&gt;&lt;mglyph src=&quot;https://equatio-api.texthelp.com/desmos/get/13-11-2023/86687f5e-b8a2-4f5a-ae14-e482506d2931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7011" r="59617" b="4104"/>
          <a:stretch>
            <a:fillRect/>
          </a:stretch>
        </p:blipFill>
        <p:spPr>
          <a:xfrm>
            <a:off x="6562075" y="1628350"/>
            <a:ext cx="1481014" cy="319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99" descr="&lt;math xmlns=&quot;http://www.w3.org/1998/Math/MathML&quot; data-is-equatio=&quot;1&quot; data-equatio-url=&quot;https://equatio-api.texthelp.com/desmos/get/13-11-2023/f1c8b45b-4b21-4e45-af24-407ba1f09de8&quot; data-equatio-type=&quot;desmos&quot;&gt;&lt;mglyph src=&quot;https://equatio-api.texthelp.com/desmos/get/13-11-2023/f1c8b45b-4b21-4e45-af24-407ba1f09de8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6157" r="57210"/>
          <a:stretch>
            <a:fillRect/>
          </a:stretch>
        </p:blipFill>
        <p:spPr>
          <a:xfrm>
            <a:off x="6484087" y="1595825"/>
            <a:ext cx="1559012" cy="31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99"/>
          <p:cNvSpPr txBox="1"/>
          <p:nvPr>
            <p:ph type="body" idx="1"/>
          </p:nvPr>
        </p:nvSpPr>
        <p:spPr>
          <a:xfrm>
            <a:off x="324000" y="759300"/>
            <a:ext cx="82377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Izzy has completed a table of values and plotted coordinates for the linear relationship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endParaRPr/>
          </a:p>
        </p:txBody>
      </p:sp>
      <p:sp>
        <p:nvSpPr>
          <p:cNvPr id="1315" name="Google Shape;1315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graphicFrame>
        <p:nvGraphicFramePr>
          <p:cNvPr id="1316" name="Google Shape;1316;p99"/>
          <p:cNvGraphicFramePr>
            <a:graphicFrameLocks noGrp="1"/>
          </p:cNvGraphicFramePr>
          <p:nvPr/>
        </p:nvGraphicFramePr>
        <p:xfrm>
          <a:off x="2926516" y="16283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{F9470F08-4F26-4ECD-9B23-35E9A460CBB0}</a:tableStyleId>
              </a:tblPr>
              <a:tblGrid>
                <a:gridCol w="352400"/>
                <a:gridCol w="529225"/>
                <a:gridCol w="407250"/>
                <a:gridCol w="407250"/>
                <a:gridCol w="407250"/>
                <a:gridCol w="407250"/>
                <a:gridCol w="407250"/>
                <a:gridCol w="407250"/>
              </a:tblGrid>
              <a:tr h="398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17" name="Google Shape;1317;p99"/>
          <p:cNvSpPr txBox="1"/>
          <p:nvPr/>
        </p:nvSpPr>
        <p:spPr>
          <a:xfrm>
            <a:off x="8056917" y="421302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8" name="Google Shape;1318;p99"/>
          <p:cNvSpPr txBox="1"/>
          <p:nvPr/>
        </p:nvSpPr>
        <p:spPr>
          <a:xfrm>
            <a:off x="6744177" y="1525690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9" name="Google Shape;131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5130" y="2715927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99"/>
          <p:cNvPicPr preferRelativeResize="0"/>
          <p:nvPr/>
        </p:nvPicPr>
        <p:blipFill>
          <a:blip r:embed="rId6">
            <a:alphaModFix/>
          </a:blip>
          <a:srcRect l="40550" t="13015" b="4760"/>
          <a:stretch>
            <a:fillRect/>
          </a:stretch>
        </p:blipFill>
        <p:spPr>
          <a:xfrm flipH="1">
            <a:off x="368508" y="2662640"/>
            <a:ext cx="5061652" cy="90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99"/>
          <p:cNvSpPr txBox="1"/>
          <p:nvPr>
            <p:ph type="body" idx="1"/>
          </p:nvPr>
        </p:nvSpPr>
        <p:spPr>
          <a:xfrm>
            <a:off x="476400" y="2664300"/>
            <a:ext cx="4669200" cy="7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line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000"/>
              <a:t> starts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2000"/>
              <a:t>and has a </a:t>
            </a:r>
            <a:r>
              <a:rPr lang="en-GB" sz="2000" b="1"/>
              <a:t>rate of change</a:t>
            </a:r>
            <a:r>
              <a:rPr lang="en-GB" sz="2000"/>
              <a:t>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+4 </a:t>
            </a:r>
            <a:r>
              <a:rPr lang="en-GB" sz="2000"/>
              <a:t>each time.</a:t>
            </a:r>
            <a:endParaRPr sz="2000"/>
          </a:p>
        </p:txBody>
      </p:sp>
      <p:sp>
        <p:nvSpPr>
          <p:cNvPr id="1322" name="Google Shape;1322;p99"/>
          <p:cNvSpPr txBox="1"/>
          <p:nvPr>
            <p:ph type="body" idx="1"/>
          </p:nvPr>
        </p:nvSpPr>
        <p:spPr>
          <a:xfrm>
            <a:off x="324000" y="3797135"/>
            <a:ext cx="6122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no start or end. You need to continue the line in both directions and plot zero and negative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values.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6" name="Shape 1326"/>
        <p:cNvGrpSpPr/>
        <p:nvPr/>
      </p:nvGrpSpPr>
      <p:grpSpPr>
        <a:xfrm>
          <a:off x="0" y="0"/>
          <a:ext cx="0" cy="0"/>
        </a:xfrm>
      </p:grpSpPr>
      <p:sp>
        <p:nvSpPr>
          <p:cNvPr id="1327" name="Google Shape;1327;p100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Match the graphs to their unique descriptions.</a:t>
            </a:r>
            <a:endParaRPr/>
          </a:p>
        </p:txBody>
      </p:sp>
      <p:sp>
        <p:nvSpPr>
          <p:cNvPr id="1328" name="Google Shape;1328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pic>
        <p:nvPicPr>
          <p:cNvPr id="1329" name="Google Shape;1329;p100" descr="&lt;math xmlns=&quot;http://www.w3.org/1998/Math/MathML&quot; data-is-equatio=&quot;1&quot; data-equatio-url=&quot;https://equatio-api.texthelp.com/desmos/get/13-11-2023/5681ceab-d7da-4b0b-9949-dd6364ac7412&quot; data-equatio-type=&quot;desmos&quot;&gt;&lt;mglyph src=&quot;https://equatio-api.texthelp.com/desmos/get/13-11-2023/5681ceab-d7da-4b0b-9949-dd6364ac7412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0698" t="8379" r="33609" b="17397"/>
          <a:stretch>
            <a:fillRect/>
          </a:stretch>
        </p:blipFill>
        <p:spPr>
          <a:xfrm>
            <a:off x="3202760" y="2298447"/>
            <a:ext cx="2333444" cy="252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100" descr="&lt;math xmlns=&quot;http://www.w3.org/1998/Math/MathML&quot; data-is-equatio=&quot;1&quot; data-equatio-url=&quot;https://equatio-api.texthelp.com/desmos/get/13-11-2023/a2ebacdd-c79d-47aa-8df3-6fd59fd35c9f&quot; data-equatio-type=&quot;desmos&quot;&gt;&lt;mglyph src=&quot;https://equatio-api.texthelp.com/desmos/get/13-11-2023/a2ebacdd-c79d-47aa-8df3-6fd59fd35c9f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2118" t="10495" r="33780" b="17119"/>
          <a:stretch>
            <a:fillRect/>
          </a:stretch>
        </p:blipFill>
        <p:spPr>
          <a:xfrm>
            <a:off x="6149798" y="2320576"/>
            <a:ext cx="2304102" cy="250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100" descr="&lt;math xmlns=&quot;http://www.w3.org/1998/Math/MathML&quot; data-is-equatio=&quot;1&quot; data-equatio-url=&quot;https://equatio-api.texthelp.com/desmos/get/13-11-2023/db684f9e-5996-40b6-8ea9-bf2db77484f9&quot; data-equatio-type=&quot;desmos&quot;&gt;&lt;mglyph src=&quot;https://equatio-api.texthelp.com/desmos/get/13-11-2023/db684f9e-5996-40b6-8ea9-bf2db77484f9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11503" t="10836" r="33509" b="14940"/>
          <a:stretch>
            <a:fillRect/>
          </a:stretch>
        </p:blipFill>
        <p:spPr>
          <a:xfrm>
            <a:off x="320100" y="2295100"/>
            <a:ext cx="2304102" cy="2528604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0"/>
          <p:cNvSpPr txBox="1"/>
          <p:nvPr/>
        </p:nvSpPr>
        <p:spPr>
          <a:xfrm>
            <a:off x="3143400" y="1195700"/>
            <a:ext cx="2442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0"/>
          <p:cNvSpPr txBox="1"/>
          <p:nvPr/>
        </p:nvSpPr>
        <p:spPr>
          <a:xfrm>
            <a:off x="324000" y="1195700"/>
            <a:ext cx="2442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−5)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100"/>
          <p:cNvSpPr txBox="1"/>
          <p:nvPr/>
        </p:nvSpPr>
        <p:spPr>
          <a:xfrm>
            <a:off x="6115200" y="1195700"/>
            <a:ext cx="2442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8" name="Shape 1338"/>
        <p:cNvGrpSpPr/>
        <p:nvPr/>
      </p:nvGrpSpPr>
      <p:grpSpPr>
        <a:xfrm>
          <a:off x="0" y="0"/>
          <a:ext cx="0" cy="0"/>
        </a:xfrm>
      </p:grpSpPr>
      <p:sp>
        <p:nvSpPr>
          <p:cNvPr id="1339" name="Google Shape;1339;p101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3) Write unique descriptions for these two graphs. Be sure to include the words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</a:t>
            </a:r>
            <a:r>
              <a:rPr lang="en-GB" b="1"/>
              <a:t>intercept</a:t>
            </a:r>
            <a:r>
              <a:rPr lang="en-GB"/>
              <a:t> and </a:t>
            </a:r>
            <a:r>
              <a:rPr lang="en-GB" b="1"/>
              <a:t>rate of change</a:t>
            </a:r>
            <a:r>
              <a:rPr lang="en-GB"/>
              <a:t>.</a:t>
            </a:r>
            <a:endParaRPr/>
          </a:p>
        </p:txBody>
      </p:sp>
      <p:sp>
        <p:nvSpPr>
          <p:cNvPr id="1340" name="Google Shape;1340;p10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Graphical features of linear relationships</a:t>
            </a:r>
            <a:endParaRPr/>
          </a:p>
        </p:txBody>
      </p:sp>
      <p:sp>
        <p:nvSpPr>
          <p:cNvPr id="1341" name="Google Shape;1341;p101"/>
          <p:cNvSpPr txBox="1"/>
          <p:nvPr/>
        </p:nvSpPr>
        <p:spPr>
          <a:xfrm>
            <a:off x="618600" y="3786500"/>
            <a:ext cx="33402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Intercepts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-axis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1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rate of change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2" name="Google Shape;1342;p101" descr="&lt;math xmlns=&quot;http://www.w3.org/1998/Math/MathML&quot; data-is-equatio=&quot;1&quot; data-equatio-url=&quot;https://equatio-api.texthelp.com/desmos/get/13-11-2023/b56c62cb-b7eb-490d-8bea-f48c4e1546d9&quot; data-equatio-type=&quot;desmos&quot;&gt;&lt;mglyph src=&quot;https://equatio-api.texthelp.com/desmos/get/13-11-2023/b56c62cb-b7eb-490d-8bea-f48c4e1546d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2706" t="19646" r="31561" b="32529"/>
          <a:stretch>
            <a:fillRect/>
          </a:stretch>
        </p:blipFill>
        <p:spPr>
          <a:xfrm>
            <a:off x="643100" y="1620000"/>
            <a:ext cx="3340300" cy="2149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101"/>
          <p:cNvSpPr txBox="1"/>
          <p:nvPr/>
        </p:nvSpPr>
        <p:spPr>
          <a:xfrm>
            <a:off x="324000" y="1607195"/>
            <a:ext cx="294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101"/>
          <p:cNvSpPr txBox="1"/>
          <p:nvPr/>
        </p:nvSpPr>
        <p:spPr>
          <a:xfrm>
            <a:off x="5048400" y="1607195"/>
            <a:ext cx="294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5" name="Google Shape;1345;p101" descr="&lt;math xmlns=&quot;http://www.w3.org/1998/Math/MathML&quot; data-is-equatio=&quot;1&quot; data-equatio-url=&quot;https://equatio-api.texthelp.com/desmos/get/13-11-2023/fca40dee-3492-4348-b54d-0c740784d3ca&quot; data-equatio-type=&quot;desmos&quot;&gt;&lt;mglyph src=&quot;https://equatio-api.texthelp.com/desmos/get/13-11-2023/fca40dee-3492-4348-b54d-0c740784d3ca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4259" t="22055" r="29189" b="22848"/>
          <a:stretch>
            <a:fillRect/>
          </a:stretch>
        </p:blipFill>
        <p:spPr>
          <a:xfrm>
            <a:off x="5356257" y="1635350"/>
            <a:ext cx="3462542" cy="214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101"/>
          <p:cNvSpPr txBox="1"/>
          <p:nvPr/>
        </p:nvSpPr>
        <p:spPr>
          <a:xfrm>
            <a:off x="5343000" y="3786500"/>
            <a:ext cx="33402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Intercepts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-axis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(0, 1.5)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1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rate of change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+0.5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0" name="Shape 1350"/>
        <p:cNvGrpSpPr/>
        <p:nvPr/>
      </p:nvGrpSpPr>
      <p:grpSpPr>
        <a:xfrm>
          <a:off x="0" y="0"/>
          <a:ext cx="0" cy="0"/>
        </a:xfrm>
      </p:grpSpPr>
      <p:sp>
        <p:nvSpPr>
          <p:cNvPr id="1351" name="Google Shape;1351;p102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 can appreciate that there are key elements to any linear relationship; the </a:t>
            </a:r>
            <a:r>
              <a:rPr lang="en-GB" sz="2000" b="1"/>
              <a:t>rate of change</a:t>
            </a:r>
            <a:r>
              <a:rPr lang="en-GB" sz="2000"/>
              <a:t> and </a:t>
            </a:r>
            <a:r>
              <a:rPr lang="en-GB" sz="2000" b="1"/>
              <a:t>intercept</a:t>
            </a:r>
            <a:r>
              <a:rPr lang="en-GB" sz="2000"/>
              <a:t> point with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-axis.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This description is unique to any given linear relationship.</a:t>
            </a:r>
            <a:endParaRPr sz="2000"/>
          </a:p>
        </p:txBody>
      </p:sp>
      <p:sp>
        <p:nvSpPr>
          <p:cNvPr id="1352" name="Google Shape;1352;p10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Defining features of a linear relationship</a:t>
            </a:r>
            <a:endParaRPr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6" name="Shape 1356"/>
        <p:cNvGrpSpPr/>
        <p:nvPr/>
      </p:nvGrpSpPr>
      <p:grpSpPr>
        <a:xfrm>
          <a:off x="0" y="0"/>
          <a:ext cx="0" cy="0"/>
        </a:xfrm>
      </p:grpSpPr>
      <p:sp>
        <p:nvSpPr>
          <p:cNvPr id="1357" name="Google Shape;1357;p103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8" name="Google Shape;1358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252</Paragraphs>
  <Slides>40</Slides>
  <Notes>40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baseType="lpstr" size="49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Defining features of linear relationships</vt:lpstr>
      <vt:lpstr>PowerPoint Presentation</vt:lpstr>
      <vt:lpstr>PowerPoint Presentation</vt:lpstr>
      <vt:lpstr>PowerPoint Presentation</vt:lpstr>
      <vt:lpstr>Numerical features of linear relationships</vt:lpstr>
      <vt:lpstr>Numerical features of linear relationships </vt:lpstr>
      <vt:lpstr>Numerical features of linear relationships </vt:lpstr>
      <vt:lpstr>Numerical features of linear relationships </vt:lpstr>
      <vt:lpstr>Numerical features of linear relationships </vt:lpstr>
      <vt:lpstr>Numerical features of linear relationships </vt:lpstr>
      <vt:lpstr>Numerical features of linear relationships </vt:lpstr>
      <vt:lpstr>Numerical features of linear relationships </vt:lpstr>
      <vt:lpstr>Numerical features of linear relationships </vt:lpstr>
      <vt:lpstr>Which of these is true for the linear relationship y = 8x − 1?</vt:lpstr>
      <vt:lpstr>Which of these is true for the linear relationship y = 8x − 1?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features of linear relationships</vt:lpstr>
      <vt:lpstr>Graphical features of linear relationships</vt:lpstr>
      <vt:lpstr>Graphical features of linear relationships</vt:lpstr>
      <vt:lpstr>Graphical features of linear relationships</vt:lpstr>
      <vt:lpstr>Graphical features of linear relationships</vt:lpstr>
      <vt:lpstr>Graphical features of linear relationships</vt:lpstr>
      <vt:lpstr>What is the y-intercept of this line?</vt:lpstr>
      <vt:lpstr>What is the y-intercept of this line?</vt:lpstr>
      <vt:lpstr>What is the y-intercept of the line plotted from this table of values.?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Defining features of a linear relationship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2024-01-08T16:48:45.378</cp:lastPrinted>
  <dcterms:created xsi:type="dcterms:W3CDTF">2024-01-08T16:48:45Z</dcterms:created>
  <dcterms:modified xsi:type="dcterms:W3CDTF">2024-01-08T16:49:18Z</dcterms:modified>
</cp:coreProperties>
</file>