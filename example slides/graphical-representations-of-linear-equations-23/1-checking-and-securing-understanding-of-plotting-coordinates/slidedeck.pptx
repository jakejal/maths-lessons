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a0b4b7af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a0b4b7af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ea77160af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ea77160af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ea77160af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1ea77160af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1ea77160af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1ea77160af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1ea77160afa_0_2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1ea77160afa_0_2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ea77160afa_0_2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ea77160afa_0_2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ea77160afa_0_2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ea77160afa_0_2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1ea77160afa_0_1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1ea77160afa_0_1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1ea77160afa_0_2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1ea77160afa_0_2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297873d8d83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297873d8d83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97873d8d83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97873d8d83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7873d8d83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7873d8d83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97873d8d83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97873d8d83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7873d8d83_4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7873d8d83_4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97873d8d83_4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97873d8d83_4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97873d8d83_4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97873d8d83_4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297873d8d83_4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297873d8d83_4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297873d8d83_4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297873d8d83_4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7873d8d83_4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7873d8d83_4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97873d8d83_4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97873d8d83_4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297873d8d83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297873d8d83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297873d8d83_5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297873d8d83_5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297873d8d83_5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297873d8d83_5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97873d8d83_5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97873d8d83_5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7873d8d83_5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7873d8d83_5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7873d8d83_6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7873d8d83_6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g297873d8d83_6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0" name="Google Shape;1310;g297873d8d83_6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97873d8d83_6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97873d8d83_6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97873d8d83_6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297873d8d83_6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97873d8d83_6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97873d8d83_6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97873d8d83_6_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97873d8d83_6_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97873d8d83_6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97873d8d83_6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97873d8d83_6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97873d8d83_6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97873d8d83_6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97873d8d83_6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97873d8d83_6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97873d8d83_6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6.png"/><Relationship Id="rId4" Type="http://schemas.openxmlformats.org/officeDocument/2006/relationships/image" Target="../media/image7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7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77.png"/><Relationship Id="rId4" Type="http://schemas.openxmlformats.org/officeDocument/2006/relationships/image" Target="../media/image28.png"/><Relationship Id="rId11" Type="http://schemas.openxmlformats.org/officeDocument/2006/relationships/image" Target="../media/image17.png"/><Relationship Id="rId10" Type="http://schemas.openxmlformats.org/officeDocument/2006/relationships/image" Target="../media/image39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5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1.png"/><Relationship Id="rId4" Type="http://schemas.openxmlformats.org/officeDocument/2006/relationships/image" Target="../media/image63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8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9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9.png"/><Relationship Id="rId4" Type="http://schemas.openxmlformats.org/officeDocument/2006/relationships/image" Target="../media/image6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Relationship Id="rId4" Type="http://schemas.openxmlformats.org/officeDocument/2006/relationships/image" Target="../media/image7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7.png"/><Relationship Id="rId4" Type="http://schemas.openxmlformats.org/officeDocument/2006/relationships/image" Target="../media/image6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9.png"/><Relationship Id="rId4" Type="http://schemas.openxmlformats.org/officeDocument/2006/relationships/image" Target="../media/image6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1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4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5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6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plot coordinates in any of the four quadrants.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/>
        </p:nvSpPr>
        <p:spPr>
          <a:xfrm>
            <a:off x="324000" y="742800"/>
            <a:ext cx="71352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quadrant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is any one of the four areas into which a space is divided by the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4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axes in the Cartesian coordinate system.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7" name="Google Shape;76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925" y="2049513"/>
            <a:ext cx="2778526" cy="2659374"/>
          </a:xfrm>
          <a:prstGeom prst="rect">
            <a:avLst/>
          </a:prstGeom>
          <a:noFill/>
          <a:ln cap="flat" cmpd="sng" w="1905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68" name="Google Shape;768;p67"/>
          <p:cNvSpPr txBox="1"/>
          <p:nvPr/>
        </p:nvSpPr>
        <p:spPr>
          <a:xfrm>
            <a:off x="2144625" y="2383550"/>
            <a:ext cx="11052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First quadrant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67"/>
          <p:cNvSpPr txBox="1"/>
          <p:nvPr/>
        </p:nvSpPr>
        <p:spPr>
          <a:xfrm>
            <a:off x="703125" y="2383550"/>
            <a:ext cx="11052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Second </a:t>
            </a: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quadrant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67"/>
          <p:cNvSpPr txBox="1"/>
          <p:nvPr/>
        </p:nvSpPr>
        <p:spPr>
          <a:xfrm>
            <a:off x="693001" y="3818175"/>
            <a:ext cx="11052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Third </a:t>
            </a: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quadrant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/>
        </p:nvSpPr>
        <p:spPr>
          <a:xfrm>
            <a:off x="2144651" y="3818175"/>
            <a:ext cx="11052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Fourth </a:t>
            </a:r>
            <a:r>
              <a:rPr lang="en-GB" sz="1800"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quadrant</a:t>
            </a:r>
            <a:endParaRPr sz="1800"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</a:t>
            </a:r>
            <a:r>
              <a:rPr lang="en-GB"/>
              <a:t>coordinates</a:t>
            </a:r>
            <a:r>
              <a:rPr lang="en-GB"/>
              <a:t> in all four quadrants</a:t>
            </a:r>
            <a:endParaRPr/>
          </a:p>
        </p:txBody>
      </p:sp>
      <p:sp>
        <p:nvSpPr>
          <p:cNvPr id="777" name="Google Shape;777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778" name="Google Shape;778;p68"/>
          <p:cNvSpPr txBox="1"/>
          <p:nvPr>
            <p:ph idx="3" type="title"/>
          </p:nvPr>
        </p:nvSpPr>
        <p:spPr>
          <a:xfrm>
            <a:off x="324000" y="657600"/>
            <a:ext cx="7135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  <p:pic>
        <p:nvPicPr>
          <p:cNvPr id="779" name="Google Shape;779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85" y="205442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69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897892" y="1034660"/>
            <a:ext cx="2611174" cy="968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11-2023/4695889c-25d1-420f-b650-f4d10854c00b&quot; data-equatio-type=&quot;desmos&quot;&gt;&lt;mglyph src=&quot;https://equatio-api.texthelp.com/desmos/get/03-11-2023/4695889c-25d1-420f-b650-f4d10854c00b&quot; alt=&quot;Equatio Desmos Graph&quot;/&gt;&lt;/math&gt;" id="785" name="Google Shape;785;p69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093751"/>
            <a:ext cx="4119860" cy="3726401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5040167" y="1149794"/>
            <a:ext cx="2319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That’s </a:t>
            </a:r>
            <a:r>
              <a:rPr lang="en-GB" sz="2000"/>
              <a:t>four right, three up.</a:t>
            </a:r>
            <a:endParaRPr sz="2000"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4870650" y="696378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plots the coordinate </a:t>
            </a:r>
            <a:r>
              <a:rPr lang="en-GB" sz="2000"/>
              <a:t>(4, 3)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789" name="Google Shape;789;p69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790" name="Google Shape;790;p69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510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1" name="Google Shape;791;p69"/>
          <p:cNvCxnSpPr/>
          <p:nvPr/>
        </p:nvCxnSpPr>
        <p:spPr>
          <a:xfrm>
            <a:off x="1501525" y="3256775"/>
            <a:ext cx="2716800" cy="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2" name="Google Shape;792;p69"/>
          <p:cNvCxnSpPr/>
          <p:nvPr/>
        </p:nvCxnSpPr>
        <p:spPr>
          <a:xfrm flipH="1" rot="10800000">
            <a:off x="4227241" y="1437219"/>
            <a:ext cx="102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93" name="Google Shape;793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5016" y="997742"/>
            <a:ext cx="1035586" cy="1194249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9"/>
          <p:cNvSpPr txBox="1"/>
          <p:nvPr>
            <p:ph idx="1" type="body"/>
          </p:nvPr>
        </p:nvSpPr>
        <p:spPr>
          <a:xfrm>
            <a:off x="4870656" y="2204206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has </a:t>
            </a:r>
            <a:r>
              <a:rPr lang="en-GB" sz="2000"/>
              <a:t>Alex done wrong?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4126667" y="1231663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p69"/>
          <p:cNvSpPr txBox="1"/>
          <p:nvPr>
            <p:ph idx="1" type="body"/>
          </p:nvPr>
        </p:nvSpPr>
        <p:spPr>
          <a:xfrm>
            <a:off x="4878036" y="2598833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has to be four right and three up, </a:t>
            </a:r>
            <a:r>
              <a:rPr lang="en-GB" sz="2000">
                <a:solidFill>
                  <a:schemeClr val="accent4"/>
                </a:solidFill>
              </a:rPr>
              <a:t>from the origin</a:t>
            </a:r>
            <a:r>
              <a:rPr lang="en-GB" sz="2000"/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7" name="Google Shape;797;p69"/>
          <p:cNvCxnSpPr/>
          <p:nvPr/>
        </p:nvCxnSpPr>
        <p:spPr>
          <a:xfrm>
            <a:off x="797188" y="4494512"/>
            <a:ext cx="2716800" cy="17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8" name="Google Shape;798;p69"/>
          <p:cNvCxnSpPr/>
          <p:nvPr/>
        </p:nvCxnSpPr>
        <p:spPr>
          <a:xfrm flipH="1" rot="10800000">
            <a:off x="3522903" y="2674957"/>
            <a:ext cx="10200" cy="1833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3424807" y="247392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69"/>
          <p:cNvSpPr txBox="1"/>
          <p:nvPr>
            <p:ph idx="1" type="body"/>
          </p:nvPr>
        </p:nvSpPr>
        <p:spPr>
          <a:xfrm>
            <a:off x="861600" y="3688600"/>
            <a:ext cx="1433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  <a:highlight>
                  <a:schemeClr val="lt1"/>
                </a:highlight>
              </a:rPr>
              <a:t>The origin </a:t>
            </a:r>
            <a:r>
              <a:rPr lang="en-GB" sz="2000">
                <a:highlight>
                  <a:schemeClr val="lt1"/>
                </a:highlight>
              </a:rPr>
              <a:t>(0, 0)</a:t>
            </a:r>
            <a:endParaRPr sz="2000">
              <a:highlight>
                <a:schemeClr val="lt1"/>
              </a:highlight>
            </a:endParaRPr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3607591" y="2319050"/>
            <a:ext cx="746100" cy="2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chemeClr val="lt1"/>
                </a:highlight>
              </a:rPr>
              <a:t>(4, 3)</a:t>
            </a:r>
            <a:endParaRPr sz="2000">
              <a:highlight>
                <a:schemeClr val="lt1"/>
              </a:highlight>
            </a:endParaRPr>
          </a:p>
        </p:txBody>
      </p:sp>
      <p:sp>
        <p:nvSpPr>
          <p:cNvPr id="802" name="Google Shape;802;p69"/>
          <p:cNvSpPr txBox="1"/>
          <p:nvPr>
            <p:ph idx="1" type="body"/>
          </p:nvPr>
        </p:nvSpPr>
        <p:spPr>
          <a:xfrm>
            <a:off x="4897900" y="3474850"/>
            <a:ext cx="37362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More accurate language is four in the positive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-direction and three in the positive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-direction , </a:t>
            </a:r>
            <a:r>
              <a:rPr lang="en-GB" sz="2000">
                <a:solidFill>
                  <a:schemeClr val="accent4"/>
                </a:solidFill>
              </a:rPr>
              <a:t>from the origin</a:t>
            </a:r>
            <a:r>
              <a:rPr lang="en-GB" sz="2000"/>
              <a:t>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0"/>
          <p:cNvSpPr txBox="1"/>
          <p:nvPr>
            <p:ph idx="5" type="subTitle"/>
          </p:nvPr>
        </p:nvSpPr>
        <p:spPr>
          <a:xfrm>
            <a:off x="1034425" y="4037625"/>
            <a:ext cx="3421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</a:t>
            </a:r>
            <a:r>
              <a:rPr lang="en-GB" sz="1800"/>
              <a:t> in the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five in the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808" name="Google Shape;808;p7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sentence best describes this coordinate?</a:t>
            </a:r>
            <a:endParaRPr sz="2000"/>
          </a:p>
        </p:txBody>
      </p:sp>
      <p:sp>
        <p:nvSpPr>
          <p:cNvPr id="809" name="Google Shape;809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810" name="Google Shape;810;p70"/>
          <p:cNvSpPr txBox="1"/>
          <p:nvPr>
            <p:ph idx="1" type="subTitle"/>
          </p:nvPr>
        </p:nvSpPr>
        <p:spPr>
          <a:xfrm>
            <a:off x="1034425" y="1738510"/>
            <a:ext cx="3421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 right</a:t>
            </a:r>
            <a:r>
              <a:rPr lang="en-GB" sz="1800"/>
              <a:t>, five up</a:t>
            </a:r>
            <a:endParaRPr sz="1800"/>
          </a:p>
        </p:txBody>
      </p:sp>
      <p:sp>
        <p:nvSpPr>
          <p:cNvPr id="811" name="Google Shape;811;p70"/>
          <p:cNvSpPr txBox="1"/>
          <p:nvPr>
            <p:ph idx="3" type="subTitle"/>
          </p:nvPr>
        </p:nvSpPr>
        <p:spPr>
          <a:xfrm>
            <a:off x="1034425" y="2400014"/>
            <a:ext cx="3421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two</a:t>
            </a:r>
            <a:r>
              <a:rPr lang="en-GB" sz="1800"/>
              <a:t> in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five in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812" name="Google Shape;812;p70"/>
          <p:cNvSpPr txBox="1"/>
          <p:nvPr>
            <p:ph idx="4" type="subTitle"/>
          </p:nvPr>
        </p:nvSpPr>
        <p:spPr>
          <a:xfrm>
            <a:off x="1034425" y="3205023"/>
            <a:ext cx="3421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f</a:t>
            </a:r>
            <a:r>
              <a:rPr lang="en-GB" sz="1800"/>
              <a:t>ive in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two in the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13" name="Google Shape;813;p70" title="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9848" y="1291070"/>
            <a:ext cx="154491" cy="207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14" name="Google Shape;814;p7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12559" y="4184518"/>
            <a:ext cx="154491" cy="141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11-2023/0860a0c8-659b-419c-8f94-cc25b489f266&quot; data-equatio-type=&quot;desmos&quot;&gt;&lt;mglyph src=&quot;https://equatio-api.texthelp.com/desmos/get/03-11-2023/0860a0c8-659b-419c-8f94-cc25b489f266&quot; alt=&quot;Equatio Desmos Graph&quot;/&gt;&lt;/math&gt;" id="815" name="Google Shape;815;p70" title="Equatio Desmos Grap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665" y="1226266"/>
            <a:ext cx="3581350" cy="314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5167" y="4207223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107086" y="732933"/>
            <a:ext cx="2611174" cy="1194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11-2023/4695889c-25d1-420f-b650-f4d10854c00b&quot; data-equatio-type=&quot;desmos&quot;&gt;&lt;mglyph src=&quot;https://equatio-api.texthelp.com/desmos/get/03-11-2023/4695889c-25d1-420f-b650-f4d10854c00b&quot; alt=&quot;Equatio Desmos Graph&quot;/&gt;&lt;/math&gt;" id="822" name="Google Shape;822;p7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352" y="1093751"/>
            <a:ext cx="4119860" cy="3726401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824" name="Google Shape;824;p71"/>
          <p:cNvSpPr txBox="1"/>
          <p:nvPr>
            <p:ph idx="1" type="body"/>
          </p:nvPr>
        </p:nvSpPr>
        <p:spPr>
          <a:xfrm>
            <a:off x="6370525" y="904598"/>
            <a:ext cx="2265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That’s the coordinate (5 1)</a:t>
            </a:r>
            <a:endParaRPr sz="2000"/>
          </a:p>
        </p:txBody>
      </p:sp>
      <p:sp>
        <p:nvSpPr>
          <p:cNvPr id="825" name="Google Shape;825;p71"/>
          <p:cNvSpPr txBox="1"/>
          <p:nvPr>
            <p:ph idx="1" type="body"/>
          </p:nvPr>
        </p:nvSpPr>
        <p:spPr>
          <a:xfrm>
            <a:off x="4824000" y="732925"/>
            <a:ext cx="15282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says…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26" name="Google Shape;826;p7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27" name="Google Shape;827;p7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86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047339" y="1139620"/>
            <a:ext cx="828469" cy="955039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body"/>
          </p:nvPr>
        </p:nvSpPr>
        <p:spPr>
          <a:xfrm>
            <a:off x="1249560" y="1231663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0" name="Google Shape;830;p71"/>
          <p:cNvSpPr txBox="1"/>
          <p:nvPr>
            <p:ph idx="1" type="body"/>
          </p:nvPr>
        </p:nvSpPr>
        <p:spPr>
          <a:xfrm>
            <a:off x="4744708" y="2279344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Alex has made more than one mistake. What are they?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71"/>
          <p:cNvSpPr txBox="1"/>
          <p:nvPr>
            <p:ph idx="1" type="body"/>
          </p:nvPr>
        </p:nvSpPr>
        <p:spPr>
          <a:xfrm>
            <a:off x="4745449" y="3059475"/>
            <a:ext cx="3576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Coordinates are written in the form (</a:t>
            </a:r>
            <a:r>
              <a:rPr i="1" lang="en-GB" sz="18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</a:t>
            </a:r>
            <a:r>
              <a:rPr i="1" lang="en-GB" sz="18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)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with a comma in between.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2" name="Google Shape;832;p71"/>
          <p:cNvSpPr txBox="1"/>
          <p:nvPr>
            <p:ph idx="1" type="body"/>
          </p:nvPr>
        </p:nvSpPr>
        <p:spPr>
          <a:xfrm>
            <a:off x="4773476" y="3825150"/>
            <a:ext cx="34797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In this case the </a:t>
            </a:r>
            <a:r>
              <a:rPr i="1" lang="en-GB" sz="1800">
                <a:latin typeface="Kalam"/>
                <a:ea typeface="Kalam"/>
                <a:cs typeface="Kalam"/>
                <a:sym typeface="Kalam"/>
              </a:rPr>
              <a:t>x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coordinate is 1, the </a:t>
            </a:r>
            <a:r>
              <a:rPr i="1" lang="en-GB" sz="18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coordinate 5,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so the coordinate is (1, 5).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33" name="Google Shape;833;p71"/>
          <p:cNvCxnSpPr/>
          <p:nvPr/>
        </p:nvCxnSpPr>
        <p:spPr>
          <a:xfrm>
            <a:off x="1367800" y="1397325"/>
            <a:ext cx="4800" cy="3106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34" name="Google Shape;834;p71"/>
          <p:cNvCxnSpPr/>
          <p:nvPr/>
        </p:nvCxnSpPr>
        <p:spPr>
          <a:xfrm flipH="1">
            <a:off x="605800" y="1397325"/>
            <a:ext cx="762000" cy="11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3-11-2023/29d633f8-d6fa-40fd-88f9-586414902bd5&quot; data-equatio-type=&quot;desmos&quot;&gt;&lt;mglyph src=&quot;https://equatio-api.texthelp.com/desmos/get/03-11-2023/29d633f8-d6fa-40fd-88f9-586414902bd5&quot; alt=&quot;Equatio Desmos Graph&quot;/&gt;&lt;/math&gt;" id="839" name="Google Shape;839;p7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25" y="1091475"/>
            <a:ext cx="4119900" cy="372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2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6191972" y="976499"/>
            <a:ext cx="2670828" cy="100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842" name="Google Shape;842;p72"/>
          <p:cNvSpPr txBox="1"/>
          <p:nvPr>
            <p:ph idx="1" type="body"/>
          </p:nvPr>
        </p:nvSpPr>
        <p:spPr>
          <a:xfrm>
            <a:off x="6405425" y="1116925"/>
            <a:ext cx="2426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know the missing </a:t>
            </a:r>
            <a:r>
              <a:rPr lang="en-GB" sz="2000"/>
              <a:t>coordinates.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3" name="Google Shape;843;p72"/>
          <p:cNvSpPr txBox="1"/>
          <p:nvPr>
            <p:ph idx="1" type="body"/>
          </p:nvPr>
        </p:nvSpPr>
        <p:spPr>
          <a:xfrm>
            <a:off x="4824000" y="1097800"/>
            <a:ext cx="14328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says…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44" name="Google Shape;844;p7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45" name="Google Shape;845;p72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86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2"/>
          <p:cNvSpPr txBox="1"/>
          <p:nvPr>
            <p:ph idx="1" type="body"/>
          </p:nvPr>
        </p:nvSpPr>
        <p:spPr>
          <a:xfrm>
            <a:off x="1249560" y="1851674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7" name="Google Shape;847;p72"/>
          <p:cNvSpPr txBox="1"/>
          <p:nvPr>
            <p:ph idx="1" type="body"/>
          </p:nvPr>
        </p:nvSpPr>
        <p:spPr>
          <a:xfrm>
            <a:off x="2621160" y="1851674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8" name="Google Shape;848;p72"/>
          <p:cNvSpPr txBox="1"/>
          <p:nvPr>
            <p:ph idx="1" type="body"/>
          </p:nvPr>
        </p:nvSpPr>
        <p:spPr>
          <a:xfrm>
            <a:off x="3992760" y="1851674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9" name="Google Shape;849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40551" y="1528627"/>
            <a:ext cx="786600" cy="1485278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2"/>
          <p:cNvSpPr txBox="1"/>
          <p:nvPr>
            <p:ph idx="1" type="body"/>
          </p:nvPr>
        </p:nvSpPr>
        <p:spPr>
          <a:xfrm>
            <a:off x="1350022" y="2142675"/>
            <a:ext cx="7866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(2, 8)</a:t>
            </a:r>
            <a:endParaRPr/>
          </a:p>
        </p:txBody>
      </p:sp>
      <p:sp>
        <p:nvSpPr>
          <p:cNvPr id="851" name="Google Shape;851;p72"/>
          <p:cNvSpPr txBox="1"/>
          <p:nvPr>
            <p:ph idx="1" type="body"/>
          </p:nvPr>
        </p:nvSpPr>
        <p:spPr>
          <a:xfrm>
            <a:off x="2645422" y="2142675"/>
            <a:ext cx="7866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(7, 8)</a:t>
            </a:r>
            <a:endParaRPr/>
          </a:p>
        </p:txBody>
      </p:sp>
      <p:sp>
        <p:nvSpPr>
          <p:cNvPr id="852" name="Google Shape;852;p72"/>
          <p:cNvSpPr txBox="1"/>
          <p:nvPr>
            <p:ph idx="1" type="body"/>
          </p:nvPr>
        </p:nvSpPr>
        <p:spPr>
          <a:xfrm>
            <a:off x="3864625" y="2142675"/>
            <a:ext cx="8958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(11, 8)</a:t>
            </a:r>
            <a:endParaRPr/>
          </a:p>
        </p:txBody>
      </p:sp>
      <p:sp>
        <p:nvSpPr>
          <p:cNvPr id="853" name="Google Shape;853;p72"/>
          <p:cNvSpPr txBox="1"/>
          <p:nvPr>
            <p:ph idx="1" type="body"/>
          </p:nvPr>
        </p:nvSpPr>
        <p:spPr>
          <a:xfrm>
            <a:off x="4824000" y="3231400"/>
            <a:ext cx="2987100" cy="3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has she noticed?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72"/>
          <p:cNvSpPr/>
          <p:nvPr/>
        </p:nvSpPr>
        <p:spPr>
          <a:xfrm>
            <a:off x="1740875" y="2138625"/>
            <a:ext cx="174000" cy="37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/>
          <p:nvPr/>
        </p:nvSpPr>
        <p:spPr>
          <a:xfrm>
            <a:off x="4397463" y="2149037"/>
            <a:ext cx="174000" cy="37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2"/>
          <p:cNvSpPr txBox="1"/>
          <p:nvPr>
            <p:ph idx="1" type="body"/>
          </p:nvPr>
        </p:nvSpPr>
        <p:spPr>
          <a:xfrm>
            <a:off x="4824002" y="3758490"/>
            <a:ext cx="2747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share the same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of 8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57" name="Google Shape;857;p72"/>
          <p:cNvCxnSpPr/>
          <p:nvPr/>
        </p:nvCxnSpPr>
        <p:spPr>
          <a:xfrm rot="10800000">
            <a:off x="681907" y="2018263"/>
            <a:ext cx="3432900" cy="2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58" name="Google Shape;858;p72"/>
          <p:cNvSpPr txBox="1"/>
          <p:nvPr>
            <p:ph idx="1" type="body"/>
          </p:nvPr>
        </p:nvSpPr>
        <p:spPr>
          <a:xfrm>
            <a:off x="356107" y="1827463"/>
            <a:ext cx="234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3"/>
          <p:cNvSpPr txBox="1"/>
          <p:nvPr>
            <p:ph idx="1" type="body"/>
          </p:nvPr>
        </p:nvSpPr>
        <p:spPr>
          <a:xfrm>
            <a:off x="4831326" y="1075625"/>
            <a:ext cx="40395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are the </a:t>
            </a:r>
            <a:r>
              <a:rPr lang="en-GB" sz="2000"/>
              <a:t>the missing coordinates?</a:t>
            </a:r>
            <a:endParaRPr sz="2000"/>
          </a:p>
        </p:txBody>
      </p:sp>
      <p:sp>
        <p:nvSpPr>
          <p:cNvPr id="864" name="Google Shape;86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a898be3c-442c-4f78-81ac-bf6332c11967&quot; data-equatio-type=&quot;desmos&quot;&gt;&lt;mglyph src=&quot;https://equatio-api.texthelp.com/desmos/get/06-11-2023/a898be3c-442c-4f78-81ac-bf6332c11967&quot; alt=&quot;Equatio Desmos Graph&quot;/&gt;&lt;/math&gt;" id="865" name="Google Shape;865;p7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875" y="1089225"/>
            <a:ext cx="4244700" cy="37264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866" name="Google Shape;866;p73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37" y="93549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67" name="Google Shape;867;p73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0943" y="4654291"/>
            <a:ext cx="173971" cy="1588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8" name="Google Shape;868;p73"/>
          <p:cNvGrpSpPr/>
          <p:nvPr/>
        </p:nvGrpSpPr>
        <p:grpSpPr>
          <a:xfrm>
            <a:off x="2597820" y="2561225"/>
            <a:ext cx="333962" cy="374700"/>
            <a:chOff x="5005942" y="2291025"/>
            <a:chExt cx="266700" cy="374700"/>
          </a:xfrm>
        </p:grpSpPr>
        <p:sp>
          <p:nvSpPr>
            <p:cNvPr id="869" name="Google Shape;869;p7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0" name="Google Shape;870;p7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1" name="Google Shape;871;p73"/>
          <p:cNvGrpSpPr/>
          <p:nvPr/>
        </p:nvGrpSpPr>
        <p:grpSpPr>
          <a:xfrm>
            <a:off x="3401957" y="2561225"/>
            <a:ext cx="221654" cy="374700"/>
            <a:chOff x="5005942" y="2291025"/>
            <a:chExt cx="266700" cy="374700"/>
          </a:xfrm>
        </p:grpSpPr>
        <p:sp>
          <p:nvSpPr>
            <p:cNvPr id="872" name="Google Shape;872;p7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3" name="Google Shape;873;p7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74" name="Google Shape;874;p73"/>
          <p:cNvGrpSpPr/>
          <p:nvPr/>
        </p:nvGrpSpPr>
        <p:grpSpPr>
          <a:xfrm>
            <a:off x="3401957" y="3651090"/>
            <a:ext cx="221654" cy="374700"/>
            <a:chOff x="5005942" y="2291025"/>
            <a:chExt cx="266700" cy="374700"/>
          </a:xfrm>
        </p:grpSpPr>
        <p:sp>
          <p:nvSpPr>
            <p:cNvPr id="875" name="Google Shape;875;p7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76" name="Google Shape;876;p7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877" name="Google Shape;877;p73"/>
          <p:cNvCxnSpPr/>
          <p:nvPr/>
        </p:nvCxnSpPr>
        <p:spPr>
          <a:xfrm flipH="1">
            <a:off x="734900" y="2491750"/>
            <a:ext cx="2479800" cy="6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3"/>
          <p:cNvCxnSpPr/>
          <p:nvPr/>
        </p:nvCxnSpPr>
        <p:spPr>
          <a:xfrm>
            <a:off x="3211825" y="1424000"/>
            <a:ext cx="8100" cy="3112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79" name="Google Shape;879;p73"/>
          <p:cNvSpPr txBox="1"/>
          <p:nvPr>
            <p:ph idx="1" type="body"/>
          </p:nvPr>
        </p:nvSpPr>
        <p:spPr>
          <a:xfrm>
            <a:off x="4822424" y="2036350"/>
            <a:ext cx="3997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common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for three of the coordinates.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0" name="Google Shape;880;p73"/>
          <p:cNvSpPr txBox="1"/>
          <p:nvPr>
            <p:ph idx="1" type="body"/>
          </p:nvPr>
        </p:nvSpPr>
        <p:spPr>
          <a:xfrm>
            <a:off x="4822424" y="3179350"/>
            <a:ext cx="39975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is a common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coordinate for two of them.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3-11-2023/82ebe4b6-f82e-4ba1-b95d-b06dc73d8743&quot; data-equatio-type=&quot;desmos&quot;&gt;&lt;mglyph src=&quot;https://equatio-api.texthelp.com/desmos/get/03-11-2023/82ebe4b6-f82e-4ba1-b95d-b06dc73d8743&quot; alt=&quot;Equatio Desmos Graph&quot;/&gt;&lt;/math&gt;" id="885" name="Google Shape;885;p7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70" y="1097725"/>
            <a:ext cx="4174146" cy="37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87" name="Google Shape;887;p74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67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88" name="Google Shape;888;p74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463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74"/>
          <p:cNvSpPr txBox="1"/>
          <p:nvPr>
            <p:ph idx="1" type="body"/>
          </p:nvPr>
        </p:nvSpPr>
        <p:spPr>
          <a:xfrm>
            <a:off x="4816075" y="1095375"/>
            <a:ext cx="3951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the difference between these two coordinates?</a:t>
            </a:r>
            <a:endParaRPr sz="2000"/>
          </a:p>
        </p:txBody>
      </p:sp>
      <p:cxnSp>
        <p:nvCxnSpPr>
          <p:cNvPr id="890" name="Google Shape;890;p74"/>
          <p:cNvCxnSpPr/>
          <p:nvPr/>
        </p:nvCxnSpPr>
        <p:spPr>
          <a:xfrm>
            <a:off x="2426975" y="2953700"/>
            <a:ext cx="1130400" cy="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74"/>
          <p:cNvCxnSpPr/>
          <p:nvPr/>
        </p:nvCxnSpPr>
        <p:spPr>
          <a:xfrm rot="10800000">
            <a:off x="3564725" y="1966750"/>
            <a:ext cx="2400" cy="9822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2" name="Google Shape;892;p74"/>
          <p:cNvCxnSpPr/>
          <p:nvPr/>
        </p:nvCxnSpPr>
        <p:spPr>
          <a:xfrm rot="10800000">
            <a:off x="1260050" y="2955175"/>
            <a:ext cx="1157400" cy="3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3" name="Google Shape;893;p74"/>
          <p:cNvCxnSpPr/>
          <p:nvPr/>
        </p:nvCxnSpPr>
        <p:spPr>
          <a:xfrm flipH="1">
            <a:off x="1279134" y="2955862"/>
            <a:ext cx="5100" cy="945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4" name="Google Shape;894;p74"/>
          <p:cNvSpPr txBox="1"/>
          <p:nvPr>
            <p:ph idx="1" type="body"/>
          </p:nvPr>
        </p:nvSpPr>
        <p:spPr>
          <a:xfrm>
            <a:off x="4824000" y="1848275"/>
            <a:ext cx="3873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is three in 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positive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and three in 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positive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from the origin. The coordinate (3, 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5" name="Google Shape;895;p74"/>
          <p:cNvSpPr txBox="1"/>
          <p:nvPr>
            <p:ph idx="1" type="body"/>
          </p:nvPr>
        </p:nvSpPr>
        <p:spPr>
          <a:xfrm>
            <a:off x="4824000" y="3383808"/>
            <a:ext cx="3873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One is three in 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negative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and three in the 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negative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from the origin. The coordinate (−3, −3)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6" name="Google Shape;896;p74"/>
          <p:cNvSpPr txBox="1"/>
          <p:nvPr>
            <p:ph idx="1" type="body"/>
          </p:nvPr>
        </p:nvSpPr>
        <p:spPr>
          <a:xfrm>
            <a:off x="3732925" y="1543475"/>
            <a:ext cx="776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(3, 3)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897" name="Google Shape;897;p74"/>
          <p:cNvSpPr txBox="1"/>
          <p:nvPr>
            <p:ph idx="1" type="body"/>
          </p:nvPr>
        </p:nvSpPr>
        <p:spPr>
          <a:xfrm>
            <a:off x="334875" y="4151100"/>
            <a:ext cx="1130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(−3, −3)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75"/>
          <p:cNvSpPr txBox="1"/>
          <p:nvPr>
            <p:ph idx="5" type="subTitle"/>
          </p:nvPr>
        </p:nvSpPr>
        <p:spPr>
          <a:xfrm>
            <a:off x="1034425" y="4014560"/>
            <a:ext cx="23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r>
              <a:rPr lang="en-GB" sz="1800"/>
              <a:t>egative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negative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903" name="Google Shape;903;p75"/>
          <p:cNvSpPr txBox="1"/>
          <p:nvPr>
            <p:ph type="title"/>
          </p:nvPr>
        </p:nvSpPr>
        <p:spPr>
          <a:xfrm>
            <a:off x="324000" y="810000"/>
            <a:ext cx="4248000" cy="3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is true of this coordinate?</a:t>
            </a:r>
            <a:endParaRPr sz="2000"/>
          </a:p>
        </p:txBody>
      </p:sp>
      <p:sp>
        <p:nvSpPr>
          <p:cNvPr id="904" name="Google Shape;904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id="905" name="Google Shape;90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367" y="3369023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3-11-2023/2adc43d7-60a0-438c-8789-344db7829570&quot; data-equatio-type=&quot;desmos&quot;&gt;&lt;mglyph src=&quot;https://equatio-api.texthelp.com/desmos/get/03-11-2023/2adc43d7-60a0-438c-8789-344db7829570&quot; alt=&quot;Equatio Desmos Graph&quot;/&gt;&lt;/math&gt;" id="906" name="Google Shape;906;p75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622" y="1161071"/>
            <a:ext cx="3817536" cy="3136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07" name="Google Shape;907;p7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788" y="969089"/>
            <a:ext cx="156172" cy="213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08" name="Google Shape;908;p75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95328" y="2830035"/>
            <a:ext cx="151270" cy="138116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5"/>
          <p:cNvSpPr txBox="1"/>
          <p:nvPr>
            <p:ph idx="4294967295" type="body"/>
          </p:nvPr>
        </p:nvSpPr>
        <p:spPr>
          <a:xfrm>
            <a:off x="5246616" y="1155824"/>
            <a:ext cx="297900" cy="4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/>
              <a:t>✖</a:t>
            </a:r>
            <a:endParaRPr b="1" sz="1900"/>
          </a:p>
        </p:txBody>
      </p:sp>
      <p:sp>
        <p:nvSpPr>
          <p:cNvPr id="910" name="Google Shape;910;p75"/>
          <p:cNvSpPr txBox="1"/>
          <p:nvPr>
            <p:ph idx="5" type="subTitle"/>
          </p:nvPr>
        </p:nvSpPr>
        <p:spPr>
          <a:xfrm>
            <a:off x="1034425" y="1553095"/>
            <a:ext cx="23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r>
              <a:rPr lang="en-GB" sz="1800"/>
              <a:t>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911" name="Google Shape;911;p75"/>
          <p:cNvSpPr txBox="1"/>
          <p:nvPr>
            <p:ph idx="5" type="subTitle"/>
          </p:nvPr>
        </p:nvSpPr>
        <p:spPr>
          <a:xfrm>
            <a:off x="1034425" y="2391295"/>
            <a:ext cx="23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</a:t>
            </a:r>
            <a:r>
              <a:rPr lang="en-GB" sz="1800"/>
              <a:t>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negative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912" name="Google Shape;912;p75"/>
          <p:cNvSpPr txBox="1"/>
          <p:nvPr>
            <p:ph idx="5" type="subTitle"/>
          </p:nvPr>
        </p:nvSpPr>
        <p:spPr>
          <a:xfrm>
            <a:off x="1034425" y="3206430"/>
            <a:ext cx="23352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</a:t>
            </a:r>
            <a:r>
              <a:rPr lang="en-GB" sz="1800"/>
              <a:t>egative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</a:t>
            </a:r>
            <a:r>
              <a:rPr lang="en-GB" sz="1800"/>
              <a:t>direction, positive </a:t>
            </a:r>
            <a:r>
              <a:rPr i="1" lang="en-GB" sz="2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1800"/>
              <a:t>direction</a:t>
            </a:r>
            <a:endParaRPr sz="1800"/>
          </a:p>
        </p:txBody>
      </p:sp>
      <p:sp>
        <p:nvSpPr>
          <p:cNvPr id="913" name="Google Shape;913;p75"/>
          <p:cNvSpPr txBox="1"/>
          <p:nvPr>
            <p:ph idx="4294967295" type="body"/>
          </p:nvPr>
        </p:nvSpPr>
        <p:spPr>
          <a:xfrm>
            <a:off x="5446676" y="1248150"/>
            <a:ext cx="915300" cy="3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(−4, 5)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bd1079b0-d819-4af7-8a80-af5c2e8c8bfc&quot; data-equatio-type=&quot;desmos&quot;&gt;&lt;mglyph src=&quot;https://equatio-api.texthelp.com/desmos/get/06-11-2023/bd1079b0-d819-4af7-8a80-af5c2e8c8bfc&quot; alt=&quot;Equatio Desmos Graph&quot;/&gt;&lt;/math&gt;" id="918" name="Google Shape;918;p7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961" y="1228175"/>
            <a:ext cx="3659794" cy="34273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95671fd0-3f88-4c23-8989-4bf04b7428e8&quot; data-equatio-type=&quot;desmos&quot;&gt;&lt;mglyph src=&quot;https://equatio-api.texthelp.com/desmos/get/06-11-2023/95671fd0-3f88-4c23-8989-4bf04b7428e8&quot; alt=&quot;Equatio Desmos Graph&quot;/&gt;&lt;/math&gt;" id="919" name="Google Shape;919;p7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6333" y="1227467"/>
            <a:ext cx="3659800" cy="34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coordinate A is (10, 5) what is </a:t>
            </a:r>
            <a:r>
              <a:rPr lang="en-GB"/>
              <a:t>coordinate</a:t>
            </a:r>
            <a:r>
              <a:rPr lang="en-GB"/>
              <a:t> B?</a:t>
            </a:r>
            <a:endParaRPr/>
          </a:p>
        </p:txBody>
      </p:sp>
      <p:sp>
        <p:nvSpPr>
          <p:cNvPr id="921" name="Google Shape;921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22" name="Google Shape;922;p76"/>
          <p:cNvSpPr txBox="1"/>
          <p:nvPr>
            <p:ph idx="1" type="subTitle"/>
          </p:nvPr>
        </p:nvSpPr>
        <p:spPr>
          <a:xfrm>
            <a:off x="1034425" y="1814700"/>
            <a:ext cx="91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(9, 4)</a:t>
            </a:r>
            <a:endParaRPr/>
          </a:p>
        </p:txBody>
      </p:sp>
      <p:sp>
        <p:nvSpPr>
          <p:cNvPr id="923" name="Google Shape;923;p76"/>
          <p:cNvSpPr txBox="1"/>
          <p:nvPr>
            <p:ph idx="3" type="subTitle"/>
          </p:nvPr>
        </p:nvSpPr>
        <p:spPr>
          <a:xfrm>
            <a:off x="1034425" y="2771181"/>
            <a:ext cx="916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(5, 4)</a:t>
            </a:r>
            <a:endParaRPr/>
          </a:p>
        </p:txBody>
      </p:sp>
      <p:sp>
        <p:nvSpPr>
          <p:cNvPr id="924" name="Google Shape;924;p76"/>
          <p:cNvSpPr txBox="1"/>
          <p:nvPr>
            <p:ph idx="4" type="subTitle"/>
          </p:nvPr>
        </p:nvSpPr>
        <p:spPr>
          <a:xfrm>
            <a:off x="1034425" y="3766973"/>
            <a:ext cx="911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(1, 4)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25" name="Google Shape;925;p7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9450" y="1233977"/>
            <a:ext cx="197336" cy="265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26" name="Google Shape;926;p76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45126" y="4594093"/>
            <a:ext cx="197336" cy="180177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6"/>
          <p:cNvSpPr txBox="1"/>
          <p:nvPr>
            <p:ph idx="4294967295" type="body"/>
          </p:nvPr>
        </p:nvSpPr>
        <p:spPr>
          <a:xfrm>
            <a:off x="5741391" y="1341645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76"/>
          <p:cNvSpPr txBox="1"/>
          <p:nvPr>
            <p:ph idx="4294967295" type="body"/>
          </p:nvPr>
        </p:nvSpPr>
        <p:spPr>
          <a:xfrm>
            <a:off x="6000692" y="1514513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76"/>
          <p:cNvSpPr txBox="1"/>
          <p:nvPr>
            <p:ph idx="4294967295" type="body"/>
          </p:nvPr>
        </p:nvSpPr>
        <p:spPr>
          <a:xfrm>
            <a:off x="5123274" y="1912576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0" name="Google Shape;930;p76"/>
          <p:cNvSpPr txBox="1"/>
          <p:nvPr>
            <p:ph idx="4294967295" type="body"/>
          </p:nvPr>
        </p:nvSpPr>
        <p:spPr>
          <a:xfrm>
            <a:off x="5382575" y="2085445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31" name="Google Shape;931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5760" y="281255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5e613038-b63d-44d7-a19e-389f5758e572&quot; data-equatio-type=&quot;desmos&quot;&gt;&lt;mglyph src=&quot;https://equatio-api.texthelp.com/desmos/get/06-11-2023/5e613038-b63d-44d7-a19e-389f5758e572&quot; alt=&quot;Equatio Desmos Graph&quot;/&gt;&lt;/math&gt;" id="936" name="Google Shape;936;p7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450" y="1493294"/>
            <a:ext cx="3645488" cy="309220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38" name="Google Shape;938;p77"/>
          <p:cNvSpPr txBox="1"/>
          <p:nvPr>
            <p:ph idx="1" type="body"/>
          </p:nvPr>
        </p:nvSpPr>
        <p:spPr>
          <a:xfrm>
            <a:off x="324000" y="816125"/>
            <a:ext cx="71352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Estimating</a:t>
            </a:r>
            <a:r>
              <a:rPr lang="en-GB"/>
              <a:t> coordinates is also a useful skill.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39" name="Google Shape;939;p77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4038" y="1449075"/>
            <a:ext cx="149887" cy="2051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40" name="Google Shape;940;p77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5868" y="3223984"/>
            <a:ext cx="145182" cy="13255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7"/>
          <p:cNvSpPr txBox="1"/>
          <p:nvPr>
            <p:ph idx="1" type="body"/>
          </p:nvPr>
        </p:nvSpPr>
        <p:spPr>
          <a:xfrm>
            <a:off x="4318375" y="1361075"/>
            <a:ext cx="4501500" cy="6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coordinate A is</a:t>
            </a:r>
            <a:r>
              <a:rPr lang="en-GB" sz="2000"/>
              <a:t> (−2, 4)</a:t>
            </a:r>
            <a:r>
              <a:rPr i="1" lang="en-GB" sz="2000"/>
              <a:t> </a:t>
            </a:r>
            <a:r>
              <a:rPr lang="en-GB" sz="2000"/>
              <a:t>what do we know about coordinate B?</a:t>
            </a:r>
            <a:endParaRPr sz="2000"/>
          </a:p>
        </p:txBody>
      </p:sp>
      <p:sp>
        <p:nvSpPr>
          <p:cNvPr id="942" name="Google Shape;942;p77"/>
          <p:cNvSpPr txBox="1"/>
          <p:nvPr>
            <p:ph idx="1" type="body"/>
          </p:nvPr>
        </p:nvSpPr>
        <p:spPr>
          <a:xfrm>
            <a:off x="4318375" y="2199275"/>
            <a:ext cx="4501500" cy="6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Both the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-GB" sz="2000"/>
              <a:t> </a:t>
            </a:r>
            <a:r>
              <a:rPr lang="en-GB" sz="2000"/>
              <a:t>and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coordinates are positive.</a:t>
            </a:r>
            <a:endParaRPr sz="2000"/>
          </a:p>
        </p:txBody>
      </p:sp>
      <p:sp>
        <p:nvSpPr>
          <p:cNvPr id="943" name="Google Shape;943;p77"/>
          <p:cNvSpPr txBox="1"/>
          <p:nvPr>
            <p:ph idx="1" type="body"/>
          </p:nvPr>
        </p:nvSpPr>
        <p:spPr>
          <a:xfrm>
            <a:off x="4318374" y="3037475"/>
            <a:ext cx="45015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 is less than 4</a:t>
            </a:r>
            <a:endParaRPr sz="2000"/>
          </a:p>
        </p:txBody>
      </p:sp>
      <p:sp>
        <p:nvSpPr>
          <p:cNvPr id="944" name="Google Shape;944;p77"/>
          <p:cNvSpPr txBox="1"/>
          <p:nvPr>
            <p:ph idx="1" type="body"/>
          </p:nvPr>
        </p:nvSpPr>
        <p:spPr>
          <a:xfrm>
            <a:off x="4318374" y="3570875"/>
            <a:ext cx="45015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estimate the</a:t>
            </a:r>
            <a:r>
              <a:rPr lang="en-GB" sz="2000"/>
              <a:t>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 to be greater than 2</a:t>
            </a:r>
            <a:r>
              <a:rPr lang="en-GB" sz="2000"/>
              <a:t> b</a:t>
            </a:r>
            <a:r>
              <a:rPr lang="en-GB" sz="2000"/>
              <a:t>ecause B is further from the </a:t>
            </a:r>
            <a:r>
              <a:rPr i="1" lang="en-GB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y-</a:t>
            </a:r>
            <a:r>
              <a:rPr lang="en-GB" sz="2000"/>
              <a:t>axis than A.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0446fd31-a9d6-482c-a83e-57fb724a0cbe&quot; data-equatio-type=&quot;desmos&quot;&gt;&lt;mglyph src=&quot;https://equatio-api.texthelp.com/desmos/get/06-11-2023/0446fd31-a9d6-482c-a83e-57fb724a0cbe&quot; alt=&quot;Equatio Desmos Graph&quot;/&gt;&lt;/math&gt;" id="949" name="Google Shape;949;p7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525" y="1328425"/>
            <a:ext cx="4113676" cy="34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is a good estimate for coordinate B</a:t>
            </a:r>
            <a:r>
              <a:rPr lang="en-GB"/>
              <a:t>?</a:t>
            </a:r>
            <a:endParaRPr/>
          </a:p>
        </p:txBody>
      </p:sp>
      <p:sp>
        <p:nvSpPr>
          <p:cNvPr id="951" name="Google Shape;951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52" name="Google Shape;952;p78"/>
          <p:cNvSpPr txBox="1"/>
          <p:nvPr>
            <p:ph idx="1" type="subTitle"/>
          </p:nvPr>
        </p:nvSpPr>
        <p:spPr>
          <a:xfrm>
            <a:off x="1034425" y="1814700"/>
            <a:ext cx="916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(1, −7)</a:t>
            </a:r>
            <a:endParaRPr/>
          </a:p>
        </p:txBody>
      </p:sp>
      <p:sp>
        <p:nvSpPr>
          <p:cNvPr id="953" name="Google Shape;953;p78"/>
          <p:cNvSpPr txBox="1"/>
          <p:nvPr>
            <p:ph idx="3" type="subTitle"/>
          </p:nvPr>
        </p:nvSpPr>
        <p:spPr>
          <a:xfrm>
            <a:off x="1034425" y="2771181"/>
            <a:ext cx="9168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(1, </a:t>
            </a:r>
            <a:r>
              <a:rPr lang="en-GB"/>
              <a:t>−3</a:t>
            </a:r>
            <a:r>
              <a:rPr lang="en-GB"/>
              <a:t>)</a:t>
            </a:r>
            <a:endParaRPr/>
          </a:p>
        </p:txBody>
      </p:sp>
      <p:sp>
        <p:nvSpPr>
          <p:cNvPr id="954" name="Google Shape;954;p78"/>
          <p:cNvSpPr txBox="1"/>
          <p:nvPr>
            <p:ph idx="4" type="subTitle"/>
          </p:nvPr>
        </p:nvSpPr>
        <p:spPr>
          <a:xfrm>
            <a:off x="1034425" y="3766975"/>
            <a:ext cx="1217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(3, </a:t>
            </a:r>
            <a:r>
              <a:rPr lang="en-GB"/>
              <a:t>−5</a:t>
            </a:r>
            <a:r>
              <a:rPr lang="en-GB"/>
              <a:t>)</a:t>
            </a:r>
            <a:endParaRPr/>
          </a:p>
        </p:txBody>
      </p:sp>
      <p:pic>
        <p:nvPicPr>
          <p:cNvPr id="955" name="Google Shape;955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8160" y="281255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56" name="Google Shape;956;p78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90176" y="1272431"/>
            <a:ext cx="169137" cy="231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57" name="Google Shape;957;p78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9373" y="3275297"/>
            <a:ext cx="163827" cy="149581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8"/>
          <p:cNvSpPr txBox="1"/>
          <p:nvPr>
            <p:ph idx="4294967295" type="body"/>
          </p:nvPr>
        </p:nvSpPr>
        <p:spPr>
          <a:xfrm>
            <a:off x="2097025" y="1684400"/>
            <a:ext cx="22275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Too far in 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negative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9" name="Google Shape;959;p78"/>
          <p:cNvSpPr txBox="1"/>
          <p:nvPr>
            <p:ph idx="4294967295" type="body"/>
          </p:nvPr>
        </p:nvSpPr>
        <p:spPr>
          <a:xfrm>
            <a:off x="2097025" y="3665600"/>
            <a:ext cx="22275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Too far in the positive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964" name="Google Shape;964;p7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75" y="1092950"/>
            <a:ext cx="4245276" cy="37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66" name="Google Shape;966;p79"/>
          <p:cNvSpPr txBox="1"/>
          <p:nvPr>
            <p:ph idx="4294967295" type="body"/>
          </p:nvPr>
        </p:nvSpPr>
        <p:spPr>
          <a:xfrm>
            <a:off x="4824000" y="1075611"/>
            <a:ext cx="4047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) Plot the</a:t>
            </a:r>
            <a:r>
              <a:rPr lang="en-GB"/>
              <a:t> coordinates: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67" name="Google Shape;967;p7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2576" y="815231"/>
            <a:ext cx="169137" cy="231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68" name="Google Shape;968;p7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573" y="2905829"/>
            <a:ext cx="163827" cy="149581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79"/>
          <p:cNvSpPr txBox="1"/>
          <p:nvPr>
            <p:ph idx="4294967295" type="body"/>
          </p:nvPr>
        </p:nvSpPr>
        <p:spPr>
          <a:xfrm>
            <a:off x="5783417" y="1624783"/>
            <a:ext cx="14991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(5, 2)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 −1)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(−2, 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(−3, −4)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75" name="Google Shape;975;p80"/>
          <p:cNvSpPr txBox="1"/>
          <p:nvPr>
            <p:ph idx="4294967295" type="body"/>
          </p:nvPr>
        </p:nvSpPr>
        <p:spPr>
          <a:xfrm>
            <a:off x="330499" y="823960"/>
            <a:ext cx="85404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What are the the missing coordinates?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62a6f295-dc33-440d-ac59-c1a44ed64965&quot; data-equatio-type=&quot;desmos&quot;&gt;&lt;mglyph src=&quot;https://equatio-api.texthelp.com/desmos/get/06-11-2023/62a6f295-dc33-440d-ac59-c1a44ed64965&quot; alt=&quot;Equatio Desmos Graph&quot;/&gt;&lt;/math&gt;" id="976" name="Google Shape;976;p80" title="Equatio Desmos Graph"/>
          <p:cNvPicPr preferRelativeResize="0"/>
          <p:nvPr/>
        </p:nvPicPr>
        <p:blipFill rotWithShape="1">
          <a:blip r:embed="rId3">
            <a:alphaModFix/>
          </a:blip>
          <a:srcRect b="18299" l="10098" r="18934" t="15781"/>
          <a:stretch/>
        </p:blipFill>
        <p:spPr>
          <a:xfrm>
            <a:off x="324775" y="1307850"/>
            <a:ext cx="5038492" cy="3510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7" name="Google Shape;977;p80"/>
          <p:cNvGrpSpPr/>
          <p:nvPr/>
        </p:nvGrpSpPr>
        <p:grpSpPr>
          <a:xfrm>
            <a:off x="3470618" y="2672023"/>
            <a:ext cx="333962" cy="374700"/>
            <a:chOff x="5005942" y="2291025"/>
            <a:chExt cx="266700" cy="374700"/>
          </a:xfrm>
        </p:grpSpPr>
        <p:sp>
          <p:nvSpPr>
            <p:cNvPr id="978" name="Google Shape;978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79" name="Google Shape;979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0" name="Google Shape;980;p80"/>
          <p:cNvGrpSpPr/>
          <p:nvPr/>
        </p:nvGrpSpPr>
        <p:grpSpPr>
          <a:xfrm>
            <a:off x="3939406" y="2672025"/>
            <a:ext cx="468379" cy="374700"/>
            <a:chOff x="5005942" y="2291025"/>
            <a:chExt cx="266700" cy="374700"/>
          </a:xfrm>
        </p:grpSpPr>
        <p:sp>
          <p:nvSpPr>
            <p:cNvPr id="981" name="Google Shape;981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2" name="Google Shape;982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3" name="Google Shape;983;p80"/>
          <p:cNvGrpSpPr/>
          <p:nvPr/>
        </p:nvGrpSpPr>
        <p:grpSpPr>
          <a:xfrm>
            <a:off x="1484946" y="2672025"/>
            <a:ext cx="468379" cy="374700"/>
            <a:chOff x="5005942" y="2291025"/>
            <a:chExt cx="266700" cy="374700"/>
          </a:xfrm>
        </p:grpSpPr>
        <p:sp>
          <p:nvSpPr>
            <p:cNvPr id="984" name="Google Shape;984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5" name="Google Shape;985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6" name="Google Shape;986;p80"/>
          <p:cNvGrpSpPr/>
          <p:nvPr/>
        </p:nvGrpSpPr>
        <p:grpSpPr>
          <a:xfrm>
            <a:off x="4023074" y="3263088"/>
            <a:ext cx="399863" cy="374700"/>
            <a:chOff x="5005942" y="2291025"/>
            <a:chExt cx="266700" cy="374700"/>
          </a:xfrm>
        </p:grpSpPr>
        <p:sp>
          <p:nvSpPr>
            <p:cNvPr id="987" name="Google Shape;987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88" name="Google Shape;988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89" name="Google Shape;989;p80"/>
          <p:cNvGrpSpPr/>
          <p:nvPr/>
        </p:nvGrpSpPr>
        <p:grpSpPr>
          <a:xfrm>
            <a:off x="1180146" y="3540295"/>
            <a:ext cx="468379" cy="374700"/>
            <a:chOff x="5005942" y="2291025"/>
            <a:chExt cx="266700" cy="374700"/>
          </a:xfrm>
        </p:grpSpPr>
        <p:sp>
          <p:nvSpPr>
            <p:cNvPr id="990" name="Google Shape;990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1" name="Google Shape;991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92" name="Google Shape;992;p80"/>
          <p:cNvGrpSpPr/>
          <p:nvPr/>
        </p:nvGrpSpPr>
        <p:grpSpPr>
          <a:xfrm>
            <a:off x="670274" y="3540295"/>
            <a:ext cx="399863" cy="374700"/>
            <a:chOff x="5005942" y="2291025"/>
            <a:chExt cx="266700" cy="374700"/>
          </a:xfrm>
        </p:grpSpPr>
        <p:sp>
          <p:nvSpPr>
            <p:cNvPr id="993" name="Google Shape;993;p80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94" name="Google Shape;994;p80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999" name="Google Shape;999;p8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075" y="1310017"/>
            <a:ext cx="4001176" cy="350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e1e871fd-f1b7-47e0-b8fa-b883b04f114a&quot; data-equatio-type=&quot;desmos&quot;&gt;&lt;mglyph src=&quot;https://equatio-api.texthelp.com/desmos/get/06-11-2023/e1e871fd-f1b7-47e0-b8fa-b883b04f114a&quot; alt=&quot;Equatio Desmos Graph&quot;/&gt;&lt;/math&gt;" id="1000" name="Google Shape;1000;p8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492" y="1307000"/>
            <a:ext cx="4001176" cy="3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02" name="Google Shape;1002;p81"/>
          <p:cNvSpPr txBox="1"/>
          <p:nvPr>
            <p:ph idx="4294967295" type="body"/>
          </p:nvPr>
        </p:nvSpPr>
        <p:spPr>
          <a:xfrm>
            <a:off x="330500" y="823950"/>
            <a:ext cx="50520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Solve these axes scale problems.</a:t>
            </a:r>
            <a:endParaRPr/>
          </a:p>
        </p:txBody>
      </p:sp>
      <p:sp>
        <p:nvSpPr>
          <p:cNvPr id="1003" name="Google Shape;1003;p81"/>
          <p:cNvSpPr txBox="1"/>
          <p:nvPr>
            <p:ph idx="4294967295" type="title"/>
          </p:nvPr>
        </p:nvSpPr>
        <p:spPr>
          <a:xfrm>
            <a:off x="324000" y="1282175"/>
            <a:ext cx="3691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a) </a:t>
            </a:r>
            <a:r>
              <a:rPr b="0" lang="en-GB"/>
              <a:t>If coordinate A is (−6, 4) what are B and C?</a:t>
            </a:r>
            <a:endParaRPr b="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04" name="Google Shape;1004;p81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5380" y="1070043"/>
            <a:ext cx="164394" cy="214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05" name="Google Shape;1005;p81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02474" y="3054808"/>
            <a:ext cx="164394" cy="145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81"/>
          <p:cNvSpPr txBox="1"/>
          <p:nvPr>
            <p:ph idx="4294967295" type="body"/>
          </p:nvPr>
        </p:nvSpPr>
        <p:spPr>
          <a:xfrm>
            <a:off x="5600524" y="2567422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81"/>
          <p:cNvSpPr txBox="1"/>
          <p:nvPr>
            <p:ph idx="4294967295" type="body"/>
          </p:nvPr>
        </p:nvSpPr>
        <p:spPr>
          <a:xfrm>
            <a:off x="5859825" y="2435491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8" name="Google Shape;1008;p81"/>
          <p:cNvSpPr txBox="1"/>
          <p:nvPr>
            <p:ph idx="4294967295" type="body"/>
          </p:nvPr>
        </p:nvSpPr>
        <p:spPr>
          <a:xfrm>
            <a:off x="4878614" y="2896172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81"/>
          <p:cNvSpPr txBox="1"/>
          <p:nvPr>
            <p:ph idx="4294967295" type="body"/>
          </p:nvPr>
        </p:nvSpPr>
        <p:spPr>
          <a:xfrm>
            <a:off x="5137915" y="2764240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0" name="Google Shape;1010;p81"/>
          <p:cNvSpPr txBox="1"/>
          <p:nvPr>
            <p:ph idx="4294967295" type="body"/>
          </p:nvPr>
        </p:nvSpPr>
        <p:spPr>
          <a:xfrm>
            <a:off x="5238061" y="3534957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1" name="Google Shape;1011;p81"/>
          <p:cNvSpPr txBox="1"/>
          <p:nvPr>
            <p:ph idx="4294967295" type="body"/>
          </p:nvPr>
        </p:nvSpPr>
        <p:spPr>
          <a:xfrm>
            <a:off x="5497362" y="3403026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2" name="Google Shape;1012;p81"/>
          <p:cNvSpPr txBox="1"/>
          <p:nvPr>
            <p:ph idx="4294967295" type="title"/>
          </p:nvPr>
        </p:nvSpPr>
        <p:spPr>
          <a:xfrm>
            <a:off x="324000" y="2425175"/>
            <a:ext cx="4001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b</a:t>
            </a:r>
            <a:r>
              <a:rPr b="0" lang="en-GB"/>
              <a:t>) If coordinate C is (−6, −40) what are A and B?</a:t>
            </a:r>
            <a:endParaRPr b="0"/>
          </a:p>
        </p:txBody>
      </p:sp>
      <p:sp>
        <p:nvSpPr>
          <p:cNvPr id="1013" name="Google Shape;1013;p81"/>
          <p:cNvSpPr txBox="1"/>
          <p:nvPr>
            <p:ph idx="4294967295" type="title"/>
          </p:nvPr>
        </p:nvSpPr>
        <p:spPr>
          <a:xfrm>
            <a:off x="324000" y="3491975"/>
            <a:ext cx="3945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/>
              <a:t>c</a:t>
            </a:r>
            <a:r>
              <a:rPr b="0" lang="en-GB"/>
              <a:t>) If coordinate B is (−40, 0) what are A and C?</a:t>
            </a:r>
            <a:endParaRPr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018" name="Google Shape;1018;p8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75" y="1092950"/>
            <a:ext cx="4245276" cy="3722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d2a2fdae-b72e-4e35-93cc-b4632e5bdaa8&quot; data-equatio-type=&quot;desmos&quot;&gt;&lt;mglyph src=&quot;https://equatio-api.texthelp.com/desmos/get/06-11-2023/d2a2fdae-b72e-4e35-93cc-b4632e5bdaa8&quot; alt=&quot;Equatio Desmos Graph&quot;/&gt;&lt;/math&gt;" id="1019" name="Google Shape;1019;p82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725" y="1097475"/>
            <a:ext cx="4245276" cy="372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21" name="Google Shape;1021;p82"/>
          <p:cNvSpPr txBox="1"/>
          <p:nvPr>
            <p:ph idx="4294967295" type="body"/>
          </p:nvPr>
        </p:nvSpPr>
        <p:spPr>
          <a:xfrm>
            <a:off x="4824000" y="1075611"/>
            <a:ext cx="4047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Plot the coordinates: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22" name="Google Shape;1022;p8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576" y="815231"/>
            <a:ext cx="169137" cy="2315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23" name="Google Shape;1023;p82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5573" y="2905829"/>
            <a:ext cx="163827" cy="149581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2"/>
          <p:cNvSpPr txBox="1"/>
          <p:nvPr>
            <p:ph idx="4294967295" type="body"/>
          </p:nvPr>
        </p:nvSpPr>
        <p:spPr>
          <a:xfrm>
            <a:off x="5783417" y="1624783"/>
            <a:ext cx="14991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(5, 2)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(1, −1)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(−2, 3)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(−3, −4)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30" name="Google Shape;1030;p83"/>
          <p:cNvSpPr txBox="1"/>
          <p:nvPr>
            <p:ph idx="4294967295" type="body"/>
          </p:nvPr>
        </p:nvSpPr>
        <p:spPr>
          <a:xfrm>
            <a:off x="330499" y="823960"/>
            <a:ext cx="8540400" cy="4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What are the the missing coordinates?</a:t>
            </a:r>
            <a:endParaRPr/>
          </a:p>
        </p:txBody>
      </p:sp>
      <p:sp>
        <p:nvSpPr>
          <p:cNvPr id="1031" name="Google Shape;1031;p83"/>
          <p:cNvSpPr txBox="1"/>
          <p:nvPr>
            <p:ph idx="4294967295" type="body"/>
          </p:nvPr>
        </p:nvSpPr>
        <p:spPr>
          <a:xfrm>
            <a:off x="5510315" y="1348500"/>
            <a:ext cx="3333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Scale of 1 in the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-direction.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62a6f295-dc33-440d-ac59-c1a44ed64965&quot; data-equatio-type=&quot;desmos&quot;&gt;&lt;mglyph src=&quot;https://equatio-api.texthelp.com/desmos/get/06-11-2023/62a6f295-dc33-440d-ac59-c1a44ed64965&quot; alt=&quot;Equatio Desmos Graph&quot;/&gt;&lt;/math&gt;" id="1032" name="Google Shape;1032;p83" title="Equatio Desmos Graph"/>
          <p:cNvPicPr preferRelativeResize="0"/>
          <p:nvPr/>
        </p:nvPicPr>
        <p:blipFill rotWithShape="1">
          <a:blip r:embed="rId3">
            <a:alphaModFix/>
          </a:blip>
          <a:srcRect b="18299" l="10098" r="18934" t="15781"/>
          <a:stretch/>
        </p:blipFill>
        <p:spPr>
          <a:xfrm>
            <a:off x="324775" y="1307850"/>
            <a:ext cx="5038492" cy="3510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3" name="Google Shape;1033;p83"/>
          <p:cNvGrpSpPr/>
          <p:nvPr/>
        </p:nvGrpSpPr>
        <p:grpSpPr>
          <a:xfrm>
            <a:off x="2206901" y="2817649"/>
            <a:ext cx="965887" cy="338651"/>
            <a:chOff x="2206901" y="2817649"/>
            <a:chExt cx="965887" cy="338651"/>
          </a:xfrm>
        </p:grpSpPr>
        <p:pic>
          <p:nvPicPr>
            <p:cNvPr id="1034" name="Google Shape;1034;p8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206901" y="2817649"/>
              <a:ext cx="389624" cy="338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5" name="Google Shape;1035;p8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492651" y="2817649"/>
              <a:ext cx="389624" cy="3386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6" name="Google Shape;1036;p83"/>
            <p:cNvPicPr preferRelativeResize="0"/>
            <p:nvPr/>
          </p:nvPicPr>
          <p:blipFill rotWithShape="1">
            <a:blip r:embed="rId4">
              <a:alphaModFix/>
            </a:blip>
            <a:srcRect b="84458" l="57225" r="18284" t="0"/>
            <a:stretch/>
          </p:blipFill>
          <p:spPr>
            <a:xfrm flipH="1" rot="10800000">
              <a:off x="2783163" y="2817649"/>
              <a:ext cx="389624" cy="338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7" name="Google Shape;1037;p83"/>
          <p:cNvGrpSpPr/>
          <p:nvPr/>
        </p:nvGrpSpPr>
        <p:grpSpPr>
          <a:xfrm>
            <a:off x="1180146" y="3540295"/>
            <a:ext cx="468379" cy="374700"/>
            <a:chOff x="5005942" y="2291025"/>
            <a:chExt cx="266700" cy="374700"/>
          </a:xfrm>
        </p:grpSpPr>
        <p:sp>
          <p:nvSpPr>
            <p:cNvPr id="1038" name="Google Shape;1038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39" name="Google Shape;1039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0" name="Google Shape;1040;p83"/>
          <p:cNvGrpSpPr/>
          <p:nvPr/>
        </p:nvGrpSpPr>
        <p:grpSpPr>
          <a:xfrm>
            <a:off x="1484946" y="2672025"/>
            <a:ext cx="468379" cy="374700"/>
            <a:chOff x="5005942" y="2291025"/>
            <a:chExt cx="266700" cy="374700"/>
          </a:xfrm>
        </p:grpSpPr>
        <p:sp>
          <p:nvSpPr>
            <p:cNvPr id="1041" name="Google Shape;1041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2" name="Google Shape;1042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43" name="Google Shape;1043;p83"/>
          <p:cNvGrpSpPr/>
          <p:nvPr/>
        </p:nvGrpSpPr>
        <p:grpSpPr>
          <a:xfrm>
            <a:off x="3939406" y="2672025"/>
            <a:ext cx="468379" cy="374700"/>
            <a:chOff x="5005942" y="2291025"/>
            <a:chExt cx="266700" cy="374700"/>
          </a:xfrm>
        </p:grpSpPr>
        <p:sp>
          <p:nvSpPr>
            <p:cNvPr id="1044" name="Google Shape;1044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45" name="Google Shape;1045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46" name="Google Shape;1046;p83"/>
          <p:cNvSpPr txBox="1"/>
          <p:nvPr>
            <p:ph idx="4294967295" type="body"/>
          </p:nvPr>
        </p:nvSpPr>
        <p:spPr>
          <a:xfrm>
            <a:off x="5510315" y="2491500"/>
            <a:ext cx="3333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Scale of 2 in the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-direction.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47" name="Google Shape;1047;p83"/>
          <p:cNvGrpSpPr/>
          <p:nvPr/>
        </p:nvGrpSpPr>
        <p:grpSpPr>
          <a:xfrm>
            <a:off x="5106791" y="1924501"/>
            <a:ext cx="338651" cy="1552421"/>
            <a:chOff x="5106791" y="1924501"/>
            <a:chExt cx="338651" cy="1552421"/>
          </a:xfrm>
        </p:grpSpPr>
        <p:grpSp>
          <p:nvGrpSpPr>
            <p:cNvPr id="1048" name="Google Shape;1048;p83"/>
            <p:cNvGrpSpPr/>
            <p:nvPr/>
          </p:nvGrpSpPr>
          <p:grpSpPr>
            <a:xfrm flipH="1" rot="-5400000">
              <a:off x="4793173" y="2238119"/>
              <a:ext cx="965887" cy="338651"/>
              <a:chOff x="2206901" y="2817649"/>
              <a:chExt cx="965887" cy="338651"/>
            </a:xfrm>
          </p:grpSpPr>
          <p:pic>
            <p:nvPicPr>
              <p:cNvPr id="1049" name="Google Shape;1049;p83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206901" y="2817649"/>
                <a:ext cx="389624" cy="338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0" name="Google Shape;1050;p83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492651" y="2817649"/>
                <a:ext cx="389624" cy="338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1" name="Google Shape;1051;p83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783163" y="2817649"/>
                <a:ext cx="389624" cy="3386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2" name="Google Shape;1052;p83"/>
            <p:cNvGrpSpPr/>
            <p:nvPr/>
          </p:nvGrpSpPr>
          <p:grpSpPr>
            <a:xfrm flipH="1" rot="-5400000">
              <a:off x="4936048" y="2967528"/>
              <a:ext cx="680136" cy="338651"/>
              <a:chOff x="2492651" y="2817649"/>
              <a:chExt cx="680137" cy="338651"/>
            </a:xfrm>
          </p:grpSpPr>
          <p:pic>
            <p:nvPicPr>
              <p:cNvPr id="1053" name="Google Shape;1053;p83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492651" y="2817649"/>
                <a:ext cx="389624" cy="3386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4" name="Google Shape;1054;p83"/>
              <p:cNvPicPr preferRelativeResize="0"/>
              <p:nvPr/>
            </p:nvPicPr>
            <p:blipFill rotWithShape="1">
              <a:blip r:embed="rId4">
                <a:alphaModFix/>
              </a:blip>
              <a:srcRect b="84458" l="57225" r="18284" t="0"/>
              <a:stretch/>
            </p:blipFill>
            <p:spPr>
              <a:xfrm flipH="1" rot="10800000">
                <a:off x="2783163" y="2817649"/>
                <a:ext cx="389624" cy="3386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55" name="Google Shape;1055;p83"/>
          <p:cNvGrpSpPr/>
          <p:nvPr/>
        </p:nvGrpSpPr>
        <p:grpSpPr>
          <a:xfrm>
            <a:off x="4023074" y="3263088"/>
            <a:ext cx="399863" cy="374700"/>
            <a:chOff x="5005942" y="2291025"/>
            <a:chExt cx="266700" cy="374700"/>
          </a:xfrm>
        </p:grpSpPr>
        <p:sp>
          <p:nvSpPr>
            <p:cNvPr id="1056" name="Google Shape;1056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57" name="Google Shape;1057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58" name="Google Shape;1058;p83"/>
          <p:cNvGrpSpPr/>
          <p:nvPr/>
        </p:nvGrpSpPr>
        <p:grpSpPr>
          <a:xfrm>
            <a:off x="670274" y="3540295"/>
            <a:ext cx="399863" cy="374700"/>
            <a:chOff x="5005942" y="2291025"/>
            <a:chExt cx="266700" cy="374700"/>
          </a:xfrm>
        </p:grpSpPr>
        <p:sp>
          <p:nvSpPr>
            <p:cNvPr id="1059" name="Google Shape;1059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0" name="Google Shape;1060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61" name="Google Shape;1061;p83"/>
          <p:cNvGrpSpPr/>
          <p:nvPr/>
        </p:nvGrpSpPr>
        <p:grpSpPr>
          <a:xfrm>
            <a:off x="3470618" y="2672023"/>
            <a:ext cx="333962" cy="374700"/>
            <a:chOff x="5005942" y="2291025"/>
            <a:chExt cx="266700" cy="374700"/>
          </a:xfrm>
        </p:grpSpPr>
        <p:sp>
          <p:nvSpPr>
            <p:cNvPr id="1062" name="Google Shape;1062;p83"/>
            <p:cNvSpPr/>
            <p:nvPr/>
          </p:nvSpPr>
          <p:spPr>
            <a:xfrm>
              <a:off x="5005942" y="2291025"/>
              <a:ext cx="2667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3" name="Google Shape;1063;p83"/>
            <p:cNvCxnSpPr/>
            <p:nvPr/>
          </p:nvCxnSpPr>
          <p:spPr>
            <a:xfrm>
              <a:off x="5005942" y="2630775"/>
              <a:ext cx="2667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ffe59514-470f-4bf5-bf95-67a844a89e43&quot; data-equatio-type=&quot;desmos&quot;&gt;&lt;mglyph src=&quot;https://equatio-api.texthelp.com/desmos/get/06-11-2023/ffe59514-470f-4bf5-bf95-67a844a89e43&quot; alt=&quot;Equatio Desmos Graph&quot;/&gt;&lt;/math&gt;" id="1068" name="Google Shape;1068;p8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075" y="1310017"/>
            <a:ext cx="4001176" cy="350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6-11-2023/e1e871fd-f1b7-47e0-b8fa-b883b04f114a&quot; data-equatio-type=&quot;desmos&quot;&gt;&lt;mglyph src=&quot;https://equatio-api.texthelp.com/desmos/get/06-11-2023/e1e871fd-f1b7-47e0-b8fa-b883b04f114a&quot; alt=&quot;Equatio Desmos Graph&quot;/&gt;&lt;/math&gt;" id="1069" name="Google Shape;1069;p84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5492" y="1307000"/>
            <a:ext cx="4001176" cy="350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71" name="Google Shape;1071;p84"/>
          <p:cNvSpPr txBox="1"/>
          <p:nvPr>
            <p:ph idx="4294967295" type="body"/>
          </p:nvPr>
        </p:nvSpPr>
        <p:spPr>
          <a:xfrm>
            <a:off x="330500" y="812417"/>
            <a:ext cx="50520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Solve these axes scale problems.</a:t>
            </a:r>
            <a:endParaRPr/>
          </a:p>
        </p:txBody>
      </p:sp>
      <p:sp>
        <p:nvSpPr>
          <p:cNvPr id="1072" name="Google Shape;1072;p84"/>
          <p:cNvSpPr txBox="1"/>
          <p:nvPr>
            <p:ph idx="4294967295" type="title"/>
          </p:nvPr>
        </p:nvSpPr>
        <p:spPr>
          <a:xfrm>
            <a:off x="324000" y="1164373"/>
            <a:ext cx="3691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a) If coordinate A is (−6, 4) what are B and C?</a:t>
            </a:r>
            <a:endParaRPr b="0" sz="2000"/>
          </a:p>
        </p:txBody>
      </p:sp>
      <p:sp>
        <p:nvSpPr>
          <p:cNvPr id="1073" name="Google Shape;1073;p84"/>
          <p:cNvSpPr txBox="1"/>
          <p:nvPr>
            <p:ph idx="4294967295" type="subTitle"/>
          </p:nvPr>
        </p:nvSpPr>
        <p:spPr>
          <a:xfrm>
            <a:off x="610800" y="1957785"/>
            <a:ext cx="136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(−12,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74" name="Google Shape;1074;p84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5380" y="1070043"/>
            <a:ext cx="164394" cy="2144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75" name="Google Shape;1075;p84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02474" y="3054808"/>
            <a:ext cx="164394" cy="1454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6" name="Google Shape;1076;p84"/>
          <p:cNvSpPr txBox="1"/>
          <p:nvPr>
            <p:ph idx="4294967295" type="body"/>
          </p:nvPr>
        </p:nvSpPr>
        <p:spPr>
          <a:xfrm>
            <a:off x="5600524" y="2567422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84"/>
          <p:cNvSpPr txBox="1"/>
          <p:nvPr>
            <p:ph idx="4294967295" type="body"/>
          </p:nvPr>
        </p:nvSpPr>
        <p:spPr>
          <a:xfrm>
            <a:off x="5859825" y="2435491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84"/>
          <p:cNvSpPr txBox="1"/>
          <p:nvPr>
            <p:ph idx="4294967295" type="body"/>
          </p:nvPr>
        </p:nvSpPr>
        <p:spPr>
          <a:xfrm>
            <a:off x="4878614" y="2896172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84"/>
          <p:cNvSpPr txBox="1"/>
          <p:nvPr>
            <p:ph idx="4294967295" type="body"/>
          </p:nvPr>
        </p:nvSpPr>
        <p:spPr>
          <a:xfrm>
            <a:off x="5137915" y="2764240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0" name="Google Shape;1080;p84"/>
          <p:cNvSpPr txBox="1"/>
          <p:nvPr>
            <p:ph idx="4294967295" type="body"/>
          </p:nvPr>
        </p:nvSpPr>
        <p:spPr>
          <a:xfrm>
            <a:off x="5238061" y="3534957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84"/>
          <p:cNvSpPr txBox="1"/>
          <p:nvPr>
            <p:ph idx="4294967295" type="body"/>
          </p:nvPr>
        </p:nvSpPr>
        <p:spPr>
          <a:xfrm>
            <a:off x="5497362" y="3403026"/>
            <a:ext cx="326400" cy="44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2" name="Google Shape;1082;p84"/>
          <p:cNvSpPr txBox="1"/>
          <p:nvPr>
            <p:ph idx="4294967295" type="title"/>
          </p:nvPr>
        </p:nvSpPr>
        <p:spPr>
          <a:xfrm>
            <a:off x="324000" y="2307373"/>
            <a:ext cx="3945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b) If coordinate C is (−6, −40) what are A and B?</a:t>
            </a:r>
            <a:endParaRPr b="0" sz="2000"/>
          </a:p>
        </p:txBody>
      </p:sp>
      <p:sp>
        <p:nvSpPr>
          <p:cNvPr id="1083" name="Google Shape;1083;p84"/>
          <p:cNvSpPr txBox="1"/>
          <p:nvPr>
            <p:ph idx="4294967295" type="title"/>
          </p:nvPr>
        </p:nvSpPr>
        <p:spPr>
          <a:xfrm>
            <a:off x="324000" y="3339575"/>
            <a:ext cx="3945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/>
              <a:t>c) If coordinate B is (−40, 0) what are A and C?</a:t>
            </a:r>
            <a:endParaRPr b="0" sz="2000"/>
          </a:p>
        </p:txBody>
      </p:sp>
      <p:sp>
        <p:nvSpPr>
          <p:cNvPr id="1084" name="Google Shape;1084;p84"/>
          <p:cNvSpPr txBox="1"/>
          <p:nvPr>
            <p:ph idx="4294967295" type="subTitle"/>
          </p:nvPr>
        </p:nvSpPr>
        <p:spPr>
          <a:xfrm>
            <a:off x="2363400" y="1957785"/>
            <a:ext cx="136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(−9, −8)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84"/>
          <p:cNvSpPr txBox="1"/>
          <p:nvPr>
            <p:ph idx="4294967295" type="subTitle"/>
          </p:nvPr>
        </p:nvSpPr>
        <p:spPr>
          <a:xfrm>
            <a:off x="577225" y="2986438"/>
            <a:ext cx="136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(−4, 20)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6" name="Google Shape;1086;p84"/>
          <p:cNvSpPr txBox="1"/>
          <p:nvPr>
            <p:ph idx="4294967295" type="subTitle"/>
          </p:nvPr>
        </p:nvSpPr>
        <p:spPr>
          <a:xfrm>
            <a:off x="2329825" y="2986438"/>
            <a:ext cx="1365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(−8, 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84"/>
          <p:cNvSpPr txBox="1"/>
          <p:nvPr>
            <p:ph idx="4294967295" type="body"/>
          </p:nvPr>
        </p:nvSpPr>
        <p:spPr>
          <a:xfrm>
            <a:off x="340250" y="4045570"/>
            <a:ext cx="42981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coordinates of −30 and −20 but we don’t know the scale on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-axis.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93" name="Google Shape;1093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094" name="Google Shape;1094;p85"/>
          <p:cNvSpPr txBox="1"/>
          <p:nvPr>
            <p:ph idx="3" type="title"/>
          </p:nvPr>
        </p:nvSpPr>
        <p:spPr>
          <a:xfrm>
            <a:off x="324000" y="657600"/>
            <a:ext cx="7135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  <p:pic>
        <p:nvPicPr>
          <p:cNvPr id="1095" name="Google Shape;109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285" y="2991887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550bdf6c-b43d-4ccf-8814-a0e139da30e7&quot; data-equatio-type=&quot;desmos&quot;&gt;&lt;mglyph src=&quot;https://equatio-api.texthelp.com/desmos/get/06-11-2023/550bdf6c-b43d-4ccf-8814-a0e139da30e7&quot; alt=&quot;Equatio Desmos Graph&quot;/&gt;&lt;/math&gt;" id="1100" name="Google Shape;1100;p8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89225"/>
            <a:ext cx="4119850" cy="372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oordinate problem solving with shapes</a:t>
            </a:r>
            <a:endParaRPr/>
          </a:p>
        </p:txBody>
      </p:sp>
      <p:sp>
        <p:nvSpPr>
          <p:cNvPr id="1102" name="Google Shape;1102;p86"/>
          <p:cNvSpPr txBox="1"/>
          <p:nvPr>
            <p:ph idx="1" type="body"/>
          </p:nvPr>
        </p:nvSpPr>
        <p:spPr>
          <a:xfrm>
            <a:off x="4822275" y="1075625"/>
            <a:ext cx="3996000" cy="18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identical squares.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</a:t>
            </a:r>
            <a:r>
              <a:rPr lang="en-GB"/>
              <a:t>coordinate</a:t>
            </a:r>
            <a:r>
              <a:rPr lang="en-GB"/>
              <a:t> B is</a:t>
            </a:r>
            <a:r>
              <a:rPr lang="en-GB"/>
              <a:t> (12, 12) </a:t>
            </a:r>
            <a:r>
              <a:rPr lang="en-GB"/>
              <a:t>then how do we know coordinate A?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03" name="Google Shape;1103;p86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04" name="Google Shape;1104;p86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6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86"/>
          <p:cNvSpPr txBox="1"/>
          <p:nvPr>
            <p:ph idx="1" type="body"/>
          </p:nvPr>
        </p:nvSpPr>
        <p:spPr>
          <a:xfrm>
            <a:off x="4827287" y="2940293"/>
            <a:ext cx="3996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It’s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, 6)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because it’s half the distance in both the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directions.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6"/>
          <p:cNvSpPr/>
          <p:nvPr/>
        </p:nvSpPr>
        <p:spPr>
          <a:xfrm>
            <a:off x="2057624" y="1907413"/>
            <a:ext cx="1485262" cy="1312824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86"/>
          <p:cNvSpPr/>
          <p:nvPr/>
        </p:nvSpPr>
        <p:spPr>
          <a:xfrm>
            <a:off x="581449" y="3220871"/>
            <a:ext cx="1485262" cy="1312824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86"/>
          <p:cNvSpPr txBox="1"/>
          <p:nvPr>
            <p:ph idx="1" type="body"/>
          </p:nvPr>
        </p:nvSpPr>
        <p:spPr>
          <a:xfrm>
            <a:off x="3436295" y="1730465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9" name="Google Shape;1109;p86"/>
          <p:cNvSpPr txBox="1"/>
          <p:nvPr>
            <p:ph idx="1" type="body"/>
          </p:nvPr>
        </p:nvSpPr>
        <p:spPr>
          <a:xfrm>
            <a:off x="3579998" y="1461160"/>
            <a:ext cx="1239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B (12, 12)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10" name="Google Shape;1110;p86"/>
          <p:cNvSpPr txBox="1"/>
          <p:nvPr>
            <p:ph idx="1" type="body"/>
          </p:nvPr>
        </p:nvSpPr>
        <p:spPr>
          <a:xfrm>
            <a:off x="1949370" y="304893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86"/>
          <p:cNvSpPr txBox="1"/>
          <p:nvPr>
            <p:ph idx="1" type="body"/>
          </p:nvPr>
        </p:nvSpPr>
        <p:spPr>
          <a:xfrm>
            <a:off x="2093075" y="2819225"/>
            <a:ext cx="1239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12" name="Google Shape;1112;p86"/>
          <p:cNvGrpSpPr/>
          <p:nvPr/>
        </p:nvGrpSpPr>
        <p:grpSpPr>
          <a:xfrm>
            <a:off x="579654" y="3222560"/>
            <a:ext cx="1485250" cy="1312818"/>
            <a:chOff x="579654" y="3222560"/>
            <a:chExt cx="1485250" cy="1312818"/>
          </a:xfrm>
        </p:grpSpPr>
        <p:cxnSp>
          <p:nvCxnSpPr>
            <p:cNvPr id="1113" name="Google Shape;1113;p86"/>
            <p:cNvCxnSpPr/>
            <p:nvPr/>
          </p:nvCxnSpPr>
          <p:spPr>
            <a:xfrm>
              <a:off x="579654" y="4535379"/>
              <a:ext cx="1472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4" name="Google Shape;1114;p86"/>
            <p:cNvCxnSpPr/>
            <p:nvPr/>
          </p:nvCxnSpPr>
          <p:spPr>
            <a:xfrm rot="10800000">
              <a:off x="2061904" y="3222560"/>
              <a:ext cx="3000" cy="130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15" name="Google Shape;1115;p86"/>
          <p:cNvGrpSpPr/>
          <p:nvPr/>
        </p:nvGrpSpPr>
        <p:grpSpPr>
          <a:xfrm>
            <a:off x="2069056" y="1915628"/>
            <a:ext cx="1485250" cy="1312818"/>
            <a:chOff x="2069056" y="1915628"/>
            <a:chExt cx="1485250" cy="1312818"/>
          </a:xfrm>
        </p:grpSpPr>
        <p:cxnSp>
          <p:nvCxnSpPr>
            <p:cNvPr id="1116" name="Google Shape;1116;p86"/>
            <p:cNvCxnSpPr/>
            <p:nvPr/>
          </p:nvCxnSpPr>
          <p:spPr>
            <a:xfrm>
              <a:off x="2069056" y="3228446"/>
              <a:ext cx="1472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7" name="Google Shape;1117;p86"/>
            <p:cNvCxnSpPr/>
            <p:nvPr/>
          </p:nvCxnSpPr>
          <p:spPr>
            <a:xfrm rot="10800000">
              <a:off x="3551306" y="1915628"/>
              <a:ext cx="3000" cy="130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18" name="Google Shape;1118;p86"/>
          <p:cNvSpPr txBox="1"/>
          <p:nvPr>
            <p:ph idx="1" type="body"/>
          </p:nvPr>
        </p:nvSpPr>
        <p:spPr>
          <a:xfrm>
            <a:off x="2093075" y="2819225"/>
            <a:ext cx="9741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A </a:t>
            </a:r>
            <a:r>
              <a:rPr lang="en-GB">
                <a:highlight>
                  <a:schemeClr val="lt1"/>
                </a:highlight>
              </a:rPr>
              <a:t>(6, 6)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11164695-a3e2-4f88-86c2-c923dfe3d749&quot; data-equatio-type=&quot;desmos&quot;&gt;&lt;mglyph src=&quot;https://equatio-api.texthelp.com/desmos/get/06-11-2023/11164695-a3e2-4f88-86c2-c923dfe3d749&quot; alt=&quot;Equatio Desmos Graph&quot;/&gt;&lt;/math&gt;" id="1123" name="Google Shape;1123;p8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00" y="1089223"/>
            <a:ext cx="4119850" cy="372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87"/>
          <p:cNvSpPr/>
          <p:nvPr/>
        </p:nvSpPr>
        <p:spPr>
          <a:xfrm>
            <a:off x="581449" y="3544211"/>
            <a:ext cx="735600" cy="9816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7"/>
          <p:cNvSpPr/>
          <p:nvPr/>
        </p:nvSpPr>
        <p:spPr>
          <a:xfrm>
            <a:off x="1320384" y="2572149"/>
            <a:ext cx="735600" cy="9816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7"/>
          <p:cNvSpPr/>
          <p:nvPr/>
        </p:nvSpPr>
        <p:spPr>
          <a:xfrm>
            <a:off x="2070852" y="1581549"/>
            <a:ext cx="735600" cy="9816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128" name="Google Shape;1128;p87"/>
          <p:cNvSpPr txBox="1"/>
          <p:nvPr>
            <p:ph idx="1" type="body"/>
          </p:nvPr>
        </p:nvSpPr>
        <p:spPr>
          <a:xfrm>
            <a:off x="4572575" y="1075625"/>
            <a:ext cx="4245600" cy="14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 identical rectangles.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If coordinate A is (8, 10)</a:t>
            </a:r>
            <a:r>
              <a:rPr lang="en-GB"/>
              <a:t>,</a:t>
            </a:r>
            <a:r>
              <a:rPr lang="en-GB"/>
              <a:t> how do we find B and C?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29" name="Google Shape;1129;p87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2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30" name="Google Shape;1130;p87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8606" y="4624221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7"/>
          <p:cNvSpPr txBox="1"/>
          <p:nvPr>
            <p:ph idx="1" type="body"/>
          </p:nvPr>
        </p:nvSpPr>
        <p:spPr>
          <a:xfrm>
            <a:off x="4572574" y="2559300"/>
            <a:ext cx="42507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Repeat the same “8 in the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-direction, 10 in the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-direction” journey.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2" name="Google Shape;1132;p87"/>
          <p:cNvGrpSpPr/>
          <p:nvPr/>
        </p:nvGrpSpPr>
        <p:grpSpPr>
          <a:xfrm>
            <a:off x="1365717" y="2574765"/>
            <a:ext cx="690344" cy="981594"/>
            <a:chOff x="2069056" y="1915628"/>
            <a:chExt cx="1485250" cy="1312818"/>
          </a:xfrm>
        </p:grpSpPr>
        <p:cxnSp>
          <p:nvCxnSpPr>
            <p:cNvPr id="1133" name="Google Shape;1133;p87"/>
            <p:cNvCxnSpPr/>
            <p:nvPr/>
          </p:nvCxnSpPr>
          <p:spPr>
            <a:xfrm>
              <a:off x="2069056" y="3228446"/>
              <a:ext cx="1472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34" name="Google Shape;1134;p87"/>
            <p:cNvCxnSpPr/>
            <p:nvPr/>
          </p:nvCxnSpPr>
          <p:spPr>
            <a:xfrm rot="10800000">
              <a:off x="3551306" y="1915628"/>
              <a:ext cx="3000" cy="130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35" name="Google Shape;1135;p87"/>
          <p:cNvSpPr txBox="1"/>
          <p:nvPr>
            <p:ph idx="1" type="body"/>
          </p:nvPr>
        </p:nvSpPr>
        <p:spPr>
          <a:xfrm>
            <a:off x="1210435" y="3365263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6" name="Google Shape;1136;p87"/>
          <p:cNvSpPr txBox="1"/>
          <p:nvPr>
            <p:ph idx="1" type="body"/>
          </p:nvPr>
        </p:nvSpPr>
        <p:spPr>
          <a:xfrm>
            <a:off x="1949370" y="239320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87"/>
          <p:cNvSpPr txBox="1"/>
          <p:nvPr>
            <p:ph idx="1" type="body"/>
          </p:nvPr>
        </p:nvSpPr>
        <p:spPr>
          <a:xfrm>
            <a:off x="2699837" y="140260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8" name="Google Shape;1138;p87"/>
          <p:cNvSpPr txBox="1"/>
          <p:nvPr>
            <p:ph idx="1" type="body"/>
          </p:nvPr>
        </p:nvSpPr>
        <p:spPr>
          <a:xfrm>
            <a:off x="2208400" y="2627225"/>
            <a:ext cx="1338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B </a:t>
            </a:r>
            <a:r>
              <a:rPr lang="en-GB">
                <a:highlight>
                  <a:schemeClr val="lt1"/>
                </a:highlight>
              </a:rPr>
              <a:t>(16, 20)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39" name="Google Shape;1139;p87"/>
          <p:cNvSpPr txBox="1"/>
          <p:nvPr>
            <p:ph idx="1" type="body"/>
          </p:nvPr>
        </p:nvSpPr>
        <p:spPr>
          <a:xfrm>
            <a:off x="2208400" y="2627215"/>
            <a:ext cx="4347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0" name="Google Shape;1140;p87"/>
          <p:cNvSpPr txBox="1"/>
          <p:nvPr>
            <p:ph idx="1" type="body"/>
          </p:nvPr>
        </p:nvSpPr>
        <p:spPr>
          <a:xfrm>
            <a:off x="2947324" y="1581550"/>
            <a:ext cx="1338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C </a:t>
            </a:r>
            <a:r>
              <a:rPr lang="en-GB">
                <a:highlight>
                  <a:schemeClr val="lt1"/>
                </a:highlight>
              </a:rPr>
              <a:t>(24, 30)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41" name="Google Shape;1141;p87"/>
          <p:cNvSpPr txBox="1"/>
          <p:nvPr>
            <p:ph idx="1" type="body"/>
          </p:nvPr>
        </p:nvSpPr>
        <p:spPr>
          <a:xfrm>
            <a:off x="2947335" y="1583480"/>
            <a:ext cx="4347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42" name="Google Shape;1142;p87"/>
          <p:cNvGrpSpPr/>
          <p:nvPr/>
        </p:nvGrpSpPr>
        <p:grpSpPr>
          <a:xfrm>
            <a:off x="2127717" y="1584165"/>
            <a:ext cx="690344" cy="981594"/>
            <a:chOff x="2069056" y="1915628"/>
            <a:chExt cx="1485250" cy="1312818"/>
          </a:xfrm>
        </p:grpSpPr>
        <p:cxnSp>
          <p:nvCxnSpPr>
            <p:cNvPr id="1143" name="Google Shape;1143;p87"/>
            <p:cNvCxnSpPr/>
            <p:nvPr/>
          </p:nvCxnSpPr>
          <p:spPr>
            <a:xfrm>
              <a:off x="2069056" y="3228446"/>
              <a:ext cx="147240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44" name="Google Shape;1144;p87"/>
            <p:cNvCxnSpPr/>
            <p:nvPr/>
          </p:nvCxnSpPr>
          <p:spPr>
            <a:xfrm rot="10800000">
              <a:off x="3551306" y="1915628"/>
              <a:ext cx="3000" cy="130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45" name="Google Shape;1145;p87"/>
          <p:cNvSpPr txBox="1"/>
          <p:nvPr>
            <p:ph idx="1" type="body"/>
          </p:nvPr>
        </p:nvSpPr>
        <p:spPr>
          <a:xfrm>
            <a:off x="1389339" y="3654900"/>
            <a:ext cx="14064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A </a:t>
            </a:r>
            <a:r>
              <a:rPr lang="en-GB">
                <a:highlight>
                  <a:schemeClr val="lt1"/>
                </a:highlight>
              </a:rPr>
              <a:t>(8, 10)</a:t>
            </a:r>
            <a:endParaRPr>
              <a:highlight>
                <a:schemeClr val="lt1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550bdf6c-b43d-4ccf-8814-a0e139da30e7&quot; data-equatio-type=&quot;desmos&quot;&gt;&lt;mglyph src=&quot;https://equatio-api.texthelp.com/desmos/get/06-11-2023/550bdf6c-b43d-4ccf-8814-a0e139da30e7&quot; alt=&quot;Equatio Desmos Graph&quot;/&gt;&lt;/math&gt;" id="1150" name="Google Shape;1150;p8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0385" y="1233349"/>
            <a:ext cx="3437302" cy="31090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88"/>
          <p:cNvSpPr/>
          <p:nvPr/>
        </p:nvSpPr>
        <p:spPr>
          <a:xfrm>
            <a:off x="5485750" y="3555410"/>
            <a:ext cx="920700" cy="5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8"/>
          <p:cNvSpPr/>
          <p:nvPr/>
        </p:nvSpPr>
        <p:spPr>
          <a:xfrm>
            <a:off x="6400150" y="3013989"/>
            <a:ext cx="920700" cy="5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8"/>
          <p:cNvSpPr/>
          <p:nvPr/>
        </p:nvSpPr>
        <p:spPr>
          <a:xfrm>
            <a:off x="7314550" y="2472567"/>
            <a:ext cx="920700" cy="5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55" name="Google Shape;1155;p8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5358" y="1080001"/>
            <a:ext cx="145149" cy="195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56" name="Google Shape;1156;p8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70501" y="4182682"/>
            <a:ext cx="145149" cy="1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8"/>
          <p:cNvSpPr txBox="1"/>
          <p:nvPr>
            <p:ph idx="1" type="subTitle"/>
          </p:nvPr>
        </p:nvSpPr>
        <p:spPr>
          <a:xfrm>
            <a:off x="1034425" y="1837775"/>
            <a:ext cx="11589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(15, 1.2)</a:t>
            </a:r>
            <a:endParaRPr/>
          </a:p>
        </p:txBody>
      </p:sp>
      <p:sp>
        <p:nvSpPr>
          <p:cNvPr id="1158" name="Google Shape;1158;p88"/>
          <p:cNvSpPr txBox="1"/>
          <p:nvPr>
            <p:ph idx="4294967295" type="body"/>
          </p:nvPr>
        </p:nvSpPr>
        <p:spPr>
          <a:xfrm>
            <a:off x="6293849" y="3393590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9" name="Google Shape;1159;p88"/>
          <p:cNvSpPr txBox="1"/>
          <p:nvPr>
            <p:ph idx="4294967295" type="body"/>
          </p:nvPr>
        </p:nvSpPr>
        <p:spPr>
          <a:xfrm>
            <a:off x="6492400" y="3570811"/>
            <a:ext cx="13038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A </a:t>
            </a:r>
            <a:r>
              <a:rPr lang="en-GB">
                <a:highlight>
                  <a:schemeClr val="lt1"/>
                </a:highlight>
              </a:rPr>
              <a:t>(5, 0.4)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60" name="Google Shape;1160;p88"/>
          <p:cNvSpPr txBox="1"/>
          <p:nvPr>
            <p:ph idx="4294967295" type="body"/>
          </p:nvPr>
        </p:nvSpPr>
        <p:spPr>
          <a:xfrm>
            <a:off x="8122682" y="2302000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1" name="Google Shape;1161;p88"/>
          <p:cNvSpPr txBox="1"/>
          <p:nvPr>
            <p:ph idx="4294967295" type="body"/>
          </p:nvPr>
        </p:nvSpPr>
        <p:spPr>
          <a:xfrm>
            <a:off x="7938055" y="2106282"/>
            <a:ext cx="27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B</a:t>
            </a:r>
            <a:endParaRPr sz="24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2" name="Google Shape;1162;p88"/>
          <p:cNvSpPr txBox="1"/>
          <p:nvPr>
            <p:ph type="title"/>
          </p:nvPr>
        </p:nvSpPr>
        <p:spPr>
          <a:xfrm>
            <a:off x="324000" y="748775"/>
            <a:ext cx="522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the coordinates of point B?</a:t>
            </a:r>
            <a:endParaRPr/>
          </a:p>
        </p:txBody>
      </p:sp>
      <p:sp>
        <p:nvSpPr>
          <p:cNvPr id="1163" name="Google Shape;1163;p88"/>
          <p:cNvSpPr txBox="1"/>
          <p:nvPr>
            <p:ph idx="1" type="subTitle"/>
          </p:nvPr>
        </p:nvSpPr>
        <p:spPr>
          <a:xfrm>
            <a:off x="2756955" y="1685375"/>
            <a:ext cx="2303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Three times the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journey to (5, 0.4)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8"/>
          <p:cNvSpPr txBox="1"/>
          <p:nvPr>
            <p:ph idx="1" type="subTitle"/>
          </p:nvPr>
        </p:nvSpPr>
        <p:spPr>
          <a:xfrm>
            <a:off x="1034425" y="2828375"/>
            <a:ext cx="1217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(15, </a:t>
            </a:r>
            <a:r>
              <a:rPr lang="en-GB"/>
              <a:t>12</a:t>
            </a:r>
            <a:r>
              <a:rPr lang="en-GB"/>
              <a:t>)</a:t>
            </a:r>
            <a:endParaRPr/>
          </a:p>
        </p:txBody>
      </p:sp>
      <p:sp>
        <p:nvSpPr>
          <p:cNvPr id="1165" name="Google Shape;1165;p88"/>
          <p:cNvSpPr txBox="1"/>
          <p:nvPr>
            <p:ph idx="1" type="subTitle"/>
          </p:nvPr>
        </p:nvSpPr>
        <p:spPr>
          <a:xfrm>
            <a:off x="1034425" y="3765850"/>
            <a:ext cx="1217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(9, </a:t>
            </a:r>
            <a:r>
              <a:rPr lang="en-GB"/>
              <a:t>6</a:t>
            </a:r>
            <a:r>
              <a:rPr lang="en-GB"/>
              <a:t>)</a:t>
            </a:r>
            <a:endParaRPr/>
          </a:p>
        </p:txBody>
      </p:sp>
      <p:pic>
        <p:nvPicPr>
          <p:cNvPr id="1166" name="Google Shape;1166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6760" y="189815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88"/>
          <p:cNvSpPr txBox="1"/>
          <p:nvPr>
            <p:ph idx="1" type="subTitle"/>
          </p:nvPr>
        </p:nvSpPr>
        <p:spPr>
          <a:xfrm>
            <a:off x="6368425" y="4096182"/>
            <a:ext cx="44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88"/>
          <p:cNvSpPr txBox="1"/>
          <p:nvPr>
            <p:ph idx="1" type="subTitle"/>
          </p:nvPr>
        </p:nvSpPr>
        <p:spPr>
          <a:xfrm>
            <a:off x="7165023" y="4096182"/>
            <a:ext cx="44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88"/>
          <p:cNvSpPr txBox="1"/>
          <p:nvPr>
            <p:ph idx="1" type="subTitle"/>
          </p:nvPr>
        </p:nvSpPr>
        <p:spPr>
          <a:xfrm>
            <a:off x="8109492" y="4096182"/>
            <a:ext cx="446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88"/>
          <p:cNvSpPr txBox="1"/>
          <p:nvPr>
            <p:ph idx="1" type="subTitle"/>
          </p:nvPr>
        </p:nvSpPr>
        <p:spPr>
          <a:xfrm>
            <a:off x="5036001" y="3364250"/>
            <a:ext cx="3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1" name="Google Shape;1171;p88"/>
          <p:cNvSpPr txBox="1"/>
          <p:nvPr>
            <p:ph idx="1" type="subTitle"/>
          </p:nvPr>
        </p:nvSpPr>
        <p:spPr>
          <a:xfrm>
            <a:off x="5036001" y="2830850"/>
            <a:ext cx="3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88"/>
          <p:cNvSpPr txBox="1"/>
          <p:nvPr>
            <p:ph idx="1" type="subTitle"/>
          </p:nvPr>
        </p:nvSpPr>
        <p:spPr>
          <a:xfrm>
            <a:off x="5036001" y="2297450"/>
            <a:ext cx="3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83ca9996-3293-47f0-be1f-300417be3c64&quot; data-equatio-type=&quot;desmos&quot;&gt;&lt;mglyph src=&quot;https://equatio-api.texthelp.com/desmos/get/06-11-2023/83ca9996-3293-47f0-be1f-300417be3c64&quot; alt=&quot;Equatio Desmos Graph&quot;/&gt;&lt;/math&gt;" id="1177" name="Google Shape;1177;p8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75" y="1080000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8" name="Google Shape;117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79" name="Google Shape;1179;p8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8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80" name="Google Shape;1180;p8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181" name="Google Shape;1181;p89"/>
          <p:cNvSpPr/>
          <p:nvPr/>
        </p:nvSpPr>
        <p:spPr>
          <a:xfrm>
            <a:off x="1572050" y="2241926"/>
            <a:ext cx="1485300" cy="1407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89"/>
          <p:cNvSpPr txBox="1"/>
          <p:nvPr>
            <p:ph idx="1" type="body"/>
          </p:nvPr>
        </p:nvSpPr>
        <p:spPr>
          <a:xfrm>
            <a:off x="2951502" y="20723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89"/>
          <p:cNvSpPr txBox="1"/>
          <p:nvPr>
            <p:ph idx="1" type="body"/>
          </p:nvPr>
        </p:nvSpPr>
        <p:spPr>
          <a:xfrm>
            <a:off x="3164400" y="1920372"/>
            <a:ext cx="1076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D </a:t>
            </a:r>
            <a:r>
              <a:rPr lang="en-GB">
                <a:highlight>
                  <a:schemeClr val="lt1"/>
                </a:highlight>
              </a:rPr>
              <a:t>(3, 3)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84" name="Google Shape;1184;p89"/>
          <p:cNvSpPr txBox="1"/>
          <p:nvPr>
            <p:ph idx="1" type="body"/>
          </p:nvPr>
        </p:nvSpPr>
        <p:spPr>
          <a:xfrm>
            <a:off x="3164401" y="1891094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89"/>
          <p:cNvSpPr txBox="1"/>
          <p:nvPr>
            <p:ph idx="1" type="body"/>
          </p:nvPr>
        </p:nvSpPr>
        <p:spPr>
          <a:xfrm>
            <a:off x="3164400" y="3677500"/>
            <a:ext cx="984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A </a:t>
            </a:r>
            <a:r>
              <a:rPr lang="en-GB">
                <a:highlight>
                  <a:schemeClr val="lt1"/>
                </a:highlight>
              </a:rPr>
              <a:t>(3, 0)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86" name="Google Shape;1186;p89"/>
          <p:cNvSpPr txBox="1"/>
          <p:nvPr>
            <p:ph idx="1" type="body"/>
          </p:nvPr>
        </p:nvSpPr>
        <p:spPr>
          <a:xfrm>
            <a:off x="3164401" y="3654900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7" name="Google Shape;1187;p89"/>
          <p:cNvSpPr txBox="1"/>
          <p:nvPr>
            <p:ph idx="1" type="body"/>
          </p:nvPr>
        </p:nvSpPr>
        <p:spPr>
          <a:xfrm>
            <a:off x="1640400" y="1894182"/>
            <a:ext cx="993000" cy="31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C </a:t>
            </a:r>
            <a:r>
              <a:rPr lang="en-GB">
                <a:highlight>
                  <a:schemeClr val="lt1"/>
                </a:highlight>
              </a:rPr>
              <a:t>(0, 3)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88" name="Google Shape;1188;p89"/>
          <p:cNvSpPr txBox="1"/>
          <p:nvPr>
            <p:ph idx="1" type="body"/>
          </p:nvPr>
        </p:nvSpPr>
        <p:spPr>
          <a:xfrm>
            <a:off x="1640401" y="1868633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9" name="Google Shape;1189;p89"/>
          <p:cNvSpPr txBox="1"/>
          <p:nvPr>
            <p:ph idx="1" type="body"/>
          </p:nvPr>
        </p:nvSpPr>
        <p:spPr>
          <a:xfrm>
            <a:off x="1640400" y="3679580"/>
            <a:ext cx="993000" cy="3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chemeClr val="lt1"/>
                </a:highlight>
              </a:rPr>
              <a:t>B </a:t>
            </a:r>
            <a:r>
              <a:rPr lang="en-GB">
                <a:highlight>
                  <a:schemeClr val="lt1"/>
                </a:highlight>
              </a:rPr>
              <a:t>(0, 0)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190" name="Google Shape;1190;p89"/>
          <p:cNvSpPr txBox="1"/>
          <p:nvPr>
            <p:ph idx="1" type="body"/>
          </p:nvPr>
        </p:nvSpPr>
        <p:spPr>
          <a:xfrm>
            <a:off x="1640401" y="3654900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1" name="Google Shape;1191;p89"/>
          <p:cNvSpPr txBox="1"/>
          <p:nvPr>
            <p:ph idx="1" type="body"/>
          </p:nvPr>
        </p:nvSpPr>
        <p:spPr>
          <a:xfrm>
            <a:off x="1461120" y="20723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89"/>
          <p:cNvSpPr txBox="1"/>
          <p:nvPr>
            <p:ph idx="1" type="body"/>
          </p:nvPr>
        </p:nvSpPr>
        <p:spPr>
          <a:xfrm>
            <a:off x="2951502" y="34775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3" name="Google Shape;1193;p89"/>
          <p:cNvSpPr txBox="1"/>
          <p:nvPr>
            <p:ph idx="1" type="body"/>
          </p:nvPr>
        </p:nvSpPr>
        <p:spPr>
          <a:xfrm>
            <a:off x="1461120" y="34775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4" name="Google Shape;1194;p89"/>
          <p:cNvSpPr txBox="1"/>
          <p:nvPr>
            <p:ph idx="1" type="body"/>
          </p:nvPr>
        </p:nvSpPr>
        <p:spPr>
          <a:xfrm>
            <a:off x="4822275" y="1075625"/>
            <a:ext cx="3495600" cy="18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we know that this is a</a:t>
            </a:r>
            <a:r>
              <a:rPr lang="en-GB"/>
              <a:t> square with coordinate A (3, 0)</a:t>
            </a:r>
            <a:r>
              <a:rPr lang="en-GB"/>
              <a:t> and</a:t>
            </a:r>
            <a:r>
              <a:rPr lang="en-GB"/>
              <a:t> </a:t>
            </a:r>
            <a:r>
              <a:rPr lang="en-GB"/>
              <a:t>coordinate B (0, 0) do we know all four coordinates</a:t>
            </a:r>
            <a:r>
              <a:rPr lang="en-GB"/>
              <a:t>?</a:t>
            </a:r>
            <a:endParaRPr/>
          </a:p>
        </p:txBody>
      </p:sp>
      <p:sp>
        <p:nvSpPr>
          <p:cNvPr id="1195" name="Google Shape;1195;p89"/>
          <p:cNvSpPr txBox="1"/>
          <p:nvPr>
            <p:ph idx="1" type="body"/>
          </p:nvPr>
        </p:nvSpPr>
        <p:spPr>
          <a:xfrm>
            <a:off x="4827276" y="3245100"/>
            <a:ext cx="3635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s. All lengths of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parallel to the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axes.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200" name="Google Shape;1200;p9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50" y="1104283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90"/>
          <p:cNvSpPr txBox="1"/>
          <p:nvPr>
            <p:ph idx="1" type="body"/>
          </p:nvPr>
        </p:nvSpPr>
        <p:spPr>
          <a:xfrm>
            <a:off x="1640401" y="3654900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2" name="Google Shape;1202;p90"/>
          <p:cNvSpPr txBox="1"/>
          <p:nvPr>
            <p:ph idx="1" type="body"/>
          </p:nvPr>
        </p:nvSpPr>
        <p:spPr>
          <a:xfrm>
            <a:off x="1640400" y="3654900"/>
            <a:ext cx="10356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</a:t>
            </a:r>
            <a:r>
              <a:rPr lang="en-GB"/>
              <a:t>(0, 0)</a:t>
            </a:r>
            <a:endParaRPr/>
          </a:p>
        </p:txBody>
      </p:sp>
      <p:grpSp>
        <p:nvGrpSpPr>
          <p:cNvPr id="1203" name="Google Shape;1203;p90"/>
          <p:cNvGrpSpPr/>
          <p:nvPr/>
        </p:nvGrpSpPr>
        <p:grpSpPr>
          <a:xfrm>
            <a:off x="1077288" y="1770688"/>
            <a:ext cx="1995563" cy="1876463"/>
            <a:chOff x="1077288" y="1770688"/>
            <a:chExt cx="1995563" cy="1876463"/>
          </a:xfrm>
        </p:grpSpPr>
        <p:cxnSp>
          <p:nvCxnSpPr>
            <p:cNvPr id="1204" name="Google Shape;1204;p90"/>
            <p:cNvCxnSpPr/>
            <p:nvPr/>
          </p:nvCxnSpPr>
          <p:spPr>
            <a:xfrm flipH="1" rot="10800000">
              <a:off x="1577350" y="3176525"/>
              <a:ext cx="1495500" cy="466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90"/>
            <p:cNvCxnSpPr/>
            <p:nvPr/>
          </p:nvCxnSpPr>
          <p:spPr>
            <a:xfrm flipH="1" rot="10800000">
              <a:off x="1077288" y="1781113"/>
              <a:ext cx="1495500" cy="466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90"/>
            <p:cNvCxnSpPr/>
            <p:nvPr/>
          </p:nvCxnSpPr>
          <p:spPr>
            <a:xfrm>
              <a:off x="1085850" y="2232650"/>
              <a:ext cx="495300" cy="1414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7" name="Google Shape;1207;p90"/>
            <p:cNvCxnSpPr/>
            <p:nvPr/>
          </p:nvCxnSpPr>
          <p:spPr>
            <a:xfrm>
              <a:off x="2576513" y="1770688"/>
              <a:ext cx="495300" cy="1414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08" name="Google Shape;120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209" name="Google Shape;1209;p9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18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10" name="Google Shape;1210;p9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6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211" name="Google Shape;1211;p90"/>
          <p:cNvSpPr txBox="1"/>
          <p:nvPr>
            <p:ph idx="1" type="body"/>
          </p:nvPr>
        </p:nvSpPr>
        <p:spPr>
          <a:xfrm>
            <a:off x="2463066" y="1608044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90"/>
          <p:cNvSpPr txBox="1"/>
          <p:nvPr>
            <p:ph idx="1" type="body"/>
          </p:nvPr>
        </p:nvSpPr>
        <p:spPr>
          <a:xfrm>
            <a:off x="2675965" y="1350599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3" name="Google Shape;1213;p90"/>
          <p:cNvSpPr txBox="1"/>
          <p:nvPr>
            <p:ph idx="1" type="body"/>
          </p:nvPr>
        </p:nvSpPr>
        <p:spPr>
          <a:xfrm>
            <a:off x="3164402" y="3187278"/>
            <a:ext cx="932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(3, 1)</a:t>
            </a:r>
            <a:endParaRPr/>
          </a:p>
        </p:txBody>
      </p:sp>
      <p:sp>
        <p:nvSpPr>
          <p:cNvPr id="1214" name="Google Shape;1214;p90"/>
          <p:cNvSpPr txBox="1"/>
          <p:nvPr>
            <p:ph idx="1" type="body"/>
          </p:nvPr>
        </p:nvSpPr>
        <p:spPr>
          <a:xfrm>
            <a:off x="760616" y="1936058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90"/>
          <p:cNvSpPr txBox="1"/>
          <p:nvPr>
            <p:ph idx="1" type="body"/>
          </p:nvPr>
        </p:nvSpPr>
        <p:spPr>
          <a:xfrm>
            <a:off x="958956" y="20723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6" name="Google Shape;1216;p90"/>
          <p:cNvSpPr txBox="1"/>
          <p:nvPr>
            <p:ph idx="1" type="body"/>
          </p:nvPr>
        </p:nvSpPr>
        <p:spPr>
          <a:xfrm>
            <a:off x="2951502" y="3009946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7" name="Google Shape;1217;p90"/>
          <p:cNvSpPr txBox="1"/>
          <p:nvPr>
            <p:ph idx="1" type="body"/>
          </p:nvPr>
        </p:nvSpPr>
        <p:spPr>
          <a:xfrm>
            <a:off x="1461120" y="34775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8" name="Google Shape;1218;p90"/>
          <p:cNvSpPr txBox="1"/>
          <p:nvPr>
            <p:ph idx="1" type="body"/>
          </p:nvPr>
        </p:nvSpPr>
        <p:spPr>
          <a:xfrm>
            <a:off x="4822275" y="1075625"/>
            <a:ext cx="3996000" cy="8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o we have enough information to know all the coordinates of this square?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90"/>
          <p:cNvSpPr txBox="1"/>
          <p:nvPr>
            <p:ph idx="1" type="body"/>
          </p:nvPr>
        </p:nvSpPr>
        <p:spPr>
          <a:xfrm>
            <a:off x="4827275" y="2483100"/>
            <a:ext cx="39933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Yes. This 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400">
                <a:latin typeface="Kalam"/>
                <a:ea typeface="Kalam"/>
                <a:cs typeface="Kalam"/>
                <a:sym typeface="Kalam"/>
              </a:rPr>
              <a:t> 1</a:t>
            </a:r>
            <a:r>
              <a:rPr i="1" lang="en-GB" sz="24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movement between the vertices is repeated.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0" name="Google Shape;1220;p90"/>
          <p:cNvSpPr txBox="1"/>
          <p:nvPr>
            <p:ph idx="1" type="body"/>
          </p:nvPr>
        </p:nvSpPr>
        <p:spPr>
          <a:xfrm>
            <a:off x="2675975" y="1378275"/>
            <a:ext cx="12141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(2, 4)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1" name="Google Shape;1221;p90"/>
          <p:cNvSpPr txBox="1"/>
          <p:nvPr>
            <p:ph idx="1" type="body"/>
          </p:nvPr>
        </p:nvSpPr>
        <p:spPr>
          <a:xfrm>
            <a:off x="2394922" y="3392332"/>
            <a:ext cx="225600" cy="2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222" name="Google Shape;1222;p90"/>
          <p:cNvSpPr txBox="1"/>
          <p:nvPr>
            <p:ph idx="1" type="body"/>
          </p:nvPr>
        </p:nvSpPr>
        <p:spPr>
          <a:xfrm>
            <a:off x="3131057" y="2338060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223" name="Google Shape;1223;p90"/>
          <p:cNvSpPr txBox="1"/>
          <p:nvPr>
            <p:ph idx="1" type="body"/>
          </p:nvPr>
        </p:nvSpPr>
        <p:spPr>
          <a:xfrm>
            <a:off x="2715853" y="1790700"/>
            <a:ext cx="3309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−1</a:t>
            </a:r>
            <a:endParaRPr sz="1800"/>
          </a:p>
        </p:txBody>
      </p:sp>
      <p:cxnSp>
        <p:nvCxnSpPr>
          <p:cNvPr id="1224" name="Google Shape;1224;p90"/>
          <p:cNvCxnSpPr/>
          <p:nvPr/>
        </p:nvCxnSpPr>
        <p:spPr>
          <a:xfrm flipH="1" rot="10800000">
            <a:off x="1627775" y="3667675"/>
            <a:ext cx="1431900" cy="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5" name="Google Shape;1225;p90"/>
          <p:cNvCxnSpPr/>
          <p:nvPr/>
        </p:nvCxnSpPr>
        <p:spPr>
          <a:xfrm flipH="1" rot="10800000">
            <a:off x="3070850" y="1780325"/>
            <a:ext cx="6900" cy="137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6" name="Google Shape;1226;p90"/>
          <p:cNvCxnSpPr/>
          <p:nvPr/>
        </p:nvCxnSpPr>
        <p:spPr>
          <a:xfrm rot="10800000">
            <a:off x="2596450" y="1784938"/>
            <a:ext cx="466800" cy="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90"/>
          <p:cNvSpPr txBox="1"/>
          <p:nvPr>
            <p:ph idx="1" type="body"/>
          </p:nvPr>
        </p:nvSpPr>
        <p:spPr>
          <a:xfrm>
            <a:off x="2869168" y="3248029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1</a:t>
            </a:r>
            <a:endParaRPr sz="1700"/>
          </a:p>
        </p:txBody>
      </p:sp>
      <p:cxnSp>
        <p:nvCxnSpPr>
          <p:cNvPr id="1228" name="Google Shape;1228;p90"/>
          <p:cNvCxnSpPr/>
          <p:nvPr/>
        </p:nvCxnSpPr>
        <p:spPr>
          <a:xfrm rot="10800000">
            <a:off x="3067150" y="3196725"/>
            <a:ext cx="900" cy="48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9" name="Google Shape;1229;p90"/>
          <p:cNvCxnSpPr/>
          <p:nvPr/>
        </p:nvCxnSpPr>
        <p:spPr>
          <a:xfrm flipH="1" rot="10800000">
            <a:off x="1129380" y="2244017"/>
            <a:ext cx="1428000" cy="1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0" name="Google Shape;1230;p90"/>
          <p:cNvSpPr txBox="1"/>
          <p:nvPr>
            <p:ph idx="1" type="body"/>
          </p:nvPr>
        </p:nvSpPr>
        <p:spPr>
          <a:xfrm>
            <a:off x="1790693" y="2271026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231" name="Google Shape;1231;p90"/>
          <p:cNvSpPr txBox="1"/>
          <p:nvPr>
            <p:ph idx="1" type="body"/>
          </p:nvPr>
        </p:nvSpPr>
        <p:spPr>
          <a:xfrm>
            <a:off x="2346180" y="1866017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cxnSp>
        <p:nvCxnSpPr>
          <p:cNvPr id="1232" name="Google Shape;1232;p90"/>
          <p:cNvCxnSpPr/>
          <p:nvPr/>
        </p:nvCxnSpPr>
        <p:spPr>
          <a:xfrm rot="10800000">
            <a:off x="2567887" y="1790763"/>
            <a:ext cx="0" cy="45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3" name="Google Shape;1233;p90"/>
          <p:cNvSpPr txBox="1"/>
          <p:nvPr>
            <p:ph idx="1" type="body"/>
          </p:nvPr>
        </p:nvSpPr>
        <p:spPr>
          <a:xfrm>
            <a:off x="536400" y="1631250"/>
            <a:ext cx="11712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(−1, 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8" name="Google Shape;1238;p91"/>
          <p:cNvCxnSpPr/>
          <p:nvPr/>
        </p:nvCxnSpPr>
        <p:spPr>
          <a:xfrm rot="10800000">
            <a:off x="1552498" y="1758186"/>
            <a:ext cx="600" cy="95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39" name="Google Shape;1239;p91"/>
          <p:cNvGrpSpPr/>
          <p:nvPr/>
        </p:nvGrpSpPr>
        <p:grpSpPr>
          <a:xfrm>
            <a:off x="1034938" y="1713145"/>
            <a:ext cx="2571750" cy="2071688"/>
            <a:chOff x="520075" y="2216475"/>
            <a:chExt cx="2571750" cy="2071688"/>
          </a:xfrm>
        </p:grpSpPr>
        <p:cxnSp>
          <p:nvCxnSpPr>
            <p:cNvPr id="1240" name="Google Shape;1240;p91"/>
            <p:cNvCxnSpPr/>
            <p:nvPr/>
          </p:nvCxnSpPr>
          <p:spPr>
            <a:xfrm>
              <a:off x="1034425" y="2226000"/>
              <a:ext cx="2052600" cy="1028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91"/>
            <p:cNvCxnSpPr/>
            <p:nvPr/>
          </p:nvCxnSpPr>
          <p:spPr>
            <a:xfrm flipH="1">
              <a:off x="525025" y="2216475"/>
              <a:ext cx="509400" cy="1028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91"/>
            <p:cNvCxnSpPr/>
            <p:nvPr/>
          </p:nvCxnSpPr>
          <p:spPr>
            <a:xfrm flipH="1">
              <a:off x="2582425" y="3259463"/>
              <a:ext cx="509400" cy="1028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91"/>
            <p:cNvCxnSpPr/>
            <p:nvPr/>
          </p:nvCxnSpPr>
          <p:spPr>
            <a:xfrm>
              <a:off x="520075" y="3254700"/>
              <a:ext cx="2052600" cy="1028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4" name="Google Shape;1244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245" name="Google Shape;1245;p91"/>
          <p:cNvSpPr txBox="1"/>
          <p:nvPr>
            <p:ph idx="1" type="body"/>
          </p:nvPr>
        </p:nvSpPr>
        <p:spPr>
          <a:xfrm>
            <a:off x="3488264" y="2575579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91"/>
          <p:cNvSpPr txBox="1"/>
          <p:nvPr>
            <p:ph idx="1" type="body"/>
          </p:nvPr>
        </p:nvSpPr>
        <p:spPr>
          <a:xfrm>
            <a:off x="1427688" y="15389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7" name="Google Shape;1247;p91"/>
          <p:cNvSpPr txBox="1"/>
          <p:nvPr>
            <p:ph idx="1" type="body"/>
          </p:nvPr>
        </p:nvSpPr>
        <p:spPr>
          <a:xfrm>
            <a:off x="2974567" y="3596481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91"/>
          <p:cNvSpPr txBox="1"/>
          <p:nvPr>
            <p:ph idx="1" type="body"/>
          </p:nvPr>
        </p:nvSpPr>
        <p:spPr>
          <a:xfrm>
            <a:off x="916187" y="25631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91"/>
          <p:cNvSpPr txBox="1"/>
          <p:nvPr>
            <p:ph idx="1" type="body"/>
          </p:nvPr>
        </p:nvSpPr>
        <p:spPr>
          <a:xfrm>
            <a:off x="4822275" y="1075625"/>
            <a:ext cx="3996000" cy="8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If this is a rectangle can we find the coordinate of D</a:t>
            </a:r>
            <a:r>
              <a:rPr lang="en-GB"/>
              <a:t>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91"/>
          <p:cNvSpPr txBox="1"/>
          <p:nvPr>
            <p:ph idx="1" type="body"/>
          </p:nvPr>
        </p:nvSpPr>
        <p:spPr>
          <a:xfrm>
            <a:off x="4827275" y="2166767"/>
            <a:ext cx="38130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Yes. The journey from B to C must be the exact same journey as A to 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91"/>
          <p:cNvSpPr txBox="1"/>
          <p:nvPr>
            <p:ph idx="1" type="body"/>
          </p:nvPr>
        </p:nvSpPr>
        <p:spPr>
          <a:xfrm>
            <a:off x="3224275" y="2265000"/>
            <a:ext cx="14925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  </a:t>
            </a:r>
            <a:r>
              <a:rPr lang="en-GB"/>
              <a:t>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44, 50</a:t>
            </a:r>
            <a:r>
              <a:rPr lang="en-GB"/>
              <a:t>)</a:t>
            </a:r>
            <a:endParaRPr/>
          </a:p>
        </p:txBody>
      </p:sp>
      <p:sp>
        <p:nvSpPr>
          <p:cNvPr id="1252" name="Google Shape;1252;p91"/>
          <p:cNvSpPr txBox="1"/>
          <p:nvPr>
            <p:ph idx="1" type="body"/>
          </p:nvPr>
        </p:nvSpPr>
        <p:spPr>
          <a:xfrm>
            <a:off x="2416825" y="3873075"/>
            <a:ext cx="14562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(42, 44)</a:t>
            </a:r>
            <a:endParaRPr/>
          </a:p>
        </p:txBody>
      </p:sp>
      <p:sp>
        <p:nvSpPr>
          <p:cNvPr id="1253" name="Google Shape;1253;p91"/>
          <p:cNvSpPr txBox="1"/>
          <p:nvPr>
            <p:ph idx="1" type="body"/>
          </p:nvPr>
        </p:nvSpPr>
        <p:spPr>
          <a:xfrm>
            <a:off x="917400" y="1250250"/>
            <a:ext cx="13821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</a:t>
            </a:r>
            <a:r>
              <a:rPr lang="en-GB"/>
              <a:t>(36, 56)</a:t>
            </a:r>
            <a:endParaRPr/>
          </a:p>
        </p:txBody>
      </p:sp>
      <p:sp>
        <p:nvSpPr>
          <p:cNvPr id="1254" name="Google Shape;1254;p91"/>
          <p:cNvSpPr txBox="1"/>
          <p:nvPr>
            <p:ph idx="1" type="body"/>
          </p:nvPr>
        </p:nvSpPr>
        <p:spPr>
          <a:xfrm>
            <a:off x="324000" y="2933600"/>
            <a:ext cx="1237500" cy="8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(34, 50)</a:t>
            </a:r>
            <a:endParaRPr/>
          </a:p>
        </p:txBody>
      </p:sp>
      <p:grpSp>
        <p:nvGrpSpPr>
          <p:cNvPr id="1255" name="Google Shape;1255;p91"/>
          <p:cNvGrpSpPr/>
          <p:nvPr/>
        </p:nvGrpSpPr>
        <p:grpSpPr>
          <a:xfrm>
            <a:off x="3785094" y="2265000"/>
            <a:ext cx="752642" cy="374700"/>
            <a:chOff x="3759282" y="2291025"/>
            <a:chExt cx="659922" cy="374700"/>
          </a:xfrm>
        </p:grpSpPr>
        <p:sp>
          <p:nvSpPr>
            <p:cNvPr id="1256" name="Google Shape;1256;p91"/>
            <p:cNvSpPr/>
            <p:nvPr/>
          </p:nvSpPr>
          <p:spPr>
            <a:xfrm>
              <a:off x="3759282" y="2291025"/>
              <a:ext cx="659922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57" name="Google Shape;1257;p91"/>
            <p:cNvCxnSpPr/>
            <p:nvPr/>
          </p:nvCxnSpPr>
          <p:spPr>
            <a:xfrm>
              <a:off x="3759282" y="2630775"/>
              <a:ext cx="659922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58" name="Google Shape;1258;p91"/>
          <p:cNvCxnSpPr/>
          <p:nvPr/>
        </p:nvCxnSpPr>
        <p:spPr>
          <a:xfrm flipH="1" rot="10800000">
            <a:off x="1059175" y="2720400"/>
            <a:ext cx="4983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91"/>
          <p:cNvSpPr txBox="1"/>
          <p:nvPr>
            <p:ph idx="1" type="body"/>
          </p:nvPr>
        </p:nvSpPr>
        <p:spPr>
          <a:xfrm>
            <a:off x="1601350" y="2108250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91"/>
          <p:cNvSpPr txBox="1"/>
          <p:nvPr>
            <p:ph idx="1" type="body"/>
          </p:nvPr>
        </p:nvSpPr>
        <p:spPr>
          <a:xfrm>
            <a:off x="1205578" y="2395454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1" name="Google Shape;1261;p91"/>
          <p:cNvCxnSpPr/>
          <p:nvPr/>
        </p:nvCxnSpPr>
        <p:spPr>
          <a:xfrm flipH="1" rot="10800000">
            <a:off x="3111813" y="3758625"/>
            <a:ext cx="4983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2" name="Google Shape;1262;p91"/>
          <p:cNvSpPr txBox="1"/>
          <p:nvPr>
            <p:ph idx="1" type="body"/>
          </p:nvPr>
        </p:nvSpPr>
        <p:spPr>
          <a:xfrm>
            <a:off x="3653988" y="3146475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3" name="Google Shape;1263;p91"/>
          <p:cNvCxnSpPr/>
          <p:nvPr/>
        </p:nvCxnSpPr>
        <p:spPr>
          <a:xfrm rot="10800000">
            <a:off x="3605135" y="2796411"/>
            <a:ext cx="600" cy="95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4" name="Google Shape;1264;p91"/>
          <p:cNvSpPr txBox="1"/>
          <p:nvPr>
            <p:ph idx="1" type="body"/>
          </p:nvPr>
        </p:nvSpPr>
        <p:spPr>
          <a:xfrm>
            <a:off x="3250829" y="3470610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5" name="Google Shape;1265;p91"/>
          <p:cNvCxnSpPr/>
          <p:nvPr/>
        </p:nvCxnSpPr>
        <p:spPr>
          <a:xfrm>
            <a:off x="3072775" y="2734625"/>
            <a:ext cx="13500" cy="98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91"/>
          <p:cNvCxnSpPr/>
          <p:nvPr/>
        </p:nvCxnSpPr>
        <p:spPr>
          <a:xfrm flipH="1" rot="10800000">
            <a:off x="1059175" y="2734254"/>
            <a:ext cx="20136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91"/>
          <p:cNvSpPr txBox="1"/>
          <p:nvPr>
            <p:ph idx="1" type="body"/>
          </p:nvPr>
        </p:nvSpPr>
        <p:spPr>
          <a:xfrm>
            <a:off x="1829950" y="2413050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91"/>
          <p:cNvSpPr txBox="1"/>
          <p:nvPr>
            <p:ph idx="1" type="body"/>
          </p:nvPr>
        </p:nvSpPr>
        <p:spPr>
          <a:xfrm>
            <a:off x="2711651" y="2960750"/>
            <a:ext cx="330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69" name="Google Shape;1269;p91"/>
          <p:cNvCxnSpPr/>
          <p:nvPr/>
        </p:nvCxnSpPr>
        <p:spPr>
          <a:xfrm>
            <a:off x="3585351" y="1712789"/>
            <a:ext cx="13500" cy="989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0" name="Google Shape;1270;p91"/>
          <p:cNvCxnSpPr/>
          <p:nvPr/>
        </p:nvCxnSpPr>
        <p:spPr>
          <a:xfrm flipH="1" rot="10800000">
            <a:off x="1571751" y="1703364"/>
            <a:ext cx="2013600" cy="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1" name="Google Shape;1271;p91"/>
          <p:cNvSpPr txBox="1"/>
          <p:nvPr>
            <p:ph idx="1" type="body"/>
          </p:nvPr>
        </p:nvSpPr>
        <p:spPr>
          <a:xfrm>
            <a:off x="2505020" y="1383828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2" name="Google Shape;1272;p91"/>
          <p:cNvSpPr txBox="1"/>
          <p:nvPr>
            <p:ph idx="1" type="body"/>
          </p:nvPr>
        </p:nvSpPr>
        <p:spPr>
          <a:xfrm>
            <a:off x="3246435" y="1879836"/>
            <a:ext cx="3309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3" name="Google Shape;1273;p91"/>
          <p:cNvSpPr txBox="1"/>
          <p:nvPr>
            <p:ph idx="1" type="body"/>
          </p:nvPr>
        </p:nvSpPr>
        <p:spPr>
          <a:xfrm>
            <a:off x="4822275" y="3642475"/>
            <a:ext cx="3618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Yes. The journey B to A must also be the same as journey C to D.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2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On this rectangle which journeys will match on both distance and direction?</a:t>
            </a:r>
            <a:endParaRPr/>
          </a:p>
        </p:txBody>
      </p:sp>
      <p:sp>
        <p:nvSpPr>
          <p:cNvPr id="1279" name="Google Shape;1279;p9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280" name="Google Shape;1280;p92"/>
          <p:cNvSpPr txBox="1"/>
          <p:nvPr>
            <p:ph idx="1" type="subTitle"/>
          </p:nvPr>
        </p:nvSpPr>
        <p:spPr>
          <a:xfrm>
            <a:off x="1034425" y="1837775"/>
            <a:ext cx="2335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to B and C to D</a:t>
            </a:r>
            <a:endParaRPr/>
          </a:p>
        </p:txBody>
      </p:sp>
      <p:sp>
        <p:nvSpPr>
          <p:cNvPr id="1281" name="Google Shape;1281;p92"/>
          <p:cNvSpPr txBox="1"/>
          <p:nvPr>
            <p:ph idx="3" type="subTitle"/>
          </p:nvPr>
        </p:nvSpPr>
        <p:spPr>
          <a:xfrm>
            <a:off x="1034425" y="2794251"/>
            <a:ext cx="23352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to A and C to D</a:t>
            </a:r>
            <a:endParaRPr/>
          </a:p>
        </p:txBody>
      </p:sp>
      <p:sp>
        <p:nvSpPr>
          <p:cNvPr id="1282" name="Google Shape;1282;p92"/>
          <p:cNvSpPr txBox="1"/>
          <p:nvPr>
            <p:ph idx="4" type="subTitle"/>
          </p:nvPr>
        </p:nvSpPr>
        <p:spPr>
          <a:xfrm>
            <a:off x="1034425" y="3766975"/>
            <a:ext cx="2476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to B and D to A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283" name="Google Shape;1283;p9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330" y="1469298"/>
            <a:ext cx="3571774" cy="33414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4" name="Google Shape;1284;p92"/>
          <p:cNvGrpSpPr/>
          <p:nvPr/>
        </p:nvGrpSpPr>
        <p:grpSpPr>
          <a:xfrm>
            <a:off x="5796331" y="1628060"/>
            <a:ext cx="1785031" cy="1678496"/>
            <a:chOff x="1077288" y="1770688"/>
            <a:chExt cx="1995563" cy="1876463"/>
          </a:xfrm>
        </p:grpSpPr>
        <p:cxnSp>
          <p:nvCxnSpPr>
            <p:cNvPr id="1285" name="Google Shape;1285;p92"/>
            <p:cNvCxnSpPr/>
            <p:nvPr/>
          </p:nvCxnSpPr>
          <p:spPr>
            <a:xfrm flipH="1" rot="10800000">
              <a:off x="1577350" y="3176525"/>
              <a:ext cx="1495500" cy="466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92"/>
            <p:cNvCxnSpPr/>
            <p:nvPr/>
          </p:nvCxnSpPr>
          <p:spPr>
            <a:xfrm flipH="1" rot="10800000">
              <a:off x="1077288" y="1781113"/>
              <a:ext cx="1495500" cy="466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92"/>
            <p:cNvCxnSpPr/>
            <p:nvPr/>
          </p:nvCxnSpPr>
          <p:spPr>
            <a:xfrm>
              <a:off x="1085850" y="2232650"/>
              <a:ext cx="495300" cy="1414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8" name="Google Shape;1288;p92"/>
            <p:cNvCxnSpPr/>
            <p:nvPr/>
          </p:nvCxnSpPr>
          <p:spPr>
            <a:xfrm>
              <a:off x="2576513" y="1770688"/>
              <a:ext cx="495300" cy="14145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y&quot;&gt;&lt;mi&gt;y&lt;/mi&gt;&lt;/math&gt;" id="1289" name="Google Shape;1289;p92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250" y="1248775"/>
            <a:ext cx="155610" cy="209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90" name="Google Shape;1290;p92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28760" y="3701006"/>
            <a:ext cx="155610" cy="14207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2"/>
          <p:cNvSpPr txBox="1"/>
          <p:nvPr>
            <p:ph idx="4294967295" type="body"/>
          </p:nvPr>
        </p:nvSpPr>
        <p:spPr>
          <a:xfrm>
            <a:off x="7035808" y="1482512"/>
            <a:ext cx="2961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2" name="Google Shape;1292;p92"/>
          <p:cNvSpPr txBox="1"/>
          <p:nvPr>
            <p:ph idx="4294967295" type="body"/>
          </p:nvPr>
        </p:nvSpPr>
        <p:spPr>
          <a:xfrm>
            <a:off x="7260790" y="1373401"/>
            <a:ext cx="2961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92"/>
          <p:cNvSpPr txBox="1"/>
          <p:nvPr>
            <p:ph idx="4294967295" type="body"/>
          </p:nvPr>
        </p:nvSpPr>
        <p:spPr>
          <a:xfrm>
            <a:off x="6133377" y="3354992"/>
            <a:ext cx="2961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92"/>
          <p:cNvSpPr txBox="1"/>
          <p:nvPr>
            <p:ph idx="4294967295" type="body"/>
          </p:nvPr>
        </p:nvSpPr>
        <p:spPr>
          <a:xfrm>
            <a:off x="5690443" y="1897806"/>
            <a:ext cx="2961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5" name="Google Shape;1295;p92"/>
          <p:cNvSpPr txBox="1"/>
          <p:nvPr>
            <p:ph idx="4294967295" type="body"/>
          </p:nvPr>
        </p:nvSpPr>
        <p:spPr>
          <a:xfrm>
            <a:off x="7472694" y="2736458"/>
            <a:ext cx="296100" cy="41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6" name="Google Shape;1296;p92"/>
          <p:cNvSpPr txBox="1"/>
          <p:nvPr>
            <p:ph idx="4294967295" type="body"/>
          </p:nvPr>
        </p:nvSpPr>
        <p:spPr>
          <a:xfrm>
            <a:off x="6139618" y="3154712"/>
            <a:ext cx="296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7" name="Google Shape;1297;p92"/>
          <p:cNvSpPr txBox="1"/>
          <p:nvPr>
            <p:ph idx="4294967295" type="body"/>
          </p:nvPr>
        </p:nvSpPr>
        <p:spPr>
          <a:xfrm>
            <a:off x="5450565" y="1775908"/>
            <a:ext cx="2961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8" name="Google Shape;1298;p92"/>
          <p:cNvSpPr txBox="1"/>
          <p:nvPr>
            <p:ph idx="4294967295" type="body"/>
          </p:nvPr>
        </p:nvSpPr>
        <p:spPr>
          <a:xfrm>
            <a:off x="7692392" y="2856144"/>
            <a:ext cx="296100" cy="45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99" name="Google Shape;1299;p92"/>
          <p:cNvGrpSpPr/>
          <p:nvPr/>
        </p:nvGrpSpPr>
        <p:grpSpPr>
          <a:xfrm>
            <a:off x="5798777" y="2108621"/>
            <a:ext cx="416973" cy="1213054"/>
            <a:chOff x="5798777" y="2108621"/>
            <a:chExt cx="416973" cy="1213054"/>
          </a:xfrm>
        </p:grpSpPr>
        <p:cxnSp>
          <p:nvCxnSpPr>
            <p:cNvPr id="1300" name="Google Shape;1300;p92"/>
            <p:cNvCxnSpPr/>
            <p:nvPr/>
          </p:nvCxnSpPr>
          <p:spPr>
            <a:xfrm>
              <a:off x="5808350" y="3321375"/>
              <a:ext cx="407400" cy="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1" name="Google Shape;1301;p92"/>
            <p:cNvCxnSpPr/>
            <p:nvPr/>
          </p:nvCxnSpPr>
          <p:spPr>
            <a:xfrm flipH="1">
              <a:off x="5798777" y="2108621"/>
              <a:ext cx="1200" cy="1198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02" name="Google Shape;1302;p92"/>
          <p:cNvSpPr txBox="1"/>
          <p:nvPr>
            <p:ph idx="4294967295" type="body"/>
          </p:nvPr>
        </p:nvSpPr>
        <p:spPr>
          <a:xfrm>
            <a:off x="1026698" y="2177187"/>
            <a:ext cx="37857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Same distance, different direction.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3" name="Google Shape;1303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59276" y="2791734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4" name="Google Shape;1304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9688" y="3761511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5" name="Google Shape;1305;p92"/>
          <p:cNvGrpSpPr/>
          <p:nvPr/>
        </p:nvGrpSpPr>
        <p:grpSpPr>
          <a:xfrm>
            <a:off x="7132508" y="1685973"/>
            <a:ext cx="416973" cy="1213054"/>
            <a:chOff x="5798777" y="2108621"/>
            <a:chExt cx="416973" cy="1213054"/>
          </a:xfrm>
        </p:grpSpPr>
        <p:cxnSp>
          <p:nvCxnSpPr>
            <p:cNvPr id="1306" name="Google Shape;1306;p92"/>
            <p:cNvCxnSpPr/>
            <p:nvPr/>
          </p:nvCxnSpPr>
          <p:spPr>
            <a:xfrm>
              <a:off x="5808350" y="3321375"/>
              <a:ext cx="407400" cy="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07" name="Google Shape;1307;p92"/>
            <p:cNvCxnSpPr/>
            <p:nvPr/>
          </p:nvCxnSpPr>
          <p:spPr>
            <a:xfrm flipH="1">
              <a:off x="5798777" y="2108621"/>
              <a:ext cx="1200" cy="1198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3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this is a rectangle what are the coordinates of point C?</a:t>
            </a:r>
            <a:endParaRPr/>
          </a:p>
        </p:txBody>
      </p:sp>
      <p:sp>
        <p:nvSpPr>
          <p:cNvPr id="1313" name="Google Shape;1313;p9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314" name="Google Shape;1314;p93"/>
          <p:cNvSpPr txBox="1"/>
          <p:nvPr>
            <p:ph idx="1" type="subTitle"/>
          </p:nvPr>
        </p:nvSpPr>
        <p:spPr>
          <a:xfrm>
            <a:off x="1034425" y="1837775"/>
            <a:ext cx="1306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(20, 63)</a:t>
            </a:r>
            <a:endParaRPr/>
          </a:p>
        </p:txBody>
      </p:sp>
      <p:pic>
        <p:nvPicPr>
          <p:cNvPr id="1315" name="Google Shape;131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676" y="2791734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3"/>
          <p:cNvSpPr/>
          <p:nvPr/>
        </p:nvSpPr>
        <p:spPr>
          <a:xfrm rot="-1352050">
            <a:off x="5278476" y="2381889"/>
            <a:ext cx="2561357" cy="1093201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3"/>
          <p:cNvSpPr txBox="1"/>
          <p:nvPr>
            <p:ph idx="4294967295" type="body"/>
          </p:nvPr>
        </p:nvSpPr>
        <p:spPr>
          <a:xfrm>
            <a:off x="7080850" y="1465825"/>
            <a:ext cx="14073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(40, 81)</a:t>
            </a:r>
            <a:endParaRPr/>
          </a:p>
        </p:txBody>
      </p:sp>
      <p:sp>
        <p:nvSpPr>
          <p:cNvPr id="1318" name="Google Shape;1318;p93"/>
          <p:cNvSpPr txBox="1"/>
          <p:nvPr>
            <p:ph idx="4294967295" type="body"/>
          </p:nvPr>
        </p:nvSpPr>
        <p:spPr>
          <a:xfrm>
            <a:off x="7459188" y="3027801"/>
            <a:ext cx="11112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endParaRPr/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(45, 67)</a:t>
            </a:r>
            <a:endParaRPr/>
          </a:p>
        </p:txBody>
      </p:sp>
      <p:sp>
        <p:nvSpPr>
          <p:cNvPr id="1319" name="Google Shape;1319;p93"/>
          <p:cNvSpPr txBox="1"/>
          <p:nvPr>
            <p:ph idx="4294967295" type="body"/>
          </p:nvPr>
        </p:nvSpPr>
        <p:spPr>
          <a:xfrm>
            <a:off x="4572000" y="2102725"/>
            <a:ext cx="1111200" cy="68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</a:t>
            </a:r>
            <a:endParaRPr/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(15, 72)</a:t>
            </a:r>
            <a:endParaRPr/>
          </a:p>
        </p:txBody>
      </p:sp>
      <p:sp>
        <p:nvSpPr>
          <p:cNvPr id="1320" name="Google Shape;1320;p93"/>
          <p:cNvSpPr txBox="1"/>
          <p:nvPr>
            <p:ph idx="4294967295" type="body"/>
          </p:nvPr>
        </p:nvSpPr>
        <p:spPr>
          <a:xfrm>
            <a:off x="5363805" y="3914725"/>
            <a:ext cx="16002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(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20, 58</a:t>
            </a:r>
            <a:r>
              <a:rPr lang="en-GB"/>
              <a:t>)</a:t>
            </a:r>
            <a:endParaRPr/>
          </a:p>
        </p:txBody>
      </p:sp>
      <p:sp>
        <p:nvSpPr>
          <p:cNvPr id="1321" name="Google Shape;1321;p93"/>
          <p:cNvSpPr/>
          <p:nvPr/>
        </p:nvSpPr>
        <p:spPr>
          <a:xfrm>
            <a:off x="5628676" y="3936200"/>
            <a:ext cx="822300" cy="374700"/>
          </a:xfrm>
          <a:prstGeom prst="rect">
            <a:avLst/>
          </a:prstGeom>
          <a:solidFill>
            <a:srgbClr val="EAF2F2"/>
          </a:solidFill>
          <a:ln cap="flat" cmpd="sng" w="9525">
            <a:solidFill>
              <a:srgbClr val="EA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2" name="Google Shape;1322;p93"/>
          <p:cNvCxnSpPr/>
          <p:nvPr/>
        </p:nvCxnSpPr>
        <p:spPr>
          <a:xfrm>
            <a:off x="5704870" y="4275939"/>
            <a:ext cx="7062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3" name="Google Shape;1323;p93"/>
          <p:cNvSpPr txBox="1"/>
          <p:nvPr>
            <p:ph idx="1" type="subTitle"/>
          </p:nvPr>
        </p:nvSpPr>
        <p:spPr>
          <a:xfrm>
            <a:off x="1034425" y="2807550"/>
            <a:ext cx="1111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(20, 58)</a:t>
            </a:r>
            <a:endParaRPr/>
          </a:p>
        </p:txBody>
      </p:sp>
      <p:sp>
        <p:nvSpPr>
          <p:cNvPr id="1324" name="Google Shape;1324;p93"/>
          <p:cNvSpPr txBox="1"/>
          <p:nvPr>
            <p:ph idx="1" type="subTitle"/>
          </p:nvPr>
        </p:nvSpPr>
        <p:spPr>
          <a:xfrm>
            <a:off x="1034425" y="3798150"/>
            <a:ext cx="1053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(10, 58)</a:t>
            </a:r>
            <a:endParaRPr/>
          </a:p>
        </p:txBody>
      </p:sp>
      <p:grpSp>
        <p:nvGrpSpPr>
          <p:cNvPr id="1325" name="Google Shape;1325;p93"/>
          <p:cNvGrpSpPr/>
          <p:nvPr/>
        </p:nvGrpSpPr>
        <p:grpSpPr>
          <a:xfrm>
            <a:off x="7526049" y="1922480"/>
            <a:ext cx="398114" cy="995834"/>
            <a:chOff x="5808350" y="2108621"/>
            <a:chExt cx="419199" cy="1198500"/>
          </a:xfrm>
        </p:grpSpPr>
        <p:cxnSp>
          <p:nvCxnSpPr>
            <p:cNvPr id="1326" name="Google Shape;1326;p93"/>
            <p:cNvCxnSpPr/>
            <p:nvPr/>
          </p:nvCxnSpPr>
          <p:spPr>
            <a:xfrm>
              <a:off x="5808350" y="2133165"/>
              <a:ext cx="407400" cy="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27" name="Google Shape;1327;p93"/>
            <p:cNvCxnSpPr/>
            <p:nvPr/>
          </p:nvCxnSpPr>
          <p:spPr>
            <a:xfrm flipH="1">
              <a:off x="6226349" y="2108621"/>
              <a:ext cx="1200" cy="1198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28" name="Google Shape;1328;p93"/>
          <p:cNvSpPr txBox="1"/>
          <p:nvPr>
            <p:ph idx="4294967295" type="body"/>
          </p:nvPr>
        </p:nvSpPr>
        <p:spPr>
          <a:xfrm>
            <a:off x="7655702" y="1959166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9" name="Google Shape;1329;p93"/>
          <p:cNvSpPr txBox="1"/>
          <p:nvPr>
            <p:ph idx="4294967295" type="body"/>
          </p:nvPr>
        </p:nvSpPr>
        <p:spPr>
          <a:xfrm>
            <a:off x="7936673" y="2202077"/>
            <a:ext cx="5514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330" name="Google Shape;1330;p93"/>
          <p:cNvGrpSpPr/>
          <p:nvPr/>
        </p:nvGrpSpPr>
        <p:grpSpPr>
          <a:xfrm>
            <a:off x="5198401" y="2913080"/>
            <a:ext cx="398114" cy="995834"/>
            <a:chOff x="5808350" y="2108621"/>
            <a:chExt cx="419199" cy="1198500"/>
          </a:xfrm>
        </p:grpSpPr>
        <p:cxnSp>
          <p:nvCxnSpPr>
            <p:cNvPr id="1331" name="Google Shape;1331;p93"/>
            <p:cNvCxnSpPr/>
            <p:nvPr/>
          </p:nvCxnSpPr>
          <p:spPr>
            <a:xfrm>
              <a:off x="5808350" y="2133165"/>
              <a:ext cx="407400" cy="3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332" name="Google Shape;1332;p93"/>
            <p:cNvCxnSpPr/>
            <p:nvPr/>
          </p:nvCxnSpPr>
          <p:spPr>
            <a:xfrm flipH="1">
              <a:off x="6226349" y="2108621"/>
              <a:ext cx="1200" cy="1198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333" name="Google Shape;1333;p93"/>
          <p:cNvSpPr txBox="1"/>
          <p:nvPr>
            <p:ph idx="4294967295" type="body"/>
          </p:nvPr>
        </p:nvSpPr>
        <p:spPr>
          <a:xfrm>
            <a:off x="5328054" y="2949766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4" name="Google Shape;1334;p93"/>
          <p:cNvSpPr txBox="1"/>
          <p:nvPr>
            <p:ph idx="4294967295" type="body"/>
          </p:nvPr>
        </p:nvSpPr>
        <p:spPr>
          <a:xfrm>
            <a:off x="5609025" y="3192677"/>
            <a:ext cx="5514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a0d227ea-e1bd-4ccd-bd44-b5915985ed89&quot; data-equatio-type=&quot;desmos&quot;&gt;&lt;mglyph src=&quot;https://equatio-api.texthelp.com/desmos/get/06-11-2023/a0d227ea-e1bd-4ccd-bd44-b5915985ed89&quot; alt=&quot;Equatio Desmos Graph&quot;/&gt;&lt;/math&gt;" id="1339" name="Google Shape;1339;p9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224" y="1496012"/>
            <a:ext cx="3543800" cy="30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94"/>
          <p:cNvSpPr txBox="1"/>
          <p:nvPr>
            <p:ph idx="1" type="body"/>
          </p:nvPr>
        </p:nvSpPr>
        <p:spPr>
          <a:xfrm>
            <a:off x="324000" y="759300"/>
            <a:ext cx="82377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coordinates.</a:t>
            </a:r>
            <a:endParaRPr/>
          </a:p>
        </p:txBody>
      </p:sp>
      <p:sp>
        <p:nvSpPr>
          <p:cNvPr id="1341" name="Google Shape;1341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342" name="Google Shape;1342;p94"/>
          <p:cNvSpPr/>
          <p:nvPr/>
        </p:nvSpPr>
        <p:spPr>
          <a:xfrm>
            <a:off x="5038950" y="3419345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94"/>
          <p:cNvSpPr/>
          <p:nvPr/>
        </p:nvSpPr>
        <p:spPr>
          <a:xfrm>
            <a:off x="5957886" y="2580727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94"/>
          <p:cNvSpPr/>
          <p:nvPr/>
        </p:nvSpPr>
        <p:spPr>
          <a:xfrm>
            <a:off x="6876818" y="1742950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45" name="Google Shape;1345;p94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618" y="1253224"/>
            <a:ext cx="145149" cy="195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46" name="Google Shape;1346;p94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3713" y="3420682"/>
            <a:ext cx="145149" cy="1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94"/>
          <p:cNvSpPr txBox="1"/>
          <p:nvPr>
            <p:ph idx="4294967295" type="body"/>
          </p:nvPr>
        </p:nvSpPr>
        <p:spPr>
          <a:xfrm>
            <a:off x="4912958" y="4097972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8" name="Google Shape;1348;p94"/>
          <p:cNvSpPr txBox="1"/>
          <p:nvPr>
            <p:ph idx="4294967295" type="body"/>
          </p:nvPr>
        </p:nvSpPr>
        <p:spPr>
          <a:xfrm>
            <a:off x="4775668" y="4318514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9" name="Google Shape;1349;p94"/>
          <p:cNvSpPr txBox="1"/>
          <p:nvPr>
            <p:ph idx="4294967295" type="body"/>
          </p:nvPr>
        </p:nvSpPr>
        <p:spPr>
          <a:xfrm>
            <a:off x="6772952" y="2414993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0" name="Google Shape;1350;p94"/>
          <p:cNvSpPr txBox="1"/>
          <p:nvPr>
            <p:ph idx="4294967295" type="body"/>
          </p:nvPr>
        </p:nvSpPr>
        <p:spPr>
          <a:xfrm>
            <a:off x="6956059" y="2600275"/>
            <a:ext cx="27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1" name="Google Shape;1351;p94"/>
          <p:cNvSpPr txBox="1"/>
          <p:nvPr>
            <p:ph idx="4294967295" type="body"/>
          </p:nvPr>
        </p:nvSpPr>
        <p:spPr>
          <a:xfrm>
            <a:off x="7314350" y="1269350"/>
            <a:ext cx="11556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(9, 9)</a:t>
            </a:r>
            <a:endParaRPr/>
          </a:p>
        </p:txBody>
      </p:sp>
      <p:sp>
        <p:nvSpPr>
          <p:cNvPr id="1352" name="Google Shape;1352;p94"/>
          <p:cNvSpPr txBox="1"/>
          <p:nvPr>
            <p:ph idx="4294967295" type="body"/>
          </p:nvPr>
        </p:nvSpPr>
        <p:spPr>
          <a:xfrm>
            <a:off x="7675819" y="1565261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3" name="Google Shape;1353;p94"/>
          <p:cNvSpPr txBox="1"/>
          <p:nvPr>
            <p:ph idx="4294967295" type="body"/>
          </p:nvPr>
        </p:nvSpPr>
        <p:spPr>
          <a:xfrm>
            <a:off x="5837770" y="4087560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4" name="Google Shape;1354;p94"/>
          <p:cNvSpPr txBox="1"/>
          <p:nvPr>
            <p:ph idx="4294967295" type="body"/>
          </p:nvPr>
        </p:nvSpPr>
        <p:spPr>
          <a:xfrm>
            <a:off x="6029420" y="4328926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94"/>
          <p:cNvSpPr txBox="1"/>
          <p:nvPr>
            <p:ph idx="1" type="body"/>
          </p:nvPr>
        </p:nvSpPr>
        <p:spPr>
          <a:xfrm>
            <a:off x="324000" y="1368900"/>
            <a:ext cx="37701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 Three identical squares.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a0d227ea-e1bd-4ccd-bd44-b5915985ed89&quot; data-equatio-type=&quot;desmos&quot;&gt;&lt;mglyph src=&quot;https://equatio-api.texthelp.com/desmos/get/06-11-2023/a0d227ea-e1bd-4ccd-bd44-b5915985ed89&quot; alt=&quot;Equatio Desmos Graph&quot;/&gt;&lt;/math&gt;" id="1360" name="Google Shape;1360;p9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8212" y="1354024"/>
            <a:ext cx="3543800" cy="30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5"/>
          <p:cNvSpPr txBox="1"/>
          <p:nvPr>
            <p:ph idx="1" type="body"/>
          </p:nvPr>
        </p:nvSpPr>
        <p:spPr>
          <a:xfrm>
            <a:off x="324000" y="759300"/>
            <a:ext cx="82377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coordinates.</a:t>
            </a:r>
            <a:endParaRPr/>
          </a:p>
        </p:txBody>
      </p:sp>
      <p:sp>
        <p:nvSpPr>
          <p:cNvPr id="1362" name="Google Shape;1362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363" name="Google Shape;1363;p95"/>
          <p:cNvSpPr/>
          <p:nvPr/>
        </p:nvSpPr>
        <p:spPr>
          <a:xfrm>
            <a:off x="6110275" y="1922425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64" name="Google Shape;1364;p95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7018" y="1100824"/>
            <a:ext cx="145149" cy="195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65" name="Google Shape;1365;p95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6113" y="3268282"/>
            <a:ext cx="145149" cy="1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5"/>
          <p:cNvSpPr txBox="1"/>
          <p:nvPr>
            <p:ph idx="4294967295" type="body"/>
          </p:nvPr>
        </p:nvSpPr>
        <p:spPr>
          <a:xfrm>
            <a:off x="5553794" y="4430692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95"/>
          <p:cNvSpPr txBox="1"/>
          <p:nvPr>
            <p:ph idx="4294967295" type="body"/>
          </p:nvPr>
        </p:nvSpPr>
        <p:spPr>
          <a:xfrm>
            <a:off x="5340304" y="4550894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8" name="Google Shape;1368;p95"/>
          <p:cNvSpPr txBox="1"/>
          <p:nvPr>
            <p:ph idx="4294967295" type="body"/>
          </p:nvPr>
        </p:nvSpPr>
        <p:spPr>
          <a:xfrm>
            <a:off x="7770647" y="1299913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9" name="Google Shape;1369;p95"/>
          <p:cNvSpPr txBox="1"/>
          <p:nvPr>
            <p:ph idx="4294967295" type="body"/>
          </p:nvPr>
        </p:nvSpPr>
        <p:spPr>
          <a:xfrm>
            <a:off x="7953754" y="1485195"/>
            <a:ext cx="27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0" name="Google Shape;1370;p95"/>
          <p:cNvSpPr txBox="1"/>
          <p:nvPr>
            <p:ph idx="4294967295" type="body"/>
          </p:nvPr>
        </p:nvSpPr>
        <p:spPr>
          <a:xfrm>
            <a:off x="6586900" y="1944750"/>
            <a:ext cx="1294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/>
              <a:t>(2, 7)</a:t>
            </a:r>
            <a:endParaRPr/>
          </a:p>
        </p:txBody>
      </p:sp>
      <p:sp>
        <p:nvSpPr>
          <p:cNvPr id="1371" name="Google Shape;1371;p95"/>
          <p:cNvSpPr txBox="1"/>
          <p:nvPr>
            <p:ph idx="4294967295" type="body"/>
          </p:nvPr>
        </p:nvSpPr>
        <p:spPr>
          <a:xfrm>
            <a:off x="6435332" y="1748896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2" name="Google Shape;1372;p95"/>
          <p:cNvSpPr txBox="1"/>
          <p:nvPr>
            <p:ph idx="4294967295" type="body"/>
          </p:nvPr>
        </p:nvSpPr>
        <p:spPr>
          <a:xfrm>
            <a:off x="5990170" y="4423596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95"/>
          <p:cNvSpPr txBox="1"/>
          <p:nvPr>
            <p:ph idx="4294967295" type="body"/>
          </p:nvPr>
        </p:nvSpPr>
        <p:spPr>
          <a:xfrm>
            <a:off x="6240513" y="4547114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4" name="Google Shape;1374;p95"/>
          <p:cNvSpPr txBox="1"/>
          <p:nvPr>
            <p:ph idx="1" type="body"/>
          </p:nvPr>
        </p:nvSpPr>
        <p:spPr>
          <a:xfrm>
            <a:off x="324000" y="1368900"/>
            <a:ext cx="39960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 Four identical rectangles.</a:t>
            </a:r>
            <a:endParaRPr/>
          </a:p>
        </p:txBody>
      </p:sp>
      <p:sp>
        <p:nvSpPr>
          <p:cNvPr id="1375" name="Google Shape;1375;p95"/>
          <p:cNvSpPr/>
          <p:nvPr/>
        </p:nvSpPr>
        <p:spPr>
          <a:xfrm rot="5400000">
            <a:off x="6990123" y="1025532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95"/>
          <p:cNvSpPr/>
          <p:nvPr/>
        </p:nvSpPr>
        <p:spPr>
          <a:xfrm rot="5400000">
            <a:off x="4777932" y="2819780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7" name="Google Shape;1377;p95"/>
          <p:cNvSpPr/>
          <p:nvPr/>
        </p:nvSpPr>
        <p:spPr>
          <a:xfrm rot="10800000">
            <a:off x="5668192" y="3267031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95"/>
          <p:cNvSpPr txBox="1"/>
          <p:nvPr>
            <p:ph idx="4294967295" type="body"/>
          </p:nvPr>
        </p:nvSpPr>
        <p:spPr>
          <a:xfrm>
            <a:off x="4202975" y="3544265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9" name="Google Shape;1379;p95"/>
          <p:cNvSpPr txBox="1"/>
          <p:nvPr>
            <p:ph idx="4294967295" type="body"/>
          </p:nvPr>
        </p:nvSpPr>
        <p:spPr>
          <a:xfrm>
            <a:off x="4386083" y="3729547"/>
            <a:ext cx="27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384" name="Google Shape;1384;p9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950" y="1082125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96"/>
          <p:cNvSpPr/>
          <p:nvPr/>
        </p:nvSpPr>
        <p:spPr>
          <a:xfrm rot="962243">
            <a:off x="5579089" y="2240884"/>
            <a:ext cx="1771129" cy="170181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96"/>
          <p:cNvSpPr txBox="1"/>
          <p:nvPr>
            <p:ph idx="1" type="body"/>
          </p:nvPr>
        </p:nvSpPr>
        <p:spPr>
          <a:xfrm>
            <a:off x="324000" y="759300"/>
            <a:ext cx="4248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a) Find the missing coordinates of this square.</a:t>
            </a:r>
            <a:endParaRPr/>
          </a:p>
        </p:txBody>
      </p:sp>
      <p:sp>
        <p:nvSpPr>
          <p:cNvPr id="1387" name="Google Shape;1387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88" name="Google Shape;1388;p96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8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89" name="Google Shape;1389;p96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96"/>
          <p:cNvSpPr txBox="1"/>
          <p:nvPr>
            <p:ph idx="4294967295" type="body"/>
          </p:nvPr>
        </p:nvSpPr>
        <p:spPr>
          <a:xfrm>
            <a:off x="7443986" y="2335492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96"/>
          <p:cNvSpPr txBox="1"/>
          <p:nvPr>
            <p:ph idx="4294967295" type="body"/>
          </p:nvPr>
        </p:nvSpPr>
        <p:spPr>
          <a:xfrm>
            <a:off x="7656885" y="2078046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96"/>
          <p:cNvSpPr txBox="1"/>
          <p:nvPr>
            <p:ph idx="4294967295" type="body"/>
          </p:nvPr>
        </p:nvSpPr>
        <p:spPr>
          <a:xfrm>
            <a:off x="7102650" y="4143325"/>
            <a:ext cx="1322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(5, −2)</a:t>
            </a:r>
            <a:endParaRPr/>
          </a:p>
        </p:txBody>
      </p:sp>
      <p:sp>
        <p:nvSpPr>
          <p:cNvPr id="1393" name="Google Shape;1393;p96"/>
          <p:cNvSpPr txBox="1"/>
          <p:nvPr>
            <p:ph idx="4294967295" type="body"/>
          </p:nvPr>
        </p:nvSpPr>
        <p:spPr>
          <a:xfrm>
            <a:off x="4571999" y="3731100"/>
            <a:ext cx="12015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</a:t>
            </a:r>
            <a:r>
              <a:rPr lang="en-GB"/>
              <a:t>(0, 0)</a:t>
            </a:r>
            <a:endParaRPr/>
          </a:p>
        </p:txBody>
      </p:sp>
      <p:sp>
        <p:nvSpPr>
          <p:cNvPr id="1394" name="Google Shape;1394;p96"/>
          <p:cNvSpPr txBox="1"/>
          <p:nvPr>
            <p:ph idx="4294967295" type="body"/>
          </p:nvPr>
        </p:nvSpPr>
        <p:spPr>
          <a:xfrm>
            <a:off x="5735415" y="18437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5" name="Google Shape;1395;p96"/>
          <p:cNvSpPr txBox="1"/>
          <p:nvPr>
            <p:ph idx="4294967295" type="body"/>
          </p:nvPr>
        </p:nvSpPr>
        <p:spPr>
          <a:xfrm>
            <a:off x="6965962" y="3965993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96"/>
          <p:cNvSpPr txBox="1"/>
          <p:nvPr>
            <p:ph idx="4294967295" type="body"/>
          </p:nvPr>
        </p:nvSpPr>
        <p:spPr>
          <a:xfrm>
            <a:off x="5271120" y="34775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7" name="Google Shape;1397;p96"/>
          <p:cNvSpPr txBox="1"/>
          <p:nvPr>
            <p:ph idx="4294967295" type="body"/>
          </p:nvPr>
        </p:nvSpPr>
        <p:spPr>
          <a:xfrm>
            <a:off x="5935521" y="1697036"/>
            <a:ext cx="932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402" name="Google Shape;1402;p9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750" y="1082125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97"/>
          <p:cNvSpPr/>
          <p:nvPr/>
        </p:nvSpPr>
        <p:spPr>
          <a:xfrm rot="-673464">
            <a:off x="5039986" y="2812563"/>
            <a:ext cx="2404288" cy="827631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7"/>
          <p:cNvSpPr txBox="1"/>
          <p:nvPr>
            <p:ph idx="1" type="body"/>
          </p:nvPr>
        </p:nvSpPr>
        <p:spPr>
          <a:xfrm>
            <a:off x="324000" y="759300"/>
            <a:ext cx="33744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b) Find the missing coordinates of these identical rectangles.</a:t>
            </a:r>
            <a:endParaRPr/>
          </a:p>
        </p:txBody>
      </p:sp>
      <p:sp>
        <p:nvSpPr>
          <p:cNvPr id="1405" name="Google Shape;1405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06" name="Google Shape;1406;p97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4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07" name="Google Shape;1407;p97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97"/>
          <p:cNvSpPr txBox="1"/>
          <p:nvPr>
            <p:ph idx="4294967295" type="body"/>
          </p:nvPr>
        </p:nvSpPr>
        <p:spPr>
          <a:xfrm>
            <a:off x="7236210" y="2411692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9" name="Google Shape;1409;p97"/>
          <p:cNvSpPr txBox="1"/>
          <p:nvPr>
            <p:ph idx="4294967295" type="body"/>
          </p:nvPr>
        </p:nvSpPr>
        <p:spPr>
          <a:xfrm>
            <a:off x="7628950" y="3076525"/>
            <a:ext cx="12015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/>
              <a:t>(30, 5)</a:t>
            </a:r>
            <a:endParaRPr/>
          </a:p>
        </p:txBody>
      </p:sp>
      <p:sp>
        <p:nvSpPr>
          <p:cNvPr id="1410" name="Google Shape;1410;p97"/>
          <p:cNvSpPr txBox="1"/>
          <p:nvPr>
            <p:ph idx="4294967295" type="body"/>
          </p:nvPr>
        </p:nvSpPr>
        <p:spPr>
          <a:xfrm>
            <a:off x="3976675" y="3904325"/>
            <a:ext cx="1395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</a:t>
            </a:r>
            <a:r>
              <a:rPr lang="en-GB"/>
              <a:t>−2</a:t>
            </a:r>
            <a:r>
              <a:rPr lang="en-GB"/>
              <a:t>, </a:t>
            </a:r>
            <a:r>
              <a:rPr lang="en-GB"/>
              <a:t>−3</a:t>
            </a:r>
            <a:r>
              <a:rPr lang="en-GB"/>
              <a:t>)</a:t>
            </a:r>
            <a:endParaRPr/>
          </a:p>
        </p:txBody>
      </p:sp>
      <p:sp>
        <p:nvSpPr>
          <p:cNvPr id="1411" name="Google Shape;1411;p97"/>
          <p:cNvSpPr txBox="1"/>
          <p:nvPr>
            <p:ph idx="4294967295" type="body"/>
          </p:nvPr>
        </p:nvSpPr>
        <p:spPr>
          <a:xfrm>
            <a:off x="4862673" y="2886405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2" name="Google Shape;1412;p97"/>
          <p:cNvSpPr txBox="1"/>
          <p:nvPr>
            <p:ph idx="4294967295" type="body"/>
          </p:nvPr>
        </p:nvSpPr>
        <p:spPr>
          <a:xfrm>
            <a:off x="7381525" y="3214400"/>
            <a:ext cx="247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97"/>
          <p:cNvSpPr txBox="1"/>
          <p:nvPr>
            <p:ph idx="4294967295" type="body"/>
          </p:nvPr>
        </p:nvSpPr>
        <p:spPr>
          <a:xfrm>
            <a:off x="5045841" y="3692425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4" name="Google Shape;1414;p97"/>
          <p:cNvSpPr txBox="1"/>
          <p:nvPr>
            <p:ph idx="4294967295" type="body"/>
          </p:nvPr>
        </p:nvSpPr>
        <p:spPr>
          <a:xfrm>
            <a:off x="3698400" y="2608925"/>
            <a:ext cx="14448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</a:t>
            </a:r>
            <a:r>
              <a:rPr lang="en-GB"/>
              <a:t>(−5, 11)</a:t>
            </a:r>
            <a:endParaRPr/>
          </a:p>
        </p:txBody>
      </p:sp>
      <p:sp>
        <p:nvSpPr>
          <p:cNvPr id="1415" name="Google Shape;1415;p97"/>
          <p:cNvSpPr/>
          <p:nvPr/>
        </p:nvSpPr>
        <p:spPr>
          <a:xfrm rot="4715179">
            <a:off x="5657078" y="1887809"/>
            <a:ext cx="2404349" cy="827572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6" name="Google Shape;1416;p97"/>
          <p:cNvSpPr txBox="1"/>
          <p:nvPr>
            <p:ph idx="4294967295" type="body"/>
          </p:nvPr>
        </p:nvSpPr>
        <p:spPr>
          <a:xfrm>
            <a:off x="7476550" y="2314525"/>
            <a:ext cx="1287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</a:t>
            </a:r>
            <a:r>
              <a:rPr lang="en-GB"/>
              <a:t>(27, 19)</a:t>
            </a:r>
            <a:endParaRPr/>
          </a:p>
        </p:txBody>
      </p:sp>
      <p:sp>
        <p:nvSpPr>
          <p:cNvPr id="1417" name="Google Shape;1417;p97"/>
          <p:cNvSpPr txBox="1"/>
          <p:nvPr>
            <p:ph idx="4294967295" type="body"/>
          </p:nvPr>
        </p:nvSpPr>
        <p:spPr>
          <a:xfrm>
            <a:off x="7171750" y="787200"/>
            <a:ext cx="13059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 </a:t>
            </a:r>
            <a:r>
              <a:rPr lang="en-GB"/>
              <a:t>(22, 37)</a:t>
            </a:r>
            <a:endParaRPr/>
          </a:p>
        </p:txBody>
      </p:sp>
      <p:sp>
        <p:nvSpPr>
          <p:cNvPr id="1418" name="Google Shape;1418;p97"/>
          <p:cNvSpPr txBox="1"/>
          <p:nvPr>
            <p:ph idx="4294967295" type="body"/>
          </p:nvPr>
        </p:nvSpPr>
        <p:spPr>
          <a:xfrm>
            <a:off x="6587353" y="3388569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9" name="Google Shape;1419;p97"/>
          <p:cNvSpPr txBox="1"/>
          <p:nvPr>
            <p:ph idx="4294967295" type="body"/>
          </p:nvPr>
        </p:nvSpPr>
        <p:spPr>
          <a:xfrm>
            <a:off x="6095601" y="1036781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0" name="Google Shape;1420;p97"/>
          <p:cNvSpPr txBox="1"/>
          <p:nvPr>
            <p:ph idx="4294967295" type="body"/>
          </p:nvPr>
        </p:nvSpPr>
        <p:spPr>
          <a:xfrm>
            <a:off x="6923389" y="863557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1" name="Google Shape;1421;p97"/>
          <p:cNvSpPr txBox="1"/>
          <p:nvPr>
            <p:ph idx="4294967295" type="body"/>
          </p:nvPr>
        </p:nvSpPr>
        <p:spPr>
          <a:xfrm>
            <a:off x="6456176" y="3599524"/>
            <a:ext cx="12015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 </a:t>
            </a:r>
            <a:r>
              <a:rPr lang="en-GB"/>
              <a:t>(16, 2)</a:t>
            </a:r>
            <a:endParaRPr/>
          </a:p>
        </p:txBody>
      </p:sp>
      <p:sp>
        <p:nvSpPr>
          <p:cNvPr id="1422" name="Google Shape;1422;p97"/>
          <p:cNvSpPr txBox="1"/>
          <p:nvPr>
            <p:ph idx="4294967295" type="body"/>
          </p:nvPr>
        </p:nvSpPr>
        <p:spPr>
          <a:xfrm>
            <a:off x="5442250" y="780125"/>
            <a:ext cx="12015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 </a:t>
            </a:r>
            <a:r>
              <a:rPr lang="en-GB"/>
              <a:t>(8, 34)</a:t>
            </a:r>
            <a:endParaRPr/>
          </a:p>
        </p:txBody>
      </p:sp>
      <p:grpSp>
        <p:nvGrpSpPr>
          <p:cNvPr id="1423" name="Google Shape;1423;p97"/>
          <p:cNvGrpSpPr/>
          <p:nvPr/>
        </p:nvGrpSpPr>
        <p:grpSpPr>
          <a:xfrm>
            <a:off x="8012196" y="3098000"/>
            <a:ext cx="634130" cy="374700"/>
            <a:chOff x="7076470" y="4240989"/>
            <a:chExt cx="716612" cy="374700"/>
          </a:xfrm>
        </p:grpSpPr>
        <p:sp>
          <p:nvSpPr>
            <p:cNvPr id="1424" name="Google Shape;1424;p97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5" name="Google Shape;1425;p97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6" name="Google Shape;1426;p97"/>
          <p:cNvGrpSpPr/>
          <p:nvPr/>
        </p:nvGrpSpPr>
        <p:grpSpPr>
          <a:xfrm>
            <a:off x="6806474" y="3665950"/>
            <a:ext cx="634130" cy="374700"/>
            <a:chOff x="7076470" y="4240989"/>
            <a:chExt cx="716612" cy="374700"/>
          </a:xfrm>
        </p:grpSpPr>
        <p:sp>
          <p:nvSpPr>
            <p:cNvPr id="1427" name="Google Shape;1427;p97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8" name="Google Shape;1428;p97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9" name="Google Shape;1429;p97"/>
          <p:cNvGrpSpPr/>
          <p:nvPr/>
        </p:nvGrpSpPr>
        <p:grpSpPr>
          <a:xfrm>
            <a:off x="4351192" y="3929025"/>
            <a:ext cx="791641" cy="374700"/>
            <a:chOff x="7076470" y="4240989"/>
            <a:chExt cx="716612" cy="374700"/>
          </a:xfrm>
        </p:grpSpPr>
        <p:sp>
          <p:nvSpPr>
            <p:cNvPr id="1430" name="Google Shape;1430;p97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31" name="Google Shape;1431;p97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a0d227ea-e1bd-4ccd-bd44-b5915985ed89&quot; data-equatio-type=&quot;desmos&quot;&gt;&lt;mglyph src=&quot;https://equatio-api.texthelp.com/desmos/get/06-11-2023/a0d227ea-e1bd-4ccd-bd44-b5915985ed89&quot; alt=&quot;Equatio Desmos Graph&quot;/&gt;&lt;/math&gt;" id="1436" name="Google Shape;1436;p9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6224" y="1496012"/>
            <a:ext cx="3543800" cy="304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7" name="Google Shape;1437;p98"/>
          <p:cNvSpPr txBox="1"/>
          <p:nvPr>
            <p:ph idx="1" type="body"/>
          </p:nvPr>
        </p:nvSpPr>
        <p:spPr>
          <a:xfrm>
            <a:off x="324000" y="759300"/>
            <a:ext cx="82377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coordinates.</a:t>
            </a:r>
            <a:endParaRPr/>
          </a:p>
        </p:txBody>
      </p:sp>
      <p:sp>
        <p:nvSpPr>
          <p:cNvPr id="1438" name="Google Shape;1438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sp>
        <p:nvSpPr>
          <p:cNvPr id="1439" name="Google Shape;1439;p98"/>
          <p:cNvSpPr/>
          <p:nvPr/>
        </p:nvSpPr>
        <p:spPr>
          <a:xfrm>
            <a:off x="5038950" y="3419345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8"/>
          <p:cNvSpPr/>
          <p:nvPr/>
        </p:nvSpPr>
        <p:spPr>
          <a:xfrm>
            <a:off x="5957886" y="2580727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98"/>
          <p:cNvSpPr/>
          <p:nvPr/>
        </p:nvSpPr>
        <p:spPr>
          <a:xfrm>
            <a:off x="6876818" y="1742950"/>
            <a:ext cx="920700" cy="8403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42" name="Google Shape;1442;p9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4618" y="1253224"/>
            <a:ext cx="145149" cy="195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43" name="Google Shape;1443;p9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3713" y="3420682"/>
            <a:ext cx="145149" cy="1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98"/>
          <p:cNvSpPr txBox="1"/>
          <p:nvPr>
            <p:ph idx="4294967295" type="body"/>
          </p:nvPr>
        </p:nvSpPr>
        <p:spPr>
          <a:xfrm>
            <a:off x="4912958" y="4097972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5" name="Google Shape;1445;p98"/>
          <p:cNvSpPr txBox="1"/>
          <p:nvPr>
            <p:ph idx="4294967295" type="body"/>
          </p:nvPr>
        </p:nvSpPr>
        <p:spPr>
          <a:xfrm>
            <a:off x="6772952" y="2414993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6" name="Google Shape;1446;p98"/>
          <p:cNvSpPr txBox="1"/>
          <p:nvPr>
            <p:ph idx="4294967295" type="body"/>
          </p:nvPr>
        </p:nvSpPr>
        <p:spPr>
          <a:xfrm>
            <a:off x="7314350" y="1269350"/>
            <a:ext cx="10272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/>
              <a:t>(9, 9)</a:t>
            </a:r>
            <a:endParaRPr/>
          </a:p>
        </p:txBody>
      </p:sp>
      <p:sp>
        <p:nvSpPr>
          <p:cNvPr id="1447" name="Google Shape;1447;p98"/>
          <p:cNvSpPr txBox="1"/>
          <p:nvPr>
            <p:ph idx="4294967295" type="body"/>
          </p:nvPr>
        </p:nvSpPr>
        <p:spPr>
          <a:xfrm>
            <a:off x="7675819" y="1565261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8" name="Google Shape;1448;p98"/>
          <p:cNvSpPr txBox="1"/>
          <p:nvPr>
            <p:ph idx="4294967295" type="body"/>
          </p:nvPr>
        </p:nvSpPr>
        <p:spPr>
          <a:xfrm>
            <a:off x="5837770" y="4087560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9" name="Google Shape;1449;p98"/>
          <p:cNvSpPr txBox="1"/>
          <p:nvPr>
            <p:ph idx="1" type="body"/>
          </p:nvPr>
        </p:nvSpPr>
        <p:spPr>
          <a:xfrm>
            <a:off x="324000" y="1368900"/>
            <a:ext cx="37701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 Three identical squares.</a:t>
            </a:r>
            <a:endParaRPr/>
          </a:p>
        </p:txBody>
      </p:sp>
      <p:sp>
        <p:nvSpPr>
          <p:cNvPr id="1450" name="Google Shape;1450;p98"/>
          <p:cNvSpPr txBox="1"/>
          <p:nvPr>
            <p:ph idx="4294967295" type="body"/>
          </p:nvPr>
        </p:nvSpPr>
        <p:spPr>
          <a:xfrm>
            <a:off x="6989400" y="2575150"/>
            <a:ext cx="1467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(4.5, 4.5)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1" name="Google Shape;1451;p98"/>
          <p:cNvSpPr txBox="1"/>
          <p:nvPr>
            <p:ph idx="4294967295" type="body"/>
          </p:nvPr>
        </p:nvSpPr>
        <p:spPr>
          <a:xfrm>
            <a:off x="4058375" y="4320000"/>
            <a:ext cx="20556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(−4.5, −4.5)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2" name="Google Shape;1452;p98"/>
          <p:cNvSpPr txBox="1"/>
          <p:nvPr>
            <p:ph idx="4294967295" type="body"/>
          </p:nvPr>
        </p:nvSpPr>
        <p:spPr>
          <a:xfrm>
            <a:off x="6113775" y="3928500"/>
            <a:ext cx="1467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(0, −4.5)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b7d2de82-cb3e-4978-ab01-74251a00489a&quot; data-equatio-type=&quot;desmos&quot;&gt;&lt;mglyph src=&quot;https://equatio-api.texthelp.com/desmos/get/06-11-2023/b7d2de82-cb3e-4978-ab01-74251a00489a&quot; alt=&quot;Equatio Desmos Graph&quot;/&gt;&lt;/math&gt;" id="1457" name="Google Shape;1457;p9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291" y="1273841"/>
            <a:ext cx="4282526" cy="346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99"/>
          <p:cNvSpPr/>
          <p:nvPr/>
        </p:nvSpPr>
        <p:spPr>
          <a:xfrm>
            <a:off x="6058215" y="1807894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99"/>
          <p:cNvSpPr/>
          <p:nvPr/>
        </p:nvSpPr>
        <p:spPr>
          <a:xfrm rot="5400000">
            <a:off x="6938063" y="911001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0" name="Google Shape;1460;p99"/>
          <p:cNvSpPr/>
          <p:nvPr/>
        </p:nvSpPr>
        <p:spPr>
          <a:xfrm rot="5400000">
            <a:off x="4725872" y="2705249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99"/>
          <p:cNvSpPr/>
          <p:nvPr/>
        </p:nvSpPr>
        <p:spPr>
          <a:xfrm rot="10800000">
            <a:off x="5616132" y="3152500"/>
            <a:ext cx="437100" cy="1346100"/>
          </a:xfrm>
          <a:prstGeom prst="rect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99"/>
          <p:cNvSpPr txBox="1"/>
          <p:nvPr>
            <p:ph idx="1" type="body"/>
          </p:nvPr>
        </p:nvSpPr>
        <p:spPr>
          <a:xfrm>
            <a:off x="324000" y="759300"/>
            <a:ext cx="43611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Find the missing coordinates.</a:t>
            </a:r>
            <a:endParaRPr/>
          </a:p>
        </p:txBody>
      </p:sp>
      <p:sp>
        <p:nvSpPr>
          <p:cNvPr id="1463" name="Google Shape;146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64" name="Google Shape;1464;p9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8758" y="1214893"/>
            <a:ext cx="145149" cy="195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65" name="Google Shape;1465;p9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4053" y="3229951"/>
            <a:ext cx="145149" cy="1325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99"/>
          <p:cNvSpPr txBox="1"/>
          <p:nvPr>
            <p:ph idx="4294967295" type="body"/>
          </p:nvPr>
        </p:nvSpPr>
        <p:spPr>
          <a:xfrm>
            <a:off x="5501734" y="4316160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7" name="Google Shape;1467;p99"/>
          <p:cNvSpPr txBox="1"/>
          <p:nvPr>
            <p:ph idx="4294967295" type="body"/>
          </p:nvPr>
        </p:nvSpPr>
        <p:spPr>
          <a:xfrm>
            <a:off x="5288244" y="4436362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8" name="Google Shape;1468;p99"/>
          <p:cNvSpPr txBox="1"/>
          <p:nvPr>
            <p:ph idx="4294967295" type="body"/>
          </p:nvPr>
        </p:nvSpPr>
        <p:spPr>
          <a:xfrm>
            <a:off x="7718587" y="1185381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9" name="Google Shape;1469;p99"/>
          <p:cNvSpPr txBox="1"/>
          <p:nvPr>
            <p:ph idx="4294967295" type="body"/>
          </p:nvPr>
        </p:nvSpPr>
        <p:spPr>
          <a:xfrm>
            <a:off x="7901700" y="1370675"/>
            <a:ext cx="918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(9, 9)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0" name="Google Shape;1470;p99"/>
          <p:cNvSpPr txBox="1"/>
          <p:nvPr>
            <p:ph idx="4294967295" type="body"/>
          </p:nvPr>
        </p:nvSpPr>
        <p:spPr>
          <a:xfrm>
            <a:off x="6534852" y="1830225"/>
            <a:ext cx="1050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 </a:t>
            </a:r>
            <a:r>
              <a:rPr lang="en-GB" sz="2000"/>
              <a:t>(2, 7)</a:t>
            </a:r>
            <a:endParaRPr sz="2000"/>
          </a:p>
        </p:txBody>
      </p:sp>
      <p:sp>
        <p:nvSpPr>
          <p:cNvPr id="1471" name="Google Shape;1471;p99"/>
          <p:cNvSpPr txBox="1"/>
          <p:nvPr>
            <p:ph idx="4294967295" type="body"/>
          </p:nvPr>
        </p:nvSpPr>
        <p:spPr>
          <a:xfrm>
            <a:off x="6383273" y="1634365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99"/>
          <p:cNvSpPr txBox="1"/>
          <p:nvPr>
            <p:ph idx="4294967295" type="body"/>
          </p:nvPr>
        </p:nvSpPr>
        <p:spPr>
          <a:xfrm>
            <a:off x="5938110" y="4309065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3" name="Google Shape;1473;p99"/>
          <p:cNvSpPr txBox="1"/>
          <p:nvPr>
            <p:ph idx="4294967295" type="body"/>
          </p:nvPr>
        </p:nvSpPr>
        <p:spPr>
          <a:xfrm>
            <a:off x="6188453" y="4432583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4" name="Google Shape;1474;p99"/>
          <p:cNvSpPr txBox="1"/>
          <p:nvPr>
            <p:ph idx="1" type="body"/>
          </p:nvPr>
        </p:nvSpPr>
        <p:spPr>
          <a:xfrm>
            <a:off x="324000" y="1368900"/>
            <a:ext cx="3996000" cy="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 Four identical rectangles.</a:t>
            </a:r>
            <a:endParaRPr/>
          </a:p>
        </p:txBody>
      </p:sp>
      <p:sp>
        <p:nvSpPr>
          <p:cNvPr id="1475" name="Google Shape;1475;p99"/>
          <p:cNvSpPr txBox="1"/>
          <p:nvPr>
            <p:ph idx="4294967295" type="body"/>
          </p:nvPr>
        </p:nvSpPr>
        <p:spPr>
          <a:xfrm>
            <a:off x="4150916" y="3429733"/>
            <a:ext cx="276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99"/>
          <p:cNvSpPr txBox="1"/>
          <p:nvPr>
            <p:ph idx="4294967295" type="body"/>
          </p:nvPr>
        </p:nvSpPr>
        <p:spPr>
          <a:xfrm>
            <a:off x="4289925" y="3615025"/>
            <a:ext cx="1274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−9, −2)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477" name="Google Shape;1477;p99"/>
          <p:cNvSpPr txBox="1"/>
          <p:nvPr>
            <p:ph idx="4294967295" type="body"/>
          </p:nvPr>
        </p:nvSpPr>
        <p:spPr>
          <a:xfrm>
            <a:off x="4572000" y="4150775"/>
            <a:ext cx="103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(−2, −7)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8" name="Google Shape;1478;p99"/>
          <p:cNvSpPr txBox="1"/>
          <p:nvPr>
            <p:ph idx="4294967295" type="body"/>
          </p:nvPr>
        </p:nvSpPr>
        <p:spPr>
          <a:xfrm>
            <a:off x="6167575" y="4150775"/>
            <a:ext cx="985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(0, −7)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79" name="Google Shape;1479;p99"/>
          <p:cNvCxnSpPr/>
          <p:nvPr/>
        </p:nvCxnSpPr>
        <p:spPr>
          <a:xfrm flipH="1" rot="10800000">
            <a:off x="7829550" y="1373950"/>
            <a:ext cx="2700" cy="41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0" name="Google Shape;1480;p99"/>
          <p:cNvCxnSpPr/>
          <p:nvPr/>
        </p:nvCxnSpPr>
        <p:spPr>
          <a:xfrm>
            <a:off x="6529400" y="1794500"/>
            <a:ext cx="12744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99"/>
          <p:cNvSpPr txBox="1"/>
          <p:nvPr>
            <p:ph idx="4294967295" type="body"/>
          </p:nvPr>
        </p:nvSpPr>
        <p:spPr>
          <a:xfrm>
            <a:off x="7621150" y="1422450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2" name="Google Shape;1482;p99"/>
          <p:cNvSpPr txBox="1"/>
          <p:nvPr>
            <p:ph idx="4294967295" type="body"/>
          </p:nvPr>
        </p:nvSpPr>
        <p:spPr>
          <a:xfrm>
            <a:off x="7022350" y="1494550"/>
            <a:ext cx="131100" cy="37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83" name="Google Shape;1483;p99"/>
          <p:cNvCxnSpPr/>
          <p:nvPr/>
        </p:nvCxnSpPr>
        <p:spPr>
          <a:xfrm flipH="1">
            <a:off x="5624426" y="3150938"/>
            <a:ext cx="4317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4" name="Google Shape;1484;p99"/>
          <p:cNvCxnSpPr/>
          <p:nvPr/>
        </p:nvCxnSpPr>
        <p:spPr>
          <a:xfrm flipH="1">
            <a:off x="4291826" y="3150938"/>
            <a:ext cx="13071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5" name="Google Shape;1485;p99"/>
          <p:cNvSpPr txBox="1"/>
          <p:nvPr>
            <p:ph idx="4294967295" type="body"/>
          </p:nvPr>
        </p:nvSpPr>
        <p:spPr>
          <a:xfrm>
            <a:off x="5693325" y="2810400"/>
            <a:ext cx="3768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6" name="Google Shape;1486;p99"/>
          <p:cNvSpPr txBox="1"/>
          <p:nvPr>
            <p:ph idx="4294967295" type="body"/>
          </p:nvPr>
        </p:nvSpPr>
        <p:spPr>
          <a:xfrm>
            <a:off x="4855125" y="2810400"/>
            <a:ext cx="3768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87" name="Google Shape;1487;p99"/>
          <p:cNvCxnSpPr/>
          <p:nvPr/>
        </p:nvCxnSpPr>
        <p:spPr>
          <a:xfrm>
            <a:off x="4276069" y="3171514"/>
            <a:ext cx="2700" cy="41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8" name="Google Shape;1488;p99"/>
          <p:cNvSpPr txBox="1"/>
          <p:nvPr>
            <p:ph idx="4294967295" type="body"/>
          </p:nvPr>
        </p:nvSpPr>
        <p:spPr>
          <a:xfrm>
            <a:off x="3746675" y="3211750"/>
            <a:ext cx="3768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9" name="Google Shape;1489;p99"/>
          <p:cNvSpPr txBox="1"/>
          <p:nvPr>
            <p:ph idx="4294967295" type="body"/>
          </p:nvPr>
        </p:nvSpPr>
        <p:spPr>
          <a:xfrm>
            <a:off x="4289925" y="3615025"/>
            <a:ext cx="1274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494" name="Google Shape;1494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950" y="1082125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5" name="Google Shape;1495;p100"/>
          <p:cNvSpPr/>
          <p:nvPr/>
        </p:nvSpPr>
        <p:spPr>
          <a:xfrm rot="962243">
            <a:off x="5579089" y="2240884"/>
            <a:ext cx="1771129" cy="170181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100"/>
          <p:cNvSpPr txBox="1"/>
          <p:nvPr>
            <p:ph idx="1" type="body"/>
          </p:nvPr>
        </p:nvSpPr>
        <p:spPr>
          <a:xfrm>
            <a:off x="324000" y="759300"/>
            <a:ext cx="4516800" cy="7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a) Find the missing coordinates of this square.</a:t>
            </a:r>
            <a:endParaRPr/>
          </a:p>
        </p:txBody>
      </p:sp>
      <p:sp>
        <p:nvSpPr>
          <p:cNvPr id="1497" name="Google Shape;149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98" name="Google Shape;1498;p10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18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99" name="Google Shape;1499;p10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100"/>
          <p:cNvSpPr txBox="1"/>
          <p:nvPr>
            <p:ph idx="4294967295" type="body"/>
          </p:nvPr>
        </p:nvSpPr>
        <p:spPr>
          <a:xfrm>
            <a:off x="7443986" y="2335492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1" name="Google Shape;1501;p100"/>
          <p:cNvSpPr txBox="1"/>
          <p:nvPr>
            <p:ph idx="4294967295" type="body"/>
          </p:nvPr>
        </p:nvSpPr>
        <p:spPr>
          <a:xfrm>
            <a:off x="7656875" y="2078050"/>
            <a:ext cx="11004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(7, 3)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2" name="Google Shape;1502;p100"/>
          <p:cNvSpPr txBox="1"/>
          <p:nvPr>
            <p:ph idx="4294967295" type="body"/>
          </p:nvPr>
        </p:nvSpPr>
        <p:spPr>
          <a:xfrm>
            <a:off x="7102650" y="4143325"/>
            <a:ext cx="13584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 sz="2400"/>
              <a:t>(5, −2)</a:t>
            </a:r>
            <a:endParaRPr sz="2400"/>
          </a:p>
        </p:txBody>
      </p:sp>
      <p:sp>
        <p:nvSpPr>
          <p:cNvPr id="1503" name="Google Shape;1503;p100"/>
          <p:cNvSpPr txBox="1"/>
          <p:nvPr>
            <p:ph idx="4294967295" type="body"/>
          </p:nvPr>
        </p:nvSpPr>
        <p:spPr>
          <a:xfrm>
            <a:off x="4269850" y="3646250"/>
            <a:ext cx="1008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(0, 0)</a:t>
            </a:r>
            <a:endParaRPr/>
          </a:p>
        </p:txBody>
      </p:sp>
      <p:sp>
        <p:nvSpPr>
          <p:cNvPr id="1504" name="Google Shape;1504;p100"/>
          <p:cNvSpPr txBox="1"/>
          <p:nvPr>
            <p:ph idx="4294967295" type="body"/>
          </p:nvPr>
        </p:nvSpPr>
        <p:spPr>
          <a:xfrm>
            <a:off x="5735415" y="1843740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5" name="Google Shape;1505;p100"/>
          <p:cNvSpPr txBox="1"/>
          <p:nvPr>
            <p:ph idx="4294967295" type="body"/>
          </p:nvPr>
        </p:nvSpPr>
        <p:spPr>
          <a:xfrm>
            <a:off x="6965962" y="3965993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6" name="Google Shape;1506;p100"/>
          <p:cNvSpPr txBox="1"/>
          <p:nvPr>
            <p:ph idx="4294967295" type="body"/>
          </p:nvPr>
        </p:nvSpPr>
        <p:spPr>
          <a:xfrm>
            <a:off x="5271120" y="3477558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7" name="Google Shape;1507;p100"/>
          <p:cNvSpPr txBox="1"/>
          <p:nvPr>
            <p:ph idx="4294967295" type="body"/>
          </p:nvPr>
        </p:nvSpPr>
        <p:spPr>
          <a:xfrm>
            <a:off x="5935526" y="1697025"/>
            <a:ext cx="11670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(2, 5)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8" name="Google Shape;1508;p100"/>
          <p:cNvSpPr txBox="1"/>
          <p:nvPr>
            <p:ph idx="4294967295" type="body"/>
          </p:nvPr>
        </p:nvSpPr>
        <p:spPr>
          <a:xfrm>
            <a:off x="5935521" y="1697036"/>
            <a:ext cx="9327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9" name="Google Shape;1509;p100"/>
          <p:cNvSpPr txBox="1"/>
          <p:nvPr>
            <p:ph idx="4294967295" type="body"/>
          </p:nvPr>
        </p:nvSpPr>
        <p:spPr>
          <a:xfrm>
            <a:off x="7656885" y="2078046"/>
            <a:ext cx="3309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 </a:t>
            </a:r>
            <a:endParaRPr/>
          </a:p>
        </p:txBody>
      </p:sp>
      <p:cxnSp>
        <p:nvCxnSpPr>
          <p:cNvPr id="1510" name="Google Shape;1510;p100"/>
          <p:cNvCxnSpPr/>
          <p:nvPr/>
        </p:nvCxnSpPr>
        <p:spPr>
          <a:xfrm flipH="1" rot="10800000">
            <a:off x="5845286" y="2044837"/>
            <a:ext cx="8700" cy="157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1" name="Google Shape;1511;p100"/>
          <p:cNvSpPr txBox="1"/>
          <p:nvPr>
            <p:ph idx="4294967295" type="body"/>
          </p:nvPr>
        </p:nvSpPr>
        <p:spPr>
          <a:xfrm>
            <a:off x="5919221" y="2642860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2" name="Google Shape;1512;p100"/>
          <p:cNvCxnSpPr/>
          <p:nvPr/>
        </p:nvCxnSpPr>
        <p:spPr>
          <a:xfrm flipH="1" rot="10800000">
            <a:off x="5385173" y="3632228"/>
            <a:ext cx="4668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3" name="Google Shape;1513;p100"/>
          <p:cNvSpPr txBox="1"/>
          <p:nvPr>
            <p:ph idx="4294967295" type="body"/>
          </p:nvPr>
        </p:nvSpPr>
        <p:spPr>
          <a:xfrm>
            <a:off x="5514427" y="3265957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4" name="Google Shape;1514;p100"/>
          <p:cNvCxnSpPr/>
          <p:nvPr/>
        </p:nvCxnSpPr>
        <p:spPr>
          <a:xfrm flipH="1" rot="10800000">
            <a:off x="7552922" y="2536589"/>
            <a:ext cx="8700" cy="157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5" name="Google Shape;1515;p100"/>
          <p:cNvSpPr txBox="1"/>
          <p:nvPr>
            <p:ph idx="4294967295" type="body"/>
          </p:nvPr>
        </p:nvSpPr>
        <p:spPr>
          <a:xfrm>
            <a:off x="7626857" y="3134612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16" name="Google Shape;1516;p100"/>
          <p:cNvCxnSpPr/>
          <p:nvPr/>
        </p:nvCxnSpPr>
        <p:spPr>
          <a:xfrm flipH="1" rot="10800000">
            <a:off x="7092809" y="4123981"/>
            <a:ext cx="466800" cy="4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7" name="Google Shape;1517;p100"/>
          <p:cNvSpPr txBox="1"/>
          <p:nvPr>
            <p:ph idx="4294967295" type="body"/>
          </p:nvPr>
        </p:nvSpPr>
        <p:spPr>
          <a:xfrm>
            <a:off x="7222063" y="3757709"/>
            <a:ext cx="2256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8" name="Google Shape;1518;p100"/>
          <p:cNvSpPr txBox="1"/>
          <p:nvPr>
            <p:ph idx="4294967295" type="body"/>
          </p:nvPr>
        </p:nvSpPr>
        <p:spPr>
          <a:xfrm>
            <a:off x="331475" y="1607050"/>
            <a:ext cx="3731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and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−2 in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becomes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+2 in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and +5 in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to find C.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19" name="Google Shape;1519;p100"/>
          <p:cNvGrpSpPr/>
          <p:nvPr/>
        </p:nvGrpSpPr>
        <p:grpSpPr>
          <a:xfrm rot="5400000">
            <a:off x="5949737" y="3122007"/>
            <a:ext cx="468813" cy="1592191"/>
            <a:chOff x="5537573" y="2197237"/>
            <a:chExt cx="468813" cy="1592191"/>
          </a:xfrm>
        </p:grpSpPr>
        <p:cxnSp>
          <p:nvCxnSpPr>
            <p:cNvPr id="1520" name="Google Shape;1520;p100"/>
            <p:cNvCxnSpPr/>
            <p:nvPr/>
          </p:nvCxnSpPr>
          <p:spPr>
            <a:xfrm flipH="1" rot="10800000">
              <a:off x="5997686" y="2197237"/>
              <a:ext cx="8700" cy="1576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21" name="Google Shape;1521;p100"/>
            <p:cNvCxnSpPr/>
            <p:nvPr/>
          </p:nvCxnSpPr>
          <p:spPr>
            <a:xfrm flipH="1" rot="10800000">
              <a:off x="5537573" y="3784628"/>
              <a:ext cx="466800" cy="48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22" name="Google Shape;1522;p100"/>
          <p:cNvSpPr txBox="1"/>
          <p:nvPr>
            <p:ph idx="4294967295" type="body"/>
          </p:nvPr>
        </p:nvSpPr>
        <p:spPr>
          <a:xfrm>
            <a:off x="331475" y="3588250"/>
            <a:ext cx="37314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+2 in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and +5 in the </a:t>
            </a:r>
            <a:r>
              <a:rPr i="1" lang="en-GB" sz="2000">
                <a:latin typeface="Kalam"/>
                <a:ea typeface="Kalam"/>
                <a:cs typeface="Kalam"/>
                <a:sym typeface="Kalam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-direction is the same for A to 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06-11-2023/2862d69a-a4c1-4a42-876c-0891f11db04b&quot; data-equatio-type=&quot;desmos&quot;&gt;&lt;mglyph src=&quot;https://equatio-api.texthelp.com/desmos/get/06-11-2023/2862d69a-a4c1-4a42-876c-0891f11db04b&quot; alt=&quot;Equatio Desmos Graph&quot;/&gt;&lt;/math&gt;" id="1527" name="Google Shape;1527;p10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750" y="1082125"/>
            <a:ext cx="3993224" cy="373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101"/>
          <p:cNvSpPr/>
          <p:nvPr/>
        </p:nvSpPr>
        <p:spPr>
          <a:xfrm rot="-673464">
            <a:off x="5039986" y="2812563"/>
            <a:ext cx="2404288" cy="827631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01"/>
          <p:cNvSpPr txBox="1"/>
          <p:nvPr>
            <p:ph idx="1" type="body"/>
          </p:nvPr>
        </p:nvSpPr>
        <p:spPr>
          <a:xfrm>
            <a:off x="324000" y="759300"/>
            <a:ext cx="37803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b) Find the missing coordinates of these identical rectangles.</a:t>
            </a:r>
            <a:endParaRPr/>
          </a:p>
        </p:txBody>
      </p:sp>
      <p:sp>
        <p:nvSpPr>
          <p:cNvPr id="1530" name="Google Shape;1530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Coordinate problem solving with shapes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531" name="Google Shape;1531;p10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9400" y="905425"/>
            <a:ext cx="173971" cy="23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32" name="Google Shape;1532;p10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988" y="3588797"/>
            <a:ext cx="173971" cy="158843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101"/>
          <p:cNvSpPr txBox="1"/>
          <p:nvPr>
            <p:ph idx="4294967295" type="body"/>
          </p:nvPr>
        </p:nvSpPr>
        <p:spPr>
          <a:xfrm>
            <a:off x="7236210" y="2411692"/>
            <a:ext cx="330900" cy="4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4" name="Google Shape;1534;p101"/>
          <p:cNvSpPr txBox="1"/>
          <p:nvPr>
            <p:ph idx="4294967295" type="body"/>
          </p:nvPr>
        </p:nvSpPr>
        <p:spPr>
          <a:xfrm>
            <a:off x="7584550" y="3076525"/>
            <a:ext cx="12354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(30, 5)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5" name="Google Shape;1535;p101"/>
          <p:cNvSpPr txBox="1"/>
          <p:nvPr>
            <p:ph idx="4294967295" type="body"/>
          </p:nvPr>
        </p:nvSpPr>
        <p:spPr>
          <a:xfrm>
            <a:off x="4170175" y="3904325"/>
            <a:ext cx="14541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(−2, −3)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101"/>
          <p:cNvSpPr txBox="1"/>
          <p:nvPr>
            <p:ph idx="4294967295" type="body"/>
          </p:nvPr>
        </p:nvSpPr>
        <p:spPr>
          <a:xfrm>
            <a:off x="4862673" y="2886405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7" name="Google Shape;1537;p101"/>
          <p:cNvSpPr txBox="1"/>
          <p:nvPr>
            <p:ph idx="4294967295" type="body"/>
          </p:nvPr>
        </p:nvSpPr>
        <p:spPr>
          <a:xfrm>
            <a:off x="7381525" y="3214400"/>
            <a:ext cx="247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8" name="Google Shape;1538;p101"/>
          <p:cNvSpPr txBox="1"/>
          <p:nvPr>
            <p:ph idx="4294967295" type="body"/>
          </p:nvPr>
        </p:nvSpPr>
        <p:spPr>
          <a:xfrm>
            <a:off x="5045841" y="3692425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9" name="Google Shape;1539;p101"/>
          <p:cNvSpPr txBox="1"/>
          <p:nvPr>
            <p:ph idx="4294967295" type="body"/>
          </p:nvPr>
        </p:nvSpPr>
        <p:spPr>
          <a:xfrm>
            <a:off x="3856075" y="2608925"/>
            <a:ext cx="12870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 </a:t>
            </a:r>
            <a:r>
              <a:rPr lang="en-GB"/>
              <a:t>(−5, 11)</a:t>
            </a:r>
            <a:endParaRPr/>
          </a:p>
        </p:txBody>
      </p:sp>
      <p:sp>
        <p:nvSpPr>
          <p:cNvPr id="1540" name="Google Shape;1540;p101"/>
          <p:cNvSpPr/>
          <p:nvPr/>
        </p:nvSpPr>
        <p:spPr>
          <a:xfrm rot="4715179">
            <a:off x="5657078" y="1887809"/>
            <a:ext cx="2404349" cy="827572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01"/>
          <p:cNvSpPr txBox="1"/>
          <p:nvPr>
            <p:ph idx="4294967295" type="body"/>
          </p:nvPr>
        </p:nvSpPr>
        <p:spPr>
          <a:xfrm>
            <a:off x="7476550" y="2314525"/>
            <a:ext cx="13566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 </a:t>
            </a:r>
            <a:r>
              <a:rPr lang="en-GB"/>
              <a:t>(27, 19)</a:t>
            </a:r>
            <a:endParaRPr/>
          </a:p>
        </p:txBody>
      </p:sp>
      <p:sp>
        <p:nvSpPr>
          <p:cNvPr id="1542" name="Google Shape;1542;p101"/>
          <p:cNvSpPr txBox="1"/>
          <p:nvPr>
            <p:ph idx="4294967295" type="body"/>
          </p:nvPr>
        </p:nvSpPr>
        <p:spPr>
          <a:xfrm>
            <a:off x="7171750" y="787200"/>
            <a:ext cx="13566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 </a:t>
            </a:r>
            <a:r>
              <a:rPr lang="en-GB"/>
              <a:t>(22, 37)</a:t>
            </a:r>
            <a:endParaRPr/>
          </a:p>
        </p:txBody>
      </p:sp>
      <p:sp>
        <p:nvSpPr>
          <p:cNvPr id="1543" name="Google Shape;1543;p101"/>
          <p:cNvSpPr txBox="1"/>
          <p:nvPr>
            <p:ph idx="4294967295" type="body"/>
          </p:nvPr>
        </p:nvSpPr>
        <p:spPr>
          <a:xfrm>
            <a:off x="6587353" y="3388569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4" name="Google Shape;1544;p101"/>
          <p:cNvSpPr txBox="1"/>
          <p:nvPr>
            <p:ph idx="4294967295" type="body"/>
          </p:nvPr>
        </p:nvSpPr>
        <p:spPr>
          <a:xfrm>
            <a:off x="6095601" y="1036781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5" name="Google Shape;1545;p101"/>
          <p:cNvSpPr txBox="1"/>
          <p:nvPr>
            <p:ph idx="4294967295" type="body"/>
          </p:nvPr>
        </p:nvSpPr>
        <p:spPr>
          <a:xfrm>
            <a:off x="6923389" y="863557"/>
            <a:ext cx="3309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✖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6" name="Google Shape;1546;p101"/>
          <p:cNvSpPr txBox="1"/>
          <p:nvPr>
            <p:ph idx="4294967295" type="body"/>
          </p:nvPr>
        </p:nvSpPr>
        <p:spPr>
          <a:xfrm>
            <a:off x="6488101" y="3658574"/>
            <a:ext cx="1201500" cy="5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(16, 2)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7" name="Google Shape;1547;p101"/>
          <p:cNvSpPr txBox="1"/>
          <p:nvPr>
            <p:ph idx="4294967295" type="body"/>
          </p:nvPr>
        </p:nvSpPr>
        <p:spPr>
          <a:xfrm>
            <a:off x="5571550" y="780125"/>
            <a:ext cx="1201500" cy="3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 </a:t>
            </a:r>
            <a:r>
              <a:rPr lang="en-GB"/>
              <a:t>(8, 34)</a:t>
            </a:r>
            <a:endParaRPr/>
          </a:p>
        </p:txBody>
      </p:sp>
      <p:grpSp>
        <p:nvGrpSpPr>
          <p:cNvPr id="1548" name="Google Shape;1548;p101"/>
          <p:cNvGrpSpPr/>
          <p:nvPr/>
        </p:nvGrpSpPr>
        <p:grpSpPr>
          <a:xfrm>
            <a:off x="8011728" y="3098000"/>
            <a:ext cx="621733" cy="374700"/>
            <a:chOff x="7076470" y="4240989"/>
            <a:chExt cx="716612" cy="374700"/>
          </a:xfrm>
        </p:grpSpPr>
        <p:sp>
          <p:nvSpPr>
            <p:cNvPr id="1549" name="Google Shape;1549;p101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0" name="Google Shape;1550;p101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1" name="Google Shape;1551;p101"/>
          <p:cNvGrpSpPr/>
          <p:nvPr/>
        </p:nvGrpSpPr>
        <p:grpSpPr>
          <a:xfrm>
            <a:off x="6837474" y="3640075"/>
            <a:ext cx="621733" cy="374700"/>
            <a:chOff x="7076470" y="4240989"/>
            <a:chExt cx="716612" cy="374700"/>
          </a:xfrm>
        </p:grpSpPr>
        <p:sp>
          <p:nvSpPr>
            <p:cNvPr id="1552" name="Google Shape;1552;p101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3" name="Google Shape;1553;p101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4" name="Google Shape;1554;p101"/>
          <p:cNvGrpSpPr/>
          <p:nvPr/>
        </p:nvGrpSpPr>
        <p:grpSpPr>
          <a:xfrm>
            <a:off x="4541061" y="3860000"/>
            <a:ext cx="872403" cy="374700"/>
            <a:chOff x="7076470" y="4240989"/>
            <a:chExt cx="716612" cy="374700"/>
          </a:xfrm>
        </p:grpSpPr>
        <p:sp>
          <p:nvSpPr>
            <p:cNvPr id="1555" name="Google Shape;1555;p101"/>
            <p:cNvSpPr/>
            <p:nvPr/>
          </p:nvSpPr>
          <p:spPr>
            <a:xfrm>
              <a:off x="7076470" y="4240989"/>
              <a:ext cx="706200" cy="37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56" name="Google Shape;1556;p101"/>
            <p:cNvCxnSpPr/>
            <p:nvPr/>
          </p:nvCxnSpPr>
          <p:spPr>
            <a:xfrm>
              <a:off x="7086882" y="4580739"/>
              <a:ext cx="7062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7" name="Google Shape;1557;p101"/>
          <p:cNvSpPr txBox="1"/>
          <p:nvPr>
            <p:ph idx="4294967295" type="body"/>
          </p:nvPr>
        </p:nvSpPr>
        <p:spPr>
          <a:xfrm>
            <a:off x="6479101" y="1201025"/>
            <a:ext cx="268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highlight>
                <a:schemeClr val="lt1"/>
              </a:highlight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58" name="Google Shape;1558;p101"/>
          <p:cNvCxnSpPr/>
          <p:nvPr/>
        </p:nvCxnSpPr>
        <p:spPr>
          <a:xfrm>
            <a:off x="6211250" y="1227763"/>
            <a:ext cx="8049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101"/>
          <p:cNvCxnSpPr/>
          <p:nvPr/>
        </p:nvCxnSpPr>
        <p:spPr>
          <a:xfrm flipH="1" rot="10800000">
            <a:off x="7023725" y="1033975"/>
            <a:ext cx="270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0" name="Google Shape;1560;p101"/>
          <p:cNvSpPr txBox="1"/>
          <p:nvPr>
            <p:ph idx="4294967295" type="body"/>
          </p:nvPr>
        </p:nvSpPr>
        <p:spPr>
          <a:xfrm>
            <a:off x="7098226" y="1029575"/>
            <a:ext cx="268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chemeClr val="lt1"/>
                </a:highlight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highlight>
                <a:schemeClr val="lt1"/>
              </a:highlight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101"/>
          <p:cNvSpPr txBox="1"/>
          <p:nvPr>
            <p:ph idx="4294967295" type="body"/>
          </p:nvPr>
        </p:nvSpPr>
        <p:spPr>
          <a:xfrm>
            <a:off x="1113865" y="2725025"/>
            <a:ext cx="268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562" name="Google Shape;1562;p101"/>
          <p:cNvGrpSpPr/>
          <p:nvPr/>
        </p:nvGrpSpPr>
        <p:grpSpPr>
          <a:xfrm>
            <a:off x="878414" y="2557975"/>
            <a:ext cx="792300" cy="215700"/>
            <a:chOff x="2433650" y="2405575"/>
            <a:chExt cx="792300" cy="215700"/>
          </a:xfrm>
        </p:grpSpPr>
        <p:cxnSp>
          <p:nvCxnSpPr>
            <p:cNvPr id="1563" name="Google Shape;1563;p101"/>
            <p:cNvCxnSpPr/>
            <p:nvPr/>
          </p:nvCxnSpPr>
          <p:spPr>
            <a:xfrm>
              <a:off x="2433650" y="2611750"/>
              <a:ext cx="7896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64" name="Google Shape;1564;p101"/>
            <p:cNvCxnSpPr/>
            <p:nvPr/>
          </p:nvCxnSpPr>
          <p:spPr>
            <a:xfrm flipH="1" rot="10800000">
              <a:off x="3223250" y="2405575"/>
              <a:ext cx="2700" cy="215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65" name="Google Shape;1565;p101"/>
          <p:cNvSpPr txBox="1"/>
          <p:nvPr>
            <p:ph idx="4294967295" type="body"/>
          </p:nvPr>
        </p:nvSpPr>
        <p:spPr>
          <a:xfrm>
            <a:off x="1732990" y="2553575"/>
            <a:ext cx="268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66" name="Google Shape;1566;p101"/>
          <p:cNvCxnSpPr/>
          <p:nvPr/>
        </p:nvCxnSpPr>
        <p:spPr>
          <a:xfrm rot="5400000">
            <a:off x="2250063" y="2927627"/>
            <a:ext cx="789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7" name="Google Shape;1567;p101"/>
          <p:cNvCxnSpPr/>
          <p:nvPr/>
        </p:nvCxnSpPr>
        <p:spPr>
          <a:xfrm flipH="1" rot="-5400000">
            <a:off x="2513238" y="2419375"/>
            <a:ext cx="2700" cy="21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8" name="Google Shape;1568;p101"/>
          <p:cNvSpPr txBox="1"/>
          <p:nvPr>
            <p:ph idx="4294967295" type="body"/>
          </p:nvPr>
        </p:nvSpPr>
        <p:spPr>
          <a:xfrm>
            <a:off x="331475" y="1988050"/>
            <a:ext cx="373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short lengths are related by…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9" name="Google Shape;1569;p101"/>
          <p:cNvSpPr txBox="1"/>
          <p:nvPr>
            <p:ph idx="4294967295" type="body"/>
          </p:nvPr>
        </p:nvSpPr>
        <p:spPr>
          <a:xfrm>
            <a:off x="2415474" y="2238363"/>
            <a:ext cx="2685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0" name="Google Shape;1570;p101"/>
          <p:cNvSpPr txBox="1"/>
          <p:nvPr>
            <p:ph idx="4294967295" type="body"/>
          </p:nvPr>
        </p:nvSpPr>
        <p:spPr>
          <a:xfrm>
            <a:off x="2682844" y="2735437"/>
            <a:ext cx="380100" cy="2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plot coordinates in all four </a:t>
            </a:r>
            <a:r>
              <a:rPr lang="en-GB"/>
              <a:t>quadrants</a:t>
            </a:r>
            <a:r>
              <a:rPr lang="en-GB"/>
              <a:t> </a:t>
            </a:r>
            <a:r>
              <a:rPr lang="en-GB"/>
              <a:t>and </a:t>
            </a:r>
            <a:r>
              <a:rPr lang="en-GB"/>
              <a:t>identify the scale of unlabelled axes if given a coordinate.</a:t>
            </a:r>
            <a:br>
              <a:rPr lang="en-GB"/>
            </a:br>
            <a:r>
              <a:rPr lang="en-GB"/>
              <a:t>It is possible to estimate a coordinate even when we don’t have axis labels or grid lines.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can carefully consider the journey between vertices of shapes like squares and rectangles to find missing vertices.</a:t>
            </a:r>
            <a:endParaRPr/>
          </a:p>
        </p:txBody>
      </p:sp>
      <p:sp>
        <p:nvSpPr>
          <p:cNvPr id="1576" name="Google Shape;1576;p102"/>
          <p:cNvSpPr txBox="1"/>
          <p:nvPr>
            <p:ph type="title"/>
          </p:nvPr>
        </p:nvSpPr>
        <p:spPr>
          <a:xfrm>
            <a:off x="1684800" y="157525"/>
            <a:ext cx="6907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understanding of plotting coordinates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82" name="Google Shape;1582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