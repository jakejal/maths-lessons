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F7EDE76-83C8-4B27-8820-00A3AA419E67}">
  <a:tblStyle styleId="{DF7EDE76-83C8-4B27-8820-00A3AA419E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g2a0afbb0221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a0afbb0221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6" name="Shape 256"/>
        <p:cNvGrpSpPr/>
        <p:nvPr/>
      </p:nvGrpSpPr>
      <p:grpSpPr>
        <a:xfrm>
          <a:off x="0" y="0"/>
          <a:ext cx="0" cy="0"/>
        </a:xfrm>
      </p:grpSpPr>
      <p:sp>
        <p:nvSpPr>
          <p:cNvPr id="257" name="Google Shape;25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7.png" /><Relationship Id="rId4" Type="http://schemas.openxmlformats.org/officeDocument/2006/relationships/image" Target="../media/image1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659100" y="2070800"/>
            <a:ext cx="39045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is steeper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 B or C to 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 C or B to 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 B or A to C?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could you move the coordinate, D, to make this shape a parallelogram?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of change from a coordinate pair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80725" y="1774600"/>
            <a:ext cx="6243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points A, B, C and D have been plotted on the same axes.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437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Reading the axes accurately to calculate gradient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412000" y="2267155"/>
            <a:ext cx="1432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to B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412000" y="2516682"/>
            <a:ext cx="1432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to C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180" y="2190775"/>
            <a:ext cx="1824220" cy="18303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9" name="Google Shape;179;p20"/>
          <p:cNvSpPr txBox="1"/>
          <p:nvPr/>
        </p:nvSpPr>
        <p:spPr>
          <a:xfrm>
            <a:off x="2412000" y="2747156"/>
            <a:ext cx="1432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to B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026600" y="3569303"/>
            <a:ext cx="4203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One square left and one square up.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859531" y="2776131"/>
            <a:ext cx="129300" cy="1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31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6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17478" y="2821565"/>
            <a:ext cx="129300" cy="1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7999" y="4087700"/>
            <a:ext cx="66240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Calculate the gradient of each line.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800" y="4391450"/>
            <a:ext cx="1377095" cy="19502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5">
            <a:alphaModFix/>
          </a:blip>
          <a:srcRect l="3197" r="24947"/>
          <a:stretch>
            <a:fillRect/>
          </a:stretch>
        </p:blipFill>
        <p:spPr>
          <a:xfrm>
            <a:off x="2309234" y="4391450"/>
            <a:ext cx="1377096" cy="19502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6">
            <a:alphaModFix/>
          </a:blip>
          <a:srcRect r="10176"/>
          <a:stretch>
            <a:fillRect/>
          </a:stretch>
        </p:blipFill>
        <p:spPr>
          <a:xfrm>
            <a:off x="3873670" y="4391450"/>
            <a:ext cx="1377096" cy="198919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7">
            <a:alphaModFix/>
          </a:blip>
          <a:srcRect l="6960" r="16964"/>
          <a:stretch>
            <a:fillRect/>
          </a:stretch>
        </p:blipFill>
        <p:spPr>
          <a:xfrm>
            <a:off x="5438104" y="4391450"/>
            <a:ext cx="1377097" cy="19805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8" name="Google Shape;188;p20"/>
          <p:cNvSpPr txBox="1"/>
          <p:nvPr/>
        </p:nvSpPr>
        <p:spPr>
          <a:xfrm>
            <a:off x="1314556" y="6423900"/>
            <a:ext cx="216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772504" y="6423900"/>
            <a:ext cx="216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230452" y="6423900"/>
            <a:ext cx="631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1" name="Google Shape;191;p20" descr="&lt;math xmlns=&quot;http://www.w3.org/1998/Math/MathML&quot; display=&quot;block&quot; data-is-equatio=&quot;1&quot; data-latex=&quot;-\frac{1}{3}&quot;&gt;&lt;mo&gt;−&lt;/mo&gt;&lt;mfrac&gt;&lt;mn&gt;1&lt;/mn&gt;&lt;mn&gt;3&lt;/mn&gt;&lt;/mfrac&gt;&lt;/math&gt;" title="negative one thir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03300" y="6400025"/>
            <a:ext cx="216600" cy="32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1456" y="6885650"/>
            <a:ext cx="1377102" cy="195449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10">
            <a:alphaModFix/>
          </a:blip>
          <a:srcRect l="11208" r="5700"/>
          <a:stretch>
            <a:fillRect/>
          </a:stretch>
        </p:blipFill>
        <p:spPr>
          <a:xfrm>
            <a:off x="2189701" y="6885650"/>
            <a:ext cx="1564434" cy="19805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11">
            <a:alphaModFix/>
          </a:blip>
          <a:srcRect l="17938" r="23383"/>
          <a:stretch>
            <a:fillRect/>
          </a:stretch>
        </p:blipFill>
        <p:spPr>
          <a:xfrm>
            <a:off x="3885280" y="6885650"/>
            <a:ext cx="1392429" cy="198060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12">
            <a:alphaModFix/>
          </a:blip>
          <a:srcRect r="23931"/>
          <a:stretch>
            <a:fillRect/>
          </a:stretch>
        </p:blipFill>
        <p:spPr>
          <a:xfrm>
            <a:off x="5445889" y="6885650"/>
            <a:ext cx="1415111" cy="19805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6" name="Google Shape;196;p20"/>
          <p:cNvSpPr txBox="1"/>
          <p:nvPr/>
        </p:nvSpPr>
        <p:spPr>
          <a:xfrm>
            <a:off x="1144300" y="8990800"/>
            <a:ext cx="216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782160" y="8990800"/>
            <a:ext cx="216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191419" y="8990800"/>
            <a:ext cx="631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786979" y="8990800"/>
            <a:ext cx="631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Rate of change from a coordinate pair</a:t>
            </a:r>
            <a:endParaRPr/>
          </a:p>
        </p:txBody>
      </p:sp>
      <p:graphicFrame>
        <p:nvGraphicFramePr>
          <p:cNvPr id="206" name="Google Shape;206;p21"/>
          <p:cNvGraphicFramePr>
            <a:graphicFrameLocks noGrp="1"/>
          </p:cNvGraphicFramePr>
          <p:nvPr/>
        </p:nvGraphicFramePr>
        <p:xfrm>
          <a:off x="5499883" y="37443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{DF7EDE76-83C8-4B27-8820-00A3AA419E67}</a:tableStyleId>
              </a:tblPr>
              <a:tblGrid>
                <a:gridCol w="796050"/>
                <a:gridCol w="796050"/>
              </a:tblGrid>
              <a:tr h="286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8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21"/>
          <p:cNvSpPr/>
          <p:nvPr/>
        </p:nvSpPr>
        <p:spPr>
          <a:xfrm>
            <a:off x="6440475" y="4031300"/>
            <a:ext cx="524400" cy="472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Calculating gradient from coordinate pairs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gradient of the line joining the 2 coordinates given. You may use the axis to help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952605"/>
            <a:ext cx="1592088" cy="161471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303" y="1952605"/>
            <a:ext cx="1592088" cy="161471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2607" y="1952605"/>
            <a:ext cx="1592088" cy="161471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911" y="1952605"/>
            <a:ext cx="1592088" cy="161471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14" name="Google Shape;214;p21"/>
          <p:cNvGraphicFramePr>
            <a:graphicFrameLocks noGrp="1"/>
          </p:cNvGraphicFramePr>
          <p:nvPr/>
        </p:nvGraphicFramePr>
        <p:xfrm>
          <a:off x="468000" y="1576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{DF7EDE76-83C8-4B27-8820-00A3AA419E67}</a:tableStyleId>
              </a:tblPr>
              <a:tblGrid>
                <a:gridCol w="1591675"/>
                <a:gridCol w="1650625"/>
                <a:gridCol w="1689475"/>
                <a:gridCol w="1692225"/>
              </a:tblGrid>
              <a:tr h="337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(7,8) and (4,2)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(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1,8) and (1,2)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(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−1,−2) and (1,10)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(3,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−2) and (−5,10)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5" name="Google Shape;215;p21"/>
          <p:cNvGraphicFramePr>
            <a:graphicFrameLocks noGrp="1"/>
          </p:cNvGraphicFramePr>
          <p:nvPr/>
        </p:nvGraphicFramePr>
        <p:xfrm>
          <a:off x="493083" y="37443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{DF7EDE76-83C8-4B27-8820-00A3AA419E67}</a:tableStyleId>
              </a:tblPr>
              <a:tblGrid>
                <a:gridCol w="796050"/>
                <a:gridCol w="79605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21"/>
          <p:cNvSpPr txBox="1"/>
          <p:nvPr/>
        </p:nvSpPr>
        <p:spPr>
          <a:xfrm>
            <a:off x="1278312" y="2561088"/>
            <a:ext cx="174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6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1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1774869" y="2019147"/>
            <a:ext cx="174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6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1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>
            <a:off x="1341809" y="2733847"/>
            <a:ext cx="5244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19" name="Google Shape;219;p21"/>
          <p:cNvSpPr/>
          <p:nvPr/>
        </p:nvSpPr>
        <p:spPr>
          <a:xfrm>
            <a:off x="1453023" y="2782187"/>
            <a:ext cx="249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1"/>
          <p:cNvCxnSpPr/>
          <p:nvPr/>
        </p:nvCxnSpPr>
        <p:spPr>
          <a:xfrm rot="10800000" flipH="1">
            <a:off x="1834992" y="2203835"/>
            <a:ext cx="0" cy="5277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21" name="Google Shape;221;p21"/>
          <p:cNvSpPr/>
          <p:nvPr/>
        </p:nvSpPr>
        <p:spPr>
          <a:xfrm>
            <a:off x="1774868" y="2310218"/>
            <a:ext cx="3411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8000" y="4372152"/>
            <a:ext cx="16524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gradient =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2603034" y="2115756"/>
            <a:ext cx="174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6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1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007027" y="2552458"/>
            <a:ext cx="174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6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1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5" name="Google Shape;225;p21"/>
          <p:cNvCxnSpPr/>
          <p:nvPr/>
        </p:nvCxnSpPr>
        <p:spPr>
          <a:xfrm>
            <a:off x="2679144" y="2291018"/>
            <a:ext cx="3852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26" name="Google Shape;226;p21"/>
          <p:cNvSpPr/>
          <p:nvPr/>
        </p:nvSpPr>
        <p:spPr>
          <a:xfrm>
            <a:off x="2704010" y="2083627"/>
            <a:ext cx="249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061699" y="2281137"/>
            <a:ext cx="3411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" name="Google Shape;228;p21"/>
          <p:cNvCxnSpPr/>
          <p:nvPr/>
        </p:nvCxnSpPr>
        <p:spPr>
          <a:xfrm>
            <a:off x="3061710" y="2291007"/>
            <a:ext cx="8100" cy="4188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graphicFrame>
        <p:nvGraphicFramePr>
          <p:cNvPr id="229" name="Google Shape;229;p21"/>
          <p:cNvGraphicFramePr>
            <a:graphicFrameLocks noGrp="1"/>
          </p:cNvGraphicFramePr>
          <p:nvPr/>
        </p:nvGraphicFramePr>
        <p:xfrm>
          <a:off x="2145308" y="37443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{DF7EDE76-83C8-4B27-8820-00A3AA419E67}</a:tableStyleId>
              </a:tblPr>
              <a:tblGrid>
                <a:gridCol w="796050"/>
                <a:gridCol w="79605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0" name="Google Shape;230;p21"/>
          <p:cNvSpPr txBox="1"/>
          <p:nvPr/>
        </p:nvSpPr>
        <p:spPr>
          <a:xfrm>
            <a:off x="2145300" y="4372150"/>
            <a:ext cx="15921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gradient =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31" name="Google Shape;231;p21"/>
          <p:cNvGraphicFramePr>
            <a:graphicFrameLocks noGrp="1"/>
          </p:cNvGraphicFramePr>
          <p:nvPr/>
        </p:nvGraphicFramePr>
        <p:xfrm>
          <a:off x="3822608" y="37443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{DF7EDE76-83C8-4B27-8820-00A3AA419E67}</a:tableStyleId>
              </a:tblPr>
              <a:tblGrid>
                <a:gridCol w="796050"/>
                <a:gridCol w="79605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p21"/>
          <p:cNvSpPr txBox="1"/>
          <p:nvPr/>
        </p:nvSpPr>
        <p:spPr>
          <a:xfrm>
            <a:off x="3822600" y="4372150"/>
            <a:ext cx="15921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gradient =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347121" y="2894229"/>
            <a:ext cx="174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6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1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694948" y="1997361"/>
            <a:ext cx="174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6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1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5" name="Google Shape;235;p21"/>
          <p:cNvCxnSpPr/>
          <p:nvPr/>
        </p:nvCxnSpPr>
        <p:spPr>
          <a:xfrm>
            <a:off x="4426052" y="3071120"/>
            <a:ext cx="3267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36" name="Google Shape;236;p21"/>
          <p:cNvSpPr/>
          <p:nvPr/>
        </p:nvSpPr>
        <p:spPr>
          <a:xfrm>
            <a:off x="4493863" y="3103369"/>
            <a:ext cx="249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1"/>
          <p:cNvCxnSpPr/>
          <p:nvPr/>
        </p:nvCxnSpPr>
        <p:spPr>
          <a:xfrm rot="10800000" flipH="1">
            <a:off x="4752862" y="2170440"/>
            <a:ext cx="0" cy="9078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38" name="Google Shape;238;p21"/>
          <p:cNvSpPr/>
          <p:nvPr/>
        </p:nvSpPr>
        <p:spPr>
          <a:xfrm>
            <a:off x="4798645" y="2469309"/>
            <a:ext cx="3852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488803" y="2894229"/>
            <a:ext cx="174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6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1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698332" y="1956461"/>
            <a:ext cx="174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6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21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1" name="Google Shape;241;p21"/>
          <p:cNvCxnSpPr/>
          <p:nvPr/>
        </p:nvCxnSpPr>
        <p:spPr>
          <a:xfrm>
            <a:off x="5778027" y="2117624"/>
            <a:ext cx="7665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2" name="Google Shape;242;p21"/>
          <p:cNvCxnSpPr/>
          <p:nvPr/>
        </p:nvCxnSpPr>
        <p:spPr>
          <a:xfrm flipH="1">
            <a:off x="6544623" y="2117613"/>
            <a:ext cx="0" cy="9078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3" name="Google Shape;243;p21"/>
          <p:cNvSpPr/>
          <p:nvPr/>
        </p:nvSpPr>
        <p:spPr>
          <a:xfrm>
            <a:off x="6579680" y="2380159"/>
            <a:ext cx="3852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5965637" y="1908227"/>
            <a:ext cx="249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" name="Google Shape;245;p21" descr="&lt;math xmlns=&quot;http://www.w3.org/1998/Math/MathML&quot; display=&quot;block&quot; data-is-equatio=&quot;1&quot; data-latex=&quot;-\frac{3}{2}&quot;&gt;&lt;mo&gt;−&lt;/mo&gt;&lt;mfrac&gt;&lt;mn&gt;3&lt;/mn&gt;&lt;mn&gt;2&lt;/mn&gt;&lt;/mfrac&gt;&lt;/math&gt;" title="negative thre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6531" y="4089877"/>
            <a:ext cx="249600" cy="37302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460800" y="4923100"/>
            <a:ext cx="6632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In each question, decide which line will be steeper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line joining (0,0) and (5,7) or the line joining (0,0) and (5,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line joining (0,0) and (3,4) or the line joining (0,0) and (6,7)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line joining (1,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and (2,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or the line joining (5,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and (6,5)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The line joining (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−4,4) and (5,−4) or the line joining (2,−1) and (11, 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1810800" y="5248950"/>
            <a:ext cx="1066500" cy="240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59425" y="5558800"/>
            <a:ext cx="49746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Larger change in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for the same change in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x.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59425" y="6922800"/>
            <a:ext cx="4974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Larger change in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for the same change in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x.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59425" y="6249600"/>
            <a:ext cx="66240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the same gradient the second coordinate would need to be (6,8). 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59425" y="7668000"/>
            <a:ext cx="4974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Larger change in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for the same change in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x.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1795656" y="5972400"/>
            <a:ext cx="1066500" cy="240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143878" y="6688800"/>
            <a:ext cx="1066500" cy="240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1810800" y="7419600"/>
            <a:ext cx="1259100" cy="240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5" name="Google Shape;255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2"/>
          <p:cNvSpPr txBox="1"/>
          <p:nvPr/>
        </p:nvSpPr>
        <p:spPr>
          <a:xfrm>
            <a:off x="468000" y="1057200"/>
            <a:ext cx="6422700" cy="3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testing the gradient. See whether each set of 3 points lie on a straight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(1,2), (2,6) and (4,12)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8), (6,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and (13,3)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(0,9), (2,5) and (5,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 0), (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and (3,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62" name="Google Shape;262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Rate of change from a coordinate pair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Coordinates that lie on a straight line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468000" y="1681007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No, the gradient between (1,2) and (2,6) is 4 but the gradien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between (2,6) and (4,12) is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68000" y="2397144"/>
            <a:ext cx="6624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Yes, the gradient between any 2 points is 1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468000" y="3140593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Yes, the gradient between any 2 points is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468000" y="3803676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No, the gradient between (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5, 0) and (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3,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4) is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but the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gradient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between (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5, 0) and (3,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8) is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68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Rate of change from a coordinate pair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2024-01-08T16:49:38.522</cp:lastPrinted>
  <dcterms:created xsi:type="dcterms:W3CDTF">2024-01-08T16:49:38Z</dcterms:created>
  <dcterms:modified xsi:type="dcterms:W3CDTF">2024-01-08T16:49:48Z</dcterms:modified>
</cp:coreProperties>
</file>