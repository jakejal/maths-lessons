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3C8B61-151B-43DC-9A8E-D961CDCD6E0B}">
  <a:tblStyle styleId="{933C8B61-151B-43DC-9A8E-D961CDCD6E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a91bd9c7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a91bd9c7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1ea91bd9c7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1ea91bd9c7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ea91bd9c7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ea91bd9c7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1ea91bd9c7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1ea91bd9c7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1ea91bd9c7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1ea91bd9c7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ea91bd9c77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1ea91bd9c77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1ea91bd9c77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1ea91bd9c77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1ea91bd9c77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1ea91bd9c7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a2fe43818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a2fe43818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a2fe43818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a2fe43818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a2fe43818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a2fe43818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ea91bd9c77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1ea91bd9c77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1ea91bd9c77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1ea91bd9c77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1ea91bd9c77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1ea91bd9c77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1ea91bd9c77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1ea91bd9c77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1ea91bd9c77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1ea91bd9c77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1ea91bd9c77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ea91bd9c77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1ea91bd9c77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1ea91bd9c77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ea91bd9c77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ea91bd9c77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1ea91bd9c77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1ea91bd9c77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1ea91bd9c77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1ea91bd9c77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1ea91bd9c77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1ea91bd9c77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1ea91bd9c77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1ea91bd9c77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1ea91bd9c77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1ea91bd9c77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ea91bd9c77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ea91bd9c77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1ea91bd9c77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1ea91bd9c77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1ea91bd9c77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1ea91bd9c77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1ea91bd9c77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1ea91bd9c77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1ea91bd9c77_0_8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1ea91bd9c77_0_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ea91bd9c77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1ea91bd9c77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1ea91bd9c77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1ea91bd9c77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1ea91bd9c77_0_1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1ea91bd9c77_0_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1ea91bd9c77_0_1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1ea91bd9c77_0_1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1ea91bd9c77_0_1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1ea91bd9c77_0_1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2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2.png"/><Relationship Id="rId4" Type="http://schemas.openxmlformats.org/officeDocument/2006/relationships/image" Target="../media/image70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70.png"/><Relationship Id="rId4" Type="http://schemas.openxmlformats.org/officeDocument/2006/relationships/image" Target="../media/image23.png"/><Relationship Id="rId9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70.png"/><Relationship Id="rId4" Type="http://schemas.openxmlformats.org/officeDocument/2006/relationships/image" Target="../media/image30.png"/><Relationship Id="rId11" Type="http://schemas.openxmlformats.org/officeDocument/2006/relationships/image" Target="../media/image25.png"/><Relationship Id="rId10" Type="http://schemas.openxmlformats.org/officeDocument/2006/relationships/image" Target="../media/image35.png"/><Relationship Id="rId9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4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9.png"/><Relationship Id="rId4" Type="http://schemas.openxmlformats.org/officeDocument/2006/relationships/image" Target="../media/image46.png"/><Relationship Id="rId5" Type="http://schemas.openxmlformats.org/officeDocument/2006/relationships/image" Target="../media/image45.png"/><Relationship Id="rId6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46.png"/><Relationship Id="rId5" Type="http://schemas.openxmlformats.org/officeDocument/2006/relationships/image" Target="../media/image50.png"/><Relationship Id="rId6" Type="http://schemas.openxmlformats.org/officeDocument/2006/relationships/image" Target="../media/image45.png"/><Relationship Id="rId7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5" Type="http://schemas.openxmlformats.org/officeDocument/2006/relationships/image" Target="../media/image56.png"/><Relationship Id="rId6" Type="http://schemas.openxmlformats.org/officeDocument/2006/relationships/image" Target="../media/image6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1.png"/><Relationship Id="rId4" Type="http://schemas.openxmlformats.org/officeDocument/2006/relationships/image" Target="../media/image65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5" Type="http://schemas.openxmlformats.org/officeDocument/2006/relationships/image" Target="../media/image56.png"/><Relationship Id="rId6" Type="http://schemas.openxmlformats.org/officeDocument/2006/relationships/image" Target="../media/image60.png"/><Relationship Id="rId7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1.png"/><Relationship Id="rId4" Type="http://schemas.openxmlformats.org/officeDocument/2006/relationships/image" Target="../media/image65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Relationship Id="rId4" Type="http://schemas.openxmlformats.org/officeDocument/2006/relationships/image" Target="../media/image50.png"/><Relationship Id="rId5" Type="http://schemas.openxmlformats.org/officeDocument/2006/relationships/image" Target="../media/image6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46.png"/><Relationship Id="rId6" Type="http://schemas.openxmlformats.org/officeDocument/2006/relationships/image" Target="../media/image68.png"/><Relationship Id="rId7" Type="http://schemas.openxmlformats.org/officeDocument/2006/relationships/image" Target="../media/image7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8.png"/><Relationship Id="rId4" Type="http://schemas.openxmlformats.org/officeDocument/2006/relationships/image" Target="../media/image7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6.png"/><Relationship Id="rId4" Type="http://schemas.openxmlformats.org/officeDocument/2006/relationships/image" Target="../media/image6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6.png"/><Relationship Id="rId4" Type="http://schemas.openxmlformats.org/officeDocument/2006/relationships/image" Target="../media/image7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of change from a coordinate pair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the rate of change (gradient) from two coordinate pairs.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1" y="25435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gradient is a measure of how steep a line is. It is calculated by finding the rate of change in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-direction with respect to the positive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-direction. </a:t>
            </a:r>
            <a:endParaRPr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Two lines are parallel if they are straight lines that are always the same (non-zero) distance apart.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the axes accurately to calculate gradient</a:t>
            </a:r>
            <a:endParaRPr/>
          </a:p>
        </p:txBody>
      </p:sp>
      <p:sp>
        <p:nvSpPr>
          <p:cNvPr id="773" name="Google Shape;773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coordinate pairs</a:t>
            </a:r>
            <a:endParaRPr/>
          </a:p>
        </p:txBody>
      </p:sp>
      <p:sp>
        <p:nvSpPr>
          <p:cNvPr id="774" name="Google Shape;774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that lie on a straight </a:t>
            </a:r>
            <a:r>
              <a:rPr lang="en-GB"/>
              <a:t>line</a:t>
            </a:r>
            <a:r>
              <a:rPr lang="en-GB"/>
              <a:t> </a:t>
            </a:r>
            <a:endParaRPr/>
          </a:p>
        </p:txBody>
      </p:sp>
      <p:sp>
        <p:nvSpPr>
          <p:cNvPr id="775" name="Google Shape;775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of change from a coordinate pair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25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the axes accurately to calculate gradient</a:t>
            </a:r>
            <a:endParaRPr/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15300" y="715500"/>
            <a:ext cx="8504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We can calculate the gradient of a line if we know how much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 changes when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/>
              <a:t> increases by 1  </a:t>
            </a:r>
            <a:endParaRPr sz="1900"/>
          </a:p>
        </p:txBody>
      </p:sp>
      <p:grpSp>
        <p:nvGrpSpPr>
          <p:cNvPr id="783" name="Google Shape;783;p69"/>
          <p:cNvGrpSpPr/>
          <p:nvPr/>
        </p:nvGrpSpPr>
        <p:grpSpPr>
          <a:xfrm>
            <a:off x="315300" y="1545600"/>
            <a:ext cx="2892650" cy="2844675"/>
            <a:chOff x="315300" y="1545600"/>
            <a:chExt cx="2892650" cy="2844675"/>
          </a:xfrm>
        </p:grpSpPr>
        <p:pic>
          <p:nvPicPr>
            <p:cNvPr id="784" name="Google Shape;784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4000" y="1558445"/>
              <a:ext cx="2860625" cy="2831831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785" name="Google Shape;785;p69"/>
            <p:cNvCxnSpPr/>
            <p:nvPr/>
          </p:nvCxnSpPr>
          <p:spPr>
            <a:xfrm>
              <a:off x="1733794" y="1558445"/>
              <a:ext cx="0" cy="2831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6" name="Google Shape;786;p69"/>
            <p:cNvCxnSpPr/>
            <p:nvPr/>
          </p:nvCxnSpPr>
          <p:spPr>
            <a:xfrm rot="10800000">
              <a:off x="318050" y="3233150"/>
              <a:ext cx="2889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7" name="Google Shape;787;p69"/>
            <p:cNvCxnSpPr/>
            <p:nvPr/>
          </p:nvCxnSpPr>
          <p:spPr>
            <a:xfrm flipH="1" rot="10800000">
              <a:off x="315300" y="1545600"/>
              <a:ext cx="2258700" cy="22587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788" name="Google Shape;788;p69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239275" y="1620000"/>
            <a:ext cx="3174400" cy="10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69"/>
          <p:cNvSpPr txBox="1"/>
          <p:nvPr/>
        </p:nvSpPr>
        <p:spPr>
          <a:xfrm flipH="1">
            <a:off x="4324522" y="1738650"/>
            <a:ext cx="30039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gradient could be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790" name="Google Shape;790;p69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24775" y="1766900"/>
            <a:ext cx="192551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9"/>
          <p:cNvSpPr txBox="1"/>
          <p:nvPr/>
        </p:nvSpPr>
        <p:spPr>
          <a:xfrm flipH="1">
            <a:off x="7354292" y="3115452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2" name="Google Shape;792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37273" y="2571755"/>
            <a:ext cx="443871" cy="492403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9"/>
          <p:cNvSpPr txBox="1"/>
          <p:nvPr>
            <p:ph idx="1" type="body"/>
          </p:nvPr>
        </p:nvSpPr>
        <p:spPr>
          <a:xfrm>
            <a:off x="3578025" y="3878250"/>
            <a:ext cx="47004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What could the scales be on each axis for Sofia to be correct?</a:t>
            </a:r>
            <a:r>
              <a:rPr lang="en-GB" sz="1900"/>
              <a:t>  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8" name="Google Shape;798;p70"/>
          <p:cNvGrpSpPr/>
          <p:nvPr/>
        </p:nvGrpSpPr>
        <p:grpSpPr>
          <a:xfrm>
            <a:off x="324000" y="1080000"/>
            <a:ext cx="2892650" cy="2844675"/>
            <a:chOff x="315300" y="1545600"/>
            <a:chExt cx="2892650" cy="2844675"/>
          </a:xfrm>
        </p:grpSpPr>
        <p:pic>
          <p:nvPicPr>
            <p:cNvPr id="799" name="Google Shape;799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4000" y="1558445"/>
              <a:ext cx="2860625" cy="2831831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800" name="Google Shape;800;p70"/>
            <p:cNvCxnSpPr/>
            <p:nvPr/>
          </p:nvCxnSpPr>
          <p:spPr>
            <a:xfrm>
              <a:off x="1733794" y="1558445"/>
              <a:ext cx="0" cy="2831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p70"/>
            <p:cNvCxnSpPr/>
            <p:nvPr/>
          </p:nvCxnSpPr>
          <p:spPr>
            <a:xfrm rot="10800000">
              <a:off x="318050" y="3233150"/>
              <a:ext cx="2889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70"/>
            <p:cNvCxnSpPr/>
            <p:nvPr/>
          </p:nvCxnSpPr>
          <p:spPr>
            <a:xfrm flipH="1" rot="10800000">
              <a:off x="315300" y="1545600"/>
              <a:ext cx="2258700" cy="22587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3" name="Google Shape;80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the axes accurately to calculate gradient</a:t>
            </a:r>
            <a:endParaRPr/>
          </a:p>
        </p:txBody>
      </p:sp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3366000" y="2521100"/>
            <a:ext cx="54504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Sofia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would be correct if the scale on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axis was half the scale on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axis.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5" name="Google Shape;805;p70"/>
          <p:cNvSpPr txBox="1"/>
          <p:nvPr>
            <p:ph idx="1" type="body"/>
          </p:nvPr>
        </p:nvSpPr>
        <p:spPr>
          <a:xfrm>
            <a:off x="3366000" y="3404950"/>
            <a:ext cx="54504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axis has a step of 1 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axis has a step of 0.5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6" name="Google Shape;806;p70"/>
          <p:cNvSpPr txBox="1"/>
          <p:nvPr>
            <p:ph idx="1" type="body"/>
          </p:nvPr>
        </p:nvSpPr>
        <p:spPr>
          <a:xfrm>
            <a:off x="3366000" y="4133050"/>
            <a:ext cx="53829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axis has a step of 2 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axis has a step of 1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07" name="Google Shape;807;p7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249450" y="1126750"/>
            <a:ext cx="3224248" cy="8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70"/>
          <p:cNvSpPr txBox="1"/>
          <p:nvPr/>
        </p:nvSpPr>
        <p:spPr>
          <a:xfrm flipH="1">
            <a:off x="4291600" y="1139300"/>
            <a:ext cx="30039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gradient could be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0"/>
          <p:cNvSpPr txBox="1"/>
          <p:nvPr/>
        </p:nvSpPr>
        <p:spPr>
          <a:xfrm flipH="1">
            <a:off x="7373417" y="2131752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0" name="Google Shape;810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0361" y="1639355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811" name="Google Shape;811;p70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71000" y="1196600"/>
            <a:ext cx="19255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70"/>
          <p:cNvPicPr preferRelativeResize="0"/>
          <p:nvPr/>
        </p:nvPicPr>
        <p:blipFill rotWithShape="1">
          <a:blip r:embed="rId7">
            <a:alphaModFix/>
          </a:blip>
          <a:srcRect b="0" l="2906" r="8746" t="0"/>
          <a:stretch/>
        </p:blipFill>
        <p:spPr>
          <a:xfrm>
            <a:off x="338637" y="1080013"/>
            <a:ext cx="2863375" cy="284464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71"/>
          <p:cNvSpPr txBox="1"/>
          <p:nvPr>
            <p:ph idx="1" type="body"/>
          </p:nvPr>
        </p:nvSpPr>
        <p:spPr>
          <a:xfrm>
            <a:off x="324000" y="759300"/>
            <a:ext cx="8237700" cy="5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we know a coordinate on the line we can work out the scale.</a:t>
            </a:r>
            <a:endParaRPr sz="2000"/>
          </a:p>
        </p:txBody>
      </p:sp>
      <p:sp>
        <p:nvSpPr>
          <p:cNvPr id="818" name="Google Shape;81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the axes accurately to calculate gradient</a:t>
            </a:r>
            <a:endParaRPr/>
          </a:p>
        </p:txBody>
      </p:sp>
      <p:pic>
        <p:nvPicPr>
          <p:cNvPr id="819" name="Google Shape;81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328" y="1574500"/>
            <a:ext cx="2750350" cy="3245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0" name="Google Shape;820;p71"/>
          <p:cNvPicPr preferRelativeResize="0"/>
          <p:nvPr/>
        </p:nvPicPr>
        <p:blipFill rotWithShape="1">
          <a:blip r:embed="rId4">
            <a:alphaModFix/>
          </a:blip>
          <a:srcRect b="4868" l="13102" r="9185" t="7565"/>
          <a:stretch/>
        </p:blipFill>
        <p:spPr>
          <a:xfrm>
            <a:off x="324000" y="1574500"/>
            <a:ext cx="2750349" cy="3245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1" name="Google Shape;821;p71"/>
          <p:cNvSpPr txBox="1"/>
          <p:nvPr>
            <p:ph idx="1" type="body"/>
          </p:nvPr>
        </p:nvSpPr>
        <p:spPr>
          <a:xfrm>
            <a:off x="3369600" y="1574500"/>
            <a:ext cx="5344500" cy="5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Now we can calculate the gradient.</a:t>
            </a:r>
            <a:endParaRPr sz="2000"/>
          </a:p>
        </p:txBody>
      </p:sp>
      <p:cxnSp>
        <p:nvCxnSpPr>
          <p:cNvPr id="822" name="Google Shape;822;p71"/>
          <p:cNvCxnSpPr/>
          <p:nvPr/>
        </p:nvCxnSpPr>
        <p:spPr>
          <a:xfrm>
            <a:off x="1645050" y="3240010"/>
            <a:ext cx="2346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23" name="Google Shape;823;p71"/>
          <p:cNvCxnSpPr/>
          <p:nvPr/>
        </p:nvCxnSpPr>
        <p:spPr>
          <a:xfrm rot="10800000">
            <a:off x="1846978" y="2619063"/>
            <a:ext cx="0" cy="5805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24" name="Google Shape;824;p71"/>
          <p:cNvSpPr/>
          <p:nvPr/>
        </p:nvSpPr>
        <p:spPr>
          <a:xfrm>
            <a:off x="1605300" y="327427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/>
          <p:nvPr/>
        </p:nvSpPr>
        <p:spPr>
          <a:xfrm>
            <a:off x="1879650" y="27838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26" name="Google Shape;826;p71"/>
          <p:cNvGraphicFramePr/>
          <p:nvPr/>
        </p:nvGraphicFramePr>
        <p:xfrm>
          <a:off x="3408871" y="2160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7" name="Google Shape;827;p71"/>
          <p:cNvSpPr txBox="1"/>
          <p:nvPr>
            <p:ph idx="1" type="body"/>
          </p:nvPr>
        </p:nvSpPr>
        <p:spPr>
          <a:xfrm>
            <a:off x="3369600" y="2956200"/>
            <a:ext cx="5344500" cy="5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 the gradient is 6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346399"/>
            <a:ext cx="3628251" cy="33325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3" name="Google Shape;83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the axes accurately to calculate gradient</a:t>
            </a:r>
            <a:endParaRPr/>
          </a:p>
        </p:txBody>
      </p:sp>
      <p:sp>
        <p:nvSpPr>
          <p:cNvPr id="834" name="Google Shape;834;p72"/>
          <p:cNvSpPr txBox="1"/>
          <p:nvPr>
            <p:ph idx="1" type="body"/>
          </p:nvPr>
        </p:nvSpPr>
        <p:spPr>
          <a:xfrm>
            <a:off x="324000" y="759300"/>
            <a:ext cx="8237700" cy="5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Let’s calculate the gradient of this line.</a:t>
            </a:r>
            <a:endParaRPr sz="2000"/>
          </a:p>
        </p:txBody>
      </p:sp>
      <p:cxnSp>
        <p:nvCxnSpPr>
          <p:cNvPr id="835" name="Google Shape;835;p72"/>
          <p:cNvCxnSpPr/>
          <p:nvPr/>
        </p:nvCxnSpPr>
        <p:spPr>
          <a:xfrm rot="10800000">
            <a:off x="2061926" y="2680055"/>
            <a:ext cx="0" cy="7776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36" name="Google Shape;836;p72"/>
          <p:cNvSpPr/>
          <p:nvPr/>
        </p:nvSpPr>
        <p:spPr>
          <a:xfrm>
            <a:off x="1507200" y="3478800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37" name="Google Shape;837;p72"/>
          <p:cNvGraphicFramePr/>
          <p:nvPr/>
        </p:nvGraphicFramePr>
        <p:xfrm>
          <a:off x="4311296" y="1575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8" name="Google Shape;838;p72"/>
          <p:cNvSpPr txBox="1"/>
          <p:nvPr>
            <p:ph idx="1" type="body"/>
          </p:nvPr>
        </p:nvSpPr>
        <p:spPr>
          <a:xfrm>
            <a:off x="4311300" y="2464000"/>
            <a:ext cx="2862900" cy="5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 the gradient is </a:t>
            </a:r>
            <a:r>
              <a:rPr lang="en-GB" sz="1900">
                <a:solidFill>
                  <a:srgbClr val="222222"/>
                </a:solidFill>
              </a:rPr>
              <a:t>2</a:t>
            </a:r>
            <a:endParaRPr sz="2000"/>
          </a:p>
        </p:txBody>
      </p:sp>
      <p:sp>
        <p:nvSpPr>
          <p:cNvPr id="839" name="Google Shape;839;p72"/>
          <p:cNvSpPr/>
          <p:nvPr/>
        </p:nvSpPr>
        <p:spPr>
          <a:xfrm>
            <a:off x="5774400" y="1886900"/>
            <a:ext cx="14649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2"/>
          <p:cNvSpPr/>
          <p:nvPr/>
        </p:nvSpPr>
        <p:spPr>
          <a:xfrm>
            <a:off x="4311300" y="1886888"/>
            <a:ext cx="14649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1" name="Google Shape;841;p72"/>
          <p:cNvCxnSpPr/>
          <p:nvPr/>
        </p:nvCxnSpPr>
        <p:spPr>
          <a:xfrm>
            <a:off x="1278900" y="3478810"/>
            <a:ext cx="7707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42" name="Google Shape;842;p72"/>
          <p:cNvSpPr/>
          <p:nvPr/>
        </p:nvSpPr>
        <p:spPr>
          <a:xfrm>
            <a:off x="2170188" y="29193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2"/>
          <p:cNvSpPr/>
          <p:nvPr/>
        </p:nvSpPr>
        <p:spPr>
          <a:xfrm>
            <a:off x="877375" y="3386170"/>
            <a:ext cx="164400" cy="171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2"/>
          <p:cNvSpPr/>
          <p:nvPr/>
        </p:nvSpPr>
        <p:spPr>
          <a:xfrm>
            <a:off x="1656900" y="2571750"/>
            <a:ext cx="164400" cy="171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2"/>
          <p:cNvSpPr/>
          <p:nvPr/>
        </p:nvSpPr>
        <p:spPr>
          <a:xfrm>
            <a:off x="1021211" y="3386295"/>
            <a:ext cx="164400" cy="171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2"/>
          <p:cNvSpPr/>
          <p:nvPr/>
        </p:nvSpPr>
        <p:spPr>
          <a:xfrm>
            <a:off x="1793893" y="2571745"/>
            <a:ext cx="164400" cy="171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73"/>
          <p:cNvPicPr preferRelativeResize="0"/>
          <p:nvPr/>
        </p:nvPicPr>
        <p:blipFill rotWithShape="1">
          <a:blip r:embed="rId3">
            <a:alphaModFix/>
          </a:blip>
          <a:srcRect b="0" l="0" r="5464" t="0"/>
          <a:stretch/>
        </p:blipFill>
        <p:spPr>
          <a:xfrm>
            <a:off x="5092150" y="1302175"/>
            <a:ext cx="3727849" cy="30206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2" name="Google Shape;85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the axes accurately to calculate gradient</a:t>
            </a:r>
            <a:endParaRPr/>
          </a:p>
        </p:txBody>
      </p:sp>
      <p:cxnSp>
        <p:nvCxnSpPr>
          <p:cNvPr id="853" name="Google Shape;853;p73"/>
          <p:cNvCxnSpPr/>
          <p:nvPr/>
        </p:nvCxnSpPr>
        <p:spPr>
          <a:xfrm>
            <a:off x="5784238" y="3995476"/>
            <a:ext cx="7848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54" name="Google Shape;854;p73"/>
          <p:cNvCxnSpPr/>
          <p:nvPr/>
        </p:nvCxnSpPr>
        <p:spPr>
          <a:xfrm rot="10800000">
            <a:off x="6603312" y="2851480"/>
            <a:ext cx="0" cy="11577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55" name="Google Shape;855;p73"/>
          <p:cNvSpPr/>
          <p:nvPr/>
        </p:nvSpPr>
        <p:spPr>
          <a:xfrm>
            <a:off x="5942700" y="393377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+1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6" name="Google Shape;856;p73"/>
          <p:cNvSpPr/>
          <p:nvPr/>
        </p:nvSpPr>
        <p:spPr>
          <a:xfrm>
            <a:off x="6603300" y="323577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+3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7" name="Google Shape;857;p73"/>
          <p:cNvSpPr txBox="1"/>
          <p:nvPr>
            <p:ph idx="1" type="body"/>
          </p:nvPr>
        </p:nvSpPr>
        <p:spPr>
          <a:xfrm>
            <a:off x="324000" y="2073600"/>
            <a:ext cx="4500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radient = 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8" name="Google Shape;858;p73"/>
          <p:cNvSpPr txBox="1"/>
          <p:nvPr>
            <p:ph idx="1" type="body"/>
          </p:nvPr>
        </p:nvSpPr>
        <p:spPr>
          <a:xfrm>
            <a:off x="324000" y="711175"/>
            <a:ext cx="8496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 A, B and C have been plotted on a set of axes. A is the origin.</a:t>
            </a:r>
            <a:endParaRPr sz="2000"/>
          </a:p>
        </p:txBody>
      </p:sp>
      <p:sp>
        <p:nvSpPr>
          <p:cNvPr id="859" name="Google Shape;859;p73"/>
          <p:cNvSpPr txBox="1"/>
          <p:nvPr>
            <p:ph idx="1" type="body"/>
          </p:nvPr>
        </p:nvSpPr>
        <p:spPr>
          <a:xfrm>
            <a:off x="324000" y="1267200"/>
            <a:ext cx="4849800" cy="20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a) </a:t>
            </a:r>
            <a:r>
              <a:rPr lang="en-GB" sz="2000"/>
              <a:t>What is the gradient of the purple line which passes through A and B?</a:t>
            </a:r>
            <a:br>
              <a:rPr lang="en-GB" sz="2000"/>
            </a:br>
            <a:br>
              <a:rPr lang="en-GB" sz="2000"/>
            </a:b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b) What is the gradient of the green line which passes through A and C?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4" name="Google Shape;864;p74"/>
          <p:cNvPicPr preferRelativeResize="0"/>
          <p:nvPr/>
        </p:nvPicPr>
        <p:blipFill rotWithShape="1">
          <a:blip r:embed="rId3">
            <a:alphaModFix/>
          </a:blip>
          <a:srcRect b="0" l="0" r="5464" t="0"/>
          <a:stretch/>
        </p:blipFill>
        <p:spPr>
          <a:xfrm>
            <a:off x="5092150" y="1302175"/>
            <a:ext cx="3727849" cy="30206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5" name="Google Shape;86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the axes accurately to calculate gradient</a:t>
            </a:r>
            <a:endParaRPr/>
          </a:p>
        </p:txBody>
      </p:sp>
      <p:cxnSp>
        <p:nvCxnSpPr>
          <p:cNvPr id="866" name="Google Shape;866;p74"/>
          <p:cNvCxnSpPr/>
          <p:nvPr/>
        </p:nvCxnSpPr>
        <p:spPr>
          <a:xfrm>
            <a:off x="5863500" y="4010135"/>
            <a:ext cx="23034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67" name="Google Shape;867;p74"/>
          <p:cNvCxnSpPr/>
          <p:nvPr/>
        </p:nvCxnSpPr>
        <p:spPr>
          <a:xfrm rot="10800000">
            <a:off x="8156992" y="1686330"/>
            <a:ext cx="9900" cy="2323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68" name="Google Shape;868;p74"/>
          <p:cNvSpPr/>
          <p:nvPr/>
        </p:nvSpPr>
        <p:spPr>
          <a:xfrm>
            <a:off x="8157000" y="275047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+6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9" name="Google Shape;869;p74"/>
          <p:cNvSpPr/>
          <p:nvPr/>
        </p:nvSpPr>
        <p:spPr>
          <a:xfrm>
            <a:off x="6799025" y="3961193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+3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0" name="Google Shape;870;p74"/>
          <p:cNvSpPr txBox="1"/>
          <p:nvPr>
            <p:ph idx="1" type="body"/>
          </p:nvPr>
        </p:nvSpPr>
        <p:spPr>
          <a:xfrm>
            <a:off x="324000" y="4507500"/>
            <a:ext cx="4500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radient = 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871" name="Google Shape;871;p74"/>
          <p:cNvGraphicFramePr/>
          <p:nvPr/>
        </p:nvGraphicFramePr>
        <p:xfrm>
          <a:off x="312896" y="34391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Change in </a:t>
                      </a:r>
                      <a:r>
                        <a:rPr i="1"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Change in </a:t>
                      </a:r>
                      <a:r>
                        <a:rPr i="1"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2" name="Google Shape;872;p74"/>
          <p:cNvSpPr/>
          <p:nvPr/>
        </p:nvSpPr>
        <p:spPr>
          <a:xfrm>
            <a:off x="1776000" y="4103400"/>
            <a:ext cx="14649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3" name="Google Shape;873;p74"/>
          <p:cNvSpPr txBox="1"/>
          <p:nvPr>
            <p:ph idx="1" type="body"/>
          </p:nvPr>
        </p:nvSpPr>
        <p:spPr>
          <a:xfrm>
            <a:off x="324000" y="1267200"/>
            <a:ext cx="4768200" cy="20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a) </a:t>
            </a:r>
            <a:r>
              <a:rPr lang="en-GB" sz="2000"/>
              <a:t>What is the gradient of the purple line which passes through A and </a:t>
            </a:r>
            <a:r>
              <a:rPr lang="en-GB" sz="2000"/>
              <a:t>B?</a:t>
            </a:r>
            <a:br>
              <a:rPr lang="en-GB" sz="2000"/>
            </a:br>
            <a:br>
              <a:rPr lang="en-GB" sz="2000"/>
            </a:b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b) What is the gradient of the green line which passes through A and C? </a:t>
            </a:r>
            <a:endParaRPr sz="2000"/>
          </a:p>
        </p:txBody>
      </p:sp>
      <p:sp>
        <p:nvSpPr>
          <p:cNvPr id="874" name="Google Shape;874;p74"/>
          <p:cNvSpPr txBox="1"/>
          <p:nvPr>
            <p:ph idx="1" type="body"/>
          </p:nvPr>
        </p:nvSpPr>
        <p:spPr>
          <a:xfrm>
            <a:off x="324000" y="2075150"/>
            <a:ext cx="4500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radient = 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5" name="Google Shape;875;p74"/>
          <p:cNvSpPr txBox="1"/>
          <p:nvPr>
            <p:ph idx="1" type="body"/>
          </p:nvPr>
        </p:nvSpPr>
        <p:spPr>
          <a:xfrm>
            <a:off x="324000" y="711175"/>
            <a:ext cx="8496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 A, B and C have been plotted on a set of axes. A is the origin.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Reading the axes accurately to calculate gradient</a:t>
            </a:r>
            <a:endParaRPr/>
          </a:p>
        </p:txBody>
      </p:sp>
      <p:sp>
        <p:nvSpPr>
          <p:cNvPr id="881" name="Google Shape;881;p75"/>
          <p:cNvSpPr txBox="1"/>
          <p:nvPr>
            <p:ph idx="4294967295" type="body"/>
          </p:nvPr>
        </p:nvSpPr>
        <p:spPr>
          <a:xfrm>
            <a:off x="324000" y="759300"/>
            <a:ext cx="4381800" cy="7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The points A, B, C and D have been plotted on the same axes. </a:t>
            </a:r>
            <a:endParaRPr sz="2000"/>
          </a:p>
        </p:txBody>
      </p:sp>
      <p:sp>
        <p:nvSpPr>
          <p:cNvPr id="882" name="Google Shape;882;p75"/>
          <p:cNvSpPr txBox="1"/>
          <p:nvPr>
            <p:ph idx="4294967295" type="body"/>
          </p:nvPr>
        </p:nvSpPr>
        <p:spPr>
          <a:xfrm>
            <a:off x="324000" y="1620000"/>
            <a:ext cx="4381800" cy="22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is steeper: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 A to B or C to D?</a:t>
            </a:r>
            <a:br>
              <a:rPr lang="en-GB" sz="1800"/>
            </a:b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 A to C or B to D?</a:t>
            </a:r>
            <a:br>
              <a:rPr lang="en-GB" sz="1800"/>
            </a:b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 A to B or A to C?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3" name="Google Shape;883;p75"/>
          <p:cNvSpPr txBox="1"/>
          <p:nvPr>
            <p:ph idx="4294967295" type="body"/>
          </p:nvPr>
        </p:nvSpPr>
        <p:spPr>
          <a:xfrm>
            <a:off x="324000" y="3796350"/>
            <a:ext cx="4552800" cy="104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d)  Where could you move the coordinate, D, to make this shape a parallelogram?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884" name="Google Shape;88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375" y="813862"/>
            <a:ext cx="3503901" cy="35157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Reading the axes accurately to calculate gradient</a:t>
            </a:r>
            <a:endParaRPr/>
          </a:p>
        </p:txBody>
      </p:sp>
      <p:sp>
        <p:nvSpPr>
          <p:cNvPr id="890" name="Google Shape;890;p76"/>
          <p:cNvSpPr txBox="1"/>
          <p:nvPr>
            <p:ph idx="4294967295" type="body"/>
          </p:nvPr>
        </p:nvSpPr>
        <p:spPr>
          <a:xfrm>
            <a:off x="344519" y="759300"/>
            <a:ext cx="8496000" cy="7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 Calculate the gradient of each line. </a:t>
            </a:r>
            <a:endParaRPr sz="2000"/>
          </a:p>
        </p:txBody>
      </p:sp>
      <p:pic>
        <p:nvPicPr>
          <p:cNvPr id="891" name="Google Shape;89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519" y="1428988"/>
            <a:ext cx="1844200" cy="26118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2" name="Google Shape;892;p76"/>
          <p:cNvPicPr preferRelativeResize="0"/>
          <p:nvPr/>
        </p:nvPicPr>
        <p:blipFill rotWithShape="1">
          <a:blip r:embed="rId4">
            <a:alphaModFix/>
          </a:blip>
          <a:srcRect b="0" l="3197" r="24947" t="0"/>
          <a:stretch/>
        </p:blipFill>
        <p:spPr>
          <a:xfrm>
            <a:off x="2439602" y="1428988"/>
            <a:ext cx="1844201" cy="26118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3" name="Google Shape;893;p76"/>
          <p:cNvPicPr preferRelativeResize="0"/>
          <p:nvPr/>
        </p:nvPicPr>
        <p:blipFill rotWithShape="1">
          <a:blip r:embed="rId5">
            <a:alphaModFix/>
          </a:blip>
          <a:srcRect b="0" l="0" r="10176" t="0"/>
          <a:stretch/>
        </p:blipFill>
        <p:spPr>
          <a:xfrm>
            <a:off x="4534686" y="1428988"/>
            <a:ext cx="1844199" cy="266394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4" name="Google Shape;894;p76"/>
          <p:cNvPicPr preferRelativeResize="0"/>
          <p:nvPr/>
        </p:nvPicPr>
        <p:blipFill rotWithShape="1">
          <a:blip r:embed="rId6">
            <a:alphaModFix/>
          </a:blip>
          <a:srcRect b="0" l="6960" r="16964" t="0"/>
          <a:stretch/>
        </p:blipFill>
        <p:spPr>
          <a:xfrm>
            <a:off x="6629769" y="1428988"/>
            <a:ext cx="1844201" cy="26524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895" name="Google Shape;895;p76"/>
          <p:cNvGraphicFramePr/>
          <p:nvPr/>
        </p:nvGraphicFramePr>
        <p:xfrm>
          <a:off x="324000" y="101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2086725"/>
                <a:gridCol w="2086725"/>
                <a:gridCol w="2086725"/>
                <a:gridCol w="2086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Reading the axes accurately to calculate gradient</a:t>
            </a:r>
            <a:endParaRPr/>
          </a:p>
        </p:txBody>
      </p:sp>
      <p:sp>
        <p:nvSpPr>
          <p:cNvPr id="901" name="Google Shape;901;p77"/>
          <p:cNvSpPr txBox="1"/>
          <p:nvPr>
            <p:ph idx="4294967295" type="body"/>
          </p:nvPr>
        </p:nvSpPr>
        <p:spPr>
          <a:xfrm>
            <a:off x="344519" y="759300"/>
            <a:ext cx="8496000" cy="7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 Calculate the gradient of each line. </a:t>
            </a:r>
            <a:endParaRPr sz="2000"/>
          </a:p>
        </p:txBody>
      </p:sp>
      <p:pic>
        <p:nvPicPr>
          <p:cNvPr id="902" name="Google Shape;90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525" y="1526200"/>
            <a:ext cx="1844200" cy="261743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3" name="Google Shape;903;p77"/>
          <p:cNvPicPr preferRelativeResize="0"/>
          <p:nvPr/>
        </p:nvPicPr>
        <p:blipFill rotWithShape="1">
          <a:blip r:embed="rId4">
            <a:alphaModFix/>
          </a:blip>
          <a:srcRect b="0" l="11208" r="5700" t="0"/>
          <a:stretch/>
        </p:blipFill>
        <p:spPr>
          <a:xfrm>
            <a:off x="2364350" y="1526200"/>
            <a:ext cx="2095074" cy="26523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4" name="Google Shape;904;p77"/>
          <p:cNvPicPr preferRelativeResize="0"/>
          <p:nvPr/>
        </p:nvPicPr>
        <p:blipFill rotWithShape="1">
          <a:blip r:embed="rId5">
            <a:alphaModFix/>
          </a:blip>
          <a:srcRect b="0" l="17938" r="23383" t="0"/>
          <a:stretch/>
        </p:blipFill>
        <p:spPr>
          <a:xfrm>
            <a:off x="4635050" y="1526200"/>
            <a:ext cx="1864724" cy="265240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5" name="Google Shape;905;p77"/>
          <p:cNvPicPr preferRelativeResize="0"/>
          <p:nvPr/>
        </p:nvPicPr>
        <p:blipFill rotWithShape="1">
          <a:blip r:embed="rId6">
            <a:alphaModFix/>
          </a:blip>
          <a:srcRect b="0" l="0" r="23931" t="0"/>
          <a:stretch/>
        </p:blipFill>
        <p:spPr>
          <a:xfrm>
            <a:off x="6725000" y="1526200"/>
            <a:ext cx="1895100" cy="26523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906" name="Google Shape;906;p77"/>
          <p:cNvGraphicFramePr/>
          <p:nvPr/>
        </p:nvGraphicFramePr>
        <p:xfrm>
          <a:off x="324000" y="101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2086725"/>
                <a:gridCol w="2086725"/>
                <a:gridCol w="2086725"/>
                <a:gridCol w="2086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8"/>
          <p:cNvSpPr txBox="1"/>
          <p:nvPr>
            <p:ph idx="4294967295" type="body"/>
          </p:nvPr>
        </p:nvSpPr>
        <p:spPr>
          <a:xfrm>
            <a:off x="324000" y="1620000"/>
            <a:ext cx="4381800" cy="22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is steeper: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 A to B or C to D?</a:t>
            </a:r>
            <a:br>
              <a:rPr lang="en-GB" sz="1800"/>
            </a:b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 A to C or B to D?</a:t>
            </a:r>
            <a:br>
              <a:rPr lang="en-GB" sz="1800"/>
            </a:b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 A to B or A to C?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2" name="Google Shape;912;p78"/>
          <p:cNvSpPr txBox="1"/>
          <p:nvPr>
            <p:ph idx="4294967295" type="body"/>
          </p:nvPr>
        </p:nvSpPr>
        <p:spPr>
          <a:xfrm>
            <a:off x="324000" y="759300"/>
            <a:ext cx="4381800" cy="7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The points A, B, C and D have been plotted on the same axes. </a:t>
            </a:r>
            <a:endParaRPr sz="2000"/>
          </a:p>
        </p:txBody>
      </p:sp>
      <p:sp>
        <p:nvSpPr>
          <p:cNvPr id="913" name="Google Shape;913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Reading the axes accurately to calculate gradient</a:t>
            </a:r>
            <a:endParaRPr/>
          </a:p>
        </p:txBody>
      </p:sp>
      <p:sp>
        <p:nvSpPr>
          <p:cNvPr id="914" name="Google Shape;914;p78"/>
          <p:cNvSpPr txBox="1"/>
          <p:nvPr>
            <p:ph idx="4294967295" type="body"/>
          </p:nvPr>
        </p:nvSpPr>
        <p:spPr>
          <a:xfrm>
            <a:off x="311280" y="3796350"/>
            <a:ext cx="4552800" cy="104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d)  Where could you move the coordinate, D, to make this shape a parallelogram?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5" name="Google Shape;915;p78"/>
          <p:cNvSpPr txBox="1"/>
          <p:nvPr>
            <p:ph idx="4294967295" type="body"/>
          </p:nvPr>
        </p:nvSpPr>
        <p:spPr>
          <a:xfrm>
            <a:off x="2959200" y="2091600"/>
            <a:ext cx="1432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to 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6" name="Google Shape;916;p78"/>
          <p:cNvSpPr txBox="1"/>
          <p:nvPr>
            <p:ph idx="4294967295" type="body"/>
          </p:nvPr>
        </p:nvSpPr>
        <p:spPr>
          <a:xfrm>
            <a:off x="2959200" y="2630783"/>
            <a:ext cx="1432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C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17" name="Google Shape;91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375" y="813862"/>
            <a:ext cx="3503901" cy="35157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8" name="Google Shape;918;p78"/>
          <p:cNvSpPr txBox="1"/>
          <p:nvPr>
            <p:ph idx="4294967295" type="body"/>
          </p:nvPr>
        </p:nvSpPr>
        <p:spPr>
          <a:xfrm>
            <a:off x="2959200" y="3190967"/>
            <a:ext cx="1432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to B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9" name="Google Shape;919;p78"/>
          <p:cNvSpPr txBox="1"/>
          <p:nvPr>
            <p:ph idx="4294967295" type="body"/>
          </p:nvPr>
        </p:nvSpPr>
        <p:spPr>
          <a:xfrm>
            <a:off x="2165075" y="4483200"/>
            <a:ext cx="4203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One square left and one square up.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0" name="Google Shape;920;p78"/>
          <p:cNvSpPr txBox="1"/>
          <p:nvPr>
            <p:ph idx="4294967295" type="body"/>
          </p:nvPr>
        </p:nvSpPr>
        <p:spPr>
          <a:xfrm>
            <a:off x="7528400" y="2136786"/>
            <a:ext cx="248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chemeClr val="accent4"/>
                </a:solidFill>
              </a:rPr>
              <a:t>×</a:t>
            </a:r>
            <a:endParaRPr sz="31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6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1" name="Google Shape;921;p78"/>
          <p:cNvSpPr txBox="1"/>
          <p:nvPr>
            <p:ph idx="4294967295" type="body"/>
          </p:nvPr>
        </p:nvSpPr>
        <p:spPr>
          <a:xfrm>
            <a:off x="7299800" y="2136786"/>
            <a:ext cx="248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24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4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9"/>
          <p:cNvSpPr txBox="1"/>
          <p:nvPr>
            <p:ph idx="4294967295" type="body"/>
          </p:nvPr>
        </p:nvSpPr>
        <p:spPr>
          <a:xfrm>
            <a:off x="344519" y="759300"/>
            <a:ext cx="8496000" cy="7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 Calculate the gradient of each line. </a:t>
            </a:r>
            <a:endParaRPr sz="2000"/>
          </a:p>
        </p:txBody>
      </p:sp>
      <p:pic>
        <p:nvPicPr>
          <p:cNvPr id="927" name="Google Shape;92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519" y="1428988"/>
            <a:ext cx="1844200" cy="26118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8" name="Google Shape;928;p79"/>
          <p:cNvPicPr preferRelativeResize="0"/>
          <p:nvPr/>
        </p:nvPicPr>
        <p:blipFill rotWithShape="1">
          <a:blip r:embed="rId4">
            <a:alphaModFix/>
          </a:blip>
          <a:srcRect b="0" l="3197" r="24947" t="0"/>
          <a:stretch/>
        </p:blipFill>
        <p:spPr>
          <a:xfrm>
            <a:off x="2439602" y="1428988"/>
            <a:ext cx="1844201" cy="26118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9" name="Google Shape;929;p79"/>
          <p:cNvPicPr preferRelativeResize="0"/>
          <p:nvPr/>
        </p:nvPicPr>
        <p:blipFill rotWithShape="1">
          <a:blip r:embed="rId5">
            <a:alphaModFix/>
          </a:blip>
          <a:srcRect b="0" l="0" r="10176" t="0"/>
          <a:stretch/>
        </p:blipFill>
        <p:spPr>
          <a:xfrm>
            <a:off x="4534686" y="1428988"/>
            <a:ext cx="1844199" cy="266394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0" name="Google Shape;930;p79"/>
          <p:cNvPicPr preferRelativeResize="0"/>
          <p:nvPr/>
        </p:nvPicPr>
        <p:blipFill rotWithShape="1">
          <a:blip r:embed="rId6">
            <a:alphaModFix/>
          </a:blip>
          <a:srcRect b="0" l="6960" r="16964" t="0"/>
          <a:stretch/>
        </p:blipFill>
        <p:spPr>
          <a:xfrm>
            <a:off x="6629769" y="1428988"/>
            <a:ext cx="1844201" cy="26524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1" name="Google Shape;931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Reading the axes accurately to calculate gradient</a:t>
            </a:r>
            <a:endParaRPr/>
          </a:p>
        </p:txBody>
      </p:sp>
      <p:sp>
        <p:nvSpPr>
          <p:cNvPr id="932" name="Google Shape;932;p79"/>
          <p:cNvSpPr txBox="1"/>
          <p:nvPr>
            <p:ph idx="4294967295" type="body"/>
          </p:nvPr>
        </p:nvSpPr>
        <p:spPr>
          <a:xfrm>
            <a:off x="1113925" y="4271175"/>
            <a:ext cx="2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 </a:t>
            </a:r>
            <a:endParaRPr sz="24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3" name="Google Shape;933;p79"/>
          <p:cNvSpPr txBox="1"/>
          <p:nvPr>
            <p:ph idx="4294967295" type="body"/>
          </p:nvPr>
        </p:nvSpPr>
        <p:spPr>
          <a:xfrm>
            <a:off x="3269182" y="4271175"/>
            <a:ext cx="2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 </a:t>
            </a:r>
            <a:endParaRPr sz="24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4" name="Google Shape;934;p79"/>
          <p:cNvSpPr txBox="1"/>
          <p:nvPr/>
        </p:nvSpPr>
        <p:spPr>
          <a:xfrm>
            <a:off x="5173729" y="4271175"/>
            <a:ext cx="6315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1}{3}&quot;&gt;&lt;mo&gt;−&lt;/mo&gt;&lt;mfrac&gt;&lt;mn&gt;1&lt;/mn&gt;&lt;mn&gt;3&lt;/mn&gt;&lt;/mfrac&gt;&lt;/math&gt;" id="935" name="Google Shape;935;p79" title="negative 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95425" y="4171100"/>
            <a:ext cx="409450" cy="618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6" name="Google Shape;936;p79"/>
          <p:cNvGraphicFramePr/>
          <p:nvPr/>
        </p:nvGraphicFramePr>
        <p:xfrm>
          <a:off x="324000" y="101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2086725"/>
                <a:gridCol w="2086725"/>
                <a:gridCol w="2086725"/>
                <a:gridCol w="2086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80"/>
          <p:cNvSpPr txBox="1"/>
          <p:nvPr>
            <p:ph idx="4294967295" type="body"/>
          </p:nvPr>
        </p:nvSpPr>
        <p:spPr>
          <a:xfrm>
            <a:off x="344519" y="759300"/>
            <a:ext cx="8496000" cy="75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 Calculate the gradient of each line. </a:t>
            </a:r>
            <a:endParaRPr sz="2000"/>
          </a:p>
        </p:txBody>
      </p:sp>
      <p:pic>
        <p:nvPicPr>
          <p:cNvPr id="942" name="Google Shape;94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525" y="1526200"/>
            <a:ext cx="1844200" cy="261743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3" name="Google Shape;943;p80"/>
          <p:cNvPicPr preferRelativeResize="0"/>
          <p:nvPr/>
        </p:nvPicPr>
        <p:blipFill rotWithShape="1">
          <a:blip r:embed="rId4">
            <a:alphaModFix/>
          </a:blip>
          <a:srcRect b="0" l="11208" r="5700" t="0"/>
          <a:stretch/>
        </p:blipFill>
        <p:spPr>
          <a:xfrm>
            <a:off x="2364350" y="1526200"/>
            <a:ext cx="2095074" cy="26523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4" name="Google Shape;944;p80"/>
          <p:cNvPicPr preferRelativeResize="0"/>
          <p:nvPr/>
        </p:nvPicPr>
        <p:blipFill rotWithShape="1">
          <a:blip r:embed="rId5">
            <a:alphaModFix/>
          </a:blip>
          <a:srcRect b="0" l="17938" r="23383" t="0"/>
          <a:stretch/>
        </p:blipFill>
        <p:spPr>
          <a:xfrm>
            <a:off x="4635050" y="1526200"/>
            <a:ext cx="1864724" cy="265240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5" name="Google Shape;945;p80"/>
          <p:cNvPicPr preferRelativeResize="0"/>
          <p:nvPr/>
        </p:nvPicPr>
        <p:blipFill rotWithShape="1">
          <a:blip r:embed="rId6">
            <a:alphaModFix/>
          </a:blip>
          <a:srcRect b="0" l="0" r="23931" t="0"/>
          <a:stretch/>
        </p:blipFill>
        <p:spPr>
          <a:xfrm>
            <a:off x="6725000" y="1526200"/>
            <a:ext cx="1895100" cy="26523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6" name="Google Shape;946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Reading the axes accurately to calculate gradient</a:t>
            </a:r>
            <a:endParaRPr/>
          </a:p>
        </p:txBody>
      </p:sp>
      <p:sp>
        <p:nvSpPr>
          <p:cNvPr id="947" name="Google Shape;947;p80"/>
          <p:cNvSpPr txBox="1"/>
          <p:nvPr>
            <p:ph idx="4294967295" type="body"/>
          </p:nvPr>
        </p:nvSpPr>
        <p:spPr>
          <a:xfrm>
            <a:off x="1113925" y="4271175"/>
            <a:ext cx="2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 </a:t>
            </a:r>
            <a:endParaRPr sz="24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8" name="Google Shape;948;p80"/>
          <p:cNvSpPr txBox="1"/>
          <p:nvPr>
            <p:ph idx="4294967295" type="body"/>
          </p:nvPr>
        </p:nvSpPr>
        <p:spPr>
          <a:xfrm>
            <a:off x="3269182" y="4271175"/>
            <a:ext cx="2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2 </a:t>
            </a:r>
            <a:endParaRPr sz="24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9" name="Google Shape;949;p80"/>
          <p:cNvSpPr txBox="1"/>
          <p:nvPr/>
        </p:nvSpPr>
        <p:spPr>
          <a:xfrm>
            <a:off x="5173729" y="4271175"/>
            <a:ext cx="6315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0" name="Google Shape;950;p80"/>
          <p:cNvSpPr txBox="1"/>
          <p:nvPr/>
        </p:nvSpPr>
        <p:spPr>
          <a:xfrm>
            <a:off x="7356804" y="4271175"/>
            <a:ext cx="6315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20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951" name="Google Shape;951;p80"/>
          <p:cNvGraphicFramePr/>
          <p:nvPr/>
        </p:nvGraphicFramePr>
        <p:xfrm>
          <a:off x="324000" y="101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2086725"/>
                <a:gridCol w="2086725"/>
                <a:gridCol w="2086725"/>
                <a:gridCol w="2086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coordinates using axes</a:t>
            </a:r>
            <a:endParaRPr/>
          </a:p>
        </p:txBody>
      </p:sp>
      <p:sp>
        <p:nvSpPr>
          <p:cNvPr id="957" name="Google Shape;957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coordinate pairs</a:t>
            </a:r>
            <a:endParaRPr/>
          </a:p>
        </p:txBody>
      </p:sp>
      <p:sp>
        <p:nvSpPr>
          <p:cNvPr id="958" name="Google Shape;958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that lie on a straight line </a:t>
            </a:r>
            <a:endParaRPr/>
          </a:p>
        </p:txBody>
      </p:sp>
      <p:sp>
        <p:nvSpPr>
          <p:cNvPr id="959" name="Google Shape;959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of change from a coordinate pair</a:t>
            </a:r>
            <a:endParaRPr/>
          </a:p>
        </p:txBody>
      </p:sp>
      <p:pic>
        <p:nvPicPr>
          <p:cNvPr id="960" name="Google Shape;96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25" y="277352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coordinate pairs</a:t>
            </a:r>
            <a:endParaRPr/>
          </a:p>
        </p:txBody>
      </p:sp>
      <p:pic>
        <p:nvPicPr>
          <p:cNvPr id="966" name="Google Shape;966;p8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615347" y="794175"/>
            <a:ext cx="3599252" cy="1617949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82"/>
          <p:cNvSpPr txBox="1"/>
          <p:nvPr/>
        </p:nvSpPr>
        <p:spPr>
          <a:xfrm>
            <a:off x="966775" y="945925"/>
            <a:ext cx="3159600" cy="10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I draw a line through the coordinates (3,4) and (6,1) the gradient of the line will be negative.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2"/>
          <p:cNvSpPr txBox="1"/>
          <p:nvPr/>
        </p:nvSpPr>
        <p:spPr>
          <a:xfrm>
            <a:off x="193063" y="2804802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9" name="Google Shape;969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09751" y="2159998"/>
            <a:ext cx="580824" cy="644321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82"/>
          <p:cNvSpPr txBox="1"/>
          <p:nvPr>
            <p:ph idx="1" type="body"/>
          </p:nvPr>
        </p:nvSpPr>
        <p:spPr>
          <a:xfrm>
            <a:off x="4449500" y="755388"/>
            <a:ext cx="4500000" cy="5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we see if Sofia is correct?</a:t>
            </a:r>
            <a:endParaRPr sz="2000"/>
          </a:p>
        </p:txBody>
      </p:sp>
      <p:pic>
        <p:nvPicPr>
          <p:cNvPr id="971" name="Google Shape;971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5999" y="1237425"/>
            <a:ext cx="2003750" cy="203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2" name="Google Shape;972;p82"/>
          <p:cNvSpPr txBox="1"/>
          <p:nvPr>
            <p:ph idx="1" type="body"/>
          </p:nvPr>
        </p:nvSpPr>
        <p:spPr>
          <a:xfrm>
            <a:off x="326400" y="3369100"/>
            <a:ext cx="8491200" cy="5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could sketch a set of axes and roughly plot where the points would be: </a:t>
            </a:r>
            <a:endParaRPr sz="1800"/>
          </a:p>
        </p:txBody>
      </p:sp>
      <p:sp>
        <p:nvSpPr>
          <p:cNvPr id="973" name="Google Shape;973;p82"/>
          <p:cNvSpPr txBox="1"/>
          <p:nvPr>
            <p:ph idx="1" type="body"/>
          </p:nvPr>
        </p:nvSpPr>
        <p:spPr>
          <a:xfrm>
            <a:off x="6651619" y="1616246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4" name="Google Shape;974;p82"/>
          <p:cNvSpPr txBox="1"/>
          <p:nvPr>
            <p:ph idx="1" type="body"/>
          </p:nvPr>
        </p:nvSpPr>
        <p:spPr>
          <a:xfrm>
            <a:off x="6474897" y="1464875"/>
            <a:ext cx="5808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(3,4)</a:t>
            </a:r>
            <a:r>
              <a:rPr lang="en-GB" sz="1800">
                <a:solidFill>
                  <a:schemeClr val="accent5"/>
                </a:solidFill>
              </a:rPr>
              <a:t> 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5" name="Google Shape;975;p82"/>
          <p:cNvSpPr txBox="1"/>
          <p:nvPr>
            <p:ph idx="1" type="body"/>
          </p:nvPr>
        </p:nvSpPr>
        <p:spPr>
          <a:xfrm>
            <a:off x="328775" y="3893550"/>
            <a:ext cx="8491200" cy="4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(6,1) is further right (in the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-direction) and further down than (3,4)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976" name="Google Shape;976;p82"/>
          <p:cNvSpPr txBox="1"/>
          <p:nvPr>
            <p:ph idx="1" type="body"/>
          </p:nvPr>
        </p:nvSpPr>
        <p:spPr>
          <a:xfrm>
            <a:off x="7056330" y="2026704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7" name="Google Shape;977;p82"/>
          <p:cNvSpPr txBox="1"/>
          <p:nvPr>
            <p:ph idx="1" type="body"/>
          </p:nvPr>
        </p:nvSpPr>
        <p:spPr>
          <a:xfrm>
            <a:off x="6879623" y="1875331"/>
            <a:ext cx="4845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(6,1) 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78" name="Google Shape;978;p82"/>
          <p:cNvCxnSpPr/>
          <p:nvPr/>
        </p:nvCxnSpPr>
        <p:spPr>
          <a:xfrm>
            <a:off x="6045725" y="1185850"/>
            <a:ext cx="1494300" cy="1439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9" name="Google Shape;979;p82"/>
          <p:cNvSpPr txBox="1"/>
          <p:nvPr>
            <p:ph idx="1" type="body"/>
          </p:nvPr>
        </p:nvSpPr>
        <p:spPr>
          <a:xfrm>
            <a:off x="328775" y="4393800"/>
            <a:ext cx="84912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Sofia is correct, this line has a negative gradient.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coordinate pairs</a:t>
            </a:r>
            <a:endParaRPr/>
          </a:p>
        </p:txBody>
      </p:sp>
      <p:sp>
        <p:nvSpPr>
          <p:cNvPr id="985" name="Google Shape;985;p83"/>
          <p:cNvSpPr txBox="1"/>
          <p:nvPr>
            <p:ph idx="1" type="body"/>
          </p:nvPr>
        </p:nvSpPr>
        <p:spPr>
          <a:xfrm>
            <a:off x="328775" y="796200"/>
            <a:ext cx="8491200" cy="5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draw a line through the coordinates 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5,4) and 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8,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2) will the gradient be positive or negative?</a:t>
            </a:r>
            <a:endParaRPr sz="1800"/>
          </a:p>
        </p:txBody>
      </p:sp>
      <p:pic>
        <p:nvPicPr>
          <p:cNvPr id="986" name="Google Shape;986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99" y="1555650"/>
            <a:ext cx="2003750" cy="203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7" name="Google Shape;987;p83"/>
          <p:cNvSpPr txBox="1"/>
          <p:nvPr>
            <p:ph idx="1" type="body"/>
          </p:nvPr>
        </p:nvSpPr>
        <p:spPr>
          <a:xfrm>
            <a:off x="908294" y="1951009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8" name="Google Shape;988;p83"/>
          <p:cNvSpPr txBox="1"/>
          <p:nvPr>
            <p:ph idx="1" type="body"/>
          </p:nvPr>
        </p:nvSpPr>
        <p:spPr>
          <a:xfrm>
            <a:off x="731576" y="1799638"/>
            <a:ext cx="7155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(</a:t>
            </a:r>
            <a:r>
              <a:rPr lang="en-GB" sz="1800">
                <a:solidFill>
                  <a:schemeClr val="accent5"/>
                </a:solidFill>
              </a:rPr>
              <a:t>−5</a:t>
            </a:r>
            <a:r>
              <a:rPr lang="en-GB" sz="1800">
                <a:solidFill>
                  <a:schemeClr val="accent5"/>
                </a:solidFill>
              </a:rPr>
              <a:t>,4) 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9" name="Google Shape;989;p83"/>
          <p:cNvSpPr txBox="1"/>
          <p:nvPr>
            <p:ph idx="1" type="body"/>
          </p:nvPr>
        </p:nvSpPr>
        <p:spPr>
          <a:xfrm>
            <a:off x="328775" y="3742600"/>
            <a:ext cx="8491200" cy="4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8,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2)</a:t>
            </a:r>
            <a:r>
              <a:rPr lang="en-GB" sz="1800"/>
              <a:t> is further left (negative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direction) and further down than 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5</a:t>
            </a:r>
            <a:r>
              <a:rPr lang="en-GB" sz="1800"/>
              <a:t>,4) </a:t>
            </a:r>
            <a:endParaRPr sz="1800"/>
          </a:p>
        </p:txBody>
      </p:sp>
      <p:cxnSp>
        <p:nvCxnSpPr>
          <p:cNvPr id="990" name="Google Shape;990;p83"/>
          <p:cNvCxnSpPr/>
          <p:nvPr/>
        </p:nvCxnSpPr>
        <p:spPr>
          <a:xfrm flipH="1">
            <a:off x="294107" y="1528577"/>
            <a:ext cx="1138500" cy="1665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1" name="Google Shape;991;p83"/>
          <p:cNvSpPr txBox="1"/>
          <p:nvPr>
            <p:ph idx="1" type="body"/>
          </p:nvPr>
        </p:nvSpPr>
        <p:spPr>
          <a:xfrm>
            <a:off x="328775" y="4323950"/>
            <a:ext cx="84912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time the gradient is positive.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2" name="Google Shape;992;p83"/>
          <p:cNvSpPr txBox="1"/>
          <p:nvPr>
            <p:ph idx="1" type="body"/>
          </p:nvPr>
        </p:nvSpPr>
        <p:spPr>
          <a:xfrm>
            <a:off x="436944" y="2660059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3" name="Google Shape;993;p83"/>
          <p:cNvSpPr txBox="1"/>
          <p:nvPr>
            <p:ph idx="1" type="body"/>
          </p:nvPr>
        </p:nvSpPr>
        <p:spPr>
          <a:xfrm>
            <a:off x="328775" y="2985900"/>
            <a:ext cx="8433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(−8,</a:t>
            </a:r>
            <a:r>
              <a:rPr lang="en-GB" sz="1800">
                <a:solidFill>
                  <a:schemeClr val="accent5"/>
                </a:solidFill>
              </a:rPr>
              <a:t>−2</a:t>
            </a:r>
            <a:r>
              <a:rPr lang="en-GB" sz="1800">
                <a:solidFill>
                  <a:schemeClr val="accent5"/>
                </a:solidFill>
              </a:rPr>
              <a:t>) 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84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Sofia has plotted the coordinates 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7,3) 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3,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5) </a:t>
            </a:r>
            <a:r>
              <a:rPr lang="en-GB" sz="1800"/>
              <a:t>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5,1)</a:t>
            </a:r>
            <a:r>
              <a:rPr lang="en-GB" sz="1800"/>
              <a:t> </a:t>
            </a:r>
            <a:r>
              <a:rPr lang="en-GB" sz="1800"/>
              <a:t>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6,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1) </a:t>
            </a:r>
            <a:r>
              <a:rPr lang="en-GB" sz="1800"/>
              <a:t>and </a:t>
            </a:r>
            <a:r>
              <a:rPr lang="en-GB" sz="1800"/>
              <a:t>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2,4)</a:t>
            </a:r>
            <a:r>
              <a:rPr lang="en-GB" sz="1800"/>
              <a:t> Which coordinate is which letter on the graph?</a:t>
            </a:r>
            <a:endParaRPr sz="1800"/>
          </a:p>
        </p:txBody>
      </p:sp>
      <p:sp>
        <p:nvSpPr>
          <p:cNvPr id="999" name="Google Shape;99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coordinate pairs</a:t>
            </a:r>
            <a:endParaRPr/>
          </a:p>
        </p:txBody>
      </p:sp>
      <p:sp>
        <p:nvSpPr>
          <p:cNvPr id="1000" name="Google Shape;1000;p84"/>
          <p:cNvSpPr txBox="1"/>
          <p:nvPr>
            <p:ph idx="1" type="body"/>
          </p:nvPr>
        </p:nvSpPr>
        <p:spPr>
          <a:xfrm>
            <a:off x="324000" y="2919300"/>
            <a:ext cx="53379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She draws a line through two of the coordinates and the gradient is negative. Which two could it have been?</a:t>
            </a:r>
            <a:endParaRPr sz="1800"/>
          </a:p>
        </p:txBody>
      </p:sp>
      <p:pic>
        <p:nvPicPr>
          <p:cNvPr id="1001" name="Google Shape;100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9875" y="1137100"/>
            <a:ext cx="3057925" cy="24393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02" name="Google Shape;1002;p84"/>
          <p:cNvSpPr txBox="1"/>
          <p:nvPr>
            <p:ph idx="1" type="body"/>
          </p:nvPr>
        </p:nvSpPr>
        <p:spPr>
          <a:xfrm>
            <a:off x="324000" y="1439500"/>
            <a:ext cx="1458300" cy="12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5,1)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7,3)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2,4)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3" name="Google Shape;1003;p84"/>
          <p:cNvSpPr txBox="1"/>
          <p:nvPr>
            <p:ph idx="1" type="body"/>
          </p:nvPr>
        </p:nvSpPr>
        <p:spPr>
          <a:xfrm>
            <a:off x="1874750" y="1467750"/>
            <a:ext cx="1458300" cy="12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 (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3,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5)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E (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6,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4" name="Google Shape;1004;p84"/>
          <p:cNvSpPr txBox="1"/>
          <p:nvPr>
            <p:ph idx="1" type="body"/>
          </p:nvPr>
        </p:nvSpPr>
        <p:spPr>
          <a:xfrm>
            <a:off x="314850" y="3834825"/>
            <a:ext cx="2739900" cy="3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and D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5" name="Google Shape;1005;p84"/>
          <p:cNvSpPr txBox="1"/>
          <p:nvPr>
            <p:ph idx="1" type="body"/>
          </p:nvPr>
        </p:nvSpPr>
        <p:spPr>
          <a:xfrm>
            <a:off x="324000" y="4171463"/>
            <a:ext cx="4035600" cy="3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A, B and D, B and E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6" name="Google Shape;1006;p84"/>
          <p:cNvSpPr txBox="1"/>
          <p:nvPr>
            <p:ph idx="1" type="body"/>
          </p:nvPr>
        </p:nvSpPr>
        <p:spPr>
          <a:xfrm>
            <a:off x="324000" y="4508100"/>
            <a:ext cx="4035600" cy="3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 and E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coordinate pairs</a:t>
            </a:r>
            <a:endParaRPr/>
          </a:p>
        </p:txBody>
      </p:sp>
      <p:pic>
        <p:nvPicPr>
          <p:cNvPr id="1012" name="Google Shape;1012;p85"/>
          <p:cNvPicPr preferRelativeResize="0"/>
          <p:nvPr/>
        </p:nvPicPr>
        <p:blipFill rotWithShape="1">
          <a:blip r:embed="rId3">
            <a:alphaModFix/>
          </a:blip>
          <a:srcRect b="32005" l="0" r="26546" t="0"/>
          <a:stretch/>
        </p:blipFill>
        <p:spPr>
          <a:xfrm>
            <a:off x="1853450" y="1748202"/>
            <a:ext cx="2158524" cy="20264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3" name="Google Shape;1013;p85"/>
          <p:cNvSpPr txBox="1"/>
          <p:nvPr>
            <p:ph idx="1" type="body"/>
          </p:nvPr>
        </p:nvSpPr>
        <p:spPr>
          <a:xfrm>
            <a:off x="1911344" y="2550846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4" name="Google Shape;1014;p85"/>
          <p:cNvSpPr txBox="1"/>
          <p:nvPr>
            <p:ph idx="1" type="body"/>
          </p:nvPr>
        </p:nvSpPr>
        <p:spPr>
          <a:xfrm>
            <a:off x="2400594" y="1842990"/>
            <a:ext cx="7155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(</a:t>
            </a:r>
            <a:r>
              <a:rPr lang="en-GB" sz="1800">
                <a:solidFill>
                  <a:schemeClr val="accent5"/>
                </a:solidFill>
              </a:rPr>
              <a:t>−</a:t>
            </a:r>
            <a:r>
              <a:rPr lang="en-GB" sz="1800">
                <a:solidFill>
                  <a:schemeClr val="accent5"/>
                </a:solidFill>
              </a:rPr>
              <a:t>7,9) 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15" name="Google Shape;1015;p85"/>
          <p:cNvCxnSpPr/>
          <p:nvPr/>
        </p:nvCxnSpPr>
        <p:spPr>
          <a:xfrm flipH="1">
            <a:off x="1842475" y="1756950"/>
            <a:ext cx="1586700" cy="1087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6" name="Google Shape;1016;p85"/>
          <p:cNvSpPr txBox="1"/>
          <p:nvPr>
            <p:ph idx="1" type="body"/>
          </p:nvPr>
        </p:nvSpPr>
        <p:spPr>
          <a:xfrm>
            <a:off x="2648394" y="2040721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7" name="Google Shape;1017;p85"/>
          <p:cNvSpPr txBox="1"/>
          <p:nvPr>
            <p:ph idx="1" type="body"/>
          </p:nvPr>
        </p:nvSpPr>
        <p:spPr>
          <a:xfrm>
            <a:off x="1599641" y="2341920"/>
            <a:ext cx="8433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(</a:t>
            </a:r>
            <a:r>
              <a:rPr lang="en-GB" sz="1800">
                <a:solidFill>
                  <a:schemeClr val="accent5"/>
                </a:solidFill>
              </a:rPr>
              <a:t>−4</a:t>
            </a:r>
            <a:r>
              <a:rPr lang="en-GB" sz="1800">
                <a:solidFill>
                  <a:schemeClr val="accent5"/>
                </a:solidFill>
              </a:rPr>
              <a:t>,5) 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8" name="Google Shape;1018;p85"/>
          <p:cNvSpPr/>
          <p:nvPr/>
        </p:nvSpPr>
        <p:spPr>
          <a:xfrm>
            <a:off x="2203675" y="2644613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9" name="Google Shape;1019;p85"/>
          <p:cNvCxnSpPr/>
          <p:nvPr/>
        </p:nvCxnSpPr>
        <p:spPr>
          <a:xfrm>
            <a:off x="1983174" y="2761435"/>
            <a:ext cx="755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020" name="Google Shape;1020;p85"/>
          <p:cNvSpPr/>
          <p:nvPr/>
        </p:nvSpPr>
        <p:spPr>
          <a:xfrm>
            <a:off x="2442950" y="1855950"/>
            <a:ext cx="3141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5"/>
          <p:cNvSpPr/>
          <p:nvPr/>
        </p:nvSpPr>
        <p:spPr>
          <a:xfrm>
            <a:off x="1977899" y="2369284"/>
            <a:ext cx="2664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2" name="Google Shape;1022;p85"/>
          <p:cNvCxnSpPr/>
          <p:nvPr/>
        </p:nvCxnSpPr>
        <p:spPr>
          <a:xfrm rot="10800000">
            <a:off x="2724150" y="2237825"/>
            <a:ext cx="0" cy="510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023" name="Google Shape;1023;p85"/>
          <p:cNvSpPr/>
          <p:nvPr/>
        </p:nvSpPr>
        <p:spPr>
          <a:xfrm>
            <a:off x="2775663" y="2291913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5"/>
          <p:cNvSpPr/>
          <p:nvPr/>
        </p:nvSpPr>
        <p:spPr>
          <a:xfrm>
            <a:off x="1663800" y="2375375"/>
            <a:ext cx="3141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5"/>
          <p:cNvSpPr/>
          <p:nvPr/>
        </p:nvSpPr>
        <p:spPr>
          <a:xfrm>
            <a:off x="2724152" y="1855959"/>
            <a:ext cx="2664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26" name="Google Shape;1026;p85"/>
          <p:cNvGraphicFramePr/>
          <p:nvPr/>
        </p:nvGraphicFramePr>
        <p:xfrm>
          <a:off x="1599658" y="38744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7" name="Google Shape;1027;p85"/>
          <p:cNvSpPr/>
          <p:nvPr/>
        </p:nvSpPr>
        <p:spPr>
          <a:xfrm>
            <a:off x="1607435" y="4498781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5"/>
          <p:cNvSpPr/>
          <p:nvPr/>
        </p:nvSpPr>
        <p:spPr>
          <a:xfrm>
            <a:off x="3070535" y="4498781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1.3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5"/>
          <p:cNvSpPr txBox="1"/>
          <p:nvPr/>
        </p:nvSpPr>
        <p:spPr>
          <a:xfrm>
            <a:off x="380450" y="1936675"/>
            <a:ext cx="9012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0" name="Google Shape;1030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257" y="1312849"/>
            <a:ext cx="521591" cy="585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85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854973" y="768950"/>
            <a:ext cx="4288527" cy="879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85"/>
          <p:cNvSpPr txBox="1"/>
          <p:nvPr/>
        </p:nvSpPr>
        <p:spPr>
          <a:xfrm>
            <a:off x="1175400" y="747450"/>
            <a:ext cx="39180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gradient of the line which goes through (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4,5) and (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7,9) is 1.3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5"/>
          <p:cNvSpPr txBox="1"/>
          <p:nvPr>
            <p:ph idx="1" type="body"/>
          </p:nvPr>
        </p:nvSpPr>
        <p:spPr>
          <a:xfrm>
            <a:off x="5272075" y="810000"/>
            <a:ext cx="35478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Let’s look at Lucas’ working to see if he is correct.</a:t>
            </a:r>
            <a:r>
              <a:rPr lang="en-GB" sz="1900"/>
              <a:t>  </a:t>
            </a:r>
            <a:endParaRPr sz="1900"/>
          </a:p>
        </p:txBody>
      </p:sp>
      <p:sp>
        <p:nvSpPr>
          <p:cNvPr id="1034" name="Google Shape;1034;p85"/>
          <p:cNvSpPr txBox="1"/>
          <p:nvPr>
            <p:ph idx="1" type="body"/>
          </p:nvPr>
        </p:nvSpPr>
        <p:spPr>
          <a:xfrm>
            <a:off x="4320000" y="2228938"/>
            <a:ext cx="45000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has plotted his coordinates wrong.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5" name="Google Shape;1035;p85"/>
          <p:cNvSpPr txBox="1"/>
          <p:nvPr>
            <p:ph idx="1" type="body"/>
          </p:nvPr>
        </p:nvSpPr>
        <p:spPr>
          <a:xfrm>
            <a:off x="4320000" y="1716650"/>
            <a:ext cx="35478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Where has he gone wrong?</a:t>
            </a:r>
            <a:r>
              <a:rPr lang="en-GB" sz="1900"/>
              <a:t> 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coordinate pairs</a:t>
            </a:r>
            <a:endParaRPr/>
          </a:p>
        </p:txBody>
      </p:sp>
      <p:pic>
        <p:nvPicPr>
          <p:cNvPr id="1041" name="Google Shape;1041;p86"/>
          <p:cNvPicPr preferRelativeResize="0"/>
          <p:nvPr/>
        </p:nvPicPr>
        <p:blipFill rotWithShape="1">
          <a:blip r:embed="rId3">
            <a:alphaModFix/>
          </a:blip>
          <a:srcRect b="32005" l="0" r="26546" t="0"/>
          <a:stretch/>
        </p:blipFill>
        <p:spPr>
          <a:xfrm>
            <a:off x="1853463" y="1748202"/>
            <a:ext cx="2158524" cy="20264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2" name="Google Shape;1042;p86"/>
          <p:cNvSpPr txBox="1"/>
          <p:nvPr>
            <p:ph idx="1" type="body"/>
          </p:nvPr>
        </p:nvSpPr>
        <p:spPr>
          <a:xfrm>
            <a:off x="2704744" y="2404784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3" name="Google Shape;1043;p86"/>
          <p:cNvSpPr txBox="1"/>
          <p:nvPr>
            <p:ph idx="1" type="body"/>
          </p:nvPr>
        </p:nvSpPr>
        <p:spPr>
          <a:xfrm>
            <a:off x="1719344" y="2319465"/>
            <a:ext cx="7155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(−7,9) 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44" name="Google Shape;1044;p86"/>
          <p:cNvCxnSpPr/>
          <p:nvPr/>
        </p:nvCxnSpPr>
        <p:spPr>
          <a:xfrm rot="10800000">
            <a:off x="1816300" y="2070000"/>
            <a:ext cx="2191800" cy="1233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5" name="Google Shape;1045;p86"/>
          <p:cNvSpPr txBox="1"/>
          <p:nvPr>
            <p:ph idx="1" type="body"/>
          </p:nvPr>
        </p:nvSpPr>
        <p:spPr>
          <a:xfrm>
            <a:off x="1924506" y="1976734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6" name="Google Shape;1046;p86"/>
          <p:cNvSpPr txBox="1"/>
          <p:nvPr>
            <p:ph idx="1" type="body"/>
          </p:nvPr>
        </p:nvSpPr>
        <p:spPr>
          <a:xfrm>
            <a:off x="2293753" y="2728033"/>
            <a:ext cx="8433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(−4,5) 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7" name="Google Shape;1047;p86"/>
          <p:cNvSpPr/>
          <p:nvPr/>
        </p:nvSpPr>
        <p:spPr>
          <a:xfrm>
            <a:off x="2872550" y="2117688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8" name="Google Shape;1048;p86"/>
          <p:cNvCxnSpPr/>
          <p:nvPr/>
        </p:nvCxnSpPr>
        <p:spPr>
          <a:xfrm>
            <a:off x="2036146" y="2160010"/>
            <a:ext cx="755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049" name="Google Shape;1049;p86"/>
          <p:cNvCxnSpPr/>
          <p:nvPr/>
        </p:nvCxnSpPr>
        <p:spPr>
          <a:xfrm>
            <a:off x="2787269" y="2160009"/>
            <a:ext cx="0" cy="493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050" name="Google Shape;1050;p86"/>
          <p:cNvSpPr/>
          <p:nvPr/>
        </p:nvSpPr>
        <p:spPr>
          <a:xfrm>
            <a:off x="2239013" y="1749163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51" name="Google Shape;1051;p86"/>
          <p:cNvGraphicFramePr/>
          <p:nvPr/>
        </p:nvGraphicFramePr>
        <p:xfrm>
          <a:off x="1599658" y="38744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2" name="Google Shape;1052;p86"/>
          <p:cNvSpPr/>
          <p:nvPr/>
        </p:nvSpPr>
        <p:spPr>
          <a:xfrm>
            <a:off x="1607435" y="4498781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6"/>
          <p:cNvSpPr/>
          <p:nvPr/>
        </p:nvSpPr>
        <p:spPr>
          <a:xfrm>
            <a:off x="3070535" y="4498781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1.3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6"/>
          <p:cNvSpPr txBox="1"/>
          <p:nvPr/>
        </p:nvSpPr>
        <p:spPr>
          <a:xfrm>
            <a:off x="380450" y="1936675"/>
            <a:ext cx="9012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5" name="Google Shape;105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257" y="1312849"/>
            <a:ext cx="521591" cy="585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86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854973" y="768950"/>
            <a:ext cx="4288527" cy="879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86"/>
          <p:cNvSpPr txBox="1"/>
          <p:nvPr/>
        </p:nvSpPr>
        <p:spPr>
          <a:xfrm>
            <a:off x="1175400" y="747450"/>
            <a:ext cx="39180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gradient of the line which goes through (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4,5) and (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7,9) is 1.3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6"/>
          <p:cNvSpPr txBox="1"/>
          <p:nvPr>
            <p:ph idx="1" type="body"/>
          </p:nvPr>
        </p:nvSpPr>
        <p:spPr>
          <a:xfrm>
            <a:off x="5272075" y="810000"/>
            <a:ext cx="35478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Let’s look at Lucas’ working to see if he is correct.  </a:t>
            </a:r>
            <a:endParaRPr sz="1900"/>
          </a:p>
        </p:txBody>
      </p:sp>
      <p:sp>
        <p:nvSpPr>
          <p:cNvPr id="1059" name="Google Shape;1059;p86"/>
          <p:cNvSpPr txBox="1"/>
          <p:nvPr>
            <p:ph idx="1" type="body"/>
          </p:nvPr>
        </p:nvSpPr>
        <p:spPr>
          <a:xfrm>
            <a:off x="4320000" y="2648688"/>
            <a:ext cx="45000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His line will have a negative gradient.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0" name="Google Shape;1060;p86"/>
          <p:cNvSpPr/>
          <p:nvPr/>
        </p:nvSpPr>
        <p:spPr>
          <a:xfrm>
            <a:off x="3070535" y="4186368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86"/>
          <p:cNvSpPr/>
          <p:nvPr/>
        </p:nvSpPr>
        <p:spPr>
          <a:xfrm>
            <a:off x="3070535" y="4186356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2" name="Google Shape;1062;p86"/>
          <p:cNvPicPr preferRelativeResize="0"/>
          <p:nvPr/>
        </p:nvPicPr>
        <p:blipFill rotWithShape="1">
          <a:blip r:embed="rId6">
            <a:alphaModFix/>
          </a:blip>
          <a:srcRect b="59597" l="61559" r="13951" t="27330"/>
          <a:stretch/>
        </p:blipFill>
        <p:spPr>
          <a:xfrm flipH="1" rot="-5400000">
            <a:off x="1161416" y="4301942"/>
            <a:ext cx="529500" cy="362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86"/>
          <p:cNvPicPr preferRelativeResize="0"/>
          <p:nvPr/>
        </p:nvPicPr>
        <p:blipFill rotWithShape="1">
          <a:blip r:embed="rId6">
            <a:alphaModFix/>
          </a:blip>
          <a:srcRect b="59597" l="61559" r="13951" t="27330"/>
          <a:stretch/>
        </p:blipFill>
        <p:spPr>
          <a:xfrm rot="5400000">
            <a:off x="4450142" y="4353881"/>
            <a:ext cx="529500" cy="362537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86"/>
          <p:cNvSpPr/>
          <p:nvPr/>
        </p:nvSpPr>
        <p:spPr>
          <a:xfrm>
            <a:off x="954775" y="4333023"/>
            <a:ext cx="31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1065" name="Google Shape;1065;p86"/>
          <p:cNvSpPr/>
          <p:nvPr/>
        </p:nvSpPr>
        <p:spPr>
          <a:xfrm>
            <a:off x="4872173" y="4384973"/>
            <a:ext cx="31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1066" name="Google Shape;1066;p86"/>
          <p:cNvSpPr txBox="1"/>
          <p:nvPr>
            <p:ph idx="1" type="body"/>
          </p:nvPr>
        </p:nvSpPr>
        <p:spPr>
          <a:xfrm>
            <a:off x="4320000" y="3189825"/>
            <a:ext cx="45000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−4 ÷ 3 is not exactly −1.3 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He should leave his answer as a fraction.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7" name="Google Shape;1067;p86"/>
          <p:cNvSpPr txBox="1"/>
          <p:nvPr>
            <p:ph idx="1" type="body"/>
          </p:nvPr>
        </p:nvSpPr>
        <p:spPr>
          <a:xfrm>
            <a:off x="5765818" y="4128159"/>
            <a:ext cx="39960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gradient is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4}{3}&quot;&gt;&lt;mo&gt;−&lt;/mo&gt;&lt;mfrac&gt;&lt;mn&gt;4&lt;/mn&gt;&lt;mn&gt;3&lt;/mn&gt;&lt;/mfrac&gt;&lt;/math&gt;" id="1068" name="Google Shape;1068;p86" title="negative four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44093" y="4013268"/>
            <a:ext cx="362525" cy="551679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86"/>
          <p:cNvSpPr txBox="1"/>
          <p:nvPr>
            <p:ph idx="1" type="body"/>
          </p:nvPr>
        </p:nvSpPr>
        <p:spPr>
          <a:xfrm>
            <a:off x="4320000" y="2228938"/>
            <a:ext cx="45000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has plotted his coordinates wrong.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0" name="Google Shape;1070;p86"/>
          <p:cNvSpPr txBox="1"/>
          <p:nvPr>
            <p:ph idx="1" type="body"/>
          </p:nvPr>
        </p:nvSpPr>
        <p:spPr>
          <a:xfrm>
            <a:off x="4320000" y="1716650"/>
            <a:ext cx="35478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Where has he gone wrong? 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coordinate pairs</a:t>
            </a:r>
            <a:endParaRPr/>
          </a:p>
        </p:txBody>
      </p:sp>
      <p:sp>
        <p:nvSpPr>
          <p:cNvPr id="1076" name="Google Shape;1076;p87"/>
          <p:cNvSpPr txBox="1"/>
          <p:nvPr>
            <p:ph idx="1" type="body"/>
          </p:nvPr>
        </p:nvSpPr>
        <p:spPr>
          <a:xfrm>
            <a:off x="324000" y="810000"/>
            <a:ext cx="84960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gradient of a line can be calculated without sketching the points.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077" name="Google Shape;1077;p87"/>
          <p:cNvSpPr txBox="1"/>
          <p:nvPr>
            <p:ph idx="1" type="body"/>
          </p:nvPr>
        </p:nvSpPr>
        <p:spPr>
          <a:xfrm>
            <a:off x="324000" y="1328400"/>
            <a:ext cx="84960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Work out the gradient of the line joining the coordinates (3,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2)</a:t>
            </a:r>
            <a:r>
              <a:rPr lang="en-GB" sz="1800"/>
              <a:t> and </a:t>
            </a:r>
            <a:r>
              <a:rPr lang="en-GB" sz="1800"/>
              <a:t>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7, 3)</a:t>
            </a:r>
            <a:r>
              <a:rPr lang="en-GB" sz="1800"/>
              <a:t> </a:t>
            </a:r>
            <a:r>
              <a:rPr lang="en-GB" sz="1800"/>
              <a:t>  </a:t>
            </a:r>
            <a:endParaRPr sz="1800"/>
          </a:p>
        </p:txBody>
      </p:sp>
      <p:graphicFrame>
        <p:nvGraphicFramePr>
          <p:cNvPr id="1078" name="Google Shape;1078;p87"/>
          <p:cNvGraphicFramePr/>
          <p:nvPr/>
        </p:nvGraphicFramePr>
        <p:xfrm>
          <a:off x="3360908" y="26999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9" name="Google Shape;1079;p87"/>
          <p:cNvSpPr txBox="1"/>
          <p:nvPr>
            <p:ph idx="1" type="body"/>
          </p:nvPr>
        </p:nvSpPr>
        <p:spPr>
          <a:xfrm>
            <a:off x="324000" y="1861025"/>
            <a:ext cx="84960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Because gradient is the change in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 when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</a:t>
            </a:r>
            <a:r>
              <a:rPr lang="en-GB" sz="1800">
                <a:solidFill>
                  <a:schemeClr val="accent5"/>
                </a:solidFill>
              </a:rPr>
              <a:t>increases</a:t>
            </a:r>
            <a:r>
              <a:rPr lang="en-GB" sz="1800"/>
              <a:t> by 1, it is useful to rewrite these so the coordinate with the </a:t>
            </a:r>
            <a:r>
              <a:rPr lang="en-GB" sz="1800"/>
              <a:t>smallest</a:t>
            </a:r>
            <a:r>
              <a:rPr lang="en-GB" sz="1800"/>
              <a:t>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-value is first.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080" name="Google Shape;1080;p87"/>
          <p:cNvSpPr txBox="1"/>
          <p:nvPr>
            <p:ph idx="1" type="body"/>
          </p:nvPr>
        </p:nvSpPr>
        <p:spPr>
          <a:xfrm>
            <a:off x="324000" y="2987700"/>
            <a:ext cx="84960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7, 3) and </a:t>
            </a:r>
            <a:r>
              <a:rPr lang="en-GB" sz="1800"/>
              <a:t>(3,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2)   </a:t>
            </a:r>
            <a:endParaRPr sz="1800"/>
          </a:p>
        </p:txBody>
      </p:sp>
      <p:sp>
        <p:nvSpPr>
          <p:cNvPr id="1081" name="Google Shape;1081;p87"/>
          <p:cNvSpPr txBox="1"/>
          <p:nvPr>
            <p:ph idx="1" type="body"/>
          </p:nvPr>
        </p:nvSpPr>
        <p:spPr>
          <a:xfrm>
            <a:off x="324000" y="3392400"/>
            <a:ext cx="15063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>
                <a:solidFill>
                  <a:srgbClr val="222222"/>
                </a:solidFill>
              </a:rPr>
              <a:t>−(−7) = 10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082" name="Google Shape;1082;p87"/>
          <p:cNvSpPr/>
          <p:nvPr/>
        </p:nvSpPr>
        <p:spPr>
          <a:xfrm>
            <a:off x="3372010" y="2997443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7"/>
          <p:cNvSpPr/>
          <p:nvPr/>
        </p:nvSpPr>
        <p:spPr>
          <a:xfrm>
            <a:off x="368275" y="3030750"/>
            <a:ext cx="3141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7"/>
          <p:cNvSpPr/>
          <p:nvPr/>
        </p:nvSpPr>
        <p:spPr>
          <a:xfrm>
            <a:off x="1544093" y="3030750"/>
            <a:ext cx="2430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7"/>
          <p:cNvSpPr/>
          <p:nvPr/>
        </p:nvSpPr>
        <p:spPr>
          <a:xfrm>
            <a:off x="4835110" y="2997443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7"/>
          <p:cNvSpPr txBox="1"/>
          <p:nvPr>
            <p:ph idx="1" type="body"/>
          </p:nvPr>
        </p:nvSpPr>
        <p:spPr>
          <a:xfrm>
            <a:off x="1830300" y="3392400"/>
            <a:ext cx="15063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−2−3 = −5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087" name="Google Shape;1087;p87"/>
          <p:cNvSpPr/>
          <p:nvPr/>
        </p:nvSpPr>
        <p:spPr>
          <a:xfrm>
            <a:off x="682375" y="3030750"/>
            <a:ext cx="2430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7"/>
          <p:cNvSpPr/>
          <p:nvPr/>
        </p:nvSpPr>
        <p:spPr>
          <a:xfrm>
            <a:off x="1828227" y="3030750"/>
            <a:ext cx="3141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9" name="Google Shape;1089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469713" y="2806650"/>
            <a:ext cx="1360576" cy="23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87"/>
          <p:cNvSpPr/>
          <p:nvPr/>
        </p:nvSpPr>
        <p:spPr>
          <a:xfrm>
            <a:off x="764380" y="2579254"/>
            <a:ext cx="501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+10</a:t>
            </a:r>
            <a:endParaRPr sz="1800"/>
          </a:p>
        </p:txBody>
      </p:sp>
      <p:pic>
        <p:nvPicPr>
          <p:cNvPr id="1091" name="Google Shape;1091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682375" y="2806650"/>
            <a:ext cx="1418824" cy="23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87"/>
          <p:cNvSpPr/>
          <p:nvPr/>
        </p:nvSpPr>
        <p:spPr>
          <a:xfrm>
            <a:off x="1116270" y="2579872"/>
            <a:ext cx="501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−5</a:t>
            </a:r>
            <a:endParaRPr sz="1800"/>
          </a:p>
        </p:txBody>
      </p:sp>
      <p:pic>
        <p:nvPicPr>
          <p:cNvPr id="1093" name="Google Shape;1093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5400000">
            <a:off x="6227917" y="3210781"/>
            <a:ext cx="529500" cy="362537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87"/>
          <p:cNvSpPr/>
          <p:nvPr/>
        </p:nvSpPr>
        <p:spPr>
          <a:xfrm>
            <a:off x="6698226" y="3241900"/>
            <a:ext cx="501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/>
          </a:p>
        </p:txBody>
      </p:sp>
      <p:sp>
        <p:nvSpPr>
          <p:cNvPr id="1095" name="Google Shape;1095;p87"/>
          <p:cNvSpPr/>
          <p:nvPr/>
        </p:nvSpPr>
        <p:spPr>
          <a:xfrm>
            <a:off x="3372000" y="3302256"/>
            <a:ext cx="14631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1}{2}&quot;&gt;&lt;mo&gt;−&lt;/mo&gt;&lt;mfrac&gt;&lt;mn&gt;1&lt;/mn&gt;&lt;mn&gt;2&lt;/mn&gt;&lt;/mfrac&gt;&lt;/math&gt;" id="1096" name="Google Shape;1096;p87" title="negative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9599" y="3366374"/>
            <a:ext cx="314100" cy="4694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87"/>
          <p:cNvSpPr txBox="1"/>
          <p:nvPr>
            <p:ph idx="1" type="body"/>
          </p:nvPr>
        </p:nvSpPr>
        <p:spPr>
          <a:xfrm>
            <a:off x="324000" y="4201800"/>
            <a:ext cx="84960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is still </a:t>
            </a:r>
            <a:r>
              <a:rPr lang="en-GB" sz="1800"/>
              <a:t>recommended</a:t>
            </a:r>
            <a:r>
              <a:rPr lang="en-GB" sz="1800"/>
              <a:t> to sketch the points to make sure the gradient is negative as expected.</a:t>
            </a:r>
            <a:r>
              <a:rPr lang="en-GB" sz="1800"/>
              <a:t>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8"/>
          <p:cNvSpPr txBox="1"/>
          <p:nvPr>
            <p:ph idx="1" type="subTitle"/>
          </p:nvPr>
        </p:nvSpPr>
        <p:spPr>
          <a:xfrm>
            <a:off x="337825" y="810000"/>
            <a:ext cx="3982200" cy="7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gradient of the line through (</a:t>
            </a:r>
            <a:r>
              <a:rPr lang="en-GB">
                <a:solidFill>
                  <a:srgbClr val="222222"/>
                </a:solidFill>
              </a:rPr>
              <a:t>−</a:t>
            </a:r>
            <a:r>
              <a:rPr lang="en-GB" sz="1900">
                <a:solidFill>
                  <a:srgbClr val="222222"/>
                </a:solidFill>
              </a:rPr>
              <a:t>10,</a:t>
            </a:r>
            <a:r>
              <a:rPr lang="en-GB">
                <a:solidFill>
                  <a:srgbClr val="222222"/>
                </a:solidFill>
              </a:rPr>
              <a:t>−9) and (−6, 7)</a:t>
            </a:r>
            <a:endParaRPr/>
          </a:p>
        </p:txBody>
      </p:sp>
      <p:sp>
        <p:nvSpPr>
          <p:cNvPr id="1103" name="Google Shape;110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coordinate pairs</a:t>
            </a:r>
            <a:endParaRPr/>
          </a:p>
        </p:txBody>
      </p:sp>
      <p:pic>
        <p:nvPicPr>
          <p:cNvPr id="1104" name="Google Shape;1104;p88"/>
          <p:cNvPicPr preferRelativeResize="0"/>
          <p:nvPr/>
        </p:nvPicPr>
        <p:blipFill rotWithShape="1">
          <a:blip r:embed="rId3">
            <a:alphaModFix/>
          </a:blip>
          <a:srcRect b="0" l="0" r="19465" t="22354"/>
          <a:stretch/>
        </p:blipFill>
        <p:spPr>
          <a:xfrm>
            <a:off x="871225" y="1658171"/>
            <a:ext cx="1673076" cy="1635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5" name="Google Shape;1105;p88"/>
          <p:cNvSpPr txBox="1"/>
          <p:nvPr>
            <p:ph idx="4294967295" type="body"/>
          </p:nvPr>
        </p:nvSpPr>
        <p:spPr>
          <a:xfrm>
            <a:off x="932631" y="2865909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6" name="Google Shape;1106;p88"/>
          <p:cNvSpPr txBox="1"/>
          <p:nvPr>
            <p:ph idx="4294967295" type="body"/>
          </p:nvPr>
        </p:nvSpPr>
        <p:spPr>
          <a:xfrm>
            <a:off x="1332081" y="1795846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7" name="Google Shape;1107;p88"/>
          <p:cNvSpPr txBox="1"/>
          <p:nvPr>
            <p:ph idx="4294967295" type="body"/>
          </p:nvPr>
        </p:nvSpPr>
        <p:spPr>
          <a:xfrm>
            <a:off x="370427" y="2728025"/>
            <a:ext cx="9345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(−10,−9) 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8" name="Google Shape;1108;p88"/>
          <p:cNvSpPr txBox="1"/>
          <p:nvPr>
            <p:ph idx="4294967295" type="body"/>
          </p:nvPr>
        </p:nvSpPr>
        <p:spPr>
          <a:xfrm>
            <a:off x="932625" y="1679502"/>
            <a:ext cx="843300" cy="2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(−6,7) 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09" name="Google Shape;1109;p88"/>
          <p:cNvCxnSpPr/>
          <p:nvPr/>
        </p:nvCxnSpPr>
        <p:spPr>
          <a:xfrm>
            <a:off x="1020821" y="3090210"/>
            <a:ext cx="429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10" name="Google Shape;1110;p88"/>
          <p:cNvSpPr txBox="1"/>
          <p:nvPr>
            <p:ph idx="1" type="subTitle"/>
          </p:nvPr>
        </p:nvSpPr>
        <p:spPr>
          <a:xfrm>
            <a:off x="2633300" y="1658175"/>
            <a:ext cx="1652400" cy="7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gradient is positive</a:t>
            </a:r>
            <a:endParaRPr/>
          </a:p>
        </p:txBody>
      </p:sp>
      <p:sp>
        <p:nvSpPr>
          <p:cNvPr id="1111" name="Google Shape;1111;p88"/>
          <p:cNvSpPr/>
          <p:nvPr/>
        </p:nvSpPr>
        <p:spPr>
          <a:xfrm>
            <a:off x="1051066" y="3048198"/>
            <a:ext cx="3141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2" name="Google Shape;1112;p88"/>
          <p:cNvCxnSpPr>
            <a:endCxn id="1106" idx="2"/>
          </p:cNvCxnSpPr>
          <p:nvPr/>
        </p:nvCxnSpPr>
        <p:spPr>
          <a:xfrm rot="10800000">
            <a:off x="1442031" y="2098546"/>
            <a:ext cx="3000" cy="993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13" name="Google Shape;1113;p88"/>
          <p:cNvSpPr/>
          <p:nvPr/>
        </p:nvSpPr>
        <p:spPr>
          <a:xfrm>
            <a:off x="1442029" y="2400675"/>
            <a:ext cx="429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14" name="Google Shape;1114;p88"/>
          <p:cNvGraphicFramePr/>
          <p:nvPr/>
        </p:nvGraphicFramePr>
        <p:xfrm>
          <a:off x="420383" y="3491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5" name="Google Shape;1115;p88"/>
          <p:cNvSpPr/>
          <p:nvPr/>
        </p:nvSpPr>
        <p:spPr>
          <a:xfrm>
            <a:off x="420385" y="4115606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8"/>
          <p:cNvSpPr/>
          <p:nvPr/>
        </p:nvSpPr>
        <p:spPr>
          <a:xfrm>
            <a:off x="1891260" y="4115756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7" name="Google Shape;1117;p88"/>
          <p:cNvPicPr preferRelativeResize="0"/>
          <p:nvPr/>
        </p:nvPicPr>
        <p:blipFill rotWithShape="1">
          <a:blip r:embed="rId4">
            <a:alphaModFix/>
          </a:blip>
          <a:srcRect b="59597" l="61559" r="13951" t="27330"/>
          <a:stretch/>
        </p:blipFill>
        <p:spPr>
          <a:xfrm rot="5400000">
            <a:off x="3270867" y="3970856"/>
            <a:ext cx="529500" cy="362537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88"/>
          <p:cNvSpPr/>
          <p:nvPr/>
        </p:nvSpPr>
        <p:spPr>
          <a:xfrm>
            <a:off x="3716873" y="4001973"/>
            <a:ext cx="31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1119" name="Google Shape;1119;p88"/>
          <p:cNvSpPr txBox="1"/>
          <p:nvPr>
            <p:ph idx="1" type="subTitle"/>
          </p:nvPr>
        </p:nvSpPr>
        <p:spPr>
          <a:xfrm>
            <a:off x="2633300" y="2506350"/>
            <a:ext cx="1652400" cy="7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r>
              <a:rPr lang="en-GB"/>
              <a:t>radient = 4</a:t>
            </a:r>
            <a:endParaRPr/>
          </a:p>
        </p:txBody>
      </p:sp>
      <p:sp>
        <p:nvSpPr>
          <p:cNvPr id="1120" name="Google Shape;1120;p88"/>
          <p:cNvSpPr txBox="1"/>
          <p:nvPr>
            <p:ph idx="1" type="subTitle"/>
          </p:nvPr>
        </p:nvSpPr>
        <p:spPr>
          <a:xfrm>
            <a:off x="4837800" y="833425"/>
            <a:ext cx="3982200" cy="7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gradient of the line through (</a:t>
            </a:r>
            <a:r>
              <a:rPr lang="en-GB">
                <a:solidFill>
                  <a:srgbClr val="222222"/>
                </a:solidFill>
              </a:rPr>
              <a:t>2</a:t>
            </a:r>
            <a:r>
              <a:rPr lang="en-GB" sz="1900">
                <a:solidFill>
                  <a:srgbClr val="222222"/>
                </a:solidFill>
              </a:rPr>
              <a:t>,</a:t>
            </a:r>
            <a:r>
              <a:rPr lang="en-GB">
                <a:solidFill>
                  <a:srgbClr val="222222"/>
                </a:solidFill>
              </a:rPr>
              <a:t>−5) and (−8, 5)</a:t>
            </a:r>
            <a:endParaRPr/>
          </a:p>
        </p:txBody>
      </p:sp>
      <p:pic>
        <p:nvPicPr>
          <p:cNvPr id="1121" name="Google Shape;1121;p88"/>
          <p:cNvPicPr preferRelativeResize="0"/>
          <p:nvPr/>
        </p:nvPicPr>
        <p:blipFill rotWithShape="1">
          <a:blip r:embed="rId3">
            <a:alphaModFix/>
          </a:blip>
          <a:srcRect b="0" l="0" r="19465" t="22354"/>
          <a:stretch/>
        </p:blipFill>
        <p:spPr>
          <a:xfrm>
            <a:off x="5367025" y="1658171"/>
            <a:ext cx="1673076" cy="1635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2" name="Google Shape;1122;p88"/>
          <p:cNvSpPr txBox="1"/>
          <p:nvPr>
            <p:ph idx="4294967295" type="body"/>
          </p:nvPr>
        </p:nvSpPr>
        <p:spPr>
          <a:xfrm>
            <a:off x="6509106" y="2596234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3" name="Google Shape;1123;p88"/>
          <p:cNvSpPr txBox="1"/>
          <p:nvPr>
            <p:ph idx="4294967295" type="body"/>
          </p:nvPr>
        </p:nvSpPr>
        <p:spPr>
          <a:xfrm>
            <a:off x="5415757" y="1775327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4" name="Google Shape;1124;p88"/>
          <p:cNvSpPr txBox="1"/>
          <p:nvPr>
            <p:ph idx="4294967295" type="body"/>
          </p:nvPr>
        </p:nvSpPr>
        <p:spPr>
          <a:xfrm>
            <a:off x="6334927" y="2835827"/>
            <a:ext cx="9345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(2,−5) </a:t>
            </a:r>
            <a:endParaRPr sz="20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5" name="Google Shape;1125;p88"/>
          <p:cNvSpPr txBox="1"/>
          <p:nvPr>
            <p:ph idx="4294967295" type="body"/>
          </p:nvPr>
        </p:nvSpPr>
        <p:spPr>
          <a:xfrm>
            <a:off x="4937030" y="1616988"/>
            <a:ext cx="8433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(−8,5) </a:t>
            </a:r>
            <a:endParaRPr sz="20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26" name="Google Shape;1126;p88"/>
          <p:cNvCxnSpPr/>
          <p:nvPr/>
        </p:nvCxnSpPr>
        <p:spPr>
          <a:xfrm>
            <a:off x="5492746" y="1982085"/>
            <a:ext cx="10665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27" name="Google Shape;1127;p88"/>
          <p:cNvSpPr txBox="1"/>
          <p:nvPr>
            <p:ph idx="1" type="subTitle"/>
          </p:nvPr>
        </p:nvSpPr>
        <p:spPr>
          <a:xfrm>
            <a:off x="7129100" y="1658175"/>
            <a:ext cx="1652400" cy="7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radient is negative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8" name="Google Shape;1128;p88"/>
          <p:cNvSpPr/>
          <p:nvPr/>
        </p:nvSpPr>
        <p:spPr>
          <a:xfrm>
            <a:off x="5730606" y="1679500"/>
            <a:ext cx="52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+10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29" name="Google Shape;1129;p88"/>
          <p:cNvCxnSpPr/>
          <p:nvPr/>
        </p:nvCxnSpPr>
        <p:spPr>
          <a:xfrm>
            <a:off x="6598943" y="1982075"/>
            <a:ext cx="0" cy="821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30" name="Google Shape;1130;p88"/>
          <p:cNvSpPr/>
          <p:nvPr/>
        </p:nvSpPr>
        <p:spPr>
          <a:xfrm>
            <a:off x="6587530" y="2129875"/>
            <a:ext cx="429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131" name="Google Shape;1131;p88"/>
          <p:cNvGraphicFramePr/>
          <p:nvPr/>
        </p:nvGraphicFramePr>
        <p:xfrm>
          <a:off x="4916183" y="3491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Change in </a:t>
                      </a:r>
                      <a:r>
                        <a:rPr i="1"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Change in </a:t>
                      </a:r>
                      <a:r>
                        <a:rPr i="1"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2" name="Google Shape;1132;p88"/>
          <p:cNvSpPr/>
          <p:nvPr/>
        </p:nvSpPr>
        <p:spPr>
          <a:xfrm>
            <a:off x="4923950" y="4127450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3" name="Google Shape;1133;p88"/>
          <p:cNvSpPr/>
          <p:nvPr/>
        </p:nvSpPr>
        <p:spPr>
          <a:xfrm>
            <a:off x="6387060" y="4136319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34" name="Google Shape;1134;p88"/>
          <p:cNvPicPr preferRelativeResize="0"/>
          <p:nvPr/>
        </p:nvPicPr>
        <p:blipFill rotWithShape="1">
          <a:blip r:embed="rId4">
            <a:alphaModFix/>
          </a:blip>
          <a:srcRect b="59597" l="61559" r="13951" t="27330"/>
          <a:stretch/>
        </p:blipFill>
        <p:spPr>
          <a:xfrm rot="5400000">
            <a:off x="7766667" y="3970856"/>
            <a:ext cx="529500" cy="362537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88"/>
          <p:cNvSpPr/>
          <p:nvPr/>
        </p:nvSpPr>
        <p:spPr>
          <a:xfrm>
            <a:off x="8212676" y="4001975"/>
            <a:ext cx="429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÷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6" name="Google Shape;1136;p88"/>
          <p:cNvSpPr txBox="1"/>
          <p:nvPr>
            <p:ph idx="1" type="subTitle"/>
          </p:nvPr>
        </p:nvSpPr>
        <p:spPr>
          <a:xfrm>
            <a:off x="7129100" y="2506350"/>
            <a:ext cx="1652400" cy="7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radient =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gradient from coordinate pairs</a:t>
            </a:r>
            <a:endParaRPr/>
          </a:p>
        </p:txBody>
      </p:sp>
      <p:sp>
        <p:nvSpPr>
          <p:cNvPr id="1142" name="Google Shape;1142;p89"/>
          <p:cNvSpPr txBox="1"/>
          <p:nvPr>
            <p:ph idx="1" type="body"/>
          </p:nvPr>
        </p:nvSpPr>
        <p:spPr>
          <a:xfrm>
            <a:off x="324000" y="759300"/>
            <a:ext cx="82377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Find the gradient of the line joining the two coordinates given. You may use the axes to help.</a:t>
            </a:r>
            <a:endParaRPr sz="1800"/>
          </a:p>
        </p:txBody>
      </p:sp>
      <p:pic>
        <p:nvPicPr>
          <p:cNvPr id="1143" name="Google Shape;1143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99" y="1843750"/>
            <a:ext cx="2003750" cy="203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4" name="Google Shape;1144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4997" y="1843750"/>
            <a:ext cx="2003750" cy="203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5" name="Google Shape;1145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5996" y="1843750"/>
            <a:ext cx="2003750" cy="203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6" name="Google Shape;1146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6994" y="1843750"/>
            <a:ext cx="2003750" cy="203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147" name="Google Shape;1147;p89"/>
          <p:cNvGraphicFramePr/>
          <p:nvPr/>
        </p:nvGraphicFramePr>
        <p:xfrm>
          <a:off x="349075" y="151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2035475"/>
                <a:gridCol w="2110850"/>
                <a:gridCol w="2160525"/>
                <a:gridCol w="2164050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(7,8) and (4,2)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(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1,8) and (1,2)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−1,−2)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(1,10)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(3,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−2)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(−5,10)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gradient from coordinate pairs</a:t>
            </a:r>
            <a:endParaRPr/>
          </a:p>
        </p:txBody>
      </p:sp>
      <p:sp>
        <p:nvSpPr>
          <p:cNvPr id="1153" name="Google Shape;1153;p90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In each question, decide which line will be steeper.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The line joining (0,0) and (5,7) or the line joining (0,0) and (5,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4)</a:t>
            </a:r>
            <a:br>
              <a:rPr lang="en-GB" sz="1800"/>
            </a:br>
            <a:br>
              <a:rPr lang="en-GB" sz="1800"/>
            </a:b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The line joining (0,0) and (3,4) or the line joining (0,0) and (6,7)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/>
            </a:br>
            <a:br>
              <a:rPr lang="en-GB" sz="1800"/>
            </a:br>
            <a:r>
              <a:rPr lang="en-GB" sz="1800"/>
              <a:t>c) The line joining (1,2) and (2,5) or the line joining (5,1) and (6,5)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/>
            </a:br>
            <a:br>
              <a:rPr lang="en-GB" sz="1800"/>
            </a:br>
            <a:r>
              <a:rPr lang="en-GB" sz="1800"/>
              <a:t>d) The line joining (</a:t>
            </a:r>
            <a:r>
              <a:rPr lang="en-GB" sz="1800">
                <a:solidFill>
                  <a:srgbClr val="222222"/>
                </a:solidFill>
              </a:rPr>
              <a:t>−4,4 ) and (5,−4 ) or the line joining (2,−1) and (11, −8)</a:t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8" name="Google Shape;1158;p91"/>
          <p:cNvGraphicFramePr/>
          <p:nvPr/>
        </p:nvGraphicFramePr>
        <p:xfrm>
          <a:off x="6641133" y="39250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1017750"/>
                <a:gridCol w="1017750"/>
              </a:tblGrid>
              <a:tr h="28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9" name="Google Shape;1159;p91"/>
          <p:cNvSpPr/>
          <p:nvPr/>
        </p:nvSpPr>
        <p:spPr>
          <a:xfrm>
            <a:off x="7854475" y="4237025"/>
            <a:ext cx="646200" cy="582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gradient from coordinate pairs</a:t>
            </a:r>
            <a:endParaRPr/>
          </a:p>
        </p:txBody>
      </p:sp>
      <p:sp>
        <p:nvSpPr>
          <p:cNvPr id="1161" name="Google Shape;1161;p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Find the gradient of the line joining the two coordinates given. You may use the axes to help.</a:t>
            </a:r>
            <a:endParaRPr sz="1800"/>
          </a:p>
        </p:txBody>
      </p:sp>
      <p:pic>
        <p:nvPicPr>
          <p:cNvPr id="1162" name="Google Shape;116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99" y="1843750"/>
            <a:ext cx="2003750" cy="203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3" name="Google Shape;1163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4997" y="1843750"/>
            <a:ext cx="2003750" cy="203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4" name="Google Shape;1164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5996" y="1843750"/>
            <a:ext cx="2003750" cy="203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5" name="Google Shape;1165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6994" y="1843750"/>
            <a:ext cx="2003750" cy="203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166" name="Google Shape;1166;p91"/>
          <p:cNvGraphicFramePr/>
          <p:nvPr/>
        </p:nvGraphicFramePr>
        <p:xfrm>
          <a:off x="349075" y="151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2035475"/>
                <a:gridCol w="2110850"/>
                <a:gridCol w="2160525"/>
                <a:gridCol w="2164050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(7,8) and (4,2)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(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1,8) and (1,2)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−1,−2)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(1,10)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(3,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−2)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(−5,10)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7" name="Google Shape;1167;p91"/>
          <p:cNvGraphicFramePr/>
          <p:nvPr/>
        </p:nvGraphicFramePr>
        <p:xfrm>
          <a:off x="349083" y="39250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1017750"/>
                <a:gridCol w="1017750"/>
              </a:tblGrid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8" name="Google Shape;1168;p91"/>
          <p:cNvSpPr txBox="1"/>
          <p:nvPr>
            <p:ph idx="4294967295" type="body"/>
          </p:nvPr>
        </p:nvSpPr>
        <p:spPr>
          <a:xfrm>
            <a:off x="1343831" y="2609559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9" name="Google Shape;1169;p91"/>
          <p:cNvSpPr txBox="1"/>
          <p:nvPr>
            <p:ph idx="4294967295" type="body"/>
          </p:nvPr>
        </p:nvSpPr>
        <p:spPr>
          <a:xfrm>
            <a:off x="1968781" y="1927496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70" name="Google Shape;1170;p91"/>
          <p:cNvCxnSpPr/>
          <p:nvPr/>
        </p:nvCxnSpPr>
        <p:spPr>
          <a:xfrm>
            <a:off x="1423746" y="2826985"/>
            <a:ext cx="66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71" name="Google Shape;1171;p91"/>
          <p:cNvSpPr/>
          <p:nvPr/>
        </p:nvSpPr>
        <p:spPr>
          <a:xfrm>
            <a:off x="1563716" y="2887823"/>
            <a:ext cx="3141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2" name="Google Shape;1172;p91"/>
          <p:cNvCxnSpPr/>
          <p:nvPr/>
        </p:nvCxnSpPr>
        <p:spPr>
          <a:xfrm rot="10800000">
            <a:off x="2044450" y="2159875"/>
            <a:ext cx="0" cy="664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73" name="Google Shape;1173;p91"/>
          <p:cNvSpPr/>
          <p:nvPr/>
        </p:nvSpPr>
        <p:spPr>
          <a:xfrm>
            <a:off x="1968779" y="2293825"/>
            <a:ext cx="429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91"/>
          <p:cNvSpPr txBox="1"/>
          <p:nvPr>
            <p:ph idx="4294967295" type="subTitle"/>
          </p:nvPr>
        </p:nvSpPr>
        <p:spPr>
          <a:xfrm>
            <a:off x="324000" y="4552902"/>
            <a:ext cx="16524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radient =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5" name="Google Shape;1175;p91"/>
          <p:cNvSpPr txBox="1"/>
          <p:nvPr>
            <p:ph idx="4294967295" type="body"/>
          </p:nvPr>
        </p:nvSpPr>
        <p:spPr>
          <a:xfrm>
            <a:off x="3011081" y="2049084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6" name="Google Shape;1176;p91"/>
          <p:cNvSpPr txBox="1"/>
          <p:nvPr>
            <p:ph idx="4294967295" type="body"/>
          </p:nvPr>
        </p:nvSpPr>
        <p:spPr>
          <a:xfrm>
            <a:off x="3519534" y="2598696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77" name="Google Shape;1177;p91"/>
          <p:cNvCxnSpPr/>
          <p:nvPr/>
        </p:nvCxnSpPr>
        <p:spPr>
          <a:xfrm>
            <a:off x="3106871" y="2269660"/>
            <a:ext cx="484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78" name="Google Shape;1178;p91"/>
          <p:cNvSpPr/>
          <p:nvPr/>
        </p:nvSpPr>
        <p:spPr>
          <a:xfrm>
            <a:off x="3138166" y="2008648"/>
            <a:ext cx="3141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91"/>
          <p:cNvSpPr/>
          <p:nvPr/>
        </p:nvSpPr>
        <p:spPr>
          <a:xfrm>
            <a:off x="3588342" y="2257225"/>
            <a:ext cx="429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0" name="Google Shape;1180;p91"/>
          <p:cNvCxnSpPr/>
          <p:nvPr/>
        </p:nvCxnSpPr>
        <p:spPr>
          <a:xfrm>
            <a:off x="3588356" y="2269646"/>
            <a:ext cx="10200" cy="527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graphicFrame>
        <p:nvGraphicFramePr>
          <p:cNvPr id="1181" name="Google Shape;1181;p91"/>
          <p:cNvGraphicFramePr/>
          <p:nvPr/>
        </p:nvGraphicFramePr>
        <p:xfrm>
          <a:off x="2435008" y="39250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1017750"/>
                <a:gridCol w="1017750"/>
              </a:tblGrid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2" name="Google Shape;1182;p91"/>
          <p:cNvSpPr txBox="1"/>
          <p:nvPr>
            <p:ph idx="4294967295" type="subTitle"/>
          </p:nvPr>
        </p:nvSpPr>
        <p:spPr>
          <a:xfrm>
            <a:off x="2469025" y="4552902"/>
            <a:ext cx="16524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radient =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183" name="Google Shape;1183;p91"/>
          <p:cNvGraphicFramePr/>
          <p:nvPr/>
        </p:nvGraphicFramePr>
        <p:xfrm>
          <a:off x="4572008" y="39250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1017750"/>
                <a:gridCol w="1017750"/>
              </a:tblGrid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4" name="Google Shape;1184;p91"/>
          <p:cNvSpPr txBox="1"/>
          <p:nvPr>
            <p:ph idx="4294967295" type="subTitle"/>
          </p:nvPr>
        </p:nvSpPr>
        <p:spPr>
          <a:xfrm>
            <a:off x="4606025" y="4552902"/>
            <a:ext cx="16524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radient =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5" name="Google Shape;1185;p91"/>
          <p:cNvSpPr txBox="1"/>
          <p:nvPr>
            <p:ph idx="4294967295" type="body"/>
          </p:nvPr>
        </p:nvSpPr>
        <p:spPr>
          <a:xfrm>
            <a:off x="5206131" y="3028834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6" name="Google Shape;1186;p91"/>
          <p:cNvSpPr txBox="1"/>
          <p:nvPr>
            <p:ph idx="4294967295" type="body"/>
          </p:nvPr>
        </p:nvSpPr>
        <p:spPr>
          <a:xfrm>
            <a:off x="5643895" y="1900078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87" name="Google Shape;1187;p91"/>
          <p:cNvCxnSpPr/>
          <p:nvPr/>
        </p:nvCxnSpPr>
        <p:spPr>
          <a:xfrm>
            <a:off x="5305471" y="3251460"/>
            <a:ext cx="411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88" name="Google Shape;1188;p91"/>
          <p:cNvSpPr/>
          <p:nvPr/>
        </p:nvSpPr>
        <p:spPr>
          <a:xfrm>
            <a:off x="5390816" y="3292048"/>
            <a:ext cx="3141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9" name="Google Shape;1189;p91"/>
          <p:cNvCxnSpPr/>
          <p:nvPr/>
        </p:nvCxnSpPr>
        <p:spPr>
          <a:xfrm rot="10800000">
            <a:off x="5716784" y="2118021"/>
            <a:ext cx="0" cy="1142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90" name="Google Shape;1190;p91"/>
          <p:cNvSpPr/>
          <p:nvPr/>
        </p:nvSpPr>
        <p:spPr>
          <a:xfrm>
            <a:off x="5774405" y="2494050"/>
            <a:ext cx="4848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91"/>
          <p:cNvSpPr txBox="1"/>
          <p:nvPr>
            <p:ph idx="4294967295" type="body"/>
          </p:nvPr>
        </p:nvSpPr>
        <p:spPr>
          <a:xfrm>
            <a:off x="7901581" y="3028834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2" name="Google Shape;1192;p91"/>
          <p:cNvSpPr txBox="1"/>
          <p:nvPr>
            <p:ph idx="4294967295" type="body"/>
          </p:nvPr>
        </p:nvSpPr>
        <p:spPr>
          <a:xfrm>
            <a:off x="6906720" y="1848603"/>
            <a:ext cx="2199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5"/>
                </a:solidFill>
              </a:rPr>
              <a:t>× </a:t>
            </a:r>
            <a:endParaRPr sz="26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93" name="Google Shape;1193;p91"/>
          <p:cNvCxnSpPr/>
          <p:nvPr/>
        </p:nvCxnSpPr>
        <p:spPr>
          <a:xfrm>
            <a:off x="7007021" y="2051435"/>
            <a:ext cx="964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194" name="Google Shape;1194;p91"/>
          <p:cNvCxnSpPr/>
          <p:nvPr/>
        </p:nvCxnSpPr>
        <p:spPr>
          <a:xfrm>
            <a:off x="7971834" y="2051421"/>
            <a:ext cx="0" cy="1142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95" name="Google Shape;1195;p91"/>
          <p:cNvSpPr/>
          <p:nvPr/>
        </p:nvSpPr>
        <p:spPr>
          <a:xfrm>
            <a:off x="8015955" y="2381850"/>
            <a:ext cx="4848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1"/>
          <p:cNvSpPr/>
          <p:nvPr/>
        </p:nvSpPr>
        <p:spPr>
          <a:xfrm>
            <a:off x="7243141" y="1787898"/>
            <a:ext cx="3141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3}{2}&quot;&gt;&lt;mo&gt;−&lt;/mo&gt;&lt;mfrac&gt;&lt;mn&gt;3&lt;/mn&gt;&lt;mn&gt;2&lt;/mn&gt;&lt;/mfrac&gt;&lt;/math&gt;" id="1197" name="Google Shape;1197;p91" title="negative thre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1678" y="4266857"/>
            <a:ext cx="352692" cy="5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gradient from coordinate pairs</a:t>
            </a:r>
            <a:endParaRPr/>
          </a:p>
        </p:txBody>
      </p:sp>
      <p:sp>
        <p:nvSpPr>
          <p:cNvPr id="1203" name="Google Shape;1203;p92"/>
          <p:cNvSpPr/>
          <p:nvPr/>
        </p:nvSpPr>
        <p:spPr>
          <a:xfrm>
            <a:off x="2343375" y="1144725"/>
            <a:ext cx="1591200" cy="41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2"/>
          <p:cNvSpPr/>
          <p:nvPr/>
        </p:nvSpPr>
        <p:spPr>
          <a:xfrm>
            <a:off x="2343375" y="1965600"/>
            <a:ext cx="1591200" cy="41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92"/>
          <p:cNvSpPr/>
          <p:nvPr/>
        </p:nvSpPr>
        <p:spPr>
          <a:xfrm>
            <a:off x="5868000" y="2808000"/>
            <a:ext cx="1591200" cy="41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92"/>
          <p:cNvSpPr txBox="1"/>
          <p:nvPr>
            <p:ph idx="4294967295" type="subTitle"/>
          </p:nvPr>
        </p:nvSpPr>
        <p:spPr>
          <a:xfrm>
            <a:off x="324000" y="1548000"/>
            <a:ext cx="49746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Larger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change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for the same change in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x.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7" name="Google Shape;1207;p92"/>
          <p:cNvSpPr txBox="1"/>
          <p:nvPr>
            <p:ph idx="4294967295" type="subTitle"/>
          </p:nvPr>
        </p:nvSpPr>
        <p:spPr>
          <a:xfrm>
            <a:off x="324000" y="3254875"/>
            <a:ext cx="49746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Larger change in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for the same change in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x.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8" name="Google Shape;1208;p92"/>
          <p:cNvSpPr txBox="1"/>
          <p:nvPr>
            <p:ph idx="4294967295" type="subTitle"/>
          </p:nvPr>
        </p:nvSpPr>
        <p:spPr>
          <a:xfrm>
            <a:off x="324000" y="2429625"/>
            <a:ext cx="84960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the same gradient the second coordinate would need to be (6,8). 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9" name="Google Shape;1209;p92"/>
          <p:cNvSpPr/>
          <p:nvPr/>
        </p:nvSpPr>
        <p:spPr>
          <a:xfrm>
            <a:off x="2368800" y="3672000"/>
            <a:ext cx="1976400" cy="41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92"/>
          <p:cNvSpPr txBox="1"/>
          <p:nvPr>
            <p:ph idx="4294967295" type="subTitle"/>
          </p:nvPr>
        </p:nvSpPr>
        <p:spPr>
          <a:xfrm>
            <a:off x="324000" y="4269725"/>
            <a:ext cx="4974600" cy="3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Larger change in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for the same change in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x.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1" name="Google Shape;1211;p92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In each question, decide which line will be steeper.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The line joining (0,0) and (5,7) or the line joining (0,0) and (5,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4)</a:t>
            </a:r>
            <a:br>
              <a:rPr lang="en-GB" sz="1800"/>
            </a:br>
            <a:br>
              <a:rPr lang="en-GB" sz="1800"/>
            </a:b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The line joining (0,0) and (3,4) or the line joining (0,0) and (6,7)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/>
            </a:br>
            <a:br>
              <a:rPr lang="en-GB" sz="1800"/>
            </a:br>
            <a:r>
              <a:rPr lang="en-GB" sz="1800"/>
              <a:t>c) The line joining (1,2) and (2,5) or the line joining (5,1) and (6,5)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/>
            </a:br>
            <a:br>
              <a:rPr lang="en-GB" sz="1800"/>
            </a:br>
            <a:r>
              <a:rPr lang="en-GB" sz="1800"/>
              <a:t>d) The line joining (</a:t>
            </a:r>
            <a:r>
              <a:rPr lang="en-GB" sz="1800">
                <a:solidFill>
                  <a:srgbClr val="222222"/>
                </a:solidFill>
              </a:rPr>
              <a:t>−4,4 ) and (5,−4 ) or the line joining (2,−1) and (11, −8)</a:t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93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coordinates using axes</a:t>
            </a:r>
            <a:endParaRPr/>
          </a:p>
        </p:txBody>
      </p:sp>
      <p:sp>
        <p:nvSpPr>
          <p:cNvPr id="1217" name="Google Shape;1217;p93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coordinate pairs</a:t>
            </a:r>
            <a:endParaRPr/>
          </a:p>
        </p:txBody>
      </p:sp>
      <p:sp>
        <p:nvSpPr>
          <p:cNvPr id="1218" name="Google Shape;1218;p93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that lie on a straight line </a:t>
            </a:r>
            <a:endParaRPr/>
          </a:p>
        </p:txBody>
      </p:sp>
      <p:sp>
        <p:nvSpPr>
          <p:cNvPr id="1219" name="Google Shape;1219;p9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of change from a coordinate pair</a:t>
            </a:r>
            <a:endParaRPr/>
          </a:p>
        </p:txBody>
      </p:sp>
      <p:pic>
        <p:nvPicPr>
          <p:cNvPr id="1220" name="Google Shape;122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25" y="369478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that lie on a straight line</a:t>
            </a:r>
            <a:endParaRPr/>
          </a:p>
        </p:txBody>
      </p:sp>
      <p:sp>
        <p:nvSpPr>
          <p:cNvPr id="1226" name="Google Shape;1226;p94"/>
          <p:cNvSpPr txBox="1"/>
          <p:nvPr>
            <p:ph idx="1" type="body"/>
          </p:nvPr>
        </p:nvSpPr>
        <p:spPr>
          <a:xfrm>
            <a:off x="324000" y="7593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see whether three coordinates are on the same line by checking the gradient between them. </a:t>
            </a:r>
            <a:endParaRPr sz="2000"/>
          </a:p>
        </p:txBody>
      </p:sp>
      <p:sp>
        <p:nvSpPr>
          <p:cNvPr id="1227" name="Google Shape;1227;p94"/>
          <p:cNvSpPr txBox="1"/>
          <p:nvPr>
            <p:ph idx="1" type="body"/>
          </p:nvPr>
        </p:nvSpPr>
        <p:spPr>
          <a:xfrm>
            <a:off x="324000" y="1795950"/>
            <a:ext cx="82377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Are (1,1), (2,4) and </a:t>
            </a:r>
            <a:r>
              <a:rPr lang="en-GB" sz="2000"/>
              <a:t> (5,13) on the same line?</a:t>
            </a:r>
            <a:endParaRPr sz="2000"/>
          </a:p>
        </p:txBody>
      </p:sp>
      <p:graphicFrame>
        <p:nvGraphicFramePr>
          <p:cNvPr id="1228" name="Google Shape;1228;p94"/>
          <p:cNvGraphicFramePr/>
          <p:nvPr/>
        </p:nvGraphicFramePr>
        <p:xfrm>
          <a:off x="374758" y="38407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9" name="Google Shape;1229;p94"/>
          <p:cNvSpPr txBox="1"/>
          <p:nvPr>
            <p:ph idx="1" type="body"/>
          </p:nvPr>
        </p:nvSpPr>
        <p:spPr>
          <a:xfrm>
            <a:off x="373400" y="2917975"/>
            <a:ext cx="20463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</a:t>
            </a:r>
            <a:r>
              <a:rPr lang="en-GB" sz="1800">
                <a:solidFill>
                  <a:srgbClr val="222222"/>
                </a:solidFill>
              </a:rPr>
              <a:t>1</a:t>
            </a:r>
            <a:r>
              <a:rPr lang="en-GB" sz="1800"/>
              <a:t>, </a:t>
            </a:r>
            <a:r>
              <a:rPr lang="en-GB" sz="1800">
                <a:solidFill>
                  <a:srgbClr val="222222"/>
                </a:solidFill>
              </a:rPr>
              <a:t>1</a:t>
            </a:r>
            <a:r>
              <a:rPr lang="en-GB" sz="1800"/>
              <a:t>) and (2, </a:t>
            </a:r>
            <a:r>
              <a:rPr lang="en-GB" sz="1800">
                <a:solidFill>
                  <a:srgbClr val="222222"/>
                </a:solidFill>
              </a:rPr>
              <a:t>4</a:t>
            </a:r>
            <a:r>
              <a:rPr lang="en-GB" sz="1800"/>
              <a:t>)   </a:t>
            </a:r>
            <a:endParaRPr sz="1800"/>
          </a:p>
        </p:txBody>
      </p:sp>
      <p:sp>
        <p:nvSpPr>
          <p:cNvPr id="1230" name="Google Shape;1230;p94"/>
          <p:cNvSpPr txBox="1"/>
          <p:nvPr>
            <p:ph idx="1" type="body"/>
          </p:nvPr>
        </p:nvSpPr>
        <p:spPr>
          <a:xfrm>
            <a:off x="373400" y="3322675"/>
            <a:ext cx="15063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− 1 = 1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231" name="Google Shape;1231;p94"/>
          <p:cNvSpPr/>
          <p:nvPr/>
        </p:nvSpPr>
        <p:spPr>
          <a:xfrm>
            <a:off x="346532" y="2947325"/>
            <a:ext cx="2832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94"/>
          <p:cNvSpPr/>
          <p:nvPr/>
        </p:nvSpPr>
        <p:spPr>
          <a:xfrm>
            <a:off x="649664" y="2943925"/>
            <a:ext cx="2430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94"/>
          <p:cNvSpPr txBox="1"/>
          <p:nvPr>
            <p:ph idx="1" type="body"/>
          </p:nvPr>
        </p:nvSpPr>
        <p:spPr>
          <a:xfrm>
            <a:off x="1879700" y="3322675"/>
            <a:ext cx="15063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4 − 1 = 3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234" name="Google Shape;1234;p94"/>
          <p:cNvSpPr/>
          <p:nvPr/>
        </p:nvSpPr>
        <p:spPr>
          <a:xfrm>
            <a:off x="1505605" y="2947316"/>
            <a:ext cx="2430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94"/>
          <p:cNvSpPr/>
          <p:nvPr/>
        </p:nvSpPr>
        <p:spPr>
          <a:xfrm>
            <a:off x="1778654" y="2943925"/>
            <a:ext cx="2430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94"/>
          <p:cNvSpPr/>
          <p:nvPr/>
        </p:nvSpPr>
        <p:spPr>
          <a:xfrm>
            <a:off x="778038" y="2336166"/>
            <a:ext cx="501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+1</a:t>
            </a:r>
            <a:endParaRPr sz="1800"/>
          </a:p>
        </p:txBody>
      </p:sp>
      <p:sp>
        <p:nvSpPr>
          <p:cNvPr id="1237" name="Google Shape;1237;p94"/>
          <p:cNvSpPr/>
          <p:nvPr/>
        </p:nvSpPr>
        <p:spPr>
          <a:xfrm>
            <a:off x="1203033" y="2339966"/>
            <a:ext cx="501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/>
          </a:p>
        </p:txBody>
      </p:sp>
      <p:pic>
        <p:nvPicPr>
          <p:cNvPr id="1238" name="Google Shape;1238;p94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>
            <a:off x="357632" y="2584825"/>
            <a:ext cx="1447340" cy="394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9" name="Google Shape;1239;p94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>
            <a:off x="676766" y="2593282"/>
            <a:ext cx="1447340" cy="394869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94"/>
          <p:cNvSpPr txBox="1"/>
          <p:nvPr>
            <p:ph idx="1" type="body"/>
          </p:nvPr>
        </p:nvSpPr>
        <p:spPr>
          <a:xfrm>
            <a:off x="3419000" y="3991700"/>
            <a:ext cx="15063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gradient = 3  </a:t>
            </a:r>
            <a:endParaRPr sz="1800"/>
          </a:p>
        </p:txBody>
      </p:sp>
      <p:sp>
        <p:nvSpPr>
          <p:cNvPr id="1241" name="Google Shape;1241;p94"/>
          <p:cNvSpPr/>
          <p:nvPr/>
        </p:nvSpPr>
        <p:spPr>
          <a:xfrm>
            <a:off x="806250" y="1795950"/>
            <a:ext cx="1215300" cy="362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4"/>
          <p:cNvSpPr txBox="1"/>
          <p:nvPr>
            <p:ph idx="1" type="body"/>
          </p:nvPr>
        </p:nvSpPr>
        <p:spPr>
          <a:xfrm>
            <a:off x="4320000" y="2441275"/>
            <a:ext cx="45000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Start by finding the gradient between the first two points.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that lie on a straight line</a:t>
            </a:r>
            <a:endParaRPr/>
          </a:p>
        </p:txBody>
      </p:sp>
      <p:sp>
        <p:nvSpPr>
          <p:cNvPr id="1248" name="Google Shape;1248;p95"/>
          <p:cNvSpPr txBox="1"/>
          <p:nvPr>
            <p:ph idx="1" type="body"/>
          </p:nvPr>
        </p:nvSpPr>
        <p:spPr>
          <a:xfrm>
            <a:off x="324000" y="7593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see whether three coordinates are on the same line by checking the gradient between them. </a:t>
            </a:r>
            <a:endParaRPr sz="2000"/>
          </a:p>
        </p:txBody>
      </p:sp>
      <p:sp>
        <p:nvSpPr>
          <p:cNvPr id="1249" name="Google Shape;1249;p95"/>
          <p:cNvSpPr txBox="1"/>
          <p:nvPr>
            <p:ph idx="1" type="body"/>
          </p:nvPr>
        </p:nvSpPr>
        <p:spPr>
          <a:xfrm>
            <a:off x="324000" y="1795950"/>
            <a:ext cx="82377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Are (1,1), (2,4) and  (5,13) on the same line?</a:t>
            </a:r>
            <a:endParaRPr sz="2000"/>
          </a:p>
        </p:txBody>
      </p:sp>
      <p:graphicFrame>
        <p:nvGraphicFramePr>
          <p:cNvPr id="1250" name="Google Shape;1250;p95"/>
          <p:cNvGraphicFramePr/>
          <p:nvPr/>
        </p:nvGraphicFramePr>
        <p:xfrm>
          <a:off x="374758" y="38407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{933C8B61-151B-43DC-9A8E-D961CDCD6E0B}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1" name="Google Shape;1251;p95"/>
          <p:cNvSpPr txBox="1"/>
          <p:nvPr>
            <p:ph idx="1" type="body"/>
          </p:nvPr>
        </p:nvSpPr>
        <p:spPr>
          <a:xfrm>
            <a:off x="373400" y="2917975"/>
            <a:ext cx="20463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</a:t>
            </a:r>
            <a:r>
              <a:rPr lang="en-GB" sz="1800">
                <a:solidFill>
                  <a:srgbClr val="222222"/>
                </a:solidFill>
              </a:rPr>
              <a:t>2</a:t>
            </a:r>
            <a:r>
              <a:rPr lang="en-GB" sz="1800"/>
              <a:t>, </a:t>
            </a:r>
            <a:r>
              <a:rPr lang="en-GB" sz="1800">
                <a:solidFill>
                  <a:srgbClr val="222222"/>
                </a:solidFill>
              </a:rPr>
              <a:t>4</a:t>
            </a:r>
            <a:r>
              <a:rPr lang="en-GB" sz="1800"/>
              <a:t>) and (5, </a:t>
            </a:r>
            <a:r>
              <a:rPr lang="en-GB" sz="1800">
                <a:solidFill>
                  <a:srgbClr val="222222"/>
                </a:solidFill>
              </a:rPr>
              <a:t>13</a:t>
            </a:r>
            <a:r>
              <a:rPr lang="en-GB" sz="1800"/>
              <a:t>)   </a:t>
            </a:r>
            <a:endParaRPr sz="1800"/>
          </a:p>
        </p:txBody>
      </p:sp>
      <p:sp>
        <p:nvSpPr>
          <p:cNvPr id="1252" name="Google Shape;1252;p95"/>
          <p:cNvSpPr txBox="1"/>
          <p:nvPr>
            <p:ph idx="1" type="body"/>
          </p:nvPr>
        </p:nvSpPr>
        <p:spPr>
          <a:xfrm>
            <a:off x="373400" y="3322675"/>
            <a:ext cx="15063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− 2 = 3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253" name="Google Shape;1253;p95"/>
          <p:cNvSpPr/>
          <p:nvPr/>
        </p:nvSpPr>
        <p:spPr>
          <a:xfrm>
            <a:off x="386625" y="2947325"/>
            <a:ext cx="2430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95"/>
          <p:cNvSpPr/>
          <p:nvPr/>
        </p:nvSpPr>
        <p:spPr>
          <a:xfrm>
            <a:off x="649664" y="2943925"/>
            <a:ext cx="2430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95"/>
          <p:cNvSpPr txBox="1"/>
          <p:nvPr>
            <p:ph idx="1" type="body"/>
          </p:nvPr>
        </p:nvSpPr>
        <p:spPr>
          <a:xfrm>
            <a:off x="1879700" y="3322675"/>
            <a:ext cx="15063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</a:rPr>
              <a:t>13</a:t>
            </a:r>
            <a:r>
              <a:rPr lang="en-GB" sz="1800">
                <a:solidFill>
                  <a:srgbClr val="222222"/>
                </a:solidFill>
              </a:rPr>
              <a:t> − 4 = 9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256" name="Google Shape;1256;p95"/>
          <p:cNvSpPr/>
          <p:nvPr/>
        </p:nvSpPr>
        <p:spPr>
          <a:xfrm>
            <a:off x="1505605" y="2947316"/>
            <a:ext cx="2430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95"/>
          <p:cNvSpPr/>
          <p:nvPr/>
        </p:nvSpPr>
        <p:spPr>
          <a:xfrm>
            <a:off x="1804974" y="2947325"/>
            <a:ext cx="285600" cy="235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95"/>
          <p:cNvSpPr/>
          <p:nvPr/>
        </p:nvSpPr>
        <p:spPr>
          <a:xfrm>
            <a:off x="778038" y="2336166"/>
            <a:ext cx="501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/>
          </a:p>
        </p:txBody>
      </p:sp>
      <p:sp>
        <p:nvSpPr>
          <p:cNvPr id="1259" name="Google Shape;1259;p95"/>
          <p:cNvSpPr/>
          <p:nvPr/>
        </p:nvSpPr>
        <p:spPr>
          <a:xfrm>
            <a:off x="1203033" y="2339966"/>
            <a:ext cx="501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+9</a:t>
            </a:r>
            <a:endParaRPr sz="1800"/>
          </a:p>
        </p:txBody>
      </p:sp>
      <p:pic>
        <p:nvPicPr>
          <p:cNvPr id="1260" name="Google Shape;1260;p95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>
            <a:off x="357632" y="2584825"/>
            <a:ext cx="1447340" cy="394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95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>
            <a:off x="676766" y="2593282"/>
            <a:ext cx="1447340" cy="394869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95"/>
          <p:cNvSpPr txBox="1"/>
          <p:nvPr>
            <p:ph idx="1" type="body"/>
          </p:nvPr>
        </p:nvSpPr>
        <p:spPr>
          <a:xfrm>
            <a:off x="3419000" y="3991700"/>
            <a:ext cx="15063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gradient = 3  </a:t>
            </a:r>
            <a:endParaRPr sz="1800"/>
          </a:p>
        </p:txBody>
      </p:sp>
      <p:sp>
        <p:nvSpPr>
          <p:cNvPr id="1263" name="Google Shape;1263;p95"/>
          <p:cNvSpPr/>
          <p:nvPr/>
        </p:nvSpPr>
        <p:spPr>
          <a:xfrm>
            <a:off x="1458225" y="1786875"/>
            <a:ext cx="1929900" cy="362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95"/>
          <p:cNvSpPr txBox="1"/>
          <p:nvPr>
            <p:ph idx="1" type="body"/>
          </p:nvPr>
        </p:nvSpPr>
        <p:spPr>
          <a:xfrm>
            <a:off x="4320000" y="2441275"/>
            <a:ext cx="4500000" cy="6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Then check</a:t>
            </a:r>
            <a:r>
              <a:rPr lang="en-GB" sz="1800"/>
              <a:t> the gradient between the second two points.</a:t>
            </a:r>
            <a:endParaRPr sz="1800"/>
          </a:p>
        </p:txBody>
      </p:sp>
      <p:sp>
        <p:nvSpPr>
          <p:cNvPr id="1265" name="Google Shape;1265;p95"/>
          <p:cNvSpPr/>
          <p:nvPr/>
        </p:nvSpPr>
        <p:spPr>
          <a:xfrm>
            <a:off x="379006" y="4463532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95"/>
          <p:cNvSpPr/>
          <p:nvPr/>
        </p:nvSpPr>
        <p:spPr>
          <a:xfrm>
            <a:off x="1842106" y="4463532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95"/>
          <p:cNvSpPr txBox="1"/>
          <p:nvPr>
            <p:ph idx="1" type="body"/>
          </p:nvPr>
        </p:nvSpPr>
        <p:spPr>
          <a:xfrm>
            <a:off x="4320000" y="3240000"/>
            <a:ext cx="4500000" cy="6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gradient is the same so they must be on the same straight line.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that lie on a straight line</a:t>
            </a:r>
            <a:endParaRPr/>
          </a:p>
        </p:txBody>
      </p:sp>
      <p:sp>
        <p:nvSpPr>
          <p:cNvPr id="1273" name="Google Shape;1273;p96"/>
          <p:cNvSpPr txBox="1"/>
          <p:nvPr>
            <p:ph idx="1" type="body"/>
          </p:nvPr>
        </p:nvSpPr>
        <p:spPr>
          <a:xfrm>
            <a:off x="324000" y="729150"/>
            <a:ext cx="82377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 </a:t>
            </a:r>
            <a:r>
              <a:rPr lang="en-GB" sz="2000"/>
              <a:t>(1,1), (2,4) and  (5,13) are on the same line. </a:t>
            </a:r>
            <a:endParaRPr sz="2000"/>
          </a:p>
        </p:txBody>
      </p:sp>
      <p:sp>
        <p:nvSpPr>
          <p:cNvPr id="1274" name="Google Shape;1274;p96"/>
          <p:cNvSpPr txBox="1"/>
          <p:nvPr>
            <p:ph idx="1" type="body"/>
          </p:nvPr>
        </p:nvSpPr>
        <p:spPr>
          <a:xfrm>
            <a:off x="324000" y="1467600"/>
            <a:ext cx="8496000" cy="6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Remember: points that lie on a straight line will follow the same linear relationship. </a:t>
            </a:r>
            <a:endParaRPr sz="2000"/>
          </a:p>
        </p:txBody>
      </p:sp>
      <p:sp>
        <p:nvSpPr>
          <p:cNvPr id="1275" name="Google Shape;1275;p96"/>
          <p:cNvSpPr txBox="1"/>
          <p:nvPr>
            <p:ph idx="1" type="body"/>
          </p:nvPr>
        </p:nvSpPr>
        <p:spPr>
          <a:xfrm>
            <a:off x="324000" y="3053325"/>
            <a:ext cx="6201600" cy="6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these coordinates the rule is:  </a:t>
            </a: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 = 3</a:t>
            </a: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 2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6" name="Google Shape;1276;p96"/>
          <p:cNvSpPr txBox="1"/>
          <p:nvPr>
            <p:ph idx="1" type="body"/>
          </p:nvPr>
        </p:nvSpPr>
        <p:spPr>
          <a:xfrm>
            <a:off x="324000" y="2389500"/>
            <a:ext cx="8496000" cy="6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These are not always easy to spot.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9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gradient is the same everywhere on the line.</a:t>
            </a:r>
            <a:endParaRPr/>
          </a:p>
        </p:txBody>
      </p:sp>
      <p:sp>
        <p:nvSpPr>
          <p:cNvPr id="1282" name="Google Shape;128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that lie on a straight line</a:t>
            </a:r>
            <a:endParaRPr/>
          </a:p>
        </p:txBody>
      </p:sp>
      <p:sp>
        <p:nvSpPr>
          <p:cNvPr id="1283" name="Google Shape;1283;p97"/>
          <p:cNvSpPr txBox="1"/>
          <p:nvPr>
            <p:ph idx="1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pick any two points on a line to calculate the gradient of the line.</a:t>
            </a:r>
            <a:endParaRPr/>
          </a:p>
        </p:txBody>
      </p:sp>
      <p:sp>
        <p:nvSpPr>
          <p:cNvPr id="1284" name="Google Shape;1284;p9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Any two coordinates on a line will be the same distance apart.</a:t>
            </a:r>
            <a:endParaRPr/>
          </a:p>
        </p:txBody>
      </p:sp>
      <p:pic>
        <p:nvPicPr>
          <p:cNvPr id="1285" name="Google Shape;128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75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358" y="3196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98"/>
          <p:cNvSpPr txBox="1"/>
          <p:nvPr>
            <p:ph idx="1" type="subTitle"/>
          </p:nvPr>
        </p:nvSpPr>
        <p:spPr>
          <a:xfrm>
            <a:off x="1034425" y="1837775"/>
            <a:ext cx="6985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line between A and B has the same gradient as the line between B and C</a:t>
            </a:r>
            <a:endParaRPr/>
          </a:p>
        </p:txBody>
      </p:sp>
      <p:sp>
        <p:nvSpPr>
          <p:cNvPr id="1292" name="Google Shape;1292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that lie on a straight line</a:t>
            </a:r>
            <a:endParaRPr/>
          </a:p>
        </p:txBody>
      </p:sp>
      <p:sp>
        <p:nvSpPr>
          <p:cNvPr id="1293" name="Google Shape;1293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which options can we be sure the coordinate lie on the same line?</a:t>
            </a:r>
            <a:endParaRPr/>
          </a:p>
        </p:txBody>
      </p:sp>
      <p:sp>
        <p:nvSpPr>
          <p:cNvPr id="1294" name="Google Shape;1294;p98"/>
          <p:cNvSpPr txBox="1"/>
          <p:nvPr>
            <p:ph idx="3" type="subTitle"/>
          </p:nvPr>
        </p:nvSpPr>
        <p:spPr>
          <a:xfrm>
            <a:off x="1034425" y="2794250"/>
            <a:ext cx="7174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line between </a:t>
            </a:r>
            <a:r>
              <a:rPr lang="en-GB"/>
              <a:t>A and B has the same gradient as t</a:t>
            </a:r>
            <a:r>
              <a:rPr lang="en-GB"/>
              <a:t>he line between </a:t>
            </a:r>
            <a:r>
              <a:rPr lang="en-GB"/>
              <a:t>C and D</a:t>
            </a:r>
            <a:endParaRPr/>
          </a:p>
        </p:txBody>
      </p:sp>
      <p:sp>
        <p:nvSpPr>
          <p:cNvPr id="1295" name="Google Shape;1295;p98"/>
          <p:cNvSpPr txBox="1"/>
          <p:nvPr>
            <p:ph idx="4" type="subTitle"/>
          </p:nvPr>
        </p:nvSpPr>
        <p:spPr>
          <a:xfrm>
            <a:off x="1034425" y="3766975"/>
            <a:ext cx="7360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line between B</a:t>
            </a:r>
            <a:r>
              <a:rPr lang="en-GB"/>
              <a:t> and C has the same </a:t>
            </a:r>
            <a:r>
              <a:rPr lang="en-GB"/>
              <a:t>gradient</a:t>
            </a:r>
            <a:r>
              <a:rPr lang="en-GB"/>
              <a:t> as t</a:t>
            </a:r>
            <a:r>
              <a:rPr lang="en-GB"/>
              <a:t>he line between</a:t>
            </a:r>
            <a:r>
              <a:rPr lang="en-GB"/>
              <a:t> A and C</a:t>
            </a:r>
            <a:endParaRPr/>
          </a:p>
        </p:txBody>
      </p:sp>
      <p:pic>
        <p:nvPicPr>
          <p:cNvPr id="1296" name="Google Shape;129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1208" y="18773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1133" y="39009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Coordinates that lie on a straight line</a:t>
            </a:r>
            <a:endParaRPr/>
          </a:p>
        </p:txBody>
      </p:sp>
      <p:sp>
        <p:nvSpPr>
          <p:cNvPr id="1303" name="Google Shape;1303;p99"/>
          <p:cNvSpPr txBox="1"/>
          <p:nvPr>
            <p:ph idx="1" type="body"/>
          </p:nvPr>
        </p:nvSpPr>
        <p:spPr>
          <a:xfrm>
            <a:off x="324000" y="663321"/>
            <a:ext cx="8237700" cy="402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By testing the gradient. See whether each set of three points lie on a straight line.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(1,2), (2,6) and (4,12)</a:t>
            </a:r>
            <a:br>
              <a:rPr lang="en-GB" sz="2000"/>
            </a:br>
            <a:br>
              <a:rPr lang="en-GB" sz="2000"/>
            </a:br>
            <a:endParaRPr sz="15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(2,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8), (6,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4) and (13,3)</a:t>
            </a:r>
            <a:br>
              <a:rPr lang="en-GB" sz="2000"/>
            </a:br>
            <a:br>
              <a:rPr lang="en-GB" sz="2000"/>
            </a:br>
            <a:endParaRPr sz="14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(0,9), (2,5) and (5,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1)</a:t>
            </a:r>
            <a:br>
              <a:rPr lang="en-GB" sz="2000"/>
            </a:br>
            <a:br>
              <a:rPr lang="en-GB" sz="2000"/>
            </a:br>
            <a:endParaRPr sz="15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5, 0), (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3,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4) and (3,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8)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00"/>
          <p:cNvSpPr txBox="1"/>
          <p:nvPr>
            <p:ph idx="1" type="body"/>
          </p:nvPr>
        </p:nvSpPr>
        <p:spPr>
          <a:xfrm>
            <a:off x="324000" y="663336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By testing the gradient. See whether each set of three points lie on a straight line.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(1,2), (2,6) and (4,12)</a:t>
            </a:r>
            <a:br>
              <a:rPr lang="en-GB" sz="2000"/>
            </a:br>
            <a:br>
              <a:rPr lang="en-GB" sz="2000"/>
            </a:br>
            <a:endParaRPr sz="15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(2,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8</a:t>
            </a:r>
            <a:r>
              <a:rPr lang="en-GB" sz="2000"/>
              <a:t>), (6,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4) and (13,3)</a:t>
            </a:r>
            <a:br>
              <a:rPr lang="en-GB" sz="2000"/>
            </a:br>
            <a:br>
              <a:rPr lang="en-GB" sz="2000"/>
            </a:br>
            <a:endParaRPr sz="14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(0,9), (2,5) and (5,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1)</a:t>
            </a:r>
            <a:br>
              <a:rPr lang="en-GB" sz="2000"/>
            </a:br>
            <a:br>
              <a:rPr lang="en-GB" sz="2000"/>
            </a:br>
            <a:endParaRPr sz="15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5, 0), (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3,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4) and (3,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8)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309" name="Google Shape;1309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Coordinates that lie on a straight line</a:t>
            </a:r>
            <a:endParaRPr/>
          </a:p>
        </p:txBody>
      </p:sp>
      <p:sp>
        <p:nvSpPr>
          <p:cNvPr id="1310" name="Google Shape;1310;p100"/>
          <p:cNvSpPr txBox="1"/>
          <p:nvPr>
            <p:ph idx="1" type="body"/>
          </p:nvPr>
        </p:nvSpPr>
        <p:spPr>
          <a:xfrm>
            <a:off x="324000" y="1630800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No, the gradient between (1,2) and (2,6) is 4 but the gradient between (2,6) and (4,12) is 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1" name="Google Shape;1311;p100"/>
          <p:cNvSpPr txBox="1"/>
          <p:nvPr>
            <p:ph idx="1" type="body"/>
          </p:nvPr>
        </p:nvSpPr>
        <p:spPr>
          <a:xfrm>
            <a:off x="324000" y="2571756"/>
            <a:ext cx="84960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Yes,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the gradient between any 2 points is 1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2" name="Google Shape;1312;p100"/>
          <p:cNvSpPr txBox="1"/>
          <p:nvPr>
            <p:ph idx="1" type="body"/>
          </p:nvPr>
        </p:nvSpPr>
        <p:spPr>
          <a:xfrm>
            <a:off x="324000" y="3514150"/>
            <a:ext cx="84960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Yes,  the gradient between any 2 points is 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3" name="Google Shape;1313;p100"/>
          <p:cNvSpPr txBox="1"/>
          <p:nvPr>
            <p:ph idx="1" type="body"/>
          </p:nvPr>
        </p:nvSpPr>
        <p:spPr>
          <a:xfrm>
            <a:off x="324000" y="4223225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No,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the gradient between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5, 0) and (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3,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4)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is 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2 but the gradient between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5, 0) and (3, 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8) is 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101"/>
          <p:cNvSpPr txBox="1"/>
          <p:nvPr>
            <p:ph idx="1" type="body"/>
          </p:nvPr>
        </p:nvSpPr>
        <p:spPr>
          <a:xfrm>
            <a:off x="324000" y="8298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gradient of a line can be calculated given two coordinates on that line.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Sketching the coordinates can help determine if the gradient is positive or negative.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gradient can be calculated without drawing the points however a </a:t>
            </a:r>
            <a:r>
              <a:rPr lang="en-GB" sz="2000"/>
              <a:t>sketch</a:t>
            </a:r>
            <a:r>
              <a:rPr lang="en-GB" sz="2000"/>
              <a:t> can help avoid mistakes.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Three points A, B and C will be on the same </a:t>
            </a:r>
            <a:r>
              <a:rPr lang="en-GB" sz="2000"/>
              <a:t>straight</a:t>
            </a:r>
            <a:r>
              <a:rPr lang="en-GB" sz="2000"/>
              <a:t> line if the gradient between A and B is the same as B and C.</a:t>
            </a:r>
            <a:endParaRPr sz="2000"/>
          </a:p>
        </p:txBody>
      </p:sp>
      <p:sp>
        <p:nvSpPr>
          <p:cNvPr id="1319" name="Google Shape;1319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Rate of change from a coordinate pair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0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25" name="Google Shape;1325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