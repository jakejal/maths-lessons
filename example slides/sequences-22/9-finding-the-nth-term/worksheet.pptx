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9b2822904c_0_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9b2822904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2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11" Type="http://schemas.openxmlformats.org/officeDocument/2006/relationships/image" Target="../media/image17.png"/><Relationship Id="rId10" Type="http://schemas.openxmlformats.org/officeDocument/2006/relationships/image" Target="../media/image18.png"/><Relationship Id="rId9" Type="http://schemas.openxmlformats.org/officeDocument/2006/relationships/image" Target="../media/image9.png"/><Relationship Id="rId5" Type="http://schemas.openxmlformats.org/officeDocument/2006/relationships/image" Target="../media/image19.png"/><Relationship Id="rId6" Type="http://schemas.openxmlformats.org/officeDocument/2006/relationships/image" Target="../media/image15.png"/><Relationship Id="rId7" Type="http://schemas.openxmlformats.org/officeDocument/2006/relationships/image" Target="../media/image14.png"/><Relationship Id="rId8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20" Type="http://schemas.openxmlformats.org/officeDocument/2006/relationships/image" Target="../media/image26.png"/><Relationship Id="rId11" Type="http://schemas.openxmlformats.org/officeDocument/2006/relationships/image" Target="../media/image20.png"/><Relationship Id="rId10" Type="http://schemas.openxmlformats.org/officeDocument/2006/relationships/image" Target="../media/image21.png"/><Relationship Id="rId21" Type="http://schemas.openxmlformats.org/officeDocument/2006/relationships/image" Target="../media/image33.png"/><Relationship Id="rId13" Type="http://schemas.openxmlformats.org/officeDocument/2006/relationships/image" Target="../media/image24.png"/><Relationship Id="rId12" Type="http://schemas.openxmlformats.org/officeDocument/2006/relationships/image" Target="../media/image23.png"/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9" Type="http://schemas.openxmlformats.org/officeDocument/2006/relationships/image" Target="../media/image13.png"/><Relationship Id="rId15" Type="http://schemas.openxmlformats.org/officeDocument/2006/relationships/image" Target="../media/image28.png"/><Relationship Id="rId14" Type="http://schemas.openxmlformats.org/officeDocument/2006/relationships/image" Target="../media/image30.png"/><Relationship Id="rId17" Type="http://schemas.openxmlformats.org/officeDocument/2006/relationships/image" Target="../media/image31.png"/><Relationship Id="rId16" Type="http://schemas.openxmlformats.org/officeDocument/2006/relationships/image" Target="../media/image27.png"/><Relationship Id="rId5" Type="http://schemas.openxmlformats.org/officeDocument/2006/relationships/image" Target="../media/image8.png"/><Relationship Id="rId19" Type="http://schemas.openxmlformats.org/officeDocument/2006/relationships/image" Target="../media/image6.png"/><Relationship Id="rId6" Type="http://schemas.openxmlformats.org/officeDocument/2006/relationships/image" Target="../media/image25.png"/><Relationship Id="rId18" Type="http://schemas.openxmlformats.org/officeDocument/2006/relationships/image" Target="../media/image34.png"/><Relationship Id="rId7" Type="http://schemas.openxmlformats.org/officeDocument/2006/relationships/image" Target="../media/image16.png"/><Relationship Id="rId8" Type="http://schemas.openxmlformats.org/officeDocument/2006/relationships/image" Target="../media/image2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2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</a:t>
            </a:r>
            <a:r>
              <a:rPr lang="en-GB"/>
              <a:t>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/>
              <a:t>th</a:t>
            </a:r>
            <a:r>
              <a:rPr lang="en-GB"/>
              <a:t> term</a:t>
            </a:r>
            <a:endParaRPr/>
          </a:p>
        </p:txBody>
      </p:sp>
      <p:sp>
        <p:nvSpPr>
          <p:cNvPr id="162" name="Google Shape;162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426125"/>
            <a:ext cx="66240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Finding the </a:t>
            </a:r>
            <a:r>
              <a:rPr b="1"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1" baseline="30000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 of increasing sequences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1768638"/>
            <a:ext cx="82377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Find the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 of the sequences below: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10,17,24,31,38,\ ...&quot;&gt;&lt;mn&gt;10&lt;/mn&gt;&lt;mo&gt;,&lt;/mo&gt;&lt;mn&gt;17&lt;/mn&gt;&lt;mo&gt;,&lt;/mo&gt;&lt;mn&gt;24&lt;/mn&gt;&lt;mo&gt;,&lt;/mo&gt;&lt;mn&gt;31&lt;/mn&gt;&lt;mo&gt;,&lt;/mo&gt;&lt;mn&gt;38&lt;/mn&gt;&lt;mo&gt;,&lt;/mo&gt;&lt;mtext&gt;&lt;/mtext&gt;&lt;mo&gt;.&lt;/mo&gt;&lt;mo&gt;.&lt;/mo&gt;&lt;mo&gt;.&lt;/mo&gt;&lt;/math&gt;" id="165" name="Google Shape;165;p20" title="10 comma 17 comma 24 comma 31 comma 38 comma period period perio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1729" y="2285332"/>
            <a:ext cx="2603469" cy="2623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,8,15,22,29\ ...&quot;&gt;&lt;mn&gt;1&lt;/mn&gt;&lt;mo&gt;,&lt;/mo&gt;&lt;mn&gt;8&lt;/mn&gt;&lt;mo&gt;,&lt;/mo&gt;&lt;mn&gt;15&lt;/mn&gt;&lt;mo&gt;,&lt;/mo&gt;&lt;mn&gt;22&lt;/mn&gt;&lt;mo&gt;,&lt;/mo&gt;&lt;mn&gt;29&lt;/mn&gt;&lt;mtext&gt;&lt;/mtext&gt;&lt;mo&gt;.&lt;/mo&gt;&lt;mo&gt;.&lt;/mo&gt;&lt;mo&gt;.&lt;/mo&gt;&lt;/math&gt;" id="166" name="Google Shape;166;p20" title="1 comma 8 comma 15 comma 22 comma 29 period period perio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1729" y="3001559"/>
            <a:ext cx="2144330" cy="2674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10,-7,-4,-1,2\ ...&quot;&gt;&lt;mo&gt;−&lt;/mo&gt;&lt;mn&gt;10&lt;/mn&gt;&lt;mo&gt;,&lt;/mo&gt;&lt;mo&gt;−&lt;/mo&gt;&lt;mn&gt;7&lt;/mn&gt;&lt;mo&gt;,&lt;/mo&gt;&lt;mo&gt;−&lt;/mo&gt;&lt;mn&gt;4&lt;/mn&gt;&lt;mo&gt;,&lt;/mo&gt;&lt;mo&gt;−&lt;/mo&gt;&lt;mn&gt;1&lt;/mn&gt;&lt;mo&gt;,&lt;/mo&gt;&lt;mn&gt;2&lt;/mn&gt;&lt;mtext&gt;&lt;/mtext&gt;&lt;mo&gt;.&lt;/mo&gt;&lt;mo&gt;.&lt;/mo&gt;&lt;mo&gt;.&lt;/mo&gt;&lt;/math&gt;" id="167" name="Google Shape;167;p20" title="negative 10 comma negative 7 comma negative 4 comma negative 1 comma 2 period period perio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1729" y="3722832"/>
            <a:ext cx="2719515" cy="2623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0.9,\ 1.3,\ 1.7,\ 2.1,\ 2.5\ ...&quot;&gt;&lt;mn&gt;0.9&lt;/mn&gt;&lt;mo&gt;,&lt;/mo&gt;&lt;mtext&gt;&lt;/mtext&gt;&lt;mn&gt;1.3&lt;/mn&gt;&lt;mo&gt;,&lt;/mo&gt;&lt;mtext&gt;&lt;/mtext&gt;&lt;mn&gt;1.7&lt;/mn&gt;&lt;mo&gt;,&lt;/mo&gt;&lt;mtext&gt;&lt;/mtext&gt;&lt;mn&gt;2.1&lt;/mn&gt;&lt;mo&gt;,&lt;/mo&gt;&lt;mtext&gt;&lt;/mtext&gt;&lt;mn&gt;2.5&lt;/mn&gt;&lt;mtext&gt;&lt;/mtext&gt;&lt;mo&gt;.&lt;/mo&gt;&lt;mo&gt;.&lt;/mo&gt;&lt;mo&gt;.&lt;/mo&gt;&lt;/math&gt;" id="168" name="Google Shape;168;p20" title="0.9 comma 1.3 comma 1.7 comma 2.1 comma 2.5 period period perio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1725" y="4460207"/>
            <a:ext cx="2842526" cy="2368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,\frac{3}{4},\frac{5}{4},\frac{7}{4},\frac{9}{4},\ ...&quot;&gt;&lt;mfrac&gt;&lt;mn&gt;1&lt;/mn&gt;&lt;mn&gt;4&lt;/mn&gt;&lt;/mfrac&gt;&lt;mo&gt;,&lt;/mo&gt;&lt;mfrac&gt;&lt;mn&gt;3&lt;/mn&gt;&lt;mn&gt;4&lt;/mn&gt;&lt;/mfrac&gt;&lt;mo&gt;,&lt;/mo&gt;&lt;mfrac&gt;&lt;mn&gt;5&lt;/mn&gt;&lt;mn&gt;4&lt;/mn&gt;&lt;/mfrac&gt;&lt;mo&gt;,&lt;/mo&gt;&lt;mfrac&gt;&lt;mn&gt;7&lt;/mn&gt;&lt;mn&gt;4&lt;/mn&gt;&lt;/mfrac&gt;&lt;mo&gt;,&lt;/mo&gt;&lt;mfrac&gt;&lt;mn&gt;9&lt;/mn&gt;&lt;mn&gt;4&lt;/mn&gt;&lt;/mfrac&gt;&lt;mo&gt;,&lt;/mo&gt;&lt;mtext&gt;&lt;/mtext&gt;&lt;mo&gt;.&lt;/mo&gt;&lt;mo&gt;.&lt;/mo&gt;&lt;mo&gt;.&lt;/mo&gt;&lt;/math&gt;" id="169" name="Google Shape;169;p20" title="one fourth comma three fourths comma five fourths comma seven fourths comma nine fourths comma period period period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1729" y="5086725"/>
            <a:ext cx="1976786" cy="542094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0"/>
          <p:cNvSpPr txBox="1"/>
          <p:nvPr/>
        </p:nvSpPr>
        <p:spPr>
          <a:xfrm>
            <a:off x="468000" y="2302038"/>
            <a:ext cx="3030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468000" y="3039897"/>
            <a:ext cx="3030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468000" y="3736109"/>
            <a:ext cx="3030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4473969"/>
            <a:ext cx="3030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5256793"/>
            <a:ext cx="3030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5" name="Google Shape;175;p20"/>
          <p:cNvPicPr preferRelativeResize="0"/>
          <p:nvPr/>
        </p:nvPicPr>
        <p:blipFill rotWithShape="1">
          <a:blip r:embed="rId8">
            <a:alphaModFix/>
          </a:blip>
          <a:srcRect b="43690" l="0" r="57905" t="0"/>
          <a:stretch/>
        </p:blipFill>
        <p:spPr>
          <a:xfrm>
            <a:off x="1899775" y="6054000"/>
            <a:ext cx="3633649" cy="912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 txBox="1"/>
          <p:nvPr/>
        </p:nvSpPr>
        <p:spPr>
          <a:xfrm>
            <a:off x="2048850" y="6169200"/>
            <a:ext cx="3269700" cy="7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sequence -5, -3, -1, 1, 3, … is               because the common difference is +2 and it starts at -5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468000" y="6054000"/>
            <a:ext cx="256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Andeep says: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2n-5&quot;&gt;&lt;mn&gt;2&lt;/mn&gt;&lt;mi&gt;n&lt;/mi&gt;&lt;mo&gt;−&lt;/mo&gt;&lt;mn&gt;5&lt;/mn&gt;&lt;/math&gt;" id="178" name="Google Shape;178;p20" title="2 n minus 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441302" y="6169200"/>
            <a:ext cx="538670" cy="15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302204" y="6605650"/>
            <a:ext cx="538674" cy="69462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 txBox="1"/>
          <p:nvPr/>
        </p:nvSpPr>
        <p:spPr>
          <a:xfrm>
            <a:off x="468000" y="6966300"/>
            <a:ext cx="404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Give two</a:t>
            </a:r>
            <a:r>
              <a:rPr lang="en-GB" sz="1200">
                <a:solidFill>
                  <a:srgbClr val="845AD9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explanations as to why Andeep is wrong.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number line may help.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1" name="Google Shape;181;p2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68000" y="7539700"/>
            <a:ext cx="6624000" cy="6048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1"/>
          <p:cNvSpPr txBox="1"/>
          <p:nvPr>
            <p:ph idx="1" type="subTitle"/>
          </p:nvPr>
        </p:nvSpPr>
        <p:spPr>
          <a:xfrm>
            <a:off x="466825" y="360000"/>
            <a:ext cx="57792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Finding the </a:t>
            </a:r>
            <a:r>
              <a:rPr i="1" lang="en-GB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>
                <a:solidFill>
                  <a:schemeClr val="dk1"/>
                </a:solidFill>
              </a:rPr>
              <a:t>th</a:t>
            </a:r>
            <a:r>
              <a:rPr lang="en-GB">
                <a:solidFill>
                  <a:schemeClr val="dk1"/>
                </a:solidFill>
              </a:rPr>
              <a:t> term</a:t>
            </a: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468000" y="976827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Match the sequences to their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29-5n&quot;&gt;&lt;mn&gt;29&lt;/mn&gt;&lt;mo&gt;−&lt;/mo&gt;&lt;mn&gt;5&lt;/mn&gt;&lt;mi&gt;n&lt;/mi&gt;&lt;/math&gt;" id="188" name="Google Shape;188;p21" title="29 minus 5 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1645" y="1240448"/>
            <a:ext cx="677298" cy="159813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1"/>
          <p:cNvSpPr txBox="1"/>
          <p:nvPr/>
        </p:nvSpPr>
        <p:spPr>
          <a:xfrm>
            <a:off x="468000" y="70020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Finding the </a:t>
            </a:r>
            <a:r>
              <a:rPr b="1"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1" baseline="30000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 of decreasing sequences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29-3n&quot;&gt;&lt;mn&gt;29&lt;/mn&gt;&lt;mo&gt;−&lt;/mo&gt;&lt;mn&gt;3&lt;/mn&gt;&lt;mi&gt;n&lt;/mi&gt;&lt;/math&gt;" id="190" name="Google Shape;190;p21" title="29 minus 3 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91645" y="2104921"/>
            <a:ext cx="677298" cy="1560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3n-2&quot;&gt;&lt;mo&gt;−&lt;/mo&gt;&lt;mn&gt;3&lt;/mn&gt;&lt;mi&gt;n&lt;/mi&gt;&lt;mo&gt;−&lt;/mo&gt;&lt;mn&gt;2&lt;/mn&gt;&lt;/math&gt;" id="191" name="Google Shape;191;p21" title="negative 3 n minus 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57400" y="2533353"/>
            <a:ext cx="711543" cy="1560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4-3n&quot;&gt;&lt;mn&gt;24&lt;/mn&gt;&lt;mo&gt;−&lt;/mo&gt;&lt;mn&gt;3&lt;/mn&gt;&lt;mi&gt;n&lt;/mi&gt;&lt;/math&gt;" id="192" name="Google Shape;192;p21" title="24 minus 3 n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80230" y="1672684"/>
            <a:ext cx="688713" cy="1598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5n+2&quot;&gt;&lt;mo&gt;−&lt;/mo&gt;&lt;mn&gt;5&lt;/mn&gt;&lt;mi&gt;n&lt;/mi&gt;&lt;mo&gt;+&lt;/mo&gt;&lt;mn&gt;2&lt;/mn&gt;&lt;/math&gt;" id="193" name="Google Shape;193;p21" title="negative 5 n plus 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57400" y="2961784"/>
            <a:ext cx="711543" cy="1636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4,\ 19,\ 14,\ 9,\ 4,\ ...&quot;&gt;&lt;mn&gt;24&lt;/mn&gt;&lt;mo&gt;,&lt;/mo&gt;&lt;mtext&gt;&lt;/mtext&gt;&lt;mn&gt;19&lt;/mn&gt;&lt;mo&gt;,&lt;/mo&gt;&lt;mtext&gt;&lt;/mtext&gt;&lt;mn&gt;14&lt;/mn&gt;&lt;mo&gt;,&lt;/mo&gt;&lt;mtext&gt;&lt;/mtext&gt;&lt;mn&gt;9&lt;/mn&gt;&lt;mo&gt;,&lt;/mo&gt;&lt;mtext&gt;&lt;/mtext&gt;&lt;mn&gt;4&lt;/mn&gt;&lt;mo&gt;,&lt;/mo&gt;&lt;mtext&gt;&lt;/mtext&gt;&lt;mo&gt;.&lt;/mo&gt;&lt;mo&gt;.&lt;/mo&gt;&lt;mo&gt;.&lt;/mo&gt;&lt;/math&gt;" id="194" name="Google Shape;194;p21" title="24 comma 19 comma 14 comma 9 comma 4 comma period period period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447095" y="2955377"/>
            <a:ext cx="1828939" cy="1825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1,\ 18,\ 15,\ 12,\ 9,\ ...&quot;&gt;&lt;mn&gt;21&lt;/mn&gt;&lt;mo&gt;,&lt;/mo&gt;&lt;mtext&gt;&lt;/mtext&gt;&lt;mn&gt;18&lt;/mn&gt;&lt;mo&gt;,&lt;/mo&gt;&lt;mtext&gt;&lt;/mtext&gt;&lt;mn&gt;15&lt;/mn&gt;&lt;mo&gt;,&lt;/mo&gt;&lt;mtext&gt;&lt;/mtext&gt;&lt;mn&gt;12&lt;/mn&gt;&lt;mo&gt;,&lt;/mo&gt;&lt;mtext&gt;&lt;/mtext&gt;&lt;mn&gt;9&lt;/mn&gt;&lt;mo&gt;,&lt;/mo&gt;&lt;mtext&gt;&lt;/mtext&gt;&lt;mo&gt;.&lt;/mo&gt;&lt;mo&gt;.&lt;/mo&gt;&lt;mo&gt;.&lt;/mo&gt;&lt;/math&gt;" id="195" name="Google Shape;195;p21" title="21 comma 18 comma 15 comma 12 comma 9 comma period period period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447095" y="1254185"/>
            <a:ext cx="1927232" cy="1860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6,\ 23,\ 20,\ 17,\ 14,\ ...&quot;&gt;&lt;mn&gt;26&lt;/mn&gt;&lt;mo&gt;,&lt;/mo&gt;&lt;mtext&gt;&lt;/mtext&gt;&lt;mn&gt;23&lt;/mn&gt;&lt;mo&gt;,&lt;/mo&gt;&lt;mtext&gt;&lt;/mtext&gt;&lt;mn&gt;20&lt;/mn&gt;&lt;mo&gt;,&lt;/mo&gt;&lt;mtext&gt;&lt;/mtext&gt;&lt;mn&gt;17&lt;/mn&gt;&lt;mo&gt;,&lt;/mo&gt;&lt;mtext&gt;&lt;/mtext&gt;&lt;mn&gt;14&lt;/mn&gt;&lt;mo&gt;,&lt;/mo&gt;&lt;mtext&gt;&lt;/mtext&gt;&lt;mo&gt;.&lt;/mo&gt;&lt;mo&gt;.&lt;/mo&gt;&lt;mo&gt;.&lt;/mo&gt;&lt;/math&gt;" id="196" name="Google Shape;196;p21" title="26 comma 23 comma 20 comma 17 comma 14 comma period period period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447095" y="2529201"/>
            <a:ext cx="2050097" cy="1860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5,-8,-11,-14,-17,\ ...&quot;&gt;&lt;mo&gt;−&lt;/mo&gt;&lt;mn&gt;5&lt;/mn&gt;&lt;mo&gt;,&lt;/mo&gt;&lt;mo&gt;−&lt;/mo&gt;&lt;mn&gt;8&lt;/mn&gt;&lt;mo&gt;,&lt;/mo&gt;&lt;mo&gt;−&lt;/mo&gt;&lt;mn&gt;11&lt;/mn&gt;&lt;mo&gt;,&lt;/mo&gt;&lt;mo&gt;−&lt;/mo&gt;&lt;mn&gt;14&lt;/mn&gt;&lt;mo&gt;,&lt;/mo&gt;&lt;mo&gt;−&lt;/mo&gt;&lt;mn&gt;17&lt;/mn&gt;&lt;mo&gt;,&lt;/mo&gt;&lt;mtext&gt;&lt;/mtext&gt;&lt;mo&gt;.&lt;/mo&gt;&lt;mo&gt;.&lt;/mo&gt;&lt;mo&gt;.&lt;/mo&gt;&lt;/math&gt;" id="197" name="Google Shape;197;p21" title="negative 5 comma negative 8 comma negative 11 comma negative 14 comma negative 17 comma period period period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447095" y="2103026"/>
            <a:ext cx="2355505" cy="1860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3,-8,-13,-18,-23,\ ...&quot;&gt;&lt;mo&gt;−&lt;/mo&gt;&lt;mn&gt;3&lt;/mn&gt;&lt;mo&gt;,&lt;/mo&gt;&lt;mo&gt;−&lt;/mo&gt;&lt;mn&gt;8&lt;/mn&gt;&lt;mo&gt;,&lt;/mo&gt;&lt;mo&gt;−&lt;/mo&gt;&lt;mn&gt;13&lt;/mn&gt;&lt;mo&gt;,&lt;/mo&gt;&lt;mo&gt;−&lt;/mo&gt;&lt;mn&gt;18&lt;/mn&gt;&lt;mo&gt;,&lt;/mo&gt;&lt;mo&gt;−&lt;/mo&gt;&lt;mn&gt;23&lt;/mn&gt;&lt;mo&gt;,&lt;/mo&gt;&lt;mtext&gt;&lt;/mtext&gt;&lt;mo&gt;.&lt;/mo&gt;&lt;mo&gt;.&lt;/mo&gt;&lt;mo&gt;.&lt;/mo&gt;&lt;/math&gt;" id="198" name="Google Shape;198;p21" title="negative 3 comma negative 8 comma negative 13 comma negative 18 comma negative 23 comma period period period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447095" y="1680360"/>
            <a:ext cx="2341462" cy="182544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/>
        </p:nvSpPr>
        <p:spPr>
          <a:xfrm>
            <a:off x="468000" y="3619747"/>
            <a:ext cx="71352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Find the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 of these sequences.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18,\ 6,-6,-18,-30\ ...&quot;&gt;&lt;mn&gt;18&lt;/mn&gt;&lt;mo&gt;,&lt;/mo&gt;&lt;mtext&gt;&lt;/mtext&gt;&lt;mn&gt;6&lt;/mn&gt;&lt;mo&gt;,&lt;/mo&gt;&lt;mo&gt;−&lt;/mo&gt;&lt;mn&gt;6&lt;/mn&gt;&lt;mo&gt;,&lt;/mo&gt;&lt;mo&gt;−&lt;/mo&gt;&lt;mn&gt;18&lt;/mn&gt;&lt;mo&gt;,&lt;/mo&gt;&lt;mo&gt;−&lt;/mo&gt;&lt;mn&gt;30&lt;/mn&gt;&lt;mtext&gt;&lt;/mtext&gt;&lt;mo&gt;.&lt;/mo&gt;&lt;mo&gt;.&lt;/mo&gt;&lt;mo&gt;.&lt;/mo&gt;&lt;/math&gt;" id="200" name="Google Shape;200;p21" title="18 comma 6 comma negative 6 comma negative 18 comma negative 30 period period period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84775" y="3949236"/>
            <a:ext cx="2266356" cy="21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9,-21,-33,-45,-57\ ...&quot;&gt;&lt;mo&gt;−&lt;/mo&gt;&lt;mn&gt;9&lt;/mn&gt;&lt;mo&gt;,&lt;/mo&gt;&lt;mo&gt;−&lt;/mo&gt;&lt;mn&gt;21&lt;/mn&gt;&lt;mo&gt;,&lt;/mo&gt;&lt;mo&gt;−&lt;/mo&gt;&lt;mn&gt;33&lt;/mn&gt;&lt;mo&gt;,&lt;/mo&gt;&lt;mo&gt;−&lt;/mo&gt;&lt;mn&gt;45&lt;/mn&gt;&lt;mo&gt;,&lt;/mo&gt;&lt;mo&gt;−&lt;/mo&gt;&lt;mn&gt;57&lt;/mn&gt;&lt;mtext&gt;&lt;/mtext&gt;&lt;mo&gt;.&lt;/mo&gt;&lt;mo&gt;.&lt;/mo&gt;&lt;mo&gt;.&lt;/mo&gt;&lt;/math&gt;" id="201" name="Google Shape;201;p21" title="negative 9 comma negative 21 comma negative 33 comma negative 45 comma negative 57 period period period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84775" y="4539131"/>
            <a:ext cx="2697282" cy="21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15,-18,-21,-24,-27\ ...&quot;&gt;&lt;mo&gt;−&lt;/mo&gt;&lt;mn&gt;15&lt;/mn&gt;&lt;mo&gt;,&lt;/mo&gt;&lt;mo&gt;−&lt;/mo&gt;&lt;mn&gt;18&lt;/mn&gt;&lt;mo&gt;,&lt;/mo&gt;&lt;mo&gt;−&lt;/mo&gt;&lt;mn&gt;21&lt;/mn&gt;&lt;mo&gt;,&lt;/mo&gt;&lt;mo&gt;−&lt;/mo&gt;&lt;mn&gt;24&lt;/mn&gt;&lt;mo&gt;,&lt;/mo&gt;&lt;mo&gt;−&lt;/mo&gt;&lt;mn&gt;27&lt;/mn&gt;&lt;mtext&gt;&lt;/mtext&gt;&lt;mo&gt;.&lt;/mo&gt;&lt;mo&gt;.&lt;/mo&gt;&lt;mo&gt;.&lt;/mo&gt;&lt;/math&gt;" id="202" name="Google Shape;202;p21" title="negative 15 comma negative 18 comma negative 21 comma negative 24 comma negative 27 period period period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684775" y="5204748"/>
            <a:ext cx="2820974" cy="21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2,\ 9,\ 6,\ 3,\ 0\ ...&quot;&gt;&lt;mn&gt;12&lt;/mn&gt;&lt;mo&gt;,&lt;/mo&gt;&lt;mtext&gt;&lt;/mtext&gt;&lt;mn&gt;9&lt;/mn&gt;&lt;mo&gt;,&lt;/mo&gt;&lt;mtext&gt;&lt;/mtext&gt;&lt;mn&gt;6&lt;/mn&gt;&lt;mo&gt;,&lt;/mo&gt;&lt;mtext&gt;&lt;/mtext&gt;&lt;mn&gt;3&lt;/mn&gt;&lt;mo&gt;,&lt;/mo&gt;&lt;mtext&gt;&lt;/mtext&gt;&lt;mn&gt;0&lt;/mn&gt;&lt;mtext&gt;&lt;/mtext&gt;&lt;mo&gt;.&lt;/mo&gt;&lt;mo&gt;.&lt;/mo&gt;&lt;mo&gt;.&lt;/mo&gt;&lt;/math&gt;" id="203" name="Google Shape;203;p21" title="12 comma 9 comma 6 comma 3 comma 0 period period period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4052719" y="3946350"/>
            <a:ext cx="1727767" cy="2154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.2,\ 0.9,\ 0.6,\ 0.3,\ 0\ ...&quot;&gt;&lt;mn&gt;1.2&lt;/mn&gt;&lt;mo&gt;,&lt;/mo&gt;&lt;mtext&gt;&lt;/mtext&gt;&lt;mn&gt;0.9&lt;/mn&gt;&lt;mo&gt;,&lt;/mo&gt;&lt;mtext&gt;&lt;/mtext&gt;&lt;mn&gt;0.6&lt;/mn&gt;&lt;mo&gt;,&lt;/mo&gt;&lt;mtext&gt;&lt;/mtext&gt;&lt;mn&gt;0.3&lt;/mn&gt;&lt;mo&gt;,&lt;/mo&gt;&lt;mtext&gt;&lt;/mtext&gt;&lt;mn&gt;0&lt;/mn&gt;&lt;mtext&gt;&lt;/mtext&gt;&lt;mo&gt;.&lt;/mo&gt;&lt;mo&gt;.&lt;/mo&gt;&lt;mo&gt;.&lt;/mo&gt;&lt;/math&gt;" id="204" name="Google Shape;204;p21" title="1.2 comma 0.9 comma 0.6 comma 0.3 comma 0 period period period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4052719" y="4575359"/>
            <a:ext cx="2361960" cy="2154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\frac{1}{2},\ 3,\ 2\frac{1}{2},\ 2,\ 1\frac{1}{2},\ ...&quot;&gt;&lt;mn&gt;3&lt;/mn&gt;&lt;mfrac&gt;&lt;mn&gt;1&lt;/mn&gt;&lt;mn&gt;2&lt;/mn&gt;&lt;/mfrac&gt;&lt;mo&gt;,&lt;/mo&gt;&lt;mtext&gt;&lt;/mtext&gt;&lt;mn&gt;3&lt;/mn&gt;&lt;mo&gt;,&lt;/mo&gt;&lt;mtext&gt;&lt;/mtext&gt;&lt;mn&gt;2&lt;/mn&gt;&lt;mfrac&gt;&lt;mn&gt;1&lt;/mn&gt;&lt;mn&gt;2&lt;/mn&gt;&lt;/mfrac&gt;&lt;mo&gt;,&lt;/mo&gt;&lt;mtext&gt;&lt;/mtext&gt;&lt;mn&gt;2&lt;/mn&gt;&lt;mo&gt;,&lt;/mo&gt;&lt;mtext&gt;&lt;/mtext&gt;&lt;mn&gt;1&lt;/mn&gt;&lt;mfrac&gt;&lt;mn&gt;1&lt;/mn&gt;&lt;mn&gt;2&lt;/mn&gt;&lt;/mfrac&gt;&lt;mo&gt;,&lt;/mo&gt;&lt;mtext&gt;&lt;/mtext&gt;&lt;mo&gt;.&lt;/mo&gt;&lt;mo&gt;.&lt;/mo&gt;&lt;mo&gt;.&lt;/mo&gt;&lt;/math&gt;" id="205" name="Google Shape;205;p21" title="3 and one half comma 3 comma 2 and one half comma 2 comma 1 and one half comma period period period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4052719" y="5089054"/>
            <a:ext cx="1975807" cy="433796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468000" y="3959097"/>
            <a:ext cx="459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468000" y="4572293"/>
            <a:ext cx="3030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468000" y="5199216"/>
            <a:ext cx="3030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3803775" y="3945379"/>
            <a:ext cx="3030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3803775" y="4572301"/>
            <a:ext cx="3030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3803775" y="5199223"/>
            <a:ext cx="3030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2" name="Google Shape;212;p21"/>
          <p:cNvPicPr preferRelativeResize="0"/>
          <p:nvPr/>
        </p:nvPicPr>
        <p:blipFill rotWithShape="1">
          <a:blip r:embed="rId19">
            <a:alphaModFix/>
          </a:blip>
          <a:srcRect b="43690" l="0" r="57905" t="0"/>
          <a:stretch/>
        </p:blipFill>
        <p:spPr>
          <a:xfrm>
            <a:off x="4138888" y="6357200"/>
            <a:ext cx="2251776" cy="1115675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 txBox="1"/>
          <p:nvPr/>
        </p:nvSpPr>
        <p:spPr>
          <a:xfrm>
            <a:off x="468000" y="61302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Two students are discussing arithmetic sequences.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4" name="Google Shape;214;p21"/>
          <p:cNvPicPr preferRelativeResize="0"/>
          <p:nvPr/>
        </p:nvPicPr>
        <p:blipFill rotWithShape="1">
          <a:blip r:embed="rId19">
            <a:alphaModFix/>
          </a:blip>
          <a:srcRect b="43690" l="0" r="57905" t="0"/>
          <a:stretch/>
        </p:blipFill>
        <p:spPr>
          <a:xfrm flipH="1">
            <a:off x="1389710" y="6407400"/>
            <a:ext cx="2433377" cy="101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1"/>
          <p:cNvSpPr txBox="1"/>
          <p:nvPr/>
        </p:nvSpPr>
        <p:spPr>
          <a:xfrm>
            <a:off x="1668613" y="6442000"/>
            <a:ext cx="20778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 you give me any two terms of an arithmetic sequence I can tell you the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term.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4234088" y="6418375"/>
            <a:ext cx="20778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You’re right Aisha! If we had 30 and 25 we’d know it’s 30, 25, 20, 15, 10, … with an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term of 35 - 5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i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7" name="Google Shape;217;p21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6329901" y="7226713"/>
            <a:ext cx="528150" cy="585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1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980097" y="7063351"/>
            <a:ext cx="483301" cy="91261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1"/>
          <p:cNvSpPr txBox="1"/>
          <p:nvPr/>
        </p:nvSpPr>
        <p:spPr>
          <a:xfrm>
            <a:off x="629149" y="7748100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6072925" y="7604050"/>
            <a:ext cx="9390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1829350" y="7604050"/>
            <a:ext cx="41346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a sentence to explain if Aisha and Sofia are right.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8" name="Google Shape;228;p22"/>
          <p:cNvSpPr txBox="1"/>
          <p:nvPr>
            <p:ph idx="1" type="subTitle"/>
          </p:nvPr>
        </p:nvSpPr>
        <p:spPr>
          <a:xfrm>
            <a:off x="466825" y="360000"/>
            <a:ext cx="57792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Finding the </a:t>
            </a:r>
            <a:r>
              <a:rPr i="1" lang="en-GB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>
                <a:solidFill>
                  <a:schemeClr val="dk1"/>
                </a:solidFill>
              </a:rPr>
              <a:t>th</a:t>
            </a:r>
            <a:r>
              <a:rPr lang="en-GB">
                <a:solidFill>
                  <a:schemeClr val="dk1"/>
                </a:solidFill>
              </a:rPr>
              <a:t> term</a:t>
            </a:r>
            <a:endParaRPr/>
          </a:p>
        </p:txBody>
      </p:sp>
      <p:sp>
        <p:nvSpPr>
          <p:cNvPr id="229" name="Google Shape;229;p22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2"/>
          <p:cNvSpPr txBox="1"/>
          <p:nvPr/>
        </p:nvSpPr>
        <p:spPr>
          <a:xfrm>
            <a:off x="468000" y="995325"/>
            <a:ext cx="66240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Find the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term, then use approximation and counting on to find the term 705 in the arithmetic sequence starting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−25, −15, −5, 5, 15,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2"/>
          <p:cNvSpPr txBox="1"/>
          <p:nvPr/>
        </p:nvSpPr>
        <p:spPr>
          <a:xfrm>
            <a:off x="468000" y="646725"/>
            <a:ext cx="66240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C: Finding and using the </a:t>
            </a:r>
            <a:r>
              <a:rPr b="1"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1" baseline="30000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2"/>
          <p:cNvSpPr txBox="1"/>
          <p:nvPr/>
        </p:nvSpPr>
        <p:spPr>
          <a:xfrm>
            <a:off x="468000" y="2291300"/>
            <a:ext cx="66240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Find the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term, then use approximation and counting on to find the term −554 in the arithmetic sequence starting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−2, −14, −26, −38, −50,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2"/>
          <p:cNvSpPr txBox="1"/>
          <p:nvPr/>
        </p:nvSpPr>
        <p:spPr>
          <a:xfrm>
            <a:off x="468000" y="3668975"/>
            <a:ext cx="66240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Jacob wants to know the last term positive term in the sequence                      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trial and improvement on your calculator to help him.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36.95-0.06n&quot;&gt;&lt;mn&gt;36.95&lt;/mn&gt;&lt;mo&gt;−&lt;/mo&gt;&lt;mn&gt;0.06&lt;/mn&gt;&lt;mi&gt;n&lt;/mi&gt;&lt;/math&gt;" id="235" name="Google Shape;235;p22" title="36.95 minus 0.06 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9226" y="3667649"/>
            <a:ext cx="1140417" cy="14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83775" y="3774029"/>
            <a:ext cx="528150" cy="6505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