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2641e1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2641e1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ea2641e1e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ea2641e1e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a2641e1ec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a2641e1e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ea2641e1ec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ea2641e1ec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939501393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93950139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39501393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39501393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939501393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939501393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939501393b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939501393b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939501393b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939501393b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939501393b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939501393b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939501393b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939501393b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939501393b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39501393b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939501393b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939501393b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939501393b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939501393b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2939501393b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939501393b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9b356379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9b356379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939501393b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939501393b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939501393b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939501393b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939501393b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939501393b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93b729dd8e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93b729dd8e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93b729dd8e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93b729dd8e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93b729dd8e_1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93b729dd8e_1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93b729dd8e_1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93b729dd8e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93b729dd8e_1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93b729dd8e_1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93b729dd8e_1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293b729dd8e_1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93b729dd8e_1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93b729dd8e_1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9b3563797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9b3563797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5d01e3e0c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5d01e3e0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5d01e3e0c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5d01e3e0c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5d01e3e0c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5d01e3e0c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25d01e3e0c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25d01e3e0c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5d01e3e0c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5d01e3e0c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25d01e3e0c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5d01e3e0c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25d01e3e0c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25d01e3e0c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25d01e3e0c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25d01e3e0c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5d01e3e0c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5d01e3e0c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5d01e3e0c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5d01e3e0c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Relationship Id="rId4" Type="http://schemas.openxmlformats.org/officeDocument/2006/relationships/image" Target="../media/image96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6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6.png"/><Relationship Id="rId4" Type="http://schemas.openxmlformats.org/officeDocument/2006/relationships/image" Target="../media/image30.png"/><Relationship Id="rId11" Type="http://schemas.openxmlformats.org/officeDocument/2006/relationships/image" Target="../media/image20.png"/><Relationship Id="rId10" Type="http://schemas.openxmlformats.org/officeDocument/2006/relationships/image" Target="../media/image41.png"/><Relationship Id="rId9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60.png"/><Relationship Id="rId6" Type="http://schemas.openxmlformats.org/officeDocument/2006/relationships/image" Target="../media/image59.png"/><Relationship Id="rId7" Type="http://schemas.openxmlformats.org/officeDocument/2006/relationships/image" Target="../media/image57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61.png"/><Relationship Id="rId5" Type="http://schemas.openxmlformats.org/officeDocument/2006/relationships/image" Target="../media/image47.png"/><Relationship Id="rId6" Type="http://schemas.openxmlformats.org/officeDocument/2006/relationships/image" Target="../media/image58.png"/><Relationship Id="rId7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Relationship Id="rId5" Type="http://schemas.openxmlformats.org/officeDocument/2006/relationships/image" Target="../media/image67.png"/><Relationship Id="rId6" Type="http://schemas.openxmlformats.org/officeDocument/2006/relationships/image" Target="../media/image47.png"/><Relationship Id="rId7" Type="http://schemas.openxmlformats.org/officeDocument/2006/relationships/image" Target="../media/image72.png"/><Relationship Id="rId8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70.png"/><Relationship Id="rId7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8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9" Type="http://schemas.openxmlformats.org/officeDocument/2006/relationships/image" Target="../media/image82.png"/><Relationship Id="rId5" Type="http://schemas.openxmlformats.org/officeDocument/2006/relationships/image" Target="../media/image68.png"/><Relationship Id="rId6" Type="http://schemas.openxmlformats.org/officeDocument/2006/relationships/image" Target="../media/image70.png"/><Relationship Id="rId7" Type="http://schemas.openxmlformats.org/officeDocument/2006/relationships/image" Target="../media/image74.png"/><Relationship Id="rId8" Type="http://schemas.openxmlformats.org/officeDocument/2006/relationships/image" Target="../media/image80.png"/><Relationship Id="rId11" Type="http://schemas.openxmlformats.org/officeDocument/2006/relationships/image" Target="../media/image77.png"/><Relationship Id="rId10" Type="http://schemas.openxmlformats.org/officeDocument/2006/relationships/image" Target="../media/image78.png"/><Relationship Id="rId13" Type="http://schemas.openxmlformats.org/officeDocument/2006/relationships/image" Target="../media/image83.png"/><Relationship Id="rId12" Type="http://schemas.openxmlformats.org/officeDocument/2006/relationships/image" Target="../media/image84.png"/><Relationship Id="rId15" Type="http://schemas.openxmlformats.org/officeDocument/2006/relationships/image" Target="../media/image81.png"/><Relationship Id="rId14" Type="http://schemas.openxmlformats.org/officeDocument/2006/relationships/image" Target="../media/image7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1.png"/><Relationship Id="rId4" Type="http://schemas.openxmlformats.org/officeDocument/2006/relationships/image" Target="../media/image88.png"/><Relationship Id="rId5" Type="http://schemas.openxmlformats.org/officeDocument/2006/relationships/image" Target="../media/image75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1.png"/><Relationship Id="rId4" Type="http://schemas.openxmlformats.org/officeDocument/2006/relationships/image" Target="../media/image88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85.png"/><Relationship Id="rId8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8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9.png"/><Relationship Id="rId4" Type="http://schemas.openxmlformats.org/officeDocument/2006/relationships/image" Target="../media/image9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9.png"/><Relationship Id="rId4" Type="http://schemas.openxmlformats.org/officeDocument/2006/relationships/image" Target="../media/image9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8.png"/><Relationship Id="rId5" Type="http://schemas.openxmlformats.org/officeDocument/2006/relationships/image" Target="../media/image90.png"/><Relationship Id="rId6" Type="http://schemas.openxmlformats.org/officeDocument/2006/relationships/image" Target="../media/image93.png"/><Relationship Id="rId7" Type="http://schemas.openxmlformats.org/officeDocument/2006/relationships/image" Target="../media/image63.png"/><Relationship Id="rId8" Type="http://schemas.openxmlformats.org/officeDocument/2006/relationships/image" Target="../media/image9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7.png"/><Relationship Id="rId4" Type="http://schemas.openxmlformats.org/officeDocument/2006/relationships/image" Target="../media/image99.png"/><Relationship Id="rId9" Type="http://schemas.openxmlformats.org/officeDocument/2006/relationships/image" Target="../media/image108.png"/><Relationship Id="rId5" Type="http://schemas.openxmlformats.org/officeDocument/2006/relationships/image" Target="../media/image101.png"/><Relationship Id="rId6" Type="http://schemas.openxmlformats.org/officeDocument/2006/relationships/image" Target="../media/image100.png"/><Relationship Id="rId7" Type="http://schemas.openxmlformats.org/officeDocument/2006/relationships/image" Target="../media/image102.png"/><Relationship Id="rId8" Type="http://schemas.openxmlformats.org/officeDocument/2006/relationships/image" Target="../media/image107.png"/><Relationship Id="rId10" Type="http://schemas.openxmlformats.org/officeDocument/2006/relationships/image" Target="../media/image10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3.png"/><Relationship Id="rId4" Type="http://schemas.openxmlformats.org/officeDocument/2006/relationships/image" Target="../media/image121.png"/><Relationship Id="rId9" Type="http://schemas.openxmlformats.org/officeDocument/2006/relationships/image" Target="../media/image116.png"/><Relationship Id="rId5" Type="http://schemas.openxmlformats.org/officeDocument/2006/relationships/image" Target="../media/image113.png"/><Relationship Id="rId6" Type="http://schemas.openxmlformats.org/officeDocument/2006/relationships/image" Target="../media/image117.png"/><Relationship Id="rId7" Type="http://schemas.openxmlformats.org/officeDocument/2006/relationships/image" Target="../media/image105.png"/><Relationship Id="rId8" Type="http://schemas.openxmlformats.org/officeDocument/2006/relationships/image" Target="../media/image114.png"/><Relationship Id="rId11" Type="http://schemas.openxmlformats.org/officeDocument/2006/relationships/image" Target="../media/image104.png"/><Relationship Id="rId10" Type="http://schemas.openxmlformats.org/officeDocument/2006/relationships/image" Target="../media/image110.png"/><Relationship Id="rId12" Type="http://schemas.openxmlformats.org/officeDocument/2006/relationships/image" Target="../media/image10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5.png"/><Relationship Id="rId6" Type="http://schemas.openxmlformats.org/officeDocument/2006/relationships/image" Target="../media/image122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1.png"/><Relationship Id="rId4" Type="http://schemas.openxmlformats.org/officeDocument/2006/relationships/image" Target="../media/image118.png"/><Relationship Id="rId5" Type="http://schemas.openxmlformats.org/officeDocument/2006/relationships/image" Target="../media/image1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3.png"/><Relationship Id="rId4" Type="http://schemas.openxmlformats.org/officeDocument/2006/relationships/image" Target="../media/image121.png"/><Relationship Id="rId9" Type="http://schemas.openxmlformats.org/officeDocument/2006/relationships/image" Target="../media/image116.png"/><Relationship Id="rId5" Type="http://schemas.openxmlformats.org/officeDocument/2006/relationships/image" Target="../media/image113.png"/><Relationship Id="rId6" Type="http://schemas.openxmlformats.org/officeDocument/2006/relationships/image" Target="../media/image117.png"/><Relationship Id="rId7" Type="http://schemas.openxmlformats.org/officeDocument/2006/relationships/image" Target="../media/image105.png"/><Relationship Id="rId8" Type="http://schemas.openxmlformats.org/officeDocument/2006/relationships/image" Target="../media/image114.png"/><Relationship Id="rId11" Type="http://schemas.openxmlformats.org/officeDocument/2006/relationships/image" Target="../media/image104.png"/><Relationship Id="rId10" Type="http://schemas.openxmlformats.org/officeDocument/2006/relationships/image" Target="../media/image110.png"/><Relationship Id="rId12" Type="http://schemas.openxmlformats.org/officeDocument/2006/relationships/image" Target="../media/image10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9" Type="http://schemas.openxmlformats.org/officeDocument/2006/relationships/image" Target="../media/image123.png"/><Relationship Id="rId5" Type="http://schemas.openxmlformats.org/officeDocument/2006/relationships/image" Target="../media/image115.png"/><Relationship Id="rId6" Type="http://schemas.openxmlformats.org/officeDocument/2006/relationships/image" Target="../media/image122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11" Type="http://schemas.openxmlformats.org/officeDocument/2006/relationships/image" Target="../media/image127.png"/><Relationship Id="rId10" Type="http://schemas.openxmlformats.org/officeDocument/2006/relationships/image" Target="../media/image125.png"/><Relationship Id="rId13" Type="http://schemas.openxmlformats.org/officeDocument/2006/relationships/image" Target="../media/image128.png"/><Relationship Id="rId12" Type="http://schemas.openxmlformats.org/officeDocument/2006/relationships/image" Target="../media/image126.png"/><Relationship Id="rId14" Type="http://schemas.openxmlformats.org/officeDocument/2006/relationships/image" Target="../media/image1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118.png"/><Relationship Id="rId5" Type="http://schemas.openxmlformats.org/officeDocument/2006/relationships/image" Target="../media/image1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0.png"/><Relationship Id="rId4" Type="http://schemas.openxmlformats.org/officeDocument/2006/relationships/image" Target="../media/image139.png"/><Relationship Id="rId5" Type="http://schemas.openxmlformats.org/officeDocument/2006/relationships/image" Target="../media/image1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3.png"/><Relationship Id="rId4" Type="http://schemas.openxmlformats.org/officeDocument/2006/relationships/image" Target="../media/image132.png"/><Relationship Id="rId5" Type="http://schemas.openxmlformats.org/officeDocument/2006/relationships/image" Target="../media/image135.png"/><Relationship Id="rId6" Type="http://schemas.openxmlformats.org/officeDocument/2006/relationships/image" Target="../media/image137.png"/><Relationship Id="rId7" Type="http://schemas.openxmlformats.org/officeDocument/2006/relationships/image" Target="../media/image136.png"/><Relationship Id="rId8" Type="http://schemas.openxmlformats.org/officeDocument/2006/relationships/image" Target="../media/image1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2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5" Type="http://schemas.openxmlformats.org/officeDocument/2006/relationships/image" Target="../media/image141.png"/><Relationship Id="rId6" Type="http://schemas.openxmlformats.org/officeDocument/2006/relationships/image" Target="../media/image140.png"/><Relationship Id="rId7" Type="http://schemas.openxmlformats.org/officeDocument/2006/relationships/image" Target="../media/image142.png"/><Relationship Id="rId8" Type="http://schemas.openxmlformats.org/officeDocument/2006/relationships/image" Target="../media/image143.png"/><Relationship Id="rId11" Type="http://schemas.openxmlformats.org/officeDocument/2006/relationships/image" Target="../media/image148.png"/><Relationship Id="rId10" Type="http://schemas.openxmlformats.org/officeDocument/2006/relationships/image" Target="../media/image145.png"/><Relationship Id="rId13" Type="http://schemas.openxmlformats.org/officeDocument/2006/relationships/image" Target="../media/image147.png"/><Relationship Id="rId12" Type="http://schemas.openxmlformats.org/officeDocument/2006/relationships/image" Target="../media/image151.png"/><Relationship Id="rId15" Type="http://schemas.openxmlformats.org/officeDocument/2006/relationships/image" Target="../media/image155.png"/><Relationship Id="rId14" Type="http://schemas.openxmlformats.org/officeDocument/2006/relationships/image" Target="../media/image1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2.png"/><Relationship Id="rId4" Type="http://schemas.openxmlformats.org/officeDocument/2006/relationships/image" Target="../media/image149.png"/><Relationship Id="rId5" Type="http://schemas.openxmlformats.org/officeDocument/2006/relationships/image" Target="../media/image153.png"/><Relationship Id="rId6" Type="http://schemas.openxmlformats.org/officeDocument/2006/relationships/image" Target="../media/image159.png"/><Relationship Id="rId7" Type="http://schemas.openxmlformats.org/officeDocument/2006/relationships/image" Target="../media/image158.png"/><Relationship Id="rId8" Type="http://schemas.openxmlformats.org/officeDocument/2006/relationships/image" Target="../media/image6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4.png"/><Relationship Id="rId4" Type="http://schemas.openxmlformats.org/officeDocument/2006/relationships/image" Target="../media/image1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4.png"/><Relationship Id="rId4" Type="http://schemas.openxmlformats.org/officeDocument/2006/relationships/image" Target="../media/image150.png"/><Relationship Id="rId9" Type="http://schemas.openxmlformats.org/officeDocument/2006/relationships/image" Target="../media/image166.png"/><Relationship Id="rId5" Type="http://schemas.openxmlformats.org/officeDocument/2006/relationships/image" Target="../media/image157.png"/><Relationship Id="rId6" Type="http://schemas.openxmlformats.org/officeDocument/2006/relationships/image" Target="../media/image161.png"/><Relationship Id="rId7" Type="http://schemas.openxmlformats.org/officeDocument/2006/relationships/image" Target="../media/image163.png"/><Relationship Id="rId8" Type="http://schemas.openxmlformats.org/officeDocument/2006/relationships/image" Target="../media/image162.png"/><Relationship Id="rId10" Type="http://schemas.openxmlformats.org/officeDocument/2006/relationships/image" Target="../media/image16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4.png"/><Relationship Id="rId4" Type="http://schemas.openxmlformats.org/officeDocument/2006/relationships/image" Target="../media/image150.png"/><Relationship Id="rId5" Type="http://schemas.openxmlformats.org/officeDocument/2006/relationships/image" Target="../media/image166.png"/><Relationship Id="rId6" Type="http://schemas.openxmlformats.org/officeDocument/2006/relationships/image" Target="../media/image16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4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term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by investigating the common difference.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2222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chemeClr val="dk1"/>
                </a:solidFill>
              </a:rPr>
              <a:t> term of a sequence is the position of a term in a sequence 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chemeClr val="dk1"/>
                </a:solidFill>
              </a:rPr>
              <a:t> stands for the term number. For example, if </a:t>
            </a:r>
            <a:r>
              <a:rPr i="1"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r>
              <a:rPr lang="en-GB">
                <a:solidFill>
                  <a:schemeClr val="dk1"/>
                </a:solidFill>
              </a:rPr>
              <a:t> this means the </a:t>
            </a:r>
            <a:r>
              <a:rPr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chemeClr val="dk1"/>
                </a:solidFill>
              </a:rPr>
              <a:t> term in the sequence.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2898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Because the </a:t>
            </a:r>
            <a:r>
              <a:rPr i="1"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aseline="30000"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term can be used to calculate any term in a sequence it is also a formula for finding the </a:t>
            </a:r>
            <a:r>
              <a:rPr i="1"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aseline="30000"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term.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increasing sequences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decreasing sequences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and using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775" name="Google Shape;775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term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174509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increasing sequences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387" y="815800"/>
            <a:ext cx="71349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happens when you add 2 to 5?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600975" y="1349200"/>
            <a:ext cx="14406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5 + 2 = 7</a:t>
            </a:r>
            <a:endParaRPr sz="2600"/>
          </a:p>
        </p:txBody>
      </p:sp>
      <p:grpSp>
        <p:nvGrpSpPr>
          <p:cNvPr id="784" name="Google Shape;784;p69"/>
          <p:cNvGrpSpPr/>
          <p:nvPr/>
        </p:nvGrpSpPr>
        <p:grpSpPr>
          <a:xfrm>
            <a:off x="1600201" y="2725534"/>
            <a:ext cx="5777923" cy="736800"/>
            <a:chOff x="1905001" y="2573134"/>
            <a:chExt cx="5777923" cy="736800"/>
          </a:xfrm>
        </p:grpSpPr>
        <p:pic>
          <p:nvPicPr>
            <p:cNvPr id="785" name="Google Shape;785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5001" y="2573134"/>
              <a:ext cx="5553258" cy="7368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6" name="Google Shape;786;p69"/>
            <p:cNvCxnSpPr/>
            <p:nvPr/>
          </p:nvCxnSpPr>
          <p:spPr>
            <a:xfrm flipH="1" rot="10800000">
              <a:off x="7299824" y="2835300"/>
              <a:ext cx="383100" cy="6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787" name="Google Shape;787;p69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4028200" y="2150013"/>
            <a:ext cx="1353548" cy="75202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4549927" y="1924248"/>
            <a:ext cx="4758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accent4"/>
                </a:solidFill>
              </a:rPr>
              <a:t>+2</a:t>
            </a:r>
            <a:endParaRPr sz="2600">
              <a:solidFill>
                <a:schemeClr val="accent4"/>
              </a:solidFill>
            </a:endParaRPr>
          </a:p>
        </p:txBody>
      </p: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1677011" y="3745952"/>
            <a:ext cx="54795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From the position 5, a translation of 2 in the positive direction.</a:t>
            </a:r>
            <a:endParaRPr sz="2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increasing sequences</a:t>
            </a:r>
            <a:endParaRPr/>
          </a:p>
        </p:txBody>
      </p:sp>
      <p:sp>
        <p:nvSpPr>
          <p:cNvPr id="795" name="Google Shape;795;p70"/>
          <p:cNvSpPr txBox="1"/>
          <p:nvPr>
            <p:ph idx="1" type="body"/>
          </p:nvPr>
        </p:nvSpPr>
        <p:spPr>
          <a:xfrm>
            <a:off x="207225" y="810000"/>
            <a:ext cx="90942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r>
              <a:rPr lang="en-GB" sz="2000"/>
              <a:t>What is the same</a:t>
            </a:r>
            <a:r>
              <a:rPr lang="en-GB" sz="2000"/>
              <a:t> about the sequences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/>
              <a:t>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5n:\ 5,\ 10,\ 15,\ 20,\ 25,\ ...&quot;&gt;&lt;mn&gt;5&lt;/mn&gt;&lt;mi&gt;n&lt;/mi&gt;&lt;mo&gt;:&lt;/mo&gt;&lt;mtext&gt;&lt;/mtext&gt;&lt;mn&gt;5&lt;/mn&gt;&lt;mo&gt;,&lt;/mo&gt;&lt;mtext&gt;&lt;/mtext&gt;&lt;mn&gt;10&lt;/mn&gt;&lt;mo&gt;,&lt;/mo&gt;&lt;mtext&gt;&lt;/mtext&gt;&lt;mn&gt;15&lt;/mn&gt;&lt;mo&gt;,&lt;/mo&gt;&lt;mtext&gt;&lt;/mtext&gt;&lt;mn&gt;20&lt;/mn&gt;&lt;mo&gt;,&lt;/mo&gt;&lt;mtext&gt;&lt;/mtext&gt;&lt;mn&gt;25&lt;/mn&gt;&lt;mo&gt;,&lt;/mo&gt;&lt;mtext&gt;&lt;/mtext&gt;&lt;mo&gt;.&lt;/mo&gt;&lt;mo&gt;.&lt;/mo&gt;&lt;mo&gt;.&lt;/mo&gt;&lt;/math&gt;" id="796" name="Google Shape;796;p70" title="5 n colon 5 comma 10 comma 15 comma 20 comma 25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104" y="1272751"/>
            <a:ext cx="4801363" cy="37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+2:\ 7,\ 12,\ 17,\ 22,\ 27,\ ...&quot;&gt;&lt;mn&gt;5&lt;/mn&gt;&lt;mi&gt;n&lt;/mi&gt;&lt;mo&gt;+&lt;/mo&gt;&lt;mn&gt;2&lt;/mn&gt;&lt;mo&gt;:&lt;/mo&gt;&lt;mtext&gt;&lt;/mtext&gt;&lt;mn&gt;7&lt;/mn&gt;&lt;mo&gt;,&lt;/mo&gt;&lt;mtext&gt;&lt;/mtext&gt;&lt;mn&gt;12&lt;/mn&gt;&lt;mo&gt;,&lt;/mo&gt;&lt;mtext&gt;&lt;/mtext&gt;&lt;mn&gt;17&lt;/mn&gt;&lt;mo&gt;,&lt;/mo&gt;&lt;mtext&gt;&lt;/mtext&gt;&lt;mn&gt;22&lt;/mn&gt;&lt;mo&gt;,&lt;/mo&gt;&lt;mtext&gt;&lt;/mtext&gt;&lt;mn&gt;27&lt;/mn&gt;&lt;mo&gt;,&lt;/mo&gt;&lt;mtext&gt;&lt;/mtext&gt;&lt;mo&gt;.&lt;/mo&gt;&lt;mo&gt;.&lt;/mo&gt;&lt;mo&gt;.&lt;/mo&gt;&lt;/math&gt;" id="797" name="Google Shape;797;p70" title="5 n plus 2 colon 7 comma 12 comma 17 comma 22 comma 27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461" y="2329876"/>
            <a:ext cx="5544017" cy="3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>
            <p:ph idx="1" type="body"/>
          </p:nvPr>
        </p:nvSpPr>
        <p:spPr>
          <a:xfrm>
            <a:off x="570600" y="2876354"/>
            <a:ext cx="11670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Same: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1942200" y="2876354"/>
            <a:ext cx="71352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Both have a common difference of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0" name="Google Shape;800;p70"/>
          <p:cNvSpPr txBox="1"/>
          <p:nvPr/>
        </p:nvSpPr>
        <p:spPr>
          <a:xfrm>
            <a:off x="491775" y="3634425"/>
            <a:ext cx="901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by term, what is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difference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between the sequences?</a:t>
            </a:r>
            <a:endParaRPr/>
          </a:p>
        </p:txBody>
      </p:sp>
      <p:cxnSp>
        <p:nvCxnSpPr>
          <p:cNvPr id="801" name="Google Shape;801;p70"/>
          <p:cNvCxnSpPr/>
          <p:nvPr/>
        </p:nvCxnSpPr>
        <p:spPr>
          <a:xfrm>
            <a:off x="2323475" y="1653310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2375259" y="1707973"/>
            <a:ext cx="3789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+2</a:t>
            </a:r>
            <a:endParaRPr sz="2000">
              <a:solidFill>
                <a:schemeClr val="accent4"/>
              </a:solidFill>
            </a:endParaRPr>
          </a:p>
        </p:txBody>
      </p:sp>
      <p:cxnSp>
        <p:nvCxnSpPr>
          <p:cNvPr id="803" name="Google Shape;803;p70"/>
          <p:cNvCxnSpPr/>
          <p:nvPr/>
        </p:nvCxnSpPr>
        <p:spPr>
          <a:xfrm>
            <a:off x="2967627" y="1653310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033721" y="1707973"/>
            <a:ext cx="3789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+2</a:t>
            </a:r>
            <a:endParaRPr sz="2000">
              <a:solidFill>
                <a:schemeClr val="accent4"/>
              </a:solidFill>
            </a:endParaRPr>
          </a:p>
        </p:txBody>
      </p:sp>
      <p:cxnSp>
        <p:nvCxnSpPr>
          <p:cNvPr id="805" name="Google Shape;805;p70"/>
          <p:cNvCxnSpPr/>
          <p:nvPr/>
        </p:nvCxnSpPr>
        <p:spPr>
          <a:xfrm>
            <a:off x="3729627" y="1653310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3795721" y="1700818"/>
            <a:ext cx="3789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+2</a:t>
            </a:r>
            <a:endParaRPr sz="2000">
              <a:solidFill>
                <a:schemeClr val="accent4"/>
              </a:solidFill>
            </a:endParaRPr>
          </a:p>
        </p:txBody>
      </p:sp>
      <p:cxnSp>
        <p:nvCxnSpPr>
          <p:cNvPr id="807" name="Google Shape;807;p70"/>
          <p:cNvCxnSpPr/>
          <p:nvPr/>
        </p:nvCxnSpPr>
        <p:spPr>
          <a:xfrm>
            <a:off x="4415427" y="1653310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4474366" y="1700818"/>
            <a:ext cx="3789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+2</a:t>
            </a:r>
            <a:endParaRPr sz="2000">
              <a:solidFill>
                <a:schemeClr val="accent4"/>
              </a:solidFill>
            </a:endParaRPr>
          </a:p>
        </p:txBody>
      </p:sp>
      <p:cxnSp>
        <p:nvCxnSpPr>
          <p:cNvPr id="809" name="Google Shape;809;p70"/>
          <p:cNvCxnSpPr/>
          <p:nvPr/>
        </p:nvCxnSpPr>
        <p:spPr>
          <a:xfrm>
            <a:off x="5177427" y="1653310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5243521" y="1715127"/>
            <a:ext cx="3789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+2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11" name="Google Shape;811;p70"/>
          <p:cNvSpPr txBox="1"/>
          <p:nvPr/>
        </p:nvSpPr>
        <p:spPr>
          <a:xfrm>
            <a:off x="491763" y="4297200"/>
            <a:ext cx="68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difference of 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between each term.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id="817" name="Google Shape;81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2092118"/>
            <a:ext cx="7369137" cy="577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:\ 5,\ 10,\ 15,\ 20,\ 25,\ ...&quot;&gt;&lt;mn&gt;5&lt;/mn&gt;&lt;mi&gt;n&lt;/mi&gt;&lt;mo&gt;:&lt;/mo&gt;&lt;mtext&gt;&lt;/mtext&gt;&lt;mn&gt;5&lt;/mn&gt;&lt;mo&gt;,&lt;/mo&gt;&lt;mtext&gt;&lt;/mtext&gt;&lt;mn&gt;10&lt;/mn&gt;&lt;mo&gt;,&lt;/mo&gt;&lt;mtext&gt;&lt;/mtext&gt;&lt;mn&gt;15&lt;/mn&gt;&lt;mo&gt;,&lt;/mo&gt;&lt;mtext&gt;&lt;/mtext&gt;&lt;mn&gt;20&lt;/mn&gt;&lt;mo&gt;,&lt;/mo&gt;&lt;mtext&gt;&lt;/mtext&gt;&lt;mn&gt;25&lt;/mn&gt;&lt;mo&gt;,&lt;/mo&gt;&lt;mtext&gt;&lt;/mtext&gt;&lt;mo&gt;.&lt;/mo&gt;&lt;mo&gt;.&lt;/mo&gt;&lt;mo&gt;.&lt;/mo&gt;&lt;/math&gt;" id="818" name="Google Shape;818;p71" title="5 n colon 5 comma 10 comma 15 comma 20 comma 25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02" y="1398677"/>
            <a:ext cx="3464423" cy="270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+2:\ 7,12,17,22,27,\ ...&quot;&gt;&lt;mn&gt;5&lt;/mn&gt;&lt;mi&gt;n&lt;/mi&gt;&lt;mo&gt;+&lt;/mo&gt;&lt;mn&gt;2&lt;/mn&gt;&lt;mo&gt;:&lt;/mo&gt;&lt;mtext&gt;&lt;/mtext&gt;&lt;mn&gt;7&lt;/mn&gt;&lt;mo&gt;,&lt;/mo&gt;&lt;mn&gt;12&lt;/mn&gt;&lt;mo&gt;,&lt;/mo&gt;&lt;mn&gt;17&lt;/mn&gt;&lt;mo&gt;,&lt;/mo&gt;&lt;mn&gt;22&lt;/mn&gt;&lt;mo&gt;,&lt;/mo&gt;&lt;mn&gt;27&lt;/mn&gt;&lt;mo&gt;,&lt;/mo&gt;&lt;mtext&gt;&lt;/mtext&gt;&lt;mo&gt;.&lt;/mo&gt;&lt;mo&gt;.&lt;/mo&gt;&lt;mo&gt;.&lt;/mo&gt;&lt;/math&gt;" id="819" name="Google Shape;819;p71" title="5 n plus 2 colon 7 comma 12 comma 17 comma 22 comma 27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174" y="2948430"/>
            <a:ext cx="3683841" cy="27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1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>
            <a:off x="2053446" y="1617775"/>
            <a:ext cx="2303532" cy="7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>
            <a:off x="3730203" y="1617775"/>
            <a:ext cx="2303532" cy="7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>
            <a:off x="5418213" y="1617775"/>
            <a:ext cx="2303532" cy="7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3655464"/>
            <a:ext cx="7369137" cy="577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71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>
            <a:off x="2728650" y="3179956"/>
            <a:ext cx="2303532" cy="7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1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>
            <a:off x="4405407" y="3179956"/>
            <a:ext cx="2303532" cy="7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1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>
            <a:off x="6093416" y="3179956"/>
            <a:ext cx="2303532" cy="75324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404775" y="4459650"/>
            <a:ext cx="8014500" cy="3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 </a:t>
            </a:r>
            <a:r>
              <a:rPr lang="en-GB"/>
              <a:t>i</a:t>
            </a:r>
            <a:r>
              <a:rPr lang="en-GB"/>
              <a:t>s a translation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/>
              <a:t>in the positive direction.</a:t>
            </a:r>
            <a:endParaRPr/>
          </a:p>
        </p:txBody>
      </p:sp>
      <p:sp>
        <p:nvSpPr>
          <p:cNvPr id="828" name="Google Shape;828;p71"/>
          <p:cNvSpPr txBox="1"/>
          <p:nvPr>
            <p:ph idx="1" type="body"/>
          </p:nvPr>
        </p:nvSpPr>
        <p:spPr>
          <a:xfrm>
            <a:off x="300478" y="811620"/>
            <a:ext cx="71352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Why</a:t>
            </a:r>
            <a:r>
              <a:rPr lang="en-GB" sz="2000"/>
              <a:t> is there a difference of 2 between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/>
              <a:t>?</a:t>
            </a:r>
            <a:endParaRPr sz="2000"/>
          </a:p>
        </p:txBody>
      </p:sp>
      <p:cxnSp>
        <p:nvCxnSpPr>
          <p:cNvPr id="829" name="Google Shape;829;p71"/>
          <p:cNvCxnSpPr/>
          <p:nvPr/>
        </p:nvCxnSpPr>
        <p:spPr>
          <a:xfrm>
            <a:off x="2404387" y="3787151"/>
            <a:ext cx="710700" cy="3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" name="Google Shape;830;p71"/>
          <p:cNvSpPr txBox="1"/>
          <p:nvPr>
            <p:ph idx="1" type="body"/>
          </p:nvPr>
        </p:nvSpPr>
        <p:spPr>
          <a:xfrm>
            <a:off x="2556322" y="3421052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31" name="Google Shape;831;p71"/>
          <p:cNvSpPr/>
          <p:nvPr/>
        </p:nvSpPr>
        <p:spPr>
          <a:xfrm>
            <a:off x="2486504" y="3385651"/>
            <a:ext cx="385800" cy="358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4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1"/>
          <p:cNvSpPr/>
          <p:nvPr/>
        </p:nvSpPr>
        <p:spPr>
          <a:xfrm>
            <a:off x="740425" y="4403075"/>
            <a:ext cx="483900" cy="459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4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/>
          <p:nvPr/>
        </p:nvSpPr>
        <p:spPr>
          <a:xfrm>
            <a:off x="4436425" y="4487900"/>
            <a:ext cx="244500" cy="332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4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n:\ 3,6,9,12,15,\ ...&quot;&gt;&lt;mn&gt;3&lt;/mn&gt;&lt;mi&gt;n&lt;/mi&gt;&lt;mo&gt;:&lt;/mo&gt;&lt;mtext&gt;&lt;/mtext&gt;&lt;mn&gt;3&lt;/mn&gt;&lt;mo&gt;,&lt;/mo&gt;&lt;mn&gt;6&lt;/mn&gt;&lt;mo&gt;,&lt;/mo&gt;&lt;mn&gt;9&lt;/mn&gt;&lt;mo&gt;,&lt;/mo&gt;&lt;mn&gt;12&lt;/mn&gt;&lt;mo&gt;,&lt;/mo&gt;&lt;mn&gt;15&lt;/mn&gt;&lt;mo&gt;,&lt;/mo&gt;&lt;mtext&gt;&lt;/mtext&gt;&lt;mo&gt;.&lt;/mo&gt;&lt;mo&gt;.&lt;/mo&gt;&lt;mo&gt;.&lt;/mo&gt;&lt;/math&gt;" id="838" name="Google Shape;838;p72" title="3 n colon 3 comma 6 comma 9 comma 12 comma 15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10" y="1607949"/>
            <a:ext cx="2401358" cy="230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1:\ 4,7,10,13,16,\ ...&quot;&gt;&lt;mn&gt;3&lt;/mn&gt;&lt;mi&gt;n&lt;/mi&gt;&lt;mo&gt;+&lt;/mo&gt;&lt;mn&gt;1&lt;/mn&gt;&lt;mo&gt;:&lt;/mo&gt;&lt;mtext&gt;&lt;/mtext&gt;&lt;mn&gt;4&lt;/mn&gt;&lt;mo&gt;,&lt;/mo&gt;&lt;mn&gt;7&lt;/mn&gt;&lt;mo&gt;,&lt;/mo&gt;&lt;mn&gt;10&lt;/mn&gt;&lt;mo&gt;,&lt;/mo&gt;&lt;mn&gt;13&lt;/mn&gt;&lt;mo&gt;,&lt;/mo&gt;&lt;mn&gt;16&lt;/mn&gt;&lt;mo&gt;,&lt;/mo&gt;&lt;mtext&gt;&lt;/mtext&gt;&lt;mo&gt;.&lt;/mo&gt;&lt;mo&gt;.&lt;/mo&gt;&lt;mo&gt;.&lt;/mo&gt;&lt;/math&gt;" id="839" name="Google Shape;839;p72" title="3 n plus 1 colon 4 comma 7 comma 10 comma 13 comma 16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610" y="2489989"/>
            <a:ext cx="2991927" cy="230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:\ 5,8,11,14,17,\ ...&quot;&gt;&lt;mn&gt;3&lt;/mn&gt;&lt;mi&gt;n&lt;/mi&gt;&lt;mo&gt;+&lt;/mo&gt;&lt;mn&gt;2&lt;/mn&gt;&lt;mo&gt;:&lt;/mo&gt;&lt;mtext&gt;&lt;/mtext&gt;&lt;mn&gt;5&lt;/mn&gt;&lt;mo&gt;,&lt;/mo&gt;&lt;mn&gt;8&lt;/mn&gt;&lt;mo&gt;,&lt;/mo&gt;&lt;mn&gt;11&lt;/mn&gt;&lt;mo&gt;,&lt;/mo&gt;&lt;mn&gt;14&lt;/mn&gt;&lt;mo&gt;,&lt;/mo&gt;&lt;mn&gt;17&lt;/mn&gt;&lt;mo&gt;,&lt;/mo&gt;&lt;mtext&gt;&lt;/mtext&gt;&lt;mo&gt;.&lt;/mo&gt;&lt;mo&gt;.&lt;/mo&gt;&lt;mo&gt;.&lt;/mo&gt;&lt;/math&gt;" id="840" name="Google Shape;840;p72" title="3 n plus 2 colon 5 comma 8 comma 11 comma 14 comma 17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610" y="3372030"/>
            <a:ext cx="2991927" cy="230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3:\ 6,9,12,15,18,\ ...&quot;&gt;&lt;mn&gt;3&lt;/mn&gt;&lt;mi&gt;n&lt;/mi&gt;&lt;mo&gt;+&lt;/mo&gt;&lt;mn&gt;3&lt;/mn&gt;&lt;mo&gt;:&lt;/mo&gt;&lt;mtext&gt;&lt;/mtext&gt;&lt;mn&gt;6&lt;/mn&gt;&lt;mo&gt;,&lt;/mo&gt;&lt;mn&gt;9&lt;/mn&gt;&lt;mo&gt;,&lt;/mo&gt;&lt;mn&gt;12&lt;/mn&gt;&lt;mo&gt;,&lt;/mo&gt;&lt;mn&gt;15&lt;/mn&gt;&lt;mo&gt;,&lt;/mo&gt;&lt;mn&gt;18&lt;/mn&gt;&lt;mo&gt;,&lt;/mo&gt;&lt;mtext&gt;&lt;/mtext&gt;&lt;mo&gt;.&lt;/mo&gt;&lt;mo&gt;.&lt;/mo&gt;&lt;mo&gt;.&lt;/mo&gt;&lt;/math&gt;" id="841" name="Google Shape;841;p72" title="3 n plus 3 colon 6 comma 9 comma 12 comma 15 comma 18 comma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610" y="4254070"/>
            <a:ext cx="2748893" cy="212376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id="843" name="Google Shape;843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4450" y="1751409"/>
            <a:ext cx="4500751" cy="3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4450" y="2611538"/>
            <a:ext cx="4500751" cy="3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4450" y="3471667"/>
            <a:ext cx="4500751" cy="3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4450" y="4331797"/>
            <a:ext cx="4500751" cy="341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7" name="Google Shape;847;p72"/>
          <p:cNvGrpSpPr/>
          <p:nvPr/>
        </p:nvGrpSpPr>
        <p:grpSpPr>
          <a:xfrm>
            <a:off x="4768075" y="1460750"/>
            <a:ext cx="3580599" cy="410199"/>
            <a:chOff x="4768075" y="1460750"/>
            <a:chExt cx="3580599" cy="410199"/>
          </a:xfrm>
        </p:grpSpPr>
        <p:pic>
          <p:nvPicPr>
            <p:cNvPr id="848" name="Google Shape;848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476807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558722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6411138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1" name="Google Shape;851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7235050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2" name="Google Shape;852;p72"/>
          <p:cNvGrpSpPr/>
          <p:nvPr/>
        </p:nvGrpSpPr>
        <p:grpSpPr>
          <a:xfrm>
            <a:off x="5039538" y="2327525"/>
            <a:ext cx="3580599" cy="410199"/>
            <a:chOff x="4768075" y="1460750"/>
            <a:chExt cx="3580599" cy="410199"/>
          </a:xfrm>
        </p:grpSpPr>
        <p:pic>
          <p:nvPicPr>
            <p:cNvPr id="853" name="Google Shape;853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476807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" name="Google Shape;854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558722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5" name="Google Shape;855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6411138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6" name="Google Shape;856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7235050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7" name="Google Shape;857;p72"/>
          <p:cNvGrpSpPr/>
          <p:nvPr/>
        </p:nvGrpSpPr>
        <p:grpSpPr>
          <a:xfrm>
            <a:off x="5311000" y="3184775"/>
            <a:ext cx="3580599" cy="410199"/>
            <a:chOff x="4768075" y="1460750"/>
            <a:chExt cx="3580599" cy="410199"/>
          </a:xfrm>
        </p:grpSpPr>
        <p:pic>
          <p:nvPicPr>
            <p:cNvPr id="858" name="Google Shape;858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476807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9" name="Google Shape;859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558722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0" name="Google Shape;860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6411138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1" name="Google Shape;861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7235050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2" name="Google Shape;862;p72"/>
          <p:cNvGrpSpPr/>
          <p:nvPr/>
        </p:nvGrpSpPr>
        <p:grpSpPr>
          <a:xfrm>
            <a:off x="5591988" y="4046788"/>
            <a:ext cx="3580599" cy="410199"/>
            <a:chOff x="4768075" y="1460750"/>
            <a:chExt cx="3580599" cy="410199"/>
          </a:xfrm>
        </p:grpSpPr>
        <p:pic>
          <p:nvPicPr>
            <p:cNvPr id="863" name="Google Shape;863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476807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4" name="Google Shape;864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5587225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5" name="Google Shape;865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6411138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6" name="Google Shape;866;p72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7235050" y="1460750"/>
              <a:ext cx="1113624" cy="410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7" name="Google Shape;867;p72"/>
          <p:cNvSpPr/>
          <p:nvPr/>
        </p:nvSpPr>
        <p:spPr>
          <a:xfrm>
            <a:off x="8747840" y="4083987"/>
            <a:ext cx="383100" cy="3747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2"/>
          <p:cNvSpPr txBox="1"/>
          <p:nvPr>
            <p:ph idx="1" type="body"/>
          </p:nvPr>
        </p:nvSpPr>
        <p:spPr>
          <a:xfrm>
            <a:off x="334400" y="2110064"/>
            <a:ext cx="54399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3n by 1 in the positive direction.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2"/>
          <p:cNvSpPr txBox="1"/>
          <p:nvPr>
            <p:ph idx="1" type="body"/>
          </p:nvPr>
        </p:nvSpPr>
        <p:spPr>
          <a:xfrm>
            <a:off x="334400" y="3024464"/>
            <a:ext cx="54399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3n by 2 in the positive direction.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0" name="Google Shape;870;p72"/>
          <p:cNvSpPr txBox="1"/>
          <p:nvPr>
            <p:ph idx="1" type="body"/>
          </p:nvPr>
        </p:nvSpPr>
        <p:spPr>
          <a:xfrm>
            <a:off x="334400" y="3907628"/>
            <a:ext cx="54399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3n by 3 in the positive direction.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71" name="Google Shape;871;p72"/>
          <p:cNvCxnSpPr/>
          <p:nvPr/>
        </p:nvCxnSpPr>
        <p:spPr>
          <a:xfrm>
            <a:off x="4948238" y="2629850"/>
            <a:ext cx="2523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72"/>
          <p:cNvCxnSpPr/>
          <p:nvPr/>
        </p:nvCxnSpPr>
        <p:spPr>
          <a:xfrm flipH="1" rot="10800000">
            <a:off x="4951100" y="3491825"/>
            <a:ext cx="516000" cy="48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3" name="Google Shape;873;p72"/>
          <p:cNvCxnSpPr/>
          <p:nvPr/>
        </p:nvCxnSpPr>
        <p:spPr>
          <a:xfrm>
            <a:off x="4951100" y="4349125"/>
            <a:ext cx="8112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4" name="Google Shape;874;p72"/>
          <p:cNvSpPr/>
          <p:nvPr/>
        </p:nvSpPr>
        <p:spPr>
          <a:xfrm>
            <a:off x="631653" y="2418500"/>
            <a:ext cx="444600" cy="374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2"/>
          <p:cNvSpPr/>
          <p:nvPr/>
        </p:nvSpPr>
        <p:spPr>
          <a:xfrm>
            <a:off x="629854" y="3298350"/>
            <a:ext cx="444600" cy="374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2"/>
          <p:cNvSpPr/>
          <p:nvPr/>
        </p:nvSpPr>
        <p:spPr>
          <a:xfrm>
            <a:off x="590862" y="4178199"/>
            <a:ext cx="444600" cy="374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2"/>
          <p:cNvSpPr txBox="1"/>
          <p:nvPr>
            <p:ph idx="1" type="body"/>
          </p:nvPr>
        </p:nvSpPr>
        <p:spPr>
          <a:xfrm>
            <a:off x="324000" y="759300"/>
            <a:ext cx="7135200" cy="3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each sequence describe the </a:t>
            </a:r>
            <a:r>
              <a:rPr lang="en-GB" sz="2000">
                <a:solidFill>
                  <a:schemeClr val="accent4"/>
                </a:solidFill>
              </a:rPr>
              <a:t>translation</a:t>
            </a:r>
            <a:r>
              <a:rPr lang="en-GB" sz="2000"/>
              <a:t> from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334400" y="1271875"/>
            <a:ext cx="44895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ranslation from 3n or 3n + 0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75" y="4314369"/>
            <a:ext cx="7369125" cy="5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3"/>
          <p:cNvSpPr txBox="1"/>
          <p:nvPr>
            <p:ph idx="1" type="body"/>
          </p:nvPr>
        </p:nvSpPr>
        <p:spPr>
          <a:xfrm>
            <a:off x="324000" y="759300"/>
            <a:ext cx="71352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 of the given </a:t>
            </a:r>
            <a:r>
              <a:rPr lang="en-GB" sz="2000">
                <a:solidFill>
                  <a:schemeClr val="accent4"/>
                </a:solidFill>
              </a:rPr>
              <a:t>arithmetic </a:t>
            </a:r>
            <a:r>
              <a:rPr lang="en-GB" sz="2000"/>
              <a:t>sequence.</a:t>
            </a:r>
            <a:endParaRPr sz="2000"/>
          </a:p>
        </p:txBody>
      </p:sp>
      <p:sp>
        <p:nvSpPr>
          <p:cNvPr id="885" name="Google Shape;88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n+1:\ 5,9,13,17,21,\ ...&quot;&gt;&lt;mn&gt;4&lt;/mn&gt;&lt;mi&gt;n&lt;/mi&gt;&lt;mo&gt;+&lt;/mo&gt;&lt;mn&gt;1&lt;/mn&gt;&lt;mo&gt;:&lt;/mo&gt;&lt;mtext&gt;&lt;/mtext&gt;&lt;mn&gt;5&lt;/mn&gt;&lt;mo&gt;,&lt;/mo&gt;&lt;mn&gt;9&lt;/mn&gt;&lt;mo&gt;,&lt;/mo&gt;&lt;mn&gt;13&lt;/mn&gt;&lt;mo&gt;,&lt;/mo&gt;&lt;mn&gt;17&lt;/mn&gt;&lt;mo&gt;,&lt;/mo&gt;&lt;mn&gt;21&lt;/mn&gt;&lt;mo&gt;,&lt;/mo&gt;&lt;mtext&gt;&lt;/mtext&gt;&lt;mo&gt;.&lt;/mo&gt;&lt;mo&gt;.&lt;/mo&gt;&lt;mo&gt;.&lt;/mo&gt;&lt;/math&gt;" id="886" name="Google Shape;886;p73" title="4 n plus 1 colon 5 comma 9 comma 13 comma 17 comma 21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825" y="1249411"/>
            <a:ext cx="3663485" cy="2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2348425" y="4015469"/>
            <a:ext cx="1822640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3689112" y="4015469"/>
            <a:ext cx="1822640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5037594" y="4015469"/>
            <a:ext cx="1822640" cy="538098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324000" y="1704936"/>
            <a:ext cx="27288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need two things:</a:t>
            </a:r>
            <a:endParaRPr sz="2000"/>
          </a:p>
        </p:txBody>
      </p:sp>
      <p:sp>
        <p:nvSpPr>
          <p:cNvPr id="891" name="Google Shape;891;p73"/>
          <p:cNvSpPr txBox="1"/>
          <p:nvPr>
            <p:ph idx="1" type="body"/>
          </p:nvPr>
        </p:nvSpPr>
        <p:spPr>
          <a:xfrm>
            <a:off x="781200" y="2099664"/>
            <a:ext cx="36636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common difference</a:t>
            </a:r>
            <a:endParaRPr sz="2000"/>
          </a:p>
        </p:txBody>
      </p:sp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781200" y="2563950"/>
            <a:ext cx="19065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translation</a:t>
            </a:r>
            <a:endParaRPr sz="2000"/>
          </a:p>
        </p:txBody>
      </p:sp>
      <p:grpSp>
        <p:nvGrpSpPr>
          <p:cNvPr id="893" name="Google Shape;893;p73"/>
          <p:cNvGrpSpPr/>
          <p:nvPr/>
        </p:nvGrpSpPr>
        <p:grpSpPr>
          <a:xfrm>
            <a:off x="2512617" y="1179075"/>
            <a:ext cx="343798" cy="452100"/>
            <a:chOff x="2490601" y="1255268"/>
            <a:chExt cx="482388" cy="452100"/>
          </a:xfrm>
        </p:grpSpPr>
        <p:sp>
          <p:nvSpPr>
            <p:cNvPr id="894" name="Google Shape;894;p73"/>
            <p:cNvSpPr/>
            <p:nvPr/>
          </p:nvSpPr>
          <p:spPr>
            <a:xfrm>
              <a:off x="2490601" y="1255268"/>
              <a:ext cx="462600" cy="45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95" name="Google Shape;895;p73"/>
            <p:cNvCxnSpPr/>
            <p:nvPr/>
          </p:nvCxnSpPr>
          <p:spPr>
            <a:xfrm>
              <a:off x="2549089" y="1641024"/>
              <a:ext cx="423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96" name="Google Shape;896;p73"/>
          <p:cNvGrpSpPr/>
          <p:nvPr/>
        </p:nvGrpSpPr>
        <p:grpSpPr>
          <a:xfrm>
            <a:off x="3313017" y="1179075"/>
            <a:ext cx="343688" cy="452100"/>
            <a:chOff x="2506376" y="1255263"/>
            <a:chExt cx="540900" cy="452100"/>
          </a:xfrm>
        </p:grpSpPr>
        <p:sp>
          <p:nvSpPr>
            <p:cNvPr id="897" name="Google Shape;897;p73"/>
            <p:cNvSpPr/>
            <p:nvPr/>
          </p:nvSpPr>
          <p:spPr>
            <a:xfrm>
              <a:off x="2506376" y="1255263"/>
              <a:ext cx="540900" cy="45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98" name="Google Shape;898;p73"/>
            <p:cNvCxnSpPr/>
            <p:nvPr/>
          </p:nvCxnSpPr>
          <p:spPr>
            <a:xfrm>
              <a:off x="2549089" y="1641024"/>
              <a:ext cx="423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899" name="Google Shape;899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6377960" y="4015469"/>
            <a:ext cx="1822640" cy="538098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3"/>
          <p:cNvSpPr txBox="1"/>
          <p:nvPr>
            <p:ph idx="1" type="body"/>
          </p:nvPr>
        </p:nvSpPr>
        <p:spPr>
          <a:xfrm>
            <a:off x="3917663" y="2078841"/>
            <a:ext cx="5394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+4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01" name="Google Shape;901;p73"/>
          <p:cNvSpPr txBox="1"/>
          <p:nvPr>
            <p:ph idx="1" type="body"/>
          </p:nvPr>
        </p:nvSpPr>
        <p:spPr>
          <a:xfrm>
            <a:off x="3141947" y="3867027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+4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02" name="Google Shape;902;p73"/>
          <p:cNvSpPr txBox="1"/>
          <p:nvPr>
            <p:ph idx="1" type="body"/>
          </p:nvPr>
        </p:nvSpPr>
        <p:spPr>
          <a:xfrm>
            <a:off x="4437347" y="3867027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+4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03" name="Google Shape;903;p73"/>
          <p:cNvSpPr txBox="1"/>
          <p:nvPr>
            <p:ph idx="1" type="body"/>
          </p:nvPr>
        </p:nvSpPr>
        <p:spPr>
          <a:xfrm>
            <a:off x="5808947" y="3867027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+4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04" name="Google Shape;904;p73"/>
          <p:cNvSpPr txBox="1"/>
          <p:nvPr>
            <p:ph idx="1" type="body"/>
          </p:nvPr>
        </p:nvSpPr>
        <p:spPr>
          <a:xfrm>
            <a:off x="7104347" y="3867027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+4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05" name="Google Shape;905;p73"/>
          <p:cNvSpPr txBox="1"/>
          <p:nvPr/>
        </p:nvSpPr>
        <p:spPr>
          <a:xfrm>
            <a:off x="1674127" y="1152890"/>
            <a:ext cx="2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06" name="Google Shape;90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75" y="3210440"/>
            <a:ext cx="7369125" cy="5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2022801" y="2911540"/>
            <a:ext cx="1822640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3363488" y="2911540"/>
            <a:ext cx="1822640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4711970" y="2911540"/>
            <a:ext cx="1822640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73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6052337" y="2911540"/>
            <a:ext cx="1822640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&quot;&gt;&lt;mn&gt;4&lt;/mn&gt;&lt;mi&gt;n&lt;/mi&gt;&lt;/math&gt;" id="911" name="Google Shape;911;p73" title="4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6419" y="3063912"/>
            <a:ext cx="323681" cy="23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73"/>
          <p:cNvCxnSpPr/>
          <p:nvPr/>
        </p:nvCxnSpPr>
        <p:spPr>
          <a:xfrm>
            <a:off x="2308863" y="4413171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3" name="Google Shape;913;p73"/>
          <p:cNvSpPr txBox="1"/>
          <p:nvPr>
            <p:ph idx="1" type="body"/>
          </p:nvPr>
        </p:nvSpPr>
        <p:spPr>
          <a:xfrm>
            <a:off x="2303747" y="4075692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4n+1&quot;&gt;&lt;mn&gt;4&lt;/mn&gt;&lt;mi&gt;n&lt;/mi&gt;&lt;mo&gt;+&lt;/mo&gt;&lt;mn&gt;1&lt;/mn&gt;&lt;/math&gt;" id="914" name="Google Shape;914;p73" title="4 n plus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453" y="4037961"/>
            <a:ext cx="792661" cy="23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5" name="Google Shape;915;p73"/>
          <p:cNvGrpSpPr/>
          <p:nvPr/>
        </p:nvGrpSpPr>
        <p:grpSpPr>
          <a:xfrm>
            <a:off x="1481713" y="3934841"/>
            <a:ext cx="343688" cy="452100"/>
            <a:chOff x="2506376" y="1255263"/>
            <a:chExt cx="540900" cy="452100"/>
          </a:xfrm>
        </p:grpSpPr>
        <p:sp>
          <p:nvSpPr>
            <p:cNvPr id="916" name="Google Shape;916;p73"/>
            <p:cNvSpPr/>
            <p:nvPr/>
          </p:nvSpPr>
          <p:spPr>
            <a:xfrm>
              <a:off x="2506376" y="1255263"/>
              <a:ext cx="540900" cy="45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17" name="Google Shape;917;p73"/>
            <p:cNvCxnSpPr/>
            <p:nvPr/>
          </p:nvCxnSpPr>
          <p:spPr>
            <a:xfrm>
              <a:off x="2549089" y="1641024"/>
              <a:ext cx="423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8" name="Google Shape;918;p73"/>
          <p:cNvSpPr txBox="1"/>
          <p:nvPr/>
        </p:nvSpPr>
        <p:spPr>
          <a:xfrm>
            <a:off x="3222588" y="1941584"/>
            <a:ext cx="2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73"/>
          <p:cNvSpPr txBox="1"/>
          <p:nvPr>
            <p:ph idx="1" type="body"/>
          </p:nvPr>
        </p:nvSpPr>
        <p:spPr>
          <a:xfrm>
            <a:off x="2762222" y="2571742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4"/>
          <p:cNvSpPr txBox="1"/>
          <p:nvPr>
            <p:ph idx="1" type="subTitle"/>
          </p:nvPr>
        </p:nvSpPr>
        <p:spPr>
          <a:xfrm>
            <a:off x="337825" y="686900"/>
            <a:ext cx="43584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without a number line.</a:t>
            </a:r>
            <a:endParaRPr/>
          </a:p>
        </p:txBody>
      </p:sp>
      <p:sp>
        <p:nvSpPr>
          <p:cNvPr id="925" name="Google Shape;925;p7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,14,20,26,32\ ...&quot;&gt;&lt;mn&gt;8&lt;/mn&gt;&lt;mo&gt;,&lt;/mo&gt;&lt;mn&gt;14&lt;/mn&gt;&lt;mo&gt;,&lt;/mo&gt;&lt;mn&gt;20&lt;/mn&gt;&lt;mo&gt;,&lt;/mo&gt;&lt;mn&gt;26&lt;/mn&gt;&lt;mo&gt;,&lt;/mo&gt;&lt;mn&gt;32&lt;/mn&gt;&lt;mtext&gt;&lt;/mtext&gt;&lt;mo&gt;.&lt;/mo&gt;&lt;mo&gt;.&lt;/mo&gt;&lt;mo&gt;.&lt;/mo&gt;&lt;/math&gt;" id="926" name="Google Shape;926;p74" title="8 comma 14 comma 20 comma 26 comma 32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832" y="2004397"/>
            <a:ext cx="2168226" cy="248199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4"/>
          <p:cNvSpPr txBox="1"/>
          <p:nvPr>
            <p:ph idx="1" type="subTitle"/>
          </p:nvPr>
        </p:nvSpPr>
        <p:spPr>
          <a:xfrm>
            <a:off x="337825" y="2864084"/>
            <a:ext cx="3152400" cy="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difference: </a:t>
            </a:r>
            <a:r>
              <a:rPr lang="en-GB">
                <a:solidFill>
                  <a:schemeClr val="accent4"/>
                </a:solidFill>
              </a:rPr>
              <a:t>+6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Translation: </a:t>
            </a:r>
            <a:r>
              <a:rPr lang="en-GB">
                <a:solidFill>
                  <a:schemeClr val="accent4"/>
                </a:solidFill>
              </a:rPr>
              <a:t>+2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28" name="Google Shape;928;p74"/>
          <p:cNvSpPr txBox="1"/>
          <p:nvPr>
            <p:ph idx="4294967295" type="body"/>
          </p:nvPr>
        </p:nvSpPr>
        <p:spPr>
          <a:xfrm>
            <a:off x="1000865" y="238522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+6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29" name="Google Shape;929;p74"/>
          <p:cNvSpPr txBox="1"/>
          <p:nvPr>
            <p:ph idx="4294967295" type="body"/>
          </p:nvPr>
        </p:nvSpPr>
        <p:spPr>
          <a:xfrm>
            <a:off x="1437242" y="238522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+6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30" name="Google Shape;930;p74"/>
          <p:cNvSpPr txBox="1"/>
          <p:nvPr>
            <p:ph idx="4294967295" type="body"/>
          </p:nvPr>
        </p:nvSpPr>
        <p:spPr>
          <a:xfrm>
            <a:off x="1873618" y="238522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+6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31" name="Google Shape;931;p74"/>
          <p:cNvSpPr txBox="1"/>
          <p:nvPr>
            <p:ph idx="4294967295" type="body"/>
          </p:nvPr>
        </p:nvSpPr>
        <p:spPr>
          <a:xfrm>
            <a:off x="2309994" y="238522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+6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32" name="Google Shape;932;p74"/>
          <p:cNvSpPr/>
          <p:nvPr/>
        </p:nvSpPr>
        <p:spPr>
          <a:xfrm>
            <a:off x="2627225" y="2876307"/>
            <a:ext cx="343800" cy="34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4"/>
          <p:cNvSpPr/>
          <p:nvPr/>
        </p:nvSpPr>
        <p:spPr>
          <a:xfrm>
            <a:off x="1677810" y="3201931"/>
            <a:ext cx="343800" cy="34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n:\ 6,12,18,24,30\ ...&quot;&gt;&lt;mn&gt;6&lt;/mn&gt;&lt;mi&gt;n&lt;/mi&gt;&lt;mo&gt;:&lt;/mo&gt;&lt;mtext&gt;&lt;/mtext&gt;&lt;mn&gt;6&lt;/mn&gt;&lt;mo&gt;,&lt;/mo&gt;&lt;mn&gt;12&lt;/mn&gt;&lt;mo&gt;,&lt;/mo&gt;&lt;mn&gt;18&lt;/mn&gt;&lt;mo&gt;,&lt;/mo&gt;&lt;mn&gt;24&lt;/mn&gt;&lt;mo&gt;,&lt;/mo&gt;&lt;mn&gt;30&lt;/mn&gt;&lt;mtext&gt;&lt;/mtext&gt;&lt;mo&gt;.&lt;/mo&gt;&lt;mo&gt;.&lt;/mo&gt;&lt;mo&gt;.&lt;/mo&gt;&lt;/math&gt;" id="934" name="Google Shape;934;p74" title="6 n colon 6 comma 12 comma 18 comma 24 comma 30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231" y="1355341"/>
            <a:ext cx="2736499" cy="244606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4"/>
          <p:cNvSpPr txBox="1"/>
          <p:nvPr>
            <p:ph idx="4294967295" type="body"/>
          </p:nvPr>
        </p:nvSpPr>
        <p:spPr>
          <a:xfrm>
            <a:off x="1000865" y="162677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36" name="Google Shape;936;p74"/>
          <p:cNvSpPr txBox="1"/>
          <p:nvPr>
            <p:ph idx="4294967295" type="body"/>
          </p:nvPr>
        </p:nvSpPr>
        <p:spPr>
          <a:xfrm>
            <a:off x="1371454" y="162677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37" name="Google Shape;937;p74"/>
          <p:cNvSpPr txBox="1"/>
          <p:nvPr>
            <p:ph idx="4294967295" type="body"/>
          </p:nvPr>
        </p:nvSpPr>
        <p:spPr>
          <a:xfrm>
            <a:off x="1776594" y="162677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38" name="Google Shape;938;p74"/>
          <p:cNvSpPr txBox="1"/>
          <p:nvPr>
            <p:ph idx="4294967295" type="body"/>
          </p:nvPr>
        </p:nvSpPr>
        <p:spPr>
          <a:xfrm>
            <a:off x="2147182" y="162677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39" name="Google Shape;939;p74"/>
          <p:cNvSpPr txBox="1"/>
          <p:nvPr>
            <p:ph idx="4294967295" type="body"/>
          </p:nvPr>
        </p:nvSpPr>
        <p:spPr>
          <a:xfrm>
            <a:off x="2584084" y="162677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6n+2&quot;&gt;&lt;mn&gt;6&lt;/mn&gt;&lt;mi&gt;n&lt;/mi&gt;&lt;mo&gt;+&lt;/mo&gt;&lt;mn&gt;2&lt;/mn&gt;&lt;/math&gt;" id="940" name="Google Shape;940;p74" title="6 n pl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9941" y="3630943"/>
            <a:ext cx="997236" cy="2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4"/>
          <p:cNvSpPr txBox="1"/>
          <p:nvPr>
            <p:ph idx="1" type="subTitle"/>
          </p:nvPr>
        </p:nvSpPr>
        <p:spPr>
          <a:xfrm>
            <a:off x="5049000" y="4132775"/>
            <a:ext cx="14508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42" name="Google Shape;942;p74"/>
          <p:cNvSpPr txBox="1"/>
          <p:nvPr>
            <p:ph idx="1" type="subTitle"/>
          </p:nvPr>
        </p:nvSpPr>
        <p:spPr>
          <a:xfrm>
            <a:off x="2319025" y="4235675"/>
            <a:ext cx="14760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943" name="Google Shape;943;p74"/>
          <p:cNvCxnSpPr>
            <a:stCxn id="941" idx="0"/>
          </p:cNvCxnSpPr>
          <p:nvPr/>
        </p:nvCxnSpPr>
        <p:spPr>
          <a:xfrm flipH="1" rot="10800000">
            <a:off x="5774400" y="3892475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74"/>
          <p:cNvCxnSpPr/>
          <p:nvPr/>
        </p:nvCxnSpPr>
        <p:spPr>
          <a:xfrm rot="10800000">
            <a:off x="2334485" y="3995375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74"/>
          <p:cNvCxnSpPr/>
          <p:nvPr/>
        </p:nvCxnSpPr>
        <p:spPr>
          <a:xfrm>
            <a:off x="982575" y="1606850"/>
            <a:ext cx="0" cy="374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46" name="Google Shape;946;p74"/>
          <p:cNvGrpSpPr/>
          <p:nvPr/>
        </p:nvGrpSpPr>
        <p:grpSpPr>
          <a:xfrm>
            <a:off x="1344650" y="1606850"/>
            <a:ext cx="1214750" cy="374100"/>
            <a:chOff x="1344650" y="1606850"/>
            <a:chExt cx="1214750" cy="374100"/>
          </a:xfrm>
        </p:grpSpPr>
        <p:cxnSp>
          <p:nvCxnSpPr>
            <p:cNvPr id="947" name="Google Shape;947;p74"/>
            <p:cNvCxnSpPr/>
            <p:nvPr/>
          </p:nvCxnSpPr>
          <p:spPr>
            <a:xfrm>
              <a:off x="1344650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48" name="Google Shape;948;p74"/>
            <p:cNvCxnSpPr/>
            <p:nvPr/>
          </p:nvCxnSpPr>
          <p:spPr>
            <a:xfrm>
              <a:off x="1749825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49" name="Google Shape;949;p74"/>
            <p:cNvCxnSpPr/>
            <p:nvPr/>
          </p:nvCxnSpPr>
          <p:spPr>
            <a:xfrm>
              <a:off x="2129925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0" name="Google Shape;950;p74"/>
            <p:cNvCxnSpPr/>
            <p:nvPr/>
          </p:nvCxnSpPr>
          <p:spPr>
            <a:xfrm>
              <a:off x="2559400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51" name="Google Shape;951;p74"/>
          <p:cNvGrpSpPr/>
          <p:nvPr/>
        </p:nvGrpSpPr>
        <p:grpSpPr>
          <a:xfrm>
            <a:off x="906754" y="2191750"/>
            <a:ext cx="1797415" cy="276075"/>
            <a:chOff x="906754" y="2191750"/>
            <a:chExt cx="1797415" cy="276075"/>
          </a:xfrm>
        </p:grpSpPr>
        <p:pic>
          <p:nvPicPr>
            <p:cNvPr id="952" name="Google Shape;952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906754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3" name="Google Shape;953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1349108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1791462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5" name="Google Shape;955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2233817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6" name="Google Shape;956;p74"/>
          <p:cNvSpPr/>
          <p:nvPr/>
        </p:nvSpPr>
        <p:spPr>
          <a:xfrm>
            <a:off x="2987294" y="1041373"/>
            <a:ext cx="1647600" cy="1177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terms with the same term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4"/>
          <p:cNvSpPr/>
          <p:nvPr/>
        </p:nvSpPr>
        <p:spPr>
          <a:xfrm>
            <a:off x="2987294" y="2265698"/>
            <a:ext cx="1647600" cy="8604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Checking for all of the terms shown.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4"/>
          <p:cNvSpPr txBox="1"/>
          <p:nvPr>
            <p:ph idx="1" type="subTitle"/>
          </p:nvPr>
        </p:nvSpPr>
        <p:spPr>
          <a:xfrm>
            <a:off x="4725000" y="671075"/>
            <a:ext cx="40950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without a number line.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,13,18,23,28,\ ...&quot;&gt;&lt;mn&gt;8&lt;/mn&gt;&lt;mo&gt;,&lt;/mo&gt;&lt;mn&gt;13&lt;/mn&gt;&lt;mo&gt;,&lt;/mo&gt;&lt;mn&gt;18&lt;/mn&gt;&lt;mo&gt;,&lt;/mo&gt;&lt;mn&gt;23&lt;/mn&gt;&lt;mo&gt;,&lt;/mo&gt;&lt;mn&gt;28&lt;/mn&gt;&lt;mo&gt;,&lt;/mo&gt;&lt;mtext&gt;&lt;/mtext&gt;&lt;mo&gt;.&lt;/mo&gt;&lt;mo&gt;.&lt;/mo&gt;&lt;mo&gt;.&lt;/mo&gt;&lt;/math&gt;" id="959" name="Google Shape;959;p74" title="8 comma 13 comma 18 comma 23 comma 28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5520" y="2006629"/>
            <a:ext cx="2363176" cy="253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+3&quot;&gt;&lt;mn&gt;5&lt;/mn&gt;&lt;mi&gt;n&lt;/mi&gt;&lt;mo&gt;+&lt;/mo&gt;&lt;mn&gt;3&lt;/mn&gt;&lt;/math&gt;" id="960" name="Google Shape;960;p74" title="5 n pl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66039" y="3553437"/>
            <a:ext cx="960961" cy="2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:\ 5,10,15,20,25,\ ...&quot;&gt;&lt;mn&gt;5&lt;/mn&gt;&lt;mi&gt;n&lt;/mi&gt;&lt;mo&gt;:&lt;/mo&gt;&lt;mtext&gt;&lt;/mtext&gt;&lt;mn&gt;5&lt;/mn&gt;&lt;mo&gt;,&lt;/mo&gt;&lt;mn&gt;10&lt;/mn&gt;&lt;mo&gt;,&lt;/mo&gt;&lt;mn&gt;15&lt;/mn&gt;&lt;mo&gt;,&lt;/mo&gt;&lt;mn&gt;20&lt;/mn&gt;&lt;mo&gt;,&lt;/mo&gt;&lt;mn&gt;25&lt;/mn&gt;&lt;mo&gt;,&lt;/mo&gt;&lt;mtext&gt;&lt;/mtext&gt;&lt;mo&gt;.&lt;/mo&gt;&lt;mo&gt;.&lt;/mo&gt;&lt;mo&gt;.&lt;/mo&gt;&lt;/math&gt;" id="961" name="Google Shape;961;p74" title="5 n colon 5 comma 10 comma 15 comma 20 comma 25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09012" y="1352713"/>
            <a:ext cx="2944853" cy="253371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4"/>
          <p:cNvSpPr txBox="1"/>
          <p:nvPr>
            <p:ph idx="1" type="subTitle"/>
          </p:nvPr>
        </p:nvSpPr>
        <p:spPr>
          <a:xfrm>
            <a:off x="4823213" y="2787884"/>
            <a:ext cx="3152400" cy="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difference: </a:t>
            </a:r>
            <a:r>
              <a:rPr lang="en-GB">
                <a:solidFill>
                  <a:schemeClr val="accent4"/>
                </a:solidFill>
              </a:rPr>
              <a:t>+5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Translation: </a:t>
            </a:r>
            <a:r>
              <a:rPr lang="en-GB">
                <a:solidFill>
                  <a:schemeClr val="accent4"/>
                </a:solidFill>
              </a:rPr>
              <a:t>+3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63" name="Google Shape;963;p74"/>
          <p:cNvSpPr/>
          <p:nvPr/>
        </p:nvSpPr>
        <p:spPr>
          <a:xfrm>
            <a:off x="7084614" y="2780957"/>
            <a:ext cx="343800" cy="3408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4"/>
          <p:cNvSpPr/>
          <p:nvPr/>
        </p:nvSpPr>
        <p:spPr>
          <a:xfrm>
            <a:off x="6142374" y="3125731"/>
            <a:ext cx="343800" cy="3408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4"/>
          <p:cNvSpPr txBox="1"/>
          <p:nvPr>
            <p:ph idx="4294967295" type="body"/>
          </p:nvPr>
        </p:nvSpPr>
        <p:spPr>
          <a:xfrm>
            <a:off x="5611582" y="2442003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+5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66" name="Google Shape;966;p74"/>
          <p:cNvSpPr txBox="1"/>
          <p:nvPr>
            <p:ph idx="4294967295" type="body"/>
          </p:nvPr>
        </p:nvSpPr>
        <p:spPr>
          <a:xfrm>
            <a:off x="5982171" y="2442003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+5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67" name="Google Shape;967;p74"/>
          <p:cNvSpPr txBox="1"/>
          <p:nvPr>
            <p:ph idx="4294967295" type="body"/>
          </p:nvPr>
        </p:nvSpPr>
        <p:spPr>
          <a:xfrm>
            <a:off x="6428959" y="2442003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+5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68" name="Google Shape;968;p74"/>
          <p:cNvSpPr txBox="1"/>
          <p:nvPr>
            <p:ph idx="4294967295" type="body"/>
          </p:nvPr>
        </p:nvSpPr>
        <p:spPr>
          <a:xfrm>
            <a:off x="6844511" y="2442003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+5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69" name="Google Shape;969;p74"/>
          <p:cNvSpPr txBox="1"/>
          <p:nvPr>
            <p:ph idx="4294967295" type="body"/>
          </p:nvPr>
        </p:nvSpPr>
        <p:spPr>
          <a:xfrm>
            <a:off x="5611582" y="162669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70" name="Google Shape;970;p74"/>
          <p:cNvSpPr txBox="1"/>
          <p:nvPr>
            <p:ph idx="4294967295" type="body"/>
          </p:nvPr>
        </p:nvSpPr>
        <p:spPr>
          <a:xfrm>
            <a:off x="5992582" y="162669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71" name="Google Shape;971;p74"/>
          <p:cNvSpPr txBox="1"/>
          <p:nvPr>
            <p:ph idx="4294967295" type="body"/>
          </p:nvPr>
        </p:nvSpPr>
        <p:spPr>
          <a:xfrm>
            <a:off x="6408135" y="162669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72" name="Google Shape;972;p74"/>
          <p:cNvSpPr txBox="1"/>
          <p:nvPr>
            <p:ph idx="4294967295" type="body"/>
          </p:nvPr>
        </p:nvSpPr>
        <p:spPr>
          <a:xfrm>
            <a:off x="6778723" y="162669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973" name="Google Shape;973;p74"/>
          <p:cNvSpPr txBox="1"/>
          <p:nvPr>
            <p:ph idx="4294967295" type="body"/>
          </p:nvPr>
        </p:nvSpPr>
        <p:spPr>
          <a:xfrm>
            <a:off x="7225511" y="1626695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+3</a:t>
            </a:r>
            <a:endParaRPr sz="1800">
              <a:solidFill>
                <a:schemeClr val="accent4"/>
              </a:solidFill>
            </a:endParaRPr>
          </a:p>
        </p:txBody>
      </p:sp>
      <p:grpSp>
        <p:nvGrpSpPr>
          <p:cNvPr id="974" name="Google Shape;974;p74"/>
          <p:cNvGrpSpPr/>
          <p:nvPr/>
        </p:nvGrpSpPr>
        <p:grpSpPr>
          <a:xfrm>
            <a:off x="5482729" y="2229237"/>
            <a:ext cx="1797414" cy="276075"/>
            <a:chOff x="906754" y="2191750"/>
            <a:chExt cx="1797415" cy="276075"/>
          </a:xfrm>
        </p:grpSpPr>
        <p:pic>
          <p:nvPicPr>
            <p:cNvPr id="975" name="Google Shape;975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906754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6" name="Google Shape;976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1349108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7" name="Google Shape;977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1791462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74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2233817" y="2191750"/>
              <a:ext cx="470352" cy="2760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79" name="Google Shape;979;p74"/>
          <p:cNvCxnSpPr/>
          <p:nvPr/>
        </p:nvCxnSpPr>
        <p:spPr>
          <a:xfrm>
            <a:off x="5602063" y="1579500"/>
            <a:ext cx="0" cy="374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80" name="Google Shape;980;p74"/>
          <p:cNvGrpSpPr/>
          <p:nvPr/>
        </p:nvGrpSpPr>
        <p:grpSpPr>
          <a:xfrm>
            <a:off x="5964138" y="1579500"/>
            <a:ext cx="1214750" cy="374100"/>
            <a:chOff x="1344650" y="1606850"/>
            <a:chExt cx="1214750" cy="374100"/>
          </a:xfrm>
        </p:grpSpPr>
        <p:cxnSp>
          <p:nvCxnSpPr>
            <p:cNvPr id="981" name="Google Shape;981;p74"/>
            <p:cNvCxnSpPr/>
            <p:nvPr/>
          </p:nvCxnSpPr>
          <p:spPr>
            <a:xfrm>
              <a:off x="1344650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2" name="Google Shape;982;p74"/>
            <p:cNvCxnSpPr/>
            <p:nvPr/>
          </p:nvCxnSpPr>
          <p:spPr>
            <a:xfrm>
              <a:off x="1749825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3" name="Google Shape;983;p74"/>
            <p:cNvCxnSpPr/>
            <p:nvPr/>
          </p:nvCxnSpPr>
          <p:spPr>
            <a:xfrm>
              <a:off x="2129925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4" name="Google Shape;984;p74"/>
            <p:cNvCxnSpPr/>
            <p:nvPr/>
          </p:nvCxnSpPr>
          <p:spPr>
            <a:xfrm>
              <a:off x="2559400" y="1606850"/>
              <a:ext cx="0" cy="37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85" name="Google Shape;985;p74"/>
          <p:cNvSpPr txBox="1"/>
          <p:nvPr>
            <p:ph idx="1" type="subTitle"/>
          </p:nvPr>
        </p:nvSpPr>
        <p:spPr>
          <a:xfrm>
            <a:off x="566425" y="4235675"/>
            <a:ext cx="14508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986" name="Google Shape;986;p74"/>
          <p:cNvCxnSpPr/>
          <p:nvPr/>
        </p:nvCxnSpPr>
        <p:spPr>
          <a:xfrm flipH="1" rot="10800000">
            <a:off x="1291825" y="3995375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7" name="Google Shape;987;p74"/>
          <p:cNvSpPr txBox="1"/>
          <p:nvPr>
            <p:ph idx="1" type="subTitle"/>
          </p:nvPr>
        </p:nvSpPr>
        <p:spPr>
          <a:xfrm>
            <a:off x="6951825" y="4146775"/>
            <a:ext cx="14760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988" name="Google Shape;988;p74"/>
          <p:cNvCxnSpPr/>
          <p:nvPr/>
        </p:nvCxnSpPr>
        <p:spPr>
          <a:xfrm rot="10800000">
            <a:off x="6967285" y="3906475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5"/>
          <p:cNvSpPr txBox="1"/>
          <p:nvPr>
            <p:ph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Corresponding</a:t>
            </a:r>
            <a:r>
              <a:rPr lang="en-GB"/>
              <a:t> terms in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lang="en-GB"/>
              <a:t> will be a translation by how much from terms in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?</a:t>
            </a:r>
            <a:endParaRPr/>
          </a:p>
        </p:txBody>
      </p:sp>
      <p:sp>
        <p:nvSpPr>
          <p:cNvPr id="994" name="Google Shape;994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increasing sequences</a:t>
            </a:r>
            <a:endParaRPr/>
          </a:p>
        </p:txBody>
      </p:sp>
      <p:sp>
        <p:nvSpPr>
          <p:cNvPr id="995" name="Google Shape;995;p75"/>
          <p:cNvSpPr txBox="1"/>
          <p:nvPr>
            <p:ph idx="1" type="subTitle"/>
          </p:nvPr>
        </p:nvSpPr>
        <p:spPr>
          <a:xfrm>
            <a:off x="1034425" y="1837775"/>
            <a:ext cx="5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5</a:t>
            </a:r>
            <a:endParaRPr sz="2400"/>
          </a:p>
        </p:txBody>
      </p:sp>
      <p:sp>
        <p:nvSpPr>
          <p:cNvPr id="996" name="Google Shape;996;p75"/>
          <p:cNvSpPr txBox="1"/>
          <p:nvPr>
            <p:ph idx="3" type="subTitle"/>
          </p:nvPr>
        </p:nvSpPr>
        <p:spPr>
          <a:xfrm>
            <a:off x="1034425" y="2794251"/>
            <a:ext cx="54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−</a:t>
            </a:r>
            <a:r>
              <a:rPr lang="en-GB" sz="2400"/>
              <a:t>5</a:t>
            </a:r>
            <a:endParaRPr sz="2400"/>
          </a:p>
        </p:txBody>
      </p:sp>
      <p:sp>
        <p:nvSpPr>
          <p:cNvPr id="997" name="Google Shape;997;p75"/>
          <p:cNvSpPr txBox="1"/>
          <p:nvPr>
            <p:ph idx="4" type="subTitle"/>
          </p:nvPr>
        </p:nvSpPr>
        <p:spPr>
          <a:xfrm>
            <a:off x="1034425" y="3766974"/>
            <a:ext cx="536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8</a:t>
            </a:r>
            <a:endParaRPr sz="2400"/>
          </a:p>
        </p:txBody>
      </p:sp>
      <p:pic>
        <p:nvPicPr>
          <p:cNvPr id="998" name="Google Shape;99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183" y="278837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5"/>
          <p:cNvSpPr txBox="1"/>
          <p:nvPr>
            <p:ph idx="4294967295" type="body"/>
          </p:nvPr>
        </p:nvSpPr>
        <p:spPr>
          <a:xfrm>
            <a:off x="3085012" y="2487750"/>
            <a:ext cx="46125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8n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begins 8, 16, 24, 32, ...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75"/>
          <p:cNvSpPr txBox="1"/>
          <p:nvPr>
            <p:ph idx="4294967295" type="body"/>
          </p:nvPr>
        </p:nvSpPr>
        <p:spPr>
          <a:xfrm>
            <a:off x="3085475" y="2920800"/>
            <a:ext cx="49308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 8n - 5 begins 3, 11, 19, 27, … ...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75"/>
          <p:cNvSpPr txBox="1"/>
          <p:nvPr>
            <p:ph idx="4294967295" type="body"/>
          </p:nvPr>
        </p:nvSpPr>
        <p:spPr>
          <a:xfrm>
            <a:off x="3085475" y="3378010"/>
            <a:ext cx="46125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translation of -5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6"/>
          <p:cNvSpPr txBox="1"/>
          <p:nvPr>
            <p:ph idx="1" type="body"/>
          </p:nvPr>
        </p:nvSpPr>
        <p:spPr>
          <a:xfrm>
            <a:off x="324000" y="759300"/>
            <a:ext cx="8237700" cy="6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 of the sequences </a:t>
            </a:r>
            <a:r>
              <a:rPr lang="en-GB"/>
              <a:t>below</a:t>
            </a:r>
            <a:r>
              <a:rPr lang="en-GB"/>
              <a:t>:</a:t>
            </a:r>
            <a:endParaRPr/>
          </a:p>
        </p:txBody>
      </p:sp>
      <p:sp>
        <p:nvSpPr>
          <p:cNvPr id="1007" name="Google Shape;1007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,17,24,31,38,\ ...&quot;&gt;&lt;mn&gt;10&lt;/mn&gt;&lt;mo&gt;,&lt;/mo&gt;&lt;mn&gt;17&lt;/mn&gt;&lt;mo&gt;,&lt;/mo&gt;&lt;mn&gt;24&lt;/mn&gt;&lt;mo&gt;,&lt;/mo&gt;&lt;mn&gt;31&lt;/mn&gt;&lt;mo&gt;,&lt;/mo&gt;&lt;mn&gt;38&lt;/mn&gt;&lt;mo&gt;,&lt;/mo&gt;&lt;mtext&gt;&lt;/mtext&gt;&lt;mo&gt;.&lt;/mo&gt;&lt;mo&gt;.&lt;/mo&gt;&lt;mo&gt;.&lt;/mo&gt;&lt;/math&gt;" id="1008" name="Google Shape;1008;p76" title="10 comma 17 comma 24 comma 31 comma 38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30" y="1367349"/>
            <a:ext cx="2886387" cy="290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,8,15,22,29\ ...&quot;&gt;&lt;mn&gt;1&lt;/mn&gt;&lt;mo&gt;,&lt;/mo&gt;&lt;mn&gt;8&lt;/mn&gt;&lt;mo&gt;,&lt;/mo&gt;&lt;mn&gt;15&lt;/mn&gt;&lt;mo&gt;,&lt;/mo&gt;&lt;mn&gt;22&lt;/mn&gt;&lt;mo&gt;,&lt;/mo&gt;&lt;mn&gt;29&lt;/mn&gt;&lt;mtext&gt;&lt;/mtext&gt;&lt;mo&gt;.&lt;/mo&gt;&lt;mo&gt;.&lt;/mo&gt;&lt;mo&gt;.&lt;/mo&gt;&lt;/math&gt;" id="1009" name="Google Shape;1009;p76" title="1 comma 8 comma 15 comma 22 comma 29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530" y="2024865"/>
            <a:ext cx="2377353" cy="296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0,-7,-4,-1,2\ ...&quot;&gt;&lt;mo&gt;−&lt;/mo&gt;&lt;mn&gt;10&lt;/mn&gt;&lt;mo&gt;,&lt;/mo&gt;&lt;mo&gt;−&lt;/mo&gt;&lt;mn&gt;7&lt;/mn&gt;&lt;mo&gt;,&lt;/mo&gt;&lt;mo&gt;−&lt;/mo&gt;&lt;mn&gt;4&lt;/mn&gt;&lt;mo&gt;,&lt;/mo&gt;&lt;mo&gt;−&lt;/mo&gt;&lt;mn&gt;1&lt;/mn&gt;&lt;mo&gt;,&lt;/mo&gt;&lt;mn&gt;2&lt;/mn&gt;&lt;mtext&gt;&lt;/mtext&gt;&lt;mo&gt;.&lt;/mo&gt;&lt;mo&gt;.&lt;/mo&gt;&lt;mo&gt;.&lt;/mo&gt;&lt;/math&gt;" id="1010" name="Google Shape;1010;p76" title="negative 10 comma negative 7 comma negative 4 comma negative 1 comma 2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530" y="2687974"/>
            <a:ext cx="3015043" cy="290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9,\ 1.3,\ 1.7,\ 2.1,\ 2.5\ ...&quot;&gt;&lt;mn&gt;0.9&lt;/mn&gt;&lt;mo&gt;,&lt;/mo&gt;&lt;mtext&gt;&lt;/mtext&gt;&lt;mn&gt;1.3&lt;/mn&gt;&lt;mo&gt;,&lt;/mo&gt;&lt;mtext&gt;&lt;/mtext&gt;&lt;mn&gt;1.7&lt;/mn&gt;&lt;mo&gt;,&lt;/mo&gt;&lt;mtext&gt;&lt;/mtext&gt;&lt;mn&gt;2.1&lt;/mn&gt;&lt;mo&gt;,&lt;/mo&gt;&lt;mtext&gt;&lt;/mtext&gt;&lt;mn&gt;2.5&lt;/mn&gt;&lt;mtext&gt;&lt;/mtext&gt;&lt;mo&gt;.&lt;/mo&gt;&lt;mo&gt;.&lt;/mo&gt;&lt;mo&gt;.&lt;/mo&gt;&lt;/math&gt;" id="1011" name="Google Shape;1011;p76" title="0.9 comma 1.3 comma 1.7 comma 2.1 comma 2.5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2530" y="3345489"/>
            <a:ext cx="3557639" cy="296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,\frac{3}{4},\frac{5}{4},\frac{7}{4},\frac{9}{4},\ ...&quot;&gt;&lt;mfrac&gt;&lt;mn&gt;1&lt;/mn&gt;&lt;mn&gt;4&lt;/mn&gt;&lt;/mfrac&gt;&lt;mo&gt;,&lt;/mo&gt;&lt;mfrac&gt;&lt;mn&gt;3&lt;/mn&gt;&lt;mn&gt;4&lt;/mn&gt;&lt;/mfrac&gt;&lt;mo&gt;,&lt;/mo&gt;&lt;mfrac&gt;&lt;mn&gt;5&lt;/mn&gt;&lt;mn&gt;4&lt;/mn&gt;&lt;/mfrac&gt;&lt;mo&gt;,&lt;/mo&gt;&lt;mfrac&gt;&lt;mn&gt;7&lt;/mn&gt;&lt;mn&gt;4&lt;/mn&gt;&lt;/mfrac&gt;&lt;mo&gt;,&lt;/mo&gt;&lt;mfrac&gt;&lt;mn&gt;9&lt;/mn&gt;&lt;mn&gt;4&lt;/mn&gt;&lt;/mfrac&gt;&lt;mo&gt;,&lt;/mo&gt;&lt;mtext&gt;&lt;/mtext&gt;&lt;mo&gt;.&lt;/mo&gt;&lt;mo&gt;.&lt;/mo&gt;&lt;mo&gt;.&lt;/mo&gt;&lt;/math&gt;" id="1012" name="Google Shape;1012;p76" title="one fourth comma three fourths comma five fourths comma seven fourths comma nine fourths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2530" y="4008599"/>
            <a:ext cx="2191603" cy="6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76"/>
          <p:cNvSpPr txBox="1"/>
          <p:nvPr>
            <p:ph idx="1" type="body"/>
          </p:nvPr>
        </p:nvSpPr>
        <p:spPr>
          <a:xfrm>
            <a:off x="324000" y="1292700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1014" name="Google Shape;1014;p76"/>
          <p:cNvSpPr txBox="1"/>
          <p:nvPr>
            <p:ph idx="1" type="body"/>
          </p:nvPr>
        </p:nvSpPr>
        <p:spPr>
          <a:xfrm>
            <a:off x="324000" y="1978500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015" name="Google Shape;1015;p76"/>
          <p:cNvSpPr txBox="1"/>
          <p:nvPr>
            <p:ph idx="1" type="body"/>
          </p:nvPr>
        </p:nvSpPr>
        <p:spPr>
          <a:xfrm>
            <a:off x="324000" y="2622652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1016" name="Google Shape;1016;p76"/>
          <p:cNvSpPr txBox="1"/>
          <p:nvPr>
            <p:ph idx="1" type="body"/>
          </p:nvPr>
        </p:nvSpPr>
        <p:spPr>
          <a:xfrm>
            <a:off x="324000" y="3308452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sp>
        <p:nvSpPr>
          <p:cNvPr id="1017" name="Google Shape;1017;p76"/>
          <p:cNvSpPr txBox="1"/>
          <p:nvPr>
            <p:ph idx="1" type="body"/>
          </p:nvPr>
        </p:nvSpPr>
        <p:spPr>
          <a:xfrm>
            <a:off x="324000" y="4070452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p7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97150" y="808025"/>
            <a:ext cx="4120049" cy="194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77"/>
          <p:cNvSpPr txBox="1"/>
          <p:nvPr/>
        </p:nvSpPr>
        <p:spPr>
          <a:xfrm>
            <a:off x="4146225" y="923225"/>
            <a:ext cx="36543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-5, -3, -1, 1, 3, … is             because the common difference is +2 and it starts at -5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7"/>
          <p:cNvSpPr txBox="1"/>
          <p:nvPr>
            <p:ph idx="1" type="body"/>
          </p:nvPr>
        </p:nvSpPr>
        <p:spPr>
          <a:xfrm>
            <a:off x="324000" y="759300"/>
            <a:ext cx="2563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Andeep says:</a:t>
            </a:r>
            <a:endParaRPr/>
          </a:p>
        </p:txBody>
      </p:sp>
      <p:sp>
        <p:nvSpPr>
          <p:cNvPr id="1025" name="Google Shape;1025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026" name="Google Shape;1026;p77" title="2 n minu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061" y="1331850"/>
            <a:ext cx="679025" cy="1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4084575"/>
            <a:ext cx="7306798" cy="667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5062" y="25588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77"/>
          <p:cNvSpPr txBox="1"/>
          <p:nvPr>
            <p:ph idx="1" type="body"/>
          </p:nvPr>
        </p:nvSpPr>
        <p:spPr>
          <a:xfrm>
            <a:off x="324000" y="2969100"/>
            <a:ext cx="68553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Give </a:t>
            </a:r>
            <a:r>
              <a:rPr lang="en-GB">
                <a:solidFill>
                  <a:schemeClr val="accent4"/>
                </a:solidFill>
              </a:rPr>
              <a:t>two </a:t>
            </a:r>
            <a:r>
              <a:rPr lang="en-GB"/>
              <a:t>explanations as to why</a:t>
            </a:r>
            <a:r>
              <a:rPr lang="en-GB"/>
              <a:t> Andeep is wrong.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number line may help.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78"/>
          <p:cNvSpPr txBox="1"/>
          <p:nvPr>
            <p:ph idx="1" type="body"/>
          </p:nvPr>
        </p:nvSpPr>
        <p:spPr>
          <a:xfrm>
            <a:off x="3183980" y="4123399"/>
            <a:ext cx="3714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78"/>
          <p:cNvSpPr txBox="1"/>
          <p:nvPr>
            <p:ph idx="1" type="body"/>
          </p:nvPr>
        </p:nvSpPr>
        <p:spPr>
          <a:xfrm>
            <a:off x="3183980" y="4466299"/>
            <a:ext cx="301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   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6" name="Google Shape;1036;p78"/>
          <p:cNvSpPr txBox="1"/>
          <p:nvPr>
            <p:ph idx="1" type="body"/>
          </p:nvPr>
        </p:nvSpPr>
        <p:spPr>
          <a:xfrm>
            <a:off x="4132932" y="2598512"/>
            <a:ext cx="3714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difference: 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78"/>
          <p:cNvSpPr txBox="1"/>
          <p:nvPr>
            <p:ph idx="1" type="body"/>
          </p:nvPr>
        </p:nvSpPr>
        <p:spPr>
          <a:xfrm>
            <a:off x="324000" y="759300"/>
            <a:ext cx="82377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 of the below sequences:</a:t>
            </a:r>
            <a:endParaRPr/>
          </a:p>
        </p:txBody>
      </p:sp>
      <p:sp>
        <p:nvSpPr>
          <p:cNvPr id="1038" name="Google Shape;1038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,17,24,31,38,\ ...&quot;&gt;&lt;mn&gt;10&lt;/mn&gt;&lt;mo&gt;,&lt;/mo&gt;&lt;mn&gt;17&lt;/mn&gt;&lt;mo&gt;,&lt;/mo&gt;&lt;mn&gt;24&lt;/mn&gt;&lt;mo&gt;,&lt;/mo&gt;&lt;mn&gt;31&lt;/mn&gt;&lt;mo&gt;,&lt;/mo&gt;&lt;mn&gt;38&lt;/mn&gt;&lt;mo&gt;,&lt;/mo&gt;&lt;mtext&gt;&lt;/mtext&gt;&lt;mo&gt;.&lt;/mo&gt;&lt;mo&gt;.&lt;/mo&gt;&lt;mo&gt;.&lt;/mo&gt;&lt;/math&gt;" id="1039" name="Google Shape;1039;p78" title="10 comma 17 comma 24 comma 31 comma 38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30" y="1367349"/>
            <a:ext cx="2886387" cy="290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,8,15,22,29\ ...&quot;&gt;&lt;mn&gt;1&lt;/mn&gt;&lt;mo&gt;,&lt;/mo&gt;&lt;mn&gt;8&lt;/mn&gt;&lt;mo&gt;,&lt;/mo&gt;&lt;mn&gt;15&lt;/mn&gt;&lt;mo&gt;,&lt;/mo&gt;&lt;mn&gt;22&lt;/mn&gt;&lt;mo&gt;,&lt;/mo&gt;&lt;mn&gt;29&lt;/mn&gt;&lt;mtext&gt;&lt;/mtext&gt;&lt;mo&gt;.&lt;/mo&gt;&lt;mo&gt;.&lt;/mo&gt;&lt;mo&gt;.&lt;/mo&gt;&lt;/math&gt;" id="1040" name="Google Shape;1040;p78" title="1 comma 8 comma 15 comma 22 comma 29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130" y="2076924"/>
            <a:ext cx="2377353" cy="296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0,-7,-4,-1,2\ ...&quot;&gt;&lt;mo&gt;−&lt;/mo&gt;&lt;mn&gt;10&lt;/mn&gt;&lt;mo&gt;,&lt;/mo&gt;&lt;mo&gt;−&lt;/mo&gt;&lt;mn&gt;7&lt;/mn&gt;&lt;mo&gt;,&lt;/mo&gt;&lt;mo&gt;−&lt;/mo&gt;&lt;mn&gt;4&lt;/mn&gt;&lt;mo&gt;,&lt;/mo&gt;&lt;mo&gt;−&lt;/mo&gt;&lt;mn&gt;1&lt;/mn&gt;&lt;mo&gt;,&lt;/mo&gt;&lt;mn&gt;2&lt;/mn&gt;&lt;mtext&gt;&lt;/mtext&gt;&lt;mo&gt;.&lt;/mo&gt;&lt;mo&gt;.&lt;/mo&gt;&lt;mo&gt;.&lt;/mo&gt;&lt;/math&gt;" id="1041" name="Google Shape;1041;p78" title="negative 10 comma negative 7 comma negative 4 comma negative 1 comma 2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30" y="2792093"/>
            <a:ext cx="3015043" cy="290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9,\ 1.3,\ 1.7,\ 2.1,\ 2.5\ ...&quot;&gt;&lt;mn&gt;0.9&lt;/mn&gt;&lt;mo&gt;,&lt;/mo&gt;&lt;mtext&gt;&lt;/mtext&gt;&lt;mn&gt;1.3&lt;/mn&gt;&lt;mo&gt;,&lt;/mo&gt;&lt;mtext&gt;&lt;/mtext&gt;&lt;mn&gt;1.7&lt;/mn&gt;&lt;mo&gt;,&lt;/mo&gt;&lt;mtext&gt;&lt;/mtext&gt;&lt;mn&gt;2.1&lt;/mn&gt;&lt;mo&gt;,&lt;/mo&gt;&lt;mtext&gt;&lt;/mtext&gt;&lt;mn&gt;2.5&lt;/mn&gt;&lt;mtext&gt;&lt;/mtext&gt;&lt;mo&gt;.&lt;/mo&gt;&lt;mo&gt;.&lt;/mo&gt;&lt;mo&gt;.&lt;/mo&gt;&lt;/math&gt;" id="1042" name="Google Shape;1042;p78" title="0.9 comma 1.3 comma 1.7 comma 2.1 comma 2.5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125" y="3525114"/>
            <a:ext cx="3151421" cy="26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,\frac{3}{4},\frac{5}{4},\frac{7}{4},\frac{9}{4},\ ...&quot;&gt;&lt;mfrac&gt;&lt;mn&gt;1&lt;/mn&gt;&lt;mn&gt;4&lt;/mn&gt;&lt;/mfrac&gt;&lt;mo&gt;,&lt;/mo&gt;&lt;mfrac&gt;&lt;mn&gt;3&lt;/mn&gt;&lt;mn&gt;4&lt;/mn&gt;&lt;/mfrac&gt;&lt;mo&gt;,&lt;/mo&gt;&lt;mfrac&gt;&lt;mn&gt;5&lt;/mn&gt;&lt;mn&gt;4&lt;/mn&gt;&lt;/mfrac&gt;&lt;mo&gt;,&lt;/mo&gt;&lt;mfrac&gt;&lt;mn&gt;7&lt;/mn&gt;&lt;mn&gt;4&lt;/mn&gt;&lt;/mfrac&gt;&lt;mo&gt;,&lt;/mo&gt;&lt;mfrac&gt;&lt;mn&gt;9&lt;/mn&gt;&lt;mn&gt;4&lt;/mn&gt;&lt;/mfrac&gt;&lt;mo&gt;,&lt;/mo&gt;&lt;mtext&gt;&lt;/mtext&gt;&lt;mo&gt;.&lt;/mo&gt;&lt;mo&gt;.&lt;/mo&gt;&lt;mo&gt;.&lt;/mo&gt;&lt;/math&gt;" id="1043" name="Google Shape;1043;p78" title="one fourth comma three fourths comma five fourths comma seven fourths comma nine fourths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0130" y="4185602"/>
            <a:ext cx="2191603" cy="6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78"/>
          <p:cNvSpPr txBox="1"/>
          <p:nvPr>
            <p:ph idx="1" type="body"/>
          </p:nvPr>
        </p:nvSpPr>
        <p:spPr>
          <a:xfrm>
            <a:off x="324000" y="1292700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045" name="Google Shape;1045;p78"/>
          <p:cNvSpPr txBox="1"/>
          <p:nvPr>
            <p:ph idx="1" type="body"/>
          </p:nvPr>
        </p:nvSpPr>
        <p:spPr>
          <a:xfrm>
            <a:off x="324000" y="2030560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046" name="Google Shape;1046;p78"/>
          <p:cNvSpPr txBox="1"/>
          <p:nvPr>
            <p:ph idx="1" type="body"/>
          </p:nvPr>
        </p:nvSpPr>
        <p:spPr>
          <a:xfrm>
            <a:off x="324000" y="2726772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047" name="Google Shape;1047;p78"/>
          <p:cNvSpPr txBox="1"/>
          <p:nvPr>
            <p:ph idx="1" type="body"/>
          </p:nvPr>
        </p:nvSpPr>
        <p:spPr>
          <a:xfrm>
            <a:off x="324000" y="3464631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048" name="Google Shape;1048;p78"/>
          <p:cNvSpPr txBox="1"/>
          <p:nvPr>
            <p:ph idx="1" type="body"/>
          </p:nvPr>
        </p:nvSpPr>
        <p:spPr>
          <a:xfrm>
            <a:off x="324000" y="4247455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</a:t>
            </a:r>
            <a:endParaRPr/>
          </a:p>
        </p:txBody>
      </p:sp>
      <p:sp>
        <p:nvSpPr>
          <p:cNvPr id="1049" name="Google Shape;1049;p78"/>
          <p:cNvSpPr txBox="1"/>
          <p:nvPr>
            <p:ph idx="1" type="body"/>
          </p:nvPr>
        </p:nvSpPr>
        <p:spPr>
          <a:xfrm>
            <a:off x="4039225" y="1140300"/>
            <a:ext cx="3714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difference: +7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0" name="Google Shape;1050;p78"/>
          <p:cNvSpPr txBox="1"/>
          <p:nvPr>
            <p:ph idx="1" type="body"/>
          </p:nvPr>
        </p:nvSpPr>
        <p:spPr>
          <a:xfrm>
            <a:off x="4039225" y="1445100"/>
            <a:ext cx="301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7n: 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7n+3&quot;&gt;&lt;mn&gt;7&lt;/mn&gt;&lt;mi&gt;n&lt;/mi&gt;&lt;mo&gt;+&lt;/mo&gt;&lt;mn&gt;3&lt;/mn&gt;&lt;/math&gt;" id="1051" name="Google Shape;1051;p78" title="7 n pl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41727" y="1364710"/>
            <a:ext cx="813689" cy="233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n-6&quot;&gt;&lt;mn&gt;7&lt;/mn&gt;&lt;mi&gt;n&lt;/mi&gt;&lt;mo&gt;−&lt;/mo&gt;&lt;mn&gt;6&lt;/mn&gt;&lt;/math&gt;" id="1052" name="Google Shape;1052;p78" title="7 n minus 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7575" y="2089900"/>
            <a:ext cx="824538" cy="227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3&quot;&gt;&lt;mn&gt;3&lt;/mn&gt;&lt;mi&gt;n&lt;/mi&gt;&lt;mo&gt;−&lt;/mo&gt;&lt;mn&gt;13&lt;/mn&gt;&lt;/math&gt;" id="1053" name="Google Shape;1053;p78" title="3 n minus 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83375" y="2785525"/>
            <a:ext cx="949304" cy="222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4n+0.5&quot;&gt;&lt;mn&gt;0.4&lt;/mn&gt;&lt;mi&gt;n&lt;/mi&gt;&lt;mo&gt;+&lt;/mo&gt;&lt;mn&gt;0.5&lt;/mn&gt;&lt;/math&gt;" id="1054" name="Google Shape;1054;p78" title="0.4 n plus 0.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28872" y="3519134"/>
            <a:ext cx="1291053" cy="233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n-\frac{1}{4}&quot;&gt;&lt;mfrac&gt;&lt;mn&gt;1&lt;/mn&gt;&lt;mn&gt;2&lt;/mn&gt;&lt;/mfrac&gt;&lt;mi&gt;n&lt;/mi&gt;&lt;mo&gt;−&lt;/mo&gt;&lt;mfrac&gt;&lt;mn&gt;1&lt;/mn&gt;&lt;mn&gt;4&lt;/mn&gt;&lt;/mfrac&gt;&lt;/math&gt;" id="1055" name="Google Shape;1055;p78" title="one half n minus one four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43726" y="4169889"/>
            <a:ext cx="895409" cy="592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n&quot;&gt;&lt;mfrac&gt;&lt;mn&gt;1&lt;/mn&gt;&lt;mn&gt;2&lt;/mn&gt;&lt;/mfrac&gt;&lt;mi&gt;n&lt;/mi&gt;&lt;/math&gt;" id="1056" name="Google Shape;1056;p78" title="one half 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38101" y="4435263"/>
            <a:ext cx="229721" cy="388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78"/>
          <p:cNvSpPr txBox="1"/>
          <p:nvPr>
            <p:ph idx="1" type="body"/>
          </p:nvPr>
        </p:nvSpPr>
        <p:spPr>
          <a:xfrm>
            <a:off x="3370932" y="1902300"/>
            <a:ext cx="3714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difference: +7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8" name="Google Shape;1058;p78"/>
          <p:cNvSpPr txBox="1"/>
          <p:nvPr>
            <p:ph idx="1" type="body"/>
          </p:nvPr>
        </p:nvSpPr>
        <p:spPr>
          <a:xfrm>
            <a:off x="3370932" y="2207100"/>
            <a:ext cx="301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7n: -6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9" name="Google Shape;1059;p78"/>
          <p:cNvSpPr txBox="1"/>
          <p:nvPr>
            <p:ph idx="1" type="body"/>
          </p:nvPr>
        </p:nvSpPr>
        <p:spPr>
          <a:xfrm>
            <a:off x="4132932" y="2903312"/>
            <a:ext cx="301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3n: -13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78"/>
          <p:cNvSpPr txBox="1"/>
          <p:nvPr>
            <p:ph idx="1" type="body"/>
          </p:nvPr>
        </p:nvSpPr>
        <p:spPr>
          <a:xfrm>
            <a:off x="4098380" y="3315548"/>
            <a:ext cx="3714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difference: +0.4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1" name="Google Shape;1061;p78"/>
          <p:cNvSpPr txBox="1"/>
          <p:nvPr>
            <p:ph idx="1" type="body"/>
          </p:nvPr>
        </p:nvSpPr>
        <p:spPr>
          <a:xfrm>
            <a:off x="4098380" y="3620348"/>
            <a:ext cx="301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0.4n: +0.5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62" name="Google Shape;1062;p78" title="one half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436658" y="4103451"/>
            <a:ext cx="110342" cy="351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4}&quot;&gt;&lt;mo&gt;−&lt;/mo&gt;&lt;mfrac&gt;&lt;mn&gt;1&lt;/mn&gt;&lt;mn&gt;4&lt;/mn&gt;&lt;/mfrac&gt;&lt;/math&gt;" id="1063" name="Google Shape;1063;p78" title="negative one fourth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528700" y="4465891"/>
            <a:ext cx="229725" cy="3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9"/>
          <p:cNvSpPr txBox="1"/>
          <p:nvPr>
            <p:ph idx="1" type="body"/>
          </p:nvPr>
        </p:nvSpPr>
        <p:spPr>
          <a:xfrm>
            <a:off x="324000" y="3883500"/>
            <a:ext cx="4834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sequence is a translation by -7 therefore it is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69" name="Google Shape;1069;p7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97150" y="808025"/>
            <a:ext cx="4120049" cy="194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79"/>
          <p:cNvSpPr txBox="1"/>
          <p:nvPr/>
        </p:nvSpPr>
        <p:spPr>
          <a:xfrm>
            <a:off x="4146225" y="923225"/>
            <a:ext cx="36543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sequence -5, -3, -1, 1, 3, … is             because the common difference is +2 and it starts at -5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9"/>
          <p:cNvSpPr txBox="1"/>
          <p:nvPr>
            <p:ph idx="1" type="body"/>
          </p:nvPr>
        </p:nvSpPr>
        <p:spPr>
          <a:xfrm>
            <a:off x="324000" y="759300"/>
            <a:ext cx="2437200" cy="4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Andeep says:</a:t>
            </a:r>
            <a:endParaRPr/>
          </a:p>
        </p:txBody>
      </p:sp>
      <p:sp>
        <p:nvSpPr>
          <p:cNvPr id="1072" name="Google Shape;1072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n-7&quot;&gt;&lt;mn&gt;2&lt;/mn&gt;&lt;mi&gt;n&lt;/mi&gt;&lt;mo&gt;−&lt;/mo&gt;&lt;mn&gt;7&lt;/mn&gt;&lt;/math&gt;" id="1073" name="Google Shape;1073;p79" title="2 n minus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1024" y="4310566"/>
            <a:ext cx="796175" cy="2176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074" name="Google Shape;1074;p79" title="2 n min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9061" y="1331850"/>
            <a:ext cx="679025" cy="1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5062" y="25588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79"/>
          <p:cNvSpPr txBox="1"/>
          <p:nvPr>
            <p:ph idx="1" type="body"/>
          </p:nvPr>
        </p:nvSpPr>
        <p:spPr>
          <a:xfrm>
            <a:off x="324000" y="2664300"/>
            <a:ext cx="4834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sequence 2n starts: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5,-3,-1,\ ...&quot;&gt;&lt;mo&gt;−&lt;/mo&gt;&lt;mn&gt;5&lt;/mn&gt;&lt;mo&gt;,&lt;/mo&gt;&lt;mo&gt;−&lt;/mo&gt;&lt;mn&gt;3&lt;/mn&gt;&lt;mo&gt;,&lt;/mo&gt;&lt;mo&gt;−&lt;/mo&gt;&lt;mn&gt;1&lt;/mn&gt;&lt;mo&gt;,&lt;/mo&gt;&lt;mtext&gt;&lt;/mtext&gt;&lt;mo&gt;.&lt;/mo&gt;&lt;mo&gt;.&lt;/mo&gt;&lt;mo&gt;.&lt;/mo&gt;&lt;/math&gt;" id="1077" name="Google Shape;1077;p79" title="negative 5 comma negative 3 comma negative 1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10785" y="3437854"/>
            <a:ext cx="2393550" cy="338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 2,\ \ \ 4,\ \ \ 6,\ ...&quot;&gt;&lt;mtext&gt;&lt;/mtext&gt;&lt;mtext&gt;&lt;/mtext&gt;&lt;mn&gt;2&lt;/mn&gt;&lt;mo&gt;,&lt;/mo&gt;&lt;mtext&gt;&lt;/mtext&gt;&lt;mtext&gt;&lt;/mtext&gt;&lt;mtext&gt;&lt;/mtext&gt;&lt;mn&gt;4&lt;/mn&gt;&lt;mo&gt;,&lt;/mo&gt;&lt;mtext&gt;&lt;/mtext&gt;&lt;mtext&gt;&lt;/mtext&gt;&lt;mtext&gt;&lt;/mtext&gt;&lt;mn&gt;6&lt;/mn&gt;&lt;mo&gt;,&lt;/mo&gt;&lt;mtext&gt;&lt;/mtext&gt;&lt;mo&gt;.&lt;/mo&gt;&lt;mo&gt;.&lt;/mo&gt;&lt;mo&gt;.&lt;/mo&gt;&lt;/math&gt;" id="1078" name="Google Shape;1078;p79" title="2 comma 4 comma 6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97394" y="2685161"/>
            <a:ext cx="2195683" cy="338282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79"/>
          <p:cNvSpPr txBox="1"/>
          <p:nvPr>
            <p:ph idx="4294967295" type="body"/>
          </p:nvPr>
        </p:nvSpPr>
        <p:spPr>
          <a:xfrm>
            <a:off x="3547087" y="3045763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-7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080" name="Google Shape;1080;p79"/>
          <p:cNvSpPr txBox="1"/>
          <p:nvPr>
            <p:ph idx="4294967295" type="body"/>
          </p:nvPr>
        </p:nvSpPr>
        <p:spPr>
          <a:xfrm>
            <a:off x="4212063" y="3045763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-7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081" name="Google Shape;1081;p79"/>
          <p:cNvSpPr txBox="1"/>
          <p:nvPr>
            <p:ph idx="4294967295" type="body"/>
          </p:nvPr>
        </p:nvSpPr>
        <p:spPr>
          <a:xfrm>
            <a:off x="4877039" y="3045763"/>
            <a:ext cx="343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-7</a:t>
            </a:r>
            <a:endParaRPr sz="20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0"/>
          <p:cNvSpPr txBox="1"/>
          <p:nvPr>
            <p:ph idx="1" type="body"/>
          </p:nvPr>
        </p:nvSpPr>
        <p:spPr>
          <a:xfrm>
            <a:off x="188056" y="2886256"/>
            <a:ext cx="4834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Your sequence is a translation by -7 therefore it is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87" name="Google Shape;1087;p8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97150" y="808025"/>
            <a:ext cx="4120049" cy="194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0"/>
          <p:cNvSpPr txBox="1"/>
          <p:nvPr/>
        </p:nvSpPr>
        <p:spPr>
          <a:xfrm>
            <a:off x="4146225" y="923225"/>
            <a:ext cx="36543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sequence -5, -3, -1, 1, 3, … is             because the common difference is +2 and it starts at -5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0"/>
          <p:cNvSpPr txBox="1"/>
          <p:nvPr>
            <p:ph idx="1" type="body"/>
          </p:nvPr>
        </p:nvSpPr>
        <p:spPr>
          <a:xfrm>
            <a:off x="324000" y="759300"/>
            <a:ext cx="2437200" cy="4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Andeep says:</a:t>
            </a:r>
            <a:endParaRPr/>
          </a:p>
        </p:txBody>
      </p:sp>
      <p:sp>
        <p:nvSpPr>
          <p:cNvPr id="1090" name="Google Shape;1090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n-7&quot;&gt;&lt;mn&gt;2&lt;/mn&gt;&lt;mi&gt;n&lt;/mi&gt;&lt;mo&gt;−&lt;/mo&gt;&lt;mn&gt;7&lt;/mn&gt;&lt;/math&gt;" id="1091" name="Google Shape;1091;p80" title="2 n minus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5081" y="3332346"/>
            <a:ext cx="796175" cy="2176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092" name="Google Shape;1092;p80" title="2 n min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9061" y="1331850"/>
            <a:ext cx="679025" cy="1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200" y="4084575"/>
            <a:ext cx="7306798" cy="667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5062" y="25588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80"/>
          <p:cNvSpPr txBox="1"/>
          <p:nvPr>
            <p:ph idx="1" type="body"/>
          </p:nvPr>
        </p:nvSpPr>
        <p:spPr>
          <a:xfrm>
            <a:off x="188056" y="2461931"/>
            <a:ext cx="4834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sequence 2n would be here…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96" name="Google Shape;1096;p80"/>
          <p:cNvGrpSpPr/>
          <p:nvPr/>
        </p:nvGrpSpPr>
        <p:grpSpPr>
          <a:xfrm>
            <a:off x="5253301" y="3720755"/>
            <a:ext cx="3185212" cy="581028"/>
            <a:chOff x="5193506" y="3766755"/>
            <a:chExt cx="3185212" cy="581028"/>
          </a:xfrm>
        </p:grpSpPr>
        <p:pic>
          <p:nvPicPr>
            <p:cNvPr id="1097" name="Google Shape;1097;p80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5193506" y="3809684"/>
              <a:ext cx="1272476" cy="5380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8" name="Google Shape;1098;p80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6153452" y="3788219"/>
              <a:ext cx="1272476" cy="5380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9" name="Google Shape;1099;p80"/>
            <p:cNvPicPr preferRelativeResize="0"/>
            <p:nvPr/>
          </p:nvPicPr>
          <p:blipFill rotWithShape="1">
            <a:blip r:embed="rId8">
              <a:alphaModFix/>
            </a:blip>
            <a:srcRect b="84458" l="57225" r="18284" t="0"/>
            <a:stretch/>
          </p:blipFill>
          <p:spPr>
            <a:xfrm>
              <a:off x="7106242" y="3766755"/>
              <a:ext cx="1272476" cy="53809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00" name="Google Shape;1100;p80"/>
          <p:cNvCxnSpPr/>
          <p:nvPr/>
        </p:nvCxnSpPr>
        <p:spPr>
          <a:xfrm rot="10800000">
            <a:off x="2156375" y="3752445"/>
            <a:ext cx="3230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01" name="Google Shape;1101;p80"/>
          <p:cNvPicPr preferRelativeResize="0"/>
          <p:nvPr/>
        </p:nvPicPr>
        <p:blipFill rotWithShape="1">
          <a:blip r:embed="rId8">
            <a:alphaModFix/>
          </a:blip>
          <a:srcRect b="84458" l="57225" r="18284" t="0"/>
          <a:stretch/>
        </p:blipFill>
        <p:spPr>
          <a:xfrm>
            <a:off x="1904516" y="3766755"/>
            <a:ext cx="1272476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80"/>
          <p:cNvPicPr preferRelativeResize="0"/>
          <p:nvPr/>
        </p:nvPicPr>
        <p:blipFill rotWithShape="1">
          <a:blip r:embed="rId8">
            <a:alphaModFix/>
          </a:blip>
          <a:srcRect b="84458" l="57225" r="18284" t="0"/>
          <a:stretch/>
        </p:blipFill>
        <p:spPr>
          <a:xfrm>
            <a:off x="2858590" y="3766755"/>
            <a:ext cx="1272476" cy="538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80"/>
          <p:cNvPicPr preferRelativeResize="0"/>
          <p:nvPr/>
        </p:nvPicPr>
        <p:blipFill rotWithShape="1">
          <a:blip r:embed="rId8">
            <a:alphaModFix/>
          </a:blip>
          <a:srcRect b="84458" l="57225" r="18284" t="0"/>
          <a:stretch/>
        </p:blipFill>
        <p:spPr>
          <a:xfrm>
            <a:off x="3799738" y="3766755"/>
            <a:ext cx="1272476" cy="538098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80"/>
          <p:cNvSpPr txBox="1"/>
          <p:nvPr/>
        </p:nvSpPr>
        <p:spPr>
          <a:xfrm>
            <a:off x="3408475" y="3350838"/>
            <a:ext cx="623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-7</a:t>
            </a:r>
            <a:endParaRPr sz="22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1109;p8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97150" y="808025"/>
            <a:ext cx="4120049" cy="194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1"/>
          <p:cNvSpPr txBox="1"/>
          <p:nvPr/>
        </p:nvSpPr>
        <p:spPr>
          <a:xfrm>
            <a:off x="4146225" y="923225"/>
            <a:ext cx="36543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sequence -5, -3, -1, 1, 3, … is             because the common difference is +2 and it starts at -5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1"/>
          <p:cNvSpPr txBox="1"/>
          <p:nvPr>
            <p:ph idx="1" type="body"/>
          </p:nvPr>
        </p:nvSpPr>
        <p:spPr>
          <a:xfrm>
            <a:off x="324000" y="759300"/>
            <a:ext cx="2437200" cy="4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Andeep says:</a:t>
            </a:r>
            <a:endParaRPr/>
          </a:p>
        </p:txBody>
      </p:sp>
      <p:sp>
        <p:nvSpPr>
          <p:cNvPr id="1112" name="Google Shape;1112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increasing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113" name="Google Shape;1113;p81" title="2 n minu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061" y="1331850"/>
            <a:ext cx="679025" cy="1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5062" y="25588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81"/>
          <p:cNvSpPr txBox="1"/>
          <p:nvPr>
            <p:ph idx="1" type="body"/>
          </p:nvPr>
        </p:nvSpPr>
        <p:spPr>
          <a:xfrm>
            <a:off x="324000" y="2664300"/>
            <a:ext cx="4834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 = 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2(1) - 5 = -3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1"/>
          <p:cNvSpPr txBox="1"/>
          <p:nvPr>
            <p:ph idx="1" type="body"/>
          </p:nvPr>
        </p:nvSpPr>
        <p:spPr>
          <a:xfrm>
            <a:off x="324000" y="3502500"/>
            <a:ext cx="6767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first term of the sequence         is -3 whereas your first term is -5 so        can not describe your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117" name="Google Shape;1117;p81" title="2 n minu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8472" y="3572886"/>
            <a:ext cx="679025" cy="19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118" name="Google Shape;1118;p81" title="2 n minu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4072" y="3953886"/>
            <a:ext cx="679025" cy="1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increasing sequences</a:t>
            </a:r>
            <a:endParaRPr/>
          </a:p>
        </p:txBody>
      </p:sp>
      <p:sp>
        <p:nvSpPr>
          <p:cNvPr id="1124" name="Google Shape;1124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decreasing sequences</a:t>
            </a:r>
            <a:endParaRPr/>
          </a:p>
        </p:txBody>
      </p:sp>
      <p:sp>
        <p:nvSpPr>
          <p:cNvPr id="1125" name="Google Shape;1125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and using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26" name="Google Shape;1126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</a:t>
            </a:r>
            <a:endParaRPr/>
          </a:p>
        </p:txBody>
      </p:sp>
      <p:pic>
        <p:nvPicPr>
          <p:cNvPr id="1127" name="Google Shape;11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77024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3"/>
          <p:cNvSpPr txBox="1"/>
          <p:nvPr>
            <p:ph idx="1" type="body"/>
          </p:nvPr>
        </p:nvSpPr>
        <p:spPr>
          <a:xfrm>
            <a:off x="324000" y="759300"/>
            <a:ext cx="5144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compare these two sequences.</a:t>
            </a:r>
            <a:endParaRPr/>
          </a:p>
        </p:txBody>
      </p:sp>
      <p:sp>
        <p:nvSpPr>
          <p:cNvPr id="1133" name="Google Shape;113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decreasing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+2n:\ 12,\ 14,\ 16,\ 18,\ 20,\ ...&quot;&gt;&lt;mn&gt;10&lt;/mn&gt;&lt;mo&gt;+&lt;/mo&gt;&lt;mn&gt;2&lt;/mn&gt;&lt;mi&gt;n&lt;/mi&gt;&lt;mo&gt;:&lt;/mo&gt;&lt;mtext&gt;&lt;/mtext&gt;&lt;mn&gt;12&lt;/mn&gt;&lt;mo&gt;,&lt;/mo&gt;&lt;mtext&gt;&lt;/mtext&gt;&lt;mn&gt;14&lt;/mn&gt;&lt;mo&gt;,&lt;/mo&gt;&lt;mtext&gt;&lt;/mtext&gt;&lt;mn&gt;16&lt;/mn&gt;&lt;mo&gt;,&lt;/mo&gt;&lt;mtext&gt;&lt;/mtext&gt;&lt;mn&gt;18&lt;/mn&gt;&lt;mo&gt;,&lt;/mo&gt;&lt;mtext&gt;&lt;/mtext&gt;&lt;mn&gt;20&lt;/mn&gt;&lt;mo&gt;,&lt;/mo&gt;&lt;mtext&gt;&lt;/mtext&gt;&lt;mo&gt;.&lt;/mo&gt;&lt;mo&gt;.&lt;/mo&gt;&lt;mo&gt;.&lt;/mo&gt;&lt;/math&gt;" id="1134" name="Google Shape;1134;p83" title="10 plus 2 n colon 12 comma 14 comma 16 comma 18 comma 20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424" y="1315200"/>
            <a:ext cx="5358526" cy="337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-2n:\ 8,\ 6,\ 4,\ 2,\ 0,\ ...&quot;&gt;&lt;mn&gt;10&lt;/mn&gt;&lt;mo&gt;−&lt;/mo&gt;&lt;mn&gt;2&lt;/mn&gt;&lt;mi&gt;n&lt;/mi&gt;&lt;mo&gt;:&lt;/mo&gt;&lt;mtext&gt;&lt;/mtext&gt;&lt;mn&gt;8&lt;/mn&gt;&lt;mo&gt;,&lt;/mo&gt;&lt;mtext&gt;&lt;/mtext&gt;&lt;mn&gt;6&lt;/mn&gt;&lt;mo&gt;,&lt;/mo&gt;&lt;mtext&gt;&lt;/mtext&gt;&lt;mn&gt;4&lt;/mn&gt;&lt;mo&gt;,&lt;/mo&gt;&lt;mtext&gt;&lt;/mtext&gt;&lt;mn&gt;2&lt;/mn&gt;&lt;mo&gt;,&lt;/mo&gt;&lt;mtext&gt;&lt;/mtext&gt;&lt;mn&gt;0&lt;/mn&gt;&lt;mo&gt;,&lt;/mo&gt;&lt;mtext&gt;&lt;/mtext&gt;&lt;mo&gt;.&lt;/mo&gt;&lt;mo&gt;.&lt;/mo&gt;&lt;mo&gt;.&lt;/mo&gt;&lt;/math&gt;" id="1135" name="Google Shape;1135;p83" title="10 minus 2 n colon 8 comma 6 comma 4 comma 2 comma 0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424" y="2464055"/>
            <a:ext cx="4359371" cy="3372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83"/>
          <p:cNvSpPr txBox="1"/>
          <p:nvPr>
            <p:ph idx="1" type="body"/>
          </p:nvPr>
        </p:nvSpPr>
        <p:spPr>
          <a:xfrm>
            <a:off x="324000" y="3502500"/>
            <a:ext cx="5144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notice?</a:t>
            </a:r>
            <a:endParaRPr/>
          </a:p>
        </p:txBody>
      </p:sp>
      <p:sp>
        <p:nvSpPr>
          <p:cNvPr id="1137" name="Google Shape;1137;p83"/>
          <p:cNvSpPr txBox="1"/>
          <p:nvPr>
            <p:ph idx="1" type="body"/>
          </p:nvPr>
        </p:nvSpPr>
        <p:spPr>
          <a:xfrm>
            <a:off x="628800" y="1826100"/>
            <a:ext cx="514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+ 2n is </a:t>
            </a:r>
            <a:r>
              <a:rPr lang="en-GB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increasing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by 2 each time.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8" name="Google Shape;1138;p83"/>
          <p:cNvSpPr txBox="1"/>
          <p:nvPr>
            <p:ph idx="1" type="body"/>
          </p:nvPr>
        </p:nvSpPr>
        <p:spPr>
          <a:xfrm>
            <a:off x="628800" y="2969100"/>
            <a:ext cx="514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10 − 2n is </a:t>
            </a:r>
            <a:r>
              <a:rPr lang="en-GB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decreasing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by 2 each time.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+2n:\ 12,\ 14,\ 16,\ 18,\ 20,\ ...&quot;&gt;&lt;mn&gt;10&lt;/mn&gt;&lt;mo&gt;+&lt;/mo&gt;&lt;mn&gt;2&lt;/mn&gt;&lt;mi&gt;n&lt;/mi&gt;&lt;mo&gt;:&lt;/mo&gt;&lt;mtext&gt;&lt;/mtext&gt;&lt;mn&gt;12&lt;/mn&gt;&lt;mo&gt;,&lt;/mo&gt;&lt;mtext&gt;&lt;/mtext&gt;&lt;mn&gt;14&lt;/mn&gt;&lt;mo&gt;,&lt;/mo&gt;&lt;mtext&gt;&lt;/mtext&gt;&lt;mn&gt;16&lt;/mn&gt;&lt;mo&gt;,&lt;/mo&gt;&lt;mtext&gt;&lt;/mtext&gt;&lt;mn&gt;18&lt;/mn&gt;&lt;mo&gt;,&lt;/mo&gt;&lt;mtext&gt;&lt;/mtext&gt;&lt;mn&gt;20&lt;/mn&gt;&lt;mo&gt;,&lt;/mo&gt;&lt;mtext&gt;&lt;/mtext&gt;&lt;mo&gt;.&lt;/mo&gt;&lt;mo&gt;.&lt;/mo&gt;&lt;mo&gt;.&lt;/mo&gt;&lt;/math&gt;" id="1144" name="Google Shape;1144;p84" title="10 plus 2 n colon 12 comma 14 comma 16 comma 18 comma 20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825" y="1398262"/>
            <a:ext cx="4038954" cy="254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-2n:\ 8,\ 6,\ 4,\ 2,\ 0,\ ...&quot;&gt;&lt;mn&gt;10&lt;/mn&gt;&lt;mo&gt;−&lt;/mo&gt;&lt;mn&gt;2&lt;/mn&gt;&lt;mi&gt;n&lt;/mi&gt;&lt;mo&gt;:&lt;/mo&gt;&lt;mtext&gt;&lt;/mtext&gt;&lt;mn&gt;8&lt;/mn&gt;&lt;mo&gt;,&lt;/mo&gt;&lt;mtext&gt;&lt;/mtext&gt;&lt;mn&gt;6&lt;/mn&gt;&lt;mo&gt;,&lt;/mo&gt;&lt;mtext&gt;&lt;/mtext&gt;&lt;mn&gt;4&lt;/mn&gt;&lt;mo&gt;,&lt;/mo&gt;&lt;mtext&gt;&lt;/mtext&gt;&lt;mn&gt;2&lt;/mn&gt;&lt;mo&gt;,&lt;/mo&gt;&lt;mtext&gt;&lt;/mtext&gt;&lt;mn&gt;0&lt;/mn&gt;&lt;mo&gt;,&lt;/mo&gt;&lt;mtext&gt;&lt;/mtext&gt;&lt;mo&gt;.&lt;/mo&gt;&lt;mo&gt;.&lt;/mo&gt;&lt;mo&gt;.&lt;/mo&gt;&lt;/math&gt;" id="1145" name="Google Shape;1145;p84" title="10 minus 2 n colon 8 comma 6 comma 4 comma 2 comma 0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153" y="1404100"/>
            <a:ext cx="3286010" cy="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84"/>
          <p:cNvSpPr txBox="1"/>
          <p:nvPr>
            <p:ph idx="1" type="body"/>
          </p:nvPr>
        </p:nvSpPr>
        <p:spPr>
          <a:xfrm>
            <a:off x="324000" y="1912712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     10 + 2(1) = 10 + 2 = 12</a:t>
            </a:r>
            <a:endParaRPr sz="2000"/>
          </a:p>
        </p:txBody>
      </p:sp>
      <p:sp>
        <p:nvSpPr>
          <p:cNvPr id="1147" name="Google Shape;1147;p84"/>
          <p:cNvSpPr txBox="1"/>
          <p:nvPr>
            <p:ph idx="1" type="body"/>
          </p:nvPr>
        </p:nvSpPr>
        <p:spPr>
          <a:xfrm>
            <a:off x="324000" y="2347430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 sz="2000"/>
              <a:t>= 2     10 + 2(2) = 10 + 4 = 14</a:t>
            </a:r>
            <a:endParaRPr sz="2000"/>
          </a:p>
        </p:txBody>
      </p:sp>
      <p:sp>
        <p:nvSpPr>
          <p:cNvPr id="1148" name="Google Shape;1148;p84"/>
          <p:cNvSpPr txBox="1"/>
          <p:nvPr>
            <p:ph idx="1" type="body"/>
          </p:nvPr>
        </p:nvSpPr>
        <p:spPr>
          <a:xfrm>
            <a:off x="324000" y="2782148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 sz="2000"/>
              <a:t>= 3     10 + 2(3) = 10 + 6 = 16</a:t>
            </a:r>
            <a:endParaRPr sz="2000"/>
          </a:p>
        </p:txBody>
      </p:sp>
      <p:sp>
        <p:nvSpPr>
          <p:cNvPr id="1149" name="Google Shape;1149;p84"/>
          <p:cNvSpPr/>
          <p:nvPr/>
        </p:nvSpPr>
        <p:spPr>
          <a:xfrm>
            <a:off x="1581299" y="1255275"/>
            <a:ext cx="2990700" cy="45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4"/>
          <p:cNvSpPr/>
          <p:nvPr/>
        </p:nvSpPr>
        <p:spPr>
          <a:xfrm>
            <a:off x="6014628" y="1331475"/>
            <a:ext cx="2615700" cy="45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4"/>
          <p:cNvSpPr txBox="1"/>
          <p:nvPr>
            <p:ph idx="1" type="body"/>
          </p:nvPr>
        </p:nvSpPr>
        <p:spPr>
          <a:xfrm>
            <a:off x="324000" y="3315548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As the sequence grows we add more and more lots of positive 2</a:t>
            </a:r>
            <a:endParaRPr sz="1900"/>
          </a:p>
        </p:txBody>
      </p:sp>
      <p:sp>
        <p:nvSpPr>
          <p:cNvPr id="1152" name="Google Shape;1152;p84"/>
          <p:cNvSpPr txBox="1"/>
          <p:nvPr>
            <p:ph idx="1" type="body"/>
          </p:nvPr>
        </p:nvSpPr>
        <p:spPr>
          <a:xfrm>
            <a:off x="4830212" y="1912712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 sz="2000"/>
              <a:t>= 1     10 - 2(1) = 10 - 2 = 8</a:t>
            </a:r>
            <a:endParaRPr sz="2000"/>
          </a:p>
        </p:txBody>
      </p:sp>
      <p:sp>
        <p:nvSpPr>
          <p:cNvPr id="1153" name="Google Shape;1153;p84"/>
          <p:cNvSpPr txBox="1"/>
          <p:nvPr>
            <p:ph idx="1" type="body"/>
          </p:nvPr>
        </p:nvSpPr>
        <p:spPr>
          <a:xfrm>
            <a:off x="4830212" y="2347430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 sz="2000"/>
              <a:t>= 2     10 - 2(2) = 10 - 4 = 6</a:t>
            </a:r>
            <a:endParaRPr sz="2000"/>
          </a:p>
        </p:txBody>
      </p:sp>
      <p:sp>
        <p:nvSpPr>
          <p:cNvPr id="1154" name="Google Shape;1154;p84"/>
          <p:cNvSpPr txBox="1"/>
          <p:nvPr>
            <p:ph idx="1" type="body"/>
          </p:nvPr>
        </p:nvSpPr>
        <p:spPr>
          <a:xfrm>
            <a:off x="4830212" y="2782148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 sz="2000"/>
              <a:t>= 3     10 - 2(3) = 10 - 6 = 4</a:t>
            </a:r>
            <a:endParaRPr sz="2000"/>
          </a:p>
        </p:txBody>
      </p:sp>
      <p:sp>
        <p:nvSpPr>
          <p:cNvPr id="1155" name="Google Shape;1155;p84"/>
          <p:cNvSpPr txBox="1"/>
          <p:nvPr>
            <p:ph idx="1" type="body"/>
          </p:nvPr>
        </p:nvSpPr>
        <p:spPr>
          <a:xfrm>
            <a:off x="4830200" y="3315552"/>
            <a:ext cx="3996000" cy="6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As the sequence grows we add more and more lots of </a:t>
            </a:r>
            <a:r>
              <a:rPr lang="en-GB" sz="1900"/>
              <a:t>negative</a:t>
            </a:r>
            <a:r>
              <a:rPr lang="en-GB" sz="1900"/>
              <a:t> 2</a:t>
            </a:r>
            <a:endParaRPr sz="1900"/>
          </a:p>
        </p:txBody>
      </p:sp>
      <p:sp>
        <p:nvSpPr>
          <p:cNvPr id="1156" name="Google Shape;1156;p84"/>
          <p:cNvSpPr txBox="1"/>
          <p:nvPr>
            <p:ph idx="1" type="body"/>
          </p:nvPr>
        </p:nvSpPr>
        <p:spPr>
          <a:xfrm>
            <a:off x="4821425" y="4087950"/>
            <a:ext cx="39960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 </a:t>
            </a:r>
            <a:r>
              <a:rPr lang="en-GB" sz="1900">
                <a:solidFill>
                  <a:schemeClr val="accent5"/>
                </a:solidFill>
              </a:rPr>
              <a:t>negative </a:t>
            </a:r>
            <a:r>
              <a:rPr lang="en-GB" sz="1900"/>
              <a:t>coefficient of</a:t>
            </a:r>
            <a:r>
              <a:rPr lang="en-GB" sz="1900">
                <a:solidFill>
                  <a:schemeClr val="dk2"/>
                </a:solidFill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gives us a </a:t>
            </a:r>
            <a:r>
              <a:rPr lang="en-GB" sz="1900">
                <a:solidFill>
                  <a:schemeClr val="accent5"/>
                </a:solidFill>
              </a:rPr>
              <a:t>decreasing </a:t>
            </a:r>
            <a:r>
              <a:rPr lang="en-GB" sz="1900"/>
              <a:t>sequence.</a:t>
            </a:r>
            <a:endParaRPr sz="1900"/>
          </a:p>
        </p:txBody>
      </p:sp>
      <p:sp>
        <p:nvSpPr>
          <p:cNvPr id="1157" name="Google Shape;1157;p84"/>
          <p:cNvSpPr txBox="1"/>
          <p:nvPr>
            <p:ph idx="1" type="body"/>
          </p:nvPr>
        </p:nvSpPr>
        <p:spPr>
          <a:xfrm>
            <a:off x="325624" y="4087962"/>
            <a:ext cx="3770100" cy="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 </a:t>
            </a:r>
            <a:r>
              <a:rPr lang="en-GB" sz="1900">
                <a:solidFill>
                  <a:schemeClr val="accent5"/>
                </a:solidFill>
              </a:rPr>
              <a:t>positive </a:t>
            </a:r>
            <a:r>
              <a:rPr lang="en-GB" sz="1900"/>
              <a:t>coefficient of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gives us an </a:t>
            </a:r>
            <a:r>
              <a:rPr lang="en-GB" sz="1900">
                <a:solidFill>
                  <a:schemeClr val="accent5"/>
                </a:solidFill>
              </a:rPr>
              <a:t>increasing </a:t>
            </a:r>
            <a:r>
              <a:rPr lang="en-GB" sz="1900"/>
              <a:t>sequence.</a:t>
            </a:r>
            <a:endParaRPr sz="1900"/>
          </a:p>
        </p:txBody>
      </p:sp>
      <p:sp>
        <p:nvSpPr>
          <p:cNvPr id="1158" name="Google Shape;1158;p84"/>
          <p:cNvSpPr txBox="1"/>
          <p:nvPr/>
        </p:nvSpPr>
        <p:spPr>
          <a:xfrm>
            <a:off x="228600" y="710469"/>
            <a:ext cx="549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compare these two sequences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8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arithmetic sequences is a decreasing sequence?</a:t>
            </a:r>
            <a:endParaRPr/>
          </a:p>
        </p:txBody>
      </p:sp>
      <p:sp>
        <p:nvSpPr>
          <p:cNvPr id="1164" name="Google Shape;1164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decreasing sequences</a:t>
            </a:r>
            <a:endParaRPr/>
          </a:p>
        </p:txBody>
      </p:sp>
      <p:sp>
        <p:nvSpPr>
          <p:cNvPr id="1165" name="Google Shape;1165;p85"/>
          <p:cNvSpPr txBox="1"/>
          <p:nvPr>
            <p:ph idx="5" type="subTitle"/>
          </p:nvPr>
        </p:nvSpPr>
        <p:spPr>
          <a:xfrm>
            <a:off x="3369600" y="1685825"/>
            <a:ext cx="5133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+8 coefficient of n. Increasing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8n+3&quot;&gt;&lt;mo&gt;−&lt;/mo&gt;&lt;mn&gt;8&lt;/mn&gt;&lt;mi&gt;n&lt;/mi&gt;&lt;mo&gt;+&lt;/mo&gt;&lt;mn&gt;3&lt;/mn&gt;&lt;/math&gt;" id="1166" name="Google Shape;1166;p85" title="negative 8 n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64" y="3336850"/>
            <a:ext cx="1467718" cy="33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-3n&quot;&gt;&lt;mn&gt;8&lt;/mn&gt;&lt;mo&gt;−&lt;/mo&gt;&lt;mn&gt;3&lt;/mn&gt;&lt;mi&gt;n&lt;/mi&gt;&lt;/math&gt;" id="1167" name="Google Shape;1167;p85" title="8 minus 3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064" y="4146059"/>
            <a:ext cx="1180556" cy="327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n-3&quot;&gt;&lt;mn&gt;8&lt;/mn&gt;&lt;mi&gt;n&lt;/mi&gt;&lt;mo&gt;−&lt;/mo&gt;&lt;mn&gt;3&lt;/mn&gt;&lt;/math&gt;" id="1168" name="Google Shape;1168;p85" title="8 n minu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064" y="1731788"/>
            <a:ext cx="1164600" cy="327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8+3n&quot;&gt;&lt;mo&gt;−&lt;/mo&gt;&lt;mn&gt;8&lt;/mn&gt;&lt;mo&gt;+&lt;/mo&gt;&lt;mn&gt;3&lt;/mn&gt;&lt;mi&gt;n&lt;/mi&gt;&lt;/math&gt;" id="1169" name="Google Shape;1169;p85" title="negative 8 plus 3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3064" y="2533017"/>
            <a:ext cx="1467725" cy="32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5055" y="331136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4467" y="411832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85"/>
          <p:cNvSpPr txBox="1"/>
          <p:nvPr>
            <p:ph idx="5" type="subTitle"/>
          </p:nvPr>
        </p:nvSpPr>
        <p:spPr>
          <a:xfrm>
            <a:off x="3369600" y="2503225"/>
            <a:ext cx="5133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+3 coefficient of n. Increasing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85"/>
          <p:cNvSpPr txBox="1"/>
          <p:nvPr>
            <p:ph idx="5" type="subTitle"/>
          </p:nvPr>
        </p:nvSpPr>
        <p:spPr>
          <a:xfrm>
            <a:off x="3369600" y="3157775"/>
            <a:ext cx="53055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-8 coefficient of n. Decreasing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8n+3=3-8n&quot;&gt;&lt;mo&gt;−&lt;/mo&gt;&lt;mn&gt;8&lt;/mn&gt;&lt;mi&gt;n&lt;/mi&gt;&lt;mo&gt;+&lt;/mo&gt;&lt;mn&gt;3&lt;/mn&gt;&lt;mo&gt;=&lt;/mo&gt;&lt;mn&gt;3&lt;/mn&gt;&lt;mo&gt;−&lt;/mo&gt;&lt;mn&gt;8&lt;/mn&gt;&lt;mi&gt;n&lt;/mi&gt;&lt;/math&gt;" id="1174" name="Google Shape;1174;p85" title="negative 8 n plus 3 equals 3 minus 8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9250" y="3571500"/>
            <a:ext cx="2491822" cy="255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5"/>
          <p:cNvSpPr txBox="1"/>
          <p:nvPr>
            <p:ph idx="5" type="subTitle"/>
          </p:nvPr>
        </p:nvSpPr>
        <p:spPr>
          <a:xfrm>
            <a:off x="3369600" y="3995975"/>
            <a:ext cx="5133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-3 coefficient of n. Decreasing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8-3n=-3n+8&quot;&gt;&lt;mn&gt;8&lt;/mn&gt;&lt;mo&gt;−&lt;/mo&gt;&lt;mn&gt;3&lt;/mn&gt;&lt;mi&gt;n&lt;/mi&gt;&lt;mo&gt;=&lt;/mo&gt;&lt;mo&gt;−&lt;/mo&gt;&lt;mn&gt;3&lt;/mn&gt;&lt;mi&gt;n&lt;/mi&gt;&lt;mo&gt;+&lt;/mo&gt;&lt;mn&gt;8&lt;/mn&gt;&lt;/math&gt;" id="1176" name="Google Shape;1176;p85" title="8 minus 3 n equals negative 3 n plus 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34527" y="4386951"/>
            <a:ext cx="2479563" cy="25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sp>
        <p:nvSpPr>
          <p:cNvPr id="1182" name="Google Shape;1182;p86"/>
          <p:cNvSpPr txBox="1"/>
          <p:nvPr>
            <p:ph idx="4294967295" type="body"/>
          </p:nvPr>
        </p:nvSpPr>
        <p:spPr>
          <a:xfrm>
            <a:off x="324000" y="759300"/>
            <a:ext cx="4248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</a:t>
            </a:r>
            <a:r>
              <a:rPr lang="en-GB"/>
              <a:t>       term.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183" name="Google Shape;1183;p86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386" y="734375"/>
            <a:ext cx="337650" cy="29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0.08,-0.11,-0.14,-0.17,-0.2,\ ...&quot;&gt;&lt;mo&gt;−&lt;/mo&gt;&lt;mn&gt;0.08&lt;/mn&gt;&lt;mo&gt;,&lt;/mo&gt;&lt;mo&gt;−&lt;/mo&gt;&lt;mn&gt;0.11&lt;/mn&gt;&lt;mo&gt;,&lt;/mo&gt;&lt;mo&gt;−&lt;/mo&gt;&lt;mn&gt;0.14&lt;/mn&gt;&lt;mo&gt;,&lt;/mo&gt;&lt;mo&gt;−&lt;/mo&gt;&lt;mn&gt;0.17&lt;/mn&gt;&lt;mo&gt;,&lt;/mo&gt;&lt;mo&gt;−&lt;/mo&gt;&lt;mn&gt;0.2&lt;/mn&gt;&lt;mo&gt;,&lt;/mo&gt;&lt;mtext&gt;&lt;/mtext&gt;&lt;mo&gt;.&lt;/mo&gt;&lt;mo&gt;.&lt;/mo&gt;&lt;mo&gt;.&lt;/mo&gt;&lt;/math&gt;" id="1184" name="Google Shape;118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500" y="2263634"/>
            <a:ext cx="3960499" cy="2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6"/>
          <p:cNvSpPr txBox="1"/>
          <p:nvPr>
            <p:ph idx="1" type="subTitle"/>
          </p:nvPr>
        </p:nvSpPr>
        <p:spPr>
          <a:xfrm>
            <a:off x="337825" y="2985248"/>
            <a:ext cx="3152400" cy="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difference: </a:t>
            </a:r>
            <a:r>
              <a:rPr lang="en-GB">
                <a:solidFill>
                  <a:schemeClr val="dk2"/>
                </a:solidFill>
              </a:rPr>
              <a:t>-</a:t>
            </a:r>
            <a:r>
              <a:rPr lang="en-GB">
                <a:solidFill>
                  <a:schemeClr val="dk2"/>
                </a:solidFill>
              </a:rPr>
              <a:t>0.03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 of -0.03n: </a:t>
            </a:r>
            <a:r>
              <a:rPr lang="en-GB">
                <a:solidFill>
                  <a:schemeClr val="dk2"/>
                </a:solidFill>
              </a:rPr>
              <a:t>-0.05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86" name="Google Shape;1186;p86"/>
          <p:cNvSpPr txBox="1"/>
          <p:nvPr>
            <p:ph idx="4294967295" type="body"/>
          </p:nvPr>
        </p:nvSpPr>
        <p:spPr>
          <a:xfrm>
            <a:off x="702600" y="254691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7" name="Google Shape;1187;p86"/>
          <p:cNvSpPr/>
          <p:nvPr/>
        </p:nvSpPr>
        <p:spPr>
          <a:xfrm>
            <a:off x="2661776" y="2987064"/>
            <a:ext cx="526200" cy="34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6"/>
          <p:cNvSpPr/>
          <p:nvPr/>
        </p:nvSpPr>
        <p:spPr>
          <a:xfrm>
            <a:off x="1584697" y="3327853"/>
            <a:ext cx="1799100" cy="34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6"/>
          <p:cNvSpPr txBox="1"/>
          <p:nvPr>
            <p:ph idx="1" type="subTitle"/>
          </p:nvPr>
        </p:nvSpPr>
        <p:spPr>
          <a:xfrm>
            <a:off x="4811000" y="4319996"/>
            <a:ext cx="14508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190" name="Google Shape;1190;p86"/>
          <p:cNvSpPr txBox="1"/>
          <p:nvPr>
            <p:ph idx="1" type="subTitle"/>
          </p:nvPr>
        </p:nvSpPr>
        <p:spPr>
          <a:xfrm>
            <a:off x="2852425" y="4242771"/>
            <a:ext cx="14760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1191" name="Google Shape;1191;p86"/>
          <p:cNvCxnSpPr>
            <a:stCxn id="1189" idx="0"/>
          </p:cNvCxnSpPr>
          <p:nvPr/>
        </p:nvCxnSpPr>
        <p:spPr>
          <a:xfrm flipH="1" rot="10800000">
            <a:off x="5536400" y="4079696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2" name="Google Shape;1192;p86"/>
          <p:cNvCxnSpPr/>
          <p:nvPr/>
        </p:nvCxnSpPr>
        <p:spPr>
          <a:xfrm rot="10800000">
            <a:off x="2867885" y="4002471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3" name="Google Shape;1193;p86"/>
          <p:cNvSpPr txBox="1"/>
          <p:nvPr>
            <p:ph idx="4294967295" type="body"/>
          </p:nvPr>
        </p:nvSpPr>
        <p:spPr>
          <a:xfrm>
            <a:off x="1540800" y="254691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4" name="Google Shape;1194;p86"/>
          <p:cNvSpPr txBox="1"/>
          <p:nvPr>
            <p:ph idx="4294967295" type="body"/>
          </p:nvPr>
        </p:nvSpPr>
        <p:spPr>
          <a:xfrm>
            <a:off x="2302800" y="254691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5" name="Google Shape;1195;p86"/>
          <p:cNvSpPr txBox="1"/>
          <p:nvPr>
            <p:ph idx="4294967295" type="body"/>
          </p:nvPr>
        </p:nvSpPr>
        <p:spPr>
          <a:xfrm>
            <a:off x="3064800" y="254691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-0.03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-0.03,-0.06,-0.09,-0.12,-0.15,\ ...&quot;&gt;&lt;mo&gt;−&lt;/mo&gt;&lt;mn&gt;0.03&lt;/mn&gt;&lt;mo&gt;,&lt;/mo&gt;&lt;mo&gt;−&lt;/mo&gt;&lt;mn&gt;0.06&lt;/mn&gt;&lt;mo&gt;,&lt;/mo&gt;&lt;mo&gt;−&lt;/mo&gt;&lt;mn&gt;0.09&lt;/mn&gt;&lt;mo&gt;,&lt;/mo&gt;&lt;mo&gt;−&lt;/mo&gt;&lt;mn&gt;0.12&lt;/mn&gt;&lt;mo&gt;,&lt;/mo&gt;&lt;mo&gt;−&lt;/mo&gt;&lt;mn&gt;0.15&lt;/mn&gt;&lt;mo&gt;,&lt;/mo&gt;&lt;mtext&gt;&lt;/mtext&gt;&lt;mo&gt;.&lt;/mo&gt;&lt;mo&gt;.&lt;/mo&gt;&lt;mo&gt;.&lt;/mo&gt;&lt;/math&gt;" id="1196" name="Google Shape;1196;p86" title="negative 0.03 comma negative 0.06 comma negative 0.09 comma negative 0.12 comma negative 0.15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212" y="1594815"/>
            <a:ext cx="3993656" cy="22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0.03n&quot;&gt;&lt;mo&gt;−&lt;/mo&gt;&lt;mn&gt;0.03&lt;/mn&gt;&lt;mi&gt;n&lt;/mi&gt;&lt;/math&gt;" id="1197" name="Google Shape;1197;p86" title="negative 0.03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775" y="1185979"/>
            <a:ext cx="718425" cy="178521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86"/>
          <p:cNvSpPr txBox="1"/>
          <p:nvPr>
            <p:ph idx="4294967295" type="body"/>
          </p:nvPr>
        </p:nvSpPr>
        <p:spPr>
          <a:xfrm>
            <a:off x="394021" y="188903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9" name="Google Shape;1199;p86"/>
          <p:cNvSpPr txBox="1"/>
          <p:nvPr>
            <p:ph idx="4294967295" type="body"/>
          </p:nvPr>
        </p:nvSpPr>
        <p:spPr>
          <a:xfrm>
            <a:off x="1121469" y="188903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0" name="Google Shape;1200;p86"/>
          <p:cNvSpPr txBox="1"/>
          <p:nvPr>
            <p:ph idx="4294967295" type="body"/>
          </p:nvPr>
        </p:nvSpPr>
        <p:spPr>
          <a:xfrm>
            <a:off x="1859329" y="188903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1" name="Google Shape;1201;p86"/>
          <p:cNvSpPr txBox="1"/>
          <p:nvPr>
            <p:ph idx="4294967295" type="body"/>
          </p:nvPr>
        </p:nvSpPr>
        <p:spPr>
          <a:xfrm>
            <a:off x="2600505" y="188903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2" name="Google Shape;1202;p86"/>
          <p:cNvSpPr txBox="1"/>
          <p:nvPr>
            <p:ph idx="4294967295" type="body"/>
          </p:nvPr>
        </p:nvSpPr>
        <p:spPr>
          <a:xfrm>
            <a:off x="3320857" y="1889034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-0.05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-0.03n-0.05&quot;&gt;&lt;mo&gt;−&lt;/mo&gt;&lt;mn&gt;0.03&lt;/mn&gt;&lt;mi&gt;n&lt;/mi&gt;&lt;mo&gt;−&lt;/mo&gt;&lt;mn&gt;0.05&lt;/mn&gt;&lt;/math&gt;" id="1203" name="Google Shape;1203;p86" title="negative 0.03 n minus 0.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8772" y="3656727"/>
            <a:ext cx="2285067" cy="2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86"/>
          <p:cNvSpPr txBox="1"/>
          <p:nvPr>
            <p:ph idx="4294967295" type="body"/>
          </p:nvPr>
        </p:nvSpPr>
        <p:spPr>
          <a:xfrm>
            <a:off x="4830212" y="759300"/>
            <a:ext cx="4248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      term.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205" name="Google Shape;1205;p86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598" y="734375"/>
            <a:ext cx="337650" cy="29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2.1,-2.25,-2.4,-2.55,-2.7,\ ...&quot;&gt;&lt;mo&gt;−&lt;/mo&gt;&lt;mn&gt;2.1&lt;/mn&gt;&lt;mo&gt;,&lt;/mo&gt;&lt;mo&gt;−&lt;/mo&gt;&lt;mn&gt;2.25&lt;/mn&gt;&lt;mo&gt;,&lt;/mo&gt;&lt;mo&gt;−&lt;/mo&gt;&lt;mn&gt;2.4&lt;/mn&gt;&lt;mo&gt;,&lt;/mo&gt;&lt;mo&gt;−&lt;/mo&gt;&lt;mn&gt;2.55&lt;/mn&gt;&lt;mo&gt;,&lt;/mo&gt;&lt;mo&gt;−&lt;/mo&gt;&lt;mn&gt;2.7&lt;/mn&gt;&lt;mo&gt;,&lt;/mo&gt;&lt;mtext&gt;&lt;/mtext&gt;&lt;mo&gt;.&lt;/mo&gt;&lt;mo&gt;.&lt;/mo&gt;&lt;mo&gt;.&lt;/mo&gt;&lt;/math&gt;" id="1206" name="Google Shape;1206;p86" title="negative 2.1 comma negative 2.25 comma negative 2.4 comma negative 2.55 comma negative 2.7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19650" y="2250487"/>
            <a:ext cx="3962749" cy="2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6"/>
          <p:cNvSpPr txBox="1"/>
          <p:nvPr>
            <p:ph idx="1" type="subTitle"/>
          </p:nvPr>
        </p:nvSpPr>
        <p:spPr>
          <a:xfrm>
            <a:off x="4823213" y="2985248"/>
            <a:ext cx="3152400" cy="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difference: </a:t>
            </a:r>
            <a:r>
              <a:rPr lang="en-GB">
                <a:solidFill>
                  <a:schemeClr val="dk2"/>
                </a:solidFill>
              </a:rPr>
              <a:t>-0.15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 of -0.15n: </a:t>
            </a:r>
            <a:r>
              <a:rPr lang="en-GB">
                <a:solidFill>
                  <a:schemeClr val="dk2"/>
                </a:solidFill>
              </a:rPr>
              <a:t>-1.95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08" name="Google Shape;1208;p86"/>
          <p:cNvSpPr/>
          <p:nvPr/>
        </p:nvSpPr>
        <p:spPr>
          <a:xfrm>
            <a:off x="7147177" y="2966250"/>
            <a:ext cx="592800" cy="340800"/>
          </a:xfrm>
          <a:prstGeom prst="rect">
            <a:avLst/>
          </a:prstGeom>
          <a:solidFill>
            <a:srgbClr val="EAF2F2"/>
          </a:solidFill>
          <a:ln cap="flat" cmpd="sng" w="9525">
            <a:solidFill>
              <a:srgbClr val="EA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6"/>
          <p:cNvSpPr/>
          <p:nvPr/>
        </p:nvSpPr>
        <p:spPr>
          <a:xfrm>
            <a:off x="6416372" y="3347250"/>
            <a:ext cx="1476000" cy="340800"/>
          </a:xfrm>
          <a:prstGeom prst="rect">
            <a:avLst/>
          </a:prstGeom>
          <a:solidFill>
            <a:srgbClr val="EAF2F2"/>
          </a:solidFill>
          <a:ln cap="flat" cmpd="sng" w="9525">
            <a:solidFill>
              <a:srgbClr val="EA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0.15n-1.95&quot;&gt;&lt;mo&gt;−&lt;/mo&gt;&lt;mn&gt;0.15&lt;/mn&gt;&lt;mi&gt;n&lt;/mi&gt;&lt;mo&gt;−&lt;/mo&gt;&lt;mn&gt;1.95&lt;/mn&gt;&lt;/math&gt;" id="1210" name="Google Shape;1210;p86" title="negative 0.15 n minus 1.9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98419" y="3733027"/>
            <a:ext cx="2285075" cy="292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0.15,-0.3,-0.45,-0.6,-0.75,\ ...&quot;&gt;&lt;mo&gt;−&lt;/mo&gt;&lt;mn&gt;0.15&lt;/mn&gt;&lt;mo&gt;,&lt;/mo&gt;&lt;mo&gt;−&lt;/mo&gt;&lt;mn&gt;0.3&lt;/mn&gt;&lt;mo&gt;,&lt;/mo&gt;&lt;mo&gt;−&lt;/mo&gt;&lt;mn&gt;0.45&lt;/mn&gt;&lt;mo&gt;,&lt;/mo&gt;&lt;mo&gt;−&lt;/mo&gt;&lt;mn&gt;0.6&lt;/mn&gt;&lt;mo&gt;,&lt;/mo&gt;&lt;mo&gt;−&lt;/mo&gt;&lt;mn&gt;0.75&lt;/mn&gt;&lt;mo&gt;,&lt;/mo&gt;&lt;mtext&gt;&lt;/mtext&gt;&lt;mo&gt;.&lt;/mo&gt;&lt;mo&gt;.&lt;/mo&gt;&lt;mo&gt;.&lt;/mo&gt;&lt;/math&gt;" id="1211" name="Google Shape;1211;p86" title="negative 0.15 comma negative 0.3 comma negative 0.45 comma negative 0.6 comma negative 0.75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11001" y="1590159"/>
            <a:ext cx="3993675" cy="233879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86"/>
          <p:cNvSpPr txBox="1"/>
          <p:nvPr>
            <p:ph idx="4294967295" type="body"/>
          </p:nvPr>
        </p:nvSpPr>
        <p:spPr>
          <a:xfrm>
            <a:off x="5149657" y="2540281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-0.15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3" name="Google Shape;1213;p86"/>
          <p:cNvSpPr txBox="1"/>
          <p:nvPr>
            <p:ph idx="4294967295" type="body"/>
          </p:nvPr>
        </p:nvSpPr>
        <p:spPr>
          <a:xfrm>
            <a:off x="5911657" y="2540281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-0.15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4" name="Google Shape;1214;p86"/>
          <p:cNvSpPr txBox="1"/>
          <p:nvPr>
            <p:ph idx="4294967295" type="body"/>
          </p:nvPr>
        </p:nvSpPr>
        <p:spPr>
          <a:xfrm>
            <a:off x="6673657" y="2540281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-0.15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5" name="Google Shape;1215;p86"/>
          <p:cNvSpPr txBox="1"/>
          <p:nvPr>
            <p:ph idx="4294967295" type="body"/>
          </p:nvPr>
        </p:nvSpPr>
        <p:spPr>
          <a:xfrm>
            <a:off x="7511857" y="2540281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-0.15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6" name="Google Shape;1216;p86"/>
          <p:cNvSpPr txBox="1"/>
          <p:nvPr>
            <p:ph idx="4294967295" type="body"/>
          </p:nvPr>
        </p:nvSpPr>
        <p:spPr>
          <a:xfrm>
            <a:off x="4889821" y="1875305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-1.95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7" name="Google Shape;1217;p86"/>
          <p:cNvSpPr txBox="1"/>
          <p:nvPr>
            <p:ph idx="4294967295" type="body"/>
          </p:nvPr>
        </p:nvSpPr>
        <p:spPr>
          <a:xfrm>
            <a:off x="5610174" y="1875305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-1.95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8" name="Google Shape;1218;p86"/>
          <p:cNvSpPr txBox="1"/>
          <p:nvPr>
            <p:ph idx="4294967295" type="body"/>
          </p:nvPr>
        </p:nvSpPr>
        <p:spPr>
          <a:xfrm>
            <a:off x="6348033" y="1875305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-1.95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9" name="Google Shape;1219;p86"/>
          <p:cNvSpPr txBox="1"/>
          <p:nvPr>
            <p:ph idx="4294967295" type="body"/>
          </p:nvPr>
        </p:nvSpPr>
        <p:spPr>
          <a:xfrm>
            <a:off x="7110033" y="1875305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-1.95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0" name="Google Shape;1220;p86"/>
          <p:cNvSpPr txBox="1"/>
          <p:nvPr>
            <p:ph idx="4294967295" type="body"/>
          </p:nvPr>
        </p:nvSpPr>
        <p:spPr>
          <a:xfrm>
            <a:off x="7795833" y="1875305"/>
            <a:ext cx="5928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-1.95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1" name="Google Shape;1221;p86"/>
          <p:cNvSpPr txBox="1"/>
          <p:nvPr>
            <p:ph idx="1" type="subTitle"/>
          </p:nvPr>
        </p:nvSpPr>
        <p:spPr>
          <a:xfrm>
            <a:off x="642625" y="4395171"/>
            <a:ext cx="14508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difference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1222" name="Google Shape;1222;p86"/>
          <p:cNvCxnSpPr>
            <a:stCxn id="1221" idx="0"/>
          </p:cNvCxnSpPr>
          <p:nvPr/>
        </p:nvCxnSpPr>
        <p:spPr>
          <a:xfrm flipH="1" rot="10800000">
            <a:off x="1368025" y="4154871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3" name="Google Shape;1223;p86"/>
          <p:cNvSpPr txBox="1"/>
          <p:nvPr>
            <p:ph idx="1" type="subTitle"/>
          </p:nvPr>
        </p:nvSpPr>
        <p:spPr>
          <a:xfrm>
            <a:off x="7147175" y="4395171"/>
            <a:ext cx="1476000" cy="3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1224" name="Google Shape;1224;p86"/>
          <p:cNvCxnSpPr/>
          <p:nvPr/>
        </p:nvCxnSpPr>
        <p:spPr>
          <a:xfrm rot="10800000">
            <a:off x="7511860" y="4090258"/>
            <a:ext cx="226500" cy="24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87"/>
          <p:cNvSpPr txBox="1"/>
          <p:nvPr>
            <p:ph idx="4294967295" type="body"/>
          </p:nvPr>
        </p:nvSpPr>
        <p:spPr>
          <a:xfrm>
            <a:off x="324000" y="759300"/>
            <a:ext cx="71352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Match the sequences to their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9-5n&quot;&gt;&lt;mn&gt;29&lt;/mn&gt;&lt;mo&gt;−&lt;/mo&gt;&lt;mn&gt;5&lt;/mn&gt;&lt;mi&gt;n&lt;/mi&gt;&lt;/math&gt;" id="1230" name="Google Shape;1230;p87" title="29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176" y="1328798"/>
            <a:ext cx="1174235" cy="2770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9-3n&quot;&gt;&lt;mn&gt;29&lt;/mn&gt;&lt;mo&gt;−&lt;/mo&gt;&lt;mn&gt;3&lt;/mn&gt;&lt;mi&gt;n&lt;/mi&gt;&lt;/math&gt;" id="1232" name="Google Shape;1232;p87" title="29 minus 3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176" y="2827537"/>
            <a:ext cx="1174235" cy="270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-2&quot;&gt;&lt;mo&gt;−&lt;/mo&gt;&lt;mn&gt;3&lt;/mn&gt;&lt;mi&gt;n&lt;/mi&gt;&lt;mo&gt;−&lt;/mo&gt;&lt;mn&gt;2&lt;/mn&gt;&lt;/math&gt;" id="1233" name="Google Shape;1233;p87" title="negative 3 n min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8804" y="3570309"/>
            <a:ext cx="1233607" cy="270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-3n&quot;&gt;&lt;mn&gt;24&lt;/mn&gt;&lt;mo&gt;−&lt;/mo&gt;&lt;mn&gt;3&lt;/mn&gt;&lt;mi&gt;n&lt;/mi&gt;&lt;/math&gt;" id="1234" name="Google Shape;1234;p87" title="24 minus 3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8385" y="2078167"/>
            <a:ext cx="1194026" cy="277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n+2&quot;&gt;&lt;mo&gt;−&lt;/mo&gt;&lt;mn&gt;5&lt;/mn&gt;&lt;mi&gt;n&lt;/mi&gt;&lt;mo&gt;+&lt;/mo&gt;&lt;mn&gt;2&lt;/mn&gt;&lt;/math&gt;" id="1235" name="Google Shape;1235;p87" title="negative 5 n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48804" y="4313082"/>
            <a:ext cx="1233607" cy="283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,\ 19,\ 14,\ 9,\ 4,\ ...&quot;&gt;&lt;mn&gt;24&lt;/mn&gt;&lt;mo&gt;,&lt;/mo&gt;&lt;mtext&gt;&lt;/mtext&gt;&lt;mn&gt;19&lt;/mn&gt;&lt;mo&gt;,&lt;/mo&gt;&lt;mtext&gt;&lt;/mtext&gt;&lt;mn&gt;14&lt;/mn&gt;&lt;mo&gt;,&lt;/mo&gt;&lt;mtext&gt;&lt;/mtext&gt;&lt;mn&gt;9&lt;/mn&gt;&lt;mo&gt;,&lt;/mo&gt;&lt;mtext&gt;&lt;/mtext&gt;&lt;mn&gt;4&lt;/mn&gt;&lt;mo&gt;,&lt;/mo&gt;&lt;mtext&gt;&lt;/mtext&gt;&lt;mo&gt;.&lt;/mo&gt;&lt;mo&gt;.&lt;/mo&gt;&lt;mo&gt;.&lt;/mo&gt;&lt;/math&gt;" id="1236" name="Google Shape;1236;p87" title="24 comma 19 comma 14 comma 9 comma 4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8236" y="4301973"/>
            <a:ext cx="3170841" cy="31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1,\ 18,\ 15,\ 12,\ 9,\ ...&quot;&gt;&lt;mn&gt;21&lt;/mn&gt;&lt;mo&gt;,&lt;/mo&gt;&lt;mtext&gt;&lt;/mtext&gt;&lt;mn&gt;18&lt;/mn&gt;&lt;mo&gt;,&lt;/mo&gt;&lt;mtext&gt;&lt;/mtext&gt;&lt;mn&gt;15&lt;/mn&gt;&lt;mo&gt;,&lt;/mo&gt;&lt;mtext&gt;&lt;/mtext&gt;&lt;mn&gt;12&lt;/mn&gt;&lt;mo&gt;,&lt;/mo&gt;&lt;mtext&gt;&lt;/mtext&gt;&lt;mn&gt;9&lt;/mn&gt;&lt;mo&gt;,&lt;/mo&gt;&lt;mtext&gt;&lt;/mtext&gt;&lt;mo&gt;.&lt;/mo&gt;&lt;mo&gt;.&lt;/mo&gt;&lt;mo&gt;.&lt;/mo&gt;&lt;/math&gt;" id="1237" name="Google Shape;1237;p87" title="21 comma 18 comma 15 comma 12 comma 9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8236" y="1352614"/>
            <a:ext cx="3341251" cy="322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6,\ 23,\ 20,\ 17,\ 14,\ ...&quot;&gt;&lt;mn&gt;26&lt;/mn&gt;&lt;mo&gt;,&lt;/mo&gt;&lt;mtext&gt;&lt;/mtext&gt;&lt;mn&gt;23&lt;/mn&gt;&lt;mo&gt;,&lt;/mo&gt;&lt;mtext&gt;&lt;/mtext&gt;&lt;mn&gt;20&lt;/mn&gt;&lt;mo&gt;,&lt;/mo&gt;&lt;mtext&gt;&lt;/mtext&gt;&lt;mn&gt;17&lt;/mn&gt;&lt;mo&gt;,&lt;/mo&gt;&lt;mtext&gt;&lt;/mtext&gt;&lt;mn&gt;14&lt;/mn&gt;&lt;mo&gt;,&lt;/mo&gt;&lt;mtext&gt;&lt;/mtext&gt;&lt;mo&gt;.&lt;/mo&gt;&lt;mo&gt;.&lt;/mo&gt;&lt;mo&gt;.&lt;/mo&gt;&lt;/math&gt;" id="1238" name="Google Shape;1238;p87" title="26 comma 23 comma 20 comma 17 comma 14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8236" y="3563112"/>
            <a:ext cx="3554263" cy="322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,-8,-11,-14,-17,\ ...&quot;&gt;&lt;mo&gt;−&lt;/mo&gt;&lt;mn&gt;5&lt;/mn&gt;&lt;mo&gt;,&lt;/mo&gt;&lt;mo&gt;−&lt;/mo&gt;&lt;mn&gt;8&lt;/mn&gt;&lt;mo&gt;,&lt;/mo&gt;&lt;mo&gt;−&lt;/mo&gt;&lt;mn&gt;11&lt;/mn&gt;&lt;mo&gt;,&lt;/mo&gt;&lt;mo&gt;−&lt;/mo&gt;&lt;mn&gt;14&lt;/mn&gt;&lt;mo&gt;,&lt;/mo&gt;&lt;mo&gt;−&lt;/mo&gt;&lt;mn&gt;17&lt;/mn&gt;&lt;mo&gt;,&lt;/mo&gt;&lt;mtext&gt;&lt;/mtext&gt;&lt;mo&gt;.&lt;/mo&gt;&lt;mo&gt;.&lt;/mo&gt;&lt;mo&gt;.&lt;/mo&gt;&lt;/math&gt;" id="1239" name="Google Shape;1239;p87" title="negative 5 comma negative 8 comma negative 11 comma negative 14 comma negative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8236" y="2824250"/>
            <a:ext cx="4083751" cy="322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,-8,-13,-18,-23,\ ...&quot;&gt;&lt;mo&gt;−&lt;/mo&gt;&lt;mn&gt;3&lt;/mn&gt;&lt;mo&gt;,&lt;/mo&gt;&lt;mo&gt;−&lt;/mo&gt;&lt;mn&gt;8&lt;/mn&gt;&lt;mo&gt;,&lt;/mo&gt;&lt;mo&gt;−&lt;/mo&gt;&lt;mn&gt;13&lt;/mn&gt;&lt;mo&gt;,&lt;/mo&gt;&lt;mo&gt;−&lt;/mo&gt;&lt;mn&gt;18&lt;/mn&gt;&lt;mo&gt;,&lt;/mo&gt;&lt;mo&gt;−&lt;/mo&gt;&lt;mn&gt;23&lt;/mn&gt;&lt;mo&gt;,&lt;/mo&gt;&lt;mtext&gt;&lt;/mtext&gt;&lt;mo&gt;.&lt;/mo&gt;&lt;mo&gt;.&lt;/mo&gt;&lt;mo&gt;.&lt;/mo&gt;&lt;/math&gt;" id="1240" name="Google Shape;1240;p87" title="negative 3 comma negative 8 comma negative 13 comma negative 18 comma negative 23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78236" y="2091475"/>
            <a:ext cx="4059404" cy="31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8"/>
          <p:cNvSpPr txBox="1"/>
          <p:nvPr>
            <p:ph idx="4294967295" type="body"/>
          </p:nvPr>
        </p:nvSpPr>
        <p:spPr>
          <a:xfrm>
            <a:off x="324000" y="759300"/>
            <a:ext cx="71352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 of these sequences.</a:t>
            </a:r>
            <a:endParaRPr/>
          </a:p>
        </p:txBody>
      </p:sp>
      <p:sp>
        <p:nvSpPr>
          <p:cNvPr id="1246" name="Google Shape;1246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8,\ 6,-6,-18,-30\ ...&quot;&gt;&lt;mn&gt;18&lt;/mn&gt;&lt;mo&gt;,&lt;/mo&gt;&lt;mtext&gt;&lt;/mtext&gt;&lt;mn&gt;6&lt;/mn&gt;&lt;mo&gt;,&lt;/mo&gt;&lt;mo&gt;−&lt;/mo&gt;&lt;mn&gt;6&lt;/mn&gt;&lt;mo&gt;,&lt;/mo&gt;&lt;mo&gt;−&lt;/mo&gt;&lt;mn&gt;18&lt;/mn&gt;&lt;mo&gt;,&lt;/mo&gt;&lt;mo&gt;−&lt;/mo&gt;&lt;mn&gt;30&lt;/mn&gt;&lt;mtext&gt;&lt;/mtext&gt;&lt;mo&gt;.&lt;/mo&gt;&lt;mo&gt;.&lt;/mo&gt;&lt;mo&gt;.&lt;/mo&gt;&lt;/math&gt;" id="1247" name="Google Shape;1247;p88" title="18 comma 6 comma negative 6 comma negative 18 comma negative 30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102" y="1223400"/>
            <a:ext cx="3032837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9,-21,-33,-45,-57\ ...&quot;&gt;&lt;mo&gt;−&lt;/mo&gt;&lt;mn&gt;9&lt;/mn&gt;&lt;mo&gt;,&lt;/mo&gt;&lt;mo&gt;−&lt;/mo&gt;&lt;mn&gt;21&lt;/mn&gt;&lt;mo&gt;,&lt;/mo&gt;&lt;mo&gt;−&lt;/mo&gt;&lt;mn&gt;33&lt;/mn&gt;&lt;mo&gt;,&lt;/mo&gt;&lt;mo&gt;−&lt;/mo&gt;&lt;mn&gt;45&lt;/mn&gt;&lt;mo&gt;,&lt;/mo&gt;&lt;mo&gt;−&lt;/mo&gt;&lt;mn&gt;57&lt;/mn&gt;&lt;mtext&gt;&lt;/mtext&gt;&lt;mo&gt;.&lt;/mo&gt;&lt;mo&gt;.&lt;/mo&gt;&lt;mo&gt;.&lt;/mo&gt;&lt;/math&gt;" id="1248" name="Google Shape;1248;p88" title="negative 9 comma negative 21 comma negative 33 comma negative 45 comma negative 57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102" y="1849385"/>
            <a:ext cx="3609504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5,-18,-21,-24,-27\ ...&quot;&gt;&lt;mo&gt;−&lt;/mo&gt;&lt;mn&gt;15&lt;/mn&gt;&lt;mo&gt;,&lt;/mo&gt;&lt;mo&gt;−&lt;/mo&gt;&lt;mn&gt;18&lt;/mn&gt;&lt;mo&gt;,&lt;/mo&gt;&lt;mo&gt;−&lt;/mo&gt;&lt;mn&gt;21&lt;/mn&gt;&lt;mo&gt;,&lt;/mo&gt;&lt;mo&gt;−&lt;/mo&gt;&lt;mn&gt;24&lt;/mn&gt;&lt;mo&gt;,&lt;/mo&gt;&lt;mo&gt;−&lt;/mo&gt;&lt;mn&gt;27&lt;/mn&gt;&lt;mtext&gt;&lt;/mtext&gt;&lt;mo&gt;.&lt;/mo&gt;&lt;mo&gt;.&lt;/mo&gt;&lt;mo&gt;.&lt;/mo&gt;&lt;/math&gt;" id="1249" name="Google Shape;1249;p88" title="negative 15 comma negative 18 comma negative 21 comma negative 24 comma negative 27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102" y="2475370"/>
            <a:ext cx="3775028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,\ 9,\ 6,\ 3,\ 0\ ...&quot;&gt;&lt;mn&gt;12&lt;/mn&gt;&lt;mo&gt;,&lt;/mo&gt;&lt;mtext&gt;&lt;/mtext&gt;&lt;mn&gt;9&lt;/mn&gt;&lt;mo&gt;,&lt;/mo&gt;&lt;mtext&gt;&lt;/mtext&gt;&lt;mn&gt;6&lt;/mn&gt;&lt;mo&gt;,&lt;/mo&gt;&lt;mtext&gt;&lt;/mtext&gt;&lt;mn&gt;3&lt;/mn&gt;&lt;mo&gt;,&lt;/mo&gt;&lt;mtext&gt;&lt;/mtext&gt;&lt;mn&gt;0&lt;/mn&gt;&lt;mtext&gt;&lt;/mtext&gt;&lt;mo&gt;.&lt;/mo&gt;&lt;mo&gt;.&lt;/mo&gt;&lt;mo&gt;.&lt;/mo&gt;&lt;/math&gt;" id="1250" name="Google Shape;1250;p88" title="12 comma 9 comma 6 comma 3 comma 0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102" y="3101355"/>
            <a:ext cx="2269289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,\ 0.9,\ 0.6,\ 0.3,\ 0\ ...&quot;&gt;&lt;mn&gt;1.2&lt;/mn&gt;&lt;mo&gt;,&lt;/mo&gt;&lt;mtext&gt;&lt;/mtext&gt;&lt;mn&gt;0.9&lt;/mn&gt;&lt;mo&gt;,&lt;/mo&gt;&lt;mtext&gt;&lt;/mtext&gt;&lt;mn&gt;0.6&lt;/mn&gt;&lt;mo&gt;,&lt;/mo&gt;&lt;mtext&gt;&lt;/mtext&gt;&lt;mn&gt;0.3&lt;/mn&gt;&lt;mo&gt;,&lt;/mo&gt;&lt;mtext&gt;&lt;/mtext&gt;&lt;mn&gt;0&lt;/mn&gt;&lt;mtext&gt;&lt;/mtext&gt;&lt;mo&gt;.&lt;/mo&gt;&lt;mo&gt;.&lt;/mo&gt;&lt;mo&gt;.&lt;/mo&gt;&lt;/math&gt;" id="1251" name="Google Shape;1251;p88" title="1.2 comma 0.9 comma 0.6 comma 0.3 comma 0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7102" y="3727340"/>
            <a:ext cx="3102251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2},\ 3,\ 2\frac{1}{2},\ 2,\ 1\frac{1}{2},\ ...&quot;&gt;&lt;mn&gt;3&lt;/mn&gt;&lt;mfrac&gt;&lt;mn&gt;1&lt;/mn&gt;&lt;mn&gt;2&lt;/mn&gt;&lt;/mfrac&gt;&lt;mo&gt;,&lt;/mo&gt;&lt;mtext&gt;&lt;/mtext&gt;&lt;mn&gt;3&lt;/mn&gt;&lt;mo&gt;,&lt;/mo&gt;&lt;mtext&gt;&lt;/mtext&gt;&lt;mn&gt;2&lt;/mn&gt;&lt;mfrac&gt;&lt;mn&gt;1&lt;/mn&gt;&lt;mn&gt;2&lt;/mn&gt;&lt;/mfrac&gt;&lt;mo&gt;,&lt;/mo&gt;&lt;mtext&gt;&lt;/mtext&gt;&lt;mn&gt;2&lt;/mn&gt;&lt;mo&gt;,&lt;/mo&gt;&lt;mtext&gt;&lt;/mtext&gt;&lt;mn&gt;1&lt;/mn&gt;&lt;mfrac&gt;&lt;mn&gt;1&lt;/mn&gt;&lt;mn&gt;2&lt;/mn&gt;&lt;/mfrac&gt;&lt;mo&gt;,&lt;/mo&gt;&lt;mtext&gt;&lt;/mtext&gt;&lt;mo&gt;.&lt;/mo&gt;&lt;mo&gt;.&lt;/mo&gt;&lt;mo&gt;.&lt;/mo&gt;&lt;/math&gt;" id="1252" name="Google Shape;1252;p88" title="3 and one half comma 3 comma 2 and one half comma 2 comma 1 and one half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7102" y="4201870"/>
            <a:ext cx="2595072" cy="569754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88"/>
          <p:cNvSpPr txBox="1"/>
          <p:nvPr>
            <p:ph idx="1" type="body"/>
          </p:nvPr>
        </p:nvSpPr>
        <p:spPr>
          <a:xfrm>
            <a:off x="324000" y="1161124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254" name="Google Shape;1254;p88"/>
          <p:cNvSpPr txBox="1"/>
          <p:nvPr>
            <p:ph idx="1" type="body"/>
          </p:nvPr>
        </p:nvSpPr>
        <p:spPr>
          <a:xfrm>
            <a:off x="324000" y="1788046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55" name="Google Shape;1255;p88"/>
          <p:cNvSpPr txBox="1"/>
          <p:nvPr>
            <p:ph idx="1" type="body"/>
          </p:nvPr>
        </p:nvSpPr>
        <p:spPr>
          <a:xfrm>
            <a:off x="324000" y="2414969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256" name="Google Shape;1256;p88"/>
          <p:cNvSpPr txBox="1"/>
          <p:nvPr>
            <p:ph idx="1" type="body"/>
          </p:nvPr>
        </p:nvSpPr>
        <p:spPr>
          <a:xfrm>
            <a:off x="324000" y="3041891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257" name="Google Shape;1257;p88"/>
          <p:cNvSpPr txBox="1"/>
          <p:nvPr>
            <p:ph idx="1" type="body"/>
          </p:nvPr>
        </p:nvSpPr>
        <p:spPr>
          <a:xfrm>
            <a:off x="324000" y="3668813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</a:t>
            </a:r>
            <a:endParaRPr/>
          </a:p>
        </p:txBody>
      </p:sp>
      <p:sp>
        <p:nvSpPr>
          <p:cNvPr id="1258" name="Google Shape;1258;p88"/>
          <p:cNvSpPr txBox="1"/>
          <p:nvPr>
            <p:ph idx="1" type="body"/>
          </p:nvPr>
        </p:nvSpPr>
        <p:spPr>
          <a:xfrm>
            <a:off x="324000" y="4295736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911550" y="1222236"/>
            <a:ext cx="3333023" cy="15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89"/>
          <p:cNvSpPr txBox="1"/>
          <p:nvPr>
            <p:ph idx="4294967295" type="body"/>
          </p:nvPr>
        </p:nvSpPr>
        <p:spPr>
          <a:xfrm>
            <a:off x="324000" y="759300"/>
            <a:ext cx="7955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Two </a:t>
            </a:r>
            <a:r>
              <a:rPr lang="en-GB"/>
              <a:t>students</a:t>
            </a:r>
            <a:r>
              <a:rPr lang="en-GB"/>
              <a:t> are discussing arithmetic sequences.</a:t>
            </a:r>
            <a:endParaRPr/>
          </a:p>
        </p:txBody>
      </p:sp>
      <p:sp>
        <p:nvSpPr>
          <p:cNvPr id="1265" name="Google Shape;1265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pic>
        <p:nvPicPr>
          <p:cNvPr id="1266" name="Google Shape;1266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444075" y="1574425"/>
            <a:ext cx="3723500" cy="12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89"/>
          <p:cNvSpPr txBox="1"/>
          <p:nvPr/>
        </p:nvSpPr>
        <p:spPr>
          <a:xfrm>
            <a:off x="722975" y="1609025"/>
            <a:ext cx="3444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 you give me any two terms of an arithmetic sequence I can tell you the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9"/>
          <p:cNvSpPr txBox="1"/>
          <p:nvPr/>
        </p:nvSpPr>
        <p:spPr>
          <a:xfrm>
            <a:off x="5006750" y="1283400"/>
            <a:ext cx="2939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You’re right Aisha! If we had 30 and 25 we’d know it’s 30, 25, 20, 15, 10, … with an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of 35 - 5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9" name="Google Shape;126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8354" y="2937501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663" y="2682030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89"/>
          <p:cNvSpPr txBox="1"/>
          <p:nvPr/>
        </p:nvSpPr>
        <p:spPr>
          <a:xfrm>
            <a:off x="674599" y="344602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9"/>
          <p:cNvSpPr txBox="1"/>
          <p:nvPr/>
        </p:nvSpPr>
        <p:spPr>
          <a:xfrm>
            <a:off x="6722136" y="343870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9"/>
          <p:cNvSpPr txBox="1"/>
          <p:nvPr>
            <p:ph idx="4294967295" type="body"/>
          </p:nvPr>
        </p:nvSpPr>
        <p:spPr>
          <a:xfrm>
            <a:off x="400200" y="4264500"/>
            <a:ext cx="6987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Write a sentence to explain if Aisha and Sofia are right.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0"/>
          <p:cNvSpPr txBox="1"/>
          <p:nvPr>
            <p:ph idx="4294967295" type="body"/>
          </p:nvPr>
        </p:nvSpPr>
        <p:spPr>
          <a:xfrm>
            <a:off x="324000" y="759300"/>
            <a:ext cx="71352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Match the sequences to their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9-5n&quot;&gt;&lt;mn&gt;29&lt;/mn&gt;&lt;mo&gt;−&lt;/mo&gt;&lt;mn&gt;5&lt;/mn&gt;&lt;mi&gt;n&lt;/mi&gt;&lt;/math&gt;" id="1279" name="Google Shape;1279;p90" title="29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176" y="1328798"/>
            <a:ext cx="1174235" cy="2770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9-3n&quot;&gt;&lt;mn&gt;29&lt;/mn&gt;&lt;mo&gt;−&lt;/mo&gt;&lt;mn&gt;3&lt;/mn&gt;&lt;mi&gt;n&lt;/mi&gt;&lt;/math&gt;" id="1281" name="Google Shape;1281;p90" title="29 minus 3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176" y="2827537"/>
            <a:ext cx="1174235" cy="270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-2&quot;&gt;&lt;mo&gt;−&lt;/mo&gt;&lt;mn&gt;3&lt;/mn&gt;&lt;mi&gt;n&lt;/mi&gt;&lt;mo&gt;−&lt;/mo&gt;&lt;mn&gt;2&lt;/mn&gt;&lt;/math&gt;" id="1282" name="Google Shape;1282;p90" title="negative 3 n min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8804" y="3570309"/>
            <a:ext cx="1233607" cy="270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-3n&quot;&gt;&lt;mn&gt;24&lt;/mn&gt;&lt;mo&gt;−&lt;/mo&gt;&lt;mn&gt;3&lt;/mn&gt;&lt;mi&gt;n&lt;/mi&gt;&lt;/math&gt;" id="1283" name="Google Shape;1283;p90" title="24 minus 3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8385" y="2078167"/>
            <a:ext cx="1194026" cy="277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n+2&quot;&gt;&lt;mo&gt;−&lt;/mo&gt;&lt;mn&gt;5&lt;/mn&gt;&lt;mi&gt;n&lt;/mi&gt;&lt;mo&gt;+&lt;/mo&gt;&lt;mn&gt;2&lt;/mn&gt;&lt;/math&gt;" id="1284" name="Google Shape;1284;p90" title="negative 5 n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48804" y="4313082"/>
            <a:ext cx="1233607" cy="283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,\ 19,\ 14,\ 9,\ 4,\ ...&quot;&gt;&lt;mn&gt;24&lt;/mn&gt;&lt;mo&gt;,&lt;/mo&gt;&lt;mtext&gt;&lt;/mtext&gt;&lt;mn&gt;19&lt;/mn&gt;&lt;mo&gt;,&lt;/mo&gt;&lt;mtext&gt;&lt;/mtext&gt;&lt;mn&gt;14&lt;/mn&gt;&lt;mo&gt;,&lt;/mo&gt;&lt;mtext&gt;&lt;/mtext&gt;&lt;mn&gt;9&lt;/mn&gt;&lt;mo&gt;,&lt;/mo&gt;&lt;mtext&gt;&lt;/mtext&gt;&lt;mn&gt;4&lt;/mn&gt;&lt;mo&gt;,&lt;/mo&gt;&lt;mtext&gt;&lt;/mtext&gt;&lt;mo&gt;.&lt;/mo&gt;&lt;mo&gt;.&lt;/mo&gt;&lt;mo&gt;.&lt;/mo&gt;&lt;/math&gt;" id="1285" name="Google Shape;1285;p90" title="24 comma 19 comma 14 comma 9 comma 4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8236" y="4301973"/>
            <a:ext cx="3170841" cy="31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1,\ 18,\ 15,\ 12,\ 9,\ ...&quot;&gt;&lt;mn&gt;21&lt;/mn&gt;&lt;mo&gt;,&lt;/mo&gt;&lt;mtext&gt;&lt;/mtext&gt;&lt;mn&gt;18&lt;/mn&gt;&lt;mo&gt;,&lt;/mo&gt;&lt;mtext&gt;&lt;/mtext&gt;&lt;mn&gt;15&lt;/mn&gt;&lt;mo&gt;,&lt;/mo&gt;&lt;mtext&gt;&lt;/mtext&gt;&lt;mn&gt;12&lt;/mn&gt;&lt;mo&gt;,&lt;/mo&gt;&lt;mtext&gt;&lt;/mtext&gt;&lt;mn&gt;9&lt;/mn&gt;&lt;mo&gt;,&lt;/mo&gt;&lt;mtext&gt;&lt;/mtext&gt;&lt;mo&gt;.&lt;/mo&gt;&lt;mo&gt;.&lt;/mo&gt;&lt;mo&gt;.&lt;/mo&gt;&lt;/math&gt;" id="1286" name="Google Shape;1286;p90" title="21 comma 18 comma 15 comma 12 comma 9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8236" y="1352614"/>
            <a:ext cx="3341251" cy="322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6,\ 23,\ 20,\ 17,\ 14,\ ...&quot;&gt;&lt;mn&gt;26&lt;/mn&gt;&lt;mo&gt;,&lt;/mo&gt;&lt;mtext&gt;&lt;/mtext&gt;&lt;mn&gt;23&lt;/mn&gt;&lt;mo&gt;,&lt;/mo&gt;&lt;mtext&gt;&lt;/mtext&gt;&lt;mn&gt;20&lt;/mn&gt;&lt;mo&gt;,&lt;/mo&gt;&lt;mtext&gt;&lt;/mtext&gt;&lt;mn&gt;17&lt;/mn&gt;&lt;mo&gt;,&lt;/mo&gt;&lt;mtext&gt;&lt;/mtext&gt;&lt;mn&gt;14&lt;/mn&gt;&lt;mo&gt;,&lt;/mo&gt;&lt;mtext&gt;&lt;/mtext&gt;&lt;mo&gt;.&lt;/mo&gt;&lt;mo&gt;.&lt;/mo&gt;&lt;mo&gt;.&lt;/mo&gt;&lt;/math&gt;" id="1287" name="Google Shape;1287;p90" title="26 comma 23 comma 20 comma 17 comma 14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8236" y="3563112"/>
            <a:ext cx="3554263" cy="322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,-8,-11,-14,-17,\ ...&quot;&gt;&lt;mo&gt;−&lt;/mo&gt;&lt;mn&gt;5&lt;/mn&gt;&lt;mo&gt;,&lt;/mo&gt;&lt;mo&gt;−&lt;/mo&gt;&lt;mn&gt;8&lt;/mn&gt;&lt;mo&gt;,&lt;/mo&gt;&lt;mo&gt;−&lt;/mo&gt;&lt;mn&gt;11&lt;/mn&gt;&lt;mo&gt;,&lt;/mo&gt;&lt;mo&gt;−&lt;/mo&gt;&lt;mn&gt;14&lt;/mn&gt;&lt;mo&gt;,&lt;/mo&gt;&lt;mo&gt;−&lt;/mo&gt;&lt;mn&gt;17&lt;/mn&gt;&lt;mo&gt;,&lt;/mo&gt;&lt;mtext&gt;&lt;/mtext&gt;&lt;mo&gt;.&lt;/mo&gt;&lt;mo&gt;.&lt;/mo&gt;&lt;mo&gt;.&lt;/mo&gt;&lt;/math&gt;" id="1288" name="Google Shape;1288;p90" title="negative 5 comma negative 8 comma negative 11 comma negative 14 comma negative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8236" y="2824250"/>
            <a:ext cx="4083751" cy="322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,-8,-13,-18,-23,\ ...&quot;&gt;&lt;mo&gt;−&lt;/mo&gt;&lt;mn&gt;3&lt;/mn&gt;&lt;mo&gt;,&lt;/mo&gt;&lt;mo&gt;−&lt;/mo&gt;&lt;mn&gt;8&lt;/mn&gt;&lt;mo&gt;,&lt;/mo&gt;&lt;mo&gt;−&lt;/mo&gt;&lt;mn&gt;13&lt;/mn&gt;&lt;mo&gt;,&lt;/mo&gt;&lt;mo&gt;−&lt;/mo&gt;&lt;mn&gt;18&lt;/mn&gt;&lt;mo&gt;,&lt;/mo&gt;&lt;mo&gt;−&lt;/mo&gt;&lt;mn&gt;23&lt;/mn&gt;&lt;mo&gt;,&lt;/mo&gt;&lt;mtext&gt;&lt;/mtext&gt;&lt;mo&gt;.&lt;/mo&gt;&lt;mo&gt;.&lt;/mo&gt;&lt;mo&gt;.&lt;/mo&gt;&lt;/math&gt;" id="1289" name="Google Shape;1289;p90" title="negative 3 comma negative 8 comma negative 13 comma negative 18 comma negative 23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78236" y="2091475"/>
            <a:ext cx="4059404" cy="316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0" name="Google Shape;1290;p90"/>
          <p:cNvCxnSpPr>
            <a:stCxn id="1279" idx="3"/>
            <a:endCxn id="1285" idx="1"/>
          </p:cNvCxnSpPr>
          <p:nvPr/>
        </p:nvCxnSpPr>
        <p:spPr>
          <a:xfrm>
            <a:off x="2882411" y="1467332"/>
            <a:ext cx="1695900" cy="2992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90"/>
          <p:cNvCxnSpPr>
            <a:stCxn id="1283" idx="3"/>
            <a:endCxn id="1286" idx="1"/>
          </p:cNvCxnSpPr>
          <p:nvPr/>
        </p:nvCxnSpPr>
        <p:spPr>
          <a:xfrm flipH="1" rot="10800000">
            <a:off x="2882411" y="1513801"/>
            <a:ext cx="1695900" cy="70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90"/>
          <p:cNvCxnSpPr>
            <a:stCxn id="1281" idx="3"/>
            <a:endCxn id="1287" idx="1"/>
          </p:cNvCxnSpPr>
          <p:nvPr/>
        </p:nvCxnSpPr>
        <p:spPr>
          <a:xfrm>
            <a:off x="2882411" y="2962772"/>
            <a:ext cx="1695900" cy="76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90"/>
          <p:cNvCxnSpPr>
            <a:stCxn id="1282" idx="3"/>
            <a:endCxn id="1288" idx="1"/>
          </p:cNvCxnSpPr>
          <p:nvPr/>
        </p:nvCxnSpPr>
        <p:spPr>
          <a:xfrm flipH="1" rot="10800000">
            <a:off x="2882411" y="2985545"/>
            <a:ext cx="1695900" cy="72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90"/>
          <p:cNvCxnSpPr>
            <a:stCxn id="1284" idx="3"/>
            <a:endCxn id="1289" idx="1"/>
          </p:cNvCxnSpPr>
          <p:nvPr/>
        </p:nvCxnSpPr>
        <p:spPr>
          <a:xfrm flipH="1" rot="10800000">
            <a:off x="2882411" y="2249614"/>
            <a:ext cx="1695900" cy="2205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91"/>
          <p:cNvSpPr txBox="1"/>
          <p:nvPr>
            <p:ph idx="4294967295" type="body"/>
          </p:nvPr>
        </p:nvSpPr>
        <p:spPr>
          <a:xfrm>
            <a:off x="324000" y="759300"/>
            <a:ext cx="71352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 of these sequences.</a:t>
            </a:r>
            <a:endParaRPr/>
          </a:p>
        </p:txBody>
      </p:sp>
      <p:sp>
        <p:nvSpPr>
          <p:cNvPr id="1300" name="Google Shape;130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8,\ 6,-6,-18,-30\ ...&quot;&gt;&lt;mn&gt;18&lt;/mn&gt;&lt;mo&gt;,&lt;/mo&gt;&lt;mtext&gt;&lt;/mtext&gt;&lt;mn&gt;6&lt;/mn&gt;&lt;mo&gt;,&lt;/mo&gt;&lt;mo&gt;−&lt;/mo&gt;&lt;mn&gt;6&lt;/mn&gt;&lt;mo&gt;,&lt;/mo&gt;&lt;mo&gt;−&lt;/mo&gt;&lt;mn&gt;18&lt;/mn&gt;&lt;mo&gt;,&lt;/mo&gt;&lt;mo&gt;−&lt;/mo&gt;&lt;mn&gt;30&lt;/mn&gt;&lt;mtext&gt;&lt;/mtext&gt;&lt;mo&gt;.&lt;/mo&gt;&lt;mo&gt;.&lt;/mo&gt;&lt;mo&gt;.&lt;/mo&gt;&lt;/math&gt;" id="1301" name="Google Shape;1301;p91" title="18 comma 6 comma negative 6 comma negative 18 comma negative 30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102" y="1223400"/>
            <a:ext cx="3032837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9,-21,-33,-45,-57\ ...&quot;&gt;&lt;mo&gt;−&lt;/mo&gt;&lt;mn&gt;9&lt;/mn&gt;&lt;mo&gt;,&lt;/mo&gt;&lt;mo&gt;−&lt;/mo&gt;&lt;mn&gt;21&lt;/mn&gt;&lt;mo&gt;,&lt;/mo&gt;&lt;mo&gt;−&lt;/mo&gt;&lt;mn&gt;33&lt;/mn&gt;&lt;mo&gt;,&lt;/mo&gt;&lt;mo&gt;−&lt;/mo&gt;&lt;mn&gt;45&lt;/mn&gt;&lt;mo&gt;,&lt;/mo&gt;&lt;mo&gt;−&lt;/mo&gt;&lt;mn&gt;57&lt;/mn&gt;&lt;mtext&gt;&lt;/mtext&gt;&lt;mo&gt;.&lt;/mo&gt;&lt;mo&gt;.&lt;/mo&gt;&lt;mo&gt;.&lt;/mo&gt;&lt;/math&gt;" id="1302" name="Google Shape;1302;p91" title="negative 9 comma negative 21 comma negative 33 comma negative 45 comma negative 57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102" y="1849385"/>
            <a:ext cx="3609504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5,-18,-21,-24,-27\ ...&quot;&gt;&lt;mo&gt;−&lt;/mo&gt;&lt;mn&gt;15&lt;/mn&gt;&lt;mo&gt;,&lt;/mo&gt;&lt;mo&gt;−&lt;/mo&gt;&lt;mn&gt;18&lt;/mn&gt;&lt;mo&gt;,&lt;/mo&gt;&lt;mo&gt;−&lt;/mo&gt;&lt;mn&gt;21&lt;/mn&gt;&lt;mo&gt;,&lt;/mo&gt;&lt;mo&gt;−&lt;/mo&gt;&lt;mn&gt;24&lt;/mn&gt;&lt;mo&gt;,&lt;/mo&gt;&lt;mo&gt;−&lt;/mo&gt;&lt;mn&gt;27&lt;/mn&gt;&lt;mtext&gt;&lt;/mtext&gt;&lt;mo&gt;.&lt;/mo&gt;&lt;mo&gt;.&lt;/mo&gt;&lt;mo&gt;.&lt;/mo&gt;&lt;/math&gt;" id="1303" name="Google Shape;1303;p91" title="negative 15 comma negative 18 comma negative 21 comma negative 24 comma negative 27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102" y="2475370"/>
            <a:ext cx="3775028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,\ 9,\ 6,\ 3,\ 0\ ...&quot;&gt;&lt;mn&gt;12&lt;/mn&gt;&lt;mo&gt;,&lt;/mo&gt;&lt;mtext&gt;&lt;/mtext&gt;&lt;mn&gt;9&lt;/mn&gt;&lt;mo&gt;,&lt;/mo&gt;&lt;mtext&gt;&lt;/mtext&gt;&lt;mn&gt;6&lt;/mn&gt;&lt;mo&gt;,&lt;/mo&gt;&lt;mtext&gt;&lt;/mtext&gt;&lt;mn&gt;3&lt;/mn&gt;&lt;mo&gt;,&lt;/mo&gt;&lt;mtext&gt;&lt;/mtext&gt;&lt;mn&gt;0&lt;/mn&gt;&lt;mtext&gt;&lt;/mtext&gt;&lt;mo&gt;.&lt;/mo&gt;&lt;mo&gt;.&lt;/mo&gt;&lt;mo&gt;.&lt;/mo&gt;&lt;/math&gt;" id="1304" name="Google Shape;1304;p91" title="12 comma 9 comma 6 comma 3 comma 0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102" y="3101355"/>
            <a:ext cx="2269289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,\ 0.9,\ 0.6,\ 0.3,\ 0\ ...&quot;&gt;&lt;mn&gt;1.2&lt;/mn&gt;&lt;mo&gt;,&lt;/mo&gt;&lt;mtext&gt;&lt;/mtext&gt;&lt;mn&gt;0.9&lt;/mn&gt;&lt;mo&gt;,&lt;/mo&gt;&lt;mtext&gt;&lt;/mtext&gt;&lt;mn&gt;0.6&lt;/mn&gt;&lt;mo&gt;,&lt;/mo&gt;&lt;mtext&gt;&lt;/mtext&gt;&lt;mn&gt;0.3&lt;/mn&gt;&lt;mo&gt;,&lt;/mo&gt;&lt;mtext&gt;&lt;/mtext&gt;&lt;mn&gt;0&lt;/mn&gt;&lt;mtext&gt;&lt;/mtext&gt;&lt;mo&gt;.&lt;/mo&gt;&lt;mo&gt;.&lt;/mo&gt;&lt;mo&gt;.&lt;/mo&gt;&lt;/math&gt;" id="1305" name="Google Shape;1305;p91" title="1.2 comma 0.9 comma 0.6 comma 0.3 comma 0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7102" y="3727340"/>
            <a:ext cx="3102251" cy="28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2},\ 3,\ 2\frac{1}{2},\ 2,\ 1\frac{1}{2},\ ...&quot;&gt;&lt;mn&gt;3&lt;/mn&gt;&lt;mfrac&gt;&lt;mn&gt;1&lt;/mn&gt;&lt;mn&gt;2&lt;/mn&gt;&lt;/mfrac&gt;&lt;mo&gt;,&lt;/mo&gt;&lt;mtext&gt;&lt;/mtext&gt;&lt;mn&gt;3&lt;/mn&gt;&lt;mo&gt;,&lt;/mo&gt;&lt;mtext&gt;&lt;/mtext&gt;&lt;mn&gt;2&lt;/mn&gt;&lt;mfrac&gt;&lt;mn&gt;1&lt;/mn&gt;&lt;mn&gt;2&lt;/mn&gt;&lt;/mfrac&gt;&lt;mo&gt;,&lt;/mo&gt;&lt;mtext&gt;&lt;/mtext&gt;&lt;mn&gt;2&lt;/mn&gt;&lt;mo&gt;,&lt;/mo&gt;&lt;mtext&gt;&lt;/mtext&gt;&lt;mn&gt;1&lt;/mn&gt;&lt;mfrac&gt;&lt;mn&gt;1&lt;/mn&gt;&lt;mn&gt;2&lt;/mn&gt;&lt;/mfrac&gt;&lt;mo&gt;,&lt;/mo&gt;&lt;mtext&gt;&lt;/mtext&gt;&lt;mo&gt;.&lt;/mo&gt;&lt;mo&gt;.&lt;/mo&gt;&lt;mo&gt;.&lt;/mo&gt;&lt;/math&gt;" id="1306" name="Google Shape;1306;p91" title="3 and one half comma 3 comma 2 and one half comma 2 comma 1 and one half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7102" y="4201870"/>
            <a:ext cx="2595072" cy="5697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91"/>
          <p:cNvSpPr txBox="1"/>
          <p:nvPr>
            <p:ph idx="1" type="body"/>
          </p:nvPr>
        </p:nvSpPr>
        <p:spPr>
          <a:xfrm>
            <a:off x="324000" y="1174850"/>
            <a:ext cx="459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308" name="Google Shape;1308;p91"/>
          <p:cNvSpPr txBox="1"/>
          <p:nvPr>
            <p:ph idx="1" type="body"/>
          </p:nvPr>
        </p:nvSpPr>
        <p:spPr>
          <a:xfrm>
            <a:off x="324000" y="1788046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309" name="Google Shape;1309;p91"/>
          <p:cNvSpPr txBox="1"/>
          <p:nvPr>
            <p:ph idx="1" type="body"/>
          </p:nvPr>
        </p:nvSpPr>
        <p:spPr>
          <a:xfrm>
            <a:off x="324000" y="2414969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310" name="Google Shape;1310;p91"/>
          <p:cNvSpPr txBox="1"/>
          <p:nvPr>
            <p:ph idx="1" type="body"/>
          </p:nvPr>
        </p:nvSpPr>
        <p:spPr>
          <a:xfrm>
            <a:off x="324000" y="3041891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311" name="Google Shape;1311;p91"/>
          <p:cNvSpPr txBox="1"/>
          <p:nvPr>
            <p:ph idx="1" type="body"/>
          </p:nvPr>
        </p:nvSpPr>
        <p:spPr>
          <a:xfrm>
            <a:off x="324000" y="3668813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</a:t>
            </a:r>
            <a:endParaRPr/>
          </a:p>
        </p:txBody>
      </p:sp>
      <p:sp>
        <p:nvSpPr>
          <p:cNvPr id="1312" name="Google Shape;1312;p91"/>
          <p:cNvSpPr txBox="1"/>
          <p:nvPr>
            <p:ph idx="1" type="body"/>
          </p:nvPr>
        </p:nvSpPr>
        <p:spPr>
          <a:xfrm>
            <a:off x="324000" y="4295736"/>
            <a:ext cx="303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0-12n&quot;&gt;&lt;mn&gt;30&lt;/mn&gt;&lt;mo&gt;−&lt;/mo&gt;&lt;mn&gt;12&lt;/mn&gt;&lt;mi&gt;n&lt;/mi&gt;&lt;/math&gt;" id="1313" name="Google Shape;1313;p91" title="30 minus 12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84112" y="1182250"/>
            <a:ext cx="1395722" cy="277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2n+3&quot;&gt;&lt;mo&gt;−&lt;/mo&gt;&lt;mn&gt;12&lt;/mn&gt;&lt;mi&gt;n&lt;/mi&gt;&lt;mo&gt;+&lt;/mo&gt;&lt;mn&gt;3&lt;/mn&gt;&lt;/math&gt;" id="1314" name="Google Shape;1314;p91" title="negative 12 n plus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99487" y="1818174"/>
            <a:ext cx="1443150" cy="284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-3n&quot;&gt;&lt;mn&gt;15&lt;/mn&gt;&lt;mo&gt;−&lt;/mo&gt;&lt;mn&gt;3&lt;/mn&gt;&lt;mi&gt;n&lt;/mi&gt;&lt;/math&gt;" id="1315" name="Google Shape;1315;p91" title="15 minus 3 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72150" y="3067137"/>
            <a:ext cx="1172136" cy="284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-0.3n&quot;&gt;&lt;mn&gt;1.5&lt;/mn&gt;&lt;mo&gt;−&lt;/mo&gt;&lt;mn&gt;0.3&lt;/mn&gt;&lt;mi&gt;n&lt;/mi&gt;&lt;/math&gt;" id="1316" name="Google Shape;1316;p91" title="1.5 minus 0.3 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38950" y="3699949"/>
            <a:ext cx="1565106" cy="284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-\frac{1}{2}n&quot;&gt;&lt;mn&gt;4&lt;/mn&gt;&lt;mo&gt;−&lt;/mo&gt;&lt;mfrac&gt;&lt;mn&gt;1&lt;/mn&gt;&lt;mn&gt;2&lt;/mn&gt;&lt;/mfrac&gt;&lt;mi&gt;n&lt;/mi&gt;&lt;/math&gt;" id="1317" name="Google Shape;1317;p91" title="4 minus one half 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11550" y="4181321"/>
            <a:ext cx="889050" cy="621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gative 3 n minus 12&#10;&#10;&lt;math xmlns=&quot;http://www.w3.org/1998/Math/MathML&quot; display=&quot;block&quot; data-is-equatio=&quot;1&quot; data-latex=&quot;-3n-12&quot;&gt;&lt;mo&gt;−&lt;/mo&gt;&lt;mn&gt;3&lt;/mn&gt;&lt;mi&gt;n&lt;/mi&gt;&lt;mo&gt;−&lt;/mo&gt;&lt;mn&gt;12&lt;/mn&gt;&lt;/math&gt;" id="1318" name="Google Shape;1318;p9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09291" y="2443759"/>
            <a:ext cx="1443150" cy="273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1323;p9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911550" y="1222236"/>
            <a:ext cx="3333023" cy="15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92"/>
          <p:cNvSpPr txBox="1"/>
          <p:nvPr>
            <p:ph idx="4294967295" type="body"/>
          </p:nvPr>
        </p:nvSpPr>
        <p:spPr>
          <a:xfrm>
            <a:off x="324000" y="759300"/>
            <a:ext cx="7955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Two students are discussing arithmetic sequences.</a:t>
            </a:r>
            <a:endParaRPr/>
          </a:p>
        </p:txBody>
      </p:sp>
      <p:sp>
        <p:nvSpPr>
          <p:cNvPr id="1325" name="Google Shape;1325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decreasing sequences</a:t>
            </a:r>
            <a:endParaRPr/>
          </a:p>
        </p:txBody>
      </p:sp>
      <p:pic>
        <p:nvPicPr>
          <p:cNvPr id="1326" name="Google Shape;1326;p9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444075" y="1574425"/>
            <a:ext cx="3723500" cy="12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92"/>
          <p:cNvSpPr txBox="1"/>
          <p:nvPr/>
        </p:nvSpPr>
        <p:spPr>
          <a:xfrm>
            <a:off x="722975" y="1609025"/>
            <a:ext cx="3444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 you give me any two terms of an arithmetic sequence I can tell you the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2"/>
          <p:cNvSpPr txBox="1"/>
          <p:nvPr/>
        </p:nvSpPr>
        <p:spPr>
          <a:xfrm>
            <a:off x="5006750" y="1283400"/>
            <a:ext cx="2939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You’re right Aisha! If we had 30 and 25 we’d know it’s 30, 25, 20, 15, 10, … with an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of 35 - 5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9" name="Google Shape;132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8354" y="2937501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663" y="2682030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92"/>
          <p:cNvSpPr txBox="1"/>
          <p:nvPr>
            <p:ph idx="4294967295" type="body"/>
          </p:nvPr>
        </p:nvSpPr>
        <p:spPr>
          <a:xfrm>
            <a:off x="1463684" y="2834207"/>
            <a:ext cx="61911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need to know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which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terms you have. If 30 and 25 are terms one and two then yes, it’s 35 - 5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But, if 30 and 25 are the fifth and sixth terms, then it’s a different sequence altogether.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2" name="Google Shape;1332;p92"/>
          <p:cNvSpPr txBox="1"/>
          <p:nvPr/>
        </p:nvSpPr>
        <p:spPr>
          <a:xfrm>
            <a:off x="141199" y="375082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2"/>
          <p:cNvSpPr txBox="1"/>
          <p:nvPr/>
        </p:nvSpPr>
        <p:spPr>
          <a:xfrm>
            <a:off x="7484136" y="381970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increasing sequences</a:t>
            </a:r>
            <a:endParaRPr/>
          </a:p>
        </p:txBody>
      </p:sp>
      <p:sp>
        <p:nvSpPr>
          <p:cNvPr id="1339" name="Google Shape;1339;p9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decreasing sequences</a:t>
            </a:r>
            <a:endParaRPr/>
          </a:p>
        </p:txBody>
      </p:sp>
      <p:sp>
        <p:nvSpPr>
          <p:cNvPr id="1340" name="Google Shape;1340;p9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and using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341" name="Google Shape;1341;p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</a:t>
            </a:r>
            <a:endParaRPr/>
          </a:p>
        </p:txBody>
      </p:sp>
      <p:pic>
        <p:nvPicPr>
          <p:cNvPr id="1342" name="Google Shape;134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369505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"/>
          <p:cNvSpPr txBox="1"/>
          <p:nvPr>
            <p:ph idx="1" type="body"/>
          </p:nvPr>
        </p:nvSpPr>
        <p:spPr>
          <a:xfrm>
            <a:off x="324000" y="759300"/>
            <a:ext cx="8237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arithmetic sequence starts with the terms: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89.625, 89.275, 88.925, 88.575, 88.225, 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When will it reach 21.025?</a:t>
            </a:r>
            <a:endParaRPr/>
          </a:p>
        </p:txBody>
      </p:sp>
      <p:sp>
        <p:nvSpPr>
          <p:cNvPr id="1348" name="Google Shape;134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and 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349" name="Google Shape;1349;p94"/>
          <p:cNvSpPr txBox="1"/>
          <p:nvPr>
            <p:ph idx="1" type="body"/>
          </p:nvPr>
        </p:nvSpPr>
        <p:spPr>
          <a:xfrm>
            <a:off x="376051" y="2816700"/>
            <a:ext cx="3674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this one we need to use a calculator</a:t>
            </a:r>
            <a:endParaRPr/>
          </a:p>
        </p:txBody>
      </p:sp>
      <p:pic>
        <p:nvPicPr>
          <p:cNvPr id="1350" name="Google Shape;135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551" y="1798200"/>
            <a:ext cx="1828116" cy="3116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95"/>
          <p:cNvSpPr txBox="1"/>
          <p:nvPr>
            <p:ph idx="1" type="body"/>
          </p:nvPr>
        </p:nvSpPr>
        <p:spPr>
          <a:xfrm>
            <a:off x="324000" y="759300"/>
            <a:ext cx="8237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Firstly we need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89.625, 89.275, 88.925, 88.575, 88.225, …</a:t>
            </a:r>
            <a:endParaRPr/>
          </a:p>
        </p:txBody>
      </p:sp>
      <p:sp>
        <p:nvSpPr>
          <p:cNvPr id="1356" name="Google Shape;135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and 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endParaRPr/>
          </a:p>
        </p:txBody>
      </p:sp>
      <p:sp>
        <p:nvSpPr>
          <p:cNvPr id="1357" name="Google Shape;1357;p95"/>
          <p:cNvSpPr txBox="1"/>
          <p:nvPr>
            <p:ph idx="1" type="body"/>
          </p:nvPr>
        </p:nvSpPr>
        <p:spPr>
          <a:xfrm>
            <a:off x="376051" y="2153965"/>
            <a:ext cx="3674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difference: </a:t>
            </a:r>
            <a:r>
              <a:rPr lang="en-GB">
                <a:solidFill>
                  <a:schemeClr val="accent2"/>
                </a:solidFill>
              </a:rPr>
              <a:t>-0.35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58" name="Google Shape;1358;p95"/>
          <p:cNvSpPr/>
          <p:nvPr/>
        </p:nvSpPr>
        <p:spPr>
          <a:xfrm>
            <a:off x="3212575" y="2145451"/>
            <a:ext cx="699600" cy="4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9" name="Google Shape;135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675" y="1810747"/>
            <a:ext cx="2635525" cy="1411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672" y="3334367"/>
            <a:ext cx="2635525" cy="1474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95"/>
          <p:cNvSpPr txBox="1"/>
          <p:nvPr>
            <p:ph idx="1" type="body"/>
          </p:nvPr>
        </p:nvSpPr>
        <p:spPr>
          <a:xfrm>
            <a:off x="376051" y="3373165"/>
            <a:ext cx="3674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r>
              <a:rPr lang="en-GB"/>
              <a:t>:</a:t>
            </a: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>
                <a:solidFill>
                  <a:schemeClr val="accent2"/>
                </a:solidFill>
              </a:rPr>
              <a:t>+89.975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62" name="Google Shape;1362;p95"/>
          <p:cNvSpPr/>
          <p:nvPr/>
        </p:nvSpPr>
        <p:spPr>
          <a:xfrm>
            <a:off x="1990150" y="3332675"/>
            <a:ext cx="1102800" cy="4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9.975-0.35n&quot;&gt;&lt;mn&gt;89.975&lt;/mn&gt;&lt;mo&gt;−&lt;/mo&gt;&lt;mn&gt;0.35&lt;/mn&gt;&lt;mi&gt;n&lt;/mi&gt;&lt;/math&gt;" id="1363" name="Google Shape;1363;p95" title="89.975 minus 0.35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1693" y="4032295"/>
            <a:ext cx="2503866" cy="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8" name="Google Shape;136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739" y="1786975"/>
            <a:ext cx="2383671" cy="1301845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96"/>
          <p:cNvSpPr txBox="1"/>
          <p:nvPr>
            <p:ph idx="1" type="body"/>
          </p:nvPr>
        </p:nvSpPr>
        <p:spPr>
          <a:xfrm>
            <a:off x="324000" y="759300"/>
            <a:ext cx="8237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Quick test to check that is our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89.625, 89.275, 88.925, 88.575, 88.225, …</a:t>
            </a:r>
            <a:endParaRPr/>
          </a:p>
        </p:txBody>
      </p:sp>
      <p:sp>
        <p:nvSpPr>
          <p:cNvPr id="1370" name="Google Shape;13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and 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9.975-0.35n&quot;&gt;&lt;mn&gt;89.975&lt;/mn&gt;&lt;mo&gt;−&lt;/mo&gt;&lt;mn&gt;0.35&lt;/mn&gt;&lt;mi&gt;n&lt;/mi&gt;&lt;/math&gt;" id="1371" name="Google Shape;1371;p96" title="89.975 minus 0.35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2625" y="1921762"/>
            <a:ext cx="1984400" cy="23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=1&quot;&gt;&lt;mi&gt;n&lt;/mi&gt;&lt;mo&gt;=&lt;/mo&gt;&lt;mn&gt;1&lt;/mn&gt;&lt;/math&gt;" id="1372" name="Google Shape;1372;p96" title="n equal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0800" y="2611860"/>
            <a:ext cx="748885" cy="25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=5&quot;&gt;&lt;mi&gt;n&lt;/mi&gt;&lt;mo&gt;=&lt;/mo&gt;&lt;mn&gt;5&lt;/mn&gt;&lt;/math&gt;" id="1373" name="Google Shape;1373;p96" title="n equal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3077" y="3544897"/>
            <a:ext cx="761162" cy="257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4" name="Google Shape;1374;p96"/>
          <p:cNvGrpSpPr/>
          <p:nvPr/>
        </p:nvGrpSpPr>
        <p:grpSpPr>
          <a:xfrm>
            <a:off x="255751" y="1241425"/>
            <a:ext cx="6409169" cy="1758500"/>
            <a:chOff x="255751" y="1241425"/>
            <a:chExt cx="6409169" cy="1758500"/>
          </a:xfrm>
        </p:grpSpPr>
        <p:sp>
          <p:nvSpPr>
            <p:cNvPr id="1375" name="Google Shape;1375;p96"/>
            <p:cNvSpPr/>
            <p:nvPr/>
          </p:nvSpPr>
          <p:spPr>
            <a:xfrm>
              <a:off x="5661420" y="2578425"/>
              <a:ext cx="1003500" cy="4215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96"/>
            <p:cNvSpPr/>
            <p:nvPr/>
          </p:nvSpPr>
          <p:spPr>
            <a:xfrm>
              <a:off x="255751" y="1241425"/>
              <a:ext cx="1003500" cy="4215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77" name="Google Shape;1377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0173" y="3771904"/>
            <a:ext cx="1684425" cy="44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20335" y="3262326"/>
            <a:ext cx="2383671" cy="1308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9" name="Google Shape;1379;p96"/>
          <p:cNvGrpSpPr/>
          <p:nvPr/>
        </p:nvGrpSpPr>
        <p:grpSpPr>
          <a:xfrm>
            <a:off x="4271286" y="1241425"/>
            <a:ext cx="2426182" cy="3247902"/>
            <a:chOff x="4271286" y="-358775"/>
            <a:chExt cx="2426182" cy="3247902"/>
          </a:xfrm>
        </p:grpSpPr>
        <p:sp>
          <p:nvSpPr>
            <p:cNvPr id="1380" name="Google Shape;1380;p96"/>
            <p:cNvSpPr/>
            <p:nvPr/>
          </p:nvSpPr>
          <p:spPr>
            <a:xfrm>
              <a:off x="5693967" y="2467627"/>
              <a:ext cx="1003500" cy="4215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1" name="Google Shape;1381;p96"/>
            <p:cNvSpPr/>
            <p:nvPr/>
          </p:nvSpPr>
          <p:spPr>
            <a:xfrm>
              <a:off x="4271286" y="-358775"/>
              <a:ext cx="1003500" cy="4215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2" name="Google Shape;1382;p96"/>
          <p:cNvSpPr txBox="1"/>
          <p:nvPr>
            <p:ph idx="1" type="body"/>
          </p:nvPr>
        </p:nvSpPr>
        <p:spPr>
          <a:xfrm>
            <a:off x="6857150" y="2816700"/>
            <a:ext cx="19845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left arrow keys to change the term number.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97"/>
          <p:cNvSpPr txBox="1"/>
          <p:nvPr>
            <p:ph idx="1" type="body"/>
          </p:nvPr>
        </p:nvSpPr>
        <p:spPr>
          <a:xfrm>
            <a:off x="324000" y="759300"/>
            <a:ext cx="8237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will                         reach 21.025?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trial and improvement.</a:t>
            </a:r>
            <a:endParaRPr/>
          </a:p>
        </p:txBody>
      </p:sp>
      <p:sp>
        <p:nvSpPr>
          <p:cNvPr id="1388" name="Google Shape;138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and 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9.975-0.35n&quot;&gt;&lt;mn&gt;89.975&lt;/mn&gt;&lt;mo&gt;−&lt;/mo&gt;&lt;mn&gt;0.35&lt;/mn&gt;&lt;mi&gt;n&lt;/mi&gt;&lt;/math&gt;" id="1389" name="Google Shape;1389;p97" title="89.975 minus 0.3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850" y="828428"/>
            <a:ext cx="1684425" cy="198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=100&quot;&gt;&lt;mi&gt;n&lt;/mi&gt;&lt;mo&gt;=&lt;/mo&gt;&lt;mn&gt;100&lt;/mn&gt;&lt;/math&gt;" id="1390" name="Google Shape;1390;p97" title="n equals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562" y="1639244"/>
            <a:ext cx="960100" cy="213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=200&quot;&gt;&lt;mi&gt;n&lt;/mi&gt;&lt;mo&gt;=&lt;/mo&gt;&lt;mn&gt;200&lt;/mn&gt;&lt;/math&gt;" id="1391" name="Google Shape;1391;p97" title="n equals 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150" y="3510407"/>
            <a:ext cx="960100" cy="213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1976" y="1634399"/>
            <a:ext cx="2120874" cy="11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3800" y="2933999"/>
            <a:ext cx="1569501" cy="3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9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563" y="2972256"/>
            <a:ext cx="1492850" cy="2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9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91975" y="3498749"/>
            <a:ext cx="2135596" cy="11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9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29125" y="2460731"/>
            <a:ext cx="2135600" cy="114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31950" y="1251833"/>
            <a:ext cx="2120874" cy="1146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9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36475" y="3640991"/>
            <a:ext cx="2120874" cy="1151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=198&quot;&gt;&lt;mi&gt;n&lt;/mi&gt;&lt;mo&gt;=&lt;/mo&gt;&lt;mn&gt;198&lt;/mn&gt;&lt;/math&gt;" id="1399" name="Google Shape;1399;p97" title="n equals 19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89700" y="2635612"/>
            <a:ext cx="887025" cy="19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=197&quot;&gt;&lt;mi&gt;n&lt;/mi&gt;&lt;mo&gt;=&lt;/mo&gt;&lt;mn&gt;197&lt;/mn&gt;&lt;/math&gt;" id="1400" name="Google Shape;1400;p97" title="n equals 19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82875" y="3822185"/>
            <a:ext cx="928011" cy="209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=199&quot;&gt;&lt;mi&gt;n&lt;/mi&gt;&lt;mo&gt;=&lt;/mo&gt;&lt;mn&gt;199&lt;/mn&gt;&lt;/math&gt;" id="1401" name="Google Shape;1401;p97" title="n equals 19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580238" y="1439024"/>
            <a:ext cx="935312" cy="2095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7"/>
          <p:cNvSpPr txBox="1"/>
          <p:nvPr>
            <p:ph idx="1" type="body"/>
          </p:nvPr>
        </p:nvSpPr>
        <p:spPr>
          <a:xfrm>
            <a:off x="5622986" y="790536"/>
            <a:ext cx="20457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197th term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8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below finds the term −60.67 in the sequence                      ?</a:t>
            </a:r>
            <a:endParaRPr/>
          </a:p>
        </p:txBody>
      </p:sp>
      <p:sp>
        <p:nvSpPr>
          <p:cNvPr id="1408" name="Google Shape;1408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and 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.7-0.07n&quot;&gt;&lt;mn&gt;8.7&lt;/mn&gt;&lt;mo&gt;−&lt;/mo&gt;&lt;mn&gt;0.07&lt;/mn&gt;&lt;mi&gt;n&lt;/mi&gt;&lt;/math&gt;" id="1409" name="Google Shape;1409;p98" title="8.7 minus 0.07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1179683"/>
            <a:ext cx="1410650" cy="22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0" y="1639300"/>
            <a:ext cx="3105357" cy="781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600" y="2622543"/>
            <a:ext cx="3105353" cy="80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4972" y="3627012"/>
            <a:ext cx="3105353" cy="74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8800" y="2920194"/>
            <a:ext cx="3062700" cy="1623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9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74162" y="377187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9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term, then use approximation and counting on to find the term 705 in the arithmetic sequence starting </a:t>
            </a:r>
            <a:br>
              <a:rPr lang="en-GB"/>
            </a:br>
            <a:r>
              <a:rPr lang="en-GB"/>
              <a:t>−25, −15, −5, 5, 15, …</a:t>
            </a:r>
            <a:endParaRPr/>
          </a:p>
        </p:txBody>
      </p:sp>
      <p:sp>
        <p:nvSpPr>
          <p:cNvPr id="1420" name="Google Shape;1420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and using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endParaRPr/>
          </a:p>
        </p:txBody>
      </p:sp>
      <p:sp>
        <p:nvSpPr>
          <p:cNvPr id="1421" name="Google Shape;1421;p99"/>
          <p:cNvSpPr txBox="1"/>
          <p:nvPr>
            <p:ph idx="1" type="body"/>
          </p:nvPr>
        </p:nvSpPr>
        <p:spPr>
          <a:xfrm>
            <a:off x="324000" y="2175864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term, then use approximation and counting on to find the term −554 in the arithmetic sequence starting </a:t>
            </a:r>
            <a:br>
              <a:rPr lang="en-GB"/>
            </a:br>
            <a:r>
              <a:rPr lang="en-GB"/>
              <a:t>−2, −14, −26, −38, −50, …</a:t>
            </a:r>
            <a:endParaRPr/>
          </a:p>
        </p:txBody>
      </p:sp>
      <p:sp>
        <p:nvSpPr>
          <p:cNvPr id="1422" name="Google Shape;1422;p99"/>
          <p:cNvSpPr txBox="1"/>
          <p:nvPr>
            <p:ph idx="1" type="body"/>
          </p:nvPr>
        </p:nvSpPr>
        <p:spPr>
          <a:xfrm>
            <a:off x="324000" y="3602850"/>
            <a:ext cx="6450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Jacob wants to know the last positive term in the sequence                           . Use trial and improvement on your calculator to help him.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6.95-0.06n&quot;&gt;&lt;mn&gt;36.95&lt;/mn&gt;&lt;mo&gt;−&lt;/mo&gt;&lt;mn&gt;0.06&lt;/mn&gt;&lt;mi&gt;n&lt;/mi&gt;&lt;/math&gt;" id="1423" name="Google Shape;1423;p99" title="36.95 minus 0.06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000" y="4003962"/>
            <a:ext cx="1922150" cy="2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1450" y="3574275"/>
            <a:ext cx="834824" cy="102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00"/>
          <p:cNvSpPr txBox="1"/>
          <p:nvPr>
            <p:ph idx="1" type="body"/>
          </p:nvPr>
        </p:nvSpPr>
        <p:spPr>
          <a:xfrm>
            <a:off x="324000" y="759300"/>
            <a:ext cx="8237700" cy="11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term, then use approximation and counting on to find the term 705 in the arithmetic sequence starting </a:t>
            </a:r>
            <a:br>
              <a:rPr lang="en-GB"/>
            </a:br>
            <a:r>
              <a:rPr lang="en-GB"/>
              <a:t>−25, −15, −5, 5, 15, …</a:t>
            </a:r>
            <a:endParaRPr/>
          </a:p>
        </p:txBody>
      </p:sp>
      <p:sp>
        <p:nvSpPr>
          <p:cNvPr id="1430" name="Google Shape;1430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and using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n-35&quot;&gt;&lt;mn&gt;10&lt;/mn&gt;&lt;mi&gt;n&lt;/mi&gt;&lt;mo&gt;−&lt;/mo&gt;&lt;mn&gt;35&lt;/mn&gt;&lt;/math&gt;" id="1431" name="Google Shape;1431;p100" title="10 n minus 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76" y="2156050"/>
            <a:ext cx="1406667" cy="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00"/>
          <p:cNvSpPr txBox="1"/>
          <p:nvPr>
            <p:ph idx="1" type="body"/>
          </p:nvPr>
        </p:nvSpPr>
        <p:spPr>
          <a:xfrm>
            <a:off x="324000" y="2664300"/>
            <a:ext cx="4248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= 70     10(70) − 35 = 665</a:t>
            </a:r>
            <a:endParaRPr/>
          </a:p>
        </p:txBody>
      </p:sp>
      <p:sp>
        <p:nvSpPr>
          <p:cNvPr id="1433" name="Google Shape;1433;p100"/>
          <p:cNvSpPr txBox="1"/>
          <p:nvPr>
            <p:ph idx="4294967295" type="body"/>
          </p:nvPr>
        </p:nvSpPr>
        <p:spPr>
          <a:xfrm>
            <a:off x="1961274" y="3273900"/>
            <a:ext cx="46716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…, 665,  675,  685,  695,  705, …</a:t>
            </a:r>
            <a:endParaRPr sz="2400"/>
          </a:p>
        </p:txBody>
      </p:sp>
      <p:sp>
        <p:nvSpPr>
          <p:cNvPr id="1434" name="Google Shape;1434;p100"/>
          <p:cNvSpPr txBox="1"/>
          <p:nvPr>
            <p:ph idx="4294967295" type="body"/>
          </p:nvPr>
        </p:nvSpPr>
        <p:spPr>
          <a:xfrm>
            <a:off x="2333111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7</a:t>
            </a:r>
            <a:r>
              <a:rPr lang="en-GB" sz="1800">
                <a:solidFill>
                  <a:schemeClr val="accent2"/>
                </a:solidFill>
              </a:rPr>
              <a:t>0th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35" name="Google Shape;1435;p100"/>
          <p:cNvSpPr txBox="1"/>
          <p:nvPr>
            <p:ph idx="4294967295" type="body"/>
          </p:nvPr>
        </p:nvSpPr>
        <p:spPr>
          <a:xfrm>
            <a:off x="3105523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71st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36" name="Google Shape;1436;p100"/>
          <p:cNvSpPr txBox="1"/>
          <p:nvPr>
            <p:ph idx="4294967295" type="body"/>
          </p:nvPr>
        </p:nvSpPr>
        <p:spPr>
          <a:xfrm>
            <a:off x="3898759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72nd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37" name="Google Shape;1437;p100"/>
          <p:cNvSpPr txBox="1"/>
          <p:nvPr>
            <p:ph idx="4294967295" type="body"/>
          </p:nvPr>
        </p:nvSpPr>
        <p:spPr>
          <a:xfrm>
            <a:off x="4615794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73rd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38" name="Google Shape;1438;p100"/>
          <p:cNvSpPr txBox="1"/>
          <p:nvPr>
            <p:ph idx="4294967295" type="body"/>
          </p:nvPr>
        </p:nvSpPr>
        <p:spPr>
          <a:xfrm>
            <a:off x="5377794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74th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39" name="Google Shape;1439;p100"/>
          <p:cNvSpPr txBox="1"/>
          <p:nvPr>
            <p:ph idx="1" type="body"/>
          </p:nvPr>
        </p:nvSpPr>
        <p:spPr>
          <a:xfrm>
            <a:off x="1924200" y="4188300"/>
            <a:ext cx="52902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705 is the 74th term in the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and using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endParaRPr/>
          </a:p>
        </p:txBody>
      </p:sp>
      <p:sp>
        <p:nvSpPr>
          <p:cNvPr id="1445" name="Google Shape;1445;p101"/>
          <p:cNvSpPr txBox="1"/>
          <p:nvPr>
            <p:ph idx="1" type="body"/>
          </p:nvPr>
        </p:nvSpPr>
        <p:spPr>
          <a:xfrm>
            <a:off x="324000" y="849228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term, then use approximation and counting on to find the term −554 in the arithmetic sequence starting </a:t>
            </a:r>
            <a:br>
              <a:rPr lang="en-GB"/>
            </a:br>
            <a:r>
              <a:rPr lang="en-GB"/>
              <a:t>−2, −14, −26, −38, −50, …</a:t>
            </a:r>
            <a:endParaRPr/>
          </a:p>
        </p:txBody>
      </p:sp>
      <p:sp>
        <p:nvSpPr>
          <p:cNvPr id="1446" name="Google Shape;1446;p101"/>
          <p:cNvSpPr txBox="1"/>
          <p:nvPr>
            <p:ph idx="1" type="body"/>
          </p:nvPr>
        </p:nvSpPr>
        <p:spPr>
          <a:xfrm>
            <a:off x="324000" y="2664300"/>
            <a:ext cx="50538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= 50     10 − 12(50) = 10 − 600 = −590</a:t>
            </a:r>
            <a:endParaRPr/>
          </a:p>
        </p:txBody>
      </p:sp>
      <p:sp>
        <p:nvSpPr>
          <p:cNvPr id="1447" name="Google Shape;1447;p101"/>
          <p:cNvSpPr txBox="1"/>
          <p:nvPr>
            <p:ph idx="4294967295" type="body"/>
          </p:nvPr>
        </p:nvSpPr>
        <p:spPr>
          <a:xfrm>
            <a:off x="1961274" y="3273900"/>
            <a:ext cx="46716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…, </a:t>
            </a:r>
            <a:r>
              <a:rPr lang="en-GB"/>
              <a:t>−</a:t>
            </a:r>
            <a:r>
              <a:rPr lang="en-GB" sz="2400"/>
              <a:t>554,  </a:t>
            </a:r>
            <a:r>
              <a:rPr lang="en-GB"/>
              <a:t>−</a:t>
            </a:r>
            <a:r>
              <a:rPr lang="en-GB" sz="2400"/>
              <a:t>566,  </a:t>
            </a:r>
            <a:r>
              <a:rPr lang="en-GB"/>
              <a:t>−</a:t>
            </a:r>
            <a:r>
              <a:rPr lang="en-GB" sz="2400"/>
              <a:t>578,  </a:t>
            </a:r>
            <a:r>
              <a:rPr lang="en-GB"/>
              <a:t>−</a:t>
            </a:r>
            <a:r>
              <a:rPr lang="en-GB" sz="2400"/>
              <a:t>590, …</a:t>
            </a:r>
            <a:endParaRPr sz="2400"/>
          </a:p>
        </p:txBody>
      </p:sp>
      <p:sp>
        <p:nvSpPr>
          <p:cNvPr id="1448" name="Google Shape;1448;p101"/>
          <p:cNvSpPr txBox="1"/>
          <p:nvPr>
            <p:ph idx="4294967295" type="body"/>
          </p:nvPr>
        </p:nvSpPr>
        <p:spPr>
          <a:xfrm>
            <a:off x="5083406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50</a:t>
            </a:r>
            <a:r>
              <a:rPr lang="en-GB" sz="1800">
                <a:solidFill>
                  <a:schemeClr val="accent2"/>
                </a:solidFill>
              </a:rPr>
              <a:t>th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49" name="Google Shape;1449;p101"/>
          <p:cNvSpPr txBox="1"/>
          <p:nvPr>
            <p:ph idx="1" type="body"/>
          </p:nvPr>
        </p:nvSpPr>
        <p:spPr>
          <a:xfrm>
            <a:off x="1924200" y="4188300"/>
            <a:ext cx="52902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-554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the 47th term in the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-12n&quot;&gt;&lt;mn&gt;10&lt;/mn&gt;&lt;mo&gt;−&lt;/mo&gt;&lt;mn&gt;12&lt;/mn&gt;&lt;mi&gt;n&lt;/mi&gt;&lt;/math&gt;" id="1450" name="Google Shape;1450;p101" title="10 minus 12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2168935"/>
            <a:ext cx="1310925" cy="26607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01"/>
          <p:cNvSpPr txBox="1"/>
          <p:nvPr>
            <p:ph idx="4294967295" type="body"/>
          </p:nvPr>
        </p:nvSpPr>
        <p:spPr>
          <a:xfrm>
            <a:off x="4245206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49</a:t>
            </a:r>
            <a:r>
              <a:rPr lang="en-GB" sz="1800">
                <a:solidFill>
                  <a:schemeClr val="accent2"/>
                </a:solidFill>
              </a:rPr>
              <a:t>th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52" name="Google Shape;1452;p101"/>
          <p:cNvSpPr txBox="1"/>
          <p:nvPr>
            <p:ph idx="4294967295" type="body"/>
          </p:nvPr>
        </p:nvSpPr>
        <p:spPr>
          <a:xfrm>
            <a:off x="3330806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48th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53" name="Google Shape;1453;p101"/>
          <p:cNvSpPr txBox="1"/>
          <p:nvPr>
            <p:ph idx="4294967295" type="body"/>
          </p:nvPr>
        </p:nvSpPr>
        <p:spPr>
          <a:xfrm>
            <a:off x="2405994" y="3654900"/>
            <a:ext cx="5982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</a:rPr>
              <a:t>47th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454" name="Google Shape;1454;p101"/>
          <p:cNvSpPr/>
          <p:nvPr/>
        </p:nvSpPr>
        <p:spPr>
          <a:xfrm>
            <a:off x="1814050" y="3240000"/>
            <a:ext cx="3180900" cy="4077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and using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endParaRPr/>
          </a:p>
        </p:txBody>
      </p:sp>
      <p:sp>
        <p:nvSpPr>
          <p:cNvPr id="1460" name="Google Shape;1460;p102"/>
          <p:cNvSpPr txBox="1"/>
          <p:nvPr>
            <p:ph idx="1" type="body"/>
          </p:nvPr>
        </p:nvSpPr>
        <p:spPr>
          <a:xfrm>
            <a:off x="324000" y="835510"/>
            <a:ext cx="70185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Jacob wants to know the last term positive term in the sequence                           . Use trial and improvement on your calculator to help him.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6.95-0.06n&quot;&gt;&lt;mn&gt;36.95&lt;/mn&gt;&lt;mo&gt;−&lt;/mo&gt;&lt;mn&gt;0.06&lt;/mn&gt;&lt;mi&gt;n&lt;/mi&gt;&lt;/math&gt;" id="1461" name="Google Shape;1461;p102" title="36.95 minus 0.06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000" y="1236622"/>
            <a:ext cx="1922150" cy="2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2" name="Google Shape;1462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1450" y="806935"/>
            <a:ext cx="834824" cy="102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940" y="2179800"/>
            <a:ext cx="2311399" cy="12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523" y="3561697"/>
            <a:ext cx="2311400" cy="1249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8500" y="2168375"/>
            <a:ext cx="2311399" cy="124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1157" y="3573427"/>
            <a:ext cx="2343288" cy="1239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10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03280" y="2148664"/>
            <a:ext cx="2343288" cy="125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10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14555" y="3559015"/>
            <a:ext cx="2331373" cy="1259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and using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474" name="Google Shape;1474;p103"/>
          <p:cNvSpPr txBox="1"/>
          <p:nvPr>
            <p:ph idx="1" type="body"/>
          </p:nvPr>
        </p:nvSpPr>
        <p:spPr>
          <a:xfrm>
            <a:off x="324000" y="835510"/>
            <a:ext cx="70185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Jacob wants to know the last term positive term in the sequence                           . Use trial and improvement on your calculator to help him.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6.95-0.06n&quot;&gt;&lt;mn&gt;36.95&lt;/mn&gt;&lt;mo&gt;−&lt;/mo&gt;&lt;mn&gt;0.06&lt;/mn&gt;&lt;mi&gt;n&lt;/mi&gt;&lt;/math&gt;" id="1475" name="Google Shape;1475;p103" title="36.95 minus 0.06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000" y="1236622"/>
            <a:ext cx="1922150" cy="2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1450" y="806935"/>
            <a:ext cx="834824" cy="102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633" y="2169488"/>
            <a:ext cx="2343288" cy="125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7307" y="2163274"/>
            <a:ext cx="2331373" cy="125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03"/>
          <p:cNvSpPr txBox="1"/>
          <p:nvPr>
            <p:ph idx="1" type="body"/>
          </p:nvPr>
        </p:nvSpPr>
        <p:spPr>
          <a:xfrm>
            <a:off x="337723" y="3762325"/>
            <a:ext cx="82335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615th term is positive. The 616th term is negative.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Therefore, the 615th is the last positive term.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04"/>
          <p:cNvSpPr txBox="1"/>
          <p:nvPr>
            <p:ph idx="1" type="body"/>
          </p:nvPr>
        </p:nvSpPr>
        <p:spPr>
          <a:xfrm>
            <a:off x="324000" y="1080000"/>
            <a:ext cx="81138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5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an arithmetic sequence by finding the common difference betweens the terms.</a:t>
            </a:r>
            <a:endParaRPr/>
          </a:p>
        </p:txBody>
      </p:sp>
      <p:sp>
        <p:nvSpPr>
          <p:cNvPr id="1485" name="Google Shape;1485;p104"/>
          <p:cNvSpPr txBox="1"/>
          <p:nvPr>
            <p:ph type="title"/>
          </p:nvPr>
        </p:nvSpPr>
        <p:spPr>
          <a:xfrm>
            <a:off x="1684800" y="137433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486" name="Google Shape;1486;p104"/>
          <p:cNvSpPr txBox="1"/>
          <p:nvPr>
            <p:ph idx="1" type="body"/>
          </p:nvPr>
        </p:nvSpPr>
        <p:spPr>
          <a:xfrm>
            <a:off x="324000" y="1994400"/>
            <a:ext cx="81138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E.g. 5, 8, 11, 14, 17…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Has a common difference of 3 therefore is a translation of the sequence with the</a:t>
            </a:r>
            <a:r>
              <a:rPr lang="en-GB"/>
              <a:t>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5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</a:t>
            </a:r>
            <a:r>
              <a:rPr lang="en-GB"/>
              <a:t> 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is a translation of +2 from the sequence 3, 6, 9, 12, … therefore </a:t>
            </a:r>
            <a:r>
              <a:rPr lang="en-GB"/>
              <a:t>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5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the</a:t>
            </a:r>
            <a:r>
              <a:rPr lang="en-GB"/>
              <a:t> sequence is 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92" name="Google Shape;1492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