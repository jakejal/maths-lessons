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9b264345b8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9b264345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22.png"/><Relationship Id="rId13" Type="http://schemas.openxmlformats.org/officeDocument/2006/relationships/image" Target="../media/image14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9" Type="http://schemas.openxmlformats.org/officeDocument/2006/relationships/image" Target="../media/image8.png"/><Relationship Id="rId15" Type="http://schemas.openxmlformats.org/officeDocument/2006/relationships/image" Target="../media/image24.png"/><Relationship Id="rId14" Type="http://schemas.openxmlformats.org/officeDocument/2006/relationships/image" Target="../media/image12.png"/><Relationship Id="rId17" Type="http://schemas.openxmlformats.org/officeDocument/2006/relationships/image" Target="../media/image21.png"/><Relationship Id="rId16" Type="http://schemas.openxmlformats.org/officeDocument/2006/relationships/image" Target="../media/image15.png"/><Relationship Id="rId5" Type="http://schemas.openxmlformats.org/officeDocument/2006/relationships/image" Target="../media/image10.png"/><Relationship Id="rId19" Type="http://schemas.openxmlformats.org/officeDocument/2006/relationships/image" Target="../media/image18.png"/><Relationship Id="rId6" Type="http://schemas.openxmlformats.org/officeDocument/2006/relationships/image" Target="../media/image16.png"/><Relationship Id="rId18" Type="http://schemas.openxmlformats.org/officeDocument/2006/relationships/image" Target="../media/image23.png"/><Relationship Id="rId7" Type="http://schemas.openxmlformats.org/officeDocument/2006/relationships/image" Target="../media/image9.png"/><Relationship Id="rId8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42.png"/><Relationship Id="rId22" Type="http://schemas.openxmlformats.org/officeDocument/2006/relationships/image" Target="../media/image55.png"/><Relationship Id="rId21" Type="http://schemas.openxmlformats.org/officeDocument/2006/relationships/image" Target="../media/image45.png"/><Relationship Id="rId24" Type="http://schemas.openxmlformats.org/officeDocument/2006/relationships/image" Target="../media/image47.png"/><Relationship Id="rId23" Type="http://schemas.openxmlformats.org/officeDocument/2006/relationships/image" Target="../media/image49.png"/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0.png"/><Relationship Id="rId4" Type="http://schemas.openxmlformats.org/officeDocument/2006/relationships/image" Target="../media/image25.png"/><Relationship Id="rId9" Type="http://schemas.openxmlformats.org/officeDocument/2006/relationships/image" Target="../media/image31.png"/><Relationship Id="rId26" Type="http://schemas.openxmlformats.org/officeDocument/2006/relationships/image" Target="../media/image43.png"/><Relationship Id="rId25" Type="http://schemas.openxmlformats.org/officeDocument/2006/relationships/image" Target="../media/image14.png"/><Relationship Id="rId27" Type="http://schemas.openxmlformats.org/officeDocument/2006/relationships/image" Target="../media/image54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11" Type="http://schemas.openxmlformats.org/officeDocument/2006/relationships/image" Target="../media/image37.png"/><Relationship Id="rId10" Type="http://schemas.openxmlformats.org/officeDocument/2006/relationships/image" Target="../media/image29.png"/><Relationship Id="rId13" Type="http://schemas.openxmlformats.org/officeDocument/2006/relationships/image" Target="../media/image34.png"/><Relationship Id="rId12" Type="http://schemas.openxmlformats.org/officeDocument/2006/relationships/image" Target="../media/image33.png"/><Relationship Id="rId15" Type="http://schemas.openxmlformats.org/officeDocument/2006/relationships/image" Target="../media/image32.png"/><Relationship Id="rId14" Type="http://schemas.openxmlformats.org/officeDocument/2006/relationships/image" Target="../media/image38.png"/><Relationship Id="rId17" Type="http://schemas.openxmlformats.org/officeDocument/2006/relationships/image" Target="../media/image36.png"/><Relationship Id="rId16" Type="http://schemas.openxmlformats.org/officeDocument/2006/relationships/image" Target="../media/image35.png"/><Relationship Id="rId19" Type="http://schemas.openxmlformats.org/officeDocument/2006/relationships/image" Target="../media/image41.png"/><Relationship Id="rId18" Type="http://schemas.openxmlformats.org/officeDocument/2006/relationships/image" Target="../media/image3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7.png"/><Relationship Id="rId4" Type="http://schemas.openxmlformats.org/officeDocument/2006/relationships/image" Target="../media/image48.png"/><Relationship Id="rId9" Type="http://schemas.openxmlformats.org/officeDocument/2006/relationships/image" Target="../media/image50.png"/><Relationship Id="rId5" Type="http://schemas.openxmlformats.org/officeDocument/2006/relationships/image" Target="../media/image44.png"/><Relationship Id="rId6" Type="http://schemas.openxmlformats.org/officeDocument/2006/relationships/image" Target="../media/image46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11" Type="http://schemas.openxmlformats.org/officeDocument/2006/relationships/image" Target="../media/image58.png"/><Relationship Id="rId10" Type="http://schemas.openxmlformats.org/officeDocument/2006/relationships/image" Target="../media/image53.png"/><Relationship Id="rId12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/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26125"/>
            <a:ext cx="66240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Finding the </a:t>
            </a:r>
            <a:r>
              <a:rPr b="1"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baseline="30000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term of increasing sequences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692438"/>
            <a:ext cx="82377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Find the </a:t>
            </a: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of the sequences below: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0,17,24,31,38,\ ...&quot;&gt;&lt;mn&gt;10&lt;/mn&gt;&lt;mo&gt;,&lt;/mo&gt;&lt;mn&gt;17&lt;/mn&gt;&lt;mo&gt;,&lt;/mo&gt;&lt;mn&gt;24&lt;/mn&gt;&lt;mo&gt;,&lt;/mo&gt;&lt;mn&gt;31&lt;/mn&gt;&lt;mo&gt;,&lt;/mo&gt;&lt;mn&gt;38&lt;/mn&gt;&lt;mo&gt;,&lt;/mo&gt;&lt;mtext&gt;&lt;/mtext&gt;&lt;mo&gt;.&lt;/mo&gt;&lt;mo&gt;.&lt;/mo&gt;&lt;mo&gt;.&lt;/mo&gt;&lt;/math&gt;" id="175" name="Google Shape;175;p20" title="10 comma 17 comma 24 comma 31 comma 38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729" y="2209132"/>
            <a:ext cx="2603469" cy="262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,8,15,22,29\ ...&quot;&gt;&lt;mn&gt;1&lt;/mn&gt;&lt;mo&gt;,&lt;/mo&gt;&lt;mn&gt;8&lt;/mn&gt;&lt;mo&gt;,&lt;/mo&gt;&lt;mn&gt;15&lt;/mn&gt;&lt;mo&gt;,&lt;/mo&gt;&lt;mn&gt;22&lt;/mn&gt;&lt;mo&gt;,&lt;/mo&gt;&lt;mn&gt;29&lt;/mn&gt;&lt;mtext&gt;&lt;/mtext&gt;&lt;mo&gt;.&lt;/mo&gt;&lt;mo&gt;.&lt;/mo&gt;&lt;mo&gt;.&lt;/mo&gt;&lt;/math&gt;" id="176" name="Google Shape;176;p20" title="1 comma 8 comma 15 comma 22 comma 29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1729" y="2772959"/>
            <a:ext cx="2144330" cy="2674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10,-7,-4,-1,2\ ...&quot;&gt;&lt;mo&gt;−&lt;/mo&gt;&lt;mn&gt;10&lt;/mn&gt;&lt;mo&gt;,&lt;/mo&gt;&lt;mo&gt;−&lt;/mo&gt;&lt;mn&gt;7&lt;/mn&gt;&lt;mo&gt;,&lt;/mo&gt;&lt;mo&gt;−&lt;/mo&gt;&lt;mn&gt;4&lt;/mn&gt;&lt;mo&gt;,&lt;/mo&gt;&lt;mo&gt;−&lt;/mo&gt;&lt;mn&gt;1&lt;/mn&gt;&lt;mo&gt;,&lt;/mo&gt;&lt;mn&gt;2&lt;/mn&gt;&lt;mtext&gt;&lt;/mtext&gt;&lt;mo&gt;.&lt;/mo&gt;&lt;mo&gt;.&lt;/mo&gt;&lt;mo&gt;.&lt;/mo&gt;&lt;/math&gt;" id="177" name="Google Shape;177;p20" title="negative 10 comma negative 7 comma negative 4 comma negative 1 comma 2 period period perio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1729" y="3341832"/>
            <a:ext cx="2719515" cy="262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9,\ 1.3,\ 1.7,\ 2.1,\ 2.5\ ...&quot;&gt;&lt;mn&gt;0.9&lt;/mn&gt;&lt;mo&gt;,&lt;/mo&gt;&lt;mtext&gt;&lt;/mtext&gt;&lt;mn&gt;1.3&lt;/mn&gt;&lt;mo&gt;,&lt;/mo&gt;&lt;mtext&gt;&lt;/mtext&gt;&lt;mn&gt;1.7&lt;/mn&gt;&lt;mo&gt;,&lt;/mo&gt;&lt;mtext&gt;&lt;/mtext&gt;&lt;mn&gt;2.1&lt;/mn&gt;&lt;mo&gt;,&lt;/mo&gt;&lt;mtext&gt;&lt;/mtext&gt;&lt;mn&gt;2.5&lt;/mn&gt;&lt;mtext&gt;&lt;/mtext&gt;&lt;mo&gt;.&lt;/mo&gt;&lt;mo&gt;.&lt;/mo&gt;&lt;mo&gt;.&lt;/mo&gt;&lt;/math&gt;" id="178" name="Google Shape;178;p20" title="0.9 comma 1.3 comma 1.7 comma 2.1 comma 2.5 period period perio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1725" y="3926807"/>
            <a:ext cx="2842526" cy="236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,\frac{3}{4},\frac{5}{4},\frac{7}{4},\frac{9}{4},\ ...&quot;&gt;&lt;mfrac&gt;&lt;mn&gt;1&lt;/mn&gt;&lt;mn&gt;4&lt;/mn&gt;&lt;/mfrac&gt;&lt;mo&gt;,&lt;/mo&gt;&lt;mfrac&gt;&lt;mn&gt;3&lt;/mn&gt;&lt;mn&gt;4&lt;/mn&gt;&lt;/mfrac&gt;&lt;mo&gt;,&lt;/mo&gt;&lt;mfrac&gt;&lt;mn&gt;5&lt;/mn&gt;&lt;mn&gt;4&lt;/mn&gt;&lt;/mfrac&gt;&lt;mo&gt;,&lt;/mo&gt;&lt;mfrac&gt;&lt;mn&gt;7&lt;/mn&gt;&lt;mn&gt;4&lt;/mn&gt;&lt;/mfrac&gt;&lt;mo&gt;,&lt;/mo&gt;&lt;mfrac&gt;&lt;mn&gt;9&lt;/mn&gt;&lt;mn&gt;4&lt;/mn&gt;&lt;/mfrac&gt;&lt;mo&gt;,&lt;/mo&gt;&lt;mtext&gt;&lt;/mtext&gt;&lt;mo&gt;.&lt;/mo&gt;&lt;mo&gt;.&lt;/mo&gt;&lt;mo&gt;.&lt;/mo&gt;&lt;/math&gt;" id="179" name="Google Shape;179;p20" title="one fourth comma three fourths comma five fourths comma seven fourths comma nine fourths comma period period perio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1729" y="4400925"/>
            <a:ext cx="1976786" cy="54209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468000" y="2225838"/>
            <a:ext cx="303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68000" y="2811297"/>
            <a:ext cx="303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68000" y="3355109"/>
            <a:ext cx="303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68000" y="3940569"/>
            <a:ext cx="303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68000" y="4570993"/>
            <a:ext cx="303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7n+3&quot;&gt;&lt;mn&gt;7&lt;/mn&gt;&lt;mi&gt;n&lt;/mi&gt;&lt;mo&gt;+&lt;/mo&gt;&lt;mn&gt;3&lt;/mn&gt;&lt;/math&gt;" id="185" name="Google Shape;185;p20" title="7 n plus 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33076" y="2169789"/>
            <a:ext cx="813689" cy="2332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n-6&quot;&gt;&lt;mn&gt;7&lt;/mn&gt;&lt;mi&gt;n&lt;/mi&gt;&lt;mo&gt;−&lt;/mo&gt;&lt;mn&gt;6&lt;/mn&gt;&lt;/math&gt;" id="186" name="Google Shape;186;p20" title="7 n minus 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33076" y="2742579"/>
            <a:ext cx="824538" cy="2278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-13&quot;&gt;&lt;mn&gt;3&lt;/mn&gt;&lt;mi&gt;n&lt;/mi&gt;&lt;mo&gt;−&lt;/mo&gt;&lt;mn&gt;13&lt;/mn&gt;&lt;/math&gt;" id="187" name="Google Shape;187;p20" title="3 n minus 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933076" y="3285804"/>
            <a:ext cx="949304" cy="2224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4n+0.5&quot;&gt;&lt;mn&gt;0.4&lt;/mn&gt;&lt;mi&gt;n&lt;/mi&gt;&lt;mo&gt;+&lt;/mo&gt;&lt;mn&gt;0.5&lt;/mn&gt;&lt;/math&gt;" id="188" name="Google Shape;188;p20" title="0.4 n plus 0.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933076" y="3867013"/>
            <a:ext cx="1291053" cy="2332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n-\frac{1}{4}&quot;&gt;&lt;mfrac&gt;&lt;mn&gt;1&lt;/mn&gt;&lt;mn&gt;2&lt;/mn&gt;&lt;/mfrac&gt;&lt;mi&gt;n&lt;/mi&gt;&lt;mo&gt;−&lt;/mo&gt;&lt;mfrac&gt;&lt;mn&gt;1&lt;/mn&gt;&lt;mn&gt;4&lt;/mn&gt;&lt;/mfrac&gt;&lt;/math&gt;" id="189" name="Google Shape;189;p20" title="one half n minus one fourth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933076" y="4365368"/>
            <a:ext cx="895409" cy="592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/>
          <p:cNvPicPr preferRelativeResize="0"/>
          <p:nvPr/>
        </p:nvPicPr>
        <p:blipFill rotWithShape="1">
          <a:blip r:embed="rId13">
            <a:alphaModFix/>
          </a:blip>
          <a:srcRect b="43690" l="0" r="57905" t="0"/>
          <a:stretch/>
        </p:blipFill>
        <p:spPr>
          <a:xfrm>
            <a:off x="1899775" y="5368200"/>
            <a:ext cx="3633649" cy="91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2048850" y="5483400"/>
            <a:ext cx="3269700" cy="7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sequence -5, -3, -1, 1, 3, … is               because the common difference is +2 and it starts at -5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68000" y="5368200"/>
            <a:ext cx="256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Andeep says: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n-5&quot;&gt;&lt;mn&gt;2&lt;/mn&gt;&lt;mi&gt;n&lt;/mi&gt;&lt;mo&gt;−&lt;/mo&gt;&lt;mn&gt;5&lt;/mn&gt;&lt;/math&gt;" id="193" name="Google Shape;193;p20" title="2 n minus 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441302" y="5483400"/>
            <a:ext cx="538670" cy="1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302204" y="5919850"/>
            <a:ext cx="538674" cy="69462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468000" y="6280500"/>
            <a:ext cx="404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Give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two</a:t>
            </a:r>
            <a:r>
              <a:rPr lang="en-GB" sz="12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explanations as to why Andeep is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number line may help.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6" name="Google Shape;196;p2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68000" y="6853900"/>
            <a:ext cx="6624000" cy="60483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468000" y="8580205"/>
            <a:ext cx="4834200" cy="2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Your sequence is a translation by -7 therefore it is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2n-7&quot;&gt;&lt;mn&gt;2&lt;/mn&gt;&lt;mi&gt;n&lt;/mi&gt;&lt;mo&gt;−&lt;/mo&gt;&lt;mn&gt;7&lt;/mn&gt;&lt;/math&gt;" id="198" name="Google Shape;198;p20" title="2 n minus 7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858438" y="8580200"/>
            <a:ext cx="563118" cy="153918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468000" y="7647655"/>
            <a:ext cx="483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sequence 2n starts: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-5,-3,-1,\ ...&quot;&gt;&lt;mo&gt;−&lt;/mo&gt;&lt;mn&gt;5&lt;/mn&gt;&lt;mo&gt;,&lt;/mo&gt;&lt;mo&gt;−&lt;/mo&gt;&lt;mn&gt;3&lt;/mn&gt;&lt;mo&gt;,&lt;/mo&gt;&lt;mo&gt;−&lt;/mo&gt;&lt;mn&gt;1&lt;/mn&gt;&lt;mo&gt;,&lt;/mo&gt;&lt;mtext&gt;&lt;/mtext&gt;&lt;mo&gt;.&lt;/mo&gt;&lt;mo&gt;.&lt;/mo&gt;&lt;mo&gt;.&lt;/mo&gt;&lt;/math&gt;" id="200" name="Google Shape;200;p20" title="negative 5 comma negative 3 comma negative 1 comma period period period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2110865" y="8180016"/>
            <a:ext cx="1692909" cy="2392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\ 2,\ \ \ 4,\ \ \ 6,\ ...&quot;&gt;&lt;mtext&gt;&lt;/mtext&gt;&lt;mtext&gt;&lt;/mtext&gt;&lt;mn&gt;2&lt;/mn&gt;&lt;mo&gt;,&lt;/mo&gt;&lt;mtext&gt;&lt;/mtext&gt;&lt;mtext&gt;&lt;/mtext&gt;&lt;mtext&gt;&lt;/mtext&gt;&lt;mn&gt;4&lt;/mn&gt;&lt;mo&gt;,&lt;/mo&gt;&lt;mtext&gt;&lt;/mtext&gt;&lt;mtext&gt;&lt;/mtext&gt;&lt;mtext&gt;&lt;/mtext&gt;&lt;mn&gt;6&lt;/mn&gt;&lt;mo&gt;,&lt;/mo&gt;&lt;mtext&gt;&lt;/mtext&gt;&lt;mo&gt;.&lt;/mo&gt;&lt;mo&gt;.&lt;/mo&gt;&lt;mo&gt;.&lt;/mo&gt;&lt;/math&gt;" id="201" name="Google Shape;201;p20" title="2 comma 4 comma 6 comma period period period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2242850" y="7647655"/>
            <a:ext cx="1552962" cy="239258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2243287" y="7938251"/>
            <a:ext cx="3438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-7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2679663" y="7938251"/>
            <a:ext cx="3438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-7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3161950" y="7938251"/>
            <a:ext cx="3438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-7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468000" y="8858896"/>
            <a:ext cx="48363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 = 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2(1) - 5 = -3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69350" y="9427753"/>
            <a:ext cx="67707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first term of the sequence          is -3 whereas your first term is -5 so            can not describe your sequence.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2n-5&quot;&gt;&lt;mn&gt;2&lt;/mn&gt;&lt;mi&gt;n&lt;/mi&gt;&lt;mo&gt;−&lt;/mo&gt;&lt;mn&gt;5&lt;/mn&gt;&lt;/math&gt;" id="207" name="Google Shape;207;p20" title="2 n minus 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498253" y="9431400"/>
            <a:ext cx="538917" cy="15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n-5&quot;&gt;&lt;mn&gt;2&lt;/mn&gt;&lt;mi&gt;n&lt;/mi&gt;&lt;mo&gt;−&lt;/mo&gt;&lt;mn&gt;5&lt;/mn&gt;&lt;/math&gt;" id="208" name="Google Shape;208;p20" title="2 n minus 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603828" y="9431400"/>
            <a:ext cx="538917" cy="15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"/>
          <p:cNvSpPr txBox="1"/>
          <p:nvPr>
            <p:ph idx="1" type="subTitle"/>
          </p:nvPr>
        </p:nvSpPr>
        <p:spPr>
          <a:xfrm>
            <a:off x="1463400" y="360000"/>
            <a:ext cx="47826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Finding the </a:t>
            </a:r>
            <a:r>
              <a:rPr i="1" lang="en-GB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>
                <a:solidFill>
                  <a:schemeClr val="dk1"/>
                </a:solidFill>
              </a:rPr>
              <a:t>th</a:t>
            </a:r>
            <a:r>
              <a:rPr lang="en-GB">
                <a:solidFill>
                  <a:schemeClr val="dk1"/>
                </a:solidFill>
              </a:rPr>
              <a:t> term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468000" y="1053027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Match the sequences to their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9-5n&quot;&gt;&lt;mn&gt;29&lt;/mn&gt;&lt;mo&gt;−&lt;/mo&gt;&lt;mn&gt;5&lt;/mn&gt;&lt;mi&gt;n&lt;/mi&gt;&lt;/math&gt;" id="215" name="Google Shape;215;p21" title="29 minus 5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1645" y="1316648"/>
            <a:ext cx="677298" cy="15981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468000" y="77640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Finding the </a:t>
            </a:r>
            <a:r>
              <a:rPr b="1"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baseline="30000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term of decreasing sequences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9-3n&quot;&gt;&lt;mn&gt;29&lt;/mn&gt;&lt;mo&gt;−&lt;/mo&gt;&lt;mn&gt;3&lt;/mn&gt;&lt;mi&gt;n&lt;/mi&gt;&lt;/math&gt;" id="217" name="Google Shape;217;p21" title="29 minus 3 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1645" y="2181121"/>
            <a:ext cx="677298" cy="1560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3n-2&quot;&gt;&lt;mo&gt;−&lt;/mo&gt;&lt;mn&gt;3&lt;/mn&gt;&lt;mi&gt;n&lt;/mi&gt;&lt;mo&gt;−&lt;/mo&gt;&lt;mn&gt;2&lt;/mn&gt;&lt;/math&gt;" id="218" name="Google Shape;218;p21" title="negative 3 n minus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7400" y="2609553"/>
            <a:ext cx="711543" cy="1560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4-3n&quot;&gt;&lt;mn&gt;24&lt;/mn&gt;&lt;mo&gt;−&lt;/mo&gt;&lt;mn&gt;3&lt;/mn&gt;&lt;mi&gt;n&lt;/mi&gt;&lt;/math&gt;" id="219" name="Google Shape;219;p21" title="24 minus 3 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80230" y="1748884"/>
            <a:ext cx="688713" cy="1598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5n+2&quot;&gt;&lt;mo&gt;−&lt;/mo&gt;&lt;mn&gt;5&lt;/mn&gt;&lt;mi&gt;n&lt;/mi&gt;&lt;mo&gt;+&lt;/mo&gt;&lt;mn&gt;2&lt;/mn&gt;&lt;/math&gt;" id="220" name="Google Shape;220;p21" title="negative 5 n plus 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57400" y="3037984"/>
            <a:ext cx="711543" cy="1636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4,\ 19,\ 14,\ 9,\ 4,\ ...&quot;&gt;&lt;mn&gt;24&lt;/mn&gt;&lt;mo&gt;,&lt;/mo&gt;&lt;mtext&gt;&lt;/mtext&gt;&lt;mn&gt;19&lt;/mn&gt;&lt;mo&gt;,&lt;/mo&gt;&lt;mtext&gt;&lt;/mtext&gt;&lt;mn&gt;14&lt;/mn&gt;&lt;mo&gt;,&lt;/mo&gt;&lt;mtext&gt;&lt;/mtext&gt;&lt;mn&gt;9&lt;/mn&gt;&lt;mo&gt;,&lt;/mo&gt;&lt;mtext&gt;&lt;/mtext&gt;&lt;mn&gt;4&lt;/mn&gt;&lt;mo&gt;,&lt;/mo&gt;&lt;mtext&gt;&lt;/mtext&gt;&lt;mo&gt;.&lt;/mo&gt;&lt;mo&gt;.&lt;/mo&gt;&lt;mo&gt;.&lt;/mo&gt;&lt;/math&gt;" id="221" name="Google Shape;221;p21" title="24 comma 19 comma 14 comma 9 comma 4 comma period period perio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47095" y="3031577"/>
            <a:ext cx="1828939" cy="1825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1,\ 18,\ 15,\ 12,\ 9,\ ...&quot;&gt;&lt;mn&gt;21&lt;/mn&gt;&lt;mo&gt;,&lt;/mo&gt;&lt;mtext&gt;&lt;/mtext&gt;&lt;mn&gt;18&lt;/mn&gt;&lt;mo&gt;,&lt;/mo&gt;&lt;mtext&gt;&lt;/mtext&gt;&lt;mn&gt;15&lt;/mn&gt;&lt;mo&gt;,&lt;/mo&gt;&lt;mtext&gt;&lt;/mtext&gt;&lt;mn&gt;12&lt;/mn&gt;&lt;mo&gt;,&lt;/mo&gt;&lt;mtext&gt;&lt;/mtext&gt;&lt;mn&gt;9&lt;/mn&gt;&lt;mo&gt;,&lt;/mo&gt;&lt;mtext&gt;&lt;/mtext&gt;&lt;mo&gt;.&lt;/mo&gt;&lt;mo&gt;.&lt;/mo&gt;&lt;mo&gt;.&lt;/mo&gt;&lt;/math&gt;" id="222" name="Google Shape;222;p21" title="21 comma 18 comma 15 comma 12 comma 9 comma period period perio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47095" y="1330385"/>
            <a:ext cx="1927232" cy="1860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6,\ 23,\ 20,\ 17,\ 14,\ ...&quot;&gt;&lt;mn&gt;26&lt;/mn&gt;&lt;mo&gt;,&lt;/mo&gt;&lt;mtext&gt;&lt;/mtext&gt;&lt;mn&gt;23&lt;/mn&gt;&lt;mo&gt;,&lt;/mo&gt;&lt;mtext&gt;&lt;/mtext&gt;&lt;mn&gt;20&lt;/mn&gt;&lt;mo&gt;,&lt;/mo&gt;&lt;mtext&gt;&lt;/mtext&gt;&lt;mn&gt;17&lt;/mn&gt;&lt;mo&gt;,&lt;/mo&gt;&lt;mtext&gt;&lt;/mtext&gt;&lt;mn&gt;14&lt;/mn&gt;&lt;mo&gt;,&lt;/mo&gt;&lt;mtext&gt;&lt;/mtext&gt;&lt;mo&gt;.&lt;/mo&gt;&lt;mo&gt;.&lt;/mo&gt;&lt;mo&gt;.&lt;/mo&gt;&lt;/math&gt;" id="223" name="Google Shape;223;p21" title="26 comma 23 comma 20 comma 17 comma 14 comma period period perio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47095" y="2605401"/>
            <a:ext cx="2050097" cy="1860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5,-8,-11,-14,-17,\ ...&quot;&gt;&lt;mo&gt;−&lt;/mo&gt;&lt;mn&gt;5&lt;/mn&gt;&lt;mo&gt;,&lt;/mo&gt;&lt;mo&gt;−&lt;/mo&gt;&lt;mn&gt;8&lt;/mn&gt;&lt;mo&gt;,&lt;/mo&gt;&lt;mo&gt;−&lt;/mo&gt;&lt;mn&gt;11&lt;/mn&gt;&lt;mo&gt;,&lt;/mo&gt;&lt;mo&gt;−&lt;/mo&gt;&lt;mn&gt;14&lt;/mn&gt;&lt;mo&gt;,&lt;/mo&gt;&lt;mo&gt;−&lt;/mo&gt;&lt;mn&gt;17&lt;/mn&gt;&lt;mo&gt;,&lt;/mo&gt;&lt;mtext&gt;&lt;/mtext&gt;&lt;mo&gt;.&lt;/mo&gt;&lt;mo&gt;.&lt;/mo&gt;&lt;mo&gt;.&lt;/mo&gt;&lt;/math&gt;" id="224" name="Google Shape;224;p21" title="negative 5 comma negative 8 comma negative 11 comma negative 14 comma negative 17 comma period period period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447095" y="2179226"/>
            <a:ext cx="2355505" cy="1860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3,-8,-13,-18,-23,\ ...&quot;&gt;&lt;mo&gt;−&lt;/mo&gt;&lt;mn&gt;3&lt;/mn&gt;&lt;mo&gt;,&lt;/mo&gt;&lt;mo&gt;−&lt;/mo&gt;&lt;mn&gt;8&lt;/mn&gt;&lt;mo&gt;,&lt;/mo&gt;&lt;mo&gt;−&lt;/mo&gt;&lt;mn&gt;13&lt;/mn&gt;&lt;mo&gt;,&lt;/mo&gt;&lt;mo&gt;−&lt;/mo&gt;&lt;mn&gt;18&lt;/mn&gt;&lt;mo&gt;,&lt;/mo&gt;&lt;mo&gt;−&lt;/mo&gt;&lt;mn&gt;23&lt;/mn&gt;&lt;mo&gt;,&lt;/mo&gt;&lt;mtext&gt;&lt;/mtext&gt;&lt;mo&gt;.&lt;/mo&gt;&lt;mo&gt;.&lt;/mo&gt;&lt;mo&gt;.&lt;/mo&gt;&lt;/math&gt;" id="225" name="Google Shape;225;p21" title="negative 3 comma negative 8 comma negative 13 comma negative 18 comma negative 23 comma period period period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447095" y="1756560"/>
            <a:ext cx="2341462" cy="1825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6" name="Google Shape;226;p21"/>
          <p:cNvCxnSpPr>
            <a:stCxn id="215" idx="3"/>
            <a:endCxn id="221" idx="1"/>
          </p:cNvCxnSpPr>
          <p:nvPr/>
        </p:nvCxnSpPr>
        <p:spPr>
          <a:xfrm>
            <a:off x="2468943" y="1396554"/>
            <a:ext cx="978300" cy="1726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" name="Google Shape;227;p21"/>
          <p:cNvCxnSpPr>
            <a:stCxn id="219" idx="3"/>
            <a:endCxn id="222" idx="1"/>
          </p:cNvCxnSpPr>
          <p:nvPr/>
        </p:nvCxnSpPr>
        <p:spPr>
          <a:xfrm flipH="1" rot="10800000">
            <a:off x="2468943" y="1423491"/>
            <a:ext cx="978300" cy="405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21"/>
          <p:cNvCxnSpPr>
            <a:stCxn id="217" idx="3"/>
            <a:endCxn id="223" idx="1"/>
          </p:cNvCxnSpPr>
          <p:nvPr/>
        </p:nvCxnSpPr>
        <p:spPr>
          <a:xfrm>
            <a:off x="2468943" y="2259125"/>
            <a:ext cx="978300" cy="439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21"/>
          <p:cNvCxnSpPr>
            <a:stCxn id="218" idx="3"/>
            <a:endCxn id="224" idx="1"/>
          </p:cNvCxnSpPr>
          <p:nvPr/>
        </p:nvCxnSpPr>
        <p:spPr>
          <a:xfrm flipH="1" rot="10800000">
            <a:off x="2468943" y="2272357"/>
            <a:ext cx="978300" cy="415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21"/>
          <p:cNvCxnSpPr>
            <a:stCxn id="220" idx="3"/>
            <a:endCxn id="225" idx="1"/>
          </p:cNvCxnSpPr>
          <p:nvPr/>
        </p:nvCxnSpPr>
        <p:spPr>
          <a:xfrm flipH="1" rot="10800000">
            <a:off x="2468943" y="1847793"/>
            <a:ext cx="978300" cy="127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" name="Google Shape;231;p21"/>
          <p:cNvSpPr txBox="1"/>
          <p:nvPr/>
        </p:nvSpPr>
        <p:spPr>
          <a:xfrm>
            <a:off x="468000" y="3391147"/>
            <a:ext cx="71352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Find the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of these sequences.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8,\ 6,-6,-18,-30\ ...&quot;&gt;&lt;mn&gt;18&lt;/mn&gt;&lt;mo&gt;,&lt;/mo&gt;&lt;mtext&gt;&lt;/mtext&gt;&lt;mn&gt;6&lt;/mn&gt;&lt;mo&gt;,&lt;/mo&gt;&lt;mo&gt;−&lt;/mo&gt;&lt;mn&gt;6&lt;/mn&gt;&lt;mo&gt;,&lt;/mo&gt;&lt;mo&gt;−&lt;/mo&gt;&lt;mn&gt;18&lt;/mn&gt;&lt;mo&gt;,&lt;/mo&gt;&lt;mo&gt;−&lt;/mo&gt;&lt;mn&gt;30&lt;/mn&gt;&lt;mtext&gt;&lt;/mtext&gt;&lt;mo&gt;.&lt;/mo&gt;&lt;mo&gt;.&lt;/mo&gt;&lt;mo&gt;.&lt;/mo&gt;&lt;/math&gt;" id="232" name="Google Shape;232;p21" title="18 comma 6 comma negative 6 comma negative 18 comma negative 30 period period period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84775" y="3720636"/>
            <a:ext cx="2266356" cy="21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9,-21,-33,-45,-57\ ...&quot;&gt;&lt;mo&gt;−&lt;/mo&gt;&lt;mn&gt;9&lt;/mn&gt;&lt;mo&gt;,&lt;/mo&gt;&lt;mo&gt;−&lt;/mo&gt;&lt;mn&gt;21&lt;/mn&gt;&lt;mo&gt;,&lt;/mo&gt;&lt;mo&gt;−&lt;/mo&gt;&lt;mn&gt;33&lt;/mn&gt;&lt;mo&gt;,&lt;/mo&gt;&lt;mo&gt;−&lt;/mo&gt;&lt;mn&gt;45&lt;/mn&gt;&lt;mo&gt;,&lt;/mo&gt;&lt;mo&gt;−&lt;/mo&gt;&lt;mn&gt;57&lt;/mn&gt;&lt;mtext&gt;&lt;/mtext&gt;&lt;mo&gt;.&lt;/mo&gt;&lt;mo&gt;.&lt;/mo&gt;&lt;mo&gt;.&lt;/mo&gt;&lt;/math&gt;" id="233" name="Google Shape;233;p21" title="negative 9 comma negative 21 comma negative 33 comma negative 45 comma negative 57 period period period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84775" y="4310531"/>
            <a:ext cx="2697282" cy="21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15,-18,-21,-24,-27\ ...&quot;&gt;&lt;mo&gt;−&lt;/mo&gt;&lt;mn&gt;15&lt;/mn&gt;&lt;mo&gt;,&lt;/mo&gt;&lt;mo&gt;−&lt;/mo&gt;&lt;mn&gt;18&lt;/mn&gt;&lt;mo&gt;,&lt;/mo&gt;&lt;mo&gt;−&lt;/mo&gt;&lt;mn&gt;21&lt;/mn&gt;&lt;mo&gt;,&lt;/mo&gt;&lt;mo&gt;−&lt;/mo&gt;&lt;mn&gt;24&lt;/mn&gt;&lt;mo&gt;,&lt;/mo&gt;&lt;mo&gt;−&lt;/mo&gt;&lt;mn&gt;27&lt;/mn&gt;&lt;mtext&gt;&lt;/mtext&gt;&lt;mo&gt;.&lt;/mo&gt;&lt;mo&gt;.&lt;/mo&gt;&lt;mo&gt;.&lt;/mo&gt;&lt;/math&gt;" id="234" name="Google Shape;234;p21" title="negative 15 comma negative 18 comma negative 21 comma negative 24 comma negative 27 period period period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84775" y="4976148"/>
            <a:ext cx="2820974" cy="21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,\ 9,\ 6,\ 3,\ 0\ ...&quot;&gt;&lt;mn&gt;12&lt;/mn&gt;&lt;mo&gt;,&lt;/mo&gt;&lt;mtext&gt;&lt;/mtext&gt;&lt;mn&gt;9&lt;/mn&gt;&lt;mo&gt;,&lt;/mo&gt;&lt;mtext&gt;&lt;/mtext&gt;&lt;mn&gt;6&lt;/mn&gt;&lt;mo&gt;,&lt;/mo&gt;&lt;mtext&gt;&lt;/mtext&gt;&lt;mn&gt;3&lt;/mn&gt;&lt;mo&gt;,&lt;/mo&gt;&lt;mtext&gt;&lt;/mtext&gt;&lt;mn&gt;0&lt;/mn&gt;&lt;mtext&gt;&lt;/mtext&gt;&lt;mo&gt;.&lt;/mo&gt;&lt;mo&gt;.&lt;/mo&gt;&lt;mo&gt;.&lt;/mo&gt;&lt;/math&gt;" id="235" name="Google Shape;235;p21" title="12 comma 9 comma 6 comma 3 comma 0 period period period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052719" y="3717750"/>
            <a:ext cx="1727767" cy="2154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.2,\ 0.9,\ 0.6,\ 0.3,\ 0\ ...&quot;&gt;&lt;mn&gt;1.2&lt;/mn&gt;&lt;mo&gt;,&lt;/mo&gt;&lt;mtext&gt;&lt;/mtext&gt;&lt;mn&gt;0.9&lt;/mn&gt;&lt;mo&gt;,&lt;/mo&gt;&lt;mtext&gt;&lt;/mtext&gt;&lt;mn&gt;0.6&lt;/mn&gt;&lt;mo&gt;,&lt;/mo&gt;&lt;mtext&gt;&lt;/mtext&gt;&lt;mn&gt;0.3&lt;/mn&gt;&lt;mo&gt;,&lt;/mo&gt;&lt;mtext&gt;&lt;/mtext&gt;&lt;mn&gt;0&lt;/mn&gt;&lt;mtext&gt;&lt;/mtext&gt;&lt;mo&gt;.&lt;/mo&gt;&lt;mo&gt;.&lt;/mo&gt;&lt;mo&gt;.&lt;/mo&gt;&lt;/math&gt;" id="236" name="Google Shape;236;p21" title="1.2 comma 0.9 comma 0.6 comma 0.3 comma 0 period period period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052719" y="4346759"/>
            <a:ext cx="2361960" cy="2154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frac{1}{2},\ 3,\ 2\frac{1}{2},\ 2,\ 1\frac{1}{2},\ ...&quot;&gt;&lt;mn&gt;3&lt;/mn&gt;&lt;mfrac&gt;&lt;mn&gt;1&lt;/mn&gt;&lt;mn&gt;2&lt;/mn&gt;&lt;/mfrac&gt;&lt;mo&gt;,&lt;/mo&gt;&lt;mtext&gt;&lt;/mtext&gt;&lt;mn&gt;3&lt;/mn&gt;&lt;mo&gt;,&lt;/mo&gt;&lt;mtext&gt;&lt;/mtext&gt;&lt;mn&gt;2&lt;/mn&gt;&lt;mfrac&gt;&lt;mn&gt;1&lt;/mn&gt;&lt;mn&gt;2&lt;/mn&gt;&lt;/mfrac&gt;&lt;mo&gt;,&lt;/mo&gt;&lt;mtext&gt;&lt;/mtext&gt;&lt;mn&gt;2&lt;/mn&gt;&lt;mo&gt;,&lt;/mo&gt;&lt;mtext&gt;&lt;/mtext&gt;&lt;mn&gt;1&lt;/mn&gt;&lt;mfrac&gt;&lt;mn&gt;1&lt;/mn&gt;&lt;mn&gt;2&lt;/mn&gt;&lt;/mfrac&gt;&lt;mo&gt;,&lt;/mo&gt;&lt;mtext&gt;&lt;/mtext&gt;&lt;mo&gt;.&lt;/mo&gt;&lt;mo&gt;.&lt;/mo&gt;&lt;mo&gt;.&lt;/mo&gt;&lt;/math&gt;" id="237" name="Google Shape;237;p21" title="3 and one half comma 3 comma 2 and one half comma 2 comma 1 and one half comma period period period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052719" y="4860454"/>
            <a:ext cx="1975807" cy="433796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 txBox="1"/>
          <p:nvPr/>
        </p:nvSpPr>
        <p:spPr>
          <a:xfrm>
            <a:off x="468000" y="3730497"/>
            <a:ext cx="459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468000" y="4343693"/>
            <a:ext cx="303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468000" y="4970616"/>
            <a:ext cx="303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3803775" y="3716779"/>
            <a:ext cx="303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3803775" y="4343701"/>
            <a:ext cx="303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3803775" y="4970623"/>
            <a:ext cx="303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30-12n&quot;&gt;&lt;mn&gt;30&lt;/mn&gt;&lt;mo&gt;−&lt;/mo&gt;&lt;mn&gt;12&lt;/mn&gt;&lt;mi&gt;n&lt;/mi&gt;&lt;/math&gt;" id="244" name="Google Shape;244;p21" title="30 minus 12 n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65425" y="4031710"/>
            <a:ext cx="859832" cy="171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12n+3&quot;&gt;&lt;mo&gt;−&lt;/mo&gt;&lt;mn&gt;12&lt;/mn&gt;&lt;mi&gt;n&lt;/mi&gt;&lt;mo&gt;+&lt;/mo&gt;&lt;mn&gt;3&lt;/mn&gt;&lt;/math&gt;" id="245" name="Google Shape;245;p21" title="negative 12 n plus 3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665425" y="4652064"/>
            <a:ext cx="889050" cy="175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5-3n&quot;&gt;&lt;mn&gt;15&lt;/mn&gt;&lt;mo&gt;−&lt;/mo&gt;&lt;mn&gt;3&lt;/mn&gt;&lt;mi&gt;n&lt;/mi&gt;&lt;/math&gt;" id="246" name="Google Shape;246;p21" title="15 minus 3 n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4060300" y="4016517"/>
            <a:ext cx="732441" cy="1778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.5-0.3n&quot;&gt;&lt;mn&gt;1.5&lt;/mn&gt;&lt;mo&gt;−&lt;/mo&gt;&lt;mn&gt;0.3&lt;/mn&gt;&lt;mi&gt;n&lt;/mi&gt;&lt;/math&gt;" id="247" name="Google Shape;247;p21" title="1.5 minus 0.3 n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4060300" y="4640552"/>
            <a:ext cx="978000" cy="1778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-\frac{1}{2}n&quot;&gt;&lt;mn&gt;4&lt;/mn&gt;&lt;mo&gt;−&lt;/mo&gt;&lt;mfrac&gt;&lt;mn&gt;1&lt;/mn&gt;&lt;mn&gt;2&lt;/mn&gt;&lt;/mfrac&gt;&lt;mi&gt;n&lt;/mi&gt;&lt;/math&gt;" id="248" name="Google Shape;248;p21" title="4 minus one half n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6193900" y="4941355"/>
            <a:ext cx="555548" cy="3883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gative 3 n minus 12&#10;&#10;&lt;math xmlns=&quot;http://www.w3.org/1998/Math/MathML&quot; display=&quot;block&quot; data-is-equatio=&quot;1&quot; data-latex=&quot;-3n-12&quot;&gt;&lt;mo&gt;−&lt;/mo&gt;&lt;mn&gt;3&lt;/mn&gt;&lt;mi&gt;n&lt;/mi&gt;&lt;mo&gt;−&lt;/mo&gt;&lt;mn&gt;12&lt;/mn&gt;&lt;/math&gt;" id="249" name="Google Shape;249;p21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665900" y="5263150"/>
            <a:ext cx="889050" cy="168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/>
          <p:cNvPicPr preferRelativeResize="0"/>
          <p:nvPr/>
        </p:nvPicPr>
        <p:blipFill rotWithShape="1">
          <a:blip r:embed="rId25">
            <a:alphaModFix/>
          </a:blip>
          <a:srcRect b="43690" l="0" r="57905" t="0"/>
          <a:stretch/>
        </p:blipFill>
        <p:spPr>
          <a:xfrm>
            <a:off x="4138888" y="6281000"/>
            <a:ext cx="2251776" cy="111567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 txBox="1"/>
          <p:nvPr/>
        </p:nvSpPr>
        <p:spPr>
          <a:xfrm>
            <a:off x="468000" y="605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Two students are discussing arithmetic sequences.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2" name="Google Shape;252;p21"/>
          <p:cNvPicPr preferRelativeResize="0"/>
          <p:nvPr/>
        </p:nvPicPr>
        <p:blipFill rotWithShape="1">
          <a:blip r:embed="rId25">
            <a:alphaModFix/>
          </a:blip>
          <a:srcRect b="43690" l="0" r="57905" t="0"/>
          <a:stretch/>
        </p:blipFill>
        <p:spPr>
          <a:xfrm flipH="1">
            <a:off x="1389710" y="6331200"/>
            <a:ext cx="2433377" cy="101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1"/>
          <p:cNvSpPr txBox="1"/>
          <p:nvPr/>
        </p:nvSpPr>
        <p:spPr>
          <a:xfrm>
            <a:off x="1668613" y="6365800"/>
            <a:ext cx="20778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 you give me any two terms of an arithmetic sequence I can tell you the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term.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4234088" y="6342175"/>
            <a:ext cx="20778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You’re right Aisha! If we had 30 and 25 we’d know it’s 30, 25, 20, 15, 10, … with an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term of 35 - 5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5" name="Google Shape;255;p21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6329901" y="7150513"/>
            <a:ext cx="528150" cy="585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1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980097" y="6987151"/>
            <a:ext cx="483301" cy="91261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/>
          <p:nvPr/>
        </p:nvSpPr>
        <p:spPr>
          <a:xfrm>
            <a:off x="629149" y="7671900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6072925" y="7527850"/>
            <a:ext cx="9390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1829350" y="7527850"/>
            <a:ext cx="41346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sentence to explain if Aisha and Sofia are right.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468000" y="8090725"/>
            <a:ext cx="63900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might have written: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need to know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which</a:t>
            </a:r>
            <a:r>
              <a:rPr lang="en-GB" sz="1200">
                <a:solidFill>
                  <a:srgbClr val="037B7D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two terms you have. If 30 and 25 are terms one and two then yes, it’s 35 - 5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But, if 30 and 25 are the fifth and sixth terms, then it’s a different sequence altogether.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1" name="Google Shape;261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7" name="Google Shape;267;p22"/>
          <p:cNvSpPr txBox="1"/>
          <p:nvPr>
            <p:ph idx="1" type="subTitle"/>
          </p:nvPr>
        </p:nvSpPr>
        <p:spPr>
          <a:xfrm>
            <a:off x="1463400" y="360000"/>
            <a:ext cx="47826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Finding the </a:t>
            </a:r>
            <a:r>
              <a:rPr i="1" lang="en-GB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>
                <a:solidFill>
                  <a:schemeClr val="dk1"/>
                </a:solidFill>
              </a:rPr>
              <a:t>th</a:t>
            </a:r>
            <a:r>
              <a:rPr lang="en-GB">
                <a:solidFill>
                  <a:schemeClr val="dk1"/>
                </a:solidFill>
              </a:rPr>
              <a:t> term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468000" y="1147725"/>
            <a:ext cx="66240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term, then use approximation and counting on to find the term 705 in the arithmetic sequence starting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−25, −15, −5, 5, 15,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>
            <a:off x="468000" y="799125"/>
            <a:ext cx="66240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Finding and using the </a:t>
            </a:r>
            <a:r>
              <a:rPr b="1"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baseline="30000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term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0n-35&quot;&gt;&lt;mn&gt;10&lt;/mn&gt;&lt;mi&gt;n&lt;/mi&gt;&lt;mo&gt;−&lt;/mo&gt;&lt;mn&gt;35&lt;/mn&gt;&lt;/math&gt;" id="272" name="Google Shape;272;p22" title="10 n minus 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632525"/>
            <a:ext cx="732820" cy="1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2"/>
          <p:cNvSpPr txBox="1"/>
          <p:nvPr/>
        </p:nvSpPr>
        <p:spPr>
          <a:xfrm>
            <a:off x="1389700" y="1615000"/>
            <a:ext cx="43974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70     10(70) − 35 = 665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3822625" y="1627650"/>
            <a:ext cx="32694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…, 665,  675,  685,  695,  705,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3948819" y="1828119"/>
            <a:ext cx="5982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70th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4400809" y="1828119"/>
            <a:ext cx="5982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71st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2"/>
          <p:cNvSpPr txBox="1"/>
          <p:nvPr/>
        </p:nvSpPr>
        <p:spPr>
          <a:xfrm>
            <a:off x="4736845" y="1828119"/>
            <a:ext cx="5982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72nd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2"/>
          <p:cNvSpPr txBox="1"/>
          <p:nvPr/>
        </p:nvSpPr>
        <p:spPr>
          <a:xfrm>
            <a:off x="5149081" y="1828119"/>
            <a:ext cx="5982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73rd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2"/>
          <p:cNvSpPr txBox="1"/>
          <p:nvPr/>
        </p:nvSpPr>
        <p:spPr>
          <a:xfrm>
            <a:off x="5530081" y="1828119"/>
            <a:ext cx="5982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74th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2"/>
          <p:cNvSpPr txBox="1"/>
          <p:nvPr/>
        </p:nvSpPr>
        <p:spPr>
          <a:xfrm>
            <a:off x="3780000" y="2089500"/>
            <a:ext cx="33120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705 is the 74th term in the sequence.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468000" y="2977100"/>
            <a:ext cx="66240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Find the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term, then use approximation and counting on to find the term −554 in the arithmetic sequence starting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−2, −14, −26, −38, −50,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1314000" y="3504197"/>
            <a:ext cx="50538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50     10 − 12(50) = 10 − 600 = −590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2"/>
          <p:cNvSpPr txBox="1"/>
          <p:nvPr/>
        </p:nvSpPr>
        <p:spPr>
          <a:xfrm>
            <a:off x="505074" y="3796297"/>
            <a:ext cx="46716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…, −554,  −566,  −578,  −590,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2"/>
          <p:cNvSpPr txBox="1"/>
          <p:nvPr/>
        </p:nvSpPr>
        <p:spPr>
          <a:xfrm>
            <a:off x="2132790" y="4030822"/>
            <a:ext cx="5982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50th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2803725" y="3913275"/>
            <a:ext cx="28884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-554 is the 47th term in the sequence.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10-12n&quot;&gt;&lt;mn&gt;10&lt;/mn&gt;&lt;mo&gt;−&lt;/mo&gt;&lt;mn&gt;12&lt;/mn&gt;&lt;mi&gt;n&lt;/mi&gt;&lt;/math&gt;" id="286" name="Google Shape;286;p22" title="10 minus 12 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3507592"/>
            <a:ext cx="732825" cy="148754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2"/>
          <p:cNvSpPr txBox="1"/>
          <p:nvPr/>
        </p:nvSpPr>
        <p:spPr>
          <a:xfrm>
            <a:off x="1675590" y="4030822"/>
            <a:ext cx="5982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49th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2"/>
          <p:cNvSpPr txBox="1"/>
          <p:nvPr/>
        </p:nvSpPr>
        <p:spPr>
          <a:xfrm>
            <a:off x="1203245" y="4030822"/>
            <a:ext cx="5982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48th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2"/>
          <p:cNvSpPr txBox="1"/>
          <p:nvPr/>
        </p:nvSpPr>
        <p:spPr>
          <a:xfrm>
            <a:off x="705344" y="4030822"/>
            <a:ext cx="5982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47th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468000" y="5040575"/>
            <a:ext cx="66240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Jacob wants to know the last term positive term in the sequence              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trial and improvement on your calculator to help him.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36.95-0.06n&quot;&gt;&lt;mn&gt;36.95&lt;/mn&gt;&lt;mo&gt;−&lt;/mo&gt;&lt;mn&gt;0.06&lt;/mn&gt;&lt;mi&gt;n&lt;/mi&gt;&lt;/math&gt;" id="291" name="Google Shape;291;p22" title="36.95 minus 0.06 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9226" y="5039249"/>
            <a:ext cx="1140417" cy="14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83775" y="5145629"/>
            <a:ext cx="528150" cy="650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4750" y="5518357"/>
            <a:ext cx="1481004" cy="775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7687" y="6403790"/>
            <a:ext cx="1481004" cy="800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4756" y="7307761"/>
            <a:ext cx="1481004" cy="797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049618" y="5509372"/>
            <a:ext cx="1501436" cy="793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049616" y="6404618"/>
            <a:ext cx="1501436" cy="801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053436" y="7307498"/>
            <a:ext cx="1493802" cy="806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644914" y="5505550"/>
            <a:ext cx="1501436" cy="801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648734" y="6402078"/>
            <a:ext cx="1493802" cy="80669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2"/>
          <p:cNvSpPr txBox="1"/>
          <p:nvPr/>
        </p:nvSpPr>
        <p:spPr>
          <a:xfrm>
            <a:off x="3644924" y="7273025"/>
            <a:ext cx="3447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615th term is positive. The 616th term is negative.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Therefore, the 615th is the last positive term.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