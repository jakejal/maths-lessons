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0-->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Lst>
  <p:sldSz cx="7560000" cy="10692000"/>
  <p:notesSz cx="6858000" cy="9144000"/>
  <p:embeddedFontLst>
    <p:embeddedFont>
      <p:font typeface="Lexend" panose="00000000000000000000"/>
      <p:regular r:id="rId7"/>
    </p:embeddedFont>
    <p:embeddedFont>
      <p:font typeface="Kalam" panose="02000000000000000000"/>
      <p:regular r:id="rId8"/>
    </p:embeddedFont>
    <p:embeddedFont>
      <p:font typeface="Lexend Medium" panose="00000000000000000000"/>
      <p:regular r:id="rId9"/>
    </p:embeddedFont>
    <p:embeddedFont>
      <p:font typeface="Lexend Light" panose="00000000000000000000"/>
      <p:regular r:id="rId10"/>
    </p:embeddedFont>
  </p:embeddedFontLst>
  <p:custDataLst>
    <p:tags r:id="rId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7748D983-61AC-41D3-8B89-B04B0147D9AA}">
  <a:tblStyle styleId="{7748D983-61AC-41D3-8B89-B04B0147D9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4.fntdata"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tags" Target="tags/tag1.xml" /><Relationship Id="rId7" Type="http://schemas.openxmlformats.org/officeDocument/2006/relationships/font" Target="fonts/font1.fntdata" /><Relationship Id="rId8" Type="http://schemas.openxmlformats.org/officeDocument/2006/relationships/font" Target="fonts/font2.fntdata" /><Relationship Id="rId9" Type="http://schemas.openxmlformats.org/officeDocument/2006/relationships/font" Target="fonts/font3.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7" name="Shape 157"/>
        <p:cNvGrpSpPr/>
        <p:nvPr/>
      </p:nvGrpSpPr>
      <p:grpSpPr>
        <a:xfrm>
          <a:off x="0" y="0"/>
          <a:ext cx="0" cy="0"/>
        </a:xfrm>
      </p:grpSpPr>
      <p:sp>
        <p:nvSpPr>
          <p:cNvPr id="158" name="Google Shape;158;g27996905f60_0_125: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59" name="Google Shape;159;g27996905f60_0_1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4" name="Shape 204"/>
        <p:cNvGrpSpPr/>
        <p:nvPr/>
      </p:nvGrpSpPr>
      <p:grpSpPr>
        <a:xfrm>
          <a:off x="0" y="0"/>
          <a:ext cx="0" cy="0"/>
        </a:xfrm>
      </p:grpSpPr>
      <p:sp>
        <p:nvSpPr>
          <p:cNvPr id="205" name="Google Shape;205;g27996905f60_0_13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06" name="Google Shape;206;g27996905f60_0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image" Target="../media/image4.png" /><Relationship Id="rId4"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p:cSld name="SECTION_HEADER_1_1_1_1_1_1_1_1_1">
    <p:spTree>
      <p:nvGrpSpPr>
        <p:cNvPr id="9" name="Shape 9"/>
        <p:cNvGrpSpPr/>
        <p:nvPr/>
      </p:nvGrpSpPr>
      <p:grpSpPr>
        <a:xfrm>
          <a:off x="0" y="0"/>
          <a:ext cx="0" cy="0"/>
        </a:xfrm>
      </p:grpSpPr>
      <p:sp>
        <p:nvSpPr>
          <p:cNvPr id="10" name="Google Shape;10;p2"/>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16" name="Google Shape;16;p2"/>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1">
  <p:cSld name="SECTION_HEADER_1_1_1_1_1_1_1_1_1_3">
    <p:spTree>
      <p:nvGrpSpPr>
        <p:cNvPr id="17" name="Shape 17"/>
        <p:cNvGrpSpPr/>
        <p:nvPr/>
      </p:nvGrpSpPr>
      <p:grpSpPr>
        <a:xfrm>
          <a:off x="0" y="0"/>
          <a:ext cx="0" cy="0"/>
        </a:xfrm>
      </p:grpSpPr>
      <p:sp>
        <p:nvSpPr>
          <p:cNvPr id="18" name="Google Shape;18;p3"/>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9" name="Google Shape;19;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5" name="Google Shape;25;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6" name="Google Shape;26;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7" name="Google Shape;27;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31" name="Google Shape;31;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
        <p:nvSpPr>
          <p:cNvPr id="32" name="Google Shape;32;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3" name="Shape 33"/>
        <p:cNvGrpSpPr/>
        <p:nvPr/>
      </p:nvGrpSpPr>
      <p:grpSpPr>
        <a:xfrm>
          <a:off x="0" y="0"/>
          <a:ext cx="0" cy="0"/>
        </a:xfrm>
      </p:grpSpPr>
      <p:sp>
        <p:nvSpPr>
          <p:cNvPr id="34" name="Google Shape;34;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6" name="Google Shape;36;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7" name="Google Shape;37;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8" name="Google Shape;38;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9" name="Shape 39"/>
        <p:cNvGrpSpPr/>
        <p:nvPr/>
      </p:nvGrpSpPr>
      <p:grpSpPr>
        <a:xfrm>
          <a:off x="0" y="0"/>
          <a:ext cx="0" cy="0"/>
        </a:xfrm>
      </p:grpSpPr>
      <p:sp>
        <p:nvSpPr>
          <p:cNvPr id="40" name="Google Shape;40;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3" name="Google Shape;43;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4" name="Google Shape;44;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5" name="Google Shape;45;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6" name="Shape 46"/>
        <p:cNvGrpSpPr/>
        <p:nvPr/>
      </p:nvGrpSpPr>
      <p:grpSpPr>
        <a:xfrm>
          <a:off x="0" y="0"/>
          <a:ext cx="0" cy="0"/>
        </a:xfrm>
      </p:grpSpPr>
      <p:sp>
        <p:nvSpPr>
          <p:cNvPr id="47" name="Google Shape;47;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2" name="Google Shape;52;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3" name="Google Shape;53;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4" name="Google Shape;54;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5" name="Shape 55"/>
        <p:cNvGrpSpPr/>
        <p:nvPr/>
      </p:nvGrpSpPr>
      <p:grpSpPr>
        <a:xfrm>
          <a:off x="0" y="0"/>
          <a:ext cx="0" cy="0"/>
        </a:xfrm>
      </p:grpSpPr>
      <p:sp>
        <p:nvSpPr>
          <p:cNvPr id="56" name="Google Shape;56;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7" name="Google Shape;57;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8" name="Google Shape;58;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9" name="Shape 59"/>
        <p:cNvGrpSpPr/>
        <p:nvPr/>
      </p:nvGrpSpPr>
      <p:grpSpPr>
        <a:xfrm>
          <a:off x="0" y="0"/>
          <a:ext cx="0" cy="0"/>
        </a:xfrm>
      </p:grpSpPr>
      <p:sp>
        <p:nvSpPr>
          <p:cNvPr id="60" name="Google Shape;60;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
    <p:bg>
      <p:bgPr>
        <a:solidFill>
          <a:schemeClr val="lt1"/>
        </a:solidFill>
      </p:bgPr>
    </p:bg>
    <p:spTree>
      <p:nvGrpSpPr>
        <p:cNvPr id="66" name="Shape 66"/>
        <p:cNvGrpSpPr/>
        <p:nvPr/>
      </p:nvGrpSpPr>
      <p:grpSpPr>
        <a:xfrm>
          <a:off x="0" y="0"/>
          <a:ext cx="0" cy="0"/>
        </a:xfrm>
      </p:grpSpPr>
      <p:pic>
        <p:nvPicPr>
          <p:cNvPr id="67" name="Google Shape;67;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8" name="Google Shape;68;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72" name="Google Shape;72;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5" name="Shape 75"/>
        <p:cNvGrpSpPr/>
        <p:nvPr/>
      </p:nvGrpSpPr>
      <p:grpSpPr>
        <a:xfrm>
          <a:off x="0" y="0"/>
          <a:ext cx="0" cy="0"/>
        </a:xfrm>
      </p:grpSpPr>
      <p:pic>
        <p:nvPicPr>
          <p:cNvPr id="76" name="Google Shape;76;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7" name="Google Shape;77;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9" name="Google Shape;79;p11"/>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82" name="Google Shape;82;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4" name="Shape 84"/>
        <p:cNvGrpSpPr/>
        <p:nvPr/>
      </p:nvGrpSpPr>
      <p:grpSpPr>
        <a:xfrm>
          <a:off x="0" y="0"/>
          <a:ext cx="0" cy="0"/>
        </a:xfrm>
      </p:grpSpPr>
      <p:pic>
        <p:nvPicPr>
          <p:cNvPr id="85" name="Google Shape;85;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6" name="Google Shape;86;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8" name="Google Shape;88;p12"/>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89" name="Shape 89"/>
        <p:cNvGrpSpPr/>
        <p:nvPr/>
      </p:nvGrpSpPr>
      <p:grpSpPr>
        <a:xfrm>
          <a:off x="0" y="0"/>
          <a:ext cx="0" cy="0"/>
        </a:xfrm>
      </p:grpSpPr>
      <p:pic>
        <p:nvPicPr>
          <p:cNvPr id="90" name="Google Shape;90;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1" name="Google Shape;91;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3" name="Google Shape;93;p13"/>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94" name="Google Shape;94;p13"/>
          <p:cNvSpPr txBox="1"/>
          <p:nvPr>
            <p:ph type="subTitle" idx="2"/>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6" name="Google Shape;96;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
    <p:bg>
      <p:bgPr>
        <a:solidFill>
          <a:schemeClr val="lt1"/>
        </a:solidFill>
      </p:bgPr>
    </p:bg>
    <p:spTree>
      <p:nvGrpSpPr>
        <p:cNvPr id="97" name="Shape 97"/>
        <p:cNvGrpSpPr/>
        <p:nvPr/>
      </p:nvGrpSpPr>
      <p:grpSpPr>
        <a:xfrm>
          <a:off x="0" y="0"/>
          <a:ext cx="0" cy="0"/>
        </a:xfrm>
      </p:grpSpPr>
      <p:pic>
        <p:nvPicPr>
          <p:cNvPr id="98" name="Google Shape;98;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9" name="Google Shape;99;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1" name="Google Shape;101;p14"/>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04" name="Google Shape;104;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type="subTitle" idx="1"/>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08" name="Google Shape;108;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xfrm>
      </p:grpSpPr>
      <p:pic>
        <p:nvPicPr>
          <p:cNvPr id="110" name="Google Shape;110;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1" name="Google Shape;111;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3" name="Google Shape;113;p15"/>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16" name="Google Shape;116;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type="subTitle" idx="1"/>
          </p:nvPr>
        </p:nvSpPr>
        <p:spPr>
          <a:xfrm>
            <a:off x="39033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0" name="Google Shape;120;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xfrm>
      </p:grpSpPr>
      <p:pic>
        <p:nvPicPr>
          <p:cNvPr id="122" name="Google Shape;122;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3" name="Google Shape;123;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25" name="Google Shape;125;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28" name="Google Shape;128;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xfrm>
      </p:grpSpPr>
      <p:pic>
        <p:nvPicPr>
          <p:cNvPr id="131" name="Google Shape;131;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2" name="Google Shape;132;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4" name="Google Shape;134;p17"/>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xfrm>
      </p:grpSpPr>
      <p:pic>
        <p:nvPicPr>
          <p:cNvPr id="136" name="Google Shape;136;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7" name="Google Shape;137;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9" name="Google Shape;13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40" name="Google Shape;14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41" name="Google Shape;14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42" name="Google Shape;142;p18"/>
          <p:cNvSpPr txBox="1"/>
          <p:nvPr>
            <p:ph type="subTitle" idx="1"/>
          </p:nvPr>
        </p:nvSpPr>
        <p:spPr>
          <a:xfrm rot="-5400000">
            <a:off x="5488463" y="5454663"/>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43" name="Google Shape;143;p18"/>
          <p:cNvSpPr txBox="1"/>
          <p:nvPr>
            <p:ph type="subTitle" idx="2"/>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44" name="Shape 144"/>
        <p:cNvGrpSpPr/>
        <p:nvPr/>
      </p:nvGrpSpPr>
      <p:grpSpPr>
        <a:xfrm>
          <a:off x="0" y="0"/>
          <a:ext cx="0" cy="0"/>
        </a:xfrm>
      </p:grpSpPr>
      <p:pic>
        <p:nvPicPr>
          <p:cNvPr id="145" name="Google Shape;14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6" name="Google Shape;14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7" name="Google Shape;14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48" name="Google Shape;14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49" name="Google Shape;149;p19"/>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50" name="Google Shape;150;p19"/>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51" name="Google Shape;151;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52" name="Google Shape;152;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53" name="Google Shape;15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4" name="Google Shape;15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5" name="Google Shape;15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6" name="Google Shape;156;p19"/>
          <p:cNvSpPr txBox="1"/>
          <p:nvPr>
            <p:ph type="subTitle" idx="1"/>
          </p:nvPr>
        </p:nvSpPr>
        <p:spPr>
          <a:xfrm rot="-5400000">
            <a:off x="5488463" y="5454663"/>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2" name="Shape 62"/>
        <p:cNvGrpSpPr/>
        <p:nvPr/>
      </p:nvGrpSpPr>
      <p:grpSpPr>
        <a:xfrm>
          <a:off x="0" y="0"/>
          <a:ext cx="0" cy="0"/>
        </a:xfrm>
      </p:grpSpPr>
      <p:sp>
        <p:nvSpPr>
          <p:cNvPr id="63" name="Google Shape;63;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4" name="Google Shape;64;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5" name="Google Shape;65;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0" name="Shape 160"/>
        <p:cNvGrpSpPr/>
        <p:nvPr/>
      </p:nvGrpSpPr>
      <p:grpSpPr>
        <a:xfrm>
          <a:off x="0" y="0"/>
          <a:ext cx="0" cy="0"/>
        </a:xfrm>
      </p:grpSpPr>
      <p:sp>
        <p:nvSpPr>
          <p:cNvPr id="161" name="Google Shape;161;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Clr>
                <a:schemeClr val="dk1"/>
              </a:buClr>
              <a:buSzPts val="1100"/>
              <a:buFont typeface="Arial"/>
              <a:buNone/>
            </a:pPr>
            <a:r>
              <a:rPr lang="en-GB"/>
              <a:t>Generating a sequence using a term-to-term rule</a:t>
            </a:r>
            <a:endParaRPr/>
          </a:p>
        </p:txBody>
      </p:sp>
      <p:sp>
        <p:nvSpPr>
          <p:cNvPr id="162" name="Google Shape;162;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63" name="Google Shape;163;p20"/>
          <p:cNvSpPr txBox="1"/>
          <p:nvPr/>
        </p:nvSpPr>
        <p:spPr>
          <a:xfrm>
            <a:off x="468000" y="1513100"/>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rgbClr val="000000"/>
                </a:solidFill>
                <a:latin typeface="Lexend"/>
                <a:ea typeface="Lexend"/>
                <a:cs typeface="Lexend"/>
                <a:sym typeface="Lexend"/>
              </a:rPr>
              <a:t>Task A: Using term-to-term rules</a:t>
            </a:r>
            <a:endParaRPr b="1">
              <a:solidFill>
                <a:srgbClr val="000000"/>
              </a:solidFill>
              <a:latin typeface="Lexend"/>
              <a:ea typeface="Lexend"/>
              <a:cs typeface="Lexend"/>
              <a:sym typeface="Lexend"/>
            </a:endParaRPr>
          </a:p>
        </p:txBody>
      </p:sp>
      <p:graphicFrame>
        <p:nvGraphicFramePr>
          <p:cNvPr id="164" name="Google Shape;164;p20"/>
          <p:cNvGraphicFramePr>
            <a:graphicFrameLocks noGrp="1"/>
          </p:cNvGraphicFramePr>
          <p:nvPr/>
        </p:nvGraphicFramePr>
        <p:xfrm>
          <a:off x="683950" y="2605200"/>
          <a:ext cx="2728425" cy="2728775"/>
        </p:xfrm>
        <a:graphic>
          <a:graphicData uri="http://schemas.openxmlformats.org/drawingml/2006/table">
            <a:tbl>
              <a:tblPr>
                <a:noFill/>
                <a:tableStyleId>{7748D983-61AC-41D3-8B89-B04B0147D9AA}</a:tableStyleId>
              </a:tblPr>
              <a:tblGrid>
                <a:gridCol w="389775"/>
                <a:gridCol w="389775"/>
                <a:gridCol w="389775"/>
                <a:gridCol w="389775"/>
                <a:gridCol w="389775"/>
                <a:gridCol w="389775"/>
                <a:gridCol w="389775"/>
              </a:tblGrid>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-4</a:t>
                      </a:r>
                      <a:endParaRPr sz="2000">
                        <a:latin typeface="Lexend"/>
                        <a:ea typeface="Lexend"/>
                        <a:cs typeface="Lexend"/>
                        <a:sym typeface="Lexend"/>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r>
                        <a:rPr lang="en-GB" sz="2000">
                          <a:latin typeface="Lexend"/>
                          <a:ea typeface="Lexend"/>
                          <a:cs typeface="Lexend"/>
                          <a:sym typeface="Lexend"/>
                        </a:rPr>
                        <a:t>7</a:t>
                      </a:r>
                      <a:endParaRPr sz="2000">
                        <a:latin typeface="Lexend"/>
                        <a:ea typeface="Lexend"/>
                        <a:cs typeface="Lexend"/>
                        <a:sym typeface="Lexend"/>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7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r h="389825">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Kalam"/>
                        <a:ea typeface="Kalam"/>
                        <a:cs typeface="Kalam"/>
                        <a:sym typeface="Kalam"/>
                      </a:endParaRPr>
                    </a:p>
                  </a:txBody>
                  <a:tcPr marL="0" marR="0" marT="0" marB="0" anchor="ctr">
                    <a:lnL w="9525" cap="flat" cmpd="sng">
                      <a:solidFill>
                        <a:srgbClr val="845AD9">
                          <a:alpha val="0"/>
                        </a:srgbClr>
                      </a:solidFill>
                      <a:prstDash val="solid"/>
                      <a:round/>
                      <a:headEnd type="none" w="sm" len="sm"/>
                      <a:tailEnd type="none" w="sm" len="sm"/>
                    </a:lnL>
                    <a:lnR w="9525" cap="flat" cmpd="sng">
                      <a:solidFill>
                        <a:srgbClr val="845AD9">
                          <a:alpha val="0"/>
                        </a:srgbClr>
                      </a:solidFill>
                      <a:prstDash val="solid"/>
                      <a:round/>
                      <a:headEnd type="none" w="sm" len="sm"/>
                      <a:tailEnd type="none" w="sm" len="sm"/>
                    </a:lnR>
                    <a:lnT w="9525" cap="flat" cmpd="sng">
                      <a:solidFill>
                        <a:srgbClr val="845AD9">
                          <a:alpha val="0"/>
                        </a:srgbClr>
                      </a:solidFill>
                      <a:prstDash val="solid"/>
                      <a:round/>
                      <a:headEnd type="none" w="sm" len="sm"/>
                      <a:tailEnd type="none" w="sm" len="sm"/>
                    </a:lnT>
                    <a:lnB w="9525" cap="flat" cmpd="sng">
                      <a:solidFill>
                        <a:srgbClr val="845AD9">
                          <a:alpha val="0"/>
                        </a:srgbClr>
                      </a:solidFill>
                      <a:prstDash val="solid"/>
                      <a:round/>
                      <a:headEnd type="none" w="sm" len="sm"/>
                      <a:tailEnd type="none" w="sm" len="sm"/>
                    </a:lnB>
                  </a:tcPr>
                </a:tc>
              </a:tr>
            </a:tbl>
          </a:graphicData>
        </a:graphic>
      </p:graphicFrame>
      <p:cxnSp>
        <p:nvCxnSpPr>
          <p:cNvPr id="165" name="Google Shape;165;p20"/>
          <p:cNvCxnSpPr/>
          <p:nvPr/>
        </p:nvCxnSpPr>
        <p:spPr>
          <a:xfrm flipH="1">
            <a:off x="1076335" y="2614975"/>
            <a:ext cx="0" cy="2713200"/>
          </a:xfrm>
          <a:prstGeom prst="straightConnector1">
            <a:avLst/>
          </a:prstGeom>
          <a:noFill/>
          <a:ln w="19050" cap="flat" cmpd="sng">
            <a:solidFill>
              <a:srgbClr val="000000"/>
            </a:solidFill>
            <a:prstDash val="solid"/>
            <a:round/>
            <a:headEnd type="none" w="med" len="med"/>
            <a:tailEnd type="none" w="med" len="med"/>
          </a:ln>
        </p:spPr>
      </p:cxnSp>
      <p:cxnSp>
        <p:nvCxnSpPr>
          <p:cNvPr id="166" name="Google Shape;166;p20"/>
          <p:cNvCxnSpPr/>
          <p:nvPr/>
        </p:nvCxnSpPr>
        <p:spPr>
          <a:xfrm flipH="1">
            <a:off x="1463510" y="2614975"/>
            <a:ext cx="0" cy="2713200"/>
          </a:xfrm>
          <a:prstGeom prst="straightConnector1">
            <a:avLst/>
          </a:prstGeom>
          <a:noFill/>
          <a:ln w="19050" cap="flat" cmpd="sng">
            <a:solidFill>
              <a:srgbClr val="000000"/>
            </a:solidFill>
            <a:prstDash val="solid"/>
            <a:round/>
            <a:headEnd type="none" w="med" len="med"/>
            <a:tailEnd type="none" w="med" len="med"/>
          </a:ln>
        </p:spPr>
      </p:cxnSp>
      <p:sp>
        <p:nvSpPr>
          <p:cNvPr id="167" name="Google Shape;167;p20"/>
          <p:cNvSpPr txBox="1"/>
          <p:nvPr/>
        </p:nvSpPr>
        <p:spPr>
          <a:xfrm>
            <a:off x="1084190" y="2599591"/>
            <a:ext cx="196500" cy="2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A</a:t>
            </a:r>
            <a:endParaRPr>
              <a:solidFill>
                <a:srgbClr val="808080"/>
              </a:solidFill>
              <a:latin typeface="Lexend"/>
              <a:ea typeface="Lexend"/>
              <a:cs typeface="Lexend"/>
              <a:sym typeface="Lexend"/>
            </a:endParaRPr>
          </a:p>
        </p:txBody>
      </p:sp>
      <p:cxnSp>
        <p:nvCxnSpPr>
          <p:cNvPr id="168" name="Google Shape;168;p20"/>
          <p:cNvCxnSpPr/>
          <p:nvPr/>
        </p:nvCxnSpPr>
        <p:spPr>
          <a:xfrm flipH="1">
            <a:off x="1853285" y="2995025"/>
            <a:ext cx="0" cy="1570500"/>
          </a:xfrm>
          <a:prstGeom prst="straightConnector1">
            <a:avLst/>
          </a:prstGeom>
          <a:noFill/>
          <a:ln w="19050" cap="flat" cmpd="sng">
            <a:solidFill>
              <a:srgbClr val="000000"/>
            </a:solidFill>
            <a:prstDash val="solid"/>
            <a:round/>
            <a:headEnd type="none" w="med" len="med"/>
            <a:tailEnd type="none" w="med" len="med"/>
          </a:ln>
        </p:spPr>
      </p:cxnSp>
      <p:cxnSp>
        <p:nvCxnSpPr>
          <p:cNvPr id="169" name="Google Shape;169;p20"/>
          <p:cNvCxnSpPr/>
          <p:nvPr/>
        </p:nvCxnSpPr>
        <p:spPr>
          <a:xfrm flipH="1">
            <a:off x="2243060" y="2995025"/>
            <a:ext cx="0" cy="1570500"/>
          </a:xfrm>
          <a:prstGeom prst="straightConnector1">
            <a:avLst/>
          </a:prstGeom>
          <a:noFill/>
          <a:ln w="19050" cap="flat" cmpd="sng">
            <a:solidFill>
              <a:srgbClr val="000000"/>
            </a:solidFill>
            <a:prstDash val="solid"/>
            <a:round/>
            <a:headEnd type="none" w="med" len="med"/>
            <a:tailEnd type="none" w="med" len="med"/>
          </a:ln>
        </p:spPr>
      </p:cxnSp>
      <p:cxnSp>
        <p:nvCxnSpPr>
          <p:cNvPr id="170" name="Google Shape;170;p20"/>
          <p:cNvCxnSpPr/>
          <p:nvPr/>
        </p:nvCxnSpPr>
        <p:spPr>
          <a:xfrm flipH="1">
            <a:off x="2632835" y="2995025"/>
            <a:ext cx="0" cy="2325300"/>
          </a:xfrm>
          <a:prstGeom prst="straightConnector1">
            <a:avLst/>
          </a:prstGeom>
          <a:noFill/>
          <a:ln w="19050" cap="flat" cmpd="sng">
            <a:solidFill>
              <a:srgbClr val="000000"/>
            </a:solidFill>
            <a:prstDash val="solid"/>
            <a:round/>
            <a:headEnd type="none" w="med" len="med"/>
            <a:tailEnd type="none" w="med" len="med"/>
          </a:ln>
        </p:spPr>
      </p:cxnSp>
      <p:cxnSp>
        <p:nvCxnSpPr>
          <p:cNvPr id="171" name="Google Shape;171;p20"/>
          <p:cNvCxnSpPr/>
          <p:nvPr/>
        </p:nvCxnSpPr>
        <p:spPr>
          <a:xfrm flipH="1">
            <a:off x="3011910" y="2995025"/>
            <a:ext cx="0" cy="2325300"/>
          </a:xfrm>
          <a:prstGeom prst="straightConnector1">
            <a:avLst/>
          </a:prstGeom>
          <a:noFill/>
          <a:ln w="19050" cap="flat" cmpd="sng">
            <a:solidFill>
              <a:srgbClr val="000000"/>
            </a:solidFill>
            <a:prstDash val="solid"/>
            <a:round/>
            <a:headEnd type="none" w="med" len="med"/>
            <a:tailEnd type="none" w="med" len="med"/>
          </a:ln>
        </p:spPr>
      </p:cxnSp>
      <p:cxnSp>
        <p:nvCxnSpPr>
          <p:cNvPr id="172" name="Google Shape;172;p20"/>
          <p:cNvCxnSpPr/>
          <p:nvPr/>
        </p:nvCxnSpPr>
        <p:spPr>
          <a:xfrm rot="10800000">
            <a:off x="1080425" y="5333975"/>
            <a:ext cx="1954200" cy="0"/>
          </a:xfrm>
          <a:prstGeom prst="straightConnector1">
            <a:avLst/>
          </a:prstGeom>
          <a:noFill/>
          <a:ln w="19050" cap="flat" cmpd="sng">
            <a:solidFill>
              <a:srgbClr val="000000"/>
            </a:solidFill>
            <a:prstDash val="solid"/>
            <a:round/>
            <a:headEnd type="none" w="med" len="med"/>
            <a:tailEnd type="none" w="med" len="med"/>
          </a:ln>
        </p:spPr>
      </p:cxnSp>
      <p:cxnSp>
        <p:nvCxnSpPr>
          <p:cNvPr id="173" name="Google Shape;173;p20"/>
          <p:cNvCxnSpPr/>
          <p:nvPr/>
        </p:nvCxnSpPr>
        <p:spPr>
          <a:xfrm rot="10800000">
            <a:off x="1080425" y="4945200"/>
            <a:ext cx="1954200" cy="0"/>
          </a:xfrm>
          <a:prstGeom prst="straightConnector1">
            <a:avLst/>
          </a:prstGeom>
          <a:noFill/>
          <a:ln w="19050" cap="flat" cmpd="sng">
            <a:solidFill>
              <a:srgbClr val="000000"/>
            </a:solidFill>
            <a:prstDash val="solid"/>
            <a:round/>
            <a:headEnd type="none" w="med" len="med"/>
            <a:tailEnd type="none" w="med" len="med"/>
          </a:ln>
        </p:spPr>
      </p:cxnSp>
      <p:cxnSp>
        <p:nvCxnSpPr>
          <p:cNvPr id="174" name="Google Shape;174;p20"/>
          <p:cNvCxnSpPr/>
          <p:nvPr/>
        </p:nvCxnSpPr>
        <p:spPr>
          <a:xfrm rot="10800000">
            <a:off x="678900" y="4565525"/>
            <a:ext cx="2741100" cy="0"/>
          </a:xfrm>
          <a:prstGeom prst="straightConnector1">
            <a:avLst/>
          </a:prstGeom>
          <a:noFill/>
          <a:ln w="19050" cap="flat" cmpd="sng">
            <a:solidFill>
              <a:srgbClr val="000000"/>
            </a:solidFill>
            <a:prstDash val="solid"/>
            <a:round/>
            <a:headEnd type="none" w="med" len="med"/>
            <a:tailEnd type="none" w="med" len="med"/>
          </a:ln>
        </p:spPr>
      </p:cxnSp>
      <p:cxnSp>
        <p:nvCxnSpPr>
          <p:cNvPr id="175" name="Google Shape;175;p20"/>
          <p:cNvCxnSpPr/>
          <p:nvPr/>
        </p:nvCxnSpPr>
        <p:spPr>
          <a:xfrm rot="10800000">
            <a:off x="686646" y="4157675"/>
            <a:ext cx="2730900" cy="0"/>
          </a:xfrm>
          <a:prstGeom prst="straightConnector1">
            <a:avLst/>
          </a:prstGeom>
          <a:noFill/>
          <a:ln w="19050" cap="flat" cmpd="sng">
            <a:solidFill>
              <a:srgbClr val="000000"/>
            </a:solidFill>
            <a:prstDash val="solid"/>
            <a:round/>
            <a:headEnd type="none" w="med" len="med"/>
            <a:tailEnd type="none" w="med" len="med"/>
          </a:ln>
        </p:spPr>
      </p:cxnSp>
      <p:cxnSp>
        <p:nvCxnSpPr>
          <p:cNvPr id="176" name="Google Shape;176;p20"/>
          <p:cNvCxnSpPr/>
          <p:nvPr/>
        </p:nvCxnSpPr>
        <p:spPr>
          <a:xfrm rot="10800000">
            <a:off x="678775" y="2995025"/>
            <a:ext cx="2349000" cy="0"/>
          </a:xfrm>
          <a:prstGeom prst="straightConnector1">
            <a:avLst/>
          </a:prstGeom>
          <a:noFill/>
          <a:ln w="19050" cap="flat" cmpd="sng">
            <a:solidFill>
              <a:srgbClr val="000000"/>
            </a:solidFill>
            <a:prstDash val="solid"/>
            <a:round/>
            <a:headEnd type="none" w="med" len="med"/>
            <a:tailEnd type="none" w="med" len="med"/>
          </a:ln>
        </p:spPr>
      </p:cxnSp>
      <p:cxnSp>
        <p:nvCxnSpPr>
          <p:cNvPr id="177" name="Google Shape;177;p20"/>
          <p:cNvCxnSpPr/>
          <p:nvPr/>
        </p:nvCxnSpPr>
        <p:spPr>
          <a:xfrm rot="10800000">
            <a:off x="678775" y="3370150"/>
            <a:ext cx="2349000" cy="0"/>
          </a:xfrm>
          <a:prstGeom prst="straightConnector1">
            <a:avLst/>
          </a:prstGeom>
          <a:noFill/>
          <a:ln w="19050" cap="flat" cmpd="sng">
            <a:solidFill>
              <a:srgbClr val="000000"/>
            </a:solidFill>
            <a:prstDash val="solid"/>
            <a:round/>
            <a:headEnd type="none" w="med" len="med"/>
            <a:tailEnd type="none" w="med" len="med"/>
          </a:ln>
        </p:spPr>
      </p:cxnSp>
      <p:cxnSp>
        <p:nvCxnSpPr>
          <p:cNvPr id="178" name="Google Shape;178;p20"/>
          <p:cNvCxnSpPr/>
          <p:nvPr/>
        </p:nvCxnSpPr>
        <p:spPr>
          <a:xfrm rot="10800000">
            <a:off x="1068756" y="2619900"/>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79" name="Google Shape;179;p20"/>
          <p:cNvCxnSpPr/>
          <p:nvPr/>
        </p:nvCxnSpPr>
        <p:spPr>
          <a:xfrm rot="10800000">
            <a:off x="1068756" y="3762900"/>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0" name="Google Shape;180;p20"/>
          <p:cNvCxnSpPr/>
          <p:nvPr/>
        </p:nvCxnSpPr>
        <p:spPr>
          <a:xfrm rot="10800000">
            <a:off x="1847768" y="378134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1" name="Google Shape;181;p20"/>
          <p:cNvCxnSpPr/>
          <p:nvPr/>
        </p:nvCxnSpPr>
        <p:spPr>
          <a:xfrm rot="10800000">
            <a:off x="2625498" y="378134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2" name="Google Shape;182;p20"/>
          <p:cNvCxnSpPr/>
          <p:nvPr/>
        </p:nvCxnSpPr>
        <p:spPr>
          <a:xfrm rot="-5400000">
            <a:off x="1652868" y="514559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3" name="Google Shape;183;p20"/>
          <p:cNvCxnSpPr/>
          <p:nvPr/>
        </p:nvCxnSpPr>
        <p:spPr>
          <a:xfrm rot="-5400000">
            <a:off x="2033868" y="5145596"/>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4" name="Google Shape;184;p20"/>
          <p:cNvCxnSpPr/>
          <p:nvPr/>
        </p:nvCxnSpPr>
        <p:spPr>
          <a:xfrm rot="-5400000">
            <a:off x="484008" y="3180125"/>
            <a:ext cx="400800" cy="0"/>
          </a:xfrm>
          <a:prstGeom prst="straightConnector1">
            <a:avLst/>
          </a:prstGeom>
          <a:noFill/>
          <a:ln w="19050" cap="flat" cmpd="sng">
            <a:solidFill>
              <a:srgbClr val="000000"/>
            </a:solidFill>
            <a:prstDash val="solid"/>
            <a:round/>
            <a:headEnd type="none" w="med" len="med"/>
            <a:tailEnd type="none" w="med" len="med"/>
          </a:ln>
        </p:spPr>
      </p:cxnSp>
      <p:cxnSp>
        <p:nvCxnSpPr>
          <p:cNvPr id="185" name="Google Shape;185;p20"/>
          <p:cNvCxnSpPr/>
          <p:nvPr/>
        </p:nvCxnSpPr>
        <p:spPr>
          <a:xfrm rot="-5400000">
            <a:off x="3226102" y="4360002"/>
            <a:ext cx="400800" cy="0"/>
          </a:xfrm>
          <a:prstGeom prst="straightConnector1">
            <a:avLst/>
          </a:prstGeom>
          <a:noFill/>
          <a:ln w="19050" cap="flat" cmpd="sng">
            <a:solidFill>
              <a:srgbClr val="000000"/>
            </a:solidFill>
            <a:prstDash val="solid"/>
            <a:round/>
            <a:headEnd type="none" w="med" len="med"/>
            <a:tailEnd type="none" w="med" len="med"/>
          </a:ln>
        </p:spPr>
      </p:cxnSp>
      <p:sp>
        <p:nvSpPr>
          <p:cNvPr id="186" name="Google Shape;186;p20"/>
          <p:cNvSpPr txBox="1"/>
          <p:nvPr/>
        </p:nvSpPr>
        <p:spPr>
          <a:xfrm>
            <a:off x="3824850" y="2463000"/>
            <a:ext cx="9807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Across</a:t>
            </a:r>
            <a:endParaRPr sz="1200" u="sng">
              <a:solidFill>
                <a:srgbClr val="000000"/>
              </a:solidFill>
              <a:latin typeface="Lexend"/>
              <a:ea typeface="Lexend"/>
              <a:cs typeface="Lexend"/>
              <a:sym typeface="Lexend"/>
            </a:endParaRPr>
          </a:p>
        </p:txBody>
      </p:sp>
      <p:sp>
        <p:nvSpPr>
          <p:cNvPr id="187" name="Google Shape;187;p20"/>
          <p:cNvSpPr txBox="1"/>
          <p:nvPr/>
        </p:nvSpPr>
        <p:spPr>
          <a:xfrm>
            <a:off x="3838500" y="3970138"/>
            <a:ext cx="9807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Down</a:t>
            </a:r>
            <a:endParaRPr sz="1200" u="sng">
              <a:solidFill>
                <a:srgbClr val="000000"/>
              </a:solidFill>
              <a:latin typeface="Lexend"/>
              <a:ea typeface="Lexend"/>
              <a:cs typeface="Lexend"/>
              <a:sym typeface="Lexend"/>
            </a:endParaRPr>
          </a:p>
        </p:txBody>
      </p:sp>
      <p:sp>
        <p:nvSpPr>
          <p:cNvPr id="188" name="Google Shape;188;p20"/>
          <p:cNvSpPr txBox="1"/>
          <p:nvPr/>
        </p:nvSpPr>
        <p:spPr>
          <a:xfrm>
            <a:off x="3838500" y="28667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 add </a:t>
            </a:r>
            <a:r>
              <a:rPr lang="en-GB" sz="1200">
                <a:solidFill>
                  <a:srgbClr val="222222"/>
                </a:solidFill>
                <a:latin typeface="Lexend"/>
                <a:ea typeface="Lexend"/>
                <a:cs typeface="Lexend"/>
                <a:sym typeface="Lexend"/>
              </a:rPr>
              <a:t>−6 each time</a:t>
            </a:r>
            <a:endParaRPr sz="1200">
              <a:solidFill>
                <a:srgbClr val="000000"/>
              </a:solidFill>
              <a:latin typeface="Lexend"/>
              <a:ea typeface="Lexend"/>
              <a:cs typeface="Lexend"/>
              <a:sym typeface="Lexend"/>
            </a:endParaRPr>
          </a:p>
        </p:txBody>
      </p:sp>
      <p:sp>
        <p:nvSpPr>
          <p:cNvPr id="189" name="Google Shape;189;p20"/>
          <p:cNvSpPr txBox="1"/>
          <p:nvPr/>
        </p:nvSpPr>
        <p:spPr>
          <a:xfrm>
            <a:off x="691815" y="2979735"/>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B</a:t>
            </a:r>
            <a:endParaRPr>
              <a:solidFill>
                <a:srgbClr val="808080"/>
              </a:solidFill>
              <a:latin typeface="Lexend"/>
              <a:ea typeface="Lexend"/>
              <a:cs typeface="Lexend"/>
              <a:sym typeface="Lexend"/>
            </a:endParaRPr>
          </a:p>
        </p:txBody>
      </p:sp>
      <p:sp>
        <p:nvSpPr>
          <p:cNvPr id="190" name="Google Shape;190;p20"/>
          <p:cNvSpPr txBox="1"/>
          <p:nvPr/>
        </p:nvSpPr>
        <p:spPr>
          <a:xfrm>
            <a:off x="691818" y="4163700"/>
            <a:ext cx="1155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C</a:t>
            </a:r>
            <a:endParaRPr>
              <a:solidFill>
                <a:srgbClr val="808080"/>
              </a:solidFill>
              <a:latin typeface="Lexend"/>
              <a:ea typeface="Lexend"/>
              <a:cs typeface="Lexend"/>
              <a:sym typeface="Lexend"/>
            </a:endParaRPr>
          </a:p>
        </p:txBody>
      </p:sp>
      <p:sp>
        <p:nvSpPr>
          <p:cNvPr id="191" name="Google Shape;191;p20"/>
          <p:cNvSpPr txBox="1"/>
          <p:nvPr/>
        </p:nvSpPr>
        <p:spPr>
          <a:xfrm>
            <a:off x="1064950" y="4921601"/>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D</a:t>
            </a:r>
            <a:endParaRPr>
              <a:solidFill>
                <a:srgbClr val="808080"/>
              </a:solidFill>
              <a:latin typeface="Lexend"/>
              <a:ea typeface="Lexend"/>
              <a:cs typeface="Lexend"/>
              <a:sym typeface="Lexend"/>
            </a:endParaRPr>
          </a:p>
        </p:txBody>
      </p:sp>
      <p:sp>
        <p:nvSpPr>
          <p:cNvPr id="192" name="Google Shape;192;p20"/>
          <p:cNvSpPr txBox="1"/>
          <p:nvPr/>
        </p:nvSpPr>
        <p:spPr>
          <a:xfrm>
            <a:off x="1851863" y="2972547"/>
            <a:ext cx="278100" cy="330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E</a:t>
            </a:r>
            <a:endParaRPr>
              <a:solidFill>
                <a:srgbClr val="808080"/>
              </a:solidFill>
              <a:latin typeface="Lexend"/>
              <a:ea typeface="Lexend"/>
              <a:cs typeface="Lexend"/>
              <a:sym typeface="Lexend"/>
            </a:endParaRPr>
          </a:p>
        </p:txBody>
      </p:sp>
      <p:sp>
        <p:nvSpPr>
          <p:cNvPr id="193" name="Google Shape;193;p20"/>
          <p:cNvSpPr txBox="1"/>
          <p:nvPr/>
        </p:nvSpPr>
        <p:spPr>
          <a:xfrm>
            <a:off x="2637452" y="2972549"/>
            <a:ext cx="1965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a:solidFill>
                  <a:srgbClr val="808080"/>
                </a:solidFill>
                <a:latin typeface="Lexend"/>
                <a:ea typeface="Lexend"/>
                <a:cs typeface="Lexend"/>
                <a:sym typeface="Lexend"/>
              </a:rPr>
              <a:t>F</a:t>
            </a:r>
            <a:endParaRPr>
              <a:solidFill>
                <a:srgbClr val="808080"/>
              </a:solidFill>
              <a:latin typeface="Lexend"/>
              <a:ea typeface="Lexend"/>
              <a:cs typeface="Lexend"/>
              <a:sym typeface="Lexend"/>
            </a:endParaRPr>
          </a:p>
        </p:txBody>
      </p:sp>
      <p:sp>
        <p:nvSpPr>
          <p:cNvPr id="194" name="Google Shape;194;p20"/>
          <p:cNvSpPr txBox="1"/>
          <p:nvPr/>
        </p:nvSpPr>
        <p:spPr>
          <a:xfrm>
            <a:off x="3838500" y="45990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E: add 17</a:t>
            </a:r>
            <a:r>
              <a:rPr lang="en-GB" sz="1200">
                <a:solidFill>
                  <a:srgbClr val="222222"/>
                </a:solidFill>
                <a:latin typeface="Lexend"/>
                <a:ea typeface="Lexend"/>
                <a:cs typeface="Lexend"/>
                <a:sym typeface="Lexend"/>
              </a:rPr>
              <a:t> each time</a:t>
            </a:r>
            <a:endParaRPr sz="1200">
              <a:solidFill>
                <a:srgbClr val="000000"/>
              </a:solidFill>
              <a:latin typeface="Lexend"/>
              <a:ea typeface="Lexend"/>
              <a:cs typeface="Lexend"/>
              <a:sym typeface="Lexend"/>
            </a:endParaRPr>
          </a:p>
        </p:txBody>
      </p:sp>
      <p:sp>
        <p:nvSpPr>
          <p:cNvPr id="195" name="Google Shape;195;p20"/>
          <p:cNvSpPr txBox="1"/>
          <p:nvPr/>
        </p:nvSpPr>
        <p:spPr>
          <a:xfrm>
            <a:off x="3838500" y="498225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F: add 29</a:t>
            </a:r>
            <a:r>
              <a:rPr lang="en-GB" sz="1200">
                <a:solidFill>
                  <a:srgbClr val="222222"/>
                </a:solidFill>
                <a:latin typeface="Lexend"/>
                <a:ea typeface="Lexend"/>
                <a:cs typeface="Lexend"/>
                <a:sym typeface="Lexend"/>
              </a:rPr>
              <a:t> each time</a:t>
            </a:r>
            <a:endParaRPr sz="1200">
              <a:solidFill>
                <a:srgbClr val="000000"/>
              </a:solidFill>
              <a:latin typeface="Lexend"/>
              <a:ea typeface="Lexend"/>
              <a:cs typeface="Lexend"/>
              <a:sym typeface="Lexend"/>
            </a:endParaRPr>
          </a:p>
        </p:txBody>
      </p:sp>
      <p:sp>
        <p:nvSpPr>
          <p:cNvPr id="196" name="Google Shape;196;p20"/>
          <p:cNvSpPr txBox="1"/>
          <p:nvPr/>
        </p:nvSpPr>
        <p:spPr>
          <a:xfrm>
            <a:off x="3824850" y="3195400"/>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 add </a:t>
            </a:r>
            <a:r>
              <a:rPr lang="en-GB" sz="1200">
                <a:solidFill>
                  <a:srgbClr val="222222"/>
                </a:solidFill>
                <a:latin typeface="Lexend"/>
                <a:ea typeface="Lexend"/>
                <a:cs typeface="Lexend"/>
                <a:sym typeface="Lexend"/>
              </a:rPr>
              <a:t>12 each time</a:t>
            </a:r>
            <a:endParaRPr sz="1200">
              <a:solidFill>
                <a:srgbClr val="000000"/>
              </a:solidFill>
              <a:latin typeface="Lexend"/>
              <a:ea typeface="Lexend"/>
              <a:cs typeface="Lexend"/>
              <a:sym typeface="Lexend"/>
            </a:endParaRPr>
          </a:p>
        </p:txBody>
      </p:sp>
      <p:sp>
        <p:nvSpPr>
          <p:cNvPr id="197" name="Google Shape;197;p20"/>
          <p:cNvSpPr txBox="1"/>
          <p:nvPr/>
        </p:nvSpPr>
        <p:spPr>
          <a:xfrm>
            <a:off x="3838500" y="3541225"/>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 add </a:t>
            </a:r>
            <a:r>
              <a:rPr lang="en-GB" sz="1200">
                <a:solidFill>
                  <a:srgbClr val="222222"/>
                </a:solidFill>
                <a:latin typeface="Lexend"/>
                <a:ea typeface="Lexend"/>
                <a:cs typeface="Lexend"/>
                <a:sym typeface="Lexend"/>
              </a:rPr>
              <a:t>24 each time</a:t>
            </a:r>
            <a:endParaRPr sz="1200">
              <a:solidFill>
                <a:srgbClr val="000000"/>
              </a:solidFill>
              <a:latin typeface="Lexend"/>
              <a:ea typeface="Lexend"/>
              <a:cs typeface="Lexend"/>
              <a:sym typeface="Lexend"/>
            </a:endParaRPr>
          </a:p>
        </p:txBody>
      </p:sp>
      <p:sp>
        <p:nvSpPr>
          <p:cNvPr id="198" name="Google Shape;198;p20"/>
          <p:cNvSpPr txBox="1"/>
          <p:nvPr/>
        </p:nvSpPr>
        <p:spPr>
          <a:xfrm>
            <a:off x="3838500" y="4261738"/>
            <a:ext cx="26346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add 5 </a:t>
            </a:r>
            <a:r>
              <a:rPr lang="en-GB" sz="1200">
                <a:solidFill>
                  <a:srgbClr val="222222"/>
                </a:solidFill>
                <a:latin typeface="Lexend"/>
                <a:ea typeface="Lexend"/>
                <a:cs typeface="Lexend"/>
                <a:sym typeface="Lexend"/>
              </a:rPr>
              <a:t>each time</a:t>
            </a:r>
            <a:endParaRPr sz="1200">
              <a:solidFill>
                <a:srgbClr val="000000"/>
              </a:solidFill>
              <a:latin typeface="Lexend"/>
              <a:ea typeface="Lexend"/>
              <a:cs typeface="Lexend"/>
              <a:sym typeface="Lexend"/>
            </a:endParaRPr>
          </a:p>
        </p:txBody>
      </p:sp>
      <p:cxnSp>
        <p:nvCxnSpPr>
          <p:cNvPr id="199" name="Google Shape;199;p20"/>
          <p:cNvCxnSpPr/>
          <p:nvPr/>
        </p:nvCxnSpPr>
        <p:spPr>
          <a:xfrm rot="-5400000">
            <a:off x="484008" y="4359996"/>
            <a:ext cx="400800" cy="0"/>
          </a:xfrm>
          <a:prstGeom prst="straightConnector1">
            <a:avLst/>
          </a:prstGeom>
          <a:noFill/>
          <a:ln w="19050" cap="flat" cmpd="sng">
            <a:solidFill>
              <a:srgbClr val="000000"/>
            </a:solidFill>
            <a:prstDash val="solid"/>
            <a:round/>
            <a:headEnd type="none" w="med" len="med"/>
            <a:tailEnd type="none" w="med" len="med"/>
          </a:ln>
        </p:spPr>
      </p:cxnSp>
      <p:sp>
        <p:nvSpPr>
          <p:cNvPr id="200" name="Google Shape;200;p20"/>
          <p:cNvSpPr txBox="1"/>
          <p:nvPr/>
        </p:nvSpPr>
        <p:spPr>
          <a:xfrm>
            <a:off x="468000" y="1850300"/>
            <a:ext cx="6624000" cy="6573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AutoNum type="arabicParenR"/>
            </a:pPr>
            <a:r>
              <a:rPr lang="en-GB" sz="1200">
                <a:solidFill>
                  <a:srgbClr val="000000"/>
                </a:solidFill>
                <a:latin typeface="Lexend"/>
                <a:ea typeface="Lexend"/>
                <a:cs typeface="Lexend"/>
                <a:sym typeface="Lexend"/>
              </a:rPr>
              <a:t>This crossnumber is made from sequences written from left to right or from top to bottom. Fill in the crossnumber according to the given rules. Fill in the missing rule for ‘A: down’</a:t>
            </a:r>
            <a:endParaRPr sz="1200">
              <a:solidFill>
                <a:srgbClr val="000000"/>
              </a:solidFill>
              <a:latin typeface="Lexend"/>
              <a:ea typeface="Lexend"/>
              <a:cs typeface="Lexend"/>
              <a:sym typeface="Lexend"/>
            </a:endParaRPr>
          </a:p>
        </p:txBody>
      </p:sp>
      <p:sp>
        <p:nvSpPr>
          <p:cNvPr id="201" name="Google Shape;201;p20"/>
          <p:cNvSpPr txBox="1"/>
          <p:nvPr/>
        </p:nvSpPr>
        <p:spPr>
          <a:xfrm>
            <a:off x="468000" y="5725675"/>
            <a:ext cx="6624000" cy="400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For each sequence, use the term to term rule to find the desired term.</a:t>
            </a:r>
            <a:endParaRPr sz="1200">
              <a:solidFill>
                <a:srgbClr val="000000"/>
              </a:solidFill>
              <a:latin typeface="Lexend"/>
              <a:ea typeface="Lexend"/>
              <a:cs typeface="Lexend"/>
              <a:sym typeface="Lexend"/>
            </a:endParaRPr>
          </a:p>
        </p:txBody>
      </p:sp>
      <p:sp>
        <p:nvSpPr>
          <p:cNvPr id="202" name="Google Shape;202;p20"/>
          <p:cNvSpPr txBox="1"/>
          <p:nvPr/>
        </p:nvSpPr>
        <p:spPr>
          <a:xfrm>
            <a:off x="468000" y="6335275"/>
            <a:ext cx="6624000" cy="3400800"/>
          </a:xfrm>
          <a:prstGeom prst="rect">
            <a:avLst/>
          </a:prstGeom>
          <a:noFill/>
          <a:ln>
            <a:noFill/>
          </a:ln>
        </p:spPr>
        <p:txBody>
          <a:bodyPr spcFirstLastPara="1" wrap="square" lIns="0" tIns="0" rIns="0" bIns="0" anchor="t" anchorCtr="0">
            <a:noAutofit/>
          </a:bodyPr>
          <a:lstStyle/>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2 and add 7 each time. Find the value of T</a:t>
            </a:r>
            <a:r>
              <a:rPr lang="en-GB" sz="1200" baseline="-25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br>
              <a:rPr lang="en-GB" sz="1200">
                <a:latin typeface="Lexend"/>
                <a:ea typeface="Lexend"/>
                <a:cs typeface="Lexend"/>
                <a:sym typeface="Lexend"/>
              </a:rPr>
            </a:br>
            <a:r>
              <a:rPr lang="en-GB" sz="1200">
                <a:latin typeface="Lexend"/>
                <a:ea typeface="Lexend"/>
                <a:cs typeface="Lexend"/>
                <a:sym typeface="Lexend"/>
              </a:rPr>
              <a:t>		</a:t>
            </a:r>
            <a:endParaRPr sz="1200">
              <a:solidFill>
                <a:srgbClr val="000000"/>
              </a:solidFill>
              <a:latin typeface="Kalam"/>
              <a:ea typeface="Kalam"/>
              <a:cs typeface="Kalam"/>
              <a:sym typeface="Kalam"/>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1 and multiply by 3 each time. Find the value of T</a:t>
            </a:r>
            <a:r>
              <a:rPr lang="en-GB" sz="1200" baseline="-25000">
                <a:solidFill>
                  <a:srgbClr val="000000"/>
                </a:solidFill>
                <a:latin typeface="Lexend"/>
                <a:ea typeface="Lexend"/>
                <a:cs typeface="Lexend"/>
                <a:sym typeface="Lexend"/>
              </a:rPr>
              <a:t>4</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6, double then add 10 each time. Find the value of T</a:t>
            </a:r>
            <a:r>
              <a:rPr lang="en-GB" sz="1200" baseline="-25000">
                <a:solidFill>
                  <a:srgbClr val="000000"/>
                </a:solidFill>
                <a:latin typeface="Lexend"/>
                <a:ea typeface="Lexend"/>
                <a:cs typeface="Lexend"/>
                <a:sym typeface="Lexend"/>
              </a:rPr>
              <a:t>4</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5, add </a:t>
            </a:r>
            <a:r>
              <a:rPr lang="en-GB" sz="1200">
                <a:solidFill>
                  <a:srgbClr val="222222"/>
                </a:solidFill>
                <a:latin typeface="Lexend"/>
                <a:ea typeface="Lexend"/>
                <a:cs typeface="Lexend"/>
                <a:sym typeface="Lexend"/>
              </a:rPr>
              <a:t>−4 each time. Find the value of T</a:t>
            </a:r>
            <a:r>
              <a:rPr lang="en-GB" sz="1200" baseline="-25000">
                <a:solidFill>
                  <a:srgbClr val="222222"/>
                </a:solidFill>
                <a:latin typeface="Lexend"/>
                <a:ea typeface="Lexend"/>
                <a:cs typeface="Lexend"/>
                <a:sym typeface="Lexend"/>
              </a:rPr>
              <a:t>6</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t>
            </a:r>
            <a:endParaRPr sz="1200" baseline="-25000">
              <a:solidFill>
                <a:srgbClr val="222222"/>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10, multiply by 2 each time. Find the value of T</a:t>
            </a:r>
            <a:r>
              <a:rPr lang="en-GB" sz="1200" baseline="-25000">
                <a:solidFill>
                  <a:srgbClr val="000000"/>
                </a:solidFill>
                <a:latin typeface="Lexend"/>
                <a:ea typeface="Lexend"/>
                <a:cs typeface="Lexend"/>
                <a:sym typeface="Lexend"/>
              </a:rPr>
              <a:t>7</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4, add 5 each time. Find the value of T</a:t>
            </a:r>
            <a:r>
              <a:rPr lang="en-GB" sz="1200" baseline="-25000">
                <a:solidFill>
                  <a:srgbClr val="000000"/>
                </a:solidFill>
                <a:latin typeface="Lexend"/>
                <a:ea typeface="Lexend"/>
                <a:cs typeface="Lexend"/>
                <a:sym typeface="Lexend"/>
              </a:rPr>
              <a:t>10</a:t>
            </a:r>
            <a:r>
              <a:rPr lang="en-GB" sz="1200">
                <a:solidFill>
                  <a:srgbClr val="000000"/>
                </a:solidFill>
                <a:latin typeface="Lexend"/>
                <a:ea typeface="Lexend"/>
                <a:cs typeface="Lexend"/>
                <a:sym typeface="Lexend"/>
              </a:rPr>
              <a: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t>
            </a:r>
            <a:endParaRPr sz="1200" baseline="-25000">
              <a:solidFill>
                <a:srgbClr val="000000"/>
              </a:solidFill>
              <a:latin typeface="Lexend"/>
              <a:ea typeface="Lexend"/>
              <a:cs typeface="Lexend"/>
              <a:sym typeface="Lexend"/>
            </a:endParaRPr>
          </a:p>
          <a:p>
            <a:pPr marL="457200" lvl="0" indent="-304800" algn="l" rtl="0">
              <a:lnSpc>
                <a:spcPct val="1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Start on 24, add </a:t>
            </a:r>
            <a:r>
              <a:rPr lang="en-GB" sz="1200">
                <a:solidFill>
                  <a:srgbClr val="222222"/>
                </a:solidFill>
                <a:latin typeface="Lexend"/>
                <a:ea typeface="Lexend"/>
                <a:cs typeface="Lexend"/>
                <a:sym typeface="Lexend"/>
              </a:rPr>
              <a:t>−2 each time. Find the value of T</a:t>
            </a:r>
            <a:r>
              <a:rPr lang="en-GB" sz="1200" baseline="-25000">
                <a:solidFill>
                  <a:srgbClr val="222222"/>
                </a:solidFill>
                <a:latin typeface="Lexend"/>
                <a:ea typeface="Lexend"/>
                <a:cs typeface="Lexend"/>
                <a:sym typeface="Lexend"/>
              </a:rPr>
              <a:t>25</a:t>
            </a:r>
            <a:r>
              <a:rPr lang="en-GB" sz="1200">
                <a:solidFill>
                  <a:srgbClr val="222222"/>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cxnSp>
        <p:nvCxnSpPr>
          <p:cNvPr id="203" name="Google Shape;203;p20"/>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7" name="Shape 207"/>
        <p:cNvGrpSpPr/>
        <p:nvPr/>
      </p:nvGrpSpPr>
      <p:grpSpPr>
        <a:xfrm>
          <a:off x="0" y="0"/>
          <a:ext cx="0" cy="0"/>
        </a:xfrm>
      </p:grpSpPr>
      <p:sp>
        <p:nvSpPr>
          <p:cNvPr id="208" name="Google Shape;208;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
        <p:nvSpPr>
          <p:cNvPr id="209" name="Google Shape;209;p21"/>
          <p:cNvSpPr txBox="1"/>
          <p:nvPr>
            <p:ph type="subTitle" idx="1"/>
          </p:nvPr>
        </p:nvSpPr>
        <p:spPr>
          <a:xfrm>
            <a:off x="466825" y="360000"/>
            <a:ext cx="5779200" cy="138600"/>
          </a:xfrm>
          <a:prstGeom prst="rect">
            <a:avLst/>
          </a:prstGeom>
        </p:spPr>
        <p:txBody>
          <a:bodyPr spcFirstLastPara="1" wrap="square" lIns="0" tIns="0" rIns="0" bIns="0" anchor="t" anchorCtr="0">
            <a:spAutoFit/>
          </a:bodyPr>
          <a:lstStyle/>
          <a:p>
            <a:pPr marL="0" lvl="0" indent="0" algn="l" rtl="0">
              <a:lnSpc>
                <a:spcPct val="100000"/>
              </a:lnSpc>
              <a:spcBef>
                <a:spcPct val="0"/>
              </a:spcBef>
              <a:spcAft>
                <a:spcPct val="0"/>
              </a:spcAft>
              <a:buClr>
                <a:schemeClr val="dk1"/>
              </a:buClr>
              <a:buSzPts val="1100"/>
              <a:buFont typeface="Arial"/>
              <a:buNone/>
            </a:pPr>
            <a:r>
              <a:rPr lang="en-GB">
                <a:solidFill>
                  <a:schemeClr val="dk1"/>
                </a:solidFill>
              </a:rPr>
              <a:t>Generating a sequence using a term-to-term rule</a:t>
            </a:r>
            <a:endParaRPr/>
          </a:p>
        </p:txBody>
      </p:sp>
      <p:sp>
        <p:nvSpPr>
          <p:cNvPr id="210" name="Google Shape;210;p21"/>
          <p:cNvSpPr txBox="1"/>
          <p:nvPr>
            <p:ph type="subTitle" idx="2"/>
          </p:nvPr>
        </p:nvSpPr>
        <p:spPr>
          <a:xfrm>
            <a:off x="3903375" y="9972000"/>
            <a:ext cx="2722800" cy="161100"/>
          </a:xfrm>
          <a:prstGeom prst="rect">
            <a:avLst/>
          </a:prstGeom>
        </p:spPr>
        <p:txBody>
          <a:bodyPr spcFirstLastPara="1" wrap="square" lIns="0" tIns="0" rIns="0" bIns="0" anchor="b" anchorCtr="0">
            <a:noAutofit/>
          </a:bodyPr>
          <a:lstStyle/>
          <a:p>
            <a:pPr marL="0" lvl="0" indent="0" algn="l" rtl="0">
              <a:spcBef>
                <a:spcPct val="0"/>
              </a:spcBef>
              <a:spcAft>
                <a:spcPct val="0"/>
              </a:spcAft>
              <a:buClr>
                <a:schemeClr val="dk1"/>
              </a:buClr>
              <a:buSzPts val="1100"/>
              <a:buFont typeface="Arial"/>
              <a:buNone/>
            </a:pPr>
            <a:r>
              <a:rPr lang="en-GB"/>
              <a:t>Mathematics in Education and Industry</a:t>
            </a:r>
            <a:endParaRPr/>
          </a:p>
        </p:txBody>
      </p:sp>
      <p:sp>
        <p:nvSpPr>
          <p:cNvPr id="211" name="Google Shape;211;p21"/>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rgbClr val="FFFFFF"/>
                </a:solidFill>
                <a:latin typeface="Lexend"/>
                <a:ea typeface="Lexend"/>
                <a:cs typeface="Lexend"/>
                <a:sym typeface="Lexend"/>
              </a:rPr>
              <a:t>v2.1</a:t>
            </a:r>
            <a:endParaRPr sz="1000">
              <a:solidFill>
                <a:srgbClr val="FFFFFF"/>
              </a:solidFill>
              <a:latin typeface="Lexend"/>
              <a:ea typeface="Lexend"/>
              <a:cs typeface="Lexend"/>
              <a:sym typeface="Lexend"/>
            </a:endParaRPr>
          </a:p>
        </p:txBody>
      </p:sp>
      <p:sp>
        <p:nvSpPr>
          <p:cNvPr id="212" name="Google Shape;212;p21"/>
          <p:cNvSpPr txBox="1"/>
          <p:nvPr/>
        </p:nvSpPr>
        <p:spPr>
          <a:xfrm>
            <a:off x="468000" y="720000"/>
            <a:ext cx="6624000" cy="361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rgbClr val="000000"/>
                </a:solidFill>
                <a:latin typeface="Lexend"/>
                <a:ea typeface="Lexend"/>
                <a:cs typeface="Lexend"/>
                <a:sym typeface="Lexend"/>
              </a:rPr>
              <a:t>Task B: Finding term-to-term rules</a:t>
            </a:r>
            <a:endParaRPr b="1">
              <a:solidFill>
                <a:srgbClr val="000000"/>
              </a:solidFill>
              <a:latin typeface="Lexend"/>
              <a:ea typeface="Lexend"/>
              <a:cs typeface="Lexend"/>
              <a:sym typeface="Lexend"/>
            </a:endParaRPr>
          </a:p>
        </p:txBody>
      </p:sp>
      <p:sp>
        <p:nvSpPr>
          <p:cNvPr id="213" name="Google Shape;213;p21"/>
          <p:cNvSpPr txBox="1"/>
          <p:nvPr/>
        </p:nvSpPr>
        <p:spPr>
          <a:xfrm>
            <a:off x="468000" y="1081200"/>
            <a:ext cx="6624000" cy="5091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AutoNum type="arabicParenR"/>
            </a:pPr>
            <a:r>
              <a:rPr lang="en-GB" sz="1200">
                <a:solidFill>
                  <a:srgbClr val="000000"/>
                </a:solidFill>
                <a:latin typeface="Lexend"/>
                <a:ea typeface="Lexend"/>
                <a:cs typeface="Lexend"/>
                <a:sym typeface="Lexend"/>
              </a:rPr>
              <a:t>Fill in each row and column so they form a sequence with an additive pattern. Then fill in the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rules for the stated rows.</a:t>
            </a:r>
            <a:endParaRPr sz="1200">
              <a:solidFill>
                <a:srgbClr val="000000"/>
              </a:solidFill>
              <a:latin typeface="Lexend"/>
              <a:ea typeface="Lexend"/>
              <a:cs typeface="Lexend"/>
              <a:sym typeface="Lexend"/>
            </a:endParaRPr>
          </a:p>
        </p:txBody>
      </p:sp>
      <p:sp>
        <p:nvSpPr>
          <p:cNvPr id="214" name="Google Shape;214;p21"/>
          <p:cNvSpPr txBox="1"/>
          <p:nvPr/>
        </p:nvSpPr>
        <p:spPr>
          <a:xfrm>
            <a:off x="468000" y="4946008"/>
            <a:ext cx="3417000" cy="5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row A is</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r>
              <a:rPr lang="en-GB" sz="1200" u="sng">
                <a:latin typeface="Lexend"/>
                <a:ea typeface="Lexend"/>
                <a:cs typeface="Lexend"/>
                <a:sym typeface="Lexend"/>
              </a:rPr>
              <a:t>                </a:t>
            </a:r>
            <a:r>
              <a:rPr lang="en-GB" sz="1200">
                <a:latin typeface="Lexend"/>
                <a:ea typeface="Lexend"/>
                <a:cs typeface="Lexend"/>
                <a:sym typeface="Lexend"/>
              </a:rPr>
              <a:t> </a:t>
            </a:r>
            <a:r>
              <a:rPr lang="en-GB" sz="1200">
                <a:solidFill>
                  <a:schemeClr val="lt1"/>
                </a:solidFill>
                <a:latin typeface="Lexend"/>
                <a:ea typeface="Lexend"/>
                <a:cs typeface="Lexend"/>
                <a:sym typeface="Lexend"/>
              </a:rPr>
              <a:t>.</a:t>
            </a:r>
            <a:endParaRPr sz="1200">
              <a:solidFill>
                <a:schemeClr val="lt1"/>
              </a:solidFill>
              <a:latin typeface="Lexend"/>
              <a:ea typeface="Lexend"/>
              <a:cs typeface="Lexend"/>
              <a:sym typeface="Lexend"/>
            </a:endParaRPr>
          </a:p>
        </p:txBody>
      </p:sp>
      <p:sp>
        <p:nvSpPr>
          <p:cNvPr id="215" name="Google Shape;215;p21"/>
          <p:cNvSpPr txBox="1"/>
          <p:nvPr/>
        </p:nvSpPr>
        <p:spPr>
          <a:xfrm>
            <a:off x="3586300" y="4935393"/>
            <a:ext cx="3505800" cy="50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row B is</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r>
              <a:rPr lang="en-GB" sz="1200" u="sng">
                <a:solidFill>
                  <a:schemeClr val="dk1"/>
                </a:solidFill>
                <a:latin typeface="Lexend"/>
                <a:ea typeface="Lexend"/>
                <a:cs typeface="Lexend"/>
                <a:sym typeface="Lexend"/>
              </a:rPr>
              <a:t>                </a:t>
            </a:r>
            <a:r>
              <a:rPr lang="en-GB" sz="1200">
                <a:solidFill>
                  <a:schemeClr val="dk1"/>
                </a:solidFill>
                <a:latin typeface="Lexend"/>
                <a:ea typeface="Lexend"/>
                <a:cs typeface="Lexend"/>
                <a:sym typeface="Lexend"/>
              </a:rPr>
              <a:t> </a:t>
            </a:r>
            <a:r>
              <a:rPr lang="en-GB" sz="1200">
                <a:solidFill>
                  <a:schemeClr val="lt1"/>
                </a:solidFill>
                <a:latin typeface="Lexend"/>
                <a:ea typeface="Lexend"/>
                <a:cs typeface="Lexend"/>
                <a:sym typeface="Lexend"/>
              </a:rPr>
              <a:t>.</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16" name="Google Shape;216;p21"/>
          <p:cNvSpPr txBox="1"/>
          <p:nvPr/>
        </p:nvSpPr>
        <p:spPr>
          <a:xfrm>
            <a:off x="468000" y="5587900"/>
            <a:ext cx="66240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Describe a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 for each sequence below</a:t>
            </a:r>
            <a:endParaRPr sz="1200">
              <a:solidFill>
                <a:srgbClr val="000000"/>
              </a:solidFill>
              <a:latin typeface="Lexend"/>
              <a:ea typeface="Lexend"/>
              <a:cs typeface="Lexend"/>
              <a:sym typeface="Lexend"/>
            </a:endParaRPr>
          </a:p>
        </p:txBody>
      </p:sp>
      <p:sp>
        <p:nvSpPr>
          <p:cNvPr id="217" name="Google Shape;217;p21"/>
          <p:cNvSpPr txBox="1"/>
          <p:nvPr/>
        </p:nvSpPr>
        <p:spPr>
          <a:xfrm>
            <a:off x="468000" y="5801297"/>
            <a:ext cx="2563200" cy="1476900"/>
          </a:xfrm>
          <a:prstGeom prst="rect">
            <a:avLst/>
          </a:prstGeom>
          <a:noFill/>
          <a:ln>
            <a:noFill/>
          </a:ln>
        </p:spPr>
        <p:txBody>
          <a:bodyPr spcFirstLastPara="1" wrap="square" lIns="0" tIns="0" rIns="0" bIns="0" anchor="t" anchorCtr="0">
            <a:noAutofit/>
          </a:bodyPr>
          <a:lstStyle/>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4, 7, 10,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13, 26, 52,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0.2, 2, 20, …</a:t>
            </a:r>
            <a:endParaRPr sz="1200">
              <a:solidFill>
                <a:srgbClr val="000000"/>
              </a:solidFill>
              <a:latin typeface="Lexend"/>
              <a:ea typeface="Lexend"/>
              <a:cs typeface="Lexend"/>
              <a:sym typeface="Lexend"/>
            </a:endParaRPr>
          </a:p>
          <a:p>
            <a:pPr marL="0" lvl="0" indent="0" algn="l" rtl="0">
              <a:lnSpc>
                <a:spcPct val="300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300000"/>
              </a:lnSpc>
              <a:spcBef>
                <a:spcPts val="1000"/>
              </a:spcBef>
              <a:spcAft>
                <a:spcPts val="1000"/>
              </a:spcAft>
              <a:buNone/>
            </a:pPr>
            <a:endParaRPr sz="1200">
              <a:solidFill>
                <a:srgbClr val="000000"/>
              </a:solidFill>
              <a:latin typeface="Lexend"/>
              <a:ea typeface="Lexend"/>
              <a:cs typeface="Lexend"/>
              <a:sym typeface="Lexend"/>
            </a:endParaRPr>
          </a:p>
        </p:txBody>
      </p:sp>
      <p:sp>
        <p:nvSpPr>
          <p:cNvPr id="218" name="Google Shape;218;p21"/>
          <p:cNvSpPr txBox="1"/>
          <p:nvPr/>
        </p:nvSpPr>
        <p:spPr>
          <a:xfrm>
            <a:off x="3780000" y="5753097"/>
            <a:ext cx="2080800" cy="1476900"/>
          </a:xfrm>
          <a:prstGeom prst="rect">
            <a:avLst/>
          </a:prstGeom>
          <a:noFill/>
          <a:ln>
            <a:noFill/>
          </a:ln>
        </p:spPr>
        <p:txBody>
          <a:bodyPr spcFirstLastPara="1" wrap="square" lIns="0" tIns="0" rIns="0" bIns="0" anchor="t" anchorCtr="0">
            <a:noAutofit/>
          </a:bodyPr>
          <a:lstStyle/>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5,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3, </a:t>
            </a:r>
            <a:r>
              <a:rPr lang="en-GB" sz="1200">
                <a:solidFill>
                  <a:srgbClr val="222222"/>
                </a:solidFill>
                <a:latin typeface="Lexend"/>
                <a:ea typeface="Lexend"/>
                <a:cs typeface="Lexend"/>
                <a:sym typeface="Lexend"/>
              </a:rPr>
              <a:t>−</a:t>
            </a:r>
            <a:r>
              <a:rPr lang="en-GB" sz="1200">
                <a:solidFill>
                  <a:srgbClr val="000000"/>
                </a:solidFill>
                <a:latin typeface="Lexend"/>
                <a:ea typeface="Lexend"/>
                <a:cs typeface="Lexend"/>
                <a:sym typeface="Lexend"/>
              </a:rPr>
              <a:t>11,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7, -21, 63, …</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ct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2, </a:t>
            </a:r>
            <a:r>
              <a:rPr lang="en-GB" sz="1200">
                <a:solidFill>
                  <a:srgbClr val="222222"/>
                </a:solidFill>
                <a:latin typeface="Lexend"/>
                <a:ea typeface="Lexend"/>
                <a:cs typeface="Lexend"/>
                <a:sym typeface="Lexend"/>
              </a:rPr>
              <a:t>5</a:t>
            </a:r>
            <a:r>
              <a:rPr lang="en-GB" sz="1200">
                <a:solidFill>
                  <a:srgbClr val="000000"/>
                </a:solidFill>
                <a:latin typeface="Lexend"/>
                <a:ea typeface="Lexend"/>
                <a:cs typeface="Lexend"/>
                <a:sym typeface="Lexend"/>
              </a:rPr>
              <a:t>, </a:t>
            </a:r>
            <a:r>
              <a:rPr lang="en-GB" sz="1200">
                <a:solidFill>
                  <a:srgbClr val="222222"/>
                </a:solidFill>
                <a:latin typeface="Lexend"/>
                <a:ea typeface="Lexend"/>
                <a:cs typeface="Lexend"/>
                <a:sym typeface="Lexend"/>
              </a:rPr>
              <a:t>11</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marL="0" lvl="0" indent="0" algn="l" rtl="0">
              <a:lnSpc>
                <a:spcPct val="300000"/>
              </a:lnSpc>
              <a:spcBef>
                <a:spcPts val="1000"/>
              </a:spcBef>
              <a:spcAft>
                <a:spcPct val="0"/>
              </a:spcAft>
              <a:buNone/>
            </a:pPr>
            <a:endParaRPr sz="1200">
              <a:solidFill>
                <a:srgbClr val="000000"/>
              </a:solidFill>
              <a:latin typeface="Lexend"/>
              <a:ea typeface="Lexend"/>
              <a:cs typeface="Lexend"/>
              <a:sym typeface="Lexend"/>
            </a:endParaRPr>
          </a:p>
        </p:txBody>
      </p:sp>
      <p:sp>
        <p:nvSpPr>
          <p:cNvPr id="219" name="Google Shape;219;p21"/>
          <p:cNvSpPr txBox="1"/>
          <p:nvPr/>
        </p:nvSpPr>
        <p:spPr>
          <a:xfrm>
            <a:off x="468000" y="8221900"/>
            <a:ext cx="66240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  Alex and Aisha are writing </a:t>
            </a:r>
            <a:r>
              <a:rPr lang="en-GB" sz="1200" b="1">
                <a:solidFill>
                  <a:srgbClr val="000000"/>
                </a:solidFill>
                <a:latin typeface="Lexend"/>
                <a:ea typeface="Lexend"/>
                <a:cs typeface="Lexend"/>
                <a:sym typeface="Lexend"/>
              </a:rPr>
              <a:t>term-to-term</a:t>
            </a:r>
            <a:r>
              <a:rPr lang="en-GB" sz="1200">
                <a:solidFill>
                  <a:srgbClr val="000000"/>
                </a:solidFill>
                <a:latin typeface="Lexend"/>
                <a:ea typeface="Lexend"/>
                <a:cs typeface="Lexend"/>
                <a:sym typeface="Lexend"/>
              </a:rPr>
              <a:t> rules for a sequence with T</a:t>
            </a:r>
            <a:r>
              <a:rPr lang="en-GB" sz="1200" baseline="-25000">
                <a:solidFill>
                  <a:srgbClr val="000000"/>
                </a:solidFill>
                <a:latin typeface="Lexend"/>
                <a:ea typeface="Lexend"/>
                <a:cs typeface="Lexend"/>
                <a:sym typeface="Lexend"/>
              </a:rPr>
              <a:t>1</a:t>
            </a:r>
            <a:r>
              <a:rPr lang="en-GB" sz="1200">
                <a:solidFill>
                  <a:srgbClr val="000000"/>
                </a:solidFill>
                <a:latin typeface="Lexend"/>
                <a:ea typeface="Lexend"/>
                <a:cs typeface="Lexend"/>
                <a:sym typeface="Lexend"/>
              </a:rPr>
              <a:t>= 5 and T</a:t>
            </a:r>
            <a:r>
              <a:rPr lang="en-GB" sz="1200" baseline="-25000">
                <a:solidFill>
                  <a:srgbClr val="000000"/>
                </a:solidFill>
                <a:latin typeface="Lexend"/>
                <a:ea typeface="Lexend"/>
                <a:cs typeface="Lexend"/>
                <a:sym typeface="Lexend"/>
              </a:rPr>
              <a:t>2</a:t>
            </a:r>
            <a:r>
              <a:rPr lang="en-GB" sz="1200">
                <a:solidFill>
                  <a:srgbClr val="000000"/>
                </a:solidFill>
                <a:latin typeface="Lexend"/>
                <a:ea typeface="Lexend"/>
                <a:cs typeface="Lexend"/>
                <a:sym typeface="Lexend"/>
              </a:rPr>
              <a:t>= 15</a:t>
            </a:r>
            <a:endParaRPr sz="1200">
              <a:solidFill>
                <a:srgbClr val="000000"/>
              </a:solidFill>
              <a:latin typeface="Lexend"/>
              <a:ea typeface="Lexend"/>
              <a:cs typeface="Lexend"/>
              <a:sym typeface="Lexend"/>
            </a:endParaRPr>
          </a:p>
        </p:txBody>
      </p:sp>
      <p:sp>
        <p:nvSpPr>
          <p:cNvPr id="220" name="Google Shape;220;p21"/>
          <p:cNvSpPr txBox="1"/>
          <p:nvPr/>
        </p:nvSpPr>
        <p:spPr>
          <a:xfrm flipH="1">
            <a:off x="6436728" y="9665896"/>
            <a:ext cx="671400" cy="333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GB" sz="1200">
                <a:latin typeface="Lexend"/>
                <a:ea typeface="Lexend"/>
                <a:cs typeface="Lexend"/>
                <a:sym typeface="Lexend"/>
              </a:rPr>
              <a:t>Alex</a:t>
            </a:r>
            <a:endParaRPr sz="1200" b="1">
              <a:latin typeface="Lexend"/>
              <a:ea typeface="Lexend"/>
              <a:cs typeface="Lexend"/>
              <a:sym typeface="Lexend"/>
            </a:endParaRPr>
          </a:p>
        </p:txBody>
      </p:sp>
      <p:pic>
        <p:nvPicPr>
          <p:cNvPr id="221" name="Google Shape;221;p21"/>
          <p:cNvPicPr preferRelativeResize="0"/>
          <p:nvPr/>
        </p:nvPicPr>
        <p:blipFill>
          <a:blip r:embed="rId3">
            <a:alphaModFix/>
          </a:blip>
          <a:stretch>
            <a:fillRect/>
          </a:stretch>
        </p:blipFill>
        <p:spPr>
          <a:xfrm>
            <a:off x="6502782" y="8968865"/>
            <a:ext cx="539302" cy="621961"/>
          </a:xfrm>
          <a:prstGeom prst="rect">
            <a:avLst/>
          </a:prstGeom>
          <a:noFill/>
          <a:ln>
            <a:noFill/>
          </a:ln>
        </p:spPr>
      </p:pic>
      <p:grpSp>
        <p:nvGrpSpPr>
          <p:cNvPr id="222" name="Google Shape;222;p21"/>
          <p:cNvGrpSpPr/>
          <p:nvPr/>
        </p:nvGrpSpPr>
        <p:grpSpPr>
          <a:xfrm flipH="1">
            <a:off x="3779994" y="8400599"/>
            <a:ext cx="2722789" cy="978023"/>
            <a:chOff x="1653323" y="1180077"/>
            <a:chExt cx="2013302" cy="1491116"/>
          </a:xfrm>
        </p:grpSpPr>
        <p:pic>
          <p:nvPicPr>
            <p:cNvPr id="223" name="Google Shape;223;p21"/>
            <p:cNvPicPr preferRelativeResize="0"/>
            <p:nvPr/>
          </p:nvPicPr>
          <p:blipFill>
            <a:blip r:embed="rId4">
              <a:alphaModFix/>
            </a:blip>
            <a:srcRect t="56280" r="69082"/>
            <a:stretch>
              <a:fillRect/>
            </a:stretch>
          </p:blipFill>
          <p:spPr>
            <a:xfrm flipH="1">
              <a:off x="1653323" y="1180077"/>
              <a:ext cx="2013302" cy="1491116"/>
            </a:xfrm>
            <a:prstGeom prst="rect">
              <a:avLst/>
            </a:prstGeom>
            <a:noFill/>
            <a:ln>
              <a:noFill/>
            </a:ln>
          </p:spPr>
        </p:pic>
        <p:sp>
          <p:nvSpPr>
            <p:cNvPr id="224" name="Google Shape;224;p21"/>
            <p:cNvSpPr txBox="1"/>
            <p:nvPr/>
          </p:nvSpPr>
          <p:spPr>
            <a:xfrm flipH="1">
              <a:off x="1800679" y="1498891"/>
              <a:ext cx="1782300" cy="853500"/>
            </a:xfrm>
            <a:prstGeom prst="rect">
              <a:avLst/>
            </a:prstGeom>
            <a:noFill/>
            <a:ln>
              <a:noFill/>
            </a:ln>
          </p:spPr>
          <p:txBody>
            <a:bodyPr spcFirstLastPara="1" wrap="square" lIns="0" tIns="0" rIns="0" bIns="0" anchor="ctr"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Aisha and I have different rules so one of us must be wrong.</a:t>
              </a:r>
              <a:endParaRPr sz="1200">
                <a:solidFill>
                  <a:srgbClr val="000000"/>
                </a:solidFill>
                <a:latin typeface="Lexend"/>
                <a:ea typeface="Lexend"/>
                <a:cs typeface="Lexend"/>
                <a:sym typeface="Lexend"/>
              </a:endParaRPr>
            </a:p>
          </p:txBody>
        </p:sp>
      </p:grpSp>
      <p:sp>
        <p:nvSpPr>
          <p:cNvPr id="225" name="Google Shape;225;p21"/>
          <p:cNvSpPr txBox="1"/>
          <p:nvPr/>
        </p:nvSpPr>
        <p:spPr>
          <a:xfrm>
            <a:off x="468000" y="8473300"/>
            <a:ext cx="3361500" cy="333900"/>
          </a:xfrm>
          <a:prstGeom prst="rect">
            <a:avLst/>
          </a:prstGeom>
          <a:noFill/>
          <a:ln>
            <a:noFill/>
          </a:ln>
        </p:spPr>
        <p:txBody>
          <a:bodyPr spcFirstLastPara="1" wrap="square" lIns="0" tIns="0" rIns="0" bIns="0" anchor="t" anchorCtr="0">
            <a:noAutofit/>
          </a:bodyPr>
          <a:lstStyle/>
          <a:p>
            <a:pPr marL="457200" lvl="0" indent="-304800" algn="l" rtl="0">
              <a:lnSpc>
                <a:spcPct val="300000"/>
              </a:lnSpc>
              <a:spcBef>
                <a:spcPct val="0"/>
              </a:spcBef>
              <a:spcAft>
                <a:spcPct val="0"/>
              </a:spcAft>
              <a:buClr>
                <a:srgbClr val="000000"/>
              </a:buClr>
              <a:buSzPts val="1200"/>
              <a:buFont typeface="Lexend"/>
              <a:buAutoNum type="alphaLcParenR"/>
            </a:pPr>
            <a:r>
              <a:rPr lang="en-GB" sz="1200">
                <a:solidFill>
                  <a:srgbClr val="000000"/>
                </a:solidFill>
                <a:latin typeface="Lexend"/>
                <a:ea typeface="Lexend"/>
                <a:cs typeface="Lexend"/>
                <a:sym typeface="Lexend"/>
              </a:rPr>
              <a:t>Explain why Alex is incorrect</a:t>
            </a:r>
            <a:endParaRPr sz="1200">
              <a:solidFill>
                <a:srgbClr val="000000"/>
              </a:solidFill>
              <a:latin typeface="Lexend"/>
              <a:ea typeface="Lexend"/>
              <a:cs typeface="Lexend"/>
              <a:sym typeface="Lexend"/>
            </a:endParaRPr>
          </a:p>
          <a:p>
            <a:pPr marL="457200" lvl="0" indent="-304800" algn="l" rtl="0">
              <a:lnSpc>
                <a:spcPct val="300000"/>
              </a:lnSpc>
              <a:spcBef>
                <a:spcPts val="1000"/>
              </a:spcBef>
              <a:spcAft>
                <a:spcPts val="1000"/>
              </a:spcAft>
              <a:buClr>
                <a:srgbClr val="000000"/>
              </a:buClr>
              <a:buSzPts val="1200"/>
              <a:buFont typeface="Lexend"/>
              <a:buAutoNum type="alphaLcParenR"/>
            </a:pPr>
            <a:r>
              <a:rPr lang="en-GB" sz="1200">
                <a:solidFill>
                  <a:srgbClr val="000000"/>
                </a:solidFill>
                <a:latin typeface="Lexend"/>
                <a:ea typeface="Lexend"/>
                <a:cs typeface="Lexend"/>
                <a:sym typeface="Lexend"/>
              </a:rPr>
              <a:t>What rules could they have written?</a:t>
            </a:r>
            <a:endParaRPr sz="1200">
              <a:solidFill>
                <a:srgbClr val="000000"/>
              </a:solidFill>
              <a:latin typeface="Lexend"/>
              <a:ea typeface="Lexend"/>
              <a:cs typeface="Lexend"/>
              <a:sym typeface="Lexend"/>
            </a:endParaRPr>
          </a:p>
        </p:txBody>
      </p:sp>
      <p:pic>
        <p:nvPicPr>
          <p:cNvPr id="226" name="Google Shape;226;p21"/>
          <p:cNvPicPr preferRelativeResize="0"/>
          <p:nvPr/>
        </p:nvPicPr>
        <p:blipFill>
          <a:blip r:embed="rId5">
            <a:alphaModFix/>
          </a:blip>
          <a:stretch>
            <a:fillRect/>
          </a:stretch>
        </p:blipFill>
        <p:spPr>
          <a:xfrm>
            <a:off x="468000" y="1590304"/>
            <a:ext cx="6624000" cy="3150105"/>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0.14"/>
  <p:tag name="AS_TITLE" val="Aspose.Slides for .NET Standard 2.0"/>
  <p:tag name="AS_VERSION" val="23.10"/>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48</Paragraphs>
  <Slides>2</Slides>
  <Notes>2</Notes>
  <TotalTime>0</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2</vt:i4>
      </vt:variant>
    </vt:vector>
  </HeadingPairs>
  <TitlesOfParts>
    <vt:vector baseType="lpstr" size="8">
      <vt:lpstr>Arial</vt:lpstr>
      <vt:lpstr>Lexend</vt:lpstr>
      <vt:lpstr>Kalam</vt:lpstr>
      <vt:lpstr>Lexend Medium</vt:lpstr>
      <vt:lpstr>Lexend Light</vt:lpstr>
      <vt:lpstr>simple-light-2</vt:lpstr>
      <vt:lpstr>Generating a sequence using a term-to-term rule</vt:lpstr>
      <vt:lpstr>PowerPoint Presentation</vt:lpstr>
    </vt:vector>
  </TitlesOfParts>
  <LinksUpToDate>0</LinksUpToDate>
  <SharedDoc>0</SharedDoc>
  <HyperlinksChanged>0</HyperlinksChanged>
  <Application>Aspose.Slides for .NET</Application>
  <AppVersion>23.1000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2023-12-08T09:32:52.077</cp:lastPrinted>
  <dcterms:created xsi:type="dcterms:W3CDTF">2023-12-08T09:32:52Z</dcterms:created>
  <dcterms:modified xsi:type="dcterms:W3CDTF">2023-12-08T09:33:02Z</dcterms:modified>
</cp:coreProperties>
</file>