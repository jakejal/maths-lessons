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3.10-->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665" r:id="rId1"/>
    <p:sldMasterId id="2147483666" r:id="rId2"/>
  </p:sldMasterIdLst>
  <p:notesMasterIdLst>
    <p:notesMasterId r:id="rId3"/>
  </p:notesMasterIdLst>
  <p:sldIdLst>
    <p:sldId id="256" r:id="rId4"/>
    <p:sldId id="257" r:id="rId5"/>
  </p:sldIdLst>
  <p:sldSz cx="7560000" cy="10692000"/>
  <p:notesSz cx="6858000" cy="9144000"/>
  <p:embeddedFontLst>
    <p:embeddedFont>
      <p:font typeface="Lexend" panose="00000000000000000000"/>
      <p:regular r:id="rId7"/>
    </p:embeddedFont>
    <p:embeddedFont>
      <p:font typeface="Kalam" panose="02000000000000000000"/>
      <p:regular r:id="rId8"/>
    </p:embeddedFont>
    <p:embeddedFont>
      <p:font typeface="Lexend Medium" panose="00000000000000000000"/>
      <p:regular r:id="rId9"/>
    </p:embeddedFont>
    <p:embeddedFont>
      <p:font typeface="Lexend Light" panose="00000000000000000000"/>
      <p:regular r:id="rId10"/>
    </p:embeddedFont>
  </p:embeddedFontLst>
  <p:custDataLst>
    <p:tags r:id="rId6"/>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E69251BC-4161-4CFF-9D1C-D6BFA05766C0}">
  <a:tblStyle styleId="{E69251BC-4161-4CFF-9D1C-D6BFA05766C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font" Target="fonts/font4.fntdata" /><Relationship Id="rId11" Type="http://schemas.openxmlformats.org/officeDocument/2006/relationships/presProps" Target="presProps.xml" /><Relationship Id="rId12" Type="http://schemas.openxmlformats.org/officeDocument/2006/relationships/viewProps" Target="viewProps.xml" /><Relationship Id="rId13" Type="http://schemas.openxmlformats.org/officeDocument/2006/relationships/theme" Target="theme/theme1.xml" /><Relationship Id="rId14"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notesMaster" Target="notesMasters/notes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tags" Target="tags/tag1.xml" /><Relationship Id="rId7" Type="http://schemas.openxmlformats.org/officeDocument/2006/relationships/font" Target="fonts/font1.fntdata" /><Relationship Id="rId8" Type="http://schemas.openxmlformats.org/officeDocument/2006/relationships/font" Target="fonts/font2.fntdata" /><Relationship Id="rId9" Type="http://schemas.openxmlformats.org/officeDocument/2006/relationships/font" Target="fonts/font3.fntdata"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7" name="Shape 167"/>
        <p:cNvGrpSpPr/>
        <p:nvPr/>
      </p:nvGrpSpPr>
      <p:grpSpPr>
        <a:xfrm>
          <a:off x="0" y="0"/>
          <a:ext cx="0" cy="0"/>
        </a:xfrm>
      </p:grpSpPr>
      <p:sp>
        <p:nvSpPr>
          <p:cNvPr id="168" name="Google Shape;168;g279934fec8d_0_131: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69" name="Google Shape;169;g279934fec8d_0_1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15" name="Shape 215"/>
        <p:cNvGrpSpPr/>
        <p:nvPr/>
      </p:nvGrpSpPr>
      <p:grpSpPr>
        <a:xfrm>
          <a:off x="0" y="0"/>
          <a:ext cx="0" cy="0"/>
        </a:xfrm>
      </p:grpSpPr>
      <p:sp>
        <p:nvSpPr>
          <p:cNvPr id="216" name="Google Shape;216;g279934fec8d_0_136: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17" name="Google Shape;217;g279934fec8d_0_1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5.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p:cSld name="SECTION_HEADER_1_1_1_1_1_1_1_1_1_2_2">
    <p:spTree>
      <p:nvGrpSpPr>
        <p:cNvPr id="9" name="Shape 9"/>
        <p:cNvGrpSpPr/>
        <p:nvPr/>
      </p:nvGrpSpPr>
      <p:grpSpPr>
        <a:xfrm>
          <a:off x="0" y="0"/>
          <a:ext cx="0" cy="0"/>
        </a:xfrm>
      </p:grpSpPr>
      <p:sp>
        <p:nvSpPr>
          <p:cNvPr id="10" name="Google Shape;10;p2"/>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 name="Google Shape;11;p2"/>
          <p:cNvSpPr txBox="1"/>
          <p:nvPr>
            <p:ph type="subTitle" idx="1"/>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12" name="Google Shape;12;p2"/>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pic>
        <p:nvPicPr>
          <p:cNvPr id="14" name="Google Shape;14;p2"/>
          <p:cNvPicPr preferRelativeResize="0"/>
          <p:nvPr/>
        </p:nvPicPr>
        <p:blipFill>
          <a:blip r:embed="rId3">
            <a:alphaModFix/>
          </a:blip>
          <a:stretch>
            <a:fillRect/>
          </a:stretch>
        </p:blipFill>
        <p:spPr>
          <a:xfrm>
            <a:off x="6261625" y="161271"/>
            <a:ext cx="805956" cy="4986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1">
  <p:cSld name="SECTION_HEADER_1_1_1_1_1_1_1_1_1_2_1">
    <p:spTree>
      <p:nvGrpSpPr>
        <p:cNvPr id="15" name="Shape 15"/>
        <p:cNvGrpSpPr/>
        <p:nvPr/>
      </p:nvGrpSpPr>
      <p:grpSpPr>
        <a:xfrm>
          <a:off x="0" y="0"/>
          <a:ext cx="0" cy="0"/>
        </a:xfrm>
      </p:grpSpPr>
      <p:sp>
        <p:nvSpPr>
          <p:cNvPr id="16" name="Google Shape;16;p3"/>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7" name="Google Shape;17;p3"/>
          <p:cNvSpPr txBox="1"/>
          <p:nvPr>
            <p:ph type="subTitle" idx="1"/>
          </p:nvPr>
        </p:nvSpPr>
        <p:spPr>
          <a:xfrm>
            <a:off x="466825" y="17801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8" name="Google Shape;18;p3"/>
          <p:cNvSpPr txBox="1"/>
          <p:nvPr>
            <p:ph type="subTitle" idx="2"/>
          </p:nvPr>
        </p:nvSpPr>
        <p:spPr>
          <a:xfrm>
            <a:off x="2807400"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9" name="Google Shape;19;p3"/>
          <p:cNvSpPr txBox="1"/>
          <p:nvPr>
            <p:ph type="subTitle" idx="3"/>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0" name="Google Shape;20;p3"/>
          <p:cNvSpPr txBox="1"/>
          <p:nvPr>
            <p:ph type="subTitle" idx="4"/>
          </p:nvPr>
        </p:nvSpPr>
        <p:spPr>
          <a:xfrm>
            <a:off x="4127250"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1" name="Google Shape;21;p3"/>
          <p:cNvSpPr txBox="1"/>
          <p:nvPr>
            <p:ph type="subTitle" idx="5"/>
          </p:nvPr>
        </p:nvSpPr>
        <p:spPr>
          <a:xfrm>
            <a:off x="468000" y="5866375"/>
            <a:ext cx="65817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2" name="Google Shape;22;p3"/>
          <p:cNvSpPr txBox="1"/>
          <p:nvPr>
            <p:ph type="subTitle" idx="6"/>
          </p:nvPr>
        </p:nvSpPr>
        <p:spPr>
          <a:xfrm>
            <a:off x="466825"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3" name="Google Shape;23;p3"/>
          <p:cNvSpPr txBox="1"/>
          <p:nvPr>
            <p:ph type="subTitle" idx="7"/>
          </p:nvPr>
        </p:nvSpPr>
        <p:spPr>
          <a:xfrm>
            <a:off x="46682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4" name="Google Shape;24;p3"/>
          <p:cNvSpPr txBox="1"/>
          <p:nvPr>
            <p:ph type="subTitle" idx="8"/>
          </p:nvPr>
        </p:nvSpPr>
        <p:spPr>
          <a:xfrm>
            <a:off x="514797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25" name="Google Shape;25;p3"/>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29" name="Google Shape;29;p3"/>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pic>
        <p:nvPicPr>
          <p:cNvPr id="30" name="Google Shape;30;p3"/>
          <p:cNvPicPr preferRelativeResize="0"/>
          <p:nvPr/>
        </p:nvPicPr>
        <p:blipFill>
          <a:blip r:embed="rId3">
            <a:alphaModFix/>
          </a:blip>
          <a:stretch>
            <a:fillRect/>
          </a:stretch>
        </p:blipFill>
        <p:spPr>
          <a:xfrm>
            <a:off x="6261625" y="161271"/>
            <a:ext cx="805956" cy="498600"/>
          </a:xfrm>
          <a:prstGeom prst="rect">
            <a:avLst/>
          </a:prstGeom>
          <a:noFill/>
          <a:ln>
            <a:noFill/>
          </a:ln>
        </p:spPr>
      </p:pic>
      <p:sp>
        <p:nvSpPr>
          <p:cNvPr id="31" name="Google Shape;31;p3"/>
          <p:cNvSpPr txBox="1"/>
          <p:nvPr>
            <p:ph type="subTitle" idx="9"/>
          </p:nvPr>
        </p:nvSpPr>
        <p:spPr>
          <a:xfrm>
            <a:off x="466825" y="13698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1">
  <p:cSld name="SECTION_HEADER_1_1_1_1_1_1_1_1_1_1">
    <p:spTree>
      <p:nvGrpSpPr>
        <p:cNvPr id="32" name="Shape 32"/>
        <p:cNvGrpSpPr/>
        <p:nvPr/>
      </p:nvGrpSpPr>
      <p:grpSpPr>
        <a:xfrm>
          <a:off x="0" y="0"/>
          <a:ext cx="0" cy="0"/>
        </a:xfrm>
      </p:grpSpPr>
      <p:sp>
        <p:nvSpPr>
          <p:cNvPr id="33" name="Google Shape;33;p4"/>
          <p:cNvSpPr txBox="1"/>
          <p:nvPr>
            <p:ph type="subTitle" idx="1"/>
          </p:nvPr>
        </p:nvSpPr>
        <p:spPr>
          <a:xfrm>
            <a:off x="466825" y="16277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4" name="Google Shape;34;p4"/>
          <p:cNvSpPr txBox="1"/>
          <p:nvPr>
            <p:ph type="subTitle" idx="2"/>
          </p:nvPr>
        </p:nvSpPr>
        <p:spPr>
          <a:xfrm>
            <a:off x="4127250"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5" name="Google Shape;35;p4"/>
          <p:cNvSpPr txBox="1"/>
          <p:nvPr>
            <p:ph type="subTitle" idx="3"/>
          </p:nvPr>
        </p:nvSpPr>
        <p:spPr>
          <a:xfrm>
            <a:off x="466825"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36" name="Google Shape;36;p4"/>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37" name="Google Shape;37;p4"/>
          <p:cNvSpPr txBox="1"/>
          <p:nvPr>
            <p:ph type="subTitle" idx="4"/>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2">
  <p:cSld name="SECTION_HEADER_1_1_1_1_1_1_1_1_1_1_1">
    <p:spTree>
      <p:nvGrpSpPr>
        <p:cNvPr id="38" name="Shape 38"/>
        <p:cNvGrpSpPr/>
        <p:nvPr/>
      </p:nvGrpSpPr>
      <p:grpSpPr>
        <a:xfrm>
          <a:off x="0" y="0"/>
          <a:ext cx="0" cy="0"/>
        </a:xfrm>
      </p:grpSpPr>
      <p:sp>
        <p:nvSpPr>
          <p:cNvPr id="39" name="Google Shape;39;p5"/>
          <p:cNvSpPr txBox="1"/>
          <p:nvPr>
            <p:ph type="subTitle" idx="1"/>
          </p:nvPr>
        </p:nvSpPr>
        <p:spPr>
          <a:xfrm>
            <a:off x="2807400"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0" name="Google Shape;40;p5"/>
          <p:cNvSpPr txBox="1"/>
          <p:nvPr>
            <p:ph type="subTitle" idx="2"/>
          </p:nvPr>
        </p:nvSpPr>
        <p:spPr>
          <a:xfrm>
            <a:off x="467950" y="2493013"/>
            <a:ext cx="66240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1" name="Google Shape;41;p5"/>
          <p:cNvSpPr txBox="1"/>
          <p:nvPr>
            <p:ph type="subTitle" idx="3"/>
          </p:nvPr>
        </p:nvSpPr>
        <p:spPr>
          <a:xfrm>
            <a:off x="46682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2" name="Google Shape;42;p5"/>
          <p:cNvSpPr txBox="1"/>
          <p:nvPr>
            <p:ph type="subTitle" idx="4"/>
          </p:nvPr>
        </p:nvSpPr>
        <p:spPr>
          <a:xfrm>
            <a:off x="514797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43" name="Google Shape;43;p5"/>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44" name="Google Shape;44;p5"/>
          <p:cNvSpPr txBox="1"/>
          <p:nvPr>
            <p:ph type="subTitle" idx="5"/>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3">
  <p:cSld name="SECTION_HEADER_1_1_1_1_1_1_1_1_1_1_1_2">
    <p:spTree>
      <p:nvGrpSpPr>
        <p:cNvPr id="45" name="Shape 45"/>
        <p:cNvGrpSpPr/>
        <p:nvPr/>
      </p:nvGrpSpPr>
      <p:grpSpPr>
        <a:xfrm>
          <a:off x="0" y="0"/>
          <a:ext cx="0" cy="0"/>
        </a:xfrm>
      </p:grpSpPr>
      <p:sp>
        <p:nvSpPr>
          <p:cNvPr id="46" name="Google Shape;46;p6"/>
          <p:cNvSpPr txBox="1"/>
          <p:nvPr>
            <p:ph type="subTitle" idx="1"/>
          </p:nvPr>
        </p:nvSpPr>
        <p:spPr>
          <a:xfrm>
            <a:off x="46682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7" name="Google Shape;47;p6"/>
          <p:cNvSpPr txBox="1"/>
          <p:nvPr>
            <p:ph type="subTitle" idx="2"/>
          </p:nvPr>
        </p:nvSpPr>
        <p:spPr>
          <a:xfrm>
            <a:off x="2807400"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8" name="Google Shape;48;p6"/>
          <p:cNvSpPr txBox="1"/>
          <p:nvPr>
            <p:ph type="subTitle" idx="3"/>
          </p:nvPr>
        </p:nvSpPr>
        <p:spPr>
          <a:xfrm>
            <a:off x="514797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9" name="Google Shape;49;p6"/>
          <p:cNvSpPr txBox="1"/>
          <p:nvPr>
            <p:ph type="subTitle" idx="4"/>
          </p:nvPr>
        </p:nvSpPr>
        <p:spPr>
          <a:xfrm>
            <a:off x="466825" y="170220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0" name="Google Shape;50;p6"/>
          <p:cNvSpPr txBox="1"/>
          <p:nvPr>
            <p:ph type="subTitle" idx="5"/>
          </p:nvPr>
        </p:nvSpPr>
        <p:spPr>
          <a:xfrm>
            <a:off x="466825"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1" name="Google Shape;51;p6"/>
          <p:cNvSpPr txBox="1"/>
          <p:nvPr>
            <p:ph type="subTitle" idx="6"/>
          </p:nvPr>
        </p:nvSpPr>
        <p:spPr>
          <a:xfrm>
            <a:off x="4127250"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2" name="Google Shape;52;p6"/>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3" name="Google Shape;53;p6"/>
          <p:cNvSpPr txBox="1"/>
          <p:nvPr>
            <p:ph type="subTitle" idx="7"/>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4">
  <p:cSld name="SECTION_HEADER_1_1_1_1_1_1_1_1_1_1_1_2_1">
    <p:spTree>
      <p:nvGrpSpPr>
        <p:cNvPr id="54" name="Shape 54"/>
        <p:cNvGrpSpPr/>
        <p:nvPr/>
      </p:nvGrpSpPr>
      <p:grpSpPr>
        <a:xfrm>
          <a:off x="0" y="0"/>
          <a:ext cx="0" cy="0"/>
        </a:xfrm>
      </p:grpSpPr>
      <p:sp>
        <p:nvSpPr>
          <p:cNvPr id="55" name="Google Shape;55;p7"/>
          <p:cNvSpPr txBox="1"/>
          <p:nvPr>
            <p:ph type="subTitle" idx="1"/>
          </p:nvPr>
        </p:nvSpPr>
        <p:spPr>
          <a:xfrm>
            <a:off x="468000" y="1327649"/>
            <a:ext cx="6624000" cy="38436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6" name="Google Shape;56;p7"/>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7" name="Google Shape;57;p7"/>
          <p:cNvSpPr txBox="1"/>
          <p:nvPr>
            <p:ph type="subTitle" idx="2"/>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Elements to copy and paste">
  <p:cSld name="SECTION_HEADER_1_1_1_1_1_1_1_1_1_1_1_2_1_1">
    <p:spTree>
      <p:nvGrpSpPr>
        <p:cNvPr id="58" name="Shape 58"/>
        <p:cNvGrpSpPr/>
        <p:nvPr/>
      </p:nvGrpSpPr>
      <p:grpSpPr>
        <a:xfrm>
          <a:off x="0" y="0"/>
          <a:ext cx="0" cy="0"/>
        </a:xfrm>
      </p:grpSpPr>
      <p:sp>
        <p:nvSpPr>
          <p:cNvPr id="59" name="Google Shape;59;p8"/>
          <p:cNvSpPr txBox="1"/>
          <p:nvPr/>
        </p:nvSpPr>
        <p:spPr>
          <a:xfrm>
            <a:off x="493450" y="416654"/>
            <a:ext cx="6624000" cy="215400"/>
          </a:xfrm>
          <a:prstGeom prst="rect">
            <a:avLst/>
          </a:prstGeom>
          <a:noFill/>
          <a:ln>
            <a:noFill/>
          </a:ln>
        </p:spPr>
        <p:txBody>
          <a:bodyPr spcFirstLastPara="1" wrap="square" lIns="0" tIns="0" rIns="0" bIns="0" anchor="t" anchorCtr="0">
            <a:spAutoFit/>
          </a:bodyPr>
          <a:lstStyle/>
          <a:p>
            <a:pPr marL="0" lvl="0" indent="0" algn="l" rtl="0">
              <a:lnSpc>
                <a:spcPct val="150000"/>
              </a:lnSpc>
              <a:spcBef>
                <a:spcPct val="0"/>
              </a:spcBef>
              <a:spcAft>
                <a:spcPct val="0"/>
              </a:spcAft>
              <a:buNone/>
            </a:pPr>
            <a:r>
              <a:rPr lang="en-GB" b="1">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1">
            <a:alphaModFix/>
          </a:blip>
          <a:stretch>
            <a:fillRect/>
          </a:stretch>
        </p:blipFill>
        <p:spPr>
          <a:xfrm>
            <a:off x="6886512" y="10041210"/>
            <a:ext cx="181075" cy="246288"/>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 Title page">
  <p:cSld name="SECTION_HEADER_1_1_1_1_1_1_1_1_1_1_1_2_1_1_1_1_1_2">
    <p:bg>
      <p:bgPr>
        <a:solidFill>
          <a:schemeClr val="lt1"/>
        </a:solidFill>
      </p:bgPr>
    </p:bg>
    <p:spTree>
      <p:nvGrpSpPr>
        <p:cNvPr id="65" name="Shape 65"/>
        <p:cNvGrpSpPr/>
        <p:nvPr/>
      </p:nvGrpSpPr>
      <p:grpSpPr>
        <a:xfrm>
          <a:off x="0" y="0"/>
          <a:ext cx="0" cy="0"/>
        </a:xfrm>
      </p:grpSpPr>
      <p:pic>
        <p:nvPicPr>
          <p:cNvPr id="66" name="Google Shape;66;p10"/>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67" name="Google Shape;67;p1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69" name="Google Shape;69;p10"/>
          <p:cNvPicPr preferRelativeResize="0"/>
          <p:nvPr/>
        </p:nvPicPr>
        <p:blipFill>
          <a:blip r:embed="rId2">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1 Title page with long title">
  <p:cSld name="SECTION_HEADER_1_1_1_1_1_1_1_1_1_1_1_2_1_1_1_1_1_1_2">
    <p:bg>
      <p:bgPr>
        <a:solidFill>
          <a:schemeClr val="lt1"/>
        </a:solidFill>
      </p:bgPr>
    </p:bg>
    <p:spTree>
      <p:nvGrpSpPr>
        <p:cNvPr id="74" name="Shape 74"/>
        <p:cNvGrpSpPr/>
        <p:nvPr/>
      </p:nvGrpSpPr>
      <p:grpSpPr>
        <a:xfrm>
          <a:off x="0" y="0"/>
          <a:ext cx="0" cy="0"/>
        </a:xfrm>
      </p:grpSpPr>
      <p:pic>
        <p:nvPicPr>
          <p:cNvPr id="75" name="Google Shape;75;p11"/>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76" name="Google Shape;76;p1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78" name="Google Shape;78;p11"/>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 Middle page">
  <p:cSld name="SECTION_HEADER_1_1_1_1_1_1_1_1_1_1_1_2_1_1_1_1_1_1_1_1_2">
    <p:bg>
      <p:bgPr>
        <a:solidFill>
          <a:schemeClr val="lt1"/>
        </a:solidFill>
      </p:bgPr>
    </p:bg>
    <p:spTree>
      <p:nvGrpSpPr>
        <p:cNvPr id="83" name="Shape 83"/>
        <p:cNvGrpSpPr/>
        <p:nvPr/>
      </p:nvGrpSpPr>
      <p:grpSpPr>
        <a:xfrm>
          <a:off x="0" y="0"/>
          <a:ext cx="0" cy="0"/>
        </a:xfrm>
      </p:grpSpPr>
      <p:pic>
        <p:nvPicPr>
          <p:cNvPr id="84" name="Google Shape;84;p12"/>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85" name="Google Shape;85;p1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87" name="Google Shape;87;p12"/>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88" name="Google Shape;88;p12"/>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1 Last page">
  <p:cSld name="SECTION_HEADER_1_1_1_1_1_1_1_1_1_1_1_2_1_1_1_1_1_1_1_1_1_3">
    <p:bg>
      <p:bgPr>
        <a:solidFill>
          <a:schemeClr val="lt1"/>
        </a:solidFill>
      </p:bgPr>
    </p:bg>
    <p:spTree>
      <p:nvGrpSpPr>
        <p:cNvPr id="90" name="Shape 90"/>
        <p:cNvGrpSpPr/>
        <p:nvPr/>
      </p:nvGrpSpPr>
      <p:grpSpPr>
        <a:xfrm>
          <a:off x="0" y="0"/>
          <a:ext cx="0" cy="0"/>
        </a:xfrm>
      </p:grpSpPr>
      <p:pic>
        <p:nvPicPr>
          <p:cNvPr id="91" name="Google Shape;91;p13"/>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2" name="Google Shape;92;p1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94" name="Google Shape;94;p13"/>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95" name="Google Shape;95;p13"/>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00" name="Google Shape;100;p13"/>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lvl1pPr lv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ct val="0"/>
              </a:spcBef>
              <a:spcAft>
                <a:spcPct val="0"/>
              </a:spcAft>
              <a:buSzPts val="1400"/>
              <a:buNone/>
              <a:defRPr/>
            </a:lvl2pPr>
            <a:lvl3pPr lvl="2">
              <a:spcBef>
                <a:spcPct val="0"/>
              </a:spcBef>
              <a:spcAft>
                <a:spcPct val="0"/>
              </a:spcAft>
              <a:buSzPts val="1400"/>
              <a:buNone/>
              <a:defRPr/>
            </a:lvl3pPr>
            <a:lvl4pPr lvl="3">
              <a:spcBef>
                <a:spcPct val="0"/>
              </a:spcBef>
              <a:spcAft>
                <a:spcPct val="0"/>
              </a:spcAft>
              <a:buSzPts val="1400"/>
              <a:buNone/>
              <a:defRPr/>
            </a:lvl4pPr>
            <a:lvl5pPr lvl="4">
              <a:spcBef>
                <a:spcPct val="0"/>
              </a:spcBef>
              <a:spcAft>
                <a:spcPct val="0"/>
              </a:spcAft>
              <a:buSzPts val="1400"/>
              <a:buNone/>
              <a:defRPr/>
            </a:lvl5pPr>
            <a:lvl6pPr lvl="5">
              <a:spcBef>
                <a:spcPct val="0"/>
              </a:spcBef>
              <a:spcAft>
                <a:spcPct val="0"/>
              </a:spcAft>
              <a:buSzPts val="1400"/>
              <a:buNone/>
              <a:defRPr/>
            </a:lvl6pPr>
            <a:lvl7pPr lvl="6">
              <a:spcBef>
                <a:spcPct val="0"/>
              </a:spcBef>
              <a:spcAft>
                <a:spcPct val="0"/>
              </a:spcAft>
              <a:buSzPts val="1400"/>
              <a:buNone/>
              <a:defRPr/>
            </a:lvl7pPr>
            <a:lvl8pPr lvl="7">
              <a:spcBef>
                <a:spcPct val="0"/>
              </a:spcBef>
              <a:spcAft>
                <a:spcPct val="0"/>
              </a:spcAft>
              <a:buSzPts val="1400"/>
              <a:buNone/>
              <a:defRPr/>
            </a:lvl8pPr>
            <a:lvl9pPr lvl="8">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 Single page worksheet">
  <p:cSld name="SECTION_HEADER_1_1_1_1_1_1_1_1_1_1_1_2_1_1_1_1_1_2_1">
    <p:bg>
      <p:bgPr>
        <a:solidFill>
          <a:schemeClr val="lt1"/>
        </a:solidFill>
      </p:bgPr>
    </p:bg>
    <p:spTree>
      <p:nvGrpSpPr>
        <p:cNvPr id="101" name="Shape 101"/>
        <p:cNvGrpSpPr/>
        <p:nvPr/>
      </p:nvGrpSpPr>
      <p:grpSpPr>
        <a:xfrm>
          <a:off x="0" y="0"/>
          <a:ext cx="0" cy="0"/>
        </a:xfrm>
      </p:grpSpPr>
      <p:pic>
        <p:nvPicPr>
          <p:cNvPr id="102" name="Google Shape;102;p14"/>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03" name="Google Shape;103;p14"/>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05" name="Google Shape;105;p14"/>
          <p:cNvPicPr preferRelativeResize="0"/>
          <p:nvPr/>
        </p:nvPicPr>
        <p:blipFill>
          <a:blip r:embed="rId2">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13" name="Google Shape;113;p14"/>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xfrm>
      </p:grpSpPr>
      <p:pic>
        <p:nvPicPr>
          <p:cNvPr id="115" name="Google Shape;115;p15"/>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16" name="Google Shape;116;p15"/>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18" name="Google Shape;118;p15"/>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26" name="Google Shape;126;p15"/>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xfrm>
      </p:grpSpPr>
      <p:pic>
        <p:nvPicPr>
          <p:cNvPr id="128" name="Google Shape;128;p16"/>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29" name="Google Shape;129;p16"/>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31" name="Google Shape;131;p16"/>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xfrm>
      </p:grpSpPr>
      <p:pic>
        <p:nvPicPr>
          <p:cNvPr id="137" name="Google Shape;137;p17"/>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8" name="Google Shape;138;p17"/>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0" name="Google Shape;140;p17"/>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2" name="Google Shape;142;p17"/>
          <p:cNvSpPr txBox="1"/>
          <p:nvPr>
            <p:ph type="subTitle" idx="1"/>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xfrm>
      </p:grpSpPr>
      <p:pic>
        <p:nvPicPr>
          <p:cNvPr id="144" name="Google Shape;144;p18"/>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45" name="Google Shape;145;p18"/>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7" name="Google Shape;147;p18"/>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52" name="Google Shape;152;p18"/>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53" name="Google Shape;153;p18"/>
          <p:cNvSpPr txBox="1"/>
          <p:nvPr>
            <p:ph type="subTitle" idx="2"/>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xfrm>
      </p:grpSpPr>
      <p:pic>
        <p:nvPicPr>
          <p:cNvPr id="155" name="Google Shape;155;p19"/>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56" name="Google Shape;156;p19"/>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58" name="Google Shape;158;p19"/>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66" name="Google Shape;166;p19"/>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theme" Target="../theme/theme1.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slideLayout" Target="../slideLayouts/slideLayout17.xml" /><Relationship Id="rId11" Type="http://schemas.openxmlformats.org/officeDocument/2006/relationships/theme" Target="../theme/theme2.xml" /><Relationship Id="rId2" Type="http://schemas.openxmlformats.org/officeDocument/2006/relationships/slideLayout" Target="../slideLayouts/slideLayout9.xml" /><Relationship Id="rId3" Type="http://schemas.openxmlformats.org/officeDocument/2006/relationships/slideLayout" Target="../slideLayouts/slideLayout10.xml" /><Relationship Id="rId4" Type="http://schemas.openxmlformats.org/officeDocument/2006/relationships/slideLayout" Target="../slideLayouts/slideLayout11.xml" /><Relationship Id="rId5" Type="http://schemas.openxmlformats.org/officeDocument/2006/relationships/slideLayout" Target="../slideLayouts/slideLayout12.xml" /><Relationship Id="rId6" Type="http://schemas.openxmlformats.org/officeDocument/2006/relationships/slideLayout" Target="../slideLayouts/slideLayout13.xml" /><Relationship Id="rId7" Type="http://schemas.openxmlformats.org/officeDocument/2006/relationships/slideLayout" Target="../slideLayouts/slideLayout14.xml" /><Relationship Id="rId8" Type="http://schemas.openxmlformats.org/officeDocument/2006/relationships/slideLayout" Target="../slideLayouts/slideLayout15.xml" /><Relationship Id="rId9" Type="http://schemas.openxmlformats.org/officeDocument/2006/relationships/slideLayout" Target="../slideLayouts/slideLayout16.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7" name="Google Shape;7;p1"/>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8" name="Google Shape;8;p1"/>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61" name="Shape 61"/>
        <p:cNvGrpSpPr/>
        <p:nvPr/>
      </p:nvGrpSpPr>
      <p:grpSpPr>
        <a:xfrm>
          <a:off x="0" y="0"/>
          <a:ext cx="0" cy="0"/>
        </a:xfrm>
      </p:grpSpPr>
      <p:sp>
        <p:nvSpPr>
          <p:cNvPr id="62" name="Google Shape;62;p9"/>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63" name="Google Shape;63;p9"/>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64" name="Google Shape;64;p9"/>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1.xml" /><Relationship Id="rId2" Type="http://schemas.openxmlformats.org/officeDocument/2006/relationships/notesSlide" Target="../notesSlides/notesSlide2.xml" /><Relationship Id="rId3" Type="http://schemas.openxmlformats.org/officeDocument/2006/relationships/image" Target="../media/image7.png" /><Relationship Id="rId4" Type="http://schemas.openxmlformats.org/officeDocument/2006/relationships/image" Target="../media/image8.png" /><Relationship Id="rId5" Type="http://schemas.openxmlformats.org/officeDocument/2006/relationships/image" Target="../media/image9.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70" name="Shape 170"/>
        <p:cNvGrpSpPr/>
        <p:nvPr/>
      </p:nvGrpSpPr>
      <p:grpSpPr>
        <a:xfrm>
          <a:off x="0" y="0"/>
          <a:ext cx="0" cy="0"/>
        </a:xfrm>
      </p:grpSpPr>
      <p:sp>
        <p:nvSpPr>
          <p:cNvPr id="171" name="Google Shape;171;p2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1</a:t>
            </a:fld>
            <a:endParaRPr/>
          </a:p>
        </p:txBody>
      </p:sp>
      <p:sp>
        <p:nvSpPr>
          <p:cNvPr id="172" name="Google Shape;172;p20"/>
          <p:cNvSpPr txBox="1"/>
          <p:nvPr>
            <p:ph type="title"/>
          </p:nvPr>
        </p:nvSpPr>
        <p:spPr>
          <a:xfrm>
            <a:off x="468000" y="864000"/>
            <a:ext cx="6624000" cy="277200"/>
          </a:xfrm>
          <a:prstGeom prst="rect">
            <a:avLst/>
          </a:prstGeom>
        </p:spPr>
        <p:txBody>
          <a:bodyPr spcFirstLastPara="1" wrap="square" lIns="0" tIns="0" rIns="0" bIns="0" anchor="ctr" anchorCtr="0">
            <a:spAutoFit/>
          </a:bodyPr>
          <a:lstStyle/>
          <a:p>
            <a:pPr marL="0" lvl="0" indent="0" algn="l" rtl="0">
              <a:spcBef>
                <a:spcPct val="0"/>
              </a:spcBef>
              <a:spcAft>
                <a:spcPct val="0"/>
              </a:spcAft>
              <a:buNone/>
            </a:pPr>
            <a:r>
              <a:rPr lang="en-GB"/>
              <a:t>Generating a sequence using a term-to-term rule</a:t>
            </a:r>
            <a:endParaRPr/>
          </a:p>
        </p:txBody>
      </p:sp>
      <p:sp>
        <p:nvSpPr>
          <p:cNvPr id="173" name="Google Shape;173;p20"/>
          <p:cNvSpPr txBox="1"/>
          <p:nvPr/>
        </p:nvSpPr>
        <p:spPr>
          <a:xfrm>
            <a:off x="468000" y="1513100"/>
            <a:ext cx="6624000" cy="3372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b="1">
                <a:solidFill>
                  <a:schemeClr val="dk1"/>
                </a:solidFill>
                <a:latin typeface="Lexend"/>
                <a:ea typeface="Lexend"/>
                <a:cs typeface="Lexend"/>
                <a:sym typeface="Lexend"/>
              </a:rPr>
              <a:t>Task A: Using term-to-term rules</a:t>
            </a:r>
            <a:endParaRPr b="1">
              <a:solidFill>
                <a:schemeClr val="dk1"/>
              </a:solidFill>
              <a:latin typeface="Lexend"/>
              <a:ea typeface="Lexend"/>
              <a:cs typeface="Lexend"/>
              <a:sym typeface="Lexend"/>
            </a:endParaRPr>
          </a:p>
        </p:txBody>
      </p:sp>
      <p:graphicFrame>
        <p:nvGraphicFramePr>
          <p:cNvPr id="174" name="Google Shape;174;p20"/>
          <p:cNvGraphicFramePr>
            <a:graphicFrameLocks noGrp="1"/>
          </p:cNvGraphicFramePr>
          <p:nvPr/>
        </p:nvGraphicFramePr>
        <p:xfrm>
          <a:off x="683950" y="2605200"/>
          <a:ext cx="2728425" cy="2728775"/>
        </p:xfrm>
        <a:graphic>
          <a:graphicData uri="http://schemas.openxmlformats.org/drawingml/2006/table">
            <a:tbl>
              <a:tblPr>
                <a:noFill/>
                <a:tableStyleId>{E69251BC-4161-4CFF-9D1C-D6BFA05766C0}</a:tableStyleId>
              </a:tblPr>
              <a:tblGrid>
                <a:gridCol w="389775"/>
                <a:gridCol w="389775"/>
                <a:gridCol w="389775"/>
                <a:gridCol w="389775"/>
                <a:gridCol w="389775"/>
                <a:gridCol w="389775"/>
                <a:gridCol w="389775"/>
              </a:tblGrid>
              <a:tr h="389825">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-4</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r h="389825">
                <a:tc>
                  <a:txBody>
                    <a:bodyPr vert="horz" wrap="square"/>
                    <a:lstStyle/>
                    <a:p>
                      <a:pPr marL="0" lvl="0" indent="0" algn="ctr" rtl="0">
                        <a:spcBef>
                          <a:spcPct val="0"/>
                        </a:spcBef>
                        <a:spcAft>
                          <a:spcPct val="0"/>
                        </a:spcAft>
                        <a:buNone/>
                      </a:pPr>
                      <a:r>
                        <a:rPr lang="en-GB" sz="2000">
                          <a:latin typeface="Kalam"/>
                          <a:ea typeface="Kalam"/>
                          <a:cs typeface="Kalam"/>
                          <a:sym typeface="Kalam"/>
                        </a:rPr>
                        <a:t>7</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1</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900">
                          <a:solidFill>
                            <a:srgbClr val="222222"/>
                          </a:solidFill>
                          <a:latin typeface="Kalam"/>
                          <a:ea typeface="Kalam"/>
                          <a:cs typeface="Kalam"/>
                          <a:sym typeface="Kalam"/>
                        </a:rPr>
                        <a:t>−</a:t>
                      </a:r>
                      <a:r>
                        <a:rPr lang="en-GB" sz="2000">
                          <a:latin typeface="Kalam"/>
                          <a:ea typeface="Kalam"/>
                          <a:cs typeface="Kalam"/>
                          <a:sym typeface="Kalam"/>
                        </a:rPr>
                        <a:t>5</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900">
                          <a:solidFill>
                            <a:srgbClr val="222222"/>
                          </a:solidFill>
                          <a:latin typeface="Kalam"/>
                          <a:ea typeface="Kalam"/>
                          <a:cs typeface="Kalam"/>
                          <a:sym typeface="Kalam"/>
                        </a:rPr>
                        <a:t>−</a:t>
                      </a:r>
                      <a:r>
                        <a:rPr lang="en-GB" sz="2000">
                          <a:latin typeface="Kalam"/>
                          <a:ea typeface="Kalam"/>
                          <a:cs typeface="Kalam"/>
                          <a:sym typeface="Kalam"/>
                        </a:rPr>
                        <a:t>11</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900">
                          <a:solidFill>
                            <a:srgbClr val="222222"/>
                          </a:solidFill>
                          <a:latin typeface="Kalam"/>
                          <a:ea typeface="Kalam"/>
                          <a:cs typeface="Kalam"/>
                          <a:sym typeface="Kalam"/>
                        </a:rPr>
                        <a:t>−</a:t>
                      </a:r>
                      <a:r>
                        <a:rPr lang="en-GB" sz="2000">
                          <a:latin typeface="Kalam"/>
                          <a:ea typeface="Kalam"/>
                          <a:cs typeface="Kalam"/>
                          <a:sym typeface="Kalam"/>
                        </a:rPr>
                        <a:t>17</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700">
                          <a:solidFill>
                            <a:srgbClr val="222222"/>
                          </a:solidFill>
                          <a:latin typeface="Kalam"/>
                          <a:ea typeface="Kalam"/>
                          <a:cs typeface="Kalam"/>
                          <a:sym typeface="Kalam"/>
                        </a:rPr>
                        <a:t>−</a:t>
                      </a:r>
                      <a:r>
                        <a:rPr lang="en-GB" sz="1700">
                          <a:latin typeface="Kalam"/>
                          <a:ea typeface="Kalam"/>
                          <a:cs typeface="Kalam"/>
                          <a:sym typeface="Kalam"/>
                        </a:rPr>
                        <a:t>23</a:t>
                      </a:r>
                      <a:endParaRPr sz="17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r h="389825">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6</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6</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6</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r h="389825">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11</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23</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35</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r h="389825">
                <a:tc>
                  <a:txBody>
                    <a:bodyPr vert="horz" wrap="square"/>
                    <a:lstStyle/>
                    <a:p>
                      <a:pPr marL="0" lvl="0" indent="0" algn="ctr" rtl="0">
                        <a:spcBef>
                          <a:spcPct val="0"/>
                        </a:spcBef>
                        <a:spcAft>
                          <a:spcPct val="0"/>
                        </a:spcAft>
                        <a:buNone/>
                      </a:pPr>
                      <a:r>
                        <a:rPr lang="en-GB" sz="2000">
                          <a:latin typeface="Kalam"/>
                          <a:ea typeface="Kalam"/>
                          <a:cs typeface="Kalam"/>
                          <a:sym typeface="Kalam"/>
                        </a:rPr>
                        <a:t>4</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16</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28</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40</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52</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64</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76</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r h="389825">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21</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93</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r h="389825">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26</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50</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74</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98</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122</a:t>
                      </a: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bl>
          </a:graphicData>
        </a:graphic>
      </p:graphicFrame>
      <p:cxnSp>
        <p:nvCxnSpPr>
          <p:cNvPr id="175" name="Google Shape;175;p20"/>
          <p:cNvCxnSpPr/>
          <p:nvPr/>
        </p:nvCxnSpPr>
        <p:spPr>
          <a:xfrm flipH="1">
            <a:off x="1076335" y="2614975"/>
            <a:ext cx="0" cy="2713200"/>
          </a:xfrm>
          <a:prstGeom prst="straightConnector1">
            <a:avLst/>
          </a:prstGeom>
          <a:noFill/>
          <a:ln w="19050" cap="flat" cmpd="sng">
            <a:solidFill>
              <a:srgbClr val="000000"/>
            </a:solidFill>
            <a:prstDash val="solid"/>
            <a:round/>
            <a:headEnd type="none" w="med" len="med"/>
            <a:tailEnd type="none" w="med" len="med"/>
          </a:ln>
        </p:spPr>
      </p:cxnSp>
      <p:cxnSp>
        <p:nvCxnSpPr>
          <p:cNvPr id="176" name="Google Shape;176;p20"/>
          <p:cNvCxnSpPr/>
          <p:nvPr/>
        </p:nvCxnSpPr>
        <p:spPr>
          <a:xfrm flipH="1">
            <a:off x="1463510" y="2614975"/>
            <a:ext cx="0" cy="2713200"/>
          </a:xfrm>
          <a:prstGeom prst="straightConnector1">
            <a:avLst/>
          </a:prstGeom>
          <a:noFill/>
          <a:ln w="19050" cap="flat" cmpd="sng">
            <a:solidFill>
              <a:srgbClr val="000000"/>
            </a:solidFill>
            <a:prstDash val="solid"/>
            <a:round/>
            <a:headEnd type="none" w="med" len="med"/>
            <a:tailEnd type="none" w="med" len="med"/>
          </a:ln>
        </p:spPr>
      </p:cxnSp>
      <p:sp>
        <p:nvSpPr>
          <p:cNvPr id="177" name="Google Shape;177;p20"/>
          <p:cNvSpPr txBox="1"/>
          <p:nvPr/>
        </p:nvSpPr>
        <p:spPr>
          <a:xfrm>
            <a:off x="1084190" y="2599591"/>
            <a:ext cx="196500" cy="209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a:solidFill>
                  <a:srgbClr val="808080"/>
                </a:solidFill>
                <a:latin typeface="Lexend"/>
                <a:ea typeface="Lexend"/>
                <a:cs typeface="Lexend"/>
                <a:sym typeface="Lexend"/>
              </a:rPr>
              <a:t>A</a:t>
            </a:r>
            <a:endParaRPr>
              <a:solidFill>
                <a:srgbClr val="808080"/>
              </a:solidFill>
              <a:latin typeface="Lexend"/>
              <a:ea typeface="Lexend"/>
              <a:cs typeface="Lexend"/>
              <a:sym typeface="Lexend"/>
            </a:endParaRPr>
          </a:p>
        </p:txBody>
      </p:sp>
      <p:cxnSp>
        <p:nvCxnSpPr>
          <p:cNvPr id="178" name="Google Shape;178;p20"/>
          <p:cNvCxnSpPr/>
          <p:nvPr/>
        </p:nvCxnSpPr>
        <p:spPr>
          <a:xfrm flipH="1">
            <a:off x="1853285" y="2995025"/>
            <a:ext cx="0" cy="1570500"/>
          </a:xfrm>
          <a:prstGeom prst="straightConnector1">
            <a:avLst/>
          </a:prstGeom>
          <a:noFill/>
          <a:ln w="19050" cap="flat" cmpd="sng">
            <a:solidFill>
              <a:srgbClr val="000000"/>
            </a:solidFill>
            <a:prstDash val="solid"/>
            <a:round/>
            <a:headEnd type="none" w="med" len="med"/>
            <a:tailEnd type="none" w="med" len="med"/>
          </a:ln>
        </p:spPr>
      </p:cxnSp>
      <p:cxnSp>
        <p:nvCxnSpPr>
          <p:cNvPr id="179" name="Google Shape;179;p20"/>
          <p:cNvCxnSpPr/>
          <p:nvPr/>
        </p:nvCxnSpPr>
        <p:spPr>
          <a:xfrm flipH="1">
            <a:off x="2243060" y="2995025"/>
            <a:ext cx="0" cy="1570500"/>
          </a:xfrm>
          <a:prstGeom prst="straightConnector1">
            <a:avLst/>
          </a:prstGeom>
          <a:noFill/>
          <a:ln w="19050" cap="flat" cmpd="sng">
            <a:solidFill>
              <a:srgbClr val="000000"/>
            </a:solidFill>
            <a:prstDash val="solid"/>
            <a:round/>
            <a:headEnd type="none" w="med" len="med"/>
            <a:tailEnd type="none" w="med" len="med"/>
          </a:ln>
        </p:spPr>
      </p:cxnSp>
      <p:cxnSp>
        <p:nvCxnSpPr>
          <p:cNvPr id="180" name="Google Shape;180;p20"/>
          <p:cNvCxnSpPr/>
          <p:nvPr/>
        </p:nvCxnSpPr>
        <p:spPr>
          <a:xfrm flipH="1">
            <a:off x="2632835" y="2995025"/>
            <a:ext cx="0" cy="2325300"/>
          </a:xfrm>
          <a:prstGeom prst="straightConnector1">
            <a:avLst/>
          </a:prstGeom>
          <a:noFill/>
          <a:ln w="19050" cap="flat" cmpd="sng">
            <a:solidFill>
              <a:srgbClr val="000000"/>
            </a:solidFill>
            <a:prstDash val="solid"/>
            <a:round/>
            <a:headEnd type="none" w="med" len="med"/>
            <a:tailEnd type="none" w="med" len="med"/>
          </a:ln>
        </p:spPr>
      </p:cxnSp>
      <p:cxnSp>
        <p:nvCxnSpPr>
          <p:cNvPr id="181" name="Google Shape;181;p20"/>
          <p:cNvCxnSpPr/>
          <p:nvPr/>
        </p:nvCxnSpPr>
        <p:spPr>
          <a:xfrm flipH="1">
            <a:off x="3011910" y="2995025"/>
            <a:ext cx="0" cy="2325300"/>
          </a:xfrm>
          <a:prstGeom prst="straightConnector1">
            <a:avLst/>
          </a:prstGeom>
          <a:noFill/>
          <a:ln w="19050" cap="flat" cmpd="sng">
            <a:solidFill>
              <a:srgbClr val="000000"/>
            </a:solidFill>
            <a:prstDash val="solid"/>
            <a:round/>
            <a:headEnd type="none" w="med" len="med"/>
            <a:tailEnd type="none" w="med" len="med"/>
          </a:ln>
        </p:spPr>
      </p:cxnSp>
      <p:cxnSp>
        <p:nvCxnSpPr>
          <p:cNvPr id="182" name="Google Shape;182;p20"/>
          <p:cNvCxnSpPr/>
          <p:nvPr/>
        </p:nvCxnSpPr>
        <p:spPr>
          <a:xfrm rot="10800000">
            <a:off x="1080425" y="5333975"/>
            <a:ext cx="1954200" cy="0"/>
          </a:xfrm>
          <a:prstGeom prst="straightConnector1">
            <a:avLst/>
          </a:prstGeom>
          <a:noFill/>
          <a:ln w="19050" cap="flat" cmpd="sng">
            <a:solidFill>
              <a:srgbClr val="000000"/>
            </a:solidFill>
            <a:prstDash val="solid"/>
            <a:round/>
            <a:headEnd type="none" w="med" len="med"/>
            <a:tailEnd type="none" w="med" len="med"/>
          </a:ln>
        </p:spPr>
      </p:cxnSp>
      <p:cxnSp>
        <p:nvCxnSpPr>
          <p:cNvPr id="183" name="Google Shape;183;p20"/>
          <p:cNvCxnSpPr/>
          <p:nvPr/>
        </p:nvCxnSpPr>
        <p:spPr>
          <a:xfrm rot="10800000">
            <a:off x="1080425" y="4945200"/>
            <a:ext cx="1954200" cy="0"/>
          </a:xfrm>
          <a:prstGeom prst="straightConnector1">
            <a:avLst/>
          </a:prstGeom>
          <a:noFill/>
          <a:ln w="19050" cap="flat" cmpd="sng">
            <a:solidFill>
              <a:srgbClr val="000000"/>
            </a:solidFill>
            <a:prstDash val="solid"/>
            <a:round/>
            <a:headEnd type="none" w="med" len="med"/>
            <a:tailEnd type="none" w="med" len="med"/>
          </a:ln>
        </p:spPr>
      </p:cxnSp>
      <p:cxnSp>
        <p:nvCxnSpPr>
          <p:cNvPr id="184" name="Google Shape;184;p20"/>
          <p:cNvCxnSpPr/>
          <p:nvPr/>
        </p:nvCxnSpPr>
        <p:spPr>
          <a:xfrm rot="10800000">
            <a:off x="678900" y="4565525"/>
            <a:ext cx="2741100" cy="0"/>
          </a:xfrm>
          <a:prstGeom prst="straightConnector1">
            <a:avLst/>
          </a:prstGeom>
          <a:noFill/>
          <a:ln w="19050" cap="flat" cmpd="sng">
            <a:solidFill>
              <a:srgbClr val="000000"/>
            </a:solidFill>
            <a:prstDash val="solid"/>
            <a:round/>
            <a:headEnd type="none" w="med" len="med"/>
            <a:tailEnd type="none" w="med" len="med"/>
          </a:ln>
        </p:spPr>
      </p:cxnSp>
      <p:cxnSp>
        <p:nvCxnSpPr>
          <p:cNvPr id="185" name="Google Shape;185;p20"/>
          <p:cNvCxnSpPr/>
          <p:nvPr/>
        </p:nvCxnSpPr>
        <p:spPr>
          <a:xfrm rot="10800000">
            <a:off x="686646" y="4157675"/>
            <a:ext cx="2730900" cy="0"/>
          </a:xfrm>
          <a:prstGeom prst="straightConnector1">
            <a:avLst/>
          </a:prstGeom>
          <a:noFill/>
          <a:ln w="19050" cap="flat" cmpd="sng">
            <a:solidFill>
              <a:srgbClr val="000000"/>
            </a:solidFill>
            <a:prstDash val="solid"/>
            <a:round/>
            <a:headEnd type="none" w="med" len="med"/>
            <a:tailEnd type="none" w="med" len="med"/>
          </a:ln>
        </p:spPr>
      </p:cxnSp>
      <p:cxnSp>
        <p:nvCxnSpPr>
          <p:cNvPr id="186" name="Google Shape;186;p20"/>
          <p:cNvCxnSpPr/>
          <p:nvPr/>
        </p:nvCxnSpPr>
        <p:spPr>
          <a:xfrm rot="10800000">
            <a:off x="678775" y="2995025"/>
            <a:ext cx="2349000" cy="0"/>
          </a:xfrm>
          <a:prstGeom prst="straightConnector1">
            <a:avLst/>
          </a:prstGeom>
          <a:noFill/>
          <a:ln w="19050" cap="flat" cmpd="sng">
            <a:solidFill>
              <a:srgbClr val="000000"/>
            </a:solidFill>
            <a:prstDash val="solid"/>
            <a:round/>
            <a:headEnd type="none" w="med" len="med"/>
            <a:tailEnd type="none" w="med" len="med"/>
          </a:ln>
        </p:spPr>
      </p:cxnSp>
      <p:cxnSp>
        <p:nvCxnSpPr>
          <p:cNvPr id="187" name="Google Shape;187;p20"/>
          <p:cNvCxnSpPr/>
          <p:nvPr/>
        </p:nvCxnSpPr>
        <p:spPr>
          <a:xfrm rot="10800000">
            <a:off x="678775" y="3370150"/>
            <a:ext cx="2349000" cy="0"/>
          </a:xfrm>
          <a:prstGeom prst="straightConnector1">
            <a:avLst/>
          </a:prstGeom>
          <a:noFill/>
          <a:ln w="19050" cap="flat" cmpd="sng">
            <a:solidFill>
              <a:srgbClr val="000000"/>
            </a:solidFill>
            <a:prstDash val="solid"/>
            <a:round/>
            <a:headEnd type="none" w="med" len="med"/>
            <a:tailEnd type="none" w="med" len="med"/>
          </a:ln>
        </p:spPr>
      </p:cxnSp>
      <p:cxnSp>
        <p:nvCxnSpPr>
          <p:cNvPr id="188" name="Google Shape;188;p20"/>
          <p:cNvCxnSpPr/>
          <p:nvPr/>
        </p:nvCxnSpPr>
        <p:spPr>
          <a:xfrm rot="10800000">
            <a:off x="1068756" y="2619900"/>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89" name="Google Shape;189;p20"/>
          <p:cNvCxnSpPr/>
          <p:nvPr/>
        </p:nvCxnSpPr>
        <p:spPr>
          <a:xfrm rot="10800000">
            <a:off x="1068756" y="3762900"/>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90" name="Google Shape;190;p20"/>
          <p:cNvCxnSpPr/>
          <p:nvPr/>
        </p:nvCxnSpPr>
        <p:spPr>
          <a:xfrm rot="10800000">
            <a:off x="1847768" y="3781346"/>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91" name="Google Shape;191;p20"/>
          <p:cNvCxnSpPr/>
          <p:nvPr/>
        </p:nvCxnSpPr>
        <p:spPr>
          <a:xfrm rot="10800000">
            <a:off x="2625498" y="3781346"/>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92" name="Google Shape;192;p20"/>
          <p:cNvCxnSpPr/>
          <p:nvPr/>
        </p:nvCxnSpPr>
        <p:spPr>
          <a:xfrm rot="-5400000">
            <a:off x="1652868" y="5145596"/>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93" name="Google Shape;193;p20"/>
          <p:cNvCxnSpPr/>
          <p:nvPr/>
        </p:nvCxnSpPr>
        <p:spPr>
          <a:xfrm rot="-5400000">
            <a:off x="2033868" y="5145596"/>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94" name="Google Shape;194;p20"/>
          <p:cNvCxnSpPr/>
          <p:nvPr/>
        </p:nvCxnSpPr>
        <p:spPr>
          <a:xfrm rot="-5400000">
            <a:off x="484008" y="3180125"/>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95" name="Google Shape;195;p20"/>
          <p:cNvCxnSpPr/>
          <p:nvPr/>
        </p:nvCxnSpPr>
        <p:spPr>
          <a:xfrm rot="-5400000">
            <a:off x="3226102" y="4360002"/>
            <a:ext cx="400800" cy="0"/>
          </a:xfrm>
          <a:prstGeom prst="straightConnector1">
            <a:avLst/>
          </a:prstGeom>
          <a:noFill/>
          <a:ln w="19050" cap="flat" cmpd="sng">
            <a:solidFill>
              <a:srgbClr val="000000"/>
            </a:solidFill>
            <a:prstDash val="solid"/>
            <a:round/>
            <a:headEnd type="none" w="med" len="med"/>
            <a:tailEnd type="none" w="med" len="med"/>
          </a:ln>
        </p:spPr>
      </p:cxnSp>
      <p:sp>
        <p:nvSpPr>
          <p:cNvPr id="196" name="Google Shape;196;p20"/>
          <p:cNvSpPr txBox="1"/>
          <p:nvPr/>
        </p:nvSpPr>
        <p:spPr>
          <a:xfrm>
            <a:off x="3824850" y="2463000"/>
            <a:ext cx="9807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u="sng">
                <a:solidFill>
                  <a:srgbClr val="000000"/>
                </a:solidFill>
                <a:latin typeface="Lexend"/>
                <a:ea typeface="Lexend"/>
                <a:cs typeface="Lexend"/>
                <a:sym typeface="Lexend"/>
              </a:rPr>
              <a:t>Across</a:t>
            </a:r>
            <a:endParaRPr sz="1200" u="sng">
              <a:solidFill>
                <a:srgbClr val="000000"/>
              </a:solidFill>
              <a:latin typeface="Lexend"/>
              <a:ea typeface="Lexend"/>
              <a:cs typeface="Lexend"/>
              <a:sym typeface="Lexend"/>
            </a:endParaRPr>
          </a:p>
        </p:txBody>
      </p:sp>
      <p:sp>
        <p:nvSpPr>
          <p:cNvPr id="197" name="Google Shape;197;p20"/>
          <p:cNvSpPr txBox="1"/>
          <p:nvPr/>
        </p:nvSpPr>
        <p:spPr>
          <a:xfrm>
            <a:off x="3838500" y="3970138"/>
            <a:ext cx="9807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u="sng">
                <a:solidFill>
                  <a:srgbClr val="000000"/>
                </a:solidFill>
                <a:latin typeface="Lexend"/>
                <a:ea typeface="Lexend"/>
                <a:cs typeface="Lexend"/>
                <a:sym typeface="Lexend"/>
              </a:rPr>
              <a:t>Down</a:t>
            </a:r>
            <a:endParaRPr sz="1200" u="sng">
              <a:solidFill>
                <a:srgbClr val="000000"/>
              </a:solidFill>
              <a:latin typeface="Lexend"/>
              <a:ea typeface="Lexend"/>
              <a:cs typeface="Lexend"/>
              <a:sym typeface="Lexend"/>
            </a:endParaRPr>
          </a:p>
        </p:txBody>
      </p:sp>
      <p:sp>
        <p:nvSpPr>
          <p:cNvPr id="198" name="Google Shape;198;p20"/>
          <p:cNvSpPr txBox="1"/>
          <p:nvPr/>
        </p:nvSpPr>
        <p:spPr>
          <a:xfrm>
            <a:off x="3838500" y="2866700"/>
            <a:ext cx="26346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B: add </a:t>
            </a:r>
            <a:r>
              <a:rPr lang="en-GB" sz="1200">
                <a:solidFill>
                  <a:srgbClr val="222222"/>
                </a:solidFill>
                <a:latin typeface="Lexend"/>
                <a:ea typeface="Lexend"/>
                <a:cs typeface="Lexend"/>
                <a:sym typeface="Lexend"/>
              </a:rPr>
              <a:t>−6 each time</a:t>
            </a:r>
            <a:endParaRPr sz="1200">
              <a:solidFill>
                <a:srgbClr val="000000"/>
              </a:solidFill>
              <a:latin typeface="Lexend"/>
              <a:ea typeface="Lexend"/>
              <a:cs typeface="Lexend"/>
              <a:sym typeface="Lexend"/>
            </a:endParaRPr>
          </a:p>
        </p:txBody>
      </p:sp>
      <p:sp>
        <p:nvSpPr>
          <p:cNvPr id="199" name="Google Shape;199;p20"/>
          <p:cNvSpPr txBox="1"/>
          <p:nvPr/>
        </p:nvSpPr>
        <p:spPr>
          <a:xfrm>
            <a:off x="691815" y="2979735"/>
            <a:ext cx="278100" cy="330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a:solidFill>
                  <a:srgbClr val="808080"/>
                </a:solidFill>
                <a:latin typeface="Lexend"/>
                <a:ea typeface="Lexend"/>
                <a:cs typeface="Lexend"/>
                <a:sym typeface="Lexend"/>
              </a:rPr>
              <a:t>B</a:t>
            </a:r>
            <a:endParaRPr>
              <a:solidFill>
                <a:srgbClr val="808080"/>
              </a:solidFill>
              <a:latin typeface="Lexend"/>
              <a:ea typeface="Lexend"/>
              <a:cs typeface="Lexend"/>
              <a:sym typeface="Lexend"/>
            </a:endParaRPr>
          </a:p>
        </p:txBody>
      </p:sp>
      <p:sp>
        <p:nvSpPr>
          <p:cNvPr id="200" name="Google Shape;200;p20"/>
          <p:cNvSpPr txBox="1"/>
          <p:nvPr/>
        </p:nvSpPr>
        <p:spPr>
          <a:xfrm>
            <a:off x="691818" y="4163700"/>
            <a:ext cx="115500" cy="330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a:solidFill>
                  <a:srgbClr val="808080"/>
                </a:solidFill>
                <a:latin typeface="Lexend"/>
                <a:ea typeface="Lexend"/>
                <a:cs typeface="Lexend"/>
                <a:sym typeface="Lexend"/>
              </a:rPr>
              <a:t>C</a:t>
            </a:r>
            <a:endParaRPr>
              <a:solidFill>
                <a:srgbClr val="808080"/>
              </a:solidFill>
              <a:latin typeface="Lexend"/>
              <a:ea typeface="Lexend"/>
              <a:cs typeface="Lexend"/>
              <a:sym typeface="Lexend"/>
            </a:endParaRPr>
          </a:p>
        </p:txBody>
      </p:sp>
      <p:sp>
        <p:nvSpPr>
          <p:cNvPr id="201" name="Google Shape;201;p20"/>
          <p:cNvSpPr txBox="1"/>
          <p:nvPr/>
        </p:nvSpPr>
        <p:spPr>
          <a:xfrm>
            <a:off x="1064950" y="4921601"/>
            <a:ext cx="278100" cy="330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a:solidFill>
                  <a:srgbClr val="808080"/>
                </a:solidFill>
                <a:latin typeface="Lexend"/>
                <a:ea typeface="Lexend"/>
                <a:cs typeface="Lexend"/>
                <a:sym typeface="Lexend"/>
              </a:rPr>
              <a:t>D</a:t>
            </a:r>
            <a:endParaRPr>
              <a:solidFill>
                <a:srgbClr val="808080"/>
              </a:solidFill>
              <a:latin typeface="Lexend"/>
              <a:ea typeface="Lexend"/>
              <a:cs typeface="Lexend"/>
              <a:sym typeface="Lexend"/>
            </a:endParaRPr>
          </a:p>
        </p:txBody>
      </p:sp>
      <p:sp>
        <p:nvSpPr>
          <p:cNvPr id="202" name="Google Shape;202;p20"/>
          <p:cNvSpPr txBox="1"/>
          <p:nvPr/>
        </p:nvSpPr>
        <p:spPr>
          <a:xfrm>
            <a:off x="1851863" y="2972547"/>
            <a:ext cx="278100" cy="330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a:solidFill>
                  <a:srgbClr val="808080"/>
                </a:solidFill>
                <a:latin typeface="Lexend"/>
                <a:ea typeface="Lexend"/>
                <a:cs typeface="Lexend"/>
                <a:sym typeface="Lexend"/>
              </a:rPr>
              <a:t>E</a:t>
            </a:r>
            <a:endParaRPr>
              <a:solidFill>
                <a:srgbClr val="808080"/>
              </a:solidFill>
              <a:latin typeface="Lexend"/>
              <a:ea typeface="Lexend"/>
              <a:cs typeface="Lexend"/>
              <a:sym typeface="Lexend"/>
            </a:endParaRPr>
          </a:p>
        </p:txBody>
      </p:sp>
      <p:sp>
        <p:nvSpPr>
          <p:cNvPr id="203" name="Google Shape;203;p20"/>
          <p:cNvSpPr txBox="1"/>
          <p:nvPr/>
        </p:nvSpPr>
        <p:spPr>
          <a:xfrm>
            <a:off x="2637452" y="2972549"/>
            <a:ext cx="196500" cy="242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a:solidFill>
                  <a:srgbClr val="808080"/>
                </a:solidFill>
                <a:latin typeface="Lexend"/>
                <a:ea typeface="Lexend"/>
                <a:cs typeface="Lexend"/>
                <a:sym typeface="Lexend"/>
              </a:rPr>
              <a:t>F</a:t>
            </a:r>
            <a:endParaRPr>
              <a:solidFill>
                <a:srgbClr val="808080"/>
              </a:solidFill>
              <a:latin typeface="Lexend"/>
              <a:ea typeface="Lexend"/>
              <a:cs typeface="Lexend"/>
              <a:sym typeface="Lexend"/>
            </a:endParaRPr>
          </a:p>
        </p:txBody>
      </p:sp>
      <p:sp>
        <p:nvSpPr>
          <p:cNvPr id="204" name="Google Shape;204;p20"/>
          <p:cNvSpPr txBox="1"/>
          <p:nvPr/>
        </p:nvSpPr>
        <p:spPr>
          <a:xfrm>
            <a:off x="3838500" y="4599000"/>
            <a:ext cx="26346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E: add 17</a:t>
            </a:r>
            <a:r>
              <a:rPr lang="en-GB" sz="1200">
                <a:solidFill>
                  <a:srgbClr val="222222"/>
                </a:solidFill>
                <a:latin typeface="Lexend"/>
                <a:ea typeface="Lexend"/>
                <a:cs typeface="Lexend"/>
                <a:sym typeface="Lexend"/>
              </a:rPr>
              <a:t> each time</a:t>
            </a:r>
            <a:endParaRPr sz="1200">
              <a:solidFill>
                <a:srgbClr val="000000"/>
              </a:solidFill>
              <a:latin typeface="Lexend"/>
              <a:ea typeface="Lexend"/>
              <a:cs typeface="Lexend"/>
              <a:sym typeface="Lexend"/>
            </a:endParaRPr>
          </a:p>
        </p:txBody>
      </p:sp>
      <p:sp>
        <p:nvSpPr>
          <p:cNvPr id="205" name="Google Shape;205;p20"/>
          <p:cNvSpPr txBox="1"/>
          <p:nvPr/>
        </p:nvSpPr>
        <p:spPr>
          <a:xfrm>
            <a:off x="3838500" y="4982250"/>
            <a:ext cx="26346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F: add 29</a:t>
            </a:r>
            <a:r>
              <a:rPr lang="en-GB" sz="1200">
                <a:solidFill>
                  <a:srgbClr val="222222"/>
                </a:solidFill>
                <a:latin typeface="Lexend"/>
                <a:ea typeface="Lexend"/>
                <a:cs typeface="Lexend"/>
                <a:sym typeface="Lexend"/>
              </a:rPr>
              <a:t> each time</a:t>
            </a:r>
            <a:endParaRPr sz="1200">
              <a:solidFill>
                <a:srgbClr val="000000"/>
              </a:solidFill>
              <a:latin typeface="Lexend"/>
              <a:ea typeface="Lexend"/>
              <a:cs typeface="Lexend"/>
              <a:sym typeface="Lexend"/>
            </a:endParaRPr>
          </a:p>
        </p:txBody>
      </p:sp>
      <p:sp>
        <p:nvSpPr>
          <p:cNvPr id="206" name="Google Shape;206;p20"/>
          <p:cNvSpPr txBox="1"/>
          <p:nvPr/>
        </p:nvSpPr>
        <p:spPr>
          <a:xfrm>
            <a:off x="3824850" y="3195400"/>
            <a:ext cx="26346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C: add </a:t>
            </a:r>
            <a:r>
              <a:rPr lang="en-GB" sz="1200">
                <a:solidFill>
                  <a:srgbClr val="222222"/>
                </a:solidFill>
                <a:latin typeface="Lexend"/>
                <a:ea typeface="Lexend"/>
                <a:cs typeface="Lexend"/>
                <a:sym typeface="Lexend"/>
              </a:rPr>
              <a:t>12 each time</a:t>
            </a:r>
            <a:endParaRPr sz="1200">
              <a:solidFill>
                <a:srgbClr val="000000"/>
              </a:solidFill>
              <a:latin typeface="Lexend"/>
              <a:ea typeface="Lexend"/>
              <a:cs typeface="Lexend"/>
              <a:sym typeface="Lexend"/>
            </a:endParaRPr>
          </a:p>
        </p:txBody>
      </p:sp>
      <p:sp>
        <p:nvSpPr>
          <p:cNvPr id="207" name="Google Shape;207;p20"/>
          <p:cNvSpPr txBox="1"/>
          <p:nvPr/>
        </p:nvSpPr>
        <p:spPr>
          <a:xfrm>
            <a:off x="3838500" y="3541225"/>
            <a:ext cx="26346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D: add </a:t>
            </a:r>
            <a:r>
              <a:rPr lang="en-GB" sz="1200">
                <a:solidFill>
                  <a:srgbClr val="222222"/>
                </a:solidFill>
                <a:latin typeface="Lexend"/>
                <a:ea typeface="Lexend"/>
                <a:cs typeface="Lexend"/>
                <a:sym typeface="Lexend"/>
              </a:rPr>
              <a:t>24 each time</a:t>
            </a:r>
            <a:endParaRPr sz="1200">
              <a:solidFill>
                <a:srgbClr val="000000"/>
              </a:solidFill>
              <a:latin typeface="Lexend"/>
              <a:ea typeface="Lexend"/>
              <a:cs typeface="Lexend"/>
              <a:sym typeface="Lexend"/>
            </a:endParaRPr>
          </a:p>
        </p:txBody>
      </p:sp>
      <p:sp>
        <p:nvSpPr>
          <p:cNvPr id="208" name="Google Shape;208;p20"/>
          <p:cNvSpPr txBox="1"/>
          <p:nvPr/>
        </p:nvSpPr>
        <p:spPr>
          <a:xfrm>
            <a:off x="3838500" y="4261738"/>
            <a:ext cx="26346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A: add 5 </a:t>
            </a:r>
            <a:r>
              <a:rPr lang="en-GB" sz="1200">
                <a:solidFill>
                  <a:srgbClr val="222222"/>
                </a:solidFill>
                <a:latin typeface="Lexend"/>
                <a:ea typeface="Lexend"/>
                <a:cs typeface="Lexend"/>
                <a:sym typeface="Lexend"/>
              </a:rPr>
              <a:t>each time</a:t>
            </a:r>
            <a:endParaRPr sz="1200">
              <a:solidFill>
                <a:srgbClr val="000000"/>
              </a:solidFill>
              <a:latin typeface="Lexend"/>
              <a:ea typeface="Lexend"/>
              <a:cs typeface="Lexend"/>
              <a:sym typeface="Lexend"/>
            </a:endParaRPr>
          </a:p>
        </p:txBody>
      </p:sp>
      <p:cxnSp>
        <p:nvCxnSpPr>
          <p:cNvPr id="209" name="Google Shape;209;p20"/>
          <p:cNvCxnSpPr/>
          <p:nvPr/>
        </p:nvCxnSpPr>
        <p:spPr>
          <a:xfrm rot="-5400000">
            <a:off x="484008" y="4359996"/>
            <a:ext cx="400800" cy="0"/>
          </a:xfrm>
          <a:prstGeom prst="straightConnector1">
            <a:avLst/>
          </a:prstGeom>
          <a:noFill/>
          <a:ln w="19050" cap="flat" cmpd="sng">
            <a:solidFill>
              <a:srgbClr val="000000"/>
            </a:solidFill>
            <a:prstDash val="solid"/>
            <a:round/>
            <a:headEnd type="none" w="med" len="med"/>
            <a:tailEnd type="none" w="med" len="med"/>
          </a:ln>
        </p:spPr>
      </p:cxnSp>
      <p:sp>
        <p:nvSpPr>
          <p:cNvPr id="210" name="Google Shape;210;p20"/>
          <p:cNvSpPr txBox="1"/>
          <p:nvPr/>
        </p:nvSpPr>
        <p:spPr>
          <a:xfrm>
            <a:off x="468000" y="1850300"/>
            <a:ext cx="6624000" cy="1305900"/>
          </a:xfrm>
          <a:prstGeom prst="rect">
            <a:avLst/>
          </a:prstGeom>
          <a:noFill/>
          <a:ln>
            <a:noFill/>
          </a:ln>
        </p:spPr>
        <p:txBody>
          <a:bodyPr spcFirstLastPara="1" wrap="square" lIns="0" tIns="0" rIns="0" bIns="0" anchor="t" anchorCtr="0">
            <a:noAutofit/>
          </a:bodyPr>
          <a:lstStyle/>
          <a:p>
            <a:pPr marL="457200" lvl="0" indent="-304800" algn="l" rtl="0">
              <a:lnSpc>
                <a:spcPct val="115000"/>
              </a:lnSpc>
              <a:spcBef>
                <a:spcPct val="0"/>
              </a:spcBef>
              <a:spcAft>
                <a:spcPct val="0"/>
              </a:spcAft>
              <a:buClr>
                <a:srgbClr val="000000"/>
              </a:buClr>
              <a:buSzPts val="1200"/>
              <a:buFont typeface="Lexend"/>
              <a:buAutoNum type="arabicParenR"/>
            </a:pPr>
            <a:r>
              <a:rPr lang="en-GB" sz="1200">
                <a:solidFill>
                  <a:srgbClr val="000000"/>
                </a:solidFill>
                <a:latin typeface="Lexend"/>
                <a:ea typeface="Lexend"/>
                <a:cs typeface="Lexend"/>
                <a:sym typeface="Lexend"/>
              </a:rPr>
              <a:t>This crossnumber is made from sequences written from left to right or from top to bottom. Fill in the crossnumber according to the given rules. Fill in the missing rule for ‘A: down’</a:t>
            </a:r>
            <a:endParaRPr sz="1200">
              <a:solidFill>
                <a:srgbClr val="000000"/>
              </a:solidFill>
              <a:latin typeface="Lexend"/>
              <a:ea typeface="Lexend"/>
              <a:cs typeface="Lexend"/>
              <a:sym typeface="Lexend"/>
            </a:endParaRPr>
          </a:p>
        </p:txBody>
      </p:sp>
      <p:sp>
        <p:nvSpPr>
          <p:cNvPr id="211" name="Google Shape;211;p20"/>
          <p:cNvSpPr txBox="1"/>
          <p:nvPr/>
        </p:nvSpPr>
        <p:spPr>
          <a:xfrm>
            <a:off x="468000" y="5725675"/>
            <a:ext cx="66240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 For each sequence, use the term to term rule to find the desired term.</a:t>
            </a:r>
            <a:endParaRPr sz="1200">
              <a:solidFill>
                <a:srgbClr val="000000"/>
              </a:solidFill>
              <a:latin typeface="Lexend"/>
              <a:ea typeface="Lexend"/>
              <a:cs typeface="Lexend"/>
              <a:sym typeface="Lexend"/>
            </a:endParaRPr>
          </a:p>
        </p:txBody>
      </p:sp>
      <p:sp>
        <p:nvSpPr>
          <p:cNvPr id="212" name="Google Shape;212;p20"/>
          <p:cNvSpPr txBox="1"/>
          <p:nvPr/>
        </p:nvSpPr>
        <p:spPr>
          <a:xfrm>
            <a:off x="468000" y="6335275"/>
            <a:ext cx="6810900" cy="2401200"/>
          </a:xfrm>
          <a:prstGeom prst="rect">
            <a:avLst/>
          </a:prstGeom>
          <a:noFill/>
          <a:ln>
            <a:noFill/>
          </a:ln>
        </p:spPr>
        <p:txBody>
          <a:bodyPr spcFirstLastPara="1" wrap="square" lIns="0" tIns="0" rIns="0" bIns="0" anchor="t" anchorCtr="0">
            <a:noAutofit/>
          </a:bodyPr>
          <a:lstStyle/>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2 and add 7 each time. Find the value of T</a:t>
            </a:r>
            <a:r>
              <a:rPr lang="en-GB" sz="1200" baseline="-25000">
                <a:solidFill>
                  <a:srgbClr val="000000"/>
                </a:solidFill>
                <a:latin typeface="Lexend"/>
                <a:ea typeface="Lexend"/>
                <a:cs typeface="Lexend"/>
                <a:sym typeface="Lexend"/>
              </a:rPr>
              <a:t>3</a:t>
            </a:r>
            <a:r>
              <a:rPr lang="en-GB" sz="1200">
                <a:solidFill>
                  <a:srgbClr val="000000"/>
                </a:solidFill>
                <a:latin typeface="Lexend"/>
                <a:ea typeface="Lexend"/>
                <a:cs typeface="Lexend"/>
                <a:sym typeface="Lexend"/>
              </a:rPr>
              <a:t> </a:t>
            </a:r>
            <a:br>
              <a:rPr lang="en-GB" sz="1200">
                <a:solidFill>
                  <a:srgbClr val="000000"/>
                </a:solidFill>
                <a:latin typeface="Lexend"/>
                <a:ea typeface="Lexend"/>
                <a:cs typeface="Lexend"/>
                <a:sym typeface="Lexend"/>
              </a:rPr>
            </a:br>
            <a:r>
              <a:rPr lang="en-GB" sz="1200">
                <a:latin typeface="Lexend"/>
                <a:ea typeface="Lexend"/>
                <a:cs typeface="Lexend"/>
                <a:sym typeface="Lexend"/>
              </a:rPr>
              <a:t>			</a:t>
            </a:r>
            <a:endParaRPr sz="1200">
              <a:solidFill>
                <a:srgbClr val="000000"/>
              </a:solidFill>
              <a:latin typeface="Kalam"/>
              <a:ea typeface="Kalam"/>
              <a:cs typeface="Kalam"/>
              <a:sym typeface="Kalam"/>
            </a:endParaRPr>
          </a:p>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1 and multiply by 3 each time. Find the value of T</a:t>
            </a:r>
            <a:r>
              <a:rPr lang="en-GB" sz="1200" baseline="-25000">
                <a:solidFill>
                  <a:srgbClr val="000000"/>
                </a:solidFill>
                <a:latin typeface="Lexend"/>
                <a:ea typeface="Lexend"/>
                <a:cs typeface="Lexend"/>
                <a:sym typeface="Lexend"/>
              </a:rPr>
              <a:t>4</a:t>
            </a:r>
            <a:br>
              <a:rPr lang="en-GB" sz="1200" baseline="-25000">
                <a:solidFill>
                  <a:srgbClr val="000000"/>
                </a:solidFill>
                <a:latin typeface="Lexend"/>
                <a:ea typeface="Lexend"/>
                <a:cs typeface="Lexend"/>
                <a:sym typeface="Lexend"/>
              </a:rPr>
            </a:br>
            <a:r>
              <a:rPr lang="en-GB" sz="1200">
                <a:solidFill>
                  <a:schemeClr val="dk1"/>
                </a:solidFill>
                <a:latin typeface="Lexend"/>
                <a:ea typeface="Lexend"/>
                <a:cs typeface="Lexend"/>
                <a:sym typeface="Lexend"/>
              </a:rPr>
              <a:t>		</a:t>
            </a:r>
            <a:endParaRPr sz="1200" baseline="-25000">
              <a:solidFill>
                <a:srgbClr val="000000"/>
              </a:solidFill>
              <a:latin typeface="Lexend"/>
              <a:ea typeface="Lexend"/>
              <a:cs typeface="Lexend"/>
              <a:sym typeface="Lexend"/>
            </a:endParaRPr>
          </a:p>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6, double then add 10 each time. Find the value of T</a:t>
            </a:r>
            <a:r>
              <a:rPr lang="en-GB" sz="1200" baseline="-25000">
                <a:solidFill>
                  <a:srgbClr val="000000"/>
                </a:solidFill>
                <a:latin typeface="Lexend"/>
                <a:ea typeface="Lexend"/>
                <a:cs typeface="Lexend"/>
                <a:sym typeface="Lexend"/>
              </a:rPr>
              <a:t>4</a:t>
            </a:r>
            <a:r>
              <a:rPr lang="en-GB" sz="1200">
                <a:solidFill>
                  <a:schemeClr val="dk1"/>
                </a:solidFill>
                <a:latin typeface="Lexend"/>
                <a:ea typeface="Lexend"/>
                <a:cs typeface="Lexend"/>
                <a:sym typeface="Lexend"/>
              </a:rPr>
              <a:t>	</a:t>
            </a:r>
            <a:br>
              <a:rPr lang="en-GB" sz="1200">
                <a:solidFill>
                  <a:schemeClr val="dk1"/>
                </a:solidFill>
                <a:latin typeface="Lexend"/>
                <a:ea typeface="Lexend"/>
                <a:cs typeface="Lexend"/>
                <a:sym typeface="Lexend"/>
              </a:rPr>
            </a:br>
            <a:r>
              <a:rPr lang="en-GB" sz="1200">
                <a:solidFill>
                  <a:schemeClr val="dk1"/>
                </a:solidFill>
                <a:latin typeface="Lexend"/>
                <a:ea typeface="Lexend"/>
                <a:cs typeface="Lexend"/>
                <a:sym typeface="Lexend"/>
              </a:rPr>
              <a:t>	</a:t>
            </a:r>
            <a:endParaRPr sz="1200">
              <a:solidFill>
                <a:srgbClr val="000000"/>
              </a:solidFill>
              <a:latin typeface="Lexend"/>
              <a:ea typeface="Lexend"/>
              <a:cs typeface="Lexend"/>
              <a:sym typeface="Lexend"/>
            </a:endParaRPr>
          </a:p>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5, add </a:t>
            </a:r>
            <a:r>
              <a:rPr lang="en-GB" sz="1200">
                <a:solidFill>
                  <a:srgbClr val="222222"/>
                </a:solidFill>
                <a:latin typeface="Lexend"/>
                <a:ea typeface="Lexend"/>
                <a:cs typeface="Lexend"/>
                <a:sym typeface="Lexend"/>
              </a:rPr>
              <a:t>−4 each time. Find the value of T</a:t>
            </a:r>
            <a:r>
              <a:rPr lang="en-GB" sz="1200" baseline="-25000">
                <a:solidFill>
                  <a:srgbClr val="222222"/>
                </a:solidFill>
                <a:latin typeface="Lexend"/>
                <a:ea typeface="Lexend"/>
                <a:cs typeface="Lexend"/>
                <a:sym typeface="Lexend"/>
              </a:rPr>
              <a:t>6</a:t>
            </a:r>
            <a:br>
              <a:rPr lang="en-GB" sz="1200" baseline="-25000">
                <a:solidFill>
                  <a:srgbClr val="222222"/>
                </a:solidFill>
                <a:latin typeface="Lexend"/>
                <a:ea typeface="Lexend"/>
                <a:cs typeface="Lexend"/>
                <a:sym typeface="Lexend"/>
              </a:rPr>
            </a:br>
            <a:r>
              <a:rPr lang="en-GB" sz="1200">
                <a:solidFill>
                  <a:schemeClr val="dk1"/>
                </a:solidFill>
                <a:latin typeface="Lexend"/>
                <a:ea typeface="Lexend"/>
                <a:cs typeface="Lexend"/>
                <a:sym typeface="Lexend"/>
              </a:rPr>
              <a:t>				</a:t>
            </a:r>
            <a:endParaRPr sz="1200" baseline="-25000">
              <a:solidFill>
                <a:srgbClr val="222222"/>
              </a:solidFill>
              <a:latin typeface="Lexend"/>
              <a:ea typeface="Lexend"/>
              <a:cs typeface="Lexend"/>
              <a:sym typeface="Lexend"/>
            </a:endParaRPr>
          </a:p>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10, multiply by 2 each time. Find the value of T</a:t>
            </a:r>
            <a:r>
              <a:rPr lang="en-GB" sz="1200" baseline="-25000">
                <a:solidFill>
                  <a:srgbClr val="000000"/>
                </a:solidFill>
                <a:latin typeface="Lexend"/>
                <a:ea typeface="Lexend"/>
                <a:cs typeface="Lexend"/>
                <a:sym typeface="Lexend"/>
              </a:rPr>
              <a:t>7</a:t>
            </a:r>
            <a:r>
              <a:rPr lang="en-GB" sz="1200">
                <a:solidFill>
                  <a:schemeClr val="dk1"/>
                </a:solidFill>
                <a:latin typeface="Lexend"/>
                <a:ea typeface="Lexend"/>
                <a:cs typeface="Lexend"/>
                <a:sym typeface="Lexend"/>
              </a:rPr>
              <a:t>	</a:t>
            </a:r>
            <a:br>
              <a:rPr lang="en-GB" sz="1200">
                <a:solidFill>
                  <a:schemeClr val="dk1"/>
                </a:solidFill>
                <a:latin typeface="Lexend"/>
                <a:ea typeface="Lexend"/>
                <a:cs typeface="Lexend"/>
                <a:sym typeface="Lexend"/>
              </a:rPr>
            </a:br>
            <a:r>
              <a:rPr lang="en-GB" sz="1200">
                <a:solidFill>
                  <a:schemeClr val="dk1"/>
                </a:solidFill>
                <a:latin typeface="Lexend"/>
                <a:ea typeface="Lexend"/>
                <a:cs typeface="Lexend"/>
                <a:sym typeface="Lexend"/>
              </a:rPr>
              <a:t>		</a:t>
            </a:r>
            <a:endParaRPr sz="1200" baseline="-25000">
              <a:solidFill>
                <a:srgbClr val="000000"/>
              </a:solidFill>
              <a:latin typeface="Lexend"/>
              <a:ea typeface="Lexend"/>
              <a:cs typeface="Lexend"/>
              <a:sym typeface="Lexend"/>
            </a:endParaRPr>
          </a:p>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a:t>
            </a:r>
            <a:r>
              <a:rPr lang="en-GB" sz="1200">
                <a:solidFill>
                  <a:srgbClr val="222222"/>
                </a:solidFill>
                <a:latin typeface="Lexend"/>
                <a:ea typeface="Lexend"/>
                <a:cs typeface="Lexend"/>
                <a:sym typeface="Lexend"/>
              </a:rPr>
              <a:t>−</a:t>
            </a:r>
            <a:r>
              <a:rPr lang="en-GB" sz="1200">
                <a:solidFill>
                  <a:srgbClr val="000000"/>
                </a:solidFill>
                <a:latin typeface="Lexend"/>
                <a:ea typeface="Lexend"/>
                <a:cs typeface="Lexend"/>
                <a:sym typeface="Lexend"/>
              </a:rPr>
              <a:t>4, add 5 each time. Find the value of T</a:t>
            </a:r>
            <a:r>
              <a:rPr lang="en-GB" sz="1200" baseline="-25000">
                <a:solidFill>
                  <a:srgbClr val="000000"/>
                </a:solidFill>
                <a:latin typeface="Lexend"/>
                <a:ea typeface="Lexend"/>
                <a:cs typeface="Lexend"/>
                <a:sym typeface="Lexend"/>
              </a:rPr>
              <a:t>10</a:t>
            </a:r>
            <a:r>
              <a:rPr lang="en-GB" sz="1200">
                <a:solidFill>
                  <a:schemeClr val="dk1"/>
                </a:solidFill>
                <a:latin typeface="Lexend"/>
                <a:ea typeface="Lexend"/>
                <a:cs typeface="Lexend"/>
                <a:sym typeface="Lexend"/>
              </a:rPr>
              <a:t>		</a:t>
            </a:r>
            <a:br>
              <a:rPr lang="en-GB" sz="1200">
                <a:solidFill>
                  <a:schemeClr val="dk1"/>
                </a:solidFill>
                <a:latin typeface="Lexend"/>
                <a:ea typeface="Lexend"/>
                <a:cs typeface="Lexend"/>
                <a:sym typeface="Lexend"/>
              </a:rPr>
            </a:br>
            <a:r>
              <a:rPr lang="en-GB" sz="1200">
                <a:solidFill>
                  <a:schemeClr val="dk1"/>
                </a:solidFill>
                <a:latin typeface="Lexend"/>
                <a:ea typeface="Lexend"/>
                <a:cs typeface="Lexend"/>
                <a:sym typeface="Lexend"/>
              </a:rPr>
              <a:t>		</a:t>
            </a:r>
            <a:endParaRPr sz="1200" baseline="-25000">
              <a:solidFill>
                <a:srgbClr val="000000"/>
              </a:solidFill>
              <a:latin typeface="Lexend"/>
              <a:ea typeface="Lexend"/>
              <a:cs typeface="Lexend"/>
              <a:sym typeface="Lexend"/>
            </a:endParaRPr>
          </a:p>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24, add </a:t>
            </a:r>
            <a:r>
              <a:rPr lang="en-GB" sz="1200">
                <a:solidFill>
                  <a:srgbClr val="222222"/>
                </a:solidFill>
                <a:latin typeface="Lexend"/>
                <a:ea typeface="Lexend"/>
                <a:cs typeface="Lexend"/>
                <a:sym typeface="Lexend"/>
              </a:rPr>
              <a:t>−2 each time. Find the value of T</a:t>
            </a:r>
            <a:r>
              <a:rPr lang="en-GB" sz="1200" baseline="-25000">
                <a:solidFill>
                  <a:srgbClr val="222222"/>
                </a:solidFill>
                <a:latin typeface="Lexend"/>
                <a:ea typeface="Lexend"/>
                <a:cs typeface="Lexend"/>
                <a:sym typeface="Lexend"/>
              </a:rPr>
              <a:t>25</a:t>
            </a:r>
            <a:r>
              <a:rPr lang="en-GB" sz="1200">
                <a:solidFill>
                  <a:srgbClr val="222222"/>
                </a:solidFill>
                <a:latin typeface="Lexend"/>
                <a:ea typeface="Lexend"/>
                <a:cs typeface="Lexend"/>
                <a:sym typeface="Lexend"/>
              </a:rPr>
              <a:t> </a:t>
            </a:r>
            <a:r>
              <a:rPr lang="en-GB" sz="1200">
                <a:solidFill>
                  <a:srgbClr val="000000"/>
                </a:solidFill>
                <a:latin typeface="Lexend"/>
                <a:ea typeface="Lexend"/>
                <a:cs typeface="Lexend"/>
                <a:sym typeface="Lexend"/>
              </a:rPr>
              <a:t> </a:t>
            </a:r>
            <a:r>
              <a:rPr lang="en-GB" sz="1200">
                <a:solidFill>
                  <a:schemeClr val="dk1"/>
                </a:solidFill>
                <a:latin typeface="Lexend"/>
                <a:ea typeface="Lexend"/>
                <a:cs typeface="Lexend"/>
                <a:sym typeface="Lexend"/>
              </a:rPr>
              <a:t>			</a:t>
            </a:r>
            <a:endParaRPr sz="1200">
              <a:solidFill>
                <a:srgbClr val="000000"/>
              </a:solidFill>
              <a:latin typeface="Lexend"/>
              <a:ea typeface="Lexend"/>
              <a:cs typeface="Lexend"/>
              <a:sym typeface="Lexend"/>
            </a:endParaRPr>
          </a:p>
        </p:txBody>
      </p:sp>
      <p:cxnSp>
        <p:nvCxnSpPr>
          <p:cNvPr id="213" name="Google Shape;213;p20"/>
          <p:cNvCxnSpPr/>
          <p:nvPr/>
        </p:nvCxnSpPr>
        <p:spPr>
          <a:xfrm>
            <a:off x="474757" y="9971988"/>
            <a:ext cx="6610500" cy="0"/>
          </a:xfrm>
          <a:prstGeom prst="straightConnector1">
            <a:avLst/>
          </a:prstGeom>
          <a:noFill/>
          <a:ln w="38100" cap="flat" cmpd="sng">
            <a:solidFill>
              <a:srgbClr val="000000"/>
            </a:solidFill>
            <a:prstDash val="solid"/>
            <a:round/>
            <a:headEnd type="none" w="med" len="med"/>
            <a:tailEnd type="none" w="med" len="med"/>
          </a:ln>
        </p:spPr>
      </p:cxnSp>
      <p:sp>
        <p:nvSpPr>
          <p:cNvPr id="214" name="Google Shape;214;p20"/>
          <p:cNvSpPr txBox="1"/>
          <p:nvPr/>
        </p:nvSpPr>
        <p:spPr>
          <a:xfrm>
            <a:off x="6352325" y="6336000"/>
            <a:ext cx="619200" cy="3324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ct val="0"/>
              </a:spcBef>
              <a:spcAft>
                <a:spcPct val="0"/>
              </a:spcAft>
              <a:buNone/>
            </a:pPr>
            <a:r>
              <a:rPr lang="en-GB" sz="1200">
                <a:solidFill>
                  <a:schemeClr val="dk2"/>
                </a:solidFill>
                <a:latin typeface="Kalam"/>
                <a:ea typeface="Kalam"/>
                <a:cs typeface="Kalam"/>
                <a:sym typeface="Kalam"/>
              </a:rPr>
              <a:t>16</a:t>
            </a:r>
            <a:br>
              <a:rPr lang="en-GB" sz="1200">
                <a:solidFill>
                  <a:schemeClr val="dk2"/>
                </a:solidFill>
                <a:latin typeface="Kalam"/>
                <a:ea typeface="Kalam"/>
                <a:cs typeface="Kalam"/>
                <a:sym typeface="Kalam"/>
              </a:rPr>
            </a:br>
            <a:br>
              <a:rPr lang="en-GB" sz="1200">
                <a:solidFill>
                  <a:schemeClr val="dk2"/>
                </a:solidFill>
                <a:latin typeface="Kalam"/>
                <a:ea typeface="Kalam"/>
                <a:cs typeface="Kalam"/>
                <a:sym typeface="Kalam"/>
              </a:rPr>
            </a:br>
            <a:r>
              <a:rPr lang="en-GB" sz="1200">
                <a:solidFill>
                  <a:schemeClr val="dk2"/>
                </a:solidFill>
                <a:latin typeface="Kalam"/>
                <a:ea typeface="Kalam"/>
                <a:cs typeface="Kalam"/>
                <a:sym typeface="Kalam"/>
              </a:rPr>
              <a:t>27</a:t>
            </a:r>
            <a:br>
              <a:rPr lang="en-GB" sz="1200">
                <a:solidFill>
                  <a:schemeClr val="dk2"/>
                </a:solidFill>
                <a:latin typeface="Kalam"/>
                <a:ea typeface="Kalam"/>
                <a:cs typeface="Kalam"/>
                <a:sym typeface="Kalam"/>
              </a:rPr>
            </a:br>
            <a:br>
              <a:rPr lang="en-GB" sz="1200">
                <a:solidFill>
                  <a:schemeClr val="dk2"/>
                </a:solidFill>
                <a:latin typeface="Kalam"/>
                <a:ea typeface="Kalam"/>
                <a:cs typeface="Kalam"/>
                <a:sym typeface="Kalam"/>
              </a:rPr>
            </a:br>
            <a:r>
              <a:rPr lang="en-GB" sz="1200">
                <a:solidFill>
                  <a:schemeClr val="dk2"/>
                </a:solidFill>
                <a:latin typeface="Kalam"/>
                <a:ea typeface="Kalam"/>
                <a:cs typeface="Kalam"/>
                <a:sym typeface="Kalam"/>
              </a:rPr>
              <a:t>111</a:t>
            </a:r>
            <a:br>
              <a:rPr lang="en-GB" sz="1200">
                <a:solidFill>
                  <a:schemeClr val="dk2"/>
                </a:solidFill>
                <a:latin typeface="Kalam"/>
                <a:ea typeface="Kalam"/>
                <a:cs typeface="Kalam"/>
                <a:sym typeface="Kalam"/>
              </a:rPr>
            </a:br>
            <a:br>
              <a:rPr lang="en-GB" sz="1200">
                <a:solidFill>
                  <a:schemeClr val="dk2"/>
                </a:solidFill>
                <a:latin typeface="Kalam"/>
                <a:ea typeface="Kalam"/>
                <a:cs typeface="Kalam"/>
                <a:sym typeface="Kalam"/>
              </a:rPr>
            </a:br>
            <a:r>
              <a:rPr lang="en-GB" sz="1200">
                <a:solidFill>
                  <a:schemeClr val="dk2"/>
                </a:solidFill>
                <a:latin typeface="Kalam"/>
                <a:ea typeface="Kalam"/>
                <a:cs typeface="Kalam"/>
                <a:sym typeface="Kalam"/>
              </a:rPr>
              <a:t>-15</a:t>
            </a:r>
            <a:br>
              <a:rPr lang="en-GB" sz="1200">
                <a:solidFill>
                  <a:schemeClr val="dk2"/>
                </a:solidFill>
                <a:latin typeface="Kalam"/>
                <a:ea typeface="Kalam"/>
                <a:cs typeface="Kalam"/>
                <a:sym typeface="Kalam"/>
              </a:rPr>
            </a:br>
            <a:br>
              <a:rPr lang="en-GB" sz="1200">
                <a:solidFill>
                  <a:schemeClr val="dk2"/>
                </a:solidFill>
                <a:latin typeface="Kalam"/>
                <a:ea typeface="Kalam"/>
                <a:cs typeface="Kalam"/>
                <a:sym typeface="Kalam"/>
              </a:rPr>
            </a:br>
            <a:r>
              <a:rPr lang="en-GB" sz="1200">
                <a:solidFill>
                  <a:schemeClr val="dk2"/>
                </a:solidFill>
                <a:latin typeface="Kalam"/>
                <a:ea typeface="Kalam"/>
                <a:cs typeface="Kalam"/>
                <a:sym typeface="Kalam"/>
              </a:rPr>
              <a:t>640</a:t>
            </a:r>
            <a:br>
              <a:rPr lang="en-GB" sz="1200">
                <a:solidFill>
                  <a:schemeClr val="dk2"/>
                </a:solidFill>
                <a:latin typeface="Kalam"/>
                <a:ea typeface="Kalam"/>
                <a:cs typeface="Kalam"/>
                <a:sym typeface="Kalam"/>
              </a:rPr>
            </a:br>
            <a:br>
              <a:rPr lang="en-GB" sz="1200">
                <a:solidFill>
                  <a:schemeClr val="dk2"/>
                </a:solidFill>
                <a:latin typeface="Kalam"/>
                <a:ea typeface="Kalam"/>
                <a:cs typeface="Kalam"/>
                <a:sym typeface="Kalam"/>
              </a:rPr>
            </a:br>
            <a:r>
              <a:rPr lang="en-GB" sz="1200">
                <a:solidFill>
                  <a:schemeClr val="dk2"/>
                </a:solidFill>
                <a:latin typeface="Kalam"/>
                <a:ea typeface="Kalam"/>
                <a:cs typeface="Kalam"/>
                <a:sym typeface="Kalam"/>
              </a:rPr>
              <a:t>41</a:t>
            </a:r>
            <a:br>
              <a:rPr lang="en-GB" sz="1200">
                <a:solidFill>
                  <a:schemeClr val="dk2"/>
                </a:solidFill>
                <a:latin typeface="Kalam"/>
                <a:ea typeface="Kalam"/>
                <a:cs typeface="Kalam"/>
                <a:sym typeface="Kalam"/>
              </a:rPr>
            </a:br>
            <a:br>
              <a:rPr lang="en-GB" sz="1200">
                <a:solidFill>
                  <a:schemeClr val="dk2"/>
                </a:solidFill>
                <a:latin typeface="Kalam"/>
                <a:ea typeface="Kalam"/>
                <a:cs typeface="Kalam"/>
                <a:sym typeface="Kalam"/>
              </a:rPr>
            </a:br>
            <a:r>
              <a:rPr lang="en-GB" sz="1200">
                <a:solidFill>
                  <a:schemeClr val="dk2"/>
                </a:solidFill>
                <a:latin typeface="Kalam"/>
                <a:ea typeface="Kalam"/>
                <a:cs typeface="Kalam"/>
                <a:sym typeface="Kalam"/>
              </a:rPr>
              <a:t>-24</a:t>
            </a:r>
            <a:endParaRPr sz="1200">
              <a:solidFill>
                <a:schemeClr val="dk2"/>
              </a:solidFill>
              <a:latin typeface="Kalam"/>
              <a:ea typeface="Kalam"/>
              <a:cs typeface="Kalam"/>
              <a:sym typeface="Kalam"/>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18" name="Shape 218"/>
        <p:cNvGrpSpPr/>
        <p:nvPr/>
      </p:nvGrpSpPr>
      <p:grpSpPr>
        <a:xfrm>
          <a:off x="0" y="0"/>
          <a:ext cx="0" cy="0"/>
        </a:xfrm>
      </p:grpSpPr>
      <p:sp>
        <p:nvSpPr>
          <p:cNvPr id="219" name="Google Shape;219;p2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2</a:t>
            </a:fld>
            <a:endParaRPr/>
          </a:p>
        </p:txBody>
      </p:sp>
      <p:sp>
        <p:nvSpPr>
          <p:cNvPr id="220" name="Google Shape;220;p21"/>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lnSpc>
                <a:spcPct val="100000"/>
              </a:lnSpc>
              <a:spcBef>
                <a:spcPct val="0"/>
              </a:spcBef>
              <a:spcAft>
                <a:spcPct val="0"/>
              </a:spcAft>
              <a:buClr>
                <a:schemeClr val="dk1"/>
              </a:buClr>
              <a:buSzPts val="1100"/>
              <a:buFont typeface="Arial"/>
              <a:buNone/>
            </a:pPr>
            <a:r>
              <a:rPr lang="en-GB">
                <a:solidFill>
                  <a:schemeClr val="dk1"/>
                </a:solidFill>
              </a:rPr>
              <a:t>Generating a sequence using a term-to-term rule</a:t>
            </a:r>
            <a:endParaRPr/>
          </a:p>
        </p:txBody>
      </p:sp>
      <p:sp>
        <p:nvSpPr>
          <p:cNvPr id="221" name="Google Shape;221;p21"/>
          <p:cNvSpPr txBox="1"/>
          <p:nvPr/>
        </p:nvSpPr>
        <p:spPr>
          <a:xfrm>
            <a:off x="6744600" y="10447800"/>
            <a:ext cx="815400" cy="244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r>
              <a:rPr lang="en-GB" sz="1000">
                <a:solidFill>
                  <a:schemeClr val="lt1"/>
                </a:solidFill>
                <a:latin typeface="Lexend"/>
                <a:ea typeface="Lexend"/>
                <a:cs typeface="Lexend"/>
                <a:sym typeface="Lexend"/>
              </a:rPr>
              <a:t>v2.2</a:t>
            </a:r>
            <a:endParaRPr sz="1000">
              <a:solidFill>
                <a:schemeClr val="lt1"/>
              </a:solidFill>
              <a:latin typeface="Lexend"/>
              <a:ea typeface="Lexend"/>
              <a:cs typeface="Lexend"/>
              <a:sym typeface="Lexend"/>
            </a:endParaRPr>
          </a:p>
        </p:txBody>
      </p:sp>
      <p:sp>
        <p:nvSpPr>
          <p:cNvPr id="222" name="Google Shape;222;p21"/>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p>
            <a:pPr marL="0" lvl="0" indent="0" algn="l" rtl="0">
              <a:spcBef>
                <a:spcPct val="0"/>
              </a:spcBef>
              <a:spcAft>
                <a:spcPct val="0"/>
              </a:spcAft>
              <a:buNone/>
            </a:pPr>
            <a:r>
              <a:rPr lang="en-GB"/>
              <a:t>Mathematics in Education and Industry</a:t>
            </a:r>
            <a:endParaRPr/>
          </a:p>
        </p:txBody>
      </p:sp>
      <p:sp>
        <p:nvSpPr>
          <p:cNvPr id="223" name="Google Shape;223;p21"/>
          <p:cNvSpPr txBox="1"/>
          <p:nvPr/>
        </p:nvSpPr>
        <p:spPr>
          <a:xfrm>
            <a:off x="468000" y="720000"/>
            <a:ext cx="6624000" cy="3612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b="1">
                <a:solidFill>
                  <a:schemeClr val="dk1"/>
                </a:solidFill>
                <a:latin typeface="Lexend"/>
                <a:ea typeface="Lexend"/>
                <a:cs typeface="Lexend"/>
                <a:sym typeface="Lexend"/>
              </a:rPr>
              <a:t>Task B: Finding term-to-term rules</a:t>
            </a:r>
            <a:endParaRPr b="1">
              <a:solidFill>
                <a:schemeClr val="dk1"/>
              </a:solidFill>
              <a:latin typeface="Lexend"/>
              <a:ea typeface="Lexend"/>
              <a:cs typeface="Lexend"/>
              <a:sym typeface="Lexend"/>
            </a:endParaRPr>
          </a:p>
        </p:txBody>
      </p:sp>
      <p:sp>
        <p:nvSpPr>
          <p:cNvPr id="224" name="Google Shape;224;p21"/>
          <p:cNvSpPr txBox="1"/>
          <p:nvPr/>
        </p:nvSpPr>
        <p:spPr>
          <a:xfrm>
            <a:off x="468000" y="1081200"/>
            <a:ext cx="6624000" cy="509100"/>
          </a:xfrm>
          <a:prstGeom prst="rect">
            <a:avLst/>
          </a:prstGeom>
          <a:noFill/>
          <a:ln>
            <a:noFill/>
          </a:ln>
        </p:spPr>
        <p:txBody>
          <a:bodyPr spcFirstLastPara="1" wrap="square" lIns="0" tIns="0" rIns="0" bIns="0" anchor="t" anchorCtr="0">
            <a:noAutofit/>
          </a:bodyPr>
          <a:lstStyle/>
          <a:p>
            <a:pPr marL="457200" lvl="0" indent="-304800" algn="l" rtl="0">
              <a:lnSpc>
                <a:spcPct val="115000"/>
              </a:lnSpc>
              <a:spcBef>
                <a:spcPct val="0"/>
              </a:spcBef>
              <a:spcAft>
                <a:spcPct val="0"/>
              </a:spcAft>
              <a:buClr>
                <a:srgbClr val="000000"/>
              </a:buClr>
              <a:buSzPts val="1200"/>
              <a:buFont typeface="Lexend"/>
              <a:buAutoNum type="arabicParenR"/>
            </a:pPr>
            <a:r>
              <a:rPr lang="en-GB" sz="1200">
                <a:solidFill>
                  <a:srgbClr val="000000"/>
                </a:solidFill>
                <a:latin typeface="Lexend"/>
                <a:ea typeface="Lexend"/>
                <a:cs typeface="Lexend"/>
                <a:sym typeface="Lexend"/>
              </a:rPr>
              <a:t>Fill in each row and column so they form a sequence with an additive pattern. Then fill in the </a:t>
            </a:r>
            <a:r>
              <a:rPr lang="en-GB" sz="1200" b="1">
                <a:solidFill>
                  <a:srgbClr val="000000"/>
                </a:solidFill>
                <a:latin typeface="Lexend"/>
                <a:ea typeface="Lexend"/>
                <a:cs typeface="Lexend"/>
                <a:sym typeface="Lexend"/>
              </a:rPr>
              <a:t>term-to-term</a:t>
            </a:r>
            <a:r>
              <a:rPr lang="en-GB" sz="1200">
                <a:solidFill>
                  <a:srgbClr val="000000"/>
                </a:solidFill>
                <a:latin typeface="Lexend"/>
                <a:ea typeface="Lexend"/>
                <a:cs typeface="Lexend"/>
                <a:sym typeface="Lexend"/>
              </a:rPr>
              <a:t> rules for the stated rows.</a:t>
            </a:r>
            <a:endParaRPr sz="1200">
              <a:solidFill>
                <a:srgbClr val="000000"/>
              </a:solidFill>
              <a:latin typeface="Lexend"/>
              <a:ea typeface="Lexend"/>
              <a:cs typeface="Lexend"/>
              <a:sym typeface="Lexend"/>
            </a:endParaRPr>
          </a:p>
        </p:txBody>
      </p:sp>
      <p:sp>
        <p:nvSpPr>
          <p:cNvPr id="225" name="Google Shape;225;p21"/>
          <p:cNvSpPr txBox="1"/>
          <p:nvPr/>
        </p:nvSpPr>
        <p:spPr>
          <a:xfrm>
            <a:off x="468000" y="4946008"/>
            <a:ext cx="3417000" cy="509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A </a:t>
            </a:r>
            <a:r>
              <a:rPr lang="en-GB" sz="1200" b="1">
                <a:solidFill>
                  <a:srgbClr val="000000"/>
                </a:solidFill>
                <a:latin typeface="Lexend"/>
                <a:ea typeface="Lexend"/>
                <a:cs typeface="Lexend"/>
                <a:sym typeface="Lexend"/>
              </a:rPr>
              <a:t>term-to-term</a:t>
            </a:r>
            <a:r>
              <a:rPr lang="en-GB" sz="1200">
                <a:solidFill>
                  <a:srgbClr val="000000"/>
                </a:solidFill>
                <a:latin typeface="Lexend"/>
                <a:ea typeface="Lexend"/>
                <a:cs typeface="Lexend"/>
                <a:sym typeface="Lexend"/>
              </a:rPr>
              <a:t> rule for row A is </a:t>
            </a:r>
            <a:r>
              <a:rPr lang="en-GB" sz="1200">
                <a:solidFill>
                  <a:srgbClr val="000000"/>
                </a:solidFill>
                <a:latin typeface="Kalam"/>
                <a:ea typeface="Kalam"/>
                <a:cs typeface="Kalam"/>
                <a:sym typeface="Kalam"/>
              </a:rPr>
              <a:t>‘Add 6’</a:t>
            </a:r>
            <a:r>
              <a:rPr lang="en-GB" sz="12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p:txBody>
      </p:sp>
      <p:sp>
        <p:nvSpPr>
          <p:cNvPr id="226" name="Google Shape;226;p21"/>
          <p:cNvSpPr txBox="1"/>
          <p:nvPr/>
        </p:nvSpPr>
        <p:spPr>
          <a:xfrm>
            <a:off x="3586300" y="4935393"/>
            <a:ext cx="3505800" cy="509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A </a:t>
            </a:r>
            <a:r>
              <a:rPr lang="en-GB" sz="1200" b="1">
                <a:solidFill>
                  <a:srgbClr val="000000"/>
                </a:solidFill>
                <a:latin typeface="Lexend"/>
                <a:ea typeface="Lexend"/>
                <a:cs typeface="Lexend"/>
                <a:sym typeface="Lexend"/>
              </a:rPr>
              <a:t>term-to-term</a:t>
            </a:r>
            <a:r>
              <a:rPr lang="en-GB" sz="1200">
                <a:solidFill>
                  <a:srgbClr val="000000"/>
                </a:solidFill>
                <a:latin typeface="Lexend"/>
                <a:ea typeface="Lexend"/>
                <a:cs typeface="Lexend"/>
                <a:sym typeface="Lexend"/>
              </a:rPr>
              <a:t> rule for row B is </a:t>
            </a:r>
            <a:r>
              <a:rPr lang="en-GB" sz="1200">
                <a:solidFill>
                  <a:srgbClr val="000000"/>
                </a:solidFill>
                <a:latin typeface="Kalam"/>
                <a:ea typeface="Kalam"/>
                <a:cs typeface="Kalam"/>
                <a:sym typeface="Kalam"/>
              </a:rPr>
              <a:t>‘Add </a:t>
            </a:r>
            <a:r>
              <a:rPr lang="en-GB" sz="1200">
                <a:solidFill>
                  <a:srgbClr val="222222"/>
                </a:solidFill>
                <a:latin typeface="Lexend"/>
                <a:ea typeface="Lexend"/>
                <a:cs typeface="Lexend"/>
                <a:sym typeface="Lexend"/>
              </a:rPr>
              <a:t>−</a:t>
            </a:r>
            <a:r>
              <a:rPr lang="en-GB" sz="1200">
                <a:solidFill>
                  <a:srgbClr val="000000"/>
                </a:solidFill>
                <a:latin typeface="Kalam"/>
                <a:ea typeface="Kalam"/>
                <a:cs typeface="Kalam"/>
                <a:sym typeface="Kalam"/>
              </a:rPr>
              <a:t>3’ or ‘Minus 3’</a:t>
            </a:r>
            <a:r>
              <a:rPr lang="en-GB" sz="12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p:txBody>
      </p:sp>
      <p:pic>
        <p:nvPicPr>
          <p:cNvPr id="227" name="Google Shape;227;p21"/>
          <p:cNvPicPr preferRelativeResize="0"/>
          <p:nvPr/>
        </p:nvPicPr>
        <p:blipFill>
          <a:blip r:embed="rId3">
            <a:alphaModFix/>
          </a:blip>
          <a:stretch>
            <a:fillRect/>
          </a:stretch>
        </p:blipFill>
        <p:spPr>
          <a:xfrm>
            <a:off x="468000" y="1572399"/>
            <a:ext cx="6624000" cy="3342060"/>
          </a:xfrm>
          <a:prstGeom prst="rect">
            <a:avLst/>
          </a:prstGeom>
          <a:noFill/>
          <a:ln>
            <a:noFill/>
          </a:ln>
        </p:spPr>
      </p:pic>
      <p:sp>
        <p:nvSpPr>
          <p:cNvPr id="228" name="Google Shape;228;p21"/>
          <p:cNvSpPr txBox="1"/>
          <p:nvPr/>
        </p:nvSpPr>
        <p:spPr>
          <a:xfrm>
            <a:off x="468000" y="5587900"/>
            <a:ext cx="6624000" cy="33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  Describe a </a:t>
            </a:r>
            <a:r>
              <a:rPr lang="en-GB" sz="1200" b="1">
                <a:solidFill>
                  <a:srgbClr val="000000"/>
                </a:solidFill>
                <a:latin typeface="Lexend"/>
                <a:ea typeface="Lexend"/>
                <a:cs typeface="Lexend"/>
                <a:sym typeface="Lexend"/>
              </a:rPr>
              <a:t>term-to-term</a:t>
            </a:r>
            <a:r>
              <a:rPr lang="en-GB" sz="1200">
                <a:solidFill>
                  <a:srgbClr val="000000"/>
                </a:solidFill>
                <a:latin typeface="Lexend"/>
                <a:ea typeface="Lexend"/>
                <a:cs typeface="Lexend"/>
                <a:sym typeface="Lexend"/>
              </a:rPr>
              <a:t> rule for each sequence below</a:t>
            </a:r>
            <a:endParaRPr sz="1200">
              <a:solidFill>
                <a:srgbClr val="000000"/>
              </a:solidFill>
              <a:latin typeface="Lexend"/>
              <a:ea typeface="Lexend"/>
              <a:cs typeface="Lexend"/>
              <a:sym typeface="Lexend"/>
            </a:endParaRPr>
          </a:p>
        </p:txBody>
      </p:sp>
      <p:sp>
        <p:nvSpPr>
          <p:cNvPr id="229" name="Google Shape;229;p21"/>
          <p:cNvSpPr txBox="1"/>
          <p:nvPr/>
        </p:nvSpPr>
        <p:spPr>
          <a:xfrm>
            <a:off x="468000" y="5801297"/>
            <a:ext cx="2563200" cy="1476900"/>
          </a:xfrm>
          <a:prstGeom prst="rect">
            <a:avLst/>
          </a:prstGeom>
          <a:noFill/>
          <a:ln>
            <a:noFill/>
          </a:ln>
        </p:spPr>
        <p:txBody>
          <a:bodyPr spcFirstLastPara="1" wrap="square" lIns="0" tIns="0" rIns="0" bIns="0" anchor="t" anchorCtr="0">
            <a:noAutofit/>
          </a:bodyPr>
          <a:lstStyle/>
          <a:p>
            <a:pPr marL="457200" lvl="0" indent="-304800" algn="l" rtl="0">
              <a:lnSpc>
                <a:spcPct val="300000"/>
              </a:lnSpc>
              <a:spcBef>
                <a:spcPts val="100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4, 7, 10, …</a:t>
            </a:r>
            <a:endParaRPr sz="1200">
              <a:solidFill>
                <a:srgbClr val="000000"/>
              </a:solidFill>
              <a:latin typeface="Lexend"/>
              <a:ea typeface="Lexend"/>
              <a:cs typeface="Lexend"/>
              <a:sym typeface="Lexend"/>
            </a:endParaRPr>
          </a:p>
          <a:p>
            <a:pPr marL="457200" lvl="0" indent="-304800" algn="l" rtl="0">
              <a:lnSpc>
                <a:spcPct val="300000"/>
              </a:lnSpc>
              <a:spcBef>
                <a:spcPts val="100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13, 26, 52, …</a:t>
            </a:r>
            <a:endParaRPr sz="1200">
              <a:solidFill>
                <a:srgbClr val="000000"/>
              </a:solidFill>
              <a:latin typeface="Lexend"/>
              <a:ea typeface="Lexend"/>
              <a:cs typeface="Lexend"/>
              <a:sym typeface="Lexend"/>
            </a:endParaRPr>
          </a:p>
          <a:p>
            <a:pPr marL="457200" lvl="0" indent="-304800" algn="l" rtl="0">
              <a:lnSpc>
                <a:spcPct val="300000"/>
              </a:lnSpc>
              <a:spcBef>
                <a:spcPts val="100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0.2, 2, 20, …</a:t>
            </a:r>
            <a:endParaRPr sz="1200">
              <a:solidFill>
                <a:srgbClr val="000000"/>
              </a:solidFill>
              <a:latin typeface="Lexend"/>
              <a:ea typeface="Lexend"/>
              <a:cs typeface="Lexend"/>
              <a:sym typeface="Lexend"/>
            </a:endParaRPr>
          </a:p>
          <a:p>
            <a:pPr marL="0" lvl="0" indent="0" algn="l" rtl="0">
              <a:lnSpc>
                <a:spcPct val="300000"/>
              </a:lnSpc>
              <a:spcBef>
                <a:spcPts val="1000"/>
              </a:spcBef>
              <a:spcAft>
                <a:spcPct val="0"/>
              </a:spcAft>
              <a:buNone/>
            </a:pPr>
            <a:endParaRPr sz="1200">
              <a:solidFill>
                <a:srgbClr val="000000"/>
              </a:solidFill>
              <a:latin typeface="Lexend"/>
              <a:ea typeface="Lexend"/>
              <a:cs typeface="Lexend"/>
              <a:sym typeface="Lexend"/>
            </a:endParaRPr>
          </a:p>
          <a:p>
            <a:pPr marL="0" lvl="0" indent="0" algn="l" rtl="0">
              <a:lnSpc>
                <a:spcPct val="300000"/>
              </a:lnSpc>
              <a:spcBef>
                <a:spcPts val="1000"/>
              </a:spcBef>
              <a:spcAft>
                <a:spcPts val="1000"/>
              </a:spcAft>
              <a:buNone/>
            </a:pPr>
            <a:endParaRPr sz="1200">
              <a:solidFill>
                <a:srgbClr val="000000"/>
              </a:solidFill>
              <a:latin typeface="Lexend"/>
              <a:ea typeface="Lexend"/>
              <a:cs typeface="Lexend"/>
              <a:sym typeface="Lexend"/>
            </a:endParaRPr>
          </a:p>
        </p:txBody>
      </p:sp>
      <p:sp>
        <p:nvSpPr>
          <p:cNvPr id="230" name="Google Shape;230;p21"/>
          <p:cNvSpPr txBox="1"/>
          <p:nvPr/>
        </p:nvSpPr>
        <p:spPr>
          <a:xfrm>
            <a:off x="3780000" y="5753097"/>
            <a:ext cx="2080800" cy="1476900"/>
          </a:xfrm>
          <a:prstGeom prst="rect">
            <a:avLst/>
          </a:prstGeom>
          <a:noFill/>
          <a:ln>
            <a:noFill/>
          </a:ln>
        </p:spPr>
        <p:txBody>
          <a:bodyPr spcFirstLastPara="1" wrap="square" lIns="0" tIns="0" rIns="0" bIns="0" anchor="t" anchorCtr="0">
            <a:noAutofit/>
          </a:bodyPr>
          <a:lstStyle/>
          <a:p>
            <a:pPr marL="457200" lvl="0" indent="-304800" algn="l" rtl="0">
              <a:lnSpc>
                <a:spcPct val="300000"/>
              </a:lnSpc>
              <a:spcBef>
                <a:spcPts val="1000"/>
              </a:spcBef>
              <a:spcAft>
                <a:spcPct val="0"/>
              </a:spcAft>
              <a:buClr>
                <a:srgbClr val="000000"/>
              </a:buClr>
              <a:buSzPts val="1200"/>
              <a:buFont typeface="Lexend"/>
              <a:buAutoNum type="alphaLcParenR" startAt="4"/>
            </a:pPr>
            <a:r>
              <a:rPr lang="en-GB" sz="1200">
                <a:solidFill>
                  <a:srgbClr val="000000"/>
                </a:solidFill>
                <a:latin typeface="Lexend"/>
                <a:ea typeface="Lexend"/>
                <a:cs typeface="Lexend"/>
                <a:sym typeface="Lexend"/>
              </a:rPr>
              <a:t>5, </a:t>
            </a:r>
            <a:r>
              <a:rPr lang="en-GB" sz="1200">
                <a:solidFill>
                  <a:srgbClr val="222222"/>
                </a:solidFill>
                <a:latin typeface="Lexend"/>
                <a:ea typeface="Lexend"/>
                <a:cs typeface="Lexend"/>
                <a:sym typeface="Lexend"/>
              </a:rPr>
              <a:t>−</a:t>
            </a:r>
            <a:r>
              <a:rPr lang="en-GB" sz="1200">
                <a:solidFill>
                  <a:srgbClr val="000000"/>
                </a:solidFill>
                <a:latin typeface="Lexend"/>
                <a:ea typeface="Lexend"/>
                <a:cs typeface="Lexend"/>
                <a:sym typeface="Lexend"/>
              </a:rPr>
              <a:t>3, </a:t>
            </a:r>
            <a:r>
              <a:rPr lang="en-GB" sz="1200">
                <a:solidFill>
                  <a:srgbClr val="222222"/>
                </a:solidFill>
                <a:latin typeface="Lexend"/>
                <a:ea typeface="Lexend"/>
                <a:cs typeface="Lexend"/>
                <a:sym typeface="Lexend"/>
              </a:rPr>
              <a:t>−</a:t>
            </a:r>
            <a:r>
              <a:rPr lang="en-GB" sz="1200">
                <a:solidFill>
                  <a:srgbClr val="000000"/>
                </a:solidFill>
                <a:latin typeface="Lexend"/>
                <a:ea typeface="Lexend"/>
                <a:cs typeface="Lexend"/>
                <a:sym typeface="Lexend"/>
              </a:rPr>
              <a:t>11, …</a:t>
            </a:r>
            <a:endParaRPr sz="1200">
              <a:solidFill>
                <a:srgbClr val="000000"/>
              </a:solidFill>
              <a:latin typeface="Lexend"/>
              <a:ea typeface="Lexend"/>
              <a:cs typeface="Lexend"/>
              <a:sym typeface="Lexend"/>
            </a:endParaRPr>
          </a:p>
          <a:p>
            <a:pPr marL="457200" lvl="0" indent="-304800" algn="l" rtl="0">
              <a:lnSpc>
                <a:spcPct val="300000"/>
              </a:lnSpc>
              <a:spcBef>
                <a:spcPts val="1000"/>
              </a:spcBef>
              <a:spcAft>
                <a:spcPct val="0"/>
              </a:spcAft>
              <a:buClr>
                <a:srgbClr val="000000"/>
              </a:buClr>
              <a:buSzPts val="1200"/>
              <a:buFont typeface="Lexend"/>
              <a:buAutoNum type="alphaLcParenR" startAt="4"/>
            </a:pPr>
            <a:r>
              <a:rPr lang="en-GB" sz="1200">
                <a:solidFill>
                  <a:srgbClr val="000000"/>
                </a:solidFill>
                <a:latin typeface="Lexend"/>
                <a:ea typeface="Lexend"/>
                <a:cs typeface="Lexend"/>
                <a:sym typeface="Lexend"/>
              </a:rPr>
              <a:t>7, -21, 63, …</a:t>
            </a:r>
            <a:endParaRPr sz="1200">
              <a:solidFill>
                <a:srgbClr val="000000"/>
              </a:solidFill>
              <a:latin typeface="Lexend"/>
              <a:ea typeface="Lexend"/>
              <a:cs typeface="Lexend"/>
              <a:sym typeface="Lexend"/>
            </a:endParaRPr>
          </a:p>
          <a:p>
            <a:pPr marL="457200" lvl="0" indent="-304800" algn="l" rtl="0">
              <a:lnSpc>
                <a:spcPct val="300000"/>
              </a:lnSpc>
              <a:spcBef>
                <a:spcPts val="1000"/>
              </a:spcBef>
              <a:spcAft>
                <a:spcPct val="0"/>
              </a:spcAft>
              <a:buClr>
                <a:srgbClr val="000000"/>
              </a:buClr>
              <a:buSzPts val="1200"/>
              <a:buFont typeface="Lexend"/>
              <a:buAutoNum type="alphaLcParenR" startAt="4"/>
            </a:pPr>
            <a:r>
              <a:rPr lang="en-GB" sz="1200">
                <a:solidFill>
                  <a:srgbClr val="000000"/>
                </a:solidFill>
                <a:latin typeface="Lexend"/>
                <a:ea typeface="Lexend"/>
                <a:cs typeface="Lexend"/>
                <a:sym typeface="Lexend"/>
              </a:rPr>
              <a:t>2, </a:t>
            </a:r>
            <a:r>
              <a:rPr lang="en-GB" sz="1200">
                <a:solidFill>
                  <a:srgbClr val="222222"/>
                </a:solidFill>
                <a:latin typeface="Lexend"/>
                <a:ea typeface="Lexend"/>
                <a:cs typeface="Lexend"/>
                <a:sym typeface="Lexend"/>
              </a:rPr>
              <a:t>5</a:t>
            </a:r>
            <a:r>
              <a:rPr lang="en-GB" sz="1200">
                <a:solidFill>
                  <a:srgbClr val="000000"/>
                </a:solidFill>
                <a:latin typeface="Lexend"/>
                <a:ea typeface="Lexend"/>
                <a:cs typeface="Lexend"/>
                <a:sym typeface="Lexend"/>
              </a:rPr>
              <a:t>, </a:t>
            </a:r>
            <a:r>
              <a:rPr lang="en-GB" sz="1200">
                <a:solidFill>
                  <a:srgbClr val="222222"/>
                </a:solidFill>
                <a:latin typeface="Lexend"/>
                <a:ea typeface="Lexend"/>
                <a:cs typeface="Lexend"/>
                <a:sym typeface="Lexend"/>
              </a:rPr>
              <a:t>11</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a:p>
            <a:pPr marL="0" lvl="0" indent="0" algn="l" rtl="0">
              <a:lnSpc>
                <a:spcPct val="300000"/>
              </a:lnSpc>
              <a:spcBef>
                <a:spcPts val="1000"/>
              </a:spcBef>
              <a:spcAft>
                <a:spcPct val="0"/>
              </a:spcAft>
              <a:buNone/>
            </a:pPr>
            <a:endParaRPr sz="1200">
              <a:solidFill>
                <a:srgbClr val="000000"/>
              </a:solidFill>
              <a:latin typeface="Lexend"/>
              <a:ea typeface="Lexend"/>
              <a:cs typeface="Lexend"/>
              <a:sym typeface="Lexend"/>
            </a:endParaRPr>
          </a:p>
        </p:txBody>
      </p:sp>
      <p:sp>
        <p:nvSpPr>
          <p:cNvPr id="231" name="Google Shape;231;p21"/>
          <p:cNvSpPr txBox="1"/>
          <p:nvPr/>
        </p:nvSpPr>
        <p:spPr>
          <a:xfrm>
            <a:off x="925200" y="6218747"/>
            <a:ext cx="1740900" cy="337200"/>
          </a:xfrm>
          <a:prstGeom prst="rect">
            <a:avLst/>
          </a:prstGeom>
          <a:noFill/>
          <a:ln>
            <a:noFill/>
          </a:ln>
        </p:spPr>
        <p:txBody>
          <a:bodyPr spcFirstLastPara="1" wrap="square" lIns="0" tIns="0" rIns="0" bIns="0" anchor="t" anchorCtr="0">
            <a:noAutofit/>
          </a:bodyPr>
          <a:lstStyle/>
          <a:p>
            <a:pPr marL="0" lvl="0" indent="0" algn="l" rtl="0">
              <a:lnSpc>
                <a:spcPct val="200000"/>
              </a:lnSpc>
              <a:spcBef>
                <a:spcPct val="0"/>
              </a:spcBef>
              <a:spcAft>
                <a:spcPts val="1000"/>
              </a:spcAft>
              <a:buNone/>
            </a:pPr>
            <a:r>
              <a:rPr lang="en-GB" sz="1200">
                <a:solidFill>
                  <a:srgbClr val="000000"/>
                </a:solidFill>
                <a:latin typeface="Kalam"/>
                <a:ea typeface="Kalam"/>
                <a:cs typeface="Kalam"/>
                <a:sym typeface="Kalam"/>
              </a:rPr>
              <a:t>E.g. ‘add 3’</a:t>
            </a:r>
            <a:endParaRPr sz="1200">
              <a:solidFill>
                <a:srgbClr val="000000"/>
              </a:solidFill>
              <a:latin typeface="Kalam"/>
              <a:ea typeface="Kalam"/>
              <a:cs typeface="Kalam"/>
              <a:sym typeface="Kalam"/>
            </a:endParaRPr>
          </a:p>
        </p:txBody>
      </p:sp>
      <p:sp>
        <p:nvSpPr>
          <p:cNvPr id="232" name="Google Shape;232;p21"/>
          <p:cNvSpPr txBox="1"/>
          <p:nvPr/>
        </p:nvSpPr>
        <p:spPr>
          <a:xfrm>
            <a:off x="925200" y="6940997"/>
            <a:ext cx="2244900" cy="337200"/>
          </a:xfrm>
          <a:prstGeom prst="rect">
            <a:avLst/>
          </a:prstGeom>
          <a:noFill/>
          <a:ln>
            <a:noFill/>
          </a:ln>
        </p:spPr>
        <p:txBody>
          <a:bodyPr spcFirstLastPara="1" wrap="square" lIns="0" tIns="0" rIns="0" bIns="0" anchor="t" anchorCtr="0">
            <a:noAutofit/>
          </a:bodyPr>
          <a:lstStyle/>
          <a:p>
            <a:pPr marL="0" lvl="0" indent="0" algn="l" rtl="0">
              <a:lnSpc>
                <a:spcPct val="200000"/>
              </a:lnSpc>
              <a:spcBef>
                <a:spcPct val="0"/>
              </a:spcBef>
              <a:spcAft>
                <a:spcPts val="1000"/>
              </a:spcAft>
              <a:buNone/>
            </a:pPr>
            <a:r>
              <a:rPr lang="en-GB" sz="1200">
                <a:solidFill>
                  <a:srgbClr val="000000"/>
                </a:solidFill>
                <a:latin typeface="Kalam"/>
                <a:ea typeface="Kalam"/>
                <a:cs typeface="Kalam"/>
                <a:sym typeface="Kalam"/>
              </a:rPr>
              <a:t>E.g. ‘multiply by 2’</a:t>
            </a:r>
            <a:endParaRPr sz="1200">
              <a:solidFill>
                <a:srgbClr val="000000"/>
              </a:solidFill>
              <a:latin typeface="Kalam"/>
              <a:ea typeface="Kalam"/>
              <a:cs typeface="Kalam"/>
              <a:sym typeface="Kalam"/>
            </a:endParaRPr>
          </a:p>
        </p:txBody>
      </p:sp>
      <p:sp>
        <p:nvSpPr>
          <p:cNvPr id="233" name="Google Shape;233;p21"/>
          <p:cNvSpPr txBox="1"/>
          <p:nvPr/>
        </p:nvSpPr>
        <p:spPr>
          <a:xfrm>
            <a:off x="925200" y="7615388"/>
            <a:ext cx="2904300" cy="337200"/>
          </a:xfrm>
          <a:prstGeom prst="rect">
            <a:avLst/>
          </a:prstGeom>
          <a:noFill/>
          <a:ln>
            <a:noFill/>
          </a:ln>
        </p:spPr>
        <p:txBody>
          <a:bodyPr spcFirstLastPara="1" wrap="square" lIns="0" tIns="0" rIns="0" bIns="0" anchor="t" anchorCtr="0">
            <a:noAutofit/>
          </a:bodyPr>
          <a:lstStyle/>
          <a:p>
            <a:pPr marL="0" lvl="0" indent="0" algn="l" rtl="0">
              <a:lnSpc>
                <a:spcPct val="200000"/>
              </a:lnSpc>
              <a:spcBef>
                <a:spcPct val="0"/>
              </a:spcBef>
              <a:spcAft>
                <a:spcPts val="1000"/>
              </a:spcAft>
              <a:buNone/>
            </a:pPr>
            <a:r>
              <a:rPr lang="en-GB" sz="1200">
                <a:solidFill>
                  <a:srgbClr val="000000"/>
                </a:solidFill>
                <a:latin typeface="Kalam"/>
                <a:ea typeface="Kalam"/>
                <a:cs typeface="Kalam"/>
                <a:sym typeface="Kalam"/>
              </a:rPr>
              <a:t>E.g. ‘</a:t>
            </a:r>
            <a:r>
              <a:rPr lang="en-GB" sz="1200">
                <a:solidFill>
                  <a:srgbClr val="222222"/>
                </a:solidFill>
                <a:latin typeface="Kalam"/>
                <a:ea typeface="Kalam"/>
                <a:cs typeface="Kalam"/>
                <a:sym typeface="Kalam"/>
              </a:rPr>
              <a:t>multiply by 10</a:t>
            </a: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34" name="Google Shape;234;p21"/>
          <p:cNvSpPr txBox="1"/>
          <p:nvPr/>
        </p:nvSpPr>
        <p:spPr>
          <a:xfrm>
            <a:off x="4212000" y="6170547"/>
            <a:ext cx="1740900" cy="337200"/>
          </a:xfrm>
          <a:prstGeom prst="rect">
            <a:avLst/>
          </a:prstGeom>
          <a:noFill/>
          <a:ln>
            <a:noFill/>
          </a:ln>
        </p:spPr>
        <p:txBody>
          <a:bodyPr spcFirstLastPara="1" wrap="square" lIns="0" tIns="0" rIns="0" bIns="0" anchor="t" anchorCtr="0">
            <a:noAutofit/>
          </a:bodyPr>
          <a:lstStyle/>
          <a:p>
            <a:pPr marL="0" lvl="0" indent="0" algn="l" rtl="0">
              <a:lnSpc>
                <a:spcPct val="200000"/>
              </a:lnSpc>
              <a:spcBef>
                <a:spcPct val="0"/>
              </a:spcBef>
              <a:spcAft>
                <a:spcPts val="1000"/>
              </a:spcAft>
              <a:buNone/>
            </a:pPr>
            <a:r>
              <a:rPr lang="en-GB" sz="1200">
                <a:solidFill>
                  <a:srgbClr val="000000"/>
                </a:solidFill>
                <a:latin typeface="Kalam"/>
                <a:ea typeface="Kalam"/>
                <a:cs typeface="Kalam"/>
                <a:sym typeface="Kalam"/>
              </a:rPr>
              <a:t>E.g. ‘add </a:t>
            </a:r>
            <a:r>
              <a:rPr lang="en-GB" sz="1200">
                <a:solidFill>
                  <a:srgbClr val="222222"/>
                </a:solidFill>
                <a:latin typeface="Lexend"/>
                <a:ea typeface="Lexend"/>
                <a:cs typeface="Lexend"/>
                <a:sym typeface="Lexend"/>
              </a:rPr>
              <a:t>−8</a:t>
            </a: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35" name="Google Shape;235;p21"/>
          <p:cNvSpPr txBox="1"/>
          <p:nvPr/>
        </p:nvSpPr>
        <p:spPr>
          <a:xfrm>
            <a:off x="4185900" y="6892788"/>
            <a:ext cx="2952900" cy="337200"/>
          </a:xfrm>
          <a:prstGeom prst="rect">
            <a:avLst/>
          </a:prstGeom>
          <a:noFill/>
          <a:ln>
            <a:noFill/>
          </a:ln>
        </p:spPr>
        <p:txBody>
          <a:bodyPr spcFirstLastPara="1" wrap="square" lIns="0" tIns="0" rIns="0" bIns="0" anchor="t" anchorCtr="0">
            <a:noAutofit/>
          </a:bodyPr>
          <a:lstStyle/>
          <a:p>
            <a:pPr marL="0" lvl="0" indent="0" algn="l" rtl="0">
              <a:lnSpc>
                <a:spcPct val="200000"/>
              </a:lnSpc>
              <a:spcBef>
                <a:spcPct val="0"/>
              </a:spcBef>
              <a:spcAft>
                <a:spcPts val="1000"/>
              </a:spcAft>
              <a:buNone/>
            </a:pPr>
            <a:r>
              <a:rPr lang="en-GB" sz="1200">
                <a:solidFill>
                  <a:srgbClr val="000000"/>
                </a:solidFill>
                <a:latin typeface="Kalam"/>
                <a:ea typeface="Kalam"/>
                <a:cs typeface="Kalam"/>
                <a:sym typeface="Kalam"/>
              </a:rPr>
              <a:t>E.g. ‘</a:t>
            </a:r>
            <a:r>
              <a:rPr lang="en-GB" sz="1200">
                <a:solidFill>
                  <a:srgbClr val="222222"/>
                </a:solidFill>
                <a:latin typeface="Kalam"/>
                <a:ea typeface="Kalam"/>
                <a:cs typeface="Kalam"/>
                <a:sym typeface="Kalam"/>
              </a:rPr>
              <a:t>multiply by</a:t>
            </a:r>
            <a:r>
              <a:rPr lang="en-GB" sz="1200">
                <a:solidFill>
                  <a:srgbClr val="000000"/>
                </a:solidFill>
                <a:latin typeface="Kalam"/>
                <a:ea typeface="Kalam"/>
                <a:cs typeface="Kalam"/>
                <a:sym typeface="Kalam"/>
              </a:rPr>
              <a:t> </a:t>
            </a:r>
            <a:r>
              <a:rPr lang="en-GB" sz="1200">
                <a:solidFill>
                  <a:srgbClr val="222222"/>
                </a:solidFill>
                <a:latin typeface="Lexend"/>
                <a:ea typeface="Lexend"/>
                <a:cs typeface="Lexend"/>
                <a:sym typeface="Lexend"/>
              </a:rPr>
              <a:t>−3</a:t>
            </a: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36" name="Google Shape;236;p21"/>
          <p:cNvSpPr txBox="1"/>
          <p:nvPr/>
        </p:nvSpPr>
        <p:spPr>
          <a:xfrm>
            <a:off x="4212000" y="7557338"/>
            <a:ext cx="3764700" cy="337200"/>
          </a:xfrm>
          <a:prstGeom prst="rect">
            <a:avLst/>
          </a:prstGeom>
          <a:noFill/>
          <a:ln>
            <a:noFill/>
          </a:ln>
        </p:spPr>
        <p:txBody>
          <a:bodyPr spcFirstLastPara="1" wrap="square" lIns="0" tIns="0" rIns="0" bIns="0" anchor="t" anchorCtr="0">
            <a:noAutofit/>
          </a:bodyPr>
          <a:lstStyle/>
          <a:p>
            <a:pPr marL="0" lvl="0" indent="0" algn="l" rtl="0">
              <a:lnSpc>
                <a:spcPct val="200000"/>
              </a:lnSpc>
              <a:spcBef>
                <a:spcPct val="0"/>
              </a:spcBef>
              <a:spcAft>
                <a:spcPts val="1000"/>
              </a:spcAft>
              <a:buNone/>
            </a:pPr>
            <a:r>
              <a:rPr lang="en-GB" sz="1200">
                <a:solidFill>
                  <a:srgbClr val="000000"/>
                </a:solidFill>
                <a:latin typeface="Kalam"/>
                <a:ea typeface="Kalam"/>
                <a:cs typeface="Kalam"/>
                <a:sym typeface="Kalam"/>
              </a:rPr>
              <a:t>E.g. ‘</a:t>
            </a:r>
            <a:r>
              <a:rPr lang="en-GB" sz="1200">
                <a:solidFill>
                  <a:srgbClr val="222222"/>
                </a:solidFill>
                <a:latin typeface="Kalam"/>
                <a:ea typeface="Kalam"/>
                <a:cs typeface="Kalam"/>
                <a:sym typeface="Kalam"/>
              </a:rPr>
              <a:t>multiply by 2 then add 1</a:t>
            </a: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37" name="Google Shape;237;p21"/>
          <p:cNvSpPr txBox="1"/>
          <p:nvPr/>
        </p:nvSpPr>
        <p:spPr>
          <a:xfrm>
            <a:off x="4212000" y="7894538"/>
            <a:ext cx="3494700" cy="337200"/>
          </a:xfrm>
          <a:prstGeom prst="rect">
            <a:avLst/>
          </a:prstGeom>
          <a:noFill/>
          <a:ln>
            <a:noFill/>
          </a:ln>
        </p:spPr>
        <p:txBody>
          <a:bodyPr spcFirstLastPara="1" wrap="square" lIns="0" tIns="0" rIns="0" bIns="0" anchor="t" anchorCtr="0">
            <a:noAutofit/>
          </a:bodyPr>
          <a:lstStyle/>
          <a:p>
            <a:pPr marL="0" lvl="0" indent="0" algn="l" rtl="0">
              <a:lnSpc>
                <a:spcPct val="200000"/>
              </a:lnSpc>
              <a:spcBef>
                <a:spcPct val="0"/>
              </a:spcBef>
              <a:spcAft>
                <a:spcPts val="1000"/>
              </a:spcAft>
              <a:buNone/>
            </a:pPr>
            <a:r>
              <a:rPr lang="en-GB" sz="1200">
                <a:solidFill>
                  <a:srgbClr val="000000"/>
                </a:solidFill>
                <a:latin typeface="Kalam"/>
                <a:ea typeface="Kalam"/>
                <a:cs typeface="Kalam"/>
                <a:sym typeface="Kalam"/>
              </a:rPr>
              <a:t>or   ‘</a:t>
            </a:r>
            <a:r>
              <a:rPr lang="en-GB" sz="1200">
                <a:solidFill>
                  <a:srgbClr val="222222"/>
                </a:solidFill>
                <a:latin typeface="Kalam"/>
                <a:ea typeface="Kalam"/>
                <a:cs typeface="Kalam"/>
                <a:sym typeface="Kalam"/>
              </a:rPr>
              <a:t>add 3, add 6, add 9, …</a:t>
            </a: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38" name="Google Shape;238;p21"/>
          <p:cNvSpPr txBox="1"/>
          <p:nvPr/>
        </p:nvSpPr>
        <p:spPr>
          <a:xfrm>
            <a:off x="468000" y="8221900"/>
            <a:ext cx="6624000" cy="33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3)  Alex and Aisha are writing </a:t>
            </a:r>
            <a:r>
              <a:rPr lang="en-GB" sz="1200" b="1">
                <a:solidFill>
                  <a:srgbClr val="000000"/>
                </a:solidFill>
                <a:latin typeface="Lexend"/>
                <a:ea typeface="Lexend"/>
                <a:cs typeface="Lexend"/>
                <a:sym typeface="Lexend"/>
              </a:rPr>
              <a:t>term-to-term</a:t>
            </a:r>
            <a:r>
              <a:rPr lang="en-GB" sz="1200">
                <a:solidFill>
                  <a:srgbClr val="000000"/>
                </a:solidFill>
                <a:latin typeface="Lexend"/>
                <a:ea typeface="Lexend"/>
                <a:cs typeface="Lexend"/>
                <a:sym typeface="Lexend"/>
              </a:rPr>
              <a:t> rules for a sequence with T</a:t>
            </a:r>
            <a:r>
              <a:rPr lang="en-GB" sz="1200" baseline="-25000">
                <a:solidFill>
                  <a:srgbClr val="000000"/>
                </a:solidFill>
                <a:latin typeface="Lexend"/>
                <a:ea typeface="Lexend"/>
                <a:cs typeface="Lexend"/>
                <a:sym typeface="Lexend"/>
              </a:rPr>
              <a:t>1</a:t>
            </a:r>
            <a:r>
              <a:rPr lang="en-GB" sz="1200">
                <a:solidFill>
                  <a:srgbClr val="000000"/>
                </a:solidFill>
                <a:latin typeface="Lexend"/>
                <a:ea typeface="Lexend"/>
                <a:cs typeface="Lexend"/>
                <a:sym typeface="Lexend"/>
              </a:rPr>
              <a:t>= 5 and T</a:t>
            </a:r>
            <a:r>
              <a:rPr lang="en-GB" sz="1200" baseline="-25000">
                <a:solidFill>
                  <a:srgbClr val="000000"/>
                </a:solidFill>
                <a:latin typeface="Lexend"/>
                <a:ea typeface="Lexend"/>
                <a:cs typeface="Lexend"/>
                <a:sym typeface="Lexend"/>
              </a:rPr>
              <a:t>2</a:t>
            </a:r>
            <a:r>
              <a:rPr lang="en-GB" sz="1200">
                <a:solidFill>
                  <a:srgbClr val="000000"/>
                </a:solidFill>
                <a:latin typeface="Lexend"/>
                <a:ea typeface="Lexend"/>
                <a:cs typeface="Lexend"/>
                <a:sym typeface="Lexend"/>
              </a:rPr>
              <a:t>= 15</a:t>
            </a:r>
            <a:endParaRPr sz="1200">
              <a:solidFill>
                <a:srgbClr val="000000"/>
              </a:solidFill>
              <a:latin typeface="Lexend"/>
              <a:ea typeface="Lexend"/>
              <a:cs typeface="Lexend"/>
              <a:sym typeface="Lexend"/>
            </a:endParaRPr>
          </a:p>
        </p:txBody>
      </p:sp>
      <p:sp>
        <p:nvSpPr>
          <p:cNvPr id="239" name="Google Shape;239;p21"/>
          <p:cNvSpPr txBox="1"/>
          <p:nvPr/>
        </p:nvSpPr>
        <p:spPr>
          <a:xfrm flipH="1">
            <a:off x="6436728" y="9665896"/>
            <a:ext cx="671400" cy="333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ct val="0"/>
              </a:spcBef>
              <a:spcAft>
                <a:spcPct val="0"/>
              </a:spcAft>
              <a:buNone/>
            </a:pPr>
            <a:r>
              <a:rPr lang="en-GB" sz="1200">
                <a:latin typeface="Lexend"/>
                <a:ea typeface="Lexend"/>
                <a:cs typeface="Lexend"/>
                <a:sym typeface="Lexend"/>
              </a:rPr>
              <a:t>Alex</a:t>
            </a:r>
            <a:endParaRPr sz="1200" b="1">
              <a:latin typeface="Lexend"/>
              <a:ea typeface="Lexend"/>
              <a:cs typeface="Lexend"/>
              <a:sym typeface="Lexend"/>
            </a:endParaRPr>
          </a:p>
        </p:txBody>
      </p:sp>
      <p:pic>
        <p:nvPicPr>
          <p:cNvPr id="240" name="Google Shape;240;p21"/>
          <p:cNvPicPr preferRelativeResize="0"/>
          <p:nvPr/>
        </p:nvPicPr>
        <p:blipFill>
          <a:blip r:embed="rId4">
            <a:alphaModFix/>
          </a:blip>
          <a:stretch>
            <a:fillRect/>
          </a:stretch>
        </p:blipFill>
        <p:spPr>
          <a:xfrm>
            <a:off x="6502782" y="8968865"/>
            <a:ext cx="539302" cy="621961"/>
          </a:xfrm>
          <a:prstGeom prst="rect">
            <a:avLst/>
          </a:prstGeom>
          <a:noFill/>
          <a:ln>
            <a:noFill/>
          </a:ln>
        </p:spPr>
      </p:pic>
      <p:grpSp>
        <p:nvGrpSpPr>
          <p:cNvPr id="241" name="Google Shape;241;p21"/>
          <p:cNvGrpSpPr/>
          <p:nvPr/>
        </p:nvGrpSpPr>
        <p:grpSpPr>
          <a:xfrm flipH="1">
            <a:off x="3779994" y="8400599"/>
            <a:ext cx="2722789" cy="978023"/>
            <a:chOff x="1653323" y="1180077"/>
            <a:chExt cx="2013302" cy="1491116"/>
          </a:xfrm>
        </p:grpSpPr>
        <p:pic>
          <p:nvPicPr>
            <p:cNvPr id="242" name="Google Shape;242;p21"/>
            <p:cNvPicPr preferRelativeResize="0"/>
            <p:nvPr/>
          </p:nvPicPr>
          <p:blipFill>
            <a:blip r:embed="rId5">
              <a:alphaModFix/>
            </a:blip>
            <a:srcRect t="56280" r="69082"/>
            <a:stretch>
              <a:fillRect/>
            </a:stretch>
          </p:blipFill>
          <p:spPr>
            <a:xfrm flipH="1">
              <a:off x="1653323" y="1180077"/>
              <a:ext cx="2013302" cy="1491116"/>
            </a:xfrm>
            <a:prstGeom prst="rect">
              <a:avLst/>
            </a:prstGeom>
            <a:noFill/>
            <a:ln>
              <a:noFill/>
            </a:ln>
          </p:spPr>
        </p:pic>
        <p:sp>
          <p:nvSpPr>
            <p:cNvPr id="243" name="Google Shape;243;p21"/>
            <p:cNvSpPr txBox="1"/>
            <p:nvPr/>
          </p:nvSpPr>
          <p:spPr>
            <a:xfrm flipH="1">
              <a:off x="1800679" y="1498891"/>
              <a:ext cx="1782300" cy="853500"/>
            </a:xfrm>
            <a:prstGeom prst="rect">
              <a:avLst/>
            </a:prstGeom>
            <a:noFill/>
            <a:ln>
              <a:noFill/>
            </a:ln>
          </p:spPr>
          <p:txBody>
            <a:bodyPr spcFirstLastPara="1" wrap="square" lIns="0" tIns="0" rIns="0" bIns="0" anchor="ctr"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Aisha and I have different rules so one of us must be wrong.</a:t>
              </a:r>
              <a:endParaRPr sz="1200">
                <a:solidFill>
                  <a:srgbClr val="000000"/>
                </a:solidFill>
                <a:latin typeface="Lexend"/>
                <a:ea typeface="Lexend"/>
                <a:cs typeface="Lexend"/>
                <a:sym typeface="Lexend"/>
              </a:endParaRPr>
            </a:p>
          </p:txBody>
        </p:sp>
      </p:grpSp>
      <p:sp>
        <p:nvSpPr>
          <p:cNvPr id="244" name="Google Shape;244;p21"/>
          <p:cNvSpPr txBox="1"/>
          <p:nvPr/>
        </p:nvSpPr>
        <p:spPr>
          <a:xfrm>
            <a:off x="468000" y="8473300"/>
            <a:ext cx="3361500" cy="1377600"/>
          </a:xfrm>
          <a:prstGeom prst="rect">
            <a:avLst/>
          </a:prstGeom>
          <a:noFill/>
          <a:ln>
            <a:noFill/>
          </a:ln>
        </p:spPr>
        <p:txBody>
          <a:bodyPr spcFirstLastPara="1" wrap="square" lIns="0" tIns="0" rIns="0" bIns="0" anchor="t" anchorCtr="0">
            <a:noAutofit/>
          </a:bodyPr>
          <a:lstStyle/>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Explain why Alex is incorrect</a:t>
            </a:r>
            <a:br>
              <a:rPr lang="en-GB" sz="1200">
                <a:solidFill>
                  <a:srgbClr val="000000"/>
                </a:solidFill>
                <a:latin typeface="Lexend"/>
                <a:ea typeface="Lexend"/>
                <a:cs typeface="Lexend"/>
                <a:sym typeface="Lexend"/>
              </a:rPr>
            </a:br>
            <a:br>
              <a:rPr lang="en-GB" sz="1200">
                <a:solidFill>
                  <a:srgbClr val="000000"/>
                </a:solidFill>
                <a:latin typeface="Lexend"/>
                <a:ea typeface="Lexend"/>
                <a:cs typeface="Lexend"/>
                <a:sym typeface="Lexend"/>
              </a:rPr>
            </a:br>
            <a:br>
              <a:rPr lang="en-GB" sz="1200">
                <a:solidFill>
                  <a:srgbClr val="000000"/>
                </a:solidFill>
                <a:latin typeface="Lexend"/>
                <a:ea typeface="Lexend"/>
                <a:cs typeface="Lexend"/>
                <a:sym typeface="Lexend"/>
              </a:rPr>
            </a:br>
            <a:endParaRPr sz="1200">
              <a:latin typeface="Lexend"/>
              <a:ea typeface="Lexend"/>
              <a:cs typeface="Lexend"/>
              <a:sym typeface="Lexend"/>
            </a:endParaRPr>
          </a:p>
          <a:p>
            <a:pPr marL="457200" lvl="0" indent="-304800" algn="l" rtl="0">
              <a:lnSpc>
                <a:spcPct val="100000"/>
              </a:lnSpc>
              <a:spcBef>
                <a:spcPct val="0"/>
              </a:spcBef>
              <a:spcAft>
                <a:spcPct val="0"/>
              </a:spcAft>
              <a:buClr>
                <a:srgbClr val="000000"/>
              </a:buClr>
              <a:buSzPts val="1200"/>
              <a:buFont typeface="Lexend"/>
              <a:buAutoNum type="alphaLcParenR"/>
            </a:pPr>
            <a:r>
              <a:rPr lang="en-GB" sz="1200">
                <a:latin typeface="Lexend"/>
                <a:ea typeface="Lexend"/>
                <a:cs typeface="Lexend"/>
                <a:sym typeface="Lexend"/>
              </a:rPr>
              <a:t>W</a:t>
            </a:r>
            <a:r>
              <a:rPr lang="en-GB" sz="1200">
                <a:solidFill>
                  <a:srgbClr val="000000"/>
                </a:solidFill>
                <a:latin typeface="Lexend"/>
                <a:ea typeface="Lexend"/>
                <a:cs typeface="Lexend"/>
                <a:sym typeface="Lexend"/>
              </a:rPr>
              <a:t>hat rules could they have written?</a:t>
            </a:r>
            <a:endParaRPr sz="1200">
              <a:solidFill>
                <a:srgbClr val="000000"/>
              </a:solidFill>
              <a:latin typeface="Lexend"/>
              <a:ea typeface="Lexend"/>
              <a:cs typeface="Lexend"/>
              <a:sym typeface="Lexend"/>
            </a:endParaRPr>
          </a:p>
        </p:txBody>
      </p:sp>
      <p:sp>
        <p:nvSpPr>
          <p:cNvPr id="245" name="Google Shape;245;p21"/>
          <p:cNvSpPr txBox="1"/>
          <p:nvPr/>
        </p:nvSpPr>
        <p:spPr>
          <a:xfrm>
            <a:off x="468000" y="8764675"/>
            <a:ext cx="2952900" cy="3372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solidFill>
                  <a:srgbClr val="000000"/>
                </a:solidFill>
                <a:latin typeface="Kalam"/>
                <a:ea typeface="Kalam"/>
                <a:cs typeface="Kalam"/>
                <a:sym typeface="Kalam"/>
              </a:rPr>
              <a:t>It is possible that multiple rules can apply to the same two terms. </a:t>
            </a:r>
            <a:endParaRPr sz="1200">
              <a:solidFill>
                <a:srgbClr val="000000"/>
              </a:solidFill>
              <a:latin typeface="Kalam"/>
              <a:ea typeface="Kalam"/>
              <a:cs typeface="Kalam"/>
              <a:sym typeface="Kalam"/>
            </a:endParaRPr>
          </a:p>
        </p:txBody>
      </p:sp>
      <p:sp>
        <p:nvSpPr>
          <p:cNvPr id="246" name="Google Shape;246;p21"/>
          <p:cNvSpPr txBox="1"/>
          <p:nvPr/>
        </p:nvSpPr>
        <p:spPr>
          <a:xfrm>
            <a:off x="492750" y="9454075"/>
            <a:ext cx="3312000" cy="3372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200">
                <a:solidFill>
                  <a:srgbClr val="000000"/>
                </a:solidFill>
                <a:latin typeface="Kalam"/>
                <a:ea typeface="Kalam"/>
                <a:cs typeface="Kalam"/>
                <a:sym typeface="Kalam"/>
              </a:rPr>
              <a:t>E.g. ‘add 10’,     ‘Multiply by 3’,     ‘Multiply by 2 then add 5’ ‘Add 10, then 20, then 30, …</a:t>
            </a:r>
            <a:endParaRPr sz="1200">
              <a:solidFill>
                <a:srgbClr val="000000"/>
              </a:solidFill>
              <a:latin typeface="Kalam"/>
              <a:ea typeface="Kalam"/>
              <a:cs typeface="Kalam"/>
              <a:sym typeface="Kalam"/>
            </a:endParaRPr>
          </a:p>
        </p:txBody>
      </p:sp>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3.10.14"/>
  <p:tag name="AS_TITLE" val="Aspose.Slides for .NET Standard 2.0"/>
  <p:tag name="AS_VERSION" val="23.10"/>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56</Paragraphs>
  <Slides>2</Slides>
  <Notes>2</Notes>
  <TotalTime>0</TotalTime>
  <HiddenSlides>0</HiddenSlides>
  <MMClips>0</MMClips>
  <ScaleCrop>0</ScaleCrop>
  <HeadingPairs>
    <vt:vector baseType="variant" size="6">
      <vt:variant>
        <vt:lpstr>Fonts used</vt:lpstr>
      </vt:variant>
      <vt:variant>
        <vt:i4>5</vt:i4>
      </vt:variant>
      <vt:variant>
        <vt:lpstr>Theme</vt:lpstr>
      </vt:variant>
      <vt:variant>
        <vt:i4>1</vt:i4>
      </vt:variant>
      <vt:variant>
        <vt:lpstr>Slide Titles</vt:lpstr>
      </vt:variant>
      <vt:variant>
        <vt:i4>2</vt:i4>
      </vt:variant>
    </vt:vector>
  </HeadingPairs>
  <TitlesOfParts>
    <vt:vector baseType="lpstr" size="8">
      <vt:lpstr>Arial</vt:lpstr>
      <vt:lpstr>Lexend</vt:lpstr>
      <vt:lpstr>Kalam</vt:lpstr>
      <vt:lpstr>Lexend Medium</vt:lpstr>
      <vt:lpstr>Lexend Light</vt:lpstr>
      <vt:lpstr>simple-light-2</vt:lpstr>
      <vt:lpstr>Generating a sequence using a term-to-term rule</vt:lpstr>
      <vt:lpstr>PowerPoint Presentation</vt:lpstr>
    </vt:vector>
  </TitlesOfParts>
  <LinksUpToDate>0</LinksUpToDate>
  <SharedDoc>0</SharedDoc>
  <HyperlinksChanged>0</HyperlinksChanged>
  <Application>Aspose.Slides for .NET</Application>
  <AppVersion>23.1000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2023-12-08T09:35:47.758</cp:lastPrinted>
  <dcterms:created xsi:type="dcterms:W3CDTF">2023-12-08T09:35:47Z</dcterms:created>
  <dcterms:modified xsi:type="dcterms:W3CDTF">2023-12-08T09:35:57Z</dcterms:modified>
</cp:coreProperties>
</file>