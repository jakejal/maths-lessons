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9b8ded6448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9b8ded64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10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terms of a sequence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774600"/>
            <a:ext cx="6624000" cy="78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Will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467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be in the arithmetic sequence starting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-6, 2, 10, 18, …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 Justify your answer.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467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will not be in the sequence because it is an odd number.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-6, 2, 10,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and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18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 all even numbers and the common difference is even, so the terms will always remain even.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113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129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consecutive terms in an arithmetic sequence. Will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12 718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 in the sequence? Justify your answer.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12 718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will not be in the sequence because it is an even number.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113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and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129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 both odd with an even difference. An odd plus an even will make an odd, therefore the terms will always remain odd.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Will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467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be in the arithmetic sequence starting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-6, -1, 4, …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 Justify your answer.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4 − (−1) = 5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 common difference of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sees the sequence continue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4, 9, 14, 19, …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As a translation of the sequence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will always end with a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or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in the ones column, therefore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467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can not be in the sequence.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4)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113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123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consecutive terms in an arithmetic sequence. Will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12 713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 in the sequence? Justify your answer.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Yes.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123 − 113 = 10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With a common difference of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the sequence continues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123, 133, 143, 153, 163, …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a translation of the sequence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n.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Every term is “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more than a multiple of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” therefore every number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113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or greater that ends with a ones digit of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will be in the sequence. This includes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12 713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374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Justifying terms of a sequence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" name="Google Shape;175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terns of a sequence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30-10-2023/7857e73a-f38e-488d-9299-f4f64572cf26&quot; data-equatio-type=&quot;desmos&quot;&gt;&lt;mglyph src=&quot;https://equatio-api.texthelp.com/desmos/get/30-10-2023/7857e73a-f38e-488d-9299-f4f64572cf26&quot; alt=&quot;Equatio Desmos Graph&quot;/&gt;&lt;/math&gt;" id="181" name="Google Shape;181;p21" title="Equatio Desmos Graph"/>
          <p:cNvPicPr preferRelativeResize="0"/>
          <p:nvPr/>
        </p:nvPicPr>
        <p:blipFill rotWithShape="1">
          <a:blip r:embed="rId3">
            <a:alphaModFix/>
          </a:blip>
          <a:srcRect b="19780" l="15634" r="54832" t="17723"/>
          <a:stretch/>
        </p:blipFill>
        <p:spPr>
          <a:xfrm>
            <a:off x="5432897" y="874745"/>
            <a:ext cx="1351158" cy="214428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468000" y="1065300"/>
            <a:ext cx="66240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Sam is asked to continue this arithmetic sequence and plot 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127 850, 135 350, 142 850, …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68000" y="720000"/>
            <a:ext cx="66240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a graphical representation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5618600" y="2876622"/>
            <a:ext cx="14733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 rot="-5400000">
            <a:off x="4854125" y="1278108"/>
            <a:ext cx="10113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2" y="1686000"/>
            <a:ext cx="431038" cy="6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468000" y="2405800"/>
            <a:ext cx="30456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127 850, 135 350, 142 850, 150 350, 157 850, 165 350, 178 250, 185 750, 193 250, 200 750, …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1141200" y="1717013"/>
            <a:ext cx="29304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They write the below values and plot them.</a:t>
            </a:r>
            <a:endParaRPr i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468000" y="3042000"/>
            <a:ext cx="6624000" cy="11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explaining how you know there has been an error.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You might have written, “Arithmetic sequences plot in a straight line and on the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baseline="30000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term the ‘line’ shifts” so there must have been an error here”.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Whilst the graph shows you instantly there has been an error, you might also have noticed in the numbers they ended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850, 350, 850,...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then shifted to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250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 It was a calculator misread. The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baseline="30000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term was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172 850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974675" y="2559250"/>
            <a:ext cx="660900" cy="3336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6034700" y="874747"/>
            <a:ext cx="862500" cy="8949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 rot="-5400000">
            <a:off x="3844731" y="6745483"/>
            <a:ext cx="12447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30-10-2023/f253f373-2f00-46d4-aec6-2543d29d860a&quot; data-equatio-type=&quot;desmos&quot;&gt;&lt;mglyph src=&quot;https://equatio-api.texthelp.com/desmos/get/30-10-2023/f253f373-2f00-46d4-aec6-2543d29d860a&quot; alt=&quot;Equatio Desmos Graph&quot;/&gt;&lt;/math&gt;" id="193" name="Google Shape;193;p21" title="Equatio Desmos Graph"/>
          <p:cNvPicPr preferRelativeResize="0"/>
          <p:nvPr/>
        </p:nvPicPr>
        <p:blipFill rotWithShape="1">
          <a:blip r:embed="rId5">
            <a:alphaModFix/>
          </a:blip>
          <a:srcRect b="34755" l="7900" r="25433" t="37534"/>
          <a:stretch/>
        </p:blipFill>
        <p:spPr>
          <a:xfrm>
            <a:off x="4532023" y="6685043"/>
            <a:ext cx="2303188" cy="71799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468000" y="5033900"/>
            <a:ext cx="66240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graphs to spot the incorrect terms in these arithmetic sequences.</a:t>
            </a:r>
            <a:endParaRPr i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1635576" y="5470092"/>
            <a:ext cx="294900" cy="2346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463275" y="5901600"/>
            <a:ext cx="36768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aseline="30000" lang="en-GB" sz="1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term is not in line.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0.3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must not be its value.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5903078" y="6094717"/>
            <a:ext cx="244500" cy="2589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30-10-2023/d868a5ab-593d-45d6-bb08-95ff346ff987&quot; data-equatio-type=&quot;desmos&quot;&gt;&lt;mglyph src=&quot;https://equatio-api.texthelp.com/desmos/get/30-10-2023/d868a5ab-593d-45d6-bb08-95ff346ff987&quot; alt=&quot;Equatio Desmos Graph&quot;/&gt;&lt;/math&gt;" id="198" name="Google Shape;198;p21" title="Equatio Desmos Graph"/>
          <p:cNvPicPr preferRelativeResize="0"/>
          <p:nvPr/>
        </p:nvPicPr>
        <p:blipFill rotWithShape="1">
          <a:blip r:embed="rId6">
            <a:alphaModFix/>
          </a:blip>
          <a:srcRect b="38861" l="14812" r="38942" t="34618"/>
          <a:stretch/>
        </p:blipFill>
        <p:spPr>
          <a:xfrm>
            <a:off x="4518320" y="5569925"/>
            <a:ext cx="1880846" cy="80894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4684175" y="6126044"/>
            <a:ext cx="13512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 rot="-5400000">
            <a:off x="3794278" y="5703674"/>
            <a:ext cx="11112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68000" y="5484075"/>
            <a:ext cx="38784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0.83, 0.72, 0.61, 0.3, 0.39, 0.28, 0.17, 0.06,−0.05,−0.16, …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152350" y="5908586"/>
            <a:ext cx="244500" cy="2589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68000" y="6950804"/>
            <a:ext cx="32838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baseline="30000" lang="en-GB" sz="1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term is not in line.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0.35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must not be its value.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63275" y="6643518"/>
            <a:ext cx="71352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−0.1,−0.85,−0.7,−0.55,−0.4,−0.25,−0.1, 0.35, 0.2, 0.35, …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6163276" y="6786346"/>
            <a:ext cx="229200" cy="2430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5634702" y="7043133"/>
            <a:ext cx="13512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3062325" y="6583833"/>
            <a:ext cx="357600" cy="3042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30-10-2023/6730e407-9f2c-4386-b92d-d2b0088a4cd1&quot; data-equatio-type=&quot;desmos&quot;&gt;&lt;mglyph src=&quot;https://equatio-api.texthelp.com/desmos/get/30-10-2023/6730e407-9f2c-4386-b92d-d2b0088a4cd1&quot; alt=&quot;Equatio Desmos Graph&quot;/&gt;&lt;/math&gt;" id="208" name="Google Shape;208;p21" title="Equatio Desmos Graph"/>
          <p:cNvPicPr preferRelativeResize="0"/>
          <p:nvPr/>
        </p:nvPicPr>
        <p:blipFill rotWithShape="1">
          <a:blip r:embed="rId7">
            <a:alphaModFix/>
          </a:blip>
          <a:srcRect b="33410" l="2712" r="29988" t="37508"/>
          <a:stretch/>
        </p:blipFill>
        <p:spPr>
          <a:xfrm>
            <a:off x="4526906" y="8075211"/>
            <a:ext cx="2334136" cy="75648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/>
          <p:nvPr/>
        </p:nvSpPr>
        <p:spPr>
          <a:xfrm>
            <a:off x="6229598" y="8325135"/>
            <a:ext cx="268800" cy="2850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336267" y="8603416"/>
            <a:ext cx="15528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 rot="-5400000">
            <a:off x="3816764" y="8056116"/>
            <a:ext cx="11637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65900" y="7833230"/>
            <a:ext cx="4548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,\frac{7}{12},\frac{2}{3},\frac{3}{4},\frac{5}{6},\frac{9}{15},1\ ...&quot;&gt;&lt;mfrac&gt;&lt;mn&gt;1&lt;/mn&gt;&lt;mn&gt;2&lt;/mn&gt;&lt;/mfrac&gt;&lt;mo&gt;,&lt;/mo&gt;&lt;mfrac&gt;&lt;mn&gt;7&lt;/mn&gt;&lt;mn&gt;12&lt;/mn&gt;&lt;/mfrac&gt;&lt;mo&gt;,&lt;/mo&gt;&lt;mfrac&gt;&lt;mn&gt;2&lt;/mn&gt;&lt;mn&gt;3&lt;/mn&gt;&lt;/mfrac&gt;&lt;mo&gt;,&lt;/mo&gt;&lt;mfrac&gt;&lt;mn&gt;3&lt;/mn&gt;&lt;mn&gt;4&lt;/mn&gt;&lt;/mfrac&gt;&lt;mo&gt;,&lt;/mo&gt;&lt;mfrac&gt;&lt;mn&gt;5&lt;/mn&gt;&lt;mn&gt;6&lt;/mn&gt;&lt;/mfrac&gt;&lt;mo&gt;,&lt;/mo&gt;&lt;mfrac&gt;&lt;mn&gt;9&lt;/mn&gt;&lt;mn&gt;15&lt;/mn&gt;&lt;/mfrac&gt;&lt;mo&gt;,&lt;/mo&gt;&lt;mn&gt;1&lt;/mn&gt;&lt;mtext&gt;&lt;/mtext&gt;&lt;mo&gt;.&lt;/mo&gt;&lt;mo&gt;.&lt;/mo&gt;&lt;mo&gt;.&lt;/mo&gt;&lt;/math&gt;" id="213" name="Google Shape;213;p21" title="one half comma 7 over 12 comma two thirds comma three fourths comma five sixths comma 9 over 15 comma 1 period period perio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3325" y="7888041"/>
            <a:ext cx="2303175" cy="46909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468000" y="8596338"/>
            <a:ext cx="32838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aseline="30000" lang="en-GB" sz="1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term is not in line.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must not be its value.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9}{15}&quot;&gt;&lt;mfrac&gt;&lt;mn&gt;9&lt;/mn&gt;&lt;mn&gt;15&lt;/mn&gt;&lt;/mfrac&gt;&lt;/math&gt;" id="215" name="Google Shape;215;p21" title="9 over 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1748" y="8767411"/>
            <a:ext cx="158400" cy="288977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/>
          <p:nvPr/>
        </p:nvSpPr>
        <p:spPr>
          <a:xfrm>
            <a:off x="2253419" y="7833230"/>
            <a:ext cx="350400" cy="6243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3" name="Google Shape;223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</a:t>
            </a:r>
            <a:r>
              <a:rPr lang="en-GB"/>
              <a:t> terms of a sequence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</a:t>
            </a:r>
            <a:r>
              <a:rPr lang="en-GB"/>
              <a:t>Education and</a:t>
            </a:r>
            <a:r>
              <a:rPr lang="en-GB"/>
              <a:t> Industry</a:t>
            </a:r>
            <a:endParaRPr/>
          </a:p>
        </p:txBody>
      </p:sp>
      <p:pic>
        <p:nvPicPr>
          <p:cNvPr id="226" name="Google Shape;226;p22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3420493" y="919977"/>
            <a:ext cx="3676800" cy="528874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462713" y="719994"/>
            <a:ext cx="66240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Laura is asked if the sequence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in the sequence starting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−8, −2, 4, 10, 16,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She says: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8" name="Google Shape;22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642495" y="1367306"/>
            <a:ext cx="454800" cy="59566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3561193" y="933227"/>
            <a:ext cx="342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“I’ll draw a graph and see if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in line”</a:t>
            </a:r>
            <a:endParaRPr sz="1200"/>
          </a:p>
        </p:txBody>
      </p:sp>
      <p:sp>
        <p:nvSpPr>
          <p:cNvPr id="230" name="Google Shape;230;p22"/>
          <p:cNvSpPr txBox="1"/>
          <p:nvPr/>
        </p:nvSpPr>
        <p:spPr>
          <a:xfrm>
            <a:off x="462713" y="1254694"/>
            <a:ext cx="29304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explaining why this might not be the most efficient method to use on this occasion.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462725" y="2027750"/>
            <a:ext cx="66240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included, “The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117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will have quite a large term number if it is in the sequence, it would take a long time to plot this without technology.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It would be more appropriate, and certainly quicker, to use the odd/even features of this sequence to justify why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117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is not in this sequence”.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2" name="Google Shape;232;p22"/>
          <p:cNvCxnSpPr/>
          <p:nvPr/>
        </p:nvCxnSpPr>
        <p:spPr>
          <a:xfrm>
            <a:off x="474757" y="30358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22"/>
          <p:cNvSpPr txBox="1"/>
          <p:nvPr/>
        </p:nvSpPr>
        <p:spPr>
          <a:xfrm>
            <a:off x="468000" y="3524600"/>
            <a:ext cx="60744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and approximation to find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the arithmetic sequence starting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23, 36, 49,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462725" y="3187400"/>
            <a:ext cx="6634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the </a:t>
            </a:r>
            <a:r>
              <a:rPr b="1"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baseline="30000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</a:t>
            </a:r>
            <a:endParaRPr b="1"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462725" y="4062225"/>
            <a:ext cx="18357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term is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462725" y="4372800"/>
            <a:ext cx="66240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We can approximate that it is near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term.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30     13(30) − 3 = 390 − 3 = 387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3420500" y="4622800"/>
            <a:ext cx="36768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Count on.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387, 400, …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469500" y="4988063"/>
            <a:ext cx="66345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is in the sequence. It’s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term.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4067214" y="4868122"/>
            <a:ext cx="6216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baseline="30000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endParaRPr baseline="30000"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4372014" y="4868122"/>
            <a:ext cx="6216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</a:t>
            </a:r>
            <a:r>
              <a:rPr baseline="30000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endParaRPr baseline="30000"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462725" y="5283950"/>
            <a:ext cx="6634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Is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the arithmetic sequence starting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−22, −14, −6, 2, …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Write a sentence to justify your answer.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474750" y="5944550"/>
            <a:ext cx="66240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term is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− 30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is approximately 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baseline="30000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term.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478400" y="6255275"/>
            <a:ext cx="33588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50     8(50) − 30 = 370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2298425" y="6263775"/>
            <a:ext cx="4782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Count on: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370, 378, 386, 394, 402, …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457475" y="6554800"/>
            <a:ext cx="663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394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is the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53rd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term,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402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is the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54</a:t>
            </a:r>
            <a:r>
              <a:rPr baseline="30000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term therefore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400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can not be in the sequence.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46" name="Google Shape;24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400" y="6824000"/>
            <a:ext cx="1417662" cy="762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88468" y="6827844"/>
            <a:ext cx="1384528" cy="757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67768" y="6824587"/>
            <a:ext cx="1412929" cy="76681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4975470" y="6770650"/>
            <a:ext cx="2092500" cy="10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is no whole number I can substitute in to 8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− 30 to make 400 and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, the term number, needs to be whole. It is not in the sequence.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457475" y="7805050"/>
            <a:ext cx="52896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Is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−12.75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the arithmetic sequence starting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21.25, 20.9, 20.55, 20.2, …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Fully justify your answer.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478350" y="8246600"/>
            <a:ext cx="20925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term is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21.6 − 0.35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478403" y="8702525"/>
            <a:ext cx="2930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100     21.6 − 0.35(100) = −13.4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478400" y="8940425"/>
            <a:ext cx="30828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Count back: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−12.7, −13.05, −13.4 …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457350" y="9397828"/>
            <a:ext cx="3429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−12.7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is the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98</a:t>
            </a:r>
            <a:r>
              <a:rPr baseline="30000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term,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−13.05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is the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99</a:t>
            </a:r>
            <a:r>
              <a:rPr baseline="30000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term therefore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−12.75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can not be in the sequence.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457350" y="8453900"/>
            <a:ext cx="66105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21 − 35 = −14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 approximately 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aseline="30000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term.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1344992" y="9158457"/>
            <a:ext cx="6216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98</a:t>
            </a:r>
            <a:r>
              <a:rPr baseline="30000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endParaRPr baseline="30000"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1802192" y="9158457"/>
            <a:ext cx="6216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99</a:t>
            </a:r>
            <a:r>
              <a:rPr baseline="30000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aseline="30000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baseline="30000"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2231800" y="9158457"/>
            <a:ext cx="6216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endParaRPr baseline="30000"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9" name="Google Shape;259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74800" y="8127873"/>
            <a:ext cx="1384525" cy="76031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4140200" y="8923325"/>
            <a:ext cx="2930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non-whole value that makes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−12.75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was difficult to find so it’s less appropriate to use this justification on this occasion.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