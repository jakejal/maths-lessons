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5d32262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d32262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5d322623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5d322623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95d322623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95d32262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95d322623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5d322623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5d322623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5d322623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295d3226235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295d322623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95d3226235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95d3226235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95d322623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95d322623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295d322623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95d322623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95d322623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95d322623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95d3226235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95d3226235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95d322623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95d322623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95d322623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95d322623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95d3226235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95d3226235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95d322623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95d322623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95d3226235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5d3226235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95d3226235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95d322623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95d3226235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95d3226235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95d3226235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95d3226235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95d3226235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95d3226235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95d3226235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95d322623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95d3226235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95d3226235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95d3226235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95d322623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95d3226235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95d3226235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295d3226235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7" name="Google Shape;1057;g295d3226235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95d3226235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95d3226235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95d3226235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95d3226235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95d3226235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95d3226235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95d322623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95d322623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5d3226235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5d3226235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95d3226235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95d322623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5d3226235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5d3226235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95d3226235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95d3226235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95d3226235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95d3226235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95d3226235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95d3226235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95d3226235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95d3226235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73.png"/><Relationship Id="rId5" Type="http://schemas.openxmlformats.org/officeDocument/2006/relationships/image" Target="../media/image30.png"/><Relationship Id="rId6" Type="http://schemas.openxmlformats.org/officeDocument/2006/relationships/image" Target="../media/image28.png"/><Relationship Id="rId7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3.png"/><Relationship Id="rId4" Type="http://schemas.openxmlformats.org/officeDocument/2006/relationships/image" Target="../media/image26.png"/><Relationship Id="rId9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3.png"/><Relationship Id="rId4" Type="http://schemas.openxmlformats.org/officeDocument/2006/relationships/image" Target="../media/image29.png"/><Relationship Id="rId11" Type="http://schemas.openxmlformats.org/officeDocument/2006/relationships/image" Target="../media/image16.png"/><Relationship Id="rId10" Type="http://schemas.openxmlformats.org/officeDocument/2006/relationships/image" Target="../media/image39.png"/><Relationship Id="rId9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61.png"/><Relationship Id="rId5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64.png"/><Relationship Id="rId5" Type="http://schemas.openxmlformats.org/officeDocument/2006/relationships/image" Target="../media/image58.png"/><Relationship Id="rId6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Relationship Id="rId4" Type="http://schemas.openxmlformats.org/officeDocument/2006/relationships/image" Target="../media/image58.png"/><Relationship Id="rId5" Type="http://schemas.openxmlformats.org/officeDocument/2006/relationships/image" Target="../media/image7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Relationship Id="rId4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2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15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determine whether a number is a term in a given arithmetic sequence.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1176125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An arithmetic (or linear) sequence is a sequence where the difference between successive terms is a constant.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3789985"/>
            <a:ext cx="74859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4, 8, …</a:t>
            </a:r>
            <a:r>
              <a:rPr lang="en-GB">
                <a:solidFill>
                  <a:schemeClr val="dk1"/>
                </a:solidFill>
              </a:rPr>
              <a:t> is not arithmetic. The difference between terms is not constant.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324000" y="2189785"/>
            <a:ext cx="74859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9, 13, 17, …</a:t>
            </a:r>
            <a:r>
              <a:rPr lang="en-GB">
                <a:solidFill>
                  <a:schemeClr val="dk1"/>
                </a:solidFill>
              </a:rPr>
              <a:t> is an arithmetic sequence. A constant difference of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r>
              <a:rPr lang="en-GB">
                <a:solidFill>
                  <a:schemeClr val="dk1"/>
                </a:solidFill>
              </a:rPr>
              <a:t> between terms.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776" name="Google Shape;776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85" y="174962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805430"/>
            <a:ext cx="7135200" cy="8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the features of an arithmetic sequence to </a:t>
            </a:r>
            <a:r>
              <a:rPr lang="en-GB" sz="2000">
                <a:solidFill>
                  <a:schemeClr val="accent4"/>
                </a:solidFill>
              </a:rPr>
              <a:t>justify </a:t>
            </a:r>
            <a:r>
              <a:rPr lang="en-GB" sz="2000"/>
              <a:t>whether a given number is a term in that sequence or not.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19398" y="2017625"/>
            <a:ext cx="59913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Will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4583</a:t>
            </a:r>
            <a:r>
              <a:rPr lang="en-GB" sz="2000"/>
              <a:t> be a term in the arithmetic 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2, 8, 14, 20, 26, …</a:t>
            </a:r>
            <a:r>
              <a:rPr lang="en-GB" sz="2000"/>
              <a:t>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24000" y="3465425"/>
            <a:ext cx="7059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4583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not be in the sequence because it is an odd number.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2, 8, 14, 20, 26, …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all even numbers. The common difference is even, so the terms will always remain even.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319398" y="2932025"/>
            <a:ext cx="59913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might we </a:t>
            </a:r>
            <a:r>
              <a:rPr lang="en-GB" sz="2000">
                <a:solidFill>
                  <a:schemeClr val="accent4"/>
                </a:solidFill>
              </a:rPr>
              <a:t>justify</a:t>
            </a:r>
            <a:r>
              <a:rPr lang="en-GB" sz="2000"/>
              <a:t> our answer?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0"/>
          <p:cNvSpPr txBox="1"/>
          <p:nvPr>
            <p:ph idx="1" type="subTitle"/>
          </p:nvPr>
        </p:nvSpPr>
        <p:spPr>
          <a:xfrm>
            <a:off x="980575" y="3138450"/>
            <a:ext cx="23889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897 </a:t>
            </a:r>
            <a:r>
              <a:rPr lang="en-GB" sz="1800"/>
              <a:t>ends in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800"/>
              <a:t>, not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/>
          </a:p>
        </p:txBody>
      </p:sp>
      <p:sp>
        <p:nvSpPr>
          <p:cNvPr id="792" name="Google Shape;792;p70"/>
          <p:cNvSpPr txBox="1"/>
          <p:nvPr>
            <p:ph idx="2" type="subTitle"/>
          </p:nvPr>
        </p:nvSpPr>
        <p:spPr>
          <a:xfrm>
            <a:off x="324000" y="1080000"/>
            <a:ext cx="788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897</a:t>
            </a:r>
            <a:r>
              <a:rPr lang="en-GB" sz="2000"/>
              <a:t> is in the arithmetic 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-16, -6, 4, 14,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70"/>
          <p:cNvSpPr txBox="1"/>
          <p:nvPr>
            <p:ph idx="3" type="subTitle"/>
          </p:nvPr>
        </p:nvSpPr>
        <p:spPr>
          <a:xfrm>
            <a:off x="980575" y="3728525"/>
            <a:ext cx="7278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sequence has a common difference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+10 </a:t>
            </a:r>
            <a:r>
              <a:rPr lang="en-GB" sz="1800"/>
              <a:t>therefore all subsequent positive terms will end with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/>
              <a:t> in the ones column.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897</a:t>
            </a:r>
            <a:r>
              <a:rPr lang="en-GB" sz="1800"/>
              <a:t> does not have a ones digit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800"/>
              <a:t>.</a:t>
            </a:r>
            <a:endParaRPr sz="2000"/>
          </a:p>
        </p:txBody>
      </p:sp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pic>
        <p:nvPicPr>
          <p:cNvPr id="795" name="Google Shape;7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1819" y="4062949"/>
            <a:ext cx="427181" cy="419101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70"/>
          <p:cNvSpPr txBox="1"/>
          <p:nvPr>
            <p:ph idx="1" type="subTitle"/>
          </p:nvPr>
        </p:nvSpPr>
        <p:spPr>
          <a:xfrm>
            <a:off x="3384381" y="3149992"/>
            <a:ext cx="39765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a detailed enough justification.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803" name="Google Shape;803;p71"/>
          <p:cNvSpPr txBox="1"/>
          <p:nvPr>
            <p:ph idx="1" type="body"/>
          </p:nvPr>
        </p:nvSpPr>
        <p:spPr>
          <a:xfrm>
            <a:off x="319400" y="798425"/>
            <a:ext cx="7139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Will the arithmetic sequences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+ 13</a:t>
            </a:r>
            <a:r>
              <a:rPr lang="en-GB" sz="1900"/>
              <a:t> and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− 28</a:t>
            </a:r>
            <a:r>
              <a:rPr lang="en-GB" sz="1900"/>
              <a:t> ever share a common term?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71"/>
          <p:cNvSpPr txBox="1"/>
          <p:nvPr>
            <p:ph idx="1" type="body"/>
          </p:nvPr>
        </p:nvSpPr>
        <p:spPr>
          <a:xfrm>
            <a:off x="324000" y="3266895"/>
            <a:ext cx="8496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+ 13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translation of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therefore it will always end with 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 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the ones position.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1"/>
          <p:cNvSpPr txBox="1"/>
          <p:nvPr>
            <p:ph idx="1" type="body"/>
          </p:nvPr>
        </p:nvSpPr>
        <p:spPr>
          <a:xfrm>
            <a:off x="319400" y="1625100"/>
            <a:ext cx="8496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There are lots of ways we might show this mathematically. One simple way, is to consider the features of the first few terms then </a:t>
            </a:r>
            <a:r>
              <a:rPr lang="en-GB" sz="1900">
                <a:solidFill>
                  <a:schemeClr val="accent4"/>
                </a:solidFill>
              </a:rPr>
              <a:t>justify</a:t>
            </a:r>
            <a:r>
              <a:rPr lang="en-GB" sz="1900"/>
              <a:t>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5n+13:\ 18,\ 23,\ 28,\ 33,\ 38\ ...&quot;&gt;&lt;mn&gt;5&lt;/mn&gt;&lt;mi&gt;n&lt;/mi&gt;&lt;mo&gt;+&lt;/mo&gt;&lt;mn&gt;13&lt;/mn&gt;&lt;mo&gt;:&lt;/mo&gt;&lt;mtext&gt;&lt;/mtext&gt;&lt;mn&gt;18&lt;/mn&gt;&lt;mo&gt;,&lt;/mo&gt;&lt;mtext&gt;&lt;/mtext&gt;&lt;mn&gt;23&lt;/mn&gt;&lt;mo&gt;,&lt;/mo&gt;&lt;mtext&gt;&lt;/mtext&gt;&lt;mn&gt;28&lt;/mn&gt;&lt;mo&gt;,&lt;/mo&gt;&lt;mtext&gt;&lt;/mtext&gt;&lt;mn&gt;33&lt;/mn&gt;&lt;mo&gt;,&lt;/mo&gt;&lt;mtext&gt;&lt;/mtext&gt;&lt;mn&gt;38&lt;/mn&gt;&lt;mtext&gt;&lt;/mtext&gt;&lt;mo&gt;.&lt;/mo&gt;&lt;mo&gt;.&lt;/mo&gt;&lt;mo&gt;.&lt;/mo&gt;&lt;/math&gt;" id="806" name="Google Shape;806;p71" title="5 n plus 13 colon 18 comma 23 comma 28 comma 33 comma 38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08" y="2460885"/>
            <a:ext cx="3371971" cy="219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n-28:\ -18,-8,\ 2,\ 12,\ 22\ ...&quot;&gt;&lt;mn&gt;10&lt;/mn&gt;&lt;mi&gt;n&lt;/mi&gt;&lt;mo&gt;−&lt;/mo&gt;&lt;mn&gt;28&lt;/mn&gt;&lt;mo&gt;:&lt;/mo&gt;&lt;mtext&gt;&lt;/mtext&gt;&lt;mo&gt;−&lt;/mo&gt;&lt;mn&gt;18&lt;/mn&gt;&lt;mo&gt;,&lt;/mo&gt;&lt;mo&gt;−&lt;/mo&gt;&lt;mn&gt;8&lt;/mn&gt;&lt;mo&gt;,&lt;/mo&gt;&lt;mtext&gt;&lt;/mtext&gt;&lt;mn&gt;2&lt;/mn&gt;&lt;mo&gt;,&lt;/mo&gt;&lt;mtext&gt;&lt;/mtext&gt;&lt;mn&gt;12&lt;/mn&gt;&lt;mo&gt;,&lt;/mo&gt;&lt;mtext&gt;&lt;/mtext&gt;&lt;mn&gt;22&lt;/mn&gt;&lt;mtext&gt;&lt;/mtext&gt;&lt;mo&gt;.&lt;/mo&gt;&lt;mo&gt;.&lt;/mo&gt;&lt;mo&gt;.&lt;/mo&gt;&lt;/math&gt;" id="807" name="Google Shape;807;p71" title="10 n minus 28 colon negative 18 comma negative 8 comma 2 comma 12 comma 22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08" y="2880288"/>
            <a:ext cx="3624042" cy="214881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1"/>
          <p:cNvSpPr txBox="1"/>
          <p:nvPr>
            <p:ph idx="1" type="body"/>
          </p:nvPr>
        </p:nvSpPr>
        <p:spPr>
          <a:xfrm>
            <a:off x="324000" y="4105095"/>
            <a:ext cx="8496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− 28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translation of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therefore all positive terms will continue to end with 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 the ones position.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1"/>
          <p:cNvSpPr txBox="1"/>
          <p:nvPr>
            <p:ph idx="1" type="body"/>
          </p:nvPr>
        </p:nvSpPr>
        <p:spPr>
          <a:xfrm>
            <a:off x="3360754" y="1186425"/>
            <a:ext cx="47793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They will never have a common term.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7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statement is true of the sequences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 </a:t>
            </a:r>
            <a:r>
              <a:rPr lang="en-GB" sz="2000"/>
              <a:t>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 </a:t>
            </a:r>
            <a:r>
              <a:rPr lang="en-GB"/>
              <a:t>?</a:t>
            </a:r>
            <a:endParaRPr/>
          </a:p>
        </p:txBody>
      </p:sp>
      <p:sp>
        <p:nvSpPr>
          <p:cNvPr id="815" name="Google Shape;815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958225" y="1837775"/>
            <a:ext cx="6314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share a common term.</a:t>
            </a:r>
            <a:endParaRPr sz="2000"/>
          </a:p>
        </p:txBody>
      </p:sp>
      <p:sp>
        <p:nvSpPr>
          <p:cNvPr id="817" name="Google Shape;817;p72"/>
          <p:cNvSpPr txBox="1"/>
          <p:nvPr>
            <p:ph idx="3" type="subTitle"/>
          </p:nvPr>
        </p:nvSpPr>
        <p:spPr>
          <a:xfrm>
            <a:off x="958225" y="2794251"/>
            <a:ext cx="6314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do not share a common term.</a:t>
            </a:r>
            <a:endParaRPr sz="2000"/>
          </a:p>
        </p:txBody>
      </p:sp>
      <p:sp>
        <p:nvSpPr>
          <p:cNvPr id="818" name="Google Shape;818;p72"/>
          <p:cNvSpPr txBox="1"/>
          <p:nvPr>
            <p:ph idx="4" type="subTitle"/>
          </p:nvPr>
        </p:nvSpPr>
        <p:spPr>
          <a:xfrm>
            <a:off x="958225" y="3859234"/>
            <a:ext cx="6278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can’t tell if there is a common term or not.</a:t>
            </a:r>
            <a:endParaRPr sz="2000"/>
          </a:p>
        </p:txBody>
      </p:sp>
      <p:pic>
        <p:nvPicPr>
          <p:cNvPr id="819" name="Google Shape;81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513" y="266828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2"/>
          <p:cNvSpPr txBox="1"/>
          <p:nvPr>
            <p:ph idx="3" type="subTitle"/>
          </p:nvPr>
        </p:nvSpPr>
        <p:spPr>
          <a:xfrm>
            <a:off x="729625" y="1170975"/>
            <a:ext cx="2836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− 4: 1, 6, 11, 16, 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1" name="Google Shape;821;p72"/>
          <p:cNvSpPr txBox="1"/>
          <p:nvPr>
            <p:ph idx="3" type="subTitle"/>
          </p:nvPr>
        </p:nvSpPr>
        <p:spPr>
          <a:xfrm>
            <a:off x="1015888" y="3082990"/>
            <a:ext cx="77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 translation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therefore will always end in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2" name="Google Shape;822;p72"/>
          <p:cNvSpPr txBox="1"/>
          <p:nvPr>
            <p:ph idx="3" type="subTitle"/>
          </p:nvPr>
        </p:nvSpPr>
        <p:spPr>
          <a:xfrm>
            <a:off x="4082425" y="1170975"/>
            <a:ext cx="3266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− 1: 19, 39, 59, 79 …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2"/>
          <p:cNvSpPr txBox="1"/>
          <p:nvPr>
            <p:ph idx="3" type="subTitle"/>
          </p:nvPr>
        </p:nvSpPr>
        <p:spPr>
          <a:xfrm>
            <a:off x="1015888" y="3433920"/>
            <a:ext cx="77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a translation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therefore will always end in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829" name="Google Shape;829;p73"/>
          <p:cNvSpPr txBox="1"/>
          <p:nvPr>
            <p:ph idx="1" type="body"/>
          </p:nvPr>
        </p:nvSpPr>
        <p:spPr>
          <a:xfrm>
            <a:off x="319400" y="1636625"/>
            <a:ext cx="7139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Will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16.879</a:t>
            </a:r>
            <a:r>
              <a:rPr lang="en-GB"/>
              <a:t> </a:t>
            </a:r>
            <a:r>
              <a:rPr lang="en-GB" sz="2000"/>
              <a:t>ever be in the arithmetic</a:t>
            </a:r>
            <a:r>
              <a:rPr lang="en-GB"/>
              <a:t> </a:t>
            </a:r>
            <a:r>
              <a:rPr lang="en-GB" sz="2000"/>
              <a:t>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11.758, 11.635, 11.512, 11.389, …</a:t>
            </a:r>
            <a:r>
              <a:rPr lang="en-GB" sz="2000"/>
              <a:t> ?</a:t>
            </a:r>
            <a:endParaRPr/>
          </a:p>
        </p:txBody>
      </p:sp>
      <p:sp>
        <p:nvSpPr>
          <p:cNvPr id="830" name="Google Shape;830;p73"/>
          <p:cNvSpPr txBox="1"/>
          <p:nvPr>
            <p:ph idx="1" type="body"/>
          </p:nvPr>
        </p:nvSpPr>
        <p:spPr>
          <a:xfrm>
            <a:off x="324000" y="2581095"/>
            <a:ext cx="8496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It’s a decreasing sequence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16.879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greater than the first term.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1" name="Google Shape;831;p73"/>
          <p:cNvSpPr txBox="1"/>
          <p:nvPr>
            <p:ph idx="1" type="body"/>
          </p:nvPr>
        </p:nvSpPr>
        <p:spPr>
          <a:xfrm>
            <a:off x="319400" y="775350"/>
            <a:ext cx="85005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the justification can be about increasing or decreasing sequences.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4"/>
          <p:cNvSpPr txBox="1"/>
          <p:nvPr>
            <p:ph idx="1" type="subTitle"/>
          </p:nvPr>
        </p:nvSpPr>
        <p:spPr>
          <a:xfrm>
            <a:off x="980575" y="3085315"/>
            <a:ext cx="69447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make a common denominator of sixths so it might be in the sequence.</a:t>
            </a:r>
            <a:endParaRPr sz="1800"/>
          </a:p>
        </p:txBody>
      </p:sp>
      <p:sp>
        <p:nvSpPr>
          <p:cNvPr id="837" name="Google Shape;837;p74"/>
          <p:cNvSpPr txBox="1"/>
          <p:nvPr>
            <p:ph idx="2" type="subTitle"/>
          </p:nvPr>
        </p:nvSpPr>
        <p:spPr>
          <a:xfrm>
            <a:off x="324000" y="1156200"/>
            <a:ext cx="788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2000"/>
              <a:t> is in the arithmetic sequence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74"/>
          <p:cNvSpPr txBox="1"/>
          <p:nvPr>
            <p:ph idx="3" type="subTitle"/>
          </p:nvPr>
        </p:nvSpPr>
        <p:spPr>
          <a:xfrm>
            <a:off x="980575" y="3938588"/>
            <a:ext cx="74418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a decreasing sequence and       is already higher than the first term therefore it can not be in the sequence.</a:t>
            </a:r>
            <a:endParaRPr sz="2000"/>
          </a:p>
        </p:txBody>
      </p:sp>
      <p:sp>
        <p:nvSpPr>
          <p:cNvPr id="839" name="Google Shape;839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pic>
        <p:nvPicPr>
          <p:cNvPr id="840" name="Google Shape;84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7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0419" y="3910549"/>
            <a:ext cx="427181" cy="419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}&quot;&gt;&lt;mfrac&gt;&lt;mn&gt;19&lt;/mn&gt;&lt;mn&gt;6&lt;/mn&gt;&lt;/mfrac&gt;&lt;/math&gt;" id="842" name="Google Shape;842;p74" title="nineteen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76" y="1063534"/>
            <a:ext cx="333025" cy="607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6}&quot;&gt;&lt;mfrac&gt;&lt;mn&gt;19&lt;/mn&gt;&lt;mn&gt;6&lt;/mn&gt;&lt;/mfrac&gt;&lt;/math&gt;" id="843" name="Google Shape;843;p74" title="nineteen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845" y="3818041"/>
            <a:ext cx="252092" cy="45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6},\frac{8}{3},\frac{15}{6},\frac{7}{3},\frac{13}{6},\ ...&quot;&gt;&lt;mfrac&gt;&lt;mn&gt;17&lt;/mn&gt;&lt;mn&gt;6&lt;/mn&gt;&lt;/mfrac&gt;&lt;mo&gt;,&lt;/mo&gt;&lt;mfrac&gt;&lt;mn&gt;8&lt;/mn&gt;&lt;mn&gt;3&lt;/mn&gt;&lt;/mfrac&gt;&lt;mo&gt;,&lt;/mo&gt;&lt;mfrac&gt;&lt;mn&gt;15&lt;/mn&gt;&lt;mn&gt;6&lt;/mn&gt;&lt;/mfrac&gt;&lt;mo&gt;,&lt;/mo&gt;&lt;mfrac&gt;&lt;mn&gt;7&lt;/mn&gt;&lt;mn&gt;3&lt;/mn&gt;&lt;/mfrac&gt;&lt;mo&gt;,&lt;/mo&gt;&lt;mfrac&gt;&lt;mn&gt;13&lt;/mn&gt;&lt;mn&gt;6&lt;/mn&gt;&lt;/mfrac&gt;&lt;mo&gt;,&lt;/mo&gt;&lt;mtext&gt;&lt;/mtext&gt;&lt;mo&gt;.&lt;/mo&gt;&lt;mo&gt;.&lt;/mo&gt;&lt;mo&gt;.&lt;/mo&gt;&lt;/math&gt;" id="844" name="Google Shape;844;p74" title="seventeen sixths comma eight thirds comma fifteen sixths comma seven thirds comma thirteen sixths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9733" y="1051000"/>
            <a:ext cx="2663149" cy="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>
            <p:ph idx="1" type="body"/>
          </p:nvPr>
        </p:nvSpPr>
        <p:spPr>
          <a:xfrm>
            <a:off x="324000" y="759300"/>
            <a:ext cx="6684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/>
              <a:t> be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-6, 2, 10, 18, …</a:t>
            </a:r>
            <a:r>
              <a:rPr lang="en-GB"/>
              <a:t>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/>
          </a:p>
        </p:txBody>
      </p:sp>
      <p:sp>
        <p:nvSpPr>
          <p:cNvPr id="850" name="Google Shape;850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851" name="Google Shape;851;p75"/>
          <p:cNvSpPr txBox="1"/>
          <p:nvPr>
            <p:ph idx="1" type="body"/>
          </p:nvPr>
        </p:nvSpPr>
        <p:spPr>
          <a:xfrm>
            <a:off x="324000" y="31977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/>
              <a:t>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129</a:t>
            </a:r>
            <a:r>
              <a:rPr lang="en-GB"/>
              <a:t> are consecutive terms in an arithmetic sequence.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12 718 </a:t>
            </a:r>
            <a:r>
              <a:rPr lang="en-GB"/>
              <a:t>be in the sequence?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6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/>
              <a:t> be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-6, -1, 4, …</a:t>
            </a:r>
            <a:r>
              <a:rPr lang="en-GB"/>
              <a:t>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/>
          </a:p>
        </p:txBody>
      </p:sp>
      <p:sp>
        <p:nvSpPr>
          <p:cNvPr id="857" name="Google Shape;857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858" name="Google Shape;858;p76"/>
          <p:cNvSpPr txBox="1"/>
          <p:nvPr>
            <p:ph idx="1" type="body"/>
          </p:nvPr>
        </p:nvSpPr>
        <p:spPr>
          <a:xfrm>
            <a:off x="324000" y="31977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/>
              <a:t>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123</a:t>
            </a:r>
            <a:r>
              <a:rPr lang="en-GB"/>
              <a:t> are consecutive terms in an arithmetic sequence.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12 713 </a:t>
            </a:r>
            <a:r>
              <a:rPr lang="en-GB"/>
              <a:t>be in the sequence?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7"/>
          <p:cNvSpPr txBox="1"/>
          <p:nvPr>
            <p:ph idx="1" type="body"/>
          </p:nvPr>
        </p:nvSpPr>
        <p:spPr>
          <a:xfrm>
            <a:off x="324000" y="759300"/>
            <a:ext cx="6855300" cy="10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/>
              <a:t> be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-6, 2, 10, 18, …</a:t>
            </a:r>
            <a:r>
              <a:rPr lang="en-GB"/>
              <a:t>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/>
          </a:p>
        </p:txBody>
      </p:sp>
      <p:sp>
        <p:nvSpPr>
          <p:cNvPr id="864" name="Google Shape;864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865" name="Google Shape;865;p77"/>
          <p:cNvSpPr txBox="1"/>
          <p:nvPr>
            <p:ph idx="1" type="body"/>
          </p:nvPr>
        </p:nvSpPr>
        <p:spPr>
          <a:xfrm>
            <a:off x="324000" y="28167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/>
              <a:t>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129</a:t>
            </a:r>
            <a:r>
              <a:rPr lang="en-GB"/>
              <a:t> are consecutive terms in an arithmetic sequence.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12 718 </a:t>
            </a:r>
            <a:r>
              <a:rPr lang="en-GB"/>
              <a:t>be in the sequence?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 b="1"/>
          </a:p>
        </p:txBody>
      </p:sp>
      <p:sp>
        <p:nvSpPr>
          <p:cNvPr id="866" name="Google Shape;866;p77"/>
          <p:cNvSpPr txBox="1"/>
          <p:nvPr>
            <p:ph idx="4294967295" type="body"/>
          </p:nvPr>
        </p:nvSpPr>
        <p:spPr>
          <a:xfrm>
            <a:off x="324000" y="1636625"/>
            <a:ext cx="70590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not be in the sequence because it is an odd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-6, 2, 10,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all even numbers and the common difference is even, so the terms will always remain even.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7" name="Google Shape;867;p77"/>
          <p:cNvSpPr txBox="1"/>
          <p:nvPr>
            <p:ph idx="4294967295" type="body"/>
          </p:nvPr>
        </p:nvSpPr>
        <p:spPr>
          <a:xfrm>
            <a:off x="324000" y="3770225"/>
            <a:ext cx="79242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12 718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not be in the sequence because it is an even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129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both odd with an even difference. An odd plus an even will make an odd, therefore the terms will always remain odd.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8"/>
          <p:cNvSpPr txBox="1"/>
          <p:nvPr>
            <p:ph idx="1" type="body"/>
          </p:nvPr>
        </p:nvSpPr>
        <p:spPr>
          <a:xfrm>
            <a:off x="324000" y="759300"/>
            <a:ext cx="6909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/>
              <a:t> be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-6, -1, 4, …</a:t>
            </a:r>
            <a:r>
              <a:rPr lang="en-GB"/>
              <a:t>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/>
          </a:p>
        </p:txBody>
      </p:sp>
      <p:sp>
        <p:nvSpPr>
          <p:cNvPr id="873" name="Google Shape;87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874" name="Google Shape;874;p78"/>
          <p:cNvSpPr txBox="1"/>
          <p:nvPr>
            <p:ph idx="4294967295" type="body"/>
          </p:nvPr>
        </p:nvSpPr>
        <p:spPr>
          <a:xfrm>
            <a:off x="324000" y="1789025"/>
            <a:ext cx="7958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4 − (−1) =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common difference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sees the sequence continue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4, 9, 14, 19,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a translation of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will always end with a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the ones column, therefore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467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can not be in the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sp>
        <p:nvSpPr>
          <p:cNvPr id="880" name="Google Shape;880;p79"/>
          <p:cNvSpPr txBox="1"/>
          <p:nvPr>
            <p:ph idx="1" type="body"/>
          </p:nvPr>
        </p:nvSpPr>
        <p:spPr>
          <a:xfrm>
            <a:off x="300935" y="747767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113 </a:t>
            </a:r>
            <a:r>
              <a:rPr lang="en-GB"/>
              <a:t>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123</a:t>
            </a:r>
            <a:r>
              <a:rPr lang="en-GB"/>
              <a:t> are consecutive terms in an arithmetic sequence.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12 713 </a:t>
            </a:r>
            <a:r>
              <a:rPr lang="en-GB"/>
              <a:t>be in the sequence? </a:t>
            </a:r>
            <a:r>
              <a:rPr lang="en-GB">
                <a:solidFill>
                  <a:schemeClr val="accent4"/>
                </a:solidFill>
              </a:rPr>
              <a:t>Justify </a:t>
            </a:r>
            <a:r>
              <a:rPr lang="en-GB"/>
              <a:t>your answer.</a:t>
            </a:r>
            <a:endParaRPr b="1"/>
          </a:p>
        </p:txBody>
      </p:sp>
      <p:sp>
        <p:nvSpPr>
          <p:cNvPr id="881" name="Google Shape;881;p79"/>
          <p:cNvSpPr txBox="1"/>
          <p:nvPr>
            <p:ph idx="4294967295" type="body"/>
          </p:nvPr>
        </p:nvSpPr>
        <p:spPr>
          <a:xfrm>
            <a:off x="324000" y="1789025"/>
            <a:ext cx="82239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123 − 113 = 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 a common difference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sequence continues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123, 133, 143, 153, 163,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a translation of the sequence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Every term is “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more than a multiple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” therefore every number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greater that ends with a ones digit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be in the sequence. This includes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12 713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887" name="Google Shape;887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888" name="Google Shape;888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889" name="Google Shape;889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pic>
        <p:nvPicPr>
          <p:cNvPr id="890" name="Google Shape;89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85" y="27702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5" name="Google Shape;895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43676" y="1158825"/>
            <a:ext cx="6324424" cy="966576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81"/>
          <p:cNvSpPr txBox="1"/>
          <p:nvPr>
            <p:ph idx="1" type="body"/>
          </p:nvPr>
        </p:nvSpPr>
        <p:spPr>
          <a:xfrm>
            <a:off x="324000" y="759300"/>
            <a:ext cx="73101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Our Oak students are discussing an arithmetic sequence.</a:t>
            </a:r>
            <a:endParaRPr sz="1800"/>
          </a:p>
        </p:txBody>
      </p:sp>
      <p:sp>
        <p:nvSpPr>
          <p:cNvPr id="897" name="Google Shape;89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pic>
        <p:nvPicPr>
          <p:cNvPr id="898" name="Google Shape;898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221325" y="2099817"/>
            <a:ext cx="5319148" cy="1707749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81"/>
          <p:cNvSpPr txBox="1"/>
          <p:nvPr/>
        </p:nvSpPr>
        <p:spPr>
          <a:xfrm>
            <a:off x="809575" y="1228025"/>
            <a:ext cx="5743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I’ve worked out the first ten terms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91 − 17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are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74, 57, 40, 23, 6, −13, −30, −47, −64, −81, …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81"/>
          <p:cNvSpPr txBox="1"/>
          <p:nvPr/>
        </p:nvSpPr>
        <p:spPr>
          <a:xfrm>
            <a:off x="3350825" y="2142425"/>
            <a:ext cx="5012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checked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91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17(10) = 91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170 =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79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you’ve made a mistake somewhere!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81"/>
          <p:cNvSpPr txBox="1"/>
          <p:nvPr>
            <p:ph idx="1" type="body"/>
          </p:nvPr>
        </p:nvSpPr>
        <p:spPr>
          <a:xfrm>
            <a:off x="378039" y="3428639"/>
            <a:ext cx="57432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is correct.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But, can you spot where Alex made his error?</a:t>
            </a:r>
            <a:endParaRPr sz="1800"/>
          </a:p>
        </p:txBody>
      </p:sp>
      <p:sp>
        <p:nvSpPr>
          <p:cNvPr id="902" name="Google Shape;902;p81"/>
          <p:cNvSpPr txBox="1"/>
          <p:nvPr/>
        </p:nvSpPr>
        <p:spPr>
          <a:xfrm>
            <a:off x="-57607" y="257295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0692" y="2072230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07330" y="361608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81"/>
          <p:cNvSpPr txBox="1"/>
          <p:nvPr/>
        </p:nvSpPr>
        <p:spPr>
          <a:xfrm>
            <a:off x="6643505" y="42867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81"/>
          <p:cNvSpPr/>
          <p:nvPr/>
        </p:nvSpPr>
        <p:spPr>
          <a:xfrm>
            <a:off x="3247033" y="1547742"/>
            <a:ext cx="895500" cy="400500"/>
          </a:xfrm>
          <a:prstGeom prst="ellipse">
            <a:avLst/>
          </a:prstGeom>
          <a:noFill/>
          <a:ln cap="flat" cmpd="sng" w="38100">
            <a:solidFill>
              <a:srgbClr val="487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81"/>
          <p:cNvSpPr txBox="1"/>
          <p:nvPr/>
        </p:nvSpPr>
        <p:spPr>
          <a:xfrm>
            <a:off x="371639" y="4086694"/>
            <a:ext cx="1735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17 =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sz="23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81"/>
          <p:cNvSpPr/>
          <p:nvPr/>
        </p:nvSpPr>
        <p:spPr>
          <a:xfrm>
            <a:off x="4034569" y="1547750"/>
            <a:ext cx="2310600" cy="400500"/>
          </a:xfrm>
          <a:prstGeom prst="ellipse">
            <a:avLst/>
          </a:prstGeom>
          <a:noFill/>
          <a:ln cap="flat" cmpd="sng" w="38100">
            <a:solidFill>
              <a:srgbClr val="487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81"/>
          <p:cNvSpPr txBox="1"/>
          <p:nvPr/>
        </p:nvSpPr>
        <p:spPr>
          <a:xfrm>
            <a:off x="276975" y="4458217"/>
            <a:ext cx="650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−13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was the first error, then all subsequent terms are off.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1-11-2023/51f43077-3a9b-4d37-8f1a-9bbf61254b87&quot; data-equatio-type=&quot;desmos&quot;&gt;&lt;mglyph src=&quot;https://equatio-api.texthelp.com/desmos/get/01-11-2023/51f43077-3a9b-4d37-8f1a-9bbf61254b87&quot; alt=&quot;Equatio Desmos Graph&quot;/&gt;&lt;/math&gt;" id="914" name="Google Shape;914;p82" title="Equatio Desmos Graph"/>
          <p:cNvPicPr preferRelativeResize="0"/>
          <p:nvPr/>
        </p:nvPicPr>
        <p:blipFill rotWithShape="1">
          <a:blip r:embed="rId3">
            <a:alphaModFix/>
          </a:blip>
          <a:srcRect b="22109" l="16659" r="60470" t="23871"/>
          <a:stretch/>
        </p:blipFill>
        <p:spPr>
          <a:xfrm>
            <a:off x="6552950" y="1913825"/>
            <a:ext cx="1657200" cy="27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82"/>
          <p:cNvSpPr txBox="1"/>
          <p:nvPr>
            <p:ph idx="1" type="body"/>
          </p:nvPr>
        </p:nvSpPr>
        <p:spPr>
          <a:xfrm>
            <a:off x="324000" y="759300"/>
            <a:ext cx="73101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Our Oak students are discussing an arithmetic sequence.</a:t>
            </a:r>
            <a:endParaRPr sz="1800"/>
          </a:p>
        </p:txBody>
      </p:sp>
      <p:sp>
        <p:nvSpPr>
          <p:cNvPr id="916" name="Google Shape;91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graphical representation</a:t>
            </a:r>
            <a:endParaRPr/>
          </a:p>
        </p:txBody>
      </p:sp>
      <p:pic>
        <p:nvPicPr>
          <p:cNvPr id="917" name="Google Shape;917;p82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343676" y="1158825"/>
            <a:ext cx="6324424" cy="966576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82"/>
          <p:cNvSpPr txBox="1"/>
          <p:nvPr/>
        </p:nvSpPr>
        <p:spPr>
          <a:xfrm>
            <a:off x="809575" y="1228025"/>
            <a:ext cx="61239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worked out the first ten terms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91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17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are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74, 57, 40, 23, 6, −13,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30,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47,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64,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−81, …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82"/>
          <p:cNvSpPr txBox="1"/>
          <p:nvPr/>
        </p:nvSpPr>
        <p:spPr>
          <a:xfrm>
            <a:off x="-57607" y="2572953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0" name="Google Shape;92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30692" y="2072230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82"/>
          <p:cNvSpPr/>
          <p:nvPr/>
        </p:nvSpPr>
        <p:spPr>
          <a:xfrm>
            <a:off x="3258566" y="1547742"/>
            <a:ext cx="883800" cy="400500"/>
          </a:xfrm>
          <a:prstGeom prst="ellipse">
            <a:avLst/>
          </a:prstGeom>
          <a:noFill/>
          <a:ln cap="flat" cmpd="sng" w="38100">
            <a:solidFill>
              <a:srgbClr val="487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82"/>
          <p:cNvSpPr txBox="1"/>
          <p:nvPr/>
        </p:nvSpPr>
        <p:spPr>
          <a:xfrm>
            <a:off x="390550" y="3149100"/>
            <a:ext cx="55422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we had graphed Alex’s terms we could have seen the error more easily.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2"/>
          <p:cNvSpPr txBox="1"/>
          <p:nvPr/>
        </p:nvSpPr>
        <p:spPr>
          <a:xfrm>
            <a:off x="6631200" y="4497810"/>
            <a:ext cx="17808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82"/>
          <p:cNvSpPr txBox="1"/>
          <p:nvPr/>
        </p:nvSpPr>
        <p:spPr>
          <a:xfrm rot="-5400000">
            <a:off x="5589971" y="2419640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82"/>
          <p:cNvSpPr txBox="1"/>
          <p:nvPr/>
        </p:nvSpPr>
        <p:spPr>
          <a:xfrm>
            <a:off x="390550" y="3834900"/>
            <a:ext cx="56538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the moment where, from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on, the sequence does not align so we can say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−13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not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of this sequence.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2"/>
          <p:cNvSpPr/>
          <p:nvPr/>
        </p:nvSpPr>
        <p:spPr>
          <a:xfrm>
            <a:off x="7112220" y="2953940"/>
            <a:ext cx="583200" cy="696600"/>
          </a:xfrm>
          <a:prstGeom prst="ellipse">
            <a:avLst/>
          </a:prstGeom>
          <a:noFill/>
          <a:ln cap="flat" cmpd="sng" w="38100">
            <a:solidFill>
              <a:srgbClr val="487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d7a8c61c-4e8c-49bd-87c2-21339f509f89&quot; data-equatio-type=&quot;desmos&quot;&gt;&lt;mglyph src=&quot;https://equatio-api.texthelp.com/desmos/get/30-10-2023/d7a8c61c-4e8c-49bd-87c2-21339f509f89&quot; alt=&quot;Equatio Desmos Graph&quot;/&gt;&lt;/math&gt;" id="931" name="Google Shape;931;p83" title="Equatio Desmos Graph"/>
          <p:cNvPicPr preferRelativeResize="0"/>
          <p:nvPr/>
        </p:nvPicPr>
        <p:blipFill rotWithShape="1">
          <a:blip r:embed="rId3">
            <a:alphaModFix/>
          </a:blip>
          <a:srcRect b="31898" l="16910" r="42988" t="30932"/>
          <a:stretch/>
        </p:blipFill>
        <p:spPr>
          <a:xfrm>
            <a:off x="4983675" y="1753475"/>
            <a:ext cx="3649550" cy="25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3"/>
          <p:cNvSpPr txBox="1"/>
          <p:nvPr>
            <p:ph idx="1" type="body"/>
          </p:nvPr>
        </p:nvSpPr>
        <p:spPr>
          <a:xfrm>
            <a:off x="324000" y="759300"/>
            <a:ext cx="82377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Jun has written the first ten terms of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−3.486 + 0.72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800"/>
          </a:p>
        </p:txBody>
      </p:sp>
      <p:sp>
        <p:nvSpPr>
          <p:cNvPr id="933" name="Google Shape;93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934" name="Google Shape;934;p83"/>
          <p:cNvSpPr/>
          <p:nvPr/>
        </p:nvSpPr>
        <p:spPr>
          <a:xfrm>
            <a:off x="5608114" y="1102075"/>
            <a:ext cx="797400" cy="4005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83"/>
          <p:cNvSpPr txBox="1"/>
          <p:nvPr/>
        </p:nvSpPr>
        <p:spPr>
          <a:xfrm>
            <a:off x="328076" y="2574040"/>
            <a:ext cx="3734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then graphs them and notices he has gotten one term wrong. Which term is it?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83"/>
          <p:cNvSpPr txBox="1"/>
          <p:nvPr/>
        </p:nvSpPr>
        <p:spPr>
          <a:xfrm>
            <a:off x="7245600" y="3126200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83"/>
          <p:cNvSpPr txBox="1"/>
          <p:nvPr/>
        </p:nvSpPr>
        <p:spPr>
          <a:xfrm rot="-5400000">
            <a:off x="4086795" y="2256828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83"/>
          <p:cNvSpPr/>
          <p:nvPr/>
        </p:nvSpPr>
        <p:spPr>
          <a:xfrm>
            <a:off x="7158300" y="2627969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-2.766,-2.046,-1.326,-0.606,\ 0.114,\ 0.834,\ 1.094.\ 2.274,\ 2.994,\ 3.714,\ ...&quot;&gt;&lt;mo&gt;−&lt;/mo&gt;&lt;mn&gt;2.766&lt;/mn&gt;&lt;mo&gt;,&lt;/mo&gt;&lt;mo&gt;−&lt;/mo&gt;&lt;mn&gt;2.046&lt;/mn&gt;&lt;mo&gt;,&lt;/mo&gt;&lt;mo&gt;−&lt;/mo&gt;&lt;mn&gt;1.326&lt;/mn&gt;&lt;mo&gt;,&lt;/mo&gt;&lt;mo&gt;−&lt;/mo&gt;&lt;mn&gt;0.606&lt;/mn&gt;&lt;mo&gt;,&lt;/mo&gt;&lt;mtext&gt;&lt;/mtext&gt;&lt;mn&gt;0.114&lt;/mn&gt;&lt;mo&gt;,&lt;/mo&gt;&lt;mtext&gt;&lt;/mtext&gt;&lt;mn&gt;0.834&lt;/mn&gt;&lt;mo&gt;,&lt;/mo&gt;&lt;mtext&gt;&lt;/mtext&gt;&lt;mn&gt;1.094&lt;/mn&gt;&lt;mo&gt;.&lt;/mo&gt;&lt;mtext&gt;&lt;/mtext&gt;&lt;mn&gt;2.274&lt;/mn&gt;&lt;mo&gt;,&lt;/mo&gt;&lt;mtext&gt;&lt;/mtext&gt;&lt;mn&gt;2.994&lt;/mn&gt;&lt;mo&gt;,&lt;/mo&gt;&lt;mtext&gt;&lt;/mtext&gt;&lt;mn&gt;3.714&lt;/mn&gt;&lt;mo&gt;,&lt;/mo&gt;&lt;mtext&gt;&lt;/mtext&gt;&lt;mo&gt;.&lt;/mo&gt;&lt;mo&gt;.&lt;/mo&gt;&lt;mo&gt;.&lt;/mo&gt;&lt;/math&gt;" id="939" name="Google Shape;939;p83" title="negative 2.766 comma negative 2.046 comma negative 1.326 comma negative 0.606 comma 0.114 comma 0.834 comma 1.094 period 2.274 comma 2.994 comma 3.714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435" y="1204738"/>
            <a:ext cx="7940127" cy="210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812" y="143388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3"/>
          <p:cNvSpPr txBox="1"/>
          <p:nvPr/>
        </p:nvSpPr>
        <p:spPr>
          <a:xfrm>
            <a:off x="328076" y="3564640"/>
            <a:ext cx="37347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is not in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1.094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must not be its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7857e73a-f38e-488d-9299-f4f64572cf26&quot; data-equatio-type=&quot;desmos&quot;&gt;&lt;mglyph src=&quot;https://equatio-api.texthelp.com/desmos/get/30-10-2023/7857e73a-f38e-488d-9299-f4f64572cf26&quot; alt=&quot;Equatio Desmos Graph&quot;/&gt;&lt;/math&gt;" id="946" name="Google Shape;946;p84" title="Equatio Desmos Graph"/>
          <p:cNvPicPr preferRelativeResize="0"/>
          <p:nvPr/>
        </p:nvPicPr>
        <p:blipFill rotWithShape="1">
          <a:blip r:embed="rId3">
            <a:alphaModFix/>
          </a:blip>
          <a:srcRect b="19780" l="15634" r="54832" t="17723"/>
          <a:stretch/>
        </p:blipFill>
        <p:spPr>
          <a:xfrm>
            <a:off x="5984175" y="1409225"/>
            <a:ext cx="2064328" cy="327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>
            <p:ph idx="4294967295" type="body"/>
          </p:nvPr>
        </p:nvSpPr>
        <p:spPr>
          <a:xfrm>
            <a:off x="324000" y="759300"/>
            <a:ext cx="741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Sam is asked to continue this arithmetic sequence and plot it.</a:t>
            </a:r>
            <a:endParaRPr i="1" sz="1800"/>
          </a:p>
        </p:txBody>
      </p:sp>
      <p:sp>
        <p:nvSpPr>
          <p:cNvPr id="948" name="Google Shape;94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949" name="Google Shape;949;p84"/>
          <p:cNvSpPr txBox="1"/>
          <p:nvPr/>
        </p:nvSpPr>
        <p:spPr>
          <a:xfrm>
            <a:off x="6587393" y="4467730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84"/>
          <p:cNvSpPr txBox="1"/>
          <p:nvPr/>
        </p:nvSpPr>
        <p:spPr>
          <a:xfrm rot="-5400000">
            <a:off x="5099900" y="2025300"/>
            <a:ext cx="1545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84"/>
          <p:cNvSpPr txBox="1"/>
          <p:nvPr>
            <p:ph idx="4294967295" type="body"/>
          </p:nvPr>
        </p:nvSpPr>
        <p:spPr>
          <a:xfrm>
            <a:off x="324000" y="1075625"/>
            <a:ext cx="338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2" name="Google Shape;95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132" y="15503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84"/>
          <p:cNvSpPr txBox="1"/>
          <p:nvPr>
            <p:ph idx="4294967295" type="body"/>
          </p:nvPr>
        </p:nvSpPr>
        <p:spPr>
          <a:xfrm>
            <a:off x="324000" y="2675825"/>
            <a:ext cx="5110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150 350, 157 850, 165 350, 178 250, 185 750, 193 250, 200 750,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84"/>
          <p:cNvSpPr txBox="1"/>
          <p:nvPr>
            <p:ph idx="4294967295" type="body"/>
          </p:nvPr>
        </p:nvSpPr>
        <p:spPr>
          <a:xfrm>
            <a:off x="1619400" y="1597500"/>
            <a:ext cx="293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write the below values and plot them.</a:t>
            </a:r>
            <a:endParaRPr i="1" sz="1800"/>
          </a:p>
        </p:txBody>
      </p:sp>
      <p:sp>
        <p:nvSpPr>
          <p:cNvPr id="955" name="Google Shape;955;p84"/>
          <p:cNvSpPr txBox="1"/>
          <p:nvPr>
            <p:ph idx="4294967295" type="body"/>
          </p:nvPr>
        </p:nvSpPr>
        <p:spPr>
          <a:xfrm>
            <a:off x="324000" y="3654900"/>
            <a:ext cx="4155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 sentence explaining how you know there has been an error.</a:t>
            </a:r>
            <a:endParaRPr i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85"/>
          <p:cNvSpPr txBox="1"/>
          <p:nvPr/>
        </p:nvSpPr>
        <p:spPr>
          <a:xfrm rot="-5400000">
            <a:off x="2950800" y="3845495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f253f373-2f00-46d4-aec6-2543d29d860a&quot; data-equatio-type=&quot;desmos&quot;&gt;&lt;mglyph src=&quot;https://equatio-api.texthelp.com/desmos/get/30-10-2023/f253f373-2f00-46d4-aec6-2543d29d860a&quot; alt=&quot;Equatio Desmos Graph&quot;/&gt;&lt;/math&gt;" id="961" name="Google Shape;961;p85" title="Equatio Desmos Graph"/>
          <p:cNvPicPr preferRelativeResize="0"/>
          <p:nvPr/>
        </p:nvPicPr>
        <p:blipFill rotWithShape="1">
          <a:blip r:embed="rId3">
            <a:alphaModFix/>
          </a:blip>
          <a:srcRect b="34755" l="7900" r="25433" t="37534"/>
          <a:stretch/>
        </p:blipFill>
        <p:spPr>
          <a:xfrm>
            <a:off x="3947735" y="3378350"/>
            <a:ext cx="4572000" cy="1425274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 txBox="1"/>
          <p:nvPr>
            <p:ph idx="4294967295" type="body"/>
          </p:nvPr>
        </p:nvSpPr>
        <p:spPr>
          <a:xfrm>
            <a:off x="324000" y="759300"/>
            <a:ext cx="8484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Use the graphs to spot the incorrect terms in these arithmetic sequences.</a:t>
            </a:r>
            <a:endParaRPr i="1" sz="1800"/>
          </a:p>
        </p:txBody>
      </p:sp>
      <p:sp>
        <p:nvSpPr>
          <p:cNvPr id="963" name="Google Shape;96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964" name="Google Shape;964;p85"/>
          <p:cNvSpPr/>
          <p:nvPr/>
        </p:nvSpPr>
        <p:spPr>
          <a:xfrm>
            <a:off x="6594830" y="2341706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d868a5ab-593d-45d6-bb08-95ff346ff987&quot; data-equatio-type=&quot;desmos&quot;&gt;&lt;mglyph src=&quot;https://equatio-api.texthelp.com/desmos/get/30-10-2023/d868a5ab-593d-45d6-bb08-95ff346ff987&quot; alt=&quot;Equatio Desmos Graph&quot;/&gt;&lt;/math&gt;" id="965" name="Google Shape;965;p85" title="Equatio Desmos Graph"/>
          <p:cNvPicPr preferRelativeResize="0"/>
          <p:nvPr/>
        </p:nvPicPr>
        <p:blipFill rotWithShape="1">
          <a:blip r:embed="rId4">
            <a:alphaModFix/>
          </a:blip>
          <a:srcRect b="38861" l="14812" r="38942" t="34618"/>
          <a:stretch/>
        </p:blipFill>
        <p:spPr>
          <a:xfrm>
            <a:off x="4017725" y="1365032"/>
            <a:ext cx="3500350" cy="15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5"/>
          <p:cNvSpPr txBox="1"/>
          <p:nvPr/>
        </p:nvSpPr>
        <p:spPr>
          <a:xfrm>
            <a:off x="7097728" y="21842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5"/>
          <p:cNvSpPr txBox="1"/>
          <p:nvPr/>
        </p:nvSpPr>
        <p:spPr>
          <a:xfrm rot="-5400000">
            <a:off x="3050065" y="1852763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5"/>
          <p:cNvSpPr txBox="1"/>
          <p:nvPr>
            <p:ph idx="4294967295" type="body"/>
          </p:nvPr>
        </p:nvSpPr>
        <p:spPr>
          <a:xfrm>
            <a:off x="324000" y="1075633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0.83, 0.72, 0.61, 0.3, 0.39, 0.28, 0.17, 0.06,−0.05,−0.16,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85"/>
          <p:cNvSpPr txBox="1"/>
          <p:nvPr>
            <p:ph idx="4294967295" type="body"/>
          </p:nvPr>
        </p:nvSpPr>
        <p:spPr>
          <a:xfrm>
            <a:off x="324000" y="3022235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−0.1,−0.85,−0.7,−0.55,−0.4,−0.25,−0.1, 0.35, 0.2, 0.35,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85"/>
          <p:cNvSpPr txBox="1"/>
          <p:nvPr/>
        </p:nvSpPr>
        <p:spPr>
          <a:xfrm>
            <a:off x="7097728" y="40892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5" name="Google Shape;975;p86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2526300" y="3339560"/>
            <a:ext cx="5318349" cy="5288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30-10-2023/6730e407-9f2c-4386-b92d-d2b0088a4cd1&quot; data-equatio-type=&quot;desmos&quot;&gt;&lt;mglyph src=&quot;https://equatio-api.texthelp.com/desmos/get/30-10-2023/6730e407-9f2c-4386-b92d-d2b0088a4cd1&quot; alt=&quot;Equatio Desmos Graph&quot;/&gt;&lt;/math&gt;" id="976" name="Google Shape;976;p86" title="Equatio Desmos Graph"/>
          <p:cNvPicPr preferRelativeResize="0"/>
          <p:nvPr/>
        </p:nvPicPr>
        <p:blipFill rotWithShape="1">
          <a:blip r:embed="rId4">
            <a:alphaModFix/>
          </a:blip>
          <a:srcRect b="33410" l="2712" r="29988" t="37508"/>
          <a:stretch/>
        </p:blipFill>
        <p:spPr>
          <a:xfrm>
            <a:off x="4594905" y="1443275"/>
            <a:ext cx="3947676" cy="12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6"/>
          <p:cNvSpPr txBox="1"/>
          <p:nvPr>
            <p:ph idx="4294967295" type="body"/>
          </p:nvPr>
        </p:nvSpPr>
        <p:spPr>
          <a:xfrm>
            <a:off x="324000" y="759300"/>
            <a:ext cx="8484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Use the graphs to spot the incorrect terms in these arithmetic sequences.</a:t>
            </a:r>
            <a:endParaRPr i="1" sz="1800"/>
          </a:p>
        </p:txBody>
      </p:sp>
      <p:sp>
        <p:nvSpPr>
          <p:cNvPr id="978" name="Google Shape;978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979" name="Google Shape;979;p86"/>
          <p:cNvSpPr txBox="1"/>
          <p:nvPr/>
        </p:nvSpPr>
        <p:spPr>
          <a:xfrm>
            <a:off x="6869128" y="23366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6"/>
          <p:cNvSpPr txBox="1"/>
          <p:nvPr/>
        </p:nvSpPr>
        <p:spPr>
          <a:xfrm rot="-5400000">
            <a:off x="3717327" y="1524898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6"/>
          <p:cNvSpPr txBox="1"/>
          <p:nvPr>
            <p:ph idx="4294967295" type="body"/>
          </p:nvPr>
        </p:nvSpPr>
        <p:spPr>
          <a:xfrm>
            <a:off x="324000" y="1075625"/>
            <a:ext cx="4548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7}{12},\frac{2}{3},\frac{3}{4},\frac{5}{6},\frac{9}{15},1\ ...&quot;&gt;&lt;mfrac&gt;&lt;mn&gt;1&lt;/mn&gt;&lt;mn&gt;2&lt;/mn&gt;&lt;/mfrac&gt;&lt;mo&gt;,&lt;/mo&gt;&lt;mfrac&gt;&lt;mn&gt;7&lt;/mn&gt;&lt;mn&gt;12&lt;/mn&gt;&lt;/mfrac&gt;&lt;mo&gt;,&lt;/mo&gt;&lt;mfrac&gt;&lt;mn&gt;2&lt;/mn&gt;&lt;mn&gt;3&lt;/mn&gt;&lt;/mfrac&gt;&lt;mo&gt;,&lt;/mo&gt;&lt;mfrac&gt;&lt;mn&gt;3&lt;/mn&gt;&lt;mn&gt;4&lt;/mn&gt;&lt;/mfrac&gt;&lt;mo&gt;,&lt;/mo&gt;&lt;mfrac&gt;&lt;mn&gt;5&lt;/mn&gt;&lt;mn&gt;6&lt;/mn&gt;&lt;/mfrac&gt;&lt;mo&gt;,&lt;/mo&gt;&lt;mfrac&gt;&lt;mn&gt;9&lt;/mn&gt;&lt;mn&gt;15&lt;/mn&gt;&lt;/mfrac&gt;&lt;mo&gt;,&lt;/mo&gt;&lt;mn&gt;1&lt;/mn&gt;&lt;mtext&gt;&lt;/mtext&gt;&lt;mo&gt;.&lt;/mo&gt;&lt;mo&gt;.&lt;/mo&gt;&lt;mo&gt;.&lt;/mo&gt;&lt;/math&gt;" id="982" name="Google Shape;982;p86" title="one half comma 7 over 12 comma two thirds comma three fourths comma five sixths comma 9 over 15 comma 1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425" y="1146801"/>
            <a:ext cx="2990551" cy="6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6"/>
          <p:cNvSpPr txBox="1"/>
          <p:nvPr>
            <p:ph idx="4294967295" type="body"/>
          </p:nvPr>
        </p:nvSpPr>
        <p:spPr>
          <a:xfrm>
            <a:off x="324000" y="2816700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3) Laura is asked if the number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/>
              <a:t> is in the 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2, 4, 10, 16,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She says:</a:t>
            </a:r>
            <a:endParaRPr sz="1800"/>
          </a:p>
        </p:txBody>
      </p:sp>
      <p:pic>
        <p:nvPicPr>
          <p:cNvPr id="984" name="Google Shape;984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463530" y="3756700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86"/>
          <p:cNvSpPr txBox="1"/>
          <p:nvPr/>
        </p:nvSpPr>
        <p:spPr>
          <a:xfrm>
            <a:off x="2666989" y="3352810"/>
            <a:ext cx="486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“I’ll draw a graph and see if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in line”</a:t>
            </a:r>
            <a:endParaRPr/>
          </a:p>
        </p:txBody>
      </p:sp>
      <p:sp>
        <p:nvSpPr>
          <p:cNvPr id="986" name="Google Shape;986;p86"/>
          <p:cNvSpPr txBox="1"/>
          <p:nvPr>
            <p:ph idx="4294967295" type="body"/>
          </p:nvPr>
        </p:nvSpPr>
        <p:spPr>
          <a:xfrm>
            <a:off x="324000" y="4112100"/>
            <a:ext cx="64593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 sentence explaining why this might not be the most efficient method to use on this occasion.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7857e73a-f38e-488d-9299-f4f64572cf26&quot; data-equatio-type=&quot;desmos&quot;&gt;&lt;mglyph src=&quot;https://equatio-api.texthelp.com/desmos/get/30-10-2023/7857e73a-f38e-488d-9299-f4f64572cf26&quot; alt=&quot;Equatio Desmos Graph&quot;/&gt;&lt;/math&gt;" id="991" name="Google Shape;991;p87" title="Equatio Desmos Graph"/>
          <p:cNvPicPr preferRelativeResize="0"/>
          <p:nvPr/>
        </p:nvPicPr>
        <p:blipFill rotWithShape="1">
          <a:blip r:embed="rId3">
            <a:alphaModFix/>
          </a:blip>
          <a:srcRect b="19780" l="15634" r="54832" t="17723"/>
          <a:stretch/>
        </p:blipFill>
        <p:spPr>
          <a:xfrm>
            <a:off x="5984175" y="1409225"/>
            <a:ext cx="2064328" cy="3276101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7"/>
          <p:cNvSpPr txBox="1"/>
          <p:nvPr>
            <p:ph idx="4294967295" type="body"/>
          </p:nvPr>
        </p:nvSpPr>
        <p:spPr>
          <a:xfrm>
            <a:off x="324000" y="759300"/>
            <a:ext cx="741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Sam is asked to continue this arithmetic sequence and plot it.</a:t>
            </a:r>
            <a:endParaRPr i="1" sz="1800"/>
          </a:p>
        </p:txBody>
      </p:sp>
      <p:sp>
        <p:nvSpPr>
          <p:cNvPr id="993" name="Google Shape;99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994" name="Google Shape;994;p87"/>
          <p:cNvSpPr/>
          <p:nvPr/>
        </p:nvSpPr>
        <p:spPr>
          <a:xfrm>
            <a:off x="7094798" y="1572695"/>
            <a:ext cx="980100" cy="10167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7"/>
          <p:cNvSpPr txBox="1"/>
          <p:nvPr/>
        </p:nvSpPr>
        <p:spPr>
          <a:xfrm>
            <a:off x="6587393" y="4467730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87"/>
          <p:cNvSpPr txBox="1"/>
          <p:nvPr/>
        </p:nvSpPr>
        <p:spPr>
          <a:xfrm rot="-5400000">
            <a:off x="5099900" y="2025300"/>
            <a:ext cx="1545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87"/>
          <p:cNvSpPr txBox="1"/>
          <p:nvPr>
            <p:ph idx="4294967295" type="body"/>
          </p:nvPr>
        </p:nvSpPr>
        <p:spPr>
          <a:xfrm>
            <a:off x="324000" y="1075625"/>
            <a:ext cx="338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8" name="Google Shape;99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132" y="15503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 txBox="1"/>
          <p:nvPr>
            <p:ph idx="4294967295" type="body"/>
          </p:nvPr>
        </p:nvSpPr>
        <p:spPr>
          <a:xfrm>
            <a:off x="324000" y="2675825"/>
            <a:ext cx="5110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150 350, 157 850, 165 350, 178 250, 185 750, 193 250, 200 750,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87"/>
          <p:cNvSpPr txBox="1"/>
          <p:nvPr>
            <p:ph idx="4294967295" type="body"/>
          </p:nvPr>
        </p:nvSpPr>
        <p:spPr>
          <a:xfrm>
            <a:off x="1619400" y="1597500"/>
            <a:ext cx="293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write the below values and plot them.</a:t>
            </a:r>
            <a:endParaRPr i="1" sz="1800"/>
          </a:p>
        </p:txBody>
      </p:sp>
      <p:sp>
        <p:nvSpPr>
          <p:cNvPr id="1001" name="Google Shape;1001;p87"/>
          <p:cNvSpPr txBox="1"/>
          <p:nvPr>
            <p:ph idx="4294967295" type="body"/>
          </p:nvPr>
        </p:nvSpPr>
        <p:spPr>
          <a:xfrm>
            <a:off x="324000" y="3654900"/>
            <a:ext cx="5450400" cy="6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written, “Arithmetic sequences plot in a straight line and on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term the ‘line’ shifts” so there must have been an error here”.</a:t>
            </a:r>
            <a:endParaRPr i="1" sz="1800"/>
          </a:p>
        </p:txBody>
      </p:sp>
      <p:sp>
        <p:nvSpPr>
          <p:cNvPr id="1002" name="Google Shape;1002;p87"/>
          <p:cNvSpPr/>
          <p:nvPr/>
        </p:nvSpPr>
        <p:spPr>
          <a:xfrm>
            <a:off x="1201850" y="3037239"/>
            <a:ext cx="980100" cy="4134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7857e73a-f38e-488d-9299-f4f64572cf26&quot; data-equatio-type=&quot;desmos&quot;&gt;&lt;mglyph src=&quot;https://equatio-api.texthelp.com/desmos/get/30-10-2023/7857e73a-f38e-488d-9299-f4f64572cf26&quot; alt=&quot;Equatio Desmos Graph&quot;/&gt;&lt;/math&gt;" id="1007" name="Google Shape;1007;p88" title="Equatio Desmos Graph"/>
          <p:cNvPicPr preferRelativeResize="0"/>
          <p:nvPr/>
        </p:nvPicPr>
        <p:blipFill rotWithShape="1">
          <a:blip r:embed="rId3">
            <a:alphaModFix/>
          </a:blip>
          <a:srcRect b="19780" l="15634" r="54832" t="17723"/>
          <a:stretch/>
        </p:blipFill>
        <p:spPr>
          <a:xfrm>
            <a:off x="5984175" y="1409225"/>
            <a:ext cx="2064328" cy="327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88"/>
          <p:cNvSpPr txBox="1"/>
          <p:nvPr>
            <p:ph idx="4294967295" type="body"/>
          </p:nvPr>
        </p:nvSpPr>
        <p:spPr>
          <a:xfrm>
            <a:off x="324000" y="759300"/>
            <a:ext cx="7416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1) Sam is asked to continue this arithmetic sequence and plot it.</a:t>
            </a:r>
            <a:endParaRPr i="1" sz="1800"/>
          </a:p>
        </p:txBody>
      </p:sp>
      <p:sp>
        <p:nvSpPr>
          <p:cNvPr id="1009" name="Google Shape;1009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1010" name="Google Shape;1010;p88"/>
          <p:cNvSpPr/>
          <p:nvPr/>
        </p:nvSpPr>
        <p:spPr>
          <a:xfrm>
            <a:off x="7094798" y="1572695"/>
            <a:ext cx="980100" cy="10167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8"/>
          <p:cNvSpPr txBox="1"/>
          <p:nvPr/>
        </p:nvSpPr>
        <p:spPr>
          <a:xfrm>
            <a:off x="6587393" y="4467730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8"/>
          <p:cNvSpPr txBox="1"/>
          <p:nvPr/>
        </p:nvSpPr>
        <p:spPr>
          <a:xfrm rot="-5400000">
            <a:off x="5099900" y="2025300"/>
            <a:ext cx="1545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88"/>
          <p:cNvSpPr txBox="1"/>
          <p:nvPr>
            <p:ph idx="4294967295" type="body"/>
          </p:nvPr>
        </p:nvSpPr>
        <p:spPr>
          <a:xfrm>
            <a:off x="324000" y="1075625"/>
            <a:ext cx="338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4" name="Google Shape;1014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132" y="155035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8"/>
          <p:cNvSpPr txBox="1"/>
          <p:nvPr>
            <p:ph idx="4294967295" type="body"/>
          </p:nvPr>
        </p:nvSpPr>
        <p:spPr>
          <a:xfrm>
            <a:off x="324000" y="2675825"/>
            <a:ext cx="5110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127 850, 135 350, 142 850, 150 350, 157 850, 165 350, 178 250, 185 750, 193 250, 200 750,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6" name="Google Shape;1016;p88"/>
          <p:cNvSpPr txBox="1"/>
          <p:nvPr>
            <p:ph idx="4294967295" type="body"/>
          </p:nvPr>
        </p:nvSpPr>
        <p:spPr>
          <a:xfrm>
            <a:off x="1619400" y="1597500"/>
            <a:ext cx="2930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They write the below values and plot them.</a:t>
            </a:r>
            <a:endParaRPr i="1" sz="1800"/>
          </a:p>
        </p:txBody>
      </p:sp>
      <p:sp>
        <p:nvSpPr>
          <p:cNvPr id="1017" name="Google Shape;1017;p88"/>
          <p:cNvSpPr txBox="1"/>
          <p:nvPr>
            <p:ph idx="4294967295" type="body"/>
          </p:nvPr>
        </p:nvSpPr>
        <p:spPr>
          <a:xfrm>
            <a:off x="324000" y="3460898"/>
            <a:ext cx="5450400" cy="6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Whilst the graph shows you instantly there has been an error, you might also have noticed in the numbers they ended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850, 350, 850,...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then shifted to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It was a calculator misread.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term was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172 850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endParaRPr i="1" sz="1800"/>
          </a:p>
        </p:txBody>
      </p:sp>
      <p:sp>
        <p:nvSpPr>
          <p:cNvPr id="1018" name="Google Shape;1018;p88"/>
          <p:cNvSpPr/>
          <p:nvPr/>
        </p:nvSpPr>
        <p:spPr>
          <a:xfrm>
            <a:off x="1201850" y="3037239"/>
            <a:ext cx="980100" cy="4134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89"/>
          <p:cNvSpPr txBox="1"/>
          <p:nvPr/>
        </p:nvSpPr>
        <p:spPr>
          <a:xfrm rot="-5400000">
            <a:off x="2950800" y="3845495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f253f373-2f00-46d4-aec6-2543d29d860a&quot; data-equatio-type=&quot;desmos&quot;&gt;&lt;mglyph src=&quot;https://equatio-api.texthelp.com/desmos/get/30-10-2023/f253f373-2f00-46d4-aec6-2543d29d860a&quot; alt=&quot;Equatio Desmos Graph&quot;/&gt;&lt;/math&gt;" id="1024" name="Google Shape;1024;p89" title="Equatio Desmos Graph"/>
          <p:cNvPicPr preferRelativeResize="0"/>
          <p:nvPr/>
        </p:nvPicPr>
        <p:blipFill rotWithShape="1">
          <a:blip r:embed="rId3">
            <a:alphaModFix/>
          </a:blip>
          <a:srcRect b="34755" l="7900" r="25433" t="37534"/>
          <a:stretch/>
        </p:blipFill>
        <p:spPr>
          <a:xfrm>
            <a:off x="3947735" y="3378350"/>
            <a:ext cx="4572000" cy="142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9"/>
          <p:cNvSpPr txBox="1"/>
          <p:nvPr>
            <p:ph idx="4294967295" type="body"/>
          </p:nvPr>
        </p:nvSpPr>
        <p:spPr>
          <a:xfrm>
            <a:off x="324000" y="759300"/>
            <a:ext cx="8484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Use the graphs to spot the incorrect terms in these arithmetic sequences.</a:t>
            </a:r>
            <a:endParaRPr i="1" sz="1800"/>
          </a:p>
        </p:txBody>
      </p:sp>
      <p:sp>
        <p:nvSpPr>
          <p:cNvPr id="1026" name="Google Shape;1026;p89"/>
          <p:cNvSpPr/>
          <p:nvPr/>
        </p:nvSpPr>
        <p:spPr>
          <a:xfrm>
            <a:off x="2243777" y="1044400"/>
            <a:ext cx="503400" cy="4005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9"/>
          <p:cNvSpPr txBox="1"/>
          <p:nvPr/>
        </p:nvSpPr>
        <p:spPr>
          <a:xfrm>
            <a:off x="328075" y="1671183"/>
            <a:ext cx="3283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is not in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0.3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must not be its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8" name="Google Shape;1028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1029" name="Google Shape;1029;p89"/>
          <p:cNvSpPr/>
          <p:nvPr/>
        </p:nvSpPr>
        <p:spPr>
          <a:xfrm>
            <a:off x="6594830" y="2341706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30-10-2023/d868a5ab-593d-45d6-bb08-95ff346ff987&quot; data-equatio-type=&quot;desmos&quot;&gt;&lt;mglyph src=&quot;https://equatio-api.texthelp.com/desmos/get/30-10-2023/d868a5ab-593d-45d6-bb08-95ff346ff987&quot; alt=&quot;Equatio Desmos Graph&quot;/&gt;&lt;/math&gt;" id="1030" name="Google Shape;1030;p89" title="Equatio Desmos Graph"/>
          <p:cNvPicPr preferRelativeResize="0"/>
          <p:nvPr/>
        </p:nvPicPr>
        <p:blipFill rotWithShape="1">
          <a:blip r:embed="rId4">
            <a:alphaModFix/>
          </a:blip>
          <a:srcRect b="38861" l="14812" r="38942" t="34618"/>
          <a:stretch/>
        </p:blipFill>
        <p:spPr>
          <a:xfrm>
            <a:off x="4017725" y="1365032"/>
            <a:ext cx="3500350" cy="15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89"/>
          <p:cNvSpPr txBox="1"/>
          <p:nvPr/>
        </p:nvSpPr>
        <p:spPr>
          <a:xfrm>
            <a:off x="7097728" y="21842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9"/>
          <p:cNvSpPr txBox="1"/>
          <p:nvPr/>
        </p:nvSpPr>
        <p:spPr>
          <a:xfrm rot="-5400000">
            <a:off x="3050065" y="1852763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9"/>
          <p:cNvSpPr txBox="1"/>
          <p:nvPr>
            <p:ph idx="4294967295" type="body"/>
          </p:nvPr>
        </p:nvSpPr>
        <p:spPr>
          <a:xfrm>
            <a:off x="324000" y="1075633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0.83, 0.72, 0.61, 0.3, 0.39, 0.28, 0.17, 0.06,−0.05,−0.16,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4" name="Google Shape;1034;p89"/>
          <p:cNvSpPr/>
          <p:nvPr/>
        </p:nvSpPr>
        <p:spPr>
          <a:xfrm>
            <a:off x="5197688" y="1995304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89"/>
          <p:cNvSpPr txBox="1"/>
          <p:nvPr/>
        </p:nvSpPr>
        <p:spPr>
          <a:xfrm>
            <a:off x="328075" y="3617785"/>
            <a:ext cx="3283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is not in line.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0.35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must not be its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89"/>
          <p:cNvSpPr txBox="1"/>
          <p:nvPr>
            <p:ph idx="4294967295" type="body"/>
          </p:nvPr>
        </p:nvSpPr>
        <p:spPr>
          <a:xfrm>
            <a:off x="324000" y="3022235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b)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−0.1,−0.85,−0.7,−0.55,−0.4,−0.25,−0.1, 0.35, 0.2, 0.35, …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89"/>
          <p:cNvSpPr/>
          <p:nvPr/>
        </p:nvSpPr>
        <p:spPr>
          <a:xfrm>
            <a:off x="7185893" y="3579444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 txBox="1"/>
          <p:nvPr/>
        </p:nvSpPr>
        <p:spPr>
          <a:xfrm>
            <a:off x="7097728" y="40892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9"/>
          <p:cNvSpPr/>
          <p:nvPr/>
        </p:nvSpPr>
        <p:spPr>
          <a:xfrm>
            <a:off x="4659110" y="2984000"/>
            <a:ext cx="567300" cy="4005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30-10-2023/6730e407-9f2c-4386-b92d-d2b0088a4cd1&quot; data-equatio-type=&quot;desmos&quot;&gt;&lt;mglyph src=&quot;https://equatio-api.texthelp.com/desmos/get/30-10-2023/6730e407-9f2c-4386-b92d-d2b0088a4cd1&quot; alt=&quot;Equatio Desmos Graph&quot;/&gt;&lt;/math&gt;" id="1044" name="Google Shape;1044;p90" title="Equatio Desmos Graph"/>
          <p:cNvPicPr preferRelativeResize="0"/>
          <p:nvPr/>
        </p:nvPicPr>
        <p:blipFill rotWithShape="1">
          <a:blip r:embed="rId3">
            <a:alphaModFix/>
          </a:blip>
          <a:srcRect b="33410" l="2712" r="29988" t="37508"/>
          <a:stretch/>
        </p:blipFill>
        <p:spPr>
          <a:xfrm>
            <a:off x="4594905" y="1748075"/>
            <a:ext cx="3947676" cy="12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90"/>
          <p:cNvSpPr txBox="1"/>
          <p:nvPr>
            <p:ph idx="4294967295" type="body"/>
          </p:nvPr>
        </p:nvSpPr>
        <p:spPr>
          <a:xfrm>
            <a:off x="324000" y="759300"/>
            <a:ext cx="84846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Use the graphs to spot the incorrect terms in these arithmetic sequences.</a:t>
            </a:r>
            <a:endParaRPr i="1" sz="1800"/>
          </a:p>
        </p:txBody>
      </p:sp>
      <p:sp>
        <p:nvSpPr>
          <p:cNvPr id="1046" name="Google Shape;1046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1047" name="Google Shape;1047;p90"/>
          <p:cNvSpPr/>
          <p:nvPr/>
        </p:nvSpPr>
        <p:spPr>
          <a:xfrm>
            <a:off x="7474633" y="2170769"/>
            <a:ext cx="454800" cy="4821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90"/>
          <p:cNvSpPr txBox="1"/>
          <p:nvPr/>
        </p:nvSpPr>
        <p:spPr>
          <a:xfrm>
            <a:off x="6869128" y="2641407"/>
            <a:ext cx="17211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90"/>
          <p:cNvSpPr txBox="1"/>
          <p:nvPr/>
        </p:nvSpPr>
        <p:spPr>
          <a:xfrm rot="-5400000">
            <a:off x="3659665" y="1776563"/>
            <a:ext cx="15903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value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90"/>
          <p:cNvSpPr txBox="1"/>
          <p:nvPr>
            <p:ph idx="4294967295" type="body"/>
          </p:nvPr>
        </p:nvSpPr>
        <p:spPr>
          <a:xfrm>
            <a:off x="324000" y="1075625"/>
            <a:ext cx="4548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c)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,\frac{7}{12},\frac{2}{3},\frac{3}{4},\frac{5}{6},\frac{9}{15},1\ ...&quot;&gt;&lt;mfrac&gt;&lt;mn&gt;1&lt;/mn&gt;&lt;mn&gt;2&lt;/mn&gt;&lt;/mfrac&gt;&lt;mo&gt;,&lt;/mo&gt;&lt;mfrac&gt;&lt;mn&gt;7&lt;/mn&gt;&lt;mn&gt;12&lt;/mn&gt;&lt;/mfrac&gt;&lt;mo&gt;,&lt;/mo&gt;&lt;mfrac&gt;&lt;mn&gt;2&lt;/mn&gt;&lt;mn&gt;3&lt;/mn&gt;&lt;/mfrac&gt;&lt;mo&gt;,&lt;/mo&gt;&lt;mfrac&gt;&lt;mn&gt;3&lt;/mn&gt;&lt;mn&gt;4&lt;/mn&gt;&lt;/mfrac&gt;&lt;mo&gt;,&lt;/mo&gt;&lt;mfrac&gt;&lt;mn&gt;5&lt;/mn&gt;&lt;mn&gt;6&lt;/mn&gt;&lt;/mfrac&gt;&lt;mo&gt;,&lt;/mo&gt;&lt;mfrac&gt;&lt;mn&gt;9&lt;/mn&gt;&lt;mn&gt;15&lt;/mn&gt;&lt;/mfrac&gt;&lt;mo&gt;,&lt;/mo&gt;&lt;mn&gt;1&lt;/mn&gt;&lt;mtext&gt;&lt;/mtext&gt;&lt;mo&gt;.&lt;/mo&gt;&lt;mo&gt;.&lt;/mo&gt;&lt;mo&gt;.&lt;/mo&gt;&lt;/math&gt;" id="1051" name="Google Shape;1051;p90" title="one half comma 7 over 12 comma two thirds comma three fourths comma five sixths comma 9 over 15 comma 1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25" y="1146801"/>
            <a:ext cx="2990551" cy="6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90"/>
          <p:cNvSpPr txBox="1"/>
          <p:nvPr/>
        </p:nvSpPr>
        <p:spPr>
          <a:xfrm>
            <a:off x="328075" y="2204583"/>
            <a:ext cx="32838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is not in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must not be its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15}&quot;&gt;&lt;mfrac&gt;&lt;mn&gt;9&lt;/mn&gt;&lt;mn&gt;15&lt;/mn&gt;&lt;/mfrac&gt;&lt;/math&gt;" id="1053" name="Google Shape;1053;p90" title="9 over 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870" y="2528962"/>
            <a:ext cx="294900" cy="53798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0"/>
          <p:cNvSpPr/>
          <p:nvPr/>
        </p:nvSpPr>
        <p:spPr>
          <a:xfrm>
            <a:off x="2556233" y="1075632"/>
            <a:ext cx="454800" cy="810600"/>
          </a:xfrm>
          <a:prstGeom prst="ellipse">
            <a:avLst/>
          </a:prstGeom>
          <a:noFill/>
          <a:ln cap="flat" cmpd="sng" w="381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p9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2526300" y="1487695"/>
            <a:ext cx="5318349" cy="52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1061" name="Google Shape;1061;p91"/>
          <p:cNvSpPr txBox="1"/>
          <p:nvPr>
            <p:ph idx="4294967295" type="body"/>
          </p:nvPr>
        </p:nvSpPr>
        <p:spPr>
          <a:xfrm>
            <a:off x="324000" y="812435"/>
            <a:ext cx="71352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3) Laura is asked if the number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/>
              <a:t> is in the 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2, 4, 10, 16,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She says:</a:t>
            </a:r>
            <a:endParaRPr sz="1800"/>
          </a:p>
        </p:txBody>
      </p:sp>
      <p:pic>
        <p:nvPicPr>
          <p:cNvPr id="1062" name="Google Shape;106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311130" y="2057235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91"/>
          <p:cNvSpPr txBox="1"/>
          <p:nvPr/>
        </p:nvSpPr>
        <p:spPr>
          <a:xfrm>
            <a:off x="2666989" y="1500945"/>
            <a:ext cx="486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“I’ll draw a graph and see if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in line”</a:t>
            </a:r>
            <a:endParaRPr/>
          </a:p>
        </p:txBody>
      </p:sp>
      <p:sp>
        <p:nvSpPr>
          <p:cNvPr id="1064" name="Google Shape;1064;p91"/>
          <p:cNvSpPr txBox="1"/>
          <p:nvPr>
            <p:ph idx="4294967295" type="body"/>
          </p:nvPr>
        </p:nvSpPr>
        <p:spPr>
          <a:xfrm>
            <a:off x="324000" y="2488835"/>
            <a:ext cx="64593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Write a sentence explaining why this might not be the most efficient method to use on this occasion.</a:t>
            </a:r>
            <a:endParaRPr sz="1800"/>
          </a:p>
        </p:txBody>
      </p:sp>
      <p:sp>
        <p:nvSpPr>
          <p:cNvPr id="1065" name="Google Shape;1065;p91"/>
          <p:cNvSpPr txBox="1"/>
          <p:nvPr>
            <p:ph idx="4294967295" type="body"/>
          </p:nvPr>
        </p:nvSpPr>
        <p:spPr>
          <a:xfrm>
            <a:off x="324000" y="3327025"/>
            <a:ext cx="79701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included, “The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will have quite a large term number if it is in the sequence, it would take a long time to plot this without technology.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It would be more appropriate, and certainly quicker, to use the odd/even features of this sequence to justify why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117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is not in this sequence”.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features of a sequence</a:t>
            </a:r>
            <a:endParaRPr/>
          </a:p>
        </p:txBody>
      </p:sp>
      <p:sp>
        <p:nvSpPr>
          <p:cNvPr id="1071" name="Google Shape;1071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graphical representation</a:t>
            </a:r>
            <a:endParaRPr/>
          </a:p>
        </p:txBody>
      </p:sp>
      <p:sp>
        <p:nvSpPr>
          <p:cNvPr id="1072" name="Google Shape;1072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073" name="Google Shape;1073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Justifying terms of a sequence</a:t>
            </a:r>
            <a:endParaRPr/>
          </a:p>
        </p:txBody>
      </p:sp>
      <p:pic>
        <p:nvPicPr>
          <p:cNvPr id="1074" name="Google Shape;107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36962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93"/>
          <p:cNvSpPr txBox="1"/>
          <p:nvPr>
            <p:ph idx="1" type="body"/>
          </p:nvPr>
        </p:nvSpPr>
        <p:spPr>
          <a:xfrm>
            <a:off x="312467" y="805430"/>
            <a:ext cx="7135200" cy="11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Beyond graphing with technology, or identifying features, there are other methods we can use to see if large numbers are terms in a sequence.</a:t>
            </a:r>
            <a:endParaRPr sz="2100"/>
          </a:p>
        </p:txBody>
      </p:sp>
      <p:sp>
        <p:nvSpPr>
          <p:cNvPr id="1080" name="Google Shape;108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081" name="Google Shape;1081;p93"/>
          <p:cNvSpPr txBox="1"/>
          <p:nvPr>
            <p:ph idx="1" type="body"/>
          </p:nvPr>
        </p:nvSpPr>
        <p:spPr>
          <a:xfrm>
            <a:off x="331000" y="2077771"/>
            <a:ext cx="84891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607</a:t>
            </a:r>
            <a:r>
              <a:rPr lang="en-GB" sz="2100"/>
              <a:t> in the arithmetic sequence starting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1, 7, 13, 19, …</a:t>
            </a:r>
            <a:r>
              <a:rPr lang="en-GB" sz="2100"/>
              <a:t> ?</a:t>
            </a:r>
            <a:endParaRPr sz="2100"/>
          </a:p>
        </p:txBody>
      </p:sp>
      <p:sp>
        <p:nvSpPr>
          <p:cNvPr id="1082" name="Google Shape;1082;p93"/>
          <p:cNvSpPr txBox="1"/>
          <p:nvPr>
            <p:ph idx="1" type="body"/>
          </p:nvPr>
        </p:nvSpPr>
        <p:spPr>
          <a:xfrm>
            <a:off x="331000" y="2633599"/>
            <a:ext cx="71352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know 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 is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100"/>
          </a:p>
        </p:txBody>
      </p:sp>
      <p:sp>
        <p:nvSpPr>
          <p:cNvPr id="1083" name="Google Shape;1083;p93"/>
          <p:cNvSpPr txBox="1"/>
          <p:nvPr>
            <p:ph idx="1" type="body"/>
          </p:nvPr>
        </p:nvSpPr>
        <p:spPr>
          <a:xfrm>
            <a:off x="331000" y="3178525"/>
            <a:ext cx="84891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can approximate that it is near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100     6(100)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5 = 595</a:t>
            </a:r>
            <a:endParaRPr sz="2100"/>
          </a:p>
        </p:txBody>
      </p:sp>
      <p:sp>
        <p:nvSpPr>
          <p:cNvPr id="1084" name="Google Shape;1084;p93"/>
          <p:cNvSpPr txBox="1"/>
          <p:nvPr>
            <p:ph idx="1" type="body"/>
          </p:nvPr>
        </p:nvSpPr>
        <p:spPr>
          <a:xfrm>
            <a:off x="331000" y="40929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From there we can count on.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595, 601, </a:t>
            </a:r>
            <a:r>
              <a:rPr lang="en-GB" sz="23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607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r>
              <a:rPr lang="en-GB" sz="2100"/>
              <a:t> It’s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102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 sz="2100"/>
              <a:t> term.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94"/>
          <p:cNvSpPr txBox="1"/>
          <p:nvPr>
            <p:ph idx="1" type="subTitle"/>
          </p:nvPr>
        </p:nvSpPr>
        <p:spPr>
          <a:xfrm>
            <a:off x="337825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−607</a:t>
            </a:r>
            <a:r>
              <a:rPr lang="en-GB"/>
              <a:t> in the arithmetic sequence starting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2, −1, −4 …</a:t>
            </a:r>
            <a:r>
              <a:rPr lang="en-GB"/>
              <a:t> ?</a:t>
            </a:r>
            <a:endParaRPr sz="1500"/>
          </a:p>
        </p:txBody>
      </p:sp>
      <p:sp>
        <p:nvSpPr>
          <p:cNvPr id="1090" name="Google Shape;109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091" name="Google Shape;1091;p94"/>
          <p:cNvSpPr txBox="1"/>
          <p:nvPr>
            <p:ph idx="1" type="subTitle"/>
          </p:nvPr>
        </p:nvSpPr>
        <p:spPr>
          <a:xfrm>
            <a:off x="337825" y="16181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5 − 3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500"/>
          </a:p>
        </p:txBody>
      </p:sp>
      <p:sp>
        <p:nvSpPr>
          <p:cNvPr id="1092" name="Google Shape;1092;p94"/>
          <p:cNvSpPr txBox="1"/>
          <p:nvPr>
            <p:ph idx="1" type="subTitle"/>
          </p:nvPr>
        </p:nvSpPr>
        <p:spPr>
          <a:xfrm>
            <a:off x="337825" y="20753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−3 × 200 = −600 </a:t>
            </a:r>
            <a:r>
              <a:rPr lang="en-GB"/>
              <a:t>so approximately near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1500"/>
          </a:p>
        </p:txBody>
      </p:sp>
      <p:sp>
        <p:nvSpPr>
          <p:cNvPr id="1093" name="Google Shape;1093;p94"/>
          <p:cNvSpPr txBox="1"/>
          <p:nvPr>
            <p:ph idx="1" type="subTitle"/>
          </p:nvPr>
        </p:nvSpPr>
        <p:spPr>
          <a:xfrm>
            <a:off x="337825" y="29135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200     5 − 3(200) = −595</a:t>
            </a:r>
            <a:endParaRPr sz="1500"/>
          </a:p>
        </p:txBody>
      </p:sp>
      <p:sp>
        <p:nvSpPr>
          <p:cNvPr id="1094" name="Google Shape;1094;p94"/>
          <p:cNvSpPr txBox="1"/>
          <p:nvPr>
            <p:ph idx="1" type="subTitle"/>
          </p:nvPr>
        </p:nvSpPr>
        <p:spPr>
          <a:xfrm>
            <a:off x="337825" y="33707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−595,  −598,  −601,  −604,  −607, …</a:t>
            </a:r>
            <a:endParaRPr/>
          </a:p>
        </p:txBody>
      </p:sp>
      <p:sp>
        <p:nvSpPr>
          <p:cNvPr id="1095" name="Google Shape;1095;p94"/>
          <p:cNvSpPr txBox="1"/>
          <p:nvPr>
            <p:ph idx="1" type="subTitle"/>
          </p:nvPr>
        </p:nvSpPr>
        <p:spPr>
          <a:xfrm>
            <a:off x="383955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096" name="Google Shape;1096;p94"/>
          <p:cNvSpPr txBox="1"/>
          <p:nvPr>
            <p:ph idx="1" type="subTitle"/>
          </p:nvPr>
        </p:nvSpPr>
        <p:spPr>
          <a:xfrm>
            <a:off x="1069755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097" name="Google Shape;1097;p94"/>
          <p:cNvSpPr txBox="1"/>
          <p:nvPr>
            <p:ph idx="1" type="subTitle"/>
          </p:nvPr>
        </p:nvSpPr>
        <p:spPr>
          <a:xfrm>
            <a:off x="1767088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098" name="Google Shape;1098;p94"/>
          <p:cNvSpPr txBox="1"/>
          <p:nvPr>
            <p:ph idx="1" type="subTitle"/>
          </p:nvPr>
        </p:nvSpPr>
        <p:spPr>
          <a:xfrm>
            <a:off x="2517555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203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099" name="Google Shape;1099;p94"/>
          <p:cNvSpPr txBox="1"/>
          <p:nvPr>
            <p:ph idx="1" type="subTitle"/>
          </p:nvPr>
        </p:nvSpPr>
        <p:spPr>
          <a:xfrm>
            <a:off x="3279555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204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100" name="Google Shape;1100;p94"/>
          <p:cNvSpPr txBox="1"/>
          <p:nvPr>
            <p:ph idx="1" type="subTitle"/>
          </p:nvPr>
        </p:nvSpPr>
        <p:spPr>
          <a:xfrm>
            <a:off x="337825" y="44375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Yes. It’s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204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1500"/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4822100" y="810000"/>
            <a:ext cx="3982200" cy="8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−58</a:t>
            </a:r>
            <a:r>
              <a:rPr lang="en-GB"/>
              <a:t> in the arithmetic sequence starting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851, 842, 833, 824, …</a:t>
            </a:r>
            <a:r>
              <a:rPr lang="en-GB"/>
              <a:t> ?</a:t>
            </a:r>
            <a:endParaRPr sz="1500"/>
          </a:p>
        </p:txBody>
      </p:sp>
      <p:sp>
        <p:nvSpPr>
          <p:cNvPr id="1102" name="Google Shape;1102;p94"/>
          <p:cNvSpPr txBox="1"/>
          <p:nvPr>
            <p:ph idx="1" type="subTitle"/>
          </p:nvPr>
        </p:nvSpPr>
        <p:spPr>
          <a:xfrm>
            <a:off x="4822092" y="16181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860 − 9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i="1" sz="1500"/>
          </a:p>
        </p:txBody>
      </p:sp>
      <p:sp>
        <p:nvSpPr>
          <p:cNvPr id="1103" name="Google Shape;1103;p94"/>
          <p:cNvSpPr txBox="1"/>
          <p:nvPr>
            <p:ph idx="1" type="subTitle"/>
          </p:nvPr>
        </p:nvSpPr>
        <p:spPr>
          <a:xfrm>
            <a:off x="4822092" y="20753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−9 × 100 = −900 </a:t>
            </a:r>
            <a:r>
              <a:rPr lang="en-GB"/>
              <a:t>so approximately near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1500"/>
          </a:p>
        </p:txBody>
      </p:sp>
      <p:sp>
        <p:nvSpPr>
          <p:cNvPr id="1104" name="Google Shape;1104;p94"/>
          <p:cNvSpPr txBox="1"/>
          <p:nvPr>
            <p:ph idx="1" type="subTitle"/>
          </p:nvPr>
        </p:nvSpPr>
        <p:spPr>
          <a:xfrm>
            <a:off x="4822092" y="29135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100     860 − 9(100) = −40</a:t>
            </a:r>
            <a:endParaRPr sz="1500"/>
          </a:p>
        </p:txBody>
      </p:sp>
      <p:sp>
        <p:nvSpPr>
          <p:cNvPr id="1105" name="Google Shape;1105;p94"/>
          <p:cNvSpPr txBox="1"/>
          <p:nvPr>
            <p:ph idx="1" type="subTitle"/>
          </p:nvPr>
        </p:nvSpPr>
        <p:spPr>
          <a:xfrm>
            <a:off x="4822092" y="33707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−40,   −49,   −58, …</a:t>
            </a:r>
            <a:endParaRPr/>
          </a:p>
        </p:txBody>
      </p:sp>
      <p:sp>
        <p:nvSpPr>
          <p:cNvPr id="1106" name="Google Shape;1106;p94"/>
          <p:cNvSpPr txBox="1"/>
          <p:nvPr>
            <p:ph idx="1" type="subTitle"/>
          </p:nvPr>
        </p:nvSpPr>
        <p:spPr>
          <a:xfrm>
            <a:off x="4826620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107" name="Google Shape;1107;p94"/>
          <p:cNvSpPr txBox="1"/>
          <p:nvPr>
            <p:ph idx="1" type="subTitle"/>
          </p:nvPr>
        </p:nvSpPr>
        <p:spPr>
          <a:xfrm>
            <a:off x="5447753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108" name="Google Shape;1108;p94"/>
          <p:cNvSpPr txBox="1"/>
          <p:nvPr>
            <p:ph idx="1" type="subTitle"/>
          </p:nvPr>
        </p:nvSpPr>
        <p:spPr>
          <a:xfrm>
            <a:off x="6145085" y="400339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102</a:t>
            </a:r>
            <a:r>
              <a:rPr baseline="30000" lang="en-GB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endParaRPr baseline="30000" sz="1600">
              <a:solidFill>
                <a:schemeClr val="accent2"/>
              </a:solidFill>
            </a:endParaRPr>
          </a:p>
        </p:txBody>
      </p:sp>
      <p:sp>
        <p:nvSpPr>
          <p:cNvPr id="1109" name="Google Shape;1109;p94"/>
          <p:cNvSpPr txBox="1"/>
          <p:nvPr>
            <p:ph idx="1" type="subTitle"/>
          </p:nvPr>
        </p:nvSpPr>
        <p:spPr>
          <a:xfrm>
            <a:off x="4822092" y="4437526"/>
            <a:ext cx="3982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Yes. It’s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102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/>
              <a:t> term.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5"/>
          <p:cNvSpPr txBox="1"/>
          <p:nvPr>
            <p:ph idx="1" type="body"/>
          </p:nvPr>
        </p:nvSpPr>
        <p:spPr>
          <a:xfrm>
            <a:off x="312476" y="805425"/>
            <a:ext cx="7739400" cy="110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What if that large number is </a:t>
            </a:r>
            <a:r>
              <a:rPr lang="en-GB" sz="2100">
                <a:solidFill>
                  <a:schemeClr val="accent2"/>
                </a:solidFill>
              </a:rPr>
              <a:t>not</a:t>
            </a:r>
            <a:r>
              <a:rPr lang="en-GB" sz="2100"/>
              <a:t> in our sequence?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What language do we use to </a:t>
            </a:r>
            <a:r>
              <a:rPr lang="en-GB" sz="2100">
                <a:solidFill>
                  <a:srgbClr val="374CF1"/>
                </a:solidFill>
              </a:rPr>
              <a:t>justify </a:t>
            </a:r>
            <a:r>
              <a:rPr lang="en-GB" sz="2100"/>
              <a:t>the fact that it is not?</a:t>
            </a:r>
            <a:endParaRPr sz="2100"/>
          </a:p>
        </p:txBody>
      </p:sp>
      <p:sp>
        <p:nvSpPr>
          <p:cNvPr id="1115" name="Google Shape;111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16" name="Google Shape;1116;p95"/>
          <p:cNvSpPr txBox="1"/>
          <p:nvPr>
            <p:ph idx="1" type="body"/>
          </p:nvPr>
        </p:nvSpPr>
        <p:spPr>
          <a:xfrm>
            <a:off x="331000" y="2328800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 is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2100"/>
              <a:t>so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841</a:t>
            </a:r>
            <a:r>
              <a:rPr lang="en-GB" sz="2100"/>
              <a:t> is approximately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210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term.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7" name="Google Shape;1117;p95"/>
          <p:cNvSpPr txBox="1"/>
          <p:nvPr>
            <p:ph idx="1" type="body"/>
          </p:nvPr>
        </p:nvSpPr>
        <p:spPr>
          <a:xfrm>
            <a:off x="331000" y="1849171"/>
            <a:ext cx="8489100" cy="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Is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841</a:t>
            </a:r>
            <a:r>
              <a:rPr lang="en-GB" sz="2100"/>
              <a:t> in the arithmetic sequence starting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3, 7, 11, 15, …</a:t>
            </a:r>
            <a:r>
              <a:rPr lang="en-GB" sz="2100"/>
              <a:t> ?</a:t>
            </a:r>
            <a:endParaRPr sz="2100"/>
          </a:p>
        </p:txBody>
      </p:sp>
      <p:sp>
        <p:nvSpPr>
          <p:cNvPr id="1118" name="Google Shape;1118;p95"/>
          <p:cNvSpPr txBox="1"/>
          <p:nvPr>
            <p:ph idx="1" type="body"/>
          </p:nvPr>
        </p:nvSpPr>
        <p:spPr>
          <a:xfrm>
            <a:off x="352015" y="2855188"/>
            <a:ext cx="33732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210     4(210)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1 = 839</a:t>
            </a:r>
            <a:endParaRPr sz="2100"/>
          </a:p>
        </p:txBody>
      </p:sp>
      <p:sp>
        <p:nvSpPr>
          <p:cNvPr id="1119" name="Google Shape;1119;p95"/>
          <p:cNvSpPr txBox="1"/>
          <p:nvPr>
            <p:ph idx="1" type="body"/>
          </p:nvPr>
        </p:nvSpPr>
        <p:spPr>
          <a:xfrm>
            <a:off x="331000" y="33309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From there we can count on.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839, 843, 847, …</a:t>
            </a:r>
            <a:endParaRPr sz="2100"/>
          </a:p>
        </p:txBody>
      </p:sp>
      <p:sp>
        <p:nvSpPr>
          <p:cNvPr id="1120" name="Google Shape;1120;p95"/>
          <p:cNvSpPr txBox="1"/>
          <p:nvPr>
            <p:ph idx="1" type="body"/>
          </p:nvPr>
        </p:nvSpPr>
        <p:spPr>
          <a:xfrm>
            <a:off x="331000" y="3864325"/>
            <a:ext cx="8489100" cy="7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839 </a:t>
            </a:r>
            <a:r>
              <a:rPr lang="en-GB" sz="2100"/>
              <a:t>is the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210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/>
              <a:t>term,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843 </a:t>
            </a:r>
            <a:r>
              <a:rPr lang="en-GB" sz="2100"/>
              <a:t>is the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211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/>
              <a:t>term therefore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841 </a:t>
            </a:r>
            <a:r>
              <a:rPr lang="en-GB" sz="2100"/>
              <a:t>cannot be in the sequence.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best justifies that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295</a:t>
            </a:r>
            <a:r>
              <a:rPr lang="en-GB" sz="2000"/>
              <a:t> in not in the arithmetic sequence starting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−4, −1, 2, 5, …</a:t>
            </a:r>
            <a:r>
              <a:rPr lang="en-GB"/>
              <a:t> </a:t>
            </a:r>
            <a:r>
              <a:rPr lang="en-GB" sz="2000"/>
              <a:t>with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− 7 </a:t>
            </a:r>
            <a:r>
              <a:rPr lang="en-GB" sz="2000"/>
              <a:t>?</a:t>
            </a:r>
            <a:endParaRPr/>
          </a:p>
        </p:txBody>
      </p:sp>
      <p:sp>
        <p:nvSpPr>
          <p:cNvPr id="1126" name="Google Shape;1126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27" name="Google Shape;1127;p96"/>
          <p:cNvSpPr txBox="1"/>
          <p:nvPr>
            <p:ph idx="1" type="subTitle"/>
          </p:nvPr>
        </p:nvSpPr>
        <p:spPr>
          <a:xfrm>
            <a:off x="1034425" y="1837775"/>
            <a:ext cx="4538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100     3(100) − 7 = 293 </a:t>
            </a:r>
            <a:r>
              <a:rPr lang="en-GB" sz="2000"/>
              <a:t>so it’s not.</a:t>
            </a:r>
            <a:endParaRPr/>
          </a:p>
        </p:txBody>
      </p:sp>
      <p:sp>
        <p:nvSpPr>
          <p:cNvPr id="1128" name="Google Shape;1128;p96"/>
          <p:cNvSpPr txBox="1"/>
          <p:nvPr>
            <p:ph idx="3" type="subTitle"/>
          </p:nvPr>
        </p:nvSpPr>
        <p:spPr>
          <a:xfrm>
            <a:off x="1034425" y="2794250"/>
            <a:ext cx="3084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…, 290, 293, 296, 299, …</a:t>
            </a:r>
            <a:endParaRPr/>
          </a:p>
        </p:txBody>
      </p:sp>
      <p:sp>
        <p:nvSpPr>
          <p:cNvPr id="1129" name="Google Shape;1129;p96"/>
          <p:cNvSpPr txBox="1"/>
          <p:nvPr>
            <p:ph idx="4" type="subTitle"/>
          </p:nvPr>
        </p:nvSpPr>
        <p:spPr>
          <a:xfrm>
            <a:off x="1034425" y="3614575"/>
            <a:ext cx="6983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3(100) − 7 = 293 </a:t>
            </a:r>
            <a:r>
              <a:rPr lang="en-GB" sz="2000"/>
              <a:t>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3(101) − 7 = 296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293</a:t>
            </a:r>
            <a:r>
              <a:rPr lang="en-GB" sz="2000"/>
              <a:t>,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101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296</a:t>
            </a:r>
            <a:r>
              <a:rPr lang="en-GB" sz="2000"/>
              <a:t> so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295</a:t>
            </a:r>
            <a:r>
              <a:rPr lang="en-GB" sz="2000"/>
              <a:t> can not be in the sequence.</a:t>
            </a:r>
            <a:endParaRPr/>
          </a:p>
        </p:txBody>
      </p:sp>
      <p:pic>
        <p:nvPicPr>
          <p:cNvPr id="1130" name="Google Shape;1130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983" y="3986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96"/>
          <p:cNvSpPr txBox="1"/>
          <p:nvPr>
            <p:ph idx="1" type="subTitle"/>
          </p:nvPr>
        </p:nvSpPr>
        <p:spPr>
          <a:xfrm>
            <a:off x="5572525" y="1521442"/>
            <a:ext cx="3247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know at this point but, you haven’t justified that the next term is beyond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2" name="Google Shape;1132;p96"/>
          <p:cNvSpPr txBox="1"/>
          <p:nvPr>
            <p:ph idx="1" type="subTitle"/>
          </p:nvPr>
        </p:nvSpPr>
        <p:spPr>
          <a:xfrm>
            <a:off x="4159323" y="2759180"/>
            <a:ext cx="368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haven’t justified that any of these terms are in our sequence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7"/>
          <p:cNvSpPr txBox="1"/>
          <p:nvPr>
            <p:ph idx="1" type="body"/>
          </p:nvPr>
        </p:nvSpPr>
        <p:spPr>
          <a:xfrm>
            <a:off x="324000" y="759300"/>
            <a:ext cx="82377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and approximation to find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10, 23, 36, 49, …</a:t>
            </a:r>
            <a:endParaRPr/>
          </a:p>
        </p:txBody>
      </p:sp>
      <p:sp>
        <p:nvSpPr>
          <p:cNvPr id="1138" name="Google Shape;1138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39" name="Google Shape;1139;p97"/>
          <p:cNvSpPr txBox="1"/>
          <p:nvPr>
            <p:ph idx="1" type="body"/>
          </p:nvPr>
        </p:nvSpPr>
        <p:spPr>
          <a:xfrm>
            <a:off x="324000" y="2207100"/>
            <a:ext cx="84960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−22, −14, −6, 2,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 sentence to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97"/>
          <p:cNvSpPr txBox="1"/>
          <p:nvPr>
            <p:ph idx="1" type="body"/>
          </p:nvPr>
        </p:nvSpPr>
        <p:spPr>
          <a:xfrm>
            <a:off x="324000" y="3818825"/>
            <a:ext cx="7082100" cy="5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21.25, 20.9, 20.55, 20.2, …     </a:t>
            </a:r>
            <a:r>
              <a:rPr lang="en-GB"/>
              <a:t>Fully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Use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and approximation to find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10, 23, 36, 49, …</a:t>
            </a:r>
            <a:endParaRPr/>
          </a:p>
        </p:txBody>
      </p:sp>
      <p:sp>
        <p:nvSpPr>
          <p:cNvPr id="1146" name="Google Shape;1146;p98"/>
          <p:cNvSpPr txBox="1"/>
          <p:nvPr>
            <p:ph idx="4294967295" type="body"/>
          </p:nvPr>
        </p:nvSpPr>
        <p:spPr>
          <a:xfrm>
            <a:off x="331000" y="1795399"/>
            <a:ext cx="71352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100"/>
          </a:p>
        </p:txBody>
      </p:sp>
      <p:sp>
        <p:nvSpPr>
          <p:cNvPr id="1147" name="Google Shape;1147;p98"/>
          <p:cNvSpPr txBox="1"/>
          <p:nvPr>
            <p:ph idx="4294967295" type="body"/>
          </p:nvPr>
        </p:nvSpPr>
        <p:spPr>
          <a:xfrm>
            <a:off x="331000" y="2416525"/>
            <a:ext cx="84891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We can approximate that it is near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term.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30     13(30)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3 = 390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3 = 387</a:t>
            </a:r>
            <a:endParaRPr sz="2100"/>
          </a:p>
        </p:txBody>
      </p:sp>
      <p:sp>
        <p:nvSpPr>
          <p:cNvPr id="1148" name="Google Shape;1148;p98"/>
          <p:cNvSpPr txBox="1"/>
          <p:nvPr>
            <p:ph idx="4294967295" type="body"/>
          </p:nvPr>
        </p:nvSpPr>
        <p:spPr>
          <a:xfrm>
            <a:off x="331000" y="34833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Count on.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387, </a:t>
            </a:r>
            <a:r>
              <a:rPr lang="en-GB" sz="23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100"/>
          </a:p>
        </p:txBody>
      </p:sp>
      <p:sp>
        <p:nvSpPr>
          <p:cNvPr id="1149" name="Google Shape;1149;p98"/>
          <p:cNvSpPr txBox="1"/>
          <p:nvPr>
            <p:ph idx="4294967295" type="body"/>
          </p:nvPr>
        </p:nvSpPr>
        <p:spPr>
          <a:xfrm>
            <a:off x="331000" y="42453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in the sequence. It’s the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term.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0" name="Google Shape;1150;p98"/>
          <p:cNvSpPr txBox="1"/>
          <p:nvPr>
            <p:ph idx="4294967295" type="subTitle"/>
          </p:nvPr>
        </p:nvSpPr>
        <p:spPr>
          <a:xfrm>
            <a:off x="1557025" y="380486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baseline="30000"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300">
              <a:solidFill>
                <a:schemeClr val="accent2"/>
              </a:solidFill>
            </a:endParaRPr>
          </a:p>
        </p:txBody>
      </p:sp>
      <p:sp>
        <p:nvSpPr>
          <p:cNvPr id="1151" name="Google Shape;1151;p98"/>
          <p:cNvSpPr txBox="1"/>
          <p:nvPr>
            <p:ph idx="4294967295" type="subTitle"/>
          </p:nvPr>
        </p:nvSpPr>
        <p:spPr>
          <a:xfrm>
            <a:off x="2178625" y="3804860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r>
              <a:rPr baseline="30000"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endParaRPr baseline="30000" sz="1300">
              <a:solidFill>
                <a:schemeClr val="accent2"/>
              </a:solidFill>
            </a:endParaRPr>
          </a:p>
        </p:txBody>
      </p:sp>
      <p:sp>
        <p:nvSpPr>
          <p:cNvPr id="1152" name="Google Shape;115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58" name="Google Shape;1158;p99"/>
          <p:cNvSpPr txBox="1"/>
          <p:nvPr>
            <p:ph idx="1" type="body"/>
          </p:nvPr>
        </p:nvSpPr>
        <p:spPr>
          <a:xfrm>
            <a:off x="324000" y="759300"/>
            <a:ext cx="84960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−22, −14, −6, 2,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 sentence to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99"/>
          <p:cNvSpPr txBox="1"/>
          <p:nvPr>
            <p:ph idx="4294967295" type="body"/>
          </p:nvPr>
        </p:nvSpPr>
        <p:spPr>
          <a:xfrm>
            <a:off x="331000" y="1871600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30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so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approximately the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term.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99"/>
          <p:cNvSpPr txBox="1"/>
          <p:nvPr>
            <p:ph idx="4294967295" type="body"/>
          </p:nvPr>
        </p:nvSpPr>
        <p:spPr>
          <a:xfrm>
            <a:off x="352015" y="2397988"/>
            <a:ext cx="33732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50     8(50)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30 = 370</a:t>
            </a:r>
            <a:endParaRPr sz="2100"/>
          </a:p>
        </p:txBody>
      </p:sp>
      <p:sp>
        <p:nvSpPr>
          <p:cNvPr id="1161" name="Google Shape;1161;p99"/>
          <p:cNvSpPr txBox="1"/>
          <p:nvPr>
            <p:ph idx="4294967295" type="body"/>
          </p:nvPr>
        </p:nvSpPr>
        <p:spPr>
          <a:xfrm>
            <a:off x="331000" y="28737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Count on: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370, 378, 386, 394, 402, …</a:t>
            </a:r>
            <a:endParaRPr sz="2100"/>
          </a:p>
        </p:txBody>
      </p:sp>
      <p:sp>
        <p:nvSpPr>
          <p:cNvPr id="1162" name="Google Shape;1162;p99"/>
          <p:cNvSpPr txBox="1"/>
          <p:nvPr>
            <p:ph idx="4294967295" type="body"/>
          </p:nvPr>
        </p:nvSpPr>
        <p:spPr>
          <a:xfrm>
            <a:off x="331000" y="34071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394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the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53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term,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402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the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therefore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400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can not be in the sequence.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68" name="Google Shape;1168;p100"/>
          <p:cNvSpPr txBox="1"/>
          <p:nvPr>
            <p:ph idx="1" type="body"/>
          </p:nvPr>
        </p:nvSpPr>
        <p:spPr>
          <a:xfrm>
            <a:off x="324000" y="759300"/>
            <a:ext cx="8496000" cy="11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−22, −14, −6, 2, 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Write a sentence to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100"/>
          <p:cNvSpPr txBox="1"/>
          <p:nvPr>
            <p:ph idx="4294967295" type="body"/>
          </p:nvPr>
        </p:nvSpPr>
        <p:spPr>
          <a:xfrm>
            <a:off x="6003000" y="1292070"/>
            <a:ext cx="2810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0" name="Google Shape;117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17" y="1887958"/>
            <a:ext cx="2733727" cy="14695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6532" y="1895369"/>
            <a:ext cx="2669833" cy="1460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9118" y="1889089"/>
            <a:ext cx="2724599" cy="1478689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100"/>
          <p:cNvSpPr txBox="1"/>
          <p:nvPr/>
        </p:nvSpPr>
        <p:spPr>
          <a:xfrm>
            <a:off x="327893" y="3657600"/>
            <a:ext cx="84960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is no whole number I can substitute in to 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23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make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400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, the term number, needs to be whole. It is not in the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79" name="Google Shape;1179;p101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21.25, 20.9, 20.55, 20.2, …     </a:t>
            </a:r>
            <a:r>
              <a:rPr lang="en-GB"/>
              <a:t>Fully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101"/>
          <p:cNvSpPr txBox="1"/>
          <p:nvPr>
            <p:ph idx="4294967295" type="body"/>
          </p:nvPr>
        </p:nvSpPr>
        <p:spPr>
          <a:xfrm>
            <a:off x="331000" y="1719200"/>
            <a:ext cx="35577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100"/>
              <a:t>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is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21.6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0.35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101"/>
          <p:cNvSpPr txBox="1"/>
          <p:nvPr>
            <p:ph idx="4294967295" type="body"/>
          </p:nvPr>
        </p:nvSpPr>
        <p:spPr>
          <a:xfrm>
            <a:off x="352031" y="2702800"/>
            <a:ext cx="52896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100     21.6 − 0.35(100) = −13.4</a:t>
            </a:r>
            <a:endParaRPr sz="2100"/>
          </a:p>
        </p:txBody>
      </p:sp>
      <p:sp>
        <p:nvSpPr>
          <p:cNvPr id="1182" name="Google Shape;1182;p101"/>
          <p:cNvSpPr txBox="1"/>
          <p:nvPr>
            <p:ph idx="4294967295" type="body"/>
          </p:nvPr>
        </p:nvSpPr>
        <p:spPr>
          <a:xfrm>
            <a:off x="331000" y="3178525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Count back: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−12.7, −13.05, −13.4 …</a:t>
            </a:r>
            <a:endParaRPr sz="2100"/>
          </a:p>
        </p:txBody>
      </p:sp>
      <p:sp>
        <p:nvSpPr>
          <p:cNvPr id="1183" name="Google Shape;1183;p101"/>
          <p:cNvSpPr txBox="1"/>
          <p:nvPr>
            <p:ph idx="4294967295" type="body"/>
          </p:nvPr>
        </p:nvSpPr>
        <p:spPr>
          <a:xfrm>
            <a:off x="331000" y="3940525"/>
            <a:ext cx="57489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−12.7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the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term,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−13.05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is the</a:t>
            </a:r>
            <a:r>
              <a:rPr lang="en-GB" sz="23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99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 therefore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−12.75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can not be in the sequence.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101"/>
          <p:cNvSpPr txBox="1"/>
          <p:nvPr>
            <p:ph idx="4294967295" type="body"/>
          </p:nvPr>
        </p:nvSpPr>
        <p:spPr>
          <a:xfrm>
            <a:off x="331000" y="2176400"/>
            <a:ext cx="84891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21 − 35 = −14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so approximately the</a:t>
            </a:r>
            <a:r>
              <a:rPr lang="en-GB" sz="2100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3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100"/>
              <a:t>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term.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5" name="Google Shape;1185;p101"/>
          <p:cNvSpPr txBox="1"/>
          <p:nvPr>
            <p:ph idx="4294967295" type="subTitle"/>
          </p:nvPr>
        </p:nvSpPr>
        <p:spPr>
          <a:xfrm>
            <a:off x="1926492" y="3476995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</a:t>
            </a:r>
            <a:r>
              <a:rPr baseline="30000"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300">
              <a:solidFill>
                <a:schemeClr val="accent2"/>
              </a:solidFill>
            </a:endParaRPr>
          </a:p>
        </p:txBody>
      </p:sp>
      <p:sp>
        <p:nvSpPr>
          <p:cNvPr id="1186" name="Google Shape;1186;p101"/>
          <p:cNvSpPr txBox="1"/>
          <p:nvPr>
            <p:ph idx="4294967295" type="subTitle"/>
          </p:nvPr>
        </p:nvSpPr>
        <p:spPr>
          <a:xfrm>
            <a:off x="2840892" y="3476995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</a:t>
            </a:r>
            <a:r>
              <a:rPr baseline="30000"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300">
              <a:solidFill>
                <a:schemeClr val="accent2"/>
              </a:solidFill>
            </a:endParaRPr>
          </a:p>
        </p:txBody>
      </p:sp>
      <p:sp>
        <p:nvSpPr>
          <p:cNvPr id="1187" name="Google Shape;1187;p101"/>
          <p:cNvSpPr txBox="1"/>
          <p:nvPr>
            <p:ph idx="4294967295" type="subTitle"/>
          </p:nvPr>
        </p:nvSpPr>
        <p:spPr>
          <a:xfrm>
            <a:off x="3651500" y="3476995"/>
            <a:ext cx="6216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endParaRPr baseline="30000"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  <p:sp>
        <p:nvSpPr>
          <p:cNvPr id="1193" name="Google Shape;1193;p102"/>
          <p:cNvSpPr txBox="1"/>
          <p:nvPr>
            <p:ph idx="1" type="body"/>
          </p:nvPr>
        </p:nvSpPr>
        <p:spPr>
          <a:xfrm>
            <a:off x="324000" y="759300"/>
            <a:ext cx="7135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/>
              <a:t> in the arithmetic sequence starting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21.25, 20.9, 20.55, 20.2, …     </a:t>
            </a:r>
            <a:r>
              <a:rPr lang="en-GB"/>
              <a:t>Fully </a:t>
            </a:r>
            <a:r>
              <a:rPr lang="en-GB">
                <a:solidFill>
                  <a:schemeClr val="accent2"/>
                </a:solidFill>
              </a:rPr>
              <a:t>justify </a:t>
            </a:r>
            <a:r>
              <a:rPr lang="en-GB"/>
              <a:t>your answer.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4" name="Google Shape;119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399" y="1694095"/>
            <a:ext cx="2554350" cy="1402734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02"/>
          <p:cNvSpPr txBox="1"/>
          <p:nvPr>
            <p:ph idx="4294967295" type="body"/>
          </p:nvPr>
        </p:nvSpPr>
        <p:spPr>
          <a:xfrm>
            <a:off x="3369600" y="1883125"/>
            <a:ext cx="5459400" cy="3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non-whole value that makes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−12.75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was difficult to find so it’s less appropriate to use this justification on this occasion.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0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 can determine whether a number is a term of a given arithmetic sequence in a variety of ways. By looking at the features of the sequence, by graphing it, and also by using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/>
          </a:p>
        </p:txBody>
      </p:sp>
      <p:sp>
        <p:nvSpPr>
          <p:cNvPr id="1201" name="Google Shape;1201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07" name="Google Shape;1207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