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35189E1-5740-46D7-85FF-DF6E6011C3F3}">
  <a:tblStyle styleId="{E35189E1-5740-46D7-85FF-DF6E6011C3F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g29b145a36cb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9b145a36cb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9" name="Shape 209"/>
        <p:cNvGrpSpPr/>
        <p:nvPr/>
      </p:nvGrpSpPr>
      <p:grpSpPr>
        <a:xfrm>
          <a:off x="0" y="0"/>
          <a:ext cx="0" cy="0"/>
        </a:xfrm>
      </p:grpSpPr>
      <p:sp>
        <p:nvSpPr>
          <p:cNvPr id="210" name="Google Shape;21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Relationship Id="rId9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10" Type="http://schemas.openxmlformats.org/officeDocument/2006/relationships/image" Target="../media/image18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9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Relationship Id="rId9" Type="http://schemas.openxmlformats.org/officeDocument/2006/relationships/image" Target="../media/image1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6.pn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9.png" /><Relationship Id="rId4" Type="http://schemas.openxmlformats.org/officeDocument/2006/relationships/image" Target="../media/image20.png" /><Relationship Id="rId5" Type="http://schemas.openxmlformats.org/officeDocument/2006/relationships/image" Target="../media/image21.png" /><Relationship Id="rId6" Type="http://schemas.openxmlformats.org/officeDocument/2006/relationships/image" Target="../media/image22.png" /><Relationship Id="rId7" Type="http://schemas.openxmlformats.org/officeDocument/2006/relationships/image" Target="../media/image23.png" /><Relationship Id="rId8" Type="http://schemas.openxmlformats.org/officeDocument/2006/relationships/image" Target="../media/image24.png" /><Relationship Id="rId9" Type="http://schemas.openxmlformats.org/officeDocument/2006/relationships/image" Target="../media/image2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any term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897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substitution to find the first five terms of these arithmetic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525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Generating sequences using </a:t>
            </a:r>
            <a:r>
              <a:rPr lang="en-GB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2547488" y="2173054"/>
          <a:ext cx="4011100" cy="761940"/>
        </p:xfrm>
        <a:graphic>
          <a:graphicData uri="http://schemas.openxmlformats.org/drawingml/2006/table">
            <a:tbl>
              <a:tblPr>
                <a:noFill/>
                <a:tableStyleId>{E35189E1-5740-46D7-85FF-DF6E6011C3F3}</a:tableStyleId>
              </a:tblPr>
              <a:tblGrid>
                <a:gridCol w="1667850"/>
                <a:gridCol w="468650"/>
                <a:gridCol w="468650"/>
                <a:gridCol w="468650"/>
                <a:gridCol w="468650"/>
                <a:gridCol w="468650"/>
              </a:tblGrid>
              <a:tr h="3442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421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8000" y="2206599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" name="Google Shape;167;p20" descr="&lt;math xmlns=&quot;http://www.w3.org/1998/Math/MathML&quot; display=&quot;block&quot; data-is-equatio=&quot;1&quot; data-latex=&quot;5n+3&quot;&gt;&lt;mn&gt;5&lt;/mn&gt;&lt;mi&gt;n&lt;/mi&gt;&lt;mo&gt;+&lt;/mo&gt;&lt;mn&gt;3&lt;/mn&gt;&lt;/math&gt;" title="5 n plu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722" y="2177302"/>
            <a:ext cx="709700" cy="207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20"/>
          <p:cNvGraphicFramePr>
            <a:graphicFrameLocks noGrp="1"/>
          </p:cNvGraphicFramePr>
          <p:nvPr/>
        </p:nvGraphicFramePr>
        <p:xfrm>
          <a:off x="2317775" y="3287804"/>
          <a:ext cx="4554525" cy="765485"/>
        </p:xfrm>
        <a:graphic>
          <a:graphicData uri="http://schemas.openxmlformats.org/drawingml/2006/table">
            <a:tbl>
              <a:tblPr>
                <a:noFill/>
                <a:tableStyleId>{E35189E1-5740-46D7-85FF-DF6E6011C3F3}</a:tableStyleId>
              </a:tblPr>
              <a:tblGrid>
                <a:gridCol w="1646400"/>
                <a:gridCol w="581625"/>
                <a:gridCol w="581625"/>
                <a:gridCol w="581625"/>
                <a:gridCol w="581625"/>
                <a:gridCol w="581625"/>
              </a:tblGrid>
              <a:tr h="369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2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9" name="Google Shape;169;p20" descr="&lt;math xmlns=&quot;http://www.w3.org/1998/Math/MathML&quot; display=&quot;block&quot; data-is-equatio=&quot;1&quot; data-latex=&quot;0.05n+0.3&quot;&gt;&lt;mn&gt;0.05&lt;/mn&gt;&lt;mi&gt;n&lt;/mi&gt;&lt;mo&gt;+&lt;/mo&gt;&lt;mn&gt;0.3&lt;/mn&gt;&lt;/math&gt;" title="0.05 n plus 0.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8725" y="3287798"/>
            <a:ext cx="1281600" cy="21033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468000" y="3303811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2317763" y="4283754"/>
          <a:ext cx="4621325" cy="770885"/>
        </p:xfrm>
        <a:graphic>
          <a:graphicData uri="http://schemas.openxmlformats.org/drawingml/2006/table">
            <a:tbl>
              <a:tblPr>
                <a:noFill/>
                <a:tableStyleId>{E35189E1-5740-46D7-85FF-DF6E6011C3F3}</a:tableStyleId>
              </a:tblPr>
              <a:tblGrid>
                <a:gridCol w="1670575"/>
                <a:gridCol w="590150"/>
                <a:gridCol w="590150"/>
                <a:gridCol w="590150"/>
                <a:gridCol w="590150"/>
                <a:gridCol w="590150"/>
              </a:tblGrid>
              <a:tr h="3746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03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/>
        </p:nvSpPr>
        <p:spPr>
          <a:xfrm>
            <a:off x="468000" y="4283749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 descr="&lt;math xmlns=&quot;http://www.w3.org/1998/Math/MathML&quot; display=&quot;block&quot; data-is-equatio=&quot;1&quot; data-latex=&quot;3-0.7n&quot;&gt;&lt;mn&gt;3&lt;/mn&gt;&lt;mo&gt;−&lt;/mo&gt;&lt;mn&gt;0.7&lt;/mn&gt;&lt;mi&gt;n&lt;/mi&gt;&lt;/math&gt;" title="3 minus 0.7 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723" y="4283752"/>
            <a:ext cx="963852" cy="207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20"/>
          <p:cNvGraphicFramePr>
            <a:graphicFrameLocks noGrp="1"/>
          </p:cNvGraphicFramePr>
          <p:nvPr/>
        </p:nvGraphicFramePr>
        <p:xfrm>
          <a:off x="2351138" y="5285105"/>
          <a:ext cx="4554575" cy="765460"/>
        </p:xfrm>
        <a:graphic>
          <a:graphicData uri="http://schemas.openxmlformats.org/drawingml/2006/table">
            <a:tbl>
              <a:tblPr>
                <a:noFill/>
                <a:tableStyleId>{E35189E1-5740-46D7-85FF-DF6E6011C3F3}</a:tableStyleId>
              </a:tblPr>
              <a:tblGrid>
                <a:gridCol w="1646450"/>
                <a:gridCol w="581625"/>
                <a:gridCol w="581625"/>
                <a:gridCol w="581625"/>
                <a:gridCol w="581625"/>
                <a:gridCol w="581625"/>
              </a:tblGrid>
              <a:tr h="3692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57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68000" y="5345999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 descr="&lt;math xmlns=&quot;http://www.w3.org/1998/Math/MathML&quot; display=&quot;block&quot; data-is-equatio=&quot;1&quot; data-latex=&quot;-3-0.7n&quot;&gt;&lt;mo&gt;−&lt;/mo&gt;&lt;mn&gt;3&lt;/mn&gt;&lt;mo&gt;−&lt;/mo&gt;&lt;mn&gt;0.7&lt;/mn&gt;&lt;mi&gt;n&lt;/mi&gt;&lt;/math&gt;" title="negative 3 minus 0.7 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211" y="5346002"/>
            <a:ext cx="1156626" cy="2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rcRect r="57905" b="43690"/>
          <a:stretch>
            <a:fillRect/>
          </a:stretch>
        </p:blipFill>
        <p:spPr>
          <a:xfrm flipH="1">
            <a:off x="467999" y="6653352"/>
            <a:ext cx="4456351" cy="74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30175" y="6769775"/>
            <a:ext cx="4031700" cy="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sequence              must go up in three’s because it says, “+3”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6340625"/>
            <a:ext cx="18333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Jun says: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0"/>
          <p:cNvGraphicFramePr>
            <a:graphicFrameLocks noGrp="1"/>
          </p:cNvGraphicFramePr>
          <p:nvPr/>
        </p:nvGraphicFramePr>
        <p:xfrm>
          <a:off x="1912688" y="8493490"/>
          <a:ext cx="4092275" cy="761940"/>
        </p:xfrm>
        <a:graphic>
          <a:graphicData uri="http://schemas.openxmlformats.org/drawingml/2006/table">
            <a:tbl>
              <a:tblPr>
                <a:noFill/>
                <a:tableStyleId>{E35189E1-5740-46D7-85FF-DF6E6011C3F3}</a:tableStyleId>
              </a:tblPr>
              <a:tblGrid>
                <a:gridCol w="1701650"/>
                <a:gridCol w="478125"/>
                <a:gridCol w="478125"/>
                <a:gridCol w="478125"/>
                <a:gridCol w="478125"/>
                <a:gridCol w="478125"/>
              </a:tblGrid>
              <a:tr h="3506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18000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97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81" name="Google Shape;181;p20" descr="&lt;math xmlns=&quot;http://www.w3.org/1998/Math/MathML&quot; display=&quot;block&quot; data-is-equatio=&quot;1&quot; data-latex=&quot;n+3&quot;&gt;&lt;mi&gt;n&lt;/mi&gt;&lt;mo&gt;+&lt;/mo&gt;&lt;mn&gt;3&lt;/mn&gt;&lt;/math&gt;" title="n pl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12708" y="6761711"/>
            <a:ext cx="483300" cy="172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7999" y="7266326"/>
            <a:ext cx="592073" cy="74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8000" y="8087250"/>
            <a:ext cx="66240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substitution to find the first five terms and show Jun that he is mistaken.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Calculating any term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1043125"/>
            <a:ext cx="62481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first five terms of the arithmetic sequence                  are 37, 32, 27, 22, and 17.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wants to find the 20th term.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7059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</a:t>
            </a:r>
            <a:r>
              <a:rPr lang="en-GB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to find any term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 descr="&lt;math xmlns=&quot;http://www.w3.org/1998/Math/MathML&quot; display=&quot;block&quot; data-is-equatio=&quot;1&quot; data-latex=&quot;42-5n&quot;&gt;&lt;mn&gt;42&lt;/mn&gt;&lt;mo&gt;−&lt;/mo&gt;&lt;mn&gt;5&lt;/mn&gt;&lt;mi&gt;n&lt;/mi&gt;&lt;/math&gt;" title="42 minus 5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9711" y="1058269"/>
            <a:ext cx="660900" cy="15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 flipH="1">
            <a:off x="468002" y="1736275"/>
            <a:ext cx="4558198" cy="83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833700" y="1798350"/>
            <a:ext cx="41589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37, 32, 27, 22, 17, 12, 7, 2, −2, −7, −12, −17, −22, −27, −32, −37, −42, −47, −52, −57. There it is. The 20th term is -57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91400" y="2451660"/>
            <a:ext cx="806750" cy="99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738925" y="2674285"/>
            <a:ext cx="30747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Spot Jacob’s error and explain a better method to him.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3809750"/>
            <a:ext cx="82377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20th, 100th and 1000th terms of the below sequences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" name="Google Shape;198;p21" descr="&lt;math xmlns=&quot;http://www.w3.org/1998/Math/MathML&quot; display=&quot;block&quot; data-is-equatio=&quot;1&quot; data-latex=&quot;7n-6&quot;&gt;&lt;mn&gt;7&lt;/mn&gt;&lt;mi&gt;n&lt;/mi&gt;&lt;mo&gt;−&lt;/mo&gt;&lt;mn&gt;6&lt;/mn&gt;&lt;/math&gt;" title="7 n minus 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600" y="4156217"/>
            <a:ext cx="796525" cy="220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&lt;math xmlns=&quot;http://www.w3.org/1998/Math/MathML&quot; display=&quot;block&quot; data-is-equatio=&quot;1&quot; data-latex=&quot;6-7n&quot;&gt;&lt;mn&gt;6&lt;/mn&gt;&lt;mo&gt;−&lt;/mo&gt;&lt;mn&gt;7&lt;/mn&gt;&lt;mi&gt;n&lt;/mi&gt;&lt;/math&gt;" title="6 minus 7 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631" y="5176561"/>
            <a:ext cx="791285" cy="22009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468000" y="4187950"/>
            <a:ext cx="490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5210914"/>
            <a:ext cx="490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68000" y="6269736"/>
            <a:ext cx="490200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 descr="&lt;math xmlns=&quot;http://www.w3.org/1998/Math/MathML&quot; display=&quot;block&quot; data-is-equatio=&quot;1&quot; data-latex=&quot;0.06-0.7n&quot;&gt;&lt;mn&gt;0.06&lt;/mn&gt;&lt;mo&gt;−&lt;/mo&gt;&lt;mn&gt;0.7&lt;/mn&gt;&lt;mi&gt;n&lt;/mi&gt;&lt;/math&gt;" title="0.06 minus 0.7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6084" y="6264442"/>
            <a:ext cx="1341116" cy="20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&lt;math xmlns=&quot;http://www.w3.org/1998/Math/MathML&quot; display=&quot;block&quot; data-is-equatio=&quot;1&quot; data-latex=&quot;n^2+3n&quot;&gt;&lt;msup&gt;&lt;mi&gt;n&lt;/mi&gt;&lt;mn&gt;2&lt;/mn&gt;&lt;/msup&gt;&lt;mo&gt;+&lt;/mo&gt;&lt;mn&gt;3&lt;/mn&gt;&lt;mi&gt;n&lt;/mi&gt;&lt;/math&gt;" title="n squared plus 3 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0625" y="7144725"/>
            <a:ext cx="756281" cy="2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&lt;math xmlns=&quot;http://www.w3.org/1998/Math/MathML&quot; display=&quot;block&quot; data-is-equatio=&quot;1&quot; data-latex=&quot;3n+15-4n^2&quot;&gt;&lt;mn&gt;3&lt;/mn&gt;&lt;mi&gt;n&lt;/mi&gt;&lt;mo&gt;+&lt;/mo&gt;&lt;mn&gt;15&lt;/mn&gt;&lt;mo&gt;−&lt;/mo&gt;&lt;mn&gt;4&lt;/mn&gt;&lt;msup&gt;&lt;mi&gt;n&lt;/mi&gt;&lt;mn&gt;2&lt;/mn&gt;&lt;/msup&gt;&lt;/math&gt;" title="3 n plus 15 minus 4 n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3602" y="8052823"/>
            <a:ext cx="1638300" cy="27626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67988" y="7197878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7988" y="8129016"/>
            <a:ext cx="4902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4" name="Google Shape;214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Calculating any term</a:t>
            </a:r>
            <a:endParaRPr/>
          </a:p>
        </p:txBody>
      </p:sp>
      <p:sp>
        <p:nvSpPr>
          <p:cNvPr id="215" name="Google Shape;21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467989" y="3824814"/>
            <a:ext cx="60480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468000" y="1118700"/>
            <a:ext cx="6624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first five terms of each of these sequences and compare them: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468000" y="720000"/>
            <a:ext cx="66240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Comparing </a:t>
            </a:r>
            <a:r>
              <a:rPr lang="en-GB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b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of different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68000" y="1425750"/>
            <a:ext cx="452400" cy="2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2" descr="&lt;math xmlns=&quot;http://www.w3.org/1998/Math/MathML&quot; display=&quot;block&quot; data-is-equatio=&quot;1&quot; data-latex=&quot;3n&quot;&gt;&lt;mn&gt;3&lt;/mn&gt;&lt;mi&gt;n&lt;/mi&gt;&lt;/math&gt;" title="3 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213" y="1414726"/>
            <a:ext cx="250976" cy="180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&lt;math xmlns=&quot;http://www.w3.org/1998/Math/MathML&quot; display=&quot;block&quot; data-is-equatio=&quot;1&quot; data-latex=&quot;3n+2&quot;&gt;&lt;mn&gt;3&lt;/mn&gt;&lt;mi&gt;n&lt;/mi&gt;&lt;mo&gt;+&lt;/mo&gt;&lt;mn&gt;2&lt;/mn&gt;&lt;/math&gt;" title="3 n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898" y="1762488"/>
            <a:ext cx="639226" cy="176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&lt;math xmlns=&quot;http://www.w3.org/1998/Math/MathML&quot; display=&quot;block&quot; data-is-equatio=&quot;1&quot; data-latex=&quot;3n+\frac{1}{7}&quot;&gt;&lt;mn&gt;3&lt;/mn&gt;&lt;mi&gt;n&lt;/mi&gt;&lt;mo&gt;+&lt;/mo&gt;&lt;mfrac&gt;&lt;mn&gt;1&lt;/mn&gt;&lt;mn&gt;7&lt;/mn&gt;&lt;/mfrac&gt;&lt;/math&gt;" title="3 n plu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041" y="2655778"/>
            <a:ext cx="604558" cy="42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&lt;math xmlns=&quot;http://www.w3.org/1998/Math/MathML&quot; display=&quot;block&quot; data-is-equatio=&quot;1&quot; data-latex=&quot;3n+0.7&quot;&gt;&lt;mn&gt;3&lt;/mn&gt;&lt;mi&gt;n&lt;/mi&gt;&lt;mo&gt;+&lt;/mo&gt;&lt;mn&gt;0.7&lt;/mn&gt;&lt;/math&gt;" title="3 n plus 0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25" y="2432594"/>
            <a:ext cx="798943" cy="17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&lt;math xmlns=&quot;http://www.w3.org/1998/Math/MathML&quot; display=&quot;block&quot; data-is-equatio=&quot;1&quot; data-latex=&quot;-3n+7&quot;&gt;&lt;mo&gt;−&lt;/mo&gt;&lt;mn&gt;3&lt;/mn&gt;&lt;mi&gt;n&lt;/mi&gt;&lt;mo&gt;+&lt;/mo&gt;&lt;mn&gt;7&lt;/mn&gt;&lt;/math&gt;" title="negative 3 n plu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5331" y="3116407"/>
            <a:ext cx="816309" cy="180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&lt;math xmlns=&quot;http://www.w3.org/1998/Math/MathML&quot; display=&quot;block&quot; data-is-equatio=&quot;1&quot; data-latex=&quot;2-3n&quot;&gt;&lt;mn&gt;2&lt;/mn&gt;&lt;mo&gt;−&lt;/mo&gt;&lt;mn&gt;3&lt;/mn&gt;&lt;mi&gt;n&lt;/mi&gt;&lt;/math&gt;" title="2 minus 3 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6734" y="3436942"/>
            <a:ext cx="643546" cy="17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&lt;math xmlns=&quot;http://www.w3.org/1998/Math/MathML&quot; display=&quot;block&quot; data-is-equatio=&quot;1&quot; data-latex=&quot;3n-1&quot;&gt;&lt;mn&gt;3&lt;/mn&gt;&lt;mi&gt;n&lt;/mi&gt;&lt;mo&gt;−&lt;/mo&gt;&lt;mn&gt;1&lt;/mn&gt;&lt;/math&gt;" title="3 n min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9163" y="2100249"/>
            <a:ext cx="604545" cy="17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&lt;math xmlns=&quot;http://www.w3.org/1998/Math/MathML&quot; display=&quot;block&quot; data-is-equatio=&quot;1&quot; data-latex=&quot;n^3&quot;&gt;&lt;msup&gt;&lt;mi&gt;n&lt;/mi&gt;&lt;mn&gt;3&lt;/mn&gt;&lt;/msup&gt;&lt;/math&gt;" title="n cub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16723" y="3718812"/>
            <a:ext cx="250975" cy="281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37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Times New Roman</vt:lpstr>
      <vt:lpstr>simple-light-2</vt:lpstr>
      <vt:lpstr>Calculating any term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2023-12-08T09:37:12.606</cp:lastPrinted>
  <dcterms:created xsi:type="dcterms:W3CDTF">2023-12-08T09:37:12Z</dcterms:created>
  <dcterms:modified xsi:type="dcterms:W3CDTF">2023-12-08T09:34:32Z</dcterms:modified>
</cp:coreProperties>
</file>