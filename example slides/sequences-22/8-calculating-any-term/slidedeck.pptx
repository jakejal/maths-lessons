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54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F39B48-6AF8-4C73-A9DB-5D61891575C6}">
  <a:tblStyle styleId="{32F39B48-6AF8-4C73-A9DB-5D61891575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4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3210cb6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3210cb6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3210cb64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3210cb64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93210cb64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93210cb64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93210cb64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93210cb64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93210cb643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93210cb643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93210cb643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93210cb643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93210cb643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93210cb643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93210cb643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93210cb643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93210cb643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93210cb643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93210cb643_1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93210cb643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93210cb643_1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93210cb643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93210cb643_1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93210cb643_1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93210cb643_1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93210cb643_1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93210cb643_1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93210cb643_1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93210cb643_1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93210cb643_1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93210cb643_1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93210cb643_1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93210cb643_1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93210cb643_1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93210cb643_1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93210cb643_1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93210cb643_1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93210cb643_1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93210cb643_1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93210cb643_1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93210cb643_1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93210cb643_1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293210cb643_1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293210cb643_1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93210cb643_1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93210cb643_1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93210cb643_1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93210cb643_1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93210cb643_1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93210cb643_1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93210cb643_1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93210cb643_1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93210cb643_1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93210cb643_1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93210cb643_1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293210cb643_1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93210cb643_1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93210cb643_1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293210cb643_1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93210cb643_1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93210cb643_1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93210cb643_1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93210cb643_1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93210cb643_1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93210cb643_1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93210cb643_1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293210cb643_1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293210cb643_1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93210cb643_1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293210cb643_1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93210cb643_1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93210cb643_1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293210cb643_1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293210cb643_1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93210cb643_1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93210cb643_1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293210cb643_1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293210cb643_1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293210cb643_1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293210cb643_1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Relationship Id="rId4" Type="http://schemas.openxmlformats.org/officeDocument/2006/relationships/image" Target="../media/image46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46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46.png"/><Relationship Id="rId4" Type="http://schemas.openxmlformats.org/officeDocument/2006/relationships/image" Target="../media/image31.png"/><Relationship Id="rId11" Type="http://schemas.openxmlformats.org/officeDocument/2006/relationships/image" Target="../media/image23.png"/><Relationship Id="rId10" Type="http://schemas.openxmlformats.org/officeDocument/2006/relationships/image" Target="../media/image34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Relationship Id="rId4" Type="http://schemas.openxmlformats.org/officeDocument/2006/relationships/image" Target="../media/image59.png"/><Relationship Id="rId5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png"/><Relationship Id="rId4" Type="http://schemas.openxmlformats.org/officeDocument/2006/relationships/image" Target="../media/image61.png"/><Relationship Id="rId5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Relationship Id="rId4" Type="http://schemas.openxmlformats.org/officeDocument/2006/relationships/image" Target="../media/image61.png"/><Relationship Id="rId5" Type="http://schemas.openxmlformats.org/officeDocument/2006/relationships/image" Target="../media/image6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6.pn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5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8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5" Type="http://schemas.openxmlformats.org/officeDocument/2006/relationships/image" Target="../media/image73.png"/><Relationship Id="rId6" Type="http://schemas.openxmlformats.org/officeDocument/2006/relationships/image" Target="../media/image76.png"/><Relationship Id="rId7" Type="http://schemas.openxmlformats.org/officeDocument/2006/relationships/image" Target="../media/image72.png"/><Relationship Id="rId8" Type="http://schemas.openxmlformats.org/officeDocument/2006/relationships/image" Target="../media/image74.png"/><Relationship Id="rId10" Type="http://schemas.openxmlformats.org/officeDocument/2006/relationships/image" Target="../media/image7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3.png"/><Relationship Id="rId4" Type="http://schemas.openxmlformats.org/officeDocument/2006/relationships/image" Target="../media/image49.png"/><Relationship Id="rId5" Type="http://schemas.openxmlformats.org/officeDocument/2006/relationships/image" Target="../media/image8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4.png"/><Relationship Id="rId4" Type="http://schemas.openxmlformats.org/officeDocument/2006/relationships/image" Target="../media/image81.png"/><Relationship Id="rId5" Type="http://schemas.openxmlformats.org/officeDocument/2006/relationships/image" Target="../media/image86.png"/><Relationship Id="rId6" Type="http://schemas.openxmlformats.org/officeDocument/2006/relationships/image" Target="../media/image88.png"/><Relationship Id="rId7" Type="http://schemas.openxmlformats.org/officeDocument/2006/relationships/image" Target="../media/image8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3.png"/><Relationship Id="rId4" Type="http://schemas.openxmlformats.org/officeDocument/2006/relationships/image" Target="../media/image49.png"/><Relationship Id="rId5" Type="http://schemas.openxmlformats.org/officeDocument/2006/relationships/image" Target="../media/image8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4.png"/><Relationship Id="rId4" Type="http://schemas.openxmlformats.org/officeDocument/2006/relationships/image" Target="../media/image81.png"/><Relationship Id="rId5" Type="http://schemas.openxmlformats.org/officeDocument/2006/relationships/image" Target="../media/image8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6.png"/><Relationship Id="rId4" Type="http://schemas.openxmlformats.org/officeDocument/2006/relationships/image" Target="../media/image8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6.png"/><Relationship Id="rId4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1.png"/><Relationship Id="rId4" Type="http://schemas.openxmlformats.org/officeDocument/2006/relationships/image" Target="../media/image9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0.png"/><Relationship Id="rId4" Type="http://schemas.openxmlformats.org/officeDocument/2006/relationships/image" Target="../media/image9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9.png"/><Relationship Id="rId4" Type="http://schemas.openxmlformats.org/officeDocument/2006/relationships/image" Target="../media/image53.png"/><Relationship Id="rId9" Type="http://schemas.openxmlformats.org/officeDocument/2006/relationships/image" Target="../media/image97.png"/><Relationship Id="rId5" Type="http://schemas.openxmlformats.org/officeDocument/2006/relationships/image" Target="../media/image94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6.png"/><Relationship Id="rId10" Type="http://schemas.openxmlformats.org/officeDocument/2006/relationships/image" Target="../media/image10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9.png"/><Relationship Id="rId4" Type="http://schemas.openxmlformats.org/officeDocument/2006/relationships/image" Target="../media/image53.png"/><Relationship Id="rId9" Type="http://schemas.openxmlformats.org/officeDocument/2006/relationships/image" Target="../media/image100.png"/><Relationship Id="rId5" Type="http://schemas.openxmlformats.org/officeDocument/2006/relationships/image" Target="../media/image94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6.png"/><Relationship Id="rId11" Type="http://schemas.openxmlformats.org/officeDocument/2006/relationships/image" Target="../media/image101.png"/><Relationship Id="rId10" Type="http://schemas.openxmlformats.org/officeDocument/2006/relationships/image" Target="../media/image102.png"/><Relationship Id="rId13" Type="http://schemas.openxmlformats.org/officeDocument/2006/relationships/image" Target="../media/image103.png"/><Relationship Id="rId12" Type="http://schemas.openxmlformats.org/officeDocument/2006/relationships/image" Target="../media/image107.png"/><Relationship Id="rId15" Type="http://schemas.openxmlformats.org/officeDocument/2006/relationships/image" Target="../media/image106.png"/><Relationship Id="rId14" Type="http://schemas.openxmlformats.org/officeDocument/2006/relationships/image" Target="../media/image104.png"/><Relationship Id="rId16" Type="http://schemas.openxmlformats.org/officeDocument/2006/relationships/image" Target="../media/image10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9.png"/><Relationship Id="rId4" Type="http://schemas.openxmlformats.org/officeDocument/2006/relationships/image" Target="../media/image53.png"/><Relationship Id="rId9" Type="http://schemas.openxmlformats.org/officeDocument/2006/relationships/image" Target="../media/image100.png"/><Relationship Id="rId5" Type="http://schemas.openxmlformats.org/officeDocument/2006/relationships/image" Target="../media/image94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6.png"/><Relationship Id="rId11" Type="http://schemas.openxmlformats.org/officeDocument/2006/relationships/image" Target="../media/image101.png"/><Relationship Id="rId10" Type="http://schemas.openxmlformats.org/officeDocument/2006/relationships/image" Target="../media/image102.png"/><Relationship Id="rId13" Type="http://schemas.openxmlformats.org/officeDocument/2006/relationships/image" Target="../media/image103.png"/><Relationship Id="rId12" Type="http://schemas.openxmlformats.org/officeDocument/2006/relationships/image" Target="../media/image107.png"/><Relationship Id="rId15" Type="http://schemas.openxmlformats.org/officeDocument/2006/relationships/image" Target="../media/image106.png"/><Relationship Id="rId14" Type="http://schemas.openxmlformats.org/officeDocument/2006/relationships/image" Target="../media/image104.png"/><Relationship Id="rId16" Type="http://schemas.openxmlformats.org/officeDocument/2006/relationships/image" Target="../media/image10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9.png"/><Relationship Id="rId4" Type="http://schemas.openxmlformats.org/officeDocument/2006/relationships/image" Target="../media/image53.png"/><Relationship Id="rId9" Type="http://schemas.openxmlformats.org/officeDocument/2006/relationships/image" Target="../media/image101.png"/><Relationship Id="rId5" Type="http://schemas.openxmlformats.org/officeDocument/2006/relationships/image" Target="../media/image94.png"/><Relationship Id="rId6" Type="http://schemas.openxmlformats.org/officeDocument/2006/relationships/image" Target="../media/image92.png"/><Relationship Id="rId7" Type="http://schemas.openxmlformats.org/officeDocument/2006/relationships/image" Target="../media/image100.png"/><Relationship Id="rId8" Type="http://schemas.openxmlformats.org/officeDocument/2006/relationships/image" Target="../media/image102.png"/><Relationship Id="rId11" Type="http://schemas.openxmlformats.org/officeDocument/2006/relationships/image" Target="../media/image103.png"/><Relationship Id="rId10" Type="http://schemas.openxmlformats.org/officeDocument/2006/relationships/image" Target="../media/image107.png"/><Relationship Id="rId12" Type="http://schemas.openxmlformats.org/officeDocument/2006/relationships/image" Target="../media/image10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9.png"/><Relationship Id="rId4" Type="http://schemas.openxmlformats.org/officeDocument/2006/relationships/image" Target="../media/image53.png"/><Relationship Id="rId9" Type="http://schemas.openxmlformats.org/officeDocument/2006/relationships/image" Target="../media/image100.png"/><Relationship Id="rId5" Type="http://schemas.openxmlformats.org/officeDocument/2006/relationships/image" Target="../media/image94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6.png"/><Relationship Id="rId11" Type="http://schemas.openxmlformats.org/officeDocument/2006/relationships/image" Target="../media/image101.png"/><Relationship Id="rId10" Type="http://schemas.openxmlformats.org/officeDocument/2006/relationships/image" Target="../media/image102.png"/><Relationship Id="rId13" Type="http://schemas.openxmlformats.org/officeDocument/2006/relationships/image" Target="../media/image103.png"/><Relationship Id="rId12" Type="http://schemas.openxmlformats.org/officeDocument/2006/relationships/image" Target="../media/image107.png"/><Relationship Id="rId15" Type="http://schemas.openxmlformats.org/officeDocument/2006/relationships/image" Target="../media/image106.png"/><Relationship Id="rId14" Type="http://schemas.openxmlformats.org/officeDocument/2006/relationships/image" Target="../media/image104.png"/><Relationship Id="rId17" Type="http://schemas.openxmlformats.org/officeDocument/2006/relationships/image" Target="../media/image108.png"/><Relationship Id="rId16" Type="http://schemas.openxmlformats.org/officeDocument/2006/relationships/image" Target="../media/image10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9.png"/><Relationship Id="rId4" Type="http://schemas.openxmlformats.org/officeDocument/2006/relationships/image" Target="../media/image53.png"/><Relationship Id="rId9" Type="http://schemas.openxmlformats.org/officeDocument/2006/relationships/image" Target="../media/image100.png"/><Relationship Id="rId5" Type="http://schemas.openxmlformats.org/officeDocument/2006/relationships/image" Target="../media/image94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6.png"/><Relationship Id="rId11" Type="http://schemas.openxmlformats.org/officeDocument/2006/relationships/image" Target="../media/image101.png"/><Relationship Id="rId10" Type="http://schemas.openxmlformats.org/officeDocument/2006/relationships/image" Target="../media/image102.png"/><Relationship Id="rId13" Type="http://schemas.openxmlformats.org/officeDocument/2006/relationships/image" Target="../media/image103.png"/><Relationship Id="rId12" Type="http://schemas.openxmlformats.org/officeDocument/2006/relationships/image" Target="../media/image107.png"/><Relationship Id="rId15" Type="http://schemas.openxmlformats.org/officeDocument/2006/relationships/image" Target="../media/image106.png"/><Relationship Id="rId14" Type="http://schemas.openxmlformats.org/officeDocument/2006/relationships/image" Target="../media/image104.png"/><Relationship Id="rId17" Type="http://schemas.openxmlformats.org/officeDocument/2006/relationships/image" Target="../media/image97.png"/><Relationship Id="rId16" Type="http://schemas.openxmlformats.org/officeDocument/2006/relationships/image" Target="../media/image105.png"/><Relationship Id="rId18" Type="http://schemas.openxmlformats.org/officeDocument/2006/relationships/image" Target="../media/image1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</a:t>
            </a:r>
            <a:r>
              <a:rPr lang="en-GB"/>
              <a:t> any term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any term using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An arithmetic (or linear) sequence is a sequence where the difference between successive terms is a constant.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1991325"/>
            <a:ext cx="8496000" cy="11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term of a sequence is the position of a term in a sequence where n stands for the term number.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For example, if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lang="en-GB" sz="1800"/>
              <a:t> this means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term in the sequence.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483825"/>
            <a:ext cx="84960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Because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term can be used to calculate any term in a sequence it is also a formula for finding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1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term.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terms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terms to find any term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</a:t>
            </a:r>
            <a:r>
              <a:rPr lang="en-GB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 of different sequences</a:t>
            </a:r>
            <a:endParaRPr/>
          </a:p>
        </p:txBody>
      </p:sp>
      <p:sp>
        <p:nvSpPr>
          <p:cNvPr id="776" name="Google Shape;776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any term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0" y="17436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Lucas and Alex are discussing the </a:t>
            </a:r>
            <a:r>
              <a:rPr lang="en-GB"/>
              <a:t>arithmetic sequence with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aseline="30000" lang="en-GB" sz="2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term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Generating sequences using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terms</a:t>
            </a:r>
            <a:endParaRPr sz="2200"/>
          </a:p>
        </p:txBody>
      </p:sp>
      <p:pic>
        <p:nvPicPr>
          <p:cNvPr id="784" name="Google Shape;78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27" y="3425273"/>
            <a:ext cx="1093048" cy="122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7179" y="3425290"/>
            <a:ext cx="1063872" cy="1226933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9"/>
          <p:cNvSpPr txBox="1"/>
          <p:nvPr>
            <p:ph idx="1" type="body"/>
          </p:nvPr>
        </p:nvSpPr>
        <p:spPr>
          <a:xfrm>
            <a:off x="1162200" y="1749900"/>
            <a:ext cx="2893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 think it starts at 3 and adds 2 each time.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first five terms will be 3, 5, 7, 9, and 11.</a:t>
            </a:r>
            <a:endParaRPr sz="2000"/>
          </a:p>
        </p:txBody>
      </p:sp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4819800" y="1749900"/>
            <a:ext cx="2893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 think it starts at 2 and adds 3 each time.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first five terms will be 2, 5, 8, 11, and 14.</a:t>
            </a:r>
            <a:endParaRPr sz="2000"/>
          </a:p>
        </p:txBody>
      </p:sp>
      <p:pic>
        <p:nvPicPr>
          <p:cNvPr id="788" name="Google Shape;788;p69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60264" y="1642983"/>
            <a:ext cx="3270676" cy="192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69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670264" y="1642983"/>
            <a:ext cx="3270676" cy="1925174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9"/>
          <p:cNvSpPr txBox="1"/>
          <p:nvPr>
            <p:ph idx="1" type="body"/>
          </p:nvPr>
        </p:nvSpPr>
        <p:spPr>
          <a:xfrm>
            <a:off x="2171337" y="4035900"/>
            <a:ext cx="45771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do we know who is right?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0"/>
          <p:cNvSpPr txBox="1"/>
          <p:nvPr>
            <p:ph idx="1" type="body"/>
          </p:nvPr>
        </p:nvSpPr>
        <p:spPr>
          <a:xfrm>
            <a:off x="324000" y="759300"/>
            <a:ext cx="79263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Substitution is the skill that will help us to find the first five terms of the sequence </a:t>
            </a:r>
            <a:r>
              <a:rPr lang="en-GB"/>
              <a:t>with 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500"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/>
              <a:t>term 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/>
              <a:t> </a:t>
            </a:r>
            <a:endParaRPr/>
          </a:p>
        </p:txBody>
      </p:sp>
      <p:sp>
        <p:nvSpPr>
          <p:cNvPr id="796" name="Google Shape;79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3n+2&quot;&gt;&lt;mn&gt;3&lt;/mn&gt;&lt;mi&gt;n&lt;/mi&gt;&lt;mo&gt;+&lt;/mo&gt;&lt;mn&gt;2&lt;/mn&gt;&lt;/math&gt;" id="797" name="Google Shape;797;p70" title="3 n pl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17" y="2109650"/>
            <a:ext cx="806860" cy="228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8" name="Google Shape;798;p70"/>
          <p:cNvGraphicFramePr/>
          <p:nvPr/>
        </p:nvGraphicFramePr>
        <p:xfrm>
          <a:off x="1760913" y="1722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88550"/>
                <a:gridCol w="958650"/>
                <a:gridCol w="958650"/>
                <a:gridCol w="958650"/>
                <a:gridCol w="958650"/>
                <a:gridCol w="95865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99" name="Google Shape;799;p70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flipH="1" rot="-5400000">
            <a:off x="1026789" y="1954599"/>
            <a:ext cx="861324" cy="511527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70"/>
          <p:cNvSpPr/>
          <p:nvPr/>
        </p:nvSpPr>
        <p:spPr>
          <a:xfrm>
            <a:off x="4181608" y="1815217"/>
            <a:ext cx="294000" cy="333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0"/>
          <p:cNvSpPr/>
          <p:nvPr/>
        </p:nvSpPr>
        <p:spPr>
          <a:xfrm>
            <a:off x="3373200" y="1826700"/>
            <a:ext cx="324300" cy="333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4251808" y="2329428"/>
            <a:ext cx="3534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476404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3(1)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3 × 1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3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</a:t>
            </a:r>
            <a:endParaRPr sz="2000"/>
          </a:p>
        </p:txBody>
      </p: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2218604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3(2)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3 × 2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6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8</a:t>
            </a:r>
            <a:endParaRPr sz="2000"/>
          </a:p>
        </p:txBody>
      </p: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3960803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3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3(3)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3 × </a:t>
            </a:r>
            <a:r>
              <a:rPr lang="en-GB" sz="2000"/>
              <a:t>3</a:t>
            </a:r>
            <a:r>
              <a:rPr lang="en-GB" sz="2000"/>
              <a:t>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9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11</a:t>
            </a:r>
            <a:endParaRPr sz="2000"/>
          </a:p>
        </p:txBody>
      </p: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5703002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3(4)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3 × 4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12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14</a:t>
            </a:r>
            <a:endParaRPr sz="2000"/>
          </a:p>
        </p:txBody>
      </p:sp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7445202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3(5)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3 × 5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15 + 2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17</a:t>
            </a:r>
            <a:endParaRPr sz="2000"/>
          </a:p>
        </p:txBody>
      </p:sp>
      <p:sp>
        <p:nvSpPr>
          <p:cNvPr id="808" name="Google Shape;808;p70"/>
          <p:cNvSpPr/>
          <p:nvPr/>
        </p:nvSpPr>
        <p:spPr>
          <a:xfrm>
            <a:off x="5053260" y="2299585"/>
            <a:ext cx="4641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0"/>
          <p:cNvSpPr/>
          <p:nvPr/>
        </p:nvSpPr>
        <p:spPr>
          <a:xfrm>
            <a:off x="5989810" y="2299585"/>
            <a:ext cx="4641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/>
          <p:nvPr/>
        </p:nvSpPr>
        <p:spPr>
          <a:xfrm>
            <a:off x="6980410" y="2299585"/>
            <a:ext cx="4641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0"/>
          <p:cNvSpPr/>
          <p:nvPr/>
        </p:nvSpPr>
        <p:spPr>
          <a:xfrm>
            <a:off x="7971010" y="2299585"/>
            <a:ext cx="4641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1"/>
          <p:cNvSpPr txBox="1"/>
          <p:nvPr>
            <p:ph idx="1" type="body"/>
          </p:nvPr>
        </p:nvSpPr>
        <p:spPr>
          <a:xfrm>
            <a:off x="324000" y="759300"/>
            <a:ext cx="82377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r>
              <a:rPr lang="en-GB"/>
              <a:t>ind the first five terms of the sequence</a:t>
            </a:r>
            <a:endParaRPr/>
          </a:p>
        </p:txBody>
      </p:sp>
      <p:sp>
        <p:nvSpPr>
          <p:cNvPr id="817" name="Google Shape;81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</a:t>
            </a:r>
            <a:endParaRPr sz="2200"/>
          </a:p>
        </p:txBody>
      </p:sp>
      <p:sp>
        <p:nvSpPr>
          <p:cNvPr id="818" name="Google Shape;818;p71"/>
          <p:cNvSpPr txBox="1"/>
          <p:nvPr>
            <p:ph idx="1" type="body"/>
          </p:nvPr>
        </p:nvSpPr>
        <p:spPr>
          <a:xfrm>
            <a:off x="476404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5(1)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 × 1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6</a:t>
            </a:r>
            <a:endParaRPr sz="2000"/>
          </a:p>
        </p:txBody>
      </p:sp>
      <p:graphicFrame>
        <p:nvGraphicFramePr>
          <p:cNvPr id="819" name="Google Shape;819;p71"/>
          <p:cNvGraphicFramePr/>
          <p:nvPr/>
        </p:nvGraphicFramePr>
        <p:xfrm>
          <a:off x="1760913" y="1722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88550"/>
                <a:gridCol w="958650"/>
                <a:gridCol w="958650"/>
                <a:gridCol w="958650"/>
                <a:gridCol w="958650"/>
                <a:gridCol w="95865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20" name="Google Shape;820;p7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-5400000">
            <a:off x="1026789" y="1954599"/>
            <a:ext cx="861324" cy="511527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2218604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5(2)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 × 2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10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11</a:t>
            </a:r>
            <a:endParaRPr sz="2000"/>
          </a:p>
        </p:txBody>
      </p:sp>
      <p:sp>
        <p:nvSpPr>
          <p:cNvPr id="822" name="Google Shape;822;p71"/>
          <p:cNvSpPr txBox="1"/>
          <p:nvPr>
            <p:ph idx="1" type="body"/>
          </p:nvPr>
        </p:nvSpPr>
        <p:spPr>
          <a:xfrm>
            <a:off x="3960803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3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5(3)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 × 3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15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16</a:t>
            </a:r>
            <a:endParaRPr sz="2000"/>
          </a:p>
        </p:txBody>
      </p:sp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5703002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5(4)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 × 4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20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21</a:t>
            </a:r>
            <a:endParaRPr sz="2000"/>
          </a:p>
        </p:txBody>
      </p:sp>
      <p:sp>
        <p:nvSpPr>
          <p:cNvPr id="824" name="Google Shape;824;p71"/>
          <p:cNvSpPr txBox="1"/>
          <p:nvPr>
            <p:ph idx="1" type="body"/>
          </p:nvPr>
        </p:nvSpPr>
        <p:spPr>
          <a:xfrm>
            <a:off x="7445202" y="3098433"/>
            <a:ext cx="136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5(5)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 × 5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25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26</a:t>
            </a:r>
            <a:endParaRPr sz="2000"/>
          </a:p>
        </p:txBody>
      </p:sp>
      <p:sp>
        <p:nvSpPr>
          <p:cNvPr id="825" name="Google Shape;825;p71"/>
          <p:cNvSpPr/>
          <p:nvPr/>
        </p:nvSpPr>
        <p:spPr>
          <a:xfrm>
            <a:off x="4084810" y="2299585"/>
            <a:ext cx="464100" cy="377400"/>
          </a:xfrm>
          <a:prstGeom prst="rect">
            <a:avLst/>
          </a:prstGeom>
          <a:solidFill>
            <a:srgbClr val="F2EEFA"/>
          </a:solidFill>
          <a:ln cap="flat" cmpd="sng" w="9525">
            <a:solidFill>
              <a:srgbClr val="F2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1"/>
          <p:cNvSpPr/>
          <p:nvPr/>
        </p:nvSpPr>
        <p:spPr>
          <a:xfrm>
            <a:off x="5075410" y="2299585"/>
            <a:ext cx="464100" cy="377400"/>
          </a:xfrm>
          <a:prstGeom prst="rect">
            <a:avLst/>
          </a:prstGeom>
          <a:solidFill>
            <a:srgbClr val="F2EEFA"/>
          </a:solidFill>
          <a:ln cap="flat" cmpd="sng" w="9525">
            <a:solidFill>
              <a:srgbClr val="F2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1"/>
          <p:cNvSpPr/>
          <p:nvPr/>
        </p:nvSpPr>
        <p:spPr>
          <a:xfrm>
            <a:off x="5989810" y="2299585"/>
            <a:ext cx="464100" cy="377400"/>
          </a:xfrm>
          <a:prstGeom prst="rect">
            <a:avLst/>
          </a:prstGeom>
          <a:solidFill>
            <a:srgbClr val="F2EEFA"/>
          </a:solidFill>
          <a:ln cap="flat" cmpd="sng" w="9525">
            <a:solidFill>
              <a:srgbClr val="F2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1"/>
          <p:cNvSpPr/>
          <p:nvPr/>
        </p:nvSpPr>
        <p:spPr>
          <a:xfrm>
            <a:off x="6980410" y="2299585"/>
            <a:ext cx="464100" cy="377400"/>
          </a:xfrm>
          <a:prstGeom prst="rect">
            <a:avLst/>
          </a:prstGeom>
          <a:solidFill>
            <a:srgbClr val="F2EEFA"/>
          </a:solidFill>
          <a:ln cap="flat" cmpd="sng" w="9525">
            <a:solidFill>
              <a:srgbClr val="F2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1"/>
          <p:cNvSpPr/>
          <p:nvPr/>
        </p:nvSpPr>
        <p:spPr>
          <a:xfrm>
            <a:off x="7971010" y="2299585"/>
            <a:ext cx="464100" cy="377400"/>
          </a:xfrm>
          <a:prstGeom prst="rect">
            <a:avLst/>
          </a:prstGeom>
          <a:solidFill>
            <a:srgbClr val="F2EEFA"/>
          </a:solidFill>
          <a:ln cap="flat" cmpd="sng" w="9525">
            <a:solidFill>
              <a:srgbClr val="F2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n+1&quot;&gt;&lt;mn&gt;5&lt;/mn&gt;&lt;mi&gt;n&lt;/mi&gt;&lt;mo&gt;+&lt;/mo&gt;&lt;mn&gt;1&lt;/mn&gt;&lt;/math&gt;" id="830" name="Google Shape;830;p71" title="5 n pl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7882" y="794068"/>
            <a:ext cx="806875" cy="239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n+1&quot;&gt;&lt;mn&gt;5&lt;/mn&gt;&lt;mi&gt;n&lt;/mi&gt;&lt;mo&gt;+&lt;/mo&gt;&lt;mn&gt;1&lt;/mn&gt;&lt;/math&gt;" id="831" name="Google Shape;831;p71" title="5 n plus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587" y="2089468"/>
            <a:ext cx="806875" cy="23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2"/>
          <p:cNvSpPr txBox="1"/>
          <p:nvPr>
            <p:ph idx="1" type="body"/>
          </p:nvPr>
        </p:nvSpPr>
        <p:spPr>
          <a:xfrm>
            <a:off x="324000" y="759300"/>
            <a:ext cx="7135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r>
              <a:rPr lang="en-GB"/>
              <a:t>ind the first five terms of the sequence</a:t>
            </a:r>
            <a:endParaRPr/>
          </a:p>
        </p:txBody>
      </p:sp>
      <p:sp>
        <p:nvSpPr>
          <p:cNvPr id="837" name="Google Shape;83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</a:t>
            </a:r>
            <a:endParaRPr sz="2200"/>
          </a:p>
        </p:txBody>
      </p:sp>
      <p:sp>
        <p:nvSpPr>
          <p:cNvPr id="838" name="Google Shape;838;p72"/>
          <p:cNvSpPr txBox="1"/>
          <p:nvPr>
            <p:ph idx="1" type="body"/>
          </p:nvPr>
        </p:nvSpPr>
        <p:spPr>
          <a:xfrm>
            <a:off x="324000" y="3174625"/>
            <a:ext cx="1521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+ 10(1)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+ 10 ×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+ 10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110</a:t>
            </a:r>
            <a:endParaRPr sz="1800"/>
          </a:p>
        </p:txBody>
      </p:sp>
      <p:graphicFrame>
        <p:nvGraphicFramePr>
          <p:cNvPr id="839" name="Google Shape;839;p72"/>
          <p:cNvGraphicFramePr/>
          <p:nvPr/>
        </p:nvGraphicFramePr>
        <p:xfrm>
          <a:off x="1760913" y="12648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88550"/>
                <a:gridCol w="958650"/>
                <a:gridCol w="958650"/>
                <a:gridCol w="958650"/>
                <a:gridCol w="958650"/>
                <a:gridCol w="95865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0" name="Google Shape;840;p72"/>
          <p:cNvSpPr/>
          <p:nvPr/>
        </p:nvSpPr>
        <p:spPr>
          <a:xfrm>
            <a:off x="4073145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2"/>
          <p:cNvSpPr/>
          <p:nvPr/>
        </p:nvSpPr>
        <p:spPr>
          <a:xfrm>
            <a:off x="5085366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2"/>
          <p:cNvSpPr/>
          <p:nvPr/>
        </p:nvSpPr>
        <p:spPr>
          <a:xfrm>
            <a:off x="6019724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2"/>
          <p:cNvSpPr/>
          <p:nvPr/>
        </p:nvSpPr>
        <p:spPr>
          <a:xfrm>
            <a:off x="6962840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2"/>
          <p:cNvSpPr/>
          <p:nvPr/>
        </p:nvSpPr>
        <p:spPr>
          <a:xfrm>
            <a:off x="7943826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0+10n&quot;&gt;&lt;mn&gt;100&lt;/mn&gt;&lt;mo&gt;+&lt;/mo&gt;&lt;mn&gt;10&lt;/mn&gt;&lt;mi&gt;n&lt;/mi&gt;&lt;/math&gt;" id="845" name="Google Shape;845;p72" title="100 plus 10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701" y="810000"/>
            <a:ext cx="1202173" cy="21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6" name="Google Shape;846;p72"/>
          <p:cNvGrpSpPr/>
          <p:nvPr/>
        </p:nvGrpSpPr>
        <p:grpSpPr>
          <a:xfrm>
            <a:off x="318651" y="1322500"/>
            <a:ext cx="1442199" cy="861324"/>
            <a:chOff x="378809" y="1322500"/>
            <a:chExt cx="1442199" cy="861324"/>
          </a:xfrm>
        </p:grpSpPr>
        <p:pic>
          <p:nvPicPr>
            <p:cNvPr id="847" name="Google Shape;847;p72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-5400000">
              <a:off x="1160483" y="1523299"/>
              <a:ext cx="861324" cy="45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0+10n&quot;&gt;&lt;mn&gt;100&lt;/mn&gt;&lt;mo&gt;+&lt;/mo&gt;&lt;mn&gt;10&lt;/mn&gt;&lt;mi&gt;n&lt;/mi&gt;&lt;/math&gt;" id="848" name="Google Shape;848;p72" title="100 plus 10 n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8809" y="1668793"/>
              <a:ext cx="974375" cy="1771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9" name="Google Shape;849;p72"/>
          <p:cNvSpPr txBox="1"/>
          <p:nvPr>
            <p:ph idx="1" type="body"/>
          </p:nvPr>
        </p:nvSpPr>
        <p:spPr>
          <a:xfrm>
            <a:off x="2067962" y="3174625"/>
            <a:ext cx="1521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+ 10(2)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+ 10 × 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+ 20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120</a:t>
            </a:r>
            <a:endParaRPr sz="1800"/>
          </a:p>
        </p:txBody>
      </p:sp>
      <p:sp>
        <p:nvSpPr>
          <p:cNvPr id="850" name="Google Shape;850;p72"/>
          <p:cNvSpPr txBox="1"/>
          <p:nvPr>
            <p:ph idx="1" type="body"/>
          </p:nvPr>
        </p:nvSpPr>
        <p:spPr>
          <a:xfrm>
            <a:off x="3811924" y="3174625"/>
            <a:ext cx="1521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+ 10(3)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+ 10 ×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+ 30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130</a:t>
            </a:r>
            <a:endParaRPr sz="1800"/>
          </a:p>
        </p:txBody>
      </p:sp>
      <p:sp>
        <p:nvSpPr>
          <p:cNvPr id="851" name="Google Shape;851;p72"/>
          <p:cNvSpPr txBox="1"/>
          <p:nvPr>
            <p:ph idx="1" type="body"/>
          </p:nvPr>
        </p:nvSpPr>
        <p:spPr>
          <a:xfrm>
            <a:off x="5555886" y="3174625"/>
            <a:ext cx="1521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+ 10(4)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+ 10 ×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+ 40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140</a:t>
            </a:r>
            <a:endParaRPr sz="1800"/>
          </a:p>
        </p:txBody>
      </p:sp>
      <p:sp>
        <p:nvSpPr>
          <p:cNvPr id="852" name="Google Shape;852;p72"/>
          <p:cNvSpPr txBox="1"/>
          <p:nvPr>
            <p:ph idx="1" type="body"/>
          </p:nvPr>
        </p:nvSpPr>
        <p:spPr>
          <a:xfrm>
            <a:off x="7299848" y="3174625"/>
            <a:ext cx="1521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+ 10(5)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+ 10 × 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+ 50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150</a:t>
            </a:r>
            <a:endParaRPr sz="1800"/>
          </a:p>
        </p:txBody>
      </p:sp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324000" y="2511900"/>
            <a:ext cx="7135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first five terms are 110, 120, 130, 140 and 150.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7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99325" y="2336425"/>
            <a:ext cx="3333002" cy="1573599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3"/>
          <p:cNvSpPr txBox="1"/>
          <p:nvPr>
            <p:ph idx="1" type="body"/>
          </p:nvPr>
        </p:nvSpPr>
        <p:spPr>
          <a:xfrm>
            <a:off x="324000" y="759300"/>
            <a:ext cx="7135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first five terms of the sequence</a:t>
            </a:r>
            <a:endParaRPr/>
          </a:p>
        </p:txBody>
      </p:sp>
      <p:sp>
        <p:nvSpPr>
          <p:cNvPr id="860" name="Google Shape;86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</a:t>
            </a:r>
            <a:endParaRPr sz="2200"/>
          </a:p>
        </p:txBody>
      </p:sp>
      <p:sp>
        <p:nvSpPr>
          <p:cNvPr id="861" name="Google Shape;861;p73"/>
          <p:cNvSpPr txBox="1"/>
          <p:nvPr>
            <p:ph idx="1" type="body"/>
          </p:nvPr>
        </p:nvSpPr>
        <p:spPr>
          <a:xfrm>
            <a:off x="324000" y="1368900"/>
            <a:ext cx="73308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Before we begin, how do you think this </a:t>
            </a:r>
            <a:r>
              <a:rPr lang="en-GB"/>
              <a:t>sequence will differ to                  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0-10n&quot;&gt;&lt;mn&gt;100&lt;/mn&gt;&lt;mo&gt;−&lt;/mo&gt;&lt;mn&gt;10&lt;/mn&gt;&lt;mi&gt;n&lt;/mi&gt;&lt;/math&gt;" id="862" name="Google Shape;862;p73" title="100 minus 10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8991" y="810000"/>
            <a:ext cx="1231484" cy="2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7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20274" y="2336425"/>
            <a:ext cx="3592125" cy="1211574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3"/>
          <p:cNvSpPr txBox="1"/>
          <p:nvPr>
            <p:ph idx="1" type="body"/>
          </p:nvPr>
        </p:nvSpPr>
        <p:spPr>
          <a:xfrm>
            <a:off x="799175" y="2371025"/>
            <a:ext cx="32394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 think it’s the same as 100+10n but in the negatives.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−110, −120, −130, −140, −150, …</a:t>
            </a:r>
            <a:endParaRPr sz="1800"/>
          </a:p>
        </p:txBody>
      </p:sp>
      <p:sp>
        <p:nvSpPr>
          <p:cNvPr id="865" name="Google Shape;865;p73"/>
          <p:cNvSpPr txBox="1"/>
          <p:nvPr>
            <p:ph idx="1" type="body"/>
          </p:nvPr>
        </p:nvSpPr>
        <p:spPr>
          <a:xfrm>
            <a:off x="4591200" y="2371025"/>
            <a:ext cx="2991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 think it starts at 100 and goes down 10 each time.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first five terms will be 100, 90, 80, 70 and 60.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100+10n&quot;&gt;&lt;mn&gt;100&lt;/mn&gt;&lt;mo&gt;+&lt;/mo&gt;&lt;mn&gt;10&lt;/mn&gt;&lt;mi&gt;n&lt;/mi&gt;&lt;/math&gt;" id="866" name="Google Shape;866;p73" title="100 plus 10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0101" y="1806809"/>
            <a:ext cx="1202173" cy="2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51154" y="3699501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8863" y="3444030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3"/>
          <p:cNvSpPr txBox="1"/>
          <p:nvPr/>
        </p:nvSpPr>
        <p:spPr>
          <a:xfrm>
            <a:off x="750799" y="420802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3"/>
          <p:cNvSpPr txBox="1"/>
          <p:nvPr/>
        </p:nvSpPr>
        <p:spPr>
          <a:xfrm>
            <a:off x="6264936" y="420070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4"/>
          <p:cNvSpPr txBox="1"/>
          <p:nvPr>
            <p:ph idx="1" type="body"/>
          </p:nvPr>
        </p:nvSpPr>
        <p:spPr>
          <a:xfrm>
            <a:off x="324000" y="759300"/>
            <a:ext cx="7135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first five terms of the sequence</a:t>
            </a:r>
            <a:endParaRPr/>
          </a:p>
        </p:txBody>
      </p:sp>
      <p:sp>
        <p:nvSpPr>
          <p:cNvPr id="876" name="Google Shape;87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</a:t>
            </a:r>
            <a:endParaRPr sz="2200"/>
          </a:p>
        </p:txBody>
      </p:sp>
      <p:sp>
        <p:nvSpPr>
          <p:cNvPr id="877" name="Google Shape;877;p74"/>
          <p:cNvSpPr txBox="1"/>
          <p:nvPr>
            <p:ph idx="1" type="body"/>
          </p:nvPr>
        </p:nvSpPr>
        <p:spPr>
          <a:xfrm>
            <a:off x="324000" y="3174625"/>
            <a:ext cx="1521000" cy="16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100 − 10(1)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100 − 10 ×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100 − 10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90</a:t>
            </a:r>
            <a:endParaRPr sz="1800"/>
          </a:p>
        </p:txBody>
      </p:sp>
      <p:graphicFrame>
        <p:nvGraphicFramePr>
          <p:cNvPr id="878" name="Google Shape;878;p74"/>
          <p:cNvGraphicFramePr/>
          <p:nvPr/>
        </p:nvGraphicFramePr>
        <p:xfrm>
          <a:off x="1760913" y="12648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88550"/>
                <a:gridCol w="958650"/>
                <a:gridCol w="958650"/>
                <a:gridCol w="958650"/>
                <a:gridCol w="958650"/>
                <a:gridCol w="95865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9" name="Google Shape;879;p74"/>
          <p:cNvSpPr/>
          <p:nvPr/>
        </p:nvSpPr>
        <p:spPr>
          <a:xfrm>
            <a:off x="4073145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4"/>
          <p:cNvSpPr/>
          <p:nvPr/>
        </p:nvSpPr>
        <p:spPr>
          <a:xfrm>
            <a:off x="5085366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4"/>
          <p:cNvSpPr/>
          <p:nvPr/>
        </p:nvSpPr>
        <p:spPr>
          <a:xfrm>
            <a:off x="6019724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4"/>
          <p:cNvSpPr/>
          <p:nvPr/>
        </p:nvSpPr>
        <p:spPr>
          <a:xfrm>
            <a:off x="6962840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4"/>
          <p:cNvSpPr/>
          <p:nvPr/>
        </p:nvSpPr>
        <p:spPr>
          <a:xfrm>
            <a:off x="7943826" y="18527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4"/>
          <p:cNvSpPr txBox="1"/>
          <p:nvPr>
            <p:ph idx="1" type="body"/>
          </p:nvPr>
        </p:nvSpPr>
        <p:spPr>
          <a:xfrm>
            <a:off x="2067950" y="3174625"/>
            <a:ext cx="1521000" cy="15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100 − 10(2)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100 − 10 × 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100 − 20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80</a:t>
            </a:r>
            <a:endParaRPr sz="1800"/>
          </a:p>
        </p:txBody>
      </p:sp>
      <p:sp>
        <p:nvSpPr>
          <p:cNvPr id="885" name="Google Shape;885;p74"/>
          <p:cNvSpPr txBox="1"/>
          <p:nvPr>
            <p:ph idx="1" type="body"/>
          </p:nvPr>
        </p:nvSpPr>
        <p:spPr>
          <a:xfrm>
            <a:off x="3811925" y="3174625"/>
            <a:ext cx="1521000" cy="16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100 − 10(3)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100 − 10 ×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100 − 30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70</a:t>
            </a:r>
            <a:endParaRPr sz="1800"/>
          </a:p>
        </p:txBody>
      </p:sp>
      <p:sp>
        <p:nvSpPr>
          <p:cNvPr id="886" name="Google Shape;886;p74"/>
          <p:cNvSpPr txBox="1"/>
          <p:nvPr>
            <p:ph idx="1" type="body"/>
          </p:nvPr>
        </p:nvSpPr>
        <p:spPr>
          <a:xfrm>
            <a:off x="5555886" y="3174625"/>
            <a:ext cx="1521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100 - 10(4)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100 - 10 ×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100 - 40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60</a:t>
            </a:r>
            <a:endParaRPr sz="1800"/>
          </a:p>
        </p:txBody>
      </p:sp>
      <p:sp>
        <p:nvSpPr>
          <p:cNvPr id="887" name="Google Shape;887;p74"/>
          <p:cNvSpPr txBox="1"/>
          <p:nvPr>
            <p:ph idx="1" type="body"/>
          </p:nvPr>
        </p:nvSpPr>
        <p:spPr>
          <a:xfrm>
            <a:off x="7299848" y="3174625"/>
            <a:ext cx="1521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100 - 10(5)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100 - 10 × 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100 - 50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50</a:t>
            </a:r>
            <a:endParaRPr sz="1800"/>
          </a:p>
        </p:txBody>
      </p:sp>
      <p:sp>
        <p:nvSpPr>
          <p:cNvPr id="888" name="Google Shape;888;p74"/>
          <p:cNvSpPr txBox="1"/>
          <p:nvPr>
            <p:ph idx="1" type="body"/>
          </p:nvPr>
        </p:nvSpPr>
        <p:spPr>
          <a:xfrm>
            <a:off x="324000" y="2511900"/>
            <a:ext cx="7135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first five terms are 90, 80, 70, 60 and 50.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0-10n&quot;&gt;&lt;mn&gt;100&lt;/mn&gt;&lt;mo&gt;−&lt;/mo&gt;&lt;mn&gt;10&lt;/mn&gt;&lt;mi&gt;n&lt;/mi&gt;&lt;/math&gt;" id="889" name="Google Shape;889;p74" title="100 minus 10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991" y="810000"/>
            <a:ext cx="1231484" cy="21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0" name="Google Shape;890;p74"/>
          <p:cNvGrpSpPr/>
          <p:nvPr/>
        </p:nvGrpSpPr>
        <p:grpSpPr>
          <a:xfrm>
            <a:off x="382598" y="1322500"/>
            <a:ext cx="1378252" cy="861324"/>
            <a:chOff x="382598" y="1322500"/>
            <a:chExt cx="1378252" cy="861324"/>
          </a:xfrm>
        </p:grpSpPr>
        <p:pic>
          <p:nvPicPr>
            <p:cNvPr id="891" name="Google Shape;891;p74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-5400000">
              <a:off x="1100325" y="1523299"/>
              <a:ext cx="861324" cy="45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0-10n&quot;&gt;&lt;mn&gt;100&lt;/mn&gt;&lt;mo&gt;−&lt;/mo&gt;&lt;mn&gt;10&lt;/mn&gt;&lt;mi&gt;n&lt;/mi&gt;&lt;/math&gt;" id="892" name="Google Shape;892;p74" title="100 minus 10 n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2598" y="1661963"/>
              <a:ext cx="966150" cy="171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5"/>
          <p:cNvSpPr txBox="1"/>
          <p:nvPr>
            <p:ph idx="1" type="body"/>
          </p:nvPr>
        </p:nvSpPr>
        <p:spPr>
          <a:xfrm>
            <a:off x="324000" y="759300"/>
            <a:ext cx="7135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 writes the first five terms of the arithmetic sequence                 in this table.</a:t>
            </a:r>
            <a:endParaRPr/>
          </a:p>
        </p:txBody>
      </p:sp>
      <p:sp>
        <p:nvSpPr>
          <p:cNvPr id="898" name="Google Shape;89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</a:t>
            </a:r>
            <a:endParaRPr sz="2200"/>
          </a:p>
        </p:txBody>
      </p:sp>
      <p:graphicFrame>
        <p:nvGraphicFramePr>
          <p:cNvPr id="899" name="Google Shape;899;p75"/>
          <p:cNvGraphicFramePr/>
          <p:nvPr/>
        </p:nvGraphicFramePr>
        <p:xfrm>
          <a:off x="1760913" y="1656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88550"/>
                <a:gridCol w="958650"/>
                <a:gridCol w="958650"/>
                <a:gridCol w="958650"/>
                <a:gridCol w="958650"/>
                <a:gridCol w="95865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8-1.1n&quot;&gt;&lt;mn&gt;8&lt;/mn&gt;&lt;mo&gt;−&lt;/mo&gt;&lt;mn&gt;1.1&lt;/mn&gt;&lt;mi&gt;n&lt;/mi&gt;&lt;/math&gt;" id="900" name="Google Shape;900;p75" title="8 minus 1.1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173" y="1189550"/>
            <a:ext cx="1018240" cy="2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39" y="3753338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75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980774" y="2859425"/>
            <a:ext cx="4456351" cy="121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5"/>
          <p:cNvSpPr txBox="1"/>
          <p:nvPr>
            <p:ph idx="1" type="body"/>
          </p:nvPr>
        </p:nvSpPr>
        <p:spPr>
          <a:xfrm>
            <a:off x="1342950" y="2904425"/>
            <a:ext cx="40317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 don’t need to do any working out. It’s arithmetic so I can just start at 8 and subtract 1.1 each time.</a:t>
            </a:r>
            <a:endParaRPr sz="1800"/>
          </a:p>
        </p:txBody>
      </p:sp>
      <p:sp>
        <p:nvSpPr>
          <p:cNvPr id="904" name="Google Shape;904;p75"/>
          <p:cNvSpPr txBox="1"/>
          <p:nvPr>
            <p:ph idx="1" type="body"/>
          </p:nvPr>
        </p:nvSpPr>
        <p:spPr>
          <a:xfrm>
            <a:off x="2813299" y="4101700"/>
            <a:ext cx="55245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Explain to Laura what she has done wrong, and what she could do better.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6"/>
          <p:cNvSpPr txBox="1"/>
          <p:nvPr>
            <p:ph idx="1" type="body"/>
          </p:nvPr>
        </p:nvSpPr>
        <p:spPr>
          <a:xfrm>
            <a:off x="324000" y="759300"/>
            <a:ext cx="7135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 writes the first five terms of the arithmetic sequence                 in this table.</a:t>
            </a:r>
            <a:endParaRPr/>
          </a:p>
        </p:txBody>
      </p:sp>
      <p:sp>
        <p:nvSpPr>
          <p:cNvPr id="910" name="Google Shape;91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</a:t>
            </a:r>
            <a:endParaRPr sz="2200"/>
          </a:p>
        </p:txBody>
      </p:sp>
      <p:graphicFrame>
        <p:nvGraphicFramePr>
          <p:cNvPr id="911" name="Google Shape;911;p76"/>
          <p:cNvGraphicFramePr/>
          <p:nvPr/>
        </p:nvGraphicFramePr>
        <p:xfrm>
          <a:off x="1760913" y="1656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88550"/>
                <a:gridCol w="958650"/>
                <a:gridCol w="958650"/>
                <a:gridCol w="958650"/>
                <a:gridCol w="958650"/>
                <a:gridCol w="95865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8-1.1n&quot;&gt;&lt;mn&gt;8&lt;/mn&gt;&lt;mo&gt;−&lt;/mo&gt;&lt;mn&gt;1.1&lt;/mn&gt;&lt;mi&gt;n&lt;/mi&gt;&lt;/math&gt;" id="912" name="Google Shape;912;p76" title="8 minus 1.1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173" y="1189550"/>
            <a:ext cx="1018240" cy="21857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6"/>
          <p:cNvSpPr txBox="1"/>
          <p:nvPr>
            <p:ph idx="1" type="body"/>
          </p:nvPr>
        </p:nvSpPr>
        <p:spPr>
          <a:xfrm>
            <a:off x="324000" y="2892900"/>
            <a:ext cx="84960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Your explanation might have included: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sequence does go in steps of -1.1 but the first term is not 8.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Use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substitution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to accurately find terms. When n = 1,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8 - 1.1n = 8 - 1.1 × 1 = 8 - 1.1 = 6.9, that’s your first term.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7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substitution to find the first five terms of these </a:t>
            </a:r>
            <a:r>
              <a:rPr lang="en-GB"/>
              <a:t>arithmetic</a:t>
            </a:r>
            <a:r>
              <a:rPr lang="en-GB"/>
              <a:t> sequences.</a:t>
            </a:r>
            <a:endParaRPr/>
          </a:p>
        </p:txBody>
      </p:sp>
      <p:sp>
        <p:nvSpPr>
          <p:cNvPr id="919" name="Google Shape;919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sequences 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</a:t>
            </a:r>
            <a:endParaRPr/>
          </a:p>
        </p:txBody>
      </p:sp>
      <p:graphicFrame>
        <p:nvGraphicFramePr>
          <p:cNvPr id="920" name="Google Shape;920;p77"/>
          <p:cNvGraphicFramePr/>
          <p:nvPr/>
        </p:nvGraphicFramePr>
        <p:xfrm>
          <a:off x="2975613" y="1808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262150"/>
                <a:gridCol w="635625"/>
                <a:gridCol w="635625"/>
                <a:gridCol w="635625"/>
                <a:gridCol w="635625"/>
                <a:gridCol w="6356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1" name="Google Shape;921;p77"/>
          <p:cNvSpPr txBox="1"/>
          <p:nvPr>
            <p:ph idx="1" type="body"/>
          </p:nvPr>
        </p:nvSpPr>
        <p:spPr>
          <a:xfrm>
            <a:off x="324000" y="16183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n+3&quot;&gt;&lt;mn&gt;5&lt;/mn&gt;&lt;mi&gt;n&lt;/mi&gt;&lt;mo&gt;+&lt;/mo&gt;&lt;mn&gt;3&lt;/mn&gt;&lt;/math&gt;" id="922" name="Google Shape;922;p77" title="5 n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588" y="1633806"/>
            <a:ext cx="970397" cy="283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05n+0.3&quot;&gt;&lt;mn&gt;0.05&lt;/mn&gt;&lt;mi&gt;n&lt;/mi&gt;&lt;mo&gt;+&lt;/mo&gt;&lt;mn&gt;0.3&lt;/mn&gt;&lt;/math&gt;" id="923" name="Google Shape;923;p77" title="0.05 n plus 0.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373" y="3168218"/>
            <a:ext cx="1729552" cy="283855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7"/>
          <p:cNvSpPr txBox="1"/>
          <p:nvPr>
            <p:ph idx="1" type="body"/>
          </p:nvPr>
        </p:nvSpPr>
        <p:spPr>
          <a:xfrm>
            <a:off x="324000" y="31423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graphicFrame>
        <p:nvGraphicFramePr>
          <p:cNvPr id="925" name="Google Shape;925;p77"/>
          <p:cNvGraphicFramePr/>
          <p:nvPr/>
        </p:nvGraphicFramePr>
        <p:xfrm>
          <a:off x="2975613" y="3256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262150"/>
                <a:gridCol w="635625"/>
                <a:gridCol w="635625"/>
                <a:gridCol w="635625"/>
                <a:gridCol w="635625"/>
                <a:gridCol w="6356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8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substitution to find the first five terms of these arithmetic sequences.</a:t>
            </a:r>
            <a:endParaRPr/>
          </a:p>
        </p:txBody>
      </p:sp>
      <p:sp>
        <p:nvSpPr>
          <p:cNvPr id="931" name="Google Shape;931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sequences 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</a:t>
            </a:r>
            <a:endParaRPr/>
          </a:p>
        </p:txBody>
      </p:sp>
      <p:graphicFrame>
        <p:nvGraphicFramePr>
          <p:cNvPr id="932" name="Google Shape;932;p78"/>
          <p:cNvGraphicFramePr/>
          <p:nvPr/>
        </p:nvGraphicFramePr>
        <p:xfrm>
          <a:off x="2975613" y="1808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262150"/>
                <a:gridCol w="635625"/>
                <a:gridCol w="635625"/>
                <a:gridCol w="635625"/>
                <a:gridCol w="635625"/>
                <a:gridCol w="6356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3" name="Google Shape;933;p78"/>
          <p:cNvSpPr txBox="1"/>
          <p:nvPr>
            <p:ph idx="1" type="body"/>
          </p:nvPr>
        </p:nvSpPr>
        <p:spPr>
          <a:xfrm>
            <a:off x="324000" y="16183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sp>
        <p:nvSpPr>
          <p:cNvPr id="934" name="Google Shape;934;p78"/>
          <p:cNvSpPr txBox="1"/>
          <p:nvPr>
            <p:ph idx="1" type="body"/>
          </p:nvPr>
        </p:nvSpPr>
        <p:spPr>
          <a:xfrm>
            <a:off x="324000" y="31423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graphicFrame>
        <p:nvGraphicFramePr>
          <p:cNvPr id="935" name="Google Shape;935;p78"/>
          <p:cNvGraphicFramePr/>
          <p:nvPr/>
        </p:nvGraphicFramePr>
        <p:xfrm>
          <a:off x="2975613" y="3256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262150"/>
                <a:gridCol w="635625"/>
                <a:gridCol w="635625"/>
                <a:gridCol w="635625"/>
                <a:gridCol w="635625"/>
                <a:gridCol w="6356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3-0.7n&quot;&gt;&lt;mn&gt;3&lt;/mn&gt;&lt;mo&gt;−&lt;/mo&gt;&lt;mn&gt;0.7&lt;/mn&gt;&lt;mi&gt;n&lt;/mi&gt;&lt;/math&gt;" id="936" name="Google Shape;936;p78" title="3 minus 0.7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140" y="1659582"/>
            <a:ext cx="1287232" cy="27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-0.7n&quot;&gt;&lt;mo&gt;−&lt;/mo&gt;&lt;mn&gt;3&lt;/mn&gt;&lt;mo&gt;−&lt;/mo&gt;&lt;mn&gt;0.7&lt;/mn&gt;&lt;mi&gt;n&lt;/mi&gt;&lt;/math&gt;" id="937" name="Google Shape;937;p78" title="negative 3 minus 0.7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744" y="3183582"/>
            <a:ext cx="1544678" cy="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7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2885774" y="806788"/>
            <a:ext cx="4456351" cy="121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79"/>
          <p:cNvSpPr txBox="1"/>
          <p:nvPr>
            <p:ph idx="4294967295" type="body"/>
          </p:nvPr>
        </p:nvSpPr>
        <p:spPr>
          <a:xfrm>
            <a:off x="3247950" y="923225"/>
            <a:ext cx="40317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sequence            must go up in threes because it says, “+3”</a:t>
            </a:r>
            <a:endParaRPr sz="2000"/>
          </a:p>
        </p:txBody>
      </p:sp>
      <p:sp>
        <p:nvSpPr>
          <p:cNvPr id="944" name="Google Shape;944;p79"/>
          <p:cNvSpPr txBox="1"/>
          <p:nvPr>
            <p:ph idx="1" type="body"/>
          </p:nvPr>
        </p:nvSpPr>
        <p:spPr>
          <a:xfrm>
            <a:off x="324000" y="759300"/>
            <a:ext cx="2062500" cy="5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Jun says:</a:t>
            </a:r>
            <a:endParaRPr/>
          </a:p>
        </p:txBody>
      </p:sp>
      <p:sp>
        <p:nvSpPr>
          <p:cNvPr id="945" name="Google Shape;945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sequences 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</a:t>
            </a:r>
            <a:endParaRPr/>
          </a:p>
        </p:txBody>
      </p:sp>
      <p:graphicFrame>
        <p:nvGraphicFramePr>
          <p:cNvPr id="946" name="Google Shape;946;p79"/>
          <p:cNvGraphicFramePr/>
          <p:nvPr/>
        </p:nvGraphicFramePr>
        <p:xfrm>
          <a:off x="1680213" y="34850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262150"/>
                <a:gridCol w="635625"/>
                <a:gridCol w="635625"/>
                <a:gridCol w="635625"/>
                <a:gridCol w="635625"/>
                <a:gridCol w="6356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n+3&quot;&gt;&lt;mi&gt;n&lt;/mi&gt;&lt;mo&gt;+&lt;/mo&gt;&lt;mn&gt;3&lt;/mn&gt;&lt;/math&gt;" id="947" name="Google Shape;947;p79" title="n plu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7049" y="945450"/>
            <a:ext cx="647000" cy="23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3547" y="1239003"/>
            <a:ext cx="910998" cy="11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9"/>
          <p:cNvSpPr txBox="1"/>
          <p:nvPr>
            <p:ph idx="1" type="body"/>
          </p:nvPr>
        </p:nvSpPr>
        <p:spPr>
          <a:xfrm>
            <a:off x="324000" y="2577688"/>
            <a:ext cx="8496000" cy="5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substitution to find the first five terms and show Jun that he is mistaken.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0"/>
          <p:cNvSpPr txBox="1"/>
          <p:nvPr>
            <p:ph idx="1" type="body"/>
          </p:nvPr>
        </p:nvSpPr>
        <p:spPr>
          <a:xfrm>
            <a:off x="324000" y="759300"/>
            <a:ext cx="82377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substitution to find the first five terms of these arithmetic sequences.</a:t>
            </a:r>
            <a:endParaRPr/>
          </a:p>
        </p:txBody>
      </p:sp>
      <p:sp>
        <p:nvSpPr>
          <p:cNvPr id="955" name="Google Shape;955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sequences 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</a:t>
            </a:r>
            <a:endParaRPr/>
          </a:p>
        </p:txBody>
      </p:sp>
      <p:graphicFrame>
        <p:nvGraphicFramePr>
          <p:cNvPr id="956" name="Google Shape;956;p80"/>
          <p:cNvGraphicFramePr/>
          <p:nvPr/>
        </p:nvGraphicFramePr>
        <p:xfrm>
          <a:off x="2975613" y="1808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262150"/>
                <a:gridCol w="635625"/>
                <a:gridCol w="635625"/>
                <a:gridCol w="635625"/>
                <a:gridCol w="635625"/>
                <a:gridCol w="6356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23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7" name="Google Shape;957;p80"/>
          <p:cNvSpPr txBox="1"/>
          <p:nvPr>
            <p:ph idx="1" type="body"/>
          </p:nvPr>
        </p:nvSpPr>
        <p:spPr>
          <a:xfrm>
            <a:off x="324000" y="16183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n+3&quot;&gt;&lt;mn&gt;5&lt;/mn&gt;&lt;mi&gt;n&lt;/mi&gt;&lt;mo&gt;+&lt;/mo&gt;&lt;mn&gt;3&lt;/mn&gt;&lt;/math&gt;" id="958" name="Google Shape;958;p80" title="5 n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588" y="1633806"/>
            <a:ext cx="970397" cy="283855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0"/>
          <p:cNvSpPr txBox="1"/>
          <p:nvPr>
            <p:ph idx="4294967295" type="body"/>
          </p:nvPr>
        </p:nvSpPr>
        <p:spPr>
          <a:xfrm>
            <a:off x="324000" y="3174625"/>
            <a:ext cx="1281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5(1)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5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8</a:t>
            </a:r>
            <a:endParaRPr sz="1800"/>
          </a:p>
        </p:txBody>
      </p:sp>
      <p:sp>
        <p:nvSpPr>
          <p:cNvPr id="960" name="Google Shape;960;p80"/>
          <p:cNvSpPr txBox="1"/>
          <p:nvPr>
            <p:ph idx="4294967295" type="body"/>
          </p:nvPr>
        </p:nvSpPr>
        <p:spPr>
          <a:xfrm>
            <a:off x="2206518" y="3174625"/>
            <a:ext cx="1281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5(2)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13</a:t>
            </a:r>
            <a:endParaRPr sz="1800"/>
          </a:p>
        </p:txBody>
      </p:sp>
      <p:sp>
        <p:nvSpPr>
          <p:cNvPr id="961" name="Google Shape;961;p80"/>
          <p:cNvSpPr txBox="1"/>
          <p:nvPr>
            <p:ph idx="4294967295" type="body"/>
          </p:nvPr>
        </p:nvSpPr>
        <p:spPr>
          <a:xfrm>
            <a:off x="4089036" y="3174625"/>
            <a:ext cx="1281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5(3)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15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18</a:t>
            </a:r>
            <a:endParaRPr sz="1800"/>
          </a:p>
        </p:txBody>
      </p:sp>
      <p:sp>
        <p:nvSpPr>
          <p:cNvPr id="962" name="Google Shape;962;p80"/>
          <p:cNvSpPr txBox="1"/>
          <p:nvPr>
            <p:ph idx="4294967295" type="body"/>
          </p:nvPr>
        </p:nvSpPr>
        <p:spPr>
          <a:xfrm>
            <a:off x="5971554" y="3174625"/>
            <a:ext cx="1281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5(4)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20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23</a:t>
            </a:r>
            <a:endParaRPr sz="1800"/>
          </a:p>
        </p:txBody>
      </p:sp>
      <p:sp>
        <p:nvSpPr>
          <p:cNvPr id="963" name="Google Shape;963;p80"/>
          <p:cNvSpPr txBox="1"/>
          <p:nvPr>
            <p:ph idx="4294967295" type="body"/>
          </p:nvPr>
        </p:nvSpPr>
        <p:spPr>
          <a:xfrm>
            <a:off x="7854072" y="3174625"/>
            <a:ext cx="9705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5(5)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25 + 3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28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81"/>
          <p:cNvSpPr txBox="1"/>
          <p:nvPr>
            <p:ph idx="1" type="body"/>
          </p:nvPr>
        </p:nvSpPr>
        <p:spPr>
          <a:xfrm>
            <a:off x="324000" y="759300"/>
            <a:ext cx="82377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substitution to find the first five terms of these arithmetic sequences.</a:t>
            </a:r>
            <a:endParaRPr/>
          </a:p>
        </p:txBody>
      </p:sp>
      <p:sp>
        <p:nvSpPr>
          <p:cNvPr id="969" name="Google Shape;969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sequences 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</a:t>
            </a:r>
            <a:endParaRPr/>
          </a:p>
        </p:txBody>
      </p:sp>
      <p:graphicFrame>
        <p:nvGraphicFramePr>
          <p:cNvPr id="970" name="Google Shape;970;p81"/>
          <p:cNvGraphicFramePr/>
          <p:nvPr/>
        </p:nvGraphicFramePr>
        <p:xfrm>
          <a:off x="2975613" y="1808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78375"/>
                <a:gridCol w="734200"/>
                <a:gridCol w="734200"/>
                <a:gridCol w="734200"/>
                <a:gridCol w="734200"/>
                <a:gridCol w="7342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0.35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0.45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0.55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1" name="Google Shape;971;p81"/>
          <p:cNvSpPr txBox="1"/>
          <p:nvPr>
            <p:ph idx="4294967295" type="body"/>
          </p:nvPr>
        </p:nvSpPr>
        <p:spPr>
          <a:xfrm>
            <a:off x="324000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0.05(1)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0.05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0.35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0.05n+0.3&quot;&gt;&lt;mn&gt;0.05&lt;/mn&gt;&lt;mi&gt;n&lt;/mi&gt;&lt;mo&gt;+&lt;/mo&gt;&lt;mn&gt;0.3&lt;/mn&gt;&lt;/math&gt;" id="972" name="Google Shape;972;p81" title="0.05 n plus 0.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73" y="1644218"/>
            <a:ext cx="1729552" cy="283855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1"/>
          <p:cNvSpPr txBox="1"/>
          <p:nvPr>
            <p:ph idx="1" type="body"/>
          </p:nvPr>
        </p:nvSpPr>
        <p:spPr>
          <a:xfrm>
            <a:off x="324000" y="16183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974" name="Google Shape;974;p81"/>
          <p:cNvSpPr txBox="1"/>
          <p:nvPr>
            <p:ph idx="4294967295" type="body"/>
          </p:nvPr>
        </p:nvSpPr>
        <p:spPr>
          <a:xfrm>
            <a:off x="2085238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0.05(2)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0.1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0.4</a:t>
            </a:r>
            <a:endParaRPr sz="1800"/>
          </a:p>
        </p:txBody>
      </p:sp>
      <p:sp>
        <p:nvSpPr>
          <p:cNvPr id="975" name="Google Shape;975;p81"/>
          <p:cNvSpPr txBox="1"/>
          <p:nvPr>
            <p:ph idx="4294967295" type="body"/>
          </p:nvPr>
        </p:nvSpPr>
        <p:spPr>
          <a:xfrm>
            <a:off x="3846476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0.05(3)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0.15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0.45</a:t>
            </a:r>
            <a:endParaRPr sz="1800"/>
          </a:p>
        </p:txBody>
      </p:sp>
      <p:sp>
        <p:nvSpPr>
          <p:cNvPr id="976" name="Google Shape;976;p81"/>
          <p:cNvSpPr txBox="1"/>
          <p:nvPr>
            <p:ph idx="4294967295" type="body"/>
          </p:nvPr>
        </p:nvSpPr>
        <p:spPr>
          <a:xfrm>
            <a:off x="5607714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0.05(4)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0.2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0.5</a:t>
            </a:r>
            <a:endParaRPr sz="1800"/>
          </a:p>
        </p:txBody>
      </p:sp>
      <p:sp>
        <p:nvSpPr>
          <p:cNvPr id="977" name="Google Shape;977;p81"/>
          <p:cNvSpPr txBox="1"/>
          <p:nvPr>
            <p:ph idx="4294967295" type="body"/>
          </p:nvPr>
        </p:nvSpPr>
        <p:spPr>
          <a:xfrm>
            <a:off x="7368952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0.05(5)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0.25 + 0.3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0.55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2"/>
          <p:cNvSpPr txBox="1"/>
          <p:nvPr>
            <p:ph idx="1" type="body"/>
          </p:nvPr>
        </p:nvSpPr>
        <p:spPr>
          <a:xfrm>
            <a:off x="324000" y="759300"/>
            <a:ext cx="82377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substitution to find the first five terms of these arithmetic sequences.</a:t>
            </a:r>
            <a:endParaRPr/>
          </a:p>
        </p:txBody>
      </p:sp>
      <p:sp>
        <p:nvSpPr>
          <p:cNvPr id="983" name="Google Shape;983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sequences 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</a:t>
            </a:r>
            <a:endParaRPr/>
          </a:p>
        </p:txBody>
      </p:sp>
      <p:graphicFrame>
        <p:nvGraphicFramePr>
          <p:cNvPr id="984" name="Google Shape;984;p82"/>
          <p:cNvGraphicFramePr/>
          <p:nvPr/>
        </p:nvGraphicFramePr>
        <p:xfrm>
          <a:off x="2975613" y="1808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78375"/>
                <a:gridCol w="734200"/>
                <a:gridCol w="734200"/>
                <a:gridCol w="734200"/>
                <a:gridCol w="734200"/>
                <a:gridCol w="7342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2.3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1.6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-0.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5" name="Google Shape;985;p82"/>
          <p:cNvSpPr txBox="1"/>
          <p:nvPr>
            <p:ph idx="4294967295" type="body"/>
          </p:nvPr>
        </p:nvSpPr>
        <p:spPr>
          <a:xfrm>
            <a:off x="324000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3 - 0.7(1)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3 - 0.7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2.3</a:t>
            </a:r>
            <a:endParaRPr sz="1800"/>
          </a:p>
        </p:txBody>
      </p:sp>
      <p:sp>
        <p:nvSpPr>
          <p:cNvPr id="986" name="Google Shape;986;p82"/>
          <p:cNvSpPr txBox="1"/>
          <p:nvPr>
            <p:ph idx="1" type="body"/>
          </p:nvPr>
        </p:nvSpPr>
        <p:spPr>
          <a:xfrm>
            <a:off x="324000" y="16183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987" name="Google Shape;987;p82"/>
          <p:cNvSpPr txBox="1"/>
          <p:nvPr>
            <p:ph idx="4294967295" type="body"/>
          </p:nvPr>
        </p:nvSpPr>
        <p:spPr>
          <a:xfrm>
            <a:off x="2190900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3 - 0.7(2)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3 - 1.4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1.6</a:t>
            </a:r>
            <a:endParaRPr sz="1800"/>
          </a:p>
        </p:txBody>
      </p:sp>
      <p:sp>
        <p:nvSpPr>
          <p:cNvPr id="988" name="Google Shape;988;p82"/>
          <p:cNvSpPr txBox="1"/>
          <p:nvPr>
            <p:ph idx="4294967295" type="body"/>
          </p:nvPr>
        </p:nvSpPr>
        <p:spPr>
          <a:xfrm>
            <a:off x="4057800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3 - 0.7(3)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3 - 2.1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0.9</a:t>
            </a:r>
            <a:endParaRPr sz="1800"/>
          </a:p>
        </p:txBody>
      </p:sp>
      <p:sp>
        <p:nvSpPr>
          <p:cNvPr id="989" name="Google Shape;989;p82"/>
          <p:cNvSpPr txBox="1"/>
          <p:nvPr>
            <p:ph idx="4294967295" type="body"/>
          </p:nvPr>
        </p:nvSpPr>
        <p:spPr>
          <a:xfrm>
            <a:off x="5924700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3 - 0.7(4)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3 - 2.8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0.2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3-0.7n&quot;&gt;&lt;mn&gt;3&lt;/mn&gt;&lt;mo&gt;−&lt;/mo&gt;&lt;mn&gt;0.7&lt;/mn&gt;&lt;mi&gt;n&lt;/mi&gt;&lt;/math&gt;" id="990" name="Google Shape;990;p82" title="3 minus 0.7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140" y="1659582"/>
            <a:ext cx="1287232" cy="27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2"/>
          <p:cNvSpPr txBox="1"/>
          <p:nvPr>
            <p:ph idx="4294967295" type="body"/>
          </p:nvPr>
        </p:nvSpPr>
        <p:spPr>
          <a:xfrm>
            <a:off x="7791600" y="3174625"/>
            <a:ext cx="10044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3 - 0.7(5)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3 - 3.5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-0.5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3"/>
          <p:cNvSpPr txBox="1"/>
          <p:nvPr>
            <p:ph idx="1" type="body"/>
          </p:nvPr>
        </p:nvSpPr>
        <p:spPr>
          <a:xfrm>
            <a:off x="324000" y="759300"/>
            <a:ext cx="82377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substitution to find the first five terms of these arithmetic sequences.</a:t>
            </a:r>
            <a:endParaRPr/>
          </a:p>
        </p:txBody>
      </p:sp>
      <p:sp>
        <p:nvSpPr>
          <p:cNvPr id="997" name="Google Shape;997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sequences 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</a:t>
            </a:r>
            <a:endParaRPr/>
          </a:p>
        </p:txBody>
      </p:sp>
      <p:graphicFrame>
        <p:nvGraphicFramePr>
          <p:cNvPr id="998" name="Google Shape;998;p83"/>
          <p:cNvGraphicFramePr/>
          <p:nvPr/>
        </p:nvGraphicFramePr>
        <p:xfrm>
          <a:off x="2975613" y="1808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78375"/>
                <a:gridCol w="734200"/>
                <a:gridCol w="734200"/>
                <a:gridCol w="734200"/>
                <a:gridCol w="734200"/>
                <a:gridCol w="73420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-3.7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-4.4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-5.1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-5.8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-6.5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9" name="Google Shape;999;p83"/>
          <p:cNvSpPr txBox="1"/>
          <p:nvPr>
            <p:ph idx="4294967295" type="body"/>
          </p:nvPr>
        </p:nvSpPr>
        <p:spPr>
          <a:xfrm>
            <a:off x="324000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-3 - 0.7(1)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-3 - 0.7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-3.7</a:t>
            </a:r>
            <a:endParaRPr sz="1800"/>
          </a:p>
        </p:txBody>
      </p:sp>
      <p:sp>
        <p:nvSpPr>
          <p:cNvPr id="1000" name="Google Shape;1000;p83"/>
          <p:cNvSpPr txBox="1"/>
          <p:nvPr>
            <p:ph idx="4294967295" type="body"/>
          </p:nvPr>
        </p:nvSpPr>
        <p:spPr>
          <a:xfrm>
            <a:off x="2190900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-3 - 0.7(2)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-3 - 1.4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-4.4</a:t>
            </a:r>
            <a:endParaRPr sz="1800"/>
          </a:p>
        </p:txBody>
      </p:sp>
      <p:sp>
        <p:nvSpPr>
          <p:cNvPr id="1001" name="Google Shape;1001;p83"/>
          <p:cNvSpPr txBox="1"/>
          <p:nvPr>
            <p:ph idx="4294967295" type="body"/>
          </p:nvPr>
        </p:nvSpPr>
        <p:spPr>
          <a:xfrm>
            <a:off x="4057800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-3 - 0.7(3)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-3 - 2.1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-5.1</a:t>
            </a:r>
            <a:endParaRPr sz="1800"/>
          </a:p>
        </p:txBody>
      </p:sp>
      <p:sp>
        <p:nvSpPr>
          <p:cNvPr id="1002" name="Google Shape;1002;p83"/>
          <p:cNvSpPr txBox="1"/>
          <p:nvPr>
            <p:ph idx="4294967295" type="body"/>
          </p:nvPr>
        </p:nvSpPr>
        <p:spPr>
          <a:xfrm>
            <a:off x="5924700" y="3174625"/>
            <a:ext cx="1458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-3 - 0.7(4)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-3 - 2.8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-5.8</a:t>
            </a:r>
            <a:endParaRPr sz="1800"/>
          </a:p>
        </p:txBody>
      </p:sp>
      <p:sp>
        <p:nvSpPr>
          <p:cNvPr id="1003" name="Google Shape;1003;p83"/>
          <p:cNvSpPr txBox="1"/>
          <p:nvPr>
            <p:ph idx="4294967295" type="body"/>
          </p:nvPr>
        </p:nvSpPr>
        <p:spPr>
          <a:xfrm>
            <a:off x="7675675" y="3174625"/>
            <a:ext cx="11202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-3 - 0.7(5)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-3 - 3.5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-6.5</a:t>
            </a:r>
            <a:endParaRPr sz="1800"/>
          </a:p>
        </p:txBody>
      </p:sp>
      <p:sp>
        <p:nvSpPr>
          <p:cNvPr id="1004" name="Google Shape;1004;p83"/>
          <p:cNvSpPr txBox="1"/>
          <p:nvPr>
            <p:ph idx="1" type="body"/>
          </p:nvPr>
        </p:nvSpPr>
        <p:spPr>
          <a:xfrm>
            <a:off x="324000" y="16183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-3-0.7n&quot;&gt;&lt;mo&gt;−&lt;/mo&gt;&lt;mn&gt;3&lt;/mn&gt;&lt;mo&gt;−&lt;/mo&gt;&lt;mn&gt;0.7&lt;/mn&gt;&lt;mi&gt;n&lt;/mi&gt;&lt;/math&gt;" id="1005" name="Google Shape;1005;p83" title="negative 3 minus 0.7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44" y="1659582"/>
            <a:ext cx="1544678" cy="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0" name="Google Shape;1010;p84"/>
          <p:cNvGraphicFramePr/>
          <p:nvPr/>
        </p:nvGraphicFramePr>
        <p:xfrm>
          <a:off x="1680213" y="3135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262150"/>
                <a:gridCol w="635625"/>
                <a:gridCol w="635625"/>
                <a:gridCol w="635625"/>
                <a:gridCol w="635625"/>
                <a:gridCol w="6356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1" name="Google Shape;1011;p84"/>
          <p:cNvGraphicFramePr/>
          <p:nvPr/>
        </p:nvGraphicFramePr>
        <p:xfrm>
          <a:off x="1680213" y="3135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262150"/>
                <a:gridCol w="635625"/>
                <a:gridCol w="635625"/>
                <a:gridCol w="635625"/>
                <a:gridCol w="635625"/>
                <a:gridCol w="6356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12" name="Google Shape;1012;p8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2885774" y="806788"/>
            <a:ext cx="4456351" cy="121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84"/>
          <p:cNvSpPr txBox="1"/>
          <p:nvPr>
            <p:ph idx="4294967295" type="body"/>
          </p:nvPr>
        </p:nvSpPr>
        <p:spPr>
          <a:xfrm>
            <a:off x="3247950" y="923225"/>
            <a:ext cx="40317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sequence            must go up in threes because it says, “+3”</a:t>
            </a:r>
            <a:endParaRPr sz="2000"/>
          </a:p>
        </p:txBody>
      </p:sp>
      <p:sp>
        <p:nvSpPr>
          <p:cNvPr id="1014" name="Google Shape;1014;p84"/>
          <p:cNvSpPr txBox="1"/>
          <p:nvPr>
            <p:ph idx="1" type="body"/>
          </p:nvPr>
        </p:nvSpPr>
        <p:spPr>
          <a:xfrm>
            <a:off x="324000" y="759300"/>
            <a:ext cx="1833300" cy="4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Jun says:</a:t>
            </a:r>
            <a:endParaRPr/>
          </a:p>
        </p:txBody>
      </p:sp>
      <p:sp>
        <p:nvSpPr>
          <p:cNvPr id="1015" name="Google Shape;1015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sequences 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n+3&quot;&gt;&lt;mi&gt;n&lt;/mi&gt;&lt;mo&gt;+&lt;/mo&gt;&lt;mn&gt;3&lt;/mn&gt;&lt;/math&gt;" id="1016" name="Google Shape;1016;p84" title="n plu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7049" y="945450"/>
            <a:ext cx="647000" cy="23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3547" y="1086603"/>
            <a:ext cx="910998" cy="11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84"/>
          <p:cNvSpPr txBox="1"/>
          <p:nvPr>
            <p:ph idx="4294967295" type="body"/>
          </p:nvPr>
        </p:nvSpPr>
        <p:spPr>
          <a:xfrm>
            <a:off x="334412" y="2232768"/>
            <a:ext cx="11604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(1) </a:t>
            </a:r>
            <a:r>
              <a:rPr lang="en-GB" sz="1800"/>
              <a:t>+ 3 = 4</a:t>
            </a:r>
            <a:endParaRPr sz="1800"/>
          </a:p>
        </p:txBody>
      </p:sp>
      <p:sp>
        <p:nvSpPr>
          <p:cNvPr id="1019" name="Google Shape;1019;p84"/>
          <p:cNvSpPr txBox="1"/>
          <p:nvPr>
            <p:ph idx="4294967295" type="body"/>
          </p:nvPr>
        </p:nvSpPr>
        <p:spPr>
          <a:xfrm>
            <a:off x="2165815" y="2232768"/>
            <a:ext cx="11604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(2) + 3 = 5</a:t>
            </a:r>
            <a:endParaRPr sz="1800"/>
          </a:p>
        </p:txBody>
      </p:sp>
      <p:sp>
        <p:nvSpPr>
          <p:cNvPr id="1020" name="Google Shape;1020;p84"/>
          <p:cNvSpPr txBox="1"/>
          <p:nvPr>
            <p:ph idx="4294967295" type="body"/>
          </p:nvPr>
        </p:nvSpPr>
        <p:spPr>
          <a:xfrm>
            <a:off x="3997218" y="2232768"/>
            <a:ext cx="11604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(3) + 3 = 6</a:t>
            </a:r>
            <a:endParaRPr sz="1800"/>
          </a:p>
        </p:txBody>
      </p:sp>
      <p:sp>
        <p:nvSpPr>
          <p:cNvPr id="1021" name="Google Shape;1021;p84"/>
          <p:cNvSpPr txBox="1"/>
          <p:nvPr>
            <p:ph idx="4294967295" type="body"/>
          </p:nvPr>
        </p:nvSpPr>
        <p:spPr>
          <a:xfrm>
            <a:off x="5828621" y="2232768"/>
            <a:ext cx="11604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(4) + 3 = 7</a:t>
            </a:r>
            <a:endParaRPr sz="1800"/>
          </a:p>
        </p:txBody>
      </p:sp>
      <p:sp>
        <p:nvSpPr>
          <p:cNvPr id="1022" name="Google Shape;1022;p84"/>
          <p:cNvSpPr txBox="1"/>
          <p:nvPr>
            <p:ph idx="4294967295" type="body"/>
          </p:nvPr>
        </p:nvSpPr>
        <p:spPr>
          <a:xfrm>
            <a:off x="7660024" y="2232768"/>
            <a:ext cx="11604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(5) + 3 = 8</a:t>
            </a:r>
            <a:endParaRPr sz="1800"/>
          </a:p>
        </p:txBody>
      </p:sp>
      <p:sp>
        <p:nvSpPr>
          <p:cNvPr id="1023" name="Google Shape;1023;p84"/>
          <p:cNvSpPr txBox="1"/>
          <p:nvPr>
            <p:ph idx="1" type="body"/>
          </p:nvPr>
        </p:nvSpPr>
        <p:spPr>
          <a:xfrm>
            <a:off x="324000" y="4371936"/>
            <a:ext cx="79971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sequence begins at 4 and goes up 1 each time.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8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       terms</a:t>
            </a:r>
            <a:endParaRPr/>
          </a:p>
        </p:txBody>
      </p:sp>
      <p:sp>
        <p:nvSpPr>
          <p:cNvPr id="1029" name="Google Shape;1029;p8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      terms to find any term</a:t>
            </a:r>
            <a:endParaRPr/>
          </a:p>
        </p:txBody>
      </p:sp>
      <p:sp>
        <p:nvSpPr>
          <p:cNvPr id="1030" name="Google Shape;1030;p8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      terms of different sequences</a:t>
            </a:r>
            <a:endParaRPr/>
          </a:p>
        </p:txBody>
      </p:sp>
      <p:sp>
        <p:nvSpPr>
          <p:cNvPr id="1031" name="Google Shape;1031;p8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any 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n^{th}&quot;&gt;&lt;msup&gt;&lt;mi&gt;n&lt;/mi&gt;&lt;mrow data-mjx-texclass=&quot;ORD&quot;&gt;&lt;mi&gt;t&lt;/mi&gt;&lt;mi&gt;h&lt;/mi&gt;&lt;/mrow&gt;&lt;/msup&gt;&lt;/math&gt;" id="1032" name="Google Shape;1032;p85" title="n raised to the t 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550" y="1779724"/>
            <a:ext cx="294036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^{th}&quot;&gt;&lt;msup&gt;&lt;mi&gt;n&lt;/mi&gt;&lt;mrow data-mjx-texclass=&quot;ORD&quot;&gt;&lt;mi&gt;t&lt;/mi&gt;&lt;mi&gt;h&lt;/mi&gt;&lt;/mrow&gt;&lt;/msup&gt;&lt;/math&gt;" id="1033" name="Google Shape;1033;p85" title="n raised to the t 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950" y="2803662"/>
            <a:ext cx="294036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^{th}&quot;&gt;&lt;msup&gt;&lt;mi&gt;n&lt;/mi&gt;&lt;mrow data-mjx-texclass=&quot;ORD&quot;&gt;&lt;mi&gt;t&lt;/mi&gt;&lt;mi&gt;h&lt;/mi&gt;&lt;/mrow&gt;&lt;/msup&gt;&lt;/math&gt;" id="1034" name="Google Shape;1034;p85" title="n raised to the t 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8838" y="3737112"/>
            <a:ext cx="294036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300" y="276875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0" name="Google Shape;1040;p86"/>
          <p:cNvGraphicFramePr/>
          <p:nvPr/>
        </p:nvGraphicFramePr>
        <p:xfrm>
          <a:off x="458417" y="1666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1970725"/>
                <a:gridCol w="663875"/>
                <a:gridCol w="724150"/>
                <a:gridCol w="724150"/>
                <a:gridCol w="724150"/>
                <a:gridCol w="72415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1" name="Google Shape;1041;p86"/>
          <p:cNvSpPr txBox="1"/>
          <p:nvPr>
            <p:ph idx="1" type="body"/>
          </p:nvPr>
        </p:nvSpPr>
        <p:spPr>
          <a:xfrm>
            <a:off x="178120" y="759364"/>
            <a:ext cx="60918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first five terms of the arithmetic sequence              are below. What is the 100th term?</a:t>
            </a:r>
            <a:endParaRPr sz="2000"/>
          </a:p>
        </p:txBody>
      </p:sp>
      <p:sp>
        <p:nvSpPr>
          <p:cNvPr id="1042" name="Google Shape;104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 to find any term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4n+5&quot;&gt;&lt;mn&gt;4&lt;/mn&gt;&lt;mi&gt;n&lt;/mi&gt;&lt;mo&gt;+&lt;/mo&gt;&lt;mn&gt;5&lt;/mn&gt;&lt;/math&gt;" id="1043" name="Google Shape;1043;p86" title="4 n plu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8462" y="767625"/>
            <a:ext cx="941830" cy="2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20204" y="3677323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86"/>
          <p:cNvSpPr txBox="1"/>
          <p:nvPr/>
        </p:nvSpPr>
        <p:spPr>
          <a:xfrm>
            <a:off x="811292" y="4408775"/>
            <a:ext cx="1164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6" name="Google Shape;1046;p8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937174" y="2672450"/>
            <a:ext cx="7748874" cy="14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86"/>
          <p:cNvSpPr txBox="1"/>
          <p:nvPr>
            <p:ph idx="1" type="body"/>
          </p:nvPr>
        </p:nvSpPr>
        <p:spPr>
          <a:xfrm>
            <a:off x="1531550" y="2786575"/>
            <a:ext cx="7050000" cy="10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9, 13, 17, 21, 25, </a:t>
            </a:r>
            <a:endParaRPr sz="1800"/>
          </a:p>
        </p:txBody>
      </p:sp>
      <p:sp>
        <p:nvSpPr>
          <p:cNvPr id="1048" name="Google Shape;1048;p86"/>
          <p:cNvSpPr txBox="1"/>
          <p:nvPr/>
        </p:nvSpPr>
        <p:spPr>
          <a:xfrm>
            <a:off x="3124870" y="2689974"/>
            <a:ext cx="55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29, 33, 37, 41, 45, 49, 53, 57, 61, 65, 69, 73, 77, 81</a:t>
            </a:r>
            <a:endParaRPr/>
          </a:p>
        </p:txBody>
      </p:sp>
      <p:sp>
        <p:nvSpPr>
          <p:cNvPr id="1049" name="Google Shape;1049;p86"/>
          <p:cNvSpPr txBox="1"/>
          <p:nvPr/>
        </p:nvSpPr>
        <p:spPr>
          <a:xfrm>
            <a:off x="1431121" y="3071046"/>
            <a:ext cx="719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85, 89, 93, 97, 101, 105, 109, 113, 117, 121, 125, 129, 133, 137, 141</a:t>
            </a:r>
            <a:endParaRPr/>
          </a:p>
        </p:txBody>
      </p:sp>
      <p:sp>
        <p:nvSpPr>
          <p:cNvPr id="1050" name="Google Shape;1050;p86"/>
          <p:cNvSpPr txBox="1"/>
          <p:nvPr/>
        </p:nvSpPr>
        <p:spPr>
          <a:xfrm>
            <a:off x="1461366" y="3425701"/>
            <a:ext cx="527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145, 149, 153, 157, 161, 165, 169, 173,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6"/>
          <p:cNvSpPr txBox="1"/>
          <p:nvPr/>
        </p:nvSpPr>
        <p:spPr>
          <a:xfrm>
            <a:off x="5774400" y="34257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 I near yet?</a:t>
            </a:r>
            <a:endParaRPr/>
          </a:p>
        </p:txBody>
      </p:sp>
      <p:sp>
        <p:nvSpPr>
          <p:cNvPr id="1052" name="Google Shape;1052;p86"/>
          <p:cNvSpPr txBox="1"/>
          <p:nvPr>
            <p:ph idx="1" type="body"/>
          </p:nvPr>
        </p:nvSpPr>
        <p:spPr>
          <a:xfrm>
            <a:off x="2680658" y="4132161"/>
            <a:ext cx="52527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do you think about Andeep’s method?</a:t>
            </a:r>
            <a:endParaRPr sz="1900"/>
          </a:p>
        </p:txBody>
      </p:sp>
      <p:sp>
        <p:nvSpPr>
          <p:cNvPr id="1053" name="Google Shape;1053;p86"/>
          <p:cNvSpPr txBox="1"/>
          <p:nvPr>
            <p:ph idx="1" type="body"/>
          </p:nvPr>
        </p:nvSpPr>
        <p:spPr>
          <a:xfrm>
            <a:off x="2664225" y="4596270"/>
            <a:ext cx="56850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It’s not very efficient and it might lack accuracy.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54" name="Google Shape;1054;p8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6962249" y="1138596"/>
            <a:ext cx="2122726" cy="84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6"/>
          <p:cNvSpPr txBox="1"/>
          <p:nvPr>
            <p:ph idx="1" type="body"/>
          </p:nvPr>
        </p:nvSpPr>
        <p:spPr>
          <a:xfrm>
            <a:off x="7236514" y="1328927"/>
            <a:ext cx="16773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I’ve got this!</a:t>
            </a:r>
            <a:endParaRPr sz="2000"/>
          </a:p>
        </p:txBody>
      </p:sp>
      <p:pic>
        <p:nvPicPr>
          <p:cNvPr id="1056" name="Google Shape;105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85212" y="119175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6"/>
          <p:cNvSpPr txBox="1"/>
          <p:nvPr/>
        </p:nvSpPr>
        <p:spPr>
          <a:xfrm>
            <a:off x="6817950" y="1973461"/>
            <a:ext cx="11646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2" name="Google Shape;1062;p87"/>
          <p:cNvGraphicFramePr/>
          <p:nvPr/>
        </p:nvGraphicFramePr>
        <p:xfrm>
          <a:off x="458417" y="1666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1953675"/>
                <a:gridCol w="536675"/>
                <a:gridCol w="536675"/>
                <a:gridCol w="536675"/>
                <a:gridCol w="536675"/>
                <a:gridCol w="536675"/>
                <a:gridCol w="875975"/>
                <a:gridCol w="10425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3" name="Google Shape;1063;p87"/>
          <p:cNvSpPr txBox="1"/>
          <p:nvPr>
            <p:ph idx="1" type="body"/>
          </p:nvPr>
        </p:nvSpPr>
        <p:spPr>
          <a:xfrm>
            <a:off x="324000" y="812425"/>
            <a:ext cx="60918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first five terms of the arithmetic sequence              are below. What is the 100th term?</a:t>
            </a:r>
            <a:endParaRPr sz="2000"/>
          </a:p>
        </p:txBody>
      </p:sp>
      <p:sp>
        <p:nvSpPr>
          <p:cNvPr id="1064" name="Google Shape;1064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 to find any term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4n+5&quot;&gt;&lt;mn&gt;4&lt;/mn&gt;&lt;mi&gt;n&lt;/mi&gt;&lt;mo&gt;+&lt;/mo&gt;&lt;mn&gt;5&lt;/mn&gt;&lt;/math&gt;" id="1065" name="Google Shape;1065;p87" title="4 n plu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900" y="810000"/>
            <a:ext cx="941830" cy="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&quot;&gt;&lt;mi&gt;n&lt;/mi&gt;&lt;/math&gt;" id="1066" name="Google Shape;1066;p87" title="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6653" y="1819073"/>
            <a:ext cx="147975" cy="1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n+5&quot;&gt;&lt;mn&gt;4&lt;/mn&gt;&lt;mi&gt;n&lt;/mi&gt;&lt;mo&gt;+&lt;/mo&gt;&lt;mn&gt;5&lt;/mn&gt;&lt;/math&gt;" id="1067" name="Google Shape;1067;p87" title="4 n plu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5252" y="2255305"/>
            <a:ext cx="684725" cy="196295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87"/>
          <p:cNvSpPr txBox="1"/>
          <p:nvPr>
            <p:ph idx="1" type="body"/>
          </p:nvPr>
        </p:nvSpPr>
        <p:spPr>
          <a:xfrm>
            <a:off x="462672" y="2998085"/>
            <a:ext cx="57483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table is not limited to the first five terms. In fact, we can use it to find </a:t>
            </a:r>
            <a:r>
              <a:rPr lang="en-GB" sz="2000">
                <a:solidFill>
                  <a:schemeClr val="dk2"/>
                </a:solidFill>
              </a:rPr>
              <a:t>any </a:t>
            </a:r>
            <a:r>
              <a:rPr lang="en-GB" sz="2000"/>
              <a:t>term.</a:t>
            </a:r>
            <a:endParaRPr sz="2000"/>
          </a:p>
        </p:txBody>
      </p:sp>
      <p:sp>
        <p:nvSpPr>
          <p:cNvPr id="1069" name="Google Shape;1069;p87"/>
          <p:cNvSpPr/>
          <p:nvPr/>
        </p:nvSpPr>
        <p:spPr>
          <a:xfrm>
            <a:off x="5302757" y="1700387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7"/>
          <p:cNvSpPr/>
          <p:nvPr/>
        </p:nvSpPr>
        <p:spPr>
          <a:xfrm>
            <a:off x="5292345" y="2167999"/>
            <a:ext cx="474300" cy="3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7"/>
          <p:cNvSpPr txBox="1"/>
          <p:nvPr>
            <p:ph idx="1" type="body"/>
          </p:nvPr>
        </p:nvSpPr>
        <p:spPr>
          <a:xfrm>
            <a:off x="7029600" y="2990989"/>
            <a:ext cx="1281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100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4(100) + 5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400 + 5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405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6" name="Google Shape;1076;p88"/>
          <p:cNvGraphicFramePr/>
          <p:nvPr/>
        </p:nvGraphicFramePr>
        <p:xfrm>
          <a:off x="458417" y="1666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547200"/>
                <a:gridCol w="1067025"/>
                <a:gridCol w="1067025"/>
                <a:gridCol w="10670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11 925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7" name="Google Shape;1077;p88"/>
          <p:cNvSpPr txBox="1"/>
          <p:nvPr>
            <p:ph idx="1" type="body"/>
          </p:nvPr>
        </p:nvSpPr>
        <p:spPr>
          <a:xfrm>
            <a:off x="324000" y="759300"/>
            <a:ext cx="7135200" cy="7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Use substitution to find the 50th, 100th, and 1000th terms of the</a:t>
            </a:r>
            <a:r>
              <a:rPr lang="en-GB" sz="2000"/>
              <a:t> sequence</a:t>
            </a:r>
            <a:endParaRPr sz="2000"/>
          </a:p>
        </p:txBody>
      </p:sp>
      <p:sp>
        <p:nvSpPr>
          <p:cNvPr id="1078" name="Google Shape;107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 to find any term</a:t>
            </a:r>
            <a:endParaRPr sz="2200"/>
          </a:p>
        </p:txBody>
      </p:sp>
      <p:sp>
        <p:nvSpPr>
          <p:cNvPr id="1079" name="Google Shape;1079;p88"/>
          <p:cNvSpPr/>
          <p:nvPr/>
        </p:nvSpPr>
        <p:spPr>
          <a:xfrm>
            <a:off x="3028587" y="2157575"/>
            <a:ext cx="1012800" cy="377400"/>
          </a:xfrm>
          <a:prstGeom prst="rect">
            <a:avLst/>
          </a:prstGeom>
          <a:solidFill>
            <a:srgbClr val="EAF2F2"/>
          </a:solidFill>
          <a:ln cap="flat" cmpd="sng" w="9525">
            <a:solidFill>
              <a:srgbClr val="EA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8"/>
          <p:cNvSpPr/>
          <p:nvPr/>
        </p:nvSpPr>
        <p:spPr>
          <a:xfrm>
            <a:off x="5174508" y="2167994"/>
            <a:ext cx="1012800" cy="377400"/>
          </a:xfrm>
          <a:prstGeom prst="rect">
            <a:avLst/>
          </a:prstGeom>
          <a:solidFill>
            <a:srgbClr val="EAF2F2"/>
          </a:solidFill>
          <a:ln cap="flat" cmpd="sng" w="9525">
            <a:solidFill>
              <a:srgbClr val="EA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8"/>
          <p:cNvSpPr txBox="1"/>
          <p:nvPr>
            <p:ph idx="1" type="body"/>
          </p:nvPr>
        </p:nvSpPr>
        <p:spPr>
          <a:xfrm>
            <a:off x="1314600" y="2990989"/>
            <a:ext cx="1281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50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12(50) - 75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600 - 75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525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12n-75&quot;&gt;&lt;mn&gt;12&lt;/mn&gt;&lt;mi&gt;n&lt;/mi&gt;&lt;mo&gt;−&lt;/mo&gt;&lt;mn&gt;75&lt;/mn&gt;&lt;/math&gt;" id="1082" name="Google Shape;1082;p88" title="12 n minus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8300" y="1157663"/>
            <a:ext cx="960686" cy="1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88"/>
          <p:cNvSpPr/>
          <p:nvPr/>
        </p:nvSpPr>
        <p:spPr>
          <a:xfrm>
            <a:off x="4109115" y="2157575"/>
            <a:ext cx="1012800" cy="377400"/>
          </a:xfrm>
          <a:prstGeom prst="rect">
            <a:avLst/>
          </a:prstGeom>
          <a:solidFill>
            <a:srgbClr val="EAF2F2"/>
          </a:solidFill>
          <a:ln cap="flat" cmpd="sng" w="9525">
            <a:solidFill>
              <a:srgbClr val="EA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8"/>
          <p:cNvSpPr txBox="1"/>
          <p:nvPr>
            <p:ph idx="1" type="body"/>
          </p:nvPr>
        </p:nvSpPr>
        <p:spPr>
          <a:xfrm>
            <a:off x="3753000" y="2991000"/>
            <a:ext cx="1860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100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12(100) - 75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1200 - 75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1125</a:t>
            </a:r>
            <a:endParaRPr sz="2000"/>
          </a:p>
        </p:txBody>
      </p:sp>
      <p:sp>
        <p:nvSpPr>
          <p:cNvPr id="1085" name="Google Shape;1085;p88"/>
          <p:cNvSpPr txBox="1"/>
          <p:nvPr>
            <p:ph idx="1" type="body"/>
          </p:nvPr>
        </p:nvSpPr>
        <p:spPr>
          <a:xfrm>
            <a:off x="6115200" y="2991000"/>
            <a:ext cx="1860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1000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12(1000) - 75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12000 - 75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11 925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9"/>
          <p:cNvSpPr txBox="1"/>
          <p:nvPr>
            <p:ph idx="1" type="subTitle"/>
          </p:nvPr>
        </p:nvSpPr>
        <p:spPr>
          <a:xfrm>
            <a:off x="337825" y="810000"/>
            <a:ext cx="2954400" cy="74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250th term of the below sequences:</a:t>
            </a:r>
            <a:endParaRPr/>
          </a:p>
        </p:txBody>
      </p:sp>
      <p:sp>
        <p:nvSpPr>
          <p:cNvPr id="1091" name="Google Shape;109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terms to find any term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\frac{1}{2}n-\frac{3}{4}&quot;&gt;&lt;mfrac&gt;&lt;mn&gt;1&lt;/mn&gt;&lt;mn&gt;2&lt;/mn&gt;&lt;/mfrac&gt;&lt;mi&gt;n&lt;/mi&gt;&lt;mo&gt;−&lt;/mo&gt;&lt;mfrac&gt;&lt;mn&gt;3&lt;/mn&gt;&lt;mn&gt;4&lt;/mn&gt;&lt;/mfrac&gt;&lt;/math&gt;" id="1092" name="Google Shape;1092;p89" title="one half n minu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75" y="1619550"/>
            <a:ext cx="988128" cy="65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^2-5n&quot;&gt;&lt;mn&gt;3&lt;/mn&gt;&lt;msup&gt;&lt;mi&gt;n&lt;/mi&gt;&lt;mn&gt;2&lt;/mn&gt;&lt;/msup&gt;&lt;mo&gt;−&lt;/mo&gt;&lt;mn&gt;5&lt;/mn&gt;&lt;mi&gt;n&lt;/mi&gt;&lt;/math&gt;" id="1093" name="Google Shape;1093;p89" title="3 n squared minus 5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643" y="3245017"/>
            <a:ext cx="1193936" cy="312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n=250\\&amp;#13;&amp;#10;\frac{1}{2}\left(250\right)-\frac{3}{4}\\&amp;#13;&amp;#10;=125-\frac{3}{4}=124\frac{1}{4}\end{array}&quot;&gt;&lt;mtable columnalign=&quot;left&quot; columnspacing=&quot;1em&quot; rowspacing=&quot;4pt&quot;&gt;&lt;mtr&gt;&lt;mtd&gt;&lt;mi&gt;n&lt;/mi&gt;&lt;mo&gt;=&lt;/mo&gt;&lt;mn&gt;250&lt;/mn&gt;&lt;/mtd&gt;&lt;/mtr&gt;&lt;mtr&gt;&lt;mtd&gt;&lt;mfrac&gt;&lt;mn&gt;1&lt;/mn&gt;&lt;mn&gt;2&lt;/mn&gt;&lt;/mfrac&gt;&lt;mrow data-mjx-texclass=&quot;INNER&quot;&gt;&lt;mo data-mjx-texclass=&quot;OPEN&quot;&gt;(&lt;/mo&gt;&lt;mn&gt;250&lt;/mn&gt;&lt;mo data-mjx-texclass=&quot;CLOSE&quot;&gt;)&lt;/mo&gt;&lt;/mrow&gt;&lt;mo&gt;−&lt;/mo&gt;&lt;mfrac&gt;&lt;mn&gt;3&lt;/mn&gt;&lt;mn&gt;4&lt;/mn&gt;&lt;/mfrac&gt;&lt;/mtd&gt;&lt;/mtr&gt;&lt;mtr&gt;&lt;mtd&gt;&lt;mo&gt;=&lt;/mo&gt;&lt;mn&gt;125&lt;/mn&gt;&lt;mo&gt;−&lt;/mo&gt;&lt;mfrac&gt;&lt;mn&gt;3&lt;/mn&gt;&lt;mn&gt;4&lt;/mn&gt;&lt;/mfrac&gt;&lt;mo&gt;=&lt;/mo&gt;&lt;mn&gt;124&lt;/mn&gt;&lt;mfrac&gt;&lt;mn&gt;1&lt;/mn&gt;&lt;mn&gt;4&lt;/mn&gt;&lt;/mfrac&gt;&lt;/mtd&gt;&lt;/mtr&gt;&lt;/mtable&gt;&lt;/math&gt;" id="1094" name="Google Shape;1094;p89" title="3 lines Line 1: n equals 250 Line 2: one half times 250 minus three fourths Line 3: equals 125 minus three fourths equals 124 and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8322" y="1618926"/>
            <a:ext cx="2117900" cy="122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n=250\\&amp;#13;&amp;#10;3\left(250\right)^2-5\left(250\right)\\&amp;#13;&amp;#10;=187\ 500-1250\\&amp;#13;&amp;#10;=186\ 250\end{array}&quot;&gt;&lt;mtable columnalign=&quot;left&quot; columnspacing=&quot;1em&quot; rowspacing=&quot;4pt&quot;&gt;&lt;mtr&gt;&lt;mtd&gt;&lt;mi&gt;n&lt;/mi&gt;&lt;mo&gt;=&lt;/mo&gt;&lt;mn&gt;250&lt;/mn&gt;&lt;/mtd&gt;&lt;/mtr&gt;&lt;mtr&gt;&lt;mtd&gt;&lt;mn&gt;3&lt;/mn&gt;&lt;msup&gt;&lt;mrow data-mjx-texclass=&quot;INNER&quot;&gt;&lt;mo data-mjx-texclass=&quot;OPEN&quot;&gt;(&lt;/mo&gt;&lt;mn&gt;250&lt;/mn&gt;&lt;mo data-mjx-texclass=&quot;CLOSE&quot;&gt;)&lt;/mo&gt;&lt;/mrow&gt;&lt;mn&gt;2&lt;/mn&gt;&lt;/msup&gt;&lt;mo&gt;−&lt;/mo&gt;&lt;mn&gt;5&lt;/mn&gt;&lt;mrow data-mjx-texclass=&quot;INNER&quot;&gt;&lt;mo data-mjx-texclass=&quot;OPEN&quot;&gt;(&lt;/mo&gt;&lt;mn&gt;250&lt;/mn&gt;&lt;mo data-mjx-texclass=&quot;CLOSE&quot;&gt;)&lt;/mo&gt;&lt;/mrow&gt;&lt;/mtd&gt;&lt;/mtr&gt;&lt;mtr&gt;&lt;mtd&gt;&lt;mo&gt;=&lt;/mo&gt;&lt;mn&gt;187&lt;/mn&gt;&lt;mtext&gt;&lt;/mtext&gt;&lt;mn&gt;500&lt;/mn&gt;&lt;mo&gt;−&lt;/mo&gt;&lt;mn&gt;1250&lt;/mn&gt;&lt;/mtd&gt;&lt;/mtr&gt;&lt;mtr&gt;&lt;mtd&gt;&lt;mo&gt;=&lt;/mo&gt;&lt;mn&gt;186&lt;/mn&gt;&lt;mtext&gt;&lt;/mtext&gt;&lt;mn&gt;250&lt;/mn&gt;&lt;/mtd&gt;&lt;/mtr&gt;&lt;/mtable&gt;&lt;/math&gt;" id="1095" name="Google Shape;1095;p89" title="4 lines Line 1: n equals 250 Line 2: 3 times 250 squared minus 5 times 250 Line 3: equals 187 500 minus 1250 Line 4: equals 186 2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5797" y="3250037"/>
            <a:ext cx="2068225" cy="141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89"/>
          <p:cNvSpPr txBox="1"/>
          <p:nvPr/>
        </p:nvSpPr>
        <p:spPr>
          <a:xfrm>
            <a:off x="4756800" y="810000"/>
            <a:ext cx="32991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250th term of the below sequences: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5}n-\frac{3}{10}&quot;&gt;&lt;mfrac&gt;&lt;mn&gt;1&lt;/mn&gt;&lt;mn&gt;5&lt;/mn&gt;&lt;/mfrac&gt;&lt;mi&gt;n&lt;/mi&gt;&lt;mo&gt;−&lt;/mo&gt;&lt;mfrac&gt;&lt;mn&gt;3&lt;/mn&gt;&lt;mn&gt;10&lt;/mn&gt;&lt;/mfrac&gt;&lt;/math&gt;" id="1097" name="Google Shape;1097;p89" title="one fifth n minus three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5659" y="1620925"/>
            <a:ext cx="1133557" cy="65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n=250\\&amp;#13;&amp;#10;\frac{1}{5}\left(250\right)-\frac{3}{10}\\&amp;#13;&amp;#10;=50-\frac{3}{10}=49\frac{7}{10}\end{array}&quot;&gt;&lt;mtable columnalign=&quot;left&quot; columnspacing=&quot;1em&quot; rowspacing=&quot;4pt&quot;&gt;&lt;mtr&gt;&lt;mtd&gt;&lt;mi&gt;n&lt;/mi&gt;&lt;mo&gt;=&lt;/mo&gt;&lt;mn&gt;250&lt;/mn&gt;&lt;/mtd&gt;&lt;/mtr&gt;&lt;mtr&gt;&lt;mtd&gt;&lt;mfrac&gt;&lt;mn&gt;1&lt;/mn&gt;&lt;mn&gt;5&lt;/mn&gt;&lt;/mfrac&gt;&lt;mrow data-mjx-texclass=&quot;INNER&quot;&gt;&lt;mo data-mjx-texclass=&quot;OPEN&quot;&gt;(&lt;/mo&gt;&lt;mn&gt;250&lt;/mn&gt;&lt;mo data-mjx-texclass=&quot;CLOSE&quot;&gt;)&lt;/mo&gt;&lt;/mrow&gt;&lt;mo&gt;−&lt;/mo&gt;&lt;mfrac&gt;&lt;mn&gt;3&lt;/mn&gt;&lt;mn&gt;10&lt;/mn&gt;&lt;/mfrac&gt;&lt;/mtd&gt;&lt;/mtr&gt;&lt;mtr&gt;&lt;mtd&gt;&lt;mo&gt;=&lt;/mo&gt;&lt;mn&gt;50&lt;/mn&gt;&lt;mo&gt;−&lt;/mo&gt;&lt;mfrac&gt;&lt;mn&gt;3&lt;/mn&gt;&lt;mn&gt;10&lt;/mn&gt;&lt;/mfrac&gt;&lt;mo&gt;=&lt;/mo&gt;&lt;mn&gt;49&lt;/mn&gt;&lt;mfrac&gt;&lt;mn&gt;7&lt;/mn&gt;&lt;mn&gt;10&lt;/mn&gt;&lt;/mfrac&gt;&lt;/mtd&gt;&lt;/mtr&gt;&lt;/mtable&gt;&lt;/math&gt;" id="1098" name="Google Shape;1098;p89" title="3 lines Line 1: n equals 250 Line 2: one fifth times 250 minus three tenths Line 3: equals 50 minus three tenths equals 49 and seven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02112" y="1555488"/>
            <a:ext cx="2117900" cy="1280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n^2-3n&quot;&gt;&lt;mn&gt;8&lt;/mn&gt;&lt;msup&gt;&lt;mi&gt;n&lt;/mi&gt;&lt;mn&gt;2&lt;/mn&gt;&lt;/msup&gt;&lt;mo&gt;−&lt;/mo&gt;&lt;mn&gt;3&lt;/mn&gt;&lt;mi&gt;n&lt;/mi&gt;&lt;/math&gt;" id="1099" name="Google Shape;1099;p89" title="8 n squared minus 3 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16705" y="3252255"/>
            <a:ext cx="1188357" cy="312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n=250\\&amp;#13;&amp;#10;8\left(250\right)^2-3\left(250\right)\\&amp;#13;&amp;#10;=500\ 000-750\\&amp;#13;&amp;#10;=499\ 250\end{array}&quot;&gt;&lt;mtable columnalign=&quot;left&quot; columnspacing=&quot;1em&quot; rowspacing=&quot;4pt&quot;&gt;&lt;mtr&gt;&lt;mtd&gt;&lt;mi&gt;n&lt;/mi&gt;&lt;mo&gt;=&lt;/mo&gt;&lt;mn&gt;250&lt;/mn&gt;&lt;/mtd&gt;&lt;/mtr&gt;&lt;mtr&gt;&lt;mtd&gt;&lt;mn&gt;8&lt;/mn&gt;&lt;msup&gt;&lt;mrow data-mjx-texclass=&quot;INNER&quot;&gt;&lt;mo data-mjx-texclass=&quot;OPEN&quot;&gt;(&lt;/mo&gt;&lt;mn&gt;250&lt;/mn&gt;&lt;mo data-mjx-texclass=&quot;CLOSE&quot;&gt;)&lt;/mo&gt;&lt;/mrow&gt;&lt;mn&gt;2&lt;/mn&gt;&lt;/msup&gt;&lt;mo&gt;−&lt;/mo&gt;&lt;mn&gt;3&lt;/mn&gt;&lt;mrow data-mjx-texclass=&quot;INNER&quot;&gt;&lt;mo data-mjx-texclass=&quot;OPEN&quot;&gt;(&lt;/mo&gt;&lt;mn&gt;250&lt;/mn&gt;&lt;mo data-mjx-texclass=&quot;CLOSE&quot;&gt;)&lt;/mo&gt;&lt;/mrow&gt;&lt;/mtd&gt;&lt;/mtr&gt;&lt;mtr&gt;&lt;mtd&gt;&lt;mo&gt;=&lt;/mo&gt;&lt;mn&gt;500&lt;/mn&gt;&lt;mtext&gt;&lt;/mtext&gt;&lt;mn&gt;000&lt;/mn&gt;&lt;mo&gt;−&lt;/mo&gt;&lt;mn&gt;750&lt;/mn&gt;&lt;/mtd&gt;&lt;/mtr&gt;&lt;mtr&gt;&lt;mtd&gt;&lt;mo&gt;=&lt;/mo&gt;&lt;mn&gt;499&lt;/mn&gt;&lt;mtext&gt;&lt;/mtext&gt;&lt;mn&gt;250&lt;/mn&gt;&lt;/mtd&gt;&lt;/mtr&gt;&lt;/mtable&gt;&lt;/math&gt;" id="1100" name="Google Shape;1100;p89" title="4 lines Line 1: n equals 250 Line 2: 8 times 250 squared minus 3 times 250 Line 3: equals 500 000 minus 750 Line 4: equals 499 2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20636" y="3258037"/>
            <a:ext cx="1982962" cy="14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" name="Google Shape;1105;p9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475464" y="2641224"/>
            <a:ext cx="3401052" cy="15735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6" name="Google Shape;1106;p90"/>
          <p:cNvGraphicFramePr/>
          <p:nvPr/>
        </p:nvGraphicFramePr>
        <p:xfrm>
          <a:off x="1075113" y="14172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88550"/>
                <a:gridCol w="958650"/>
                <a:gridCol w="958650"/>
                <a:gridCol w="958650"/>
                <a:gridCol w="958650"/>
                <a:gridCol w="95865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7" name="Google Shape;1107;p90"/>
          <p:cNvSpPr txBox="1"/>
          <p:nvPr>
            <p:ph idx="1" type="body"/>
          </p:nvPr>
        </p:nvSpPr>
        <p:spPr>
          <a:xfrm>
            <a:off x="324000" y="812425"/>
            <a:ext cx="6768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first five terms of the sequence              are...</a:t>
            </a:r>
            <a:endParaRPr/>
          </a:p>
        </p:txBody>
      </p:sp>
      <p:pic>
        <p:nvPicPr>
          <p:cNvPr id="1108" name="Google Shape;110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32211" y="3639147"/>
            <a:ext cx="888438" cy="1024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90"/>
          <p:cNvSpPr txBox="1"/>
          <p:nvPr>
            <p:ph idx="1" type="body"/>
          </p:nvPr>
        </p:nvSpPr>
        <p:spPr>
          <a:xfrm>
            <a:off x="1791387" y="2752025"/>
            <a:ext cx="2946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5th term is 26 so the 10th term will be 52 because that’s double.</a:t>
            </a:r>
            <a:endParaRPr sz="2000"/>
          </a:p>
        </p:txBody>
      </p:sp>
      <p:sp>
        <p:nvSpPr>
          <p:cNvPr id="1110" name="Google Shape;111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 to find any term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5n+1&quot;&gt;&lt;mn&gt;5&lt;/mn&gt;&lt;mi&gt;n&lt;/mi&gt;&lt;mo&gt;+&lt;/mo&gt;&lt;mn&gt;1&lt;/mn&gt;&lt;/math&gt;" id="1111" name="Google Shape;1111;p90" title="5 n pl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3237" y="849320"/>
            <a:ext cx="806875" cy="23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0"/>
          <p:cNvSpPr txBox="1"/>
          <p:nvPr>
            <p:ph idx="1" type="body"/>
          </p:nvPr>
        </p:nvSpPr>
        <p:spPr>
          <a:xfrm>
            <a:off x="1562306" y="4393875"/>
            <a:ext cx="13863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Alex</a:t>
            </a:r>
            <a:endParaRPr sz="2000"/>
          </a:p>
        </p:txBody>
      </p:sp>
      <p:sp>
        <p:nvSpPr>
          <p:cNvPr id="1113" name="Google Shape;1113;p90"/>
          <p:cNvSpPr txBox="1"/>
          <p:nvPr>
            <p:ph idx="1" type="body"/>
          </p:nvPr>
        </p:nvSpPr>
        <p:spPr>
          <a:xfrm>
            <a:off x="5296575" y="2599625"/>
            <a:ext cx="3523500" cy="4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Do you agree with Alex?</a:t>
            </a:r>
            <a:endParaRPr sz="2000"/>
          </a:p>
        </p:txBody>
      </p:sp>
      <p:sp>
        <p:nvSpPr>
          <p:cNvPr id="1114" name="Google Shape;1114;p90"/>
          <p:cNvSpPr txBox="1"/>
          <p:nvPr>
            <p:ph idx="1" type="body"/>
          </p:nvPr>
        </p:nvSpPr>
        <p:spPr>
          <a:xfrm>
            <a:off x="5916850" y="3369672"/>
            <a:ext cx="1684500" cy="10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10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5(10)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50 + 1 = 51</a:t>
            </a:r>
            <a:endParaRPr sz="2000"/>
          </a:p>
        </p:txBody>
      </p:sp>
      <p:sp>
        <p:nvSpPr>
          <p:cNvPr id="1115" name="Google Shape;1115;p90"/>
          <p:cNvSpPr txBox="1"/>
          <p:nvPr>
            <p:ph idx="1" type="body"/>
          </p:nvPr>
        </p:nvSpPr>
        <p:spPr>
          <a:xfrm>
            <a:off x="5296575" y="2980925"/>
            <a:ext cx="3739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Let’s check.</a:t>
            </a:r>
            <a:endParaRPr sz="2000"/>
          </a:p>
        </p:txBody>
      </p:sp>
      <p:sp>
        <p:nvSpPr>
          <p:cNvPr id="1116" name="Google Shape;1116;p90"/>
          <p:cNvSpPr txBox="1"/>
          <p:nvPr>
            <p:ph idx="1" type="body"/>
          </p:nvPr>
        </p:nvSpPr>
        <p:spPr>
          <a:xfrm>
            <a:off x="5916850" y="4511350"/>
            <a:ext cx="16845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51 ≠ 2 × 26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Google Shape;1121;p9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475464" y="2641224"/>
            <a:ext cx="3401052" cy="15735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2" name="Google Shape;1122;p91"/>
          <p:cNvGraphicFramePr/>
          <p:nvPr/>
        </p:nvGraphicFramePr>
        <p:xfrm>
          <a:off x="617913" y="14172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2088550"/>
                <a:gridCol w="958650"/>
                <a:gridCol w="958650"/>
              </a:tblGrid>
              <a:tr h="46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3" name="Google Shape;1123;p91"/>
          <p:cNvSpPr txBox="1"/>
          <p:nvPr>
            <p:ph idx="1" type="body"/>
          </p:nvPr>
        </p:nvSpPr>
        <p:spPr>
          <a:xfrm>
            <a:off x="324000" y="812425"/>
            <a:ext cx="31035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sequence</a:t>
            </a:r>
            <a:endParaRPr/>
          </a:p>
        </p:txBody>
      </p:sp>
      <p:pic>
        <p:nvPicPr>
          <p:cNvPr id="1124" name="Google Shape;112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32211" y="3639147"/>
            <a:ext cx="888438" cy="1024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91"/>
          <p:cNvSpPr txBox="1"/>
          <p:nvPr>
            <p:ph idx="1" type="body"/>
          </p:nvPr>
        </p:nvSpPr>
        <p:spPr>
          <a:xfrm>
            <a:off x="1791387" y="2752025"/>
            <a:ext cx="2946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5th term is 26 so the 10th term will be 52 because that’s double.</a:t>
            </a:r>
            <a:endParaRPr sz="2000"/>
          </a:p>
        </p:txBody>
      </p:sp>
      <p:sp>
        <p:nvSpPr>
          <p:cNvPr id="1126" name="Google Shape;11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 to find any term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5n+1&quot;&gt;&lt;mn&gt;5&lt;/mn&gt;&lt;mi&gt;n&lt;/mi&gt;&lt;mo&gt;+&lt;/mo&gt;&lt;mn&gt;1&lt;/mn&gt;&lt;/math&gt;" id="1127" name="Google Shape;1127;p91" title="5 n pl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7637" y="849320"/>
            <a:ext cx="806875" cy="23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91"/>
          <p:cNvSpPr txBox="1"/>
          <p:nvPr>
            <p:ph idx="1" type="body"/>
          </p:nvPr>
        </p:nvSpPr>
        <p:spPr>
          <a:xfrm>
            <a:off x="1562312" y="4393873"/>
            <a:ext cx="29466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Alex</a:t>
            </a:r>
            <a:endParaRPr sz="2000"/>
          </a:p>
        </p:txBody>
      </p:sp>
      <p:sp>
        <p:nvSpPr>
          <p:cNvPr id="1129" name="Google Shape;1129;p91"/>
          <p:cNvSpPr txBox="1"/>
          <p:nvPr>
            <p:ph idx="1" type="body"/>
          </p:nvPr>
        </p:nvSpPr>
        <p:spPr>
          <a:xfrm>
            <a:off x="5774600" y="1622750"/>
            <a:ext cx="1684500" cy="10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10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5(10)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50 + 1 = 51</a:t>
            </a:r>
            <a:endParaRPr sz="2000"/>
          </a:p>
        </p:txBody>
      </p:sp>
      <p:sp>
        <p:nvSpPr>
          <p:cNvPr id="1130" name="Google Shape;1130;p91"/>
          <p:cNvSpPr txBox="1"/>
          <p:nvPr>
            <p:ph idx="1" type="body"/>
          </p:nvPr>
        </p:nvSpPr>
        <p:spPr>
          <a:xfrm>
            <a:off x="5080975" y="1151825"/>
            <a:ext cx="3739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Why </a:t>
            </a:r>
            <a:r>
              <a:rPr lang="en-GB" sz="2000"/>
              <a:t>is he</a:t>
            </a:r>
            <a:r>
              <a:rPr lang="en-GB" sz="2000"/>
              <a:t> wrong?</a:t>
            </a:r>
            <a:endParaRPr sz="2000"/>
          </a:p>
        </p:txBody>
      </p:sp>
      <p:sp>
        <p:nvSpPr>
          <p:cNvPr id="1131" name="Google Shape;1131;p91"/>
          <p:cNvSpPr txBox="1"/>
          <p:nvPr>
            <p:ph idx="1" type="body"/>
          </p:nvPr>
        </p:nvSpPr>
        <p:spPr>
          <a:xfrm>
            <a:off x="5774600" y="2841950"/>
            <a:ext cx="1911600" cy="10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5(5) + 1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= 25 + 1 = 26</a:t>
            </a:r>
            <a:endParaRPr sz="2000"/>
          </a:p>
        </p:txBody>
      </p:sp>
      <p:grpSp>
        <p:nvGrpSpPr>
          <p:cNvPr id="1132" name="Google Shape;1132;p91"/>
          <p:cNvGrpSpPr/>
          <p:nvPr/>
        </p:nvGrpSpPr>
        <p:grpSpPr>
          <a:xfrm>
            <a:off x="5683699" y="2003055"/>
            <a:ext cx="749536" cy="1599588"/>
            <a:chOff x="5683699" y="1956174"/>
            <a:chExt cx="749536" cy="1599588"/>
          </a:xfrm>
        </p:grpSpPr>
        <p:sp>
          <p:nvSpPr>
            <p:cNvPr id="1133" name="Google Shape;1133;p91"/>
            <p:cNvSpPr/>
            <p:nvPr/>
          </p:nvSpPr>
          <p:spPr>
            <a:xfrm>
              <a:off x="5707836" y="1956174"/>
              <a:ext cx="725400" cy="3804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91"/>
            <p:cNvSpPr/>
            <p:nvPr/>
          </p:nvSpPr>
          <p:spPr>
            <a:xfrm>
              <a:off x="5683699" y="3175362"/>
              <a:ext cx="617700" cy="3804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5" name="Google Shape;1135;p91"/>
          <p:cNvSpPr txBox="1"/>
          <p:nvPr>
            <p:ph idx="1" type="body"/>
          </p:nvPr>
        </p:nvSpPr>
        <p:spPr>
          <a:xfrm>
            <a:off x="5080975" y="3971225"/>
            <a:ext cx="3739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number of 5s doubled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6" name="Google Shape;1136;p91"/>
          <p:cNvSpPr txBox="1"/>
          <p:nvPr>
            <p:ph idx="1" type="body"/>
          </p:nvPr>
        </p:nvSpPr>
        <p:spPr>
          <a:xfrm>
            <a:off x="5080975" y="4352225"/>
            <a:ext cx="37392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ut, the +1 did not.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37" name="Google Shape;1137;p91"/>
          <p:cNvGrpSpPr/>
          <p:nvPr/>
        </p:nvGrpSpPr>
        <p:grpSpPr>
          <a:xfrm>
            <a:off x="6459450" y="2003097"/>
            <a:ext cx="456202" cy="1599588"/>
            <a:chOff x="5481229" y="1956174"/>
            <a:chExt cx="952007" cy="1599588"/>
          </a:xfrm>
        </p:grpSpPr>
        <p:sp>
          <p:nvSpPr>
            <p:cNvPr id="1138" name="Google Shape;1138;p91"/>
            <p:cNvSpPr/>
            <p:nvPr/>
          </p:nvSpPr>
          <p:spPr>
            <a:xfrm>
              <a:off x="5707836" y="1956174"/>
              <a:ext cx="725400" cy="3804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91"/>
            <p:cNvSpPr/>
            <p:nvPr/>
          </p:nvSpPr>
          <p:spPr>
            <a:xfrm>
              <a:off x="5481229" y="3175362"/>
              <a:ext cx="617700" cy="3804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92"/>
          <p:cNvSpPr txBox="1"/>
          <p:nvPr>
            <p:ph idx="1" type="subTitle"/>
          </p:nvPr>
        </p:nvSpPr>
        <p:spPr>
          <a:xfrm>
            <a:off x="324000" y="1080000"/>
            <a:ext cx="82158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5th term of            is 45 so the 10th term must be 90.</a:t>
            </a:r>
            <a:endParaRPr/>
          </a:p>
        </p:txBody>
      </p:sp>
      <p:sp>
        <p:nvSpPr>
          <p:cNvPr id="1145" name="Google Shape;1145;p92"/>
          <p:cNvSpPr txBox="1"/>
          <p:nvPr>
            <p:ph idx="2" type="subTitle"/>
          </p:nvPr>
        </p:nvSpPr>
        <p:spPr>
          <a:xfrm>
            <a:off x="980575" y="3196125"/>
            <a:ext cx="4498200" cy="4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 is double 5, 90 is double 45</a:t>
            </a:r>
            <a:endParaRPr/>
          </a:p>
        </p:txBody>
      </p:sp>
      <p:sp>
        <p:nvSpPr>
          <p:cNvPr id="1146" name="Google Shape;1146;p92"/>
          <p:cNvSpPr txBox="1"/>
          <p:nvPr>
            <p:ph idx="3" type="subTitle"/>
          </p:nvPr>
        </p:nvSpPr>
        <p:spPr>
          <a:xfrm>
            <a:off x="980575" y="4040350"/>
            <a:ext cx="5966400" cy="4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= 10 the term is 8(10) + 5 = 85 ≠ 90</a:t>
            </a:r>
            <a:endParaRPr/>
          </a:p>
        </p:txBody>
      </p:sp>
      <p:sp>
        <p:nvSpPr>
          <p:cNvPr id="1147" name="Google Shape;114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 to find any term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8n+5&quot;&gt;&lt;mn&gt;8&lt;/mn&gt;&lt;mi&gt;n&lt;/mi&gt;&lt;mo&gt;+&lt;/mo&gt;&lt;mn&gt;5&lt;/mn&gt;&lt;/math&gt;" id="1148" name="Google Shape;1148;p92" title="8 n plu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0238" y="1134600"/>
            <a:ext cx="757325" cy="22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15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8300" y="4062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93"/>
          <p:cNvSpPr txBox="1"/>
          <p:nvPr>
            <p:ph idx="1" type="body"/>
          </p:nvPr>
        </p:nvSpPr>
        <p:spPr>
          <a:xfrm>
            <a:off x="324000" y="759300"/>
            <a:ext cx="64041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The first five terms of the arithmetic sequence                are 37, 32, 27, 22, and 17.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Jacob wants to find the 20th term.  </a:t>
            </a:r>
            <a:endParaRPr/>
          </a:p>
        </p:txBody>
      </p:sp>
      <p:sp>
        <p:nvSpPr>
          <p:cNvPr id="1156" name="Google Shape;1156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terms to find any 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2-5n&quot;&gt;&lt;mn&gt;42&lt;/mn&gt;&lt;mo&gt;−&lt;/mo&gt;&lt;mn&gt;5&lt;/mn&gt;&lt;mi&gt;n&lt;/mi&gt;&lt;/math&gt;" id="1157" name="Google Shape;1157;p93" title="42 minus 5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075" y="1184050"/>
            <a:ext cx="1015375" cy="23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9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400071" y="2191110"/>
            <a:ext cx="5756401" cy="14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93"/>
          <p:cNvSpPr txBox="1"/>
          <p:nvPr>
            <p:ph idx="4294967295" type="body"/>
          </p:nvPr>
        </p:nvSpPr>
        <p:spPr>
          <a:xfrm>
            <a:off x="921950" y="2253175"/>
            <a:ext cx="5026200" cy="10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37, 32, 27, 22, 17, 12, 7, 2, -2, -7, -12, -17, -22, -27, -32, -37, -42, -47, -52, -57. There it is. The 20th term is -57</a:t>
            </a:r>
            <a:endParaRPr sz="1800"/>
          </a:p>
        </p:txBody>
      </p:sp>
      <p:pic>
        <p:nvPicPr>
          <p:cNvPr id="1160" name="Google Shape;116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51050" y="3498075"/>
            <a:ext cx="951900" cy="11725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3"/>
          <p:cNvSpPr txBox="1"/>
          <p:nvPr>
            <p:ph idx="1" type="body"/>
          </p:nvPr>
        </p:nvSpPr>
        <p:spPr>
          <a:xfrm>
            <a:off x="2893976" y="3796888"/>
            <a:ext cx="4360200" cy="8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Spot Jacob’s error and explain a better method to him.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94"/>
          <p:cNvSpPr txBox="1"/>
          <p:nvPr>
            <p:ph idx="1" type="body"/>
          </p:nvPr>
        </p:nvSpPr>
        <p:spPr>
          <a:xfrm>
            <a:off x="324000" y="759300"/>
            <a:ext cx="64041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Find the 20th, 100th, and 200th terms of the below sequences.</a:t>
            </a:r>
            <a:endParaRPr/>
          </a:p>
        </p:txBody>
      </p:sp>
      <p:sp>
        <p:nvSpPr>
          <p:cNvPr id="1167" name="Google Shape;1167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 sz="1800"/>
              <a:t>terms to find any 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n-6&quot;&gt;&lt;mn&gt;7&lt;/mn&gt;&lt;mi&gt;n&lt;/mi&gt;&lt;mo&gt;−&lt;/mo&gt;&lt;mn&gt;6&lt;/mn&gt;&lt;/math&gt;" id="1168" name="Google Shape;1168;p94" title="7 n minu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696652"/>
            <a:ext cx="972971" cy="26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-7n&quot;&gt;&lt;mn&gt;6&lt;/mn&gt;&lt;mo&gt;−&lt;/mo&gt;&lt;mn&gt;7&lt;/mn&gt;&lt;mi&gt;n&lt;/mi&gt;&lt;/math&gt;" id="1169" name="Google Shape;1169;p94" title="6 minus 7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989" y="2230052"/>
            <a:ext cx="966569" cy="26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^2+3n&quot;&gt;&lt;msup&gt;&lt;mi&gt;n&lt;/mi&gt;&lt;mn&gt;2&lt;/mn&gt;&lt;/msup&gt;&lt;mo&gt;+&lt;/mo&gt;&lt;mn&gt;3&lt;/mn&gt;&lt;mi&gt;n&lt;/mi&gt;&lt;/math&gt;" id="1170" name="Google Shape;1170;p94" title="n squared plus 3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4812" y="3332875"/>
            <a:ext cx="1177807" cy="364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15-4n^2&quot;&gt;&lt;mn&gt;3&lt;/mn&gt;&lt;mi&gt;n&lt;/mi&gt;&lt;mo&gt;+&lt;/mo&gt;&lt;mn&gt;15&lt;/mn&gt;&lt;mo&gt;−&lt;/mo&gt;&lt;mn&gt;4&lt;/mn&gt;&lt;msup&gt;&lt;mi&gt;n&lt;/mi&gt;&lt;mn&gt;2&lt;/mn&gt;&lt;/msup&gt;&lt;/math&gt;" id="1171" name="Google Shape;1171;p94" title="3 n plus 15 minus 4 n squa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0208" y="3923790"/>
            <a:ext cx="2163579" cy="364867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94"/>
          <p:cNvSpPr txBox="1"/>
          <p:nvPr>
            <p:ph idx="1" type="body"/>
          </p:nvPr>
        </p:nvSpPr>
        <p:spPr>
          <a:xfrm>
            <a:off x="324000" y="16183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173" name="Google Shape;1173;p94"/>
          <p:cNvSpPr txBox="1"/>
          <p:nvPr>
            <p:ph idx="1" type="body"/>
          </p:nvPr>
        </p:nvSpPr>
        <p:spPr>
          <a:xfrm>
            <a:off x="324000" y="21517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174" name="Google Shape;1174;p94"/>
          <p:cNvSpPr txBox="1"/>
          <p:nvPr>
            <p:ph idx="1" type="body"/>
          </p:nvPr>
        </p:nvSpPr>
        <p:spPr>
          <a:xfrm>
            <a:off x="324000" y="2695536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sp>
        <p:nvSpPr>
          <p:cNvPr id="1175" name="Google Shape;1175;p94"/>
          <p:cNvSpPr txBox="1"/>
          <p:nvPr>
            <p:ph idx="1" type="body"/>
          </p:nvPr>
        </p:nvSpPr>
        <p:spPr>
          <a:xfrm>
            <a:off x="324000" y="3343467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sp>
        <p:nvSpPr>
          <p:cNvPr id="1176" name="Google Shape;1176;p94"/>
          <p:cNvSpPr txBox="1"/>
          <p:nvPr>
            <p:ph idx="1" type="body"/>
          </p:nvPr>
        </p:nvSpPr>
        <p:spPr>
          <a:xfrm>
            <a:off x="324000" y="3897691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r>
              <a:rPr lang="en-GB"/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0.06-0.7n&quot;&gt;&lt;mn&gt;0.06&lt;/mn&gt;&lt;mo&gt;−&lt;/mo&gt;&lt;mn&gt;0.7&lt;/mn&gt;&lt;mi&gt;n&lt;/mi&gt;&lt;/math&gt;" id="1177" name="Google Shape;1177;p94" title="0.06 minus 0.7 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9650" y="2771125"/>
            <a:ext cx="1638199" cy="2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95"/>
          <p:cNvSpPr txBox="1"/>
          <p:nvPr>
            <p:ph idx="1" type="body"/>
          </p:nvPr>
        </p:nvSpPr>
        <p:spPr>
          <a:xfrm>
            <a:off x="324000" y="759300"/>
            <a:ext cx="6248100" cy="8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The first five terms of the arithmetic sequence                are 37, 32, 27, 22, and 17.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Jacob wants to find the 20th term.  </a:t>
            </a:r>
            <a:endParaRPr/>
          </a:p>
        </p:txBody>
      </p:sp>
      <p:sp>
        <p:nvSpPr>
          <p:cNvPr id="1183" name="Google Shape;1183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 sz="1800"/>
              <a:t>terms to find any 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2-5n&quot;&gt;&lt;mn&gt;42&lt;/mn&gt;&lt;mo&gt;−&lt;/mo&gt;&lt;mn&gt;5&lt;/mn&gt;&lt;mi&gt;n&lt;/mi&gt;&lt;/math&gt;" id="1184" name="Google Shape;1184;p95" title="42 minus 5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075" y="1184050"/>
            <a:ext cx="1015375" cy="23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9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403852" y="2191100"/>
            <a:ext cx="4558198" cy="13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95"/>
          <p:cNvSpPr txBox="1"/>
          <p:nvPr>
            <p:ph idx="4294967295" type="body"/>
          </p:nvPr>
        </p:nvSpPr>
        <p:spPr>
          <a:xfrm>
            <a:off x="769550" y="2253175"/>
            <a:ext cx="4158900" cy="10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37, 32, 27, 22, 17, 12, 7, 2, −2, −7, −12, −17, −22, −27, −32, −37, −42, −47, −52, −57. There it is. The 20th term is -57</a:t>
            </a:r>
            <a:endParaRPr sz="1400"/>
          </a:p>
        </p:txBody>
      </p:sp>
      <p:pic>
        <p:nvPicPr>
          <p:cNvPr id="1187" name="Google Shape;118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27250" y="3345675"/>
            <a:ext cx="806750" cy="9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95"/>
          <p:cNvSpPr txBox="1"/>
          <p:nvPr>
            <p:ph idx="1" type="body"/>
          </p:nvPr>
        </p:nvSpPr>
        <p:spPr>
          <a:xfrm>
            <a:off x="1674775" y="3568300"/>
            <a:ext cx="3074700" cy="8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Spot Jacob’s error and explain a better method to him.</a:t>
            </a:r>
            <a:endParaRPr sz="2000"/>
          </a:p>
        </p:txBody>
      </p:sp>
      <p:sp>
        <p:nvSpPr>
          <p:cNvPr id="1189" name="Google Shape;1189;p95"/>
          <p:cNvSpPr txBox="1"/>
          <p:nvPr>
            <p:ph idx="1" type="body"/>
          </p:nvPr>
        </p:nvSpPr>
        <p:spPr>
          <a:xfrm>
            <a:off x="5339625" y="2085950"/>
            <a:ext cx="3179400" cy="4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His error was 2 − 5 = -3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0" name="Google Shape;1190;p95"/>
          <p:cNvSpPr/>
          <p:nvPr/>
        </p:nvSpPr>
        <p:spPr>
          <a:xfrm>
            <a:off x="3058350" y="2226412"/>
            <a:ext cx="660900" cy="3372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95"/>
          <p:cNvSpPr txBox="1"/>
          <p:nvPr>
            <p:ph idx="1" type="body"/>
          </p:nvPr>
        </p:nvSpPr>
        <p:spPr>
          <a:xfrm>
            <a:off x="5339625" y="2543150"/>
            <a:ext cx="3363000" cy="4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said,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“Your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method was inefficient. If you know the n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use substitution.”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95"/>
          <p:cNvSpPr txBox="1"/>
          <p:nvPr>
            <p:ph idx="1" type="body"/>
          </p:nvPr>
        </p:nvSpPr>
        <p:spPr>
          <a:xfrm>
            <a:off x="5339625" y="3990950"/>
            <a:ext cx="3480300" cy="4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42 − 5(20) = 42 − 100 = −58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96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Find the 20th, 100th and 1000th terms of the below sequences.</a:t>
            </a:r>
            <a:endParaRPr sz="1800"/>
          </a:p>
        </p:txBody>
      </p:sp>
      <p:sp>
        <p:nvSpPr>
          <p:cNvPr id="1198" name="Google Shape;1198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 sz="1800"/>
              <a:t>terms to find any 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n-6&quot;&gt;&lt;mn&gt;7&lt;/mn&gt;&lt;mi&gt;n&lt;/mi&gt;&lt;mo&gt;−&lt;/mo&gt;&lt;mn&gt;6&lt;/mn&gt;&lt;/math&gt;" id="1199" name="Google Shape;1199;p96" title="7 n minu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163252"/>
            <a:ext cx="972971" cy="26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-7n&quot;&gt;&lt;mn&gt;6&lt;/mn&gt;&lt;mo&gt;−&lt;/mo&gt;&lt;mn&gt;7&lt;/mn&gt;&lt;mi&gt;n&lt;/mi&gt;&lt;/math&gt;" id="1200" name="Google Shape;1200;p96" title="6 minus 7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989" y="2372040"/>
            <a:ext cx="966569" cy="2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96"/>
          <p:cNvSpPr txBox="1"/>
          <p:nvPr>
            <p:ph idx="1" type="body"/>
          </p:nvPr>
        </p:nvSpPr>
        <p:spPr>
          <a:xfrm>
            <a:off x="324000" y="1084924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202" name="Google Shape;1202;p96"/>
          <p:cNvSpPr txBox="1"/>
          <p:nvPr>
            <p:ph idx="1" type="body"/>
          </p:nvPr>
        </p:nvSpPr>
        <p:spPr>
          <a:xfrm>
            <a:off x="324000" y="2293712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03" name="Google Shape;1203;p96"/>
          <p:cNvSpPr txBox="1"/>
          <p:nvPr>
            <p:ph idx="1" type="body"/>
          </p:nvPr>
        </p:nvSpPr>
        <p:spPr>
          <a:xfrm>
            <a:off x="324000" y="3402160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0.06-0.7n&quot;&gt;&lt;mn&gt;0.06&lt;/mn&gt;&lt;mo&gt;−&lt;/mo&gt;&lt;mn&gt;0.7&lt;/mn&gt;&lt;mi&gt;n&lt;/mi&gt;&lt;/math&gt;" id="1204" name="Google Shape;1204;p96" title="0.06 minus 0.7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9650" y="3477748"/>
            <a:ext cx="1638199" cy="25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96"/>
          <p:cNvSpPr txBox="1"/>
          <p:nvPr>
            <p:ph idx="4294967295" type="body"/>
          </p:nvPr>
        </p:nvSpPr>
        <p:spPr>
          <a:xfrm>
            <a:off x="2880248" y="1086000"/>
            <a:ext cx="16383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7(20) − 6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140 − 6 = 134</a:t>
            </a:r>
            <a:endParaRPr sz="1800"/>
          </a:p>
        </p:txBody>
      </p:sp>
      <p:sp>
        <p:nvSpPr>
          <p:cNvPr id="1206" name="Google Shape;1206;p96"/>
          <p:cNvSpPr txBox="1"/>
          <p:nvPr>
            <p:ph idx="4294967295" type="body"/>
          </p:nvPr>
        </p:nvSpPr>
        <p:spPr>
          <a:xfrm>
            <a:off x="4866699" y="1086000"/>
            <a:ext cx="16383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7(100) − 6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700 − 6 = 694</a:t>
            </a:r>
            <a:endParaRPr sz="1800"/>
          </a:p>
        </p:txBody>
      </p:sp>
      <p:sp>
        <p:nvSpPr>
          <p:cNvPr id="1207" name="Google Shape;1207;p96"/>
          <p:cNvSpPr txBox="1"/>
          <p:nvPr>
            <p:ph idx="4294967295" type="body"/>
          </p:nvPr>
        </p:nvSpPr>
        <p:spPr>
          <a:xfrm>
            <a:off x="6853150" y="1086000"/>
            <a:ext cx="19674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7(1000) − 6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7000 − 6 = 6994</a:t>
            </a:r>
            <a:endParaRPr sz="1800"/>
          </a:p>
        </p:txBody>
      </p:sp>
      <p:sp>
        <p:nvSpPr>
          <p:cNvPr id="1208" name="Google Shape;1208;p96"/>
          <p:cNvSpPr txBox="1"/>
          <p:nvPr>
            <p:ph idx="4294967295" type="body"/>
          </p:nvPr>
        </p:nvSpPr>
        <p:spPr>
          <a:xfrm>
            <a:off x="2880250" y="2273964"/>
            <a:ext cx="17448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6 − 7(20)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6 − 140 = −134</a:t>
            </a:r>
            <a:endParaRPr sz="1800"/>
          </a:p>
        </p:txBody>
      </p:sp>
      <p:sp>
        <p:nvSpPr>
          <p:cNvPr id="1209" name="Google Shape;1209;p96"/>
          <p:cNvSpPr txBox="1"/>
          <p:nvPr>
            <p:ph idx="4294967295" type="body"/>
          </p:nvPr>
        </p:nvSpPr>
        <p:spPr>
          <a:xfrm>
            <a:off x="4866700" y="2273975"/>
            <a:ext cx="19302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6 − 7(100)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6 − 700 = −694</a:t>
            </a:r>
            <a:endParaRPr sz="1800"/>
          </a:p>
        </p:txBody>
      </p:sp>
      <p:sp>
        <p:nvSpPr>
          <p:cNvPr id="1210" name="Google Shape;1210;p96"/>
          <p:cNvSpPr txBox="1"/>
          <p:nvPr>
            <p:ph idx="4294967295" type="body"/>
          </p:nvPr>
        </p:nvSpPr>
        <p:spPr>
          <a:xfrm>
            <a:off x="6853150" y="2273975"/>
            <a:ext cx="21672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6 − 7(1000)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6 − 7000 = −6994</a:t>
            </a:r>
            <a:endParaRPr sz="1800"/>
          </a:p>
        </p:txBody>
      </p:sp>
      <p:sp>
        <p:nvSpPr>
          <p:cNvPr id="1211" name="Google Shape;1211;p96"/>
          <p:cNvSpPr txBox="1"/>
          <p:nvPr>
            <p:ph idx="4294967295" type="body"/>
          </p:nvPr>
        </p:nvSpPr>
        <p:spPr>
          <a:xfrm>
            <a:off x="2880248" y="3448200"/>
            <a:ext cx="16383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0.06 − 0.7(20)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−13.94</a:t>
            </a:r>
            <a:endParaRPr sz="1800"/>
          </a:p>
        </p:txBody>
      </p:sp>
      <p:sp>
        <p:nvSpPr>
          <p:cNvPr id="1212" name="Google Shape;1212;p96"/>
          <p:cNvSpPr txBox="1"/>
          <p:nvPr>
            <p:ph idx="4294967295" type="body"/>
          </p:nvPr>
        </p:nvSpPr>
        <p:spPr>
          <a:xfrm>
            <a:off x="4826896" y="3448200"/>
            <a:ext cx="16383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0.06 − 0.7(100)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−69.94</a:t>
            </a:r>
            <a:endParaRPr sz="1800"/>
          </a:p>
        </p:txBody>
      </p:sp>
      <p:sp>
        <p:nvSpPr>
          <p:cNvPr id="1213" name="Google Shape;1213;p96"/>
          <p:cNvSpPr txBox="1"/>
          <p:nvPr>
            <p:ph idx="4294967295" type="body"/>
          </p:nvPr>
        </p:nvSpPr>
        <p:spPr>
          <a:xfrm>
            <a:off x="6884300" y="3448200"/>
            <a:ext cx="25314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0.06 − 0.7(1000)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−699.94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 sz="1800"/>
              <a:t>terms to find any 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n^2+3n&quot;&gt;&lt;msup&gt;&lt;mi&gt;n&lt;/mi&gt;&lt;mn&gt;2&lt;/mn&gt;&lt;/msup&gt;&lt;mo&gt;+&lt;/mo&gt;&lt;mn&gt;3&lt;/mn&gt;&lt;mi&gt;n&lt;/mi&gt;&lt;/math&gt;" id="1219" name="Google Shape;1219;p97" title="n squared plus 3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812" y="1078111"/>
            <a:ext cx="1177807" cy="364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15-4n^2&quot;&gt;&lt;mn&gt;3&lt;/mn&gt;&lt;mi&gt;n&lt;/mi&gt;&lt;mo&gt;+&lt;/mo&gt;&lt;mn&gt;15&lt;/mn&gt;&lt;mo&gt;−&lt;/mo&gt;&lt;mn&gt;4&lt;/mn&gt;&lt;msup&gt;&lt;mi&gt;n&lt;/mi&gt;&lt;mn&gt;2&lt;/mn&gt;&lt;/msup&gt;&lt;/math&gt;" id="1220" name="Google Shape;1220;p97" title="3 n plus 15 minus 4 n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208" y="2780790"/>
            <a:ext cx="2163579" cy="364867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97"/>
          <p:cNvSpPr txBox="1"/>
          <p:nvPr>
            <p:ph idx="1" type="body"/>
          </p:nvPr>
        </p:nvSpPr>
        <p:spPr>
          <a:xfrm>
            <a:off x="324000" y="1088703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1222" name="Google Shape;1222;p97"/>
          <p:cNvSpPr txBox="1"/>
          <p:nvPr>
            <p:ph idx="1" type="body"/>
          </p:nvPr>
        </p:nvSpPr>
        <p:spPr>
          <a:xfrm>
            <a:off x="324000" y="2754691"/>
            <a:ext cx="490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e)</a:t>
            </a:r>
            <a:endParaRPr/>
          </a:p>
        </p:txBody>
      </p:sp>
      <p:sp>
        <p:nvSpPr>
          <p:cNvPr id="1223" name="Google Shape;1223;p97"/>
          <p:cNvSpPr txBox="1"/>
          <p:nvPr>
            <p:ph idx="4294967295" type="body"/>
          </p:nvPr>
        </p:nvSpPr>
        <p:spPr>
          <a:xfrm>
            <a:off x="324000" y="1629800"/>
            <a:ext cx="1949700" cy="10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(20)</a:t>
            </a:r>
            <a:r>
              <a:rPr baseline="30000" lang="en-GB" sz="1800"/>
              <a:t>2</a:t>
            </a:r>
            <a:r>
              <a:rPr lang="en-GB" sz="1800"/>
              <a:t> + 3(20)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400 + 60 = 460</a:t>
            </a:r>
            <a:endParaRPr sz="1800"/>
          </a:p>
        </p:txBody>
      </p:sp>
      <p:sp>
        <p:nvSpPr>
          <p:cNvPr id="1224" name="Google Shape;1224;p97"/>
          <p:cNvSpPr txBox="1"/>
          <p:nvPr>
            <p:ph idx="4294967295" type="body"/>
          </p:nvPr>
        </p:nvSpPr>
        <p:spPr>
          <a:xfrm>
            <a:off x="2893976" y="1629800"/>
            <a:ext cx="2884800" cy="10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(100)</a:t>
            </a:r>
            <a:r>
              <a:rPr baseline="30000" lang="en-GB" sz="1800"/>
              <a:t>2</a:t>
            </a:r>
            <a:r>
              <a:rPr lang="en-GB" sz="1800"/>
              <a:t> + 3(100)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10 000 + 300 = 10 300</a:t>
            </a:r>
            <a:endParaRPr sz="1800"/>
          </a:p>
        </p:txBody>
      </p:sp>
      <p:sp>
        <p:nvSpPr>
          <p:cNvPr id="1225" name="Google Shape;1225;p97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Find the 20th, 100th and 1000th terms of the below sequences.</a:t>
            </a:r>
            <a:endParaRPr sz="1800"/>
          </a:p>
        </p:txBody>
      </p:sp>
      <p:sp>
        <p:nvSpPr>
          <p:cNvPr id="1226" name="Google Shape;1226;p97"/>
          <p:cNvSpPr txBox="1"/>
          <p:nvPr>
            <p:ph idx="4294967295" type="body"/>
          </p:nvPr>
        </p:nvSpPr>
        <p:spPr>
          <a:xfrm>
            <a:off x="5931572" y="1629800"/>
            <a:ext cx="2163600" cy="10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(1000)</a:t>
            </a:r>
            <a:r>
              <a:rPr baseline="30000" lang="en-GB" sz="1800"/>
              <a:t>2</a:t>
            </a:r>
            <a:r>
              <a:rPr lang="en-GB" sz="1800"/>
              <a:t> + 3(1000)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1 003 000</a:t>
            </a:r>
            <a:endParaRPr sz="1800"/>
          </a:p>
        </p:txBody>
      </p:sp>
      <p:sp>
        <p:nvSpPr>
          <p:cNvPr id="1227" name="Google Shape;1227;p97"/>
          <p:cNvSpPr txBox="1"/>
          <p:nvPr>
            <p:ph idx="4294967295" type="body"/>
          </p:nvPr>
        </p:nvSpPr>
        <p:spPr>
          <a:xfrm>
            <a:off x="324000" y="3382400"/>
            <a:ext cx="2041500" cy="10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20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3(20) + 15 − 4</a:t>
            </a:r>
            <a:r>
              <a:rPr lang="en-GB" sz="1800"/>
              <a:t>(20)</a:t>
            </a:r>
            <a:r>
              <a:rPr baseline="30000" lang="en-GB" sz="1800"/>
              <a:t>2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-1525</a:t>
            </a:r>
            <a:endParaRPr sz="1800"/>
          </a:p>
        </p:txBody>
      </p:sp>
      <p:sp>
        <p:nvSpPr>
          <p:cNvPr id="1228" name="Google Shape;1228;p97"/>
          <p:cNvSpPr txBox="1"/>
          <p:nvPr>
            <p:ph idx="4294967295" type="body"/>
          </p:nvPr>
        </p:nvSpPr>
        <p:spPr>
          <a:xfrm>
            <a:off x="2893975" y="3382400"/>
            <a:ext cx="2439000" cy="10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3(100) + 15 - 4(100)</a:t>
            </a:r>
            <a:r>
              <a:rPr baseline="30000" lang="en-GB" sz="1800"/>
              <a:t>2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-39 685</a:t>
            </a:r>
            <a:endParaRPr sz="1800"/>
          </a:p>
        </p:txBody>
      </p:sp>
      <p:sp>
        <p:nvSpPr>
          <p:cNvPr id="1229" name="Google Shape;1229;p97"/>
          <p:cNvSpPr txBox="1"/>
          <p:nvPr>
            <p:ph idx="4294967295" type="body"/>
          </p:nvPr>
        </p:nvSpPr>
        <p:spPr>
          <a:xfrm>
            <a:off x="5941975" y="3382400"/>
            <a:ext cx="2884800" cy="10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= 1000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3(1000) + 15 − 4(1000)</a:t>
            </a:r>
            <a:r>
              <a:rPr baseline="30000" lang="en-GB" sz="1800"/>
              <a:t>2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 -3 996 985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9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sequences using       terms</a:t>
            </a:r>
            <a:endParaRPr/>
          </a:p>
        </p:txBody>
      </p:sp>
      <p:sp>
        <p:nvSpPr>
          <p:cNvPr id="1235" name="Google Shape;1235;p9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      terms to find any term</a:t>
            </a:r>
            <a:endParaRPr/>
          </a:p>
        </p:txBody>
      </p:sp>
      <p:sp>
        <p:nvSpPr>
          <p:cNvPr id="1236" name="Google Shape;1236;p9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      terms of different sequences</a:t>
            </a:r>
            <a:endParaRPr/>
          </a:p>
        </p:txBody>
      </p:sp>
      <p:sp>
        <p:nvSpPr>
          <p:cNvPr id="1237" name="Google Shape;1237;p9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any term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n^{th}&quot;&gt;&lt;msup&gt;&lt;mi&gt;n&lt;/mi&gt;&lt;mrow data-mjx-texclass=&quot;ORD&quot;&gt;&lt;mi&gt;t&lt;/mi&gt;&lt;mi&gt;h&lt;/mi&gt;&lt;/mrow&gt;&lt;/msup&gt;&lt;/math&gt;" id="1238" name="Google Shape;1238;p98" title="n raised to the t 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550" y="1779724"/>
            <a:ext cx="294036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^{th}&quot;&gt;&lt;msup&gt;&lt;mi&gt;n&lt;/mi&gt;&lt;mrow data-mjx-texclass=&quot;ORD&quot;&gt;&lt;mi&gt;t&lt;/mi&gt;&lt;mi&gt;h&lt;/mi&gt;&lt;/mrow&gt;&lt;/msup&gt;&lt;/math&gt;" id="1239" name="Google Shape;1239;p98" title="n raised to the t 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950" y="2803662"/>
            <a:ext cx="294036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^{th}&quot;&gt;&lt;msup&gt;&lt;mi&gt;n&lt;/mi&gt;&lt;mrow data-mjx-texclass=&quot;ORD&quot;&gt;&lt;mi&gt;t&lt;/mi&gt;&lt;mi&gt;h&lt;/mi&gt;&lt;/mrow&gt;&lt;/msup&gt;&lt;/math&gt;" id="1240" name="Google Shape;1240;p98" title="n raised to the t h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8838" y="3737112"/>
            <a:ext cx="294036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712" y="370397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99"/>
          <p:cNvSpPr txBox="1"/>
          <p:nvPr>
            <p:ph idx="1" type="body"/>
          </p:nvPr>
        </p:nvSpPr>
        <p:spPr>
          <a:xfrm>
            <a:off x="392775" y="759300"/>
            <a:ext cx="89136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</a:t>
            </a:r>
            <a:r>
              <a:rPr lang="en-GB" sz="2000"/>
              <a:t>e can now compare sequences.</a:t>
            </a:r>
            <a:endParaRPr sz="2000"/>
          </a:p>
        </p:txBody>
      </p:sp>
      <p:sp>
        <p:nvSpPr>
          <p:cNvPr id="1247" name="Google Shape;124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 of different sequences</a:t>
            </a:r>
            <a:endParaRPr/>
          </a:p>
        </p:txBody>
      </p:sp>
      <p:graphicFrame>
        <p:nvGraphicFramePr>
          <p:cNvPr id="1248" name="Google Shape;1248;p99"/>
          <p:cNvGraphicFramePr/>
          <p:nvPr/>
        </p:nvGraphicFramePr>
        <p:xfrm>
          <a:off x="1091933" y="16985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450250"/>
                <a:gridCol w="450250"/>
                <a:gridCol w="450250"/>
                <a:gridCol w="450250"/>
                <a:gridCol w="450250"/>
                <a:gridCol w="450250"/>
              </a:tblGrid>
              <a:tr h="43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9" name="Google Shape;1249;p99"/>
          <p:cNvGraphicFramePr/>
          <p:nvPr/>
        </p:nvGraphicFramePr>
        <p:xfrm>
          <a:off x="4846557" y="16985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450250"/>
                <a:gridCol w="450250"/>
                <a:gridCol w="450250"/>
                <a:gridCol w="450250"/>
                <a:gridCol w="450250"/>
                <a:gridCol w="450250"/>
              </a:tblGrid>
              <a:tr h="43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n+3&quot;&gt;&lt;mi&gt;n&lt;/mi&gt;&lt;mo&gt;+&lt;/mo&gt;&lt;mn&gt;3&lt;/mn&gt;&lt;/math&gt;" id="1250" name="Google Shape;1250;p99" title="n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3497" y="1190915"/>
            <a:ext cx="900588" cy="320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+2&quot;&gt;&lt;mi&gt;n&lt;/mi&gt;&lt;mo&gt;+&lt;/mo&gt;&lt;mn&gt;2&lt;/mn&gt;&lt;/math&gt;" id="1251" name="Google Shape;1251;p99" title="n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7611" y="1189494"/>
            <a:ext cx="915852" cy="32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99"/>
          <p:cNvSpPr txBox="1"/>
          <p:nvPr>
            <p:ph idx="1" type="body"/>
          </p:nvPr>
        </p:nvSpPr>
        <p:spPr>
          <a:xfrm>
            <a:off x="330600" y="2675850"/>
            <a:ext cx="84960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first five terms of each sequence.</a:t>
            </a:r>
            <a:endParaRPr sz="2000"/>
          </a:p>
        </p:txBody>
      </p:sp>
      <p:sp>
        <p:nvSpPr>
          <p:cNvPr id="1253" name="Google Shape;1253;p99"/>
          <p:cNvSpPr txBox="1"/>
          <p:nvPr/>
        </p:nvSpPr>
        <p:spPr>
          <a:xfrm>
            <a:off x="240375" y="2986600"/>
            <a:ext cx="383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 the sequences.</a:t>
            </a:r>
            <a:endParaRPr/>
          </a:p>
        </p:txBody>
      </p:sp>
      <p:sp>
        <p:nvSpPr>
          <p:cNvPr id="1254" name="Google Shape;1254;p99"/>
          <p:cNvSpPr txBox="1"/>
          <p:nvPr>
            <p:ph idx="1" type="body"/>
          </p:nvPr>
        </p:nvSpPr>
        <p:spPr>
          <a:xfrm>
            <a:off x="330600" y="3552025"/>
            <a:ext cx="83568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sequences are arithmetic. They both have a common difference of 1.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5" name="Google Shape;1255;p99"/>
          <p:cNvSpPr txBox="1"/>
          <p:nvPr>
            <p:ph idx="1" type="body"/>
          </p:nvPr>
        </p:nvSpPr>
        <p:spPr>
          <a:xfrm>
            <a:off x="330600" y="4028413"/>
            <a:ext cx="83568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n+2 starts at 3, whereas n+3 starts 1 higher at 4.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6" name="Google Shape;1256;p99"/>
          <p:cNvSpPr txBox="1"/>
          <p:nvPr>
            <p:ph idx="1" type="body"/>
          </p:nvPr>
        </p:nvSpPr>
        <p:spPr>
          <a:xfrm>
            <a:off x="330600" y="4504813"/>
            <a:ext cx="83568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 fact, n+3 is always 1 higher than n+2 for all values of 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7" name="Google Shape;1257;p99"/>
          <p:cNvSpPr/>
          <p:nvPr/>
        </p:nvSpPr>
        <p:spPr>
          <a:xfrm>
            <a:off x="2069174" y="2176805"/>
            <a:ext cx="300900" cy="32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99"/>
          <p:cNvSpPr/>
          <p:nvPr/>
        </p:nvSpPr>
        <p:spPr>
          <a:xfrm>
            <a:off x="2522374" y="2176805"/>
            <a:ext cx="300900" cy="32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99"/>
          <p:cNvSpPr/>
          <p:nvPr/>
        </p:nvSpPr>
        <p:spPr>
          <a:xfrm>
            <a:off x="2975574" y="2176805"/>
            <a:ext cx="300900" cy="32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9"/>
          <p:cNvSpPr/>
          <p:nvPr/>
        </p:nvSpPr>
        <p:spPr>
          <a:xfrm>
            <a:off x="3428774" y="2176805"/>
            <a:ext cx="300900" cy="32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9"/>
          <p:cNvSpPr/>
          <p:nvPr/>
        </p:nvSpPr>
        <p:spPr>
          <a:xfrm>
            <a:off x="5375874" y="2176805"/>
            <a:ext cx="300900" cy="32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99"/>
          <p:cNvSpPr/>
          <p:nvPr/>
        </p:nvSpPr>
        <p:spPr>
          <a:xfrm>
            <a:off x="5829049" y="2176805"/>
            <a:ext cx="300900" cy="32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99"/>
          <p:cNvSpPr/>
          <p:nvPr/>
        </p:nvSpPr>
        <p:spPr>
          <a:xfrm>
            <a:off x="6282224" y="2176805"/>
            <a:ext cx="300900" cy="32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9"/>
          <p:cNvSpPr/>
          <p:nvPr/>
        </p:nvSpPr>
        <p:spPr>
          <a:xfrm>
            <a:off x="6735399" y="2176805"/>
            <a:ext cx="300900" cy="32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9"/>
          <p:cNvSpPr/>
          <p:nvPr/>
        </p:nvSpPr>
        <p:spPr>
          <a:xfrm>
            <a:off x="7188574" y="2176805"/>
            <a:ext cx="300900" cy="32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0"/>
          <p:cNvSpPr txBox="1"/>
          <p:nvPr>
            <p:ph idx="1" type="body"/>
          </p:nvPr>
        </p:nvSpPr>
        <p:spPr>
          <a:xfrm>
            <a:off x="324000" y="759300"/>
            <a:ext cx="8237700" cy="3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first five terms and compare these sequences.</a:t>
            </a:r>
            <a:endParaRPr sz="2000"/>
          </a:p>
        </p:txBody>
      </p:sp>
      <p:sp>
        <p:nvSpPr>
          <p:cNvPr id="1271" name="Google Shape;1271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</a:t>
            </a:r>
            <a:r>
              <a:rPr lang="en-GB"/>
              <a:t>terms of different sequences</a:t>
            </a:r>
            <a:endParaRPr/>
          </a:p>
        </p:txBody>
      </p:sp>
      <p:graphicFrame>
        <p:nvGraphicFramePr>
          <p:cNvPr id="1272" name="Google Shape;1272;p100"/>
          <p:cNvGraphicFramePr/>
          <p:nvPr/>
        </p:nvGraphicFramePr>
        <p:xfrm>
          <a:off x="999071" y="1469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450250"/>
                <a:gridCol w="450250"/>
                <a:gridCol w="450250"/>
                <a:gridCol w="450250"/>
                <a:gridCol w="450250"/>
                <a:gridCol w="450250"/>
              </a:tblGrid>
              <a:tr h="43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3" name="Google Shape;1273;p100"/>
          <p:cNvGraphicFramePr/>
          <p:nvPr/>
        </p:nvGraphicFramePr>
        <p:xfrm>
          <a:off x="4753695" y="1469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{32F39B48-6AF8-4C73-A9DB-5D61891575C6}</a:tableStyleId>
              </a:tblPr>
              <a:tblGrid>
                <a:gridCol w="450250"/>
                <a:gridCol w="450250"/>
                <a:gridCol w="450250"/>
                <a:gridCol w="450250"/>
                <a:gridCol w="450250"/>
                <a:gridCol w="450250"/>
              </a:tblGrid>
              <a:tr h="43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5n+2&quot;&gt;&lt;mn&gt;5&lt;/mn&gt;&lt;mi&gt;n&lt;/mi&gt;&lt;mo&gt;+&lt;/mo&gt;&lt;mn&gt;2&lt;/mn&gt;&lt;/math&gt;" id="1274" name="Google Shape;1274;p100" title="5 n pl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634" y="1120225"/>
            <a:ext cx="882962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n-2&quot;&gt;&lt;mn&gt;5&lt;/mn&gt;&lt;mi&gt;n&lt;/mi&gt;&lt;mo&gt;−&lt;/mo&gt;&lt;mn&gt;2&lt;/mn&gt;&lt;/math&gt;" id="1275" name="Google Shape;1275;p100" title="5 n min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847" y="1120225"/>
            <a:ext cx="882962" cy="24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100"/>
          <p:cNvSpPr txBox="1"/>
          <p:nvPr>
            <p:ph idx="1" type="body"/>
          </p:nvPr>
        </p:nvSpPr>
        <p:spPr>
          <a:xfrm>
            <a:off x="302550" y="2942338"/>
            <a:ext cx="83568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sequences are arithmetic. They both have a common difference of +5.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7" name="Google Shape;1277;p100"/>
          <p:cNvSpPr txBox="1"/>
          <p:nvPr>
            <p:ph idx="1" type="body"/>
          </p:nvPr>
        </p:nvSpPr>
        <p:spPr>
          <a:xfrm>
            <a:off x="302550" y="4161538"/>
            <a:ext cx="71697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5n + 2 is always 2 above our 5 times tables, whereas 5n - 2 is always 2 below it.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100"/>
          <p:cNvSpPr txBox="1"/>
          <p:nvPr>
            <p:ph idx="1" type="body"/>
          </p:nvPr>
        </p:nvSpPr>
        <p:spPr>
          <a:xfrm>
            <a:off x="302550" y="3399538"/>
            <a:ext cx="65034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start at different numbers.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5n + 2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starts at 5+2 whereas 5n - 2 starts at 5-2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9" name="Google Shape;1279;p100"/>
          <p:cNvSpPr txBox="1"/>
          <p:nvPr>
            <p:ph idx="1" type="body"/>
          </p:nvPr>
        </p:nvSpPr>
        <p:spPr>
          <a:xfrm>
            <a:off x="302550" y="2571750"/>
            <a:ext cx="83568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said: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0" name="Google Shape;1280;p100"/>
          <p:cNvSpPr/>
          <p:nvPr/>
        </p:nvSpPr>
        <p:spPr>
          <a:xfrm>
            <a:off x="1506900" y="1972900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100"/>
          <p:cNvSpPr/>
          <p:nvPr/>
        </p:nvSpPr>
        <p:spPr>
          <a:xfrm>
            <a:off x="1940050" y="1972900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00"/>
          <p:cNvSpPr/>
          <p:nvPr/>
        </p:nvSpPr>
        <p:spPr>
          <a:xfrm>
            <a:off x="2403279" y="1972900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100"/>
          <p:cNvSpPr/>
          <p:nvPr/>
        </p:nvSpPr>
        <p:spPr>
          <a:xfrm>
            <a:off x="2846451" y="1982926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100"/>
          <p:cNvSpPr/>
          <p:nvPr/>
        </p:nvSpPr>
        <p:spPr>
          <a:xfrm>
            <a:off x="3289626" y="1982926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100"/>
          <p:cNvSpPr/>
          <p:nvPr/>
        </p:nvSpPr>
        <p:spPr>
          <a:xfrm>
            <a:off x="5301001" y="1982926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100"/>
          <p:cNvSpPr/>
          <p:nvPr/>
        </p:nvSpPr>
        <p:spPr>
          <a:xfrm>
            <a:off x="5714078" y="1992546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100"/>
          <p:cNvSpPr/>
          <p:nvPr/>
        </p:nvSpPr>
        <p:spPr>
          <a:xfrm>
            <a:off x="6167267" y="1994551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0"/>
          <p:cNvSpPr/>
          <p:nvPr/>
        </p:nvSpPr>
        <p:spPr>
          <a:xfrm>
            <a:off x="6620457" y="1986530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00"/>
          <p:cNvSpPr/>
          <p:nvPr/>
        </p:nvSpPr>
        <p:spPr>
          <a:xfrm>
            <a:off x="7063620" y="1988536"/>
            <a:ext cx="331800" cy="254700"/>
          </a:xfrm>
          <a:prstGeom prst="rect">
            <a:avLst/>
          </a:prstGeom>
          <a:solidFill>
            <a:srgbClr val="EBED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01"/>
          <p:cNvSpPr txBox="1"/>
          <p:nvPr>
            <p:ph idx="1" type="body"/>
          </p:nvPr>
        </p:nvSpPr>
        <p:spPr>
          <a:xfrm>
            <a:off x="324000" y="759300"/>
            <a:ext cx="71352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first five terms of each of these </a:t>
            </a:r>
            <a:r>
              <a:rPr lang="en-GB"/>
              <a:t>sequences</a:t>
            </a:r>
            <a:r>
              <a:rPr lang="en-GB"/>
              <a:t> and compare them:</a:t>
            </a:r>
            <a:endParaRPr/>
          </a:p>
        </p:txBody>
      </p:sp>
      <p:sp>
        <p:nvSpPr>
          <p:cNvPr id="1295" name="Google Shape;1295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 of different sequences</a:t>
            </a:r>
            <a:endParaRPr/>
          </a:p>
        </p:txBody>
      </p:sp>
      <p:sp>
        <p:nvSpPr>
          <p:cNvPr id="1296" name="Google Shape;1296;p101"/>
          <p:cNvSpPr txBox="1"/>
          <p:nvPr>
            <p:ph idx="1" type="body"/>
          </p:nvPr>
        </p:nvSpPr>
        <p:spPr>
          <a:xfrm>
            <a:off x="324000" y="1545440"/>
            <a:ext cx="604800" cy="31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f)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g)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3n&quot;&gt;&lt;mn&gt;3&lt;/mn&gt;&lt;mi&gt;n&lt;/mi&gt;&lt;/math&gt;" id="1297" name="Google Shape;1297;p101" title="3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374" y="1606510"/>
            <a:ext cx="33572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2&quot;&gt;&lt;mn&gt;3&lt;/mn&gt;&lt;mi&gt;n&lt;/mi&gt;&lt;mo&gt;+&lt;/mo&gt;&lt;mn&gt;2&lt;/mn&gt;&lt;/math&gt;" id="1298" name="Google Shape;1298;p101" title="3 n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679" y="2071705"/>
            <a:ext cx="855074" cy="23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\frac{1}{7}&quot;&gt;&lt;mn&gt;3&lt;/mn&gt;&lt;mi&gt;n&lt;/mi&gt;&lt;mo&gt;+&lt;/mo&gt;&lt;mfrac&gt;&lt;mn&gt;1&lt;/mn&gt;&lt;mn&gt;7&lt;/mn&gt;&lt;/mfrac&gt;&lt;/math&gt;" id="1299" name="Google Shape;1299;p101" title="3 n plus 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00" y="3347679"/>
            <a:ext cx="808700" cy="570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0.7&quot;&gt;&lt;mn&gt;3&lt;/mn&gt;&lt;mi&gt;n&lt;/mi&gt;&lt;mo&gt;+&lt;/mo&gt;&lt;mn&gt;0.7&lt;/mn&gt;&lt;/math&gt;" id="1300" name="Google Shape;1300;p101" title="3 n plus 0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150" y="3008613"/>
            <a:ext cx="106872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n+7&quot;&gt;&lt;mo&gt;−&lt;/mo&gt;&lt;mn&gt;3&lt;/mn&gt;&lt;mi&gt;n&lt;/mi&gt;&lt;mo&gt;+&lt;/mo&gt;&lt;mn&gt;7&lt;/mn&gt;&lt;/math&gt;" id="1301" name="Google Shape;1301;p101" title="negative 3 n plu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9765" y="4004372"/>
            <a:ext cx="109195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-3n&quot;&gt;&lt;mn&gt;2&lt;/mn&gt;&lt;mo&gt;−&lt;/mo&gt;&lt;mn&gt;3&lt;/mn&gt;&lt;mi&gt;n&lt;/mi&gt;&lt;/math&gt;" id="1302" name="Google Shape;1302;p101" title="2 minus 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8266" y="4493923"/>
            <a:ext cx="860852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^3&quot;&gt;&lt;msup&gt;&lt;mi&gt;n&lt;/mi&gt;&lt;mn&gt;3&lt;/mn&gt;&lt;/msup&gt;&lt;/math&gt;" id="1303" name="Google Shape;1303;p101" title="n cube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28064" y="1575105"/>
            <a:ext cx="259989" cy="292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&quot;&gt;&lt;mn&gt;3&lt;/mn&gt;&lt;mi&gt;n&lt;/mi&gt;&lt;mo&gt;−&lt;/mo&gt;&lt;mn&gt;1&lt;/mn&gt;&lt;/math&gt;" id="1304" name="Google Shape;1304;p101" title="3 n minus 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1385" y="2564040"/>
            <a:ext cx="808683" cy="2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101"/>
          <p:cNvSpPr txBox="1"/>
          <p:nvPr>
            <p:ph idx="1" type="body"/>
          </p:nvPr>
        </p:nvSpPr>
        <p:spPr>
          <a:xfrm>
            <a:off x="4362600" y="1545442"/>
            <a:ext cx="6048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</a:t>
            </a:r>
            <a:r>
              <a:rPr lang="en-GB" sz="2000"/>
              <a:t>)</a:t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02"/>
          <p:cNvSpPr txBox="1"/>
          <p:nvPr>
            <p:ph idx="1" type="body"/>
          </p:nvPr>
        </p:nvSpPr>
        <p:spPr>
          <a:xfrm>
            <a:off x="324000" y="759300"/>
            <a:ext cx="7135200" cy="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first five terms of each of these sequences and compare them:</a:t>
            </a:r>
            <a:endParaRPr/>
          </a:p>
        </p:txBody>
      </p:sp>
      <p:sp>
        <p:nvSpPr>
          <p:cNvPr id="1311" name="Google Shape;1311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 of different sequences</a:t>
            </a:r>
            <a:endParaRPr/>
          </a:p>
        </p:txBody>
      </p:sp>
      <p:sp>
        <p:nvSpPr>
          <p:cNvPr id="1312" name="Google Shape;1312;p102"/>
          <p:cNvSpPr txBox="1"/>
          <p:nvPr>
            <p:ph idx="1" type="body"/>
          </p:nvPr>
        </p:nvSpPr>
        <p:spPr>
          <a:xfrm>
            <a:off x="324000" y="1545440"/>
            <a:ext cx="604800" cy="31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f)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g)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3n&quot;&gt;&lt;mn&gt;3&lt;/mn&gt;&lt;mi&gt;n&lt;/mi&gt;&lt;/math&gt;" id="1313" name="Google Shape;1313;p102" title="3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374" y="1606510"/>
            <a:ext cx="33572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2&quot;&gt;&lt;mn&gt;3&lt;/mn&gt;&lt;mi&gt;n&lt;/mi&gt;&lt;mo&gt;+&lt;/mo&gt;&lt;mn&gt;2&lt;/mn&gt;&lt;/math&gt;" id="1314" name="Google Shape;1314;p102" title="3 n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679" y="2071705"/>
            <a:ext cx="855074" cy="23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\frac{1}{7}&quot;&gt;&lt;mn&gt;3&lt;/mn&gt;&lt;mi&gt;n&lt;/mi&gt;&lt;mo&gt;+&lt;/mo&gt;&lt;mfrac&gt;&lt;mn&gt;1&lt;/mn&gt;&lt;mn&gt;7&lt;/mn&gt;&lt;/mfrac&gt;&lt;/math&gt;" id="1315" name="Google Shape;1315;p102" title="3 n plus 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00" y="3347679"/>
            <a:ext cx="808700" cy="570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0.7&quot;&gt;&lt;mn&gt;3&lt;/mn&gt;&lt;mi&gt;n&lt;/mi&gt;&lt;mo&gt;+&lt;/mo&gt;&lt;mn&gt;0.7&lt;/mn&gt;&lt;/math&gt;" id="1316" name="Google Shape;1316;p102" title="3 n plus 0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150" y="3008613"/>
            <a:ext cx="106872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n+7&quot;&gt;&lt;mo&gt;−&lt;/mo&gt;&lt;mn&gt;3&lt;/mn&gt;&lt;mi&gt;n&lt;/mi&gt;&lt;mo&gt;+&lt;/mo&gt;&lt;mn&gt;7&lt;/mn&gt;&lt;/math&gt;" id="1317" name="Google Shape;1317;p102" title="negative 3 n plu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9765" y="4004372"/>
            <a:ext cx="109195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-3n&quot;&gt;&lt;mn&gt;2&lt;/mn&gt;&lt;mo&gt;−&lt;/mo&gt;&lt;mn&gt;3&lt;/mn&gt;&lt;mi&gt;n&lt;/mi&gt;&lt;/math&gt;" id="1318" name="Google Shape;1318;p102" title="2 minus 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8266" y="4493923"/>
            <a:ext cx="860852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&quot;&gt;&lt;mn&gt;3&lt;/mn&gt;&lt;mi&gt;n&lt;/mi&gt;&lt;mo&gt;−&lt;/mo&gt;&lt;mn&gt;1&lt;/mn&gt;&lt;/math&gt;" id="1319" name="Google Shape;1319;p102" title="3 n minu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385" y="2564040"/>
            <a:ext cx="80868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,6,9,12,15,\ ...&quot;&gt;&lt;mn&gt;3&lt;/mn&gt;&lt;mo&gt;,&lt;/mo&gt;&lt;mn&gt;6&lt;/mn&gt;&lt;mo&gt;,&lt;/mo&gt;&lt;mn&gt;9&lt;/mn&gt;&lt;mo&gt;,&lt;/mo&gt;&lt;mn&gt;12&lt;/mn&gt;&lt;mo&gt;,&lt;/mo&gt;&lt;mn&gt;15&lt;/mn&gt;&lt;mo&gt;,&lt;/mo&gt;&lt;mtext&gt;&lt;/mtext&gt;&lt;mo&gt;.&lt;/mo&gt;&lt;mo&gt;.&lt;/mo&gt;&lt;mo&gt;.&lt;/mo&gt;&lt;/math&gt;" id="1320" name="Google Shape;1320;p102" title="3 comma 6 comma 9 comma 12 comma 15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4607" y="1603487"/>
            <a:ext cx="2221600" cy="270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,8,11,14,17,\ ...&quot;&gt;&lt;mn&gt;5&lt;/mn&gt;&lt;mo&gt;,&lt;/mo&gt;&lt;mn&gt;8&lt;/mn&gt;&lt;mo&gt;,&lt;/mo&gt;&lt;mn&gt;11&lt;/mn&gt;&lt;mo&gt;,&lt;/mo&gt;&lt;mn&gt;14&lt;/mn&gt;&lt;mo&gt;,&lt;/mo&gt;&lt;mn&gt;17&lt;/mn&gt;&lt;mo&gt;,&lt;/mo&gt;&lt;mtext&gt;&lt;/mtext&gt;&lt;mo&gt;.&lt;/mo&gt;&lt;mo&gt;.&lt;/mo&gt;&lt;mo&gt;.&lt;/mo&gt;&lt;/math&gt;" id="1321" name="Google Shape;1321;p102" title="5 comma 8 comma 11 comma 14 comma 1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04607" y="2056681"/>
            <a:ext cx="23868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,5,8,11,14,\ ...&quot;&gt;&lt;mn&gt;2&lt;/mn&gt;&lt;mo&gt;,&lt;/mo&gt;&lt;mn&gt;5&lt;/mn&gt;&lt;mo&gt;,&lt;/mo&gt;&lt;mn&gt;8&lt;/mn&gt;&lt;mo&gt;,&lt;/mo&gt;&lt;mn&gt;11&lt;/mn&gt;&lt;mo&gt;,&lt;/mo&gt;&lt;mn&gt;14&lt;/mn&gt;&lt;mo&gt;,&lt;/mo&gt;&lt;mtext&gt;&lt;/mtext&gt;&lt;mo&gt;.&lt;/mo&gt;&lt;mo&gt;.&lt;/mo&gt;&lt;mo&gt;.&lt;/mo&gt;&lt;/math&gt;" id="1322" name="Google Shape;1322;p102" title="2 comma 5 comma 8 comma 11 comma 14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04607" y="2507837"/>
            <a:ext cx="22204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7,6.7,9.7,12.7,15.7,\ ...&quot;&gt;&lt;mn&gt;3.7&lt;/mn&gt;&lt;mo&gt;,&lt;/mo&gt;&lt;mn&gt;6.7&lt;/mn&gt;&lt;mo&gt;,&lt;/mo&gt;&lt;mn&gt;9.7&lt;/mn&gt;&lt;mo&gt;,&lt;/mo&gt;&lt;mn&gt;12.7&lt;/mn&gt;&lt;mo&gt;,&lt;/mo&gt;&lt;mn&gt;15.7&lt;/mn&gt;&lt;mo&gt;,&lt;/mo&gt;&lt;mtext&gt;&lt;/mtext&gt;&lt;mo&gt;.&lt;/mo&gt;&lt;mo&gt;.&lt;/mo&gt;&lt;mo&gt;.&lt;/mo&gt;&lt;/math&gt;" id="1323" name="Google Shape;1323;p102" title="3.7 comma 6.7 comma 9.7 comma 12.7 comma 15.7 comma period period perio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04607" y="2958992"/>
            <a:ext cx="3178143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,6\frac{1}{7},9\frac{1}{7},12\frac{1}{7},15\frac{1}{7},\ ...&quot;&gt;&lt;mn&gt;3&lt;/mn&gt;&lt;mfrac&gt;&lt;mn&gt;1&lt;/mn&gt;&lt;mn&gt;7&lt;/mn&gt;&lt;/mfrac&gt;&lt;mo&gt;,&lt;/mo&gt;&lt;mn&gt;6&lt;/mn&gt;&lt;mfrac&gt;&lt;mn&gt;1&lt;/mn&gt;&lt;mn&gt;7&lt;/mn&gt;&lt;/mfrac&gt;&lt;mo&gt;,&lt;/mo&gt;&lt;mn&gt;9&lt;/mn&gt;&lt;mfrac&gt;&lt;mn&gt;1&lt;/mn&gt;&lt;mn&gt;7&lt;/mn&gt;&lt;/mfrac&gt;&lt;mo&gt;,&lt;/mo&gt;&lt;mn&gt;12&lt;/mn&gt;&lt;mfrac&gt;&lt;mn&gt;1&lt;/mn&gt;&lt;mn&gt;7&lt;/mn&gt;&lt;/mfrac&gt;&lt;mo&gt;,&lt;/mo&gt;&lt;mn&gt;15&lt;/mn&gt;&lt;mfrac&gt;&lt;mn&gt;1&lt;/mn&gt;&lt;mn&gt;7&lt;/mn&gt;&lt;/mfrac&gt;&lt;mo&gt;,&lt;/mo&gt;&lt;mtext&gt;&lt;/mtext&gt;&lt;mo&gt;.&lt;/mo&gt;&lt;mo&gt;.&lt;/mo&gt;&lt;mo&gt;.&lt;/mo&gt;&lt;/math&gt;" id="1324" name="Google Shape;1324;p102" title="3 and one seventh comma 6 and one seventh comma 9 and one seventh comma 12 and one seventh comma 15 and one seventh comma period period perio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04607" y="3396790"/>
            <a:ext cx="2522714" cy="467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,1,-2,-5,-8,\ ...&quot;&gt;&lt;mn&gt;4&lt;/mn&gt;&lt;mo&gt;,&lt;/mo&gt;&lt;mn&gt;1&lt;/mn&gt;&lt;mo&gt;,&lt;/mo&gt;&lt;mo&gt;−&lt;/mo&gt;&lt;mn&gt;2&lt;/mn&gt;&lt;mo&gt;,&lt;/mo&gt;&lt;mo&gt;−&lt;/mo&gt;&lt;mn&gt;5&lt;/mn&gt;&lt;mo&gt;,&lt;/mo&gt;&lt;mo&gt;−&lt;/mo&gt;&lt;mn&gt;8&lt;/mn&gt;&lt;mo&gt;,&lt;/mo&gt;&lt;mtext&gt;&lt;/mtext&gt;&lt;mo&gt;.&lt;/mo&gt;&lt;mo&gt;.&lt;/mo&gt;&lt;mo&gt;.&lt;/mo&gt;&lt;/math&gt;" id="1325" name="Google Shape;1325;p102" title="4 comma 1 comma negative 2 comma negative 5 comma negative 8 comma period period perio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404607" y="4047676"/>
            <a:ext cx="2499738" cy="26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,-4,-7,-10,-13\ ...&quot;&gt;&lt;mo&gt;−&lt;/mo&gt;&lt;mn&gt;1&lt;/mn&gt;&lt;mo&gt;,&lt;/mo&gt;&lt;mo&gt;−&lt;/mo&gt;&lt;mn&gt;4&lt;/mn&gt;&lt;mo&gt;,&lt;/mo&gt;&lt;mo&gt;−&lt;/mo&gt;&lt;mn&gt;7&lt;/mn&gt;&lt;mo&gt;,&lt;/mo&gt;&lt;mo&gt;−&lt;/mo&gt;&lt;mn&gt;10&lt;/mn&gt;&lt;mo&gt;,&lt;/mo&gt;&lt;mo&gt;−&lt;/mo&gt;&lt;mn&gt;13&lt;/mn&gt;&lt;mtext&gt;&lt;/mtext&gt;&lt;mo&gt;.&lt;/mo&gt;&lt;mo&gt;.&lt;/mo&gt;&lt;mo&gt;.&lt;/mo&gt;&lt;/math&gt;" id="1326" name="Google Shape;1326;p102" title="negative 1 comma negative 4 comma negative 7 comma negative 10 comma negative 13 period period period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404607" y="4498824"/>
            <a:ext cx="3185542" cy="2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02"/>
          <p:cNvSpPr txBox="1"/>
          <p:nvPr>
            <p:ph idx="4294967295" type="body"/>
          </p:nvPr>
        </p:nvSpPr>
        <p:spPr>
          <a:xfrm>
            <a:off x="5749675" y="1618325"/>
            <a:ext cx="29733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Sequences a) to g) were all arithmetic. They all had a constant common difference.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103"/>
          <p:cNvSpPr txBox="1"/>
          <p:nvPr>
            <p:ph idx="1" type="body"/>
          </p:nvPr>
        </p:nvSpPr>
        <p:spPr>
          <a:xfrm>
            <a:off x="324000" y="759300"/>
            <a:ext cx="7135200" cy="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first five terms of each of these sequences and compare them:</a:t>
            </a:r>
            <a:endParaRPr/>
          </a:p>
        </p:txBody>
      </p:sp>
      <p:sp>
        <p:nvSpPr>
          <p:cNvPr id="1333" name="Google Shape;1333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 of different sequences</a:t>
            </a:r>
            <a:endParaRPr/>
          </a:p>
        </p:txBody>
      </p:sp>
      <p:sp>
        <p:nvSpPr>
          <p:cNvPr id="1334" name="Google Shape;1334;p103"/>
          <p:cNvSpPr txBox="1"/>
          <p:nvPr>
            <p:ph idx="1" type="body"/>
          </p:nvPr>
        </p:nvSpPr>
        <p:spPr>
          <a:xfrm>
            <a:off x="324000" y="1545440"/>
            <a:ext cx="604800" cy="31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f)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g)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3n&quot;&gt;&lt;mn&gt;3&lt;/mn&gt;&lt;mi&gt;n&lt;/mi&gt;&lt;/math&gt;" id="1335" name="Google Shape;1335;p103" title="3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374" y="1606510"/>
            <a:ext cx="33572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2&quot;&gt;&lt;mn&gt;3&lt;/mn&gt;&lt;mi&gt;n&lt;/mi&gt;&lt;mo&gt;+&lt;/mo&gt;&lt;mn&gt;2&lt;/mn&gt;&lt;/math&gt;" id="1336" name="Google Shape;1336;p103" title="3 n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679" y="2071705"/>
            <a:ext cx="855074" cy="23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\frac{1}{7}&quot;&gt;&lt;mn&gt;3&lt;/mn&gt;&lt;mi&gt;n&lt;/mi&gt;&lt;mo&gt;+&lt;/mo&gt;&lt;mfrac&gt;&lt;mn&gt;1&lt;/mn&gt;&lt;mn&gt;7&lt;/mn&gt;&lt;/mfrac&gt;&lt;/math&gt;" id="1337" name="Google Shape;1337;p103" title="3 n plus 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00" y="3347679"/>
            <a:ext cx="808700" cy="570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0.7&quot;&gt;&lt;mn&gt;3&lt;/mn&gt;&lt;mi&gt;n&lt;/mi&gt;&lt;mo&gt;+&lt;/mo&gt;&lt;mn&gt;0.7&lt;/mn&gt;&lt;/math&gt;" id="1338" name="Google Shape;1338;p103" title="3 n plus 0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150" y="3008613"/>
            <a:ext cx="106872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n+7&quot;&gt;&lt;mo&gt;−&lt;/mo&gt;&lt;mn&gt;3&lt;/mn&gt;&lt;mi&gt;n&lt;/mi&gt;&lt;mo&gt;+&lt;/mo&gt;&lt;mn&gt;7&lt;/mn&gt;&lt;/math&gt;" id="1339" name="Google Shape;1339;p103" title="negative 3 n plu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9765" y="4004372"/>
            <a:ext cx="109195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-3n&quot;&gt;&lt;mn&gt;2&lt;/mn&gt;&lt;mo&gt;−&lt;/mo&gt;&lt;mn&gt;3&lt;/mn&gt;&lt;mi&gt;n&lt;/mi&gt;&lt;/math&gt;" id="1340" name="Google Shape;1340;p103" title="2 minus 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8266" y="4493923"/>
            <a:ext cx="860852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&quot;&gt;&lt;mn&gt;3&lt;/mn&gt;&lt;mi&gt;n&lt;/mi&gt;&lt;mo&gt;−&lt;/mo&gt;&lt;mn&gt;1&lt;/mn&gt;&lt;/math&gt;" id="1341" name="Google Shape;1341;p103" title="3 n minu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385" y="2564040"/>
            <a:ext cx="80868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,6,9,12,15,\ ...&quot;&gt;&lt;mn&gt;3&lt;/mn&gt;&lt;mo&gt;,&lt;/mo&gt;&lt;mn&gt;6&lt;/mn&gt;&lt;mo&gt;,&lt;/mo&gt;&lt;mn&gt;9&lt;/mn&gt;&lt;mo&gt;,&lt;/mo&gt;&lt;mn&gt;12&lt;/mn&gt;&lt;mo&gt;,&lt;/mo&gt;&lt;mn&gt;15&lt;/mn&gt;&lt;mo&gt;,&lt;/mo&gt;&lt;mtext&gt;&lt;/mtext&gt;&lt;mo&gt;.&lt;/mo&gt;&lt;mo&gt;.&lt;/mo&gt;&lt;mo&gt;.&lt;/mo&gt;&lt;/math&gt;" id="1342" name="Google Shape;1342;p103" title="3 comma 6 comma 9 comma 12 comma 15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4607" y="1603487"/>
            <a:ext cx="2221600" cy="270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,8,11,14,17,\ ...&quot;&gt;&lt;mn&gt;5&lt;/mn&gt;&lt;mo&gt;,&lt;/mo&gt;&lt;mn&gt;8&lt;/mn&gt;&lt;mo&gt;,&lt;/mo&gt;&lt;mn&gt;11&lt;/mn&gt;&lt;mo&gt;,&lt;/mo&gt;&lt;mn&gt;14&lt;/mn&gt;&lt;mo&gt;,&lt;/mo&gt;&lt;mn&gt;17&lt;/mn&gt;&lt;mo&gt;,&lt;/mo&gt;&lt;mtext&gt;&lt;/mtext&gt;&lt;mo&gt;.&lt;/mo&gt;&lt;mo&gt;.&lt;/mo&gt;&lt;mo&gt;.&lt;/mo&gt;&lt;/math&gt;" id="1343" name="Google Shape;1343;p103" title="5 comma 8 comma 11 comma 14 comma 1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04607" y="2056681"/>
            <a:ext cx="23868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,5,8,11,14,\ ...&quot;&gt;&lt;mn&gt;2&lt;/mn&gt;&lt;mo&gt;,&lt;/mo&gt;&lt;mn&gt;5&lt;/mn&gt;&lt;mo&gt;,&lt;/mo&gt;&lt;mn&gt;8&lt;/mn&gt;&lt;mo&gt;,&lt;/mo&gt;&lt;mn&gt;11&lt;/mn&gt;&lt;mo&gt;,&lt;/mo&gt;&lt;mn&gt;14&lt;/mn&gt;&lt;mo&gt;,&lt;/mo&gt;&lt;mtext&gt;&lt;/mtext&gt;&lt;mo&gt;.&lt;/mo&gt;&lt;mo&gt;.&lt;/mo&gt;&lt;mo&gt;.&lt;/mo&gt;&lt;/math&gt;" id="1344" name="Google Shape;1344;p103" title="2 comma 5 comma 8 comma 11 comma 14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04607" y="2507837"/>
            <a:ext cx="22204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7,6.7,9.7,12.7,15.7,\ ...&quot;&gt;&lt;mn&gt;3.7&lt;/mn&gt;&lt;mo&gt;,&lt;/mo&gt;&lt;mn&gt;6.7&lt;/mn&gt;&lt;mo&gt;,&lt;/mo&gt;&lt;mn&gt;9.7&lt;/mn&gt;&lt;mo&gt;,&lt;/mo&gt;&lt;mn&gt;12.7&lt;/mn&gt;&lt;mo&gt;,&lt;/mo&gt;&lt;mn&gt;15.7&lt;/mn&gt;&lt;mo&gt;,&lt;/mo&gt;&lt;mtext&gt;&lt;/mtext&gt;&lt;mo&gt;.&lt;/mo&gt;&lt;mo&gt;.&lt;/mo&gt;&lt;mo&gt;.&lt;/mo&gt;&lt;/math&gt;" id="1345" name="Google Shape;1345;p103" title="3.7 comma 6.7 comma 9.7 comma 12.7 comma 15.7 comma period period perio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04607" y="2958992"/>
            <a:ext cx="3178143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,6\frac{1}{7},9\frac{1}{7},12\frac{1}{7},15\frac{1}{7},\ ...&quot;&gt;&lt;mn&gt;3&lt;/mn&gt;&lt;mfrac&gt;&lt;mn&gt;1&lt;/mn&gt;&lt;mn&gt;7&lt;/mn&gt;&lt;/mfrac&gt;&lt;mo&gt;,&lt;/mo&gt;&lt;mn&gt;6&lt;/mn&gt;&lt;mfrac&gt;&lt;mn&gt;1&lt;/mn&gt;&lt;mn&gt;7&lt;/mn&gt;&lt;/mfrac&gt;&lt;mo&gt;,&lt;/mo&gt;&lt;mn&gt;9&lt;/mn&gt;&lt;mfrac&gt;&lt;mn&gt;1&lt;/mn&gt;&lt;mn&gt;7&lt;/mn&gt;&lt;/mfrac&gt;&lt;mo&gt;,&lt;/mo&gt;&lt;mn&gt;12&lt;/mn&gt;&lt;mfrac&gt;&lt;mn&gt;1&lt;/mn&gt;&lt;mn&gt;7&lt;/mn&gt;&lt;/mfrac&gt;&lt;mo&gt;,&lt;/mo&gt;&lt;mn&gt;15&lt;/mn&gt;&lt;mfrac&gt;&lt;mn&gt;1&lt;/mn&gt;&lt;mn&gt;7&lt;/mn&gt;&lt;/mfrac&gt;&lt;mo&gt;,&lt;/mo&gt;&lt;mtext&gt;&lt;/mtext&gt;&lt;mo&gt;.&lt;/mo&gt;&lt;mo&gt;.&lt;/mo&gt;&lt;mo&gt;.&lt;/mo&gt;&lt;/math&gt;" id="1346" name="Google Shape;1346;p103" title="3 and one seventh comma 6 and one seventh comma 9 and one seventh comma 12 and one seventh comma 15 and one seventh comma period period perio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04607" y="3396790"/>
            <a:ext cx="2522714" cy="467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,1,-2,-5,-8,\ ...&quot;&gt;&lt;mn&gt;4&lt;/mn&gt;&lt;mo&gt;,&lt;/mo&gt;&lt;mn&gt;1&lt;/mn&gt;&lt;mo&gt;,&lt;/mo&gt;&lt;mo&gt;−&lt;/mo&gt;&lt;mn&gt;2&lt;/mn&gt;&lt;mo&gt;,&lt;/mo&gt;&lt;mo&gt;−&lt;/mo&gt;&lt;mn&gt;5&lt;/mn&gt;&lt;mo&gt;,&lt;/mo&gt;&lt;mo&gt;−&lt;/mo&gt;&lt;mn&gt;8&lt;/mn&gt;&lt;mo&gt;,&lt;/mo&gt;&lt;mtext&gt;&lt;/mtext&gt;&lt;mo&gt;.&lt;/mo&gt;&lt;mo&gt;.&lt;/mo&gt;&lt;mo&gt;.&lt;/mo&gt;&lt;/math&gt;" id="1347" name="Google Shape;1347;p103" title="4 comma 1 comma negative 2 comma negative 5 comma negative 8 comma period period perio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404607" y="4047676"/>
            <a:ext cx="2499738" cy="26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,-4,-7,-10,-13\ ...&quot;&gt;&lt;mo&gt;−&lt;/mo&gt;&lt;mn&gt;1&lt;/mn&gt;&lt;mo&gt;,&lt;/mo&gt;&lt;mo&gt;−&lt;/mo&gt;&lt;mn&gt;4&lt;/mn&gt;&lt;mo&gt;,&lt;/mo&gt;&lt;mo&gt;−&lt;/mo&gt;&lt;mn&gt;7&lt;/mn&gt;&lt;mo&gt;,&lt;/mo&gt;&lt;mo&gt;−&lt;/mo&gt;&lt;mn&gt;10&lt;/mn&gt;&lt;mo&gt;,&lt;/mo&gt;&lt;mo&gt;−&lt;/mo&gt;&lt;mn&gt;13&lt;/mn&gt;&lt;mtext&gt;&lt;/mtext&gt;&lt;mo&gt;.&lt;/mo&gt;&lt;mo&gt;.&lt;/mo&gt;&lt;mo&gt;.&lt;/mo&gt;&lt;/math&gt;" id="1348" name="Google Shape;1348;p103" title="negative 1 comma negative 4 comma negative 7 comma negative 10 comma negative 13 period period period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404607" y="4498824"/>
            <a:ext cx="3185542" cy="2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103"/>
          <p:cNvSpPr txBox="1"/>
          <p:nvPr>
            <p:ph idx="4294967295" type="body"/>
          </p:nvPr>
        </p:nvSpPr>
        <p:spPr>
          <a:xfrm>
            <a:off x="6206875" y="1628737"/>
            <a:ext cx="26130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a) to e) all had a common difference of +3. They were increasing sequences.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0" name="Google Shape;1350;p103"/>
          <p:cNvSpPr txBox="1"/>
          <p:nvPr>
            <p:ph idx="4294967295" type="body"/>
          </p:nvPr>
        </p:nvSpPr>
        <p:spPr>
          <a:xfrm>
            <a:off x="6206875" y="3675725"/>
            <a:ext cx="21654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and g) had a common difference of -3, decreasing.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1" name="Google Shape;1351;p103"/>
          <p:cNvSpPr/>
          <p:nvPr/>
        </p:nvSpPr>
        <p:spPr>
          <a:xfrm>
            <a:off x="314451" y="1555550"/>
            <a:ext cx="5559900" cy="2363100"/>
          </a:xfrm>
          <a:prstGeom prst="roundRect">
            <a:avLst>
              <a:gd fmla="val 5493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3"/>
          <p:cNvSpPr/>
          <p:nvPr/>
        </p:nvSpPr>
        <p:spPr>
          <a:xfrm>
            <a:off x="314450" y="3918650"/>
            <a:ext cx="5559900" cy="91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04"/>
          <p:cNvSpPr txBox="1"/>
          <p:nvPr>
            <p:ph idx="1" type="body"/>
          </p:nvPr>
        </p:nvSpPr>
        <p:spPr>
          <a:xfrm>
            <a:off x="324000" y="759300"/>
            <a:ext cx="7135200" cy="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first five terms of each of these sequences and compare them:</a:t>
            </a:r>
            <a:endParaRPr/>
          </a:p>
        </p:txBody>
      </p:sp>
      <p:sp>
        <p:nvSpPr>
          <p:cNvPr id="1358" name="Google Shape;1358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 of different sequences</a:t>
            </a:r>
            <a:endParaRPr/>
          </a:p>
        </p:txBody>
      </p:sp>
      <p:sp>
        <p:nvSpPr>
          <p:cNvPr id="1359" name="Google Shape;1359;p104"/>
          <p:cNvSpPr txBox="1"/>
          <p:nvPr>
            <p:ph idx="1" type="body"/>
          </p:nvPr>
        </p:nvSpPr>
        <p:spPr>
          <a:xfrm>
            <a:off x="324000" y="1545448"/>
            <a:ext cx="604800" cy="24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3n&quot;&gt;&lt;mn&gt;3&lt;/mn&gt;&lt;mi&gt;n&lt;/mi&gt;&lt;/math&gt;" id="1360" name="Google Shape;1360;p104" title="3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374" y="1606510"/>
            <a:ext cx="33572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2&quot;&gt;&lt;mn&gt;3&lt;/mn&gt;&lt;mi&gt;n&lt;/mi&gt;&lt;mo&gt;+&lt;/mo&gt;&lt;mn&gt;2&lt;/mn&gt;&lt;/math&gt;" id="1361" name="Google Shape;1361;p104" title="3 n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679" y="2071705"/>
            <a:ext cx="855074" cy="23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\frac{1}{7}&quot;&gt;&lt;mn&gt;3&lt;/mn&gt;&lt;mi&gt;n&lt;/mi&gt;&lt;mo&gt;+&lt;/mo&gt;&lt;mfrac&gt;&lt;mn&gt;1&lt;/mn&gt;&lt;mn&gt;7&lt;/mn&gt;&lt;/mfrac&gt;&lt;/math&gt;" id="1362" name="Google Shape;1362;p104" title="3 n plus 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00" y="3347679"/>
            <a:ext cx="808700" cy="570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0.7&quot;&gt;&lt;mn&gt;3&lt;/mn&gt;&lt;mi&gt;n&lt;/mi&gt;&lt;mo&gt;+&lt;/mo&gt;&lt;mn&gt;0.7&lt;/mn&gt;&lt;/math&gt;" id="1363" name="Google Shape;1363;p104" title="3 n plus 0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150" y="3008613"/>
            <a:ext cx="106872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&quot;&gt;&lt;mn&gt;3&lt;/mn&gt;&lt;mi&gt;n&lt;/mi&gt;&lt;mo&gt;−&lt;/mo&gt;&lt;mn&gt;1&lt;/mn&gt;&lt;/math&gt;" id="1364" name="Google Shape;1364;p104" title="3 n minus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1385" y="2564040"/>
            <a:ext cx="80868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,6,9,12,15,\ ...&quot;&gt;&lt;mn&gt;3&lt;/mn&gt;&lt;mo&gt;,&lt;/mo&gt;&lt;mn&gt;6&lt;/mn&gt;&lt;mo&gt;,&lt;/mo&gt;&lt;mn&gt;9&lt;/mn&gt;&lt;mo&gt;,&lt;/mo&gt;&lt;mn&gt;12&lt;/mn&gt;&lt;mo&gt;,&lt;/mo&gt;&lt;mn&gt;15&lt;/mn&gt;&lt;mo&gt;,&lt;/mo&gt;&lt;mtext&gt;&lt;/mtext&gt;&lt;mo&gt;.&lt;/mo&gt;&lt;mo&gt;.&lt;/mo&gt;&lt;mo&gt;.&lt;/mo&gt;&lt;/math&gt;" id="1365" name="Google Shape;1365;p104" title="3 comma 6 comma 9 comma 12 comma 15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04607" y="1603487"/>
            <a:ext cx="2221600" cy="270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,8,11,14,17,\ ...&quot;&gt;&lt;mn&gt;5&lt;/mn&gt;&lt;mo&gt;,&lt;/mo&gt;&lt;mn&gt;8&lt;/mn&gt;&lt;mo&gt;,&lt;/mo&gt;&lt;mn&gt;11&lt;/mn&gt;&lt;mo&gt;,&lt;/mo&gt;&lt;mn&gt;14&lt;/mn&gt;&lt;mo&gt;,&lt;/mo&gt;&lt;mn&gt;17&lt;/mn&gt;&lt;mo&gt;,&lt;/mo&gt;&lt;mtext&gt;&lt;/mtext&gt;&lt;mo&gt;.&lt;/mo&gt;&lt;mo&gt;.&lt;/mo&gt;&lt;mo&gt;.&lt;/mo&gt;&lt;/math&gt;" id="1366" name="Google Shape;1366;p104" title="5 comma 8 comma 11 comma 14 comma 17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04607" y="2056681"/>
            <a:ext cx="23868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,5,8,11,14,\ ...&quot;&gt;&lt;mn&gt;2&lt;/mn&gt;&lt;mo&gt;,&lt;/mo&gt;&lt;mn&gt;5&lt;/mn&gt;&lt;mo&gt;,&lt;/mo&gt;&lt;mn&gt;8&lt;/mn&gt;&lt;mo&gt;,&lt;/mo&gt;&lt;mn&gt;11&lt;/mn&gt;&lt;mo&gt;,&lt;/mo&gt;&lt;mn&gt;14&lt;/mn&gt;&lt;mo&gt;,&lt;/mo&gt;&lt;mtext&gt;&lt;/mtext&gt;&lt;mo&gt;.&lt;/mo&gt;&lt;mo&gt;.&lt;/mo&gt;&lt;mo&gt;.&lt;/mo&gt;&lt;/math&gt;" id="1367" name="Google Shape;1367;p104" title="2 comma 5 comma 8 comma 11 comma 14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4607" y="2507837"/>
            <a:ext cx="22204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7,6.7,9.7,12.7,15.7,\ ...&quot;&gt;&lt;mn&gt;3.7&lt;/mn&gt;&lt;mo&gt;,&lt;/mo&gt;&lt;mn&gt;6.7&lt;/mn&gt;&lt;mo&gt;,&lt;/mo&gt;&lt;mn&gt;9.7&lt;/mn&gt;&lt;mo&gt;,&lt;/mo&gt;&lt;mn&gt;12.7&lt;/mn&gt;&lt;mo&gt;,&lt;/mo&gt;&lt;mn&gt;15.7&lt;/mn&gt;&lt;mo&gt;,&lt;/mo&gt;&lt;mtext&gt;&lt;/mtext&gt;&lt;mo&gt;.&lt;/mo&gt;&lt;mo&gt;.&lt;/mo&gt;&lt;mo&gt;.&lt;/mo&gt;&lt;/math&gt;" id="1368" name="Google Shape;1368;p104" title="3.7 comma 6.7 comma 9.7 comma 12.7 comma 15.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04601" y="2983574"/>
            <a:ext cx="287165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,6\frac{1}{7},9\frac{1}{7},12\frac{1}{7},15\frac{1}{7},\ ...&quot;&gt;&lt;mn&gt;3&lt;/mn&gt;&lt;mfrac&gt;&lt;mn&gt;1&lt;/mn&gt;&lt;mn&gt;7&lt;/mn&gt;&lt;/mfrac&gt;&lt;mo&gt;,&lt;/mo&gt;&lt;mn&gt;6&lt;/mn&gt;&lt;mfrac&gt;&lt;mn&gt;1&lt;/mn&gt;&lt;mn&gt;7&lt;/mn&gt;&lt;/mfrac&gt;&lt;mo&gt;,&lt;/mo&gt;&lt;mn&gt;9&lt;/mn&gt;&lt;mfrac&gt;&lt;mn&gt;1&lt;/mn&gt;&lt;mn&gt;7&lt;/mn&gt;&lt;/mfrac&gt;&lt;mo&gt;,&lt;/mo&gt;&lt;mn&gt;12&lt;/mn&gt;&lt;mfrac&gt;&lt;mn&gt;1&lt;/mn&gt;&lt;mn&gt;7&lt;/mn&gt;&lt;/mfrac&gt;&lt;mo&gt;,&lt;/mo&gt;&lt;mn&gt;15&lt;/mn&gt;&lt;mfrac&gt;&lt;mn&gt;1&lt;/mn&gt;&lt;mn&gt;7&lt;/mn&gt;&lt;/mfrac&gt;&lt;mo&gt;,&lt;/mo&gt;&lt;mtext&gt;&lt;/mtext&gt;&lt;mo&gt;.&lt;/mo&gt;&lt;mo&gt;.&lt;/mo&gt;&lt;mo&gt;.&lt;/mo&gt;&lt;/math&gt;" id="1369" name="Google Shape;1369;p104" title="3 and one seventh comma 6 and one seventh comma 9 and one seventh comma 12 and one seventh comma 15 and one seventh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04607" y="3396790"/>
            <a:ext cx="2522714" cy="467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4"/>
          <p:cNvSpPr txBox="1"/>
          <p:nvPr>
            <p:ph idx="4294967295" type="body"/>
          </p:nvPr>
        </p:nvSpPr>
        <p:spPr>
          <a:xfrm>
            <a:off x="5084699" y="1576677"/>
            <a:ext cx="21654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3 times tables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1" name="Google Shape;1371;p104"/>
          <p:cNvSpPr txBox="1"/>
          <p:nvPr>
            <p:ph idx="4294967295" type="body"/>
          </p:nvPr>
        </p:nvSpPr>
        <p:spPr>
          <a:xfrm>
            <a:off x="5155925" y="2033875"/>
            <a:ext cx="36855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Two more than the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3 times tables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2" name="Google Shape;1372;p104"/>
          <p:cNvSpPr txBox="1"/>
          <p:nvPr>
            <p:ph idx="4294967295" type="body"/>
          </p:nvPr>
        </p:nvSpPr>
        <p:spPr>
          <a:xfrm>
            <a:off x="5003525" y="2491075"/>
            <a:ext cx="36855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One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less than the 3 times tables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3" name="Google Shape;1373;p104"/>
          <p:cNvSpPr txBox="1"/>
          <p:nvPr>
            <p:ph idx="4294967295" type="body"/>
          </p:nvPr>
        </p:nvSpPr>
        <p:spPr>
          <a:xfrm>
            <a:off x="5360385" y="2948275"/>
            <a:ext cx="34605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0.7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more than the 3 times tables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4" name="Google Shape;1374;p104"/>
          <p:cNvSpPr txBox="1"/>
          <p:nvPr>
            <p:ph idx="4294967295" type="body"/>
          </p:nvPr>
        </p:nvSpPr>
        <p:spPr>
          <a:xfrm>
            <a:off x="5084700" y="3405475"/>
            <a:ext cx="30075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One seventh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more than the 3 times tables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05"/>
          <p:cNvSpPr txBox="1"/>
          <p:nvPr>
            <p:ph idx="1" type="body"/>
          </p:nvPr>
        </p:nvSpPr>
        <p:spPr>
          <a:xfrm>
            <a:off x="324000" y="759300"/>
            <a:ext cx="7135200" cy="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first five terms of each of these sequences and compare them:</a:t>
            </a:r>
            <a:endParaRPr/>
          </a:p>
        </p:txBody>
      </p:sp>
      <p:sp>
        <p:nvSpPr>
          <p:cNvPr id="1380" name="Google Shape;1380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 of different sequences</a:t>
            </a:r>
            <a:endParaRPr/>
          </a:p>
        </p:txBody>
      </p:sp>
      <p:sp>
        <p:nvSpPr>
          <p:cNvPr id="1381" name="Google Shape;1381;p105"/>
          <p:cNvSpPr txBox="1"/>
          <p:nvPr>
            <p:ph idx="1" type="body"/>
          </p:nvPr>
        </p:nvSpPr>
        <p:spPr>
          <a:xfrm>
            <a:off x="324000" y="1545440"/>
            <a:ext cx="604800" cy="31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f)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g)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3n&quot;&gt;&lt;mn&gt;3&lt;/mn&gt;&lt;mi&gt;n&lt;/mi&gt;&lt;/math&gt;" id="1382" name="Google Shape;1382;p105" title="3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374" y="1606510"/>
            <a:ext cx="33572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2&quot;&gt;&lt;mn&gt;3&lt;/mn&gt;&lt;mi&gt;n&lt;/mi&gt;&lt;mo&gt;+&lt;/mo&gt;&lt;mn&gt;2&lt;/mn&gt;&lt;/math&gt;" id="1383" name="Google Shape;1383;p105" title="3 n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679" y="2071705"/>
            <a:ext cx="855074" cy="23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\frac{1}{7}&quot;&gt;&lt;mn&gt;3&lt;/mn&gt;&lt;mi&gt;n&lt;/mi&gt;&lt;mo&gt;+&lt;/mo&gt;&lt;mfrac&gt;&lt;mn&gt;1&lt;/mn&gt;&lt;mn&gt;7&lt;/mn&gt;&lt;/mfrac&gt;&lt;/math&gt;" id="1384" name="Google Shape;1384;p105" title="3 n plus 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00" y="3347679"/>
            <a:ext cx="808700" cy="570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0.7&quot;&gt;&lt;mn&gt;3&lt;/mn&gt;&lt;mi&gt;n&lt;/mi&gt;&lt;mo&gt;+&lt;/mo&gt;&lt;mn&gt;0.7&lt;/mn&gt;&lt;/math&gt;" id="1385" name="Google Shape;1385;p105" title="3 n plus 0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150" y="3008613"/>
            <a:ext cx="106872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n+7&quot;&gt;&lt;mo&gt;−&lt;/mo&gt;&lt;mn&gt;3&lt;/mn&gt;&lt;mi&gt;n&lt;/mi&gt;&lt;mo&gt;+&lt;/mo&gt;&lt;mn&gt;7&lt;/mn&gt;&lt;/math&gt;" id="1386" name="Google Shape;1386;p105" title="negative 3 n plu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9765" y="4004372"/>
            <a:ext cx="109195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-3n&quot;&gt;&lt;mn&gt;2&lt;/mn&gt;&lt;mo&gt;−&lt;/mo&gt;&lt;mn&gt;3&lt;/mn&gt;&lt;mi&gt;n&lt;/mi&gt;&lt;/math&gt;" id="1387" name="Google Shape;1387;p105" title="2 minus 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8266" y="4493923"/>
            <a:ext cx="860852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&quot;&gt;&lt;mn&gt;3&lt;/mn&gt;&lt;mi&gt;n&lt;/mi&gt;&lt;mo&gt;−&lt;/mo&gt;&lt;mn&gt;1&lt;/mn&gt;&lt;/math&gt;" id="1388" name="Google Shape;1388;p105" title="3 n minu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385" y="2564040"/>
            <a:ext cx="80868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,6,9,12,15,\ ...&quot;&gt;&lt;mn&gt;3&lt;/mn&gt;&lt;mo&gt;,&lt;/mo&gt;&lt;mn&gt;6&lt;/mn&gt;&lt;mo&gt;,&lt;/mo&gt;&lt;mn&gt;9&lt;/mn&gt;&lt;mo&gt;,&lt;/mo&gt;&lt;mn&gt;12&lt;/mn&gt;&lt;mo&gt;,&lt;/mo&gt;&lt;mn&gt;15&lt;/mn&gt;&lt;mo&gt;,&lt;/mo&gt;&lt;mtext&gt;&lt;/mtext&gt;&lt;mo&gt;.&lt;/mo&gt;&lt;mo&gt;.&lt;/mo&gt;&lt;mo&gt;.&lt;/mo&gt;&lt;/math&gt;" id="1389" name="Google Shape;1389;p105" title="3 comma 6 comma 9 comma 12 comma 15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4607" y="1603487"/>
            <a:ext cx="2221600" cy="270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,8,11,14,17,\ ...&quot;&gt;&lt;mn&gt;5&lt;/mn&gt;&lt;mo&gt;,&lt;/mo&gt;&lt;mn&gt;8&lt;/mn&gt;&lt;mo&gt;,&lt;/mo&gt;&lt;mn&gt;11&lt;/mn&gt;&lt;mo&gt;,&lt;/mo&gt;&lt;mn&gt;14&lt;/mn&gt;&lt;mo&gt;,&lt;/mo&gt;&lt;mn&gt;17&lt;/mn&gt;&lt;mo&gt;,&lt;/mo&gt;&lt;mtext&gt;&lt;/mtext&gt;&lt;mo&gt;.&lt;/mo&gt;&lt;mo&gt;.&lt;/mo&gt;&lt;mo&gt;.&lt;/mo&gt;&lt;/math&gt;" id="1390" name="Google Shape;1390;p105" title="5 comma 8 comma 11 comma 14 comma 1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04607" y="2056681"/>
            <a:ext cx="23868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,5,8,11,14,\ ...&quot;&gt;&lt;mn&gt;2&lt;/mn&gt;&lt;mo&gt;,&lt;/mo&gt;&lt;mn&gt;5&lt;/mn&gt;&lt;mo&gt;,&lt;/mo&gt;&lt;mn&gt;8&lt;/mn&gt;&lt;mo&gt;,&lt;/mo&gt;&lt;mn&gt;11&lt;/mn&gt;&lt;mo&gt;,&lt;/mo&gt;&lt;mn&gt;14&lt;/mn&gt;&lt;mo&gt;,&lt;/mo&gt;&lt;mtext&gt;&lt;/mtext&gt;&lt;mo&gt;.&lt;/mo&gt;&lt;mo&gt;.&lt;/mo&gt;&lt;mo&gt;.&lt;/mo&gt;&lt;/math&gt;" id="1391" name="Google Shape;1391;p105" title="2 comma 5 comma 8 comma 11 comma 14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04607" y="2507837"/>
            <a:ext cx="22204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7,6.7,9.7,12.7,15.7,\ ...&quot;&gt;&lt;mn&gt;3.7&lt;/mn&gt;&lt;mo&gt;,&lt;/mo&gt;&lt;mn&gt;6.7&lt;/mn&gt;&lt;mo&gt;,&lt;/mo&gt;&lt;mn&gt;9.7&lt;/mn&gt;&lt;mo&gt;,&lt;/mo&gt;&lt;mn&gt;12.7&lt;/mn&gt;&lt;mo&gt;,&lt;/mo&gt;&lt;mn&gt;15.7&lt;/mn&gt;&lt;mo&gt;,&lt;/mo&gt;&lt;mtext&gt;&lt;/mtext&gt;&lt;mo&gt;.&lt;/mo&gt;&lt;mo&gt;.&lt;/mo&gt;&lt;mo&gt;.&lt;/mo&gt;&lt;/math&gt;" id="1392" name="Google Shape;1392;p105" title="3.7 comma 6.7 comma 9.7 comma 12.7 comma 15.7 comma period period perio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04607" y="2958992"/>
            <a:ext cx="3178143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,6\frac{1}{7},9\frac{1}{7},12\frac{1}{7},15\frac{1}{7},\ ...&quot;&gt;&lt;mn&gt;3&lt;/mn&gt;&lt;mfrac&gt;&lt;mn&gt;1&lt;/mn&gt;&lt;mn&gt;7&lt;/mn&gt;&lt;/mfrac&gt;&lt;mo&gt;,&lt;/mo&gt;&lt;mn&gt;6&lt;/mn&gt;&lt;mfrac&gt;&lt;mn&gt;1&lt;/mn&gt;&lt;mn&gt;7&lt;/mn&gt;&lt;/mfrac&gt;&lt;mo&gt;,&lt;/mo&gt;&lt;mn&gt;9&lt;/mn&gt;&lt;mfrac&gt;&lt;mn&gt;1&lt;/mn&gt;&lt;mn&gt;7&lt;/mn&gt;&lt;/mfrac&gt;&lt;mo&gt;,&lt;/mo&gt;&lt;mn&gt;12&lt;/mn&gt;&lt;mfrac&gt;&lt;mn&gt;1&lt;/mn&gt;&lt;mn&gt;7&lt;/mn&gt;&lt;/mfrac&gt;&lt;mo&gt;,&lt;/mo&gt;&lt;mn&gt;15&lt;/mn&gt;&lt;mfrac&gt;&lt;mn&gt;1&lt;/mn&gt;&lt;mn&gt;7&lt;/mn&gt;&lt;/mfrac&gt;&lt;mo&gt;,&lt;/mo&gt;&lt;mtext&gt;&lt;/mtext&gt;&lt;mo&gt;.&lt;/mo&gt;&lt;mo&gt;.&lt;/mo&gt;&lt;mo&gt;.&lt;/mo&gt;&lt;/math&gt;" id="1393" name="Google Shape;1393;p105" title="3 and one seventh comma 6 and one seventh comma 9 and one seventh comma 12 and one seventh comma 15 and one seventh comma period period perio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04607" y="3396790"/>
            <a:ext cx="2522714" cy="467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,1,-2,-5,-8,\ ...&quot;&gt;&lt;mn&gt;4&lt;/mn&gt;&lt;mo&gt;,&lt;/mo&gt;&lt;mn&gt;1&lt;/mn&gt;&lt;mo&gt;,&lt;/mo&gt;&lt;mo&gt;−&lt;/mo&gt;&lt;mn&gt;2&lt;/mn&gt;&lt;mo&gt;,&lt;/mo&gt;&lt;mo&gt;−&lt;/mo&gt;&lt;mn&gt;5&lt;/mn&gt;&lt;mo&gt;,&lt;/mo&gt;&lt;mo&gt;−&lt;/mo&gt;&lt;mn&gt;8&lt;/mn&gt;&lt;mo&gt;,&lt;/mo&gt;&lt;mtext&gt;&lt;/mtext&gt;&lt;mo&gt;.&lt;/mo&gt;&lt;mo&gt;.&lt;/mo&gt;&lt;mo&gt;.&lt;/mo&gt;&lt;/math&gt;" id="1394" name="Google Shape;1394;p105" title="4 comma 1 comma negative 2 comma negative 5 comma negative 8 comma period period perio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404607" y="4047676"/>
            <a:ext cx="2499738" cy="26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,-4,-7,-10,-13\ ...&quot;&gt;&lt;mo&gt;−&lt;/mo&gt;&lt;mn&gt;1&lt;/mn&gt;&lt;mo&gt;,&lt;/mo&gt;&lt;mo&gt;−&lt;/mo&gt;&lt;mn&gt;4&lt;/mn&gt;&lt;mo&gt;,&lt;/mo&gt;&lt;mo&gt;−&lt;/mo&gt;&lt;mn&gt;7&lt;/mn&gt;&lt;mo&gt;,&lt;/mo&gt;&lt;mo&gt;−&lt;/mo&gt;&lt;mn&gt;10&lt;/mn&gt;&lt;mo&gt;,&lt;/mo&gt;&lt;mo&gt;−&lt;/mo&gt;&lt;mn&gt;13&lt;/mn&gt;&lt;mtext&gt;&lt;/mtext&gt;&lt;mo&gt;.&lt;/mo&gt;&lt;mo&gt;.&lt;/mo&gt;&lt;mo&gt;.&lt;/mo&gt;&lt;/math&gt;" id="1395" name="Google Shape;1395;p105" title="negative 1 comma negative 4 comma negative 7 comma negative 10 comma negative 13 period period period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404607" y="4498824"/>
            <a:ext cx="3185542" cy="2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05"/>
          <p:cNvSpPr txBox="1"/>
          <p:nvPr>
            <p:ph idx="4294967295" type="body"/>
          </p:nvPr>
        </p:nvSpPr>
        <p:spPr>
          <a:xfrm>
            <a:off x="5487560" y="1157150"/>
            <a:ext cx="21654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tarting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points: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7" name="Google Shape;1397;p105"/>
          <p:cNvSpPr txBox="1"/>
          <p:nvPr>
            <p:ph idx="4294967295" type="body"/>
          </p:nvPr>
        </p:nvSpPr>
        <p:spPr>
          <a:xfrm>
            <a:off x="5891663" y="1555853"/>
            <a:ext cx="21654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+ 0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8" name="Google Shape;1398;p105"/>
          <p:cNvSpPr txBox="1"/>
          <p:nvPr>
            <p:ph idx="4294967295" type="body"/>
          </p:nvPr>
        </p:nvSpPr>
        <p:spPr>
          <a:xfrm>
            <a:off x="5891663" y="2013053"/>
            <a:ext cx="21654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+ 2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9" name="Google Shape;1399;p105"/>
          <p:cNvSpPr txBox="1"/>
          <p:nvPr>
            <p:ph idx="4294967295" type="body"/>
          </p:nvPr>
        </p:nvSpPr>
        <p:spPr>
          <a:xfrm>
            <a:off x="5891663" y="2470253"/>
            <a:ext cx="21654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3 - 1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0" name="Google Shape;1400;p105"/>
          <p:cNvSpPr txBox="1"/>
          <p:nvPr>
            <p:ph idx="4294967295" type="body"/>
          </p:nvPr>
        </p:nvSpPr>
        <p:spPr>
          <a:xfrm>
            <a:off x="5891663" y="2927453"/>
            <a:ext cx="21654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+ 0.7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1" name="Google Shape;1401;p105"/>
          <p:cNvSpPr txBox="1"/>
          <p:nvPr>
            <p:ph idx="4294967295" type="body"/>
          </p:nvPr>
        </p:nvSpPr>
        <p:spPr>
          <a:xfrm>
            <a:off x="5891663" y="3526641"/>
            <a:ext cx="21654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+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402" name="Google Shape;1402;p105" title="one seventh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434138" y="3477050"/>
            <a:ext cx="112457" cy="3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05"/>
          <p:cNvSpPr txBox="1"/>
          <p:nvPr>
            <p:ph idx="4294967295" type="body"/>
          </p:nvPr>
        </p:nvSpPr>
        <p:spPr>
          <a:xfrm>
            <a:off x="5891663" y="4049629"/>
            <a:ext cx="21654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 + 7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4" name="Google Shape;1404;p105"/>
          <p:cNvSpPr txBox="1"/>
          <p:nvPr>
            <p:ph idx="4294967295" type="body"/>
          </p:nvPr>
        </p:nvSpPr>
        <p:spPr>
          <a:xfrm>
            <a:off x="5891663" y="4465182"/>
            <a:ext cx="21654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2 -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06"/>
          <p:cNvSpPr txBox="1"/>
          <p:nvPr>
            <p:ph idx="1" type="body"/>
          </p:nvPr>
        </p:nvSpPr>
        <p:spPr>
          <a:xfrm>
            <a:off x="324000" y="759300"/>
            <a:ext cx="7135200" cy="7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first five terms of each of these sequences and compare them:</a:t>
            </a:r>
            <a:endParaRPr/>
          </a:p>
        </p:txBody>
      </p:sp>
      <p:sp>
        <p:nvSpPr>
          <p:cNvPr id="1410" name="Google Shape;1410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</a:t>
            </a:r>
            <a:r>
              <a:rPr lang="en-GB" sz="1800"/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</a:t>
            </a:r>
            <a:r>
              <a:rPr lang="en-GB"/>
              <a:t>terms of different sequences</a:t>
            </a:r>
            <a:endParaRPr/>
          </a:p>
        </p:txBody>
      </p:sp>
      <p:sp>
        <p:nvSpPr>
          <p:cNvPr id="1411" name="Google Shape;1411;p106"/>
          <p:cNvSpPr txBox="1"/>
          <p:nvPr>
            <p:ph idx="1" type="body"/>
          </p:nvPr>
        </p:nvSpPr>
        <p:spPr>
          <a:xfrm>
            <a:off x="324000" y="1545440"/>
            <a:ext cx="604800" cy="31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f)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g)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3n&quot;&gt;&lt;mn&gt;3&lt;/mn&gt;&lt;mi&gt;n&lt;/mi&gt;&lt;/math&gt;" id="1412" name="Google Shape;1412;p106" title="3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374" y="1606510"/>
            <a:ext cx="33572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2&quot;&gt;&lt;mn&gt;3&lt;/mn&gt;&lt;mi&gt;n&lt;/mi&gt;&lt;mo&gt;+&lt;/mo&gt;&lt;mn&gt;2&lt;/mn&gt;&lt;/math&gt;" id="1413" name="Google Shape;1413;p106" title="3 n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679" y="2071705"/>
            <a:ext cx="855074" cy="23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\frac{1}{7}&quot;&gt;&lt;mn&gt;3&lt;/mn&gt;&lt;mi&gt;n&lt;/mi&gt;&lt;mo&gt;+&lt;/mo&gt;&lt;mfrac&gt;&lt;mn&gt;1&lt;/mn&gt;&lt;mn&gt;7&lt;/mn&gt;&lt;/mfrac&gt;&lt;/math&gt;" id="1414" name="Google Shape;1414;p106" title="3 n plus 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00" y="3347679"/>
            <a:ext cx="808700" cy="570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+0.7&quot;&gt;&lt;mn&gt;3&lt;/mn&gt;&lt;mi&gt;n&lt;/mi&gt;&lt;mo&gt;+&lt;/mo&gt;&lt;mn&gt;0.7&lt;/mn&gt;&lt;/math&gt;" id="1415" name="Google Shape;1415;p106" title="3 n plus 0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150" y="3008613"/>
            <a:ext cx="106872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n+7&quot;&gt;&lt;mo&gt;−&lt;/mo&gt;&lt;mn&gt;3&lt;/mn&gt;&lt;mi&gt;n&lt;/mi&gt;&lt;mo&gt;+&lt;/mo&gt;&lt;mn&gt;7&lt;/mn&gt;&lt;/math&gt;" id="1416" name="Google Shape;1416;p106" title="negative 3 n plu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9765" y="4004372"/>
            <a:ext cx="1091953" cy="241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-3n&quot;&gt;&lt;mn&gt;2&lt;/mn&gt;&lt;mo&gt;−&lt;/mo&gt;&lt;mn&gt;3&lt;/mn&gt;&lt;mi&gt;n&lt;/mi&gt;&lt;/math&gt;" id="1417" name="Google Shape;1417;p106" title="2 minus 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8266" y="4493923"/>
            <a:ext cx="860852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n-1&quot;&gt;&lt;mn&gt;3&lt;/mn&gt;&lt;mi&gt;n&lt;/mi&gt;&lt;mo&gt;−&lt;/mo&gt;&lt;mn&gt;1&lt;/mn&gt;&lt;/math&gt;" id="1418" name="Google Shape;1418;p106" title="3 n minu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385" y="2564040"/>
            <a:ext cx="808683" cy="23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,6,9,12,15,\ ...&quot;&gt;&lt;mn&gt;3&lt;/mn&gt;&lt;mo&gt;,&lt;/mo&gt;&lt;mn&gt;6&lt;/mn&gt;&lt;mo&gt;,&lt;/mo&gt;&lt;mn&gt;9&lt;/mn&gt;&lt;mo&gt;,&lt;/mo&gt;&lt;mn&gt;12&lt;/mn&gt;&lt;mo&gt;,&lt;/mo&gt;&lt;mn&gt;15&lt;/mn&gt;&lt;mo&gt;,&lt;/mo&gt;&lt;mtext&gt;&lt;/mtext&gt;&lt;mo&gt;.&lt;/mo&gt;&lt;mo&gt;.&lt;/mo&gt;&lt;mo&gt;.&lt;/mo&gt;&lt;/math&gt;" id="1419" name="Google Shape;1419;p106" title="3 comma 6 comma 9 comma 12 comma 15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4607" y="1603487"/>
            <a:ext cx="2221600" cy="270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,8,11,14,17,\ ...&quot;&gt;&lt;mn&gt;5&lt;/mn&gt;&lt;mo&gt;,&lt;/mo&gt;&lt;mn&gt;8&lt;/mn&gt;&lt;mo&gt;,&lt;/mo&gt;&lt;mn&gt;11&lt;/mn&gt;&lt;mo&gt;,&lt;/mo&gt;&lt;mn&gt;14&lt;/mn&gt;&lt;mo&gt;,&lt;/mo&gt;&lt;mn&gt;17&lt;/mn&gt;&lt;mo&gt;,&lt;/mo&gt;&lt;mtext&gt;&lt;/mtext&gt;&lt;mo&gt;.&lt;/mo&gt;&lt;mo&gt;.&lt;/mo&gt;&lt;mo&gt;.&lt;/mo&gt;&lt;/math&gt;" id="1420" name="Google Shape;1420;p106" title="5 comma 8 comma 11 comma 14 comma 1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04607" y="2056681"/>
            <a:ext cx="23868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,5,8,11,14,\ ...&quot;&gt;&lt;mn&gt;2&lt;/mn&gt;&lt;mo&gt;,&lt;/mo&gt;&lt;mn&gt;5&lt;/mn&gt;&lt;mo&gt;,&lt;/mo&gt;&lt;mn&gt;8&lt;/mn&gt;&lt;mo&gt;,&lt;/mo&gt;&lt;mn&gt;11&lt;/mn&gt;&lt;mo&gt;,&lt;/mo&gt;&lt;mn&gt;14&lt;/mn&gt;&lt;mo&gt;,&lt;/mo&gt;&lt;mtext&gt;&lt;/mtext&gt;&lt;mo&gt;.&lt;/mo&gt;&lt;mo&gt;.&lt;/mo&gt;&lt;mo&gt;.&lt;/mo&gt;&lt;/math&gt;" id="1421" name="Google Shape;1421;p106" title="2 comma 5 comma 8 comma 11 comma 14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04607" y="2507837"/>
            <a:ext cx="2220400" cy="268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7,6.7,9.7,12.7,15.7,\ ...&quot;&gt;&lt;mn&gt;3.7&lt;/mn&gt;&lt;mo&gt;,&lt;/mo&gt;&lt;mn&gt;6.7&lt;/mn&gt;&lt;mo&gt;,&lt;/mo&gt;&lt;mn&gt;9.7&lt;/mn&gt;&lt;mo&gt;,&lt;/mo&gt;&lt;mn&gt;12.7&lt;/mn&gt;&lt;mo&gt;,&lt;/mo&gt;&lt;mn&gt;15.7&lt;/mn&gt;&lt;mo&gt;,&lt;/mo&gt;&lt;mtext&gt;&lt;/mtext&gt;&lt;mo&gt;.&lt;/mo&gt;&lt;mo&gt;.&lt;/mo&gt;&lt;mo&gt;.&lt;/mo&gt;&lt;/math&gt;" id="1422" name="Google Shape;1422;p106" title="3.7 comma 6.7 comma 9.7 comma 12.7 comma 15.7 comma period period perio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04607" y="2958992"/>
            <a:ext cx="3178143" cy="2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,6\frac{1}{7},9\frac{1}{7},12\frac{1}{7},15\frac{1}{7},\ ...&quot;&gt;&lt;mn&gt;3&lt;/mn&gt;&lt;mfrac&gt;&lt;mn&gt;1&lt;/mn&gt;&lt;mn&gt;7&lt;/mn&gt;&lt;/mfrac&gt;&lt;mo&gt;,&lt;/mo&gt;&lt;mn&gt;6&lt;/mn&gt;&lt;mfrac&gt;&lt;mn&gt;1&lt;/mn&gt;&lt;mn&gt;7&lt;/mn&gt;&lt;/mfrac&gt;&lt;mo&gt;,&lt;/mo&gt;&lt;mn&gt;9&lt;/mn&gt;&lt;mfrac&gt;&lt;mn&gt;1&lt;/mn&gt;&lt;mn&gt;7&lt;/mn&gt;&lt;/mfrac&gt;&lt;mo&gt;,&lt;/mo&gt;&lt;mn&gt;12&lt;/mn&gt;&lt;mfrac&gt;&lt;mn&gt;1&lt;/mn&gt;&lt;mn&gt;7&lt;/mn&gt;&lt;/mfrac&gt;&lt;mo&gt;,&lt;/mo&gt;&lt;mn&gt;15&lt;/mn&gt;&lt;mfrac&gt;&lt;mn&gt;1&lt;/mn&gt;&lt;mn&gt;7&lt;/mn&gt;&lt;/mfrac&gt;&lt;mo&gt;,&lt;/mo&gt;&lt;mtext&gt;&lt;/mtext&gt;&lt;mo&gt;.&lt;/mo&gt;&lt;mo&gt;.&lt;/mo&gt;&lt;mo&gt;.&lt;/mo&gt;&lt;/math&gt;" id="1423" name="Google Shape;1423;p106" title="3 and one seventh comma 6 and one seventh comma 9 and one seventh comma 12 and one seventh comma 15 and one seventh comma period period perio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04607" y="3396790"/>
            <a:ext cx="2522714" cy="467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,1,-2,-5,-8,\ ...&quot;&gt;&lt;mn&gt;4&lt;/mn&gt;&lt;mo&gt;,&lt;/mo&gt;&lt;mn&gt;1&lt;/mn&gt;&lt;mo&gt;,&lt;/mo&gt;&lt;mo&gt;−&lt;/mo&gt;&lt;mn&gt;2&lt;/mn&gt;&lt;mo&gt;,&lt;/mo&gt;&lt;mo&gt;−&lt;/mo&gt;&lt;mn&gt;5&lt;/mn&gt;&lt;mo&gt;,&lt;/mo&gt;&lt;mo&gt;−&lt;/mo&gt;&lt;mn&gt;8&lt;/mn&gt;&lt;mo&gt;,&lt;/mo&gt;&lt;mtext&gt;&lt;/mtext&gt;&lt;mo&gt;.&lt;/mo&gt;&lt;mo&gt;.&lt;/mo&gt;&lt;mo&gt;.&lt;/mo&gt;&lt;/math&gt;" id="1424" name="Google Shape;1424;p106" title="4 comma 1 comma negative 2 comma negative 5 comma negative 8 comma period period perio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404607" y="4047676"/>
            <a:ext cx="2499738" cy="26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,-4,-7,-10,-13\ ...&quot;&gt;&lt;mo&gt;−&lt;/mo&gt;&lt;mn&gt;1&lt;/mn&gt;&lt;mo&gt;,&lt;/mo&gt;&lt;mo&gt;−&lt;/mo&gt;&lt;mn&gt;4&lt;/mn&gt;&lt;mo&gt;,&lt;/mo&gt;&lt;mo&gt;−&lt;/mo&gt;&lt;mn&gt;7&lt;/mn&gt;&lt;mo&gt;,&lt;/mo&gt;&lt;mo&gt;−&lt;/mo&gt;&lt;mn&gt;10&lt;/mn&gt;&lt;mo&gt;,&lt;/mo&gt;&lt;mo&gt;−&lt;/mo&gt;&lt;mn&gt;13&lt;/mn&gt;&lt;mtext&gt;&lt;/mtext&gt;&lt;mo&gt;.&lt;/mo&gt;&lt;mo&gt;.&lt;/mo&gt;&lt;mo&gt;.&lt;/mo&gt;&lt;/math&gt;" id="1425" name="Google Shape;1425;p106" title="negative 1 comma negative 4 comma negative 7 comma negative 10 comma negative 13 period period period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404607" y="4498824"/>
            <a:ext cx="3185542" cy="2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106"/>
          <p:cNvSpPr txBox="1"/>
          <p:nvPr>
            <p:ph idx="4294967295" type="body"/>
          </p:nvPr>
        </p:nvSpPr>
        <p:spPr>
          <a:xfrm>
            <a:off x="6258935" y="2480665"/>
            <a:ext cx="21654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arithmetic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n^3&quot;&gt;&lt;msup&gt;&lt;mi&gt;n&lt;/mi&gt;&lt;mn&gt;3&lt;/mn&gt;&lt;/msup&gt;&lt;/math&gt;" id="1427" name="Google Shape;1427;p106" title="n cubed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244628" y="1575105"/>
            <a:ext cx="259989" cy="2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06"/>
          <p:cNvSpPr txBox="1"/>
          <p:nvPr>
            <p:ph idx="1" type="body"/>
          </p:nvPr>
        </p:nvSpPr>
        <p:spPr>
          <a:xfrm>
            <a:off x="5779164" y="1545442"/>
            <a:ext cx="6048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1,8,27,64,125,\ ...&quot;&gt;&lt;mn&gt;1&lt;/mn&gt;&lt;mo&gt;,&lt;/mo&gt;&lt;mn&gt;8&lt;/mn&gt;&lt;mo&gt;,&lt;/mo&gt;&lt;mn&gt;27&lt;/mn&gt;&lt;mo&gt;,&lt;/mo&gt;&lt;mn&gt;64&lt;/mn&gt;&lt;mo&gt;,&lt;/mo&gt;&lt;mn&gt;125&lt;/mn&gt;&lt;mo&gt;,&lt;/mo&gt;&lt;mtext&gt;&lt;/mtext&gt;&lt;mo&gt;.&lt;/mo&gt;&lt;mo&gt;.&lt;/mo&gt;&lt;mo&gt;.&lt;/mo&gt;&lt;/math&gt;" id="1429" name="Google Shape;1429;p106" title="1 comma 8 comma 27 comma 64 comma 125 comma period period period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248740" y="2059254"/>
            <a:ext cx="2499749" cy="273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07"/>
          <p:cNvSpPr txBox="1"/>
          <p:nvPr>
            <p:ph idx="1" type="body"/>
          </p:nvPr>
        </p:nvSpPr>
        <p:spPr>
          <a:xfrm>
            <a:off x="324000" y="872225"/>
            <a:ext cx="8496000" cy="9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substitution to find any term in a sequence when given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example, the 50th term of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71</a:t>
            </a:r>
            <a:r>
              <a:rPr lang="en-GB"/>
              <a:t> </a:t>
            </a:r>
            <a:r>
              <a:rPr lang="en-GB"/>
              <a:t>is found by substituting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= 50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12(50)</a:t>
            </a:r>
            <a:r>
              <a:rPr baseline="30000" lang="en-GB" sz="2300"/>
              <a:t>2</a:t>
            </a:r>
            <a:r>
              <a:rPr lang="en-GB" sz="2300"/>
              <a:t> - 71 = 29 929</a:t>
            </a:r>
            <a:endParaRPr sz="2300"/>
          </a:p>
        </p:txBody>
      </p:sp>
      <p:sp>
        <p:nvSpPr>
          <p:cNvPr id="1435" name="Google Shape;1435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any term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41" name="Google Shape;1441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