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AE86782-9C30-4D2D-B1C7-D7F15DDB7B30}">
  <a:tblStyle styleId="{2AE86782-9C30-4D2D-B1C7-D7F15DDB7B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9b0d84d5d4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b0d84d5d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" name="Shape 244"/>
        <p:cNvGrpSpPr/>
        <p:nvPr/>
      </p:nvGrpSpPr>
      <p:grpSpPr>
        <a:xfrm>
          <a:off x="0" y="0"/>
          <a:ext cx="0" cy="0"/>
        </a:xfrm>
      </p:grpSpPr>
      <p:sp>
        <p:nvSpPr>
          <p:cNvPr id="245" name="Google Shape;24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0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1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Relationship Id="rId8" Type="http://schemas.openxmlformats.org/officeDocument/2006/relationships/image" Target="../media/image18.png" /><Relationship Id="rId9" Type="http://schemas.openxmlformats.org/officeDocument/2006/relationships/image" Target="../media/image1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8.png" /><Relationship Id="rId11" Type="http://schemas.openxmlformats.org/officeDocument/2006/relationships/image" Target="../media/image29.png" /><Relationship Id="rId12" Type="http://schemas.openxmlformats.org/officeDocument/2006/relationships/image" Target="../media/image30.png" /><Relationship Id="rId13" Type="http://schemas.openxmlformats.org/officeDocument/2006/relationships/image" Target="../media/image31.png" /><Relationship Id="rId14" Type="http://schemas.openxmlformats.org/officeDocument/2006/relationships/image" Target="../media/image32.png" /><Relationship Id="rId15" Type="http://schemas.openxmlformats.org/officeDocument/2006/relationships/image" Target="../media/image33.png" /><Relationship Id="rId16" Type="http://schemas.openxmlformats.org/officeDocument/2006/relationships/image" Target="../media/image34.png" /><Relationship Id="rId17" Type="http://schemas.openxmlformats.org/officeDocument/2006/relationships/image" Target="../media/image35.png" /><Relationship Id="rId18" Type="http://schemas.openxmlformats.org/officeDocument/2006/relationships/image" Target="../media/image36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1.png" /><Relationship Id="rId4" Type="http://schemas.openxmlformats.org/officeDocument/2006/relationships/image" Target="../media/image22.png" /><Relationship Id="rId5" Type="http://schemas.openxmlformats.org/officeDocument/2006/relationships/image" Target="../media/image23.png" /><Relationship Id="rId6" Type="http://schemas.openxmlformats.org/officeDocument/2006/relationships/image" Target="../media/image24.png" /><Relationship Id="rId7" Type="http://schemas.openxmlformats.org/officeDocument/2006/relationships/image" Target="../media/image25.png" /><Relationship Id="rId8" Type="http://schemas.openxmlformats.org/officeDocument/2006/relationships/image" Target="../media/image26.png" /><Relationship Id="rId9" Type="http://schemas.openxmlformats.org/officeDocument/2006/relationships/image" Target="../media/image2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any term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897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substitution to find the first five terms of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525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Generating sequences using </a:t>
            </a:r>
            <a:r>
              <a:rPr lang="en-GB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2547488" y="2173054"/>
          <a:ext cx="4011100" cy="761730"/>
        </p:xfrm>
        <a:graphic>
          <a:graphicData uri="http://schemas.openxmlformats.org/drawingml/2006/table">
            <a:tbl>
              <a:tblPr>
                <a:noFill/>
                <a:tableStyleId>{2AE86782-9C30-4D2D-B1C7-D7F15DDB7B30}</a:tableStyleId>
              </a:tblPr>
              <a:tblGrid>
                <a:gridCol w="1667850"/>
                <a:gridCol w="468650"/>
                <a:gridCol w="468650"/>
                <a:gridCol w="468650"/>
                <a:gridCol w="468650"/>
                <a:gridCol w="468650"/>
              </a:tblGrid>
              <a:tr h="344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68000" y="2206599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5n+3&quot;&gt;&lt;mn&gt;5&lt;/mn&gt;&lt;mi&gt;n&lt;/mi&gt;&lt;mo&gt;+&lt;/mo&gt;&lt;mn&gt;3&lt;/mn&gt;&lt;/math&gt;" title="5 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22" y="2177302"/>
            <a:ext cx="709700" cy="207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2317775" y="3287804"/>
          <a:ext cx="4554525" cy="735005"/>
        </p:xfrm>
        <a:graphic>
          <a:graphicData uri="http://schemas.openxmlformats.org/drawingml/2006/table">
            <a:tbl>
              <a:tblPr>
                <a:noFill/>
                <a:tableStyleId>{2AE86782-9C30-4D2D-B1C7-D7F15DDB7B30}</a:tableStyleId>
              </a:tblPr>
              <a:tblGrid>
                <a:gridCol w="1646400"/>
                <a:gridCol w="581625"/>
                <a:gridCol w="581625"/>
                <a:gridCol w="581625"/>
                <a:gridCol w="581625"/>
                <a:gridCol w="581625"/>
              </a:tblGrid>
              <a:tr h="369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0.45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0.55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9" name="Google Shape;179;p20" descr="&lt;math xmlns=&quot;http://www.w3.org/1998/Math/MathML&quot; display=&quot;block&quot; data-is-equatio=&quot;1&quot; data-latex=&quot;0.05n+0.3&quot;&gt;&lt;mn&gt;0.05&lt;/mn&gt;&lt;mi&gt;n&lt;/mi&gt;&lt;mo&gt;+&lt;/mo&gt;&lt;mn&gt;0.3&lt;/mn&gt;&lt;/math&gt;" title="0.05 n plus 0.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725" y="3287798"/>
            <a:ext cx="1281600" cy="21033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0" y="3303811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2317763" y="4283754"/>
          <a:ext cx="4621325" cy="740405"/>
        </p:xfrm>
        <a:graphic>
          <a:graphicData uri="http://schemas.openxmlformats.org/drawingml/2006/table">
            <a:tbl>
              <a:tblPr>
                <a:noFill/>
                <a:tableStyleId>{2AE86782-9C30-4D2D-B1C7-D7F15DDB7B30}</a:tableStyleId>
              </a:tblPr>
              <a:tblGrid>
                <a:gridCol w="1670575"/>
                <a:gridCol w="590150"/>
                <a:gridCol w="590150"/>
                <a:gridCol w="590150"/>
                <a:gridCol w="590150"/>
                <a:gridCol w="590150"/>
              </a:tblGrid>
              <a:tr h="374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0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-0.5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468000" y="4283749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 descr="&lt;math xmlns=&quot;http://www.w3.org/1998/Math/MathML&quot; display=&quot;block&quot; data-is-equatio=&quot;1&quot; data-latex=&quot;3-0.7n&quot;&gt;&lt;mn&gt;3&lt;/mn&gt;&lt;mo&gt;−&lt;/mo&gt;&lt;mn&gt;0.7&lt;/mn&gt;&lt;mi&gt;n&lt;/mi&gt;&lt;/math&gt;" title="3 minus 0.7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723" y="4283752"/>
            <a:ext cx="963852" cy="207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2351138" y="5285105"/>
          <a:ext cx="4554575" cy="734980"/>
        </p:xfrm>
        <a:graphic>
          <a:graphicData uri="http://schemas.openxmlformats.org/drawingml/2006/table">
            <a:tbl>
              <a:tblPr>
                <a:noFill/>
                <a:tableStyleId>{2AE86782-9C30-4D2D-B1C7-D7F15DDB7B30}</a:tableStyleId>
              </a:tblPr>
              <a:tblGrid>
                <a:gridCol w="1646450"/>
                <a:gridCol w="581625"/>
                <a:gridCol w="581625"/>
                <a:gridCol w="581625"/>
                <a:gridCol w="581625"/>
                <a:gridCol w="581625"/>
              </a:tblGrid>
              <a:tr h="369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-3.7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-4.4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-5.1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-5.8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-6.5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468000" y="5345999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isplay=&quot;block&quot; data-is-equatio=&quot;1&quot; data-latex=&quot;-3-0.7n&quot;&gt;&lt;mo&gt;−&lt;/mo&gt;&lt;mn&gt;3&lt;/mn&gt;&lt;mo&gt;−&lt;/mo&gt;&lt;mn&gt;0.7&lt;/mn&gt;&lt;mi&gt;n&lt;/mi&gt;&lt;/math&gt;" title="negative 3 minus 0.7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211" y="5346002"/>
            <a:ext cx="1156626" cy="2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467999" y="6653352"/>
            <a:ext cx="4456351" cy="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30175" y="6769775"/>
            <a:ext cx="40317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sequence              must go up in three’s because it says, “+3”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6340625"/>
            <a:ext cx="18333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Jun says: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0" name="Google Shape;190;p20"/>
          <p:cNvGraphicFramePr>
            <a:graphicFrameLocks noGrp="1"/>
          </p:cNvGraphicFramePr>
          <p:nvPr/>
        </p:nvGraphicFramePr>
        <p:xfrm>
          <a:off x="1912688" y="8493490"/>
          <a:ext cx="4092275" cy="755480"/>
        </p:xfrm>
        <a:graphic>
          <a:graphicData uri="http://schemas.openxmlformats.org/drawingml/2006/table">
            <a:tbl>
              <a:tblPr>
                <a:noFill/>
                <a:tableStyleId>{2AE86782-9C30-4D2D-B1C7-D7F15DDB7B30}</a:tableStyleId>
              </a:tblPr>
              <a:tblGrid>
                <a:gridCol w="1701650"/>
                <a:gridCol w="478125"/>
                <a:gridCol w="478125"/>
                <a:gridCol w="478125"/>
                <a:gridCol w="478125"/>
                <a:gridCol w="478125"/>
              </a:tblGrid>
              <a:tr h="35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1" name="Google Shape;191;p20" descr="&lt;math xmlns=&quot;http://www.w3.org/1998/Math/MathML&quot; display=&quot;block&quot; data-is-equatio=&quot;1&quot; data-latex=&quot;n+3&quot;&gt;&lt;mi&gt;n&lt;/mi&gt;&lt;mo&gt;+&lt;/mo&gt;&lt;mn&gt;3&lt;/mn&gt;&lt;/math&gt;" title="n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12708" y="6761711"/>
            <a:ext cx="483300" cy="17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7999" y="7266326"/>
            <a:ext cx="592073" cy="74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68001" y="9340475"/>
            <a:ext cx="10779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(1) + 3 =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378640" y="9340481"/>
            <a:ext cx="11604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(2) + 3 =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448043" y="9340481"/>
            <a:ext cx="11604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(3) + 3 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517446" y="9340481"/>
            <a:ext cx="11604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(4) + 3 =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586849" y="9340481"/>
            <a:ext cx="11604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(5) + 3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526850" y="9340475"/>
            <a:ext cx="156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sequence begins at 4 and goes up 1 each time.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8087250"/>
            <a:ext cx="66240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substitution to find the first five terms and show Jun that he is mistaken.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any term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1043125"/>
            <a:ext cx="62481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first five terms of the arithmetic sequence                  are 37, 32, 27, 22, and 17.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wants to find the 20th term.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7059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</a:t>
            </a:r>
            <a:r>
              <a:rPr lang="en-GB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terms to find any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 descr="&lt;math xmlns=&quot;http://www.w3.org/1998/Math/MathML&quot; display=&quot;block&quot; data-is-equatio=&quot;1&quot; data-latex=&quot;42-5n&quot;&gt;&lt;mn&gt;42&lt;/mn&gt;&lt;mo&gt;−&lt;/mo&gt;&lt;mn&gt;5&lt;/mn&gt;&lt;mi&gt;n&lt;/mi&gt;&lt;/math&gt;" title="42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711" y="1058269"/>
            <a:ext cx="660900" cy="15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468002" y="1736275"/>
            <a:ext cx="4558198" cy="8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33700" y="1798350"/>
            <a:ext cx="41589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37, 32, 27, 22, 17, 12, 7, 2, −2, −7, −12, −17, −22, −27, −32, −37, −42, −47, −52, −57. There it is. The 20th term is -57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91400" y="2451660"/>
            <a:ext cx="806750" cy="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1738925" y="2674285"/>
            <a:ext cx="30747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Spot Jacob’s error and explain a better method to him.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147997" y="1791288"/>
            <a:ext cx="2065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His error was 2 − 5 = -3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321133" y="1768061"/>
            <a:ext cx="533100" cy="2343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148000" y="2248500"/>
            <a:ext cx="19440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“Your method was inefficient. If you know the n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term use substitution.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147999" y="3188425"/>
            <a:ext cx="1944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42 − 5(20) = 42 − 100 = −58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3809750"/>
            <a:ext cx="82377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20th, 100th and 1000th terms of the below sequences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1" descr="&lt;math xmlns=&quot;http://www.w3.org/1998/Math/MathML&quot; display=&quot;block&quot; data-is-equatio=&quot;1&quot; data-latex=&quot;7n-6&quot;&gt;&lt;mn&gt;7&lt;/mn&gt;&lt;mi&gt;n&lt;/mi&gt;&lt;mo&gt;−&lt;/mo&gt;&lt;mn&gt;6&lt;/mn&gt;&lt;/math&gt;" title="7 n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600" y="4156217"/>
            <a:ext cx="796525" cy="220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&lt;math xmlns=&quot;http://www.w3.org/1998/Math/MathML&quot; display=&quot;block&quot; data-is-equatio=&quot;1&quot; data-latex=&quot;6-7n&quot;&gt;&lt;mn&gt;6&lt;/mn&gt;&lt;mo&gt;−&lt;/mo&gt;&lt;mn&gt;7&lt;/mn&gt;&lt;mi&gt;n&lt;/mi&gt;&lt;/math&gt;" title="6 minus 7 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631" y="5176561"/>
            <a:ext cx="791285" cy="22009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468000" y="4187950"/>
            <a:ext cx="490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5210914"/>
            <a:ext cx="490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6269736"/>
            <a:ext cx="490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1" descr="&lt;math xmlns=&quot;http://www.w3.org/1998/Math/MathML&quot; display=&quot;block&quot; data-is-equatio=&quot;1&quot; data-latex=&quot;0.06-0.7n&quot;&gt;&lt;mn&gt;0.06&lt;/mn&gt;&lt;mo&gt;−&lt;/mo&gt;&lt;mn&gt;0.7&lt;/mn&gt;&lt;mi&gt;n&lt;/mi&gt;&lt;/math&gt;" title="0.06 minus 0.7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084" y="6264442"/>
            <a:ext cx="1341116" cy="20861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262248" y="4189200"/>
            <a:ext cx="16383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7(20) − 6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140 − 6 = 134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715299" y="4189200"/>
            <a:ext cx="16383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7(100) − 6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700 − 6 = 694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701750" y="4189200"/>
            <a:ext cx="19674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7(1000) − 6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7000 − 6 = 6994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262250" y="5187977"/>
            <a:ext cx="17448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6 − 7(20)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6 − 140 = −134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715300" y="5187990"/>
            <a:ext cx="19302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6 − 7(100)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6 − 700 = −694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701750" y="5187990"/>
            <a:ext cx="21672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6 − 7(1000)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6 − 7000 = −6994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262248" y="6323210"/>
            <a:ext cx="16383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0.06 − 0.7(20)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−13.94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675496" y="6323210"/>
            <a:ext cx="16383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0.06 − 0.7(100)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−69.94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732900" y="6323210"/>
            <a:ext cx="2531400" cy="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0.06 − 0.7(1000)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−699.94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1" descr="&lt;math xmlns=&quot;http://www.w3.org/1998/Math/MathML&quot; display=&quot;block&quot; data-is-equatio=&quot;1&quot; data-latex=&quot;n^2+3n&quot;&gt;&lt;msup&gt;&lt;mi&gt;n&lt;/mi&gt;&lt;mn&gt;2&lt;/mn&gt;&lt;/msup&gt;&lt;mo&gt;+&lt;/mo&gt;&lt;mn&gt;3&lt;/mn&gt;&lt;mi&gt;n&lt;/mi&gt;&lt;/math&gt;" title="n squared plus 3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0625" y="7144725"/>
            <a:ext cx="756281" cy="2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3n+15-4n^2&quot;&gt;&lt;mn&gt;3&lt;/mn&gt;&lt;mi&gt;n&lt;/mi&gt;&lt;mo&gt;+&lt;/mo&gt;&lt;mn&gt;15&lt;/mn&gt;&lt;mo&gt;−&lt;/mo&gt;&lt;mn&gt;4&lt;/mn&gt;&lt;msup&gt;&lt;mi&gt;n&lt;/mi&gt;&lt;mn&gt;2&lt;/mn&gt;&lt;/msup&gt;&lt;/math&gt;" title="3 n plus 15 minus 4 n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602" y="8052823"/>
            <a:ext cx="1638300" cy="276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67988" y="7197878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7988" y="8129016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234413" y="7197875"/>
            <a:ext cx="19497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(20)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+ 3(20)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400 + 60 = 460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3661389" y="7197875"/>
            <a:ext cx="28848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(100)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+ 3(100)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10 000 + 300 = 10 300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708385" y="7197875"/>
            <a:ext cx="21636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(1000)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+ 3(1000)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1 003 000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472413" y="8521950"/>
            <a:ext cx="20415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3(20) + 15 − 4(20)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-1525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280387" y="8521950"/>
            <a:ext cx="24390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3(100) + 15 - 4(100)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-39 685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337788" y="8521950"/>
            <a:ext cx="2884800" cy="1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3(1000) + 15 − 4(1000)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-3 996 985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22"/>
          <p:cNvSpPr txBox="1"/>
          <p:nvPr/>
        </p:nvSpPr>
        <p:spPr>
          <a:xfrm>
            <a:off x="467989" y="3824814"/>
            <a:ext cx="6048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50" name="Google Shape;25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any term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68000" y="1118700"/>
            <a:ext cx="6624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first five terms of each of these sequences and compare them: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68000" y="720000"/>
            <a:ext cx="6624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Comparing </a:t>
            </a:r>
            <a:r>
              <a:rPr lang="en-GB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terms of different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68000" y="1425750"/>
            <a:ext cx="452400" cy="2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22" descr="&lt;math xmlns=&quot;http://www.w3.org/1998/Math/MathML&quot; display=&quot;block&quot; data-is-equatio=&quot;1&quot; data-latex=&quot;3n&quot;&gt;&lt;mn&gt;3&lt;/mn&gt;&lt;mi&gt;n&lt;/mi&gt;&lt;/math&gt;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13" y="1414726"/>
            <a:ext cx="250976" cy="180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&lt;math xmlns=&quot;http://www.w3.org/1998/Math/MathML&quot; display=&quot;block&quot; data-is-equatio=&quot;1&quot; data-latex=&quot;3n+2&quot;&gt;&lt;mn&gt;3&lt;/mn&gt;&lt;mi&gt;n&lt;/mi&gt;&lt;mo&gt;+&lt;/mo&gt;&lt;mn&gt;2&lt;/mn&gt;&lt;/math&gt;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898" y="1762488"/>
            <a:ext cx="639226" cy="17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041" y="2655778"/>
            <a:ext cx="604558" cy="42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&lt;math xmlns=&quot;http://www.w3.org/1998/Math/MathML&quot; display=&quot;block&quot; data-is-equatio=&quot;1&quot; data-latex=&quot;3n+0.7&quot;&gt;&lt;mn&gt;3&lt;/mn&gt;&lt;mi&gt;n&lt;/mi&gt;&lt;mo&gt;+&lt;/mo&gt;&lt;mn&gt;0.7&lt;/mn&gt;&lt;/math&gt;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25" y="2432594"/>
            <a:ext cx="798943" cy="17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5331" y="3116407"/>
            <a:ext cx="816309" cy="180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&lt;math xmlns=&quot;http://www.w3.org/1998/Math/MathML&quot; display=&quot;block&quot; data-is-equatio=&quot;1&quot; data-latex=&quot;2-3n&quot;&gt;&lt;mn&gt;2&lt;/mn&gt;&lt;mo&gt;−&lt;/mo&gt;&lt;mn&gt;3&lt;/mn&gt;&lt;mi&gt;n&lt;/mi&gt;&lt;/math&gt;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734" y="3436942"/>
            <a:ext cx="643546" cy="17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&lt;math xmlns=&quot;http://www.w3.org/1998/Math/MathML&quot; display=&quot;block&quot; data-is-equatio=&quot;1&quot; data-latex=&quot;3n-1&quot;&gt;&lt;mn&gt;3&lt;/mn&gt;&lt;mi&gt;n&lt;/mi&gt;&lt;mo&gt;−&lt;/mo&gt;&lt;mn&gt;1&lt;/mn&gt;&lt;/math&gt;" title="3 n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9163" y="2100249"/>
            <a:ext cx="604545" cy="17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&lt;math xmlns=&quot;http://www.w3.org/1998/Math/MathML&quot; display=&quot;block&quot; data-is-equatio=&quot;1&quot; data-latex=&quot;3,6,9,12,15,\ ...&quot;&gt;&lt;mn&gt;3&lt;/mn&gt;&lt;mo&gt;,&lt;/mo&gt;&lt;mn&gt;6&lt;/mn&gt;&lt;mo&gt;,&lt;/mo&gt;&lt;mn&gt;9&lt;/mn&gt;&lt;mo&gt;,&lt;/mo&gt;&lt;mn&gt;12&lt;/mn&gt;&lt;mo&gt;,&lt;/mo&gt;&lt;mn&gt;15&lt;/mn&gt;&lt;mo&gt;,&lt;/mo&gt;&lt;mtext&gt;&lt;/mtext&gt;&lt;mo&gt;.&lt;/mo&gt;&lt;mo&gt;.&lt;/mo&gt;&lt;mo&gt;.&lt;/mo&gt;&lt;/math&gt;" title="3 comma 6 comma 9 comma 12 comma 15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15254" y="1412466"/>
            <a:ext cx="1660797" cy="202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&lt;math xmlns=&quot;http://www.w3.org/1998/Math/MathML&quot; display=&quot;block&quot; data-is-equatio=&quot;1&quot; data-latex=&quot;5,8,11,14,17,\ ...&quot;&gt;&lt;mn&gt;5&lt;/mn&gt;&lt;mo&gt;,&lt;/mo&gt;&lt;mn&gt;8&lt;/mn&gt;&lt;mo&gt;,&lt;/mo&gt;&lt;mn&gt;11&lt;/mn&gt;&lt;mo&gt;,&lt;/mo&gt;&lt;mn&gt;14&lt;/mn&gt;&lt;mo&gt;,&lt;/mo&gt;&lt;mn&gt;17&lt;/mn&gt;&lt;mo&gt;,&lt;/mo&gt;&lt;mtext&gt;&lt;/mtext&gt;&lt;mo&gt;.&lt;/mo&gt;&lt;mo&gt;.&lt;/mo&gt;&lt;mo&gt;.&lt;/mo&gt;&lt;/math&gt;" title="5 comma 8 comma 11 comma 14 comma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5254" y="1751257"/>
            <a:ext cx="1784295" cy="20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&lt;math xmlns=&quot;http://www.w3.org/1998/Math/MathML&quot; display=&quot;block&quot; data-is-equatio=&quot;1&quot; data-latex=&quot;2,5,8,11,14,\ ...&quot;&gt;&lt;mn&gt;2&lt;/mn&gt;&lt;mo&gt;,&lt;/mo&gt;&lt;mn&gt;5&lt;/mn&gt;&lt;mo&gt;,&lt;/mo&gt;&lt;mn&gt;8&lt;/mn&gt;&lt;mo&gt;,&lt;/mo&gt;&lt;mn&gt;11&lt;/mn&gt;&lt;mo&gt;,&lt;/mo&gt;&lt;mn&gt;14&lt;/mn&gt;&lt;mo&gt;,&lt;/mo&gt;&lt;mtext&gt;&lt;/mtext&gt;&lt;mo&gt;.&lt;/mo&gt;&lt;mo&gt;.&lt;/mo&gt;&lt;mo&gt;.&lt;/mo&gt;&lt;/math&gt;" title="2 comma 5 comma 8 comma 11 comma 14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15254" y="2058234"/>
            <a:ext cx="1659900" cy="20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&lt;math xmlns=&quot;http://www.w3.org/1998/Math/MathML&quot; display=&quot;block&quot; data-is-equatio=&quot;1&quot; data-latex=&quot;3.7,6.7,9.7,12.7,15.7,\ ...&quot;&gt;&lt;mn&gt;3.7&lt;/mn&gt;&lt;mo&gt;,&lt;/mo&gt;&lt;mn&gt;6.7&lt;/mn&gt;&lt;mo&gt;,&lt;/mo&gt;&lt;mn&gt;9.7&lt;/mn&gt;&lt;mo&gt;,&lt;/mo&gt;&lt;mn&gt;12.7&lt;/mn&gt;&lt;mo&gt;,&lt;/mo&gt;&lt;mn&gt;15.7&lt;/mn&gt;&lt;mo&gt;,&lt;/mo&gt;&lt;mtext&gt;&lt;/mtext&gt;&lt;mo&gt;.&lt;/mo&gt;&lt;mo&gt;.&lt;/mo&gt;&lt;mo&gt;.&lt;/mo&gt;&lt;/math&gt;" title="3.7 comma 6.7 comma 9.7 comma 12.7 comma 15.7 comma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15254" y="2395500"/>
            <a:ext cx="2375877" cy="190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&lt;math xmlns=&quot;http://www.w3.org/1998/Math/MathML&quot; display=&quot;block&quot; data-is-equatio=&quot;1&quot; data-latex=&quot;3\frac{1}{7},6\frac{1}{7},9\frac{1}{7},12\frac{1}{7},15\frac{1}{7},\ ...&quot;&gt;&lt;mn&gt;3&lt;/mn&gt;&lt;mfrac&gt;&lt;mn&gt;1&lt;/mn&gt;&lt;mn&gt;7&lt;/mn&gt;&lt;/mfrac&gt;&lt;mo&gt;,&lt;/mo&gt;&lt;mn&gt;6&lt;/mn&gt;&lt;mfrac&gt;&lt;mn&gt;1&lt;/mn&gt;&lt;mn&gt;7&lt;/mn&gt;&lt;/mfrac&gt;&lt;mo&gt;,&lt;/mo&gt;&lt;mn&gt;9&lt;/mn&gt;&lt;mfrac&gt;&lt;mn&gt;1&lt;/mn&gt;&lt;mn&gt;7&lt;/mn&gt;&lt;/mfrac&gt;&lt;mo&gt;,&lt;/mo&gt;&lt;mn&gt;12&lt;/mn&gt;&lt;mfrac&gt;&lt;mn&gt;1&lt;/mn&gt;&lt;mn&gt;7&lt;/mn&gt;&lt;/mfrac&gt;&lt;mo&gt;,&lt;/mo&gt;&lt;mn&gt;15&lt;/mn&gt;&lt;mfrac&gt;&lt;mn&gt;1&lt;/mn&gt;&lt;mn&gt;7&lt;/mn&gt;&lt;/mfrac&gt;&lt;mo&gt;,&lt;/mo&gt;&lt;mtext&gt;&lt;/mtext&gt;&lt;mo&gt;.&lt;/mo&gt;&lt;mo&gt;.&lt;/mo&gt;&lt;mo&gt;.&lt;/mo&gt;&lt;/math&gt;" title="3 and one seventh comma 6 and one seventh comma 9 and one seventh comma 12 and one seventh comma 15 and one seventh comma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15254" y="2692492"/>
            <a:ext cx="1885901" cy="349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&lt;math xmlns=&quot;http://www.w3.org/1998/Math/MathML&quot; display=&quot;block&quot; data-is-equatio=&quot;1&quot; data-latex=&quot;4,1,-2,-5,-8,\ ...&quot;&gt;&lt;mn&gt;4&lt;/mn&gt;&lt;mo&gt;,&lt;/mo&gt;&lt;mn&gt;1&lt;/mn&gt;&lt;mo&gt;,&lt;/mo&gt;&lt;mo&gt;−&lt;/mo&gt;&lt;mn&gt;2&lt;/mn&gt;&lt;mo&gt;,&lt;/mo&gt;&lt;mo&gt;−&lt;/mo&gt;&lt;mn&gt;5&lt;/mn&gt;&lt;mo&gt;,&lt;/mo&gt;&lt;mo&gt;−&lt;/mo&gt;&lt;mn&gt;8&lt;/mn&gt;&lt;mo&gt;,&lt;/mo&gt;&lt;mtext&gt;&lt;/mtext&gt;&lt;mo&gt;.&lt;/mo&gt;&lt;mo&gt;.&lt;/mo&gt;&lt;mo&gt;.&lt;/mo&gt;&lt;/math&gt;" title="4 comma 1 comma negative 2 comma negative 5 comma negative 8 comma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015254" y="3148779"/>
            <a:ext cx="1868724" cy="20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&lt;math xmlns=&quot;http://www.w3.org/1998/Math/MathML&quot; display=&quot;block&quot; data-is-equatio=&quot;1&quot; data-latex=&quot;-1,-4,-7,-10,-13\ ...&quot;&gt;&lt;mo&gt;−&lt;/mo&gt;&lt;mn&gt;1&lt;/mn&gt;&lt;mo&gt;,&lt;/mo&gt;&lt;mo&gt;−&lt;/mo&gt;&lt;mn&gt;4&lt;/mn&gt;&lt;mo&gt;,&lt;/mo&gt;&lt;mo&gt;−&lt;/mo&gt;&lt;mn&gt;7&lt;/mn&gt;&lt;mo&gt;,&lt;/mo&gt;&lt;mo&gt;−&lt;/mo&gt;&lt;mn&gt;10&lt;/mn&gt;&lt;mo&gt;,&lt;/mo&gt;&lt;mo&gt;−&lt;/mo&gt;&lt;mn&gt;13&lt;/mn&gt;&lt;mtext&gt;&lt;/mtext&gt;&lt;mo&gt;.&lt;/mo&gt;&lt;mo&gt;.&lt;/mo&gt;&lt;mo&gt;.&lt;/mo&gt;&lt;/math&gt;" title="negative 1 comma negative 4 comma negative 7 comma negative 10 comma negative 13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015254" y="3440607"/>
            <a:ext cx="2381410" cy="20201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468000" y="4356625"/>
            <a:ext cx="6624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Sequences a) to g) were all arithmetic. They all had a constant common difference.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68000" y="4636950"/>
            <a:ext cx="6624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to e) all had a common difference of +3. They were increasing sequences.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68000" y="5090275"/>
            <a:ext cx="6624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f) and g) had a common difference of -3, decreasing.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468010" y="5441865"/>
            <a:ext cx="21654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h) is 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 arithmetic.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4" name="Google Shape;274;p22" descr="&lt;math xmlns=&quot;http://www.w3.org/1998/Math/MathML&quot; display=&quot;block&quot; data-is-equatio=&quot;1&quot; data-latex=&quot;n^3&quot;&gt;&lt;msup&gt;&lt;mi&gt;n&lt;/mi&gt;&lt;mn&gt;3&lt;/mn&gt;&lt;/msup&gt;&lt;/math&gt;" title="n cubed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16723" y="3718812"/>
            <a:ext cx="250975" cy="281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&lt;math xmlns=&quot;http://www.w3.org/1998/Math/MathML&quot; display=&quot;block&quot; data-is-equatio=&quot;1&quot; data-latex=&quot;1,8,27,64,125,\ ...&quot;&gt;&lt;mn&gt;1&lt;/mn&gt;&lt;mo&gt;,&lt;/mo&gt;&lt;mn&gt;8&lt;/mn&gt;&lt;mo&gt;,&lt;/mo&gt;&lt;mn&gt;27&lt;/mn&gt;&lt;mo&gt;,&lt;/mo&gt;&lt;mn&gt;64&lt;/mn&gt;&lt;mo&gt;,&lt;/mo&gt;&lt;mn&gt;125&lt;/mn&gt;&lt;mo&gt;,&lt;/mo&gt;&lt;mtext&gt;&lt;/mtext&gt;&lt;mo&gt;.&lt;/mo&gt;&lt;mo&gt;.&lt;/mo&gt;&lt;mo&gt;.&lt;/mo&gt;&lt;/math&gt;" title="1 comma 8 comma 27 comma 64 comma 125 comma period period period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015248" y="3813315"/>
            <a:ext cx="1848676" cy="2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Calculating any term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2023-12-08T09:34:23.725</cp:lastPrinted>
  <dcterms:created xsi:type="dcterms:W3CDTF">2023-12-08T09:34:23Z</dcterms:created>
  <dcterms:modified xsi:type="dcterms:W3CDTF">2023-12-08T09:37:23Z</dcterms:modified>
</cp:coreProperties>
</file>