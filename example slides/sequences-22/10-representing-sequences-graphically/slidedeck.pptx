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4F1B2F-1E23-4879-9A54-1337BC1CEA48}">
  <a:tblStyle styleId="{9E4F1B2F-1E23-4879-9A54-1337BC1CEA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4095e81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4095e81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94095e81e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94095e81e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94095e81e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94095e81e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94095e81e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294095e81e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94095e81e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94095e81e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94095e81e4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94095e81e4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294095e81e4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94095e81e4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294095e81e4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294095e81e4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294095e81e4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294095e81e4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294095e81e4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294095e81e4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294095e81e4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294095e81e4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294095e81e4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294095e81e4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294095e81e4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294095e81e4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294095e81e4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294095e81e4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294095e81e4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294095e81e4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294095e81e4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294095e81e4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294095e81e4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294095e81e4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294095e81e4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294095e81e4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294095e81e4_0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294095e81e4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94095e81e4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94095e81e4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294095e81e4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294095e81e4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94095e81e4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294095e81e4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294095e81e4_0_9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294095e81e4_0_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294095e81e4_0_10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294095e81e4_0_1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294095e81e4_0_1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294095e81e4_0_1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2941d583c55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2941d583c55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2941d583c55_0_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2941d583c55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2941d583c55_0_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2941d583c55_0_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g2941d583c55_0_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9" name="Google Shape;1619;g2941d583c55_0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2941d583c55_0_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2941d583c55_0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2941d583c55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2" name="Google Shape;1652;g2941d583c55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g2941d583c55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9" name="Google Shape;1669;g2941d583c55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g2941d583c55_0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1" name="Google Shape;1681;g2941d583c55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2941d583c55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1" name="Google Shape;1701;g2941d583c55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g2941d583c55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1" name="Google Shape;1711;g2941d583c55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g2941d583c55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9" name="Google Shape;1729;g2941d583c55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g2941d583c55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5" name="Google Shape;1745;g2941d583c55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g2941d583c55_0_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6" name="Google Shape;1836;g2941d583c55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7" name="Google Shape;184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Relationship Id="rId4" Type="http://schemas.openxmlformats.org/officeDocument/2006/relationships/image" Target="../media/image13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5.png"/><Relationship Id="rId4" Type="http://schemas.openxmlformats.org/officeDocument/2006/relationships/image" Target="../media/image98.png"/><Relationship Id="rId5" Type="http://schemas.openxmlformats.org/officeDocument/2006/relationships/image" Target="../media/image28.png"/><Relationship Id="rId6" Type="http://schemas.openxmlformats.org/officeDocument/2006/relationships/image" Target="../media/image31.png"/><Relationship Id="rId7" Type="http://schemas.openxmlformats.org/officeDocument/2006/relationships/image" Target="../media/image1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98.png"/><Relationship Id="rId4" Type="http://schemas.openxmlformats.org/officeDocument/2006/relationships/image" Target="../media/image21.png"/><Relationship Id="rId9" Type="http://schemas.openxmlformats.org/officeDocument/2006/relationships/image" Target="../media/image16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8.png"/><Relationship Id="rId8" Type="http://schemas.openxmlformats.org/officeDocument/2006/relationships/image" Target="../media/image3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98.png"/><Relationship Id="rId4" Type="http://schemas.openxmlformats.org/officeDocument/2006/relationships/image" Target="../media/image29.png"/><Relationship Id="rId11" Type="http://schemas.openxmlformats.org/officeDocument/2006/relationships/image" Target="../media/image16.png"/><Relationship Id="rId10" Type="http://schemas.openxmlformats.org/officeDocument/2006/relationships/image" Target="../media/image40.png"/><Relationship Id="rId9" Type="http://schemas.openxmlformats.org/officeDocument/2006/relationships/image" Target="../media/image31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Relationship Id="rId5" Type="http://schemas.openxmlformats.org/officeDocument/2006/relationships/image" Target="../media/image5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Relationship Id="rId5" Type="http://schemas.openxmlformats.org/officeDocument/2006/relationships/image" Target="../media/image5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4.png"/><Relationship Id="rId4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Relationship Id="rId4" Type="http://schemas.openxmlformats.org/officeDocument/2006/relationships/image" Target="../media/image57.png"/><Relationship Id="rId5" Type="http://schemas.openxmlformats.org/officeDocument/2006/relationships/image" Target="../media/image5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0.png"/><Relationship Id="rId4" Type="http://schemas.openxmlformats.org/officeDocument/2006/relationships/image" Target="../media/image60.png"/><Relationship Id="rId5" Type="http://schemas.openxmlformats.org/officeDocument/2006/relationships/image" Target="../media/image6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8.png"/><Relationship Id="rId4" Type="http://schemas.openxmlformats.org/officeDocument/2006/relationships/image" Target="../media/image61.png"/><Relationship Id="rId5" Type="http://schemas.openxmlformats.org/officeDocument/2006/relationships/image" Target="../media/image6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2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8.png"/><Relationship Id="rId4" Type="http://schemas.openxmlformats.org/officeDocument/2006/relationships/image" Target="../media/image7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1.png"/><Relationship Id="rId4" Type="http://schemas.openxmlformats.org/officeDocument/2006/relationships/image" Target="../media/image7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2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6.png"/><Relationship Id="rId4" Type="http://schemas.openxmlformats.org/officeDocument/2006/relationships/image" Target="../media/image75.png"/><Relationship Id="rId5" Type="http://schemas.openxmlformats.org/officeDocument/2006/relationships/image" Target="../media/image4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6.png"/><Relationship Id="rId4" Type="http://schemas.openxmlformats.org/officeDocument/2006/relationships/image" Target="../media/image75.png"/><Relationship Id="rId5" Type="http://schemas.openxmlformats.org/officeDocument/2006/relationships/image" Target="../media/image4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5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7.png"/><Relationship Id="rId4" Type="http://schemas.openxmlformats.org/officeDocument/2006/relationships/image" Target="../media/image82.png"/><Relationship Id="rId5" Type="http://schemas.openxmlformats.org/officeDocument/2006/relationships/image" Target="../media/image49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7.png"/><Relationship Id="rId4" Type="http://schemas.openxmlformats.org/officeDocument/2006/relationships/image" Target="../media/image86.png"/><Relationship Id="rId5" Type="http://schemas.openxmlformats.org/officeDocument/2006/relationships/image" Target="../media/image85.png"/><Relationship Id="rId6" Type="http://schemas.openxmlformats.org/officeDocument/2006/relationships/image" Target="../media/image83.png"/><Relationship Id="rId7" Type="http://schemas.openxmlformats.org/officeDocument/2006/relationships/image" Target="../media/image4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7.png"/><Relationship Id="rId4" Type="http://schemas.openxmlformats.org/officeDocument/2006/relationships/image" Target="../media/image85.png"/><Relationship Id="rId5" Type="http://schemas.openxmlformats.org/officeDocument/2006/relationships/image" Target="../media/image83.png"/><Relationship Id="rId6" Type="http://schemas.openxmlformats.org/officeDocument/2006/relationships/image" Target="../media/image4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2.png"/><Relationship Id="rId4" Type="http://schemas.openxmlformats.org/officeDocument/2006/relationships/image" Target="../media/image82.png"/><Relationship Id="rId5" Type="http://schemas.openxmlformats.org/officeDocument/2006/relationships/image" Target="../media/image85.png"/><Relationship Id="rId6" Type="http://schemas.openxmlformats.org/officeDocument/2006/relationships/image" Target="../media/image9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5.png"/><Relationship Id="rId4" Type="http://schemas.openxmlformats.org/officeDocument/2006/relationships/image" Target="../media/image91.png"/><Relationship Id="rId5" Type="http://schemas.openxmlformats.org/officeDocument/2006/relationships/image" Target="../media/image8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0.png"/><Relationship Id="rId4" Type="http://schemas.openxmlformats.org/officeDocument/2006/relationships/image" Target="../media/image47.png"/><Relationship Id="rId9" Type="http://schemas.openxmlformats.org/officeDocument/2006/relationships/image" Target="../media/image97.png"/><Relationship Id="rId5" Type="http://schemas.openxmlformats.org/officeDocument/2006/relationships/image" Target="../media/image93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7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4.png"/><Relationship Id="rId4" Type="http://schemas.openxmlformats.org/officeDocument/2006/relationships/image" Target="../media/image9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4.png"/><Relationship Id="rId4" Type="http://schemas.openxmlformats.org/officeDocument/2006/relationships/image" Target="../media/image96.png"/><Relationship Id="rId5" Type="http://schemas.openxmlformats.org/officeDocument/2006/relationships/image" Target="../media/image103.png"/><Relationship Id="rId6" Type="http://schemas.openxmlformats.org/officeDocument/2006/relationships/image" Target="../media/image10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4.png"/><Relationship Id="rId4" Type="http://schemas.openxmlformats.org/officeDocument/2006/relationships/image" Target="../media/image96.png"/><Relationship Id="rId5" Type="http://schemas.openxmlformats.org/officeDocument/2006/relationships/image" Target="../media/image103.png"/><Relationship Id="rId6" Type="http://schemas.openxmlformats.org/officeDocument/2006/relationships/image" Target="../media/image10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1.png"/><Relationship Id="rId4" Type="http://schemas.openxmlformats.org/officeDocument/2006/relationships/image" Target="../media/image99.png"/><Relationship Id="rId5" Type="http://schemas.openxmlformats.org/officeDocument/2006/relationships/image" Target="../media/image102.png"/><Relationship Id="rId6" Type="http://schemas.openxmlformats.org/officeDocument/2006/relationships/image" Target="../media/image104.png"/><Relationship Id="rId7" Type="http://schemas.openxmlformats.org/officeDocument/2006/relationships/image" Target="../media/image109.png"/><Relationship Id="rId8" Type="http://schemas.openxmlformats.org/officeDocument/2006/relationships/image" Target="../media/image10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1.png"/><Relationship Id="rId4" Type="http://schemas.openxmlformats.org/officeDocument/2006/relationships/image" Target="../media/image106.png"/><Relationship Id="rId5" Type="http://schemas.openxmlformats.org/officeDocument/2006/relationships/image" Target="../media/image1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4.png"/><Relationship Id="rId4" Type="http://schemas.openxmlformats.org/officeDocument/2006/relationships/image" Target="../media/image112.png"/><Relationship Id="rId5" Type="http://schemas.openxmlformats.org/officeDocument/2006/relationships/image" Target="../media/image90.png"/><Relationship Id="rId6" Type="http://schemas.openxmlformats.org/officeDocument/2006/relationships/image" Target="../media/image8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9.png"/><Relationship Id="rId4" Type="http://schemas.openxmlformats.org/officeDocument/2006/relationships/image" Target="../media/image11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1.png"/><Relationship Id="rId4" Type="http://schemas.openxmlformats.org/officeDocument/2006/relationships/image" Target="../media/image99.png"/><Relationship Id="rId9" Type="http://schemas.openxmlformats.org/officeDocument/2006/relationships/image" Target="../media/image107.png"/><Relationship Id="rId5" Type="http://schemas.openxmlformats.org/officeDocument/2006/relationships/image" Target="../media/image102.png"/><Relationship Id="rId6" Type="http://schemas.openxmlformats.org/officeDocument/2006/relationships/image" Target="../media/image104.png"/><Relationship Id="rId7" Type="http://schemas.openxmlformats.org/officeDocument/2006/relationships/image" Target="../media/image116.png"/><Relationship Id="rId8" Type="http://schemas.openxmlformats.org/officeDocument/2006/relationships/image" Target="../media/image10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1.png"/><Relationship Id="rId4" Type="http://schemas.openxmlformats.org/officeDocument/2006/relationships/image" Target="../media/image106.png"/><Relationship Id="rId5" Type="http://schemas.openxmlformats.org/officeDocument/2006/relationships/image" Target="../media/image1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4.png"/><Relationship Id="rId4" Type="http://schemas.openxmlformats.org/officeDocument/2006/relationships/image" Target="../media/image112.png"/><Relationship Id="rId5" Type="http://schemas.openxmlformats.org/officeDocument/2006/relationships/image" Target="../media/image90.png"/><Relationship Id="rId6" Type="http://schemas.openxmlformats.org/officeDocument/2006/relationships/image" Target="../media/image8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9.png"/><Relationship Id="rId4" Type="http://schemas.openxmlformats.org/officeDocument/2006/relationships/image" Target="../media/image11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sequences graphically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represent arithmetic sequences graphically and appreciate the common structure.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arithmet</a:t>
            </a:r>
            <a:r>
              <a:rPr lang="en-GB"/>
              <a:t>ic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 (or linear) sequence is a sequence where the difference between successive terms is a constant.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Example: </a:t>
            </a:r>
            <a:r>
              <a:rPr lang="en-GB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6, 11, 16, 21, …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 has a constant difference of </a:t>
            </a:r>
            <a:r>
              <a:rPr lang="en-GB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 therefore it is arithmetic (linear).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Non-example: </a:t>
            </a:r>
            <a:r>
              <a:rPr lang="en-GB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1, 2, 4, 8, …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 does not have a constant difference therefore it is not arithmetic, it is non-linear.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772" name="Google Shape;772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sequences represented graphically</a:t>
            </a:r>
            <a:endParaRPr/>
          </a:p>
        </p:txBody>
      </p:sp>
      <p:sp>
        <p:nvSpPr>
          <p:cNvPr id="773" name="Google Shape;773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sequences graphically</a:t>
            </a:r>
            <a:endParaRPr/>
          </a:p>
        </p:txBody>
      </p:sp>
      <p:pic>
        <p:nvPicPr>
          <p:cNvPr id="774" name="Google Shape;77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290" y="206142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9"/>
          <p:cNvSpPr txBox="1"/>
          <p:nvPr>
            <p:ph idx="1" type="body"/>
          </p:nvPr>
        </p:nvSpPr>
        <p:spPr>
          <a:xfrm>
            <a:off x="324000" y="759300"/>
            <a:ext cx="7681800" cy="130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Multiple representations </a:t>
            </a:r>
            <a:r>
              <a:rPr lang="en-GB"/>
              <a:t>in mathematics</a:t>
            </a:r>
            <a:r>
              <a:rPr lang="en-GB"/>
              <a:t> can help us to solve </a:t>
            </a:r>
            <a:r>
              <a:rPr lang="en-GB"/>
              <a:t>problems, understand the structure of some mathematics or expose connections to other areas</a:t>
            </a:r>
            <a:r>
              <a:rPr lang="en-GB"/>
              <a:t>. </a:t>
            </a:r>
            <a:endParaRPr/>
          </a:p>
        </p:txBody>
      </p:sp>
      <p:sp>
        <p:nvSpPr>
          <p:cNvPr id="780" name="Google Shape;78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graphicFrame>
        <p:nvGraphicFramePr>
          <p:cNvPr id="781" name="Google Shape;781;p69"/>
          <p:cNvGraphicFramePr/>
          <p:nvPr/>
        </p:nvGraphicFramePr>
        <p:xfrm>
          <a:off x="1365328" y="21966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2n&quot;&gt;&lt;mn&gt;2&lt;/mn&gt;&lt;mi&gt;n&lt;/mi&gt;&lt;/math&gt;" id="782" name="Google Shape;782;p69" title="2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002" y="2189651"/>
            <a:ext cx="409653" cy="29495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9"/>
          <p:cNvSpPr txBox="1"/>
          <p:nvPr>
            <p:ph idx="1" type="body"/>
          </p:nvPr>
        </p:nvSpPr>
        <p:spPr>
          <a:xfrm>
            <a:off x="324000" y="3502500"/>
            <a:ext cx="7681800" cy="130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One representation of an</a:t>
            </a:r>
            <a:r>
              <a:rPr lang="en-GB"/>
              <a:t> arithmetic sequence such as       could be to turn the term numbers and values into coordinates and plot them on a graph.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n&quot;&gt;&lt;mn&gt;2&lt;/mn&gt;&lt;mi&gt;n&lt;/mi&gt;&lt;/math&gt;" id="784" name="Google Shape;784;p69" title="2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9333" y="3539150"/>
            <a:ext cx="321300" cy="23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27-10-2023/4efa5e19-9132-4a63-9627-e0fbbbadbe26&quot; data-equatio-type=&quot;desmos&quot;&gt;&lt;mglyph src=&quot;https://equatio-api.texthelp.com/desmos/get/27-10-2023/4efa5e19-9132-4a63-9627-e0fbbbadbe26&quot; alt=&quot;Equatio Desmos Graph&quot;/&gt;&lt;/math&gt;" id="789" name="Google Shape;789;p70" title="Equatio Desmos Graph"/>
          <p:cNvPicPr preferRelativeResize="0"/>
          <p:nvPr/>
        </p:nvPicPr>
        <p:blipFill rotWithShape="1">
          <a:blip r:embed="rId3">
            <a:alphaModFix/>
          </a:blip>
          <a:srcRect b="20603" l="27929" r="47501" t="21324"/>
          <a:stretch/>
        </p:blipFill>
        <p:spPr>
          <a:xfrm>
            <a:off x="5772850" y="843750"/>
            <a:ext cx="2090424" cy="3812449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graphicFrame>
        <p:nvGraphicFramePr>
          <p:cNvPr id="791" name="Google Shape;791;p70"/>
          <p:cNvGraphicFramePr/>
          <p:nvPr/>
        </p:nvGraphicFramePr>
        <p:xfrm>
          <a:off x="938198" y="8135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2n&quot;&gt;&lt;mn&gt;2&lt;/mn&gt;&lt;mi&gt;n&lt;/mi&gt;&lt;/math&gt;" id="792" name="Google Shape;792;p70" title="2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337" y="836589"/>
            <a:ext cx="409653" cy="29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7-10-2023/280220b2-165c-4c5c-97d8-450a91a0f3a0&quot; data-equatio-type=&quot;desmos&quot;&gt;&lt;mglyph src=&quot;https://equatio-api.texthelp.com/desmos/get/27-10-2023/280220b2-165c-4c5c-97d8-450a91a0f3a0&quot; alt=&quot;Equatio Desmos Graph&quot;/&gt;&lt;/math&gt;" id="793" name="Google Shape;793;p70" title="Equatio Desmos Graph"/>
          <p:cNvPicPr preferRelativeResize="0"/>
          <p:nvPr/>
        </p:nvPicPr>
        <p:blipFill rotWithShape="1">
          <a:blip r:embed="rId5">
            <a:alphaModFix/>
          </a:blip>
          <a:srcRect b="20764" l="28305" r="47351" t="20042"/>
          <a:stretch/>
        </p:blipFill>
        <p:spPr>
          <a:xfrm>
            <a:off x="5778450" y="836600"/>
            <a:ext cx="2090426" cy="3812453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70"/>
          <p:cNvSpPr txBox="1"/>
          <p:nvPr>
            <p:ph idx="1" type="body"/>
          </p:nvPr>
        </p:nvSpPr>
        <p:spPr>
          <a:xfrm>
            <a:off x="324000" y="1902300"/>
            <a:ext cx="38187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 in the form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(Term number, Term value)</a:t>
            </a:r>
            <a:endParaRPr/>
          </a:p>
        </p:txBody>
      </p:sp>
      <p:sp>
        <p:nvSpPr>
          <p:cNvPr id="795" name="Google Shape;795;p70"/>
          <p:cNvSpPr txBox="1"/>
          <p:nvPr>
            <p:ph idx="1" type="body"/>
          </p:nvPr>
        </p:nvSpPr>
        <p:spPr>
          <a:xfrm>
            <a:off x="368801" y="2957567"/>
            <a:ext cx="759900" cy="4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(1, 2)</a:t>
            </a:r>
            <a:endParaRPr/>
          </a:p>
        </p:txBody>
      </p:sp>
      <p:sp>
        <p:nvSpPr>
          <p:cNvPr id="796" name="Google Shape;796;p70"/>
          <p:cNvSpPr txBox="1"/>
          <p:nvPr>
            <p:ph idx="1" type="body"/>
          </p:nvPr>
        </p:nvSpPr>
        <p:spPr>
          <a:xfrm>
            <a:off x="6191400" y="46038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number</a:t>
            </a:r>
            <a:endParaRPr sz="1800"/>
          </a:p>
        </p:txBody>
      </p:sp>
      <p:sp>
        <p:nvSpPr>
          <p:cNvPr id="797" name="Google Shape;797;p70"/>
          <p:cNvSpPr txBox="1"/>
          <p:nvPr>
            <p:ph idx="1" type="body"/>
          </p:nvPr>
        </p:nvSpPr>
        <p:spPr>
          <a:xfrm rot="-5400000">
            <a:off x="4824328" y="14796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value</a:t>
            </a:r>
            <a:endParaRPr sz="1800"/>
          </a:p>
        </p:txBody>
      </p:sp>
      <p:sp>
        <p:nvSpPr>
          <p:cNvPr id="798" name="Google Shape;798;p70"/>
          <p:cNvSpPr txBox="1"/>
          <p:nvPr>
            <p:ph idx="1" type="body"/>
          </p:nvPr>
        </p:nvSpPr>
        <p:spPr>
          <a:xfrm>
            <a:off x="368801" y="3338567"/>
            <a:ext cx="759900" cy="4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(2, 4)</a:t>
            </a:r>
            <a:endParaRPr/>
          </a:p>
        </p:txBody>
      </p:sp>
      <p:sp>
        <p:nvSpPr>
          <p:cNvPr id="799" name="Google Shape;799;p70"/>
          <p:cNvSpPr txBox="1"/>
          <p:nvPr>
            <p:ph idx="1" type="body"/>
          </p:nvPr>
        </p:nvSpPr>
        <p:spPr>
          <a:xfrm>
            <a:off x="368801" y="3719567"/>
            <a:ext cx="759900" cy="4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(3, 6)</a:t>
            </a:r>
            <a:endParaRPr/>
          </a:p>
        </p:txBody>
      </p:sp>
      <p:sp>
        <p:nvSpPr>
          <p:cNvPr id="800" name="Google Shape;800;p70"/>
          <p:cNvSpPr txBox="1"/>
          <p:nvPr>
            <p:ph idx="1" type="body"/>
          </p:nvPr>
        </p:nvSpPr>
        <p:spPr>
          <a:xfrm>
            <a:off x="368801" y="4100567"/>
            <a:ext cx="759900" cy="4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(4, 8)</a:t>
            </a:r>
            <a:endParaRPr/>
          </a:p>
        </p:txBody>
      </p:sp>
      <p:sp>
        <p:nvSpPr>
          <p:cNvPr id="801" name="Google Shape;801;p70"/>
          <p:cNvSpPr txBox="1"/>
          <p:nvPr>
            <p:ph idx="1" type="body"/>
          </p:nvPr>
        </p:nvSpPr>
        <p:spPr>
          <a:xfrm>
            <a:off x="368786" y="4481575"/>
            <a:ext cx="862500" cy="4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(5, 10)</a:t>
            </a:r>
            <a:endParaRPr/>
          </a:p>
        </p:txBody>
      </p:sp>
      <p:sp>
        <p:nvSpPr>
          <p:cNvPr id="802" name="Google Shape;802;p70"/>
          <p:cNvSpPr txBox="1"/>
          <p:nvPr>
            <p:ph idx="1" type="body"/>
          </p:nvPr>
        </p:nvSpPr>
        <p:spPr>
          <a:xfrm>
            <a:off x="1572425" y="2945100"/>
            <a:ext cx="48300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Notice that the points align.</a:t>
            </a:r>
            <a:endParaRPr/>
          </a:p>
        </p:txBody>
      </p:sp>
      <p:sp>
        <p:nvSpPr>
          <p:cNvPr id="803" name="Google Shape;803;p70"/>
          <p:cNvSpPr txBox="1"/>
          <p:nvPr>
            <p:ph idx="1" type="body"/>
          </p:nvPr>
        </p:nvSpPr>
        <p:spPr>
          <a:xfrm>
            <a:off x="1576785" y="3383164"/>
            <a:ext cx="3866400" cy="15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Arithmetic sequences are also known as </a:t>
            </a:r>
            <a:r>
              <a:rPr lang="en-GB">
                <a:solidFill>
                  <a:schemeClr val="accent4"/>
                </a:solidFill>
              </a:rPr>
              <a:t>linear sequences</a:t>
            </a:r>
            <a:r>
              <a:rPr lang="en-GB"/>
              <a:t>. They increase or decrease in a straight line.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" name="Google Shape;808;p71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1104293" y="2558634"/>
            <a:ext cx="2661576" cy="524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7-10-2023/4efa5e19-9132-4a63-9627-e0fbbbadbe26&quot; data-equatio-type=&quot;desmos&quot;&gt;&lt;mglyph src=&quot;https://equatio-api.texthelp.com/desmos/get/27-10-2023/4efa5e19-9132-4a63-9627-e0fbbbadbe26&quot; alt=&quot;Equatio Desmos Graph&quot;/&gt;&lt;/math&gt;" id="809" name="Google Shape;809;p71" title="Equatio Desmos Graph"/>
          <p:cNvPicPr preferRelativeResize="0"/>
          <p:nvPr/>
        </p:nvPicPr>
        <p:blipFill rotWithShape="1">
          <a:blip r:embed="rId4">
            <a:alphaModFix/>
          </a:blip>
          <a:srcRect b="20603" l="27929" r="47501" t="21324"/>
          <a:stretch/>
        </p:blipFill>
        <p:spPr>
          <a:xfrm>
            <a:off x="5772850" y="843750"/>
            <a:ext cx="2090424" cy="3812449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graphicFrame>
        <p:nvGraphicFramePr>
          <p:cNvPr id="811" name="Google Shape;811;p71"/>
          <p:cNvGraphicFramePr/>
          <p:nvPr/>
        </p:nvGraphicFramePr>
        <p:xfrm>
          <a:off x="938198" y="8135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2n&quot;&gt;&lt;mn&gt;2&lt;/mn&gt;&lt;mi&gt;n&lt;/mi&gt;&lt;/math&gt;" id="812" name="Google Shape;812;p71" title="2 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337" y="836589"/>
            <a:ext cx="409653" cy="29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7-10-2023/280220b2-165c-4c5c-97d8-450a91a0f3a0&quot; data-equatio-type=&quot;desmos&quot;&gt;&lt;mglyph src=&quot;https://equatio-api.texthelp.com/desmos/get/27-10-2023/280220b2-165c-4c5c-97d8-450a91a0f3a0&quot; alt=&quot;Equatio Desmos Graph&quot;/&gt;&lt;/math&gt;" id="813" name="Google Shape;813;p71" title="Equatio Desmos Graph"/>
          <p:cNvPicPr preferRelativeResize="0"/>
          <p:nvPr/>
        </p:nvPicPr>
        <p:blipFill rotWithShape="1">
          <a:blip r:embed="rId6">
            <a:alphaModFix/>
          </a:blip>
          <a:srcRect b="20764" l="28305" r="47351" t="20042"/>
          <a:stretch/>
        </p:blipFill>
        <p:spPr>
          <a:xfrm>
            <a:off x="5778450" y="836600"/>
            <a:ext cx="2090426" cy="3812453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1"/>
          <p:cNvSpPr txBox="1"/>
          <p:nvPr>
            <p:ph idx="1" type="body"/>
          </p:nvPr>
        </p:nvSpPr>
        <p:spPr>
          <a:xfrm>
            <a:off x="324000" y="1890750"/>
            <a:ext cx="4311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Andeep spots this linear pattern, draws a line, and says:</a:t>
            </a:r>
            <a:endParaRPr sz="1800"/>
          </a:p>
        </p:txBody>
      </p:sp>
      <p:sp>
        <p:nvSpPr>
          <p:cNvPr id="815" name="Google Shape;815;p71"/>
          <p:cNvSpPr txBox="1"/>
          <p:nvPr>
            <p:ph idx="1" type="body"/>
          </p:nvPr>
        </p:nvSpPr>
        <p:spPr>
          <a:xfrm>
            <a:off x="6191400" y="46038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number</a:t>
            </a:r>
            <a:endParaRPr sz="1800"/>
          </a:p>
        </p:txBody>
      </p:sp>
      <p:sp>
        <p:nvSpPr>
          <p:cNvPr id="816" name="Google Shape;816;p71"/>
          <p:cNvSpPr txBox="1"/>
          <p:nvPr>
            <p:ph idx="1" type="body"/>
          </p:nvPr>
        </p:nvSpPr>
        <p:spPr>
          <a:xfrm rot="-5400000">
            <a:off x="4824328" y="14796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value</a:t>
            </a:r>
            <a:endParaRPr sz="1800"/>
          </a:p>
        </p:txBody>
      </p:sp>
      <p:cxnSp>
        <p:nvCxnSpPr>
          <p:cNvPr id="817" name="Google Shape;817;p71"/>
          <p:cNvCxnSpPr/>
          <p:nvPr/>
        </p:nvCxnSpPr>
        <p:spPr>
          <a:xfrm flipH="1" rot="10800000">
            <a:off x="5976150" y="858000"/>
            <a:ext cx="1787400" cy="3575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8" name="Google Shape;818;p71"/>
          <p:cNvCxnSpPr/>
          <p:nvPr/>
        </p:nvCxnSpPr>
        <p:spPr>
          <a:xfrm>
            <a:off x="6492363" y="3418225"/>
            <a:ext cx="0" cy="1026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71"/>
          <p:cNvCxnSpPr/>
          <p:nvPr/>
        </p:nvCxnSpPr>
        <p:spPr>
          <a:xfrm flipH="1">
            <a:off x="5987463" y="3418225"/>
            <a:ext cx="504900" cy="2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20" name="Google Shape;820;p71"/>
          <p:cNvSpPr txBox="1"/>
          <p:nvPr>
            <p:ph idx="1" type="body"/>
          </p:nvPr>
        </p:nvSpPr>
        <p:spPr>
          <a:xfrm>
            <a:off x="1519060" y="2673574"/>
            <a:ext cx="20904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1.5</a:t>
            </a:r>
            <a:r>
              <a:rPr baseline="30000" lang="en-GB" sz="1800"/>
              <a:t>th</a:t>
            </a:r>
            <a:r>
              <a:rPr lang="en-GB" sz="1800"/>
              <a:t> term is 3</a:t>
            </a:r>
            <a:endParaRPr sz="1800"/>
          </a:p>
        </p:txBody>
      </p:sp>
      <p:pic>
        <p:nvPicPr>
          <p:cNvPr id="821" name="Google Shape;821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278347" y="2571923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>
            <p:ph idx="1" type="body"/>
          </p:nvPr>
        </p:nvSpPr>
        <p:spPr>
          <a:xfrm>
            <a:off x="1226896" y="3183192"/>
            <a:ext cx="3966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is wrong with his statement?</a:t>
            </a:r>
            <a:endParaRPr sz="1800"/>
          </a:p>
        </p:txBody>
      </p:sp>
      <p:sp>
        <p:nvSpPr>
          <p:cNvPr id="823" name="Google Shape;823;p71"/>
          <p:cNvSpPr txBox="1"/>
          <p:nvPr>
            <p:ph idx="1" type="body"/>
          </p:nvPr>
        </p:nvSpPr>
        <p:spPr>
          <a:xfrm>
            <a:off x="325006" y="3560747"/>
            <a:ext cx="55488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</a:t>
            </a:r>
            <a:r>
              <a:rPr lang="en-GB" sz="1800">
                <a:solidFill>
                  <a:schemeClr val="accent4"/>
                </a:solidFill>
              </a:rPr>
              <a:t>do not</a:t>
            </a:r>
            <a:r>
              <a:rPr lang="en-GB" sz="1800"/>
              <a:t> draw a line when plotting sequences.</a:t>
            </a:r>
            <a:endParaRPr sz="1800"/>
          </a:p>
        </p:txBody>
      </p:sp>
      <p:sp>
        <p:nvSpPr>
          <p:cNvPr id="824" name="Google Shape;824;p71"/>
          <p:cNvSpPr txBox="1"/>
          <p:nvPr>
            <p:ph idx="1" type="body"/>
          </p:nvPr>
        </p:nvSpPr>
        <p:spPr>
          <a:xfrm>
            <a:off x="325006" y="3931335"/>
            <a:ext cx="51480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 is not a term in the sequence 2n.</a:t>
            </a:r>
            <a:endParaRPr sz="1800"/>
          </a:p>
        </p:txBody>
      </p:sp>
      <p:sp>
        <p:nvSpPr>
          <p:cNvPr id="825" name="Google Shape;825;p71"/>
          <p:cNvSpPr txBox="1"/>
          <p:nvPr>
            <p:ph idx="1" type="body"/>
          </p:nvPr>
        </p:nvSpPr>
        <p:spPr>
          <a:xfrm>
            <a:off x="325006" y="4312335"/>
            <a:ext cx="51480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There is no 1.5</a:t>
            </a:r>
            <a:r>
              <a:rPr baseline="30000" lang="en-GB" sz="1800"/>
              <a:t>th</a:t>
            </a:r>
            <a:r>
              <a:rPr lang="en-GB" sz="1800"/>
              <a:t> term. Term numbers have to be whole numbers.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27-10-2023/4efa5e19-9132-4a63-9627-e0fbbbadbe26&quot; data-equatio-type=&quot;desmos&quot;&gt;&lt;mglyph src=&quot;https://equatio-api.texthelp.com/desmos/get/27-10-2023/4efa5e19-9132-4a63-9627-e0fbbbadbe26&quot; alt=&quot;Equatio Desmos Graph&quot;/&gt;&lt;/math&gt;" id="830" name="Google Shape;830;p72" title="Equatio Desmos Graph"/>
          <p:cNvPicPr preferRelativeResize="0"/>
          <p:nvPr/>
        </p:nvPicPr>
        <p:blipFill rotWithShape="1">
          <a:blip r:embed="rId3">
            <a:alphaModFix/>
          </a:blip>
          <a:srcRect b="20603" l="27929" r="47501" t="21324"/>
          <a:stretch/>
        </p:blipFill>
        <p:spPr>
          <a:xfrm>
            <a:off x="5772850" y="843750"/>
            <a:ext cx="2090424" cy="3812449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graphicFrame>
        <p:nvGraphicFramePr>
          <p:cNvPr id="832" name="Google Shape;832;p72"/>
          <p:cNvGraphicFramePr/>
          <p:nvPr/>
        </p:nvGraphicFramePr>
        <p:xfrm>
          <a:off x="938198" y="1073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2n&quot;&gt;&lt;mn&gt;2&lt;/mn&gt;&lt;mi&gt;n&lt;/mi&gt;&lt;/math&gt;" id="833" name="Google Shape;833;p72" title="2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337" y="1096424"/>
            <a:ext cx="409653" cy="29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7-10-2023/280220b2-165c-4c5c-97d8-450a91a0f3a0&quot; data-equatio-type=&quot;desmos&quot;&gt;&lt;mglyph src=&quot;https://equatio-api.texthelp.com/desmos/get/27-10-2023/280220b2-165c-4c5c-97d8-450a91a0f3a0&quot; alt=&quot;Equatio Desmos Graph&quot;/&gt;&lt;/math&gt;" id="834" name="Google Shape;834;p72" title="Equatio Desmos Graph"/>
          <p:cNvPicPr preferRelativeResize="0"/>
          <p:nvPr/>
        </p:nvPicPr>
        <p:blipFill rotWithShape="1">
          <a:blip r:embed="rId5">
            <a:alphaModFix/>
          </a:blip>
          <a:srcRect b="20764" l="28305" r="47351" t="20042"/>
          <a:stretch/>
        </p:blipFill>
        <p:spPr>
          <a:xfrm>
            <a:off x="5778450" y="836600"/>
            <a:ext cx="2090426" cy="3812453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2"/>
          <p:cNvSpPr txBox="1"/>
          <p:nvPr>
            <p:ph idx="1" type="body"/>
          </p:nvPr>
        </p:nvSpPr>
        <p:spPr>
          <a:xfrm>
            <a:off x="6191400" y="46038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number</a:t>
            </a:r>
            <a:endParaRPr sz="1800"/>
          </a:p>
        </p:txBody>
      </p:sp>
      <p:sp>
        <p:nvSpPr>
          <p:cNvPr id="836" name="Google Shape;836;p72"/>
          <p:cNvSpPr txBox="1"/>
          <p:nvPr>
            <p:ph idx="1" type="body"/>
          </p:nvPr>
        </p:nvSpPr>
        <p:spPr>
          <a:xfrm rot="-5400000">
            <a:off x="4824328" y="14796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value</a:t>
            </a:r>
            <a:endParaRPr sz="1800"/>
          </a:p>
        </p:txBody>
      </p:sp>
      <p:sp>
        <p:nvSpPr>
          <p:cNvPr id="837" name="Google Shape;837;p72"/>
          <p:cNvSpPr txBox="1"/>
          <p:nvPr>
            <p:ph idx="1" type="body"/>
          </p:nvPr>
        </p:nvSpPr>
        <p:spPr>
          <a:xfrm>
            <a:off x="324000" y="2569917"/>
            <a:ext cx="51480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 you notice about the sequence numerically, and the sequence graphically?</a:t>
            </a:r>
            <a:endParaRPr sz="1800"/>
          </a:p>
        </p:txBody>
      </p:sp>
      <p:grpSp>
        <p:nvGrpSpPr>
          <p:cNvPr id="838" name="Google Shape;838;p72"/>
          <p:cNvGrpSpPr/>
          <p:nvPr/>
        </p:nvGrpSpPr>
        <p:grpSpPr>
          <a:xfrm>
            <a:off x="6326888" y="3088813"/>
            <a:ext cx="343500" cy="669300"/>
            <a:chOff x="6326888" y="3088813"/>
            <a:chExt cx="343500" cy="669300"/>
          </a:xfrm>
        </p:grpSpPr>
        <p:cxnSp>
          <p:nvCxnSpPr>
            <p:cNvPr id="839" name="Google Shape;839;p72"/>
            <p:cNvCxnSpPr/>
            <p:nvPr/>
          </p:nvCxnSpPr>
          <p:spPr>
            <a:xfrm>
              <a:off x="6326888" y="3758113"/>
              <a:ext cx="343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40" name="Google Shape;840;p72"/>
            <p:cNvCxnSpPr/>
            <p:nvPr/>
          </p:nvCxnSpPr>
          <p:spPr>
            <a:xfrm flipH="1" rot="10800000">
              <a:off x="6655500" y="3088813"/>
              <a:ext cx="3300" cy="6693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841" name="Google Shape;841;p72"/>
          <p:cNvGrpSpPr/>
          <p:nvPr/>
        </p:nvGrpSpPr>
        <p:grpSpPr>
          <a:xfrm>
            <a:off x="6676652" y="2403013"/>
            <a:ext cx="343500" cy="669300"/>
            <a:chOff x="6326888" y="3088813"/>
            <a:chExt cx="343500" cy="669300"/>
          </a:xfrm>
        </p:grpSpPr>
        <p:cxnSp>
          <p:nvCxnSpPr>
            <p:cNvPr id="842" name="Google Shape;842;p72"/>
            <p:cNvCxnSpPr/>
            <p:nvPr/>
          </p:nvCxnSpPr>
          <p:spPr>
            <a:xfrm>
              <a:off x="6326888" y="3758113"/>
              <a:ext cx="343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43" name="Google Shape;843;p72"/>
            <p:cNvCxnSpPr/>
            <p:nvPr/>
          </p:nvCxnSpPr>
          <p:spPr>
            <a:xfrm flipH="1" rot="10800000">
              <a:off x="6655500" y="3088813"/>
              <a:ext cx="3300" cy="6693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844" name="Google Shape;844;p72"/>
          <p:cNvGrpSpPr/>
          <p:nvPr/>
        </p:nvGrpSpPr>
        <p:grpSpPr>
          <a:xfrm>
            <a:off x="7026416" y="1706801"/>
            <a:ext cx="343500" cy="669300"/>
            <a:chOff x="6326888" y="3088813"/>
            <a:chExt cx="343500" cy="669300"/>
          </a:xfrm>
        </p:grpSpPr>
        <p:cxnSp>
          <p:nvCxnSpPr>
            <p:cNvPr id="845" name="Google Shape;845;p72"/>
            <p:cNvCxnSpPr/>
            <p:nvPr/>
          </p:nvCxnSpPr>
          <p:spPr>
            <a:xfrm>
              <a:off x="6326888" y="3758113"/>
              <a:ext cx="343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46" name="Google Shape;846;p72"/>
            <p:cNvCxnSpPr/>
            <p:nvPr/>
          </p:nvCxnSpPr>
          <p:spPr>
            <a:xfrm flipH="1" rot="10800000">
              <a:off x="6655500" y="3088813"/>
              <a:ext cx="3300" cy="6693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847" name="Google Shape;847;p72"/>
          <p:cNvGrpSpPr/>
          <p:nvPr/>
        </p:nvGrpSpPr>
        <p:grpSpPr>
          <a:xfrm>
            <a:off x="7355819" y="1034729"/>
            <a:ext cx="343500" cy="669300"/>
            <a:chOff x="6326888" y="3088813"/>
            <a:chExt cx="343500" cy="669300"/>
          </a:xfrm>
        </p:grpSpPr>
        <p:cxnSp>
          <p:nvCxnSpPr>
            <p:cNvPr id="848" name="Google Shape;848;p72"/>
            <p:cNvCxnSpPr/>
            <p:nvPr/>
          </p:nvCxnSpPr>
          <p:spPr>
            <a:xfrm>
              <a:off x="6326888" y="3758113"/>
              <a:ext cx="343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49" name="Google Shape;849;p72"/>
            <p:cNvCxnSpPr/>
            <p:nvPr/>
          </p:nvCxnSpPr>
          <p:spPr>
            <a:xfrm flipH="1" rot="10800000">
              <a:off x="6655500" y="3088813"/>
              <a:ext cx="3300" cy="6693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50" name="Google Shape;850;p72"/>
          <p:cNvSpPr txBox="1"/>
          <p:nvPr>
            <p:ph idx="1" type="body"/>
          </p:nvPr>
        </p:nvSpPr>
        <p:spPr>
          <a:xfrm>
            <a:off x="324000" y="3636725"/>
            <a:ext cx="41136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 As the term number increases by 1, the term value increases by 2.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1" name="Google Shape;851;p72"/>
          <p:cNvSpPr txBox="1"/>
          <p:nvPr>
            <p:ph idx="1" type="body"/>
          </p:nvPr>
        </p:nvSpPr>
        <p:spPr>
          <a:xfrm>
            <a:off x="3143400" y="772361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+1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852" name="Google Shape;852;p72"/>
          <p:cNvSpPr txBox="1"/>
          <p:nvPr>
            <p:ph idx="1" type="body"/>
          </p:nvPr>
        </p:nvSpPr>
        <p:spPr>
          <a:xfrm>
            <a:off x="3524400" y="772361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+1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853" name="Google Shape;853;p72"/>
          <p:cNvSpPr txBox="1"/>
          <p:nvPr>
            <p:ph idx="1" type="body"/>
          </p:nvPr>
        </p:nvSpPr>
        <p:spPr>
          <a:xfrm>
            <a:off x="3926224" y="772361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+1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854" name="Google Shape;854;p72"/>
          <p:cNvSpPr txBox="1"/>
          <p:nvPr>
            <p:ph idx="1" type="body"/>
          </p:nvPr>
        </p:nvSpPr>
        <p:spPr>
          <a:xfrm>
            <a:off x="4328048" y="772361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+1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855" name="Google Shape;855;p72"/>
          <p:cNvSpPr txBox="1"/>
          <p:nvPr>
            <p:ph idx="1" type="body"/>
          </p:nvPr>
        </p:nvSpPr>
        <p:spPr>
          <a:xfrm>
            <a:off x="3143400" y="1991561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+2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856" name="Google Shape;856;p72"/>
          <p:cNvSpPr txBox="1"/>
          <p:nvPr>
            <p:ph idx="1" type="body"/>
          </p:nvPr>
        </p:nvSpPr>
        <p:spPr>
          <a:xfrm>
            <a:off x="3524400" y="1991561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+2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857" name="Google Shape;857;p72"/>
          <p:cNvSpPr txBox="1"/>
          <p:nvPr>
            <p:ph idx="1" type="body"/>
          </p:nvPr>
        </p:nvSpPr>
        <p:spPr>
          <a:xfrm>
            <a:off x="3926224" y="1991561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+2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858" name="Google Shape;858;p72"/>
          <p:cNvSpPr txBox="1"/>
          <p:nvPr>
            <p:ph idx="1" type="body"/>
          </p:nvPr>
        </p:nvSpPr>
        <p:spPr>
          <a:xfrm>
            <a:off x="4328048" y="1991561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+2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859" name="Google Shape;859;p72"/>
          <p:cNvSpPr txBox="1"/>
          <p:nvPr>
            <p:ph idx="1" type="body"/>
          </p:nvPr>
        </p:nvSpPr>
        <p:spPr>
          <a:xfrm>
            <a:off x="6350896" y="3772080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+1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860" name="Google Shape;860;p72"/>
          <p:cNvSpPr txBox="1"/>
          <p:nvPr>
            <p:ph idx="1" type="body"/>
          </p:nvPr>
        </p:nvSpPr>
        <p:spPr>
          <a:xfrm>
            <a:off x="6662791" y="3398176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+2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861" name="Google Shape;861;p72"/>
          <p:cNvSpPr txBox="1"/>
          <p:nvPr>
            <p:ph idx="1" type="body"/>
          </p:nvPr>
        </p:nvSpPr>
        <p:spPr>
          <a:xfrm>
            <a:off x="7043791" y="2636176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+2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862" name="Google Shape;862;p72"/>
          <p:cNvSpPr txBox="1"/>
          <p:nvPr>
            <p:ph idx="1" type="body"/>
          </p:nvPr>
        </p:nvSpPr>
        <p:spPr>
          <a:xfrm>
            <a:off x="7348591" y="1950376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+2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863" name="Google Shape;863;p72"/>
          <p:cNvSpPr txBox="1"/>
          <p:nvPr>
            <p:ph idx="1" type="body"/>
          </p:nvPr>
        </p:nvSpPr>
        <p:spPr>
          <a:xfrm>
            <a:off x="7729591" y="1264576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+2</a:t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3"/>
          <p:cNvSpPr txBox="1"/>
          <p:nvPr>
            <p:ph type="title"/>
          </p:nvPr>
        </p:nvSpPr>
        <p:spPr>
          <a:xfrm>
            <a:off x="933600" y="2764525"/>
            <a:ext cx="38904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he sequence increases by 3 each time.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7-10-2023/c4a97079-3df7-4fcc-baee-d99a00f87674&quot; data-equatio-type=&quot;desmos&quot;&gt;&lt;mglyph src=&quot;https://equatio-api.texthelp.com/desmos/get/27-10-2023/c4a97079-3df7-4fcc-baee-d99a00f87674&quot; alt=&quot;Equatio Desmos Graph&quot;/&gt;&lt;/math&gt;" id="869" name="Google Shape;869;p73" title="Equatio Desmos Graph"/>
          <p:cNvPicPr preferRelativeResize="0"/>
          <p:nvPr/>
        </p:nvPicPr>
        <p:blipFill rotWithShape="1">
          <a:blip r:embed="rId3">
            <a:alphaModFix/>
          </a:blip>
          <a:srcRect b="20364" l="28001" r="51503" t="20998"/>
          <a:stretch/>
        </p:blipFill>
        <p:spPr>
          <a:xfrm>
            <a:off x="6253203" y="1080000"/>
            <a:ext cx="1674774" cy="3593630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pic>
        <p:nvPicPr>
          <p:cNvPr id="871" name="Google Shape;871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6183" y="27675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73"/>
          <p:cNvSpPr txBox="1"/>
          <p:nvPr>
            <p:ph type="title"/>
          </p:nvPr>
        </p:nvSpPr>
        <p:spPr>
          <a:xfrm>
            <a:off x="324000" y="748775"/>
            <a:ext cx="5404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visual representation of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demonstrates that…</a:t>
            </a:r>
            <a:endParaRPr/>
          </a:p>
        </p:txBody>
      </p:sp>
      <p:sp>
        <p:nvSpPr>
          <p:cNvPr id="873" name="Google Shape;873;p73"/>
          <p:cNvSpPr txBox="1"/>
          <p:nvPr>
            <p:ph idx="4294967295" type="body"/>
          </p:nvPr>
        </p:nvSpPr>
        <p:spPr>
          <a:xfrm>
            <a:off x="6648600" y="46038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number</a:t>
            </a:r>
            <a:endParaRPr sz="1800"/>
          </a:p>
        </p:txBody>
      </p:sp>
      <p:sp>
        <p:nvSpPr>
          <p:cNvPr id="874" name="Google Shape;874;p73"/>
          <p:cNvSpPr txBox="1"/>
          <p:nvPr>
            <p:ph idx="4294967295" type="body"/>
          </p:nvPr>
        </p:nvSpPr>
        <p:spPr>
          <a:xfrm rot="-5400000">
            <a:off x="5281528" y="14796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value</a:t>
            </a:r>
            <a:endParaRPr sz="1800"/>
          </a:p>
        </p:txBody>
      </p:sp>
      <p:sp>
        <p:nvSpPr>
          <p:cNvPr id="875" name="Google Shape;875;p73"/>
          <p:cNvSpPr txBox="1"/>
          <p:nvPr>
            <p:ph type="title"/>
          </p:nvPr>
        </p:nvSpPr>
        <p:spPr>
          <a:xfrm>
            <a:off x="933600" y="1870951"/>
            <a:ext cx="3254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sequence is linear.</a:t>
            </a:r>
            <a:endParaRPr/>
          </a:p>
        </p:txBody>
      </p:sp>
      <p:pic>
        <p:nvPicPr>
          <p:cNvPr id="876" name="Google Shape;876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5583" y="18531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3"/>
          <p:cNvSpPr txBox="1"/>
          <p:nvPr>
            <p:ph type="title"/>
          </p:nvPr>
        </p:nvSpPr>
        <p:spPr>
          <a:xfrm>
            <a:off x="933600" y="3800100"/>
            <a:ext cx="529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he sequence starts at the origin (0,0)</a:t>
            </a:r>
            <a:endParaRPr/>
          </a:p>
        </p:txBody>
      </p:sp>
      <p:sp>
        <p:nvSpPr>
          <p:cNvPr id="878" name="Google Shape;878;p73"/>
          <p:cNvSpPr txBox="1"/>
          <p:nvPr>
            <p:ph type="title"/>
          </p:nvPr>
        </p:nvSpPr>
        <p:spPr>
          <a:xfrm>
            <a:off x="1162200" y="2272775"/>
            <a:ext cx="26436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coordinates align.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879" name="Google Shape;879;p73"/>
          <p:cNvCxnSpPr/>
          <p:nvPr/>
        </p:nvCxnSpPr>
        <p:spPr>
          <a:xfrm>
            <a:off x="6784088" y="3467600"/>
            <a:ext cx="3435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0" name="Google Shape;880;p73"/>
          <p:cNvCxnSpPr/>
          <p:nvPr/>
        </p:nvCxnSpPr>
        <p:spPr>
          <a:xfrm flipH="1" rot="10800000">
            <a:off x="7112700" y="2539513"/>
            <a:ext cx="7200" cy="913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1" name="Google Shape;881;p73"/>
          <p:cNvSpPr txBox="1"/>
          <p:nvPr>
            <p:ph idx="4294967295" type="body"/>
          </p:nvPr>
        </p:nvSpPr>
        <p:spPr>
          <a:xfrm>
            <a:off x="6808096" y="3467280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+1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882" name="Google Shape;882;p73"/>
          <p:cNvSpPr txBox="1"/>
          <p:nvPr>
            <p:ph idx="4294967295" type="body"/>
          </p:nvPr>
        </p:nvSpPr>
        <p:spPr>
          <a:xfrm>
            <a:off x="7119991" y="2940976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+3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883" name="Google Shape;883;p73"/>
          <p:cNvSpPr txBox="1"/>
          <p:nvPr>
            <p:ph type="title"/>
          </p:nvPr>
        </p:nvSpPr>
        <p:spPr>
          <a:xfrm>
            <a:off x="1162200" y="4177775"/>
            <a:ext cx="50619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is no zero term number.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Zero is not a term value in our sequence.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graphicFrame>
        <p:nvGraphicFramePr>
          <p:cNvPr id="889" name="Google Shape;889;p74"/>
          <p:cNvGraphicFramePr/>
          <p:nvPr/>
        </p:nvGraphicFramePr>
        <p:xfrm>
          <a:off x="861998" y="17279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0" name="Google Shape;890;p74"/>
          <p:cNvSpPr txBox="1"/>
          <p:nvPr>
            <p:ph idx="1" type="body"/>
          </p:nvPr>
        </p:nvSpPr>
        <p:spPr>
          <a:xfrm>
            <a:off x="324000" y="763729"/>
            <a:ext cx="53319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</a:t>
            </a:r>
            <a:r>
              <a:rPr lang="en-GB"/>
              <a:t> is the sequence              represented graphically.</a:t>
            </a:r>
            <a:endParaRPr/>
          </a:p>
        </p:txBody>
      </p:sp>
      <p:sp>
        <p:nvSpPr>
          <p:cNvPr id="891" name="Google Shape;891;p74"/>
          <p:cNvSpPr txBox="1"/>
          <p:nvPr>
            <p:ph idx="1" type="body"/>
          </p:nvPr>
        </p:nvSpPr>
        <p:spPr>
          <a:xfrm>
            <a:off x="6191400" y="46038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number</a:t>
            </a:r>
            <a:endParaRPr sz="1800"/>
          </a:p>
        </p:txBody>
      </p:sp>
      <p:sp>
        <p:nvSpPr>
          <p:cNvPr id="892" name="Google Shape;892;p74"/>
          <p:cNvSpPr txBox="1"/>
          <p:nvPr>
            <p:ph idx="1" type="body"/>
          </p:nvPr>
        </p:nvSpPr>
        <p:spPr>
          <a:xfrm rot="-5400000">
            <a:off x="5129128" y="14796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value</a:t>
            </a:r>
            <a:endParaRPr sz="1800"/>
          </a:p>
        </p:txBody>
      </p:sp>
      <p:sp>
        <p:nvSpPr>
          <p:cNvPr id="893" name="Google Shape;893;p74"/>
          <p:cNvSpPr txBox="1"/>
          <p:nvPr>
            <p:ph idx="1" type="body"/>
          </p:nvPr>
        </p:nvSpPr>
        <p:spPr>
          <a:xfrm>
            <a:off x="324000" y="2980625"/>
            <a:ext cx="43032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will be </a:t>
            </a:r>
            <a:r>
              <a:rPr lang="en-GB">
                <a:solidFill>
                  <a:schemeClr val="accent4"/>
                </a:solidFill>
              </a:rPr>
              <a:t>different </a:t>
            </a:r>
            <a:r>
              <a:rPr lang="en-GB"/>
              <a:t>if we plot the sequence              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+2n&quot;&gt;&lt;mn&gt;5&lt;/mn&gt;&lt;mo&gt;+&lt;/mo&gt;&lt;mn&gt;2&lt;/mn&gt;&lt;mi&gt;n&lt;/mi&gt;&lt;/math&gt;" id="894" name="Google Shape;894;p74" title="5 plus 2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0975" y="804676"/>
            <a:ext cx="847725" cy="2446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7-10-2023/6bde0827-8a1a-419c-b5e2-3f9a509731ff&quot; data-equatio-type=&quot;desmos&quot;&gt;&lt;mglyph src=&quot;https://equatio-api.texthelp.com/desmos/get/27-10-2023/6bde0827-8a1a-419c-b5e2-3f9a509731ff&quot; alt=&quot;Equatio Desmos Graph&quot;/&gt;&lt;/math&gt;" id="895" name="Google Shape;895;p74" title="Equatio Desmos Graph"/>
          <p:cNvPicPr preferRelativeResize="0"/>
          <p:nvPr/>
        </p:nvPicPr>
        <p:blipFill rotWithShape="1">
          <a:blip r:embed="rId4">
            <a:alphaModFix/>
          </a:blip>
          <a:srcRect b="21672" l="27776" r="50001" t="-1378"/>
          <a:stretch/>
        </p:blipFill>
        <p:spPr>
          <a:xfrm>
            <a:off x="6030212" y="609600"/>
            <a:ext cx="1524000" cy="404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-2n&quot;&gt;&lt;mn&gt;5&lt;/mn&gt;&lt;mo&gt;−&lt;/mo&gt;&lt;mn&gt;2&lt;/mn&gt;&lt;mi&gt;n&lt;/mi&gt;&lt;/math&gt;" id="896" name="Google Shape;896;p74" title="5 minus 2 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6000" y="3396375"/>
            <a:ext cx="867931" cy="2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74"/>
          <p:cNvSpPr txBox="1"/>
          <p:nvPr>
            <p:ph idx="1" type="body"/>
          </p:nvPr>
        </p:nvSpPr>
        <p:spPr>
          <a:xfrm>
            <a:off x="324000" y="3971225"/>
            <a:ext cx="52830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sequence decreases. We are going to end up with negative term values.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2" name="Google Shape;902;p75"/>
          <p:cNvGraphicFramePr/>
          <p:nvPr/>
        </p:nvGraphicFramePr>
        <p:xfrm>
          <a:off x="861998" y="14993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03" name="Google Shape;903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904" name="Google Shape;904;p75"/>
          <p:cNvSpPr txBox="1"/>
          <p:nvPr>
            <p:ph idx="1" type="body"/>
          </p:nvPr>
        </p:nvSpPr>
        <p:spPr>
          <a:xfrm>
            <a:off x="324000" y="763729"/>
            <a:ext cx="53319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</a:t>
            </a:r>
            <a:r>
              <a:rPr lang="en-GB"/>
              <a:t> the sequence               graphically.</a:t>
            </a:r>
            <a:endParaRPr/>
          </a:p>
        </p:txBody>
      </p:sp>
      <p:sp>
        <p:nvSpPr>
          <p:cNvPr id="905" name="Google Shape;905;p75"/>
          <p:cNvSpPr txBox="1"/>
          <p:nvPr>
            <p:ph idx="1" type="body"/>
          </p:nvPr>
        </p:nvSpPr>
        <p:spPr>
          <a:xfrm>
            <a:off x="6420000" y="46038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number</a:t>
            </a:r>
            <a:endParaRPr sz="1800"/>
          </a:p>
        </p:txBody>
      </p:sp>
      <p:sp>
        <p:nvSpPr>
          <p:cNvPr id="906" name="Google Shape;906;p75"/>
          <p:cNvSpPr txBox="1"/>
          <p:nvPr>
            <p:ph idx="1" type="body"/>
          </p:nvPr>
        </p:nvSpPr>
        <p:spPr>
          <a:xfrm rot="-5400000">
            <a:off x="5129128" y="14796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value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5-2n&quot;&gt;&lt;mn&gt;5&lt;/mn&gt;&lt;mo&gt;−&lt;/mo&gt;&lt;mn&gt;2&lt;/mn&gt;&lt;mi&gt;n&lt;/mi&gt;&lt;/math&gt;" id="907" name="Google Shape;907;p75" title="5 minus 2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4364" y="795163"/>
            <a:ext cx="867931" cy="244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7-10-2023/2b63d677-99a0-4459-8a7e-993874e4f310&quot; data-equatio-type=&quot;desmos&quot;&gt;&lt;mglyph src=&quot;https://equatio-api.texthelp.com/desmos/get/27-10-2023/2b63d677-99a0-4459-8a7e-993874e4f310&quot; alt=&quot;Equatio Desmos Graph&quot;/&gt;&lt;/math&gt;" id="908" name="Google Shape;908;p75" title="Equatio Desmos Graph"/>
          <p:cNvPicPr preferRelativeResize="0"/>
          <p:nvPr/>
        </p:nvPicPr>
        <p:blipFill rotWithShape="1">
          <a:blip r:embed="rId4">
            <a:alphaModFix/>
          </a:blip>
          <a:srcRect b="20158" l="26329" r="49379" t="20218"/>
          <a:stretch/>
        </p:blipFill>
        <p:spPr>
          <a:xfrm>
            <a:off x="6027886" y="800813"/>
            <a:ext cx="2059964" cy="379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7-10-2023/d42b0cd3-9c94-4cf0-945a-97cbbf69e036&quot; data-equatio-type=&quot;desmos&quot;&gt;&lt;mglyph src=&quot;https://equatio-api.texthelp.com/desmos/get/27-10-2023/d42b0cd3-9c94-4cf0-945a-97cbbf69e036&quot; alt=&quot;Equatio Desmos Graph&quot;/&gt;&lt;/math&gt;" id="909" name="Google Shape;909;p75" title="Equatio Desmos Graph"/>
          <p:cNvPicPr preferRelativeResize="0"/>
          <p:nvPr/>
        </p:nvPicPr>
        <p:blipFill rotWithShape="1">
          <a:blip r:embed="rId5">
            <a:alphaModFix/>
          </a:blip>
          <a:srcRect b="21582" l="28000" r="46324" t="17896"/>
          <a:stretch/>
        </p:blipFill>
        <p:spPr>
          <a:xfrm>
            <a:off x="6035000" y="811900"/>
            <a:ext cx="2144760" cy="379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10" name="Google Shape;910;p75"/>
          <p:cNvGraphicFramePr/>
          <p:nvPr/>
        </p:nvGraphicFramePr>
        <p:xfrm>
          <a:off x="861998" y="14993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76"/>
          <p:cNvSpPr txBox="1"/>
          <p:nvPr>
            <p:ph idx="1" type="subTitle"/>
          </p:nvPr>
        </p:nvSpPr>
        <p:spPr>
          <a:xfrm>
            <a:off x="980575" y="3196125"/>
            <a:ext cx="56124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Term numbers are always positive.</a:t>
            </a:r>
            <a:endParaRPr/>
          </a:p>
        </p:txBody>
      </p:sp>
      <p:sp>
        <p:nvSpPr>
          <p:cNvPr id="916" name="Google Shape;916;p76"/>
          <p:cNvSpPr txBox="1"/>
          <p:nvPr>
            <p:ph idx="2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we plot sequences we’ll only need the first quadrant.</a:t>
            </a:r>
            <a:endParaRPr/>
          </a:p>
        </p:txBody>
      </p:sp>
      <p:sp>
        <p:nvSpPr>
          <p:cNvPr id="917" name="Google Shape;917;p76"/>
          <p:cNvSpPr txBox="1"/>
          <p:nvPr>
            <p:ph idx="3" type="subTitle"/>
          </p:nvPr>
        </p:nvSpPr>
        <p:spPr>
          <a:xfrm>
            <a:off x="980575" y="3964150"/>
            <a:ext cx="52167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need the fourth quadrant too because term values can be negative.</a:t>
            </a:r>
            <a:endParaRPr/>
          </a:p>
        </p:txBody>
      </p:sp>
      <p:sp>
        <p:nvSpPr>
          <p:cNvPr id="918" name="Google Shape;918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pic>
        <p:nvPicPr>
          <p:cNvPr id="919" name="Google Shape;91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1583" y="17769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5383" y="42153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7-10-2023/cdde17ab-5cb5-44dc-8fdc-d3075ceb76f2&quot; data-equatio-type=&quot;desmos&quot;&gt;&lt;mglyph src=&quot;https://equatio-api.texthelp.com/desmos/get/27-10-2023/cdde17ab-5cb5-44dc-8fdc-d3075ceb76f2&quot; alt=&quot;Equatio Desmos Graph&quot;/&gt;&lt;/math&gt;" id="921" name="Google Shape;921;p76" title="Equatio Desmos Graph"/>
          <p:cNvPicPr preferRelativeResize="0"/>
          <p:nvPr/>
        </p:nvPicPr>
        <p:blipFill rotWithShape="1">
          <a:blip r:embed="rId4">
            <a:alphaModFix/>
          </a:blip>
          <a:srcRect b="25426" l="20711" r="45128" t="27001"/>
          <a:stretch/>
        </p:blipFill>
        <p:spPr>
          <a:xfrm>
            <a:off x="6830625" y="2387575"/>
            <a:ext cx="1824300" cy="190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7-10-2023/286735bc-1243-407b-af40-448efcaf183a&quot; data-equatio-type=&quot;desmos&quot;&gt;&lt;mglyph src=&quot;https://equatio-api.texthelp.com/desmos/get/27-10-2023/286735bc-1243-407b-af40-448efcaf183a&quot; alt=&quot;Equatio Desmos Graph&quot;/&gt;&lt;/math&gt;" id="922" name="Google Shape;922;p76" title="Equatio Desmos Graph"/>
          <p:cNvPicPr preferRelativeResize="0"/>
          <p:nvPr/>
        </p:nvPicPr>
        <p:blipFill rotWithShape="1">
          <a:blip r:embed="rId5">
            <a:alphaModFix/>
          </a:blip>
          <a:srcRect b="16012" l="23931" r="51505" t="16679"/>
          <a:stretch/>
        </p:blipFill>
        <p:spPr>
          <a:xfrm>
            <a:off x="6822900" y="1493075"/>
            <a:ext cx="1597926" cy="328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7" name="Google Shape;927;p77"/>
          <p:cNvGraphicFramePr/>
          <p:nvPr/>
        </p:nvGraphicFramePr>
        <p:xfrm>
          <a:off x="861998" y="3601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28" name="Google Shape;928;p77"/>
          <p:cNvGraphicFramePr/>
          <p:nvPr/>
        </p:nvGraphicFramePr>
        <p:xfrm>
          <a:off x="861998" y="20014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29" name="Google Shape;929;p77"/>
          <p:cNvGraphicFramePr/>
          <p:nvPr/>
        </p:nvGraphicFramePr>
        <p:xfrm>
          <a:off x="861998" y="20014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0" name="Google Shape;930;p77"/>
          <p:cNvGraphicFramePr/>
          <p:nvPr/>
        </p:nvGraphicFramePr>
        <p:xfrm>
          <a:off x="861998" y="3601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31" name="Google Shape;931;p77"/>
          <p:cNvSpPr txBox="1"/>
          <p:nvPr>
            <p:ph idx="1" type="body"/>
          </p:nvPr>
        </p:nvSpPr>
        <p:spPr>
          <a:xfrm>
            <a:off x="324000" y="759300"/>
            <a:ext cx="4842300" cy="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Find and plot the first five terms of these arithmetic sequences.</a:t>
            </a:r>
            <a:endParaRPr/>
          </a:p>
        </p:txBody>
      </p:sp>
      <p:sp>
        <p:nvSpPr>
          <p:cNvPr id="932" name="Google Shape;932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933" name="Google Shape;933;p77"/>
          <p:cNvSpPr txBox="1"/>
          <p:nvPr>
            <p:ph idx="4294967295" type="body"/>
          </p:nvPr>
        </p:nvSpPr>
        <p:spPr>
          <a:xfrm>
            <a:off x="6284645" y="4583074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number</a:t>
            </a:r>
            <a:endParaRPr sz="1800"/>
          </a:p>
        </p:txBody>
      </p:sp>
      <p:sp>
        <p:nvSpPr>
          <p:cNvPr id="934" name="Google Shape;934;p77"/>
          <p:cNvSpPr txBox="1"/>
          <p:nvPr>
            <p:ph idx="4294967295" type="body"/>
          </p:nvPr>
        </p:nvSpPr>
        <p:spPr>
          <a:xfrm rot="-5400000">
            <a:off x="5129128" y="14796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value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3n-9&quot;&gt;&lt;mn&gt;3&lt;/mn&gt;&lt;mi&gt;n&lt;/mi&gt;&lt;mo&gt;−&lt;/mo&gt;&lt;mn&gt;9&lt;/mn&gt;&lt;/math&gt;" id="935" name="Google Shape;935;p77" title="3 n minus 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645" y="1630689"/>
            <a:ext cx="963378" cy="268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-n&quot;&gt;&lt;mn&gt;3&lt;/mn&gt;&lt;mo&gt;−&lt;/mo&gt;&lt;mi&gt;n&lt;/mi&gt;&lt;/math&gt;" id="936" name="Google Shape;936;p77" title="3 minus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6521" y="3243836"/>
            <a:ext cx="779877" cy="268703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77"/>
          <p:cNvSpPr txBox="1"/>
          <p:nvPr>
            <p:ph idx="1" type="body"/>
          </p:nvPr>
        </p:nvSpPr>
        <p:spPr>
          <a:xfrm>
            <a:off x="400200" y="1597500"/>
            <a:ext cx="365400" cy="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r>
              <a:rPr lang="en-GB"/>
              <a:t>)</a:t>
            </a:r>
            <a:endParaRPr/>
          </a:p>
        </p:txBody>
      </p:sp>
      <p:sp>
        <p:nvSpPr>
          <p:cNvPr id="938" name="Google Shape;938;p77"/>
          <p:cNvSpPr txBox="1"/>
          <p:nvPr>
            <p:ph idx="1" type="body"/>
          </p:nvPr>
        </p:nvSpPr>
        <p:spPr>
          <a:xfrm>
            <a:off x="400200" y="3197700"/>
            <a:ext cx="365400" cy="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7-10-2023/5bead8b2-77db-4926-88a1-195d106632b4&quot; data-equatio-type=&quot;desmos&quot;&gt;&lt;mglyph src=&quot;https://equatio-api.texthelp.com/desmos/get/27-10-2023/5bead8b2-77db-4926-88a1-195d106632b4&quot; alt=&quot;Equatio Desmos Graph&quot;/&gt;&lt;/math&gt;" id="939" name="Google Shape;939;p77" title="Equatio Desmos Graph"/>
          <p:cNvPicPr preferRelativeResize="0"/>
          <p:nvPr/>
        </p:nvPicPr>
        <p:blipFill rotWithShape="1">
          <a:blip r:embed="rId5">
            <a:alphaModFix/>
          </a:blip>
          <a:srcRect b="20953" l="26658" r="52068" t="20038"/>
          <a:stretch/>
        </p:blipFill>
        <p:spPr>
          <a:xfrm>
            <a:off x="6057587" y="804275"/>
            <a:ext cx="1822720" cy="37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78"/>
          <p:cNvSpPr txBox="1"/>
          <p:nvPr>
            <p:ph idx="1" type="body"/>
          </p:nvPr>
        </p:nvSpPr>
        <p:spPr>
          <a:xfrm>
            <a:off x="324000" y="759300"/>
            <a:ext cx="5602500" cy="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Match the sequences to their graph.</a:t>
            </a:r>
            <a:endParaRPr/>
          </a:p>
        </p:txBody>
      </p:sp>
      <p:sp>
        <p:nvSpPr>
          <p:cNvPr id="945" name="Google Shape;945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n+10&quot;&gt;&lt;mn&gt;4&lt;/mn&gt;&lt;mi&gt;n&lt;/mi&gt;&lt;mo&gt;+&lt;/mo&gt;&lt;mn&gt;10&lt;/mn&gt;&lt;/math&gt;" id="946" name="Google Shape;946;p78" title="4 n plus 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24" y="1613902"/>
            <a:ext cx="1149527" cy="27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n-10&quot;&gt;&lt;mn&gt;4&lt;/mn&gt;&lt;mi&gt;n&lt;/mi&gt;&lt;mo&gt;−&lt;/mo&gt;&lt;mn&gt;10&lt;/mn&gt;&lt;/math&gt;" id="947" name="Google Shape;947;p78" title="4 n minus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212" y="2956326"/>
            <a:ext cx="1149527" cy="26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-4n&quot;&gt;&lt;mn&gt;10&lt;/mn&gt;&lt;mo&gt;−&lt;/mo&gt;&lt;mn&gt;4&lt;/mn&gt;&lt;mi&gt;n&lt;/mi&gt;&lt;/math&gt;" id="948" name="Google Shape;948;p78" title="10 minus 4 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966" y="4033000"/>
            <a:ext cx="1111630" cy="26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7-10-2023/b19c4c36-dfd5-4798-9c10-63efc74abb3f&quot; data-equatio-type=&quot;desmos&quot;&gt;&lt;mglyph src=&quot;https://equatio-api.texthelp.com/desmos/get/27-10-2023/b19c4c36-dfd5-4798-9c10-63efc74abb3f&quot; alt=&quot;Equatio Desmos Graph&quot;/&gt;&lt;/math&gt;" id="949" name="Google Shape;949;p78" title="Equatio Desmos Graph"/>
          <p:cNvPicPr preferRelativeResize="0"/>
          <p:nvPr/>
        </p:nvPicPr>
        <p:blipFill rotWithShape="1">
          <a:blip r:embed="rId6">
            <a:alphaModFix/>
          </a:blip>
          <a:srcRect b="21580" l="26937" r="59757" t="0"/>
          <a:stretch/>
        </p:blipFill>
        <p:spPr>
          <a:xfrm>
            <a:off x="2728075" y="1458250"/>
            <a:ext cx="837400" cy="2977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7-10-2023/1e688b38-da20-419c-bf71-4cfaac09d968&quot; data-equatio-type=&quot;desmos&quot;&gt;&lt;mglyph src=&quot;https://equatio-api.texthelp.com/desmos/get/27-10-2023/1e688b38-da20-419c-bf71-4cfaac09d968&quot; alt=&quot;Equatio Desmos Graph&quot;/&gt;&lt;/math&gt;" id="950" name="Google Shape;950;p78" title="Equatio Desmos Graph"/>
          <p:cNvPicPr preferRelativeResize="0"/>
          <p:nvPr/>
        </p:nvPicPr>
        <p:blipFill rotWithShape="1">
          <a:blip r:embed="rId7">
            <a:alphaModFix/>
          </a:blip>
          <a:srcRect b="0" l="27541" r="60311" t="39353"/>
          <a:stretch/>
        </p:blipFill>
        <p:spPr>
          <a:xfrm>
            <a:off x="6974400" y="1454525"/>
            <a:ext cx="945000" cy="2977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7-10-2023/9694d722-9f5b-4668-877c-ecdc06cbad13&quot; data-equatio-type=&quot;desmos&quot;&gt;&lt;mglyph src=&quot;https://equatio-api.texthelp.com/desmos/get/27-10-2023/9694d722-9f5b-4668-877c-ecdc06cbad13&quot; alt=&quot;Equatio Desmos Graph&quot;/&gt;&lt;/math&gt;" id="951" name="Google Shape;951;p78" title="Equatio Desmos Graph"/>
          <p:cNvPicPr preferRelativeResize="0"/>
          <p:nvPr/>
        </p:nvPicPr>
        <p:blipFill rotWithShape="1">
          <a:blip r:embed="rId8">
            <a:alphaModFix/>
          </a:blip>
          <a:srcRect b="0" l="27544" r="60309" t="43601"/>
          <a:stretch/>
        </p:blipFill>
        <p:spPr>
          <a:xfrm>
            <a:off x="4829399" y="1445250"/>
            <a:ext cx="945000" cy="2977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6" name="Google Shape;956;p79"/>
          <p:cNvGraphicFramePr/>
          <p:nvPr/>
        </p:nvGraphicFramePr>
        <p:xfrm>
          <a:off x="861998" y="2077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A"/>
                    </a:solidFill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-6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-3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7" name="Google Shape;957;p79"/>
          <p:cNvGraphicFramePr/>
          <p:nvPr/>
        </p:nvGraphicFramePr>
        <p:xfrm>
          <a:off x="861998" y="2077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sp>
        <p:nvSpPr>
          <p:cNvPr id="958" name="Google Shape;958;p79"/>
          <p:cNvSpPr txBox="1"/>
          <p:nvPr>
            <p:ph idx="1" type="body"/>
          </p:nvPr>
        </p:nvSpPr>
        <p:spPr>
          <a:xfrm>
            <a:off x="324000" y="759300"/>
            <a:ext cx="4936200" cy="7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Find and plot the first five terms of these arithmetic sequences.</a:t>
            </a:r>
            <a:endParaRPr/>
          </a:p>
        </p:txBody>
      </p:sp>
      <p:sp>
        <p:nvSpPr>
          <p:cNvPr id="959" name="Google Shape;959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960" name="Google Shape;960;p79"/>
          <p:cNvSpPr txBox="1"/>
          <p:nvPr>
            <p:ph idx="4294967295" type="body"/>
          </p:nvPr>
        </p:nvSpPr>
        <p:spPr>
          <a:xfrm>
            <a:off x="6284645" y="4583074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number</a:t>
            </a:r>
            <a:endParaRPr sz="1800"/>
          </a:p>
        </p:txBody>
      </p:sp>
      <p:sp>
        <p:nvSpPr>
          <p:cNvPr id="961" name="Google Shape;961;p79"/>
          <p:cNvSpPr txBox="1"/>
          <p:nvPr>
            <p:ph idx="4294967295" type="body"/>
          </p:nvPr>
        </p:nvSpPr>
        <p:spPr>
          <a:xfrm rot="-5400000">
            <a:off x="5129128" y="14796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value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3n-9&quot;&gt;&lt;mn&gt;3&lt;/mn&gt;&lt;mi&gt;n&lt;/mi&gt;&lt;mo&gt;−&lt;/mo&gt;&lt;mn&gt;9&lt;/mn&gt;&lt;/math&gt;" id="962" name="Google Shape;962;p79" title="3 n minus 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645" y="1706889"/>
            <a:ext cx="963378" cy="268703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79"/>
          <p:cNvSpPr txBox="1"/>
          <p:nvPr>
            <p:ph idx="1" type="body"/>
          </p:nvPr>
        </p:nvSpPr>
        <p:spPr>
          <a:xfrm>
            <a:off x="400200" y="1673700"/>
            <a:ext cx="365400" cy="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7-10-2023/69f61259-6368-418e-ae52-c2be32842546&quot; data-equatio-type=&quot;desmos&quot;&gt;&lt;mglyph src=&quot;https://equatio-api.texthelp.com/desmos/get/27-10-2023/69f61259-6368-418e-ae52-c2be32842546&quot; alt=&quot;Equatio Desmos Graph&quot;/&gt;&lt;/math&gt;" id="964" name="Google Shape;964;p79" title="Equatio Desmos Graph"/>
          <p:cNvPicPr preferRelativeResize="0"/>
          <p:nvPr/>
        </p:nvPicPr>
        <p:blipFill rotWithShape="1">
          <a:blip r:embed="rId4">
            <a:alphaModFix/>
          </a:blip>
          <a:srcRect b="20911" l="32468" r="46260" t="20999"/>
          <a:stretch/>
        </p:blipFill>
        <p:spPr>
          <a:xfrm>
            <a:off x="6036600" y="816850"/>
            <a:ext cx="1822726" cy="3733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5" name="Google Shape;965;p79"/>
          <p:cNvGraphicFramePr/>
          <p:nvPr/>
        </p:nvGraphicFramePr>
        <p:xfrm>
          <a:off x="861998" y="2077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0" name="Google Shape;970;p80"/>
          <p:cNvGraphicFramePr/>
          <p:nvPr/>
        </p:nvGraphicFramePr>
        <p:xfrm>
          <a:off x="861998" y="2077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-1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-2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E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71" name="Google Shape;971;p80"/>
          <p:cNvGraphicFramePr/>
          <p:nvPr/>
        </p:nvGraphicFramePr>
        <p:xfrm>
          <a:off x="861998" y="2077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sp>
        <p:nvSpPr>
          <p:cNvPr id="972" name="Google Shape;972;p80"/>
          <p:cNvSpPr txBox="1"/>
          <p:nvPr>
            <p:ph idx="1" type="body"/>
          </p:nvPr>
        </p:nvSpPr>
        <p:spPr>
          <a:xfrm>
            <a:off x="324000" y="759300"/>
            <a:ext cx="4936200" cy="7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Find and plot the first five terms of these arithmetic sequences.</a:t>
            </a:r>
            <a:endParaRPr/>
          </a:p>
        </p:txBody>
      </p:sp>
      <p:sp>
        <p:nvSpPr>
          <p:cNvPr id="973" name="Google Shape;973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974" name="Google Shape;974;p80"/>
          <p:cNvSpPr txBox="1"/>
          <p:nvPr>
            <p:ph idx="4294967295" type="body"/>
          </p:nvPr>
        </p:nvSpPr>
        <p:spPr>
          <a:xfrm>
            <a:off x="6437045" y="4583074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number</a:t>
            </a:r>
            <a:endParaRPr sz="1800"/>
          </a:p>
        </p:txBody>
      </p:sp>
      <p:sp>
        <p:nvSpPr>
          <p:cNvPr id="975" name="Google Shape;975;p80"/>
          <p:cNvSpPr txBox="1"/>
          <p:nvPr>
            <p:ph idx="4294967295" type="body"/>
          </p:nvPr>
        </p:nvSpPr>
        <p:spPr>
          <a:xfrm rot="-5400000">
            <a:off x="5129128" y="14796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value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3-n&quot;&gt;&lt;mn&gt;3&lt;/mn&gt;&lt;mo&gt;−&lt;/mo&gt;&lt;mi&gt;n&lt;/mi&gt;&lt;/math&gt;" id="976" name="Google Shape;976;p80" title="3 minus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521" y="1719836"/>
            <a:ext cx="779877" cy="268703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0"/>
          <p:cNvSpPr txBox="1"/>
          <p:nvPr>
            <p:ph idx="1" type="body"/>
          </p:nvPr>
        </p:nvSpPr>
        <p:spPr>
          <a:xfrm>
            <a:off x="400200" y="1673700"/>
            <a:ext cx="365400" cy="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7-10-2023/99c56a2b-8ae5-493d-8564-26528a36e1a6&quot; data-equatio-type=&quot;desmos&quot;&gt;&lt;mglyph src=&quot;https://equatio-api.texthelp.com/desmos/get/27-10-2023/99c56a2b-8ae5-493d-8564-26528a36e1a6&quot; alt=&quot;Equatio Desmos Graph&quot;/&gt;&lt;/math&gt;" id="978" name="Google Shape;978;p80" title="Equatio Desmos Graph"/>
          <p:cNvPicPr preferRelativeResize="0"/>
          <p:nvPr/>
        </p:nvPicPr>
        <p:blipFill rotWithShape="1">
          <a:blip r:embed="rId4">
            <a:alphaModFix/>
          </a:blip>
          <a:srcRect b="21501" l="29363" r="46326" t="19720"/>
          <a:stretch/>
        </p:blipFill>
        <p:spPr>
          <a:xfrm>
            <a:off x="6052500" y="832000"/>
            <a:ext cx="2068454" cy="3751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9" name="Google Shape;979;p80"/>
          <p:cNvGraphicFramePr/>
          <p:nvPr/>
        </p:nvGraphicFramePr>
        <p:xfrm>
          <a:off x="861998" y="2077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81"/>
          <p:cNvSpPr txBox="1"/>
          <p:nvPr>
            <p:ph idx="1" type="body"/>
          </p:nvPr>
        </p:nvSpPr>
        <p:spPr>
          <a:xfrm>
            <a:off x="324000" y="759300"/>
            <a:ext cx="82377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Match the sequences to their graph.</a:t>
            </a:r>
            <a:endParaRPr/>
          </a:p>
        </p:txBody>
      </p:sp>
      <p:sp>
        <p:nvSpPr>
          <p:cNvPr id="985" name="Google Shape;985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n+10&quot;&gt;&lt;mn&gt;4&lt;/mn&gt;&lt;mi&gt;n&lt;/mi&gt;&lt;mo&gt;+&lt;/mo&gt;&lt;mn&gt;10&lt;/mn&gt;&lt;/math&gt;" id="986" name="Google Shape;986;p81" title="4 n plus 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24" y="1350749"/>
            <a:ext cx="1149527" cy="27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n-10&quot;&gt;&lt;mn&gt;4&lt;/mn&gt;&lt;mi&gt;n&lt;/mi&gt;&lt;mo&gt;−&lt;/mo&gt;&lt;mn&gt;10&lt;/mn&gt;&lt;/math&gt;" id="987" name="Google Shape;987;p81" title="4 n minus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3212" y="1356126"/>
            <a:ext cx="1149527" cy="26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-4n&quot;&gt;&lt;mn&gt;10&lt;/mn&gt;&lt;mo&gt;−&lt;/mo&gt;&lt;mn&gt;4&lt;/mn&gt;&lt;mi&gt;n&lt;/mi&gt;&lt;/math&gt;" id="988" name="Google Shape;988;p81" title="10 minus 4 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3742" y="1366000"/>
            <a:ext cx="1111630" cy="26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7-10-2023/b19c4c36-dfd5-4798-9c10-63efc74abb3f&quot; data-equatio-type=&quot;desmos&quot;&gt;&lt;mglyph src=&quot;https://equatio-api.texthelp.com/desmos/get/27-10-2023/b19c4c36-dfd5-4798-9c10-63efc74abb3f&quot; alt=&quot;Equatio Desmos Graph&quot;/&gt;&lt;/math&gt;" id="989" name="Google Shape;989;p81" title="Equatio Desmos Graph"/>
          <p:cNvPicPr preferRelativeResize="0"/>
          <p:nvPr/>
        </p:nvPicPr>
        <p:blipFill rotWithShape="1">
          <a:blip r:embed="rId6">
            <a:alphaModFix/>
          </a:blip>
          <a:srcRect b="21580" l="26937" r="59757" t="0"/>
          <a:stretch/>
        </p:blipFill>
        <p:spPr>
          <a:xfrm>
            <a:off x="334639" y="1839250"/>
            <a:ext cx="837400" cy="2977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7-10-2023/1e688b38-da20-419c-bf71-4cfaac09d968&quot; data-equatio-type=&quot;desmos&quot;&gt;&lt;mglyph src=&quot;https://equatio-api.texthelp.com/desmos/get/27-10-2023/1e688b38-da20-419c-bf71-4cfaac09d968&quot; alt=&quot;Equatio Desmos Graph&quot;/&gt;&lt;/math&gt;" id="990" name="Google Shape;990;p81" title="Equatio Desmos Graph"/>
          <p:cNvPicPr preferRelativeResize="0"/>
          <p:nvPr/>
        </p:nvPicPr>
        <p:blipFill rotWithShape="1">
          <a:blip r:embed="rId7">
            <a:alphaModFix/>
          </a:blip>
          <a:srcRect b="0" l="27541" r="60311" t="39353"/>
          <a:stretch/>
        </p:blipFill>
        <p:spPr>
          <a:xfrm>
            <a:off x="3393000" y="1835525"/>
            <a:ext cx="945000" cy="2977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7-10-2023/9694d722-9f5b-4668-877c-ecdc06cbad13&quot; data-equatio-type=&quot;desmos&quot;&gt;&lt;mglyph src=&quot;https://equatio-api.texthelp.com/desmos/get/27-10-2023/9694d722-9f5b-4668-877c-ecdc06cbad13&quot; alt=&quot;Equatio Desmos Graph&quot;/&gt;&lt;/math&gt;" id="991" name="Google Shape;991;p81" title="Equatio Desmos Graph"/>
          <p:cNvPicPr preferRelativeResize="0"/>
          <p:nvPr/>
        </p:nvPicPr>
        <p:blipFill rotWithShape="1">
          <a:blip r:embed="rId8">
            <a:alphaModFix/>
          </a:blip>
          <a:srcRect b="0" l="27544" r="60309" t="43601"/>
          <a:stretch/>
        </p:blipFill>
        <p:spPr>
          <a:xfrm>
            <a:off x="6266787" y="1826250"/>
            <a:ext cx="945000" cy="29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81"/>
          <p:cNvSpPr txBox="1"/>
          <p:nvPr>
            <p:ph idx="1" type="body"/>
          </p:nvPr>
        </p:nvSpPr>
        <p:spPr>
          <a:xfrm>
            <a:off x="781200" y="3350100"/>
            <a:ext cx="21183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Increasing sequence with all positive term values.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3" name="Google Shape;993;p81"/>
          <p:cNvSpPr txBox="1"/>
          <p:nvPr>
            <p:ph idx="1" type="body"/>
          </p:nvPr>
        </p:nvSpPr>
        <p:spPr>
          <a:xfrm>
            <a:off x="3981600" y="3578700"/>
            <a:ext cx="21183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Increasing sequence with some negative term values.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4" name="Google Shape;994;p81"/>
          <p:cNvSpPr txBox="1"/>
          <p:nvPr>
            <p:ph idx="1" type="body"/>
          </p:nvPr>
        </p:nvSpPr>
        <p:spPr>
          <a:xfrm>
            <a:off x="7029600" y="2511900"/>
            <a:ext cx="11496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creasing sequence.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82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1000" name="Google Shape;1000;p82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sequences represented graphically</a:t>
            </a:r>
            <a:endParaRPr/>
          </a:p>
        </p:txBody>
      </p:sp>
      <p:sp>
        <p:nvSpPr>
          <p:cNvPr id="1001" name="Google Shape;1001;p8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sequences graphically</a:t>
            </a:r>
            <a:endParaRPr/>
          </a:p>
        </p:txBody>
      </p:sp>
      <p:pic>
        <p:nvPicPr>
          <p:cNvPr id="1002" name="Google Shape;100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290" y="298623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83"/>
          <p:cNvSpPr txBox="1"/>
          <p:nvPr>
            <p:ph idx="1" type="body"/>
          </p:nvPr>
        </p:nvSpPr>
        <p:spPr>
          <a:xfrm>
            <a:off x="336050" y="686400"/>
            <a:ext cx="6895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same and what is </a:t>
            </a:r>
            <a:r>
              <a:rPr lang="en-GB"/>
              <a:t>different</a:t>
            </a:r>
            <a:r>
              <a:rPr lang="en-GB"/>
              <a:t> about these two sequences?</a:t>
            </a:r>
            <a:endParaRPr/>
          </a:p>
        </p:txBody>
      </p:sp>
      <p:sp>
        <p:nvSpPr>
          <p:cNvPr id="1008" name="Google Shape;1008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sequences represented graphically</a:t>
            </a:r>
            <a:endParaRPr/>
          </a:p>
        </p:txBody>
      </p:sp>
      <p:sp>
        <p:nvSpPr>
          <p:cNvPr id="1009" name="Google Shape;1009;p83"/>
          <p:cNvSpPr txBox="1"/>
          <p:nvPr>
            <p:ph idx="1" type="body"/>
          </p:nvPr>
        </p:nvSpPr>
        <p:spPr>
          <a:xfrm>
            <a:off x="324000" y="3523324"/>
            <a:ext cx="1114800" cy="3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ame: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0" name="Google Shape;1010;p83"/>
          <p:cNvSpPr txBox="1"/>
          <p:nvPr>
            <p:ph idx="1" type="body"/>
          </p:nvPr>
        </p:nvSpPr>
        <p:spPr>
          <a:xfrm>
            <a:off x="4819778" y="3523324"/>
            <a:ext cx="1335300" cy="3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Different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: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1" name="Google Shape;1011;p83"/>
          <p:cNvSpPr txBox="1"/>
          <p:nvPr>
            <p:ph idx="1" type="body"/>
          </p:nvPr>
        </p:nvSpPr>
        <p:spPr>
          <a:xfrm>
            <a:off x="324000" y="3904325"/>
            <a:ext cx="39936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Both are arithmetic sequences with a common difference of +2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2" name="Google Shape;1012;p83"/>
          <p:cNvSpPr txBox="1"/>
          <p:nvPr/>
        </p:nvSpPr>
        <p:spPr>
          <a:xfrm>
            <a:off x="2201196" y="1448150"/>
            <a:ext cx="464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83"/>
          <p:cNvSpPr txBox="1"/>
          <p:nvPr/>
        </p:nvSpPr>
        <p:spPr>
          <a:xfrm>
            <a:off x="2721832" y="1439906"/>
            <a:ext cx="464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83"/>
          <p:cNvSpPr txBox="1"/>
          <p:nvPr/>
        </p:nvSpPr>
        <p:spPr>
          <a:xfrm>
            <a:off x="3274682" y="1444953"/>
            <a:ext cx="464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83"/>
          <p:cNvSpPr txBox="1"/>
          <p:nvPr/>
        </p:nvSpPr>
        <p:spPr>
          <a:xfrm>
            <a:off x="3827513" y="1439894"/>
            <a:ext cx="464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83"/>
          <p:cNvSpPr txBox="1"/>
          <p:nvPr/>
        </p:nvSpPr>
        <p:spPr>
          <a:xfrm>
            <a:off x="2208569" y="3178460"/>
            <a:ext cx="464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83"/>
          <p:cNvSpPr txBox="1"/>
          <p:nvPr/>
        </p:nvSpPr>
        <p:spPr>
          <a:xfrm>
            <a:off x="2741969" y="3178460"/>
            <a:ext cx="464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83"/>
          <p:cNvSpPr txBox="1"/>
          <p:nvPr/>
        </p:nvSpPr>
        <p:spPr>
          <a:xfrm>
            <a:off x="3427769" y="3178460"/>
            <a:ext cx="464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83"/>
          <p:cNvSpPr txBox="1"/>
          <p:nvPr/>
        </p:nvSpPr>
        <p:spPr>
          <a:xfrm>
            <a:off x="4189769" y="3178460"/>
            <a:ext cx="464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n:\ 2,\ 4,\ 6,\ 8,\ 10,\ ...&quot;&gt;&lt;mn&gt;2&lt;/mn&gt;&lt;mi&gt;n&lt;/mi&gt;&lt;mo&gt;:&lt;/mo&gt;&lt;mtext&gt;&lt;/mtext&gt;&lt;mn&gt;2&lt;/mn&gt;&lt;mo&gt;,&lt;/mo&gt;&lt;mtext&gt;&lt;/mtext&gt;&lt;mn&gt;4&lt;/mn&gt;&lt;mo&gt;,&lt;/mo&gt;&lt;mtext&gt;&lt;/mtext&gt;&lt;mn&gt;6&lt;/mn&gt;&lt;mo&gt;,&lt;/mo&gt;&lt;mtext&gt;&lt;/mtext&gt;&lt;mn&gt;8&lt;/mn&gt;&lt;mo&gt;,&lt;/mo&gt;&lt;mtext&gt;&lt;/mtext&gt;&lt;mn&gt;10&lt;/mn&gt;&lt;mo&gt;,&lt;/mo&gt;&lt;mtext&gt;&lt;/mtext&gt;&lt;mo&gt;.&lt;/mo&gt;&lt;mo&gt;.&lt;/mo&gt;&lt;mo&gt;.&lt;/mo&gt;&lt;/math&gt;" id="1020" name="Google Shape;1020;p83" title="2 n colon 2 comma 4 comma 6 comma 8 comma 10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586" y="1767130"/>
            <a:ext cx="4155500" cy="37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n+3:\ 5,\ 7,\ 9,\ 11,\ 13,\ ...&quot;&gt;&lt;mn&gt;2&lt;/mn&gt;&lt;mi&gt;n&lt;/mi&gt;&lt;mo&gt;+&lt;/mo&gt;&lt;mn&gt;3&lt;/mn&gt;&lt;mo&gt;:&lt;/mo&gt;&lt;mtext&gt;&lt;/mtext&gt;&lt;mn&gt;5&lt;/mn&gt;&lt;mo&gt;,&lt;/mo&gt;&lt;mtext&gt;&lt;/mtext&gt;&lt;mn&gt;7&lt;/mn&gt;&lt;mo&gt;,&lt;/mo&gt;&lt;mtext&gt;&lt;/mtext&gt;&lt;mn&gt;9&lt;/mn&gt;&lt;mo&gt;,&lt;/mo&gt;&lt;mtext&gt;&lt;/mtext&gt;&lt;mn&gt;11&lt;/mn&gt;&lt;mo&gt;,&lt;/mo&gt;&lt;mtext&gt;&lt;/mtext&gt;&lt;mn&gt;13&lt;/mn&gt;&lt;mo&gt;,&lt;/mo&gt;&lt;mtext&gt;&lt;/mtext&gt;&lt;mo&gt;.&lt;/mo&gt;&lt;mo&gt;.&lt;/mo&gt;&lt;mo&gt;.&lt;/mo&gt;&lt;/math&gt;" id="1021" name="Google Shape;1021;p83" title="2 n plus 3 colon 5 comma 7 comma 9 comma 11 comma 13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955" y="2876211"/>
            <a:ext cx="5093838" cy="373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2" name="Google Shape;1022;p83"/>
          <p:cNvCxnSpPr/>
          <p:nvPr/>
        </p:nvCxnSpPr>
        <p:spPr>
          <a:xfrm>
            <a:off x="2094875" y="2166527"/>
            <a:ext cx="0" cy="645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3" name="Google Shape;1023;p83"/>
          <p:cNvSpPr txBox="1"/>
          <p:nvPr/>
        </p:nvSpPr>
        <p:spPr>
          <a:xfrm>
            <a:off x="2121938" y="2288211"/>
            <a:ext cx="29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4" name="Google Shape;1024;p83"/>
          <p:cNvCxnSpPr/>
          <p:nvPr/>
        </p:nvCxnSpPr>
        <p:spPr>
          <a:xfrm>
            <a:off x="2628275" y="2166527"/>
            <a:ext cx="0" cy="645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5" name="Google Shape;1025;p83"/>
          <p:cNvSpPr txBox="1"/>
          <p:nvPr/>
        </p:nvSpPr>
        <p:spPr>
          <a:xfrm>
            <a:off x="2655338" y="2288211"/>
            <a:ext cx="29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6" name="Google Shape;1026;p83"/>
          <p:cNvCxnSpPr/>
          <p:nvPr/>
        </p:nvCxnSpPr>
        <p:spPr>
          <a:xfrm>
            <a:off x="3139214" y="2166527"/>
            <a:ext cx="0" cy="645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7" name="Google Shape;1027;p83"/>
          <p:cNvSpPr txBox="1"/>
          <p:nvPr/>
        </p:nvSpPr>
        <p:spPr>
          <a:xfrm>
            <a:off x="3166277" y="2288211"/>
            <a:ext cx="29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8" name="Google Shape;1028;p83"/>
          <p:cNvCxnSpPr/>
          <p:nvPr/>
        </p:nvCxnSpPr>
        <p:spPr>
          <a:xfrm>
            <a:off x="3703893" y="2166527"/>
            <a:ext cx="0" cy="645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9" name="Google Shape;1029;p83"/>
          <p:cNvSpPr txBox="1"/>
          <p:nvPr/>
        </p:nvSpPr>
        <p:spPr>
          <a:xfrm>
            <a:off x="3730956" y="2288211"/>
            <a:ext cx="29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0" name="Google Shape;1030;p83"/>
          <p:cNvCxnSpPr/>
          <p:nvPr/>
        </p:nvCxnSpPr>
        <p:spPr>
          <a:xfrm>
            <a:off x="4389693" y="2166527"/>
            <a:ext cx="0" cy="645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1" name="Google Shape;1031;p83"/>
          <p:cNvSpPr txBox="1"/>
          <p:nvPr/>
        </p:nvSpPr>
        <p:spPr>
          <a:xfrm>
            <a:off x="4416756" y="2288211"/>
            <a:ext cx="29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83"/>
          <p:cNvSpPr txBox="1"/>
          <p:nvPr>
            <p:ph idx="1" type="body"/>
          </p:nvPr>
        </p:nvSpPr>
        <p:spPr>
          <a:xfrm>
            <a:off x="4830212" y="3904325"/>
            <a:ext cx="39936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terms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are a translation of +3 from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27-10-2023/9ba8dfa1-9e3a-4595-82d6-fcb66023c67b&quot; data-equatio-type=&quot;desmos&quot;&gt;&lt;mglyph src=&quot;https://equatio-api.texthelp.com/desmos/get/27-10-2023/9ba8dfa1-9e3a-4595-82d6-fcb66023c67b&quot; alt=&quot;Equatio Desmos Graph&quot;/&gt;&lt;/math&gt;" id="1037" name="Google Shape;1037;p84" title="Equatio Desmos Graph"/>
          <p:cNvPicPr preferRelativeResize="0"/>
          <p:nvPr/>
        </p:nvPicPr>
        <p:blipFill rotWithShape="1">
          <a:blip r:embed="rId3">
            <a:alphaModFix/>
          </a:blip>
          <a:srcRect b="19961" l="17369" r="64362" t="19107"/>
          <a:stretch/>
        </p:blipFill>
        <p:spPr>
          <a:xfrm>
            <a:off x="6078547" y="820078"/>
            <a:ext cx="1524576" cy="3813874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4"/>
          <p:cNvSpPr txBox="1"/>
          <p:nvPr>
            <p:ph idx="1" type="body"/>
          </p:nvPr>
        </p:nvSpPr>
        <p:spPr>
          <a:xfrm>
            <a:off x="324000" y="759300"/>
            <a:ext cx="52173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Let’s explore how we will see their similarity and difference when we plot them graphically.</a:t>
            </a:r>
            <a:endParaRPr sz="1800"/>
          </a:p>
        </p:txBody>
      </p:sp>
      <p:sp>
        <p:nvSpPr>
          <p:cNvPr id="1039" name="Google Shape;1039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sequences represented graphically</a:t>
            </a:r>
            <a:endParaRPr/>
          </a:p>
        </p:txBody>
      </p:sp>
      <p:graphicFrame>
        <p:nvGraphicFramePr>
          <p:cNvPr id="1040" name="Google Shape;1040;p84"/>
          <p:cNvGraphicFramePr/>
          <p:nvPr/>
        </p:nvGraphicFramePr>
        <p:xfrm>
          <a:off x="328598" y="1966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41" name="Google Shape;1041;p84"/>
          <p:cNvGraphicFramePr/>
          <p:nvPr/>
        </p:nvGraphicFramePr>
        <p:xfrm>
          <a:off x="328598" y="37195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solidFill>
                          <a:schemeClr val="accent5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accent5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42" name="Google Shape;1042;p84"/>
          <p:cNvSpPr txBox="1"/>
          <p:nvPr>
            <p:ph idx="1" type="body"/>
          </p:nvPr>
        </p:nvSpPr>
        <p:spPr>
          <a:xfrm>
            <a:off x="6360845" y="4583074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number</a:t>
            </a:r>
            <a:endParaRPr sz="1800"/>
          </a:p>
        </p:txBody>
      </p:sp>
      <p:sp>
        <p:nvSpPr>
          <p:cNvPr id="1043" name="Google Shape;1043;p84"/>
          <p:cNvSpPr txBox="1"/>
          <p:nvPr>
            <p:ph idx="1" type="body"/>
          </p:nvPr>
        </p:nvSpPr>
        <p:spPr>
          <a:xfrm rot="-5400000">
            <a:off x="5129128" y="14796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value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2n+3&quot;&gt;&lt;mn&gt;2&lt;/mn&gt;&lt;mi&gt;n&lt;/mi&gt;&lt;mo&gt;+&lt;/mo&gt;&lt;mn&gt;3&lt;/mn&gt;&lt;/math&gt;" id="1044" name="Google Shape;1044;p84" title="2 n plus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837" y="3396490"/>
            <a:ext cx="877725" cy="250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n&quot;&gt;&lt;mn&gt;2&lt;/mn&gt;&lt;mi&gt;n&lt;/mi&gt;&lt;/math&gt;" id="1045" name="Google Shape;1045;p84" title="2 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189" y="1579177"/>
            <a:ext cx="345240" cy="248570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84"/>
          <p:cNvSpPr txBox="1"/>
          <p:nvPr>
            <p:ph idx="1" type="body"/>
          </p:nvPr>
        </p:nvSpPr>
        <p:spPr>
          <a:xfrm>
            <a:off x="6541164" y="3533736"/>
            <a:ext cx="2949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✖</a:t>
            </a:r>
            <a:endParaRPr sz="1800"/>
          </a:p>
        </p:txBody>
      </p:sp>
      <p:sp>
        <p:nvSpPr>
          <p:cNvPr id="1047" name="Google Shape;1047;p84"/>
          <p:cNvSpPr txBox="1"/>
          <p:nvPr>
            <p:ph idx="1" type="body"/>
          </p:nvPr>
        </p:nvSpPr>
        <p:spPr>
          <a:xfrm>
            <a:off x="6922627" y="2761324"/>
            <a:ext cx="2949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✖</a:t>
            </a:r>
            <a:endParaRPr sz="1800"/>
          </a:p>
        </p:txBody>
      </p:sp>
      <p:sp>
        <p:nvSpPr>
          <p:cNvPr id="1048" name="Google Shape;1048;p84"/>
          <p:cNvSpPr txBox="1"/>
          <p:nvPr>
            <p:ph idx="1" type="body"/>
          </p:nvPr>
        </p:nvSpPr>
        <p:spPr>
          <a:xfrm>
            <a:off x="7307406" y="1999324"/>
            <a:ext cx="2949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✖</a:t>
            </a:r>
            <a:endParaRPr sz="1800"/>
          </a:p>
        </p:txBody>
      </p:sp>
      <p:sp>
        <p:nvSpPr>
          <p:cNvPr id="1049" name="Google Shape;1049;p84"/>
          <p:cNvSpPr txBox="1"/>
          <p:nvPr>
            <p:ph idx="1" type="body"/>
          </p:nvPr>
        </p:nvSpPr>
        <p:spPr>
          <a:xfrm>
            <a:off x="6541164" y="2380324"/>
            <a:ext cx="2949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chemeClr val="accent5"/>
                </a:solidFill>
              </a:rPr>
              <a:t>✖</a:t>
            </a:r>
            <a:endParaRPr b="1" sz="1800">
              <a:solidFill>
                <a:schemeClr val="accent5"/>
              </a:solidFill>
            </a:endParaRPr>
          </a:p>
        </p:txBody>
      </p:sp>
      <p:sp>
        <p:nvSpPr>
          <p:cNvPr id="1050" name="Google Shape;1050;p84"/>
          <p:cNvSpPr txBox="1"/>
          <p:nvPr>
            <p:ph idx="1" type="body"/>
          </p:nvPr>
        </p:nvSpPr>
        <p:spPr>
          <a:xfrm>
            <a:off x="6922627" y="1607912"/>
            <a:ext cx="2949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chemeClr val="accent5"/>
                </a:solidFill>
              </a:rPr>
              <a:t>✖</a:t>
            </a:r>
            <a:endParaRPr b="1" sz="1800">
              <a:solidFill>
                <a:schemeClr val="accent5"/>
              </a:solidFill>
            </a:endParaRPr>
          </a:p>
        </p:txBody>
      </p:sp>
      <p:sp>
        <p:nvSpPr>
          <p:cNvPr id="1051" name="Google Shape;1051;p84"/>
          <p:cNvSpPr txBox="1"/>
          <p:nvPr>
            <p:ph idx="1" type="body"/>
          </p:nvPr>
        </p:nvSpPr>
        <p:spPr>
          <a:xfrm>
            <a:off x="7307406" y="845912"/>
            <a:ext cx="2949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chemeClr val="accent5"/>
                </a:solidFill>
              </a:rPr>
              <a:t>✖</a:t>
            </a:r>
            <a:endParaRPr b="1" sz="1800"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27-10-2023/9ba8dfa1-9e3a-4595-82d6-fcb66023c67b&quot; data-equatio-type=&quot;desmos&quot;&gt;&lt;mglyph src=&quot;https://equatio-api.texthelp.com/desmos/get/27-10-2023/9ba8dfa1-9e3a-4595-82d6-fcb66023c67b&quot; alt=&quot;Equatio Desmos Graph&quot;/&gt;&lt;/math&gt;" id="1056" name="Google Shape;1056;p85" title="Equatio Desmos Graph"/>
          <p:cNvPicPr preferRelativeResize="0"/>
          <p:nvPr/>
        </p:nvPicPr>
        <p:blipFill rotWithShape="1">
          <a:blip r:embed="rId3">
            <a:alphaModFix/>
          </a:blip>
          <a:srcRect b="19961" l="17369" r="64362" t="19107"/>
          <a:stretch/>
        </p:blipFill>
        <p:spPr>
          <a:xfrm>
            <a:off x="6078547" y="820078"/>
            <a:ext cx="1524576" cy="3813874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85"/>
          <p:cNvSpPr txBox="1"/>
          <p:nvPr>
            <p:ph idx="1" type="body"/>
          </p:nvPr>
        </p:nvSpPr>
        <p:spPr>
          <a:xfrm>
            <a:off x="324000" y="759300"/>
            <a:ext cx="52173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Let’s explore how we will see their similarity and difference when we plot them graphically.</a:t>
            </a:r>
            <a:endParaRPr sz="1800"/>
          </a:p>
        </p:txBody>
      </p:sp>
      <p:sp>
        <p:nvSpPr>
          <p:cNvPr id="1058" name="Google Shape;1058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sequences represented graphically</a:t>
            </a:r>
            <a:endParaRPr/>
          </a:p>
        </p:txBody>
      </p:sp>
      <p:sp>
        <p:nvSpPr>
          <p:cNvPr id="1059" name="Google Shape;1059;p85"/>
          <p:cNvSpPr txBox="1"/>
          <p:nvPr>
            <p:ph idx="1" type="body"/>
          </p:nvPr>
        </p:nvSpPr>
        <p:spPr>
          <a:xfrm>
            <a:off x="6360845" y="4583074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number</a:t>
            </a:r>
            <a:endParaRPr sz="1800"/>
          </a:p>
        </p:txBody>
      </p:sp>
      <p:sp>
        <p:nvSpPr>
          <p:cNvPr id="1060" name="Google Shape;1060;p85"/>
          <p:cNvSpPr txBox="1"/>
          <p:nvPr>
            <p:ph idx="1" type="body"/>
          </p:nvPr>
        </p:nvSpPr>
        <p:spPr>
          <a:xfrm rot="-5400000">
            <a:off x="5129128" y="14796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value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2n+3&quot;&gt;&lt;mn&gt;2&lt;/mn&gt;&lt;mi&gt;n&lt;/mi&gt;&lt;mo&gt;+&lt;/mo&gt;&lt;mn&gt;3&lt;/mn&gt;&lt;/math&gt;" id="1061" name="Google Shape;1061;p85" title="2 n plus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2061" y="1588514"/>
            <a:ext cx="877725" cy="250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n&quot;&gt;&lt;mn&gt;2&lt;/mn&gt;&lt;mi&gt;n&lt;/mi&gt;&lt;/math&gt;" id="1062" name="Google Shape;1062;p85" title="2 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3189" y="1579177"/>
            <a:ext cx="345240" cy="248570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85"/>
          <p:cNvSpPr txBox="1"/>
          <p:nvPr>
            <p:ph idx="1" type="body"/>
          </p:nvPr>
        </p:nvSpPr>
        <p:spPr>
          <a:xfrm>
            <a:off x="6541164" y="3533736"/>
            <a:ext cx="2949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✖</a:t>
            </a:r>
            <a:endParaRPr sz="1800"/>
          </a:p>
        </p:txBody>
      </p:sp>
      <p:sp>
        <p:nvSpPr>
          <p:cNvPr id="1064" name="Google Shape;1064;p85"/>
          <p:cNvSpPr txBox="1"/>
          <p:nvPr>
            <p:ph idx="1" type="body"/>
          </p:nvPr>
        </p:nvSpPr>
        <p:spPr>
          <a:xfrm>
            <a:off x="6922627" y="2761324"/>
            <a:ext cx="2949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✖</a:t>
            </a:r>
            <a:endParaRPr sz="1800"/>
          </a:p>
        </p:txBody>
      </p:sp>
      <p:sp>
        <p:nvSpPr>
          <p:cNvPr id="1065" name="Google Shape;1065;p85"/>
          <p:cNvSpPr txBox="1"/>
          <p:nvPr>
            <p:ph idx="1" type="body"/>
          </p:nvPr>
        </p:nvSpPr>
        <p:spPr>
          <a:xfrm>
            <a:off x="7307406" y="1999324"/>
            <a:ext cx="2949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✖</a:t>
            </a:r>
            <a:endParaRPr sz="1800"/>
          </a:p>
        </p:txBody>
      </p:sp>
      <p:sp>
        <p:nvSpPr>
          <p:cNvPr id="1066" name="Google Shape;1066;p85"/>
          <p:cNvSpPr txBox="1"/>
          <p:nvPr>
            <p:ph idx="1" type="body"/>
          </p:nvPr>
        </p:nvSpPr>
        <p:spPr>
          <a:xfrm>
            <a:off x="6541164" y="2380324"/>
            <a:ext cx="2949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chemeClr val="accent5"/>
                </a:solidFill>
              </a:rPr>
              <a:t>✖</a:t>
            </a:r>
            <a:endParaRPr b="1" sz="1800">
              <a:solidFill>
                <a:schemeClr val="accent5"/>
              </a:solidFill>
            </a:endParaRPr>
          </a:p>
        </p:txBody>
      </p:sp>
      <p:sp>
        <p:nvSpPr>
          <p:cNvPr id="1067" name="Google Shape;1067;p85"/>
          <p:cNvSpPr txBox="1"/>
          <p:nvPr>
            <p:ph idx="1" type="body"/>
          </p:nvPr>
        </p:nvSpPr>
        <p:spPr>
          <a:xfrm>
            <a:off x="6922627" y="1607912"/>
            <a:ext cx="2949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chemeClr val="accent5"/>
                </a:solidFill>
              </a:rPr>
              <a:t>✖</a:t>
            </a:r>
            <a:endParaRPr b="1" sz="1800">
              <a:solidFill>
                <a:schemeClr val="accent5"/>
              </a:solidFill>
            </a:endParaRPr>
          </a:p>
        </p:txBody>
      </p:sp>
      <p:sp>
        <p:nvSpPr>
          <p:cNvPr id="1068" name="Google Shape;1068;p85"/>
          <p:cNvSpPr txBox="1"/>
          <p:nvPr>
            <p:ph idx="1" type="body"/>
          </p:nvPr>
        </p:nvSpPr>
        <p:spPr>
          <a:xfrm>
            <a:off x="7307406" y="845912"/>
            <a:ext cx="2949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chemeClr val="accent5"/>
                </a:solidFill>
              </a:rPr>
              <a:t>✖</a:t>
            </a:r>
            <a:endParaRPr b="1" sz="1800">
              <a:solidFill>
                <a:schemeClr val="accent5"/>
              </a:solidFill>
            </a:endParaRPr>
          </a:p>
        </p:txBody>
      </p:sp>
      <p:sp>
        <p:nvSpPr>
          <p:cNvPr id="1069" name="Google Shape;1069;p85"/>
          <p:cNvSpPr txBox="1"/>
          <p:nvPr>
            <p:ph idx="1" type="body"/>
          </p:nvPr>
        </p:nvSpPr>
        <p:spPr>
          <a:xfrm>
            <a:off x="829481" y="1874843"/>
            <a:ext cx="2949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✖</a:t>
            </a:r>
            <a:endParaRPr sz="1800"/>
          </a:p>
        </p:txBody>
      </p:sp>
      <p:sp>
        <p:nvSpPr>
          <p:cNvPr id="1070" name="Google Shape;1070;p85"/>
          <p:cNvSpPr txBox="1"/>
          <p:nvPr>
            <p:ph idx="1" type="body"/>
          </p:nvPr>
        </p:nvSpPr>
        <p:spPr>
          <a:xfrm>
            <a:off x="2907704" y="1843607"/>
            <a:ext cx="2949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chemeClr val="accent5"/>
                </a:solidFill>
              </a:rPr>
              <a:t>✖</a:t>
            </a:r>
            <a:endParaRPr b="1" sz="1800">
              <a:solidFill>
                <a:schemeClr val="accent5"/>
              </a:solidFill>
            </a:endParaRPr>
          </a:p>
        </p:txBody>
      </p:sp>
      <p:sp>
        <p:nvSpPr>
          <p:cNvPr id="1071" name="Google Shape;1071;p85"/>
          <p:cNvSpPr txBox="1"/>
          <p:nvPr>
            <p:ph idx="1" type="body"/>
          </p:nvPr>
        </p:nvSpPr>
        <p:spPr>
          <a:xfrm>
            <a:off x="324000" y="2304124"/>
            <a:ext cx="1114800" cy="3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Same: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2" name="Google Shape;1072;p85"/>
          <p:cNvSpPr txBox="1"/>
          <p:nvPr>
            <p:ph idx="1" type="body"/>
          </p:nvPr>
        </p:nvSpPr>
        <p:spPr>
          <a:xfrm>
            <a:off x="324000" y="2685125"/>
            <a:ext cx="39936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Both are arithmetic sequences with a common difference of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+2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73" name="Google Shape;1073;p85"/>
          <p:cNvGrpSpPr/>
          <p:nvPr/>
        </p:nvGrpSpPr>
        <p:grpSpPr>
          <a:xfrm>
            <a:off x="6694159" y="2947089"/>
            <a:ext cx="343500" cy="714000"/>
            <a:chOff x="6326888" y="3044113"/>
            <a:chExt cx="343500" cy="714000"/>
          </a:xfrm>
        </p:grpSpPr>
        <p:cxnSp>
          <p:nvCxnSpPr>
            <p:cNvPr id="1074" name="Google Shape;1074;p85"/>
            <p:cNvCxnSpPr/>
            <p:nvPr/>
          </p:nvCxnSpPr>
          <p:spPr>
            <a:xfrm>
              <a:off x="6326888" y="3758113"/>
              <a:ext cx="3435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75" name="Google Shape;1075;p85"/>
            <p:cNvCxnSpPr/>
            <p:nvPr/>
          </p:nvCxnSpPr>
          <p:spPr>
            <a:xfrm flipH="1" rot="10800000">
              <a:off x="6655500" y="3044113"/>
              <a:ext cx="3000" cy="714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076" name="Google Shape;1076;p85"/>
          <p:cNvGrpSpPr/>
          <p:nvPr/>
        </p:nvGrpSpPr>
        <p:grpSpPr>
          <a:xfrm>
            <a:off x="7065634" y="2180326"/>
            <a:ext cx="343500" cy="714000"/>
            <a:chOff x="6326888" y="3044113"/>
            <a:chExt cx="343500" cy="714000"/>
          </a:xfrm>
        </p:grpSpPr>
        <p:cxnSp>
          <p:nvCxnSpPr>
            <p:cNvPr id="1077" name="Google Shape;1077;p85"/>
            <p:cNvCxnSpPr/>
            <p:nvPr/>
          </p:nvCxnSpPr>
          <p:spPr>
            <a:xfrm>
              <a:off x="6326888" y="3758113"/>
              <a:ext cx="3435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78" name="Google Shape;1078;p85"/>
            <p:cNvCxnSpPr/>
            <p:nvPr/>
          </p:nvCxnSpPr>
          <p:spPr>
            <a:xfrm flipH="1" rot="10800000">
              <a:off x="6655500" y="3044113"/>
              <a:ext cx="3000" cy="714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079" name="Google Shape;1079;p85"/>
          <p:cNvGrpSpPr/>
          <p:nvPr/>
        </p:nvGrpSpPr>
        <p:grpSpPr>
          <a:xfrm>
            <a:off x="6689397" y="1799326"/>
            <a:ext cx="343500" cy="714000"/>
            <a:chOff x="6326888" y="3044113"/>
            <a:chExt cx="343500" cy="714000"/>
          </a:xfrm>
        </p:grpSpPr>
        <p:cxnSp>
          <p:nvCxnSpPr>
            <p:cNvPr id="1080" name="Google Shape;1080;p85"/>
            <p:cNvCxnSpPr/>
            <p:nvPr/>
          </p:nvCxnSpPr>
          <p:spPr>
            <a:xfrm>
              <a:off x="6326888" y="3758113"/>
              <a:ext cx="343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81" name="Google Shape;1081;p85"/>
            <p:cNvCxnSpPr/>
            <p:nvPr/>
          </p:nvCxnSpPr>
          <p:spPr>
            <a:xfrm flipH="1" rot="10800000">
              <a:off x="6655500" y="3044113"/>
              <a:ext cx="3000" cy="7140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082" name="Google Shape;1082;p85"/>
          <p:cNvGrpSpPr/>
          <p:nvPr/>
        </p:nvGrpSpPr>
        <p:grpSpPr>
          <a:xfrm>
            <a:off x="7065634" y="1042089"/>
            <a:ext cx="343500" cy="714000"/>
            <a:chOff x="6326888" y="3044113"/>
            <a:chExt cx="343500" cy="714000"/>
          </a:xfrm>
        </p:grpSpPr>
        <p:cxnSp>
          <p:nvCxnSpPr>
            <p:cNvPr id="1083" name="Google Shape;1083;p85"/>
            <p:cNvCxnSpPr/>
            <p:nvPr/>
          </p:nvCxnSpPr>
          <p:spPr>
            <a:xfrm>
              <a:off x="6326888" y="3758113"/>
              <a:ext cx="343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84" name="Google Shape;1084;p85"/>
            <p:cNvCxnSpPr/>
            <p:nvPr/>
          </p:nvCxnSpPr>
          <p:spPr>
            <a:xfrm flipH="1" rot="10800000">
              <a:off x="6655500" y="3044113"/>
              <a:ext cx="3000" cy="7140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85" name="Google Shape;1085;p85"/>
          <p:cNvSpPr txBox="1"/>
          <p:nvPr>
            <p:ph idx="1" type="body"/>
          </p:nvPr>
        </p:nvSpPr>
        <p:spPr>
          <a:xfrm>
            <a:off x="7065792" y="3234987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+2</a:t>
            </a:r>
            <a:endParaRPr sz="1800"/>
          </a:p>
        </p:txBody>
      </p:sp>
      <p:sp>
        <p:nvSpPr>
          <p:cNvPr id="1086" name="Google Shape;1086;p85"/>
          <p:cNvSpPr txBox="1"/>
          <p:nvPr>
            <p:ph idx="1" type="body"/>
          </p:nvPr>
        </p:nvSpPr>
        <p:spPr>
          <a:xfrm>
            <a:off x="7446792" y="2435409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+2</a:t>
            </a:r>
            <a:endParaRPr sz="1800"/>
          </a:p>
        </p:txBody>
      </p:sp>
      <p:sp>
        <p:nvSpPr>
          <p:cNvPr id="1087" name="Google Shape;1087;p85"/>
          <p:cNvSpPr txBox="1"/>
          <p:nvPr>
            <p:ph idx="1" type="body"/>
          </p:nvPr>
        </p:nvSpPr>
        <p:spPr>
          <a:xfrm>
            <a:off x="6708910" y="2022838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+2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1088" name="Google Shape;1088;p85"/>
          <p:cNvSpPr txBox="1"/>
          <p:nvPr>
            <p:ph idx="1" type="body"/>
          </p:nvPr>
        </p:nvSpPr>
        <p:spPr>
          <a:xfrm>
            <a:off x="7087783" y="1298234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+2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1089" name="Google Shape;1089;p85"/>
          <p:cNvSpPr txBox="1"/>
          <p:nvPr>
            <p:ph idx="1" type="body"/>
          </p:nvPr>
        </p:nvSpPr>
        <p:spPr>
          <a:xfrm>
            <a:off x="323978" y="3578700"/>
            <a:ext cx="1335300" cy="3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Different: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0" name="Google Shape;1090;p85"/>
          <p:cNvSpPr txBox="1"/>
          <p:nvPr>
            <p:ph idx="1" type="body"/>
          </p:nvPr>
        </p:nvSpPr>
        <p:spPr>
          <a:xfrm>
            <a:off x="334412" y="3959701"/>
            <a:ext cx="39936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terms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are a translation of +3 from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91" name="Google Shape;1091;p85"/>
          <p:cNvCxnSpPr/>
          <p:nvPr/>
        </p:nvCxnSpPr>
        <p:spPr>
          <a:xfrm flipH="1" rot="10800000">
            <a:off x="6630350" y="2586725"/>
            <a:ext cx="6000" cy="10242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2" name="Google Shape;1092;p85"/>
          <p:cNvSpPr txBox="1"/>
          <p:nvPr>
            <p:ph idx="1" type="body"/>
          </p:nvPr>
        </p:nvSpPr>
        <p:spPr>
          <a:xfrm>
            <a:off x="6327285" y="2979221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+3</a:t>
            </a:r>
            <a:endParaRPr sz="1800">
              <a:solidFill>
                <a:schemeClr val="accent5"/>
              </a:solidFill>
            </a:endParaRPr>
          </a:p>
        </p:txBody>
      </p:sp>
      <p:cxnSp>
        <p:nvCxnSpPr>
          <p:cNvPr id="1093" name="Google Shape;1093;p85"/>
          <p:cNvCxnSpPr/>
          <p:nvPr/>
        </p:nvCxnSpPr>
        <p:spPr>
          <a:xfrm flipH="1" rot="10800000">
            <a:off x="7011350" y="1803901"/>
            <a:ext cx="6000" cy="10242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4" name="Google Shape;1094;p85"/>
          <p:cNvSpPr txBox="1"/>
          <p:nvPr>
            <p:ph idx="1" type="body"/>
          </p:nvPr>
        </p:nvSpPr>
        <p:spPr>
          <a:xfrm>
            <a:off x="7057402" y="2176578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+3</a:t>
            </a:r>
            <a:endParaRPr sz="1800">
              <a:solidFill>
                <a:schemeClr val="accent5"/>
              </a:solidFill>
            </a:endParaRPr>
          </a:p>
        </p:txBody>
      </p:sp>
      <p:cxnSp>
        <p:nvCxnSpPr>
          <p:cNvPr id="1095" name="Google Shape;1095;p85"/>
          <p:cNvCxnSpPr/>
          <p:nvPr/>
        </p:nvCxnSpPr>
        <p:spPr>
          <a:xfrm flipH="1" rot="10800000">
            <a:off x="7403386" y="1026484"/>
            <a:ext cx="6000" cy="10242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6" name="Google Shape;1096;p85"/>
          <p:cNvSpPr txBox="1"/>
          <p:nvPr>
            <p:ph idx="1" type="body"/>
          </p:nvPr>
        </p:nvSpPr>
        <p:spPr>
          <a:xfrm>
            <a:off x="7455749" y="1376352"/>
            <a:ext cx="343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+3</a:t>
            </a:r>
            <a:endParaRPr sz="1800"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86"/>
          <p:cNvSpPr txBox="1"/>
          <p:nvPr>
            <p:ph idx="2" type="subTitle"/>
          </p:nvPr>
        </p:nvSpPr>
        <p:spPr>
          <a:xfrm>
            <a:off x="904375" y="3196125"/>
            <a:ext cx="51438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One is above the other and 8 is above 3.</a:t>
            </a:r>
            <a:endParaRPr sz="2000"/>
          </a:p>
        </p:txBody>
      </p:sp>
      <p:sp>
        <p:nvSpPr>
          <p:cNvPr id="1102" name="Google Shape;110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Features of sequences represented graphically</a:t>
            </a:r>
            <a:endParaRPr/>
          </a:p>
        </p:txBody>
      </p:sp>
      <p:sp>
        <p:nvSpPr>
          <p:cNvPr id="1103" name="Google Shape;1103;p86"/>
          <p:cNvSpPr txBox="1"/>
          <p:nvPr>
            <p:ph idx="1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Could these two sequences be             and             ?</a:t>
            </a:r>
            <a:endParaRPr/>
          </a:p>
        </p:txBody>
      </p:sp>
      <p:sp>
        <p:nvSpPr>
          <p:cNvPr id="1104" name="Google Shape;1104;p86"/>
          <p:cNvSpPr txBox="1"/>
          <p:nvPr>
            <p:ph idx="3" type="subTitle"/>
          </p:nvPr>
        </p:nvSpPr>
        <p:spPr>
          <a:xfrm>
            <a:off x="904375" y="3898362"/>
            <a:ext cx="5694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sequences do not have the same steps of increase so they can’t both be 5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sequences.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5n+3&quot;&gt;&lt;mn&gt;5&lt;/mn&gt;&lt;mi&gt;n&lt;/mi&gt;&lt;mo&gt;+&lt;/mo&gt;&lt;mn&gt;3&lt;/mn&gt;&lt;/math&gt;" id="1105" name="Google Shape;1105;p86" title="5 n plu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3319" y="1108575"/>
            <a:ext cx="856361" cy="25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n+8&quot;&gt;&lt;mn&gt;5&lt;/mn&gt;&lt;mi&gt;n&lt;/mi&gt;&lt;mo&gt;+&lt;/mo&gt;&lt;mn&gt;8&lt;/mn&gt;&lt;/math&gt;" id="1106" name="Google Shape;1106;p86" title="5 n plus 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1665" y="1108575"/>
            <a:ext cx="862186" cy="25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7" name="Google Shape;1107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35086" y="1623316"/>
            <a:ext cx="1534227" cy="3066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86"/>
          <p:cNvSpPr txBox="1"/>
          <p:nvPr>
            <p:ph idx="4294967295" type="body"/>
          </p:nvPr>
        </p:nvSpPr>
        <p:spPr>
          <a:xfrm>
            <a:off x="7046645" y="4583074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number</a:t>
            </a:r>
            <a:endParaRPr sz="1800"/>
          </a:p>
        </p:txBody>
      </p:sp>
      <p:sp>
        <p:nvSpPr>
          <p:cNvPr id="1109" name="Google Shape;1109;p86"/>
          <p:cNvSpPr txBox="1"/>
          <p:nvPr>
            <p:ph idx="4294967295" type="body"/>
          </p:nvPr>
        </p:nvSpPr>
        <p:spPr>
          <a:xfrm rot="-5400000">
            <a:off x="6074763" y="23940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value</a:t>
            </a:r>
            <a:endParaRPr sz="1800"/>
          </a:p>
        </p:txBody>
      </p:sp>
      <p:pic>
        <p:nvPicPr>
          <p:cNvPr id="1110" name="Google Shape;1110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1583" y="18531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80183" y="42153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6" name="Google Shape;1116;p87"/>
          <p:cNvGraphicFramePr/>
          <p:nvPr/>
        </p:nvGraphicFramePr>
        <p:xfrm>
          <a:off x="4606849" y="15836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(T)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17" name="Google Shape;1117;p87"/>
          <p:cNvGraphicFramePr/>
          <p:nvPr/>
        </p:nvGraphicFramePr>
        <p:xfrm>
          <a:off x="4606849" y="15836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18" name="Google Shape;1118;p87"/>
          <p:cNvGraphicFramePr/>
          <p:nvPr/>
        </p:nvGraphicFramePr>
        <p:xfrm>
          <a:off x="339649" y="15836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(T)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19" name="Google Shape;1119;p87"/>
          <p:cNvGraphicFramePr/>
          <p:nvPr/>
        </p:nvGraphicFramePr>
        <p:xfrm>
          <a:off x="339649" y="15836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0" name="Google Shape;1120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sequences represented graphically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n&quot;&gt;&lt;mn&gt;4&lt;/mn&gt;&lt;mi&gt;n&lt;/mi&gt;&lt;/math&gt;" id="1121" name="Google Shape;1121;p87" title="4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975" y="1216181"/>
            <a:ext cx="327207" cy="232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n+1&quot;&gt;&lt;mn&gt;4&lt;/mn&gt;&lt;mi&gt;n&lt;/mi&gt;&lt;mo&gt;+&lt;/mo&gt;&lt;mn&gt;1&lt;/mn&gt;&lt;/math&gt;" id="1122" name="Google Shape;1122;p87" title="4 n plus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6355" y="1213292"/>
            <a:ext cx="855579" cy="2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p87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4585925" y="2717425"/>
            <a:ext cx="3789327" cy="1211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87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530672" y="2717425"/>
            <a:ext cx="3789327" cy="1211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87"/>
          <p:cNvSpPr txBox="1"/>
          <p:nvPr/>
        </p:nvSpPr>
        <p:spPr>
          <a:xfrm>
            <a:off x="809574" y="2752025"/>
            <a:ext cx="338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5th term of       is 20 so the 10th term must be double that. The 10th term is 40.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4n&quot;&gt;&lt;mn&gt;4&lt;/mn&gt;&lt;mi&gt;n&lt;/mi&gt;&lt;/math&gt;" id="1126" name="Google Shape;1126;p87" title="4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9851" y="2786447"/>
            <a:ext cx="266625" cy="189703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87"/>
          <p:cNvSpPr txBox="1"/>
          <p:nvPr/>
        </p:nvSpPr>
        <p:spPr>
          <a:xfrm>
            <a:off x="4695774" y="2752025"/>
            <a:ext cx="338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5th term of              is 21 so the 10th term must be double that. The 10th term is 42.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4n+1&quot;&gt;&lt;mn&gt;4&lt;/mn&gt;&lt;mi&gt;n&lt;/mi&gt;&lt;mo&gt;+&lt;/mo&gt;&lt;mn&gt;1&lt;/mn&gt;&lt;/math&gt;" id="1128" name="Google Shape;1128;p87" title="4 n plus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3468" y="2777537"/>
            <a:ext cx="697168" cy="202548"/>
          </a:xfrm>
          <a:prstGeom prst="rect">
            <a:avLst/>
          </a:prstGeom>
          <a:noFill/>
          <a:ln>
            <a:noFill/>
          </a:ln>
        </p:spPr>
      </p:pic>
      <p:sp>
        <p:nvSpPr>
          <p:cNvPr id="1129" name="Google Shape;1129;p87"/>
          <p:cNvSpPr txBox="1"/>
          <p:nvPr/>
        </p:nvSpPr>
        <p:spPr>
          <a:xfrm>
            <a:off x="6690009" y="4430509"/>
            <a:ext cx="13221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87"/>
          <p:cNvSpPr txBox="1"/>
          <p:nvPr/>
        </p:nvSpPr>
        <p:spPr>
          <a:xfrm>
            <a:off x="729975" y="4430509"/>
            <a:ext cx="12951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31" name="Google Shape;1131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3190" y="3867196"/>
            <a:ext cx="749599" cy="841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p8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33774" y="3820025"/>
            <a:ext cx="758466" cy="8413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3" name="Google Shape;1133;p87"/>
          <p:cNvSpPr txBox="1"/>
          <p:nvPr>
            <p:ph idx="1" type="body"/>
          </p:nvPr>
        </p:nvSpPr>
        <p:spPr>
          <a:xfrm>
            <a:off x="2838600" y="4340700"/>
            <a:ext cx="28932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Do you agree with them?</a:t>
            </a:r>
            <a:endParaRPr sz="1800"/>
          </a:p>
        </p:txBody>
      </p:sp>
      <p:sp>
        <p:nvSpPr>
          <p:cNvPr id="1134" name="Google Shape;1134;p87"/>
          <p:cNvSpPr txBox="1"/>
          <p:nvPr>
            <p:ph idx="1" type="body"/>
          </p:nvPr>
        </p:nvSpPr>
        <p:spPr>
          <a:xfrm>
            <a:off x="309896" y="688139"/>
            <a:ext cx="79701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Oak </a:t>
            </a:r>
            <a:r>
              <a:rPr lang="en-GB" sz="1800"/>
              <a:t>students are discussing two sequences.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9" name="Google Shape;1139;p88"/>
          <p:cNvGraphicFramePr/>
          <p:nvPr/>
        </p:nvGraphicFramePr>
        <p:xfrm>
          <a:off x="353574" y="17734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40" name="Google Shape;1140;p88"/>
          <p:cNvGraphicFramePr/>
          <p:nvPr/>
        </p:nvGraphicFramePr>
        <p:xfrm>
          <a:off x="353574" y="17734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(T)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41" name="Google Shape;1141;p88"/>
          <p:cNvSpPr txBox="1"/>
          <p:nvPr>
            <p:ph idx="1" type="body"/>
          </p:nvPr>
        </p:nvSpPr>
        <p:spPr>
          <a:xfrm>
            <a:off x="324000" y="759300"/>
            <a:ext cx="52278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Graphical representations help us to see the structure of sequences.</a:t>
            </a:r>
            <a:endParaRPr sz="1800"/>
          </a:p>
        </p:txBody>
      </p:sp>
      <p:sp>
        <p:nvSpPr>
          <p:cNvPr id="1142" name="Google Shape;114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sequences represented graphically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n&quot;&gt;&lt;mn&gt;4&lt;/mn&gt;&lt;mi&gt;n&lt;/mi&gt;&lt;/math&gt;" id="1143" name="Google Shape;1143;p88" title="4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900" y="1405989"/>
            <a:ext cx="327207" cy="232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7-10-2023/3968b0db-3f78-4a8a-8d3d-724337d0efb3&quot; data-equatio-type=&quot;desmos&quot;&gt;&lt;mglyph src=&quot;https://equatio-api.texthelp.com/desmos/get/27-10-2023/3968b0db-3f78-4a8a-8d3d-724337d0efb3&quot; alt=&quot;Equatio Desmos Graph&quot;/&gt;&lt;/math&gt;" id="1144" name="Google Shape;1144;p88" title="Equatio Desmos Graph"/>
          <p:cNvPicPr preferRelativeResize="0"/>
          <p:nvPr/>
        </p:nvPicPr>
        <p:blipFill rotWithShape="1">
          <a:blip r:embed="rId4">
            <a:alphaModFix/>
          </a:blip>
          <a:srcRect b="18990" l="29960" r="54727" t="19330"/>
          <a:stretch/>
        </p:blipFill>
        <p:spPr>
          <a:xfrm>
            <a:off x="5961575" y="755203"/>
            <a:ext cx="1443400" cy="3890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88"/>
          <p:cNvSpPr txBox="1"/>
          <p:nvPr>
            <p:ph idx="1" type="body"/>
          </p:nvPr>
        </p:nvSpPr>
        <p:spPr>
          <a:xfrm>
            <a:off x="6260967" y="4596802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number</a:t>
            </a:r>
            <a:endParaRPr sz="1800"/>
          </a:p>
        </p:txBody>
      </p:sp>
      <p:sp>
        <p:nvSpPr>
          <p:cNvPr id="1146" name="Google Shape;1146;p88"/>
          <p:cNvSpPr txBox="1"/>
          <p:nvPr>
            <p:ph idx="1" type="body"/>
          </p:nvPr>
        </p:nvSpPr>
        <p:spPr>
          <a:xfrm rot="-5400000">
            <a:off x="5063340" y="1493426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value</a:t>
            </a:r>
            <a:endParaRPr sz="1800"/>
          </a:p>
        </p:txBody>
      </p:sp>
      <p:grpSp>
        <p:nvGrpSpPr>
          <p:cNvPr id="1147" name="Google Shape;1147;p88"/>
          <p:cNvGrpSpPr/>
          <p:nvPr/>
        </p:nvGrpSpPr>
        <p:grpSpPr>
          <a:xfrm>
            <a:off x="6372111" y="3765765"/>
            <a:ext cx="168669" cy="678258"/>
            <a:chOff x="1569000" y="3429775"/>
            <a:chExt cx="335325" cy="1348425"/>
          </a:xfrm>
        </p:grpSpPr>
        <p:pic>
          <p:nvPicPr>
            <p:cNvPr id="1148" name="Google Shape;1148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9" name="Google Shape;1149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0" name="Google Shape;1150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1" name="Google Shape;1151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2" name="Google Shape;1152;p88"/>
          <p:cNvGrpSpPr/>
          <p:nvPr/>
        </p:nvGrpSpPr>
        <p:grpSpPr>
          <a:xfrm>
            <a:off x="6576709" y="3765765"/>
            <a:ext cx="168669" cy="678258"/>
            <a:chOff x="1569000" y="3429775"/>
            <a:chExt cx="335325" cy="1348425"/>
          </a:xfrm>
        </p:grpSpPr>
        <p:pic>
          <p:nvPicPr>
            <p:cNvPr id="1153" name="Google Shape;1153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4" name="Google Shape;1154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5" name="Google Shape;1155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6" name="Google Shape;1156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7" name="Google Shape;1157;p88"/>
          <p:cNvGrpSpPr/>
          <p:nvPr/>
        </p:nvGrpSpPr>
        <p:grpSpPr>
          <a:xfrm>
            <a:off x="6576709" y="3063177"/>
            <a:ext cx="168669" cy="678258"/>
            <a:chOff x="1569000" y="3429775"/>
            <a:chExt cx="335325" cy="1348425"/>
          </a:xfrm>
        </p:grpSpPr>
        <p:pic>
          <p:nvPicPr>
            <p:cNvPr id="1158" name="Google Shape;1158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9" name="Google Shape;1159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0" name="Google Shape;1160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1" name="Google Shape;1161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2" name="Google Shape;1162;p88"/>
          <p:cNvGrpSpPr/>
          <p:nvPr/>
        </p:nvGrpSpPr>
        <p:grpSpPr>
          <a:xfrm>
            <a:off x="6771971" y="3765765"/>
            <a:ext cx="168669" cy="678258"/>
            <a:chOff x="1569000" y="3429775"/>
            <a:chExt cx="335325" cy="1348425"/>
          </a:xfrm>
        </p:grpSpPr>
        <p:pic>
          <p:nvPicPr>
            <p:cNvPr id="1163" name="Google Shape;1163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4" name="Google Shape;1164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5" name="Google Shape;1165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6" name="Google Shape;1166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7" name="Google Shape;1167;p88"/>
          <p:cNvGrpSpPr/>
          <p:nvPr/>
        </p:nvGrpSpPr>
        <p:grpSpPr>
          <a:xfrm>
            <a:off x="6771971" y="3063177"/>
            <a:ext cx="168669" cy="678258"/>
            <a:chOff x="1569000" y="3429775"/>
            <a:chExt cx="335325" cy="1348425"/>
          </a:xfrm>
        </p:grpSpPr>
        <p:pic>
          <p:nvPicPr>
            <p:cNvPr id="1168" name="Google Shape;1168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9" name="Google Shape;1169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0" name="Google Shape;1170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1" name="Google Shape;1171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2" name="Google Shape;1172;p88"/>
          <p:cNvGrpSpPr/>
          <p:nvPr/>
        </p:nvGrpSpPr>
        <p:grpSpPr>
          <a:xfrm>
            <a:off x="6771971" y="2347915"/>
            <a:ext cx="168669" cy="678258"/>
            <a:chOff x="1569000" y="3429775"/>
            <a:chExt cx="335325" cy="1348425"/>
          </a:xfrm>
        </p:grpSpPr>
        <p:pic>
          <p:nvPicPr>
            <p:cNvPr id="1173" name="Google Shape;1173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4" name="Google Shape;1174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5" name="Google Shape;1175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6" name="Google Shape;1176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7" name="Google Shape;1177;p88"/>
          <p:cNvGrpSpPr/>
          <p:nvPr/>
        </p:nvGrpSpPr>
        <p:grpSpPr>
          <a:xfrm>
            <a:off x="6971996" y="3765765"/>
            <a:ext cx="168669" cy="678258"/>
            <a:chOff x="1569000" y="3429775"/>
            <a:chExt cx="335325" cy="1348425"/>
          </a:xfrm>
        </p:grpSpPr>
        <p:pic>
          <p:nvPicPr>
            <p:cNvPr id="1178" name="Google Shape;1178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9" name="Google Shape;1179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0" name="Google Shape;1180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1" name="Google Shape;1181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2" name="Google Shape;1182;p88"/>
          <p:cNvGrpSpPr/>
          <p:nvPr/>
        </p:nvGrpSpPr>
        <p:grpSpPr>
          <a:xfrm>
            <a:off x="6971996" y="2347915"/>
            <a:ext cx="168669" cy="678258"/>
            <a:chOff x="1569000" y="3429775"/>
            <a:chExt cx="335325" cy="1348425"/>
          </a:xfrm>
        </p:grpSpPr>
        <p:pic>
          <p:nvPicPr>
            <p:cNvPr id="1183" name="Google Shape;1183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4" name="Google Shape;1184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5" name="Google Shape;1185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6" name="Google Shape;1186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7" name="Google Shape;1187;p88"/>
          <p:cNvGrpSpPr/>
          <p:nvPr/>
        </p:nvGrpSpPr>
        <p:grpSpPr>
          <a:xfrm>
            <a:off x="6971996" y="3065678"/>
            <a:ext cx="168669" cy="678258"/>
            <a:chOff x="1569000" y="3429775"/>
            <a:chExt cx="335325" cy="1348425"/>
          </a:xfrm>
        </p:grpSpPr>
        <p:pic>
          <p:nvPicPr>
            <p:cNvPr id="1188" name="Google Shape;1188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9" name="Google Shape;1189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0" name="Google Shape;1190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1" name="Google Shape;1191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92" name="Google Shape;1192;p88"/>
          <p:cNvGrpSpPr/>
          <p:nvPr/>
        </p:nvGrpSpPr>
        <p:grpSpPr>
          <a:xfrm>
            <a:off x="6971996" y="1637415"/>
            <a:ext cx="168669" cy="678258"/>
            <a:chOff x="1569000" y="3429775"/>
            <a:chExt cx="335325" cy="1348425"/>
          </a:xfrm>
        </p:grpSpPr>
        <p:pic>
          <p:nvPicPr>
            <p:cNvPr id="1193" name="Google Shape;1193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4" name="Google Shape;1194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5" name="Google Shape;1195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6" name="Google Shape;1196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97" name="Google Shape;1197;p88"/>
          <p:cNvGrpSpPr/>
          <p:nvPr/>
        </p:nvGrpSpPr>
        <p:grpSpPr>
          <a:xfrm>
            <a:off x="7167259" y="3765765"/>
            <a:ext cx="168669" cy="678258"/>
            <a:chOff x="1569000" y="3429775"/>
            <a:chExt cx="335325" cy="1348425"/>
          </a:xfrm>
        </p:grpSpPr>
        <p:pic>
          <p:nvPicPr>
            <p:cNvPr id="1198" name="Google Shape;1198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9" name="Google Shape;1199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0" name="Google Shape;1200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1" name="Google Shape;1201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2" name="Google Shape;1202;p88"/>
          <p:cNvGrpSpPr/>
          <p:nvPr/>
        </p:nvGrpSpPr>
        <p:grpSpPr>
          <a:xfrm>
            <a:off x="7167259" y="2347915"/>
            <a:ext cx="168669" cy="678258"/>
            <a:chOff x="1569000" y="3429775"/>
            <a:chExt cx="335325" cy="1348425"/>
          </a:xfrm>
        </p:grpSpPr>
        <p:pic>
          <p:nvPicPr>
            <p:cNvPr id="1203" name="Google Shape;1203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4" name="Google Shape;1204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5" name="Google Shape;1205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6" name="Google Shape;1206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7" name="Google Shape;1207;p88"/>
          <p:cNvGrpSpPr/>
          <p:nvPr/>
        </p:nvGrpSpPr>
        <p:grpSpPr>
          <a:xfrm>
            <a:off x="7167259" y="3065678"/>
            <a:ext cx="168669" cy="678258"/>
            <a:chOff x="1569000" y="3429775"/>
            <a:chExt cx="335325" cy="1348425"/>
          </a:xfrm>
        </p:grpSpPr>
        <p:pic>
          <p:nvPicPr>
            <p:cNvPr id="1208" name="Google Shape;1208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9" name="Google Shape;1209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0" name="Google Shape;1210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1" name="Google Shape;1211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2" name="Google Shape;1212;p88"/>
          <p:cNvGrpSpPr/>
          <p:nvPr/>
        </p:nvGrpSpPr>
        <p:grpSpPr>
          <a:xfrm>
            <a:off x="7167259" y="1637415"/>
            <a:ext cx="168669" cy="678258"/>
            <a:chOff x="1569000" y="3429775"/>
            <a:chExt cx="335325" cy="1348425"/>
          </a:xfrm>
        </p:grpSpPr>
        <p:pic>
          <p:nvPicPr>
            <p:cNvPr id="1213" name="Google Shape;1213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4" name="Google Shape;1214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5" name="Google Shape;1215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6" name="Google Shape;1216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7" name="Google Shape;1217;p88"/>
          <p:cNvGrpSpPr/>
          <p:nvPr/>
        </p:nvGrpSpPr>
        <p:grpSpPr>
          <a:xfrm>
            <a:off x="7167259" y="946853"/>
            <a:ext cx="168669" cy="678258"/>
            <a:chOff x="1569000" y="3429775"/>
            <a:chExt cx="335325" cy="1348425"/>
          </a:xfrm>
        </p:grpSpPr>
        <p:pic>
          <p:nvPicPr>
            <p:cNvPr id="1218" name="Google Shape;1218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9" name="Google Shape;1219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0" name="Google Shape;1220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1" name="Google Shape;1221;p8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22" name="Google Shape;1222;p88"/>
          <p:cNvSpPr txBox="1"/>
          <p:nvPr/>
        </p:nvSpPr>
        <p:spPr>
          <a:xfrm>
            <a:off x="781274" y="2873775"/>
            <a:ext cx="338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5th term of       is 20 so the 10th term must be double that. The 10th term is 40.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3" name="Google Shape;1223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890" y="3912746"/>
            <a:ext cx="749599" cy="8414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n&quot;&gt;&lt;mn&gt;4&lt;/mn&gt;&lt;mi&gt;n&lt;/mi&gt;&lt;/math&gt;" id="1224" name="Google Shape;1224;p88" title="4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2921" y="2911642"/>
            <a:ext cx="266625" cy="189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88"/>
          <p:cNvPicPr preferRelativeResize="0"/>
          <p:nvPr/>
        </p:nvPicPr>
        <p:blipFill rotWithShape="1">
          <a:blip r:embed="rId7">
            <a:alphaModFix/>
          </a:blip>
          <a:srcRect b="43690" l="0" r="57905" t="0"/>
          <a:stretch/>
        </p:blipFill>
        <p:spPr>
          <a:xfrm flipH="1">
            <a:off x="442122" y="2807375"/>
            <a:ext cx="3789327" cy="1211574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88"/>
          <p:cNvSpPr txBox="1"/>
          <p:nvPr/>
        </p:nvSpPr>
        <p:spPr>
          <a:xfrm>
            <a:off x="729975" y="4430509"/>
            <a:ext cx="12951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89"/>
          <p:cNvSpPr txBox="1"/>
          <p:nvPr>
            <p:ph idx="1" type="body"/>
          </p:nvPr>
        </p:nvSpPr>
        <p:spPr>
          <a:xfrm>
            <a:off x="973239" y="2874784"/>
            <a:ext cx="1906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fifth term of</a:t>
            </a:r>
            <a:endParaRPr sz="1800"/>
          </a:p>
        </p:txBody>
      </p:sp>
      <p:sp>
        <p:nvSpPr>
          <p:cNvPr id="1232" name="Google Shape;123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sequences represented graphically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n&quot;&gt;&lt;mn&gt;4&lt;/mn&gt;&lt;mi&gt;n&lt;/mi&gt;&lt;/math&gt;" id="1233" name="Google Shape;1233;p89" title="4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180" y="2900003"/>
            <a:ext cx="294900" cy="2098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4" name="Google Shape;1234;p89"/>
          <p:cNvGrpSpPr/>
          <p:nvPr/>
        </p:nvGrpSpPr>
        <p:grpSpPr>
          <a:xfrm>
            <a:off x="3277845" y="4433071"/>
            <a:ext cx="139898" cy="382548"/>
            <a:chOff x="1569000" y="3429775"/>
            <a:chExt cx="335325" cy="1348425"/>
          </a:xfrm>
        </p:grpSpPr>
        <p:pic>
          <p:nvPicPr>
            <p:cNvPr id="1235" name="Google Shape;1235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6" name="Google Shape;1236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7" name="Google Shape;1237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8" name="Google Shape;1238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9" name="Google Shape;1239;p89"/>
          <p:cNvGrpSpPr/>
          <p:nvPr/>
        </p:nvGrpSpPr>
        <p:grpSpPr>
          <a:xfrm>
            <a:off x="3277845" y="3622889"/>
            <a:ext cx="139898" cy="382548"/>
            <a:chOff x="1569000" y="3429775"/>
            <a:chExt cx="335325" cy="1348425"/>
          </a:xfrm>
        </p:grpSpPr>
        <p:pic>
          <p:nvPicPr>
            <p:cNvPr id="1240" name="Google Shape;1240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1" name="Google Shape;1241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2" name="Google Shape;1242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3" name="Google Shape;1243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44" name="Google Shape;1244;p89"/>
          <p:cNvGrpSpPr/>
          <p:nvPr/>
        </p:nvGrpSpPr>
        <p:grpSpPr>
          <a:xfrm>
            <a:off x="3277845" y="4027758"/>
            <a:ext cx="139898" cy="382548"/>
            <a:chOff x="1569000" y="3429775"/>
            <a:chExt cx="335325" cy="1348425"/>
          </a:xfrm>
        </p:grpSpPr>
        <p:pic>
          <p:nvPicPr>
            <p:cNvPr id="1245" name="Google Shape;1245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6" name="Google Shape;1246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7" name="Google Shape;1247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8" name="Google Shape;1248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49" name="Google Shape;1249;p89"/>
          <p:cNvGrpSpPr/>
          <p:nvPr/>
        </p:nvGrpSpPr>
        <p:grpSpPr>
          <a:xfrm>
            <a:off x="3277845" y="3222116"/>
            <a:ext cx="139898" cy="382548"/>
            <a:chOff x="1569000" y="3429775"/>
            <a:chExt cx="335325" cy="1348425"/>
          </a:xfrm>
        </p:grpSpPr>
        <p:pic>
          <p:nvPicPr>
            <p:cNvPr id="1250" name="Google Shape;1250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1" name="Google Shape;1251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2" name="Google Shape;1252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3" name="Google Shape;1253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4" name="Google Shape;1254;p89"/>
          <p:cNvGrpSpPr/>
          <p:nvPr/>
        </p:nvGrpSpPr>
        <p:grpSpPr>
          <a:xfrm>
            <a:off x="3277845" y="2822176"/>
            <a:ext cx="139898" cy="382548"/>
            <a:chOff x="1569000" y="3429775"/>
            <a:chExt cx="335325" cy="1348425"/>
          </a:xfrm>
        </p:grpSpPr>
        <p:pic>
          <p:nvPicPr>
            <p:cNvPr id="1255" name="Google Shape;1255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6" name="Google Shape;1256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7" name="Google Shape;1257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8" name="Google Shape;1258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9" name="Google Shape;1259;p89"/>
          <p:cNvGrpSpPr/>
          <p:nvPr/>
        </p:nvGrpSpPr>
        <p:grpSpPr>
          <a:xfrm>
            <a:off x="6208306" y="4462616"/>
            <a:ext cx="139898" cy="382548"/>
            <a:chOff x="1569000" y="3429775"/>
            <a:chExt cx="335325" cy="1348425"/>
          </a:xfrm>
        </p:grpSpPr>
        <p:pic>
          <p:nvPicPr>
            <p:cNvPr id="1260" name="Google Shape;1260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1" name="Google Shape;1261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2" name="Google Shape;1262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3" name="Google Shape;1263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64" name="Google Shape;1264;p89"/>
          <p:cNvGrpSpPr/>
          <p:nvPr/>
        </p:nvGrpSpPr>
        <p:grpSpPr>
          <a:xfrm>
            <a:off x="6208306" y="3652433"/>
            <a:ext cx="139898" cy="382548"/>
            <a:chOff x="1569000" y="3429775"/>
            <a:chExt cx="335325" cy="1348425"/>
          </a:xfrm>
        </p:grpSpPr>
        <p:pic>
          <p:nvPicPr>
            <p:cNvPr id="1265" name="Google Shape;1265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6" name="Google Shape;1266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7" name="Google Shape;1267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8" name="Google Shape;1268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69" name="Google Shape;1269;p89"/>
          <p:cNvGrpSpPr/>
          <p:nvPr/>
        </p:nvGrpSpPr>
        <p:grpSpPr>
          <a:xfrm>
            <a:off x="6208306" y="4057303"/>
            <a:ext cx="139898" cy="382548"/>
            <a:chOff x="1569000" y="3429775"/>
            <a:chExt cx="335325" cy="1348425"/>
          </a:xfrm>
        </p:grpSpPr>
        <p:pic>
          <p:nvPicPr>
            <p:cNvPr id="1270" name="Google Shape;1270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1" name="Google Shape;1271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2" name="Google Shape;1272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3" name="Google Shape;1273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4" name="Google Shape;1274;p89"/>
          <p:cNvGrpSpPr/>
          <p:nvPr/>
        </p:nvGrpSpPr>
        <p:grpSpPr>
          <a:xfrm>
            <a:off x="6208306" y="3251660"/>
            <a:ext cx="139898" cy="382548"/>
            <a:chOff x="1569000" y="3429775"/>
            <a:chExt cx="335325" cy="1348425"/>
          </a:xfrm>
        </p:grpSpPr>
        <p:pic>
          <p:nvPicPr>
            <p:cNvPr id="1275" name="Google Shape;1275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6" name="Google Shape;1276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7" name="Google Shape;1277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8" name="Google Shape;1278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9" name="Google Shape;1279;p89"/>
          <p:cNvGrpSpPr/>
          <p:nvPr/>
        </p:nvGrpSpPr>
        <p:grpSpPr>
          <a:xfrm>
            <a:off x="6208306" y="2851720"/>
            <a:ext cx="139898" cy="382548"/>
            <a:chOff x="1569000" y="3429775"/>
            <a:chExt cx="335325" cy="1348425"/>
          </a:xfrm>
        </p:grpSpPr>
        <p:pic>
          <p:nvPicPr>
            <p:cNvPr id="1280" name="Google Shape;1280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1" name="Google Shape;1281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2" name="Google Shape;1282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3" name="Google Shape;1283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84" name="Google Shape;1284;p89"/>
          <p:cNvGrpSpPr/>
          <p:nvPr/>
        </p:nvGrpSpPr>
        <p:grpSpPr>
          <a:xfrm>
            <a:off x="6208306" y="2450511"/>
            <a:ext cx="139898" cy="382548"/>
            <a:chOff x="1569000" y="3429775"/>
            <a:chExt cx="335325" cy="1348425"/>
          </a:xfrm>
        </p:grpSpPr>
        <p:pic>
          <p:nvPicPr>
            <p:cNvPr id="1285" name="Google Shape;1285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6" name="Google Shape;1286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7" name="Google Shape;1287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8" name="Google Shape;1288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89" name="Google Shape;1289;p89"/>
          <p:cNvGrpSpPr/>
          <p:nvPr/>
        </p:nvGrpSpPr>
        <p:grpSpPr>
          <a:xfrm>
            <a:off x="6208306" y="1640329"/>
            <a:ext cx="139898" cy="382548"/>
            <a:chOff x="1569000" y="3429775"/>
            <a:chExt cx="335325" cy="1348425"/>
          </a:xfrm>
        </p:grpSpPr>
        <p:pic>
          <p:nvPicPr>
            <p:cNvPr id="1290" name="Google Shape;1290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1" name="Google Shape;1291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2" name="Google Shape;1292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3" name="Google Shape;1293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4" name="Google Shape;1294;p89"/>
          <p:cNvGrpSpPr/>
          <p:nvPr/>
        </p:nvGrpSpPr>
        <p:grpSpPr>
          <a:xfrm>
            <a:off x="6208306" y="2045198"/>
            <a:ext cx="139898" cy="382548"/>
            <a:chOff x="1569000" y="3429775"/>
            <a:chExt cx="335325" cy="1348425"/>
          </a:xfrm>
        </p:grpSpPr>
        <p:pic>
          <p:nvPicPr>
            <p:cNvPr id="1295" name="Google Shape;1295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6" name="Google Shape;1296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7" name="Google Shape;1297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8" name="Google Shape;1298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9" name="Google Shape;1299;p89"/>
          <p:cNvGrpSpPr/>
          <p:nvPr/>
        </p:nvGrpSpPr>
        <p:grpSpPr>
          <a:xfrm>
            <a:off x="6208306" y="1239556"/>
            <a:ext cx="139898" cy="382548"/>
            <a:chOff x="1569000" y="3429775"/>
            <a:chExt cx="335325" cy="1348425"/>
          </a:xfrm>
        </p:grpSpPr>
        <p:pic>
          <p:nvPicPr>
            <p:cNvPr id="1300" name="Google Shape;1300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1" name="Google Shape;1301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2" name="Google Shape;1302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3" name="Google Shape;1303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4" name="Google Shape;1304;p89"/>
          <p:cNvGrpSpPr/>
          <p:nvPr/>
        </p:nvGrpSpPr>
        <p:grpSpPr>
          <a:xfrm>
            <a:off x="6208306" y="839616"/>
            <a:ext cx="139898" cy="382548"/>
            <a:chOff x="1569000" y="3429775"/>
            <a:chExt cx="335325" cy="1348425"/>
          </a:xfrm>
        </p:grpSpPr>
        <p:pic>
          <p:nvPicPr>
            <p:cNvPr id="1305" name="Google Shape;1305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6" name="Google Shape;1306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7" name="Google Shape;1307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8" name="Google Shape;1308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9" name="Google Shape;1309;p89"/>
          <p:cNvSpPr txBox="1"/>
          <p:nvPr>
            <p:ph idx="1" type="body"/>
          </p:nvPr>
        </p:nvSpPr>
        <p:spPr>
          <a:xfrm>
            <a:off x="3789598" y="2853097"/>
            <a:ext cx="2068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tenth term of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4n&quot;&gt;&lt;mn&gt;4&lt;/mn&gt;&lt;mi&gt;n&lt;/mi&gt;&lt;/math&gt;" id="1310" name="Google Shape;1310;p89" title="4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9033" y="2882892"/>
            <a:ext cx="294900" cy="209841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89"/>
          <p:cNvSpPr txBox="1"/>
          <p:nvPr>
            <p:ph idx="1" type="body"/>
          </p:nvPr>
        </p:nvSpPr>
        <p:spPr>
          <a:xfrm>
            <a:off x="6752117" y="2527338"/>
            <a:ext cx="1906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Exactly double the height.</a:t>
            </a:r>
            <a:endParaRPr sz="1800"/>
          </a:p>
        </p:txBody>
      </p:sp>
      <p:sp>
        <p:nvSpPr>
          <p:cNvPr id="1312" name="Google Shape;1312;p89"/>
          <p:cNvSpPr txBox="1"/>
          <p:nvPr/>
        </p:nvSpPr>
        <p:spPr>
          <a:xfrm>
            <a:off x="1014774" y="859013"/>
            <a:ext cx="3388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5th term of       is 20 so the 10th term must be double that. The 10th term is 40.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13" name="Google Shape;1313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615" y="1906999"/>
            <a:ext cx="749599" cy="8414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n&quot;&gt;&lt;mn&gt;4&lt;/mn&gt;&lt;mi&gt;n&lt;/mi&gt;&lt;/math&gt;" id="1314" name="Google Shape;1314;p89" title="4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7743" y="909313"/>
            <a:ext cx="266625" cy="189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89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614020" y="778701"/>
            <a:ext cx="3942149" cy="1260412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89"/>
          <p:cNvSpPr txBox="1"/>
          <p:nvPr>
            <p:ph idx="1" type="body"/>
          </p:nvPr>
        </p:nvSpPr>
        <p:spPr>
          <a:xfrm>
            <a:off x="339500" y="3613900"/>
            <a:ext cx="27720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Lucas is right.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10th term is 40.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It’s double the 5th term.</a:t>
            </a:r>
            <a:endParaRPr sz="1800"/>
          </a:p>
        </p:txBody>
      </p:sp>
      <p:sp>
        <p:nvSpPr>
          <p:cNvPr id="1317" name="Google Shape;1317;p89"/>
          <p:cNvSpPr txBox="1"/>
          <p:nvPr/>
        </p:nvSpPr>
        <p:spPr>
          <a:xfrm>
            <a:off x="806175" y="2296909"/>
            <a:ext cx="12951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2" name="Google Shape;1322;p90"/>
          <p:cNvGraphicFramePr/>
          <p:nvPr/>
        </p:nvGraphicFramePr>
        <p:xfrm>
          <a:off x="347110" y="15740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23" name="Google Shape;1323;p90"/>
          <p:cNvGraphicFramePr/>
          <p:nvPr/>
        </p:nvGraphicFramePr>
        <p:xfrm>
          <a:off x="347110" y="15740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{9E4F1B2F-1E23-4879-9A54-1337BC1CEA48}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ata-is-equatio=&quot;1&quot; data-equatio-url=&quot;https://equatio-api.texthelp.com/desmos/get/27-10-2023/35e16359-6cfb-45e5-870f-fc08e0a33c0f&quot; data-equatio-type=&quot;desmos&quot;&gt;&lt;mglyph src=&quot;https://equatio-api.texthelp.com/desmos/get/27-10-2023/35e16359-6cfb-45e5-870f-fc08e0a33c0f&quot; alt=&quot;Equatio Desmos Graph&quot;/&gt;&lt;/math&gt;" id="1324" name="Google Shape;1324;p90" title="Equatio Desmos Graph"/>
          <p:cNvPicPr preferRelativeResize="0"/>
          <p:nvPr/>
        </p:nvPicPr>
        <p:blipFill rotWithShape="1">
          <a:blip r:embed="rId3">
            <a:alphaModFix/>
          </a:blip>
          <a:srcRect b="20564" l="29062" r="54844" t="6357"/>
          <a:stretch/>
        </p:blipFill>
        <p:spPr>
          <a:xfrm>
            <a:off x="5982937" y="787439"/>
            <a:ext cx="1245026" cy="39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90"/>
          <p:cNvSpPr txBox="1"/>
          <p:nvPr>
            <p:ph idx="1" type="body"/>
          </p:nvPr>
        </p:nvSpPr>
        <p:spPr>
          <a:xfrm>
            <a:off x="354486" y="751554"/>
            <a:ext cx="53871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 how will            look different in its structure?</a:t>
            </a:r>
            <a:endParaRPr sz="1800"/>
          </a:p>
        </p:txBody>
      </p:sp>
      <p:sp>
        <p:nvSpPr>
          <p:cNvPr id="1326" name="Google Shape;132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sequences represented graphically</a:t>
            </a:r>
            <a:endParaRPr/>
          </a:p>
        </p:txBody>
      </p:sp>
      <p:sp>
        <p:nvSpPr>
          <p:cNvPr id="1327" name="Google Shape;1327;p90"/>
          <p:cNvSpPr txBox="1"/>
          <p:nvPr>
            <p:ph idx="1" type="body"/>
          </p:nvPr>
        </p:nvSpPr>
        <p:spPr>
          <a:xfrm>
            <a:off x="6260967" y="4596802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number</a:t>
            </a:r>
            <a:endParaRPr sz="1800"/>
          </a:p>
        </p:txBody>
      </p:sp>
      <p:sp>
        <p:nvSpPr>
          <p:cNvPr id="1328" name="Google Shape;1328;p90"/>
          <p:cNvSpPr txBox="1"/>
          <p:nvPr>
            <p:ph idx="1" type="body"/>
          </p:nvPr>
        </p:nvSpPr>
        <p:spPr>
          <a:xfrm rot="-5400000">
            <a:off x="5063340" y="1493426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value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4n+1&quot;&gt;&lt;mn&gt;4&lt;/mn&gt;&lt;mi&gt;n&lt;/mi&gt;&lt;mo&gt;+&lt;/mo&gt;&lt;mn&gt;1&lt;/mn&gt;&lt;/math&gt;" id="1329" name="Google Shape;1329;p90" title="4 n plus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622" y="1203649"/>
            <a:ext cx="855579" cy="24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n+1&quot;&gt;&lt;mn&gt;4&lt;/mn&gt;&lt;mi&gt;n&lt;/mi&gt;&lt;mo&gt;+&lt;/mo&gt;&lt;mn&gt;1&lt;/mn&gt;&lt;/math&gt;" id="1330" name="Google Shape;1330;p90" title="4 n plus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0947" y="793089"/>
            <a:ext cx="642004" cy="186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1" name="Google Shape;1331;p90"/>
          <p:cNvGrpSpPr/>
          <p:nvPr/>
        </p:nvGrpSpPr>
        <p:grpSpPr>
          <a:xfrm>
            <a:off x="6296374" y="3688784"/>
            <a:ext cx="158165" cy="842016"/>
            <a:chOff x="5697186" y="3688784"/>
            <a:chExt cx="158165" cy="842016"/>
          </a:xfrm>
        </p:grpSpPr>
        <p:grpSp>
          <p:nvGrpSpPr>
            <p:cNvPr id="1332" name="Google Shape;1332;p90"/>
            <p:cNvGrpSpPr/>
            <p:nvPr/>
          </p:nvGrpSpPr>
          <p:grpSpPr>
            <a:xfrm>
              <a:off x="5697186" y="3688784"/>
              <a:ext cx="157234" cy="657492"/>
              <a:chOff x="1569000" y="3429775"/>
              <a:chExt cx="335325" cy="1348425"/>
            </a:xfrm>
          </p:grpSpPr>
          <p:pic>
            <p:nvPicPr>
              <p:cNvPr id="1333" name="Google Shape;1333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442343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34" name="Google Shape;1334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104821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35" name="Google Shape;1335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767298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36" name="Google Shape;1336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429775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337" name="Google Shape;1337;p9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699450" y="4368494"/>
              <a:ext cx="155900" cy="1623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8" name="Google Shape;1338;p90"/>
          <p:cNvGrpSpPr/>
          <p:nvPr/>
        </p:nvGrpSpPr>
        <p:grpSpPr>
          <a:xfrm>
            <a:off x="6478155" y="3010012"/>
            <a:ext cx="157234" cy="1520788"/>
            <a:chOff x="6197495" y="3010012"/>
            <a:chExt cx="157234" cy="1520788"/>
          </a:xfrm>
        </p:grpSpPr>
        <p:grpSp>
          <p:nvGrpSpPr>
            <p:cNvPr id="1339" name="Google Shape;1339;p90"/>
            <p:cNvGrpSpPr/>
            <p:nvPr/>
          </p:nvGrpSpPr>
          <p:grpSpPr>
            <a:xfrm>
              <a:off x="6197495" y="3688784"/>
              <a:ext cx="157234" cy="657492"/>
              <a:chOff x="1569000" y="3429775"/>
              <a:chExt cx="335325" cy="1348425"/>
            </a:xfrm>
          </p:grpSpPr>
          <p:pic>
            <p:nvPicPr>
              <p:cNvPr id="1340" name="Google Shape;1340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442343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41" name="Google Shape;1341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104821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42" name="Google Shape;1342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767298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43" name="Google Shape;1343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429775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44" name="Google Shape;1344;p90"/>
            <p:cNvGrpSpPr/>
            <p:nvPr/>
          </p:nvGrpSpPr>
          <p:grpSpPr>
            <a:xfrm>
              <a:off x="6197495" y="3010012"/>
              <a:ext cx="157234" cy="657492"/>
              <a:chOff x="1569000" y="3429775"/>
              <a:chExt cx="335325" cy="1348425"/>
            </a:xfrm>
          </p:grpSpPr>
          <p:pic>
            <p:nvPicPr>
              <p:cNvPr id="1345" name="Google Shape;1345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442343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46" name="Google Shape;1346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104821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47" name="Google Shape;1347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767298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48" name="Google Shape;1348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429775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349" name="Google Shape;1349;p9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198464" y="4368494"/>
              <a:ext cx="155900" cy="1623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50" name="Google Shape;1350;p90"/>
          <p:cNvGrpSpPr/>
          <p:nvPr/>
        </p:nvGrpSpPr>
        <p:grpSpPr>
          <a:xfrm>
            <a:off x="6662068" y="2326578"/>
            <a:ext cx="157634" cy="2204222"/>
            <a:chOff x="6662068" y="2326578"/>
            <a:chExt cx="157634" cy="2204222"/>
          </a:xfrm>
        </p:grpSpPr>
        <p:grpSp>
          <p:nvGrpSpPr>
            <p:cNvPr id="1351" name="Google Shape;1351;p90"/>
            <p:cNvGrpSpPr/>
            <p:nvPr/>
          </p:nvGrpSpPr>
          <p:grpSpPr>
            <a:xfrm>
              <a:off x="6662068" y="3688784"/>
              <a:ext cx="157234" cy="657492"/>
              <a:chOff x="1569000" y="3429775"/>
              <a:chExt cx="335325" cy="1348425"/>
            </a:xfrm>
          </p:grpSpPr>
          <p:pic>
            <p:nvPicPr>
              <p:cNvPr id="1352" name="Google Shape;1352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442343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53" name="Google Shape;1353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104821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54" name="Google Shape;1354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767298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55" name="Google Shape;1355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429775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56" name="Google Shape;1356;p90"/>
            <p:cNvGrpSpPr/>
            <p:nvPr/>
          </p:nvGrpSpPr>
          <p:grpSpPr>
            <a:xfrm>
              <a:off x="6662068" y="2326578"/>
              <a:ext cx="157234" cy="657492"/>
              <a:chOff x="1569000" y="3429775"/>
              <a:chExt cx="335325" cy="1348425"/>
            </a:xfrm>
          </p:grpSpPr>
          <p:pic>
            <p:nvPicPr>
              <p:cNvPr id="1357" name="Google Shape;1357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442343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58" name="Google Shape;1358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104821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59" name="Google Shape;1359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767298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60" name="Google Shape;1360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429775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361" name="Google Shape;1361;p9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663801" y="4368494"/>
              <a:ext cx="155900" cy="16230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62" name="Google Shape;1362;p90"/>
            <p:cNvGrpSpPr/>
            <p:nvPr/>
          </p:nvGrpSpPr>
          <p:grpSpPr>
            <a:xfrm>
              <a:off x="6662068" y="3003982"/>
              <a:ext cx="157234" cy="657492"/>
              <a:chOff x="1569000" y="3429775"/>
              <a:chExt cx="335325" cy="1348425"/>
            </a:xfrm>
          </p:grpSpPr>
          <p:pic>
            <p:nvPicPr>
              <p:cNvPr id="1363" name="Google Shape;1363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442343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64" name="Google Shape;1364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104821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65" name="Google Shape;1365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767298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66" name="Google Shape;1366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429775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67" name="Google Shape;1367;p90"/>
          <p:cNvGrpSpPr/>
          <p:nvPr/>
        </p:nvGrpSpPr>
        <p:grpSpPr>
          <a:xfrm>
            <a:off x="6850019" y="1644493"/>
            <a:ext cx="158479" cy="2886307"/>
            <a:chOff x="2260049" y="1796893"/>
            <a:chExt cx="158479" cy="2886307"/>
          </a:xfrm>
        </p:grpSpPr>
        <p:grpSp>
          <p:nvGrpSpPr>
            <p:cNvPr id="1368" name="Google Shape;1368;p90"/>
            <p:cNvGrpSpPr/>
            <p:nvPr/>
          </p:nvGrpSpPr>
          <p:grpSpPr>
            <a:xfrm>
              <a:off x="2260049" y="3841184"/>
              <a:ext cx="157234" cy="657492"/>
              <a:chOff x="1569000" y="3429775"/>
              <a:chExt cx="335325" cy="1348425"/>
            </a:xfrm>
          </p:grpSpPr>
          <p:pic>
            <p:nvPicPr>
              <p:cNvPr id="1369" name="Google Shape;1369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442343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70" name="Google Shape;1370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104821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71" name="Google Shape;1371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767298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72" name="Google Shape;1372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429775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73" name="Google Shape;1373;p90"/>
            <p:cNvGrpSpPr/>
            <p:nvPr/>
          </p:nvGrpSpPr>
          <p:grpSpPr>
            <a:xfrm>
              <a:off x="2260049" y="3162412"/>
              <a:ext cx="157234" cy="657492"/>
              <a:chOff x="1569000" y="3429775"/>
              <a:chExt cx="335325" cy="1348425"/>
            </a:xfrm>
          </p:grpSpPr>
          <p:pic>
            <p:nvPicPr>
              <p:cNvPr id="1374" name="Google Shape;1374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442343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75" name="Google Shape;1375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104821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76" name="Google Shape;1376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767298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77" name="Google Shape;1377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429775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78" name="Google Shape;1378;p90"/>
            <p:cNvGrpSpPr/>
            <p:nvPr/>
          </p:nvGrpSpPr>
          <p:grpSpPr>
            <a:xfrm>
              <a:off x="2261293" y="2478978"/>
              <a:ext cx="157234" cy="657492"/>
              <a:chOff x="1569000" y="3429775"/>
              <a:chExt cx="335325" cy="1348425"/>
            </a:xfrm>
          </p:grpSpPr>
          <p:pic>
            <p:nvPicPr>
              <p:cNvPr id="1379" name="Google Shape;1379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442343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80" name="Google Shape;1380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104821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81" name="Google Shape;1381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767298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82" name="Google Shape;1382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429775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383" name="Google Shape;1383;p9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260486" y="4520894"/>
              <a:ext cx="155900" cy="16230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4" name="Google Shape;1384;p90"/>
            <p:cNvGrpSpPr/>
            <p:nvPr/>
          </p:nvGrpSpPr>
          <p:grpSpPr>
            <a:xfrm>
              <a:off x="2261293" y="1796893"/>
              <a:ext cx="157234" cy="657492"/>
              <a:chOff x="1569000" y="3429775"/>
              <a:chExt cx="335325" cy="1348425"/>
            </a:xfrm>
          </p:grpSpPr>
          <p:pic>
            <p:nvPicPr>
              <p:cNvPr id="1385" name="Google Shape;1385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442343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86" name="Google Shape;1386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104821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87" name="Google Shape;1387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767298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88" name="Google Shape;1388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429775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89" name="Google Shape;1389;p90"/>
          <p:cNvGrpSpPr/>
          <p:nvPr/>
        </p:nvGrpSpPr>
        <p:grpSpPr>
          <a:xfrm>
            <a:off x="7036446" y="971039"/>
            <a:ext cx="158479" cy="3559761"/>
            <a:chOff x="2790070" y="1123439"/>
            <a:chExt cx="158479" cy="3559761"/>
          </a:xfrm>
        </p:grpSpPr>
        <p:grpSp>
          <p:nvGrpSpPr>
            <p:cNvPr id="1390" name="Google Shape;1390;p90"/>
            <p:cNvGrpSpPr/>
            <p:nvPr/>
          </p:nvGrpSpPr>
          <p:grpSpPr>
            <a:xfrm>
              <a:off x="2790070" y="3841184"/>
              <a:ext cx="157234" cy="657492"/>
              <a:chOff x="1569000" y="3429775"/>
              <a:chExt cx="335325" cy="1348425"/>
            </a:xfrm>
          </p:grpSpPr>
          <p:pic>
            <p:nvPicPr>
              <p:cNvPr id="1391" name="Google Shape;1391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442343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92" name="Google Shape;1392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104821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93" name="Google Shape;1393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767298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94" name="Google Shape;1394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429775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95" name="Google Shape;1395;p90"/>
            <p:cNvGrpSpPr/>
            <p:nvPr/>
          </p:nvGrpSpPr>
          <p:grpSpPr>
            <a:xfrm>
              <a:off x="2790070" y="3162412"/>
              <a:ext cx="157234" cy="657492"/>
              <a:chOff x="1569000" y="3429775"/>
              <a:chExt cx="335325" cy="1348425"/>
            </a:xfrm>
          </p:grpSpPr>
          <p:pic>
            <p:nvPicPr>
              <p:cNvPr id="1396" name="Google Shape;1396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442343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97" name="Google Shape;1397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104821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98" name="Google Shape;1398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767298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99" name="Google Shape;1399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429775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00" name="Google Shape;1400;p90"/>
            <p:cNvGrpSpPr/>
            <p:nvPr/>
          </p:nvGrpSpPr>
          <p:grpSpPr>
            <a:xfrm>
              <a:off x="2791314" y="2478978"/>
              <a:ext cx="157234" cy="657492"/>
              <a:chOff x="1569000" y="3429775"/>
              <a:chExt cx="335325" cy="1348425"/>
            </a:xfrm>
          </p:grpSpPr>
          <p:pic>
            <p:nvPicPr>
              <p:cNvPr id="1401" name="Google Shape;1401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442343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02" name="Google Shape;1402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104821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03" name="Google Shape;1403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767298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04" name="Google Shape;1404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429775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405" name="Google Shape;1405;p9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790507" y="4520894"/>
              <a:ext cx="155900" cy="16230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06" name="Google Shape;1406;p90"/>
            <p:cNvGrpSpPr/>
            <p:nvPr/>
          </p:nvGrpSpPr>
          <p:grpSpPr>
            <a:xfrm>
              <a:off x="2791314" y="1796893"/>
              <a:ext cx="157234" cy="657492"/>
              <a:chOff x="1569000" y="3429775"/>
              <a:chExt cx="335325" cy="1348425"/>
            </a:xfrm>
          </p:grpSpPr>
          <p:pic>
            <p:nvPicPr>
              <p:cNvPr id="1407" name="Google Shape;1407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442343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08" name="Google Shape;1408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104821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09" name="Google Shape;1409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767298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10" name="Google Shape;1410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429775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11" name="Google Shape;1411;p90"/>
            <p:cNvGrpSpPr/>
            <p:nvPr/>
          </p:nvGrpSpPr>
          <p:grpSpPr>
            <a:xfrm>
              <a:off x="2791314" y="1123439"/>
              <a:ext cx="157234" cy="657492"/>
              <a:chOff x="1569000" y="3429775"/>
              <a:chExt cx="335325" cy="1348425"/>
            </a:xfrm>
          </p:grpSpPr>
          <p:pic>
            <p:nvPicPr>
              <p:cNvPr id="1412" name="Google Shape;1412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442343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13" name="Google Shape;1413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4104821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14" name="Google Shape;1414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767298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15" name="Google Shape;1415;p9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569000" y="3429775"/>
                <a:ext cx="335325" cy="3358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416" name="Google Shape;1416;p90"/>
          <p:cNvSpPr txBox="1"/>
          <p:nvPr>
            <p:ph idx="1" type="body"/>
          </p:nvPr>
        </p:nvSpPr>
        <p:spPr>
          <a:xfrm>
            <a:off x="358222" y="2664300"/>
            <a:ext cx="5387100" cy="3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As the sequence progresses what changes?</a:t>
            </a:r>
            <a:endParaRPr sz="1800"/>
          </a:p>
        </p:txBody>
      </p:sp>
      <p:sp>
        <p:nvSpPr>
          <p:cNvPr id="1417" name="Google Shape;1417;p90"/>
          <p:cNvSpPr txBox="1"/>
          <p:nvPr>
            <p:ph idx="1" type="body"/>
          </p:nvPr>
        </p:nvSpPr>
        <p:spPr>
          <a:xfrm>
            <a:off x="2710500" y="2992763"/>
            <a:ext cx="3219000" cy="3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number of fours.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8" name="Google Shape;1418;p90"/>
          <p:cNvSpPr txBox="1"/>
          <p:nvPr>
            <p:ph idx="1" type="body"/>
          </p:nvPr>
        </p:nvSpPr>
        <p:spPr>
          <a:xfrm>
            <a:off x="348389" y="3497088"/>
            <a:ext cx="5387100" cy="3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never changes?</a:t>
            </a:r>
            <a:endParaRPr sz="1800"/>
          </a:p>
        </p:txBody>
      </p:sp>
      <p:sp>
        <p:nvSpPr>
          <p:cNvPr id="1419" name="Google Shape;1419;p90"/>
          <p:cNvSpPr txBox="1"/>
          <p:nvPr>
            <p:ph idx="1" type="body"/>
          </p:nvPr>
        </p:nvSpPr>
        <p:spPr>
          <a:xfrm>
            <a:off x="2868300" y="3448925"/>
            <a:ext cx="3360600" cy="3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one.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0" name="Google Shape;1420;p90"/>
          <p:cNvSpPr txBox="1"/>
          <p:nvPr>
            <p:ph idx="1" type="body"/>
          </p:nvPr>
        </p:nvSpPr>
        <p:spPr>
          <a:xfrm>
            <a:off x="2868300" y="3768925"/>
            <a:ext cx="3360600" cy="3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In the expression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a variable term whereas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a constant.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91"/>
          <p:cNvSpPr txBox="1"/>
          <p:nvPr>
            <p:ph idx="1" type="body"/>
          </p:nvPr>
        </p:nvSpPr>
        <p:spPr>
          <a:xfrm>
            <a:off x="324000" y="2491075"/>
            <a:ext cx="1718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fifth term of</a:t>
            </a:r>
            <a:endParaRPr sz="1800"/>
          </a:p>
        </p:txBody>
      </p:sp>
      <p:sp>
        <p:nvSpPr>
          <p:cNvPr id="1426" name="Google Shape;142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sequences represented graphically</a:t>
            </a:r>
            <a:endParaRPr/>
          </a:p>
        </p:txBody>
      </p:sp>
      <p:grpSp>
        <p:nvGrpSpPr>
          <p:cNvPr id="1427" name="Google Shape;1427;p91"/>
          <p:cNvGrpSpPr/>
          <p:nvPr/>
        </p:nvGrpSpPr>
        <p:grpSpPr>
          <a:xfrm>
            <a:off x="3048876" y="4259848"/>
            <a:ext cx="139898" cy="382548"/>
            <a:chOff x="1569000" y="3429775"/>
            <a:chExt cx="335325" cy="1348425"/>
          </a:xfrm>
        </p:grpSpPr>
        <p:pic>
          <p:nvPicPr>
            <p:cNvPr id="1428" name="Google Shape;1428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9" name="Google Shape;1429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0" name="Google Shape;1430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1" name="Google Shape;1431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2" name="Google Shape;1432;p91"/>
          <p:cNvGrpSpPr/>
          <p:nvPr/>
        </p:nvGrpSpPr>
        <p:grpSpPr>
          <a:xfrm>
            <a:off x="3048876" y="3449665"/>
            <a:ext cx="139898" cy="382548"/>
            <a:chOff x="1569000" y="3429775"/>
            <a:chExt cx="335325" cy="1348425"/>
          </a:xfrm>
        </p:grpSpPr>
        <p:pic>
          <p:nvPicPr>
            <p:cNvPr id="1433" name="Google Shape;1433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4" name="Google Shape;1434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5" name="Google Shape;1435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6" name="Google Shape;1436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7" name="Google Shape;1437;p91"/>
          <p:cNvGrpSpPr/>
          <p:nvPr/>
        </p:nvGrpSpPr>
        <p:grpSpPr>
          <a:xfrm>
            <a:off x="3048876" y="3854535"/>
            <a:ext cx="139898" cy="382548"/>
            <a:chOff x="1569000" y="3429775"/>
            <a:chExt cx="335325" cy="1348425"/>
          </a:xfrm>
        </p:grpSpPr>
        <p:pic>
          <p:nvPicPr>
            <p:cNvPr id="1438" name="Google Shape;1438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9" name="Google Shape;1439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0" name="Google Shape;1440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1" name="Google Shape;1441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2" name="Google Shape;1442;p91"/>
          <p:cNvGrpSpPr/>
          <p:nvPr/>
        </p:nvGrpSpPr>
        <p:grpSpPr>
          <a:xfrm>
            <a:off x="3048876" y="3048892"/>
            <a:ext cx="139898" cy="382548"/>
            <a:chOff x="1569000" y="3429775"/>
            <a:chExt cx="335325" cy="1348425"/>
          </a:xfrm>
        </p:grpSpPr>
        <p:pic>
          <p:nvPicPr>
            <p:cNvPr id="1443" name="Google Shape;1443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4" name="Google Shape;1444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5" name="Google Shape;1445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6" name="Google Shape;1446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7" name="Google Shape;1447;p91"/>
          <p:cNvGrpSpPr/>
          <p:nvPr/>
        </p:nvGrpSpPr>
        <p:grpSpPr>
          <a:xfrm>
            <a:off x="3048876" y="2648952"/>
            <a:ext cx="139898" cy="382548"/>
            <a:chOff x="1569000" y="3429775"/>
            <a:chExt cx="335325" cy="1348425"/>
          </a:xfrm>
        </p:grpSpPr>
        <p:pic>
          <p:nvPicPr>
            <p:cNvPr id="1448" name="Google Shape;1448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9" name="Google Shape;1449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0" name="Google Shape;1450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1" name="Google Shape;1451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2" name="Google Shape;1452;p91"/>
          <p:cNvGrpSpPr/>
          <p:nvPr/>
        </p:nvGrpSpPr>
        <p:grpSpPr>
          <a:xfrm>
            <a:off x="5890703" y="4259848"/>
            <a:ext cx="139898" cy="382548"/>
            <a:chOff x="1569000" y="3429775"/>
            <a:chExt cx="335325" cy="1348425"/>
          </a:xfrm>
        </p:grpSpPr>
        <p:pic>
          <p:nvPicPr>
            <p:cNvPr id="1453" name="Google Shape;1453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4" name="Google Shape;1454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5" name="Google Shape;1455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6" name="Google Shape;1456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7" name="Google Shape;1457;p91"/>
          <p:cNvGrpSpPr/>
          <p:nvPr/>
        </p:nvGrpSpPr>
        <p:grpSpPr>
          <a:xfrm>
            <a:off x="5890703" y="3449665"/>
            <a:ext cx="139898" cy="382548"/>
            <a:chOff x="1569000" y="3429775"/>
            <a:chExt cx="335325" cy="1348425"/>
          </a:xfrm>
        </p:grpSpPr>
        <p:pic>
          <p:nvPicPr>
            <p:cNvPr id="1458" name="Google Shape;1458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9" name="Google Shape;1459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0" name="Google Shape;1460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1" name="Google Shape;1461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2" name="Google Shape;1462;p91"/>
          <p:cNvGrpSpPr/>
          <p:nvPr/>
        </p:nvGrpSpPr>
        <p:grpSpPr>
          <a:xfrm>
            <a:off x="5890703" y="3854535"/>
            <a:ext cx="139898" cy="382548"/>
            <a:chOff x="1569000" y="3429775"/>
            <a:chExt cx="335325" cy="1348425"/>
          </a:xfrm>
        </p:grpSpPr>
        <p:pic>
          <p:nvPicPr>
            <p:cNvPr id="1463" name="Google Shape;1463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4" name="Google Shape;1464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5" name="Google Shape;1465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6" name="Google Shape;1466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7" name="Google Shape;1467;p91"/>
          <p:cNvGrpSpPr/>
          <p:nvPr/>
        </p:nvGrpSpPr>
        <p:grpSpPr>
          <a:xfrm>
            <a:off x="5890703" y="3048892"/>
            <a:ext cx="139898" cy="382548"/>
            <a:chOff x="1569000" y="3429775"/>
            <a:chExt cx="335325" cy="1348425"/>
          </a:xfrm>
        </p:grpSpPr>
        <p:pic>
          <p:nvPicPr>
            <p:cNvPr id="1468" name="Google Shape;1468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0" name="Google Shape;1470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1" name="Google Shape;1471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2" name="Google Shape;1472;p91"/>
          <p:cNvGrpSpPr/>
          <p:nvPr/>
        </p:nvGrpSpPr>
        <p:grpSpPr>
          <a:xfrm>
            <a:off x="5890703" y="2648952"/>
            <a:ext cx="139898" cy="382548"/>
            <a:chOff x="1569000" y="3429775"/>
            <a:chExt cx="335325" cy="1348425"/>
          </a:xfrm>
        </p:grpSpPr>
        <p:pic>
          <p:nvPicPr>
            <p:cNvPr id="1473" name="Google Shape;1473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4" name="Google Shape;1474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5" name="Google Shape;1475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6" name="Google Shape;1476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7" name="Google Shape;1477;p91"/>
          <p:cNvGrpSpPr/>
          <p:nvPr/>
        </p:nvGrpSpPr>
        <p:grpSpPr>
          <a:xfrm>
            <a:off x="5890703" y="2247743"/>
            <a:ext cx="139898" cy="382548"/>
            <a:chOff x="1569000" y="3429775"/>
            <a:chExt cx="335325" cy="1348425"/>
          </a:xfrm>
        </p:grpSpPr>
        <p:pic>
          <p:nvPicPr>
            <p:cNvPr id="1478" name="Google Shape;1478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9" name="Google Shape;1479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0" name="Google Shape;1480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1" name="Google Shape;1481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82" name="Google Shape;1482;p91"/>
          <p:cNvGrpSpPr/>
          <p:nvPr/>
        </p:nvGrpSpPr>
        <p:grpSpPr>
          <a:xfrm>
            <a:off x="5890703" y="1437560"/>
            <a:ext cx="139898" cy="382548"/>
            <a:chOff x="1569000" y="3429775"/>
            <a:chExt cx="335325" cy="1348425"/>
          </a:xfrm>
        </p:grpSpPr>
        <p:pic>
          <p:nvPicPr>
            <p:cNvPr id="1483" name="Google Shape;1483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4" name="Google Shape;1484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5" name="Google Shape;1485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6" name="Google Shape;1486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87" name="Google Shape;1487;p91"/>
          <p:cNvGrpSpPr/>
          <p:nvPr/>
        </p:nvGrpSpPr>
        <p:grpSpPr>
          <a:xfrm>
            <a:off x="5890703" y="1842430"/>
            <a:ext cx="139898" cy="382548"/>
            <a:chOff x="1569000" y="3429775"/>
            <a:chExt cx="335325" cy="1348425"/>
          </a:xfrm>
        </p:grpSpPr>
        <p:pic>
          <p:nvPicPr>
            <p:cNvPr id="1488" name="Google Shape;1488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9" name="Google Shape;1489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0" name="Google Shape;1490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1" name="Google Shape;1491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92" name="Google Shape;1492;p91"/>
          <p:cNvGrpSpPr/>
          <p:nvPr/>
        </p:nvGrpSpPr>
        <p:grpSpPr>
          <a:xfrm>
            <a:off x="5890703" y="1036788"/>
            <a:ext cx="139898" cy="382548"/>
            <a:chOff x="1569000" y="3429775"/>
            <a:chExt cx="335325" cy="1348425"/>
          </a:xfrm>
        </p:grpSpPr>
        <p:pic>
          <p:nvPicPr>
            <p:cNvPr id="1493" name="Google Shape;1493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4" name="Google Shape;1494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5" name="Google Shape;1495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6" name="Google Shape;1496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97" name="Google Shape;1497;p91"/>
          <p:cNvGrpSpPr/>
          <p:nvPr/>
        </p:nvGrpSpPr>
        <p:grpSpPr>
          <a:xfrm>
            <a:off x="5890703" y="636847"/>
            <a:ext cx="139898" cy="382548"/>
            <a:chOff x="1569000" y="3429775"/>
            <a:chExt cx="335325" cy="1348425"/>
          </a:xfrm>
        </p:grpSpPr>
        <p:pic>
          <p:nvPicPr>
            <p:cNvPr id="1498" name="Google Shape;1498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442343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9" name="Google Shape;1499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4104821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0" name="Google Shape;1500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767298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1" name="Google Shape;1501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000" y="3429775"/>
              <a:ext cx="335325" cy="3358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02" name="Google Shape;1502;p91"/>
          <p:cNvSpPr txBox="1"/>
          <p:nvPr>
            <p:ph idx="1" type="body"/>
          </p:nvPr>
        </p:nvSpPr>
        <p:spPr>
          <a:xfrm>
            <a:off x="3461925" y="2491075"/>
            <a:ext cx="1768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tenth term of</a:t>
            </a:r>
            <a:endParaRPr sz="1800"/>
          </a:p>
        </p:txBody>
      </p:sp>
      <p:sp>
        <p:nvSpPr>
          <p:cNvPr id="1503" name="Google Shape;1503;p91"/>
          <p:cNvSpPr txBox="1"/>
          <p:nvPr>
            <p:ph idx="1" type="body"/>
          </p:nvPr>
        </p:nvSpPr>
        <p:spPr>
          <a:xfrm>
            <a:off x="6263802" y="2487275"/>
            <a:ext cx="2557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Not</a:t>
            </a:r>
            <a:r>
              <a:rPr lang="en-GB" sz="1800"/>
              <a:t> double the height.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1 (the constant) did not double.</a:t>
            </a:r>
            <a:endParaRPr sz="1800"/>
          </a:p>
        </p:txBody>
      </p:sp>
      <p:pic>
        <p:nvPicPr>
          <p:cNvPr id="1504" name="Google Shape;1504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7573" y="4675669"/>
            <a:ext cx="139899" cy="145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5" name="Google Shape;1505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0785" y="4675669"/>
            <a:ext cx="139899" cy="1456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n+1&quot;&gt;&lt;mn&gt;4&lt;/mn&gt;&lt;mi&gt;n&lt;/mi&gt;&lt;mo&gt;+&lt;/mo&gt;&lt;mn&gt;1&lt;/mn&gt;&lt;/math&gt;" id="1506" name="Google Shape;1506;p91" title="4 n plus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291" y="2802499"/>
            <a:ext cx="642004" cy="18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n+1&quot;&gt;&lt;mn&gt;4&lt;/mn&gt;&lt;mi&gt;n&lt;/mi&gt;&lt;mo&gt;+&lt;/mo&gt;&lt;mn&gt;1&lt;/mn&gt;&lt;/math&gt;" id="1507" name="Google Shape;1507;p91" title="4 n plus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1631" y="2802499"/>
            <a:ext cx="642004" cy="18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92"/>
          <p:cNvSpPr txBox="1"/>
          <p:nvPr>
            <p:ph type="title"/>
          </p:nvPr>
        </p:nvSpPr>
        <p:spPr>
          <a:xfrm>
            <a:off x="324000" y="748775"/>
            <a:ext cx="55944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arithmetic sequence is represented by this structure?</a:t>
            </a:r>
            <a:endParaRPr/>
          </a:p>
        </p:txBody>
      </p:sp>
      <p:sp>
        <p:nvSpPr>
          <p:cNvPr id="1513" name="Google Shape;1513;p9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sequences represented graphically</a:t>
            </a:r>
            <a:endParaRPr/>
          </a:p>
        </p:txBody>
      </p:sp>
      <p:pic>
        <p:nvPicPr>
          <p:cNvPr id="1514" name="Google Shape;1514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2983" y="38343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p92"/>
          <p:cNvSpPr txBox="1"/>
          <p:nvPr/>
        </p:nvSpPr>
        <p:spPr>
          <a:xfrm>
            <a:off x="2696600" y="3696550"/>
            <a:ext cx="30015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is a constant 2, and a varying number of 3s.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2n&quot;&gt;&lt;mn&gt;2&lt;/mn&gt;&lt;mi&gt;n&lt;/mi&gt;&lt;/math&gt;" id="1516" name="Google Shape;1516;p92" title="2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3152" y="1897217"/>
            <a:ext cx="347559" cy="250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30-10-2023/b338bc78-d65f-41f7-af6f-fa4b8eadfda4&quot; data-equatio-type=&quot;desmos&quot;&gt;&lt;mglyph src=&quot;https://equatio-api.texthelp.com/desmos/get/30-10-2023/b338bc78-d65f-41f7-af6f-fa4b8eadfda4&quot; alt=&quot;Equatio Desmos Graph&quot;/&gt;&lt;/math&gt;" id="1517" name="Google Shape;1517;p92" title="Equatio Desmos Graph"/>
          <p:cNvPicPr preferRelativeResize="0"/>
          <p:nvPr/>
        </p:nvPicPr>
        <p:blipFill rotWithShape="1">
          <a:blip r:embed="rId5">
            <a:alphaModFix/>
          </a:blip>
          <a:srcRect b="24123" l="31964" r="51092" t="11530"/>
          <a:stretch/>
        </p:blipFill>
        <p:spPr>
          <a:xfrm>
            <a:off x="6351331" y="809800"/>
            <a:ext cx="1780800" cy="39894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8" name="Google Shape;1518;p92"/>
          <p:cNvGrpSpPr/>
          <p:nvPr/>
        </p:nvGrpSpPr>
        <p:grpSpPr>
          <a:xfrm>
            <a:off x="6715352" y="4092279"/>
            <a:ext cx="224081" cy="444045"/>
            <a:chOff x="2772127" y="3611285"/>
            <a:chExt cx="605624" cy="1200123"/>
          </a:xfrm>
        </p:grpSpPr>
        <p:pic>
          <p:nvPicPr>
            <p:cNvPr id="1519" name="Google Shape;1519;p9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772127" y="4204825"/>
              <a:ext cx="605624" cy="606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0" name="Google Shape;1520;p9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772127" y="3611285"/>
              <a:ext cx="605624" cy="6065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1" name="Google Shape;1521;p92"/>
          <p:cNvGrpSpPr/>
          <p:nvPr/>
        </p:nvGrpSpPr>
        <p:grpSpPr>
          <a:xfrm>
            <a:off x="6715444" y="3395345"/>
            <a:ext cx="224081" cy="667006"/>
            <a:chOff x="3627525" y="3023590"/>
            <a:chExt cx="605624" cy="1802718"/>
          </a:xfrm>
        </p:grpSpPr>
        <p:pic>
          <p:nvPicPr>
            <p:cNvPr id="1522" name="Google Shape;1522;p9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627525" y="4219725"/>
              <a:ext cx="605624" cy="606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3" name="Google Shape;1523;p9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627525" y="3621658"/>
              <a:ext cx="605624" cy="606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4" name="Google Shape;1524;p9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627525" y="3023590"/>
              <a:ext cx="605624" cy="6065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5" name="Google Shape;1525;p92"/>
          <p:cNvGrpSpPr/>
          <p:nvPr/>
        </p:nvGrpSpPr>
        <p:grpSpPr>
          <a:xfrm>
            <a:off x="7005528" y="2701406"/>
            <a:ext cx="224173" cy="1834918"/>
            <a:chOff x="6167196" y="2701406"/>
            <a:chExt cx="224173" cy="1834918"/>
          </a:xfrm>
        </p:grpSpPr>
        <p:grpSp>
          <p:nvGrpSpPr>
            <p:cNvPr id="1526" name="Google Shape;1526;p92"/>
            <p:cNvGrpSpPr/>
            <p:nvPr/>
          </p:nvGrpSpPr>
          <p:grpSpPr>
            <a:xfrm>
              <a:off x="6167196" y="4092279"/>
              <a:ext cx="224081" cy="444045"/>
              <a:chOff x="2772127" y="3611285"/>
              <a:chExt cx="605624" cy="1200123"/>
            </a:xfrm>
          </p:grpSpPr>
          <p:pic>
            <p:nvPicPr>
              <p:cNvPr id="1527" name="Google Shape;1527;p92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28" name="Google Shape;1528;p92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29" name="Google Shape;1529;p92"/>
            <p:cNvGrpSpPr/>
            <p:nvPr/>
          </p:nvGrpSpPr>
          <p:grpSpPr>
            <a:xfrm>
              <a:off x="6167289" y="3395345"/>
              <a:ext cx="224081" cy="667006"/>
              <a:chOff x="3627525" y="3023590"/>
              <a:chExt cx="605624" cy="1802718"/>
            </a:xfrm>
          </p:grpSpPr>
          <p:pic>
            <p:nvPicPr>
              <p:cNvPr id="1530" name="Google Shape;1530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31" name="Google Shape;1531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32" name="Google Shape;1532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33" name="Google Shape;1533;p92"/>
            <p:cNvGrpSpPr/>
            <p:nvPr/>
          </p:nvGrpSpPr>
          <p:grpSpPr>
            <a:xfrm>
              <a:off x="6167289" y="2701406"/>
              <a:ext cx="224081" cy="667006"/>
              <a:chOff x="3627525" y="3023590"/>
              <a:chExt cx="605624" cy="1802718"/>
            </a:xfrm>
          </p:grpSpPr>
          <p:pic>
            <p:nvPicPr>
              <p:cNvPr id="1534" name="Google Shape;1534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35" name="Google Shape;1535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36" name="Google Shape;1536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537" name="Google Shape;1537;p92"/>
          <p:cNvGrpSpPr/>
          <p:nvPr/>
        </p:nvGrpSpPr>
        <p:grpSpPr>
          <a:xfrm>
            <a:off x="7295704" y="2007467"/>
            <a:ext cx="224173" cy="2528857"/>
            <a:chOff x="6457372" y="2007467"/>
            <a:chExt cx="224173" cy="2528857"/>
          </a:xfrm>
        </p:grpSpPr>
        <p:grpSp>
          <p:nvGrpSpPr>
            <p:cNvPr id="1538" name="Google Shape;1538;p92"/>
            <p:cNvGrpSpPr/>
            <p:nvPr/>
          </p:nvGrpSpPr>
          <p:grpSpPr>
            <a:xfrm>
              <a:off x="6457372" y="4092279"/>
              <a:ext cx="224081" cy="444045"/>
              <a:chOff x="2772127" y="3611285"/>
              <a:chExt cx="605624" cy="1200123"/>
            </a:xfrm>
          </p:grpSpPr>
          <p:pic>
            <p:nvPicPr>
              <p:cNvPr id="1539" name="Google Shape;1539;p92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40" name="Google Shape;1540;p92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41" name="Google Shape;1541;p92"/>
            <p:cNvGrpSpPr/>
            <p:nvPr/>
          </p:nvGrpSpPr>
          <p:grpSpPr>
            <a:xfrm>
              <a:off x="6457465" y="3395345"/>
              <a:ext cx="224081" cy="667006"/>
              <a:chOff x="3627525" y="3023590"/>
              <a:chExt cx="605624" cy="1802718"/>
            </a:xfrm>
          </p:grpSpPr>
          <p:pic>
            <p:nvPicPr>
              <p:cNvPr id="1542" name="Google Shape;1542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43" name="Google Shape;1543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44" name="Google Shape;1544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45" name="Google Shape;1545;p92"/>
            <p:cNvGrpSpPr/>
            <p:nvPr/>
          </p:nvGrpSpPr>
          <p:grpSpPr>
            <a:xfrm>
              <a:off x="6457465" y="2701406"/>
              <a:ext cx="224081" cy="667006"/>
              <a:chOff x="3627525" y="3023590"/>
              <a:chExt cx="605624" cy="1802718"/>
            </a:xfrm>
          </p:grpSpPr>
          <p:pic>
            <p:nvPicPr>
              <p:cNvPr id="1546" name="Google Shape;1546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47" name="Google Shape;1547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48" name="Google Shape;1548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49" name="Google Shape;1549;p92"/>
            <p:cNvGrpSpPr/>
            <p:nvPr/>
          </p:nvGrpSpPr>
          <p:grpSpPr>
            <a:xfrm>
              <a:off x="6457465" y="2007467"/>
              <a:ext cx="224081" cy="667006"/>
              <a:chOff x="3627525" y="3023590"/>
              <a:chExt cx="605624" cy="1802718"/>
            </a:xfrm>
          </p:grpSpPr>
          <p:pic>
            <p:nvPicPr>
              <p:cNvPr id="1550" name="Google Shape;1550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51" name="Google Shape;1551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52" name="Google Shape;1552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553" name="Google Shape;1553;p92"/>
          <p:cNvGrpSpPr/>
          <p:nvPr/>
        </p:nvGrpSpPr>
        <p:grpSpPr>
          <a:xfrm>
            <a:off x="7585880" y="1313529"/>
            <a:ext cx="224173" cy="3222796"/>
            <a:chOff x="6747548" y="1313529"/>
            <a:chExt cx="224173" cy="3222796"/>
          </a:xfrm>
        </p:grpSpPr>
        <p:grpSp>
          <p:nvGrpSpPr>
            <p:cNvPr id="1554" name="Google Shape;1554;p92"/>
            <p:cNvGrpSpPr/>
            <p:nvPr/>
          </p:nvGrpSpPr>
          <p:grpSpPr>
            <a:xfrm>
              <a:off x="6747548" y="4092279"/>
              <a:ext cx="224081" cy="444045"/>
              <a:chOff x="2772127" y="3611285"/>
              <a:chExt cx="605624" cy="1200123"/>
            </a:xfrm>
          </p:grpSpPr>
          <p:pic>
            <p:nvPicPr>
              <p:cNvPr id="1555" name="Google Shape;1555;p92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56" name="Google Shape;1556;p92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57" name="Google Shape;1557;p92"/>
            <p:cNvGrpSpPr/>
            <p:nvPr/>
          </p:nvGrpSpPr>
          <p:grpSpPr>
            <a:xfrm>
              <a:off x="6747641" y="3395345"/>
              <a:ext cx="224081" cy="667006"/>
              <a:chOff x="3627525" y="3023590"/>
              <a:chExt cx="605624" cy="1802718"/>
            </a:xfrm>
          </p:grpSpPr>
          <p:pic>
            <p:nvPicPr>
              <p:cNvPr id="1558" name="Google Shape;1558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59" name="Google Shape;1559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60" name="Google Shape;1560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61" name="Google Shape;1561;p92"/>
            <p:cNvGrpSpPr/>
            <p:nvPr/>
          </p:nvGrpSpPr>
          <p:grpSpPr>
            <a:xfrm>
              <a:off x="6747641" y="2701406"/>
              <a:ext cx="224081" cy="667006"/>
              <a:chOff x="3627525" y="3023590"/>
              <a:chExt cx="605624" cy="1802718"/>
            </a:xfrm>
          </p:grpSpPr>
          <p:pic>
            <p:nvPicPr>
              <p:cNvPr id="1562" name="Google Shape;1562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63" name="Google Shape;1563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64" name="Google Shape;1564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65" name="Google Shape;1565;p92"/>
            <p:cNvGrpSpPr/>
            <p:nvPr/>
          </p:nvGrpSpPr>
          <p:grpSpPr>
            <a:xfrm>
              <a:off x="6747641" y="2007467"/>
              <a:ext cx="224081" cy="667006"/>
              <a:chOff x="3627525" y="3023590"/>
              <a:chExt cx="605624" cy="1802718"/>
            </a:xfrm>
          </p:grpSpPr>
          <p:pic>
            <p:nvPicPr>
              <p:cNvPr id="1566" name="Google Shape;1566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67" name="Google Shape;1567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68" name="Google Shape;1568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69" name="Google Shape;1569;p92"/>
            <p:cNvGrpSpPr/>
            <p:nvPr/>
          </p:nvGrpSpPr>
          <p:grpSpPr>
            <a:xfrm>
              <a:off x="6747641" y="1313529"/>
              <a:ext cx="224081" cy="667006"/>
              <a:chOff x="3627525" y="3023590"/>
              <a:chExt cx="605624" cy="1802718"/>
            </a:xfrm>
          </p:grpSpPr>
          <p:pic>
            <p:nvPicPr>
              <p:cNvPr id="1570" name="Google Shape;1570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71" name="Google Shape;1571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72" name="Google Shape;1572;p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573" name="Google Shape;1573;p92"/>
          <p:cNvSpPr txBox="1"/>
          <p:nvPr/>
        </p:nvSpPr>
        <p:spPr>
          <a:xfrm>
            <a:off x="6603581" y="4444675"/>
            <a:ext cx="17808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92"/>
          <p:cNvSpPr txBox="1"/>
          <p:nvPr/>
        </p:nvSpPr>
        <p:spPr>
          <a:xfrm rot="-5400000">
            <a:off x="5472300" y="1417507"/>
            <a:ext cx="1590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n+3&quot;&gt;&lt;mn&gt;2&lt;/mn&gt;&lt;mi&gt;n&lt;/mi&gt;&lt;mo&gt;+&lt;/mo&gt;&lt;mn&gt;3&lt;/mn&gt;&lt;/math&gt;" id="1575" name="Google Shape;1575;p92" title="2 n plus 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13152" y="2852848"/>
            <a:ext cx="1021824" cy="291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2&quot;&gt;&lt;mn&gt;3&lt;/mn&gt;&lt;mi&gt;n&lt;/mi&gt;&lt;mo&gt;+&lt;/mo&gt;&lt;mn&gt;2&lt;/mn&gt;&lt;/math&gt;" id="1576" name="Google Shape;1576;p92" title="3 n plus 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13152" y="3850186"/>
            <a:ext cx="1028775" cy="291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93"/>
          <p:cNvSpPr txBox="1"/>
          <p:nvPr>
            <p:ph idx="1" type="body"/>
          </p:nvPr>
        </p:nvSpPr>
        <p:spPr>
          <a:xfrm>
            <a:off x="324000" y="759300"/>
            <a:ext cx="6195900" cy="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different about the sequence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/>
              <a:t> </a:t>
            </a:r>
            <a:r>
              <a:rPr lang="en-GB"/>
              <a:t>by comparison to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/>
              <a:t>?</a:t>
            </a:r>
            <a:endParaRPr/>
          </a:p>
        </p:txBody>
      </p:sp>
      <p:sp>
        <p:nvSpPr>
          <p:cNvPr id="1582" name="Google Shape;158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sequences represented graphically</a:t>
            </a:r>
            <a:endParaRPr/>
          </a:p>
        </p:txBody>
      </p:sp>
      <p:sp>
        <p:nvSpPr>
          <p:cNvPr id="1583" name="Google Shape;1583;p93"/>
          <p:cNvSpPr txBox="1"/>
          <p:nvPr>
            <p:ph idx="1" type="body"/>
          </p:nvPr>
        </p:nvSpPr>
        <p:spPr>
          <a:xfrm>
            <a:off x="334400" y="3457527"/>
            <a:ext cx="7124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is an arithmetic sequence, it’s linear.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sequence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is not. We can call it non-linear.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4" name="Google Shape;1584;p93"/>
          <p:cNvSpPr txBox="1"/>
          <p:nvPr/>
        </p:nvSpPr>
        <p:spPr>
          <a:xfrm>
            <a:off x="2198138" y="2114987"/>
            <a:ext cx="29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n:\ 2,\ 4,\ 6,\ 8,\ 10,\ ...&quot;&gt;&lt;mn&gt;2&lt;/mn&gt;&lt;mi&gt;n&lt;/mi&gt;&lt;mo&gt;:&lt;/mo&gt;&lt;mtext&gt;&lt;/mtext&gt;&lt;mn&gt;2&lt;/mn&gt;&lt;mo&gt;,&lt;/mo&gt;&lt;mtext&gt;&lt;/mtext&gt;&lt;mn&gt;4&lt;/mn&gt;&lt;mo&gt;,&lt;/mo&gt;&lt;mtext&gt;&lt;/mtext&gt;&lt;mn&gt;6&lt;/mn&gt;&lt;mo&gt;,&lt;/mo&gt;&lt;mtext&gt;&lt;/mtext&gt;&lt;mn&gt;8&lt;/mn&gt;&lt;mo&gt;,&lt;/mo&gt;&lt;mtext&gt;&lt;/mtext&gt;&lt;mn&gt;10&lt;/mn&gt;&lt;mo&gt;,&lt;/mo&gt;&lt;mtext&gt;&lt;/mtext&gt;&lt;mo&gt;.&lt;/mo&gt;&lt;mo&gt;.&lt;/mo&gt;&lt;mo&gt;.&lt;/mo&gt;&lt;/math&gt;" id="1585" name="Google Shape;1585;p93" title="2 n colon 2 comma 4 comma 6 comma 8 comma 10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9861" y="1782417"/>
            <a:ext cx="4155500" cy="37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^2:\ 1,\ 4,\ 9,\ 16,\ 25,\ ...&quot;&gt;&lt;msup&gt;&lt;mi&gt;n&lt;/mi&gt;&lt;mn&gt;2&lt;/mn&gt;&lt;/msup&gt;&lt;mo&gt;:&lt;/mo&gt;&lt;mtext&gt;&lt;/mtext&gt;&lt;mn&gt;1&lt;/mn&gt;&lt;mo&gt;,&lt;/mo&gt;&lt;mtext&gt;&lt;/mtext&gt;&lt;mn&gt;4&lt;/mn&gt;&lt;mo&gt;,&lt;/mo&gt;&lt;mtext&gt;&lt;/mtext&gt;&lt;mn&gt;9&lt;/mn&gt;&lt;mo&gt;,&lt;/mo&gt;&lt;mtext&gt;&lt;/mtext&gt;&lt;mn&gt;16&lt;/mn&gt;&lt;mo&gt;,&lt;/mo&gt;&lt;mtext&gt;&lt;/mtext&gt;&lt;mn&gt;25&lt;/mn&gt;&lt;mo&gt;,&lt;/mo&gt;&lt;mtext&gt;&lt;/mtext&gt;&lt;mo&gt;.&lt;/mo&gt;&lt;mo&gt;.&lt;/mo&gt;&lt;mo&gt;.&lt;/mo&gt;&lt;/math&gt;" id="1586" name="Google Shape;1586;p93" title="n squared colon 1 comma 4 comma 9 comma 16 comma 25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3727" y="2596367"/>
            <a:ext cx="4488425" cy="47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93"/>
          <p:cNvSpPr txBox="1"/>
          <p:nvPr/>
        </p:nvSpPr>
        <p:spPr>
          <a:xfrm>
            <a:off x="2689890" y="2114987"/>
            <a:ext cx="29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93"/>
          <p:cNvSpPr txBox="1"/>
          <p:nvPr/>
        </p:nvSpPr>
        <p:spPr>
          <a:xfrm>
            <a:off x="3250747" y="2114987"/>
            <a:ext cx="29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93"/>
          <p:cNvSpPr txBox="1"/>
          <p:nvPr/>
        </p:nvSpPr>
        <p:spPr>
          <a:xfrm>
            <a:off x="3784147" y="2114987"/>
            <a:ext cx="29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93"/>
          <p:cNvSpPr txBox="1"/>
          <p:nvPr/>
        </p:nvSpPr>
        <p:spPr>
          <a:xfrm>
            <a:off x="2218962" y="3029387"/>
            <a:ext cx="29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93"/>
          <p:cNvSpPr txBox="1"/>
          <p:nvPr/>
        </p:nvSpPr>
        <p:spPr>
          <a:xfrm>
            <a:off x="2755678" y="3029387"/>
            <a:ext cx="29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+5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2" name="Google Shape;1592;p93"/>
          <p:cNvSpPr txBox="1"/>
          <p:nvPr/>
        </p:nvSpPr>
        <p:spPr>
          <a:xfrm>
            <a:off x="3306123" y="3029387"/>
            <a:ext cx="29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+7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93"/>
          <p:cNvSpPr txBox="1"/>
          <p:nvPr/>
        </p:nvSpPr>
        <p:spPr>
          <a:xfrm>
            <a:off x="4023159" y="3029387"/>
            <a:ext cx="2958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+9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93"/>
          <p:cNvSpPr txBox="1"/>
          <p:nvPr>
            <p:ph idx="1" type="body"/>
          </p:nvPr>
        </p:nvSpPr>
        <p:spPr>
          <a:xfrm>
            <a:off x="324000" y="4416900"/>
            <a:ext cx="4627500" cy="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Does that mean we can’t plot it?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sequences represented graphically</a:t>
            </a:r>
            <a:endParaRPr/>
          </a:p>
        </p:txBody>
      </p:sp>
      <p:sp>
        <p:nvSpPr>
          <p:cNvPr id="1600" name="Google Shape;1600;p94"/>
          <p:cNvSpPr txBox="1"/>
          <p:nvPr/>
        </p:nvSpPr>
        <p:spPr>
          <a:xfrm>
            <a:off x="1231164" y="1071450"/>
            <a:ext cx="2742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n:\ 2,\ 4,\ 6,\ 8,\ 10,\ ...&quot;&gt;&lt;mn&gt;2&lt;/mn&gt;&lt;mi&gt;n&lt;/mi&gt;&lt;mo&gt;:&lt;/mo&gt;&lt;mtext&gt;&lt;/mtext&gt;&lt;mn&gt;2&lt;/mn&gt;&lt;mo&gt;,&lt;/mo&gt;&lt;mtext&gt;&lt;/mtext&gt;&lt;mn&gt;4&lt;/mn&gt;&lt;mo&gt;,&lt;/mo&gt;&lt;mtext&gt;&lt;/mtext&gt;&lt;mn&gt;6&lt;/mn&gt;&lt;mo&gt;,&lt;/mo&gt;&lt;mtext&gt;&lt;/mtext&gt;&lt;mn&gt;8&lt;/mn&gt;&lt;mo&gt;,&lt;/mo&gt;&lt;mtext&gt;&lt;/mtext&gt;&lt;mn&gt;10&lt;/mn&gt;&lt;mo&gt;,&lt;/mo&gt;&lt;mtext&gt;&lt;/mtext&gt;&lt;mo&gt;.&lt;/mo&gt;&lt;mo&gt;.&lt;/mo&gt;&lt;mo&gt;.&lt;/mo&gt;&lt;/math&gt;" id="1601" name="Google Shape;1601;p94" title="2 n colon 2 comma 4 comma 6 comma 8 comma 10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816" y="802235"/>
            <a:ext cx="3364029" cy="302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^2:\ 1,\ 4,\ 9,\ 16,\ 25,\ ...&quot;&gt;&lt;msup&gt;&lt;mi&gt;n&lt;/mi&gt;&lt;mn&gt;2&lt;/mn&gt;&lt;/msup&gt;&lt;mo&gt;:&lt;/mo&gt;&lt;mtext&gt;&lt;/mtext&gt;&lt;mn&gt;1&lt;/mn&gt;&lt;mo&gt;,&lt;/mo&gt;&lt;mtext&gt;&lt;/mtext&gt;&lt;mn&gt;4&lt;/mn&gt;&lt;mo&gt;,&lt;/mo&gt;&lt;mtext&gt;&lt;/mtext&gt;&lt;mn&gt;9&lt;/mn&gt;&lt;mo&gt;,&lt;/mo&gt;&lt;mtext&gt;&lt;/mtext&gt;&lt;mn&gt;16&lt;/mn&gt;&lt;mo&gt;,&lt;/mo&gt;&lt;mtext&gt;&lt;/mtext&gt;&lt;mn&gt;25&lt;/mn&gt;&lt;mo&gt;,&lt;/mo&gt;&lt;mtext&gt;&lt;/mtext&gt;&lt;mo&gt;.&lt;/mo&gt;&lt;mo&gt;.&lt;/mo&gt;&lt;mo&gt;.&lt;/mo&gt;&lt;/math&gt;" id="1602" name="Google Shape;1602;p94" title="n squared colon 1 comma 4 comma 9 comma 16 comma 25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9006" y="719979"/>
            <a:ext cx="3633546" cy="383982"/>
          </a:xfrm>
          <a:prstGeom prst="rect">
            <a:avLst/>
          </a:prstGeom>
          <a:noFill/>
          <a:ln>
            <a:noFill/>
          </a:ln>
        </p:spPr>
      </p:pic>
      <p:sp>
        <p:nvSpPr>
          <p:cNvPr id="1603" name="Google Shape;1603;p94"/>
          <p:cNvSpPr txBox="1"/>
          <p:nvPr/>
        </p:nvSpPr>
        <p:spPr>
          <a:xfrm>
            <a:off x="1666532" y="1071450"/>
            <a:ext cx="2742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94"/>
          <p:cNvSpPr txBox="1"/>
          <p:nvPr/>
        </p:nvSpPr>
        <p:spPr>
          <a:xfrm>
            <a:off x="2072300" y="1071450"/>
            <a:ext cx="2742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94"/>
          <p:cNvSpPr txBox="1"/>
          <p:nvPr/>
        </p:nvSpPr>
        <p:spPr>
          <a:xfrm>
            <a:off x="2515068" y="1071450"/>
            <a:ext cx="2742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6" name="Google Shape;1606;p94"/>
          <p:cNvSpPr txBox="1"/>
          <p:nvPr/>
        </p:nvSpPr>
        <p:spPr>
          <a:xfrm>
            <a:off x="5493542" y="1070523"/>
            <a:ext cx="2742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7" name="Google Shape;1607;p94"/>
          <p:cNvSpPr txBox="1"/>
          <p:nvPr/>
        </p:nvSpPr>
        <p:spPr>
          <a:xfrm>
            <a:off x="5939387" y="1070523"/>
            <a:ext cx="2742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+5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8" name="Google Shape;1608;p94"/>
          <p:cNvSpPr txBox="1"/>
          <p:nvPr/>
        </p:nvSpPr>
        <p:spPr>
          <a:xfrm>
            <a:off x="6366731" y="1070523"/>
            <a:ext cx="2742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+7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94"/>
          <p:cNvSpPr txBox="1"/>
          <p:nvPr/>
        </p:nvSpPr>
        <p:spPr>
          <a:xfrm>
            <a:off x="6959032" y="1070523"/>
            <a:ext cx="2742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+9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0" name="Google Shape;1610;p94"/>
          <p:cNvSpPr txBox="1"/>
          <p:nvPr>
            <p:ph idx="1" type="body"/>
          </p:nvPr>
        </p:nvSpPr>
        <p:spPr>
          <a:xfrm rot="-5400000">
            <a:off x="-326037" y="17082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value</a:t>
            </a:r>
            <a:endParaRPr sz="1800"/>
          </a:p>
        </p:txBody>
      </p:sp>
      <p:pic>
        <p:nvPicPr>
          <p:cNvPr descr="&lt;math xmlns=&quot;http://www.w3.org/1998/Math/MathML&quot; data-is-equatio=&quot;1&quot; data-equatio-url=&quot;https://equatio-api.texthelp.com/desmos/get/30-10-2023/42993a38-5009-4f18-96cc-7256d1c1367f&quot; data-equatio-type=&quot;desmos&quot;&gt;&lt;mglyph src=&quot;https://equatio-api.texthelp.com/desmos/get/30-10-2023/42993a38-5009-4f18-96cc-7256d1c1367f&quot; alt=&quot;Equatio Desmos Graph&quot;/&gt;&lt;/math&gt;" id="1611" name="Google Shape;1611;p94" title="Equatio Desmos Graph"/>
          <p:cNvPicPr preferRelativeResize="0"/>
          <p:nvPr/>
        </p:nvPicPr>
        <p:blipFill rotWithShape="1">
          <a:blip r:embed="rId5">
            <a:alphaModFix/>
          </a:blip>
          <a:srcRect b="21583" l="25434" r="60354" t="11922"/>
          <a:stretch/>
        </p:blipFill>
        <p:spPr>
          <a:xfrm>
            <a:off x="4563600" y="1375500"/>
            <a:ext cx="974550" cy="342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30-10-2023/dd8f3055-c383-415a-a7b4-30acf5c03e3b&quot; data-equatio-type=&quot;desmos&quot;&gt;&lt;mglyph src=&quot;https://equatio-api.texthelp.com/desmos/get/30-10-2023/dd8f3055-c383-415a-a7b4-30acf5c03e3b&quot; alt=&quot;Equatio Desmos Graph&quot;/&gt;&lt;/math&gt;" id="1612" name="Google Shape;1612;p94" title="Equatio Desmos Graph"/>
          <p:cNvPicPr preferRelativeResize="0"/>
          <p:nvPr/>
        </p:nvPicPr>
        <p:blipFill rotWithShape="1">
          <a:blip r:embed="rId6">
            <a:alphaModFix/>
          </a:blip>
          <a:srcRect b="21583" l="25434" r="61523" t="11922"/>
          <a:stretch/>
        </p:blipFill>
        <p:spPr>
          <a:xfrm>
            <a:off x="601200" y="1313028"/>
            <a:ext cx="894426" cy="342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3" name="Google Shape;1613;p94"/>
          <p:cNvSpPr txBox="1"/>
          <p:nvPr>
            <p:ph idx="1" type="body"/>
          </p:nvPr>
        </p:nvSpPr>
        <p:spPr>
          <a:xfrm>
            <a:off x="905681" y="46038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number</a:t>
            </a:r>
            <a:endParaRPr sz="1800"/>
          </a:p>
        </p:txBody>
      </p:sp>
      <p:sp>
        <p:nvSpPr>
          <p:cNvPr id="1614" name="Google Shape;1614;p94"/>
          <p:cNvSpPr txBox="1"/>
          <p:nvPr>
            <p:ph idx="1" type="body"/>
          </p:nvPr>
        </p:nvSpPr>
        <p:spPr>
          <a:xfrm rot="-5400000">
            <a:off x="3702151" y="17082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value</a:t>
            </a:r>
            <a:endParaRPr sz="1800"/>
          </a:p>
        </p:txBody>
      </p:sp>
      <p:sp>
        <p:nvSpPr>
          <p:cNvPr id="1615" name="Google Shape;1615;p94"/>
          <p:cNvSpPr txBox="1"/>
          <p:nvPr>
            <p:ph idx="1" type="body"/>
          </p:nvPr>
        </p:nvSpPr>
        <p:spPr>
          <a:xfrm>
            <a:off x="4933869" y="46038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number</a:t>
            </a:r>
            <a:endParaRPr sz="1800"/>
          </a:p>
        </p:txBody>
      </p:sp>
      <p:sp>
        <p:nvSpPr>
          <p:cNvPr id="1616" name="Google Shape;1616;p94"/>
          <p:cNvSpPr txBox="1"/>
          <p:nvPr>
            <p:ph idx="1" type="body"/>
          </p:nvPr>
        </p:nvSpPr>
        <p:spPr>
          <a:xfrm>
            <a:off x="5898550" y="2546500"/>
            <a:ext cx="29214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do the two graphical representations look different to one another?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sequences represented graphically</a:t>
            </a:r>
            <a:endParaRPr/>
          </a:p>
        </p:txBody>
      </p:sp>
      <p:sp>
        <p:nvSpPr>
          <p:cNvPr id="1622" name="Google Shape;1622;p95"/>
          <p:cNvSpPr txBox="1"/>
          <p:nvPr/>
        </p:nvSpPr>
        <p:spPr>
          <a:xfrm>
            <a:off x="1231164" y="1071450"/>
            <a:ext cx="2742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n:\ 2,\ 4,\ 6,\ 8,\ 10,\ ...&quot;&gt;&lt;mn&gt;2&lt;/mn&gt;&lt;mi&gt;n&lt;/mi&gt;&lt;mo&gt;:&lt;/mo&gt;&lt;mtext&gt;&lt;/mtext&gt;&lt;mn&gt;2&lt;/mn&gt;&lt;mo&gt;,&lt;/mo&gt;&lt;mtext&gt;&lt;/mtext&gt;&lt;mn&gt;4&lt;/mn&gt;&lt;mo&gt;,&lt;/mo&gt;&lt;mtext&gt;&lt;/mtext&gt;&lt;mn&gt;6&lt;/mn&gt;&lt;mo&gt;,&lt;/mo&gt;&lt;mtext&gt;&lt;/mtext&gt;&lt;mn&gt;8&lt;/mn&gt;&lt;mo&gt;,&lt;/mo&gt;&lt;mtext&gt;&lt;/mtext&gt;&lt;mn&gt;10&lt;/mn&gt;&lt;mo&gt;,&lt;/mo&gt;&lt;mtext&gt;&lt;/mtext&gt;&lt;mo&gt;.&lt;/mo&gt;&lt;mo&gt;.&lt;/mo&gt;&lt;mo&gt;.&lt;/mo&gt;&lt;/math&gt;" id="1623" name="Google Shape;1623;p95" title="2 n colon 2 comma 4 comma 6 comma 8 comma 10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816" y="802235"/>
            <a:ext cx="3364029" cy="302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^2:\ 1,\ 4,\ 9,\ 16,\ 25,\ ...&quot;&gt;&lt;msup&gt;&lt;mi&gt;n&lt;/mi&gt;&lt;mn&gt;2&lt;/mn&gt;&lt;/msup&gt;&lt;mo&gt;:&lt;/mo&gt;&lt;mtext&gt;&lt;/mtext&gt;&lt;mn&gt;1&lt;/mn&gt;&lt;mo&gt;,&lt;/mo&gt;&lt;mtext&gt;&lt;/mtext&gt;&lt;mn&gt;4&lt;/mn&gt;&lt;mo&gt;,&lt;/mo&gt;&lt;mtext&gt;&lt;/mtext&gt;&lt;mn&gt;9&lt;/mn&gt;&lt;mo&gt;,&lt;/mo&gt;&lt;mtext&gt;&lt;/mtext&gt;&lt;mn&gt;16&lt;/mn&gt;&lt;mo&gt;,&lt;/mo&gt;&lt;mtext&gt;&lt;/mtext&gt;&lt;mn&gt;25&lt;/mn&gt;&lt;mo&gt;,&lt;/mo&gt;&lt;mtext&gt;&lt;/mtext&gt;&lt;mo&gt;.&lt;/mo&gt;&lt;mo&gt;.&lt;/mo&gt;&lt;mo&gt;.&lt;/mo&gt;&lt;/math&gt;" id="1624" name="Google Shape;1624;p95" title="n squared colon 1 comma 4 comma 9 comma 16 comma 25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9006" y="719979"/>
            <a:ext cx="3633546" cy="383982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p95"/>
          <p:cNvSpPr txBox="1"/>
          <p:nvPr/>
        </p:nvSpPr>
        <p:spPr>
          <a:xfrm>
            <a:off x="1666532" y="1071450"/>
            <a:ext cx="2742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6" name="Google Shape;1626;p95"/>
          <p:cNvSpPr txBox="1"/>
          <p:nvPr/>
        </p:nvSpPr>
        <p:spPr>
          <a:xfrm>
            <a:off x="2072300" y="1071450"/>
            <a:ext cx="2742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95"/>
          <p:cNvSpPr txBox="1"/>
          <p:nvPr/>
        </p:nvSpPr>
        <p:spPr>
          <a:xfrm>
            <a:off x="2515068" y="1071450"/>
            <a:ext cx="2742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95"/>
          <p:cNvSpPr txBox="1"/>
          <p:nvPr/>
        </p:nvSpPr>
        <p:spPr>
          <a:xfrm>
            <a:off x="5493542" y="1070523"/>
            <a:ext cx="2742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95"/>
          <p:cNvSpPr txBox="1"/>
          <p:nvPr/>
        </p:nvSpPr>
        <p:spPr>
          <a:xfrm>
            <a:off x="5939387" y="1070523"/>
            <a:ext cx="2742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+5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95"/>
          <p:cNvSpPr txBox="1"/>
          <p:nvPr/>
        </p:nvSpPr>
        <p:spPr>
          <a:xfrm>
            <a:off x="6366731" y="1070523"/>
            <a:ext cx="2742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+7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95"/>
          <p:cNvSpPr txBox="1"/>
          <p:nvPr/>
        </p:nvSpPr>
        <p:spPr>
          <a:xfrm>
            <a:off x="6959032" y="1070523"/>
            <a:ext cx="2742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+9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95"/>
          <p:cNvSpPr txBox="1"/>
          <p:nvPr>
            <p:ph idx="1" type="body"/>
          </p:nvPr>
        </p:nvSpPr>
        <p:spPr>
          <a:xfrm rot="-5400000">
            <a:off x="-326037" y="17082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value</a:t>
            </a:r>
            <a:endParaRPr sz="1800"/>
          </a:p>
        </p:txBody>
      </p:sp>
      <p:pic>
        <p:nvPicPr>
          <p:cNvPr descr="&lt;math xmlns=&quot;http://www.w3.org/1998/Math/MathML&quot; data-is-equatio=&quot;1&quot; data-equatio-url=&quot;https://equatio-api.texthelp.com/desmos/get/30-10-2023/42993a38-5009-4f18-96cc-7256d1c1367f&quot; data-equatio-type=&quot;desmos&quot;&gt;&lt;mglyph src=&quot;https://equatio-api.texthelp.com/desmos/get/30-10-2023/42993a38-5009-4f18-96cc-7256d1c1367f&quot; alt=&quot;Equatio Desmos Graph&quot;/&gt;&lt;/math&gt;" id="1633" name="Google Shape;1633;p95" title="Equatio Desmos Graph"/>
          <p:cNvPicPr preferRelativeResize="0"/>
          <p:nvPr/>
        </p:nvPicPr>
        <p:blipFill rotWithShape="1">
          <a:blip r:embed="rId5">
            <a:alphaModFix/>
          </a:blip>
          <a:srcRect b="21583" l="25434" r="60354" t="11922"/>
          <a:stretch/>
        </p:blipFill>
        <p:spPr>
          <a:xfrm>
            <a:off x="4563600" y="1375500"/>
            <a:ext cx="974550" cy="342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30-10-2023/dd8f3055-c383-415a-a7b4-30acf5c03e3b&quot; data-equatio-type=&quot;desmos&quot;&gt;&lt;mglyph src=&quot;https://equatio-api.texthelp.com/desmos/get/30-10-2023/dd8f3055-c383-415a-a7b4-30acf5c03e3b&quot; alt=&quot;Equatio Desmos Graph&quot;/&gt;&lt;/math&gt;" id="1634" name="Google Shape;1634;p95" title="Equatio Desmos Graph"/>
          <p:cNvPicPr preferRelativeResize="0"/>
          <p:nvPr/>
        </p:nvPicPr>
        <p:blipFill rotWithShape="1">
          <a:blip r:embed="rId6">
            <a:alphaModFix/>
          </a:blip>
          <a:srcRect b="21583" l="25434" r="61523" t="11922"/>
          <a:stretch/>
        </p:blipFill>
        <p:spPr>
          <a:xfrm>
            <a:off x="601200" y="1313028"/>
            <a:ext cx="894426" cy="342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5" name="Google Shape;1635;p95"/>
          <p:cNvSpPr txBox="1"/>
          <p:nvPr>
            <p:ph idx="1" type="body"/>
          </p:nvPr>
        </p:nvSpPr>
        <p:spPr>
          <a:xfrm>
            <a:off x="905681" y="46038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number</a:t>
            </a:r>
            <a:endParaRPr sz="1800"/>
          </a:p>
        </p:txBody>
      </p:sp>
      <p:sp>
        <p:nvSpPr>
          <p:cNvPr id="1636" name="Google Shape;1636;p95"/>
          <p:cNvSpPr txBox="1"/>
          <p:nvPr>
            <p:ph idx="1" type="body"/>
          </p:nvPr>
        </p:nvSpPr>
        <p:spPr>
          <a:xfrm rot="-5400000">
            <a:off x="3702151" y="17082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value</a:t>
            </a:r>
            <a:endParaRPr sz="1800"/>
          </a:p>
        </p:txBody>
      </p:sp>
      <p:sp>
        <p:nvSpPr>
          <p:cNvPr id="1637" name="Google Shape;1637;p95"/>
          <p:cNvSpPr txBox="1"/>
          <p:nvPr>
            <p:ph idx="1" type="body"/>
          </p:nvPr>
        </p:nvSpPr>
        <p:spPr>
          <a:xfrm>
            <a:off x="4933869" y="4603898"/>
            <a:ext cx="15903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Term number</a:t>
            </a:r>
            <a:endParaRPr sz="1800"/>
          </a:p>
        </p:txBody>
      </p:sp>
      <p:sp>
        <p:nvSpPr>
          <p:cNvPr id="1638" name="Google Shape;1638;p95"/>
          <p:cNvSpPr txBox="1"/>
          <p:nvPr>
            <p:ph idx="1" type="body"/>
          </p:nvPr>
        </p:nvSpPr>
        <p:spPr>
          <a:xfrm>
            <a:off x="1581075" y="1936900"/>
            <a:ext cx="22215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Arithmetic, Linear sequence.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Constant common difference of +2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9" name="Google Shape;1639;p95"/>
          <p:cNvSpPr txBox="1"/>
          <p:nvPr>
            <p:ph idx="1" type="body"/>
          </p:nvPr>
        </p:nvSpPr>
        <p:spPr>
          <a:xfrm>
            <a:off x="5772081" y="1936900"/>
            <a:ext cx="3048000" cy="2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Non-linear.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Ever increasing difference between terms ‘steepening’ our graph.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96"/>
          <p:cNvSpPr txBox="1"/>
          <p:nvPr>
            <p:ph idx="1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points of every sequence we plot will be in a straight line.</a:t>
            </a:r>
            <a:endParaRPr/>
          </a:p>
        </p:txBody>
      </p:sp>
      <p:sp>
        <p:nvSpPr>
          <p:cNvPr id="1645" name="Google Shape;1645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Features of sequences represented graphically</a:t>
            </a:r>
            <a:endParaRPr/>
          </a:p>
        </p:txBody>
      </p:sp>
      <p:sp>
        <p:nvSpPr>
          <p:cNvPr id="1646" name="Google Shape;1646;p96"/>
          <p:cNvSpPr txBox="1"/>
          <p:nvPr>
            <p:ph idx="2" type="subTitle"/>
          </p:nvPr>
        </p:nvSpPr>
        <p:spPr>
          <a:xfrm>
            <a:off x="980575" y="3043725"/>
            <a:ext cx="6726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I’ve plotted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− 9</a:t>
            </a:r>
            <a:r>
              <a:rPr lang="en-GB" sz="2000"/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 + 2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5 − 2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and they were all in a straight line</a:t>
            </a:r>
            <a:r>
              <a:rPr lang="en-GB" sz="2000"/>
              <a:t> so I think all sequences do that.</a:t>
            </a:r>
            <a:endParaRPr sz="2000"/>
          </a:p>
        </p:txBody>
      </p:sp>
      <p:sp>
        <p:nvSpPr>
          <p:cNvPr id="1647" name="Google Shape;1647;p96"/>
          <p:cNvSpPr txBox="1"/>
          <p:nvPr>
            <p:ph idx="3" type="subTitle"/>
          </p:nvPr>
        </p:nvSpPr>
        <p:spPr>
          <a:xfrm>
            <a:off x="980575" y="3932914"/>
            <a:ext cx="6861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points of non-linear sequences such as</a:t>
            </a:r>
            <a:r>
              <a:rPr lang="en-GB" sz="2000"/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/>
              <a:t> will not generate a straight line.</a:t>
            </a:r>
            <a:endParaRPr/>
          </a:p>
        </p:txBody>
      </p:sp>
      <p:pic>
        <p:nvPicPr>
          <p:cNvPr id="1648" name="Google Shape;164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1583" y="17769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9" name="Google Shape;164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0783" y="40629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30-10-2023/f0b600bf-d2ad-49f1-b773-4d2ab035404d&quot; data-equatio-type=&quot;desmos&quot;&gt;&lt;mglyph src=&quot;https://equatio-api.texthelp.com/desmos/get/30-10-2023/f0b600bf-d2ad-49f1-b773-4d2ab035404d&quot; alt=&quot;Equatio Desmos Graph&quot;/&gt;&lt;/math&gt;" id="1654" name="Google Shape;1654;p97" title="Equatio Desmos Graph"/>
          <p:cNvPicPr preferRelativeResize="0"/>
          <p:nvPr/>
        </p:nvPicPr>
        <p:blipFill rotWithShape="1">
          <a:blip r:embed="rId3">
            <a:alphaModFix/>
          </a:blip>
          <a:srcRect b="0" l="20362" r="60634" t="0"/>
          <a:stretch/>
        </p:blipFill>
        <p:spPr>
          <a:xfrm>
            <a:off x="7079273" y="1131576"/>
            <a:ext cx="832280" cy="3421422"/>
          </a:xfrm>
          <a:prstGeom prst="rect">
            <a:avLst/>
          </a:prstGeom>
          <a:noFill/>
          <a:ln>
            <a:noFill/>
          </a:ln>
        </p:spPr>
      </p:pic>
      <p:sp>
        <p:nvSpPr>
          <p:cNvPr id="1655" name="Google Shape;1655;p97"/>
          <p:cNvSpPr txBox="1"/>
          <p:nvPr>
            <p:ph idx="4294967295" type="subTitle"/>
          </p:nvPr>
        </p:nvSpPr>
        <p:spPr>
          <a:xfrm>
            <a:off x="324000" y="820175"/>
            <a:ext cx="50193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a) Match these arithmetic sequences to the correct plotting.</a:t>
            </a:r>
            <a:endParaRPr sz="2000"/>
          </a:p>
        </p:txBody>
      </p:sp>
      <p:sp>
        <p:nvSpPr>
          <p:cNvPr id="1656" name="Google Shape;1656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Features of sequences represented graphically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2}n&quot;&gt;&lt;mfrac&gt;&lt;mn&gt;3&lt;/mn&gt;&lt;mn&gt;2&lt;/mn&gt;&lt;/mfrac&gt;&lt;mi&gt;n&lt;/mi&gt;&lt;/math&gt;" id="1657" name="Google Shape;1657;p97" title="three halves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0107" y="1746013"/>
            <a:ext cx="300268" cy="507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30-10-2023/9fbd6101-5a6c-4a45-8db3-ebf2d6892569&quot; data-equatio-type=&quot;desmos&quot;&gt;&lt;mglyph src=&quot;https://equatio-api.texthelp.com/desmos/get/30-10-2023/9fbd6101-5a6c-4a45-8db3-ebf2d6892569&quot; alt=&quot;Equatio Desmos Graph&quot;/&gt;&lt;/math&gt;" id="1658" name="Google Shape;1658;p97" title="Equatio Desmos Graph"/>
          <p:cNvPicPr preferRelativeResize="0"/>
          <p:nvPr/>
        </p:nvPicPr>
        <p:blipFill rotWithShape="1">
          <a:blip r:embed="rId5">
            <a:alphaModFix/>
          </a:blip>
          <a:srcRect b="0" l="21776" r="61523" t="10498"/>
          <a:stretch/>
        </p:blipFill>
        <p:spPr>
          <a:xfrm>
            <a:off x="4822799" y="1455925"/>
            <a:ext cx="933230" cy="3080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n+\frac{11}{2}&quot;&gt;&lt;mfrac&gt;&lt;mn&gt;3&lt;/mn&gt;&lt;mn&gt;2&lt;/mn&gt;&lt;/mfrac&gt;&lt;mi&gt;n&lt;/mi&gt;&lt;mo&gt;+&lt;/mo&gt;&lt;mfrac&gt;&lt;mn&gt;11&lt;/mn&gt;&lt;mn&gt;2&lt;/mn&gt;&lt;/mfrac&gt;&lt;/math&gt;" id="1659" name="Google Shape;1659;p97" title="three halves n plus eleven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3714" y="2730486"/>
            <a:ext cx="889679" cy="507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&quot;&gt;&lt;mn&gt;3&lt;/mn&gt;&lt;mi&gt;n&lt;/mi&gt;&lt;/math&gt;" id="1660" name="Google Shape;1660;p97" title="3 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3417" y="1915393"/>
            <a:ext cx="241181" cy="1784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-10&quot;&gt;&lt;mn&gt;3&lt;/mn&gt;&lt;mi&gt;n&lt;/mi&gt;&lt;mo&gt;−&lt;/mo&gt;&lt;mn&gt;10&lt;/mn&gt;&lt;/math&gt;" id="1661" name="Google Shape;1661;p97" title="3 n minus 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82801" y="2850142"/>
            <a:ext cx="832275" cy="192795"/>
          </a:xfrm>
          <a:prstGeom prst="rect">
            <a:avLst/>
          </a:prstGeom>
          <a:noFill/>
          <a:ln>
            <a:noFill/>
          </a:ln>
        </p:spPr>
      </p:pic>
      <p:sp>
        <p:nvSpPr>
          <p:cNvPr id="1662" name="Google Shape;1662;p97"/>
          <p:cNvSpPr txBox="1"/>
          <p:nvPr>
            <p:ph idx="4294967295" type="subTitle"/>
          </p:nvPr>
        </p:nvSpPr>
        <p:spPr>
          <a:xfrm>
            <a:off x="324000" y="3518411"/>
            <a:ext cx="3728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r>
              <a:rPr lang="en-GB" sz="2000"/>
              <a:t>) Write a few sentences explaining how you identified each sequence.</a:t>
            </a:r>
            <a:endParaRPr sz="2000"/>
          </a:p>
        </p:txBody>
      </p:sp>
      <p:sp>
        <p:nvSpPr>
          <p:cNvPr id="1663" name="Google Shape;1663;p97"/>
          <p:cNvSpPr/>
          <p:nvPr/>
        </p:nvSpPr>
        <p:spPr>
          <a:xfrm>
            <a:off x="5763214" y="2253150"/>
            <a:ext cx="666300" cy="25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97"/>
          <p:cNvSpPr/>
          <p:nvPr/>
        </p:nvSpPr>
        <p:spPr>
          <a:xfrm>
            <a:off x="5770310" y="2938950"/>
            <a:ext cx="666300" cy="25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97"/>
          <p:cNvSpPr/>
          <p:nvPr/>
        </p:nvSpPr>
        <p:spPr>
          <a:xfrm>
            <a:off x="7900593" y="1078914"/>
            <a:ext cx="666300" cy="25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97"/>
          <p:cNvSpPr/>
          <p:nvPr/>
        </p:nvSpPr>
        <p:spPr>
          <a:xfrm>
            <a:off x="7907689" y="2450514"/>
            <a:ext cx="666300" cy="25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98"/>
          <p:cNvSpPr txBox="1"/>
          <p:nvPr>
            <p:ph idx="4294967295" type="subTitle"/>
          </p:nvPr>
        </p:nvSpPr>
        <p:spPr>
          <a:xfrm>
            <a:off x="324000" y="820175"/>
            <a:ext cx="50193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</a:t>
            </a:r>
            <a:r>
              <a:rPr lang="en-GB" sz="2000"/>
              <a:t>) Izzy has plotted the sequence</a:t>
            </a:r>
            <a:endParaRPr sz="2000"/>
          </a:p>
        </p:txBody>
      </p:sp>
      <p:sp>
        <p:nvSpPr>
          <p:cNvPr id="1672" name="Google Shape;1672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Features of sequences represented graphically </a:t>
            </a:r>
            <a:endParaRPr/>
          </a:p>
        </p:txBody>
      </p:sp>
      <p:sp>
        <p:nvSpPr>
          <p:cNvPr id="1673" name="Google Shape;1673;p98"/>
          <p:cNvSpPr txBox="1"/>
          <p:nvPr>
            <p:ph idx="4294967295" type="subTitle"/>
          </p:nvPr>
        </p:nvSpPr>
        <p:spPr>
          <a:xfrm>
            <a:off x="324000" y="2451611"/>
            <a:ext cx="3728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term number is wrong?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Write a sentence to </a:t>
            </a:r>
            <a:r>
              <a:rPr lang="en-GB" sz="2000"/>
              <a:t>justify</a:t>
            </a:r>
            <a:r>
              <a:rPr lang="en-GB" sz="2000"/>
              <a:t> your answer.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30-10-2023/43dc25a8-948e-428b-9c7c-5c9879f38564&quot; data-equatio-type=&quot;desmos&quot;&gt;&lt;mglyph src=&quot;https://equatio-api.texthelp.com/desmos/get/30-10-2023/43dc25a8-948e-428b-9c7c-5c9879f38564&quot; alt=&quot;Equatio Desmos Graph&quot;/&gt;&lt;/math&gt;" id="1674" name="Google Shape;1674;p98" title="Equatio Desmos Graph"/>
          <p:cNvPicPr preferRelativeResize="0"/>
          <p:nvPr/>
        </p:nvPicPr>
        <p:blipFill rotWithShape="1">
          <a:blip r:embed="rId3">
            <a:alphaModFix/>
          </a:blip>
          <a:srcRect b="22590" l="10688" r="34946" t="24981"/>
          <a:stretch/>
        </p:blipFill>
        <p:spPr>
          <a:xfrm>
            <a:off x="4467025" y="1589625"/>
            <a:ext cx="3728400" cy="269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5" name="Google Shape;1675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4200" y="1232587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-\frac{5}{7}n&quot;&gt;&lt;mn&gt;5&lt;/mn&gt;&lt;mo&gt;−&lt;/mo&gt;&lt;mfrac&gt;&lt;mn&gt;5&lt;/mn&gt;&lt;mn&gt;7&lt;/mn&gt;&lt;/mfrac&gt;&lt;mi&gt;n&lt;/mi&gt;&lt;/math&gt;" id="1676" name="Google Shape;1676;p98" title="5 minus five sevenths 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2594" y="659314"/>
            <a:ext cx="850864" cy="60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677" name="Google Shape;1677;p98"/>
          <p:cNvSpPr txBox="1"/>
          <p:nvPr/>
        </p:nvSpPr>
        <p:spPr>
          <a:xfrm>
            <a:off x="7259328" y="2994624"/>
            <a:ext cx="172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8" name="Google Shape;1678;p98"/>
          <p:cNvSpPr txBox="1"/>
          <p:nvPr/>
        </p:nvSpPr>
        <p:spPr>
          <a:xfrm rot="-5400000">
            <a:off x="3553395" y="2256828"/>
            <a:ext cx="1590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99"/>
          <p:cNvSpPr txBox="1"/>
          <p:nvPr>
            <p:ph idx="4294967295" type="subTitle"/>
          </p:nvPr>
        </p:nvSpPr>
        <p:spPr>
          <a:xfrm>
            <a:off x="324000" y="820175"/>
            <a:ext cx="5450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</a:t>
            </a:r>
            <a:r>
              <a:rPr lang="en-GB" sz="2000"/>
              <a:t>) a) Sofia has started to draw the structure of the arithmetic sequence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Finish her diagram for her.</a:t>
            </a:r>
            <a:endParaRPr sz="2000"/>
          </a:p>
        </p:txBody>
      </p:sp>
      <p:sp>
        <p:nvSpPr>
          <p:cNvPr id="1684" name="Google Shape;1684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Features of sequences represented graphically </a:t>
            </a:r>
            <a:endParaRPr/>
          </a:p>
        </p:txBody>
      </p:sp>
      <p:pic>
        <p:nvPicPr>
          <p:cNvPr id="1685" name="Google Shape;168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48201" y="2033526"/>
            <a:ext cx="892500" cy="9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6" name="Google Shape;1686;p99"/>
          <p:cNvSpPr txBox="1"/>
          <p:nvPr>
            <p:ph idx="4294967295" type="subTitle"/>
          </p:nvPr>
        </p:nvSpPr>
        <p:spPr>
          <a:xfrm>
            <a:off x="324000" y="3258575"/>
            <a:ext cx="5450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r>
              <a:rPr lang="en-GB" sz="2000"/>
              <a:t>) Write a sentence explaining why this structure represents the sequence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30-10-2023/aab6d9f8-934e-404e-8653-a8856558ebe4&quot; data-equatio-type=&quot;desmos&quot;&gt;&lt;mglyph src=&quot;https://equatio-api.texthelp.com/desmos/get/30-10-2023/aab6d9f8-934e-404e-8653-a8856558ebe4&quot; alt=&quot;Equatio Desmos Graph&quot;/&gt;&lt;/math&gt;" id="1687" name="Google Shape;1687;p99" title="Equatio Desmos Graph"/>
          <p:cNvPicPr preferRelativeResize="0"/>
          <p:nvPr/>
        </p:nvPicPr>
        <p:blipFill rotWithShape="1">
          <a:blip r:embed="rId4">
            <a:alphaModFix/>
          </a:blip>
          <a:srcRect b="21879" l="29947" r="53068" t="21392"/>
          <a:stretch/>
        </p:blipFill>
        <p:spPr>
          <a:xfrm>
            <a:off x="6086634" y="809999"/>
            <a:ext cx="1908152" cy="4003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8" name="Google Shape;1688;p99"/>
          <p:cNvGrpSpPr/>
          <p:nvPr/>
        </p:nvGrpSpPr>
        <p:grpSpPr>
          <a:xfrm>
            <a:off x="6426056" y="3087740"/>
            <a:ext cx="203671" cy="437925"/>
            <a:chOff x="2772127" y="3611285"/>
            <a:chExt cx="605624" cy="1200123"/>
          </a:xfrm>
        </p:grpSpPr>
        <p:pic>
          <p:nvPicPr>
            <p:cNvPr id="1689" name="Google Shape;1689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772127" y="4204825"/>
              <a:ext cx="605624" cy="606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0" name="Google Shape;1690;p9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772127" y="3611285"/>
              <a:ext cx="605624" cy="6065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1" name="Google Shape;1691;p99"/>
          <p:cNvSpPr txBox="1"/>
          <p:nvPr/>
        </p:nvSpPr>
        <p:spPr>
          <a:xfrm>
            <a:off x="6416641" y="4511686"/>
            <a:ext cx="167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99"/>
          <p:cNvSpPr txBox="1"/>
          <p:nvPr/>
        </p:nvSpPr>
        <p:spPr>
          <a:xfrm rot="-5400000">
            <a:off x="5283475" y="1670572"/>
            <a:ext cx="149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3" name="Google Shape;1693;p99"/>
          <p:cNvGrpSpPr/>
          <p:nvPr/>
        </p:nvGrpSpPr>
        <p:grpSpPr>
          <a:xfrm>
            <a:off x="6424172" y="3545846"/>
            <a:ext cx="203670" cy="1041766"/>
            <a:chOff x="6754794" y="2662894"/>
            <a:chExt cx="244620" cy="1197020"/>
          </a:xfrm>
        </p:grpSpPr>
        <p:pic>
          <p:nvPicPr>
            <p:cNvPr id="1694" name="Google Shape;1694;p9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54794" y="3614873"/>
              <a:ext cx="244620" cy="245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5" name="Google Shape;1695;p9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54794" y="3368616"/>
              <a:ext cx="244620" cy="245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6" name="Google Shape;1696;p9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54794" y="3122359"/>
              <a:ext cx="244620" cy="245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7" name="Google Shape;1697;p9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54794" y="2876103"/>
              <a:ext cx="244620" cy="245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8" name="Google Shape;1698;p9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54794" y="2662894"/>
              <a:ext cx="244620" cy="2450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3" name="Google Shape;1703;p10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099212" y="1558938"/>
            <a:ext cx="4914350" cy="149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100"/>
          <p:cNvSpPr txBox="1"/>
          <p:nvPr>
            <p:ph idx="4294967295" type="subTitle"/>
          </p:nvPr>
        </p:nvSpPr>
        <p:spPr>
          <a:xfrm>
            <a:off x="324000" y="820175"/>
            <a:ext cx="6331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r>
              <a:rPr lang="en-GB" sz="1800"/>
              <a:t>)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10th</a:t>
            </a:r>
            <a:r>
              <a:rPr lang="en-GB" sz="1800"/>
              <a:t> term of the arithmetic sequence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r>
              <a:rPr lang="en-GB" sz="1800"/>
              <a:t> and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20th</a:t>
            </a:r>
            <a:r>
              <a:rPr lang="en-GB" sz="1800"/>
              <a:t> term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70 </a:t>
            </a:r>
            <a:r>
              <a:rPr lang="en-GB" sz="1800"/>
              <a:t>so Laura says…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5" name="Google Shape;1705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Features of sequences represented graphically </a:t>
            </a:r>
            <a:endParaRPr/>
          </a:p>
        </p:txBody>
      </p:sp>
      <p:sp>
        <p:nvSpPr>
          <p:cNvPr id="1706" name="Google Shape;1706;p100"/>
          <p:cNvSpPr txBox="1"/>
          <p:nvPr>
            <p:ph idx="4294967295" type="subTitle"/>
          </p:nvPr>
        </p:nvSpPr>
        <p:spPr>
          <a:xfrm>
            <a:off x="1511973" y="1658365"/>
            <a:ext cx="44358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 know t</a:t>
            </a:r>
            <a:r>
              <a:rPr lang="en-GB" sz="1800"/>
              <a:t>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term of the arithmetic sequence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− 21 </a:t>
            </a:r>
            <a:r>
              <a:rPr lang="en-GB" sz="1800"/>
              <a:t>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r>
              <a:rPr lang="en-GB" sz="1800"/>
              <a:t> so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term must be double that. It’s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28</a:t>
            </a:r>
            <a:endParaRPr sz="1800"/>
          </a:p>
        </p:txBody>
      </p:sp>
      <p:pic>
        <p:nvPicPr>
          <p:cNvPr id="1707" name="Google Shape;1707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975" y="2056900"/>
            <a:ext cx="1012026" cy="27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8" name="Google Shape;1708;p100"/>
          <p:cNvSpPr txBox="1"/>
          <p:nvPr>
            <p:ph idx="4294967295" type="subTitle"/>
          </p:nvPr>
        </p:nvSpPr>
        <p:spPr>
          <a:xfrm>
            <a:off x="2610000" y="3029975"/>
            <a:ext cx="6136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Explain to Laura why this does work for the </a:t>
            </a:r>
            <a:r>
              <a:rPr lang="en-GB" sz="1800"/>
              <a:t>arithmetic sequence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but it doesn’t for the sequence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− 21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101"/>
          <p:cNvSpPr txBox="1"/>
          <p:nvPr>
            <p:ph idx="4294967295" type="subTitle"/>
          </p:nvPr>
        </p:nvSpPr>
        <p:spPr>
          <a:xfrm>
            <a:off x="329323" y="3749266"/>
            <a:ext cx="42480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  has the same term-to-term increase as     but, is a translation by       in the positive vertical direction.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30-10-2023/f0b600bf-d2ad-49f1-b773-4d2ab035404d&quot; data-equatio-type=&quot;desmos&quot;&gt;&lt;mglyph src=&quot;https://equatio-api.texthelp.com/desmos/get/30-10-2023/f0b600bf-d2ad-49f1-b773-4d2ab035404d&quot; alt=&quot;Equatio Desmos Graph&quot;/&gt;&lt;/math&gt;" id="1714" name="Google Shape;1714;p101" title="Equatio Desmos Graph"/>
          <p:cNvPicPr preferRelativeResize="0"/>
          <p:nvPr/>
        </p:nvPicPr>
        <p:blipFill rotWithShape="1">
          <a:blip r:embed="rId3">
            <a:alphaModFix/>
          </a:blip>
          <a:srcRect b="0" l="20362" r="60634" t="0"/>
          <a:stretch/>
        </p:blipFill>
        <p:spPr>
          <a:xfrm>
            <a:off x="7079273" y="1131576"/>
            <a:ext cx="832280" cy="3421422"/>
          </a:xfrm>
          <a:prstGeom prst="rect">
            <a:avLst/>
          </a:prstGeom>
          <a:noFill/>
          <a:ln>
            <a:noFill/>
          </a:ln>
        </p:spPr>
      </p:pic>
      <p:sp>
        <p:nvSpPr>
          <p:cNvPr id="1715" name="Google Shape;1715;p101"/>
          <p:cNvSpPr txBox="1"/>
          <p:nvPr>
            <p:ph idx="4294967295" type="subTitle"/>
          </p:nvPr>
        </p:nvSpPr>
        <p:spPr>
          <a:xfrm>
            <a:off x="324000" y="764799"/>
            <a:ext cx="44988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a) Match these arithmetic sequences to the correct plotting.</a:t>
            </a:r>
            <a:endParaRPr sz="1800"/>
          </a:p>
        </p:txBody>
      </p:sp>
      <p:sp>
        <p:nvSpPr>
          <p:cNvPr id="1716" name="Google Shape;1716;p101"/>
          <p:cNvSpPr txBox="1"/>
          <p:nvPr>
            <p:ph idx="4294967295" type="subTitle"/>
          </p:nvPr>
        </p:nvSpPr>
        <p:spPr>
          <a:xfrm>
            <a:off x="329325" y="1733525"/>
            <a:ext cx="43476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You might have written: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sequences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− 10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have the same increases term-to-term, with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− 10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being a translation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by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in the negative vertical direction.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7" name="Google Shape;1717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Features of sequences represented graphically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2}n&quot;&gt;&lt;mfrac&gt;&lt;mn&gt;3&lt;/mn&gt;&lt;mn&gt;2&lt;/mn&gt;&lt;/mfrac&gt;&lt;mi&gt;n&lt;/mi&gt;&lt;/math&gt;" id="1718" name="Google Shape;1718;p101" title="three halves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0507" y="2847365"/>
            <a:ext cx="300268" cy="507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30-10-2023/9fbd6101-5a6c-4a45-8db3-ebf2d6892569&quot; data-equatio-type=&quot;desmos&quot;&gt;&lt;mglyph src=&quot;https://equatio-api.texthelp.com/desmos/get/30-10-2023/9fbd6101-5a6c-4a45-8db3-ebf2d6892569&quot; alt=&quot;Equatio Desmos Graph&quot;/&gt;&lt;/math&gt;" id="1719" name="Google Shape;1719;p101" title="Equatio Desmos Graph"/>
          <p:cNvPicPr preferRelativeResize="0"/>
          <p:nvPr/>
        </p:nvPicPr>
        <p:blipFill rotWithShape="1">
          <a:blip r:embed="rId5">
            <a:alphaModFix/>
          </a:blip>
          <a:srcRect b="0" l="21776" r="61523" t="10498"/>
          <a:stretch/>
        </p:blipFill>
        <p:spPr>
          <a:xfrm>
            <a:off x="4822799" y="1455925"/>
            <a:ext cx="933230" cy="3080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n+\frac{11}{2}&quot;&gt;&lt;mfrac&gt;&lt;mn&gt;3&lt;/mn&gt;&lt;mn&gt;2&lt;/mn&gt;&lt;/mfrac&gt;&lt;mi&gt;n&lt;/mi&gt;&lt;mo&gt;+&lt;/mo&gt;&lt;mfrac&gt;&lt;mn&gt;11&lt;/mn&gt;&lt;mn&gt;2&lt;/mn&gt;&lt;/mfrac&gt;&lt;/math&gt;" id="1720" name="Google Shape;1720;p101" title="three halves n plus eleven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2914" y="1926376"/>
            <a:ext cx="889679" cy="507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2}&quot;&gt;&lt;mfrac&gt;&lt;mn&gt;11&lt;/mn&gt;&lt;mn&gt;2&lt;/mn&gt;&lt;/mfrac&gt;&lt;/math&gt;" id="1721" name="Google Shape;1721;p101" title="eleven halve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65992" y="4009844"/>
            <a:ext cx="225575" cy="4066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&quot;&gt;&lt;mn&gt;3&lt;/mn&gt;&lt;mi&gt;n&lt;/mi&gt;&lt;/math&gt;" id="1722" name="Google Shape;1722;p101" title="3 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66217" y="1153393"/>
            <a:ext cx="241181" cy="1784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-10&quot;&gt;&lt;mn&gt;3&lt;/mn&gt;&lt;mi&gt;n&lt;/mi&gt;&lt;mo&gt;−&lt;/mo&gt;&lt;mn&gt;10&lt;/mn&gt;&lt;/math&gt;" id="1723" name="Google Shape;1723;p101" title="3 n minus 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66217" y="2453747"/>
            <a:ext cx="853782" cy="197767"/>
          </a:xfrm>
          <a:prstGeom prst="rect">
            <a:avLst/>
          </a:prstGeom>
          <a:noFill/>
          <a:ln>
            <a:noFill/>
          </a:ln>
        </p:spPr>
      </p:pic>
      <p:sp>
        <p:nvSpPr>
          <p:cNvPr id="1724" name="Google Shape;1724;p101"/>
          <p:cNvSpPr txBox="1"/>
          <p:nvPr>
            <p:ph idx="4294967295" type="subTitle"/>
          </p:nvPr>
        </p:nvSpPr>
        <p:spPr>
          <a:xfrm>
            <a:off x="324000" y="1450599"/>
            <a:ext cx="4248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3}{2}n&quot;&gt;&lt;mfrac&gt;&lt;mn&gt;3&lt;/mn&gt;&lt;mn&gt;2&lt;/mn&gt;&lt;/mfrac&gt;&lt;mi&gt;n&lt;/mi&gt;&lt;/math&gt;" id="1725" name="Google Shape;1725;p101" title="three halves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8750" y="4022976"/>
            <a:ext cx="225584" cy="381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n+\frac{11}{2}&quot;&gt;&lt;mfrac&gt;&lt;mn&gt;3&lt;/mn&gt;&lt;mn&gt;2&lt;/mn&gt;&lt;/mfrac&gt;&lt;mi&gt;n&lt;/mi&gt;&lt;mo&gt;+&lt;/mo&gt;&lt;mfrac&gt;&lt;mn&gt;11&lt;/mn&gt;&lt;mn&gt;2&lt;/mn&gt;&lt;/mfrac&gt;&lt;/math&gt;" id="1726" name="Google Shape;1726;p101" title="three halves n plus eleven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5910" y="3687920"/>
            <a:ext cx="668396" cy="38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102"/>
          <p:cNvSpPr txBox="1"/>
          <p:nvPr>
            <p:ph idx="4294967295" type="subTitle"/>
          </p:nvPr>
        </p:nvSpPr>
        <p:spPr>
          <a:xfrm>
            <a:off x="324000" y="820175"/>
            <a:ext cx="50193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Izzy has plotted the sequence</a:t>
            </a:r>
            <a:endParaRPr sz="2000"/>
          </a:p>
        </p:txBody>
      </p:sp>
      <p:sp>
        <p:nvSpPr>
          <p:cNvPr id="1732" name="Google Shape;1732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Features of sequences represented graphically </a:t>
            </a:r>
            <a:endParaRPr/>
          </a:p>
        </p:txBody>
      </p:sp>
      <p:sp>
        <p:nvSpPr>
          <p:cNvPr id="1733" name="Google Shape;1733;p102"/>
          <p:cNvSpPr txBox="1"/>
          <p:nvPr>
            <p:ph idx="4294967295" type="subTitle"/>
          </p:nvPr>
        </p:nvSpPr>
        <p:spPr>
          <a:xfrm>
            <a:off x="324000" y="2451611"/>
            <a:ext cx="3728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Which term number is wrong?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30-10-2023/43dc25a8-948e-428b-9c7c-5c9879f38564&quot; data-equatio-type=&quot;desmos&quot;&gt;&lt;mglyph src=&quot;https://equatio-api.texthelp.com/desmos/get/30-10-2023/43dc25a8-948e-428b-9c7c-5c9879f38564&quot; alt=&quot;Equatio Desmos Graph&quot;/&gt;&lt;/math&gt;" id="1734" name="Google Shape;1734;p102" title="Equatio Desmos Graph"/>
          <p:cNvPicPr preferRelativeResize="0"/>
          <p:nvPr/>
        </p:nvPicPr>
        <p:blipFill rotWithShape="1">
          <a:blip r:embed="rId3">
            <a:alphaModFix/>
          </a:blip>
          <a:srcRect b="22590" l="10688" r="34946" t="24981"/>
          <a:stretch/>
        </p:blipFill>
        <p:spPr>
          <a:xfrm>
            <a:off x="4467025" y="1589625"/>
            <a:ext cx="3728400" cy="269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5" name="Google Shape;1735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4200" y="1232587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-\frac{5}{7}n&quot;&gt;&lt;mn&gt;5&lt;/mn&gt;&lt;mo&gt;−&lt;/mo&gt;&lt;mfrac&gt;&lt;mn&gt;5&lt;/mn&gt;&lt;mn&gt;7&lt;/mn&gt;&lt;/mfrac&gt;&lt;mi&gt;n&lt;/mi&gt;&lt;/math&gt;" id="1736" name="Google Shape;1736;p102" title="5 minus five sevenths 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2594" y="659314"/>
            <a:ext cx="850864" cy="60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737" name="Google Shape;1737;p102"/>
          <p:cNvSpPr txBox="1"/>
          <p:nvPr/>
        </p:nvSpPr>
        <p:spPr>
          <a:xfrm>
            <a:off x="7259328" y="2994624"/>
            <a:ext cx="172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102"/>
          <p:cNvSpPr txBox="1"/>
          <p:nvPr/>
        </p:nvSpPr>
        <p:spPr>
          <a:xfrm rot="-5400000">
            <a:off x="3553395" y="2256828"/>
            <a:ext cx="1590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102"/>
          <p:cNvSpPr txBox="1"/>
          <p:nvPr>
            <p:ph idx="4294967295" type="subTitle"/>
          </p:nvPr>
        </p:nvSpPr>
        <p:spPr>
          <a:xfrm>
            <a:off x="324000" y="2985011"/>
            <a:ext cx="3728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6th term number is wrong.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0" name="Google Shape;1740;p102"/>
          <p:cNvSpPr txBox="1"/>
          <p:nvPr>
            <p:ph idx="4294967295" type="subTitle"/>
          </p:nvPr>
        </p:nvSpPr>
        <p:spPr>
          <a:xfrm>
            <a:off x="324000" y="3539235"/>
            <a:ext cx="3728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   is an arithmetic sequence. The points should align and the 6th one is not in line.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5-\frac{5}{7}n&quot;&gt;&lt;mn&gt;5&lt;/mn&gt;&lt;mo&gt;−&lt;/mo&gt;&lt;mfrac&gt;&lt;mn&gt;5&lt;/mn&gt;&lt;mn&gt;7&lt;/mn&gt;&lt;/mfrac&gt;&lt;mi&gt;n&lt;/mi&gt;&lt;/math&gt;" id="1741" name="Google Shape;1741;p102" title="5 minus five sevenths 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011" y="3440966"/>
            <a:ext cx="688300" cy="485434"/>
          </a:xfrm>
          <a:prstGeom prst="rect">
            <a:avLst/>
          </a:prstGeom>
          <a:noFill/>
          <a:ln>
            <a:noFill/>
          </a:ln>
        </p:spPr>
      </p:pic>
      <p:sp>
        <p:nvSpPr>
          <p:cNvPr id="1742" name="Google Shape;1742;p102"/>
          <p:cNvSpPr/>
          <p:nvPr/>
        </p:nvSpPr>
        <p:spPr>
          <a:xfrm>
            <a:off x="6385888" y="2735404"/>
            <a:ext cx="454800" cy="4821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103"/>
          <p:cNvSpPr txBox="1"/>
          <p:nvPr>
            <p:ph idx="4294967295" type="subTitle"/>
          </p:nvPr>
        </p:nvSpPr>
        <p:spPr>
          <a:xfrm>
            <a:off x="324000" y="820175"/>
            <a:ext cx="5450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</a:t>
            </a:r>
            <a:r>
              <a:rPr lang="en-GB" sz="2000"/>
              <a:t>) a) Sofia has started to draw the structure of the arithmetic sequence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Finish her diagram for her.</a:t>
            </a:r>
            <a:endParaRPr sz="2000"/>
          </a:p>
        </p:txBody>
      </p:sp>
      <p:sp>
        <p:nvSpPr>
          <p:cNvPr id="1748" name="Google Shape;1748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Features of sequences represented graphically </a:t>
            </a:r>
            <a:endParaRPr/>
          </a:p>
        </p:txBody>
      </p:sp>
      <p:pic>
        <p:nvPicPr>
          <p:cNvPr id="1749" name="Google Shape;1749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48201" y="2033526"/>
            <a:ext cx="892500" cy="9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0" name="Google Shape;1750;p103"/>
          <p:cNvSpPr txBox="1"/>
          <p:nvPr>
            <p:ph idx="4294967295" type="subTitle"/>
          </p:nvPr>
        </p:nvSpPr>
        <p:spPr>
          <a:xfrm>
            <a:off x="324000" y="3106175"/>
            <a:ext cx="5450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Write a sentence explaining why this structure represents the sequence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30-10-2023/aab6d9f8-934e-404e-8653-a8856558ebe4&quot; data-equatio-type=&quot;desmos&quot;&gt;&lt;mglyph src=&quot;https://equatio-api.texthelp.com/desmos/get/30-10-2023/aab6d9f8-934e-404e-8653-a8856558ebe4&quot; alt=&quot;Equatio Desmos Graph&quot;/&gt;&lt;/math&gt;" id="1751" name="Google Shape;1751;p103" title="Equatio Desmos Graph"/>
          <p:cNvPicPr preferRelativeResize="0"/>
          <p:nvPr/>
        </p:nvPicPr>
        <p:blipFill rotWithShape="1">
          <a:blip r:embed="rId4">
            <a:alphaModFix/>
          </a:blip>
          <a:srcRect b="21879" l="29947" r="53068" t="21392"/>
          <a:stretch/>
        </p:blipFill>
        <p:spPr>
          <a:xfrm>
            <a:off x="6086634" y="809999"/>
            <a:ext cx="1908152" cy="4003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2" name="Google Shape;1752;p103"/>
          <p:cNvGrpSpPr/>
          <p:nvPr/>
        </p:nvGrpSpPr>
        <p:grpSpPr>
          <a:xfrm>
            <a:off x="6426056" y="3081043"/>
            <a:ext cx="203671" cy="437925"/>
            <a:chOff x="2772127" y="3611285"/>
            <a:chExt cx="605624" cy="1200123"/>
          </a:xfrm>
        </p:grpSpPr>
        <p:pic>
          <p:nvPicPr>
            <p:cNvPr id="1753" name="Google Shape;1753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772127" y="4204825"/>
              <a:ext cx="605624" cy="606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4" name="Google Shape;1754;p10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772127" y="3611285"/>
              <a:ext cx="605624" cy="6065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5" name="Google Shape;1755;p103"/>
          <p:cNvSpPr txBox="1"/>
          <p:nvPr/>
        </p:nvSpPr>
        <p:spPr>
          <a:xfrm>
            <a:off x="6416641" y="4511686"/>
            <a:ext cx="167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6" name="Google Shape;1756;p103"/>
          <p:cNvSpPr txBox="1"/>
          <p:nvPr/>
        </p:nvSpPr>
        <p:spPr>
          <a:xfrm rot="-5400000">
            <a:off x="5283475" y="1670571"/>
            <a:ext cx="149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7" name="Google Shape;1757;p103"/>
          <p:cNvGrpSpPr/>
          <p:nvPr/>
        </p:nvGrpSpPr>
        <p:grpSpPr>
          <a:xfrm>
            <a:off x="6424557" y="3571406"/>
            <a:ext cx="203670" cy="1009453"/>
            <a:chOff x="6754794" y="2647503"/>
            <a:chExt cx="244620" cy="1212411"/>
          </a:xfrm>
        </p:grpSpPr>
        <p:pic>
          <p:nvPicPr>
            <p:cNvPr id="1758" name="Google Shape;1758;p10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54794" y="3614873"/>
              <a:ext cx="244620" cy="245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9" name="Google Shape;1759;p10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54794" y="3368616"/>
              <a:ext cx="244620" cy="245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0" name="Google Shape;1760;p10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54794" y="3122359"/>
              <a:ext cx="244620" cy="245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1" name="Google Shape;1761;p10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54794" y="2876103"/>
              <a:ext cx="244620" cy="245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2" name="Google Shape;1762;p10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54794" y="2647503"/>
              <a:ext cx="244620" cy="24504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3" name="Google Shape;1763;p103"/>
          <p:cNvGrpSpPr/>
          <p:nvPr/>
        </p:nvGrpSpPr>
        <p:grpSpPr>
          <a:xfrm>
            <a:off x="6689838" y="2625589"/>
            <a:ext cx="203918" cy="1955270"/>
            <a:chOff x="6689838" y="2625589"/>
            <a:chExt cx="203918" cy="1955270"/>
          </a:xfrm>
        </p:grpSpPr>
        <p:grpSp>
          <p:nvGrpSpPr>
            <p:cNvPr id="1764" name="Google Shape;1764;p103"/>
            <p:cNvGrpSpPr/>
            <p:nvPr/>
          </p:nvGrpSpPr>
          <p:grpSpPr>
            <a:xfrm>
              <a:off x="6689838" y="3081043"/>
              <a:ext cx="203671" cy="437925"/>
              <a:chOff x="2772127" y="3611285"/>
              <a:chExt cx="605624" cy="1200123"/>
            </a:xfrm>
          </p:grpSpPr>
          <p:pic>
            <p:nvPicPr>
              <p:cNvPr id="1765" name="Google Shape;1765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66" name="Google Shape;1766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67" name="Google Shape;1767;p103"/>
            <p:cNvGrpSpPr/>
            <p:nvPr/>
          </p:nvGrpSpPr>
          <p:grpSpPr>
            <a:xfrm>
              <a:off x="6689838" y="2625589"/>
              <a:ext cx="203671" cy="437925"/>
              <a:chOff x="2772127" y="3611285"/>
              <a:chExt cx="605624" cy="1200123"/>
            </a:xfrm>
          </p:grpSpPr>
          <p:pic>
            <p:nvPicPr>
              <p:cNvPr id="1768" name="Google Shape;1768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69" name="Google Shape;1769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70" name="Google Shape;1770;p103"/>
            <p:cNvGrpSpPr/>
            <p:nvPr/>
          </p:nvGrpSpPr>
          <p:grpSpPr>
            <a:xfrm>
              <a:off x="6690086" y="3571406"/>
              <a:ext cx="203670" cy="1009453"/>
              <a:chOff x="6754794" y="2647503"/>
              <a:chExt cx="244620" cy="1212411"/>
            </a:xfrm>
          </p:grpSpPr>
          <p:pic>
            <p:nvPicPr>
              <p:cNvPr id="1771" name="Google Shape;1771;p10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54794" y="361487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72" name="Google Shape;1772;p10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54794" y="3368616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73" name="Google Shape;1773;p10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54794" y="3122359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74" name="Google Shape;1774;p10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54794" y="287610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75" name="Google Shape;1775;p10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54794" y="264750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776" name="Google Shape;1776;p103"/>
          <p:cNvGrpSpPr/>
          <p:nvPr/>
        </p:nvGrpSpPr>
        <p:grpSpPr>
          <a:xfrm>
            <a:off x="6953620" y="2170135"/>
            <a:ext cx="205666" cy="2410724"/>
            <a:chOff x="6953620" y="2170135"/>
            <a:chExt cx="205666" cy="2410724"/>
          </a:xfrm>
        </p:grpSpPr>
        <p:grpSp>
          <p:nvGrpSpPr>
            <p:cNvPr id="1777" name="Google Shape;1777;p103"/>
            <p:cNvGrpSpPr/>
            <p:nvPr/>
          </p:nvGrpSpPr>
          <p:grpSpPr>
            <a:xfrm>
              <a:off x="6953620" y="3081043"/>
              <a:ext cx="203671" cy="437925"/>
              <a:chOff x="2772127" y="3611285"/>
              <a:chExt cx="605624" cy="1200123"/>
            </a:xfrm>
          </p:grpSpPr>
          <p:pic>
            <p:nvPicPr>
              <p:cNvPr id="1778" name="Google Shape;1778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79" name="Google Shape;1779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80" name="Google Shape;1780;p103"/>
            <p:cNvGrpSpPr/>
            <p:nvPr/>
          </p:nvGrpSpPr>
          <p:grpSpPr>
            <a:xfrm>
              <a:off x="6953620" y="2625589"/>
              <a:ext cx="203671" cy="437925"/>
              <a:chOff x="2772127" y="3611285"/>
              <a:chExt cx="605624" cy="1200123"/>
            </a:xfrm>
          </p:grpSpPr>
          <p:pic>
            <p:nvPicPr>
              <p:cNvPr id="1781" name="Google Shape;1781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82" name="Google Shape;1782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83" name="Google Shape;1783;p103"/>
            <p:cNvGrpSpPr/>
            <p:nvPr/>
          </p:nvGrpSpPr>
          <p:grpSpPr>
            <a:xfrm>
              <a:off x="6953620" y="2170135"/>
              <a:ext cx="203671" cy="437925"/>
              <a:chOff x="2772127" y="3611285"/>
              <a:chExt cx="605624" cy="1200123"/>
            </a:xfrm>
          </p:grpSpPr>
          <p:pic>
            <p:nvPicPr>
              <p:cNvPr id="1784" name="Google Shape;1784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85" name="Google Shape;1785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86" name="Google Shape;1786;p103"/>
            <p:cNvGrpSpPr/>
            <p:nvPr/>
          </p:nvGrpSpPr>
          <p:grpSpPr>
            <a:xfrm>
              <a:off x="6955615" y="3571406"/>
              <a:ext cx="203670" cy="1009453"/>
              <a:chOff x="6754794" y="2647503"/>
              <a:chExt cx="244620" cy="1212411"/>
            </a:xfrm>
          </p:grpSpPr>
          <p:pic>
            <p:nvPicPr>
              <p:cNvPr id="1787" name="Google Shape;1787;p10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54794" y="361487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88" name="Google Shape;1788;p10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54794" y="3368616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89" name="Google Shape;1789;p10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54794" y="3122359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90" name="Google Shape;1790;p10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54794" y="287610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91" name="Google Shape;1791;p10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54794" y="264750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792" name="Google Shape;1792;p103"/>
          <p:cNvGrpSpPr/>
          <p:nvPr/>
        </p:nvGrpSpPr>
        <p:grpSpPr>
          <a:xfrm>
            <a:off x="7217401" y="1718283"/>
            <a:ext cx="207414" cy="2862576"/>
            <a:chOff x="7217401" y="1718283"/>
            <a:chExt cx="207414" cy="2862576"/>
          </a:xfrm>
        </p:grpSpPr>
        <p:grpSp>
          <p:nvGrpSpPr>
            <p:cNvPr id="1793" name="Google Shape;1793;p103"/>
            <p:cNvGrpSpPr/>
            <p:nvPr/>
          </p:nvGrpSpPr>
          <p:grpSpPr>
            <a:xfrm>
              <a:off x="7217401" y="3081043"/>
              <a:ext cx="203671" cy="437925"/>
              <a:chOff x="2772127" y="3611285"/>
              <a:chExt cx="605624" cy="1200123"/>
            </a:xfrm>
          </p:grpSpPr>
          <p:pic>
            <p:nvPicPr>
              <p:cNvPr id="1794" name="Google Shape;1794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95" name="Google Shape;1795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96" name="Google Shape;1796;p103"/>
            <p:cNvGrpSpPr/>
            <p:nvPr/>
          </p:nvGrpSpPr>
          <p:grpSpPr>
            <a:xfrm>
              <a:off x="7217401" y="2625589"/>
              <a:ext cx="203671" cy="437925"/>
              <a:chOff x="2772127" y="3611285"/>
              <a:chExt cx="605624" cy="1200123"/>
            </a:xfrm>
          </p:grpSpPr>
          <p:pic>
            <p:nvPicPr>
              <p:cNvPr id="1797" name="Google Shape;1797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98" name="Google Shape;1798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99" name="Google Shape;1799;p103"/>
            <p:cNvGrpSpPr/>
            <p:nvPr/>
          </p:nvGrpSpPr>
          <p:grpSpPr>
            <a:xfrm>
              <a:off x="7217401" y="2170135"/>
              <a:ext cx="203671" cy="437925"/>
              <a:chOff x="2772127" y="3611285"/>
              <a:chExt cx="605624" cy="1200123"/>
            </a:xfrm>
          </p:grpSpPr>
          <p:pic>
            <p:nvPicPr>
              <p:cNvPr id="1800" name="Google Shape;1800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01" name="Google Shape;1801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02" name="Google Shape;1802;p103"/>
            <p:cNvGrpSpPr/>
            <p:nvPr/>
          </p:nvGrpSpPr>
          <p:grpSpPr>
            <a:xfrm>
              <a:off x="7217401" y="1718283"/>
              <a:ext cx="203671" cy="437925"/>
              <a:chOff x="2772127" y="3611285"/>
              <a:chExt cx="605624" cy="1200123"/>
            </a:xfrm>
          </p:grpSpPr>
          <p:pic>
            <p:nvPicPr>
              <p:cNvPr id="1803" name="Google Shape;1803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04" name="Google Shape;1804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05" name="Google Shape;1805;p103"/>
            <p:cNvGrpSpPr/>
            <p:nvPr/>
          </p:nvGrpSpPr>
          <p:grpSpPr>
            <a:xfrm>
              <a:off x="7221145" y="3571406"/>
              <a:ext cx="203670" cy="1009453"/>
              <a:chOff x="6754794" y="2647503"/>
              <a:chExt cx="244620" cy="1212411"/>
            </a:xfrm>
          </p:grpSpPr>
          <p:pic>
            <p:nvPicPr>
              <p:cNvPr id="1806" name="Google Shape;1806;p10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54794" y="361487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07" name="Google Shape;1807;p10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54794" y="3368616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08" name="Google Shape;1808;p10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54794" y="3122359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09" name="Google Shape;1809;p10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54794" y="287610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10" name="Google Shape;1810;p10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54794" y="264750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11" name="Google Shape;1811;p103"/>
          <p:cNvGrpSpPr/>
          <p:nvPr/>
        </p:nvGrpSpPr>
        <p:grpSpPr>
          <a:xfrm>
            <a:off x="7482931" y="1264423"/>
            <a:ext cx="207414" cy="3316435"/>
            <a:chOff x="7482931" y="1264423"/>
            <a:chExt cx="207414" cy="3316435"/>
          </a:xfrm>
        </p:grpSpPr>
        <p:grpSp>
          <p:nvGrpSpPr>
            <p:cNvPr id="1812" name="Google Shape;1812;p103"/>
            <p:cNvGrpSpPr/>
            <p:nvPr/>
          </p:nvGrpSpPr>
          <p:grpSpPr>
            <a:xfrm>
              <a:off x="7482931" y="3081043"/>
              <a:ext cx="203671" cy="437925"/>
              <a:chOff x="2772127" y="3611285"/>
              <a:chExt cx="605624" cy="1200123"/>
            </a:xfrm>
          </p:grpSpPr>
          <p:pic>
            <p:nvPicPr>
              <p:cNvPr id="1813" name="Google Shape;1813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14" name="Google Shape;1814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15" name="Google Shape;1815;p103"/>
            <p:cNvGrpSpPr/>
            <p:nvPr/>
          </p:nvGrpSpPr>
          <p:grpSpPr>
            <a:xfrm>
              <a:off x="7482931" y="2625589"/>
              <a:ext cx="203671" cy="437925"/>
              <a:chOff x="2772127" y="3611285"/>
              <a:chExt cx="605624" cy="1200123"/>
            </a:xfrm>
          </p:grpSpPr>
          <p:pic>
            <p:nvPicPr>
              <p:cNvPr id="1816" name="Google Shape;1816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17" name="Google Shape;1817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18" name="Google Shape;1818;p103"/>
            <p:cNvGrpSpPr/>
            <p:nvPr/>
          </p:nvGrpSpPr>
          <p:grpSpPr>
            <a:xfrm>
              <a:off x="7482931" y="2170135"/>
              <a:ext cx="203671" cy="437925"/>
              <a:chOff x="2772127" y="3611285"/>
              <a:chExt cx="605624" cy="1200123"/>
            </a:xfrm>
          </p:grpSpPr>
          <p:pic>
            <p:nvPicPr>
              <p:cNvPr id="1819" name="Google Shape;1819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20" name="Google Shape;1820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21" name="Google Shape;1821;p103"/>
            <p:cNvGrpSpPr/>
            <p:nvPr/>
          </p:nvGrpSpPr>
          <p:grpSpPr>
            <a:xfrm>
              <a:off x="7482931" y="1718283"/>
              <a:ext cx="203671" cy="437925"/>
              <a:chOff x="2772127" y="3611285"/>
              <a:chExt cx="605624" cy="1200123"/>
            </a:xfrm>
          </p:grpSpPr>
          <p:pic>
            <p:nvPicPr>
              <p:cNvPr id="1822" name="Google Shape;1822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23" name="Google Shape;1823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24" name="Google Shape;1824;p103"/>
            <p:cNvGrpSpPr/>
            <p:nvPr/>
          </p:nvGrpSpPr>
          <p:grpSpPr>
            <a:xfrm>
              <a:off x="7486674" y="3571406"/>
              <a:ext cx="203670" cy="1009453"/>
              <a:chOff x="6754794" y="2647503"/>
              <a:chExt cx="244620" cy="1212411"/>
            </a:xfrm>
          </p:grpSpPr>
          <p:pic>
            <p:nvPicPr>
              <p:cNvPr id="1825" name="Google Shape;1825;p10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54794" y="361487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26" name="Google Shape;1826;p10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54794" y="3368616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27" name="Google Shape;1827;p10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54794" y="3122359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28" name="Google Shape;1828;p10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54794" y="287610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29" name="Google Shape;1829;p10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54794" y="2647503"/>
                <a:ext cx="244620" cy="2450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30" name="Google Shape;1830;p103"/>
            <p:cNvGrpSpPr/>
            <p:nvPr/>
          </p:nvGrpSpPr>
          <p:grpSpPr>
            <a:xfrm>
              <a:off x="7482931" y="1264423"/>
              <a:ext cx="203671" cy="437925"/>
              <a:chOff x="2772127" y="3611285"/>
              <a:chExt cx="605624" cy="1200123"/>
            </a:xfrm>
          </p:grpSpPr>
          <p:pic>
            <p:nvPicPr>
              <p:cNvPr id="1831" name="Google Shape;1831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32" name="Google Shape;1832;p10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833" name="Google Shape;1833;p103"/>
          <p:cNvSpPr txBox="1"/>
          <p:nvPr>
            <p:ph idx="4294967295" type="subTitle"/>
          </p:nvPr>
        </p:nvSpPr>
        <p:spPr>
          <a:xfrm>
            <a:off x="324000" y="3986025"/>
            <a:ext cx="56547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might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have written, the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remains constant whereas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 a variable, varying the number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’s.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8" name="Google Shape;1838;p104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099212" y="1558938"/>
            <a:ext cx="4914350" cy="149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839" name="Google Shape;1839;p104"/>
          <p:cNvSpPr txBox="1"/>
          <p:nvPr>
            <p:ph idx="4294967295" type="subTitle"/>
          </p:nvPr>
        </p:nvSpPr>
        <p:spPr>
          <a:xfrm>
            <a:off x="324000" y="820175"/>
            <a:ext cx="6331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4)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10th</a:t>
            </a:r>
            <a:r>
              <a:rPr lang="en-GB" sz="1800"/>
              <a:t> term of the arithmetic sequence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r>
              <a:rPr lang="en-GB" sz="1800"/>
              <a:t> and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20th</a:t>
            </a:r>
            <a:r>
              <a:rPr lang="en-GB" sz="1800"/>
              <a:t> term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70 </a:t>
            </a:r>
            <a:r>
              <a:rPr lang="en-GB" sz="1800"/>
              <a:t>so Laura says…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0" name="Google Shape;1840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Features of sequences represented graphically </a:t>
            </a:r>
            <a:endParaRPr/>
          </a:p>
        </p:txBody>
      </p:sp>
      <p:sp>
        <p:nvSpPr>
          <p:cNvPr id="1841" name="Google Shape;1841;p104"/>
          <p:cNvSpPr txBox="1"/>
          <p:nvPr>
            <p:ph idx="4294967295" type="subTitle"/>
          </p:nvPr>
        </p:nvSpPr>
        <p:spPr>
          <a:xfrm>
            <a:off x="1511973" y="1658365"/>
            <a:ext cx="44358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 know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10th</a:t>
            </a:r>
            <a:r>
              <a:rPr lang="en-GB" sz="1800"/>
              <a:t> term of the arithmetic sequence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− 21 </a:t>
            </a:r>
            <a:r>
              <a:rPr lang="en-GB" sz="1800"/>
              <a:t>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r>
              <a:rPr lang="en-GB" sz="1800"/>
              <a:t> so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20th</a:t>
            </a:r>
            <a:r>
              <a:rPr lang="en-GB" sz="1800"/>
              <a:t> term must be double that. It’s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28</a:t>
            </a:r>
            <a:endParaRPr sz="1800"/>
          </a:p>
        </p:txBody>
      </p:sp>
      <p:pic>
        <p:nvPicPr>
          <p:cNvPr id="1842" name="Google Shape;1842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975" y="2056900"/>
            <a:ext cx="1012026" cy="27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3" name="Google Shape;1843;p104"/>
          <p:cNvSpPr txBox="1"/>
          <p:nvPr>
            <p:ph idx="4294967295" type="subTitle"/>
          </p:nvPr>
        </p:nvSpPr>
        <p:spPr>
          <a:xfrm>
            <a:off x="2610000" y="2953775"/>
            <a:ext cx="6136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Explain to Laura why this does work for the arithmetic sequence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but it doesn’t for the sequence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− 21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4" name="Google Shape;1844;p104"/>
          <p:cNvSpPr txBox="1"/>
          <p:nvPr>
            <p:ph idx="4294967295" type="subTitle"/>
          </p:nvPr>
        </p:nvSpPr>
        <p:spPr>
          <a:xfrm>
            <a:off x="1771800" y="3681225"/>
            <a:ext cx="65079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said, the sequence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has no constant so it is just twice as many variables, whereas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− 21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contains a constant and that constant will not double.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p105"/>
          <p:cNvSpPr txBox="1"/>
          <p:nvPr>
            <p:ph idx="1" type="body"/>
          </p:nvPr>
        </p:nvSpPr>
        <p:spPr>
          <a:xfrm>
            <a:off x="324000" y="1080000"/>
            <a:ext cx="84960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plot sequences graphically by plotting as coordinates their term number and term value.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Multiple representations can allow us to see patterns and structure.</a:t>
            </a:r>
            <a:endParaRPr/>
          </a:p>
        </p:txBody>
      </p:sp>
      <p:sp>
        <p:nvSpPr>
          <p:cNvPr id="1850" name="Google Shape;1850;p105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sequences graphically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856" name="Google Shape;1856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