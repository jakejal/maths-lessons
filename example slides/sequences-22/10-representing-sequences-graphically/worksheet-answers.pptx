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DFF6945-C3B3-4B48-9645-28376A8296D4}">
  <a:tblStyle styleId="{7DFF6945-C3B3-4B48-9645-28376A8296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4.png" /><Relationship Id="rId11" Type="http://schemas.openxmlformats.org/officeDocument/2006/relationships/image" Target="../media/image25.png" /><Relationship Id="rId12" Type="http://schemas.openxmlformats.org/officeDocument/2006/relationships/image" Target="../media/image26.png" /><Relationship Id="rId13" Type="http://schemas.openxmlformats.org/officeDocument/2006/relationships/image" Target="../media/image27.png" /><Relationship Id="rId14" Type="http://schemas.openxmlformats.org/officeDocument/2006/relationships/image" Target="../media/image28.png" /><Relationship Id="rId15" Type="http://schemas.openxmlformats.org/officeDocument/2006/relationships/image" Target="../media/image29.png" /><Relationship Id="rId16" Type="http://schemas.openxmlformats.org/officeDocument/2006/relationships/image" Target="../media/image30.png" /><Relationship Id="rId17" Type="http://schemas.openxmlformats.org/officeDocument/2006/relationships/image" Target="../media/image31.png" /><Relationship Id="rId18" Type="http://schemas.openxmlformats.org/officeDocument/2006/relationships/image" Target="../media/image32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7.png" /><Relationship Id="rId4" Type="http://schemas.openxmlformats.org/officeDocument/2006/relationships/image" Target="../media/image18.png" /><Relationship Id="rId5" Type="http://schemas.openxmlformats.org/officeDocument/2006/relationships/image" Target="../media/image19.png" /><Relationship Id="rId6" Type="http://schemas.openxmlformats.org/officeDocument/2006/relationships/image" Target="../media/image20.png" /><Relationship Id="rId7" Type="http://schemas.openxmlformats.org/officeDocument/2006/relationships/image" Target="../media/image21.png" /><Relationship Id="rId8" Type="http://schemas.openxmlformats.org/officeDocument/2006/relationships/image" Target="../media/image22.png" /><Relationship Id="rId9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00775"/>
            <a:ext cx="5296500" cy="7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and plot the first five terms of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63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Plotting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67998" y="2657391"/>
          <a:ext cx="3336475" cy="769200"/>
        </p:xfrm>
        <a:graphic>
          <a:graphicData uri="http://schemas.openxmlformats.org/drawingml/2006/table">
            <a:tbl>
              <a:tblPr>
                <a:noFill/>
                <a:tableStyleId>{7DFF6945-C3B3-4B48-9645-28376A8296D4}</a:tableStyleId>
              </a:tblPr>
              <a:tblGrid>
                <a:gridCol w="1639100"/>
                <a:gridCol w="339475"/>
                <a:gridCol w="339475"/>
                <a:gridCol w="339475"/>
                <a:gridCol w="339475"/>
                <a:gridCol w="339475"/>
              </a:tblGrid>
              <a:tr h="39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-6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5666418" y="4694581"/>
            <a:ext cx="1083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 rot="-5400000">
            <a:off x="4878901" y="2579606"/>
            <a:ext cx="1083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 descr="&lt;math xmlns=&quot;http://www.w3.org/1998/Math/MathML&quot; display=&quot;block&quot; data-is-equatio=&quot;1&quot; data-latex=&quot;3n-9&quot;&gt;&lt;mn&gt;3&lt;/mn&gt;&lt;mi&gt;n&lt;/mi&gt;&lt;mo&gt;−&lt;/mo&gt;&lt;mn&gt;9&lt;/mn&gt;&lt;/math&gt;" title="3 n minu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899" y="2143730"/>
            <a:ext cx="720649" cy="2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8000" y="2148475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 descr="&lt;math xmlns=&quot;http://www.w3.org/1998/Math/MathML&quot; data-is-equatio=&quot;1&quot; data-equatio-url=&quot;https://equatio-api.texthelp.com/desmos/get/27-10-2023/69f61259-6368-418e-ae52-c2be32842546&quot; data-equatio-type=&quot;desmos&quot;&gt;&lt;mglyph src=&quot;https://equatio-api.texthelp.com/desmos/get/27-10-2023/69f61259-6368-418e-ae52-c2be32842546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32468" t="20999" r="46260" b="20911"/>
          <a:stretch>
            <a:fillRect/>
          </a:stretch>
        </p:blipFill>
        <p:spPr>
          <a:xfrm>
            <a:off x="5580125" y="2123150"/>
            <a:ext cx="1255510" cy="257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666299" y="7859150"/>
            <a:ext cx="14181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 rot="-5400000">
            <a:off x="4648553" y="5543273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 descr="&lt;math xmlns=&quot;http://www.w3.org/1998/Math/MathML&quot; display=&quot;block&quot; data-is-equatio=&quot;1&quot; data-latex=&quot;3-n&quot;&gt;&lt;mn&gt;3&lt;/mn&gt;&lt;mo&gt;−&lt;/mo&gt;&lt;mi&gt;n&lt;/mi&gt;&lt;/math&gt;" title="3 minus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899" y="5324241"/>
            <a:ext cx="583328" cy="20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468010" y="5767491"/>
          <a:ext cx="3336450" cy="769200"/>
        </p:xfrm>
        <a:graphic>
          <a:graphicData uri="http://schemas.openxmlformats.org/drawingml/2006/table">
            <a:tbl>
              <a:tblPr>
                <a:noFill/>
                <a:tableStyleId>{7DFF6945-C3B3-4B48-9645-28376A8296D4}</a:tableStyleId>
              </a:tblPr>
              <a:tblGrid>
                <a:gridCol w="1639075"/>
                <a:gridCol w="339475"/>
                <a:gridCol w="339475"/>
                <a:gridCol w="339475"/>
                <a:gridCol w="339475"/>
                <a:gridCol w="339475"/>
              </a:tblGrid>
              <a:tr h="39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468000" y="5346000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ata-is-equatio=&quot;1&quot; data-equatio-url=&quot;https://equatio-api.texthelp.com/desmos/get/27-10-2023/99c56a2b-8ae5-493d-8564-26528a36e1a6&quot; data-equatio-type=&quot;desmos&quot;&gt;&lt;mglyph src=&quot;https://equatio-api.texthelp.com/desmos/get/27-10-2023/99c56a2b-8ae5-493d-8564-26528a36e1a6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29363" t="19720" r="46326" b="21501"/>
          <a:stretch>
            <a:fillRect/>
          </a:stretch>
        </p:blipFill>
        <p:spPr>
          <a:xfrm>
            <a:off x="5580125" y="5213600"/>
            <a:ext cx="1417960" cy="257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68000" y="8228175"/>
            <a:ext cx="66240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sequences to their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 descr="&lt;math xmlns=&quot;http://www.w3.org/1998/Math/MathML&quot; display=&quot;block&quot; data-is-equatio=&quot;1&quot; data-latex=&quot;4n+10&quot;&gt;&lt;mn&gt;4&lt;/mn&gt;&lt;mi&gt;n&lt;/mi&gt;&lt;mo&gt;+&lt;/mo&gt;&lt;mn&gt;10&lt;/mn&gt;&lt;/math&gt;" title="4 n plu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700" y="8649000"/>
            <a:ext cx="823652" cy="1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4n-10&quot;&gt;&lt;mn&gt;4&lt;/mn&gt;&lt;mi&gt;n&lt;/mi&gt;&lt;mo&gt;−&lt;/mo&gt;&lt;mn&gt;10&lt;/mn&gt;&lt;/math&gt;" title="4 n minus 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6374" y="8652852"/>
            <a:ext cx="823652" cy="19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10-4n&quot;&gt;&lt;mn&gt;10&lt;/mn&gt;&lt;mo&gt;−&lt;/mo&gt;&lt;mn&gt;4&lt;/mn&gt;&lt;mi&gt;n&lt;/mi&gt;&lt;/math&gt;" title="10 minus 4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99444" y="8659927"/>
            <a:ext cx="796499" cy="19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ata-is-equatio=&quot;1&quot; data-equatio-url=&quot;https://equatio-api.texthelp.com/desmos/get/27-10-2023/b19c4c36-dfd5-4798-9c10-63efc74abb3f&quot; data-equatio-type=&quot;desmos&quot;&gt;&lt;mglyph src=&quot;https://equatio-api.texthelp.com/desmos/get/27-10-2023/b19c4c36-dfd5-4798-9c10-63efc74abb3f&quot; alt=&quot;Equatio Desmos Graph&quot;/&gt;&lt;/math&gt;" title="Equatio Desmos Graph"/>
          <p:cNvPicPr preferRelativeResize="0"/>
          <p:nvPr/>
        </p:nvPicPr>
        <p:blipFill>
          <a:blip r:embed="rId10">
            <a:alphaModFix/>
          </a:blip>
          <a:srcRect l="26937" r="59757" b="21580"/>
          <a:stretch>
            <a:fillRect/>
          </a:stretch>
        </p:blipFill>
        <p:spPr>
          <a:xfrm>
            <a:off x="1298236" y="8648670"/>
            <a:ext cx="342670" cy="121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ata-is-equatio=&quot;1&quot; data-equatio-url=&quot;https://equatio-api.texthelp.com/desmos/get/27-10-2023/1e688b38-da20-419c-bf71-4cfaac09d968&quot; data-equatio-type=&quot;desmos&quot;&gt;&lt;mglyph src=&quot;https://equatio-api.texthelp.com/desmos/get/27-10-2023/1e688b38-da20-419c-bf71-4cfaac09d968&quot; alt=&quot;Equatio Desmos Graph&quot;/&gt;&lt;/math&gt;" title="Equatio Desmos Graph"/>
          <p:cNvPicPr preferRelativeResize="0"/>
          <p:nvPr/>
        </p:nvPicPr>
        <p:blipFill>
          <a:blip r:embed="rId11">
            <a:alphaModFix/>
          </a:blip>
          <a:srcRect l="27541" t="39353" r="60311"/>
          <a:stretch>
            <a:fillRect/>
          </a:stretch>
        </p:blipFill>
        <p:spPr>
          <a:xfrm>
            <a:off x="3624418" y="8648671"/>
            <a:ext cx="386702" cy="121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ata-is-equatio=&quot;1&quot; data-equatio-url=&quot;https://equatio-api.texthelp.com/desmos/get/27-10-2023/9694d722-9f5b-4668-877c-ecdc06cbad13&quot; data-equatio-type=&quot;desmos&quot;&gt;&lt;mglyph src=&quot;https://equatio-api.texthelp.com/desmos/get/27-10-2023/9694d722-9f5b-4668-877c-ecdc06cbad13&quot; alt=&quot;Equatio Desmos Graph&quot;/&gt;&lt;/math&gt;" title="Equatio Desmos Graph"/>
          <p:cNvPicPr preferRelativeResize="0"/>
          <p:nvPr/>
        </p:nvPicPr>
        <p:blipFill>
          <a:blip r:embed="rId12">
            <a:alphaModFix/>
          </a:blip>
          <a:srcRect l="27544" t="43601" r="60309"/>
          <a:stretch>
            <a:fillRect/>
          </a:stretch>
        </p:blipFill>
        <p:spPr>
          <a:xfrm>
            <a:off x="5994646" y="8648675"/>
            <a:ext cx="386702" cy="121823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8000" y="8945700"/>
            <a:ext cx="7965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Increasing sequence with all positive term values.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712886" y="8945700"/>
            <a:ext cx="7965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Increasing sequence with some negative term values.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099450" y="8945700"/>
            <a:ext cx="11496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Decreasing sequence.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>
            <a:off x="4637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1055625"/>
            <a:ext cx="6624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Match these arithmetic sequences to the correct plotting.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Features of sequences represented graphically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1756628"/>
            <a:ext cx="37284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a few sentences explaining how you identified each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3173250"/>
            <a:ext cx="3672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has the same term-to-term increase as     but, is a translation by     in the positive vertical direction.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21" descr="&lt;math xmlns=&quot;http://www.w3.org/1998/Math/MathML&quot; data-is-equatio=&quot;1&quot; data-equatio-url=&quot;https://equatio-api.texthelp.com/desmos/get/30-10-2023/f0b600bf-d2ad-49f1-b773-4d2ab035404d&quot; data-equatio-type=&quot;desmos&quot;&gt;&lt;mglyph src=&quot;https://equatio-api.texthelp.com/desmos/get/30-10-2023/f0b600bf-d2ad-49f1-b773-4d2ab035404d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0362" r="60634"/>
          <a:stretch>
            <a:fillRect/>
          </a:stretch>
        </p:blipFill>
        <p:spPr>
          <a:xfrm>
            <a:off x="5942522" y="1271473"/>
            <a:ext cx="549592" cy="22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468000" y="2223630"/>
            <a:ext cx="3672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sequences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have the same increases term-to-term, with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being a translation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 the negative vertical direction.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21" descr="&lt;math xmlns=&quot;http://www.w3.org/1998/Math/MathML&quot; display=&quot;block&quot; data-is-equatio=&quot;1&quot; data-latex=&quot;\frac{3}{2}n&quot;&gt;&lt;mfrac&gt;&lt;mn&gt;3&lt;/mn&gt;&lt;mn&gt;2&lt;/mn&gt;&lt;/mfrac&gt;&lt;mi&gt;n&lt;/mi&gt;&lt;/math&gt;" title="three halve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304" y="2404477"/>
            <a:ext cx="198280" cy="335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&lt;math xmlns=&quot;http://www.w3.org/1998/Math/MathML&quot; data-is-equatio=&quot;1&quot; data-equatio-url=&quot;https://equatio-api.texthelp.com/desmos/get/30-10-2023/9fbd6101-5a6c-4a45-8db3-ebf2d6892569&quot; data-equatio-type=&quot;desmos&quot;&gt;&lt;mglyph src=&quot;https://equatio-api.texthelp.com/desmos/get/30-10-2023/9fbd6101-5a6c-4a45-8db3-ebf2d6892569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1776" t="10498" r="61523"/>
          <a:stretch>
            <a:fillRect/>
          </a:stretch>
        </p:blipFill>
        <p:spPr>
          <a:xfrm>
            <a:off x="4452474" y="1485654"/>
            <a:ext cx="616252" cy="2034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&lt;math xmlns=&quot;http://www.w3.org/1998/Math/MathML&quot; display=&quot;block&quot; data-is-equatio=&quot;1&quot; data-latex=&quot;\frac{3}{2}n+\frac{11}{2}&quot;&gt;&lt;mfrac&gt;&lt;mn&gt;3&lt;/mn&gt;&lt;mn&gt;2&lt;/mn&gt;&lt;/mfrac&gt;&lt;mi&gt;n&lt;/mi&gt;&lt;mo&gt;+&lt;/mo&gt;&lt;mfrac&gt;&lt;mn&gt;11&lt;/mn&gt;&lt;mn&gt;2&lt;/mn&gt;&lt;/mfrac&gt;&lt;/math&gt;" title="three halves n plus elev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2894" y="1796311"/>
            <a:ext cx="587494" cy="335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&lt;math xmlns=&quot;http://www.w3.org/1998/Math/MathML&quot; display=&quot;block&quot; data-is-equatio=&quot;1&quot; data-latex=&quot;\frac{11}{2}&quot;&gt;&lt;mfrac&gt;&lt;mn&gt;11&lt;/mn&gt;&lt;mn&gt;2&lt;/mn&gt;&lt;/mfrac&gt;&lt;/math&gt;" title="eleven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45910" y="3342192"/>
            <a:ext cx="185791" cy="33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isplay=&quot;block&quot; data-is-equatio=&quot;1&quot; data-latex=&quot;3n&quot;&gt;&lt;mn&gt;3&lt;/mn&gt;&lt;mi&gt;n&lt;/mi&gt;&lt;/math&gt;" title="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8210" y="1285880"/>
            <a:ext cx="159263" cy="11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&lt;math xmlns=&quot;http://www.w3.org/1998/Math/MathML&quot; display=&quot;block&quot; data-is-equatio=&quot;1&quot; data-latex=&quot;3n-10&quot;&gt;&lt;mn&gt;3&lt;/mn&gt;&lt;mi&gt;n&lt;/mi&gt;&lt;mo&gt;−&lt;/mo&gt;&lt;mn&gt;10&lt;/mn&gt;&lt;/math&gt;" title="3 n minus 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28210" y="2144555"/>
            <a:ext cx="563790" cy="130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\frac{3}{2}n&quot;&gt;&lt;mfrac&gt;&lt;mn&gt;3&lt;/mn&gt;&lt;mn&gt;2&lt;/mn&gt;&lt;/mfrac&gt;&lt;mi&gt;n&lt;/mi&gt;&lt;/math&gt;" title="three halve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223" y="3097060"/>
            <a:ext cx="185799" cy="31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&lt;math xmlns=&quot;http://www.w3.org/1998/Math/MathML&quot; display=&quot;block&quot; data-is-equatio=&quot;1&quot; data-latex=&quot;\frac{3}{2}n+\frac{11}{2}&quot;&gt;&lt;mfrac&gt;&lt;mn&gt;3&lt;/mn&gt;&lt;mn&gt;2&lt;/mn&gt;&lt;/mfrac&gt;&lt;mi&gt;n&lt;/mi&gt;&lt;mo&gt;+&lt;/mo&gt;&lt;mfrac&gt;&lt;mn&gt;11&lt;/mn&gt;&lt;mn&gt;2&lt;/mn&gt;&lt;/mfrac&gt;&lt;/math&gt;" title="three halves n plus elev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1" y="3097049"/>
            <a:ext cx="550513" cy="31424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468000" y="3948275"/>
            <a:ext cx="50193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 has plotted the sequence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4293875"/>
            <a:ext cx="3312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term number is wrong?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 sentence to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1" descr="&lt;math xmlns=&quot;http://www.w3.org/1998/Math/MathML&quot; data-is-equatio=&quot;1&quot; data-equatio-url=&quot;https://equatio-api.texthelp.com/desmos/get/30-10-2023/43dc25a8-948e-428b-9c7c-5c9879f38564&quot; data-equatio-type=&quot;desmos&quot;&gt;&lt;mglyph src=&quot;https://equatio-api.texthelp.com/desmos/get/30-10-2023/43dc25a8-948e-428b-9c7c-5c9879f38564&quot; alt=&quot;Equatio Desmos Graph&quot;/&gt;&lt;/math&gt;" title="Equatio Desmos Graph"/>
          <p:cNvPicPr preferRelativeResize="0"/>
          <p:nvPr/>
        </p:nvPicPr>
        <p:blipFill>
          <a:blip r:embed="rId10">
            <a:alphaModFix/>
          </a:blip>
          <a:srcRect l="10688" t="24981" r="34946" b="22590"/>
          <a:stretch>
            <a:fillRect/>
          </a:stretch>
        </p:blipFill>
        <p:spPr>
          <a:xfrm>
            <a:off x="4473881" y="3839425"/>
            <a:ext cx="2162730" cy="15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3505201" y="4248994"/>
            <a:ext cx="549599" cy="53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&lt;math xmlns=&quot;http://www.w3.org/1998/Math/MathML&quot; display=&quot;block&quot; data-is-equatio=&quot;1&quot; data-latex=&quot;5-\frac{5}{7}n&quot;&gt;&lt;mn&gt;5&lt;/mn&gt;&lt;mo&gt;−&lt;/mo&gt;&lt;mfrac&gt;&lt;mn&gt;5&lt;/mn&gt;&lt;mn&gt;7&lt;/mn&gt;&lt;/mfrac&gt;&lt;mi&gt;n&lt;/mi&gt;&lt;/math&gt;" title="5 minus five sevenths 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2948" y="3839435"/>
            <a:ext cx="550525" cy="38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987584" y="4563558"/>
            <a:ext cx="14664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 rot="-5400000">
            <a:off x="3604464" y="4050950"/>
            <a:ext cx="13893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1000" y="4831101"/>
            <a:ext cx="3726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6th term number is wrong.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71000" y="5150223"/>
            <a:ext cx="3726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is an arithmetic sequence. The points should align and the 6th one is not in line.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586954" y="4504057"/>
            <a:ext cx="263700" cy="279600"/>
          </a:xfrm>
          <a:prstGeom prst="ellipse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5686500"/>
            <a:ext cx="60603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Sofia has started to draw the structure of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Finish her diagram for 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flipH="1">
            <a:off x="5197226" y="7004088"/>
            <a:ext cx="483299" cy="5361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463023" y="6239475"/>
            <a:ext cx="47826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a sentence explaining why this structure represents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21" descr="&lt;math xmlns=&quot;http://www.w3.org/1998/Math/MathML&quot; data-is-equatio=&quot;1&quot; data-equatio-url=&quot;https://equatio-api.texthelp.com/desmos/get/30-10-2023/aab6d9f8-934e-404e-8653-a8856558ebe4&quot; data-equatio-type=&quot;desmos&quot;&gt;&lt;mglyph src=&quot;https://equatio-api.texthelp.com/desmos/get/30-10-2023/aab6d9f8-934e-404e-8653-a8856558ebe4&quot; alt=&quot;Equatio Desmos Graph&quot;/&gt;&lt;/math&gt;" title="Equatio Desmos Graph"/>
          <p:cNvPicPr preferRelativeResize="0"/>
          <p:nvPr/>
        </p:nvPicPr>
        <p:blipFill>
          <a:blip r:embed="rId14">
            <a:alphaModFix/>
          </a:blip>
          <a:srcRect l="29947" t="21392" r="53068" b="21879"/>
          <a:stretch>
            <a:fillRect/>
          </a:stretch>
        </p:blipFill>
        <p:spPr>
          <a:xfrm>
            <a:off x="5942526" y="5859627"/>
            <a:ext cx="964962" cy="20244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1"/>
          <p:cNvGrpSpPr/>
          <p:nvPr/>
        </p:nvGrpSpPr>
        <p:grpSpPr>
          <a:xfrm>
            <a:off x="6114260" y="7007986"/>
            <a:ext cx="103017" cy="221423"/>
            <a:chOff x="2772127" y="3611285"/>
            <a:chExt cx="605624" cy="1200123"/>
          </a:xfrm>
        </p:grpSpPr>
        <p:pic>
          <p:nvPicPr>
            <p:cNvPr id="235" name="Google Shape;235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2772127" y="42048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2772127" y="361128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21"/>
          <p:cNvSpPr txBox="1"/>
          <p:nvPr/>
        </p:nvSpPr>
        <p:spPr>
          <a:xfrm>
            <a:off x="5956661" y="7716431"/>
            <a:ext cx="12414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 rot="-5400000">
            <a:off x="5035450" y="6588881"/>
            <a:ext cx="15456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1"/>
          <p:cNvGrpSpPr/>
          <p:nvPr/>
        </p:nvGrpSpPr>
        <p:grpSpPr>
          <a:xfrm>
            <a:off x="6113075" y="7255949"/>
            <a:ext cx="102985" cy="510425"/>
            <a:chOff x="6754794" y="2647503"/>
            <a:chExt cx="244620" cy="1212411"/>
          </a:xfrm>
        </p:grpSpPr>
        <p:pic>
          <p:nvPicPr>
            <p:cNvPr id="240" name="Google Shape;240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754794" y="361487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754794" y="3368616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754794" y="3122359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754794" y="28761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754794" y="26475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" name="Google Shape;245;p21"/>
          <p:cNvGrpSpPr/>
          <p:nvPr/>
        </p:nvGrpSpPr>
        <p:grpSpPr>
          <a:xfrm>
            <a:off x="6247533" y="6777770"/>
            <a:ext cx="103122" cy="988780"/>
            <a:chOff x="6689838" y="2625589"/>
            <a:chExt cx="203918" cy="1955270"/>
          </a:xfrm>
        </p:grpSpPr>
        <p:grpSp>
          <p:nvGrpSpPr>
            <p:cNvPr id="246" name="Google Shape;246;p21"/>
            <p:cNvGrpSpPr/>
            <p:nvPr/>
          </p:nvGrpSpPr>
          <p:grpSpPr>
            <a:xfrm>
              <a:off x="6689838" y="3081043"/>
              <a:ext cx="203671" cy="437925"/>
              <a:chOff x="2772127" y="3611285"/>
              <a:chExt cx="605624" cy="1200123"/>
            </a:xfrm>
          </p:grpSpPr>
          <p:pic>
            <p:nvPicPr>
              <p:cNvPr id="247" name="Google Shape;247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9" name="Google Shape;249;p21"/>
            <p:cNvGrpSpPr/>
            <p:nvPr/>
          </p:nvGrpSpPr>
          <p:grpSpPr>
            <a:xfrm>
              <a:off x="6689838" y="2625589"/>
              <a:ext cx="203671" cy="437925"/>
              <a:chOff x="2772127" y="3611285"/>
              <a:chExt cx="605624" cy="1200123"/>
            </a:xfrm>
          </p:grpSpPr>
          <p:pic>
            <p:nvPicPr>
              <p:cNvPr id="250" name="Google Shape;250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1" name="Google Shape;251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2" name="Google Shape;252;p21"/>
            <p:cNvGrpSpPr/>
            <p:nvPr/>
          </p:nvGrpSpPr>
          <p:grpSpPr>
            <a:xfrm>
              <a:off x="6690086" y="3571406"/>
              <a:ext cx="203670" cy="1009453"/>
              <a:chOff x="6754794" y="2647503"/>
              <a:chExt cx="244620" cy="1212411"/>
            </a:xfrm>
          </p:grpSpPr>
          <p:pic>
            <p:nvPicPr>
              <p:cNvPr id="253" name="Google Shape;253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4" name="Google Shape;254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" name="Google Shape;255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" name="Google Shape;256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" name="Google Shape;257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8" name="Google Shape;258;p21"/>
          <p:cNvGrpSpPr/>
          <p:nvPr/>
        </p:nvGrpSpPr>
        <p:grpSpPr>
          <a:xfrm>
            <a:off x="6380928" y="6547446"/>
            <a:ext cx="104005" cy="1219103"/>
            <a:chOff x="6953620" y="2170135"/>
            <a:chExt cx="205666" cy="2410724"/>
          </a:xfrm>
        </p:grpSpPr>
        <p:grpSp>
          <p:nvGrpSpPr>
            <p:cNvPr id="259" name="Google Shape;259;p21"/>
            <p:cNvGrpSpPr/>
            <p:nvPr/>
          </p:nvGrpSpPr>
          <p:grpSpPr>
            <a:xfrm>
              <a:off x="6953620" y="3081043"/>
              <a:ext cx="203671" cy="437925"/>
              <a:chOff x="2772127" y="3611285"/>
              <a:chExt cx="605624" cy="1200123"/>
            </a:xfrm>
          </p:grpSpPr>
          <p:pic>
            <p:nvPicPr>
              <p:cNvPr id="260" name="Google Shape;260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" name="Google Shape;261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2" name="Google Shape;262;p21"/>
            <p:cNvGrpSpPr/>
            <p:nvPr/>
          </p:nvGrpSpPr>
          <p:grpSpPr>
            <a:xfrm>
              <a:off x="6953620" y="2625589"/>
              <a:ext cx="203671" cy="437925"/>
              <a:chOff x="2772127" y="3611285"/>
              <a:chExt cx="605624" cy="1200123"/>
            </a:xfrm>
          </p:grpSpPr>
          <p:pic>
            <p:nvPicPr>
              <p:cNvPr id="263" name="Google Shape;263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4" name="Google Shape;264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5" name="Google Shape;265;p21"/>
            <p:cNvGrpSpPr/>
            <p:nvPr/>
          </p:nvGrpSpPr>
          <p:grpSpPr>
            <a:xfrm>
              <a:off x="6953620" y="2170135"/>
              <a:ext cx="203671" cy="437925"/>
              <a:chOff x="2772127" y="3611285"/>
              <a:chExt cx="605624" cy="1200123"/>
            </a:xfrm>
          </p:grpSpPr>
          <p:pic>
            <p:nvPicPr>
              <p:cNvPr id="266" name="Google Shape;266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7" name="Google Shape;267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8" name="Google Shape;268;p21"/>
            <p:cNvGrpSpPr/>
            <p:nvPr/>
          </p:nvGrpSpPr>
          <p:grpSpPr>
            <a:xfrm>
              <a:off x="6955615" y="3571406"/>
              <a:ext cx="203670" cy="1009453"/>
              <a:chOff x="6754794" y="2647503"/>
              <a:chExt cx="244620" cy="1212411"/>
            </a:xfrm>
          </p:grpSpPr>
          <p:pic>
            <p:nvPicPr>
              <p:cNvPr id="269" name="Google Shape;269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" name="Google Shape;270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" name="Google Shape;272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3" name="Google Shape;273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74" name="Google Shape;274;p21"/>
          <p:cNvGrpSpPr/>
          <p:nvPr/>
        </p:nvGrpSpPr>
        <p:grpSpPr>
          <a:xfrm>
            <a:off x="6514322" y="6318945"/>
            <a:ext cx="104889" cy="1447604"/>
            <a:chOff x="7217401" y="1718283"/>
            <a:chExt cx="207414" cy="2862576"/>
          </a:xfrm>
        </p:grpSpPr>
        <p:grpSp>
          <p:nvGrpSpPr>
            <p:cNvPr id="275" name="Google Shape;275;p21"/>
            <p:cNvGrpSpPr/>
            <p:nvPr/>
          </p:nvGrpSpPr>
          <p:grpSpPr>
            <a:xfrm>
              <a:off x="7217401" y="3081043"/>
              <a:ext cx="203671" cy="437925"/>
              <a:chOff x="2772127" y="3611285"/>
              <a:chExt cx="605624" cy="1200123"/>
            </a:xfrm>
          </p:grpSpPr>
          <p:pic>
            <p:nvPicPr>
              <p:cNvPr id="276" name="Google Shape;276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" name="Google Shape;277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8" name="Google Shape;278;p21"/>
            <p:cNvGrpSpPr/>
            <p:nvPr/>
          </p:nvGrpSpPr>
          <p:grpSpPr>
            <a:xfrm>
              <a:off x="7217401" y="2625589"/>
              <a:ext cx="203671" cy="437925"/>
              <a:chOff x="2772127" y="3611285"/>
              <a:chExt cx="605624" cy="1200123"/>
            </a:xfrm>
          </p:grpSpPr>
          <p:pic>
            <p:nvPicPr>
              <p:cNvPr id="279" name="Google Shape;279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" name="Google Shape;280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1" name="Google Shape;281;p21"/>
            <p:cNvGrpSpPr/>
            <p:nvPr/>
          </p:nvGrpSpPr>
          <p:grpSpPr>
            <a:xfrm>
              <a:off x="7217401" y="2170135"/>
              <a:ext cx="203671" cy="437925"/>
              <a:chOff x="2772127" y="3611285"/>
              <a:chExt cx="605624" cy="1200123"/>
            </a:xfrm>
          </p:grpSpPr>
          <p:pic>
            <p:nvPicPr>
              <p:cNvPr id="282" name="Google Shape;282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" name="Google Shape;283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4" name="Google Shape;284;p21"/>
            <p:cNvGrpSpPr/>
            <p:nvPr/>
          </p:nvGrpSpPr>
          <p:grpSpPr>
            <a:xfrm>
              <a:off x="7217401" y="1718283"/>
              <a:ext cx="203671" cy="437925"/>
              <a:chOff x="2772127" y="3611285"/>
              <a:chExt cx="605624" cy="1200123"/>
            </a:xfrm>
          </p:grpSpPr>
          <p:pic>
            <p:nvPicPr>
              <p:cNvPr id="285" name="Google Shape;285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" name="Google Shape;286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7" name="Google Shape;287;p21"/>
            <p:cNvGrpSpPr/>
            <p:nvPr/>
          </p:nvGrpSpPr>
          <p:grpSpPr>
            <a:xfrm>
              <a:off x="7221145" y="3571406"/>
              <a:ext cx="203670" cy="1009453"/>
              <a:chOff x="6754794" y="2647503"/>
              <a:chExt cx="244620" cy="1212411"/>
            </a:xfrm>
          </p:grpSpPr>
          <p:pic>
            <p:nvPicPr>
              <p:cNvPr id="288" name="Google Shape;288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" name="Google Shape;289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0" name="Google Shape;290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" name="Google Shape;291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3" name="Google Shape;293;p21"/>
          <p:cNvGrpSpPr/>
          <p:nvPr/>
        </p:nvGrpSpPr>
        <p:grpSpPr>
          <a:xfrm>
            <a:off x="6648600" y="6089428"/>
            <a:ext cx="104889" cy="1677121"/>
            <a:chOff x="7482931" y="1264423"/>
            <a:chExt cx="207414" cy="3316435"/>
          </a:xfrm>
        </p:grpSpPr>
        <p:grpSp>
          <p:nvGrpSpPr>
            <p:cNvPr id="294" name="Google Shape;294;p21"/>
            <p:cNvGrpSpPr/>
            <p:nvPr/>
          </p:nvGrpSpPr>
          <p:grpSpPr>
            <a:xfrm>
              <a:off x="7482931" y="3081043"/>
              <a:ext cx="203671" cy="437925"/>
              <a:chOff x="2772127" y="3611285"/>
              <a:chExt cx="605624" cy="1200123"/>
            </a:xfrm>
          </p:grpSpPr>
          <p:pic>
            <p:nvPicPr>
              <p:cNvPr id="295" name="Google Shape;295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" name="Google Shape;296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7" name="Google Shape;297;p21"/>
            <p:cNvGrpSpPr/>
            <p:nvPr/>
          </p:nvGrpSpPr>
          <p:grpSpPr>
            <a:xfrm>
              <a:off x="7482931" y="2625589"/>
              <a:ext cx="203671" cy="437925"/>
              <a:chOff x="2772127" y="3611285"/>
              <a:chExt cx="605624" cy="1200123"/>
            </a:xfrm>
          </p:grpSpPr>
          <p:pic>
            <p:nvPicPr>
              <p:cNvPr id="298" name="Google Shape;298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" name="Google Shape;299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0" name="Google Shape;300;p21"/>
            <p:cNvGrpSpPr/>
            <p:nvPr/>
          </p:nvGrpSpPr>
          <p:grpSpPr>
            <a:xfrm>
              <a:off x="7482931" y="2170135"/>
              <a:ext cx="203671" cy="437925"/>
              <a:chOff x="2772127" y="3611285"/>
              <a:chExt cx="605624" cy="1200123"/>
            </a:xfrm>
          </p:grpSpPr>
          <p:pic>
            <p:nvPicPr>
              <p:cNvPr id="301" name="Google Shape;301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3" name="Google Shape;303;p21"/>
            <p:cNvGrpSpPr/>
            <p:nvPr/>
          </p:nvGrpSpPr>
          <p:grpSpPr>
            <a:xfrm>
              <a:off x="7482931" y="1718283"/>
              <a:ext cx="203671" cy="437925"/>
              <a:chOff x="2772127" y="3611285"/>
              <a:chExt cx="605624" cy="1200123"/>
            </a:xfrm>
          </p:grpSpPr>
          <p:pic>
            <p:nvPicPr>
              <p:cNvPr id="304" name="Google Shape;304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5" name="Google Shape;305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6" name="Google Shape;306;p21"/>
            <p:cNvGrpSpPr/>
            <p:nvPr/>
          </p:nvGrpSpPr>
          <p:grpSpPr>
            <a:xfrm>
              <a:off x="7486674" y="3571406"/>
              <a:ext cx="203670" cy="1009453"/>
              <a:chOff x="6754794" y="2647503"/>
              <a:chExt cx="244620" cy="1212411"/>
            </a:xfrm>
          </p:grpSpPr>
          <p:pic>
            <p:nvPicPr>
              <p:cNvPr id="307" name="Google Shape;307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8" name="Google Shape;308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0" name="Google Shape;310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21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2" name="Google Shape;312;p21"/>
            <p:cNvGrpSpPr/>
            <p:nvPr/>
          </p:nvGrpSpPr>
          <p:grpSpPr>
            <a:xfrm>
              <a:off x="7482931" y="1264423"/>
              <a:ext cx="203671" cy="437925"/>
              <a:chOff x="2772127" y="3611285"/>
              <a:chExt cx="605624" cy="1200123"/>
            </a:xfrm>
          </p:grpSpPr>
          <p:pic>
            <p:nvPicPr>
              <p:cNvPr id="313" name="Google Shape;313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4" name="Google Shape;314;p21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5" name="Google Shape;315;p21"/>
          <p:cNvSpPr txBox="1"/>
          <p:nvPr/>
        </p:nvSpPr>
        <p:spPr>
          <a:xfrm>
            <a:off x="463025" y="6747700"/>
            <a:ext cx="47826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written, the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remains constant whereas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a variable, varying the number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’s.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p21"/>
          <p:cNvPicPr preferRelativeResize="0"/>
          <p:nvPr/>
        </p:nvPicPr>
        <p:blipFill>
          <a:blip r:embed="rId17">
            <a:alphaModFix/>
          </a:blip>
          <a:srcRect r="57905" b="43690"/>
          <a:stretch>
            <a:fillRect/>
          </a:stretch>
        </p:blipFill>
        <p:spPr>
          <a:xfrm flipH="1">
            <a:off x="658025" y="8436805"/>
            <a:ext cx="4914350" cy="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 txBox="1"/>
          <p:nvPr/>
        </p:nvSpPr>
        <p:spPr>
          <a:xfrm>
            <a:off x="463025" y="8110250"/>
            <a:ext cx="6624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Laura says…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1070798" y="8536228"/>
            <a:ext cx="44358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know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so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must be double that. It’s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9" name="Google Shape;319;p2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63025" y="8608602"/>
            <a:ext cx="483300" cy="131973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1140975" y="9112850"/>
            <a:ext cx="22791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to Laura why this does work for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but it doesn’t for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3780000" y="9112850"/>
            <a:ext cx="3312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has no constant so it is just twice as many variables, whereas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contains a constant and that constant will not double.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2" name="Google Shape;322;p21" descr="&lt;math xmlns=&quot;http://www.w3.org/1998/Math/MathML&quot; display=&quot;block&quot; data-is-equatio=&quot;1&quot; data-latex=&quot;5-\frac{5}{7}n&quot;&gt;&lt;mn&gt;5&lt;/mn&gt;&lt;mo&gt;−&lt;/mo&gt;&lt;mfrac&gt;&lt;mn&gt;5&lt;/mn&gt;&lt;mn&gt;7&lt;/mn&gt;&lt;/mfrac&gt;&lt;mi&gt;n&lt;/mi&gt;&lt;/math&gt;" title="5 minus five sevenths 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7998" y="5065010"/>
            <a:ext cx="550525" cy="388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Representing sequences graphically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2023-12-08T09:38:11.548</cp:lastPrinted>
  <dcterms:created xsi:type="dcterms:W3CDTF">2023-12-08T09:38:11Z</dcterms:created>
  <dcterms:modified xsi:type="dcterms:W3CDTF">2023-12-08T09:35:32Z</dcterms:modified>
</cp:coreProperties>
</file>