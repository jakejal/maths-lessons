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BB374293-A4C5-4104-B492-7D4015901A24}">
  <a:tblStyle styleId="{BB374293-A4C5-4104-B492-7D4015901A2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88" name="Shape 188"/>
        <p:cNvGrpSpPr/>
        <p:nvPr/>
      </p:nvGrpSpPr>
      <p:grpSpPr>
        <a:xfrm>
          <a:off x="0" y="0"/>
          <a:ext cx="0" cy="0"/>
        </a:xfrm>
      </p:grpSpPr>
      <p:sp>
        <p:nvSpPr>
          <p:cNvPr id="189" name="Google Shape;189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Relationship Id="rId4" Type="http://schemas.openxmlformats.org/officeDocument/2006/relationships/image" Target="../media/image8.png" /><Relationship Id="rId5" Type="http://schemas.openxmlformats.org/officeDocument/2006/relationships/image" Target="../media/image9.png" /><Relationship Id="rId6" Type="http://schemas.openxmlformats.org/officeDocument/2006/relationships/image" Target="../media/image10.png" /><Relationship Id="rId7" Type="http://schemas.openxmlformats.org/officeDocument/2006/relationships/image" Target="../media/image11.png" /><Relationship Id="rId8" Type="http://schemas.openxmlformats.org/officeDocument/2006/relationships/image" Target="../media/image12.png" /><Relationship Id="rId9" Type="http://schemas.openxmlformats.org/officeDocument/2006/relationships/image" Target="../media/image13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image" Target="../media/image14.png" /><Relationship Id="rId4" Type="http://schemas.openxmlformats.org/officeDocument/2006/relationships/image" Target="../media/image15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graphicFrame>
        <p:nvGraphicFramePr>
          <p:cNvPr id="171" name="Google Shape;171;p20"/>
          <p:cNvGraphicFramePr>
            <a:graphicFrameLocks noGrp="1"/>
          </p:cNvGraphicFramePr>
          <p:nvPr/>
        </p:nvGraphicFramePr>
        <p:xfrm>
          <a:off x="461225" y="2665575"/>
          <a:ext cx="6611850" cy="5351163"/>
        </p:xfrm>
        <a:graphic>
          <a:graphicData uri="http://schemas.openxmlformats.org/drawingml/2006/table">
            <a:tbl>
              <a:tblPr>
                <a:noFill/>
                <a:tableStyleId>{BB374293-A4C5-4104-B492-7D4015901A24}</a:tableStyleId>
              </a:tblPr>
              <a:tblGrid>
                <a:gridCol w="1110625"/>
                <a:gridCol w="2456000"/>
                <a:gridCol w="3045225"/>
              </a:tblGrid>
              <a:tr h="215575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Additive pattern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Multiplicative pattern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78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a) Sequence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1, 3, </a:t>
                      </a: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5,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7, 9,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…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1, 3,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9, 27, 81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…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78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Description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Start on 1 then add 2 each time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 Start on 1 then multiply by 3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each time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78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b) Sequence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0.1, 1,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1.9, 2.8, 3.7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…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0.1, 1,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10, 100, 1000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…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78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Description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Start on 0.1 then add 0.9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each time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 Start on 0.1 then multiply by 10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each time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78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c) Sequence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16, 8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32, 56, 80,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…</a:t>
                      </a: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16, 8,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4, 2,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1,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…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78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Description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Start on (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16) then add 24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each time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Start on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16 then multiply by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3600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d) Sequence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0.5, 1.5, </a:t>
                      </a: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2.5,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3.5, 4.5,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…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0.5, 1.5,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4.5, 13.5, 40.5,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…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Description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 Start on 0.5 then add 1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 Start on 0.5 then multiply by 3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e) Sequence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   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                          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…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     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                     …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    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9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Description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  <a:p>
                      <a:pPr marL="0" lvl="0" indent="0" algn="l" rtl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 Start on    and add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  <a:p>
                      <a:pPr marL="0" lvl="0" indent="0" algn="l" rtl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  <a:p>
                      <a:pPr marL="0" lvl="0" indent="0" algn="l" rtl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 Start on     and multiply by 2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9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f) Sequence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 25, 10,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5,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20, </a:t>
                      </a:r>
                      <a:r>
                        <a:rPr lang="en-GB" sz="1200">
                          <a:solidFill>
                            <a:srgbClr val="222222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−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35,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…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25, 10, 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4</a:t>
                      </a:r>
                      <a:r>
                        <a:rPr lang="en-GB" sz="1200">
                          <a:solidFill>
                            <a:srgbClr val="000000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      ,        , … </a:t>
                      </a: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200">
                        <a:solidFill>
                          <a:srgbClr val="000000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marL="0" lvl="0" indent="0" algn="l" rtl="0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solidFill>
                            <a:srgbClr val="000000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(25, 10, 4, 1.6, 0.64, …)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448900"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Description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Start on 25 then subtract 15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lnSpc>
                          <a:spcPct val="7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200">
                          <a:latin typeface="Kalam"/>
                          <a:ea typeface="Kalam"/>
                          <a:cs typeface="Kalam"/>
                          <a:sym typeface="Kalam"/>
                        </a:rPr>
                        <a:t>Start at 25 then multiply by </a:t>
                      </a:r>
                      <a:endParaRPr sz="12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L="3600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72" name="Google Shape;172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3" name="Google Shape;173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Securing understanding of sequences</a:t>
            </a:r>
            <a:endParaRPr/>
          </a:p>
        </p:txBody>
      </p:sp>
      <p:sp>
        <p:nvSpPr>
          <p:cNvPr id="174" name="Google Shape;174;p20"/>
          <p:cNvSpPr txBox="1"/>
          <p:nvPr/>
        </p:nvSpPr>
        <p:spPr>
          <a:xfrm>
            <a:off x="461225" y="14676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Continuing sequences from a rule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465150" y="1804875"/>
            <a:ext cx="6624000" cy="86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rabi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For each two starting numbers: continue the sequence with a constant additive pattern, then a constant multiplicative pattern. Describe each of your sequences in words.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6" name="Google Shape;176;p20" descr="&lt;math xmlns=&quot;http://www.w3.org/1998/Math/MathML&quot; display=&quot;block&quot; data-is-equatio=&quot;1&quot; data-latex=&quot;-\frac{1}{2}&quot;&gt;&lt;mo&gt;−&lt;/mo&gt;&lt;mfrac&gt;&lt;mn&gt;1&lt;/mn&gt;&lt;mn&gt;2&lt;/mn&gt;&lt;/mfrac&gt;&lt;/math&gt;" title="negative one half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5124" y="4759955"/>
            <a:ext cx="225633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61475" y="6068129"/>
            <a:ext cx="361436" cy="337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71902" y="6050897"/>
            <a:ext cx="356254" cy="332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0"/>
          <p:cNvPicPr preferRelativeResize="0"/>
          <p:nvPr/>
        </p:nvPicPr>
        <p:blipFill>
          <a:blip r:embed="rId4">
            <a:alphaModFix/>
          </a:blip>
          <a:srcRect r="65722"/>
          <a:stretch>
            <a:fillRect/>
          </a:stretch>
        </p:blipFill>
        <p:spPr>
          <a:xfrm>
            <a:off x="2279230" y="6559938"/>
            <a:ext cx="123890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0"/>
          <p:cNvPicPr preferRelativeResize="0"/>
          <p:nvPr/>
        </p:nvPicPr>
        <p:blipFill>
          <a:blip r:embed="rId4">
            <a:alphaModFix/>
          </a:blip>
          <a:srcRect r="65722"/>
          <a:stretch>
            <a:fillRect/>
          </a:stretch>
        </p:blipFill>
        <p:spPr>
          <a:xfrm>
            <a:off x="3052006" y="6559938"/>
            <a:ext cx="123890" cy="3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/>
          <p:cNvPicPr preferRelativeResize="0"/>
          <p:nvPr/>
        </p:nvPicPr>
        <p:blipFill>
          <a:blip r:embed="rId4">
            <a:alphaModFix/>
          </a:blip>
          <a:srcRect r="65722"/>
          <a:stretch>
            <a:fillRect/>
          </a:stretch>
        </p:blipFill>
        <p:spPr>
          <a:xfrm>
            <a:off x="4725196" y="6575560"/>
            <a:ext cx="123900" cy="33722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20" descr="&lt;math xmlns=&quot;http://www.w3.org/1998/Math/MathML&quot; display=&quot;block&quot; data-is-equatio=&quot;1&quot; data-latex=&quot;\frac{3}{8},\frac{4}{8}=\frac{1}{2},\ \frac{5}{8}&quot;&gt;&lt;mfrac&gt;&lt;mn&gt;3&lt;/mn&gt;&lt;mn&gt;8&lt;/mn&gt;&lt;/mfrac&gt;&lt;mo&gt;,&lt;/mo&gt;&lt;mfrac&gt;&lt;mn&gt;4&lt;/mn&gt;&lt;mn&gt;8&lt;/mn&gt;&lt;/mfrac&gt;&lt;mo&gt;=&lt;/mo&gt;&lt;mfrac&gt;&lt;mn&gt;1&lt;/mn&gt;&lt;mn&gt;2&lt;/mn&gt;&lt;/mfrac&gt;&lt;mo&gt;,&lt;/mo&gt;&lt;mtext&gt;&lt;/mtext&gt;&lt;mfrac&gt;&lt;mn&gt;5&lt;/mn&gt;&lt;mn&gt;8&lt;/mn&gt;&lt;/mfrac&gt;&lt;/math&gt;" title="three eighths comma four eighths equals one half comma five eighths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79660" y="6068125"/>
            <a:ext cx="897506" cy="3371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 descr="&lt;math xmlns=&quot;http://www.w3.org/1998/Math/MathML&quot; display=&quot;block&quot; data-is-equatio=&quot;1&quot; data-latex=&quot;\frac{1}{2},\ 1,\ 2&quot;&gt;&lt;mfrac&gt;&lt;mn&gt;1&lt;/mn&gt;&lt;mn&gt;2&lt;/mn&gt;&lt;/mfrac&gt;&lt;mo&gt;,&lt;/mo&gt;&lt;mtext&gt;&lt;/mtext&gt;&lt;mn&gt;1&lt;/mn&gt;&lt;mo&gt;,&lt;/mo&gt;&lt;mtext&gt;&lt;/mtext&gt;&lt;mn&gt;2&lt;/mn&gt;&lt;/math&gt;" title="one half comma 1 comma 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93634" y="6046064"/>
            <a:ext cx="494913" cy="3323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20" descr="&lt;math xmlns=&quot;http://www.w3.org/1998/Math/MathML&quot; display=&quot;block&quot; data-is-equatio=&quot;1&quot; data-latex=&quot;\frac{2}{5}=0.4&quot;&gt;&lt;mfrac&gt;&lt;mn&gt;2&lt;/mn&gt;&lt;mn&gt;5&lt;/mn&gt;&lt;/mfrac&gt;&lt;mo&gt;=&lt;/mo&gt;&lt;mn&gt;0.4&lt;/mn&gt;&lt;/math&gt;" title="two fifths equals 0.4"/>
          <p:cNvPicPr preferRelativeResize="0"/>
          <p:nvPr/>
        </p:nvPicPr>
        <p:blipFill>
          <a:blip r:embed="rId7">
            <a:alphaModFix/>
          </a:blip>
          <a:srcRect r="75325"/>
          <a:stretch>
            <a:fillRect/>
          </a:stretch>
        </p:blipFill>
        <p:spPr>
          <a:xfrm>
            <a:off x="6068390" y="7624147"/>
            <a:ext cx="123900" cy="325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20" descr="&lt;math xmlns=&quot;http://www.w3.org/1998/Math/MathML&quot; display=&quot;block&quot; data-is-equatio=&quot;1&quot; data-latex=&quot;\begin{array}{l}\frac{8}{5}\end{array}&quot;&gt;&lt;mtable columnalign=&quot;left&quot; columnspacing=&quot;1em&quot; rowspacing=&quot;4pt&quot;&gt;&lt;mtr&gt;&lt;mtd&gt;&lt;mfrac&gt;&lt;mn&gt;8&lt;/mn&gt;&lt;mn&gt;5&lt;/mn&gt;&lt;/mfrac&gt;&lt;/mtd&gt;&lt;/mtr&gt;&lt;/mtable&gt;&lt;/math&gt;" title="1 lines Line 1: eight fifths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804334" y="7044961"/>
            <a:ext cx="121402" cy="337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 descr="&lt;math xmlns=&quot;http://www.w3.org/1998/Math/MathML&quot; display=&quot;block&quot; data-is-equatio=&quot;1&quot; data-latex=&quot;\begin{array}{l}\frac{16}{25}\end{array}&quot;&gt;&lt;mtable columnalign=&quot;left&quot; columnspacing=&quot;1em&quot; rowspacing=&quot;4pt&quot;&gt;&lt;mtr&gt;&lt;mtd&gt;&lt;mfrac&gt;&lt;mn&gt;16&lt;/mn&gt;&lt;mn&gt;25&lt;/mn&gt;&lt;/mfrac&gt;&lt;/mtd&gt;&lt;/mtr&gt;&lt;/mtable&gt;&lt;/math&gt;" title="1 lines Line 1: 16 over 25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128176" y="7044961"/>
            <a:ext cx="206828" cy="33722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7" name="Google Shape;187;p20"/>
          <p:cNvCxnSpPr/>
          <p:nvPr/>
        </p:nvCxnSpPr>
        <p:spPr>
          <a:xfrm>
            <a:off x="467982" y="9971988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1" name="Shape 191"/>
        <p:cNvGrpSpPr/>
        <p:nvPr/>
      </p:nvGrpSpPr>
      <p:grpSpPr>
        <a:xfrm>
          <a:off x="0" y="0"/>
          <a:ext cx="0" cy="0"/>
        </a:xfrm>
      </p:grpSpPr>
      <p:sp>
        <p:nvSpPr>
          <p:cNvPr id="192" name="Google Shape;192;p21"/>
          <p:cNvSpPr txBox="1"/>
          <p:nvPr/>
        </p:nvSpPr>
        <p:spPr>
          <a:xfrm>
            <a:off x="571575" y="6585075"/>
            <a:ext cx="6054600" cy="19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Square as all multiples of 5 are squares</a:t>
            </a:r>
            <a:br>
              <a:rPr lang="en-GB" sz="1200"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Oval, square, triangle as squares are multiples of 5 so 145 must be square</a:t>
            </a:r>
            <a:br>
              <a:rPr lang="en-GB" sz="1200"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latin typeface="Kalam"/>
                <a:ea typeface="Kalam"/>
                <a:cs typeface="Kalam"/>
                <a:sym typeface="Kalam"/>
              </a:rPr>
            </a:b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52, 53, 54 or 57, 58, 59. </a:t>
            </a:r>
            <a:b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b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94" name="Google Shape;194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Securing understanding of sequences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6" name="Google Shape;196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468000" y="1075225"/>
            <a:ext cx="6624000" cy="7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Izzy has built these patterns using blocks. Which two patterns could she combine to make a sequence which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1)   </a:t>
            </a:r>
            <a:r>
              <a:rPr lang="en-GB" sz="800"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Increases by 5 each time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468000" y="738036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Representations of sequences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/>
        </p:nvSpPr>
        <p:spPr>
          <a:xfrm>
            <a:off x="934700" y="2013875"/>
            <a:ext cx="14775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 and 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0" name="Google Shape;20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9401" y="2104879"/>
            <a:ext cx="132911" cy="133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2309" y="2104879"/>
            <a:ext cx="132911" cy="133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9401" y="2238049"/>
            <a:ext cx="132911" cy="133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3" name="Google Shape;20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92309" y="2238049"/>
            <a:ext cx="132911" cy="133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2462" y="2104879"/>
            <a:ext cx="132911" cy="133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5370" y="2104879"/>
            <a:ext cx="132911" cy="133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65375" y="1971707"/>
            <a:ext cx="132908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2462" y="2238049"/>
            <a:ext cx="132911" cy="133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8" name="Google Shape;2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65370" y="2238049"/>
            <a:ext cx="132911" cy="133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5523" y="2104879"/>
            <a:ext cx="132911" cy="133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8431" y="2104879"/>
            <a:ext cx="132911" cy="133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38436" y="1971707"/>
            <a:ext cx="132908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5523" y="2238049"/>
            <a:ext cx="132911" cy="133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38431" y="2238049"/>
            <a:ext cx="132911" cy="133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5524" y="1838528"/>
            <a:ext cx="132908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5204" y="2237980"/>
            <a:ext cx="132911" cy="133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4311" y="1971725"/>
            <a:ext cx="132911" cy="133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8530" y="1702275"/>
            <a:ext cx="132911" cy="133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4305" y="2104940"/>
            <a:ext cx="132908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4305" y="2238094"/>
            <a:ext cx="132908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37217" y="2238095"/>
            <a:ext cx="132908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4937216" y="2104894"/>
            <a:ext cx="132908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6317" y="1838585"/>
            <a:ext cx="132908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3" name="Google Shape;22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6317" y="1971739"/>
            <a:ext cx="132908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9228" y="1971740"/>
            <a:ext cx="132908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5369228" y="1838539"/>
            <a:ext cx="132908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6317" y="2103334"/>
            <a:ext cx="132908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7" name="Google Shape;22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36317" y="2236489"/>
            <a:ext cx="132908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8" name="Google Shape;22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69228" y="2236490"/>
            <a:ext cx="132908" cy="133161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5369228" y="2103289"/>
            <a:ext cx="132908" cy="133161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21"/>
          <p:cNvSpPr txBox="1"/>
          <p:nvPr/>
        </p:nvSpPr>
        <p:spPr>
          <a:xfrm>
            <a:off x="4145194" y="2030427"/>
            <a:ext cx="166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+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31" name="Google Shape;23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59401" y="1971733"/>
            <a:ext cx="132911" cy="133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32462" y="1971733"/>
            <a:ext cx="132911" cy="133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05523" y="1971733"/>
            <a:ext cx="132911" cy="1331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4" name="Google Shape;234;p21"/>
          <p:cNvGrpSpPr/>
          <p:nvPr/>
        </p:nvGrpSpPr>
        <p:grpSpPr>
          <a:xfrm>
            <a:off x="5824666" y="1314639"/>
            <a:ext cx="1023118" cy="1077204"/>
            <a:chOff x="6630765" y="1280329"/>
            <a:chExt cx="1656872" cy="1744460"/>
          </a:xfrm>
        </p:grpSpPr>
        <p:pic>
          <p:nvPicPr>
            <p:cNvPr id="235" name="Google Shape;235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630765" y="2592142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6" name="Google Shape;236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846019" y="2592142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7" name="Google Shape;237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630765" y="2807817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8" name="Google Shape;238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846019" y="2807817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39" name="Google Shape;239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846027" y="237650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0" name="Google Shape;240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243942" y="1725636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1" name="Google Shape;241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243940" y="2593442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2" name="Google Shape;242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459194" y="2593442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3" name="Google Shape;243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243940" y="2809117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459194" y="2809117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" name="Google Shape;245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459202" y="237520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6" name="Google Shape;246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243942" y="1941302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243942" y="2156952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8" name="Google Shape;248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459203" y="2156954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9" name="Google Shape;249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7459203" y="1941229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0" name="Google Shape;250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630765" y="2376492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1" name="Google Shape;251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243952" y="2375192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2" name="Google Shape;252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857115" y="257175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3" name="Google Shape;253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72369" y="257175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4" name="Google Shape;254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072378" y="2140463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5" name="Google Shape;255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857115" y="2787430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6" name="Google Shape;256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72369" y="2787430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7" name="Google Shape;257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57117" y="2140386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8" name="Google Shape;258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857115" y="2356117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59" name="Google Shape;259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072377" y="2356117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0" name="Google Shape;260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54529" y="1280402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1" name="Google Shape;261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54529" y="1496052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2" name="Google Shape;262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069789" y="1496054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3" name="Google Shape;263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8069789" y="1280329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" name="Google Shape;264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54529" y="1709177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" name="Google Shape;265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854529" y="1924827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6" name="Google Shape;266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069789" y="1924829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7" name="Google Shape;267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8069789" y="1709104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8" name="Google Shape;268;p21"/>
          <p:cNvSpPr txBox="1"/>
          <p:nvPr/>
        </p:nvSpPr>
        <p:spPr>
          <a:xfrm>
            <a:off x="5580139" y="2007874"/>
            <a:ext cx="1662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 txBox="1"/>
          <p:nvPr/>
        </p:nvSpPr>
        <p:spPr>
          <a:xfrm>
            <a:off x="468000" y="2601200"/>
            <a:ext cx="6624000" cy="46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   </a:t>
            </a:r>
            <a:r>
              <a:rPr lang="en-GB" sz="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Increases by 2 each time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 txBox="1"/>
          <p:nvPr/>
        </p:nvSpPr>
        <p:spPr>
          <a:xfrm>
            <a:off x="934500" y="2886600"/>
            <a:ext cx="14775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B and D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71" name="Google Shape;27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4688" y="3345062"/>
            <a:ext cx="175695" cy="176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0378" y="3345062"/>
            <a:ext cx="175695" cy="176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3" name="Google Shape;27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4688" y="3521095"/>
            <a:ext cx="175695" cy="176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0378" y="3521095"/>
            <a:ext cx="175695" cy="176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4688" y="3169009"/>
            <a:ext cx="175695" cy="176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0378" y="3169009"/>
            <a:ext cx="175695" cy="176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7" name="Google Shape;27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0027" y="3345073"/>
            <a:ext cx="175695" cy="176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8" name="Google Shape;27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5717" y="3345073"/>
            <a:ext cx="175695" cy="176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9" name="Google Shape;27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50027" y="3521105"/>
            <a:ext cx="175695" cy="176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25717" y="3521105"/>
            <a:ext cx="175695" cy="176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5366" y="3521064"/>
            <a:ext cx="175695" cy="176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1056" y="3521064"/>
            <a:ext cx="175695" cy="176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54113" y="3514584"/>
            <a:ext cx="175695" cy="176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08129" y="3162631"/>
            <a:ext cx="175695" cy="176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82121" y="2806454"/>
            <a:ext cx="175695" cy="17603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8120" y="3338723"/>
            <a:ext cx="175689" cy="176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8120" y="3514735"/>
            <a:ext cx="175689" cy="176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83816" y="3514737"/>
            <a:ext cx="175689" cy="176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4383816" y="3338663"/>
            <a:ext cx="175689" cy="176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9195" y="2986638"/>
            <a:ext cx="175689" cy="176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9195" y="3162650"/>
            <a:ext cx="175689" cy="176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4890" y="3162651"/>
            <a:ext cx="175689" cy="176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4954891" y="2986577"/>
            <a:ext cx="175689" cy="176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9195" y="3336601"/>
            <a:ext cx="175689" cy="176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5" name="Google Shape;29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79195" y="3512613"/>
            <a:ext cx="175689" cy="176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6" name="Google Shape;29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4890" y="3512615"/>
            <a:ext cx="175689" cy="176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297" name="Google Shape;297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800000">
            <a:off x="4954891" y="3336541"/>
            <a:ext cx="175689" cy="176021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1"/>
          <p:cNvSpPr txBox="1"/>
          <p:nvPr/>
        </p:nvSpPr>
        <p:spPr>
          <a:xfrm>
            <a:off x="3338841" y="3433228"/>
            <a:ext cx="219600" cy="2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+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9" name="Google Shape;299;p21"/>
          <p:cNvSpPr txBox="1"/>
          <p:nvPr/>
        </p:nvSpPr>
        <p:spPr>
          <a:xfrm>
            <a:off x="5235689" y="3403416"/>
            <a:ext cx="219600" cy="27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00" name="Google Shape;300;p21"/>
          <p:cNvGrpSpPr/>
          <p:nvPr/>
        </p:nvGrpSpPr>
        <p:grpSpPr>
          <a:xfrm>
            <a:off x="5558462" y="2631270"/>
            <a:ext cx="1440172" cy="1047399"/>
            <a:chOff x="6630768" y="3285890"/>
            <a:chExt cx="1764485" cy="1283262"/>
          </a:xfrm>
        </p:grpSpPr>
        <p:pic>
          <p:nvPicPr>
            <p:cNvPr id="301" name="Google Shape;301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633227" y="413780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2" name="Google Shape;302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848481" y="413780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3" name="Google Shape;303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633227" y="4353480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4" name="Google Shape;304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848481" y="4353480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5" name="Google Shape;305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633227" y="392210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6" name="Google Shape;306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848481" y="392210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7" name="Google Shape;307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630768" y="3721240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8" name="Google Shape;308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329077" y="3708117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9" name="Google Shape;309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44331" y="3708117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0" name="Google Shape;310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329077" y="3923792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1" name="Google Shape;311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544331" y="3923792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2" name="Google Shape;312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329068" y="349641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3" name="Google Shape;313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329070" y="4137386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4" name="Google Shape;314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329070" y="4353036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5" name="Google Shape;315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544331" y="4353037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6" name="Google Shape;316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7544331" y="4137312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7" name="Google Shape;317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964739" y="349640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8" name="Google Shape;318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179993" y="3496405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19" name="Google Shape;319;p2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7964743" y="3285890"/>
              <a:ext cx="215260" cy="21567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0" name="Google Shape;320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962170" y="3708188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1" name="Google Shape;321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962170" y="3923838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2" name="Google Shape;322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177431" y="3923839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3" name="Google Shape;323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8177431" y="3708114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4" name="Google Shape;324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962170" y="4136963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5" name="Google Shape;325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7962170" y="4352613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6" name="Google Shape;326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177431" y="4352614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7" name="Google Shape;327;p2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10800000">
              <a:off x="8177431" y="4136889"/>
              <a:ext cx="215253" cy="21566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28" name="Google Shape;328;p21"/>
          <p:cNvSpPr txBox="1"/>
          <p:nvPr/>
        </p:nvSpPr>
        <p:spPr>
          <a:xfrm>
            <a:off x="468000" y="3833125"/>
            <a:ext cx="6624000" cy="12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    </a:t>
            </a:r>
            <a:r>
              <a:rPr lang="en-GB" sz="5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Decreases by 1 each time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9" name="Google Shape;329;p21"/>
          <p:cNvSpPr txBox="1"/>
          <p:nvPr/>
        </p:nvSpPr>
        <p:spPr>
          <a:xfrm>
            <a:off x="934500" y="4205825"/>
            <a:ext cx="14775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A and B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30" name="Google Shape;33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1923" y="4718738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5897" y="4718738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1923" y="4893052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3" name="Google Shape;33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65897" y="4893052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4" name="Google Shape;33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0252" y="4718738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4225" y="4718738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4232" y="4544421"/>
            <a:ext cx="173972" cy="174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0252" y="4893052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4225" y="4893052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8580" y="4718738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2554" y="4718738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2561" y="4544421"/>
            <a:ext cx="173972" cy="174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8580" y="4893052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42554" y="4893052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68582" y="4370095"/>
            <a:ext cx="173972" cy="174301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21"/>
          <p:cNvSpPr txBox="1"/>
          <p:nvPr/>
        </p:nvSpPr>
        <p:spPr>
          <a:xfrm>
            <a:off x="3613202" y="4621282"/>
            <a:ext cx="217500" cy="2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+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46" name="Google Shape;34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1923" y="4544454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0252" y="4544454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68580" y="4544454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49" name="Google Shape;34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7390" y="4718738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0" name="Google Shape;35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1364" y="4718738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7390" y="4893052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2" name="Google Shape;35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1364" y="4893052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3" name="Google Shape;35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27390" y="4544404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01364" y="4544404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5" name="Google Shape;35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8377" y="4718748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6" name="Google Shape;35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2350" y="4718748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7" name="Google Shape;35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68377" y="4893062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42350" y="4893062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9364" y="4893021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3337" y="4893021"/>
            <a:ext cx="173978" cy="174312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1"/>
          <p:cNvSpPr txBox="1"/>
          <p:nvPr/>
        </p:nvSpPr>
        <p:spPr>
          <a:xfrm>
            <a:off x="5313956" y="4610967"/>
            <a:ext cx="217500" cy="2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=</a:t>
            </a: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62" name="Google Shape;36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7347" y="4689569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1321" y="4689569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7347" y="4863883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1321" y="4863883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7347" y="4515235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1321" y="4515235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8" name="Google Shape;36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7600" y="4164457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1574" y="4164457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7600" y="4338771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91574" y="4338771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7600" y="3990174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0071" y="4164477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6367" y="4859005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44629" y="4166080"/>
            <a:ext cx="173972" cy="174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0071" y="4338791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4045" y="4338791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0637" y="4859015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0645" y="4513075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4618" y="4513075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70645" y="4687389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44618" y="4687389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3" name="Google Shape;38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4039" y="4512075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4" name="Google Shape;38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8012" y="4512075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5" name="Google Shape;385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18019" y="4337758"/>
            <a:ext cx="173972" cy="174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6" name="Google Shape;386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4039" y="4686389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8012" y="4686389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44040" y="4163432"/>
            <a:ext cx="173972" cy="174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4039" y="4337791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44048" y="4858500"/>
            <a:ext cx="173978" cy="1743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18022" y="4858500"/>
            <a:ext cx="173978" cy="174312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21"/>
          <p:cNvSpPr txBox="1"/>
          <p:nvPr/>
        </p:nvSpPr>
        <p:spPr>
          <a:xfrm>
            <a:off x="468000" y="55163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Laura and Andeep are making a repeating pattern from different shaped counters 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3" name="Google Shape;393;p21"/>
          <p:cNvSpPr/>
          <p:nvPr/>
        </p:nvSpPr>
        <p:spPr>
          <a:xfrm>
            <a:off x="457073" y="5807975"/>
            <a:ext cx="645000" cy="3366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4" name="Google Shape;394;p21"/>
          <p:cNvSpPr/>
          <p:nvPr/>
        </p:nvSpPr>
        <p:spPr>
          <a:xfrm>
            <a:off x="1087387" y="5807975"/>
            <a:ext cx="476700" cy="3366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2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5" name="Google Shape;395;p21"/>
          <p:cNvSpPr/>
          <p:nvPr/>
        </p:nvSpPr>
        <p:spPr>
          <a:xfrm>
            <a:off x="1608817" y="5807975"/>
            <a:ext cx="476700" cy="3366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6" name="Google Shape;396;p21"/>
          <p:cNvSpPr/>
          <p:nvPr/>
        </p:nvSpPr>
        <p:spPr>
          <a:xfrm>
            <a:off x="2130246" y="5807975"/>
            <a:ext cx="476700" cy="3366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7" name="Google Shape;397;p21"/>
          <p:cNvSpPr/>
          <p:nvPr/>
        </p:nvSpPr>
        <p:spPr>
          <a:xfrm>
            <a:off x="2651675" y="5807975"/>
            <a:ext cx="392400" cy="3366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5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8" name="Google Shape;398;p21"/>
          <p:cNvSpPr/>
          <p:nvPr/>
        </p:nvSpPr>
        <p:spPr>
          <a:xfrm>
            <a:off x="3088987" y="5807975"/>
            <a:ext cx="645000" cy="3366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6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9" name="Google Shape;399;p21"/>
          <p:cNvSpPr/>
          <p:nvPr/>
        </p:nvSpPr>
        <p:spPr>
          <a:xfrm>
            <a:off x="3719301" y="5807975"/>
            <a:ext cx="476700" cy="3366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7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0" name="Google Shape;400;p21"/>
          <p:cNvSpPr/>
          <p:nvPr/>
        </p:nvSpPr>
        <p:spPr>
          <a:xfrm>
            <a:off x="4240730" y="5807975"/>
            <a:ext cx="476700" cy="3366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8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1" name="Google Shape;401;p21"/>
          <p:cNvSpPr/>
          <p:nvPr/>
        </p:nvSpPr>
        <p:spPr>
          <a:xfrm>
            <a:off x="4762160" y="5807975"/>
            <a:ext cx="476700" cy="3366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9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2" name="Google Shape;402;p21"/>
          <p:cNvSpPr/>
          <p:nvPr/>
        </p:nvSpPr>
        <p:spPr>
          <a:xfrm>
            <a:off x="5283589" y="5807975"/>
            <a:ext cx="392400" cy="3366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10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3" name="Google Shape;403;p21"/>
          <p:cNvSpPr/>
          <p:nvPr/>
        </p:nvSpPr>
        <p:spPr>
          <a:xfrm>
            <a:off x="5676000" y="5807975"/>
            <a:ext cx="690000" cy="3366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0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11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4" name="Google Shape;404;p21"/>
          <p:cNvSpPr/>
          <p:nvPr/>
        </p:nvSpPr>
        <p:spPr>
          <a:xfrm>
            <a:off x="6351215" y="5807975"/>
            <a:ext cx="476700" cy="3366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100">
                <a:latin typeface="Lexend"/>
                <a:ea typeface="Lexend"/>
                <a:cs typeface="Lexend"/>
                <a:sym typeface="Lexend"/>
              </a:rPr>
              <a:t>12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21"/>
          <p:cNvSpPr txBox="1"/>
          <p:nvPr/>
        </p:nvSpPr>
        <p:spPr>
          <a:xfrm>
            <a:off x="6813300" y="5937889"/>
            <a:ext cx="2679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… </a:t>
            </a:r>
            <a:endParaRPr sz="2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6" name="Google Shape;406;p21"/>
          <p:cNvSpPr txBox="1"/>
          <p:nvPr/>
        </p:nvSpPr>
        <p:spPr>
          <a:xfrm>
            <a:off x="457075" y="6281725"/>
            <a:ext cx="6634800" cy="328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What shape counter will the number 25 be?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Laura puts down the counters 144, 145 and 146, what shapes are they?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Andeep puts down three counters in a row which are all oval shapes. They are all greater than 50 but less than 60, what numbers could they be?</a:t>
            </a: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b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200"/>
              <a:buFont typeface="Lexend"/>
              <a:buAutoNum type="alphaLcParenR"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Laura and Andeep run out of counters when they put down the counter 178. How many of each type did they use in total</a:t>
            </a:r>
            <a:endParaRPr sz="1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   </a:t>
            </a:r>
            <a:r>
              <a:rPr lang="en-GB" sz="12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 = 35       =107         =36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7" name="Google Shape;407;p21"/>
          <p:cNvSpPr/>
          <p:nvPr/>
        </p:nvSpPr>
        <p:spPr>
          <a:xfrm>
            <a:off x="859944" y="8950061"/>
            <a:ext cx="229500" cy="1971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8" name="Google Shape;408;p21"/>
          <p:cNvSpPr/>
          <p:nvPr/>
        </p:nvSpPr>
        <p:spPr>
          <a:xfrm>
            <a:off x="1555920" y="8939275"/>
            <a:ext cx="294300" cy="207900"/>
          </a:xfrm>
          <a:prstGeom prst="ellips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9" name="Google Shape;409;p21"/>
          <p:cNvSpPr/>
          <p:nvPr/>
        </p:nvSpPr>
        <p:spPr>
          <a:xfrm>
            <a:off x="2324012" y="8944702"/>
            <a:ext cx="377400" cy="197100"/>
          </a:xfrm>
          <a:prstGeom prst="triangle">
            <a:avLst>
              <a:gd name="adj" fmla="val 50000"/>
            </a:avLst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Securing understanding of sequences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2023-12-08T09:32:01.165</cp:lastPrinted>
  <dcterms:created xsi:type="dcterms:W3CDTF">2023-12-08T09:32:01Z</dcterms:created>
  <dcterms:modified xsi:type="dcterms:W3CDTF">2023-12-08T09:32:10Z</dcterms:modified>
</cp:coreProperties>
</file>