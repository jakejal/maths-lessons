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5143500"/>
  <p:notesSz cx="6858000" cy="9144000"/>
  <p:embeddedFontLst>
    <p:embeddedFont>
      <p:font typeface="Lexend" panose="00000000000000000000"/>
      <p:regular r:id="rId41"/>
    </p:embeddedFont>
    <p:embeddedFont>
      <p:font typeface="Lexend Medium" panose="00000000000000000000"/>
      <p:regular r:id="rId42"/>
    </p:embeddedFont>
    <p:embeddedFont>
      <p:font typeface="Kalam" panose="02000000000000000000"/>
      <p:regular r:id="rId43"/>
    </p:embeddedFont>
    <p:embeddedFont>
      <p:font typeface="Lexend Light" panose="00000000000000000000"/>
      <p:regular r:id="rId44"/>
    </p:embeddedFont>
  </p:embeddedFontLst>
  <p:custDataLst>
    <p:tags r:id="rId40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7BB948B-CEFA-4880-A7D7-4C2E54164B9F}">
  <a:tblStyle styleId="{37BB948B-CEFA-4880-A7D7-4C2E54164B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40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tags" Target="tags/tag1.xml" /><Relationship Id="rId41" Type="http://schemas.openxmlformats.org/officeDocument/2006/relationships/font" Target="fonts/font1.fntdata" /><Relationship Id="rId42" Type="http://schemas.openxmlformats.org/officeDocument/2006/relationships/font" Target="fonts/font2.fntdata" /><Relationship Id="rId43" Type="http://schemas.openxmlformats.org/officeDocument/2006/relationships/font" Target="fonts/font3.fntdata" /><Relationship Id="rId44" Type="http://schemas.openxmlformats.org/officeDocument/2006/relationships/font" Target="fonts/font4.fntdata" /><Relationship Id="rId45" Type="http://schemas.openxmlformats.org/officeDocument/2006/relationships/presProps" Target="presProps.xml" /><Relationship Id="rId46" Type="http://schemas.openxmlformats.org/officeDocument/2006/relationships/viewProps" Target="viewProps.xml" /><Relationship Id="rId47" Type="http://schemas.openxmlformats.org/officeDocument/2006/relationships/theme" Target="theme/theme1.xml" /><Relationship Id="rId48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4d505b32c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4d505b32c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1ea2dae9b5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a2dae9b5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1ea2dae9b5c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ea2dae9b5c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4" name="Shape 794"/>
        <p:cNvGrpSpPr/>
        <p:nvPr/>
      </p:nvGrpSpPr>
      <p:grpSpPr>
        <a:xfrm>
          <a:off x="0" y="0"/>
          <a:ext cx="0" cy="0"/>
        </a:xfrm>
      </p:grpSpPr>
      <p:sp>
        <p:nvSpPr>
          <p:cNvPr id="795" name="Google Shape;795;g1ea2dae9b5c_0_10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1ea2dae9b5c_0_10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5" name="Shape 815"/>
        <p:cNvGrpSpPr/>
        <p:nvPr/>
      </p:nvGrpSpPr>
      <p:grpSpPr>
        <a:xfrm>
          <a:off x="0" y="0"/>
          <a:ext cx="0" cy="0"/>
        </a:xfrm>
      </p:grpSpPr>
      <p:sp>
        <p:nvSpPr>
          <p:cNvPr id="816" name="Google Shape;816;g1ea2dae9b5c_0_11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1ea2dae9b5c_0_11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8" name="Shape 878"/>
        <p:cNvGrpSpPr/>
        <p:nvPr/>
      </p:nvGrpSpPr>
      <p:grpSpPr>
        <a:xfrm>
          <a:off x="0" y="0"/>
          <a:ext cx="0" cy="0"/>
        </a:xfrm>
      </p:grpSpPr>
      <p:sp>
        <p:nvSpPr>
          <p:cNvPr id="879" name="Google Shape;879;g29419d00de3_1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9419d00de3_1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5" name="Shape 905"/>
        <p:cNvGrpSpPr/>
        <p:nvPr/>
      </p:nvGrpSpPr>
      <p:grpSpPr>
        <a:xfrm>
          <a:off x="0" y="0"/>
          <a:ext cx="0" cy="0"/>
        </a:xfrm>
      </p:grpSpPr>
      <p:sp>
        <p:nvSpPr>
          <p:cNvPr id="906" name="Google Shape;906;g29419d00de3_1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419d00de3_1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5" name="Shape 935"/>
        <p:cNvGrpSpPr/>
        <p:nvPr/>
      </p:nvGrpSpPr>
      <p:grpSpPr>
        <a:xfrm>
          <a:off x="0" y="0"/>
          <a:ext cx="0" cy="0"/>
        </a:xfrm>
      </p:grpSpPr>
      <p:sp>
        <p:nvSpPr>
          <p:cNvPr id="936" name="Google Shape;936;g29419d00de3_1_1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9419d00de3_1_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6" name="Shape 966"/>
        <p:cNvGrpSpPr/>
        <p:nvPr/>
      </p:nvGrpSpPr>
      <p:grpSpPr>
        <a:xfrm>
          <a:off x="0" y="0"/>
          <a:ext cx="0" cy="0"/>
        </a:xfrm>
      </p:grpSpPr>
      <p:sp>
        <p:nvSpPr>
          <p:cNvPr id="967" name="Google Shape;967;g29419d00de3_1_1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9419d00de3_1_1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7" name="Shape 997"/>
        <p:cNvGrpSpPr/>
        <p:nvPr/>
      </p:nvGrpSpPr>
      <p:grpSpPr>
        <a:xfrm>
          <a:off x="0" y="0"/>
          <a:ext cx="0" cy="0"/>
        </a:xfrm>
      </p:grpSpPr>
      <p:sp>
        <p:nvSpPr>
          <p:cNvPr id="998" name="Google Shape;998;g29419d00de3_1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9419d00de3_1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9" name="Shape 1039"/>
        <p:cNvGrpSpPr/>
        <p:nvPr/>
      </p:nvGrpSpPr>
      <p:grpSpPr>
        <a:xfrm>
          <a:off x="0" y="0"/>
          <a:ext cx="0" cy="0"/>
        </a:xfrm>
      </p:grpSpPr>
      <p:sp>
        <p:nvSpPr>
          <p:cNvPr id="1040" name="Google Shape;1040;g29419d00de3_1_2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419d00de3_1_2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1" name="Shape 1081"/>
        <p:cNvGrpSpPr/>
        <p:nvPr/>
      </p:nvGrpSpPr>
      <p:grpSpPr>
        <a:xfrm>
          <a:off x="0" y="0"/>
          <a:ext cx="0" cy="0"/>
        </a:xfrm>
      </p:grpSpPr>
      <p:sp>
        <p:nvSpPr>
          <p:cNvPr id="1082" name="Google Shape;1082;g2942bb78717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942bb78717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9" name="Shape 1109"/>
        <p:cNvGrpSpPr/>
        <p:nvPr/>
      </p:nvGrpSpPr>
      <p:grpSpPr>
        <a:xfrm>
          <a:off x="0" y="0"/>
          <a:ext cx="0" cy="0"/>
        </a:xfrm>
      </p:grpSpPr>
      <p:sp>
        <p:nvSpPr>
          <p:cNvPr id="1110" name="Google Shape;1110;g1ea2dae9b5c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1ea2dae9b5c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6" name="Shape 1116"/>
        <p:cNvGrpSpPr/>
        <p:nvPr/>
      </p:nvGrpSpPr>
      <p:grpSpPr>
        <a:xfrm>
          <a:off x="0" y="0"/>
          <a:ext cx="0" cy="0"/>
        </a:xfrm>
      </p:grpSpPr>
      <p:sp>
        <p:nvSpPr>
          <p:cNvPr id="1117" name="Google Shape;1117;g1ea2dae9b5c_0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ea2dae9b5c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sp>
        <p:nvSpPr>
          <p:cNvPr id="1126" name="Google Shape;1126;g1ea2dae9b5c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1ea2dae9b5c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4" name="Shape 1134"/>
        <p:cNvGrpSpPr/>
        <p:nvPr/>
      </p:nvGrpSpPr>
      <p:grpSpPr>
        <a:xfrm>
          <a:off x="0" y="0"/>
          <a:ext cx="0" cy="0"/>
        </a:xfrm>
      </p:grpSpPr>
      <p:sp>
        <p:nvSpPr>
          <p:cNvPr id="1135" name="Google Shape;1135;g1ea2dae9b5c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ea2dae9b5c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sp>
        <p:nvSpPr>
          <p:cNvPr id="1151" name="Google Shape;1151;g1ea2dae9b5c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1ea2dae9b5c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8" name="Shape 1158"/>
        <p:cNvGrpSpPr/>
        <p:nvPr/>
      </p:nvGrpSpPr>
      <p:grpSpPr>
        <a:xfrm>
          <a:off x="0" y="0"/>
          <a:ext cx="0" cy="0"/>
        </a:xfrm>
      </p:grpSpPr>
      <p:sp>
        <p:nvSpPr>
          <p:cNvPr id="1159" name="Google Shape;1159;g294cdee3d2a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94cdee3d2a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6" name="Shape 1176"/>
        <p:cNvGrpSpPr/>
        <p:nvPr/>
      </p:nvGrpSpPr>
      <p:grpSpPr>
        <a:xfrm>
          <a:off x="0" y="0"/>
          <a:ext cx="0" cy="0"/>
        </a:xfrm>
      </p:grpSpPr>
      <p:sp>
        <p:nvSpPr>
          <p:cNvPr id="1177" name="Google Shape;1177;g294cdee3d2a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94cdee3d2a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g294cdee3d2a_0_1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94cdee3d2a_0_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7" name="Shape 1267"/>
        <p:cNvGrpSpPr/>
        <p:nvPr/>
      </p:nvGrpSpPr>
      <p:grpSpPr>
        <a:xfrm>
          <a:off x="0" y="0"/>
          <a:ext cx="0" cy="0"/>
        </a:xfrm>
      </p:grpSpPr>
      <p:sp>
        <p:nvSpPr>
          <p:cNvPr id="1268" name="Google Shape;1268;g294cdee3d2a_0_1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294cdee3d2a_0_1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sp>
        <p:nvSpPr>
          <p:cNvPr id="1310" name="Google Shape;1310;g294cdee3d2a_0_2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294cdee3d2a_0_2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sp>
        <p:nvSpPr>
          <p:cNvPr id="1340" name="Google Shape;1340;g294cdee3d2a_0_4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94cdee3d2a_0_4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5" name="Shape 1375"/>
        <p:cNvGrpSpPr/>
        <p:nvPr/>
      </p:nvGrpSpPr>
      <p:grpSpPr>
        <a:xfrm>
          <a:off x="0" y="0"/>
          <a:ext cx="0" cy="0"/>
        </a:xfrm>
      </p:grpSpPr>
      <p:sp>
        <p:nvSpPr>
          <p:cNvPr id="1376" name="Google Shape;1376;g294cdee3d2a_0_3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294cdee3d2a_0_3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8" name="Shape 1408"/>
        <p:cNvGrpSpPr/>
        <p:nvPr/>
      </p:nvGrpSpPr>
      <p:grpSpPr>
        <a:xfrm>
          <a:off x="0" y="0"/>
          <a:ext cx="0" cy="0"/>
        </a:xfrm>
      </p:grpSpPr>
      <p:sp>
        <p:nvSpPr>
          <p:cNvPr id="1409" name="Google Shape;1409;g294cdee3d2a_0_5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94cdee3d2a_0_5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0" name="Shape 1440"/>
        <p:cNvGrpSpPr/>
        <p:nvPr/>
      </p:nvGrpSpPr>
      <p:grpSpPr>
        <a:xfrm>
          <a:off x="0" y="0"/>
          <a:ext cx="0" cy="0"/>
        </a:xfrm>
      </p:grpSpPr>
      <p:sp>
        <p:nvSpPr>
          <p:cNvPr id="1441" name="Google Shape;1441;g1ea2dae9b5c_0_5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ea2dae9b5c_0_5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8" name="Shape 1548"/>
        <p:cNvGrpSpPr/>
        <p:nvPr/>
      </p:nvGrpSpPr>
      <p:grpSpPr>
        <a:xfrm>
          <a:off x="0" y="0"/>
          <a:ext cx="0" cy="0"/>
        </a:xfrm>
      </p:grpSpPr>
      <p:sp>
        <p:nvSpPr>
          <p:cNvPr id="1549" name="Google Shape;1549;g1ea2dae9b5c_0_1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1ea2dae9b5c_0_1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5" name="Shape 1635"/>
        <p:cNvGrpSpPr/>
        <p:nvPr/>
      </p:nvGrpSpPr>
      <p:grpSpPr>
        <a:xfrm>
          <a:off x="0" y="0"/>
          <a:ext cx="0" cy="0"/>
        </a:xfrm>
      </p:grpSpPr>
      <p:sp>
        <p:nvSpPr>
          <p:cNvPr id="1636" name="Google Shape;1636;g1ea2dae9b5c_0_4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1ea2dae9b5c_0_4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5" name="Shape 1655"/>
        <p:cNvGrpSpPr/>
        <p:nvPr/>
      </p:nvGrpSpPr>
      <p:grpSpPr>
        <a:xfrm>
          <a:off x="0" y="0"/>
          <a:ext cx="0" cy="0"/>
        </a:xfrm>
      </p:grpSpPr>
      <p:sp>
        <p:nvSpPr>
          <p:cNvPr id="1656" name="Google Shape;1656;g1ea2dae9b5c_0_6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1ea2dae9b5c_0_6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0" name="Shape 1790"/>
        <p:cNvGrpSpPr/>
        <p:nvPr/>
      </p:nvGrpSpPr>
      <p:grpSpPr>
        <a:xfrm>
          <a:off x="0" y="0"/>
          <a:ext cx="0" cy="0"/>
        </a:xfrm>
      </p:grpSpPr>
      <p:sp>
        <p:nvSpPr>
          <p:cNvPr id="1791" name="Google Shape;1791;g1ea2dae9b5c_0_8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1ea2dae9b5c_0_8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9" name="Shape 1859"/>
        <p:cNvGrpSpPr/>
        <p:nvPr/>
      </p:nvGrpSpPr>
      <p:grpSpPr>
        <a:xfrm>
          <a:off x="0" y="0"/>
          <a:ext cx="0" cy="0"/>
        </a:xfrm>
      </p:grpSpPr>
      <p:sp>
        <p:nvSpPr>
          <p:cNvPr id="1860" name="Google Shape;1860;g1ea2dae9b5c_0_6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1ea2dae9b5c_0_6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9" name="Shape 1879"/>
        <p:cNvGrpSpPr/>
        <p:nvPr/>
      </p:nvGrpSpPr>
      <p:grpSpPr>
        <a:xfrm>
          <a:off x="0" y="0"/>
          <a:ext cx="0" cy="0"/>
        </a:xfrm>
      </p:grpSpPr>
      <p:sp>
        <p:nvSpPr>
          <p:cNvPr id="1880" name="Google Shape;1880;g1ea2dae9b5c_0_10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1ea2dae9b5c_0_10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2" name="Shape 1902"/>
        <p:cNvGrpSpPr/>
        <p:nvPr/>
      </p:nvGrpSpPr>
      <p:grpSpPr>
        <a:xfrm>
          <a:off x="0" y="0"/>
          <a:ext cx="0" cy="0"/>
        </a:xfrm>
      </p:grpSpPr>
      <p:sp>
        <p:nvSpPr>
          <p:cNvPr id="1903" name="Google Shape;1903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8" name="Shape 1908"/>
        <p:cNvGrpSpPr/>
        <p:nvPr/>
      </p:nvGrpSpPr>
      <p:grpSpPr>
        <a:xfrm>
          <a:off x="0" y="0"/>
          <a:ext cx="0" cy="0"/>
        </a:xfrm>
      </p:grpSpPr>
      <p:sp>
        <p:nvSpPr>
          <p:cNvPr id="1909" name="Google Shape;1909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24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Relationship Id="rId7" Type="http://schemas.openxmlformats.org/officeDocument/2006/relationships/image" Target="../media/image4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Relationship Id="rId7" Type="http://schemas.openxmlformats.org/officeDocument/2006/relationships/image" Target="../media/image49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10" Type="http://schemas.openxmlformats.org/officeDocument/2006/relationships/image" Target="../media/image56.png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8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52.png" /><Relationship Id="rId7" Type="http://schemas.openxmlformats.org/officeDocument/2006/relationships/image" Target="../media/image53.png" /><Relationship Id="rId8" Type="http://schemas.openxmlformats.org/officeDocument/2006/relationships/image" Target="../media/image54.png" /><Relationship Id="rId9" Type="http://schemas.openxmlformats.org/officeDocument/2006/relationships/image" Target="../media/image55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8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52.png" /><Relationship Id="rId7" Type="http://schemas.openxmlformats.org/officeDocument/2006/relationships/image" Target="../media/image57.png" /><Relationship Id="rId8" Type="http://schemas.openxmlformats.org/officeDocument/2006/relationships/image" Target="../media/image58.png" /><Relationship Id="rId9" Type="http://schemas.openxmlformats.org/officeDocument/2006/relationships/image" Target="../media/image59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Relationship Id="rId7" Type="http://schemas.openxmlformats.org/officeDocument/2006/relationships/image" Target="../media/image49.png" /><Relationship Id="rId8" Type="http://schemas.openxmlformats.org/officeDocument/2006/relationships/image" Target="../media/image60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61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62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61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Relationship Id="rId6" Type="http://schemas.openxmlformats.org/officeDocument/2006/relationships/image" Target="../media/image65.png" /><Relationship Id="rId7" Type="http://schemas.openxmlformats.org/officeDocument/2006/relationships/image" Target="../media/image59.png" /><Relationship Id="rId8" Type="http://schemas.openxmlformats.org/officeDocument/2006/relationships/image" Target="../media/image66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7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sequences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begin to generalise a sequence.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sequence is a succession of objects, diagrams or values usually formed according to a rule.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772" name="Google Shape;772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sequences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780" name="Google Shape;780;p69"/>
          <p:cNvSpPr txBox="1"/>
          <p:nvPr>
            <p:ph type="body" idx="1"/>
          </p:nvPr>
        </p:nvSpPr>
        <p:spPr>
          <a:xfrm>
            <a:off x="324000" y="759300"/>
            <a:ext cx="5047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has started a sequence 2, 4, …</a:t>
            </a:r>
            <a:endParaRPr/>
          </a:p>
        </p:txBody>
      </p:sp>
      <p:sp>
        <p:nvSpPr>
          <p:cNvPr id="781" name="Google Shape;781;p69"/>
          <p:cNvSpPr txBox="1"/>
          <p:nvPr/>
        </p:nvSpPr>
        <p:spPr>
          <a:xfrm>
            <a:off x="359917" y="4475627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9"/>
          <p:cNvSpPr txBox="1"/>
          <p:nvPr/>
        </p:nvSpPr>
        <p:spPr>
          <a:xfrm>
            <a:off x="319492" y="3371527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9"/>
          <p:cNvSpPr txBox="1"/>
          <p:nvPr/>
        </p:nvSpPr>
        <p:spPr>
          <a:xfrm>
            <a:off x="319504" y="213741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02" y="1620000"/>
            <a:ext cx="443866" cy="5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52802" y="3983230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815" y="2866773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9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239920" y="1226900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9"/>
          <p:cNvSpPr/>
          <p:nvPr/>
        </p:nvSpPr>
        <p:spPr>
          <a:xfrm>
            <a:off x="1415650" y="1266225"/>
            <a:ext cx="20565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Aisha’s sequence could double each time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9" name="Google Shape;789;p69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182124" y="2387375"/>
            <a:ext cx="247574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/>
          <p:nvPr/>
        </p:nvSpPr>
        <p:spPr>
          <a:xfrm>
            <a:off x="1357525" y="2426700"/>
            <a:ext cx="20565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Aisha’s sequence could add 2 each time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1" name="Google Shape;791;p69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143876" y="3535474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69"/>
          <p:cNvSpPr/>
          <p:nvPr/>
        </p:nvSpPr>
        <p:spPr>
          <a:xfrm>
            <a:off x="1325038" y="3574800"/>
            <a:ext cx="23028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Aisha’s sequence could add 2 then add 3, then add 4 …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4320000" y="1445663"/>
            <a:ext cx="4500000" cy="9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will these sequences look like?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799" name="Google Shape;799;p70"/>
          <p:cNvSpPr txBox="1"/>
          <p:nvPr>
            <p:ph type="body" idx="1"/>
          </p:nvPr>
        </p:nvSpPr>
        <p:spPr>
          <a:xfrm>
            <a:off x="324000" y="759300"/>
            <a:ext cx="50475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has started a sequence 2, 4, …</a:t>
            </a:r>
            <a:endParaRPr/>
          </a:p>
        </p:txBody>
      </p:sp>
      <p:sp>
        <p:nvSpPr>
          <p:cNvPr id="800" name="Google Shape;800;p70"/>
          <p:cNvSpPr txBox="1"/>
          <p:nvPr/>
        </p:nvSpPr>
        <p:spPr>
          <a:xfrm>
            <a:off x="359917" y="4475627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319492" y="3371527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 txBox="1"/>
          <p:nvPr/>
        </p:nvSpPr>
        <p:spPr>
          <a:xfrm>
            <a:off x="319504" y="213741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3" name="Google Shape;8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02" y="1620000"/>
            <a:ext cx="443866" cy="5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52802" y="3983230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815" y="2866773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0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239920" y="1226900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0"/>
          <p:cNvSpPr/>
          <p:nvPr/>
        </p:nvSpPr>
        <p:spPr>
          <a:xfrm>
            <a:off x="1415650" y="1266225"/>
            <a:ext cx="20565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Aisha’s sequence could double each time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70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182124" y="2387375"/>
            <a:ext cx="247574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0"/>
          <p:cNvSpPr/>
          <p:nvPr/>
        </p:nvSpPr>
        <p:spPr>
          <a:xfrm>
            <a:off x="1357525" y="2426700"/>
            <a:ext cx="20565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Aisha’s sequence could add 2 each time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0" name="Google Shape;810;p70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143876" y="3535474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/>
          <p:nvPr/>
        </p:nvSpPr>
        <p:spPr>
          <a:xfrm>
            <a:off x="1325038" y="3574800"/>
            <a:ext cx="23028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Aisha’s sequence could add 2 then add 3, then add 4 …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type="body" idx="1"/>
          </p:nvPr>
        </p:nvSpPr>
        <p:spPr>
          <a:xfrm>
            <a:off x="4320000" y="1445650"/>
            <a:ext cx="4500000" cy="3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2, 4, 8, 16, 32, …</a:t>
            </a:r>
            <a:endParaRPr sz="2000"/>
          </a:p>
        </p:txBody>
      </p:sp>
      <p:sp>
        <p:nvSpPr>
          <p:cNvPr id="813" name="Google Shape;813;p70"/>
          <p:cNvSpPr txBox="1"/>
          <p:nvPr>
            <p:ph type="body" idx="1"/>
          </p:nvPr>
        </p:nvSpPr>
        <p:spPr>
          <a:xfrm>
            <a:off x="4320000" y="2535750"/>
            <a:ext cx="4500000" cy="3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2, 4, 6, 8, 10, …</a:t>
            </a:r>
            <a:endParaRPr sz="2000"/>
          </a:p>
        </p:txBody>
      </p:sp>
      <p:sp>
        <p:nvSpPr>
          <p:cNvPr id="814" name="Google Shape;814;p70"/>
          <p:cNvSpPr txBox="1"/>
          <p:nvPr>
            <p:ph type="body" idx="1"/>
          </p:nvPr>
        </p:nvSpPr>
        <p:spPr>
          <a:xfrm>
            <a:off x="4320000" y="3625850"/>
            <a:ext cx="4500000" cy="3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2, 4, 7, 11, 16, …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8" name="Shape 818"/>
        <p:cNvGrpSpPr/>
        <p:nvPr/>
      </p:nvGrpSpPr>
      <p:grpSpPr>
        <a:xfrm>
          <a:off x="0" y="0"/>
          <a:ext cx="0" cy="0"/>
        </a:xfrm>
      </p:grpSpPr>
      <p:sp>
        <p:nvSpPr>
          <p:cNvPr id="819" name="Google Shape;81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820" name="Google Shape;820;p71"/>
          <p:cNvSpPr txBox="1"/>
          <p:nvPr>
            <p:ph type="body" idx="1"/>
          </p:nvPr>
        </p:nvSpPr>
        <p:spPr>
          <a:xfrm>
            <a:off x="324000" y="7121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are many different types of sequences. In order to continue a sequence, you can use a rule.</a:t>
            </a:r>
            <a:endParaRPr sz="1800"/>
          </a:p>
        </p:txBody>
      </p:sp>
      <p:sp>
        <p:nvSpPr>
          <p:cNvPr id="821" name="Google Shape;821;p71"/>
          <p:cNvSpPr/>
          <p:nvPr/>
        </p:nvSpPr>
        <p:spPr>
          <a:xfrm>
            <a:off x="323425" y="2215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1"/>
          <p:cNvSpPr/>
          <p:nvPr/>
        </p:nvSpPr>
        <p:spPr>
          <a:xfrm>
            <a:off x="324000" y="3346317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1"/>
          <p:cNvSpPr txBox="1"/>
          <p:nvPr>
            <p:ph type="body" idx="1"/>
          </p:nvPr>
        </p:nvSpPr>
        <p:spPr>
          <a:xfrm>
            <a:off x="324000" y="14525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You can continue this sequence so it has the rule ‘plus 10’</a:t>
            </a:r>
            <a:endParaRPr sz="1800"/>
          </a:p>
        </p:txBody>
      </p:sp>
      <p:sp>
        <p:nvSpPr>
          <p:cNvPr id="824" name="Google Shape;824;p71"/>
          <p:cNvSpPr/>
          <p:nvPr/>
        </p:nvSpPr>
        <p:spPr>
          <a:xfrm>
            <a:off x="1221649" y="2215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/>
          <p:nvPr/>
        </p:nvSpPr>
        <p:spPr>
          <a:xfrm>
            <a:off x="2119874" y="2215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/>
          <p:nvPr/>
        </p:nvSpPr>
        <p:spPr>
          <a:xfrm>
            <a:off x="3018098" y="2215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1"/>
          <p:cNvSpPr/>
          <p:nvPr/>
        </p:nvSpPr>
        <p:spPr>
          <a:xfrm>
            <a:off x="3888487" y="2215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1"/>
          <p:cNvSpPr txBox="1"/>
          <p:nvPr>
            <p:ph type="body" idx="1"/>
          </p:nvPr>
        </p:nvSpPr>
        <p:spPr>
          <a:xfrm>
            <a:off x="1027185" y="2253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29" name="Google Shape;829;p71"/>
          <p:cNvSpPr txBox="1"/>
          <p:nvPr>
            <p:ph type="body" idx="1"/>
          </p:nvPr>
        </p:nvSpPr>
        <p:spPr>
          <a:xfrm>
            <a:off x="1910957" y="2253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30" name="Google Shape;830;p71"/>
          <p:cNvSpPr txBox="1"/>
          <p:nvPr>
            <p:ph type="body" idx="1"/>
          </p:nvPr>
        </p:nvSpPr>
        <p:spPr>
          <a:xfrm>
            <a:off x="2794728" y="2253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31" name="Google Shape;831;p71"/>
          <p:cNvSpPr txBox="1"/>
          <p:nvPr>
            <p:ph type="body" idx="1"/>
          </p:nvPr>
        </p:nvSpPr>
        <p:spPr>
          <a:xfrm>
            <a:off x="3711399" y="2253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32" name="Google Shape;832;p71"/>
          <p:cNvSpPr txBox="1"/>
          <p:nvPr>
            <p:ph type="body" idx="1"/>
          </p:nvPr>
        </p:nvSpPr>
        <p:spPr>
          <a:xfrm>
            <a:off x="4606463" y="2253546"/>
            <a:ext cx="453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833" name="Google Shape;833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84705" y="1942191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1"/>
          <p:cNvSpPr txBox="1"/>
          <p:nvPr/>
        </p:nvSpPr>
        <p:spPr>
          <a:xfrm>
            <a:off x="858318" y="17721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5" name="Google Shape;835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421186" y="19460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326007" y="19460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09778" y="1946083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1"/>
          <p:cNvSpPr txBox="1"/>
          <p:nvPr/>
        </p:nvSpPr>
        <p:spPr>
          <a:xfrm>
            <a:off x="1853297" y="17721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1"/>
          <p:cNvSpPr txBox="1"/>
          <p:nvPr/>
        </p:nvSpPr>
        <p:spPr>
          <a:xfrm>
            <a:off x="2751521" y="17721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1"/>
          <p:cNvSpPr txBox="1"/>
          <p:nvPr/>
        </p:nvSpPr>
        <p:spPr>
          <a:xfrm>
            <a:off x="3588365" y="17721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 txBox="1"/>
          <p:nvPr>
            <p:ph type="body" idx="1"/>
          </p:nvPr>
        </p:nvSpPr>
        <p:spPr>
          <a:xfrm>
            <a:off x="324000" y="26720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You can continue this sequence so it has the rule ‘multiply by 10’</a:t>
            </a:r>
            <a:endParaRPr sz="1800"/>
          </a:p>
        </p:txBody>
      </p:sp>
      <p:sp>
        <p:nvSpPr>
          <p:cNvPr id="842" name="Google Shape;842;p71"/>
          <p:cNvSpPr/>
          <p:nvPr/>
        </p:nvSpPr>
        <p:spPr>
          <a:xfrm>
            <a:off x="1227508" y="3355112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/>
          <p:nvPr/>
        </p:nvSpPr>
        <p:spPr>
          <a:xfrm>
            <a:off x="2131015" y="3355112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800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/>
          <p:nvPr/>
        </p:nvSpPr>
        <p:spPr>
          <a:xfrm>
            <a:off x="3013956" y="3355100"/>
            <a:ext cx="7998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8000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/>
          <p:nvPr/>
        </p:nvSpPr>
        <p:spPr>
          <a:xfrm>
            <a:off x="4018175" y="3355100"/>
            <a:ext cx="9996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80 000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 txBox="1"/>
          <p:nvPr>
            <p:ph type="body" idx="1"/>
          </p:nvPr>
        </p:nvSpPr>
        <p:spPr>
          <a:xfrm>
            <a:off x="1031900" y="3393610"/>
            <a:ext cx="1515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47" name="Google Shape;847;p71"/>
          <p:cNvSpPr txBox="1"/>
          <p:nvPr>
            <p:ph type="body" idx="1"/>
          </p:nvPr>
        </p:nvSpPr>
        <p:spPr>
          <a:xfrm>
            <a:off x="1920869" y="3393610"/>
            <a:ext cx="1515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48" name="Google Shape;848;p71"/>
          <p:cNvSpPr txBox="1"/>
          <p:nvPr>
            <p:ph type="body" idx="1"/>
          </p:nvPr>
        </p:nvSpPr>
        <p:spPr>
          <a:xfrm>
            <a:off x="2809839" y="3393610"/>
            <a:ext cx="1515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49" name="Google Shape;849;p71"/>
          <p:cNvSpPr txBox="1"/>
          <p:nvPr>
            <p:ph type="body" idx="1"/>
          </p:nvPr>
        </p:nvSpPr>
        <p:spPr>
          <a:xfrm>
            <a:off x="3848253" y="3393610"/>
            <a:ext cx="1515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50" name="Google Shape;850;p71"/>
          <p:cNvSpPr txBox="1"/>
          <p:nvPr>
            <p:ph type="body" idx="1"/>
          </p:nvPr>
        </p:nvSpPr>
        <p:spPr>
          <a:xfrm>
            <a:off x="5087171" y="3393610"/>
            <a:ext cx="4557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851" name="Google Shape;851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86228" y="3080419"/>
            <a:ext cx="1094252" cy="310409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1"/>
          <p:cNvSpPr txBox="1"/>
          <p:nvPr/>
        </p:nvSpPr>
        <p:spPr>
          <a:xfrm>
            <a:off x="862039" y="2909375"/>
            <a:ext cx="5664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3" name="Google Shape;853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428218" y="3084333"/>
            <a:ext cx="1094252" cy="310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338361" y="3084333"/>
            <a:ext cx="1094252" cy="310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27330" y="3084333"/>
            <a:ext cx="1094252" cy="310409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1"/>
          <p:cNvSpPr txBox="1"/>
          <p:nvPr/>
        </p:nvSpPr>
        <p:spPr>
          <a:xfrm>
            <a:off x="1862870" y="2909375"/>
            <a:ext cx="5664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 txBox="1"/>
          <p:nvPr/>
        </p:nvSpPr>
        <p:spPr>
          <a:xfrm>
            <a:off x="2766378" y="2909375"/>
            <a:ext cx="5664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3608144" y="2909375"/>
            <a:ext cx="5664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 txBox="1"/>
          <p:nvPr>
            <p:ph type="body" idx="1"/>
          </p:nvPr>
        </p:nvSpPr>
        <p:spPr>
          <a:xfrm>
            <a:off x="324000" y="3791538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You can continue this sequence so it has the rule ‘multiply by −0.5’</a:t>
            </a:r>
            <a:endParaRPr sz="1800"/>
          </a:p>
        </p:txBody>
      </p:sp>
      <p:sp>
        <p:nvSpPr>
          <p:cNvPr id="860" name="Google Shape;860;p71"/>
          <p:cNvSpPr/>
          <p:nvPr/>
        </p:nvSpPr>
        <p:spPr>
          <a:xfrm>
            <a:off x="323425" y="4501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1"/>
          <p:cNvSpPr/>
          <p:nvPr/>
        </p:nvSpPr>
        <p:spPr>
          <a:xfrm>
            <a:off x="1221649" y="4501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1"/>
          <p:cNvSpPr/>
          <p:nvPr/>
        </p:nvSpPr>
        <p:spPr>
          <a:xfrm>
            <a:off x="2119874" y="4501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1"/>
          <p:cNvSpPr/>
          <p:nvPr/>
        </p:nvSpPr>
        <p:spPr>
          <a:xfrm>
            <a:off x="3018098" y="4501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1"/>
          <p:cNvSpPr/>
          <p:nvPr/>
        </p:nvSpPr>
        <p:spPr>
          <a:xfrm>
            <a:off x="3888487" y="45012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1"/>
          <p:cNvSpPr txBox="1"/>
          <p:nvPr>
            <p:ph type="body" idx="1"/>
          </p:nvPr>
        </p:nvSpPr>
        <p:spPr>
          <a:xfrm>
            <a:off x="1027185" y="4539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66" name="Google Shape;866;p71"/>
          <p:cNvSpPr txBox="1"/>
          <p:nvPr>
            <p:ph type="body" idx="1"/>
          </p:nvPr>
        </p:nvSpPr>
        <p:spPr>
          <a:xfrm>
            <a:off x="1910957" y="4539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67" name="Google Shape;867;p71"/>
          <p:cNvSpPr txBox="1"/>
          <p:nvPr>
            <p:ph type="body" idx="1"/>
          </p:nvPr>
        </p:nvSpPr>
        <p:spPr>
          <a:xfrm>
            <a:off x="2794728" y="4539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68" name="Google Shape;868;p71"/>
          <p:cNvSpPr txBox="1"/>
          <p:nvPr>
            <p:ph type="body" idx="1"/>
          </p:nvPr>
        </p:nvSpPr>
        <p:spPr>
          <a:xfrm>
            <a:off x="3711399" y="45395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69" name="Google Shape;869;p71"/>
          <p:cNvSpPr txBox="1"/>
          <p:nvPr>
            <p:ph type="body" idx="1"/>
          </p:nvPr>
        </p:nvSpPr>
        <p:spPr>
          <a:xfrm>
            <a:off x="4606463" y="4539546"/>
            <a:ext cx="453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870" name="Google Shape;870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84705" y="4228191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1"/>
          <p:cNvSpPr txBox="1"/>
          <p:nvPr/>
        </p:nvSpPr>
        <p:spPr>
          <a:xfrm>
            <a:off x="858326" y="4058150"/>
            <a:ext cx="6354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2" name="Google Shape;872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421186" y="42320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326007" y="42320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09778" y="4232083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1"/>
          <p:cNvSpPr txBox="1"/>
          <p:nvPr/>
        </p:nvSpPr>
        <p:spPr>
          <a:xfrm>
            <a:off x="1696526" y="4058150"/>
            <a:ext cx="6354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1"/>
          <p:cNvSpPr txBox="1"/>
          <p:nvPr/>
        </p:nvSpPr>
        <p:spPr>
          <a:xfrm>
            <a:off x="2610926" y="4058150"/>
            <a:ext cx="6354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1"/>
          <p:cNvSpPr txBox="1"/>
          <p:nvPr/>
        </p:nvSpPr>
        <p:spPr>
          <a:xfrm>
            <a:off x="3525326" y="4058150"/>
            <a:ext cx="6354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883" name="Google Shape;883;p72"/>
          <p:cNvSpPr txBox="1"/>
          <p:nvPr>
            <p:ph type="body" idx="1"/>
          </p:nvPr>
        </p:nvSpPr>
        <p:spPr>
          <a:xfrm>
            <a:off x="324000" y="7139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Aisha has started a new sequence with the values 10, 30, …</a:t>
            </a:r>
            <a:endParaRPr sz="1800"/>
          </a:p>
        </p:txBody>
      </p:sp>
      <p:sp>
        <p:nvSpPr>
          <p:cNvPr id="884" name="Google Shape;884;p72"/>
          <p:cNvSpPr/>
          <p:nvPr/>
        </p:nvSpPr>
        <p:spPr>
          <a:xfrm>
            <a:off x="3397688" y="12793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2"/>
          <p:cNvSpPr/>
          <p:nvPr/>
        </p:nvSpPr>
        <p:spPr>
          <a:xfrm>
            <a:off x="4295912" y="12793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 txBox="1"/>
          <p:nvPr>
            <p:ph type="body" idx="1"/>
          </p:nvPr>
        </p:nvSpPr>
        <p:spPr>
          <a:xfrm>
            <a:off x="4101448" y="13176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887" name="Google Shape;887;p72"/>
          <p:cNvSpPr txBox="1"/>
          <p:nvPr>
            <p:ph type="body" idx="1"/>
          </p:nvPr>
        </p:nvSpPr>
        <p:spPr>
          <a:xfrm>
            <a:off x="4985235" y="1317650"/>
            <a:ext cx="3879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sp>
        <p:nvSpPr>
          <p:cNvPr id="888" name="Google Shape;888;p72"/>
          <p:cNvSpPr txBox="1"/>
          <p:nvPr/>
        </p:nvSpPr>
        <p:spPr>
          <a:xfrm>
            <a:off x="4406020" y="370223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2"/>
          <p:cNvSpPr txBox="1"/>
          <p:nvPr/>
        </p:nvSpPr>
        <p:spPr>
          <a:xfrm>
            <a:off x="2176492" y="37022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2"/>
          <p:cNvSpPr txBox="1"/>
          <p:nvPr/>
        </p:nvSpPr>
        <p:spPr>
          <a:xfrm>
            <a:off x="315142" y="37022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1" name="Google Shape;89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440" y="3167315"/>
            <a:ext cx="443866" cy="5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598906" y="3211776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9815" y="3178673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2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582799" y="2064500"/>
            <a:ext cx="1753001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2"/>
          <p:cNvSpPr/>
          <p:nvPr/>
        </p:nvSpPr>
        <p:spPr>
          <a:xfrm>
            <a:off x="758546" y="2088096"/>
            <a:ext cx="14592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50 and 70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6" name="Google Shape;896;p72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2582401" y="2064500"/>
            <a:ext cx="1882199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2"/>
          <p:cNvSpPr/>
          <p:nvPr/>
        </p:nvSpPr>
        <p:spPr>
          <a:xfrm>
            <a:off x="2761875" y="2088096"/>
            <a:ext cx="1553100" cy="773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90 and 270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8" name="Google Shape;898;p72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4694539" y="2064500"/>
            <a:ext cx="1882199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2"/>
          <p:cNvSpPr/>
          <p:nvPr/>
        </p:nvSpPr>
        <p:spPr>
          <a:xfrm>
            <a:off x="4875363" y="2080235"/>
            <a:ext cx="15531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60 and 100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0" name="Google Shape;900;p72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6839223" y="2064500"/>
            <a:ext cx="1882199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2"/>
          <p:cNvSpPr/>
          <p:nvPr/>
        </p:nvSpPr>
        <p:spPr>
          <a:xfrm>
            <a:off x="7051792" y="2080218"/>
            <a:ext cx="1553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70 and 150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2"/>
          <p:cNvSpPr txBox="1"/>
          <p:nvPr/>
        </p:nvSpPr>
        <p:spPr>
          <a:xfrm flipH="1">
            <a:off x="6390600" y="373420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3" name="Google Shape;903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639451" y="3202027"/>
            <a:ext cx="443850" cy="511898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2"/>
          <p:cNvSpPr txBox="1"/>
          <p:nvPr>
            <p:ph type="body" idx="1"/>
          </p:nvPr>
        </p:nvSpPr>
        <p:spPr>
          <a:xfrm>
            <a:off x="324000" y="414410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rules might these pupils be using to get the next values in their sequences?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910" name="Google Shape;910;p73"/>
          <p:cNvSpPr/>
          <p:nvPr/>
        </p:nvSpPr>
        <p:spPr>
          <a:xfrm>
            <a:off x="3397688" y="12793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3"/>
          <p:cNvSpPr/>
          <p:nvPr/>
        </p:nvSpPr>
        <p:spPr>
          <a:xfrm>
            <a:off x="4295912" y="12793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3"/>
          <p:cNvSpPr txBox="1"/>
          <p:nvPr>
            <p:ph type="body" idx="1"/>
          </p:nvPr>
        </p:nvSpPr>
        <p:spPr>
          <a:xfrm>
            <a:off x="4101448" y="13176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13" name="Google Shape;913;p73"/>
          <p:cNvSpPr txBox="1"/>
          <p:nvPr>
            <p:ph type="body" idx="1"/>
          </p:nvPr>
        </p:nvSpPr>
        <p:spPr>
          <a:xfrm>
            <a:off x="4985238" y="1317650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sp>
        <p:nvSpPr>
          <p:cNvPr id="914" name="Google Shape;914;p73"/>
          <p:cNvSpPr txBox="1"/>
          <p:nvPr/>
        </p:nvSpPr>
        <p:spPr>
          <a:xfrm>
            <a:off x="4406020" y="370223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3"/>
          <p:cNvSpPr txBox="1"/>
          <p:nvPr/>
        </p:nvSpPr>
        <p:spPr>
          <a:xfrm>
            <a:off x="2176492" y="37022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3"/>
          <p:cNvSpPr txBox="1"/>
          <p:nvPr/>
        </p:nvSpPr>
        <p:spPr>
          <a:xfrm>
            <a:off x="315142" y="37022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7" name="Google Shape;91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440" y="3167315"/>
            <a:ext cx="443866" cy="5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598906" y="3211776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9815" y="3178673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3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582799" y="2064500"/>
            <a:ext cx="1753001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3"/>
          <p:cNvSpPr/>
          <p:nvPr/>
        </p:nvSpPr>
        <p:spPr>
          <a:xfrm>
            <a:off x="758546" y="2088096"/>
            <a:ext cx="1459200" cy="58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50 and 70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2" name="Google Shape;922;p73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2582401" y="2064500"/>
            <a:ext cx="1882199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3"/>
          <p:cNvSpPr/>
          <p:nvPr/>
        </p:nvSpPr>
        <p:spPr>
          <a:xfrm>
            <a:off x="2761875" y="2088096"/>
            <a:ext cx="1553100" cy="773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90 and 270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4" name="Google Shape;924;p73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4694539" y="2064500"/>
            <a:ext cx="1882199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73"/>
          <p:cNvSpPr/>
          <p:nvPr/>
        </p:nvSpPr>
        <p:spPr>
          <a:xfrm>
            <a:off x="4875363" y="2080235"/>
            <a:ext cx="15531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60 and 100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6" name="Google Shape;926;p73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6839223" y="2064500"/>
            <a:ext cx="1882199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3"/>
          <p:cNvSpPr/>
          <p:nvPr/>
        </p:nvSpPr>
        <p:spPr>
          <a:xfrm>
            <a:off x="7051792" y="2080218"/>
            <a:ext cx="1553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70 and 150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3"/>
          <p:cNvSpPr txBox="1"/>
          <p:nvPr/>
        </p:nvSpPr>
        <p:spPr>
          <a:xfrm flipH="1">
            <a:off x="6390600" y="373420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9" name="Google Shape;929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639451" y="3202027"/>
            <a:ext cx="443850" cy="511898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3"/>
          <p:cNvSpPr txBox="1"/>
          <p:nvPr>
            <p:ph type="body" idx="1"/>
          </p:nvPr>
        </p:nvSpPr>
        <p:spPr>
          <a:xfrm>
            <a:off x="324000" y="642850"/>
            <a:ext cx="84960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rules might these pupils be using to get the next values in the sequence?</a:t>
            </a:r>
            <a:endParaRPr sz="1800"/>
          </a:p>
        </p:txBody>
      </p:sp>
      <p:sp>
        <p:nvSpPr>
          <p:cNvPr id="931" name="Google Shape;931;p73"/>
          <p:cNvSpPr txBox="1"/>
          <p:nvPr>
            <p:ph type="body" idx="1"/>
          </p:nvPr>
        </p:nvSpPr>
        <p:spPr>
          <a:xfrm>
            <a:off x="324000" y="4184925"/>
            <a:ext cx="1516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Add 20 each time.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2" name="Google Shape;932;p73"/>
          <p:cNvSpPr txBox="1"/>
          <p:nvPr>
            <p:ph type="body" idx="1"/>
          </p:nvPr>
        </p:nvSpPr>
        <p:spPr>
          <a:xfrm>
            <a:off x="2335800" y="4218125"/>
            <a:ext cx="1516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Multiply by 3 each time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73"/>
          <p:cNvSpPr txBox="1"/>
          <p:nvPr>
            <p:ph type="body" idx="1"/>
          </p:nvPr>
        </p:nvSpPr>
        <p:spPr>
          <a:xfrm>
            <a:off x="7070250" y="4254325"/>
            <a:ext cx="1516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Double then add 10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73"/>
          <p:cNvSpPr txBox="1"/>
          <p:nvPr>
            <p:ph type="body" idx="1"/>
          </p:nvPr>
        </p:nvSpPr>
        <p:spPr>
          <a:xfrm>
            <a:off x="4029500" y="4218125"/>
            <a:ext cx="2827200" cy="41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Add 10 more than previously. (add 20, then 30 then 40)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8" name="Shape 938"/>
        <p:cNvGrpSpPr/>
        <p:nvPr/>
      </p:nvGrpSpPr>
      <p:grpSpPr>
        <a:xfrm>
          <a:off x="0" y="0"/>
          <a:ext cx="0" cy="0"/>
        </a:xfrm>
      </p:grpSpPr>
      <p:sp>
        <p:nvSpPr>
          <p:cNvPr id="939" name="Google Shape;939;p74"/>
          <p:cNvSpPr txBox="1"/>
          <p:nvPr>
            <p:ph type="body" idx="1"/>
          </p:nvPr>
        </p:nvSpPr>
        <p:spPr>
          <a:xfrm>
            <a:off x="324000" y="754400"/>
            <a:ext cx="8237700" cy="7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can you continue this sequence so that it has a constant </a:t>
            </a:r>
            <a:r>
              <a:rPr lang="en-GB">
                <a:solidFill>
                  <a:schemeClr val="accent4"/>
                </a:solidFill>
              </a:rPr>
              <a:t>additive</a:t>
            </a:r>
            <a:r>
              <a:rPr lang="en-GB"/>
              <a:t> rule?</a:t>
            </a:r>
            <a:endParaRPr/>
          </a:p>
        </p:txBody>
      </p:sp>
      <p:sp>
        <p:nvSpPr>
          <p:cNvPr id="940" name="Google Shape;94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941" name="Google Shape;941;p74"/>
          <p:cNvSpPr/>
          <p:nvPr/>
        </p:nvSpPr>
        <p:spPr>
          <a:xfrm>
            <a:off x="3537925" y="1772399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4"/>
          <p:cNvSpPr/>
          <p:nvPr/>
        </p:nvSpPr>
        <p:spPr>
          <a:xfrm>
            <a:off x="4436149" y="1772399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4"/>
          <p:cNvSpPr txBox="1"/>
          <p:nvPr>
            <p:ph type="body" idx="1"/>
          </p:nvPr>
        </p:nvSpPr>
        <p:spPr>
          <a:xfrm>
            <a:off x="4241685" y="1810671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44" name="Google Shape;944;p74"/>
          <p:cNvSpPr txBox="1"/>
          <p:nvPr>
            <p:ph type="body" idx="1"/>
          </p:nvPr>
        </p:nvSpPr>
        <p:spPr>
          <a:xfrm>
            <a:off x="5125475" y="1810675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sp>
        <p:nvSpPr>
          <p:cNvPr id="945" name="Google Shape;945;p74"/>
          <p:cNvSpPr txBox="1"/>
          <p:nvPr>
            <p:ph type="body" idx="1"/>
          </p:nvPr>
        </p:nvSpPr>
        <p:spPr>
          <a:xfrm>
            <a:off x="324000" y="2602850"/>
            <a:ext cx="8437200" cy="55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 (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2)= 12 so the difference between the two numbers is 12 </a:t>
            </a:r>
            <a:endParaRPr/>
          </a:p>
        </p:txBody>
      </p:sp>
      <p:pic>
        <p:nvPicPr>
          <p:cNvPr id="946" name="Google Shape;946;p74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772917" y="1462704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4"/>
          <p:cNvSpPr txBox="1"/>
          <p:nvPr/>
        </p:nvSpPr>
        <p:spPr>
          <a:xfrm>
            <a:off x="4146530" y="1292663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4"/>
          <p:cNvSpPr/>
          <p:nvPr/>
        </p:nvSpPr>
        <p:spPr>
          <a:xfrm>
            <a:off x="324000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4"/>
          <p:cNvSpPr/>
          <p:nvPr/>
        </p:nvSpPr>
        <p:spPr>
          <a:xfrm>
            <a:off x="1228887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4"/>
          <p:cNvSpPr/>
          <p:nvPr/>
        </p:nvSpPr>
        <p:spPr>
          <a:xfrm>
            <a:off x="2120449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4"/>
          <p:cNvSpPr/>
          <p:nvPr/>
        </p:nvSpPr>
        <p:spPr>
          <a:xfrm>
            <a:off x="3018673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4"/>
          <p:cNvSpPr/>
          <p:nvPr/>
        </p:nvSpPr>
        <p:spPr>
          <a:xfrm>
            <a:off x="3889062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4"/>
          <p:cNvSpPr txBox="1"/>
          <p:nvPr>
            <p:ph type="body" idx="1"/>
          </p:nvPr>
        </p:nvSpPr>
        <p:spPr>
          <a:xfrm>
            <a:off x="1027760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54" name="Google Shape;954;p74"/>
          <p:cNvSpPr txBox="1"/>
          <p:nvPr>
            <p:ph type="body" idx="1"/>
          </p:nvPr>
        </p:nvSpPr>
        <p:spPr>
          <a:xfrm>
            <a:off x="1911532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55" name="Google Shape;955;p74"/>
          <p:cNvSpPr txBox="1"/>
          <p:nvPr>
            <p:ph type="body" idx="1"/>
          </p:nvPr>
        </p:nvSpPr>
        <p:spPr>
          <a:xfrm>
            <a:off x="2795303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56" name="Google Shape;956;p74"/>
          <p:cNvSpPr txBox="1"/>
          <p:nvPr>
            <p:ph type="body" idx="1"/>
          </p:nvPr>
        </p:nvSpPr>
        <p:spPr>
          <a:xfrm>
            <a:off x="3711974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57" name="Google Shape;957;p74"/>
          <p:cNvSpPr txBox="1"/>
          <p:nvPr>
            <p:ph type="body" idx="1"/>
          </p:nvPr>
        </p:nvSpPr>
        <p:spPr>
          <a:xfrm>
            <a:off x="4607038" y="3791046"/>
            <a:ext cx="453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958" name="Google Shape;958;p74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85280" y="3479691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4"/>
          <p:cNvSpPr txBox="1"/>
          <p:nvPr/>
        </p:nvSpPr>
        <p:spPr>
          <a:xfrm>
            <a:off x="858893" y="33096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0" name="Google Shape;960;p74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421761" y="34835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74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326582" y="34835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74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10353" y="3483583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4"/>
          <p:cNvSpPr txBox="1"/>
          <p:nvPr/>
        </p:nvSpPr>
        <p:spPr>
          <a:xfrm>
            <a:off x="1853872" y="33096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4"/>
          <p:cNvSpPr txBox="1"/>
          <p:nvPr/>
        </p:nvSpPr>
        <p:spPr>
          <a:xfrm>
            <a:off x="2752096" y="33096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4"/>
          <p:cNvSpPr txBox="1"/>
          <p:nvPr/>
        </p:nvSpPr>
        <p:spPr>
          <a:xfrm>
            <a:off x="3588940" y="33096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9" name="Shape 969"/>
        <p:cNvGrpSpPr/>
        <p:nvPr/>
      </p:nvGrpSpPr>
      <p:grpSpPr>
        <a:xfrm>
          <a:off x="0" y="0"/>
          <a:ext cx="0" cy="0"/>
        </a:xfrm>
      </p:grpSpPr>
      <p:sp>
        <p:nvSpPr>
          <p:cNvPr id="970" name="Google Shape;970;p75"/>
          <p:cNvSpPr txBox="1"/>
          <p:nvPr>
            <p:ph type="body" idx="1"/>
          </p:nvPr>
        </p:nvSpPr>
        <p:spPr>
          <a:xfrm>
            <a:off x="324000" y="759300"/>
            <a:ext cx="8496000" cy="7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could we carry this sequence on so it has a constant </a:t>
            </a:r>
            <a:r>
              <a:rPr lang="en-GB">
                <a:solidFill>
                  <a:schemeClr val="accent4"/>
                </a:solidFill>
              </a:rPr>
              <a:t>multiplicative</a:t>
            </a:r>
            <a:r>
              <a:rPr lang="en-GB"/>
              <a:t> rule?</a:t>
            </a:r>
            <a:endParaRPr/>
          </a:p>
        </p:txBody>
      </p:sp>
      <p:sp>
        <p:nvSpPr>
          <p:cNvPr id="971" name="Google Shape;97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972" name="Google Shape;972;p75"/>
          <p:cNvSpPr/>
          <p:nvPr/>
        </p:nvSpPr>
        <p:spPr>
          <a:xfrm>
            <a:off x="3537925" y="1619999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5"/>
          <p:cNvSpPr/>
          <p:nvPr/>
        </p:nvSpPr>
        <p:spPr>
          <a:xfrm>
            <a:off x="4436149" y="1619999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5"/>
          <p:cNvSpPr txBox="1"/>
          <p:nvPr>
            <p:ph type="body" idx="1"/>
          </p:nvPr>
        </p:nvSpPr>
        <p:spPr>
          <a:xfrm>
            <a:off x="4241685" y="1658271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75" name="Google Shape;975;p75"/>
          <p:cNvSpPr txBox="1"/>
          <p:nvPr>
            <p:ph type="body" idx="1"/>
          </p:nvPr>
        </p:nvSpPr>
        <p:spPr>
          <a:xfrm>
            <a:off x="5125475" y="1658275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sp>
        <p:nvSpPr>
          <p:cNvPr id="976" name="Google Shape;976;p75"/>
          <p:cNvSpPr txBox="1"/>
          <p:nvPr>
            <p:ph type="body" idx="1"/>
          </p:nvPr>
        </p:nvSpPr>
        <p:spPr>
          <a:xfrm>
            <a:off x="324000" y="2602850"/>
            <a:ext cx="8358600" cy="55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lang="en-GB" sz="2100"/>
              <a:t> </a:t>
            </a:r>
            <a:r>
              <a:rPr lang="en-GB">
                <a:solidFill>
                  <a:srgbClr val="222222"/>
                </a:solidFill>
              </a:rPr>
              <a:t>÷</a:t>
            </a:r>
            <a:r>
              <a:rPr lang="en-GB" sz="2100"/>
              <a:t> (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2) =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5 so the multiplier between the two numbers is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5 </a:t>
            </a:r>
            <a:endParaRPr/>
          </a:p>
        </p:txBody>
      </p:sp>
      <p:pic>
        <p:nvPicPr>
          <p:cNvPr id="977" name="Google Shape;977;p75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772917" y="1310304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5"/>
          <p:cNvSpPr/>
          <p:nvPr/>
        </p:nvSpPr>
        <p:spPr>
          <a:xfrm>
            <a:off x="324000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5"/>
          <p:cNvSpPr/>
          <p:nvPr/>
        </p:nvSpPr>
        <p:spPr>
          <a:xfrm>
            <a:off x="1228887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5"/>
          <p:cNvSpPr/>
          <p:nvPr/>
        </p:nvSpPr>
        <p:spPr>
          <a:xfrm>
            <a:off x="2120449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5"/>
          <p:cNvSpPr/>
          <p:nvPr/>
        </p:nvSpPr>
        <p:spPr>
          <a:xfrm>
            <a:off x="3018673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5"/>
          <p:cNvSpPr/>
          <p:nvPr/>
        </p:nvSpPr>
        <p:spPr>
          <a:xfrm>
            <a:off x="3889062" y="3752774"/>
            <a:ext cx="631800" cy="30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-1250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5"/>
          <p:cNvSpPr txBox="1"/>
          <p:nvPr>
            <p:ph type="body" idx="1"/>
          </p:nvPr>
        </p:nvSpPr>
        <p:spPr>
          <a:xfrm>
            <a:off x="1027760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84" name="Google Shape;984;p75"/>
          <p:cNvSpPr txBox="1"/>
          <p:nvPr>
            <p:ph type="body" idx="1"/>
          </p:nvPr>
        </p:nvSpPr>
        <p:spPr>
          <a:xfrm>
            <a:off x="1911532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85" name="Google Shape;985;p75"/>
          <p:cNvSpPr txBox="1"/>
          <p:nvPr>
            <p:ph type="body" idx="1"/>
          </p:nvPr>
        </p:nvSpPr>
        <p:spPr>
          <a:xfrm>
            <a:off x="2795303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86" name="Google Shape;986;p75"/>
          <p:cNvSpPr txBox="1"/>
          <p:nvPr>
            <p:ph type="body" idx="1"/>
          </p:nvPr>
        </p:nvSpPr>
        <p:spPr>
          <a:xfrm>
            <a:off x="3711974" y="3791046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987" name="Google Shape;987;p75"/>
          <p:cNvSpPr txBox="1"/>
          <p:nvPr>
            <p:ph type="body" idx="1"/>
          </p:nvPr>
        </p:nvSpPr>
        <p:spPr>
          <a:xfrm>
            <a:off x="4607038" y="3791046"/>
            <a:ext cx="453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988" name="Google Shape;988;p75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85280" y="3479691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5"/>
          <p:cNvSpPr txBox="1"/>
          <p:nvPr/>
        </p:nvSpPr>
        <p:spPr>
          <a:xfrm>
            <a:off x="858893" y="32334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0" name="Google Shape;990;p75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421761" y="34835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5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326582" y="3483583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75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32403" y="3527058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5"/>
          <p:cNvSpPr txBox="1"/>
          <p:nvPr/>
        </p:nvSpPr>
        <p:spPr>
          <a:xfrm>
            <a:off x="4211169" y="108000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5"/>
          <p:cNvSpPr txBox="1"/>
          <p:nvPr/>
        </p:nvSpPr>
        <p:spPr>
          <a:xfrm>
            <a:off x="1763468" y="32334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5"/>
          <p:cNvSpPr txBox="1"/>
          <p:nvPr/>
        </p:nvSpPr>
        <p:spPr>
          <a:xfrm>
            <a:off x="2668043" y="32334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5"/>
          <p:cNvSpPr txBox="1"/>
          <p:nvPr/>
        </p:nvSpPr>
        <p:spPr>
          <a:xfrm>
            <a:off x="3505568" y="3233450"/>
            <a:ext cx="563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0" name="Shape 1000"/>
        <p:cNvGrpSpPr/>
        <p:nvPr/>
      </p:nvGrpSpPr>
      <p:grpSpPr>
        <a:xfrm>
          <a:off x="0" y="0"/>
          <a:ext cx="0" cy="0"/>
        </a:xfrm>
      </p:grpSpPr>
      <p:sp>
        <p:nvSpPr>
          <p:cNvPr id="1001" name="Google Shape;1001;p76"/>
          <p:cNvSpPr/>
          <p:nvPr/>
        </p:nvSpPr>
        <p:spPr>
          <a:xfrm>
            <a:off x="5536400" y="4198487"/>
            <a:ext cx="943500" cy="590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6"/>
          <p:cNvSpPr txBox="1"/>
          <p:nvPr>
            <p:ph type="body" idx="1"/>
          </p:nvPr>
        </p:nvSpPr>
        <p:spPr>
          <a:xfrm>
            <a:off x="324000" y="759300"/>
            <a:ext cx="8237700" cy="7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could we carry this sequence on so it has a constant </a:t>
            </a:r>
            <a:r>
              <a:rPr lang="en-GB">
                <a:solidFill>
                  <a:schemeClr val="accent4"/>
                </a:solidFill>
              </a:rPr>
              <a:t>additive</a:t>
            </a:r>
            <a:r>
              <a:rPr lang="en-GB"/>
              <a:t> rule?</a:t>
            </a:r>
            <a:endParaRPr/>
          </a:p>
        </p:txBody>
      </p:sp>
      <p:sp>
        <p:nvSpPr>
          <p:cNvPr id="1003" name="Google Shape;100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1004" name="Google Shape;1004;p76"/>
          <p:cNvSpPr/>
          <p:nvPr/>
        </p:nvSpPr>
        <p:spPr>
          <a:xfrm>
            <a:off x="2294400" y="1792159"/>
            <a:ext cx="631800" cy="613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6"/>
          <p:cNvSpPr/>
          <p:nvPr/>
        </p:nvSpPr>
        <p:spPr>
          <a:xfrm>
            <a:off x="3192600" y="1792149"/>
            <a:ext cx="631800" cy="629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6"/>
          <p:cNvSpPr txBox="1"/>
          <p:nvPr>
            <p:ph type="body" idx="1"/>
          </p:nvPr>
        </p:nvSpPr>
        <p:spPr>
          <a:xfrm>
            <a:off x="2998148" y="1886871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07" name="Google Shape;1007;p76"/>
          <p:cNvSpPr txBox="1"/>
          <p:nvPr>
            <p:ph type="body" idx="1"/>
          </p:nvPr>
        </p:nvSpPr>
        <p:spPr>
          <a:xfrm>
            <a:off x="3881938" y="1886875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sp>
        <p:nvSpPr>
          <p:cNvPr id="1008" name="Google Shape;1008;p76"/>
          <p:cNvSpPr txBox="1"/>
          <p:nvPr>
            <p:ph type="body" idx="1"/>
          </p:nvPr>
        </p:nvSpPr>
        <p:spPr>
          <a:xfrm>
            <a:off x="324000" y="2629375"/>
            <a:ext cx="8237700" cy="55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Sometimes converting to a common denominator can help: </a:t>
            </a:r>
            <a:endParaRPr/>
          </a:p>
        </p:txBody>
      </p:sp>
      <p:pic>
        <p:nvPicPr>
          <p:cNvPr id="1009" name="Google Shape;1009;p76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529380" y="1538904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6"/>
          <p:cNvSpPr txBox="1"/>
          <p:nvPr>
            <p:ph type="body" idx="1"/>
          </p:nvPr>
        </p:nvSpPr>
        <p:spPr>
          <a:xfrm>
            <a:off x="4448807" y="4281808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11" name="Google Shape;1011;p76"/>
          <p:cNvSpPr txBox="1"/>
          <p:nvPr>
            <p:ph type="body" idx="1"/>
          </p:nvPr>
        </p:nvSpPr>
        <p:spPr>
          <a:xfrm>
            <a:off x="5347130" y="4298533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pic>
        <p:nvPicPr>
          <p:cNvPr id="1012" name="Google Shape;1012;p76"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title="1 lines Line 1: 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3196" y="1857824"/>
            <a:ext cx="306159" cy="5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76" descr="&lt;math xmlns=&quot;http://www.w3.org/1998/Math/MathML&quot; display=&quot;block&quot; data-is-equatio=&quot;1&quot; data-latex=&quot;\begin{array}{l}\frac{2}{5}\end{array}&quot;&gt;&lt;mtable columnalign=&quot;left&quot; columnspacing=&quot;1em&quot; rowspacing=&quot;4pt&quot;&gt;&lt;mtr&gt;&lt;mtd&gt;&lt;mfrac&gt;&lt;mn&gt;2&lt;/mn&gt;&lt;mn&gt;5&lt;/mn&gt;&lt;/mfrac&gt;&lt;/mtd&gt;&lt;/mtr&gt;&lt;/mtable&gt;&lt;/math&gt;" title="1 lines Line 1: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7438" y="1841875"/>
            <a:ext cx="182211" cy="5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76" descr="&lt;math xmlns=&quot;http://www.w3.org/1998/Math/MathML&quot; display=&quot;block&quot; data-is-equatio=&quot;1&quot; data-latex=&quot;\begin{array}{l}\frac{4}{10}\end{array}&quot;&gt;&lt;mtable columnalign=&quot;left&quot; columnspacing=&quot;1em&quot; rowspacing=&quot;4pt&quot;&gt;&lt;mtr&gt;&lt;mtd&gt;&lt;mfrac&gt;&lt;mn&gt;4&lt;/mn&gt;&lt;mn&gt;10&lt;/mn&gt;&lt;/mfrac&gt;&lt;/mtd&gt;&lt;/mtr&gt;&lt;/mtable&gt;&lt;/math&gt;" title="1 lines Line 1: four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0925" y="1819729"/>
            <a:ext cx="306150" cy="502086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6"/>
          <p:cNvSpPr/>
          <p:nvPr/>
        </p:nvSpPr>
        <p:spPr>
          <a:xfrm>
            <a:off x="5190000" y="1792159"/>
            <a:ext cx="631800" cy="613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6"/>
          <p:cNvSpPr/>
          <p:nvPr/>
        </p:nvSpPr>
        <p:spPr>
          <a:xfrm>
            <a:off x="6094900" y="1789087"/>
            <a:ext cx="631800" cy="629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6"/>
          <p:cNvSpPr txBox="1"/>
          <p:nvPr>
            <p:ph type="body" idx="1"/>
          </p:nvPr>
        </p:nvSpPr>
        <p:spPr>
          <a:xfrm>
            <a:off x="5893748" y="1886871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18" name="Google Shape;1018;p76"/>
          <p:cNvSpPr txBox="1"/>
          <p:nvPr>
            <p:ph type="body" idx="1"/>
          </p:nvPr>
        </p:nvSpPr>
        <p:spPr>
          <a:xfrm>
            <a:off x="6777538" y="1886875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1019" name="Google Shape;1019;p76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5424980" y="1538904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76"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title="1 lines Line 1: 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796" y="1857824"/>
            <a:ext cx="306159" cy="5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76" descr="&lt;math xmlns=&quot;http://www.w3.org/1998/Math/MathML&quot; display=&quot;block&quot; data-is-equatio=&quot;1&quot; data-latex=&quot;\begin{array}{l}\frac{4}{10}-\frac{1}{10}=\frac{3}{10}\end{array}&quot;&gt;&lt;mtable columnalign=&quot;left&quot; columnspacing=&quot;1em&quot; rowspacing=&quot;4pt&quot;&gt;&lt;mtr&gt;&lt;mtd&gt;&lt;mfrac&gt;&lt;mn&gt;4&lt;/mn&gt;&lt;mn&gt;10&lt;/mn&gt;&lt;/mfrac&gt;&lt;mo&gt;−&lt;/mo&gt;&lt;mfrac&gt;&lt;mn&gt;1&lt;/mn&gt;&lt;mn&gt;10&lt;/mn&gt;&lt;/mfrac&gt;&lt;mo&gt;=&lt;/mo&gt;&lt;mfrac&gt;&lt;mn&gt;3&lt;/mn&gt;&lt;mn&gt;10&lt;/mn&gt;&lt;/mfrac&gt;&lt;/mtd&gt;&lt;/mtr&gt;&lt;/mtable&gt;&lt;/math&gt;" title="1 lines Line 1: four tenths minus one tenth equals three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0" y="2998362"/>
            <a:ext cx="1948150" cy="5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76" descr="&lt;math xmlns=&quot;http://www.w3.org/1998/Math/MathML&quot; display=&quot;block&quot; data-is-equatio=&quot;1&quot; data-latex=&quot;+\frac{3}{10}&quot;&gt;&lt;mo&gt;+&lt;/mo&gt;&lt;mfrac&gt;&lt;mn&gt;3&lt;/mn&gt;&lt;mn&gt;10&lt;/mn&gt;&lt;/mfrac&gt;&lt;/math&gt;" title="positive three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1750" y="1070090"/>
            <a:ext cx="453300" cy="500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76" descr="&lt;math xmlns=&quot;http://www.w3.org/1998/Math/MathML&quot; display=&quot;block&quot; data-is-equatio=&quot;1&quot; data-latex=&quot;+\frac{3}{10}&quot;&gt;&lt;mo&gt;+&lt;/mo&gt;&lt;mfrac&gt;&lt;mn&gt;3&lt;/mn&gt;&lt;mn&gt;10&lt;/mn&gt;&lt;/mfrac&gt;&lt;/math&gt;" title="positive three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77625" y="1080006"/>
            <a:ext cx="453300" cy="50006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76"/>
          <p:cNvSpPr/>
          <p:nvPr/>
        </p:nvSpPr>
        <p:spPr>
          <a:xfrm>
            <a:off x="2859725" y="4187096"/>
            <a:ext cx="631800" cy="613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6"/>
          <p:cNvSpPr/>
          <p:nvPr/>
        </p:nvSpPr>
        <p:spPr>
          <a:xfrm>
            <a:off x="3757925" y="4187096"/>
            <a:ext cx="631800" cy="590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6"/>
          <p:cNvSpPr txBox="1"/>
          <p:nvPr>
            <p:ph type="body" idx="1"/>
          </p:nvPr>
        </p:nvSpPr>
        <p:spPr>
          <a:xfrm>
            <a:off x="3563473" y="4281808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27" name="Google Shape;1027;p76"/>
          <p:cNvSpPr txBox="1"/>
          <p:nvPr>
            <p:ph type="body" idx="1"/>
          </p:nvPr>
        </p:nvSpPr>
        <p:spPr>
          <a:xfrm>
            <a:off x="6625604" y="4281812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1028" name="Google Shape;1028;p76"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title="1 lines Line 1: 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8521" y="4252761"/>
            <a:ext cx="306159" cy="5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6" descr="&lt;math xmlns=&quot;http://www.w3.org/1998/Math/MathML&quot; display=&quot;block&quot; data-is-equatio=&quot;1&quot; data-latex=&quot;\begin{array}{l}\frac{4}{10}\end{array}&quot;&gt;&lt;mtable columnalign=&quot;left&quot; columnspacing=&quot;1em&quot; rowspacing=&quot;4pt&quot;&gt;&lt;mtr&gt;&lt;mtd&gt;&lt;mfrac&gt;&lt;mn&gt;4&lt;/mn&gt;&lt;mn&gt;10&lt;/mn&gt;&lt;/mfrac&gt;&lt;/mtd&gt;&lt;/mtr&gt;&lt;/mtable&gt;&lt;/math&gt;" title="1 lines Line 1: four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6300" y="4242791"/>
            <a:ext cx="306150" cy="502086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76"/>
          <p:cNvSpPr/>
          <p:nvPr/>
        </p:nvSpPr>
        <p:spPr>
          <a:xfrm>
            <a:off x="4658177" y="4198496"/>
            <a:ext cx="631800" cy="590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1" name="Google Shape;1031;p76" descr="&lt;math xmlns=&quot;http://www.w3.org/1998/Math/MathML&quot; display=&quot;block&quot; data-is-equatio=&quot;1&quot; data-latex=&quot;\frac{10}{10}=1&quot;&gt;&lt;mfrac&gt;&lt;mn&gt;10&lt;/mn&gt;&lt;mn&gt;10&lt;/mn&gt;&lt;/mfrac&gt;&lt;mo&gt;=&lt;/mo&gt;&lt;mn&gt;1&lt;/mn&gt;&lt;/math&gt;" title="ten tenths equal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15039" y="4219405"/>
            <a:ext cx="769779" cy="5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76" descr="&lt;math xmlns=&quot;http://www.w3.org/1998/Math/MathML&quot; display=&quot;block&quot; data-is-equatio=&quot;1&quot; data-latex=&quot;\frac{7}{10}&quot;&gt;&lt;mfrac&gt;&lt;mn&gt;7&lt;/mn&gt;&lt;mn&gt;10&lt;/mn&gt;&lt;/mfrac&gt;&lt;/math&gt;" title="seven t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21002" y="4213873"/>
            <a:ext cx="306150" cy="55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76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008530" y="3860104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76" descr="&lt;math xmlns=&quot;http://www.w3.org/1998/Math/MathML&quot; display=&quot;block&quot; data-is-equatio=&quot;1&quot; data-latex=&quot;+\frac{3}{10}&quot;&gt;&lt;mo&gt;+&lt;/mo&gt;&lt;mfrac&gt;&lt;mn&gt;3&lt;/mn&gt;&lt;mn&gt;10&lt;/mn&gt;&lt;/mfrac&gt;&lt;/math&gt;" title="positive three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0900" y="3391290"/>
            <a:ext cx="453300" cy="500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76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001583" y="3857424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76" descr="&lt;math xmlns=&quot;http://www.w3.org/1998/Math/MathML&quot; display=&quot;block&quot; data-is-equatio=&quot;1&quot; data-latex=&quot;+\frac{3}{10}&quot;&gt;&lt;mo&gt;+&lt;/mo&gt;&lt;mfrac&gt;&lt;mn&gt;3&lt;/mn&gt;&lt;mn&gt;10&lt;/mn&gt;&lt;/mfrac&gt;&lt;/math&gt;" title="positive three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53953" y="3388610"/>
            <a:ext cx="453300" cy="500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76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937130" y="3857424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76" descr="&lt;math xmlns=&quot;http://www.w3.org/1998/Math/MathML&quot; display=&quot;block&quot; data-is-equatio=&quot;1&quot; data-latex=&quot;+\frac{3}{10}&quot;&gt;&lt;mo&gt;+&lt;/mo&gt;&lt;mfrac&gt;&lt;mn&gt;3&lt;/mn&gt;&lt;mn&gt;10&lt;/mn&gt;&lt;/mfrac&gt;&lt;/math&gt;" title="positive three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89500" y="3388610"/>
            <a:ext cx="453300" cy="500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2" name="Shape 1042"/>
        <p:cNvGrpSpPr/>
        <p:nvPr/>
      </p:nvGrpSpPr>
      <p:grpSpPr>
        <a:xfrm>
          <a:off x="0" y="0"/>
          <a:ext cx="0" cy="0"/>
        </a:xfrm>
      </p:grpSpPr>
      <p:sp>
        <p:nvSpPr>
          <p:cNvPr id="1043" name="Google Shape;1043;p77"/>
          <p:cNvSpPr/>
          <p:nvPr/>
        </p:nvSpPr>
        <p:spPr>
          <a:xfrm>
            <a:off x="4744145" y="4110875"/>
            <a:ext cx="631800" cy="590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7"/>
          <p:cNvSpPr txBox="1"/>
          <p:nvPr>
            <p:ph type="body" idx="1"/>
          </p:nvPr>
        </p:nvSpPr>
        <p:spPr>
          <a:xfrm>
            <a:off x="324000" y="759300"/>
            <a:ext cx="8496000" cy="7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could we carry this sequence on so it has a constant </a:t>
            </a:r>
            <a:r>
              <a:rPr lang="en-GB">
                <a:solidFill>
                  <a:schemeClr val="accent4"/>
                </a:solidFill>
              </a:rPr>
              <a:t>multiplicative</a:t>
            </a:r>
            <a:r>
              <a:rPr lang="en-GB"/>
              <a:t> rule?</a:t>
            </a:r>
            <a:endParaRPr/>
          </a:p>
        </p:txBody>
      </p:sp>
      <p:sp>
        <p:nvSpPr>
          <p:cNvPr id="1045" name="Google Shape;104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1046" name="Google Shape;1046;p77"/>
          <p:cNvSpPr/>
          <p:nvPr/>
        </p:nvSpPr>
        <p:spPr>
          <a:xfrm>
            <a:off x="1684800" y="2020759"/>
            <a:ext cx="631800" cy="613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7"/>
          <p:cNvSpPr/>
          <p:nvPr/>
        </p:nvSpPr>
        <p:spPr>
          <a:xfrm>
            <a:off x="2583000" y="2020749"/>
            <a:ext cx="631800" cy="629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7"/>
          <p:cNvSpPr txBox="1"/>
          <p:nvPr>
            <p:ph type="body" idx="1"/>
          </p:nvPr>
        </p:nvSpPr>
        <p:spPr>
          <a:xfrm>
            <a:off x="2388548" y="2115471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49" name="Google Shape;1049;p77"/>
          <p:cNvSpPr txBox="1"/>
          <p:nvPr>
            <p:ph type="body" idx="1"/>
          </p:nvPr>
        </p:nvSpPr>
        <p:spPr>
          <a:xfrm>
            <a:off x="3272338" y="2115475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sp>
        <p:nvSpPr>
          <p:cNvPr id="1050" name="Google Shape;1050;p77"/>
          <p:cNvSpPr txBox="1"/>
          <p:nvPr>
            <p:ph type="body" idx="1"/>
          </p:nvPr>
        </p:nvSpPr>
        <p:spPr>
          <a:xfrm>
            <a:off x="324000" y="2780200"/>
            <a:ext cx="8237700" cy="55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Again converting to a common denominator can sometimes help. </a:t>
            </a:r>
            <a:endParaRPr/>
          </a:p>
        </p:txBody>
      </p:sp>
      <p:pic>
        <p:nvPicPr>
          <p:cNvPr id="1051" name="Google Shape;1051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919780" y="1767504"/>
            <a:ext cx="1087852" cy="308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77"/>
          <p:cNvSpPr txBox="1"/>
          <p:nvPr>
            <p:ph type="body" idx="1"/>
          </p:nvPr>
        </p:nvSpPr>
        <p:spPr>
          <a:xfrm>
            <a:off x="4488130" y="4205608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53" name="Google Shape;1053;p77"/>
          <p:cNvSpPr txBox="1"/>
          <p:nvPr>
            <p:ph type="body" idx="1"/>
          </p:nvPr>
        </p:nvSpPr>
        <p:spPr>
          <a:xfrm>
            <a:off x="5439059" y="4222333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pic>
        <p:nvPicPr>
          <p:cNvPr id="1054" name="Google Shape;1054;p77"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title="1 lines Line 1: 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3596" y="2086424"/>
            <a:ext cx="306159" cy="5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77" descr="&lt;math xmlns=&quot;http://www.w3.org/1998/Math/MathML&quot; display=&quot;block&quot; data-is-equatio=&quot;1&quot; data-latex=&quot;\begin{array}{l}\frac{2}{5}\end{array}&quot;&gt;&lt;mtable columnalign=&quot;left&quot; columnspacing=&quot;1em&quot; rowspacing=&quot;4pt&quot;&gt;&lt;mtr&gt;&lt;mtd&gt;&lt;mfrac&gt;&lt;mn&gt;2&lt;/mn&gt;&lt;mn&gt;5&lt;/mn&gt;&lt;/mfrac&gt;&lt;/mtd&gt;&lt;/mtr&gt;&lt;/mtable&gt;&lt;/math&gt;" title="1 lines Line 1: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7838" y="2070475"/>
            <a:ext cx="182211" cy="5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77" descr="&lt;math xmlns=&quot;http://www.w3.org/1998/Math/MathML&quot; display=&quot;block&quot; data-is-equatio=&quot;1&quot; data-latex=&quot;\begin{array}{l}\frac{4}{10}\end{array}&quot;&gt;&lt;mtable columnalign=&quot;left&quot; columnspacing=&quot;1em&quot; rowspacing=&quot;4pt&quot;&gt;&lt;mtr&gt;&lt;mtd&gt;&lt;mfrac&gt;&lt;mn&gt;4&lt;/mn&gt;&lt;mn&gt;10&lt;/mn&gt;&lt;/mfrac&gt;&lt;/mtd&gt;&lt;/mtr&gt;&lt;/mtable&gt;&lt;/math&gt;" title="1 lines Line 1: four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325" y="2048329"/>
            <a:ext cx="306150" cy="502086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77"/>
          <p:cNvSpPr/>
          <p:nvPr/>
        </p:nvSpPr>
        <p:spPr>
          <a:xfrm>
            <a:off x="4580400" y="2020759"/>
            <a:ext cx="631800" cy="613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7"/>
          <p:cNvSpPr/>
          <p:nvPr/>
        </p:nvSpPr>
        <p:spPr>
          <a:xfrm>
            <a:off x="5485300" y="2017687"/>
            <a:ext cx="631800" cy="629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7"/>
          <p:cNvSpPr txBox="1"/>
          <p:nvPr>
            <p:ph type="body" idx="1"/>
          </p:nvPr>
        </p:nvSpPr>
        <p:spPr>
          <a:xfrm>
            <a:off x="5284148" y="2115471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60" name="Google Shape;1060;p77"/>
          <p:cNvSpPr txBox="1"/>
          <p:nvPr>
            <p:ph type="body" idx="1"/>
          </p:nvPr>
        </p:nvSpPr>
        <p:spPr>
          <a:xfrm>
            <a:off x="6167938" y="2115475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1061" name="Google Shape;1061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815380" y="1767504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77"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title="1 lines Line 1: 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196" y="2086424"/>
            <a:ext cx="306159" cy="5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77"/>
          <p:cNvSpPr/>
          <p:nvPr/>
        </p:nvSpPr>
        <p:spPr>
          <a:xfrm>
            <a:off x="2859725" y="4110896"/>
            <a:ext cx="631800" cy="613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7"/>
          <p:cNvSpPr/>
          <p:nvPr/>
        </p:nvSpPr>
        <p:spPr>
          <a:xfrm>
            <a:off x="3801935" y="4110896"/>
            <a:ext cx="631800" cy="590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7"/>
          <p:cNvSpPr txBox="1"/>
          <p:nvPr>
            <p:ph type="body" idx="1"/>
          </p:nvPr>
        </p:nvSpPr>
        <p:spPr>
          <a:xfrm>
            <a:off x="3563473" y="4205608"/>
            <a:ext cx="1503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</a:t>
            </a:r>
            <a:endParaRPr sz="2000"/>
          </a:p>
        </p:txBody>
      </p:sp>
      <p:sp>
        <p:nvSpPr>
          <p:cNvPr id="1066" name="Google Shape;1066;p77"/>
          <p:cNvSpPr txBox="1"/>
          <p:nvPr>
            <p:ph type="body" idx="1"/>
          </p:nvPr>
        </p:nvSpPr>
        <p:spPr>
          <a:xfrm>
            <a:off x="6415154" y="4222118"/>
            <a:ext cx="4806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…</a:t>
            </a:r>
            <a:endParaRPr sz="2000"/>
          </a:p>
        </p:txBody>
      </p:sp>
      <p:pic>
        <p:nvPicPr>
          <p:cNvPr id="1067" name="Google Shape;1067;p77" descr="&lt;math xmlns=&quot;http://www.w3.org/1998/Math/MathML&quot; display=&quot;block&quot; data-is-equatio=&quot;1&quot; data-latex=&quot;\begin{array}{l}\frac{1}{10}\end{array}&quot;&gt;&lt;mtable columnalign=&quot;left&quot; columnspacing=&quot;1em&quot; rowspacing=&quot;4pt&quot;&gt;&lt;mtr&gt;&lt;mtd&gt;&lt;mfrac&gt;&lt;mn&gt;1&lt;/mn&gt;&lt;mn&gt;10&lt;/mn&gt;&lt;/mfrac&gt;&lt;/mtd&gt;&lt;/mtr&gt;&lt;/mtable&gt;&lt;/math&gt;" title="1 lines Line 1: 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8521" y="4176561"/>
            <a:ext cx="306159" cy="5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77"/>
          <p:cNvSpPr/>
          <p:nvPr/>
        </p:nvSpPr>
        <p:spPr>
          <a:xfrm>
            <a:off x="5686355" y="4118516"/>
            <a:ext cx="631800" cy="590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9" name="Google Shape;1069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008530" y="3783904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001583" y="3781224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986255" y="3783899"/>
            <a:ext cx="1087852" cy="3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77" descr="&lt;math xmlns=&quot;http://www.w3.org/1998/Math/MathML&quot; display=&quot;block&quot; data-is-equatio=&quot;1&quot; data-latex=&quot;\begin{array}{l}\frac{4}{10}\div\frac{1}{10}=4\end{array}&quot;&gt;&lt;mtable columnalign=&quot;left&quot; columnspacing=&quot;1em&quot; rowspacing=&quot;4pt&quot;&gt;&lt;mtr&gt;&lt;mtd&gt;&lt;mfrac&gt;&lt;mn&gt;4&lt;/mn&gt;&lt;mn&gt;10&lt;/mn&gt;&lt;/mfrac&gt;&lt;mo&gt;÷&lt;/mo&gt;&lt;mfrac&gt;&lt;mn&gt;1&lt;/mn&gt;&lt;mn&gt;10&lt;/mn&gt;&lt;/mfrac&gt;&lt;mo&gt;=&lt;/mo&gt;&lt;mn&gt;4&lt;/mn&gt;&lt;/mtd&gt;&lt;/mtr&gt;&lt;/mtable&gt;&lt;/math&gt;" title="1 lines Line 1: four tenths divided by one tenth equal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0" y="3598475"/>
            <a:ext cx="1746657" cy="5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77"/>
          <p:cNvSpPr txBox="1"/>
          <p:nvPr/>
        </p:nvSpPr>
        <p:spPr>
          <a:xfrm>
            <a:off x="3401222" y="3512700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7"/>
          <p:cNvSpPr txBox="1"/>
          <p:nvPr/>
        </p:nvSpPr>
        <p:spPr>
          <a:xfrm>
            <a:off x="4393647" y="3512700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7"/>
          <p:cNvSpPr txBox="1"/>
          <p:nvPr/>
        </p:nvSpPr>
        <p:spPr>
          <a:xfrm>
            <a:off x="5386072" y="3512700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6" name="Google Shape;1076;p77" descr="&lt;math xmlns=&quot;http://www.w3.org/1998/Math/MathML&quot; display=&quot;block&quot; data-is-equatio=&quot;1&quot; data-latex=&quot;\frac{32}{5}&quot;&gt;&lt;mfrac&gt;&lt;mn&gt;32&lt;/mn&gt;&lt;mn&gt;5&lt;/mn&gt;&lt;/mfrac&gt;&lt;/math&gt;" title="32 over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73089" y="4139326"/>
            <a:ext cx="306150" cy="55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77" descr="&lt;math xmlns=&quot;http://www.w3.org/1998/Math/MathML&quot; display=&quot;block&quot; data-is-equatio=&quot;1&quot; data-latex=&quot;\begin{array}{l}\frac{2}{5}\end{array}&quot;&gt;&lt;mtable columnalign=&quot;left&quot; columnspacing=&quot;1em&quot; rowspacing=&quot;4pt&quot;&gt;&lt;mtr&gt;&lt;mtd&gt;&lt;mfrac&gt;&lt;mn&gt;2&lt;/mn&gt;&lt;mn&gt;5&lt;/mn&gt;&lt;/mfrac&gt;&lt;/mtd&gt;&lt;/mtr&gt;&lt;/mtable&gt;&lt;/math&gt;" title="1 lines Line 1: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7364" y="4136450"/>
            <a:ext cx="182211" cy="5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77" descr="&lt;math xmlns=&quot;http://www.w3.org/1998/Math/MathML&quot; display=&quot;block&quot; data-is-equatio=&quot;1&quot; data-latex=&quot;\begin{array}{l}\frac{8}{5}\end{array}&quot;&gt;&lt;mtable columnalign=&quot;left&quot; columnspacing=&quot;1em&quot; rowspacing=&quot;4pt&quot;&gt;&lt;mtr&gt;&lt;mtd&gt;&lt;mfrac&gt;&lt;mn&gt;8&lt;/mn&gt;&lt;mn&gt;5&lt;/mn&gt;&lt;/mfrac&gt;&lt;/mtd&gt;&lt;/mtr&gt;&lt;/mtable&gt;&lt;/math&gt;" title="1 lines Line 1: eight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72675" y="4145067"/>
            <a:ext cx="190800" cy="528107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77"/>
          <p:cNvSpPr txBox="1"/>
          <p:nvPr/>
        </p:nvSpPr>
        <p:spPr>
          <a:xfrm>
            <a:off x="2316597" y="1528600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7"/>
          <p:cNvSpPr txBox="1"/>
          <p:nvPr/>
        </p:nvSpPr>
        <p:spPr>
          <a:xfrm>
            <a:off x="5232647" y="1522450"/>
            <a:ext cx="356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4" name="Shape 1084"/>
        <p:cNvGrpSpPr/>
        <p:nvPr/>
      </p:nvGrpSpPr>
      <p:grpSpPr>
        <a:xfrm>
          <a:off x="0" y="0"/>
          <a:ext cx="0" cy="0"/>
        </a:xfrm>
      </p:grpSpPr>
      <p:sp>
        <p:nvSpPr>
          <p:cNvPr id="1085" name="Google Shape;1085;p78"/>
          <p:cNvSpPr txBox="1"/>
          <p:nvPr>
            <p:ph type="body" idx="1"/>
          </p:nvPr>
        </p:nvSpPr>
        <p:spPr>
          <a:xfrm>
            <a:off x="324000" y="759300"/>
            <a:ext cx="86733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The pupils below are trying to continue the sequence </a:t>
            </a:r>
            <a:r>
              <a:rPr lang="en-GB"/>
              <a:t>−</a:t>
            </a:r>
            <a:r>
              <a:rPr lang="en-GB" sz="2100"/>
              <a:t>3, 9, …</a:t>
            </a:r>
            <a:endParaRPr sz="21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Who has continued it correctly with a constant </a:t>
            </a:r>
            <a:r>
              <a:rPr lang="en-GB" sz="1800">
                <a:solidFill>
                  <a:schemeClr val="accent4"/>
                </a:solidFill>
              </a:rPr>
              <a:t>additive</a:t>
            </a:r>
            <a:r>
              <a:rPr lang="en-GB" sz="1800"/>
              <a:t> pattern?</a:t>
            </a: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5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Who has continued it correctly with a constant </a:t>
            </a:r>
            <a:r>
              <a:rPr lang="en-GB" sz="1800">
                <a:solidFill>
                  <a:schemeClr val="accent4"/>
                </a:solidFill>
              </a:rPr>
              <a:t>multiplicative</a:t>
            </a:r>
            <a:r>
              <a:rPr lang="en-GB" sz="1800"/>
              <a:t> pattern?</a:t>
            </a:r>
            <a:endParaRPr sz="1800"/>
          </a:p>
        </p:txBody>
      </p:sp>
      <p:sp>
        <p:nvSpPr>
          <p:cNvPr id="1086" name="Google Shape;108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1087" name="Google Shape;1087;p78"/>
          <p:cNvSpPr txBox="1"/>
          <p:nvPr/>
        </p:nvSpPr>
        <p:spPr>
          <a:xfrm>
            <a:off x="3424270" y="4521214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8"/>
          <p:cNvSpPr txBox="1"/>
          <p:nvPr/>
        </p:nvSpPr>
        <p:spPr>
          <a:xfrm>
            <a:off x="1804342" y="452121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8"/>
          <p:cNvSpPr txBox="1"/>
          <p:nvPr/>
        </p:nvSpPr>
        <p:spPr>
          <a:xfrm>
            <a:off x="323992" y="452121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0" name="Google Shape;109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90" y="3986290"/>
            <a:ext cx="443866" cy="5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96992" y="4030751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5112" y="3997648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78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591652" y="2883475"/>
            <a:ext cx="1598423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78"/>
          <p:cNvSpPr/>
          <p:nvPr/>
        </p:nvSpPr>
        <p:spPr>
          <a:xfrm>
            <a:off x="767400" y="2907075"/>
            <a:ext cx="14226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-12 and 36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8"/>
          <p:cNvSpPr txBox="1"/>
          <p:nvPr/>
        </p:nvSpPr>
        <p:spPr>
          <a:xfrm flipH="1">
            <a:off x="5256450" y="455317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6" name="Google Shape;1096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294819" y="4021002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892625" y="3912650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78"/>
          <p:cNvSpPr txBox="1"/>
          <p:nvPr/>
        </p:nvSpPr>
        <p:spPr>
          <a:xfrm flipH="1">
            <a:off x="6696300" y="455317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9" name="Google Shape;1099;p78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7221577" y="2883475"/>
            <a:ext cx="1598423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78"/>
          <p:cNvSpPr/>
          <p:nvPr/>
        </p:nvSpPr>
        <p:spPr>
          <a:xfrm>
            <a:off x="7397325" y="2907075"/>
            <a:ext cx="14226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27 and 81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1" name="Google Shape;1101;p78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2266277" y="2883475"/>
            <a:ext cx="1598423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78"/>
          <p:cNvSpPr/>
          <p:nvPr/>
        </p:nvSpPr>
        <p:spPr>
          <a:xfrm>
            <a:off x="2442025" y="2907075"/>
            <a:ext cx="14226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-27 and 81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3" name="Google Shape;1103;p78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3942677" y="2883475"/>
            <a:ext cx="1598423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78"/>
          <p:cNvSpPr/>
          <p:nvPr/>
        </p:nvSpPr>
        <p:spPr>
          <a:xfrm>
            <a:off x="4118425" y="2907075"/>
            <a:ext cx="14226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21 and 33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5" name="Google Shape;1105;p78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5542877" y="2883475"/>
            <a:ext cx="1598423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78"/>
          <p:cNvSpPr/>
          <p:nvPr/>
        </p:nvSpPr>
        <p:spPr>
          <a:xfrm>
            <a:off x="5718625" y="2907075"/>
            <a:ext cx="14226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next numbers are 15 and 21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8"/>
          <p:cNvSpPr txBox="1"/>
          <p:nvPr>
            <p:ph type="body" idx="1"/>
          </p:nvPr>
        </p:nvSpPr>
        <p:spPr>
          <a:xfrm>
            <a:off x="808500" y="1599350"/>
            <a:ext cx="8011500" cy="32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as the rule would be add 12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78"/>
          <p:cNvSpPr txBox="1"/>
          <p:nvPr>
            <p:ph type="body" idx="1"/>
          </p:nvPr>
        </p:nvSpPr>
        <p:spPr>
          <a:xfrm>
            <a:off x="808500" y="2241413"/>
            <a:ext cx="8011500" cy="32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 as the rule would be multiply by −3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2" name="Shape 1112"/>
        <p:cNvGrpSpPr/>
        <p:nvPr/>
      </p:nvGrpSpPr>
      <p:grpSpPr>
        <a:xfrm>
          <a:off x="0" y="0"/>
          <a:ext cx="0" cy="0"/>
        </a:xfrm>
      </p:grpSpPr>
      <p:sp>
        <p:nvSpPr>
          <p:cNvPr id="1113" name="Google Shape;1113;p79"/>
          <p:cNvSpPr txBox="1"/>
          <p:nvPr>
            <p:ph type="body" idx="1"/>
          </p:nvPr>
        </p:nvSpPr>
        <p:spPr>
          <a:xfrm>
            <a:off x="324000" y="6955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two starting numbers: continue the sequence with a constant additive pattern, then a constant multiplicative pattern. Describe each of your sequences in words.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14" name="Google Shape;1114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graphicFrame>
        <p:nvGraphicFramePr>
          <p:cNvPr id="1115" name="Google Shape;1115;p79"/>
          <p:cNvGraphicFramePr>
            <a:graphicFrameLocks noGrp="1"/>
          </p:cNvGraphicFramePr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{37BB948B-CEFA-4880-A7D7-4C2E54164B9F}</a:tableStyleId>
              </a:tblPr>
              <a:tblGrid>
                <a:gridCol w="1463050"/>
                <a:gridCol w="3036950"/>
                <a:gridCol w="3601325"/>
              </a:tblGrid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Additive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Multiplicative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1, 3,</a:t>
                      </a:r>
                      <a:r>
                        <a:rPr lang="en-GB" sz="18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1, 3,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Sequence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0.1, 1,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0.1, 1,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9" name="Shape 1119"/>
        <p:cNvGrpSpPr/>
        <p:nvPr/>
      </p:nvGrpSpPr>
      <p:grpSpPr>
        <a:xfrm>
          <a:off x="0" y="0"/>
          <a:ext cx="0" cy="0"/>
        </a:xfrm>
      </p:grpSpPr>
      <p:sp>
        <p:nvSpPr>
          <p:cNvPr id="1120" name="Google Shape;1120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graphicFrame>
        <p:nvGraphicFramePr>
          <p:cNvPr id="1121" name="Google Shape;1121;p80" descr="&lt;math xmlns=&quot;http://www.w3.org/1998/Math/MathML&quot; display=&quot;block&quot; data-is-equatio=&quot;1&quot; data-latex=&quot;\frac{1}{8},\frac{1}{4},&quot;&gt;&lt;mfrac&gt;&lt;mn&gt;1&lt;/mn&gt;&lt;mn&gt;8&lt;/mn&gt;&lt;/mfrac&gt;&lt;mo&gt;,&lt;/mo&gt;&lt;mfrac&gt;&lt;mn&gt;1&lt;/mn&gt;&lt;mn&gt;4&lt;/mn&gt;&lt;/mfrac&gt;&lt;mo&gt;,&lt;/mo&gt;&lt;/math&gt;" title="one eighth comma one fourth comma"/>
          <p:cNvGraphicFramePr>
            <a:graphicFrameLocks noGrp="1"/>
          </p:cNvGraphicFramePr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{37BB948B-CEFA-4880-A7D7-4C2E54164B9F}</a:tableStyleId>
              </a:tblPr>
              <a:tblGrid>
                <a:gridCol w="1431600"/>
                <a:gridCol w="3068400"/>
                <a:gridCol w="3601325"/>
              </a:tblGrid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Additive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Multiplicative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0.5, 1.5,</a:t>
                      </a:r>
                      <a:r>
                        <a:rPr lang="en-GB" sz="18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0.5, 1.5,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Sequence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</a:t>
                      </a:r>
                      <a:r>
                        <a:rPr lang="en-GB" sz="18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25, 10,</a:t>
                      </a:r>
                      <a:r>
                        <a:rPr lang="en-GB" sz="18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25, 10,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122" name="Google Shape;112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978" y="2734281"/>
            <a:ext cx="580125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315" y="2734281"/>
            <a:ext cx="580125" cy="54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0"/>
          <p:cNvSpPr txBox="1"/>
          <p:nvPr>
            <p:ph type="body" idx="1"/>
          </p:nvPr>
        </p:nvSpPr>
        <p:spPr>
          <a:xfrm>
            <a:off x="324000" y="6955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two starting numbers: continue the sequence with a constant additive pattern, then a constant multiplicative pattern. Describe each of your sequences in words.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8" name="Shape 1128"/>
        <p:cNvGrpSpPr/>
        <p:nvPr/>
      </p:nvGrpSpPr>
      <p:grpSpPr>
        <a:xfrm>
          <a:off x="0" y="0"/>
          <a:ext cx="0" cy="0"/>
        </a:xfrm>
      </p:grpSpPr>
      <p:sp>
        <p:nvSpPr>
          <p:cNvPr id="1129" name="Google Shape;1129;p81"/>
          <p:cNvSpPr/>
          <p:nvPr/>
        </p:nvSpPr>
        <p:spPr>
          <a:xfrm>
            <a:off x="8504775" y="4363950"/>
            <a:ext cx="415200" cy="456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graphicFrame>
        <p:nvGraphicFramePr>
          <p:cNvPr id="1131" name="Google Shape;1131;p81"/>
          <p:cNvGraphicFramePr>
            <a:graphicFrameLocks noGrp="1"/>
          </p:cNvGraphicFramePr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{37BB948B-CEFA-4880-A7D7-4C2E54164B9F}</a:tableStyleId>
              </a:tblPr>
              <a:tblGrid>
                <a:gridCol w="1428425"/>
                <a:gridCol w="3295175"/>
                <a:gridCol w="3780275"/>
              </a:tblGrid>
              <a:tr h="277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Additive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Multiplicative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1, 3, 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7, 9,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1, 3,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9, 27, 81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2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1 then add 2 each time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1 then multiply by 3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Sequence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0.1, 1,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1.9, 2.8, 3.7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0.1, 1,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10, 100, 1000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2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0.1 then add 0.9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0.1 then multiply by 10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32, 56, 80,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16, 8,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4, 2,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1,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(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16) then add 24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 then multiply by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132" name="Google Shape;1132;p81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1923" y="4265481"/>
            <a:ext cx="327275" cy="4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81"/>
          <p:cNvSpPr txBox="1"/>
          <p:nvPr>
            <p:ph type="body" idx="1"/>
          </p:nvPr>
        </p:nvSpPr>
        <p:spPr>
          <a:xfrm>
            <a:off x="324000" y="6955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two starting numbers: continue the sequence with a constant additive pattern, then a constant multiplicative pattern. Describe each of your sequences in words.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7" name="Shape 1137"/>
        <p:cNvGrpSpPr/>
        <p:nvPr/>
      </p:nvGrpSpPr>
      <p:grpSpPr>
        <a:xfrm>
          <a:off x="0" y="0"/>
          <a:ext cx="0" cy="0"/>
        </a:xfrm>
      </p:grpSpPr>
      <p:sp>
        <p:nvSpPr>
          <p:cNvPr id="1138" name="Google Shape;1138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graphicFrame>
        <p:nvGraphicFramePr>
          <p:cNvPr id="1139" name="Google Shape;1139;p82" descr="&lt;math xmlns=&quot;http://www.w3.org/1998/Math/MathML&quot; display=&quot;block&quot; data-is-equatio=&quot;1&quot; data-latex=&quot;\frac{1}{8},\frac{1}{4},&quot;&gt;&lt;mfrac&gt;&lt;mn&gt;1&lt;/mn&gt;&lt;mn&gt;8&lt;/mn&gt;&lt;/mfrac&gt;&lt;mo&gt;,&lt;/mo&gt;&lt;mfrac&gt;&lt;mn&gt;1&lt;/mn&gt;&lt;mn&gt;4&lt;/mn&gt;&lt;/mfrac&gt;&lt;mo&gt;,&lt;/mo&gt;&lt;/math&gt;" title="one eighth comma one fourth comma"/>
          <p:cNvGraphicFramePr>
            <a:graphicFrameLocks noGrp="1"/>
          </p:cNvGraphicFramePr>
          <p:nvPr/>
        </p:nvGraphicFramePr>
        <p:xfrm>
          <a:off x="324000" y="7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{37BB948B-CEFA-4880-A7D7-4C2E54164B9F}</a:tableStyleId>
              </a:tblPr>
              <a:tblGrid>
                <a:gridCol w="1442225"/>
                <a:gridCol w="3098900"/>
                <a:gridCol w="3823725"/>
              </a:tblGrid>
              <a:tr h="326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Additive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Multiplicative pattern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6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0.5, 1.5, 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2.5,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3.5, 4.5,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0.5, 1.5,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4.5, 13.5, 40.5,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6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0.5 then add 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0.5 then multiply by 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85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Sequence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    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…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…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   and add 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    and multiply by 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65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25, 10,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5,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20,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35,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25, 10,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     ,        , … 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(25, 10, 4, 1.6, 0.64, …)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5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25 then subtract 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at 25 then multiply by 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140" name="Google Shape;114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790" y="1819881"/>
            <a:ext cx="580125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232" y="1819881"/>
            <a:ext cx="580125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2"/>
          <p:cNvPicPr preferRelativeResize="0"/>
          <p:nvPr/>
        </p:nvPicPr>
        <p:blipFill>
          <a:blip r:embed="rId3">
            <a:alphaModFix/>
          </a:blip>
          <a:srcRect r="65722"/>
          <a:stretch>
            <a:fillRect/>
          </a:stretch>
        </p:blipFill>
        <p:spPr>
          <a:xfrm>
            <a:off x="2906284" y="2509996"/>
            <a:ext cx="198850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82"/>
          <p:cNvPicPr preferRelativeResize="0"/>
          <p:nvPr/>
        </p:nvPicPr>
        <p:blipFill>
          <a:blip r:embed="rId3">
            <a:alphaModFix/>
          </a:blip>
          <a:srcRect r="65722"/>
          <a:stretch>
            <a:fillRect/>
          </a:stretch>
        </p:blipFill>
        <p:spPr>
          <a:xfrm>
            <a:off x="4146631" y="2509996"/>
            <a:ext cx="198850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82"/>
          <p:cNvPicPr preferRelativeResize="0"/>
          <p:nvPr/>
        </p:nvPicPr>
        <p:blipFill>
          <a:blip r:embed="rId3">
            <a:alphaModFix/>
          </a:blip>
          <a:srcRect r="65722"/>
          <a:stretch>
            <a:fillRect/>
          </a:stretch>
        </p:blipFill>
        <p:spPr>
          <a:xfrm>
            <a:off x="6038514" y="2509996"/>
            <a:ext cx="198850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82" descr="&lt;math xmlns=&quot;http://www.w3.org/1998/Math/MathML&quot; display=&quot;block&quot; data-is-equatio=&quot;1&quot; data-latex=&quot;\frac{3}{8},\frac{4}{8}=\frac{1}{2},\ \frac{5}{8}&quot;&gt;&lt;mfrac&gt;&lt;mn&gt;3&lt;/mn&gt;&lt;mn&gt;8&lt;/mn&gt;&lt;/mfrac&gt;&lt;mo&gt;,&lt;/mo&gt;&lt;mfrac&gt;&lt;mn&gt;4&lt;/mn&gt;&lt;mn&gt;8&lt;/mn&gt;&lt;/mfrac&gt;&lt;mo&gt;=&lt;/mo&gt;&lt;mfrac&gt;&lt;mn&gt;1&lt;/mn&gt;&lt;mn&gt;2&lt;/mn&gt;&lt;/mfrac&gt;&lt;mo&gt;,&lt;/mo&gt;&lt;mtext&gt;&lt;/mtext&gt;&lt;mfrac&gt;&lt;mn&gt;5&lt;/mn&gt;&lt;mn&gt;8&lt;/mn&gt;&lt;/mfrac&gt;&lt;/math&gt;" title="three eighths comma four eighths equals one half comma 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3000" y="1819875"/>
            <a:ext cx="1440546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82" descr="&lt;math xmlns=&quot;http://www.w3.org/1998/Math/MathML&quot; display=&quot;block&quot; data-is-equatio=&quot;1&quot; data-latex=&quot;\frac{1}{2},\ 1,\ 2&quot;&gt;&lt;mfrac&gt;&lt;mn&gt;1&lt;/mn&gt;&lt;mn&gt;2&lt;/mn&gt;&lt;/mfrac&gt;&lt;mo&gt;,&lt;/mo&gt;&lt;mtext&gt;&lt;/mtext&gt;&lt;mn&gt;1&lt;/mn&gt;&lt;mo&gt;,&lt;/mo&gt;&lt;mtext&gt;&lt;/mtext&gt;&lt;mn&gt;2&lt;/mn&gt;&lt;/math&gt;" title="one half comma 1 comma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0982" y="1812010"/>
            <a:ext cx="805919" cy="5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82" descr="&lt;math xmlns=&quot;http://www.w3.org/1998/Math/MathML&quot; display=&quot;block&quot; data-is-equatio=&quot;1&quot; data-latex=&quot;\frac{2}{5}=0.4&quot;&gt;&lt;mfrac&gt;&lt;mn&gt;2&lt;/mn&gt;&lt;mn&gt;5&lt;/mn&gt;&lt;/mfrac&gt;&lt;mo&gt;=&lt;/mo&gt;&lt;mn&gt;0.4&lt;/mn&gt;&lt;/math&gt;" title="two fifths equals 0.4"/>
          <p:cNvPicPr preferRelativeResize="0"/>
          <p:nvPr/>
        </p:nvPicPr>
        <p:blipFill>
          <a:blip r:embed="rId6">
            <a:alphaModFix/>
          </a:blip>
          <a:srcRect r="75325"/>
          <a:stretch>
            <a:fillRect/>
          </a:stretch>
        </p:blipFill>
        <p:spPr>
          <a:xfrm>
            <a:off x="8161053" y="4058450"/>
            <a:ext cx="198850" cy="5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82" descr="&lt;math xmlns=&quot;http://www.w3.org/1998/Math/MathML&quot; display=&quot;block&quot; data-is-equatio=&quot;1&quot; data-latex=&quot;\begin{array}{l}\frac{8}{5}\end{array}&quot;&gt;&lt;mtable columnalign=&quot;left&quot; columnspacing=&quot;1em&quot; rowspacing=&quot;4pt&quot;&gt;&lt;mtr&gt;&lt;mtd&gt;&lt;mfrac&gt;&lt;mn&gt;8&lt;/mn&gt;&lt;mn&gt;5&lt;/mn&gt;&lt;/mfrac&gt;&lt;/mtd&gt;&lt;/mtr&gt;&lt;/mtable&gt;&lt;/math&gt;" title="1 lines Line 1: eight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6026" y="3208000"/>
            <a:ext cx="162885" cy="4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2" descr="&lt;math xmlns=&quot;http://www.w3.org/1998/Math/MathML&quot; display=&quot;block&quot; data-is-equatio=&quot;1&quot; data-latex=&quot;\begin{array}{l}\frac{16}{25}\end{array}&quot;&gt;&lt;mtable columnalign=&quot;left&quot; columnspacing=&quot;1em&quot; rowspacing=&quot;4pt&quot;&gt;&lt;mtr&gt;&lt;mtd&gt;&lt;mfrac&gt;&lt;mn&gt;16&lt;/mn&gt;&lt;mn&gt;25&lt;/mn&gt;&lt;/mfrac&gt;&lt;/mtd&gt;&lt;/mtr&gt;&lt;/mtable&gt;&lt;/math&gt;" title="1 lines Line 1: 16 over 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1482" y="3208000"/>
            <a:ext cx="277500" cy="452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sp>
        <p:nvSpPr>
          <p:cNvPr id="1154" name="Google Shape;1154;p8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Continuing sequences from a rule</a:t>
            </a:r>
            <a:endParaRPr/>
          </a:p>
        </p:txBody>
      </p:sp>
      <p:sp>
        <p:nvSpPr>
          <p:cNvPr id="1155" name="Google Shape;1155;p83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156" name="Google Shape;1156;p83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sequences</a:t>
            </a:r>
            <a:endParaRPr/>
          </a:p>
        </p:txBody>
      </p:sp>
      <p:pic>
        <p:nvPicPr>
          <p:cNvPr id="1157" name="Google Shape;115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1" name="Shape 1161"/>
        <p:cNvGrpSpPr/>
        <p:nvPr/>
      </p:nvGrpSpPr>
      <p:grpSpPr>
        <a:xfrm>
          <a:off x="0" y="0"/>
          <a:ext cx="0" cy="0"/>
        </a:xfrm>
      </p:grpSpPr>
      <p:sp>
        <p:nvSpPr>
          <p:cNvPr id="1162" name="Google Shape;116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163" name="Google Shape;1163;p84"/>
          <p:cNvSpPr txBox="1"/>
          <p:nvPr>
            <p:ph type="body" idx="1"/>
          </p:nvPr>
        </p:nvSpPr>
        <p:spPr>
          <a:xfrm>
            <a:off x="324000" y="759300"/>
            <a:ext cx="84960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Izzy is building sequences with cuisenaire rods. Each tower is a value in the sequence. What could the rule be for her sequence?</a:t>
            </a:r>
            <a:endParaRPr sz="1900"/>
          </a:p>
        </p:txBody>
      </p:sp>
      <p:grpSp>
        <p:nvGrpSpPr>
          <p:cNvPr id="1164" name="Google Shape;1164;p84"/>
          <p:cNvGrpSpPr/>
          <p:nvPr/>
        </p:nvGrpSpPr>
        <p:grpSpPr>
          <a:xfrm>
            <a:off x="402651" y="1806429"/>
            <a:ext cx="2441404" cy="2992632"/>
            <a:chOff x="402651" y="1577829"/>
            <a:chExt cx="2441404" cy="2992632"/>
          </a:xfrm>
        </p:grpSpPr>
        <p:sp>
          <p:nvSpPr>
            <p:cNvPr id="1165" name="Google Shape;1165;p84"/>
            <p:cNvSpPr/>
            <p:nvPr/>
          </p:nvSpPr>
          <p:spPr>
            <a:xfrm rot="5400000" flipH="1">
              <a:off x="-46599" y="3824211"/>
              <a:ext cx="1195500" cy="2970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66" name="Google Shape;1166;p84"/>
            <p:cNvSpPr/>
            <p:nvPr/>
          </p:nvSpPr>
          <p:spPr>
            <a:xfrm rot="5400000" flipH="1">
              <a:off x="685930" y="3824211"/>
              <a:ext cx="1195500" cy="2970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67" name="Google Shape;1167;p84"/>
            <p:cNvSpPr/>
            <p:nvPr/>
          </p:nvSpPr>
          <p:spPr>
            <a:xfrm rot="5400000">
              <a:off x="984730" y="2933025"/>
              <a:ext cx="597900" cy="2970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68" name="Google Shape;1168;p84"/>
            <p:cNvSpPr/>
            <p:nvPr/>
          </p:nvSpPr>
          <p:spPr>
            <a:xfrm rot="5400000" flipH="1">
              <a:off x="1418455" y="3824211"/>
              <a:ext cx="1195500" cy="2970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69" name="Google Shape;1169;p84"/>
            <p:cNvSpPr/>
            <p:nvPr/>
          </p:nvSpPr>
          <p:spPr>
            <a:xfrm rot="5400000">
              <a:off x="1717255" y="2933025"/>
              <a:ext cx="597900" cy="2970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70" name="Google Shape;1170;p84"/>
            <p:cNvSpPr/>
            <p:nvPr/>
          </p:nvSpPr>
          <p:spPr>
            <a:xfrm rot="5400000">
              <a:off x="1717255" y="2335350"/>
              <a:ext cx="597900" cy="2970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71" name="Google Shape;1171;p84"/>
            <p:cNvSpPr/>
            <p:nvPr/>
          </p:nvSpPr>
          <p:spPr>
            <a:xfrm rot="5400000" flipH="1">
              <a:off x="2097805" y="3824211"/>
              <a:ext cx="1195500" cy="2970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72" name="Google Shape;1172;p84"/>
            <p:cNvSpPr/>
            <p:nvPr/>
          </p:nvSpPr>
          <p:spPr>
            <a:xfrm rot="5400000">
              <a:off x="2396605" y="2933025"/>
              <a:ext cx="597900" cy="2970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73" name="Google Shape;1173;p84"/>
            <p:cNvSpPr/>
            <p:nvPr/>
          </p:nvSpPr>
          <p:spPr>
            <a:xfrm rot="5400000">
              <a:off x="2396605" y="2335350"/>
              <a:ext cx="597900" cy="2970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74" name="Google Shape;1174;p84"/>
            <p:cNvSpPr/>
            <p:nvPr/>
          </p:nvSpPr>
          <p:spPr>
            <a:xfrm rot="5400000">
              <a:off x="2396605" y="1728279"/>
              <a:ext cx="597900" cy="2970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75" name="Google Shape;1175;p84"/>
          <p:cNvSpPr txBox="1"/>
          <p:nvPr>
            <p:ph type="body" idx="1"/>
          </p:nvPr>
        </p:nvSpPr>
        <p:spPr>
          <a:xfrm>
            <a:off x="3369600" y="2167475"/>
            <a:ext cx="5450400" cy="232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an additive sequence with the same value being added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Eg. add 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9" name="Shape 1179"/>
        <p:cNvGrpSpPr/>
        <p:nvPr/>
      </p:nvGrpSpPr>
      <p:grpSpPr>
        <a:xfrm>
          <a:off x="0" y="0"/>
          <a:ext cx="0" cy="0"/>
        </a:xfrm>
      </p:grpSpPr>
      <p:sp>
        <p:nvSpPr>
          <p:cNvPr id="1180" name="Google Shape;1180;p85"/>
          <p:cNvSpPr/>
          <p:nvPr/>
        </p:nvSpPr>
        <p:spPr>
          <a:xfrm>
            <a:off x="2516700" y="3040650"/>
            <a:ext cx="1596600" cy="1698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182" name="Google Shape;1182;p85"/>
          <p:cNvSpPr txBox="1"/>
          <p:nvPr>
            <p:ph type="body" idx="1"/>
          </p:nvPr>
        </p:nvSpPr>
        <p:spPr>
          <a:xfrm>
            <a:off x="324000" y="683100"/>
            <a:ext cx="85425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Which sequence has the same additive pattern as Izzy’s sequence?</a:t>
            </a:r>
            <a:endParaRPr sz="2000"/>
          </a:p>
        </p:txBody>
      </p:sp>
      <p:grpSp>
        <p:nvGrpSpPr>
          <p:cNvPr id="1183" name="Google Shape;1183;p85"/>
          <p:cNvGrpSpPr/>
          <p:nvPr/>
        </p:nvGrpSpPr>
        <p:grpSpPr>
          <a:xfrm>
            <a:off x="400618" y="1240576"/>
            <a:ext cx="1675415" cy="2051024"/>
            <a:chOff x="400618" y="1240576"/>
            <a:chExt cx="1675415" cy="2051024"/>
          </a:xfrm>
        </p:grpSpPr>
        <p:sp>
          <p:nvSpPr>
            <p:cNvPr id="1184" name="Google Shape;1184;p85"/>
            <p:cNvSpPr/>
            <p:nvPr/>
          </p:nvSpPr>
          <p:spPr>
            <a:xfrm rot="5400000" flipH="1">
              <a:off x="9221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85" name="Google Shape;1185;p85"/>
            <p:cNvSpPr/>
            <p:nvPr/>
          </p:nvSpPr>
          <p:spPr>
            <a:xfrm rot="5400000" flipH="1">
              <a:off x="59505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86" name="Google Shape;1186;p85"/>
            <p:cNvSpPr/>
            <p:nvPr/>
          </p:nvSpPr>
          <p:spPr>
            <a:xfrm rot="5400000">
              <a:off x="800108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87" name="Google Shape;1187;p85"/>
            <p:cNvSpPr/>
            <p:nvPr/>
          </p:nvSpPr>
          <p:spPr>
            <a:xfrm rot="5400000" flipH="1">
              <a:off x="1097896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88" name="Google Shape;1188;p85"/>
            <p:cNvSpPr/>
            <p:nvPr/>
          </p:nvSpPr>
          <p:spPr>
            <a:xfrm rot="5400000">
              <a:off x="1302946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89" name="Google Shape;1189;p85"/>
            <p:cNvSpPr/>
            <p:nvPr/>
          </p:nvSpPr>
          <p:spPr>
            <a:xfrm rot="5400000">
              <a:off x="1302946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0" name="Google Shape;1190;p85"/>
            <p:cNvSpPr/>
            <p:nvPr/>
          </p:nvSpPr>
          <p:spPr>
            <a:xfrm rot="5400000" flipH="1">
              <a:off x="1564233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1" name="Google Shape;1191;p85"/>
            <p:cNvSpPr/>
            <p:nvPr/>
          </p:nvSpPr>
          <p:spPr>
            <a:xfrm rot="5400000">
              <a:off x="1769283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2" name="Google Shape;1192;p85"/>
            <p:cNvSpPr/>
            <p:nvPr/>
          </p:nvSpPr>
          <p:spPr>
            <a:xfrm rot="5400000">
              <a:off x="1769283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3" name="Google Shape;1193;p85"/>
            <p:cNvSpPr/>
            <p:nvPr/>
          </p:nvSpPr>
          <p:spPr>
            <a:xfrm rot="5400000">
              <a:off x="1769283" y="134392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94" name="Google Shape;1194;p85"/>
          <p:cNvGrpSpPr/>
          <p:nvPr/>
        </p:nvGrpSpPr>
        <p:grpSpPr>
          <a:xfrm>
            <a:off x="4324276" y="1401570"/>
            <a:ext cx="1153538" cy="1623835"/>
            <a:chOff x="2920001" y="1088176"/>
            <a:chExt cx="1153538" cy="1623835"/>
          </a:xfrm>
        </p:grpSpPr>
        <p:sp>
          <p:nvSpPr>
            <p:cNvPr id="1195" name="Google Shape;1195;p85"/>
            <p:cNvSpPr/>
            <p:nvPr/>
          </p:nvSpPr>
          <p:spPr>
            <a:xfrm rot="5400000">
              <a:off x="2816651" y="2405260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6" name="Google Shape;1196;p85"/>
            <p:cNvSpPr/>
            <p:nvPr/>
          </p:nvSpPr>
          <p:spPr>
            <a:xfrm rot="5400000">
              <a:off x="3248160" y="2400833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7" name="Google Shape;1197;p85"/>
            <p:cNvSpPr/>
            <p:nvPr/>
          </p:nvSpPr>
          <p:spPr>
            <a:xfrm rot="5400000">
              <a:off x="3248160" y="2000702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8" name="Google Shape;1198;p85"/>
            <p:cNvSpPr/>
            <p:nvPr/>
          </p:nvSpPr>
          <p:spPr>
            <a:xfrm rot="5400000">
              <a:off x="3766789" y="240148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9" name="Google Shape;1199;p85"/>
            <p:cNvSpPr/>
            <p:nvPr/>
          </p:nvSpPr>
          <p:spPr>
            <a:xfrm rot="5400000">
              <a:off x="3766789" y="200135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0" name="Google Shape;1200;p85"/>
            <p:cNvSpPr/>
            <p:nvPr/>
          </p:nvSpPr>
          <p:spPr>
            <a:xfrm rot="5400000">
              <a:off x="3766789" y="159165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1" name="Google Shape;1201;p85"/>
            <p:cNvSpPr/>
            <p:nvPr/>
          </p:nvSpPr>
          <p:spPr>
            <a:xfrm rot="5400000">
              <a:off x="3766789" y="119152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02" name="Google Shape;1202;p85"/>
          <p:cNvGrpSpPr/>
          <p:nvPr/>
        </p:nvGrpSpPr>
        <p:grpSpPr>
          <a:xfrm>
            <a:off x="2861513" y="3246557"/>
            <a:ext cx="1016179" cy="1421443"/>
            <a:chOff x="2920001" y="2786932"/>
            <a:chExt cx="1016179" cy="1421443"/>
          </a:xfrm>
        </p:grpSpPr>
        <p:sp>
          <p:nvSpPr>
            <p:cNvPr id="1203" name="Google Shape;1203;p85"/>
            <p:cNvSpPr/>
            <p:nvPr/>
          </p:nvSpPr>
          <p:spPr>
            <a:xfrm>
              <a:off x="2920263" y="4000777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4" name="Google Shape;1204;p85"/>
            <p:cNvSpPr/>
            <p:nvPr/>
          </p:nvSpPr>
          <p:spPr>
            <a:xfrm rot="5400000">
              <a:off x="2816651" y="3694417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5" name="Google Shape;1205;p85"/>
            <p:cNvSpPr/>
            <p:nvPr/>
          </p:nvSpPr>
          <p:spPr>
            <a:xfrm>
              <a:off x="3291433" y="4000777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6" name="Google Shape;1206;p85"/>
            <p:cNvSpPr/>
            <p:nvPr/>
          </p:nvSpPr>
          <p:spPr>
            <a:xfrm rot="5400000">
              <a:off x="3187821" y="3694417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7" name="Google Shape;1207;p85"/>
            <p:cNvSpPr/>
            <p:nvPr/>
          </p:nvSpPr>
          <p:spPr>
            <a:xfrm rot="5400000">
              <a:off x="3187821" y="3294287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8" name="Google Shape;1208;p85"/>
            <p:cNvSpPr/>
            <p:nvPr/>
          </p:nvSpPr>
          <p:spPr>
            <a:xfrm>
              <a:off x="3733041" y="4006475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9" name="Google Shape;1209;p85"/>
            <p:cNvSpPr/>
            <p:nvPr/>
          </p:nvSpPr>
          <p:spPr>
            <a:xfrm rot="5400000">
              <a:off x="3629429" y="3700115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0" name="Google Shape;1210;p85"/>
            <p:cNvSpPr/>
            <p:nvPr/>
          </p:nvSpPr>
          <p:spPr>
            <a:xfrm rot="5400000">
              <a:off x="3629429" y="3299985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1" name="Google Shape;1211;p85"/>
            <p:cNvSpPr/>
            <p:nvPr/>
          </p:nvSpPr>
          <p:spPr>
            <a:xfrm rot="5400000">
              <a:off x="3629429" y="2890282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12" name="Google Shape;1212;p85"/>
          <p:cNvGrpSpPr/>
          <p:nvPr/>
        </p:nvGrpSpPr>
        <p:grpSpPr>
          <a:xfrm>
            <a:off x="7536836" y="983720"/>
            <a:ext cx="1109690" cy="2047755"/>
            <a:chOff x="4969461" y="487795"/>
            <a:chExt cx="1109690" cy="2047755"/>
          </a:xfrm>
        </p:grpSpPr>
        <p:sp>
          <p:nvSpPr>
            <p:cNvPr id="1213" name="Google Shape;1213;p85"/>
            <p:cNvSpPr/>
            <p:nvPr/>
          </p:nvSpPr>
          <p:spPr>
            <a:xfrm rot="5400000">
              <a:off x="4866111" y="222384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4" name="Google Shape;1214;p85"/>
            <p:cNvSpPr/>
            <p:nvPr/>
          </p:nvSpPr>
          <p:spPr>
            <a:xfrm rot="5400000">
              <a:off x="5269560" y="1418102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5" name="Google Shape;1215;p85"/>
            <p:cNvSpPr/>
            <p:nvPr/>
          </p:nvSpPr>
          <p:spPr>
            <a:xfrm rot="5400000">
              <a:off x="5772401" y="591145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6" name="Google Shape;1216;p85"/>
            <p:cNvSpPr/>
            <p:nvPr/>
          </p:nvSpPr>
          <p:spPr>
            <a:xfrm rot="5400000" flipH="1">
              <a:off x="5064500" y="2019453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7" name="Google Shape;1217;p85"/>
            <p:cNvSpPr/>
            <p:nvPr/>
          </p:nvSpPr>
          <p:spPr>
            <a:xfrm rot="5400000" flipH="1">
              <a:off x="5567341" y="2023749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8" name="Google Shape;1218;p85"/>
            <p:cNvSpPr/>
            <p:nvPr/>
          </p:nvSpPr>
          <p:spPr>
            <a:xfrm rot="5400000" flipH="1">
              <a:off x="5567341" y="120511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19" name="Google Shape;1219;p85"/>
          <p:cNvGrpSpPr/>
          <p:nvPr/>
        </p:nvGrpSpPr>
        <p:grpSpPr>
          <a:xfrm>
            <a:off x="5780259" y="3031483"/>
            <a:ext cx="1023465" cy="1574531"/>
            <a:chOff x="4552834" y="2618233"/>
            <a:chExt cx="1023465" cy="1574531"/>
          </a:xfrm>
        </p:grpSpPr>
        <p:sp>
          <p:nvSpPr>
            <p:cNvPr id="1220" name="Google Shape;1220;p85"/>
            <p:cNvSpPr/>
            <p:nvPr/>
          </p:nvSpPr>
          <p:spPr>
            <a:xfrm rot="5400000" flipH="1">
              <a:off x="5185644" y="3386328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21" name="Google Shape;1221;p85"/>
            <p:cNvSpPr/>
            <p:nvPr/>
          </p:nvSpPr>
          <p:spPr>
            <a:xfrm rot="5400000" flipH="1">
              <a:off x="5184238" y="2807383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22" name="Google Shape;1222;p85"/>
            <p:cNvSpPr/>
            <p:nvPr/>
          </p:nvSpPr>
          <p:spPr>
            <a:xfrm rot="5400000" flipH="1">
              <a:off x="4782195" y="3386324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23" name="Google Shape;1223;p85"/>
            <p:cNvSpPr/>
            <p:nvPr/>
          </p:nvSpPr>
          <p:spPr>
            <a:xfrm rot="5400000">
              <a:off x="4866101" y="3886014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24" name="Google Shape;1224;p85"/>
            <p:cNvSpPr/>
            <p:nvPr/>
          </p:nvSpPr>
          <p:spPr>
            <a:xfrm rot="5400000">
              <a:off x="5269550" y="3886014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25" name="Google Shape;1225;p85"/>
            <p:cNvSpPr/>
            <p:nvPr/>
          </p:nvSpPr>
          <p:spPr>
            <a:xfrm rot="5400000">
              <a:off x="4449484" y="3886014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26" name="Google Shape;1226;p85"/>
          <p:cNvSpPr txBox="1"/>
          <p:nvPr>
            <p:ph type="body" idx="1"/>
          </p:nvPr>
        </p:nvSpPr>
        <p:spPr>
          <a:xfrm>
            <a:off x="2882850" y="1247594"/>
            <a:ext cx="21471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looks to be doubling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7" name="Google Shape;1227;p85"/>
          <p:cNvSpPr txBox="1"/>
          <p:nvPr>
            <p:ph type="body" idx="1"/>
          </p:nvPr>
        </p:nvSpPr>
        <p:spPr>
          <a:xfrm>
            <a:off x="5687889" y="1272034"/>
            <a:ext cx="2094000" cy="14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is adding the larger (purple) rod each time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8" name="Google Shape;1228;p85"/>
          <p:cNvSpPr txBox="1"/>
          <p:nvPr>
            <p:ph type="body" idx="1"/>
          </p:nvPr>
        </p:nvSpPr>
        <p:spPr>
          <a:xfrm>
            <a:off x="6873725" y="3333900"/>
            <a:ext cx="19929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is adding the larger (green) rod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85"/>
          <p:cNvSpPr txBox="1"/>
          <p:nvPr>
            <p:ph type="body" idx="1"/>
          </p:nvPr>
        </p:nvSpPr>
        <p:spPr>
          <a:xfrm>
            <a:off x="324000" y="3580669"/>
            <a:ext cx="21471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also adds one red rod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3" name="Shape 1233"/>
        <p:cNvGrpSpPr/>
        <p:nvPr/>
      </p:nvGrpSpPr>
      <p:grpSpPr>
        <a:xfrm>
          <a:off x="0" y="0"/>
          <a:ext cx="0" cy="0"/>
        </a:xfrm>
      </p:grpSpPr>
      <p:sp>
        <p:nvSpPr>
          <p:cNvPr id="1234" name="Google Shape;123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235" name="Google Shape;1235;p86"/>
          <p:cNvSpPr txBox="1"/>
          <p:nvPr>
            <p:ph type="body" idx="1"/>
          </p:nvPr>
        </p:nvSpPr>
        <p:spPr>
          <a:xfrm>
            <a:off x="324000" y="759300"/>
            <a:ext cx="82377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in these sequences?</a:t>
            </a:r>
            <a:endParaRPr/>
          </a:p>
        </p:txBody>
      </p:sp>
      <p:grpSp>
        <p:nvGrpSpPr>
          <p:cNvPr id="1236" name="Google Shape;1236;p86"/>
          <p:cNvGrpSpPr/>
          <p:nvPr/>
        </p:nvGrpSpPr>
        <p:grpSpPr>
          <a:xfrm>
            <a:off x="323988" y="1862147"/>
            <a:ext cx="979121" cy="1377855"/>
            <a:chOff x="374763" y="1315547"/>
            <a:chExt cx="979121" cy="1377855"/>
          </a:xfrm>
        </p:grpSpPr>
        <p:sp>
          <p:nvSpPr>
            <p:cNvPr id="1237" name="Google Shape;1237;p86"/>
            <p:cNvSpPr/>
            <p:nvPr/>
          </p:nvSpPr>
          <p:spPr>
            <a:xfrm>
              <a:off x="374763" y="2491502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38" name="Google Shape;1238;p86"/>
            <p:cNvSpPr/>
            <p:nvPr/>
          </p:nvSpPr>
          <p:spPr>
            <a:xfrm>
              <a:off x="1151983" y="2491502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39" name="Google Shape;1239;p86"/>
            <p:cNvSpPr/>
            <p:nvPr/>
          </p:nvSpPr>
          <p:spPr>
            <a:xfrm rot="5400000" flipH="1">
              <a:off x="575120" y="2092672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40" name="Google Shape;1240;p86"/>
            <p:cNvSpPr/>
            <p:nvPr/>
          </p:nvSpPr>
          <p:spPr>
            <a:xfrm>
              <a:off x="763363" y="2479376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41" name="Google Shape;1241;p86"/>
            <p:cNvSpPr/>
            <p:nvPr/>
          </p:nvSpPr>
          <p:spPr>
            <a:xfrm rot="5400000" flipH="1">
              <a:off x="963720" y="2092672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42" name="Google Shape;1242;p86"/>
            <p:cNvSpPr/>
            <p:nvPr/>
          </p:nvSpPr>
          <p:spPr>
            <a:xfrm rot="5400000" flipH="1">
              <a:off x="963720" y="1504697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43" name="Google Shape;1243;p86"/>
          <p:cNvGrpSpPr/>
          <p:nvPr/>
        </p:nvGrpSpPr>
        <p:grpSpPr>
          <a:xfrm>
            <a:off x="2682846" y="2224454"/>
            <a:ext cx="949234" cy="1015548"/>
            <a:chOff x="1921563" y="1697404"/>
            <a:chExt cx="949234" cy="1015548"/>
          </a:xfrm>
        </p:grpSpPr>
        <p:grpSp>
          <p:nvGrpSpPr>
            <p:cNvPr id="1244" name="Google Shape;1244;p86"/>
            <p:cNvGrpSpPr/>
            <p:nvPr/>
          </p:nvGrpSpPr>
          <p:grpSpPr>
            <a:xfrm>
              <a:off x="2296226" y="1697404"/>
              <a:ext cx="574571" cy="1011740"/>
              <a:chOff x="2920001" y="3190937"/>
              <a:chExt cx="574571" cy="1011740"/>
            </a:xfrm>
          </p:grpSpPr>
          <p:sp>
            <p:nvSpPr>
              <p:cNvPr id="1245" name="Google Shape;1245;p86"/>
              <p:cNvSpPr/>
              <p:nvPr/>
            </p:nvSpPr>
            <p:spPr>
              <a:xfrm>
                <a:off x="2920263" y="4000777"/>
                <a:ext cx="201900" cy="201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86"/>
              <p:cNvSpPr/>
              <p:nvPr/>
            </p:nvSpPr>
            <p:spPr>
              <a:xfrm rot="5400000">
                <a:off x="2816651" y="3694417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86"/>
              <p:cNvSpPr/>
              <p:nvPr/>
            </p:nvSpPr>
            <p:spPr>
              <a:xfrm>
                <a:off x="3291433" y="4000777"/>
                <a:ext cx="201900" cy="201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86"/>
              <p:cNvSpPr/>
              <p:nvPr/>
            </p:nvSpPr>
            <p:spPr>
              <a:xfrm rot="5400000">
                <a:off x="3187821" y="3694417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86"/>
              <p:cNvSpPr/>
              <p:nvPr/>
            </p:nvSpPr>
            <p:spPr>
              <a:xfrm rot="5400000">
                <a:off x="3187821" y="3294287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250" name="Google Shape;1250;p86"/>
            <p:cNvSpPr/>
            <p:nvPr/>
          </p:nvSpPr>
          <p:spPr>
            <a:xfrm>
              <a:off x="1921563" y="2511052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51" name="Google Shape;1251;p86"/>
          <p:cNvGrpSpPr/>
          <p:nvPr/>
        </p:nvGrpSpPr>
        <p:grpSpPr>
          <a:xfrm>
            <a:off x="5011816" y="2637095"/>
            <a:ext cx="948625" cy="602905"/>
            <a:chOff x="3531216" y="2090495"/>
            <a:chExt cx="948625" cy="602905"/>
          </a:xfrm>
        </p:grpSpPr>
        <p:sp>
          <p:nvSpPr>
            <p:cNvPr id="1252" name="Google Shape;1252;p86"/>
            <p:cNvSpPr/>
            <p:nvPr/>
          </p:nvSpPr>
          <p:spPr>
            <a:xfrm>
              <a:off x="3531216" y="2479375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53" name="Google Shape;1253;p86"/>
            <p:cNvSpPr/>
            <p:nvPr/>
          </p:nvSpPr>
          <p:spPr>
            <a:xfrm>
              <a:off x="3895966" y="2491500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54" name="Google Shape;1254;p86"/>
            <p:cNvSpPr/>
            <p:nvPr/>
          </p:nvSpPr>
          <p:spPr>
            <a:xfrm>
              <a:off x="3895966" y="2294848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55" name="Google Shape;1255;p86"/>
            <p:cNvSpPr/>
            <p:nvPr/>
          </p:nvSpPr>
          <p:spPr>
            <a:xfrm>
              <a:off x="4277941" y="2491500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56" name="Google Shape;1256;p86"/>
            <p:cNvSpPr/>
            <p:nvPr/>
          </p:nvSpPr>
          <p:spPr>
            <a:xfrm>
              <a:off x="4277941" y="2289600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57" name="Google Shape;1257;p86"/>
            <p:cNvSpPr/>
            <p:nvPr/>
          </p:nvSpPr>
          <p:spPr>
            <a:xfrm>
              <a:off x="4277941" y="2090495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58" name="Google Shape;1258;p86"/>
          <p:cNvGrpSpPr/>
          <p:nvPr/>
        </p:nvGrpSpPr>
        <p:grpSpPr>
          <a:xfrm>
            <a:off x="7340179" y="1377900"/>
            <a:ext cx="964714" cy="1862100"/>
            <a:chOff x="4809679" y="846625"/>
            <a:chExt cx="964714" cy="1862100"/>
          </a:xfrm>
        </p:grpSpPr>
        <p:sp>
          <p:nvSpPr>
            <p:cNvPr id="1259" name="Google Shape;1259;p86"/>
            <p:cNvSpPr/>
            <p:nvPr/>
          </p:nvSpPr>
          <p:spPr>
            <a:xfrm>
              <a:off x="5177066" y="2491500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60" name="Google Shape;1260;p86"/>
            <p:cNvSpPr/>
            <p:nvPr/>
          </p:nvSpPr>
          <p:spPr>
            <a:xfrm rot="5400000" flipH="1">
              <a:off x="4868668" y="196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61" name="Google Shape;1261;p86"/>
            <p:cNvSpPr/>
            <p:nvPr/>
          </p:nvSpPr>
          <p:spPr>
            <a:xfrm>
              <a:off x="5570991" y="2506825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62" name="Google Shape;1262;p86"/>
            <p:cNvSpPr/>
            <p:nvPr/>
          </p:nvSpPr>
          <p:spPr>
            <a:xfrm rot="5400000" flipH="1">
              <a:off x="5262593" y="1985125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63" name="Google Shape;1263;p86"/>
            <p:cNvSpPr/>
            <p:nvPr/>
          </p:nvSpPr>
          <p:spPr>
            <a:xfrm rot="5400000" flipH="1">
              <a:off x="5261843" y="1155025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64" name="Google Shape;1264;p86"/>
            <p:cNvSpPr/>
            <p:nvPr/>
          </p:nvSpPr>
          <p:spPr>
            <a:xfrm>
              <a:off x="4809679" y="2491500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65" name="Google Shape;1265;p86"/>
          <p:cNvSpPr txBox="1"/>
          <p:nvPr>
            <p:ph type="body" idx="1"/>
          </p:nvPr>
        </p:nvSpPr>
        <p:spPr>
          <a:xfrm>
            <a:off x="324000" y="3685625"/>
            <a:ext cx="8237700" cy="32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all start on the same value and have a constant additive pattern.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6" name="Google Shape;1266;p86"/>
          <p:cNvSpPr txBox="1"/>
          <p:nvPr>
            <p:ph type="body" idx="1"/>
          </p:nvPr>
        </p:nvSpPr>
        <p:spPr>
          <a:xfrm>
            <a:off x="324000" y="4251300"/>
            <a:ext cx="8237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value that is added on each time differs between the sequences.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0" name="Shape 1270"/>
        <p:cNvGrpSpPr/>
        <p:nvPr/>
      </p:nvGrpSpPr>
      <p:grpSpPr>
        <a:xfrm>
          <a:off x="0" y="0"/>
          <a:ext cx="0" cy="0"/>
        </a:xfrm>
      </p:grpSpPr>
      <p:sp>
        <p:nvSpPr>
          <p:cNvPr id="1271" name="Google Shape;127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272" name="Google Shape;1272;p87"/>
          <p:cNvSpPr txBox="1"/>
          <p:nvPr>
            <p:ph type="body" idx="1"/>
          </p:nvPr>
        </p:nvSpPr>
        <p:spPr>
          <a:xfrm>
            <a:off x="324000" y="759300"/>
            <a:ext cx="82377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in these sequences?</a:t>
            </a:r>
            <a:endParaRPr/>
          </a:p>
        </p:txBody>
      </p:sp>
      <p:sp>
        <p:nvSpPr>
          <p:cNvPr id="1273" name="Google Shape;1273;p87"/>
          <p:cNvSpPr txBox="1"/>
          <p:nvPr>
            <p:ph type="body" idx="1"/>
          </p:nvPr>
        </p:nvSpPr>
        <p:spPr>
          <a:xfrm>
            <a:off x="324000" y="3685625"/>
            <a:ext cx="84960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all have a constant additive pattern. Each sequence adds a green rod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4" name="Google Shape;1274;p87"/>
          <p:cNvSpPr txBox="1"/>
          <p:nvPr>
            <p:ph type="body" idx="1"/>
          </p:nvPr>
        </p:nvSpPr>
        <p:spPr>
          <a:xfrm>
            <a:off x="324000" y="4385000"/>
            <a:ext cx="8237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value that the sequence starts on changes.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75" name="Google Shape;1275;p87"/>
          <p:cNvGrpSpPr/>
          <p:nvPr/>
        </p:nvGrpSpPr>
        <p:grpSpPr>
          <a:xfrm>
            <a:off x="324004" y="1855547"/>
            <a:ext cx="938725" cy="1377855"/>
            <a:chOff x="324004" y="1322147"/>
            <a:chExt cx="938725" cy="1377855"/>
          </a:xfrm>
        </p:grpSpPr>
        <p:sp>
          <p:nvSpPr>
            <p:cNvPr id="1276" name="Google Shape;1276;p87"/>
            <p:cNvSpPr/>
            <p:nvPr/>
          </p:nvSpPr>
          <p:spPr>
            <a:xfrm>
              <a:off x="324004" y="2498088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77" name="Google Shape;1277;p87"/>
            <p:cNvSpPr/>
            <p:nvPr/>
          </p:nvSpPr>
          <p:spPr>
            <a:xfrm>
              <a:off x="677013" y="2498102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78" name="Google Shape;1278;p87"/>
            <p:cNvSpPr/>
            <p:nvPr/>
          </p:nvSpPr>
          <p:spPr>
            <a:xfrm rot="5400000" flipH="1">
              <a:off x="488770" y="2099285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79" name="Google Shape;1279;p87"/>
            <p:cNvSpPr/>
            <p:nvPr/>
          </p:nvSpPr>
          <p:spPr>
            <a:xfrm>
              <a:off x="1060829" y="2498088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0" name="Google Shape;1280;p87"/>
            <p:cNvSpPr/>
            <p:nvPr/>
          </p:nvSpPr>
          <p:spPr>
            <a:xfrm rot="5400000" flipH="1">
              <a:off x="872570" y="2099272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1" name="Google Shape;1281;p87"/>
            <p:cNvSpPr/>
            <p:nvPr/>
          </p:nvSpPr>
          <p:spPr>
            <a:xfrm rot="5400000" flipH="1">
              <a:off x="872570" y="1511297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82" name="Google Shape;1282;p87"/>
          <p:cNvGrpSpPr/>
          <p:nvPr/>
        </p:nvGrpSpPr>
        <p:grpSpPr>
          <a:xfrm>
            <a:off x="2647675" y="1669764"/>
            <a:ext cx="1059154" cy="1576487"/>
            <a:chOff x="1670129" y="1136364"/>
            <a:chExt cx="1059154" cy="1576487"/>
          </a:xfrm>
        </p:grpSpPr>
        <p:sp>
          <p:nvSpPr>
            <p:cNvPr id="1283" name="Google Shape;1283;p87"/>
            <p:cNvSpPr/>
            <p:nvPr/>
          </p:nvSpPr>
          <p:spPr>
            <a:xfrm rot="5400000">
              <a:off x="1994659" y="239325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4" name="Google Shape;1284;p87"/>
            <p:cNvSpPr/>
            <p:nvPr/>
          </p:nvSpPr>
          <p:spPr>
            <a:xfrm rot="5400000" flipH="1">
              <a:off x="1910495" y="1900660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5" name="Google Shape;1285;p87"/>
            <p:cNvSpPr/>
            <p:nvPr/>
          </p:nvSpPr>
          <p:spPr>
            <a:xfrm rot="5400000" flipH="1">
              <a:off x="2338370" y="1913489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6" name="Google Shape;1286;p87"/>
            <p:cNvSpPr/>
            <p:nvPr/>
          </p:nvSpPr>
          <p:spPr>
            <a:xfrm rot="5400000" flipH="1">
              <a:off x="2338370" y="1325514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7" name="Google Shape;1287;p87"/>
            <p:cNvSpPr/>
            <p:nvPr/>
          </p:nvSpPr>
          <p:spPr>
            <a:xfrm rot="5400000">
              <a:off x="2422534" y="2406101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8" name="Google Shape;1288;p87"/>
            <p:cNvSpPr/>
            <p:nvPr/>
          </p:nvSpPr>
          <p:spPr>
            <a:xfrm rot="5400000">
              <a:off x="1566779" y="2393254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89" name="Google Shape;1289;p87"/>
          <p:cNvGrpSpPr/>
          <p:nvPr/>
        </p:nvGrpSpPr>
        <p:grpSpPr>
          <a:xfrm>
            <a:off x="5091776" y="1270047"/>
            <a:ext cx="1014258" cy="1965830"/>
            <a:chOff x="3520463" y="736647"/>
            <a:chExt cx="1014258" cy="1965830"/>
          </a:xfrm>
        </p:grpSpPr>
        <p:sp>
          <p:nvSpPr>
            <p:cNvPr id="1290" name="Google Shape;1290;p87"/>
            <p:cNvSpPr/>
            <p:nvPr/>
          </p:nvSpPr>
          <p:spPr>
            <a:xfrm>
              <a:off x="3520463" y="2500577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1" name="Google Shape;1291;p87"/>
            <p:cNvSpPr/>
            <p:nvPr/>
          </p:nvSpPr>
          <p:spPr>
            <a:xfrm rot="5400000" flipH="1">
              <a:off x="3332220" y="2101760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2" name="Google Shape;1292;p87"/>
            <p:cNvSpPr/>
            <p:nvPr/>
          </p:nvSpPr>
          <p:spPr>
            <a:xfrm>
              <a:off x="3904279" y="2500563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3" name="Google Shape;1293;p87"/>
            <p:cNvSpPr/>
            <p:nvPr/>
          </p:nvSpPr>
          <p:spPr>
            <a:xfrm rot="5400000" flipH="1">
              <a:off x="3716020" y="2101747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4" name="Google Shape;1294;p87"/>
            <p:cNvSpPr/>
            <p:nvPr/>
          </p:nvSpPr>
          <p:spPr>
            <a:xfrm rot="5400000" flipH="1">
              <a:off x="3716020" y="1513772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5" name="Google Shape;1295;p87"/>
            <p:cNvSpPr/>
            <p:nvPr/>
          </p:nvSpPr>
          <p:spPr>
            <a:xfrm>
              <a:off x="4332820" y="2500563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6" name="Google Shape;1296;p87"/>
            <p:cNvSpPr/>
            <p:nvPr/>
          </p:nvSpPr>
          <p:spPr>
            <a:xfrm rot="5400000" flipH="1">
              <a:off x="4144561" y="2101747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7" name="Google Shape;1297;p87"/>
            <p:cNvSpPr/>
            <p:nvPr/>
          </p:nvSpPr>
          <p:spPr>
            <a:xfrm rot="5400000" flipH="1">
              <a:off x="4144561" y="1513772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8" name="Google Shape;1298;p87"/>
            <p:cNvSpPr/>
            <p:nvPr/>
          </p:nvSpPr>
          <p:spPr>
            <a:xfrm rot="5400000" flipH="1">
              <a:off x="4144561" y="925797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99" name="Google Shape;1299;p87"/>
          <p:cNvGrpSpPr/>
          <p:nvPr/>
        </p:nvGrpSpPr>
        <p:grpSpPr>
          <a:xfrm>
            <a:off x="7490979" y="1246814"/>
            <a:ext cx="1059154" cy="2000658"/>
            <a:chOff x="5281179" y="713414"/>
            <a:chExt cx="1059154" cy="2000658"/>
          </a:xfrm>
        </p:grpSpPr>
        <p:sp>
          <p:nvSpPr>
            <p:cNvPr id="1300" name="Google Shape;1300;p87"/>
            <p:cNvSpPr/>
            <p:nvPr/>
          </p:nvSpPr>
          <p:spPr>
            <a:xfrm rot="5400000">
              <a:off x="5177829" y="2407322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1" name="Google Shape;1301;p87"/>
            <p:cNvSpPr/>
            <p:nvPr/>
          </p:nvSpPr>
          <p:spPr>
            <a:xfrm rot="5400000">
              <a:off x="5177829" y="2007191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2" name="Google Shape;1302;p87"/>
            <p:cNvSpPr/>
            <p:nvPr/>
          </p:nvSpPr>
          <p:spPr>
            <a:xfrm rot="5400000">
              <a:off x="5605709" y="1983334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3" name="Google Shape;1303;p87"/>
            <p:cNvSpPr/>
            <p:nvPr/>
          </p:nvSpPr>
          <p:spPr>
            <a:xfrm rot="5400000" flipH="1">
              <a:off x="5521545" y="1490735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4" name="Google Shape;1304;p87"/>
            <p:cNvSpPr/>
            <p:nvPr/>
          </p:nvSpPr>
          <p:spPr>
            <a:xfrm rot="5400000" flipH="1">
              <a:off x="5949420" y="1490539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5" name="Google Shape;1305;p87"/>
            <p:cNvSpPr/>
            <p:nvPr/>
          </p:nvSpPr>
          <p:spPr>
            <a:xfrm rot="5400000" flipH="1">
              <a:off x="5949420" y="902564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6" name="Google Shape;1306;p87"/>
            <p:cNvSpPr/>
            <p:nvPr/>
          </p:nvSpPr>
          <p:spPr>
            <a:xfrm rot="5400000">
              <a:off x="6033584" y="1983151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7" name="Google Shape;1307;p87"/>
            <p:cNvSpPr/>
            <p:nvPr/>
          </p:nvSpPr>
          <p:spPr>
            <a:xfrm rot="5400000">
              <a:off x="5605704" y="2393254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8" name="Google Shape;1308;p87"/>
            <p:cNvSpPr/>
            <p:nvPr/>
          </p:nvSpPr>
          <p:spPr>
            <a:xfrm rot="5400000">
              <a:off x="6033579" y="238702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2" name="Shape 1312"/>
        <p:cNvGrpSpPr/>
        <p:nvPr/>
      </p:nvGrpSpPr>
      <p:grpSpPr>
        <a:xfrm>
          <a:off x="0" y="0"/>
          <a:ext cx="0" cy="0"/>
        </a:xfrm>
      </p:grpSpPr>
      <p:sp>
        <p:nvSpPr>
          <p:cNvPr id="1313" name="Google Shape;131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314" name="Google Shape;1314;p88"/>
          <p:cNvSpPr txBox="1"/>
          <p:nvPr>
            <p:ph type="body" idx="1"/>
          </p:nvPr>
        </p:nvSpPr>
        <p:spPr>
          <a:xfrm>
            <a:off x="324000" y="759300"/>
            <a:ext cx="4418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Izzy’s original sequence.</a:t>
            </a:r>
            <a:endParaRPr/>
          </a:p>
        </p:txBody>
      </p:sp>
      <p:sp>
        <p:nvSpPr>
          <p:cNvPr id="1315" name="Google Shape;1315;p88"/>
          <p:cNvSpPr txBox="1"/>
          <p:nvPr>
            <p:ph type="body" idx="1"/>
          </p:nvPr>
        </p:nvSpPr>
        <p:spPr>
          <a:xfrm>
            <a:off x="324000" y="4142825"/>
            <a:ext cx="84960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it has the same constant additive rule but starts on a different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16" name="Google Shape;1316;p88"/>
          <p:cNvGrpSpPr/>
          <p:nvPr/>
        </p:nvGrpSpPr>
        <p:grpSpPr>
          <a:xfrm>
            <a:off x="400618" y="1697776"/>
            <a:ext cx="1675415" cy="2051024"/>
            <a:chOff x="400618" y="1240576"/>
            <a:chExt cx="1675415" cy="2051024"/>
          </a:xfrm>
        </p:grpSpPr>
        <p:sp>
          <p:nvSpPr>
            <p:cNvPr id="1317" name="Google Shape;1317;p88"/>
            <p:cNvSpPr/>
            <p:nvPr/>
          </p:nvSpPr>
          <p:spPr>
            <a:xfrm rot="5400000" flipH="1">
              <a:off x="9221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8" name="Google Shape;1318;p88"/>
            <p:cNvSpPr/>
            <p:nvPr/>
          </p:nvSpPr>
          <p:spPr>
            <a:xfrm rot="5400000" flipH="1">
              <a:off x="59505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9" name="Google Shape;1319;p88"/>
            <p:cNvSpPr/>
            <p:nvPr/>
          </p:nvSpPr>
          <p:spPr>
            <a:xfrm rot="5400000">
              <a:off x="800108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0" name="Google Shape;1320;p88"/>
            <p:cNvSpPr/>
            <p:nvPr/>
          </p:nvSpPr>
          <p:spPr>
            <a:xfrm rot="5400000" flipH="1">
              <a:off x="1097896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1" name="Google Shape;1321;p88"/>
            <p:cNvSpPr/>
            <p:nvPr/>
          </p:nvSpPr>
          <p:spPr>
            <a:xfrm rot="5400000">
              <a:off x="1302946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2" name="Google Shape;1322;p88"/>
            <p:cNvSpPr/>
            <p:nvPr/>
          </p:nvSpPr>
          <p:spPr>
            <a:xfrm rot="5400000">
              <a:off x="1302946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3" name="Google Shape;1323;p88"/>
            <p:cNvSpPr/>
            <p:nvPr/>
          </p:nvSpPr>
          <p:spPr>
            <a:xfrm rot="5400000" flipH="1">
              <a:off x="1564233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4" name="Google Shape;1324;p88"/>
            <p:cNvSpPr/>
            <p:nvPr/>
          </p:nvSpPr>
          <p:spPr>
            <a:xfrm rot="5400000">
              <a:off x="1769283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5" name="Google Shape;1325;p88"/>
            <p:cNvSpPr/>
            <p:nvPr/>
          </p:nvSpPr>
          <p:spPr>
            <a:xfrm rot="5400000">
              <a:off x="1769283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6" name="Google Shape;1326;p88"/>
            <p:cNvSpPr/>
            <p:nvPr/>
          </p:nvSpPr>
          <p:spPr>
            <a:xfrm rot="5400000">
              <a:off x="1769283" y="134392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27" name="Google Shape;1327;p88"/>
          <p:cNvSpPr txBox="1"/>
          <p:nvPr>
            <p:ph type="body" idx="1"/>
          </p:nvPr>
        </p:nvSpPr>
        <p:spPr>
          <a:xfrm>
            <a:off x="4818600" y="759300"/>
            <a:ext cx="4418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Is this the same sequence?</a:t>
            </a:r>
            <a:endParaRPr/>
          </a:p>
        </p:txBody>
      </p:sp>
      <p:grpSp>
        <p:nvGrpSpPr>
          <p:cNvPr id="1328" name="Google Shape;1328;p88"/>
          <p:cNvGrpSpPr/>
          <p:nvPr/>
        </p:nvGrpSpPr>
        <p:grpSpPr>
          <a:xfrm>
            <a:off x="5814595" y="1841159"/>
            <a:ext cx="1614984" cy="1856038"/>
            <a:chOff x="4823995" y="1383959"/>
            <a:chExt cx="1614984" cy="1856038"/>
          </a:xfrm>
        </p:grpSpPr>
        <p:sp>
          <p:nvSpPr>
            <p:cNvPr id="1329" name="Google Shape;1329;p88"/>
            <p:cNvSpPr/>
            <p:nvPr/>
          </p:nvSpPr>
          <p:spPr>
            <a:xfrm rot="5400000">
              <a:off x="5188979" y="2343004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0" name="Google Shape;1330;p88"/>
            <p:cNvSpPr/>
            <p:nvPr/>
          </p:nvSpPr>
          <p:spPr>
            <a:xfrm rot="5400000" flipH="1">
              <a:off x="5104820" y="2850747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1" name="Google Shape;1331;p88"/>
            <p:cNvSpPr/>
            <p:nvPr/>
          </p:nvSpPr>
          <p:spPr>
            <a:xfrm rot="5400000" flipH="1">
              <a:off x="4634845" y="2850747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2" name="Google Shape;1332;p88"/>
            <p:cNvSpPr/>
            <p:nvPr/>
          </p:nvSpPr>
          <p:spPr>
            <a:xfrm rot="5400000">
              <a:off x="5660604" y="233071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3" name="Google Shape;1333;p88"/>
            <p:cNvSpPr/>
            <p:nvPr/>
          </p:nvSpPr>
          <p:spPr>
            <a:xfrm rot="5400000" flipH="1">
              <a:off x="5576445" y="2838460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4" name="Google Shape;1334;p88"/>
            <p:cNvSpPr/>
            <p:nvPr/>
          </p:nvSpPr>
          <p:spPr>
            <a:xfrm rot="5400000">
              <a:off x="5660604" y="190880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5" name="Google Shape;1335;p88"/>
            <p:cNvSpPr/>
            <p:nvPr/>
          </p:nvSpPr>
          <p:spPr>
            <a:xfrm rot="5400000">
              <a:off x="6132229" y="233071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6" name="Google Shape;1336;p88"/>
            <p:cNvSpPr/>
            <p:nvPr/>
          </p:nvSpPr>
          <p:spPr>
            <a:xfrm rot="5400000" flipH="1">
              <a:off x="6048070" y="2838460"/>
              <a:ext cx="578400" cy="200100"/>
            </a:xfrm>
            <a:prstGeom prst="rect">
              <a:avLst/>
            </a:prstGeom>
            <a:solidFill>
              <a:srgbClr val="B6D7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7" name="Google Shape;1337;p88"/>
            <p:cNvSpPr/>
            <p:nvPr/>
          </p:nvSpPr>
          <p:spPr>
            <a:xfrm rot="5400000">
              <a:off x="6132229" y="190880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8" name="Google Shape;1338;p88"/>
            <p:cNvSpPr/>
            <p:nvPr/>
          </p:nvSpPr>
          <p:spPr>
            <a:xfrm rot="5400000">
              <a:off x="6132229" y="148730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2" name="Shape 1342"/>
        <p:cNvGrpSpPr/>
        <p:nvPr/>
      </p:nvGrpSpPr>
      <p:grpSpPr>
        <a:xfrm>
          <a:off x="0" y="0"/>
          <a:ext cx="0" cy="0"/>
        </a:xfrm>
      </p:grpSpPr>
      <p:sp>
        <p:nvSpPr>
          <p:cNvPr id="1343" name="Google Shape;134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344" name="Google Shape;1344;p89"/>
          <p:cNvSpPr txBox="1"/>
          <p:nvPr>
            <p:ph type="body" idx="1"/>
          </p:nvPr>
        </p:nvSpPr>
        <p:spPr>
          <a:xfrm>
            <a:off x="324000" y="759300"/>
            <a:ext cx="4418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Izzy’s original sequence.</a:t>
            </a:r>
            <a:endParaRPr/>
          </a:p>
        </p:txBody>
      </p:sp>
      <p:sp>
        <p:nvSpPr>
          <p:cNvPr id="1345" name="Google Shape;1345;p89"/>
          <p:cNvSpPr txBox="1"/>
          <p:nvPr>
            <p:ph type="body" idx="1"/>
          </p:nvPr>
        </p:nvSpPr>
        <p:spPr>
          <a:xfrm>
            <a:off x="324000" y="4053775"/>
            <a:ext cx="84960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it has some of the same values in it and it increases by the same amount but Izzy’s sequence starts on a different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46" name="Google Shape;1346;p89"/>
          <p:cNvGrpSpPr/>
          <p:nvPr/>
        </p:nvGrpSpPr>
        <p:grpSpPr>
          <a:xfrm>
            <a:off x="400618" y="1697776"/>
            <a:ext cx="1675415" cy="2051024"/>
            <a:chOff x="400618" y="1240576"/>
            <a:chExt cx="1675415" cy="2051024"/>
          </a:xfrm>
        </p:grpSpPr>
        <p:sp>
          <p:nvSpPr>
            <p:cNvPr id="1347" name="Google Shape;1347;p89"/>
            <p:cNvSpPr/>
            <p:nvPr/>
          </p:nvSpPr>
          <p:spPr>
            <a:xfrm rot="5400000" flipH="1">
              <a:off x="9221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8" name="Google Shape;1348;p89"/>
            <p:cNvSpPr/>
            <p:nvPr/>
          </p:nvSpPr>
          <p:spPr>
            <a:xfrm rot="5400000" flipH="1">
              <a:off x="59505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9" name="Google Shape;1349;p89"/>
            <p:cNvSpPr/>
            <p:nvPr/>
          </p:nvSpPr>
          <p:spPr>
            <a:xfrm rot="5400000">
              <a:off x="800108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0" name="Google Shape;1350;p89"/>
            <p:cNvSpPr/>
            <p:nvPr/>
          </p:nvSpPr>
          <p:spPr>
            <a:xfrm rot="5400000" flipH="1">
              <a:off x="1097896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1" name="Google Shape;1351;p89"/>
            <p:cNvSpPr/>
            <p:nvPr/>
          </p:nvSpPr>
          <p:spPr>
            <a:xfrm rot="5400000">
              <a:off x="1302946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2" name="Google Shape;1352;p89"/>
            <p:cNvSpPr/>
            <p:nvPr/>
          </p:nvSpPr>
          <p:spPr>
            <a:xfrm rot="5400000">
              <a:off x="1302946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3" name="Google Shape;1353;p89"/>
            <p:cNvSpPr/>
            <p:nvPr/>
          </p:nvSpPr>
          <p:spPr>
            <a:xfrm rot="5400000" flipH="1">
              <a:off x="1564233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4" name="Google Shape;1354;p89"/>
            <p:cNvSpPr/>
            <p:nvPr/>
          </p:nvSpPr>
          <p:spPr>
            <a:xfrm rot="5400000">
              <a:off x="1769283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5" name="Google Shape;1355;p89"/>
            <p:cNvSpPr/>
            <p:nvPr/>
          </p:nvSpPr>
          <p:spPr>
            <a:xfrm rot="5400000">
              <a:off x="1769283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6" name="Google Shape;1356;p89"/>
            <p:cNvSpPr/>
            <p:nvPr/>
          </p:nvSpPr>
          <p:spPr>
            <a:xfrm rot="5400000">
              <a:off x="1769283" y="134392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7" name="Google Shape;1357;p89"/>
          <p:cNvSpPr txBox="1"/>
          <p:nvPr>
            <p:ph type="body" idx="1"/>
          </p:nvPr>
        </p:nvSpPr>
        <p:spPr>
          <a:xfrm>
            <a:off x="4818600" y="759300"/>
            <a:ext cx="4418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Is this the same sequence?</a:t>
            </a:r>
            <a:endParaRPr/>
          </a:p>
        </p:txBody>
      </p:sp>
      <p:grpSp>
        <p:nvGrpSpPr>
          <p:cNvPr id="1358" name="Google Shape;1358;p89"/>
          <p:cNvGrpSpPr/>
          <p:nvPr/>
        </p:nvGrpSpPr>
        <p:grpSpPr>
          <a:xfrm>
            <a:off x="5961608" y="1302378"/>
            <a:ext cx="1592524" cy="2470572"/>
            <a:chOff x="5961608" y="1302378"/>
            <a:chExt cx="1592524" cy="2470572"/>
          </a:xfrm>
        </p:grpSpPr>
        <p:sp>
          <p:nvSpPr>
            <p:cNvPr id="1359" name="Google Shape;1359;p89"/>
            <p:cNvSpPr/>
            <p:nvPr/>
          </p:nvSpPr>
          <p:spPr>
            <a:xfrm rot="5400000">
              <a:off x="7247379" y="140572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360" name="Google Shape;1360;p89"/>
            <p:cNvGrpSpPr/>
            <p:nvPr/>
          </p:nvGrpSpPr>
          <p:grpSpPr>
            <a:xfrm>
              <a:off x="5961608" y="1715745"/>
              <a:ext cx="1172574" cy="2051024"/>
              <a:chOff x="903458" y="1240576"/>
              <a:chExt cx="1172574" cy="2051024"/>
            </a:xfrm>
          </p:grpSpPr>
          <p:sp>
            <p:nvSpPr>
              <p:cNvPr id="1361" name="Google Shape;1361;p89"/>
              <p:cNvSpPr/>
              <p:nvPr/>
            </p:nvSpPr>
            <p:spPr>
              <a:xfrm rot="5400000" flipH="1">
                <a:off x="595058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89"/>
              <p:cNvSpPr/>
              <p:nvPr/>
            </p:nvSpPr>
            <p:spPr>
              <a:xfrm rot="5400000">
                <a:off x="800108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89"/>
              <p:cNvSpPr/>
              <p:nvPr/>
            </p:nvSpPr>
            <p:spPr>
              <a:xfrm rot="5400000" flipH="1">
                <a:off x="1097896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89"/>
              <p:cNvSpPr/>
              <p:nvPr/>
            </p:nvSpPr>
            <p:spPr>
              <a:xfrm rot="5400000">
                <a:off x="1302946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89"/>
              <p:cNvSpPr/>
              <p:nvPr/>
            </p:nvSpPr>
            <p:spPr>
              <a:xfrm rot="5400000">
                <a:off x="1302946" y="175998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89"/>
              <p:cNvSpPr/>
              <p:nvPr/>
            </p:nvSpPr>
            <p:spPr>
              <a:xfrm rot="5400000" flipH="1">
                <a:off x="1564233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89"/>
              <p:cNvSpPr/>
              <p:nvPr/>
            </p:nvSpPr>
            <p:spPr>
              <a:xfrm rot="5400000">
                <a:off x="1769283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89"/>
              <p:cNvSpPr/>
              <p:nvPr/>
            </p:nvSpPr>
            <p:spPr>
              <a:xfrm rot="5400000">
                <a:off x="1769283" y="175998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89"/>
              <p:cNvSpPr/>
              <p:nvPr/>
            </p:nvSpPr>
            <p:spPr>
              <a:xfrm rot="5400000">
                <a:off x="1769283" y="134392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370" name="Google Shape;1370;p89"/>
            <p:cNvSpPr/>
            <p:nvPr/>
          </p:nvSpPr>
          <p:spPr>
            <a:xfrm rot="5400000" flipH="1">
              <a:off x="7042318" y="326115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371" name="Google Shape;1371;p89"/>
            <p:cNvGrpSpPr/>
            <p:nvPr/>
          </p:nvGrpSpPr>
          <p:grpSpPr>
            <a:xfrm>
              <a:off x="7350733" y="1715745"/>
              <a:ext cx="203400" cy="1235782"/>
              <a:chOff x="1872633" y="1240576"/>
              <a:chExt cx="203400" cy="1235782"/>
            </a:xfrm>
          </p:grpSpPr>
          <p:sp>
            <p:nvSpPr>
              <p:cNvPr id="1372" name="Google Shape;1372;p89"/>
              <p:cNvSpPr/>
              <p:nvPr/>
            </p:nvSpPr>
            <p:spPr>
              <a:xfrm rot="5400000">
                <a:off x="1769283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89"/>
              <p:cNvSpPr/>
              <p:nvPr/>
            </p:nvSpPr>
            <p:spPr>
              <a:xfrm rot="5400000">
                <a:off x="1769283" y="175998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89"/>
              <p:cNvSpPr/>
              <p:nvPr/>
            </p:nvSpPr>
            <p:spPr>
              <a:xfrm rot="5400000">
                <a:off x="1769283" y="134392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8" name="Shape 1378"/>
        <p:cNvGrpSpPr/>
        <p:nvPr/>
      </p:nvGrpSpPr>
      <p:grpSpPr>
        <a:xfrm>
          <a:off x="0" y="0"/>
          <a:ext cx="0" cy="0"/>
        </a:xfrm>
      </p:grpSpPr>
      <p:sp>
        <p:nvSpPr>
          <p:cNvPr id="1379" name="Google Shape;137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380" name="Google Shape;1380;p90"/>
          <p:cNvSpPr txBox="1"/>
          <p:nvPr>
            <p:ph type="body" idx="1"/>
          </p:nvPr>
        </p:nvSpPr>
        <p:spPr>
          <a:xfrm>
            <a:off x="324000" y="759300"/>
            <a:ext cx="4418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Izzy’s original sequence.</a:t>
            </a:r>
            <a:endParaRPr/>
          </a:p>
        </p:txBody>
      </p:sp>
      <p:sp>
        <p:nvSpPr>
          <p:cNvPr id="1381" name="Google Shape;1381;p90"/>
          <p:cNvSpPr txBox="1"/>
          <p:nvPr>
            <p:ph type="body" idx="1"/>
          </p:nvPr>
        </p:nvSpPr>
        <p:spPr>
          <a:xfrm>
            <a:off x="324000" y="4006575"/>
            <a:ext cx="8496000" cy="8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 the sequences are both made up of the same values in the same order, the sequence starts on one purple rod and adds one red rod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82" name="Google Shape;1382;p90"/>
          <p:cNvGrpSpPr/>
          <p:nvPr/>
        </p:nvGrpSpPr>
        <p:grpSpPr>
          <a:xfrm>
            <a:off x="400618" y="1697776"/>
            <a:ext cx="1675415" cy="2051024"/>
            <a:chOff x="400618" y="1240576"/>
            <a:chExt cx="1675415" cy="2051024"/>
          </a:xfrm>
        </p:grpSpPr>
        <p:sp>
          <p:nvSpPr>
            <p:cNvPr id="1383" name="Google Shape;1383;p90"/>
            <p:cNvSpPr/>
            <p:nvPr/>
          </p:nvSpPr>
          <p:spPr>
            <a:xfrm rot="5400000" flipH="1">
              <a:off x="9221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4" name="Google Shape;1384;p90"/>
            <p:cNvSpPr/>
            <p:nvPr/>
          </p:nvSpPr>
          <p:spPr>
            <a:xfrm rot="5400000" flipH="1">
              <a:off x="595058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5" name="Google Shape;1385;p90"/>
            <p:cNvSpPr/>
            <p:nvPr/>
          </p:nvSpPr>
          <p:spPr>
            <a:xfrm rot="5400000">
              <a:off x="800108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6" name="Google Shape;1386;p90"/>
            <p:cNvSpPr/>
            <p:nvPr/>
          </p:nvSpPr>
          <p:spPr>
            <a:xfrm rot="5400000" flipH="1">
              <a:off x="1097896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7" name="Google Shape;1387;p90"/>
            <p:cNvSpPr/>
            <p:nvPr/>
          </p:nvSpPr>
          <p:spPr>
            <a:xfrm rot="5400000">
              <a:off x="1302946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8" name="Google Shape;1388;p90"/>
            <p:cNvSpPr/>
            <p:nvPr/>
          </p:nvSpPr>
          <p:spPr>
            <a:xfrm rot="5400000">
              <a:off x="1302946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9" name="Google Shape;1389;p90"/>
            <p:cNvSpPr/>
            <p:nvPr/>
          </p:nvSpPr>
          <p:spPr>
            <a:xfrm rot="5400000" flipH="1">
              <a:off x="1564233" y="277980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0" name="Google Shape;1390;p90"/>
            <p:cNvSpPr/>
            <p:nvPr/>
          </p:nvSpPr>
          <p:spPr>
            <a:xfrm rot="5400000">
              <a:off x="1769283" y="21696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1" name="Google Shape;1391;p90"/>
            <p:cNvSpPr/>
            <p:nvPr/>
          </p:nvSpPr>
          <p:spPr>
            <a:xfrm rot="5400000">
              <a:off x="1769283" y="175998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2" name="Google Shape;1392;p90"/>
            <p:cNvSpPr/>
            <p:nvPr/>
          </p:nvSpPr>
          <p:spPr>
            <a:xfrm rot="5400000">
              <a:off x="1769283" y="134392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93" name="Google Shape;1393;p90"/>
          <p:cNvSpPr txBox="1"/>
          <p:nvPr>
            <p:ph type="body" idx="1"/>
          </p:nvPr>
        </p:nvSpPr>
        <p:spPr>
          <a:xfrm>
            <a:off x="4818600" y="759300"/>
            <a:ext cx="44184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Is this the same sequence?</a:t>
            </a:r>
            <a:endParaRPr/>
          </a:p>
        </p:txBody>
      </p:sp>
      <p:grpSp>
        <p:nvGrpSpPr>
          <p:cNvPr id="1394" name="Google Shape;1394;p90"/>
          <p:cNvGrpSpPr/>
          <p:nvPr/>
        </p:nvGrpSpPr>
        <p:grpSpPr>
          <a:xfrm>
            <a:off x="5153868" y="1728982"/>
            <a:ext cx="1455090" cy="2051024"/>
            <a:chOff x="5153868" y="1728982"/>
            <a:chExt cx="1455090" cy="2051024"/>
          </a:xfrm>
        </p:grpSpPr>
        <p:sp>
          <p:nvSpPr>
            <p:cNvPr id="1395" name="Google Shape;1395;p90"/>
            <p:cNvSpPr/>
            <p:nvPr/>
          </p:nvSpPr>
          <p:spPr>
            <a:xfrm rot="5400000" flipH="1">
              <a:off x="4845468" y="3244050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396" name="Google Shape;1396;p90"/>
            <p:cNvGrpSpPr/>
            <p:nvPr/>
          </p:nvGrpSpPr>
          <p:grpSpPr>
            <a:xfrm rot="10800000">
              <a:off x="5571096" y="2554658"/>
              <a:ext cx="203400" cy="1225342"/>
              <a:chOff x="903458" y="2066258"/>
              <a:chExt cx="203400" cy="1225342"/>
            </a:xfrm>
          </p:grpSpPr>
          <p:sp>
            <p:nvSpPr>
              <p:cNvPr id="1397" name="Google Shape;1397;p90"/>
              <p:cNvSpPr/>
              <p:nvPr/>
            </p:nvSpPr>
            <p:spPr>
              <a:xfrm rot="5400000" flipH="1">
                <a:off x="595058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90"/>
              <p:cNvSpPr/>
              <p:nvPr/>
            </p:nvSpPr>
            <p:spPr>
              <a:xfrm rot="5400000">
                <a:off x="800108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9" name="Google Shape;1399;p90"/>
            <p:cNvGrpSpPr/>
            <p:nvPr/>
          </p:nvGrpSpPr>
          <p:grpSpPr>
            <a:xfrm rot="10800000">
              <a:off x="5988334" y="2142893"/>
              <a:ext cx="203400" cy="1634964"/>
              <a:chOff x="1406296" y="1656636"/>
              <a:chExt cx="203400" cy="1634964"/>
            </a:xfrm>
          </p:grpSpPr>
          <p:sp>
            <p:nvSpPr>
              <p:cNvPr id="1400" name="Google Shape;1400;p90"/>
              <p:cNvSpPr/>
              <p:nvPr/>
            </p:nvSpPr>
            <p:spPr>
              <a:xfrm rot="5400000" flipH="1">
                <a:off x="1097896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90"/>
              <p:cNvSpPr/>
              <p:nvPr/>
            </p:nvSpPr>
            <p:spPr>
              <a:xfrm rot="5400000">
                <a:off x="1302946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90"/>
              <p:cNvSpPr/>
              <p:nvPr/>
            </p:nvSpPr>
            <p:spPr>
              <a:xfrm rot="5400000">
                <a:off x="1302946" y="175998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3" name="Google Shape;1403;p90"/>
            <p:cNvGrpSpPr/>
            <p:nvPr/>
          </p:nvGrpSpPr>
          <p:grpSpPr>
            <a:xfrm rot="10800000">
              <a:off x="6405558" y="1728982"/>
              <a:ext cx="203400" cy="2051024"/>
              <a:chOff x="1872633" y="1240576"/>
              <a:chExt cx="203400" cy="2051024"/>
            </a:xfrm>
          </p:grpSpPr>
          <p:sp>
            <p:nvSpPr>
              <p:cNvPr id="1404" name="Google Shape;1404;p90"/>
              <p:cNvSpPr/>
              <p:nvPr/>
            </p:nvSpPr>
            <p:spPr>
              <a:xfrm rot="5400000" flipH="1">
                <a:off x="1564233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90"/>
              <p:cNvSpPr/>
              <p:nvPr/>
            </p:nvSpPr>
            <p:spPr>
              <a:xfrm rot="5400000">
                <a:off x="1769283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90"/>
              <p:cNvSpPr/>
              <p:nvPr/>
            </p:nvSpPr>
            <p:spPr>
              <a:xfrm rot="5400000">
                <a:off x="1769283" y="175998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90"/>
              <p:cNvSpPr/>
              <p:nvPr/>
            </p:nvSpPr>
            <p:spPr>
              <a:xfrm rot="5400000">
                <a:off x="1769283" y="1343926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1" name="Shape 1411"/>
        <p:cNvGrpSpPr/>
        <p:nvPr/>
      </p:nvGrpSpPr>
      <p:grpSpPr>
        <a:xfrm>
          <a:off x="0" y="0"/>
          <a:ext cx="0" cy="0"/>
        </a:xfrm>
      </p:grpSpPr>
      <p:sp>
        <p:nvSpPr>
          <p:cNvPr id="1412" name="Google Shape;141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413" name="Google Shape;1413;p91"/>
          <p:cNvSpPr txBox="1"/>
          <p:nvPr>
            <p:ph type="body" idx="1"/>
          </p:nvPr>
        </p:nvSpPr>
        <p:spPr>
          <a:xfrm>
            <a:off x="324000" y="759300"/>
            <a:ext cx="84960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in these sequences?</a:t>
            </a:r>
            <a:endParaRPr/>
          </a:p>
        </p:txBody>
      </p:sp>
      <p:sp>
        <p:nvSpPr>
          <p:cNvPr id="1414" name="Google Shape;1414;p91"/>
          <p:cNvSpPr txBox="1"/>
          <p:nvPr>
            <p:ph type="body" idx="1"/>
          </p:nvPr>
        </p:nvSpPr>
        <p:spPr>
          <a:xfrm>
            <a:off x="4824000" y="1454825"/>
            <a:ext cx="39960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both start on the same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15" name="Google Shape;1415;p91"/>
          <p:cNvGrpSpPr/>
          <p:nvPr/>
        </p:nvGrpSpPr>
        <p:grpSpPr>
          <a:xfrm>
            <a:off x="628808" y="2074883"/>
            <a:ext cx="1172574" cy="2051024"/>
            <a:chOff x="324008" y="1162583"/>
            <a:chExt cx="1172574" cy="2051024"/>
          </a:xfrm>
        </p:grpSpPr>
        <p:sp>
          <p:nvSpPr>
            <p:cNvPr id="1416" name="Google Shape;1416;p91"/>
            <p:cNvSpPr/>
            <p:nvPr/>
          </p:nvSpPr>
          <p:spPr>
            <a:xfrm rot="5400000">
              <a:off x="15608" y="2285589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7" name="Google Shape;1417;p91"/>
            <p:cNvSpPr/>
            <p:nvPr/>
          </p:nvSpPr>
          <p:spPr>
            <a:xfrm rot="5400000" flipH="1">
              <a:off x="220658" y="2895781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8" name="Google Shape;1418;p91"/>
            <p:cNvSpPr/>
            <p:nvPr/>
          </p:nvSpPr>
          <p:spPr>
            <a:xfrm rot="5400000">
              <a:off x="518446" y="1880995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9" name="Google Shape;1419;p91"/>
            <p:cNvSpPr/>
            <p:nvPr/>
          </p:nvSpPr>
          <p:spPr>
            <a:xfrm rot="5400000" flipH="1">
              <a:off x="723496" y="2491187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20" name="Google Shape;1420;p91"/>
            <p:cNvSpPr/>
            <p:nvPr/>
          </p:nvSpPr>
          <p:spPr>
            <a:xfrm rot="5400000" flipH="1">
              <a:off x="723496" y="2900808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21" name="Google Shape;1421;p91"/>
            <p:cNvSpPr/>
            <p:nvPr/>
          </p:nvSpPr>
          <p:spPr>
            <a:xfrm rot="5400000">
              <a:off x="984783" y="1470983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22" name="Google Shape;1422;p91"/>
            <p:cNvSpPr/>
            <p:nvPr/>
          </p:nvSpPr>
          <p:spPr>
            <a:xfrm rot="5400000" flipH="1">
              <a:off x="1189833" y="2081175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23" name="Google Shape;1423;p91"/>
            <p:cNvSpPr/>
            <p:nvPr/>
          </p:nvSpPr>
          <p:spPr>
            <a:xfrm rot="5400000" flipH="1">
              <a:off x="1189833" y="2490796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24" name="Google Shape;1424;p91"/>
            <p:cNvSpPr/>
            <p:nvPr/>
          </p:nvSpPr>
          <p:spPr>
            <a:xfrm rot="5400000" flipH="1">
              <a:off x="1189833" y="2906857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25" name="Google Shape;1425;p91"/>
          <p:cNvGrpSpPr/>
          <p:nvPr/>
        </p:nvGrpSpPr>
        <p:grpSpPr>
          <a:xfrm>
            <a:off x="2887208" y="1255333"/>
            <a:ext cx="1120618" cy="2875682"/>
            <a:chOff x="2887208" y="1255333"/>
            <a:chExt cx="1120618" cy="2875682"/>
          </a:xfrm>
        </p:grpSpPr>
        <p:grpSp>
          <p:nvGrpSpPr>
            <p:cNvPr id="1426" name="Google Shape;1426;p91"/>
            <p:cNvGrpSpPr/>
            <p:nvPr/>
          </p:nvGrpSpPr>
          <p:grpSpPr>
            <a:xfrm rot="10800000" flipH="1">
              <a:off x="3347458" y="2905672"/>
              <a:ext cx="203400" cy="1225342"/>
              <a:chOff x="903458" y="2066258"/>
              <a:chExt cx="203400" cy="1225342"/>
            </a:xfrm>
          </p:grpSpPr>
          <p:sp>
            <p:nvSpPr>
              <p:cNvPr id="1427" name="Google Shape;1427;p91"/>
              <p:cNvSpPr/>
              <p:nvPr/>
            </p:nvSpPr>
            <p:spPr>
              <a:xfrm rot="5400000" flipH="1">
                <a:off x="595058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91"/>
              <p:cNvSpPr/>
              <p:nvPr/>
            </p:nvSpPr>
            <p:spPr>
              <a:xfrm rot="5400000">
                <a:off x="800108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9" name="Google Shape;1429;p91"/>
            <p:cNvGrpSpPr/>
            <p:nvPr/>
          </p:nvGrpSpPr>
          <p:grpSpPr>
            <a:xfrm rot="10800000" flipH="1">
              <a:off x="2887208" y="2896927"/>
              <a:ext cx="203400" cy="1225342"/>
              <a:chOff x="903458" y="2066258"/>
              <a:chExt cx="203400" cy="1225342"/>
            </a:xfrm>
          </p:grpSpPr>
          <p:sp>
            <p:nvSpPr>
              <p:cNvPr id="1430" name="Google Shape;1430;p91"/>
              <p:cNvSpPr/>
              <p:nvPr/>
            </p:nvSpPr>
            <p:spPr>
              <a:xfrm rot="5400000" flipH="1">
                <a:off x="595058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91"/>
              <p:cNvSpPr/>
              <p:nvPr/>
            </p:nvSpPr>
            <p:spPr>
              <a:xfrm rot="5400000">
                <a:off x="800108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432" name="Google Shape;1432;p91"/>
            <p:cNvSpPr/>
            <p:nvPr/>
          </p:nvSpPr>
          <p:spPr>
            <a:xfrm rot="5400000">
              <a:off x="3039071" y="2393878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433" name="Google Shape;1433;p91"/>
            <p:cNvGrpSpPr/>
            <p:nvPr/>
          </p:nvGrpSpPr>
          <p:grpSpPr>
            <a:xfrm rot="10800000" flipH="1">
              <a:off x="3804414" y="2895727"/>
              <a:ext cx="203400" cy="1225342"/>
              <a:chOff x="903458" y="2066258"/>
              <a:chExt cx="203400" cy="1225342"/>
            </a:xfrm>
          </p:grpSpPr>
          <p:sp>
            <p:nvSpPr>
              <p:cNvPr id="1434" name="Google Shape;1434;p91"/>
              <p:cNvSpPr/>
              <p:nvPr/>
            </p:nvSpPr>
            <p:spPr>
              <a:xfrm rot="5400000" flipH="1">
                <a:off x="595058" y="2779800"/>
                <a:ext cx="820200" cy="203400"/>
              </a:xfrm>
              <a:prstGeom prst="rect">
                <a:avLst/>
              </a:prstGeom>
              <a:solidFill>
                <a:srgbClr val="C27BA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91"/>
              <p:cNvSpPr/>
              <p:nvPr/>
            </p:nvSpPr>
            <p:spPr>
              <a:xfrm rot="5400000">
                <a:off x="800108" y="2169608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436" name="Google Shape;1436;p91"/>
            <p:cNvSpPr/>
            <p:nvPr/>
          </p:nvSpPr>
          <p:spPr>
            <a:xfrm rot="5400000">
              <a:off x="3496027" y="2383933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7" name="Google Shape;1437;p91"/>
            <p:cNvSpPr/>
            <p:nvPr/>
          </p:nvSpPr>
          <p:spPr>
            <a:xfrm rot="5400000">
              <a:off x="3496014" y="1563733"/>
              <a:ext cx="820200" cy="203400"/>
            </a:xfrm>
            <a:prstGeom prst="rect">
              <a:avLst/>
            </a:prstGeom>
            <a:solidFill>
              <a:srgbClr val="C27BA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91"/>
          <p:cNvSpPr txBox="1"/>
          <p:nvPr>
            <p:ph type="body" idx="1"/>
          </p:nvPr>
        </p:nvSpPr>
        <p:spPr>
          <a:xfrm>
            <a:off x="4824000" y="2366700"/>
            <a:ext cx="39960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first one is adding one red rod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9" name="Google Shape;1439;p91"/>
          <p:cNvSpPr txBox="1"/>
          <p:nvPr>
            <p:ph type="body" idx="1"/>
          </p:nvPr>
        </p:nvSpPr>
        <p:spPr>
          <a:xfrm>
            <a:off x="4824000" y="3462875"/>
            <a:ext cx="39960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second one is adding one purple rod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3" name="Shape 1443"/>
        <p:cNvGrpSpPr/>
        <p:nvPr/>
      </p:nvGrpSpPr>
      <p:grpSpPr>
        <a:xfrm>
          <a:off x="0" y="0"/>
          <a:ext cx="0" cy="0"/>
        </a:xfrm>
      </p:grpSpPr>
      <p:sp>
        <p:nvSpPr>
          <p:cNvPr id="1444" name="Google Shape;1444;p92"/>
          <p:cNvSpPr/>
          <p:nvPr/>
        </p:nvSpPr>
        <p:spPr>
          <a:xfrm>
            <a:off x="334125" y="3181438"/>
            <a:ext cx="1881900" cy="1627200"/>
          </a:xfrm>
          <a:prstGeom prst="roundRect">
            <a:avLst>
              <a:gd name="adj" fmla="val 9261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92"/>
          <p:cNvSpPr/>
          <p:nvPr/>
        </p:nvSpPr>
        <p:spPr>
          <a:xfrm>
            <a:off x="2440167" y="3181438"/>
            <a:ext cx="1881900" cy="1627200"/>
          </a:xfrm>
          <a:prstGeom prst="roundRect">
            <a:avLst>
              <a:gd name="adj" fmla="val 9261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92"/>
          <p:cNvSpPr/>
          <p:nvPr/>
        </p:nvSpPr>
        <p:spPr>
          <a:xfrm>
            <a:off x="4546208" y="3181438"/>
            <a:ext cx="1881900" cy="1627200"/>
          </a:xfrm>
          <a:prstGeom prst="roundRect">
            <a:avLst>
              <a:gd name="adj" fmla="val 9261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92"/>
          <p:cNvSpPr/>
          <p:nvPr/>
        </p:nvSpPr>
        <p:spPr>
          <a:xfrm>
            <a:off x="6652250" y="3181438"/>
            <a:ext cx="1881900" cy="1627200"/>
          </a:xfrm>
          <a:prstGeom prst="roundRect">
            <a:avLst>
              <a:gd name="adj" fmla="val 9261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92"/>
          <p:cNvSpPr txBox="1"/>
          <p:nvPr>
            <p:ph type="body" idx="4294967295"/>
          </p:nvPr>
        </p:nvSpPr>
        <p:spPr>
          <a:xfrm>
            <a:off x="324000" y="759300"/>
            <a:ext cx="8496000" cy="9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Each diagram shows a sequence of three objects.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Match the diagram with the rule that could have been used to create it. </a:t>
            </a:r>
            <a:endParaRPr sz="1800"/>
          </a:p>
        </p:txBody>
      </p:sp>
      <p:grpSp>
        <p:nvGrpSpPr>
          <p:cNvPr id="1449" name="Google Shape;1449;p92"/>
          <p:cNvGrpSpPr/>
          <p:nvPr/>
        </p:nvGrpSpPr>
        <p:grpSpPr>
          <a:xfrm>
            <a:off x="6785751" y="4097108"/>
            <a:ext cx="1606106" cy="652972"/>
            <a:chOff x="6256797" y="1560175"/>
            <a:chExt cx="2488158" cy="1011575"/>
          </a:xfrm>
        </p:grpSpPr>
        <p:pic>
          <p:nvPicPr>
            <p:cNvPr id="1450" name="Google Shape;145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56797" y="22345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1" name="Google Shape;145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93447" y="22345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2" name="Google Shape;1452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56797" y="18973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3" name="Google Shape;145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93447" y="18973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4" name="Google Shape;1454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64222" y="22345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5" name="Google Shape;145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00872" y="22345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6" name="Google Shape;145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64222" y="18973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7" name="Google Shape;1457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00872" y="18973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8" name="Google Shape;145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22345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9" name="Google Shape;1459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22345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0" name="Google Shape;146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18973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1" name="Google Shape;146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1897351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2" name="Google Shape;14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64225" y="1560175"/>
              <a:ext cx="336647" cy="337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71650" y="1560175"/>
              <a:ext cx="336647" cy="337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4" name="Google Shape;146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08300" y="1560175"/>
              <a:ext cx="336647" cy="3371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5" name="Google Shape;1465;p92"/>
          <p:cNvGrpSpPr/>
          <p:nvPr/>
        </p:nvGrpSpPr>
        <p:grpSpPr>
          <a:xfrm>
            <a:off x="4699351" y="3240002"/>
            <a:ext cx="1590928" cy="1510078"/>
            <a:chOff x="6256797" y="1916853"/>
            <a:chExt cx="2488158" cy="2360973"/>
          </a:xfrm>
        </p:grpSpPr>
        <p:pic>
          <p:nvPicPr>
            <p:cNvPr id="1466" name="Google Shape;146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56797" y="39143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93447" y="39143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56797" y="35771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93447" y="35771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0" name="Google Shape;1470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56800" y="3240000"/>
              <a:ext cx="336650" cy="337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1" name="Google Shape;147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2547" y="32723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2" name="Google Shape;1472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7" y="32723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3" name="Google Shape;147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2547" y="29351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4" name="Google Shape;1474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7" y="293517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5" name="Google Shape;147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22550" y="2598000"/>
              <a:ext cx="336650" cy="337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6" name="Google Shape;147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2547" y="394062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7" name="Google Shape;1477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7" y="394062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8" name="Google Shape;147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2547" y="360342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9" name="Google Shape;1479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7" y="3603426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0" name="Google Shape;148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25912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1" name="Google Shape;148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25912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2" name="Google Shape;1482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22540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22540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4" name="Google Shape;148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71650" y="1916853"/>
              <a:ext cx="336650" cy="337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5" name="Google Shape;148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325947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6" name="Google Shape;148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325947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7" name="Google Shape;1487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292227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292227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9" name="Google Shape;1489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39277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0" name="Google Shape;149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39277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1" name="Google Shape;149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1647" y="35905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2" name="Google Shape;1492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8297" y="3590529"/>
              <a:ext cx="336658" cy="337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3" name="Google Shape;1493;p92"/>
          <p:cNvGrpSpPr/>
          <p:nvPr/>
        </p:nvGrpSpPr>
        <p:grpSpPr>
          <a:xfrm>
            <a:off x="2573685" y="3668723"/>
            <a:ext cx="1590929" cy="1081357"/>
            <a:chOff x="3233065" y="2930198"/>
            <a:chExt cx="1590929" cy="1081357"/>
          </a:xfrm>
        </p:grpSpPr>
        <p:pic>
          <p:nvPicPr>
            <p:cNvPr id="1494" name="Google Shape;1494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3065" y="357428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5" name="Google Shape;149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48319" y="357428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6" name="Google Shape;149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3065" y="3358606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7" name="Google Shape;1497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33067" y="378993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8" name="Google Shape;149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86625" y="33607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9" name="Google Shape;1499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01879" y="33607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86625" y="3145124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48328" y="3789938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2" name="Google Shape;1502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93480" y="3145871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3" name="Google Shape;150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08734" y="3145871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4" name="Google Shape;1504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93480" y="29301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5" name="Google Shape;150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86617" y="35764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6" name="Google Shape;150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1878" y="35764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7" name="Google Shape;1507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86617" y="37921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8" name="Google Shape;150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1878" y="37921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9" name="Google Shape;1509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93467" y="336586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0" name="Google Shape;1510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08728" y="336586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1" name="Google Shape;151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93467" y="358151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2" name="Google Shape;151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08728" y="358151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3" name="Google Shape;151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93467" y="379589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4" name="Google Shape;151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08728" y="3795895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5" name="Google Shape;1515;p92"/>
          <p:cNvGrpSpPr/>
          <p:nvPr/>
        </p:nvGrpSpPr>
        <p:grpSpPr>
          <a:xfrm>
            <a:off x="441543" y="3455838"/>
            <a:ext cx="1662479" cy="1294243"/>
            <a:chOff x="387965" y="3450530"/>
            <a:chExt cx="1662479" cy="1294243"/>
          </a:xfrm>
        </p:grpSpPr>
        <p:pic>
          <p:nvPicPr>
            <p:cNvPr id="1516" name="Google Shape;151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965" y="45269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7" name="Google Shape;1517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219" y="45269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8" name="Google Shape;151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965" y="4311281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9" name="Google Shape;1519;p92"/>
            <p:cNvGrpSpPr/>
            <p:nvPr/>
          </p:nvGrpSpPr>
          <p:grpSpPr>
            <a:xfrm>
              <a:off x="1000222" y="4095509"/>
              <a:ext cx="215675" cy="646702"/>
              <a:chOff x="1000222" y="4095925"/>
              <a:chExt cx="215675" cy="646702"/>
            </a:xfrm>
          </p:grpSpPr>
          <p:pic>
            <p:nvPicPr>
              <p:cNvPr id="1520" name="Google Shape;1520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00222" y="4526955"/>
                <a:ext cx="215260" cy="2156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1" name="Google Shape;1521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00222" y="4311281"/>
                <a:ext cx="215260" cy="2156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2" name="Google Shape;1522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793353">
                <a:off x="1000429" y="4096133"/>
                <a:ext cx="215260" cy="2156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23" name="Google Shape;1523;p92"/>
            <p:cNvGrpSpPr/>
            <p:nvPr/>
          </p:nvGrpSpPr>
          <p:grpSpPr>
            <a:xfrm>
              <a:off x="1213806" y="4095509"/>
              <a:ext cx="215675" cy="647118"/>
              <a:chOff x="1218569" y="4095509"/>
              <a:chExt cx="215675" cy="647118"/>
            </a:xfrm>
          </p:grpSpPr>
          <p:pic>
            <p:nvPicPr>
              <p:cNvPr id="1524" name="Google Shape;1524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218569" y="4526955"/>
                <a:ext cx="215260" cy="2156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5" name="Google Shape;1525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793353">
                <a:off x="1218776" y="4095717"/>
                <a:ext cx="215260" cy="2156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6" name="Google Shape;1526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793353">
                <a:off x="1218776" y="4311390"/>
                <a:ext cx="215260" cy="2156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27" name="Google Shape;1527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19090" y="452910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8" name="Google Shape;152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34344" y="452910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9" name="Google Shape;1529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19090" y="4313426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0" name="Google Shape;153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793353">
              <a:off x="1834560" y="409786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1" name="Google Shape;153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793353">
              <a:off x="1619306" y="409827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2" name="Google Shape;1532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793353">
              <a:off x="1834977" y="431353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3" name="Google Shape;153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19090" y="388197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4" name="Google Shape;1534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34344" y="388197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5" name="Google Shape;153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19090" y="3666301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6" name="Google Shape;153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793353">
              <a:off x="1834560" y="345073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7" name="Google Shape;1537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793353">
              <a:off x="1619306" y="3451153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8" name="Google Shape;153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793353">
              <a:off x="1834977" y="366641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9" name="Google Shape;1539;p92"/>
          <p:cNvSpPr txBox="1"/>
          <p:nvPr>
            <p:ph type="body" idx="4294967295"/>
          </p:nvPr>
        </p:nvSpPr>
        <p:spPr>
          <a:xfrm>
            <a:off x="6215375" y="1620000"/>
            <a:ext cx="2614200" cy="337200"/>
          </a:xfrm>
          <a:prstGeom prst="rect">
            <a:avLst/>
          </a:prstGeom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Multiply by 2 each time</a:t>
            </a:r>
            <a:endParaRPr sz="1800"/>
          </a:p>
        </p:txBody>
      </p:sp>
      <p:sp>
        <p:nvSpPr>
          <p:cNvPr id="1540" name="Google Shape;1540;p92"/>
          <p:cNvSpPr txBox="1"/>
          <p:nvPr>
            <p:ph type="body" idx="4294967295"/>
          </p:nvPr>
        </p:nvSpPr>
        <p:spPr>
          <a:xfrm>
            <a:off x="2299450" y="1620000"/>
            <a:ext cx="1854600" cy="337200"/>
          </a:xfrm>
          <a:prstGeom prst="rect">
            <a:avLst/>
          </a:prstGeom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 2 each time</a:t>
            </a:r>
            <a:endParaRPr sz="1800"/>
          </a:p>
        </p:txBody>
      </p:sp>
      <p:sp>
        <p:nvSpPr>
          <p:cNvPr id="1541" name="Google Shape;1541;p92"/>
          <p:cNvSpPr txBox="1"/>
          <p:nvPr>
            <p:ph type="body" idx="4294967295"/>
          </p:nvPr>
        </p:nvSpPr>
        <p:spPr>
          <a:xfrm>
            <a:off x="324000" y="1616550"/>
            <a:ext cx="1854600" cy="337200"/>
          </a:xfrm>
          <a:prstGeom prst="rect">
            <a:avLst/>
          </a:prstGeom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 1 each time</a:t>
            </a:r>
            <a:endParaRPr sz="1800"/>
          </a:p>
        </p:txBody>
      </p:sp>
      <p:sp>
        <p:nvSpPr>
          <p:cNvPr id="1542" name="Google Shape;1542;p92"/>
          <p:cNvSpPr txBox="1"/>
          <p:nvPr>
            <p:ph type="body" idx="4294967295"/>
          </p:nvPr>
        </p:nvSpPr>
        <p:spPr>
          <a:xfrm>
            <a:off x="4235400" y="1620000"/>
            <a:ext cx="1854600" cy="337200"/>
          </a:xfrm>
          <a:prstGeom prst="rect">
            <a:avLst/>
          </a:prstGeom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 4 each time</a:t>
            </a:r>
            <a:endParaRPr sz="1800"/>
          </a:p>
        </p:txBody>
      </p:sp>
      <p:sp>
        <p:nvSpPr>
          <p:cNvPr id="1543" name="Google Shape;154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cxnSp>
        <p:nvCxnSpPr>
          <p:cNvPr id="1544" name="Google Shape;1544;p92"/>
          <p:cNvCxnSpPr>
            <a:endCxn id="1447" idx="0"/>
          </p:cNvCxnSpPr>
          <p:nvPr/>
        </p:nvCxnSpPr>
        <p:spPr>
          <a:xfrm>
            <a:off x="1233500" y="1964938"/>
            <a:ext cx="6359700" cy="12165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5" name="Google Shape;1545;p92"/>
          <p:cNvCxnSpPr/>
          <p:nvPr/>
        </p:nvCxnSpPr>
        <p:spPr>
          <a:xfrm flipH="1">
            <a:off x="3157525" y="1961000"/>
            <a:ext cx="0" cy="12321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6" name="Google Shape;1546;p92"/>
          <p:cNvCxnSpPr/>
          <p:nvPr/>
        </p:nvCxnSpPr>
        <p:spPr>
          <a:xfrm flipH="1">
            <a:off x="5162700" y="1955700"/>
            <a:ext cx="0" cy="12321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7" name="Google Shape;1547;p92"/>
          <p:cNvCxnSpPr>
            <a:endCxn id="1444" idx="0"/>
          </p:cNvCxnSpPr>
          <p:nvPr/>
        </p:nvCxnSpPr>
        <p:spPr>
          <a:xfrm flipH="1">
            <a:off x="1275075" y="2003638"/>
            <a:ext cx="5775600" cy="11778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1" name="Shape 1551"/>
        <p:cNvGrpSpPr/>
        <p:nvPr/>
      </p:nvGrpSpPr>
      <p:grpSpPr>
        <a:xfrm>
          <a:off x="0" y="0"/>
          <a:ext cx="0" cy="0"/>
        </a:xfrm>
      </p:grpSpPr>
      <p:sp>
        <p:nvSpPr>
          <p:cNvPr id="1552" name="Google Shape;1552;p93"/>
          <p:cNvSpPr/>
          <p:nvPr/>
        </p:nvSpPr>
        <p:spPr>
          <a:xfrm>
            <a:off x="4422700" y="3133425"/>
            <a:ext cx="1881900" cy="149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3"/>
          <p:cNvSpPr/>
          <p:nvPr/>
        </p:nvSpPr>
        <p:spPr>
          <a:xfrm>
            <a:off x="6473350" y="3133425"/>
            <a:ext cx="1881900" cy="149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3"/>
          <p:cNvSpPr/>
          <p:nvPr/>
        </p:nvSpPr>
        <p:spPr>
          <a:xfrm>
            <a:off x="321400" y="3133425"/>
            <a:ext cx="1881900" cy="149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3"/>
          <p:cNvSpPr/>
          <p:nvPr/>
        </p:nvSpPr>
        <p:spPr>
          <a:xfrm>
            <a:off x="2372050" y="3133425"/>
            <a:ext cx="1881900" cy="149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93"/>
          <p:cNvSpPr txBox="1"/>
          <p:nvPr>
            <p:ph type="body" idx="1"/>
          </p:nvPr>
        </p:nvSpPr>
        <p:spPr>
          <a:xfrm>
            <a:off x="362650" y="747100"/>
            <a:ext cx="8292900" cy="21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Izzy has built these patterns using blocks. Which two patterns could she combine to make a sequence which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Increases by 5 each time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Increases by 2 each time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Decreases by 1 each time  </a:t>
            </a:r>
            <a:endParaRPr/>
          </a:p>
        </p:txBody>
      </p:sp>
      <p:sp>
        <p:nvSpPr>
          <p:cNvPr id="1557" name="Google Shape;1557;p9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grpSp>
        <p:nvGrpSpPr>
          <p:cNvPr id="1558" name="Google Shape;1558;p93"/>
          <p:cNvGrpSpPr/>
          <p:nvPr/>
        </p:nvGrpSpPr>
        <p:grpSpPr>
          <a:xfrm>
            <a:off x="2546374" y="3868555"/>
            <a:ext cx="1521764" cy="647060"/>
            <a:chOff x="2353790" y="4173355"/>
            <a:chExt cx="1521764" cy="647060"/>
          </a:xfrm>
        </p:grpSpPr>
        <p:pic>
          <p:nvPicPr>
            <p:cNvPr id="1559" name="Google Shape;1559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3790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0" name="Google Shape;1560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69044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1" name="Google Shape;156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3790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2" name="Google Shape;1562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69044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3" name="Google Shape;1563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3790" y="41733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4" name="Google Shape;1564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69044" y="41733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5" name="Google Shape;1565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415" y="438906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6" name="Google Shape;1566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4669" y="438906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7" name="Google Shape;1567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415" y="46047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8" name="Google Shape;156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4669" y="46047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9" name="Google Shape;1569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45040" y="46046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0" name="Google Shape;1570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60294" y="46046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1" name="Google Shape;1571;p93"/>
          <p:cNvGrpSpPr/>
          <p:nvPr/>
        </p:nvGrpSpPr>
        <p:grpSpPr>
          <a:xfrm>
            <a:off x="4564674" y="3219042"/>
            <a:ext cx="1572847" cy="1296603"/>
            <a:chOff x="4244842" y="3523842"/>
            <a:chExt cx="1572847" cy="1296603"/>
          </a:xfrm>
        </p:grpSpPr>
        <p:pic>
          <p:nvPicPr>
            <p:cNvPr id="1572" name="Google Shape;1572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44850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3" name="Google Shape;1573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60104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4" name="Google Shape;1574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44842" y="41733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5" name="Google Shape;157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44842" y="43890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6" name="Google Shape;157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60103" y="43890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7" name="Google Shape;1577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86500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8" name="Google Shape;157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01754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9" name="Google Shape;157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6492" y="41733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0" name="Google Shape;158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6492" y="43890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1" name="Google Shape;158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01753" y="43890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2" name="Google Shape;1582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001753" y="41732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3" name="Google Shape;158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001753" y="39576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4" name="Google Shape;1584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786492" y="39576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5" name="Google Shape;1585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7175" y="4604773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02429" y="4604773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7" name="Google Shape;1587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41734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8" name="Google Shape;15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43890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9" name="Google Shape;15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02428" y="43890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0" name="Google Shape;159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602428" y="41733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1" name="Google Shape;159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602428" y="39577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2" name="Google Shape;1592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387167" y="39577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3" name="Google Shape;159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352384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4" name="Google Shape;1594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373949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5" name="Google Shape;159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02428" y="373949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6" name="Google Shape;1596;p93"/>
          <p:cNvSpPr txBox="1"/>
          <p:nvPr>
            <p:ph type="body" idx="1"/>
          </p:nvPr>
        </p:nvSpPr>
        <p:spPr>
          <a:xfrm>
            <a:off x="456308" y="3146820"/>
            <a:ext cx="35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 </a:t>
            </a:r>
            <a:endParaRPr/>
          </a:p>
        </p:txBody>
      </p:sp>
      <p:sp>
        <p:nvSpPr>
          <p:cNvPr id="1597" name="Google Shape;1597;p93"/>
          <p:cNvSpPr txBox="1"/>
          <p:nvPr>
            <p:ph type="body" idx="1"/>
          </p:nvPr>
        </p:nvSpPr>
        <p:spPr>
          <a:xfrm>
            <a:off x="2492850" y="3146820"/>
            <a:ext cx="35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  </a:t>
            </a:r>
            <a:endParaRPr/>
          </a:p>
        </p:txBody>
      </p:sp>
      <p:sp>
        <p:nvSpPr>
          <p:cNvPr id="1598" name="Google Shape;1598;p93"/>
          <p:cNvSpPr txBox="1"/>
          <p:nvPr>
            <p:ph type="body" idx="1"/>
          </p:nvPr>
        </p:nvSpPr>
        <p:spPr>
          <a:xfrm>
            <a:off x="4529392" y="3146820"/>
            <a:ext cx="35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  </a:t>
            </a:r>
            <a:endParaRPr/>
          </a:p>
        </p:txBody>
      </p:sp>
      <p:sp>
        <p:nvSpPr>
          <p:cNvPr id="1599" name="Google Shape;1599;p93"/>
          <p:cNvSpPr txBox="1"/>
          <p:nvPr>
            <p:ph type="body" idx="1"/>
          </p:nvPr>
        </p:nvSpPr>
        <p:spPr>
          <a:xfrm>
            <a:off x="6565933" y="3146820"/>
            <a:ext cx="35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  </a:t>
            </a:r>
            <a:endParaRPr/>
          </a:p>
        </p:txBody>
      </p:sp>
      <p:grpSp>
        <p:nvGrpSpPr>
          <p:cNvPr id="1600" name="Google Shape;1600;p93"/>
          <p:cNvGrpSpPr/>
          <p:nvPr/>
        </p:nvGrpSpPr>
        <p:grpSpPr>
          <a:xfrm>
            <a:off x="6586027" y="3432217"/>
            <a:ext cx="1656553" cy="1083447"/>
            <a:chOff x="6586027" y="3432217"/>
            <a:chExt cx="1656553" cy="1083447"/>
          </a:xfrm>
        </p:grpSpPr>
        <p:pic>
          <p:nvPicPr>
            <p:cNvPr id="1601" name="Google Shape;160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6027" y="4299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2" name="Google Shape;1602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12402" y="38686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3" name="Google Shape;1603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15652" y="34322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4" name="Google Shape;1604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12392" y="40843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5" name="Google Shape;160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12392" y="43000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6" name="Google Shape;160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7653" y="43000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7" name="Google Shape;1607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327653" y="40842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8" name="Google Shape;160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36529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9" name="Google Shape;160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38686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0" name="Google Shape;161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27328" y="38686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1" name="Google Shape;161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27328" y="36529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2" name="Google Shape;1612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40817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3" name="Google Shape;161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42974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4" name="Google Shape;1614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27328" y="42974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5" name="Google Shape;161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27328" y="40816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6" name="Google Shape;1616;p93"/>
          <p:cNvGrpSpPr/>
          <p:nvPr/>
        </p:nvGrpSpPr>
        <p:grpSpPr>
          <a:xfrm>
            <a:off x="449601" y="3652886"/>
            <a:ext cx="1638916" cy="862716"/>
            <a:chOff x="323990" y="3957686"/>
            <a:chExt cx="1638916" cy="862716"/>
          </a:xfrm>
        </p:grpSpPr>
        <p:pic>
          <p:nvPicPr>
            <p:cNvPr id="1617" name="Google Shape;1617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90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8" name="Google Shape;161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9244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9" name="Google Shape;1619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90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9244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1" name="Google Shape;162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8190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2" name="Google Shape;1622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3444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3" name="Google Shape;162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43453" y="4173375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4" name="Google Shape;1624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8190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5" name="Google Shape;1625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3444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6" name="Google Shape;1626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2390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7" name="Google Shape;1627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7644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8" name="Google Shape;162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47653" y="4173375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9" name="Google Shape;1629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2390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0" name="Google Shape;1630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7644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1" name="Google Shape;163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32392" y="395768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2" name="Google Shape;1632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90" y="4170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3" name="Google Shape;1633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8190" y="4170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4" name="Google Shape;1634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2390" y="41734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8" name="Shape 1638"/>
        <p:cNvGrpSpPr/>
        <p:nvPr/>
      </p:nvGrpSpPr>
      <p:grpSpPr>
        <a:xfrm>
          <a:off x="0" y="0"/>
          <a:ext cx="0" cy="0"/>
        </a:xfrm>
      </p:grpSpPr>
      <p:sp>
        <p:nvSpPr>
          <p:cNvPr id="1639" name="Google Shape;1639;p94"/>
          <p:cNvSpPr txBox="1"/>
          <p:nvPr>
            <p:ph type="body" idx="1"/>
          </p:nvPr>
        </p:nvSpPr>
        <p:spPr>
          <a:xfrm>
            <a:off x="362650" y="747100"/>
            <a:ext cx="8292900" cy="87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4) Laura and Andeep are making a repeating pattern from different shaped counters </a:t>
            </a:r>
            <a:endParaRPr/>
          </a:p>
        </p:txBody>
      </p:sp>
      <p:sp>
        <p:nvSpPr>
          <p:cNvPr id="1640" name="Google Shape;1640;p9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641" name="Google Shape;1641;p94"/>
          <p:cNvSpPr/>
          <p:nvPr/>
        </p:nvSpPr>
        <p:spPr>
          <a:xfrm>
            <a:off x="324000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94"/>
          <p:cNvSpPr/>
          <p:nvPr/>
        </p:nvSpPr>
        <p:spPr>
          <a:xfrm>
            <a:off x="1133274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94"/>
          <p:cNvSpPr/>
          <p:nvPr/>
        </p:nvSpPr>
        <p:spPr>
          <a:xfrm>
            <a:off x="1802749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94"/>
          <p:cNvSpPr/>
          <p:nvPr/>
        </p:nvSpPr>
        <p:spPr>
          <a:xfrm>
            <a:off x="2472223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94"/>
          <p:cNvSpPr/>
          <p:nvPr/>
        </p:nvSpPr>
        <p:spPr>
          <a:xfrm>
            <a:off x="3141698" y="1656000"/>
            <a:ext cx="504000" cy="43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94"/>
          <p:cNvSpPr/>
          <p:nvPr/>
        </p:nvSpPr>
        <p:spPr>
          <a:xfrm>
            <a:off x="3703172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94"/>
          <p:cNvSpPr/>
          <p:nvPr/>
        </p:nvSpPr>
        <p:spPr>
          <a:xfrm>
            <a:off x="4512447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94"/>
          <p:cNvSpPr/>
          <p:nvPr/>
        </p:nvSpPr>
        <p:spPr>
          <a:xfrm>
            <a:off x="5181921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94"/>
          <p:cNvSpPr/>
          <p:nvPr/>
        </p:nvSpPr>
        <p:spPr>
          <a:xfrm>
            <a:off x="5851396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4"/>
          <p:cNvSpPr/>
          <p:nvPr/>
        </p:nvSpPr>
        <p:spPr>
          <a:xfrm>
            <a:off x="6520870" y="1656000"/>
            <a:ext cx="504000" cy="43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94"/>
          <p:cNvSpPr/>
          <p:nvPr/>
        </p:nvSpPr>
        <p:spPr>
          <a:xfrm>
            <a:off x="7082344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94"/>
          <p:cNvSpPr/>
          <p:nvPr/>
        </p:nvSpPr>
        <p:spPr>
          <a:xfrm>
            <a:off x="7891619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94"/>
          <p:cNvSpPr txBox="1"/>
          <p:nvPr>
            <p:ph type="body" idx="1"/>
          </p:nvPr>
        </p:nvSpPr>
        <p:spPr>
          <a:xfrm>
            <a:off x="8484900" y="1822800"/>
            <a:ext cx="343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… </a:t>
            </a:r>
            <a:endParaRPr/>
          </a:p>
        </p:txBody>
      </p:sp>
      <p:sp>
        <p:nvSpPr>
          <p:cNvPr id="1654" name="Google Shape;1654;p94"/>
          <p:cNvSpPr txBox="1"/>
          <p:nvPr>
            <p:ph type="body" idx="1"/>
          </p:nvPr>
        </p:nvSpPr>
        <p:spPr>
          <a:xfrm>
            <a:off x="324000" y="2362700"/>
            <a:ext cx="8292900" cy="24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What shape counter will the number 25 be?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Laura puts down the counters 144, 145 and 146, what shapes are they?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Andeep puts down three counters in a row which are all oval shapes. They are all greater than 50 but less than 60, what numbers could they be? 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Laura and Andeep run out of counters when they put down the counter 178. How many of each type did they use in total?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8" name="Shape 1658"/>
        <p:cNvGrpSpPr/>
        <p:nvPr/>
      </p:nvGrpSpPr>
      <p:grpSpPr>
        <a:xfrm>
          <a:off x="0" y="0"/>
          <a:ext cx="0" cy="0"/>
        </a:xfrm>
      </p:grpSpPr>
      <p:sp>
        <p:nvSpPr>
          <p:cNvPr id="1659" name="Google Shape;1659;p95"/>
          <p:cNvSpPr txBox="1"/>
          <p:nvPr>
            <p:ph type="body" idx="1"/>
          </p:nvPr>
        </p:nvSpPr>
        <p:spPr>
          <a:xfrm>
            <a:off x="324000" y="759300"/>
            <a:ext cx="8237700" cy="12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Izzy has built these patterns using blocks. Which two patterns could she combine to make a sequence which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Increases by 5 each time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660" name="Google Shape;1660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661" name="Google Shape;1661;p95"/>
          <p:cNvSpPr txBox="1"/>
          <p:nvPr>
            <p:ph type="body" idx="1"/>
          </p:nvPr>
        </p:nvSpPr>
        <p:spPr>
          <a:xfrm>
            <a:off x="928200" y="2102475"/>
            <a:ext cx="1525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and D</a:t>
            </a:r>
            <a:r>
              <a:rPr lang="en-GB"/>
              <a:t>  </a:t>
            </a:r>
            <a:endParaRPr/>
          </a:p>
        </p:txBody>
      </p:sp>
      <p:pic>
        <p:nvPicPr>
          <p:cNvPr id="1662" name="Google Shape;166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90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044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90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044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990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244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2253" y="2344575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990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0" name="Google Shape;167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244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190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2" name="Google Shape;167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444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453" y="2344575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4" name="Google Shape;167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190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444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1192" y="2128886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027" y="27758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802" y="234460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052" y="19082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792" y="2560352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792" y="2776002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" name="Google Shape;168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4053" y="2776004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194053" y="2560279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8467" y="2128977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8467" y="2344627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3728" y="2344629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893728" y="2128904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8467" y="2557752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9" name="Google Shape;168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8467" y="2773402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0" name="Google Shape;169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3728" y="2773404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1" name="Google Shape;169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893728" y="2557679"/>
            <a:ext cx="215253" cy="215660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95"/>
          <p:cNvSpPr txBox="1"/>
          <p:nvPr>
            <p:ph type="body" idx="1"/>
          </p:nvPr>
        </p:nvSpPr>
        <p:spPr>
          <a:xfrm>
            <a:off x="3911313" y="2439675"/>
            <a:ext cx="269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/>
              <a:t>  </a:t>
            </a:r>
            <a:endParaRPr/>
          </a:p>
        </p:txBody>
      </p:sp>
      <p:pic>
        <p:nvPicPr>
          <p:cNvPr id="1693" name="Google Shape;169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90" y="23446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990" y="23446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5" name="Google Shape;169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190" y="2344617"/>
            <a:ext cx="215260" cy="2156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6" name="Google Shape;1696;p95"/>
          <p:cNvGrpSpPr/>
          <p:nvPr/>
        </p:nvGrpSpPr>
        <p:grpSpPr>
          <a:xfrm>
            <a:off x="6630765" y="1280329"/>
            <a:ext cx="1656872" cy="1744460"/>
            <a:chOff x="6630765" y="1280329"/>
            <a:chExt cx="1656872" cy="1744460"/>
          </a:xfrm>
        </p:grpSpPr>
        <p:pic>
          <p:nvPicPr>
            <p:cNvPr id="1697" name="Google Shape;1697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5" y="25921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8" name="Google Shape;1698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6019" y="25921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9" name="Google Shape;169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5" y="2807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0" name="Google Shape;1700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6019" y="2807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1" name="Google Shape;1701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6027" y="23765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2" name="Google Shape;170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43942" y="172563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3" name="Google Shape;170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940" y="25934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4" name="Google Shape;1704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4" y="25934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5" name="Google Shape;1705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940" y="2809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6" name="Google Shape;170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4" y="2809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7" name="Google Shape;1707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202" y="23752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8" name="Google Shape;170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43942" y="19413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9" name="Google Shape;170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43942" y="21569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0" name="Google Shape;1710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59203" y="21569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1" name="Google Shape;171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459203" y="19412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2" name="Google Shape;1712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5" y="23764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3" name="Google Shape;171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952" y="23751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4" name="Google Shape;1714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7115" y="25717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5" name="Google Shape;1715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2369" y="25717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6" name="Google Shape;171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72378" y="214046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7" name="Google Shape;1717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7115" y="27874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8" name="Google Shape;1718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2369" y="27874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9" name="Google Shape;171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7117" y="214038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0" name="Google Shape;1720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7115" y="2356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1" name="Google Shape;1721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2377" y="2356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2" name="Google Shape;172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2804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3" name="Google Shape;172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4960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4" name="Google Shape;172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69789" y="14960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5" name="Google Shape;172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69789" y="12803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6" name="Google Shape;172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7091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7" name="Google Shape;172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9248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8" name="Google Shape;17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69789" y="19248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9" name="Google Shape;17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69789" y="17091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0" name="Google Shape;1730;p95"/>
          <p:cNvSpPr txBox="1"/>
          <p:nvPr>
            <p:ph type="body" idx="1"/>
          </p:nvPr>
        </p:nvSpPr>
        <p:spPr>
          <a:xfrm>
            <a:off x="6235313" y="2403150"/>
            <a:ext cx="269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/>
              <a:t>  </a:t>
            </a:r>
            <a:endParaRPr/>
          </a:p>
        </p:txBody>
      </p:sp>
      <p:sp>
        <p:nvSpPr>
          <p:cNvPr id="1731" name="Google Shape;1731;p95"/>
          <p:cNvSpPr txBox="1"/>
          <p:nvPr>
            <p:ph type="body" idx="1"/>
          </p:nvPr>
        </p:nvSpPr>
        <p:spPr>
          <a:xfrm>
            <a:off x="324000" y="3161825"/>
            <a:ext cx="8237700" cy="4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 Increases by 2 each time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32" name="Google Shape;1732;p95"/>
          <p:cNvSpPr txBox="1"/>
          <p:nvPr>
            <p:ph type="body" idx="1"/>
          </p:nvPr>
        </p:nvSpPr>
        <p:spPr>
          <a:xfrm>
            <a:off x="922050" y="3611400"/>
            <a:ext cx="1525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 and D</a:t>
            </a:r>
            <a:r>
              <a:rPr lang="en-GB"/>
              <a:t>  </a:t>
            </a:r>
            <a:endParaRPr/>
          </a:p>
        </p:txBody>
      </p:sp>
      <p:pic>
        <p:nvPicPr>
          <p:cNvPr id="1733" name="Google Shape;173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202" y="41604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56" y="41604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202" y="43761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56" y="43761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7" name="Google Shape;173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202" y="39447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56" y="39447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827" y="416046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081" y="416046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827" y="437614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081" y="437614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3" name="Google Shape;174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5452" y="437609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4" name="Google Shape;174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0706" y="437609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581" y="436815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" name="Google Shape;174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356" y="393694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9606" y="350055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345" y="4152688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9" name="Google Shape;174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345" y="4368338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606" y="4368339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1" name="Google Shape;175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191606" y="4152614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6020" y="3721313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3" name="Google Shape;175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6020" y="3936963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281" y="3936964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5" name="Google Shape;175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891281" y="3721239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6" name="Google Shape;175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6020" y="4150088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6020" y="4365738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8" name="Google Shape;175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281" y="4365739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" name="Google Shape;175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891281" y="4150014"/>
            <a:ext cx="215253" cy="2156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95"/>
          <p:cNvSpPr txBox="1"/>
          <p:nvPr>
            <p:ph type="body" idx="1"/>
          </p:nvPr>
        </p:nvSpPr>
        <p:spPr>
          <a:xfrm>
            <a:off x="3911313" y="4268475"/>
            <a:ext cx="269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/>
              <a:t>  </a:t>
            </a:r>
            <a:endParaRPr/>
          </a:p>
        </p:txBody>
      </p:sp>
      <p:sp>
        <p:nvSpPr>
          <p:cNvPr id="1761" name="Google Shape;1761;p95"/>
          <p:cNvSpPr txBox="1"/>
          <p:nvPr>
            <p:ph type="body" idx="1"/>
          </p:nvPr>
        </p:nvSpPr>
        <p:spPr>
          <a:xfrm>
            <a:off x="6235313" y="4231950"/>
            <a:ext cx="269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/>
              <a:t>  </a:t>
            </a:r>
            <a:endParaRPr/>
          </a:p>
        </p:txBody>
      </p:sp>
      <p:grpSp>
        <p:nvGrpSpPr>
          <p:cNvPr id="1762" name="Google Shape;1762;p95"/>
          <p:cNvGrpSpPr/>
          <p:nvPr/>
        </p:nvGrpSpPr>
        <p:grpSpPr>
          <a:xfrm>
            <a:off x="6630768" y="3285890"/>
            <a:ext cx="1764485" cy="1283262"/>
            <a:chOff x="6630768" y="3285890"/>
            <a:chExt cx="1764485" cy="1283262"/>
          </a:xfrm>
        </p:grpSpPr>
        <p:pic>
          <p:nvPicPr>
            <p:cNvPr id="1763" name="Google Shape;176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3227" y="41378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4" name="Google Shape;1764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8481" y="41378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5" name="Google Shape;1765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3227" y="435348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6" name="Google Shape;176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8481" y="435348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7" name="Google Shape;1767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3227" y="39221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8" name="Google Shape;1768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8481" y="39221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9" name="Google Shape;176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8" y="372124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0" name="Google Shape;1770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9077" y="3708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1" name="Google Shape;1771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44331" y="3708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2" name="Google Shape;1772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9077" y="39237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3" name="Google Shape;177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44331" y="39237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4" name="Google Shape;1774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9068" y="349641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5" name="Google Shape;177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9070" y="413738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6" name="Google Shape;177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9070" y="435303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7" name="Google Shape;177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44331" y="435303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8" name="Google Shape;177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544331" y="413731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9" name="Google Shape;177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64739" y="34964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0" name="Google Shape;1780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79993" y="34964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1" name="Google Shape;1781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64743" y="328589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2" name="Google Shape;178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3708188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3" name="Google Shape;178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3923838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4" name="Google Shape;178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7431" y="392383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5" name="Google Shape;178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177431" y="370811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6" name="Google Shape;178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413696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7" name="Google Shape;178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435261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8" name="Google Shape;178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7431" y="435261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9" name="Google Shape;17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177431" y="413688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3" name="Shape 1793"/>
        <p:cNvGrpSpPr/>
        <p:nvPr/>
      </p:nvGrpSpPr>
      <p:grpSpPr>
        <a:xfrm>
          <a:off x="0" y="0"/>
          <a:ext cx="0" cy="0"/>
        </a:xfrm>
      </p:grpSpPr>
      <p:sp>
        <p:nvSpPr>
          <p:cNvPr id="1794" name="Google Shape;1794;p96"/>
          <p:cNvSpPr txBox="1"/>
          <p:nvPr>
            <p:ph type="body" idx="1"/>
          </p:nvPr>
        </p:nvSpPr>
        <p:spPr>
          <a:xfrm>
            <a:off x="324000" y="759300"/>
            <a:ext cx="8237700" cy="12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Izzy has built these patterns using blocks. Which two patterns could she combine to make a sequence which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3)    Decreases by 1 each time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95" name="Google Shape;1795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796" name="Google Shape;1796;p96"/>
          <p:cNvSpPr txBox="1"/>
          <p:nvPr>
            <p:ph type="body" idx="1"/>
          </p:nvPr>
        </p:nvSpPr>
        <p:spPr>
          <a:xfrm>
            <a:off x="928200" y="2102475"/>
            <a:ext cx="1525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and B</a:t>
            </a:r>
            <a:r>
              <a:rPr lang="en-GB"/>
              <a:t>  </a:t>
            </a:r>
            <a:endParaRPr/>
          </a:p>
        </p:txBody>
      </p:sp>
      <p:pic>
        <p:nvPicPr>
          <p:cNvPr id="1797" name="Google Shape;179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90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044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90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044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990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244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3" name="Google Shape;180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2253" y="2344575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990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244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190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7" name="Google Shape;180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444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453" y="2344575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190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444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1" name="Google Shape;181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1192" y="2128886"/>
            <a:ext cx="215253" cy="215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96"/>
          <p:cNvSpPr txBox="1"/>
          <p:nvPr>
            <p:ph type="body" idx="1"/>
          </p:nvPr>
        </p:nvSpPr>
        <p:spPr>
          <a:xfrm>
            <a:off x="3911313" y="2439675"/>
            <a:ext cx="269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/>
              <a:t>  </a:t>
            </a:r>
            <a:endParaRPr/>
          </a:p>
        </p:txBody>
      </p:sp>
      <p:pic>
        <p:nvPicPr>
          <p:cNvPr id="1813" name="Google Shape;181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90" y="23446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990" y="23446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190" y="23446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052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306" y="25602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8" name="Google Shape;181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052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9" name="Google Shape;181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306" y="27759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0" name="Google Shape;182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052" y="23445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306" y="23445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677" y="256026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931" y="256026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4" name="Google Shape;182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677" y="277594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" name="Google Shape;182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931" y="277594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6" name="Google Shape;182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1302" y="277589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" name="Google Shape;182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556" y="2775892"/>
            <a:ext cx="215260" cy="215673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96"/>
          <p:cNvSpPr txBox="1"/>
          <p:nvPr>
            <p:ph type="body" idx="1"/>
          </p:nvPr>
        </p:nvSpPr>
        <p:spPr>
          <a:xfrm>
            <a:off x="6015625" y="2426913"/>
            <a:ext cx="269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/>
              <a:t>  </a:t>
            </a:r>
            <a:endParaRPr/>
          </a:p>
        </p:txBody>
      </p:sp>
      <p:pic>
        <p:nvPicPr>
          <p:cNvPr id="1829" name="Google Shape;182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277" y="252416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0" name="Google Shape;183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2531" y="252416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1" name="Google Shape;183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277" y="273984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2531" y="273984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3" name="Google Shape;183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277" y="230846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2531" y="230846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590" y="18744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6" name="Google Shape;183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2844" y="18744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590" y="20901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2844" y="20901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590" y="16588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152" y="187448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9280" y="273380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7129" y="1876463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152" y="20901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6406" y="20901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5" name="Google Shape;184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852" y="27338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6" name="Google Shape;184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862" y="230579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116" y="2305792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862" y="252146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116" y="252146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5040" y="23045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294" y="2304555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0303" y="2088875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5040" y="25202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294" y="252023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5" name="Google Shape;185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5042" y="1873186"/>
            <a:ext cx="215253" cy="21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5040" y="2088917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7" name="Google Shape;185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5052" y="2733180"/>
            <a:ext cx="215260" cy="21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" name="Google Shape;185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306" y="2733180"/>
            <a:ext cx="215260" cy="21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2" name="Shape 1862"/>
        <p:cNvGrpSpPr/>
        <p:nvPr/>
      </p:nvGrpSpPr>
      <p:grpSpPr>
        <a:xfrm>
          <a:off x="0" y="0"/>
          <a:ext cx="0" cy="0"/>
        </a:xfrm>
      </p:grpSpPr>
      <p:sp>
        <p:nvSpPr>
          <p:cNvPr id="1863" name="Google Shape;1863;p9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4) Laura and Andeep are making a repeating pattern from different shaped counters </a:t>
            </a:r>
            <a:endParaRPr/>
          </a:p>
        </p:txBody>
      </p:sp>
      <p:sp>
        <p:nvSpPr>
          <p:cNvPr id="1864" name="Google Shape;1864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865" name="Google Shape;1865;p97"/>
          <p:cNvSpPr/>
          <p:nvPr/>
        </p:nvSpPr>
        <p:spPr>
          <a:xfrm>
            <a:off x="324000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97"/>
          <p:cNvSpPr/>
          <p:nvPr/>
        </p:nvSpPr>
        <p:spPr>
          <a:xfrm>
            <a:off x="1133274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97"/>
          <p:cNvSpPr/>
          <p:nvPr/>
        </p:nvSpPr>
        <p:spPr>
          <a:xfrm>
            <a:off x="1802749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97"/>
          <p:cNvSpPr/>
          <p:nvPr/>
        </p:nvSpPr>
        <p:spPr>
          <a:xfrm>
            <a:off x="2472223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97"/>
          <p:cNvSpPr/>
          <p:nvPr/>
        </p:nvSpPr>
        <p:spPr>
          <a:xfrm>
            <a:off x="3141698" y="1656000"/>
            <a:ext cx="504000" cy="43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97"/>
          <p:cNvSpPr/>
          <p:nvPr/>
        </p:nvSpPr>
        <p:spPr>
          <a:xfrm>
            <a:off x="3703172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97"/>
          <p:cNvSpPr/>
          <p:nvPr/>
        </p:nvSpPr>
        <p:spPr>
          <a:xfrm>
            <a:off x="4512447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97"/>
          <p:cNvSpPr/>
          <p:nvPr/>
        </p:nvSpPr>
        <p:spPr>
          <a:xfrm>
            <a:off x="5181921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97"/>
          <p:cNvSpPr/>
          <p:nvPr/>
        </p:nvSpPr>
        <p:spPr>
          <a:xfrm>
            <a:off x="5851396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97"/>
          <p:cNvSpPr/>
          <p:nvPr/>
        </p:nvSpPr>
        <p:spPr>
          <a:xfrm>
            <a:off x="6520870" y="1656000"/>
            <a:ext cx="504000" cy="43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97"/>
          <p:cNvSpPr/>
          <p:nvPr/>
        </p:nvSpPr>
        <p:spPr>
          <a:xfrm>
            <a:off x="7082344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97"/>
          <p:cNvSpPr/>
          <p:nvPr/>
        </p:nvSpPr>
        <p:spPr>
          <a:xfrm>
            <a:off x="7891619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97"/>
          <p:cNvSpPr txBox="1"/>
          <p:nvPr>
            <p:ph type="body" idx="1"/>
          </p:nvPr>
        </p:nvSpPr>
        <p:spPr>
          <a:xfrm>
            <a:off x="8484900" y="1822800"/>
            <a:ext cx="343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… </a:t>
            </a:r>
            <a:endParaRPr/>
          </a:p>
        </p:txBody>
      </p:sp>
      <p:sp>
        <p:nvSpPr>
          <p:cNvPr id="1878" name="Google Shape;1878;p97"/>
          <p:cNvSpPr txBox="1"/>
          <p:nvPr>
            <p:ph type="body" idx="1"/>
          </p:nvPr>
        </p:nvSpPr>
        <p:spPr>
          <a:xfrm>
            <a:off x="324000" y="2362700"/>
            <a:ext cx="8496000" cy="24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What shape counter will the number 25 be? </a:t>
            </a: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Square as all multiples of 5 are squares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Laura puts down the counters 144, 145 and 146, what shapes are they?</a:t>
            </a: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Oval, square, triangle as squares are multiples of 5 so 145 must be square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2" name="Shape 1882"/>
        <p:cNvGrpSpPr/>
        <p:nvPr/>
      </p:nvGrpSpPr>
      <p:grpSpPr>
        <a:xfrm>
          <a:off x="0" y="0"/>
          <a:ext cx="0" cy="0"/>
        </a:xfrm>
      </p:grpSpPr>
      <p:sp>
        <p:nvSpPr>
          <p:cNvPr id="1883" name="Google Shape;1883;p9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4) Laura and Andeep are making a repeating pattern from different shaped counters </a:t>
            </a:r>
            <a:endParaRPr/>
          </a:p>
        </p:txBody>
      </p:sp>
      <p:sp>
        <p:nvSpPr>
          <p:cNvPr id="1884" name="Google Shape;1884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Representations of sequences</a:t>
            </a:r>
            <a:endParaRPr/>
          </a:p>
        </p:txBody>
      </p:sp>
      <p:sp>
        <p:nvSpPr>
          <p:cNvPr id="1885" name="Google Shape;1885;p98"/>
          <p:cNvSpPr/>
          <p:nvPr/>
        </p:nvSpPr>
        <p:spPr>
          <a:xfrm>
            <a:off x="324000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98"/>
          <p:cNvSpPr/>
          <p:nvPr/>
        </p:nvSpPr>
        <p:spPr>
          <a:xfrm>
            <a:off x="1133274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98"/>
          <p:cNvSpPr/>
          <p:nvPr/>
        </p:nvSpPr>
        <p:spPr>
          <a:xfrm>
            <a:off x="1802749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8"/>
          <p:cNvSpPr/>
          <p:nvPr/>
        </p:nvSpPr>
        <p:spPr>
          <a:xfrm>
            <a:off x="2472223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98"/>
          <p:cNvSpPr/>
          <p:nvPr/>
        </p:nvSpPr>
        <p:spPr>
          <a:xfrm>
            <a:off x="3141698" y="1656000"/>
            <a:ext cx="504000" cy="43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98"/>
          <p:cNvSpPr/>
          <p:nvPr/>
        </p:nvSpPr>
        <p:spPr>
          <a:xfrm>
            <a:off x="3703172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98"/>
          <p:cNvSpPr/>
          <p:nvPr/>
        </p:nvSpPr>
        <p:spPr>
          <a:xfrm>
            <a:off x="4512447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98"/>
          <p:cNvSpPr/>
          <p:nvPr/>
        </p:nvSpPr>
        <p:spPr>
          <a:xfrm>
            <a:off x="5181921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98"/>
          <p:cNvSpPr/>
          <p:nvPr/>
        </p:nvSpPr>
        <p:spPr>
          <a:xfrm>
            <a:off x="5851396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98"/>
          <p:cNvSpPr/>
          <p:nvPr/>
        </p:nvSpPr>
        <p:spPr>
          <a:xfrm>
            <a:off x="6520870" y="1656000"/>
            <a:ext cx="504000" cy="43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98"/>
          <p:cNvSpPr/>
          <p:nvPr/>
        </p:nvSpPr>
        <p:spPr>
          <a:xfrm>
            <a:off x="7082344" y="1656000"/>
            <a:ext cx="828000" cy="43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98"/>
          <p:cNvSpPr/>
          <p:nvPr/>
        </p:nvSpPr>
        <p:spPr>
          <a:xfrm>
            <a:off x="7891619" y="1656000"/>
            <a:ext cx="612000" cy="432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98"/>
          <p:cNvSpPr txBox="1"/>
          <p:nvPr>
            <p:ph type="body" idx="1"/>
          </p:nvPr>
        </p:nvSpPr>
        <p:spPr>
          <a:xfrm>
            <a:off x="8484900" y="1822800"/>
            <a:ext cx="343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… </a:t>
            </a:r>
            <a:endParaRPr/>
          </a:p>
        </p:txBody>
      </p:sp>
      <p:sp>
        <p:nvSpPr>
          <p:cNvPr id="1898" name="Google Shape;1898;p98"/>
          <p:cNvSpPr txBox="1"/>
          <p:nvPr>
            <p:ph type="body" idx="1"/>
          </p:nvPr>
        </p:nvSpPr>
        <p:spPr>
          <a:xfrm>
            <a:off x="319650" y="2252600"/>
            <a:ext cx="8504700" cy="256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 startAt="3"/>
            </a:pPr>
            <a:r>
              <a:rPr lang="en-GB" sz="1800"/>
              <a:t>Andeep puts down three counters in a row which are all oval shapes. They are all greater than 50 but less than 60, what numbers could they be? </a:t>
            </a:r>
            <a:endParaRPr sz="1800"/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52, 53, 54 or 57, 58, 59.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 startAt="3"/>
            </a:pPr>
            <a:r>
              <a:rPr lang="en-GB" sz="1800"/>
              <a:t>Laura and Andeep run out of counters when they put down the counter 178. How many of each type did they use in total?</a:t>
            </a: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35       =107         =36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98"/>
          <p:cNvSpPr/>
          <p:nvPr/>
        </p:nvSpPr>
        <p:spPr>
          <a:xfrm>
            <a:off x="659024" y="4299241"/>
            <a:ext cx="393300" cy="33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98"/>
          <p:cNvSpPr/>
          <p:nvPr/>
        </p:nvSpPr>
        <p:spPr>
          <a:xfrm>
            <a:off x="1850487" y="4280777"/>
            <a:ext cx="504000" cy="3558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98"/>
          <p:cNvSpPr/>
          <p:nvPr/>
        </p:nvSpPr>
        <p:spPr>
          <a:xfrm>
            <a:off x="3165407" y="4290066"/>
            <a:ext cx="646200" cy="3372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5" name="Shape 1905"/>
        <p:cNvGrpSpPr/>
        <p:nvPr/>
      </p:nvGrpSpPr>
      <p:grpSpPr>
        <a:xfrm>
          <a:off x="0" y="0"/>
          <a:ext cx="0" cy="0"/>
        </a:xfrm>
      </p:grpSpPr>
      <p:sp>
        <p:nvSpPr>
          <p:cNvPr id="1906" name="Google Shape;1906;p99"/>
          <p:cNvSpPr txBox="1"/>
          <p:nvPr>
            <p:ph type="body" idx="1"/>
          </p:nvPr>
        </p:nvSpPr>
        <p:spPr>
          <a:xfrm>
            <a:off x="324000" y="75495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If we know a rule for a sequence we can continue a sequence from a starting value.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It is possible to describe a sequence in words if we know enough values.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There can be more than one rule linking two successive numbers in a sequence.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Rules can be demonstrated with diagrams, this can help us see how a pattern is developing.</a:t>
            </a:r>
            <a:endParaRPr sz="2000"/>
          </a:p>
        </p:txBody>
      </p:sp>
      <p:sp>
        <p:nvSpPr>
          <p:cNvPr id="1907" name="Google Shape;1907;p9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sequences</a:t>
            </a:r>
            <a:endParaRPr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1" name="Shape 1911"/>
        <p:cNvGrpSpPr/>
        <p:nvPr/>
      </p:nvGrpSpPr>
      <p:grpSpPr>
        <a:xfrm>
          <a:off x="0" y="0"/>
          <a:ext cx="0" cy="0"/>
        </a:xfrm>
      </p:grpSpPr>
      <p:sp>
        <p:nvSpPr>
          <p:cNvPr id="1912" name="Google Shape;1912;p100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13" name="Google Shape;1913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337</Paragraphs>
  <Slides>37</Slides>
  <Notes>37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baseType="lpstr" size="45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Securing understanding of sequences</vt:lpstr>
      <vt:lpstr>PowerPoint Presentation</vt:lpstr>
      <vt:lpstr>PowerPoint Presentation</vt:lpstr>
      <vt:lpstr>PowerPoint Presentation</vt:lpstr>
      <vt:lpstr>Continuing sequences from a rule</vt:lpstr>
      <vt:lpstr>Continuing sequences from a rule</vt:lpstr>
      <vt:lpstr>Continuing sequences from a rule</vt:lpstr>
      <vt:lpstr>Continuing sequences from a rule</vt:lpstr>
      <vt:lpstr>Continuing sequences from a rule</vt:lpstr>
      <vt:lpstr>Continuing sequences from a rule</vt:lpstr>
      <vt:lpstr>Continuing sequences from a rule</vt:lpstr>
      <vt:lpstr>Continuing sequences from a rule</vt:lpstr>
      <vt:lpstr>Continuing sequences from a rule</vt:lpstr>
      <vt:lpstr>Continuing sequences from a rule</vt:lpstr>
      <vt:lpstr>Continuing sequences from a rule</vt:lpstr>
      <vt:lpstr>PowerPoint Presentation</vt:lpstr>
      <vt:lpstr>PowerPoint Presentation</vt:lpstr>
      <vt:lpstr>PowerPoint Presentation</vt:lpstr>
      <vt:lpstr>PowerPoint Presentation</vt:lpstr>
      <vt:lpstr>Continuing sequences from a rule</vt:lpstr>
      <vt:lpstr>Representations of sequences</vt:lpstr>
      <vt:lpstr>Representations of sequences</vt:lpstr>
      <vt:lpstr>Representations of sequences</vt:lpstr>
      <vt:lpstr>Representations of sequences</vt:lpstr>
      <vt:lpstr>Representations of sequences</vt:lpstr>
      <vt:lpstr>Representations of sequences</vt:lpstr>
      <vt:lpstr>Representations of sequences</vt:lpstr>
      <vt:lpstr>Representations of sequences</vt:lpstr>
      <vt:lpstr>Representations of sequences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Securing understanding of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2023-12-08T09:35:13.562</cp:lastPrinted>
  <dcterms:created xsi:type="dcterms:W3CDTF">2023-12-08T09:35:13Z</dcterms:created>
  <dcterms:modified xsi:type="dcterms:W3CDTF">2023-12-08T09:35:29Z</dcterms:modified>
</cp:coreProperties>
</file>