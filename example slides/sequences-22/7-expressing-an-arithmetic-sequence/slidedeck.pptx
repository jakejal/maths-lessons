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</p:sldIdLst>
  <p:sldSz cx="9144000" cy="5143500"/>
  <p:notesSz cx="6858000" cy="9144000"/>
  <p:embeddedFontLst>
    <p:embeddedFont>
      <p:font typeface="Lexend" panose="00000000000000000000"/>
      <p:regular r:id="rId41"/>
    </p:embeddedFont>
    <p:embeddedFont>
      <p:font typeface="Lexend Medium" panose="00000000000000000000"/>
      <p:regular r:id="rId42"/>
    </p:embeddedFont>
    <p:embeddedFont>
      <p:font typeface="Kalam" panose="02000000000000000000"/>
      <p:regular r:id="rId43"/>
    </p:embeddedFont>
    <p:embeddedFont>
      <p:font typeface="Lexend Light" panose="00000000000000000000"/>
      <p:regular r:id="rId44"/>
    </p:embeddedFont>
  </p:embeddedFontLst>
  <p:custDataLst>
    <p:tags r:id="rId40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36393E4A-1B3B-4A6D-B05D-6F587DC3BFE1}">
  <a:tblStyle styleId="{36393E4A-1B3B-4A6D-B05D-6F587DC3BF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tags" Target="tags/tag1.xml" /><Relationship Id="rId41" Type="http://schemas.openxmlformats.org/officeDocument/2006/relationships/font" Target="fonts/font1.fntdata" /><Relationship Id="rId42" Type="http://schemas.openxmlformats.org/officeDocument/2006/relationships/font" Target="fonts/font2.fntdata" /><Relationship Id="rId43" Type="http://schemas.openxmlformats.org/officeDocument/2006/relationships/font" Target="fonts/font3.fntdata" /><Relationship Id="rId44" Type="http://schemas.openxmlformats.org/officeDocument/2006/relationships/font" Target="fonts/font4.fntdata" /><Relationship Id="rId45" Type="http://schemas.openxmlformats.org/officeDocument/2006/relationships/presProps" Target="presProps.xml" /><Relationship Id="rId46" Type="http://schemas.openxmlformats.org/officeDocument/2006/relationships/viewProps" Target="viewProps.xml" /><Relationship Id="rId47" Type="http://schemas.openxmlformats.org/officeDocument/2006/relationships/theme" Target="theme/theme1.xml" /><Relationship Id="rId48" Type="http://schemas.openxmlformats.org/officeDocument/2006/relationships/tableStyles" Target="tableStyles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5e879f611e_0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5e879f611e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7" name="Shape 767"/>
        <p:cNvGrpSpPr/>
        <p:nvPr/>
      </p:nvGrpSpPr>
      <p:grpSpPr>
        <a:xfrm>
          <a:off x="0" y="0"/>
          <a:ext cx="0" cy="0"/>
        </a:xfrm>
      </p:grpSpPr>
      <p:sp>
        <p:nvSpPr>
          <p:cNvPr id="768" name="Google Shape;768;g25e879f611e_0_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5e879f611e_0_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5" name="Shape 775"/>
        <p:cNvGrpSpPr/>
        <p:nvPr/>
      </p:nvGrpSpPr>
      <p:grpSpPr>
        <a:xfrm>
          <a:off x="0" y="0"/>
          <a:ext cx="0" cy="0"/>
        </a:xfrm>
      </p:grpSpPr>
      <p:sp>
        <p:nvSpPr>
          <p:cNvPr id="776" name="Google Shape;776;g25e879f611e_0_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5e879f611e_0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8" name="Shape 798"/>
        <p:cNvGrpSpPr/>
        <p:nvPr/>
      </p:nvGrpSpPr>
      <p:grpSpPr>
        <a:xfrm>
          <a:off x="0" y="0"/>
          <a:ext cx="0" cy="0"/>
        </a:xfrm>
      </p:grpSpPr>
      <p:sp>
        <p:nvSpPr>
          <p:cNvPr id="799" name="Google Shape;799;g25e879f611e_0_3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5e879f611e_0_3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24" name="Shape 824"/>
        <p:cNvGrpSpPr/>
        <p:nvPr/>
      </p:nvGrpSpPr>
      <p:grpSpPr>
        <a:xfrm>
          <a:off x="0" y="0"/>
          <a:ext cx="0" cy="0"/>
        </a:xfrm>
      </p:grpSpPr>
      <p:sp>
        <p:nvSpPr>
          <p:cNvPr id="825" name="Google Shape;825;g25e879f611e_0_1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25e879f611e_0_1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38" name="Shape 838"/>
        <p:cNvGrpSpPr/>
        <p:nvPr/>
      </p:nvGrpSpPr>
      <p:grpSpPr>
        <a:xfrm>
          <a:off x="0" y="0"/>
          <a:ext cx="0" cy="0"/>
        </a:xfrm>
      </p:grpSpPr>
      <p:sp>
        <p:nvSpPr>
          <p:cNvPr id="839" name="Google Shape;839;g25e879f611e_0_1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25e879f611e_0_1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56" name="Shape 856"/>
        <p:cNvGrpSpPr/>
        <p:nvPr/>
      </p:nvGrpSpPr>
      <p:grpSpPr>
        <a:xfrm>
          <a:off x="0" y="0"/>
          <a:ext cx="0" cy="0"/>
        </a:xfrm>
      </p:grpSpPr>
      <p:sp>
        <p:nvSpPr>
          <p:cNvPr id="857" name="Google Shape;857;g25e879f611e_0_1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25e879f611e_0_1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2" name="Shape 872"/>
        <p:cNvGrpSpPr/>
        <p:nvPr/>
      </p:nvGrpSpPr>
      <p:grpSpPr>
        <a:xfrm>
          <a:off x="0" y="0"/>
          <a:ext cx="0" cy="0"/>
        </a:xfrm>
      </p:grpSpPr>
      <p:sp>
        <p:nvSpPr>
          <p:cNvPr id="873" name="Google Shape;873;g296a49f8f82_0_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296a49f8f82_0_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89" name="Shape 889"/>
        <p:cNvGrpSpPr/>
        <p:nvPr/>
      </p:nvGrpSpPr>
      <p:grpSpPr>
        <a:xfrm>
          <a:off x="0" y="0"/>
          <a:ext cx="0" cy="0"/>
        </a:xfrm>
      </p:grpSpPr>
      <p:sp>
        <p:nvSpPr>
          <p:cNvPr id="890" name="Google Shape;890;g25e879f611e_0_2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25e879f611e_0_2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00" name="Shape 900"/>
        <p:cNvGrpSpPr/>
        <p:nvPr/>
      </p:nvGrpSpPr>
      <p:grpSpPr>
        <a:xfrm>
          <a:off x="0" y="0"/>
          <a:ext cx="0" cy="0"/>
        </a:xfrm>
      </p:grpSpPr>
      <p:sp>
        <p:nvSpPr>
          <p:cNvPr id="901" name="Google Shape;901;g25e879f611e_0_2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25e879f611e_0_2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12" name="Shape 912"/>
        <p:cNvGrpSpPr/>
        <p:nvPr/>
      </p:nvGrpSpPr>
      <p:grpSpPr>
        <a:xfrm>
          <a:off x="0" y="0"/>
          <a:ext cx="0" cy="0"/>
        </a:xfrm>
      </p:grpSpPr>
      <p:sp>
        <p:nvSpPr>
          <p:cNvPr id="913" name="Google Shape;913;g25e879f611e_0_23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4" name="Google Shape;914;g25e879f611e_0_23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25" name="Shape 925"/>
        <p:cNvGrpSpPr/>
        <p:nvPr/>
      </p:nvGrpSpPr>
      <p:grpSpPr>
        <a:xfrm>
          <a:off x="0" y="0"/>
          <a:ext cx="0" cy="0"/>
        </a:xfrm>
      </p:grpSpPr>
      <p:sp>
        <p:nvSpPr>
          <p:cNvPr id="926" name="Google Shape;926;g25e879f611e_0_2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25e879f611e_0_2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4" name="Shape 994"/>
        <p:cNvGrpSpPr/>
        <p:nvPr/>
      </p:nvGrpSpPr>
      <p:grpSpPr>
        <a:xfrm>
          <a:off x="0" y="0"/>
          <a:ext cx="0" cy="0"/>
        </a:xfrm>
      </p:grpSpPr>
      <p:sp>
        <p:nvSpPr>
          <p:cNvPr id="995" name="Google Shape;995;g25e879f611e_0_38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25e879f611e_0_38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70" name="Shape 1070"/>
        <p:cNvGrpSpPr/>
        <p:nvPr/>
      </p:nvGrpSpPr>
      <p:grpSpPr>
        <a:xfrm>
          <a:off x="0" y="0"/>
          <a:ext cx="0" cy="0"/>
        </a:xfrm>
      </p:grpSpPr>
      <p:sp>
        <p:nvSpPr>
          <p:cNvPr id="1071" name="Google Shape;1071;g296a49f8f82_0_16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296a49f8f82_0_16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41" name="Shape 1141"/>
        <p:cNvGrpSpPr/>
        <p:nvPr/>
      </p:nvGrpSpPr>
      <p:grpSpPr>
        <a:xfrm>
          <a:off x="0" y="0"/>
          <a:ext cx="0" cy="0"/>
        </a:xfrm>
      </p:grpSpPr>
      <p:sp>
        <p:nvSpPr>
          <p:cNvPr id="1142" name="Google Shape;1142;g25e879f611e_0_3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25e879f611e_0_3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14" name="Shape 1214"/>
        <p:cNvGrpSpPr/>
        <p:nvPr/>
      </p:nvGrpSpPr>
      <p:grpSpPr>
        <a:xfrm>
          <a:off x="0" y="0"/>
          <a:ext cx="0" cy="0"/>
        </a:xfrm>
      </p:grpSpPr>
      <p:sp>
        <p:nvSpPr>
          <p:cNvPr id="1215" name="Google Shape;1215;g25e879f611e_0_59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25e879f611e_0_5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87" name="Shape 1287"/>
        <p:cNvGrpSpPr/>
        <p:nvPr/>
      </p:nvGrpSpPr>
      <p:grpSpPr>
        <a:xfrm>
          <a:off x="0" y="0"/>
          <a:ext cx="0" cy="0"/>
        </a:xfrm>
      </p:grpSpPr>
      <p:sp>
        <p:nvSpPr>
          <p:cNvPr id="1288" name="Google Shape;1288;g25e879f611e_0_6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25e879f611e_0_6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99" name="Shape 1299"/>
        <p:cNvGrpSpPr/>
        <p:nvPr/>
      </p:nvGrpSpPr>
      <p:grpSpPr>
        <a:xfrm>
          <a:off x="0" y="0"/>
          <a:ext cx="0" cy="0"/>
        </a:xfrm>
      </p:grpSpPr>
      <p:sp>
        <p:nvSpPr>
          <p:cNvPr id="1300" name="Google Shape;1300;g25e879f611e_0_2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25e879f611e_0_2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28" name="Shape 1328"/>
        <p:cNvGrpSpPr/>
        <p:nvPr/>
      </p:nvGrpSpPr>
      <p:grpSpPr>
        <a:xfrm>
          <a:off x="0" y="0"/>
          <a:ext cx="0" cy="0"/>
        </a:xfrm>
      </p:grpSpPr>
      <p:sp>
        <p:nvSpPr>
          <p:cNvPr id="1329" name="Google Shape;1329;g296a49f8f82_0_35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0" name="Google Shape;1330;g296a49f8f82_0_3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42" name="Shape 1342"/>
        <p:cNvGrpSpPr/>
        <p:nvPr/>
      </p:nvGrpSpPr>
      <p:grpSpPr>
        <a:xfrm>
          <a:off x="0" y="0"/>
          <a:ext cx="0" cy="0"/>
        </a:xfrm>
      </p:grpSpPr>
      <p:sp>
        <p:nvSpPr>
          <p:cNvPr id="1343" name="Google Shape;1343;g296a49f8f82_0_38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4" name="Google Shape;1344;g296a49f8f82_0_38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79" name="Shape 1379"/>
        <p:cNvGrpSpPr/>
        <p:nvPr/>
      </p:nvGrpSpPr>
      <p:grpSpPr>
        <a:xfrm>
          <a:off x="0" y="0"/>
          <a:ext cx="0" cy="0"/>
        </a:xfrm>
      </p:grpSpPr>
      <p:sp>
        <p:nvSpPr>
          <p:cNvPr id="1380" name="Google Shape;1380;g296a49f8f82_0_4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296a49f8f82_0_4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93" name="Shape 1393"/>
        <p:cNvGrpSpPr/>
        <p:nvPr/>
      </p:nvGrpSpPr>
      <p:grpSpPr>
        <a:xfrm>
          <a:off x="0" y="0"/>
          <a:ext cx="0" cy="0"/>
        </a:xfrm>
      </p:grpSpPr>
      <p:sp>
        <p:nvSpPr>
          <p:cNvPr id="1394" name="Google Shape;1394;g25e879f611e_0_25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5" name="Google Shape;1395;g25e879f611e_0_2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01" name="Shape 1401"/>
        <p:cNvGrpSpPr/>
        <p:nvPr/>
      </p:nvGrpSpPr>
      <p:grpSpPr>
        <a:xfrm>
          <a:off x="0" y="0"/>
          <a:ext cx="0" cy="0"/>
        </a:xfrm>
      </p:grpSpPr>
      <p:sp>
        <p:nvSpPr>
          <p:cNvPr id="1402" name="Google Shape;1402;g296a49f8f82_0_4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3" name="Google Shape;1403;g296a49f8f82_0_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24" name="Shape 1424"/>
        <p:cNvGrpSpPr/>
        <p:nvPr/>
      </p:nvGrpSpPr>
      <p:grpSpPr>
        <a:xfrm>
          <a:off x="0" y="0"/>
          <a:ext cx="0" cy="0"/>
        </a:xfrm>
      </p:grpSpPr>
      <p:sp>
        <p:nvSpPr>
          <p:cNvPr id="1425" name="Google Shape;1425;g296a49f8f82_0_6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6" name="Google Shape;1426;g296a49f8f82_0_6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39" name="Shape 1439"/>
        <p:cNvGrpSpPr/>
        <p:nvPr/>
      </p:nvGrpSpPr>
      <p:grpSpPr>
        <a:xfrm>
          <a:off x="0" y="0"/>
          <a:ext cx="0" cy="0"/>
        </a:xfrm>
      </p:grpSpPr>
      <p:sp>
        <p:nvSpPr>
          <p:cNvPr id="1440" name="Google Shape;1440;g296a49f8f82_0_4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1" name="Google Shape;1441;g296a49f8f82_0_4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82" name="Shape 1482"/>
        <p:cNvGrpSpPr/>
        <p:nvPr/>
      </p:nvGrpSpPr>
      <p:grpSpPr>
        <a:xfrm>
          <a:off x="0" y="0"/>
          <a:ext cx="0" cy="0"/>
        </a:xfrm>
      </p:grpSpPr>
      <p:sp>
        <p:nvSpPr>
          <p:cNvPr id="1483" name="Google Shape;1483;g296a49f8f82_0_60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4" name="Google Shape;1484;g296a49f8f82_0_60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34" name="Shape 1534"/>
        <p:cNvGrpSpPr/>
        <p:nvPr/>
      </p:nvGrpSpPr>
      <p:grpSpPr>
        <a:xfrm>
          <a:off x="0" y="0"/>
          <a:ext cx="0" cy="0"/>
        </a:xfrm>
      </p:grpSpPr>
      <p:sp>
        <p:nvSpPr>
          <p:cNvPr id="1535" name="Google Shape;1535;g296a49f8f82_0_6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296a49f8f82_0_6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18" name="Shape 1618"/>
        <p:cNvGrpSpPr/>
        <p:nvPr/>
      </p:nvGrpSpPr>
      <p:grpSpPr>
        <a:xfrm>
          <a:off x="0" y="0"/>
          <a:ext cx="0" cy="0"/>
        </a:xfrm>
      </p:grpSpPr>
      <p:sp>
        <p:nvSpPr>
          <p:cNvPr id="1619" name="Google Shape;1619;g296a49f8f82_0_7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0" name="Google Shape;1620;g296a49f8f82_0_7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52" name="Shape 1652"/>
        <p:cNvGrpSpPr/>
        <p:nvPr/>
      </p:nvGrpSpPr>
      <p:grpSpPr>
        <a:xfrm>
          <a:off x="0" y="0"/>
          <a:ext cx="0" cy="0"/>
        </a:xfrm>
      </p:grpSpPr>
      <p:sp>
        <p:nvSpPr>
          <p:cNvPr id="1653" name="Google Shape;1653;g296a49f8f82_0_87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4" name="Google Shape;1654;g296a49f8f82_0_8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03" name="Shape 1703"/>
        <p:cNvGrpSpPr/>
        <p:nvPr/>
      </p:nvGrpSpPr>
      <p:grpSpPr>
        <a:xfrm>
          <a:off x="0" y="0"/>
          <a:ext cx="0" cy="0"/>
        </a:xfrm>
      </p:grpSpPr>
      <p:sp>
        <p:nvSpPr>
          <p:cNvPr id="1704" name="Google Shape;1704;g296a49f8f82_0_10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5" name="Google Shape;1705;g296a49f8f82_0_10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37" name="Shape 1737"/>
        <p:cNvGrpSpPr/>
        <p:nvPr/>
      </p:nvGrpSpPr>
      <p:grpSpPr>
        <a:xfrm>
          <a:off x="0" y="0"/>
          <a:ext cx="0" cy="0"/>
        </a:xfrm>
      </p:grpSpPr>
      <p:sp>
        <p:nvSpPr>
          <p:cNvPr id="1738" name="Google Shape;1738;g296a49f8f82_0_12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9" name="Google Shape;1739;g296a49f8f82_0_12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71" name="Shape 1771"/>
        <p:cNvGrpSpPr/>
        <p:nvPr/>
      </p:nvGrpSpPr>
      <p:grpSpPr>
        <a:xfrm>
          <a:off x="0" y="0"/>
          <a:ext cx="0" cy="0"/>
        </a:xfrm>
      </p:grpSpPr>
      <p:sp>
        <p:nvSpPr>
          <p:cNvPr id="1772" name="Google Shape;1772;g296a49f8f82_0_8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296a49f8f82_0_8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25" name="Shape 1825"/>
        <p:cNvGrpSpPr/>
        <p:nvPr/>
      </p:nvGrpSpPr>
      <p:grpSpPr>
        <a:xfrm>
          <a:off x="0" y="0"/>
          <a:ext cx="0" cy="0"/>
        </a:xfrm>
      </p:grpSpPr>
      <p:sp>
        <p:nvSpPr>
          <p:cNvPr id="1826" name="Google Shape;1826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7" name="Google Shape;1827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31" name="Shape 1831"/>
        <p:cNvGrpSpPr/>
        <p:nvPr/>
      </p:nvGrpSpPr>
      <p:grpSpPr>
        <a:xfrm>
          <a:off x="0" y="0"/>
          <a:ext cx="0" cy="0"/>
        </a:xfrm>
      </p:grpSpPr>
      <p:sp>
        <p:nvSpPr>
          <p:cNvPr id="1832" name="Google Shape;1832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3" name="Google Shape;1833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image" Target="../media/image42.png" /><Relationship Id="rId64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Relationship Id="rId6" Type="http://schemas.openxmlformats.org/officeDocument/2006/relationships/image" Target="../media/image47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Relationship Id="rId6" Type="http://schemas.openxmlformats.org/officeDocument/2006/relationships/image" Target="../media/image4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8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8.png" /><Relationship Id="rId4" Type="http://schemas.openxmlformats.org/officeDocument/2006/relationships/image" Target="../media/image49.png" /><Relationship Id="rId5" Type="http://schemas.openxmlformats.org/officeDocument/2006/relationships/image" Target="../media/image44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4.png" /><Relationship Id="rId4" Type="http://schemas.openxmlformats.org/officeDocument/2006/relationships/image" Target="../media/image49.png" /><Relationship Id="rId5" Type="http://schemas.openxmlformats.org/officeDocument/2006/relationships/image" Target="../media/image48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3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50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3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50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3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50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44.png" /><Relationship Id="rId4" Type="http://schemas.openxmlformats.org/officeDocument/2006/relationships/image" Target="../media/image51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44.png" /><Relationship Id="rId4" Type="http://schemas.openxmlformats.org/officeDocument/2006/relationships/image" Target="../media/image52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44.png" /><Relationship Id="rId4" Type="http://schemas.openxmlformats.org/officeDocument/2006/relationships/image" Target="../media/image52.png" /><Relationship Id="rId5" Type="http://schemas.openxmlformats.org/officeDocument/2006/relationships/image" Target="../media/image51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44.png" /><Relationship Id="rId4" Type="http://schemas.openxmlformats.org/officeDocument/2006/relationships/image" Target="../media/image52.png" /><Relationship Id="rId5" Type="http://schemas.openxmlformats.org/officeDocument/2006/relationships/image" Target="../media/image51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44.png" /><Relationship Id="rId4" Type="http://schemas.openxmlformats.org/officeDocument/2006/relationships/image" Target="../media/image52.png" /><Relationship Id="rId5" Type="http://schemas.openxmlformats.org/officeDocument/2006/relationships/image" Target="../media/image51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50.png" /><Relationship Id="rId4" Type="http://schemas.openxmlformats.org/officeDocument/2006/relationships/image" Target="../media/image53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21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54.png" /><Relationship Id="rId4" Type="http://schemas.openxmlformats.org/officeDocument/2006/relationships/image" Target="../media/image55.png" /><Relationship Id="rId5" Type="http://schemas.openxmlformats.org/officeDocument/2006/relationships/image" Target="../media/image44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3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54.png" /><Relationship Id="rId4" Type="http://schemas.openxmlformats.org/officeDocument/2006/relationships/image" Target="../media/image55.png" /><Relationship Id="rId5" Type="http://schemas.openxmlformats.org/officeDocument/2006/relationships/image" Target="../media/image44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43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48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4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48.png" /><Relationship Id="rId4" Type="http://schemas.openxmlformats.org/officeDocument/2006/relationships/image" Target="../media/image50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8.xm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44.png" /><Relationship Id="rId4" Type="http://schemas.openxmlformats.org/officeDocument/2006/relationships/image" Target="../media/image52.png" /><Relationship Id="rId5" Type="http://schemas.openxmlformats.org/officeDocument/2006/relationships/image" Target="../media/image51.png" /><Relationship Id="rId6" Type="http://schemas.openxmlformats.org/officeDocument/2006/relationships/image" Target="../media/image46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 /><Relationship Id="rId2" Type="http://schemas.openxmlformats.org/officeDocument/2006/relationships/notesSlide" Target="../notesSlides/notesSlide30.xml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47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2.xml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47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4.xml" /><Relationship Id="rId3" Type="http://schemas.openxmlformats.org/officeDocument/2006/relationships/image" Target="../media/image47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5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 /><Relationship Id="rId2" Type="http://schemas.openxmlformats.org/officeDocument/2006/relationships/notesSlide" Target="../notesSlides/notesSlide36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37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5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Expressing an arithmetic sequence</a:t>
            </a:r>
            <a:endParaRPr/>
          </a:p>
        </p:txBody>
      </p:sp>
      <p:sp>
        <p:nvSpPr>
          <p:cNvPr id="751" name="Google Shape;751;p64"/>
          <p:cNvSpPr txBox="1"/>
          <p:nvPr>
            <p:ph type="subTitle" idx="1"/>
          </p:nvPr>
        </p:nvSpPr>
        <p:spPr>
          <a:xfrm>
            <a:off x="890225" y="4327975"/>
            <a:ext cx="5758500" cy="56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Sequences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6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282828"/>
                </a:solidFill>
                <a:highlight>
                  <a:srgbClr val="FFFFFF"/>
                </a:highlight>
              </a:rPr>
              <a:t>I can appreciate that any term in an arithmetic sequence can be expressed in terms of it’s position in the sequence.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7"/>
          <p:cNvSpPr txBox="1"/>
          <p:nvPr>
            <p:ph type="subTitle" idx="1"/>
          </p:nvPr>
        </p:nvSpPr>
        <p:spPr>
          <a:xfrm>
            <a:off x="324000" y="10698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lang="en-GB" sz="24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 b="1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b="1">
                <a:solidFill>
                  <a:schemeClr val="dk1"/>
                </a:solidFill>
              </a:rPr>
              <a:t> term</a:t>
            </a:r>
            <a:r>
              <a:rPr lang="en-GB">
                <a:solidFill>
                  <a:schemeClr val="dk1"/>
                </a:solidFill>
              </a:rPr>
              <a:t> of a sequence is the position of a term in a sequence where </a:t>
            </a:r>
            <a:r>
              <a:rPr lang="en-GB" sz="2400" i="1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>
                <a:solidFill>
                  <a:schemeClr val="dk1"/>
                </a:solidFill>
              </a:rPr>
              <a:t>stands for the term number.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dk1"/>
                </a:solidFill>
              </a:rPr>
              <a:t>For example, if </a:t>
            </a:r>
            <a:r>
              <a:rPr lang="en-GB" sz="2400" i="1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=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10</a:t>
            </a:r>
            <a:r>
              <a:rPr lang="en-GB">
                <a:solidFill>
                  <a:schemeClr val="dk1"/>
                </a:solidFill>
              </a:rPr>
              <a:t> this means the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4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>
                <a:solidFill>
                  <a:schemeClr val="dk1"/>
                </a:solidFill>
              </a:rPr>
              <a:t> term in the sequence.</a:t>
            </a:r>
            <a:endParaRPr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0" name="Shape 770"/>
        <p:cNvGrpSpPr/>
        <p:nvPr/>
      </p:nvGrpSpPr>
      <p:grpSpPr>
        <a:xfrm>
          <a:off x="0" y="0"/>
          <a:ext cx="0" cy="0"/>
        </a:xfrm>
      </p:grpSpPr>
      <p:sp>
        <p:nvSpPr>
          <p:cNvPr id="771" name="Google Shape;771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position of a term in a sequence</a:t>
            </a:r>
            <a:endParaRPr/>
          </a:p>
        </p:txBody>
      </p:sp>
      <p:sp>
        <p:nvSpPr>
          <p:cNvPr id="772" name="Google Shape;772;p68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general term of a sequence</a:t>
            </a:r>
            <a:endParaRPr/>
          </a:p>
        </p:txBody>
      </p:sp>
      <p:sp>
        <p:nvSpPr>
          <p:cNvPr id="773" name="Google Shape;773;p68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Expressing an arithmetic sequence</a:t>
            </a:r>
            <a:endParaRPr/>
          </a:p>
        </p:txBody>
      </p:sp>
      <p:pic>
        <p:nvPicPr>
          <p:cNvPr id="774" name="Google Shape;77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18" y="204989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8" name="Shape 778"/>
        <p:cNvGrpSpPr/>
        <p:nvPr/>
      </p:nvGrpSpPr>
      <p:grpSpPr>
        <a:xfrm>
          <a:off x="0" y="0"/>
          <a:ext cx="0" cy="0"/>
        </a:xfrm>
      </p:grpSpPr>
      <p:pic>
        <p:nvPicPr>
          <p:cNvPr id="779" name="Google Shape;779;p69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 flipH="1">
            <a:off x="4205997" y="2328125"/>
            <a:ext cx="1291325" cy="5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69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 flipH="1">
            <a:off x="971037" y="2328125"/>
            <a:ext cx="2075848" cy="585875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69"/>
          <p:cNvSpPr txBox="1"/>
          <p:nvPr>
            <p:ph type="body" idx="1"/>
          </p:nvPr>
        </p:nvSpPr>
        <p:spPr>
          <a:xfrm>
            <a:off x="324000" y="759300"/>
            <a:ext cx="7135200" cy="49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Our Oak students are discussing expressions.</a:t>
            </a:r>
            <a:endParaRPr/>
          </a:p>
        </p:txBody>
      </p:sp>
      <p:sp>
        <p:nvSpPr>
          <p:cNvPr id="782" name="Google Shape;782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position of a term in a sequence</a:t>
            </a:r>
            <a:endParaRPr/>
          </a:p>
        </p:txBody>
      </p:sp>
      <p:sp>
        <p:nvSpPr>
          <p:cNvPr id="783" name="Google Shape;783;p69"/>
          <p:cNvSpPr/>
          <p:nvPr/>
        </p:nvSpPr>
        <p:spPr>
          <a:xfrm>
            <a:off x="5831275" y="1219630"/>
            <a:ext cx="1845300" cy="8340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4" name="Google Shape;784;p69"/>
          <p:cNvSpPr txBox="1"/>
          <p:nvPr>
            <p:ph type="body" idx="1"/>
          </p:nvPr>
        </p:nvSpPr>
        <p:spPr>
          <a:xfrm>
            <a:off x="6667137" y="2036163"/>
            <a:ext cx="2523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5" name="Google Shape;785;p69"/>
          <p:cNvSpPr txBox="1"/>
          <p:nvPr>
            <p:ph type="body" idx="1"/>
          </p:nvPr>
        </p:nvSpPr>
        <p:spPr>
          <a:xfrm>
            <a:off x="5600337" y="1422035"/>
            <a:ext cx="2523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86" name="Google Shape;786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2262" y="2593447"/>
            <a:ext cx="788350" cy="1016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586048" y="2694473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9"/>
          <p:cNvSpPr txBox="1"/>
          <p:nvPr/>
        </p:nvSpPr>
        <p:spPr>
          <a:xfrm>
            <a:off x="6624559" y="3217470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9"/>
          <p:cNvSpPr txBox="1"/>
          <p:nvPr/>
        </p:nvSpPr>
        <p:spPr>
          <a:xfrm>
            <a:off x="3805528" y="3217470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0" name="Google Shape;790;p69"/>
          <p:cNvSpPr txBox="1"/>
          <p:nvPr/>
        </p:nvSpPr>
        <p:spPr>
          <a:xfrm>
            <a:off x="452544" y="3210145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1" name="Google Shape;791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7923" y="2644724"/>
            <a:ext cx="657913" cy="947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69"/>
          <p:cNvSpPr txBox="1"/>
          <p:nvPr>
            <p:ph type="body" idx="1"/>
          </p:nvPr>
        </p:nvSpPr>
        <p:spPr>
          <a:xfrm>
            <a:off x="324000" y="1216500"/>
            <a:ext cx="4302900" cy="49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How do you express the perimeter of </a:t>
            </a:r>
            <a:r>
              <a:rPr lang="en-GB">
                <a:solidFill>
                  <a:schemeClr val="accent4"/>
                </a:solidFill>
              </a:rPr>
              <a:t>any </a:t>
            </a:r>
            <a:r>
              <a:rPr lang="en-GB"/>
              <a:t>rectangle?</a:t>
            </a:r>
            <a:endParaRPr/>
          </a:p>
        </p:txBody>
      </p:sp>
      <p:sp>
        <p:nvSpPr>
          <p:cNvPr id="793" name="Google Shape;793;p69"/>
          <p:cNvSpPr txBox="1"/>
          <p:nvPr>
            <p:ph type="body" idx="1"/>
          </p:nvPr>
        </p:nvSpPr>
        <p:spPr>
          <a:xfrm>
            <a:off x="1180675" y="2417175"/>
            <a:ext cx="17457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b + b + h + h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4" name="Google Shape;794;p69"/>
          <p:cNvSpPr txBox="1"/>
          <p:nvPr>
            <p:ph type="body" idx="1"/>
          </p:nvPr>
        </p:nvSpPr>
        <p:spPr>
          <a:xfrm>
            <a:off x="4381075" y="2417175"/>
            <a:ext cx="10905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95" name="Google Shape;795;p69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>
            <a:off x="6526594" y="2328125"/>
            <a:ext cx="1291325" cy="585875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69"/>
          <p:cNvSpPr txBox="1"/>
          <p:nvPr>
            <p:ph type="body" idx="1"/>
          </p:nvPr>
        </p:nvSpPr>
        <p:spPr>
          <a:xfrm>
            <a:off x="6667075" y="2417175"/>
            <a:ext cx="10905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2(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7" name="Google Shape;797;p69"/>
          <p:cNvSpPr txBox="1"/>
          <p:nvPr>
            <p:ph type="body" idx="1"/>
          </p:nvPr>
        </p:nvSpPr>
        <p:spPr>
          <a:xfrm>
            <a:off x="3676800" y="4188300"/>
            <a:ext cx="20193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Who is right?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1" name="Shape 801"/>
        <p:cNvGrpSpPr/>
        <p:nvPr/>
      </p:nvGrpSpPr>
      <p:grpSpPr>
        <a:xfrm>
          <a:off x="0" y="0"/>
          <a:ext cx="0" cy="0"/>
        </a:xfrm>
      </p:grpSpPr>
      <p:sp>
        <p:nvSpPr>
          <p:cNvPr id="802" name="Google Shape;802;p70"/>
          <p:cNvSpPr txBox="1"/>
          <p:nvPr>
            <p:ph type="body" idx="1"/>
          </p:nvPr>
        </p:nvSpPr>
        <p:spPr>
          <a:xfrm>
            <a:off x="324000" y="759300"/>
            <a:ext cx="71352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Our Oak students are discussing expressions.</a:t>
            </a:r>
            <a:endParaRPr/>
          </a:p>
        </p:txBody>
      </p:sp>
      <p:sp>
        <p:nvSpPr>
          <p:cNvPr id="803" name="Google Shape;803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position of a term in a sequence</a:t>
            </a:r>
            <a:endParaRPr/>
          </a:p>
        </p:txBody>
      </p:sp>
      <p:sp>
        <p:nvSpPr>
          <p:cNvPr id="804" name="Google Shape;804;p70"/>
          <p:cNvSpPr/>
          <p:nvPr/>
        </p:nvSpPr>
        <p:spPr>
          <a:xfrm>
            <a:off x="5831275" y="1219630"/>
            <a:ext cx="1845300" cy="8340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70"/>
          <p:cNvSpPr txBox="1"/>
          <p:nvPr>
            <p:ph type="body" idx="1"/>
          </p:nvPr>
        </p:nvSpPr>
        <p:spPr>
          <a:xfrm>
            <a:off x="6667137" y="2036163"/>
            <a:ext cx="2523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6" name="Google Shape;806;p70"/>
          <p:cNvSpPr txBox="1"/>
          <p:nvPr>
            <p:ph type="body" idx="1"/>
          </p:nvPr>
        </p:nvSpPr>
        <p:spPr>
          <a:xfrm>
            <a:off x="5600337" y="1422035"/>
            <a:ext cx="2523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7" name="Google Shape;807;p70"/>
          <p:cNvSpPr txBox="1"/>
          <p:nvPr>
            <p:ph type="body" idx="1"/>
          </p:nvPr>
        </p:nvSpPr>
        <p:spPr>
          <a:xfrm>
            <a:off x="324000" y="1216500"/>
            <a:ext cx="4302900" cy="49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How do you express the perimeter of </a:t>
            </a:r>
            <a:r>
              <a:rPr lang="en-GB">
                <a:solidFill>
                  <a:schemeClr val="accent4"/>
                </a:solidFill>
              </a:rPr>
              <a:t>any </a:t>
            </a:r>
            <a:r>
              <a:rPr lang="en-GB"/>
              <a:t>rectangle?</a:t>
            </a:r>
            <a:endParaRPr/>
          </a:p>
        </p:txBody>
      </p:sp>
      <p:sp>
        <p:nvSpPr>
          <p:cNvPr id="808" name="Google Shape;808;p70"/>
          <p:cNvSpPr txBox="1"/>
          <p:nvPr>
            <p:ph type="body" idx="1"/>
          </p:nvPr>
        </p:nvSpPr>
        <p:spPr>
          <a:xfrm>
            <a:off x="324000" y="3791240"/>
            <a:ext cx="84960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All their expressions are correct however, Jacob and Andeep’s are simplified.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9" name="Google Shape;809;p70"/>
          <p:cNvSpPr txBox="1"/>
          <p:nvPr>
            <p:ph type="body" idx="1"/>
          </p:nvPr>
        </p:nvSpPr>
        <p:spPr>
          <a:xfrm>
            <a:off x="6667137" y="870098"/>
            <a:ext cx="2523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0" name="Google Shape;810;p70"/>
          <p:cNvSpPr txBox="1"/>
          <p:nvPr>
            <p:ph type="body" idx="1"/>
          </p:nvPr>
        </p:nvSpPr>
        <p:spPr>
          <a:xfrm>
            <a:off x="7733937" y="1422035"/>
            <a:ext cx="2523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11" name="Google Shape;811;p70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 flipH="1">
            <a:off x="4205997" y="2328125"/>
            <a:ext cx="1291325" cy="5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70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 flipH="1">
            <a:off x="971037" y="2328125"/>
            <a:ext cx="2075848" cy="5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2262" y="2593447"/>
            <a:ext cx="788350" cy="1016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586048" y="2694473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/>
        </p:nvSpPr>
        <p:spPr>
          <a:xfrm>
            <a:off x="6624559" y="3217470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6" name="Google Shape;816;p70"/>
          <p:cNvSpPr txBox="1"/>
          <p:nvPr/>
        </p:nvSpPr>
        <p:spPr>
          <a:xfrm>
            <a:off x="3805528" y="3217470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7" name="Google Shape;817;p70"/>
          <p:cNvSpPr txBox="1"/>
          <p:nvPr/>
        </p:nvSpPr>
        <p:spPr>
          <a:xfrm>
            <a:off x="452544" y="3210145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8" name="Google Shape;818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7923" y="2644724"/>
            <a:ext cx="657913" cy="947400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70"/>
          <p:cNvSpPr txBox="1"/>
          <p:nvPr>
            <p:ph type="body" idx="1"/>
          </p:nvPr>
        </p:nvSpPr>
        <p:spPr>
          <a:xfrm>
            <a:off x="1180675" y="2417175"/>
            <a:ext cx="17457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b + b + h + h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0" name="Google Shape;820;p70"/>
          <p:cNvSpPr txBox="1"/>
          <p:nvPr>
            <p:ph type="body" idx="1"/>
          </p:nvPr>
        </p:nvSpPr>
        <p:spPr>
          <a:xfrm>
            <a:off x="4381075" y="2417175"/>
            <a:ext cx="10905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+ 2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24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21" name="Google Shape;821;p70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>
            <a:off x="6526594" y="2328125"/>
            <a:ext cx="1291325" cy="585875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0"/>
          <p:cNvSpPr txBox="1"/>
          <p:nvPr>
            <p:ph type="body" idx="1"/>
          </p:nvPr>
        </p:nvSpPr>
        <p:spPr>
          <a:xfrm>
            <a:off x="6667075" y="2417175"/>
            <a:ext cx="10905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2(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3" name="Google Shape;823;p70"/>
          <p:cNvSpPr txBox="1"/>
          <p:nvPr>
            <p:ph type="body" idx="1"/>
          </p:nvPr>
        </p:nvSpPr>
        <p:spPr>
          <a:xfrm>
            <a:off x="324000" y="4160700"/>
            <a:ext cx="84960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Sequences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are no different. We want to express them as simply as possible too.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27" name="Shape 827"/>
        <p:cNvGrpSpPr/>
        <p:nvPr/>
      </p:nvGrpSpPr>
      <p:grpSpPr>
        <a:xfrm>
          <a:off x="0" y="0"/>
          <a:ext cx="0" cy="0"/>
        </a:xfrm>
      </p:grpSpPr>
      <p:sp>
        <p:nvSpPr>
          <p:cNvPr id="828" name="Google Shape;828;p71"/>
          <p:cNvSpPr txBox="1"/>
          <p:nvPr>
            <p:ph type="body" idx="1"/>
          </p:nvPr>
        </p:nvSpPr>
        <p:spPr>
          <a:xfrm>
            <a:off x="324000" y="759300"/>
            <a:ext cx="54504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Can you see a pattern in this sequence?</a:t>
            </a:r>
            <a:endParaRPr/>
          </a:p>
        </p:txBody>
      </p:sp>
      <p:sp>
        <p:nvSpPr>
          <p:cNvPr id="829" name="Google Shape;829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position of a term in a sequence</a:t>
            </a:r>
            <a:endParaRPr/>
          </a:p>
        </p:txBody>
      </p:sp>
      <p:sp>
        <p:nvSpPr>
          <p:cNvPr id="830" name="Google Shape;830;p71"/>
          <p:cNvSpPr txBox="1"/>
          <p:nvPr>
            <p:ph type="body" idx="1"/>
          </p:nvPr>
        </p:nvSpPr>
        <p:spPr>
          <a:xfrm>
            <a:off x="342475" y="1292700"/>
            <a:ext cx="25773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2, 4, 6, 8, 10, …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1" name="Google Shape;831;p71"/>
          <p:cNvSpPr txBox="1"/>
          <p:nvPr>
            <p:ph type="body" idx="1"/>
          </p:nvPr>
        </p:nvSpPr>
        <p:spPr>
          <a:xfrm>
            <a:off x="324000" y="1826100"/>
            <a:ext cx="39444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term-to-term rule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2" name="Google Shape;832;p71"/>
          <p:cNvSpPr txBox="1"/>
          <p:nvPr>
            <p:ph type="body" idx="1"/>
          </p:nvPr>
        </p:nvSpPr>
        <p:spPr>
          <a:xfrm>
            <a:off x="324000" y="2892900"/>
            <a:ext cx="19617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Andeep says: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3" name="Google Shape;833;p71"/>
          <p:cNvSpPr txBox="1"/>
          <p:nvPr>
            <p:ph type="body" idx="1"/>
          </p:nvPr>
        </p:nvSpPr>
        <p:spPr>
          <a:xfrm>
            <a:off x="324000" y="2359500"/>
            <a:ext cx="30456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It’s our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/>
              <a:t> times table.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34" name="Google Shape;834;p71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 flipH="1">
            <a:off x="2167163" y="2762260"/>
            <a:ext cx="3295749" cy="114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392242" y="3607105"/>
            <a:ext cx="935726" cy="1206574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71"/>
          <p:cNvSpPr txBox="1"/>
          <p:nvPr>
            <p:ph type="body" idx="1"/>
          </p:nvPr>
        </p:nvSpPr>
        <p:spPr>
          <a:xfrm>
            <a:off x="2446067" y="2869835"/>
            <a:ext cx="29853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in this sequence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200</a:t>
            </a:r>
            <a:r>
              <a:rPr lang="en-GB"/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7" name="Google Shape;837;p71"/>
          <p:cNvSpPr txBox="1"/>
          <p:nvPr>
            <p:ph type="body" idx="1"/>
          </p:nvPr>
        </p:nvSpPr>
        <p:spPr>
          <a:xfrm>
            <a:off x="5757265" y="2869835"/>
            <a:ext cx="30456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Is he right?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Is so, why?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41" name="Shape 841"/>
        <p:cNvGrpSpPr/>
        <p:nvPr/>
      </p:nvGrpSpPr>
      <p:grpSpPr>
        <a:xfrm>
          <a:off x="0" y="0"/>
          <a:ext cx="0" cy="0"/>
        </a:xfrm>
      </p:grpSpPr>
      <p:sp>
        <p:nvSpPr>
          <p:cNvPr id="842" name="Google Shape;842;p72"/>
          <p:cNvSpPr txBox="1"/>
          <p:nvPr>
            <p:ph type="body" idx="1"/>
          </p:nvPr>
        </p:nvSpPr>
        <p:spPr>
          <a:xfrm>
            <a:off x="324000" y="759300"/>
            <a:ext cx="54504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Can you see a pattern in this sequence?</a:t>
            </a:r>
            <a:endParaRPr/>
          </a:p>
        </p:txBody>
      </p:sp>
      <p:sp>
        <p:nvSpPr>
          <p:cNvPr id="843" name="Google Shape;843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position of a term in a sequence</a:t>
            </a:r>
            <a:endParaRPr/>
          </a:p>
        </p:txBody>
      </p:sp>
      <p:sp>
        <p:nvSpPr>
          <p:cNvPr id="844" name="Google Shape;844;p72"/>
          <p:cNvSpPr txBox="1"/>
          <p:nvPr>
            <p:ph type="body" idx="1"/>
          </p:nvPr>
        </p:nvSpPr>
        <p:spPr>
          <a:xfrm>
            <a:off x="3369600" y="4008300"/>
            <a:ext cx="53514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 is right because the term value is always twice the term number in 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times table.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45" name="Google Shape;845;p72"/>
          <p:cNvSpPr txBox="1"/>
          <p:nvPr>
            <p:ph type="body" idx="1"/>
          </p:nvPr>
        </p:nvSpPr>
        <p:spPr>
          <a:xfrm>
            <a:off x="342475" y="1292700"/>
            <a:ext cx="25773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2, 4, 6, 8, 10, …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6" name="Google Shape;846;p72"/>
          <p:cNvSpPr txBox="1"/>
          <p:nvPr>
            <p:ph type="body" idx="1"/>
          </p:nvPr>
        </p:nvSpPr>
        <p:spPr>
          <a:xfrm>
            <a:off x="324000" y="1826100"/>
            <a:ext cx="39444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term-to-term rule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7" name="Google Shape;847;p72"/>
          <p:cNvSpPr txBox="1"/>
          <p:nvPr>
            <p:ph type="body" idx="1"/>
          </p:nvPr>
        </p:nvSpPr>
        <p:spPr>
          <a:xfrm>
            <a:off x="324000" y="2892900"/>
            <a:ext cx="19617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Andeep says: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8" name="Google Shape;848;p72"/>
          <p:cNvSpPr txBox="1"/>
          <p:nvPr>
            <p:ph type="body" idx="1"/>
          </p:nvPr>
        </p:nvSpPr>
        <p:spPr>
          <a:xfrm>
            <a:off x="324000" y="2359500"/>
            <a:ext cx="30456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It’s our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/>
              <a:t> times table.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9" name="Google Shape;849;p72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 flipH="1">
            <a:off x="2167163" y="2762260"/>
            <a:ext cx="3295749" cy="114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392242" y="3607105"/>
            <a:ext cx="935726" cy="1206574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72"/>
          <p:cNvSpPr txBox="1"/>
          <p:nvPr>
            <p:ph type="body" idx="1"/>
          </p:nvPr>
        </p:nvSpPr>
        <p:spPr>
          <a:xfrm>
            <a:off x="2446067" y="2869835"/>
            <a:ext cx="29853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in this sequence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200</a:t>
            </a:r>
            <a:r>
              <a:rPr lang="en-GB"/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2" name="Google Shape;852;p72"/>
          <p:cNvSpPr txBox="1"/>
          <p:nvPr>
            <p:ph type="body" idx="1"/>
          </p:nvPr>
        </p:nvSpPr>
        <p:spPr>
          <a:xfrm>
            <a:off x="5757265" y="2869835"/>
            <a:ext cx="30456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Is he right?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Is so, why?</a:t>
            </a:r>
            <a:endParaRPr/>
          </a:p>
        </p:txBody>
      </p:sp>
      <p:graphicFrame>
        <p:nvGraphicFramePr>
          <p:cNvPr id="853" name="Google Shape;853;p72"/>
          <p:cNvGraphicFramePr>
            <a:graphicFrameLocks noGrp="1"/>
          </p:cNvGraphicFramePr>
          <p:nvPr/>
        </p:nvGraphicFramePr>
        <p:xfrm>
          <a:off x="4189787" y="13539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{36393E4A-1B3B-4A6D-B05D-6F587DC3BFE1}</a:tableStyleId>
              </a:tblPr>
              <a:tblGrid>
                <a:gridCol w="1896300"/>
                <a:gridCol w="392750"/>
                <a:gridCol w="392750"/>
                <a:gridCol w="392750"/>
                <a:gridCol w="392750"/>
                <a:gridCol w="392750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854" name="Google Shape;854;p72"/>
          <p:cNvPicPr preferRelativeResize="0"/>
          <p:nvPr/>
        </p:nvPicPr>
        <p:blipFill>
          <a:blip r:embed="rId5">
            <a:alphaModFix/>
          </a:blip>
          <a:srcRect l="57225" r="18284" b="84458"/>
          <a:stretch>
            <a:fillRect/>
          </a:stretch>
        </p:blipFill>
        <p:spPr>
          <a:xfrm rot="5400000">
            <a:off x="7933490" y="1529198"/>
            <a:ext cx="674876" cy="519924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2"/>
          <p:cNvSpPr txBox="1"/>
          <p:nvPr>
            <p:ph type="body" idx="1"/>
          </p:nvPr>
        </p:nvSpPr>
        <p:spPr>
          <a:xfrm>
            <a:off x="8438275" y="1632098"/>
            <a:ext cx="4140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×2</a:t>
            </a:r>
            <a:endParaRPr sz="2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59" name="Shape 859"/>
        <p:cNvGrpSpPr/>
        <p:nvPr/>
      </p:nvGrpSpPr>
      <p:grpSpPr>
        <a:xfrm>
          <a:off x="0" y="0"/>
          <a:ext cx="0" cy="0"/>
        </a:xfrm>
      </p:grpSpPr>
      <p:sp>
        <p:nvSpPr>
          <p:cNvPr id="860" name="Google Shape;860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position of a term in a sequence</a:t>
            </a:r>
            <a:endParaRPr/>
          </a:p>
        </p:txBody>
      </p:sp>
      <p:sp>
        <p:nvSpPr>
          <p:cNvPr id="861" name="Google Shape;861;p73"/>
          <p:cNvSpPr txBox="1"/>
          <p:nvPr>
            <p:ph type="body" idx="1"/>
          </p:nvPr>
        </p:nvSpPr>
        <p:spPr>
          <a:xfrm>
            <a:off x="342475" y="812435"/>
            <a:ext cx="29466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5, 10, 15, 20, 25, …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2" name="Google Shape;862;p73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 rot="5400000">
            <a:off x="7127029" y="1014201"/>
            <a:ext cx="588952" cy="453724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73"/>
          <p:cNvSpPr txBox="1"/>
          <p:nvPr>
            <p:ph type="body" idx="1"/>
          </p:nvPr>
        </p:nvSpPr>
        <p:spPr>
          <a:xfrm>
            <a:off x="7557277" y="1064100"/>
            <a:ext cx="4140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×5</a:t>
            </a:r>
            <a:endParaRPr sz="2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4" name="Google Shape;864;p73"/>
          <p:cNvSpPr txBox="1"/>
          <p:nvPr>
            <p:ph type="body" idx="1"/>
          </p:nvPr>
        </p:nvSpPr>
        <p:spPr>
          <a:xfrm>
            <a:off x="5962800" y="1942102"/>
            <a:ext cx="22473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Multiply the term number by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65" name="Google Shape;865;p73"/>
          <p:cNvGraphicFramePr>
            <a:graphicFrameLocks noGrp="1"/>
          </p:cNvGraphicFramePr>
          <p:nvPr/>
        </p:nvGraphicFramePr>
        <p:xfrm>
          <a:off x="3384989" y="8238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{36393E4A-1B3B-4A6D-B05D-6F587DC3BFE1}</a:tableStyleId>
              </a:tblPr>
              <a:tblGrid>
                <a:gridCol w="1896300"/>
                <a:gridCol w="392750"/>
                <a:gridCol w="392750"/>
                <a:gridCol w="392750"/>
                <a:gridCol w="392750"/>
                <a:gridCol w="392750"/>
              </a:tblGrid>
              <a:tr h="425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92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866" name="Google Shape;866;p73"/>
          <p:cNvSpPr txBox="1"/>
          <p:nvPr>
            <p:ph type="body" idx="1"/>
          </p:nvPr>
        </p:nvSpPr>
        <p:spPr>
          <a:xfrm>
            <a:off x="324000" y="1919027"/>
            <a:ext cx="47643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relationship helps us find any term number in this sequence?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7" name="Google Shape;867;p73"/>
          <p:cNvSpPr txBox="1"/>
          <p:nvPr/>
        </p:nvSpPr>
        <p:spPr>
          <a:xfrm>
            <a:off x="6971331" y="33279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8" name="Google Shape;868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1959" y="2799632"/>
            <a:ext cx="777007" cy="896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73"/>
          <p:cNvPicPr preferRelativeResize="0"/>
          <p:nvPr/>
        </p:nvPicPr>
        <p:blipFill>
          <a:blip r:embed="rId5">
            <a:alphaModFix/>
          </a:blip>
          <a:srcRect t="56280" r="69082"/>
          <a:stretch>
            <a:fillRect/>
          </a:stretch>
        </p:blipFill>
        <p:spPr>
          <a:xfrm>
            <a:off x="5755525" y="1838452"/>
            <a:ext cx="2611599" cy="970488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3"/>
          <p:cNvSpPr txBox="1"/>
          <p:nvPr>
            <p:ph type="body" idx="1"/>
          </p:nvPr>
        </p:nvSpPr>
        <p:spPr>
          <a:xfrm>
            <a:off x="324000" y="4018023"/>
            <a:ext cx="71352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Whilst the language is precise, it is not very efficient. To improve efficiency we say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to mean </a:t>
            </a:r>
            <a:r>
              <a:rPr lang="en-GB" sz="2000">
                <a:solidFill>
                  <a:schemeClr val="accent4"/>
                </a:solidFill>
              </a:rPr>
              <a:t>any</a:t>
            </a:r>
            <a:r>
              <a:rPr lang="en-GB" sz="2000"/>
              <a:t> term number.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1" name="Google Shape;871;p73"/>
          <p:cNvSpPr txBox="1"/>
          <p:nvPr>
            <p:ph type="body" idx="1"/>
          </p:nvPr>
        </p:nvSpPr>
        <p:spPr>
          <a:xfrm>
            <a:off x="366404" y="2990098"/>
            <a:ext cx="66501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Alex is right. This works for all terms in the sequence. Example, 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/>
              <a:t>term 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 × 5 = 50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75" name="Shape 875"/>
        <p:cNvGrpSpPr/>
        <p:nvPr/>
      </p:nvGrpSpPr>
      <p:grpSpPr>
        <a:xfrm>
          <a:off x="0" y="0"/>
          <a:ext cx="0" cy="0"/>
        </a:xfrm>
      </p:grpSpPr>
      <p:graphicFrame>
        <p:nvGraphicFramePr>
          <p:cNvPr id="876" name="Google Shape;876;p74"/>
          <p:cNvGraphicFramePr>
            <a:graphicFrameLocks noGrp="1"/>
          </p:cNvGraphicFramePr>
          <p:nvPr/>
        </p:nvGraphicFramePr>
        <p:xfrm>
          <a:off x="3384989" y="8238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{36393E4A-1B3B-4A6D-B05D-6F587DC3BFE1}</a:tableStyleId>
              </a:tblPr>
              <a:tblGrid>
                <a:gridCol w="1896300"/>
                <a:gridCol w="392750"/>
                <a:gridCol w="392750"/>
                <a:gridCol w="392750"/>
                <a:gridCol w="392750"/>
                <a:gridCol w="392750"/>
              </a:tblGrid>
              <a:tr h="425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92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877" name="Google Shape;877;p74"/>
          <p:cNvPicPr preferRelativeResize="0"/>
          <p:nvPr/>
        </p:nvPicPr>
        <p:blipFill>
          <a:blip r:embed="rId3">
            <a:alphaModFix/>
          </a:blip>
          <a:srcRect t="56280" r="69082"/>
          <a:stretch>
            <a:fillRect/>
          </a:stretch>
        </p:blipFill>
        <p:spPr>
          <a:xfrm>
            <a:off x="3356263" y="3237643"/>
            <a:ext cx="2182098" cy="588976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74"/>
          <p:cNvSpPr txBox="1"/>
          <p:nvPr>
            <p:ph type="body" idx="1"/>
          </p:nvPr>
        </p:nvSpPr>
        <p:spPr>
          <a:xfrm>
            <a:off x="324000" y="3311235"/>
            <a:ext cx="27204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Alex can now say: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9" name="Google Shape;879;p74"/>
          <p:cNvSpPr txBox="1"/>
          <p:nvPr>
            <p:ph type="body" idx="1"/>
          </p:nvPr>
        </p:nvSpPr>
        <p:spPr>
          <a:xfrm>
            <a:off x="324025" y="2756543"/>
            <a:ext cx="59328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= 10</a:t>
            </a:r>
            <a:r>
              <a:rPr lang="en-GB" sz="2000"/>
              <a:t> means 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/>
              <a:t> number in the sequence.</a:t>
            </a:r>
            <a:endParaRPr sz="2000"/>
          </a:p>
        </p:txBody>
      </p:sp>
      <p:sp>
        <p:nvSpPr>
          <p:cNvPr id="880" name="Google Shape;880;p74"/>
          <p:cNvSpPr txBox="1"/>
          <p:nvPr>
            <p:ph type="body" idx="1"/>
          </p:nvPr>
        </p:nvSpPr>
        <p:spPr>
          <a:xfrm>
            <a:off x="350600" y="4454235"/>
            <a:ext cx="8358900" cy="30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Using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the language has become more concise.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1" name="Google Shape;881;p74"/>
          <p:cNvSpPr txBox="1"/>
          <p:nvPr>
            <p:ph type="body" idx="1"/>
          </p:nvPr>
        </p:nvSpPr>
        <p:spPr>
          <a:xfrm>
            <a:off x="3505863" y="3329763"/>
            <a:ext cx="22473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Multiply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by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2" name="Google Shape;882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5022" y="3547623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position of a term in a sequence</a:t>
            </a:r>
            <a:endParaRPr/>
          </a:p>
        </p:txBody>
      </p:sp>
      <p:sp>
        <p:nvSpPr>
          <p:cNvPr id="884" name="Google Shape;884;p74"/>
          <p:cNvSpPr txBox="1"/>
          <p:nvPr>
            <p:ph type="body" idx="1"/>
          </p:nvPr>
        </p:nvSpPr>
        <p:spPr>
          <a:xfrm>
            <a:off x="342475" y="812435"/>
            <a:ext cx="29466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5, 10, 15, 20, 25, …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5" name="Google Shape;885;p74"/>
          <p:cNvPicPr preferRelativeResize="0"/>
          <p:nvPr/>
        </p:nvPicPr>
        <p:blipFill>
          <a:blip r:embed="rId5">
            <a:alphaModFix/>
          </a:blip>
          <a:srcRect l="57225" r="18284" b="84458"/>
          <a:stretch>
            <a:fillRect/>
          </a:stretch>
        </p:blipFill>
        <p:spPr>
          <a:xfrm rot="5400000">
            <a:off x="7127029" y="1014201"/>
            <a:ext cx="588952" cy="453724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74"/>
          <p:cNvSpPr txBox="1"/>
          <p:nvPr>
            <p:ph type="body" idx="1"/>
          </p:nvPr>
        </p:nvSpPr>
        <p:spPr>
          <a:xfrm>
            <a:off x="7557277" y="1064100"/>
            <a:ext cx="4140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×5</a:t>
            </a:r>
            <a:endParaRPr sz="2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7" name="Google Shape;887;p74"/>
          <p:cNvSpPr txBox="1"/>
          <p:nvPr/>
        </p:nvSpPr>
        <p:spPr>
          <a:xfrm>
            <a:off x="327900" y="1881935"/>
            <a:ext cx="7977900" cy="7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22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 b="1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term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a sequence is the position of a term in a sequence where </a:t>
            </a:r>
            <a:r>
              <a:rPr lang="en-GB" sz="2200" i="1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 i="1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stands for the term number.</a:t>
            </a:r>
            <a:endParaRPr sz="2000"/>
          </a:p>
        </p:txBody>
      </p:sp>
      <p:sp>
        <p:nvSpPr>
          <p:cNvPr id="888" name="Google Shape;888;p74"/>
          <p:cNvSpPr txBox="1"/>
          <p:nvPr/>
        </p:nvSpPr>
        <p:spPr>
          <a:xfrm>
            <a:off x="3423600" y="874800"/>
            <a:ext cx="18684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Term number (</a:t>
            </a:r>
            <a:r>
              <a:rPr lang="en-GB" sz="20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92" name="Shape 892"/>
        <p:cNvGrpSpPr/>
        <p:nvPr/>
      </p:nvGrpSpPr>
      <p:grpSpPr>
        <a:xfrm>
          <a:off x="0" y="0"/>
          <a:ext cx="0" cy="0"/>
        </a:xfrm>
      </p:grpSpPr>
      <p:sp>
        <p:nvSpPr>
          <p:cNvPr id="893" name="Google Shape;893;p7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 sequences we use the letter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 to represent what?</a:t>
            </a:r>
            <a:endParaRPr/>
          </a:p>
        </p:txBody>
      </p:sp>
      <p:sp>
        <p:nvSpPr>
          <p:cNvPr id="894" name="Google Shape;894;p7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position of a term in a sequence</a:t>
            </a:r>
            <a:endParaRPr/>
          </a:p>
        </p:txBody>
      </p:sp>
      <p:sp>
        <p:nvSpPr>
          <p:cNvPr id="895" name="Google Shape;895;p75"/>
          <p:cNvSpPr txBox="1"/>
          <p:nvPr>
            <p:ph type="subTitle" idx="1"/>
          </p:nvPr>
        </p:nvSpPr>
        <p:spPr>
          <a:xfrm>
            <a:off x="1034425" y="1837775"/>
            <a:ext cx="29235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term number.</a:t>
            </a:r>
            <a:endParaRPr/>
          </a:p>
        </p:txBody>
      </p:sp>
      <p:sp>
        <p:nvSpPr>
          <p:cNvPr id="896" name="Google Shape;896;p75"/>
          <p:cNvSpPr txBox="1"/>
          <p:nvPr>
            <p:ph type="subTitle" idx="3"/>
          </p:nvPr>
        </p:nvSpPr>
        <p:spPr>
          <a:xfrm>
            <a:off x="1034425" y="2794249"/>
            <a:ext cx="29235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term value.</a:t>
            </a:r>
            <a:endParaRPr/>
          </a:p>
        </p:txBody>
      </p:sp>
      <p:sp>
        <p:nvSpPr>
          <p:cNvPr id="897" name="Google Shape;897;p7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relationship between term number and term value.</a:t>
            </a:r>
            <a:endParaRPr/>
          </a:p>
        </p:txBody>
      </p:sp>
      <p:pic>
        <p:nvPicPr>
          <p:cNvPr id="898" name="Google Shape;898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8383" y="18531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75"/>
          <p:cNvSpPr txBox="1"/>
          <p:nvPr>
            <p:ph type="title"/>
          </p:nvPr>
        </p:nvSpPr>
        <p:spPr>
          <a:xfrm>
            <a:off x="4034125" y="1797025"/>
            <a:ext cx="47859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 sequences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represents our term number.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3" name="Shape 903"/>
        <p:cNvGrpSpPr/>
        <p:nvPr/>
      </p:nvGrpSpPr>
      <p:grpSpPr>
        <a:xfrm>
          <a:off x="0" y="0"/>
          <a:ext cx="0" cy="0"/>
        </a:xfrm>
      </p:grpSpPr>
      <p:sp>
        <p:nvSpPr>
          <p:cNvPr id="904" name="Google Shape;904;p7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 sequences,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lang="en-GB"/>
              <a:t> means what?</a:t>
            </a:r>
            <a:endParaRPr/>
          </a:p>
        </p:txBody>
      </p:sp>
      <p:sp>
        <p:nvSpPr>
          <p:cNvPr id="905" name="Google Shape;905;p7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position of a term in a sequence</a:t>
            </a:r>
            <a:endParaRPr/>
          </a:p>
        </p:txBody>
      </p:sp>
      <p:sp>
        <p:nvSpPr>
          <p:cNvPr id="906" name="Google Shape;906;p76"/>
          <p:cNvSpPr txBox="1"/>
          <p:nvPr>
            <p:ph type="subTitle" idx="1"/>
          </p:nvPr>
        </p:nvSpPr>
        <p:spPr>
          <a:xfrm>
            <a:off x="1034425" y="3761312"/>
            <a:ext cx="29235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number.</a:t>
            </a:r>
            <a:endParaRPr/>
          </a:p>
        </p:txBody>
      </p:sp>
      <p:sp>
        <p:nvSpPr>
          <p:cNvPr id="907" name="Google Shape;907;p76"/>
          <p:cNvSpPr txBox="1"/>
          <p:nvPr>
            <p:ph type="subTitle" idx="3"/>
          </p:nvPr>
        </p:nvSpPr>
        <p:spPr>
          <a:xfrm>
            <a:off x="1034425" y="2794250"/>
            <a:ext cx="36330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value of the term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/>
              <a:t>.</a:t>
            </a:r>
            <a:endParaRPr/>
          </a:p>
        </p:txBody>
      </p:sp>
      <p:sp>
        <p:nvSpPr>
          <p:cNvPr id="908" name="Google Shape;908;p76"/>
          <p:cNvSpPr txBox="1"/>
          <p:nvPr>
            <p:ph type="subTitle" idx="4"/>
          </p:nvPr>
        </p:nvSpPr>
        <p:spPr>
          <a:xfrm>
            <a:off x="1034425" y="1850442"/>
            <a:ext cx="49302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solution to the equation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/>
              <a:t>.</a:t>
            </a:r>
            <a:endParaRPr/>
          </a:p>
        </p:txBody>
      </p:sp>
      <p:pic>
        <p:nvPicPr>
          <p:cNvPr id="909" name="Google Shape;909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1783" y="3776688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76"/>
          <p:cNvSpPr txBox="1"/>
          <p:nvPr>
            <p:ph type="title"/>
          </p:nvPr>
        </p:nvSpPr>
        <p:spPr>
          <a:xfrm>
            <a:off x="4830335" y="3762162"/>
            <a:ext cx="39141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means 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 number.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1" name="Google Shape;911;p76"/>
          <p:cNvSpPr txBox="1"/>
          <p:nvPr>
            <p:ph type="title"/>
          </p:nvPr>
        </p:nvSpPr>
        <p:spPr>
          <a:xfrm>
            <a:off x="4667350" y="2459750"/>
            <a:ext cx="3965700" cy="72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term value will be determined by the relationship between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 the term value.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15" name="Shape 915"/>
        <p:cNvGrpSpPr/>
        <p:nvPr/>
      </p:nvGrpSpPr>
      <p:grpSpPr>
        <a:xfrm>
          <a:off x="0" y="0"/>
          <a:ext cx="0" cy="0"/>
        </a:xfrm>
      </p:grpSpPr>
      <p:sp>
        <p:nvSpPr>
          <p:cNvPr id="916" name="Google Shape;916;p77"/>
          <p:cNvSpPr txBox="1"/>
          <p:nvPr>
            <p:ph type="title"/>
          </p:nvPr>
        </p:nvSpPr>
        <p:spPr>
          <a:xfrm>
            <a:off x="324000" y="748775"/>
            <a:ext cx="68094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When discussing the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100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number which would we use?</a:t>
            </a:r>
            <a:endParaRPr/>
          </a:p>
        </p:txBody>
      </p:sp>
      <p:sp>
        <p:nvSpPr>
          <p:cNvPr id="917" name="Google Shape;917;p7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position of a term in a sequence</a:t>
            </a:r>
            <a:endParaRPr/>
          </a:p>
        </p:txBody>
      </p:sp>
      <p:sp>
        <p:nvSpPr>
          <p:cNvPr id="918" name="Google Shape;918;p77"/>
          <p:cNvSpPr txBox="1"/>
          <p:nvPr>
            <p:ph type="subTitle" idx="1"/>
          </p:nvPr>
        </p:nvSpPr>
        <p:spPr>
          <a:xfrm>
            <a:off x="1034425" y="1837775"/>
            <a:ext cx="6504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/>
          </a:p>
        </p:txBody>
      </p:sp>
      <p:sp>
        <p:nvSpPr>
          <p:cNvPr id="919" name="Google Shape;919;p77"/>
          <p:cNvSpPr txBox="1"/>
          <p:nvPr>
            <p:ph type="subTitle" idx="3"/>
          </p:nvPr>
        </p:nvSpPr>
        <p:spPr>
          <a:xfrm>
            <a:off x="1034425" y="2794250"/>
            <a:ext cx="11589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+ 100</a:t>
            </a:r>
            <a:endParaRPr/>
          </a:p>
        </p:txBody>
      </p:sp>
      <p:sp>
        <p:nvSpPr>
          <p:cNvPr id="920" name="Google Shape;920;p77"/>
          <p:cNvSpPr txBox="1"/>
          <p:nvPr>
            <p:ph type="subTitle" idx="4"/>
          </p:nvPr>
        </p:nvSpPr>
        <p:spPr>
          <a:xfrm>
            <a:off x="1034425" y="3766975"/>
            <a:ext cx="11589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100</a:t>
            </a:r>
            <a:endParaRPr/>
          </a:p>
        </p:txBody>
      </p:sp>
      <p:pic>
        <p:nvPicPr>
          <p:cNvPr id="921" name="Google Shape;921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6713" y="3799753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77"/>
          <p:cNvSpPr txBox="1"/>
          <p:nvPr>
            <p:ph type="title"/>
          </p:nvPr>
        </p:nvSpPr>
        <p:spPr>
          <a:xfrm>
            <a:off x="2087135" y="1838625"/>
            <a:ext cx="39141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is just a number.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3" name="Google Shape;923;p77"/>
          <p:cNvSpPr txBox="1"/>
          <p:nvPr>
            <p:ph type="title"/>
          </p:nvPr>
        </p:nvSpPr>
        <p:spPr>
          <a:xfrm>
            <a:off x="2872200" y="3766700"/>
            <a:ext cx="59478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100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means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number in a sequence.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4" name="Google Shape;924;p77"/>
          <p:cNvSpPr txBox="1"/>
          <p:nvPr>
            <p:ph type="title"/>
          </p:nvPr>
        </p:nvSpPr>
        <p:spPr>
          <a:xfrm>
            <a:off x="2592942" y="2794627"/>
            <a:ext cx="39141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+ 100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is an expression.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28" name="Shape 928"/>
        <p:cNvGrpSpPr/>
        <p:nvPr/>
      </p:nvGrpSpPr>
      <p:grpSpPr>
        <a:xfrm>
          <a:off x="0" y="0"/>
          <a:ext cx="0" cy="0"/>
        </a:xfrm>
      </p:grpSpPr>
      <p:pic>
        <p:nvPicPr>
          <p:cNvPr id="929" name="Google Shape;929;p78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484960" y="2839105"/>
            <a:ext cx="5170749" cy="1033424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position of a term in a sequence</a:t>
            </a:r>
            <a:endParaRPr/>
          </a:p>
        </p:txBody>
      </p:sp>
      <p:sp>
        <p:nvSpPr>
          <p:cNvPr id="931" name="Google Shape;931;p78"/>
          <p:cNvSpPr txBox="1"/>
          <p:nvPr>
            <p:ph type="body" idx="1"/>
          </p:nvPr>
        </p:nvSpPr>
        <p:spPr>
          <a:xfrm>
            <a:off x="323998" y="810625"/>
            <a:ext cx="71352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Aisha and Jun are laying out tables in the dining room and they notice a pattern.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32" name="Google Shape;932;p78"/>
          <p:cNvGrpSpPr/>
          <p:nvPr/>
        </p:nvGrpSpPr>
        <p:grpSpPr>
          <a:xfrm>
            <a:off x="1243620" y="1518596"/>
            <a:ext cx="809396" cy="1181344"/>
            <a:chOff x="405430" y="1671030"/>
            <a:chExt cx="1225800" cy="1789102"/>
          </a:xfrm>
        </p:grpSpPr>
        <p:sp>
          <p:nvSpPr>
            <p:cNvPr id="933" name="Google Shape;933;p78"/>
            <p:cNvSpPr/>
            <p:nvPr/>
          </p:nvSpPr>
          <p:spPr>
            <a:xfrm>
              <a:off x="781912" y="2028950"/>
              <a:ext cx="472500" cy="10653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4" name="Google Shape;934;p78"/>
            <p:cNvSpPr/>
            <p:nvPr/>
          </p:nvSpPr>
          <p:spPr>
            <a:xfrm>
              <a:off x="862630" y="167103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5" name="Google Shape;935;p78"/>
            <p:cNvSpPr/>
            <p:nvPr/>
          </p:nvSpPr>
          <p:spPr>
            <a:xfrm>
              <a:off x="862630" y="3160433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6" name="Google Shape;936;p78"/>
            <p:cNvSpPr/>
            <p:nvPr/>
          </p:nvSpPr>
          <p:spPr>
            <a:xfrm>
              <a:off x="405430" y="205203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7" name="Google Shape;937;p78"/>
            <p:cNvSpPr/>
            <p:nvPr/>
          </p:nvSpPr>
          <p:spPr>
            <a:xfrm>
              <a:off x="405430" y="2409965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8" name="Google Shape;938;p78"/>
            <p:cNvSpPr/>
            <p:nvPr/>
          </p:nvSpPr>
          <p:spPr>
            <a:xfrm>
              <a:off x="405430" y="276790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9" name="Google Shape;939;p78"/>
            <p:cNvSpPr/>
            <p:nvPr/>
          </p:nvSpPr>
          <p:spPr>
            <a:xfrm>
              <a:off x="1319830" y="205203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0" name="Google Shape;940;p78"/>
            <p:cNvSpPr/>
            <p:nvPr/>
          </p:nvSpPr>
          <p:spPr>
            <a:xfrm>
              <a:off x="1319830" y="2409965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1" name="Google Shape;941;p78"/>
            <p:cNvSpPr/>
            <p:nvPr/>
          </p:nvSpPr>
          <p:spPr>
            <a:xfrm>
              <a:off x="1319830" y="276790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2" name="Google Shape;942;p78"/>
          <p:cNvGrpSpPr/>
          <p:nvPr/>
        </p:nvGrpSpPr>
        <p:grpSpPr>
          <a:xfrm>
            <a:off x="2624966" y="1518596"/>
            <a:ext cx="1111285" cy="1181344"/>
            <a:chOff x="2497427" y="1671030"/>
            <a:chExt cx="1683000" cy="1789102"/>
          </a:xfrm>
        </p:grpSpPr>
        <p:sp>
          <p:nvSpPr>
            <p:cNvPr id="943" name="Google Shape;943;p78"/>
            <p:cNvSpPr/>
            <p:nvPr/>
          </p:nvSpPr>
          <p:spPr>
            <a:xfrm>
              <a:off x="2873910" y="2028950"/>
              <a:ext cx="472500" cy="10653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4" name="Google Shape;944;p78"/>
            <p:cNvSpPr/>
            <p:nvPr/>
          </p:nvSpPr>
          <p:spPr>
            <a:xfrm>
              <a:off x="2954627" y="167103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5" name="Google Shape;945;p78"/>
            <p:cNvSpPr/>
            <p:nvPr/>
          </p:nvSpPr>
          <p:spPr>
            <a:xfrm>
              <a:off x="2954627" y="3160433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6" name="Google Shape;946;p78"/>
            <p:cNvSpPr/>
            <p:nvPr/>
          </p:nvSpPr>
          <p:spPr>
            <a:xfrm>
              <a:off x="2497427" y="205203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7" name="Google Shape;947;p78"/>
            <p:cNvSpPr/>
            <p:nvPr/>
          </p:nvSpPr>
          <p:spPr>
            <a:xfrm>
              <a:off x="2497427" y="2409965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8" name="Google Shape;948;p78"/>
            <p:cNvSpPr/>
            <p:nvPr/>
          </p:nvSpPr>
          <p:spPr>
            <a:xfrm>
              <a:off x="2497427" y="276790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9" name="Google Shape;949;p78"/>
            <p:cNvSpPr/>
            <p:nvPr/>
          </p:nvSpPr>
          <p:spPr>
            <a:xfrm>
              <a:off x="3331110" y="2028950"/>
              <a:ext cx="472500" cy="10653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0" name="Google Shape;950;p78"/>
            <p:cNvSpPr/>
            <p:nvPr/>
          </p:nvSpPr>
          <p:spPr>
            <a:xfrm>
              <a:off x="3411827" y="167103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1" name="Google Shape;951;p78"/>
            <p:cNvSpPr/>
            <p:nvPr/>
          </p:nvSpPr>
          <p:spPr>
            <a:xfrm>
              <a:off x="3411827" y="3160433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2" name="Google Shape;952;p78"/>
            <p:cNvSpPr/>
            <p:nvPr/>
          </p:nvSpPr>
          <p:spPr>
            <a:xfrm>
              <a:off x="3869027" y="205203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3" name="Google Shape;953;p78"/>
            <p:cNvSpPr/>
            <p:nvPr/>
          </p:nvSpPr>
          <p:spPr>
            <a:xfrm>
              <a:off x="3869027" y="2409965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4" name="Google Shape;954;p78"/>
            <p:cNvSpPr/>
            <p:nvPr/>
          </p:nvSpPr>
          <p:spPr>
            <a:xfrm>
              <a:off x="3869027" y="276790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5" name="Google Shape;955;p78"/>
          <p:cNvGrpSpPr/>
          <p:nvPr/>
        </p:nvGrpSpPr>
        <p:grpSpPr>
          <a:xfrm>
            <a:off x="4161882" y="1518596"/>
            <a:ext cx="1413174" cy="1181344"/>
            <a:chOff x="4825030" y="1671030"/>
            <a:chExt cx="2140200" cy="1789102"/>
          </a:xfrm>
        </p:grpSpPr>
        <p:sp>
          <p:nvSpPr>
            <p:cNvPr id="956" name="Google Shape;956;p78"/>
            <p:cNvSpPr/>
            <p:nvPr/>
          </p:nvSpPr>
          <p:spPr>
            <a:xfrm>
              <a:off x="6115912" y="2028950"/>
              <a:ext cx="472500" cy="10653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7" name="Google Shape;957;p78"/>
            <p:cNvSpPr/>
            <p:nvPr/>
          </p:nvSpPr>
          <p:spPr>
            <a:xfrm>
              <a:off x="6196630" y="167103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8" name="Google Shape;958;p78"/>
            <p:cNvSpPr/>
            <p:nvPr/>
          </p:nvSpPr>
          <p:spPr>
            <a:xfrm>
              <a:off x="6196630" y="3160433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9" name="Google Shape;959;p78"/>
            <p:cNvSpPr/>
            <p:nvPr/>
          </p:nvSpPr>
          <p:spPr>
            <a:xfrm>
              <a:off x="6653830" y="205203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0" name="Google Shape;960;p78"/>
            <p:cNvSpPr/>
            <p:nvPr/>
          </p:nvSpPr>
          <p:spPr>
            <a:xfrm>
              <a:off x="6653830" y="2409965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1" name="Google Shape;961;p78"/>
            <p:cNvSpPr/>
            <p:nvPr/>
          </p:nvSpPr>
          <p:spPr>
            <a:xfrm>
              <a:off x="6653830" y="276790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2" name="Google Shape;962;p78"/>
            <p:cNvSpPr/>
            <p:nvPr/>
          </p:nvSpPr>
          <p:spPr>
            <a:xfrm>
              <a:off x="5201512" y="2028950"/>
              <a:ext cx="472500" cy="10653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3" name="Google Shape;963;p78"/>
            <p:cNvSpPr/>
            <p:nvPr/>
          </p:nvSpPr>
          <p:spPr>
            <a:xfrm>
              <a:off x="5282230" y="167103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4" name="Google Shape;964;p78"/>
            <p:cNvSpPr/>
            <p:nvPr/>
          </p:nvSpPr>
          <p:spPr>
            <a:xfrm>
              <a:off x="5282230" y="3160433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5" name="Google Shape;965;p78"/>
            <p:cNvSpPr/>
            <p:nvPr/>
          </p:nvSpPr>
          <p:spPr>
            <a:xfrm>
              <a:off x="4825030" y="205203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6" name="Google Shape;966;p78"/>
            <p:cNvSpPr/>
            <p:nvPr/>
          </p:nvSpPr>
          <p:spPr>
            <a:xfrm>
              <a:off x="4825030" y="2409965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7" name="Google Shape;967;p78"/>
            <p:cNvSpPr/>
            <p:nvPr/>
          </p:nvSpPr>
          <p:spPr>
            <a:xfrm>
              <a:off x="4825030" y="276790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8" name="Google Shape;968;p78"/>
            <p:cNvSpPr/>
            <p:nvPr/>
          </p:nvSpPr>
          <p:spPr>
            <a:xfrm>
              <a:off x="5658712" y="2028950"/>
              <a:ext cx="472500" cy="10653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9" name="Google Shape;969;p78"/>
            <p:cNvSpPr/>
            <p:nvPr/>
          </p:nvSpPr>
          <p:spPr>
            <a:xfrm>
              <a:off x="5739430" y="167103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0" name="Google Shape;970;p78"/>
            <p:cNvSpPr/>
            <p:nvPr/>
          </p:nvSpPr>
          <p:spPr>
            <a:xfrm>
              <a:off x="5739430" y="3160433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71" name="Google Shape;971;p78"/>
          <p:cNvSpPr txBox="1"/>
          <p:nvPr>
            <p:ph type="body" idx="1"/>
          </p:nvPr>
        </p:nvSpPr>
        <p:spPr>
          <a:xfrm>
            <a:off x="903900" y="2902623"/>
            <a:ext cx="47172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8, 10, 12, 14, …</a:t>
            </a:r>
            <a:r>
              <a:rPr lang="en-GB" sz="2000"/>
              <a:t> The number of people makes an arithmetic sequence.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72" name="Google Shape;972;p78"/>
          <p:cNvGrpSpPr/>
          <p:nvPr/>
        </p:nvGrpSpPr>
        <p:grpSpPr>
          <a:xfrm>
            <a:off x="6066882" y="1518596"/>
            <a:ext cx="1717857" cy="1181452"/>
            <a:chOff x="6219282" y="1518596"/>
            <a:chExt cx="1717857" cy="1181452"/>
          </a:xfrm>
        </p:grpSpPr>
        <p:sp>
          <p:nvSpPr>
            <p:cNvPr id="973" name="Google Shape;973;p78"/>
            <p:cNvSpPr/>
            <p:nvPr/>
          </p:nvSpPr>
          <p:spPr>
            <a:xfrm>
              <a:off x="7071652" y="1754931"/>
              <a:ext cx="311992" cy="703418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4" name="Google Shape;974;p78"/>
            <p:cNvSpPr/>
            <p:nvPr/>
          </p:nvSpPr>
          <p:spPr>
            <a:xfrm>
              <a:off x="7124949" y="1518596"/>
              <a:ext cx="205617" cy="197892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5" name="Google Shape;975;p78"/>
            <p:cNvSpPr/>
            <p:nvPr/>
          </p:nvSpPr>
          <p:spPr>
            <a:xfrm>
              <a:off x="7124949" y="2502049"/>
              <a:ext cx="205617" cy="197892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6" name="Google Shape;976;p78"/>
            <p:cNvSpPr/>
            <p:nvPr/>
          </p:nvSpPr>
          <p:spPr>
            <a:xfrm>
              <a:off x="7731639" y="1770170"/>
              <a:ext cx="205500" cy="1980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7" name="Google Shape;977;p78"/>
            <p:cNvSpPr/>
            <p:nvPr/>
          </p:nvSpPr>
          <p:spPr>
            <a:xfrm>
              <a:off x="7731639" y="2006515"/>
              <a:ext cx="205500" cy="1980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8" name="Google Shape;978;p78"/>
            <p:cNvSpPr/>
            <p:nvPr/>
          </p:nvSpPr>
          <p:spPr>
            <a:xfrm>
              <a:off x="7731639" y="2242859"/>
              <a:ext cx="205500" cy="1980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9" name="Google Shape;979;p78"/>
            <p:cNvSpPr/>
            <p:nvPr/>
          </p:nvSpPr>
          <p:spPr>
            <a:xfrm>
              <a:off x="6467873" y="1754931"/>
              <a:ext cx="311992" cy="703418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0" name="Google Shape;980;p78"/>
            <p:cNvSpPr/>
            <p:nvPr/>
          </p:nvSpPr>
          <p:spPr>
            <a:xfrm>
              <a:off x="6521171" y="1518596"/>
              <a:ext cx="205617" cy="197892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1" name="Google Shape;981;p78"/>
            <p:cNvSpPr/>
            <p:nvPr/>
          </p:nvSpPr>
          <p:spPr>
            <a:xfrm>
              <a:off x="6521171" y="2502049"/>
              <a:ext cx="205617" cy="197892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2" name="Google Shape;982;p78"/>
            <p:cNvSpPr/>
            <p:nvPr/>
          </p:nvSpPr>
          <p:spPr>
            <a:xfrm>
              <a:off x="6219282" y="1770170"/>
              <a:ext cx="205617" cy="197892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3" name="Google Shape;983;p78"/>
            <p:cNvSpPr/>
            <p:nvPr/>
          </p:nvSpPr>
          <p:spPr>
            <a:xfrm>
              <a:off x="6219282" y="2006515"/>
              <a:ext cx="205617" cy="197892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4" name="Google Shape;984;p78"/>
            <p:cNvSpPr/>
            <p:nvPr/>
          </p:nvSpPr>
          <p:spPr>
            <a:xfrm>
              <a:off x="6219282" y="2242859"/>
              <a:ext cx="205617" cy="197892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5" name="Google Shape;985;p78"/>
            <p:cNvSpPr/>
            <p:nvPr/>
          </p:nvSpPr>
          <p:spPr>
            <a:xfrm>
              <a:off x="6769763" y="1754931"/>
              <a:ext cx="311992" cy="703418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6" name="Google Shape;986;p78"/>
            <p:cNvSpPr/>
            <p:nvPr/>
          </p:nvSpPr>
          <p:spPr>
            <a:xfrm>
              <a:off x="6823060" y="1518596"/>
              <a:ext cx="205617" cy="197892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7" name="Google Shape;987;p78"/>
            <p:cNvSpPr/>
            <p:nvPr/>
          </p:nvSpPr>
          <p:spPr>
            <a:xfrm>
              <a:off x="6823060" y="2502049"/>
              <a:ext cx="205617" cy="197892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8" name="Google Shape;988;p78"/>
            <p:cNvSpPr/>
            <p:nvPr/>
          </p:nvSpPr>
          <p:spPr>
            <a:xfrm>
              <a:off x="7376452" y="1754931"/>
              <a:ext cx="312000" cy="7035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9" name="Google Shape;989;p78"/>
            <p:cNvSpPr/>
            <p:nvPr/>
          </p:nvSpPr>
          <p:spPr>
            <a:xfrm>
              <a:off x="7429749" y="1518596"/>
              <a:ext cx="205500" cy="1980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0" name="Google Shape;990;p78"/>
            <p:cNvSpPr/>
            <p:nvPr/>
          </p:nvSpPr>
          <p:spPr>
            <a:xfrm>
              <a:off x="7429749" y="2502049"/>
              <a:ext cx="205500" cy="1980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91" name="Google Shape;991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612" y="3773022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78"/>
          <p:cNvSpPr txBox="1"/>
          <p:nvPr>
            <p:ph type="body" idx="1"/>
          </p:nvPr>
        </p:nvSpPr>
        <p:spPr>
          <a:xfrm>
            <a:off x="2522637" y="3858627"/>
            <a:ext cx="20679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Is Jun correct?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3" name="Google Shape;993;p78"/>
          <p:cNvSpPr txBox="1"/>
          <p:nvPr>
            <p:ph type="body" idx="1"/>
          </p:nvPr>
        </p:nvSpPr>
        <p:spPr>
          <a:xfrm>
            <a:off x="2528350" y="4297283"/>
            <a:ext cx="59856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Yes. A common difference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makes it arithmetic.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97" name="Shape 997"/>
        <p:cNvGrpSpPr/>
        <p:nvPr/>
      </p:nvGrpSpPr>
      <p:grpSpPr>
        <a:xfrm>
          <a:off x="0" y="0"/>
          <a:ext cx="0" cy="0"/>
        </a:xfrm>
      </p:grpSpPr>
      <p:pic>
        <p:nvPicPr>
          <p:cNvPr id="998" name="Google Shape;998;p79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846327" y="2781450"/>
            <a:ext cx="4223698" cy="1420999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position of a term in a sequence</a:t>
            </a:r>
            <a:endParaRPr/>
          </a:p>
        </p:txBody>
      </p:sp>
      <p:sp>
        <p:nvSpPr>
          <p:cNvPr id="1000" name="Google Shape;1000;p79"/>
          <p:cNvSpPr txBox="1"/>
          <p:nvPr>
            <p:ph type="body" idx="1"/>
          </p:nvPr>
        </p:nvSpPr>
        <p:spPr>
          <a:xfrm>
            <a:off x="323998" y="810625"/>
            <a:ext cx="71352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Aisha and Jun are laying out tables in the dining room and they notice a pattern.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01" name="Google Shape;1001;p79"/>
          <p:cNvGrpSpPr/>
          <p:nvPr/>
        </p:nvGrpSpPr>
        <p:grpSpPr>
          <a:xfrm>
            <a:off x="1243620" y="1518596"/>
            <a:ext cx="809396" cy="1181344"/>
            <a:chOff x="405430" y="1671030"/>
            <a:chExt cx="1225800" cy="1789102"/>
          </a:xfrm>
        </p:grpSpPr>
        <p:sp>
          <p:nvSpPr>
            <p:cNvPr id="1002" name="Google Shape;1002;p79"/>
            <p:cNvSpPr/>
            <p:nvPr/>
          </p:nvSpPr>
          <p:spPr>
            <a:xfrm>
              <a:off x="781912" y="2028950"/>
              <a:ext cx="472500" cy="10653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3" name="Google Shape;1003;p79"/>
            <p:cNvSpPr/>
            <p:nvPr/>
          </p:nvSpPr>
          <p:spPr>
            <a:xfrm>
              <a:off x="862630" y="167103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4" name="Google Shape;1004;p79"/>
            <p:cNvSpPr/>
            <p:nvPr/>
          </p:nvSpPr>
          <p:spPr>
            <a:xfrm>
              <a:off x="862630" y="3160433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5" name="Google Shape;1005;p79"/>
            <p:cNvSpPr/>
            <p:nvPr/>
          </p:nvSpPr>
          <p:spPr>
            <a:xfrm>
              <a:off x="405430" y="205203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6" name="Google Shape;1006;p79"/>
            <p:cNvSpPr/>
            <p:nvPr/>
          </p:nvSpPr>
          <p:spPr>
            <a:xfrm>
              <a:off x="405430" y="2409965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7" name="Google Shape;1007;p79"/>
            <p:cNvSpPr/>
            <p:nvPr/>
          </p:nvSpPr>
          <p:spPr>
            <a:xfrm>
              <a:off x="405430" y="276790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8" name="Google Shape;1008;p79"/>
            <p:cNvSpPr/>
            <p:nvPr/>
          </p:nvSpPr>
          <p:spPr>
            <a:xfrm>
              <a:off x="1319830" y="205203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9" name="Google Shape;1009;p79"/>
            <p:cNvSpPr/>
            <p:nvPr/>
          </p:nvSpPr>
          <p:spPr>
            <a:xfrm>
              <a:off x="1319830" y="2409965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0" name="Google Shape;1010;p79"/>
            <p:cNvSpPr/>
            <p:nvPr/>
          </p:nvSpPr>
          <p:spPr>
            <a:xfrm>
              <a:off x="1319830" y="276790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1" name="Google Shape;1011;p79"/>
          <p:cNvGrpSpPr/>
          <p:nvPr/>
        </p:nvGrpSpPr>
        <p:grpSpPr>
          <a:xfrm>
            <a:off x="2624966" y="1518596"/>
            <a:ext cx="1111285" cy="1181344"/>
            <a:chOff x="2497427" y="1671030"/>
            <a:chExt cx="1683000" cy="1789102"/>
          </a:xfrm>
        </p:grpSpPr>
        <p:sp>
          <p:nvSpPr>
            <p:cNvPr id="1012" name="Google Shape;1012;p79"/>
            <p:cNvSpPr/>
            <p:nvPr/>
          </p:nvSpPr>
          <p:spPr>
            <a:xfrm>
              <a:off x="2873910" y="2028950"/>
              <a:ext cx="472500" cy="10653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3" name="Google Shape;1013;p79"/>
            <p:cNvSpPr/>
            <p:nvPr/>
          </p:nvSpPr>
          <p:spPr>
            <a:xfrm>
              <a:off x="2954627" y="167103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4" name="Google Shape;1014;p79"/>
            <p:cNvSpPr/>
            <p:nvPr/>
          </p:nvSpPr>
          <p:spPr>
            <a:xfrm>
              <a:off x="2954627" y="3160433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5" name="Google Shape;1015;p79"/>
            <p:cNvSpPr/>
            <p:nvPr/>
          </p:nvSpPr>
          <p:spPr>
            <a:xfrm>
              <a:off x="2497427" y="205203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6" name="Google Shape;1016;p79"/>
            <p:cNvSpPr/>
            <p:nvPr/>
          </p:nvSpPr>
          <p:spPr>
            <a:xfrm>
              <a:off x="2497427" y="2409965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7" name="Google Shape;1017;p79"/>
            <p:cNvSpPr/>
            <p:nvPr/>
          </p:nvSpPr>
          <p:spPr>
            <a:xfrm>
              <a:off x="2497427" y="276790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8" name="Google Shape;1018;p79"/>
            <p:cNvSpPr/>
            <p:nvPr/>
          </p:nvSpPr>
          <p:spPr>
            <a:xfrm>
              <a:off x="3331110" y="2028950"/>
              <a:ext cx="472500" cy="10653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9" name="Google Shape;1019;p79"/>
            <p:cNvSpPr/>
            <p:nvPr/>
          </p:nvSpPr>
          <p:spPr>
            <a:xfrm>
              <a:off x="3411827" y="167103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0" name="Google Shape;1020;p79"/>
            <p:cNvSpPr/>
            <p:nvPr/>
          </p:nvSpPr>
          <p:spPr>
            <a:xfrm>
              <a:off x="3411827" y="3160433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1" name="Google Shape;1021;p79"/>
            <p:cNvSpPr/>
            <p:nvPr/>
          </p:nvSpPr>
          <p:spPr>
            <a:xfrm>
              <a:off x="3869027" y="205203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2" name="Google Shape;1022;p79"/>
            <p:cNvSpPr/>
            <p:nvPr/>
          </p:nvSpPr>
          <p:spPr>
            <a:xfrm>
              <a:off x="3869027" y="2409965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3" name="Google Shape;1023;p79"/>
            <p:cNvSpPr/>
            <p:nvPr/>
          </p:nvSpPr>
          <p:spPr>
            <a:xfrm>
              <a:off x="3869027" y="276790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4" name="Google Shape;1024;p79"/>
          <p:cNvGrpSpPr/>
          <p:nvPr/>
        </p:nvGrpSpPr>
        <p:grpSpPr>
          <a:xfrm>
            <a:off x="4161882" y="1518596"/>
            <a:ext cx="1413174" cy="1181344"/>
            <a:chOff x="4825030" y="1671030"/>
            <a:chExt cx="2140200" cy="1789102"/>
          </a:xfrm>
        </p:grpSpPr>
        <p:sp>
          <p:nvSpPr>
            <p:cNvPr id="1025" name="Google Shape;1025;p79"/>
            <p:cNvSpPr/>
            <p:nvPr/>
          </p:nvSpPr>
          <p:spPr>
            <a:xfrm>
              <a:off x="6115912" y="2028950"/>
              <a:ext cx="472500" cy="10653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6" name="Google Shape;1026;p79"/>
            <p:cNvSpPr/>
            <p:nvPr/>
          </p:nvSpPr>
          <p:spPr>
            <a:xfrm>
              <a:off x="6196630" y="167103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7" name="Google Shape;1027;p79"/>
            <p:cNvSpPr/>
            <p:nvPr/>
          </p:nvSpPr>
          <p:spPr>
            <a:xfrm>
              <a:off x="6196630" y="3160433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8" name="Google Shape;1028;p79"/>
            <p:cNvSpPr/>
            <p:nvPr/>
          </p:nvSpPr>
          <p:spPr>
            <a:xfrm>
              <a:off x="6653830" y="205203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9" name="Google Shape;1029;p79"/>
            <p:cNvSpPr/>
            <p:nvPr/>
          </p:nvSpPr>
          <p:spPr>
            <a:xfrm>
              <a:off x="6653830" y="2409965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0" name="Google Shape;1030;p79"/>
            <p:cNvSpPr/>
            <p:nvPr/>
          </p:nvSpPr>
          <p:spPr>
            <a:xfrm>
              <a:off x="6653830" y="276790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1" name="Google Shape;1031;p79"/>
            <p:cNvSpPr/>
            <p:nvPr/>
          </p:nvSpPr>
          <p:spPr>
            <a:xfrm>
              <a:off x="5201512" y="2028950"/>
              <a:ext cx="472500" cy="10653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2" name="Google Shape;1032;p79"/>
            <p:cNvSpPr/>
            <p:nvPr/>
          </p:nvSpPr>
          <p:spPr>
            <a:xfrm>
              <a:off x="5282230" y="167103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3" name="Google Shape;1033;p79"/>
            <p:cNvSpPr/>
            <p:nvPr/>
          </p:nvSpPr>
          <p:spPr>
            <a:xfrm>
              <a:off x="5282230" y="3160433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4" name="Google Shape;1034;p79"/>
            <p:cNvSpPr/>
            <p:nvPr/>
          </p:nvSpPr>
          <p:spPr>
            <a:xfrm>
              <a:off x="4825030" y="205203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5" name="Google Shape;1035;p79"/>
            <p:cNvSpPr/>
            <p:nvPr/>
          </p:nvSpPr>
          <p:spPr>
            <a:xfrm>
              <a:off x="4825030" y="2409965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6" name="Google Shape;1036;p79"/>
            <p:cNvSpPr/>
            <p:nvPr/>
          </p:nvSpPr>
          <p:spPr>
            <a:xfrm>
              <a:off x="4825030" y="276790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7" name="Google Shape;1037;p79"/>
            <p:cNvSpPr/>
            <p:nvPr/>
          </p:nvSpPr>
          <p:spPr>
            <a:xfrm>
              <a:off x="5658712" y="2028950"/>
              <a:ext cx="472500" cy="10653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8" name="Google Shape;1038;p79"/>
            <p:cNvSpPr/>
            <p:nvPr/>
          </p:nvSpPr>
          <p:spPr>
            <a:xfrm>
              <a:off x="5739430" y="1671030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9" name="Google Shape;1039;p79"/>
            <p:cNvSpPr/>
            <p:nvPr/>
          </p:nvSpPr>
          <p:spPr>
            <a:xfrm>
              <a:off x="5739430" y="3160433"/>
              <a:ext cx="311400" cy="2997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40" name="Google Shape;1040;p79"/>
          <p:cNvSpPr txBox="1"/>
          <p:nvPr>
            <p:ph type="body" idx="1"/>
          </p:nvPr>
        </p:nvSpPr>
        <p:spPr>
          <a:xfrm>
            <a:off x="1238400" y="2868025"/>
            <a:ext cx="36939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I have a rule! The number of tables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×2</a:t>
            </a:r>
            <a:r>
              <a:rPr lang="en-GB" sz="2000"/>
              <a:t> add 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000"/>
              <a:t> on the sides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2000"/>
              <a:t> number of people</a:t>
            </a:r>
            <a:endParaRPr sz="2000"/>
          </a:p>
        </p:txBody>
      </p:sp>
      <p:grpSp>
        <p:nvGrpSpPr>
          <p:cNvPr id="1041" name="Google Shape;1041;p79"/>
          <p:cNvGrpSpPr/>
          <p:nvPr/>
        </p:nvGrpSpPr>
        <p:grpSpPr>
          <a:xfrm>
            <a:off x="6066882" y="1518596"/>
            <a:ext cx="1717857" cy="1181452"/>
            <a:chOff x="6219282" y="1518596"/>
            <a:chExt cx="1717857" cy="1181452"/>
          </a:xfrm>
        </p:grpSpPr>
        <p:sp>
          <p:nvSpPr>
            <p:cNvPr id="1042" name="Google Shape;1042;p79"/>
            <p:cNvSpPr/>
            <p:nvPr/>
          </p:nvSpPr>
          <p:spPr>
            <a:xfrm>
              <a:off x="7071652" y="1754931"/>
              <a:ext cx="312000" cy="7035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3" name="Google Shape;1043;p79"/>
            <p:cNvSpPr/>
            <p:nvPr/>
          </p:nvSpPr>
          <p:spPr>
            <a:xfrm>
              <a:off x="7124949" y="1518596"/>
              <a:ext cx="205500" cy="1980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4" name="Google Shape;1044;p79"/>
            <p:cNvSpPr/>
            <p:nvPr/>
          </p:nvSpPr>
          <p:spPr>
            <a:xfrm>
              <a:off x="7124949" y="2502049"/>
              <a:ext cx="205500" cy="1980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5" name="Google Shape;1045;p79"/>
            <p:cNvSpPr/>
            <p:nvPr/>
          </p:nvSpPr>
          <p:spPr>
            <a:xfrm>
              <a:off x="7731639" y="1770170"/>
              <a:ext cx="205500" cy="1980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6" name="Google Shape;1046;p79"/>
            <p:cNvSpPr/>
            <p:nvPr/>
          </p:nvSpPr>
          <p:spPr>
            <a:xfrm>
              <a:off x="7731639" y="2006515"/>
              <a:ext cx="205500" cy="1980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7" name="Google Shape;1047;p79"/>
            <p:cNvSpPr/>
            <p:nvPr/>
          </p:nvSpPr>
          <p:spPr>
            <a:xfrm>
              <a:off x="7731639" y="2242859"/>
              <a:ext cx="205500" cy="1980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8" name="Google Shape;1048;p79"/>
            <p:cNvSpPr/>
            <p:nvPr/>
          </p:nvSpPr>
          <p:spPr>
            <a:xfrm>
              <a:off x="6467873" y="1754931"/>
              <a:ext cx="312000" cy="7035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9" name="Google Shape;1049;p79"/>
            <p:cNvSpPr/>
            <p:nvPr/>
          </p:nvSpPr>
          <p:spPr>
            <a:xfrm>
              <a:off x="6521171" y="1518596"/>
              <a:ext cx="205500" cy="1980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0" name="Google Shape;1050;p79"/>
            <p:cNvSpPr/>
            <p:nvPr/>
          </p:nvSpPr>
          <p:spPr>
            <a:xfrm>
              <a:off x="6521171" y="2502049"/>
              <a:ext cx="205500" cy="1980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1" name="Google Shape;1051;p79"/>
            <p:cNvSpPr/>
            <p:nvPr/>
          </p:nvSpPr>
          <p:spPr>
            <a:xfrm>
              <a:off x="6219282" y="1770170"/>
              <a:ext cx="205500" cy="1980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2" name="Google Shape;1052;p79"/>
            <p:cNvSpPr/>
            <p:nvPr/>
          </p:nvSpPr>
          <p:spPr>
            <a:xfrm>
              <a:off x="6219282" y="2006515"/>
              <a:ext cx="205500" cy="1980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3" name="Google Shape;1053;p79"/>
            <p:cNvSpPr/>
            <p:nvPr/>
          </p:nvSpPr>
          <p:spPr>
            <a:xfrm>
              <a:off x="6219282" y="2242859"/>
              <a:ext cx="205500" cy="1980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4" name="Google Shape;1054;p79"/>
            <p:cNvSpPr/>
            <p:nvPr/>
          </p:nvSpPr>
          <p:spPr>
            <a:xfrm>
              <a:off x="6769763" y="1754931"/>
              <a:ext cx="312000" cy="7035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5" name="Google Shape;1055;p79"/>
            <p:cNvSpPr/>
            <p:nvPr/>
          </p:nvSpPr>
          <p:spPr>
            <a:xfrm>
              <a:off x="6823060" y="1518596"/>
              <a:ext cx="205500" cy="1980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6" name="Google Shape;1056;p79"/>
            <p:cNvSpPr/>
            <p:nvPr/>
          </p:nvSpPr>
          <p:spPr>
            <a:xfrm>
              <a:off x="6823060" y="2502049"/>
              <a:ext cx="205500" cy="1980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7" name="Google Shape;1057;p79"/>
            <p:cNvSpPr/>
            <p:nvPr/>
          </p:nvSpPr>
          <p:spPr>
            <a:xfrm>
              <a:off x="7376452" y="1754931"/>
              <a:ext cx="312000" cy="703500"/>
            </a:xfrm>
            <a:prstGeom prst="rect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8" name="Google Shape;1058;p79"/>
            <p:cNvSpPr/>
            <p:nvPr/>
          </p:nvSpPr>
          <p:spPr>
            <a:xfrm>
              <a:off x="7429749" y="1518596"/>
              <a:ext cx="205500" cy="1980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9" name="Google Shape;1059;p79"/>
            <p:cNvSpPr/>
            <p:nvPr/>
          </p:nvSpPr>
          <p:spPr>
            <a:xfrm>
              <a:off x="7429749" y="2502049"/>
              <a:ext cx="205500" cy="198000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0" name="Google Shape;1060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000" y="3639153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79"/>
          <p:cNvSpPr txBox="1"/>
          <p:nvPr>
            <p:ph type="body" idx="1"/>
          </p:nvPr>
        </p:nvSpPr>
        <p:spPr>
          <a:xfrm>
            <a:off x="5342025" y="2944225"/>
            <a:ext cx="25284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Does her rule work?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2" name="Google Shape;1062;p79"/>
          <p:cNvSpPr txBox="1"/>
          <p:nvPr>
            <p:ph type="body" idx="1"/>
          </p:nvPr>
        </p:nvSpPr>
        <p:spPr>
          <a:xfrm>
            <a:off x="5385900" y="3382875"/>
            <a:ext cx="21816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Yes.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(1) × 2 + 6 = 8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3" name="Google Shape;1063;p79"/>
          <p:cNvSpPr txBox="1"/>
          <p:nvPr>
            <p:ph type="body" idx="1"/>
          </p:nvPr>
        </p:nvSpPr>
        <p:spPr>
          <a:xfrm>
            <a:off x="5919300" y="3738475"/>
            <a:ext cx="19512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(2) × 2 + 6 = 10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4" name="Google Shape;1064;p79"/>
          <p:cNvSpPr txBox="1"/>
          <p:nvPr>
            <p:ph type="body" idx="1"/>
          </p:nvPr>
        </p:nvSpPr>
        <p:spPr>
          <a:xfrm>
            <a:off x="5919300" y="4449675"/>
            <a:ext cx="18654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(4) × 2 + 6 = 14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5" name="Google Shape;1065;p79"/>
          <p:cNvSpPr txBox="1"/>
          <p:nvPr>
            <p:ph type="body" idx="1"/>
          </p:nvPr>
        </p:nvSpPr>
        <p:spPr>
          <a:xfrm>
            <a:off x="5919300" y="4094075"/>
            <a:ext cx="18654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(3) × 2 + 6 = 12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6" name="Google Shape;1066;p79"/>
          <p:cNvSpPr/>
          <p:nvPr/>
        </p:nvSpPr>
        <p:spPr>
          <a:xfrm>
            <a:off x="1088415" y="1436683"/>
            <a:ext cx="1134000" cy="13377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79"/>
          <p:cNvSpPr/>
          <p:nvPr/>
        </p:nvSpPr>
        <p:spPr>
          <a:xfrm>
            <a:off x="2483095" y="1436675"/>
            <a:ext cx="1413300" cy="13377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79"/>
          <p:cNvSpPr/>
          <p:nvPr/>
        </p:nvSpPr>
        <p:spPr>
          <a:xfrm>
            <a:off x="4007083" y="1436675"/>
            <a:ext cx="1717800" cy="13377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79"/>
          <p:cNvSpPr/>
          <p:nvPr/>
        </p:nvSpPr>
        <p:spPr>
          <a:xfrm>
            <a:off x="5824340" y="1436675"/>
            <a:ext cx="2241300" cy="1337700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73" name="Shape 1073"/>
        <p:cNvGrpSpPr/>
        <p:nvPr/>
      </p:nvGrpSpPr>
      <p:grpSpPr>
        <a:xfrm>
          <a:off x="0" y="0"/>
          <a:ext cx="0" cy="0"/>
        </a:xfrm>
      </p:grpSpPr>
      <p:sp>
        <p:nvSpPr>
          <p:cNvPr id="1074" name="Google Shape;1074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position of a term in a sequence</a:t>
            </a:r>
            <a:endParaRPr/>
          </a:p>
        </p:txBody>
      </p:sp>
      <p:graphicFrame>
        <p:nvGraphicFramePr>
          <p:cNvPr id="1075" name="Google Shape;1075;p80"/>
          <p:cNvGraphicFramePr>
            <a:graphicFrameLocks noGrp="1"/>
          </p:cNvGraphicFramePr>
          <p:nvPr/>
        </p:nvGraphicFramePr>
        <p:xfrm>
          <a:off x="687899" y="13077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{36393E4A-1B3B-4A6D-B05D-6F587DC3BFE1}</a:tableStyleId>
              </a:tblPr>
              <a:tblGrid>
                <a:gridCol w="2057775"/>
                <a:gridCol w="392750"/>
                <a:gridCol w="392750"/>
                <a:gridCol w="392750"/>
                <a:gridCol w="392750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Table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People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76" name="Google Shape;1076;p80"/>
          <p:cNvSpPr txBox="1"/>
          <p:nvPr>
            <p:ph type="body" idx="1"/>
          </p:nvPr>
        </p:nvSpPr>
        <p:spPr>
          <a:xfrm>
            <a:off x="323998" y="810625"/>
            <a:ext cx="71352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Aisha and Jun put their results in a table.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77" name="Google Shape;1077;p80"/>
          <p:cNvGrpSpPr/>
          <p:nvPr/>
        </p:nvGrpSpPr>
        <p:grpSpPr>
          <a:xfrm>
            <a:off x="4794976" y="1238375"/>
            <a:ext cx="531629" cy="775755"/>
            <a:chOff x="405430" y="1671030"/>
            <a:chExt cx="1225800" cy="1789102"/>
          </a:xfrm>
        </p:grpSpPr>
        <p:sp>
          <p:nvSpPr>
            <p:cNvPr id="1078" name="Google Shape;1078;p80"/>
            <p:cNvSpPr/>
            <p:nvPr/>
          </p:nvSpPr>
          <p:spPr>
            <a:xfrm>
              <a:off x="781912" y="2028950"/>
              <a:ext cx="472500" cy="10653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9" name="Google Shape;1079;p80"/>
            <p:cNvSpPr/>
            <p:nvPr/>
          </p:nvSpPr>
          <p:spPr>
            <a:xfrm>
              <a:off x="862630" y="1671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0" name="Google Shape;1080;p80"/>
            <p:cNvSpPr/>
            <p:nvPr/>
          </p:nvSpPr>
          <p:spPr>
            <a:xfrm>
              <a:off x="862630" y="3160433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1" name="Google Shape;1081;p80"/>
            <p:cNvSpPr/>
            <p:nvPr/>
          </p:nvSpPr>
          <p:spPr>
            <a:xfrm>
              <a:off x="405430" y="2052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2" name="Google Shape;1082;p80"/>
            <p:cNvSpPr/>
            <p:nvPr/>
          </p:nvSpPr>
          <p:spPr>
            <a:xfrm>
              <a:off x="405430" y="2409965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3" name="Google Shape;1083;p80"/>
            <p:cNvSpPr/>
            <p:nvPr/>
          </p:nvSpPr>
          <p:spPr>
            <a:xfrm>
              <a:off x="405430" y="276790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4" name="Google Shape;1084;p80"/>
            <p:cNvSpPr/>
            <p:nvPr/>
          </p:nvSpPr>
          <p:spPr>
            <a:xfrm>
              <a:off x="1319830" y="2052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5" name="Google Shape;1085;p80"/>
            <p:cNvSpPr/>
            <p:nvPr/>
          </p:nvSpPr>
          <p:spPr>
            <a:xfrm>
              <a:off x="1319830" y="2409965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6" name="Google Shape;1086;p80"/>
            <p:cNvSpPr/>
            <p:nvPr/>
          </p:nvSpPr>
          <p:spPr>
            <a:xfrm>
              <a:off x="1319830" y="276790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7" name="Google Shape;1087;p80"/>
          <p:cNvGrpSpPr/>
          <p:nvPr/>
        </p:nvGrpSpPr>
        <p:grpSpPr>
          <a:xfrm>
            <a:off x="5565539" y="1238375"/>
            <a:ext cx="729917" cy="775755"/>
            <a:chOff x="2497427" y="1671030"/>
            <a:chExt cx="1683000" cy="1789102"/>
          </a:xfrm>
        </p:grpSpPr>
        <p:sp>
          <p:nvSpPr>
            <p:cNvPr id="1088" name="Google Shape;1088;p80"/>
            <p:cNvSpPr/>
            <p:nvPr/>
          </p:nvSpPr>
          <p:spPr>
            <a:xfrm>
              <a:off x="2873910" y="2028950"/>
              <a:ext cx="472500" cy="10653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9" name="Google Shape;1089;p80"/>
            <p:cNvSpPr/>
            <p:nvPr/>
          </p:nvSpPr>
          <p:spPr>
            <a:xfrm>
              <a:off x="2954627" y="1671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0" name="Google Shape;1090;p80"/>
            <p:cNvSpPr/>
            <p:nvPr/>
          </p:nvSpPr>
          <p:spPr>
            <a:xfrm>
              <a:off x="2954627" y="3160433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1" name="Google Shape;1091;p80"/>
            <p:cNvSpPr/>
            <p:nvPr/>
          </p:nvSpPr>
          <p:spPr>
            <a:xfrm>
              <a:off x="2497427" y="2052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2" name="Google Shape;1092;p80"/>
            <p:cNvSpPr/>
            <p:nvPr/>
          </p:nvSpPr>
          <p:spPr>
            <a:xfrm>
              <a:off x="2497427" y="2409965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3" name="Google Shape;1093;p80"/>
            <p:cNvSpPr/>
            <p:nvPr/>
          </p:nvSpPr>
          <p:spPr>
            <a:xfrm>
              <a:off x="2497427" y="276790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4" name="Google Shape;1094;p80"/>
            <p:cNvSpPr/>
            <p:nvPr/>
          </p:nvSpPr>
          <p:spPr>
            <a:xfrm>
              <a:off x="3331110" y="2028950"/>
              <a:ext cx="472500" cy="10653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5" name="Google Shape;1095;p80"/>
            <p:cNvSpPr/>
            <p:nvPr/>
          </p:nvSpPr>
          <p:spPr>
            <a:xfrm>
              <a:off x="3411827" y="1671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6" name="Google Shape;1096;p80"/>
            <p:cNvSpPr/>
            <p:nvPr/>
          </p:nvSpPr>
          <p:spPr>
            <a:xfrm>
              <a:off x="3411827" y="3160433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7" name="Google Shape;1097;p80"/>
            <p:cNvSpPr/>
            <p:nvPr/>
          </p:nvSpPr>
          <p:spPr>
            <a:xfrm>
              <a:off x="3869027" y="2052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8" name="Google Shape;1098;p80"/>
            <p:cNvSpPr/>
            <p:nvPr/>
          </p:nvSpPr>
          <p:spPr>
            <a:xfrm>
              <a:off x="3869027" y="2409965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9" name="Google Shape;1099;p80"/>
            <p:cNvSpPr/>
            <p:nvPr/>
          </p:nvSpPr>
          <p:spPr>
            <a:xfrm>
              <a:off x="3869027" y="276790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0" name="Google Shape;1100;p80"/>
          <p:cNvGrpSpPr/>
          <p:nvPr/>
        </p:nvGrpSpPr>
        <p:grpSpPr>
          <a:xfrm>
            <a:off x="6506653" y="1238375"/>
            <a:ext cx="928205" cy="775755"/>
            <a:chOff x="4825030" y="1671030"/>
            <a:chExt cx="2140200" cy="1789102"/>
          </a:xfrm>
        </p:grpSpPr>
        <p:sp>
          <p:nvSpPr>
            <p:cNvPr id="1101" name="Google Shape;1101;p80"/>
            <p:cNvSpPr/>
            <p:nvPr/>
          </p:nvSpPr>
          <p:spPr>
            <a:xfrm>
              <a:off x="6115912" y="2028950"/>
              <a:ext cx="472500" cy="10653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2" name="Google Shape;1102;p80"/>
            <p:cNvSpPr/>
            <p:nvPr/>
          </p:nvSpPr>
          <p:spPr>
            <a:xfrm>
              <a:off x="6196630" y="1671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3" name="Google Shape;1103;p80"/>
            <p:cNvSpPr/>
            <p:nvPr/>
          </p:nvSpPr>
          <p:spPr>
            <a:xfrm>
              <a:off x="6196630" y="3160433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4" name="Google Shape;1104;p80"/>
            <p:cNvSpPr/>
            <p:nvPr/>
          </p:nvSpPr>
          <p:spPr>
            <a:xfrm>
              <a:off x="6653830" y="2052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5" name="Google Shape;1105;p80"/>
            <p:cNvSpPr/>
            <p:nvPr/>
          </p:nvSpPr>
          <p:spPr>
            <a:xfrm>
              <a:off x="6653830" y="2409965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6" name="Google Shape;1106;p80"/>
            <p:cNvSpPr/>
            <p:nvPr/>
          </p:nvSpPr>
          <p:spPr>
            <a:xfrm>
              <a:off x="6653830" y="276790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7" name="Google Shape;1107;p80"/>
            <p:cNvSpPr/>
            <p:nvPr/>
          </p:nvSpPr>
          <p:spPr>
            <a:xfrm>
              <a:off x="5201512" y="2028950"/>
              <a:ext cx="472500" cy="10653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8" name="Google Shape;1108;p80"/>
            <p:cNvSpPr/>
            <p:nvPr/>
          </p:nvSpPr>
          <p:spPr>
            <a:xfrm>
              <a:off x="5282230" y="1671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9" name="Google Shape;1109;p80"/>
            <p:cNvSpPr/>
            <p:nvPr/>
          </p:nvSpPr>
          <p:spPr>
            <a:xfrm>
              <a:off x="5282230" y="3160433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0" name="Google Shape;1110;p80"/>
            <p:cNvSpPr/>
            <p:nvPr/>
          </p:nvSpPr>
          <p:spPr>
            <a:xfrm>
              <a:off x="4825030" y="2052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1" name="Google Shape;1111;p80"/>
            <p:cNvSpPr/>
            <p:nvPr/>
          </p:nvSpPr>
          <p:spPr>
            <a:xfrm>
              <a:off x="4825030" y="2409965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2" name="Google Shape;1112;p80"/>
            <p:cNvSpPr/>
            <p:nvPr/>
          </p:nvSpPr>
          <p:spPr>
            <a:xfrm>
              <a:off x="4825030" y="276790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3" name="Google Shape;1113;p80"/>
            <p:cNvSpPr/>
            <p:nvPr/>
          </p:nvSpPr>
          <p:spPr>
            <a:xfrm>
              <a:off x="5658712" y="2028950"/>
              <a:ext cx="472500" cy="10653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4" name="Google Shape;1114;p80"/>
            <p:cNvSpPr/>
            <p:nvPr/>
          </p:nvSpPr>
          <p:spPr>
            <a:xfrm>
              <a:off x="5739430" y="1671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5" name="Google Shape;1115;p80"/>
            <p:cNvSpPr/>
            <p:nvPr/>
          </p:nvSpPr>
          <p:spPr>
            <a:xfrm>
              <a:off x="5739430" y="3160433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6" name="Google Shape;1116;p80"/>
          <p:cNvGrpSpPr/>
          <p:nvPr/>
        </p:nvGrpSpPr>
        <p:grpSpPr>
          <a:xfrm>
            <a:off x="7688276" y="1238259"/>
            <a:ext cx="1127945" cy="775742"/>
            <a:chOff x="6219282" y="1518596"/>
            <a:chExt cx="1717857" cy="1181452"/>
          </a:xfrm>
        </p:grpSpPr>
        <p:sp>
          <p:nvSpPr>
            <p:cNvPr id="1117" name="Google Shape;1117;p80"/>
            <p:cNvSpPr/>
            <p:nvPr/>
          </p:nvSpPr>
          <p:spPr>
            <a:xfrm>
              <a:off x="7071652" y="1754931"/>
              <a:ext cx="312000" cy="7035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8" name="Google Shape;1118;p80"/>
            <p:cNvSpPr/>
            <p:nvPr/>
          </p:nvSpPr>
          <p:spPr>
            <a:xfrm>
              <a:off x="7124949" y="1518596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9" name="Google Shape;1119;p80"/>
            <p:cNvSpPr/>
            <p:nvPr/>
          </p:nvSpPr>
          <p:spPr>
            <a:xfrm>
              <a:off x="7124949" y="2502049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0" name="Google Shape;1120;p80"/>
            <p:cNvSpPr/>
            <p:nvPr/>
          </p:nvSpPr>
          <p:spPr>
            <a:xfrm>
              <a:off x="7731639" y="1770170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1" name="Google Shape;1121;p80"/>
            <p:cNvSpPr/>
            <p:nvPr/>
          </p:nvSpPr>
          <p:spPr>
            <a:xfrm>
              <a:off x="7731639" y="2006515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2" name="Google Shape;1122;p80"/>
            <p:cNvSpPr/>
            <p:nvPr/>
          </p:nvSpPr>
          <p:spPr>
            <a:xfrm>
              <a:off x="7731639" y="2242859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3" name="Google Shape;1123;p80"/>
            <p:cNvSpPr/>
            <p:nvPr/>
          </p:nvSpPr>
          <p:spPr>
            <a:xfrm>
              <a:off x="6467873" y="1754931"/>
              <a:ext cx="312000" cy="7035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4" name="Google Shape;1124;p80"/>
            <p:cNvSpPr/>
            <p:nvPr/>
          </p:nvSpPr>
          <p:spPr>
            <a:xfrm>
              <a:off x="6521171" y="1518596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5" name="Google Shape;1125;p80"/>
            <p:cNvSpPr/>
            <p:nvPr/>
          </p:nvSpPr>
          <p:spPr>
            <a:xfrm>
              <a:off x="6521171" y="2502049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6" name="Google Shape;1126;p80"/>
            <p:cNvSpPr/>
            <p:nvPr/>
          </p:nvSpPr>
          <p:spPr>
            <a:xfrm>
              <a:off x="6219282" y="1770170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7" name="Google Shape;1127;p80"/>
            <p:cNvSpPr/>
            <p:nvPr/>
          </p:nvSpPr>
          <p:spPr>
            <a:xfrm>
              <a:off x="6219282" y="2006515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8" name="Google Shape;1128;p80"/>
            <p:cNvSpPr/>
            <p:nvPr/>
          </p:nvSpPr>
          <p:spPr>
            <a:xfrm>
              <a:off x="6219282" y="2242859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9" name="Google Shape;1129;p80"/>
            <p:cNvSpPr/>
            <p:nvPr/>
          </p:nvSpPr>
          <p:spPr>
            <a:xfrm>
              <a:off x="6769763" y="1754931"/>
              <a:ext cx="312000" cy="7035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0" name="Google Shape;1130;p80"/>
            <p:cNvSpPr/>
            <p:nvPr/>
          </p:nvSpPr>
          <p:spPr>
            <a:xfrm>
              <a:off x="6823060" y="1518596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1" name="Google Shape;1131;p80"/>
            <p:cNvSpPr/>
            <p:nvPr/>
          </p:nvSpPr>
          <p:spPr>
            <a:xfrm>
              <a:off x="6823060" y="2502049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2" name="Google Shape;1132;p80"/>
            <p:cNvSpPr/>
            <p:nvPr/>
          </p:nvSpPr>
          <p:spPr>
            <a:xfrm>
              <a:off x="7376452" y="1754931"/>
              <a:ext cx="312000" cy="7035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3" name="Google Shape;1133;p80"/>
            <p:cNvSpPr/>
            <p:nvPr/>
          </p:nvSpPr>
          <p:spPr>
            <a:xfrm>
              <a:off x="7429749" y="1518596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4" name="Google Shape;1134;p80"/>
            <p:cNvSpPr/>
            <p:nvPr/>
          </p:nvSpPr>
          <p:spPr>
            <a:xfrm>
              <a:off x="7429749" y="2502049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35" name="Google Shape;1135;p80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317449" y="2347334"/>
            <a:ext cx="3720801" cy="125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p80"/>
          <p:cNvSpPr txBox="1"/>
          <p:nvPr>
            <p:ph type="body" idx="1"/>
          </p:nvPr>
        </p:nvSpPr>
        <p:spPr>
          <a:xfrm>
            <a:off x="605725" y="2387760"/>
            <a:ext cx="35016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If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represents the number of tables my rule is easier to say.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× 2 + 6</a:t>
            </a:r>
            <a:r>
              <a:rPr lang="en-GB" sz="1800"/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800"/>
              <a:t> number of people</a:t>
            </a:r>
            <a:endParaRPr sz="1800"/>
          </a:p>
        </p:txBody>
      </p:sp>
      <p:pic>
        <p:nvPicPr>
          <p:cNvPr id="1137" name="Google Shape;1137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935" y="3539888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5291" y="3453975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9" name="Google Shape;1139;p80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4203652" y="2347335"/>
            <a:ext cx="3423698" cy="125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140" name="Google Shape;1140;p80"/>
          <p:cNvSpPr txBox="1"/>
          <p:nvPr>
            <p:ph type="body" idx="1"/>
          </p:nvPr>
        </p:nvSpPr>
        <p:spPr>
          <a:xfrm>
            <a:off x="4491925" y="2387736"/>
            <a:ext cx="3501600" cy="90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Your rule works Aisha!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When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lang="en-GB" sz="1800"/>
              <a:t> we have 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(4) × 2</a:t>
            </a:r>
            <a:r>
              <a:rPr lang="en-GB" sz="1800"/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1800"/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1800"/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800"/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r>
              <a:rPr lang="en-GB" sz="1800"/>
              <a:t> people.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  <p:cond evt="onBegin" delay="0">
                          <p:tn val="6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  <p:cond evt="onBegin" delay="0">
                          <p:tn val="14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44" name="Shape 1144"/>
        <p:cNvGrpSpPr/>
        <p:nvPr/>
      </p:nvGrpSpPr>
      <p:grpSpPr>
        <a:xfrm>
          <a:off x="0" y="0"/>
          <a:ext cx="0" cy="0"/>
        </a:xfrm>
      </p:grpSpPr>
      <p:sp>
        <p:nvSpPr>
          <p:cNvPr id="1145" name="Google Shape;1145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position of a term in a sequence</a:t>
            </a:r>
            <a:endParaRPr/>
          </a:p>
        </p:txBody>
      </p:sp>
      <p:graphicFrame>
        <p:nvGraphicFramePr>
          <p:cNvPr id="1146" name="Google Shape;1146;p81"/>
          <p:cNvGraphicFramePr>
            <a:graphicFrameLocks noGrp="1"/>
          </p:cNvGraphicFramePr>
          <p:nvPr/>
        </p:nvGraphicFramePr>
        <p:xfrm>
          <a:off x="687899" y="13077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{36393E4A-1B3B-4A6D-B05D-6F587DC3BFE1}</a:tableStyleId>
              </a:tblPr>
              <a:tblGrid>
                <a:gridCol w="2057775"/>
                <a:gridCol w="392750"/>
                <a:gridCol w="392750"/>
                <a:gridCol w="392750"/>
                <a:gridCol w="392750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Table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People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47" name="Google Shape;1147;p81"/>
          <p:cNvSpPr txBox="1"/>
          <p:nvPr>
            <p:ph type="body" idx="1"/>
          </p:nvPr>
        </p:nvSpPr>
        <p:spPr>
          <a:xfrm>
            <a:off x="323998" y="810625"/>
            <a:ext cx="71352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Aisha and Jun put their results in a table.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48" name="Google Shape;1148;p81"/>
          <p:cNvGrpSpPr/>
          <p:nvPr/>
        </p:nvGrpSpPr>
        <p:grpSpPr>
          <a:xfrm>
            <a:off x="4794976" y="1238375"/>
            <a:ext cx="531629" cy="775755"/>
            <a:chOff x="405430" y="1671030"/>
            <a:chExt cx="1225800" cy="1789102"/>
          </a:xfrm>
        </p:grpSpPr>
        <p:sp>
          <p:nvSpPr>
            <p:cNvPr id="1149" name="Google Shape;1149;p81"/>
            <p:cNvSpPr/>
            <p:nvPr/>
          </p:nvSpPr>
          <p:spPr>
            <a:xfrm>
              <a:off x="781912" y="2028950"/>
              <a:ext cx="472500" cy="10653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0" name="Google Shape;1150;p81"/>
            <p:cNvSpPr/>
            <p:nvPr/>
          </p:nvSpPr>
          <p:spPr>
            <a:xfrm>
              <a:off x="862630" y="1671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1" name="Google Shape;1151;p81"/>
            <p:cNvSpPr/>
            <p:nvPr/>
          </p:nvSpPr>
          <p:spPr>
            <a:xfrm>
              <a:off x="862630" y="3160433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2" name="Google Shape;1152;p81"/>
            <p:cNvSpPr/>
            <p:nvPr/>
          </p:nvSpPr>
          <p:spPr>
            <a:xfrm>
              <a:off x="405430" y="2052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3" name="Google Shape;1153;p81"/>
            <p:cNvSpPr/>
            <p:nvPr/>
          </p:nvSpPr>
          <p:spPr>
            <a:xfrm>
              <a:off x="405430" y="2409965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4" name="Google Shape;1154;p81"/>
            <p:cNvSpPr/>
            <p:nvPr/>
          </p:nvSpPr>
          <p:spPr>
            <a:xfrm>
              <a:off x="405430" y="276790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5" name="Google Shape;1155;p81"/>
            <p:cNvSpPr/>
            <p:nvPr/>
          </p:nvSpPr>
          <p:spPr>
            <a:xfrm>
              <a:off x="1319830" y="2052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6" name="Google Shape;1156;p81"/>
            <p:cNvSpPr/>
            <p:nvPr/>
          </p:nvSpPr>
          <p:spPr>
            <a:xfrm>
              <a:off x="1319830" y="2409965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7" name="Google Shape;1157;p81"/>
            <p:cNvSpPr/>
            <p:nvPr/>
          </p:nvSpPr>
          <p:spPr>
            <a:xfrm>
              <a:off x="1319830" y="276790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8" name="Google Shape;1158;p81"/>
          <p:cNvGrpSpPr/>
          <p:nvPr/>
        </p:nvGrpSpPr>
        <p:grpSpPr>
          <a:xfrm>
            <a:off x="5565539" y="1238375"/>
            <a:ext cx="729917" cy="775755"/>
            <a:chOff x="2497427" y="1671030"/>
            <a:chExt cx="1683000" cy="1789102"/>
          </a:xfrm>
        </p:grpSpPr>
        <p:sp>
          <p:nvSpPr>
            <p:cNvPr id="1159" name="Google Shape;1159;p81"/>
            <p:cNvSpPr/>
            <p:nvPr/>
          </p:nvSpPr>
          <p:spPr>
            <a:xfrm>
              <a:off x="2873910" y="2028950"/>
              <a:ext cx="472500" cy="10653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0" name="Google Shape;1160;p81"/>
            <p:cNvSpPr/>
            <p:nvPr/>
          </p:nvSpPr>
          <p:spPr>
            <a:xfrm>
              <a:off x="2954627" y="1671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1" name="Google Shape;1161;p81"/>
            <p:cNvSpPr/>
            <p:nvPr/>
          </p:nvSpPr>
          <p:spPr>
            <a:xfrm>
              <a:off x="2954627" y="3160433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2" name="Google Shape;1162;p81"/>
            <p:cNvSpPr/>
            <p:nvPr/>
          </p:nvSpPr>
          <p:spPr>
            <a:xfrm>
              <a:off x="2497427" y="2052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3" name="Google Shape;1163;p81"/>
            <p:cNvSpPr/>
            <p:nvPr/>
          </p:nvSpPr>
          <p:spPr>
            <a:xfrm>
              <a:off x="2497427" y="2409965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4" name="Google Shape;1164;p81"/>
            <p:cNvSpPr/>
            <p:nvPr/>
          </p:nvSpPr>
          <p:spPr>
            <a:xfrm>
              <a:off x="2497427" y="276790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5" name="Google Shape;1165;p81"/>
            <p:cNvSpPr/>
            <p:nvPr/>
          </p:nvSpPr>
          <p:spPr>
            <a:xfrm>
              <a:off x="3331110" y="2028950"/>
              <a:ext cx="472500" cy="10653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6" name="Google Shape;1166;p81"/>
            <p:cNvSpPr/>
            <p:nvPr/>
          </p:nvSpPr>
          <p:spPr>
            <a:xfrm>
              <a:off x="3411827" y="1671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7" name="Google Shape;1167;p81"/>
            <p:cNvSpPr/>
            <p:nvPr/>
          </p:nvSpPr>
          <p:spPr>
            <a:xfrm>
              <a:off x="3411827" y="3160433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8" name="Google Shape;1168;p81"/>
            <p:cNvSpPr/>
            <p:nvPr/>
          </p:nvSpPr>
          <p:spPr>
            <a:xfrm>
              <a:off x="3869027" y="2052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9" name="Google Shape;1169;p81"/>
            <p:cNvSpPr/>
            <p:nvPr/>
          </p:nvSpPr>
          <p:spPr>
            <a:xfrm>
              <a:off x="3869027" y="2409965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0" name="Google Shape;1170;p81"/>
            <p:cNvSpPr/>
            <p:nvPr/>
          </p:nvSpPr>
          <p:spPr>
            <a:xfrm>
              <a:off x="3869027" y="276790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1" name="Google Shape;1171;p81"/>
          <p:cNvGrpSpPr/>
          <p:nvPr/>
        </p:nvGrpSpPr>
        <p:grpSpPr>
          <a:xfrm>
            <a:off x="6506653" y="1238375"/>
            <a:ext cx="928205" cy="775755"/>
            <a:chOff x="4825030" y="1671030"/>
            <a:chExt cx="2140200" cy="1789102"/>
          </a:xfrm>
        </p:grpSpPr>
        <p:sp>
          <p:nvSpPr>
            <p:cNvPr id="1172" name="Google Shape;1172;p81"/>
            <p:cNvSpPr/>
            <p:nvPr/>
          </p:nvSpPr>
          <p:spPr>
            <a:xfrm>
              <a:off x="6115912" y="2028950"/>
              <a:ext cx="472500" cy="10653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3" name="Google Shape;1173;p81"/>
            <p:cNvSpPr/>
            <p:nvPr/>
          </p:nvSpPr>
          <p:spPr>
            <a:xfrm>
              <a:off x="6196630" y="1671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4" name="Google Shape;1174;p81"/>
            <p:cNvSpPr/>
            <p:nvPr/>
          </p:nvSpPr>
          <p:spPr>
            <a:xfrm>
              <a:off x="6196630" y="3160433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5" name="Google Shape;1175;p81"/>
            <p:cNvSpPr/>
            <p:nvPr/>
          </p:nvSpPr>
          <p:spPr>
            <a:xfrm>
              <a:off x="6653830" y="2052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6" name="Google Shape;1176;p81"/>
            <p:cNvSpPr/>
            <p:nvPr/>
          </p:nvSpPr>
          <p:spPr>
            <a:xfrm>
              <a:off x="6653830" y="2409965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7" name="Google Shape;1177;p81"/>
            <p:cNvSpPr/>
            <p:nvPr/>
          </p:nvSpPr>
          <p:spPr>
            <a:xfrm>
              <a:off x="6653830" y="276790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8" name="Google Shape;1178;p81"/>
            <p:cNvSpPr/>
            <p:nvPr/>
          </p:nvSpPr>
          <p:spPr>
            <a:xfrm>
              <a:off x="5201512" y="2028950"/>
              <a:ext cx="472500" cy="10653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9" name="Google Shape;1179;p81"/>
            <p:cNvSpPr/>
            <p:nvPr/>
          </p:nvSpPr>
          <p:spPr>
            <a:xfrm>
              <a:off x="5282230" y="1671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0" name="Google Shape;1180;p81"/>
            <p:cNvSpPr/>
            <p:nvPr/>
          </p:nvSpPr>
          <p:spPr>
            <a:xfrm>
              <a:off x="5282230" y="3160433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1" name="Google Shape;1181;p81"/>
            <p:cNvSpPr/>
            <p:nvPr/>
          </p:nvSpPr>
          <p:spPr>
            <a:xfrm>
              <a:off x="4825030" y="2052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2" name="Google Shape;1182;p81"/>
            <p:cNvSpPr/>
            <p:nvPr/>
          </p:nvSpPr>
          <p:spPr>
            <a:xfrm>
              <a:off x="4825030" y="2409965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3" name="Google Shape;1183;p81"/>
            <p:cNvSpPr/>
            <p:nvPr/>
          </p:nvSpPr>
          <p:spPr>
            <a:xfrm>
              <a:off x="4825030" y="276790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4" name="Google Shape;1184;p81"/>
            <p:cNvSpPr/>
            <p:nvPr/>
          </p:nvSpPr>
          <p:spPr>
            <a:xfrm>
              <a:off x="5658712" y="2028950"/>
              <a:ext cx="472500" cy="10653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5" name="Google Shape;1185;p81"/>
            <p:cNvSpPr/>
            <p:nvPr/>
          </p:nvSpPr>
          <p:spPr>
            <a:xfrm>
              <a:off x="5739430" y="1671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6" name="Google Shape;1186;p81"/>
            <p:cNvSpPr/>
            <p:nvPr/>
          </p:nvSpPr>
          <p:spPr>
            <a:xfrm>
              <a:off x="5739430" y="3160433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7" name="Google Shape;1187;p81"/>
          <p:cNvGrpSpPr/>
          <p:nvPr/>
        </p:nvGrpSpPr>
        <p:grpSpPr>
          <a:xfrm>
            <a:off x="7688276" y="1238259"/>
            <a:ext cx="1127945" cy="775742"/>
            <a:chOff x="6219282" y="1518596"/>
            <a:chExt cx="1717857" cy="1181452"/>
          </a:xfrm>
        </p:grpSpPr>
        <p:sp>
          <p:nvSpPr>
            <p:cNvPr id="1188" name="Google Shape;1188;p81"/>
            <p:cNvSpPr/>
            <p:nvPr/>
          </p:nvSpPr>
          <p:spPr>
            <a:xfrm>
              <a:off x="7071652" y="1754931"/>
              <a:ext cx="312000" cy="7035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9" name="Google Shape;1189;p81"/>
            <p:cNvSpPr/>
            <p:nvPr/>
          </p:nvSpPr>
          <p:spPr>
            <a:xfrm>
              <a:off x="7124949" y="1518596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0" name="Google Shape;1190;p81"/>
            <p:cNvSpPr/>
            <p:nvPr/>
          </p:nvSpPr>
          <p:spPr>
            <a:xfrm>
              <a:off x="7124949" y="2502049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1" name="Google Shape;1191;p81"/>
            <p:cNvSpPr/>
            <p:nvPr/>
          </p:nvSpPr>
          <p:spPr>
            <a:xfrm>
              <a:off x="7731639" y="1770170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2" name="Google Shape;1192;p81"/>
            <p:cNvSpPr/>
            <p:nvPr/>
          </p:nvSpPr>
          <p:spPr>
            <a:xfrm>
              <a:off x="7731639" y="2006515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3" name="Google Shape;1193;p81"/>
            <p:cNvSpPr/>
            <p:nvPr/>
          </p:nvSpPr>
          <p:spPr>
            <a:xfrm>
              <a:off x="7731639" y="2242859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4" name="Google Shape;1194;p81"/>
            <p:cNvSpPr/>
            <p:nvPr/>
          </p:nvSpPr>
          <p:spPr>
            <a:xfrm>
              <a:off x="6467873" y="1754931"/>
              <a:ext cx="312000" cy="7035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5" name="Google Shape;1195;p81"/>
            <p:cNvSpPr/>
            <p:nvPr/>
          </p:nvSpPr>
          <p:spPr>
            <a:xfrm>
              <a:off x="6521171" y="1518596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6" name="Google Shape;1196;p81"/>
            <p:cNvSpPr/>
            <p:nvPr/>
          </p:nvSpPr>
          <p:spPr>
            <a:xfrm>
              <a:off x="6521171" y="2502049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7" name="Google Shape;1197;p81"/>
            <p:cNvSpPr/>
            <p:nvPr/>
          </p:nvSpPr>
          <p:spPr>
            <a:xfrm>
              <a:off x="6219282" y="1770170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8" name="Google Shape;1198;p81"/>
            <p:cNvSpPr/>
            <p:nvPr/>
          </p:nvSpPr>
          <p:spPr>
            <a:xfrm>
              <a:off x="6219282" y="2006515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9" name="Google Shape;1199;p81"/>
            <p:cNvSpPr/>
            <p:nvPr/>
          </p:nvSpPr>
          <p:spPr>
            <a:xfrm>
              <a:off x="6219282" y="2242859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0" name="Google Shape;1200;p81"/>
            <p:cNvSpPr/>
            <p:nvPr/>
          </p:nvSpPr>
          <p:spPr>
            <a:xfrm>
              <a:off x="6769763" y="1754931"/>
              <a:ext cx="312000" cy="7035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1" name="Google Shape;1201;p81"/>
            <p:cNvSpPr/>
            <p:nvPr/>
          </p:nvSpPr>
          <p:spPr>
            <a:xfrm>
              <a:off x="6823060" y="1518596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2" name="Google Shape;1202;p81"/>
            <p:cNvSpPr/>
            <p:nvPr/>
          </p:nvSpPr>
          <p:spPr>
            <a:xfrm>
              <a:off x="6823060" y="2502049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3" name="Google Shape;1203;p81"/>
            <p:cNvSpPr/>
            <p:nvPr/>
          </p:nvSpPr>
          <p:spPr>
            <a:xfrm>
              <a:off x="7376452" y="1754931"/>
              <a:ext cx="312000" cy="7035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4" name="Google Shape;1204;p81"/>
            <p:cNvSpPr/>
            <p:nvPr/>
          </p:nvSpPr>
          <p:spPr>
            <a:xfrm>
              <a:off x="7429749" y="1518596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5" name="Google Shape;1205;p81"/>
            <p:cNvSpPr/>
            <p:nvPr/>
          </p:nvSpPr>
          <p:spPr>
            <a:xfrm>
              <a:off x="7429749" y="2502049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06" name="Google Shape;1206;p81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317449" y="2347334"/>
            <a:ext cx="3720801" cy="125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81"/>
          <p:cNvSpPr txBox="1"/>
          <p:nvPr>
            <p:ph type="body" idx="1"/>
          </p:nvPr>
        </p:nvSpPr>
        <p:spPr>
          <a:xfrm>
            <a:off x="605725" y="2387760"/>
            <a:ext cx="35016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If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represents the number of tables my rule is easier to say.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× 2 + 6</a:t>
            </a:r>
            <a:r>
              <a:rPr lang="en-GB" sz="1800"/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800"/>
              <a:t> number of people</a:t>
            </a:r>
            <a:endParaRPr sz="1800"/>
          </a:p>
        </p:txBody>
      </p:sp>
      <p:pic>
        <p:nvPicPr>
          <p:cNvPr id="1208" name="Google Shape;1208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935" y="3539888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9" name="Google Shape;1209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7703" y="3456387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0" name="Google Shape;1210;p81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4203652" y="2347335"/>
            <a:ext cx="3423698" cy="125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211" name="Google Shape;1211;p81"/>
          <p:cNvSpPr txBox="1"/>
          <p:nvPr>
            <p:ph type="body" idx="1"/>
          </p:nvPr>
        </p:nvSpPr>
        <p:spPr>
          <a:xfrm>
            <a:off x="4491925" y="2399283"/>
            <a:ext cx="30813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What if…</a:t>
            </a:r>
            <a:endParaRPr sz="1800"/>
          </a:p>
        </p:txBody>
      </p:sp>
      <p:sp>
        <p:nvSpPr>
          <p:cNvPr id="1212" name="Google Shape;1212;p81"/>
          <p:cNvSpPr txBox="1"/>
          <p:nvPr>
            <p:ph type="body" idx="1"/>
          </p:nvPr>
        </p:nvSpPr>
        <p:spPr>
          <a:xfrm>
            <a:off x="5581800" y="3759350"/>
            <a:ext cx="25713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is wrong with Jun’s idea?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3" name="Google Shape;1213;p81"/>
          <p:cNvSpPr txBox="1"/>
          <p:nvPr>
            <p:ph type="body" idx="1"/>
          </p:nvPr>
        </p:nvSpPr>
        <p:spPr>
          <a:xfrm>
            <a:off x="4545060" y="2669485"/>
            <a:ext cx="25713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 use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−2</a:t>
            </a:r>
            <a:r>
              <a:rPr lang="en-GB" sz="1800"/>
              <a:t> we’ll have 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(−2) × 2</a:t>
            </a:r>
            <a:r>
              <a:rPr lang="en-GB" sz="1800"/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1800"/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1800"/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800"/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/>
              <a:t> people.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17" name="Shape 1217"/>
        <p:cNvGrpSpPr/>
        <p:nvPr/>
      </p:nvGrpSpPr>
      <p:grpSpPr>
        <a:xfrm>
          <a:off x="0" y="0"/>
          <a:ext cx="0" cy="0"/>
        </a:xfrm>
      </p:grpSpPr>
      <p:sp>
        <p:nvSpPr>
          <p:cNvPr id="1218" name="Google Shape;1218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position of a term in a sequence</a:t>
            </a:r>
            <a:endParaRPr/>
          </a:p>
        </p:txBody>
      </p:sp>
      <p:graphicFrame>
        <p:nvGraphicFramePr>
          <p:cNvPr id="1219" name="Google Shape;1219;p82"/>
          <p:cNvGraphicFramePr>
            <a:graphicFrameLocks noGrp="1"/>
          </p:cNvGraphicFramePr>
          <p:nvPr/>
        </p:nvGraphicFramePr>
        <p:xfrm>
          <a:off x="687899" y="13077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{36393E4A-1B3B-4A6D-B05D-6F587DC3BFE1}</a:tableStyleId>
              </a:tblPr>
              <a:tblGrid>
                <a:gridCol w="2057775"/>
                <a:gridCol w="392750"/>
                <a:gridCol w="392750"/>
                <a:gridCol w="392750"/>
                <a:gridCol w="392750"/>
              </a:tblGrid>
              <a:tr h="4661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Table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2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People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220" name="Google Shape;1220;p82"/>
          <p:cNvSpPr txBox="1"/>
          <p:nvPr>
            <p:ph type="body" idx="1"/>
          </p:nvPr>
        </p:nvSpPr>
        <p:spPr>
          <a:xfrm>
            <a:off x="323998" y="810625"/>
            <a:ext cx="71352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Aisha and Jun put their results in a table.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21" name="Google Shape;1221;p82"/>
          <p:cNvGrpSpPr/>
          <p:nvPr/>
        </p:nvGrpSpPr>
        <p:grpSpPr>
          <a:xfrm>
            <a:off x="4794976" y="1238375"/>
            <a:ext cx="531629" cy="775755"/>
            <a:chOff x="405430" y="1671030"/>
            <a:chExt cx="1225800" cy="1789102"/>
          </a:xfrm>
        </p:grpSpPr>
        <p:sp>
          <p:nvSpPr>
            <p:cNvPr id="1222" name="Google Shape;1222;p82"/>
            <p:cNvSpPr/>
            <p:nvPr/>
          </p:nvSpPr>
          <p:spPr>
            <a:xfrm>
              <a:off x="781912" y="2028950"/>
              <a:ext cx="472500" cy="10653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3" name="Google Shape;1223;p82"/>
            <p:cNvSpPr/>
            <p:nvPr/>
          </p:nvSpPr>
          <p:spPr>
            <a:xfrm>
              <a:off x="862630" y="1671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4" name="Google Shape;1224;p82"/>
            <p:cNvSpPr/>
            <p:nvPr/>
          </p:nvSpPr>
          <p:spPr>
            <a:xfrm>
              <a:off x="862630" y="3160433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5" name="Google Shape;1225;p82"/>
            <p:cNvSpPr/>
            <p:nvPr/>
          </p:nvSpPr>
          <p:spPr>
            <a:xfrm>
              <a:off x="405430" y="2052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6" name="Google Shape;1226;p82"/>
            <p:cNvSpPr/>
            <p:nvPr/>
          </p:nvSpPr>
          <p:spPr>
            <a:xfrm>
              <a:off x="405430" y="2409965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7" name="Google Shape;1227;p82"/>
            <p:cNvSpPr/>
            <p:nvPr/>
          </p:nvSpPr>
          <p:spPr>
            <a:xfrm>
              <a:off x="405430" y="276790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8" name="Google Shape;1228;p82"/>
            <p:cNvSpPr/>
            <p:nvPr/>
          </p:nvSpPr>
          <p:spPr>
            <a:xfrm>
              <a:off x="1319830" y="2052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9" name="Google Shape;1229;p82"/>
            <p:cNvSpPr/>
            <p:nvPr/>
          </p:nvSpPr>
          <p:spPr>
            <a:xfrm>
              <a:off x="1319830" y="2409965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0" name="Google Shape;1230;p82"/>
            <p:cNvSpPr/>
            <p:nvPr/>
          </p:nvSpPr>
          <p:spPr>
            <a:xfrm>
              <a:off x="1319830" y="276790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1" name="Google Shape;1231;p82"/>
          <p:cNvGrpSpPr/>
          <p:nvPr/>
        </p:nvGrpSpPr>
        <p:grpSpPr>
          <a:xfrm>
            <a:off x="5565539" y="1238375"/>
            <a:ext cx="729917" cy="775755"/>
            <a:chOff x="2497427" y="1671030"/>
            <a:chExt cx="1683000" cy="1789102"/>
          </a:xfrm>
        </p:grpSpPr>
        <p:sp>
          <p:nvSpPr>
            <p:cNvPr id="1232" name="Google Shape;1232;p82"/>
            <p:cNvSpPr/>
            <p:nvPr/>
          </p:nvSpPr>
          <p:spPr>
            <a:xfrm>
              <a:off x="2873910" y="2028950"/>
              <a:ext cx="472500" cy="10653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3" name="Google Shape;1233;p82"/>
            <p:cNvSpPr/>
            <p:nvPr/>
          </p:nvSpPr>
          <p:spPr>
            <a:xfrm>
              <a:off x="2954627" y="1671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4" name="Google Shape;1234;p82"/>
            <p:cNvSpPr/>
            <p:nvPr/>
          </p:nvSpPr>
          <p:spPr>
            <a:xfrm>
              <a:off x="2954627" y="3160433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5" name="Google Shape;1235;p82"/>
            <p:cNvSpPr/>
            <p:nvPr/>
          </p:nvSpPr>
          <p:spPr>
            <a:xfrm>
              <a:off x="2497427" y="2052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6" name="Google Shape;1236;p82"/>
            <p:cNvSpPr/>
            <p:nvPr/>
          </p:nvSpPr>
          <p:spPr>
            <a:xfrm>
              <a:off x="2497427" y="2409965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7" name="Google Shape;1237;p82"/>
            <p:cNvSpPr/>
            <p:nvPr/>
          </p:nvSpPr>
          <p:spPr>
            <a:xfrm>
              <a:off x="2497427" y="276790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8" name="Google Shape;1238;p82"/>
            <p:cNvSpPr/>
            <p:nvPr/>
          </p:nvSpPr>
          <p:spPr>
            <a:xfrm>
              <a:off x="3331110" y="2028950"/>
              <a:ext cx="472500" cy="10653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9" name="Google Shape;1239;p82"/>
            <p:cNvSpPr/>
            <p:nvPr/>
          </p:nvSpPr>
          <p:spPr>
            <a:xfrm>
              <a:off x="3411827" y="1671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0" name="Google Shape;1240;p82"/>
            <p:cNvSpPr/>
            <p:nvPr/>
          </p:nvSpPr>
          <p:spPr>
            <a:xfrm>
              <a:off x="3411827" y="3160433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1" name="Google Shape;1241;p82"/>
            <p:cNvSpPr/>
            <p:nvPr/>
          </p:nvSpPr>
          <p:spPr>
            <a:xfrm>
              <a:off x="3869027" y="2052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2" name="Google Shape;1242;p82"/>
            <p:cNvSpPr/>
            <p:nvPr/>
          </p:nvSpPr>
          <p:spPr>
            <a:xfrm>
              <a:off x="3869027" y="2409965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3" name="Google Shape;1243;p82"/>
            <p:cNvSpPr/>
            <p:nvPr/>
          </p:nvSpPr>
          <p:spPr>
            <a:xfrm>
              <a:off x="3869027" y="276790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4" name="Google Shape;1244;p82"/>
          <p:cNvGrpSpPr/>
          <p:nvPr/>
        </p:nvGrpSpPr>
        <p:grpSpPr>
          <a:xfrm>
            <a:off x="6506653" y="1238375"/>
            <a:ext cx="928205" cy="775755"/>
            <a:chOff x="4825030" y="1671030"/>
            <a:chExt cx="2140200" cy="1789102"/>
          </a:xfrm>
        </p:grpSpPr>
        <p:sp>
          <p:nvSpPr>
            <p:cNvPr id="1245" name="Google Shape;1245;p82"/>
            <p:cNvSpPr/>
            <p:nvPr/>
          </p:nvSpPr>
          <p:spPr>
            <a:xfrm>
              <a:off x="6115912" y="2028950"/>
              <a:ext cx="472500" cy="10653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6" name="Google Shape;1246;p82"/>
            <p:cNvSpPr/>
            <p:nvPr/>
          </p:nvSpPr>
          <p:spPr>
            <a:xfrm>
              <a:off x="6196630" y="1671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7" name="Google Shape;1247;p82"/>
            <p:cNvSpPr/>
            <p:nvPr/>
          </p:nvSpPr>
          <p:spPr>
            <a:xfrm>
              <a:off x="6196630" y="3160433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8" name="Google Shape;1248;p82"/>
            <p:cNvSpPr/>
            <p:nvPr/>
          </p:nvSpPr>
          <p:spPr>
            <a:xfrm>
              <a:off x="6653830" y="2052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9" name="Google Shape;1249;p82"/>
            <p:cNvSpPr/>
            <p:nvPr/>
          </p:nvSpPr>
          <p:spPr>
            <a:xfrm>
              <a:off x="6653830" y="2409965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0" name="Google Shape;1250;p82"/>
            <p:cNvSpPr/>
            <p:nvPr/>
          </p:nvSpPr>
          <p:spPr>
            <a:xfrm>
              <a:off x="6653830" y="276790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1" name="Google Shape;1251;p82"/>
            <p:cNvSpPr/>
            <p:nvPr/>
          </p:nvSpPr>
          <p:spPr>
            <a:xfrm>
              <a:off x="5201512" y="2028950"/>
              <a:ext cx="472500" cy="10653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2" name="Google Shape;1252;p82"/>
            <p:cNvSpPr/>
            <p:nvPr/>
          </p:nvSpPr>
          <p:spPr>
            <a:xfrm>
              <a:off x="5282230" y="1671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3" name="Google Shape;1253;p82"/>
            <p:cNvSpPr/>
            <p:nvPr/>
          </p:nvSpPr>
          <p:spPr>
            <a:xfrm>
              <a:off x="5282230" y="3160433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4" name="Google Shape;1254;p82"/>
            <p:cNvSpPr/>
            <p:nvPr/>
          </p:nvSpPr>
          <p:spPr>
            <a:xfrm>
              <a:off x="4825030" y="2052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5" name="Google Shape;1255;p82"/>
            <p:cNvSpPr/>
            <p:nvPr/>
          </p:nvSpPr>
          <p:spPr>
            <a:xfrm>
              <a:off x="4825030" y="2409965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6" name="Google Shape;1256;p82"/>
            <p:cNvSpPr/>
            <p:nvPr/>
          </p:nvSpPr>
          <p:spPr>
            <a:xfrm>
              <a:off x="4825030" y="276790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7" name="Google Shape;1257;p82"/>
            <p:cNvSpPr/>
            <p:nvPr/>
          </p:nvSpPr>
          <p:spPr>
            <a:xfrm>
              <a:off x="5658712" y="2028950"/>
              <a:ext cx="472500" cy="10653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8" name="Google Shape;1258;p82"/>
            <p:cNvSpPr/>
            <p:nvPr/>
          </p:nvSpPr>
          <p:spPr>
            <a:xfrm>
              <a:off x="5739430" y="1671030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9" name="Google Shape;1259;p82"/>
            <p:cNvSpPr/>
            <p:nvPr/>
          </p:nvSpPr>
          <p:spPr>
            <a:xfrm>
              <a:off x="5739430" y="3160433"/>
              <a:ext cx="311400" cy="2997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0" name="Google Shape;1260;p82"/>
          <p:cNvGrpSpPr/>
          <p:nvPr/>
        </p:nvGrpSpPr>
        <p:grpSpPr>
          <a:xfrm>
            <a:off x="7688276" y="1238259"/>
            <a:ext cx="1127945" cy="775742"/>
            <a:chOff x="6219282" y="1518596"/>
            <a:chExt cx="1717857" cy="1181452"/>
          </a:xfrm>
        </p:grpSpPr>
        <p:sp>
          <p:nvSpPr>
            <p:cNvPr id="1261" name="Google Shape;1261;p82"/>
            <p:cNvSpPr/>
            <p:nvPr/>
          </p:nvSpPr>
          <p:spPr>
            <a:xfrm>
              <a:off x="7071652" y="1754931"/>
              <a:ext cx="312000" cy="7035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2" name="Google Shape;1262;p82"/>
            <p:cNvSpPr/>
            <p:nvPr/>
          </p:nvSpPr>
          <p:spPr>
            <a:xfrm>
              <a:off x="7124949" y="1518596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3" name="Google Shape;1263;p82"/>
            <p:cNvSpPr/>
            <p:nvPr/>
          </p:nvSpPr>
          <p:spPr>
            <a:xfrm>
              <a:off x="7124949" y="2502049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4" name="Google Shape;1264;p82"/>
            <p:cNvSpPr/>
            <p:nvPr/>
          </p:nvSpPr>
          <p:spPr>
            <a:xfrm>
              <a:off x="7731639" y="1770170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5" name="Google Shape;1265;p82"/>
            <p:cNvSpPr/>
            <p:nvPr/>
          </p:nvSpPr>
          <p:spPr>
            <a:xfrm>
              <a:off x="7731639" y="2006515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6" name="Google Shape;1266;p82"/>
            <p:cNvSpPr/>
            <p:nvPr/>
          </p:nvSpPr>
          <p:spPr>
            <a:xfrm>
              <a:off x="7731639" y="2242859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7" name="Google Shape;1267;p82"/>
            <p:cNvSpPr/>
            <p:nvPr/>
          </p:nvSpPr>
          <p:spPr>
            <a:xfrm>
              <a:off x="6467873" y="1754931"/>
              <a:ext cx="312000" cy="7035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8" name="Google Shape;1268;p82"/>
            <p:cNvSpPr/>
            <p:nvPr/>
          </p:nvSpPr>
          <p:spPr>
            <a:xfrm>
              <a:off x="6521171" y="1518596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9" name="Google Shape;1269;p82"/>
            <p:cNvSpPr/>
            <p:nvPr/>
          </p:nvSpPr>
          <p:spPr>
            <a:xfrm>
              <a:off x="6521171" y="2502049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0" name="Google Shape;1270;p82"/>
            <p:cNvSpPr/>
            <p:nvPr/>
          </p:nvSpPr>
          <p:spPr>
            <a:xfrm>
              <a:off x="6219282" y="1770170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1" name="Google Shape;1271;p82"/>
            <p:cNvSpPr/>
            <p:nvPr/>
          </p:nvSpPr>
          <p:spPr>
            <a:xfrm>
              <a:off x="6219282" y="2006515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2" name="Google Shape;1272;p82"/>
            <p:cNvSpPr/>
            <p:nvPr/>
          </p:nvSpPr>
          <p:spPr>
            <a:xfrm>
              <a:off x="6219282" y="2242859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3" name="Google Shape;1273;p82"/>
            <p:cNvSpPr/>
            <p:nvPr/>
          </p:nvSpPr>
          <p:spPr>
            <a:xfrm>
              <a:off x="6769763" y="1754931"/>
              <a:ext cx="312000" cy="7035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4" name="Google Shape;1274;p82"/>
            <p:cNvSpPr/>
            <p:nvPr/>
          </p:nvSpPr>
          <p:spPr>
            <a:xfrm>
              <a:off x="6823060" y="1518596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5" name="Google Shape;1275;p82"/>
            <p:cNvSpPr/>
            <p:nvPr/>
          </p:nvSpPr>
          <p:spPr>
            <a:xfrm>
              <a:off x="6823060" y="2502049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6" name="Google Shape;1276;p82"/>
            <p:cNvSpPr/>
            <p:nvPr/>
          </p:nvSpPr>
          <p:spPr>
            <a:xfrm>
              <a:off x="7376452" y="1754931"/>
              <a:ext cx="312000" cy="7035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7" name="Google Shape;1277;p82"/>
            <p:cNvSpPr/>
            <p:nvPr/>
          </p:nvSpPr>
          <p:spPr>
            <a:xfrm>
              <a:off x="7429749" y="1518596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8" name="Google Shape;1278;p82"/>
            <p:cNvSpPr/>
            <p:nvPr/>
          </p:nvSpPr>
          <p:spPr>
            <a:xfrm>
              <a:off x="7429749" y="2502049"/>
              <a:ext cx="205500" cy="1980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79" name="Google Shape;1279;p82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317449" y="2347334"/>
            <a:ext cx="3720801" cy="125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82"/>
          <p:cNvSpPr txBox="1"/>
          <p:nvPr>
            <p:ph type="body" idx="1"/>
          </p:nvPr>
        </p:nvSpPr>
        <p:spPr>
          <a:xfrm>
            <a:off x="605725" y="2387760"/>
            <a:ext cx="35016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If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represents the number of tables my rule is easier to say.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800"/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× 2 + 6</a:t>
            </a:r>
            <a:r>
              <a:rPr lang="en-GB" sz="1800"/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800"/>
              <a:t> number of people</a:t>
            </a:r>
            <a:endParaRPr sz="1800"/>
          </a:p>
        </p:txBody>
      </p:sp>
      <p:pic>
        <p:nvPicPr>
          <p:cNvPr id="1281" name="Google Shape;1281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935" y="3539888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2" name="Google Shape;1282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3024" y="3454382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3" name="Google Shape;1283;p82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4203652" y="2347335"/>
            <a:ext cx="3423698" cy="125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82"/>
          <p:cNvSpPr txBox="1"/>
          <p:nvPr>
            <p:ph type="body" idx="1"/>
          </p:nvPr>
        </p:nvSpPr>
        <p:spPr>
          <a:xfrm>
            <a:off x="4703450" y="3639700"/>
            <a:ext cx="40827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would mean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tables.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or zero tables won’t exist.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has to be a positive integer in this case.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5" name="Google Shape;1285;p82"/>
          <p:cNvSpPr txBox="1"/>
          <p:nvPr>
            <p:ph type="body" idx="1"/>
          </p:nvPr>
        </p:nvSpPr>
        <p:spPr>
          <a:xfrm>
            <a:off x="4491925" y="2399283"/>
            <a:ext cx="30813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What if…</a:t>
            </a:r>
            <a:endParaRPr sz="1800"/>
          </a:p>
        </p:txBody>
      </p:sp>
      <p:sp>
        <p:nvSpPr>
          <p:cNvPr id="1286" name="Google Shape;1286;p82"/>
          <p:cNvSpPr txBox="1"/>
          <p:nvPr>
            <p:ph type="body" idx="1"/>
          </p:nvPr>
        </p:nvSpPr>
        <p:spPr>
          <a:xfrm>
            <a:off x="4545060" y="2669485"/>
            <a:ext cx="25713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 use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−2</a:t>
            </a:r>
            <a:r>
              <a:rPr lang="en-GB" sz="1800"/>
              <a:t> we’ll have 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(−2) × 2</a:t>
            </a:r>
            <a:r>
              <a:rPr lang="en-GB" sz="1800"/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1800"/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1800"/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lang="en-GB" sz="1800"/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/>
              <a:t> people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90" name="Shape 1290"/>
        <p:cNvGrpSpPr/>
        <p:nvPr/>
      </p:nvGrpSpPr>
      <p:grpSpPr>
        <a:xfrm>
          <a:off x="0" y="0"/>
          <a:ext cx="0" cy="0"/>
        </a:xfrm>
      </p:grpSpPr>
      <p:sp>
        <p:nvSpPr>
          <p:cNvPr id="1291" name="Google Shape;1291;p83"/>
          <p:cNvSpPr txBox="1"/>
          <p:nvPr>
            <p:ph type="subTitle" idx="1"/>
          </p:nvPr>
        </p:nvSpPr>
        <p:spPr>
          <a:xfrm>
            <a:off x="980575" y="3085325"/>
            <a:ext cx="34314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Because any number multiplied by zero is zero.</a:t>
            </a:r>
            <a:endParaRPr sz="2000"/>
          </a:p>
        </p:txBody>
      </p:sp>
      <p:sp>
        <p:nvSpPr>
          <p:cNvPr id="1292" name="Google Shape;1292;p83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, the term number, can be zero.</a:t>
            </a:r>
            <a:endParaRPr/>
          </a:p>
        </p:txBody>
      </p:sp>
      <p:sp>
        <p:nvSpPr>
          <p:cNvPr id="1293" name="Google Shape;1293;p83"/>
          <p:cNvSpPr txBox="1"/>
          <p:nvPr>
            <p:ph type="subTitle" idx="3"/>
          </p:nvPr>
        </p:nvSpPr>
        <p:spPr>
          <a:xfrm>
            <a:off x="980575" y="3964150"/>
            <a:ext cx="5583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Because the first term in a sequence is the first term. There is nothing before it.</a:t>
            </a:r>
            <a:endParaRPr sz="2000"/>
          </a:p>
        </p:txBody>
      </p:sp>
      <p:sp>
        <p:nvSpPr>
          <p:cNvPr id="1294" name="Google Shape;1294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position of a term in a sequence</a:t>
            </a:r>
            <a:endParaRPr/>
          </a:p>
        </p:txBody>
      </p:sp>
      <p:pic>
        <p:nvPicPr>
          <p:cNvPr id="1295" name="Google Shape;1295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7713" y="174235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6" name="Google Shape;1296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5313" y="420381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2898" y="731288"/>
            <a:ext cx="3577250" cy="893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p83"/>
          <p:cNvSpPr txBox="1"/>
          <p:nvPr>
            <p:ph type="body" idx="4294967295"/>
          </p:nvPr>
        </p:nvSpPr>
        <p:spPr>
          <a:xfrm>
            <a:off x="4572000" y="3230475"/>
            <a:ext cx="42390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the </a:t>
            </a: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first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number in this sequence, there is nothing before it.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02" name="Shape 1302"/>
        <p:cNvGrpSpPr/>
        <p:nvPr/>
      </p:nvGrpSpPr>
      <p:grpSpPr>
        <a:xfrm>
          <a:off x="0" y="0"/>
          <a:ext cx="0" cy="0"/>
        </a:xfrm>
      </p:grpSpPr>
      <p:sp>
        <p:nvSpPr>
          <p:cNvPr id="1303" name="Google Shape;1303;p84"/>
          <p:cNvSpPr txBox="1"/>
          <p:nvPr>
            <p:ph type="body" idx="1"/>
          </p:nvPr>
        </p:nvSpPr>
        <p:spPr>
          <a:xfrm>
            <a:off x="324000" y="759300"/>
            <a:ext cx="69105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Match the term number (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) to the term values (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000"/>
              <a:t>). One has been done for you. </a:t>
            </a:r>
            <a:endParaRPr sz="2000"/>
          </a:p>
        </p:txBody>
      </p:sp>
      <p:sp>
        <p:nvSpPr>
          <p:cNvPr id="1304" name="Google Shape;1304;p8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position of a term in a sequence</a:t>
            </a:r>
            <a:endParaRPr/>
          </a:p>
        </p:txBody>
      </p:sp>
      <p:graphicFrame>
        <p:nvGraphicFramePr>
          <p:cNvPr id="1305" name="Google Shape;1305;p84"/>
          <p:cNvGraphicFramePr>
            <a:graphicFrameLocks noGrp="1"/>
          </p:cNvGraphicFramePr>
          <p:nvPr/>
        </p:nvGraphicFramePr>
        <p:xfrm>
          <a:off x="579614" y="17954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{36393E4A-1B3B-4A6D-B05D-6F587DC3BFE1}</a:tableStyleId>
              </a:tblPr>
              <a:tblGrid>
                <a:gridCol w="1948000"/>
                <a:gridCol w="374800"/>
                <a:gridCol w="374800"/>
                <a:gridCol w="374800"/>
                <a:gridCol w="374800"/>
                <a:gridCol w="374800"/>
              </a:tblGrid>
              <a:tr h="408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2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06" name="Google Shape;1306;p84"/>
          <p:cNvSpPr txBox="1"/>
          <p:nvPr/>
        </p:nvSpPr>
        <p:spPr>
          <a:xfrm>
            <a:off x="1137690" y="3345790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1600"/>
          </a:p>
        </p:txBody>
      </p:sp>
      <p:sp>
        <p:nvSpPr>
          <p:cNvPr id="1307" name="Google Shape;1307;p84"/>
          <p:cNvSpPr txBox="1"/>
          <p:nvPr/>
        </p:nvSpPr>
        <p:spPr>
          <a:xfrm>
            <a:off x="1137690" y="4412590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sz="1600"/>
          </a:p>
        </p:txBody>
      </p:sp>
      <p:sp>
        <p:nvSpPr>
          <p:cNvPr id="1308" name="Google Shape;1308;p84"/>
          <p:cNvSpPr txBox="1"/>
          <p:nvPr/>
        </p:nvSpPr>
        <p:spPr>
          <a:xfrm>
            <a:off x="1137690" y="2812390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endParaRPr sz="1600"/>
          </a:p>
        </p:txBody>
      </p:sp>
      <p:sp>
        <p:nvSpPr>
          <p:cNvPr id="1309" name="Google Shape;1309;p84"/>
          <p:cNvSpPr txBox="1"/>
          <p:nvPr/>
        </p:nvSpPr>
        <p:spPr>
          <a:xfrm>
            <a:off x="3195103" y="2812390"/>
            <a:ext cx="914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14</a:t>
            </a:r>
            <a:endParaRPr sz="1600"/>
          </a:p>
        </p:txBody>
      </p:sp>
      <p:sp>
        <p:nvSpPr>
          <p:cNvPr id="1310" name="Google Shape;1310;p84"/>
          <p:cNvSpPr txBox="1"/>
          <p:nvPr/>
        </p:nvSpPr>
        <p:spPr>
          <a:xfrm>
            <a:off x="3195090" y="3345790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endParaRPr sz="1600"/>
          </a:p>
        </p:txBody>
      </p:sp>
      <p:sp>
        <p:nvSpPr>
          <p:cNvPr id="1311" name="Google Shape;1311;p84"/>
          <p:cNvSpPr txBox="1"/>
          <p:nvPr/>
        </p:nvSpPr>
        <p:spPr>
          <a:xfrm>
            <a:off x="3195090" y="4412590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endParaRPr sz="1600"/>
          </a:p>
        </p:txBody>
      </p:sp>
      <p:sp>
        <p:nvSpPr>
          <p:cNvPr id="1312" name="Google Shape;1312;p84"/>
          <p:cNvSpPr txBox="1"/>
          <p:nvPr>
            <p:ph type="body" idx="1"/>
          </p:nvPr>
        </p:nvSpPr>
        <p:spPr>
          <a:xfrm>
            <a:off x="324000" y="1468165"/>
            <a:ext cx="3819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a) </a:t>
            </a:r>
            <a:endParaRPr sz="2000"/>
          </a:p>
        </p:txBody>
      </p:sp>
      <p:graphicFrame>
        <p:nvGraphicFramePr>
          <p:cNvPr id="1313" name="Google Shape;1313;p84"/>
          <p:cNvGraphicFramePr>
            <a:graphicFrameLocks noGrp="1"/>
          </p:cNvGraphicFramePr>
          <p:nvPr/>
        </p:nvGraphicFramePr>
        <p:xfrm>
          <a:off x="4999214" y="17954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{36393E4A-1B3B-4A6D-B05D-6F587DC3BFE1}</a:tableStyleId>
              </a:tblPr>
              <a:tblGrid>
                <a:gridCol w="1948000"/>
                <a:gridCol w="374800"/>
                <a:gridCol w="374800"/>
                <a:gridCol w="374800"/>
                <a:gridCol w="374800"/>
                <a:gridCol w="374800"/>
              </a:tblGrid>
              <a:tr h="408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2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14" name="Google Shape;1314;p84"/>
          <p:cNvSpPr txBox="1"/>
          <p:nvPr/>
        </p:nvSpPr>
        <p:spPr>
          <a:xfrm>
            <a:off x="5557290" y="3163939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1600"/>
          </a:p>
        </p:txBody>
      </p:sp>
      <p:sp>
        <p:nvSpPr>
          <p:cNvPr id="1315" name="Google Shape;1315;p84"/>
          <p:cNvSpPr txBox="1"/>
          <p:nvPr/>
        </p:nvSpPr>
        <p:spPr>
          <a:xfrm>
            <a:off x="5557290" y="4447188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sz="1600"/>
          </a:p>
        </p:txBody>
      </p:sp>
      <p:sp>
        <p:nvSpPr>
          <p:cNvPr id="1316" name="Google Shape;1316;p84"/>
          <p:cNvSpPr txBox="1"/>
          <p:nvPr/>
        </p:nvSpPr>
        <p:spPr>
          <a:xfrm>
            <a:off x="5557290" y="2736190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endParaRPr sz="1600"/>
          </a:p>
        </p:txBody>
      </p:sp>
      <p:sp>
        <p:nvSpPr>
          <p:cNvPr id="1317" name="Google Shape;1317;p84"/>
          <p:cNvSpPr txBox="1"/>
          <p:nvPr/>
        </p:nvSpPr>
        <p:spPr>
          <a:xfrm>
            <a:off x="7614703" y="2736190"/>
            <a:ext cx="914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</a:t>
            </a:r>
            <a:endParaRPr sz="1600"/>
          </a:p>
        </p:txBody>
      </p:sp>
      <p:sp>
        <p:nvSpPr>
          <p:cNvPr id="1318" name="Google Shape;1318;p84"/>
          <p:cNvSpPr txBox="1"/>
          <p:nvPr/>
        </p:nvSpPr>
        <p:spPr>
          <a:xfrm>
            <a:off x="7614690" y="3591689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endParaRPr sz="1600"/>
          </a:p>
        </p:txBody>
      </p:sp>
      <p:sp>
        <p:nvSpPr>
          <p:cNvPr id="1319" name="Google Shape;1319;p84"/>
          <p:cNvSpPr txBox="1"/>
          <p:nvPr/>
        </p:nvSpPr>
        <p:spPr>
          <a:xfrm>
            <a:off x="7614690" y="4447188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endParaRPr sz="1600"/>
          </a:p>
        </p:txBody>
      </p:sp>
      <p:sp>
        <p:nvSpPr>
          <p:cNvPr id="1320" name="Google Shape;1320;p84"/>
          <p:cNvSpPr txBox="1"/>
          <p:nvPr>
            <p:ph type="body" idx="1"/>
          </p:nvPr>
        </p:nvSpPr>
        <p:spPr>
          <a:xfrm>
            <a:off x="4743600" y="1468165"/>
            <a:ext cx="3819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 </a:t>
            </a:r>
            <a:endParaRPr sz="2000"/>
          </a:p>
        </p:txBody>
      </p:sp>
      <p:sp>
        <p:nvSpPr>
          <p:cNvPr id="1321" name="Google Shape;1321;p84"/>
          <p:cNvSpPr txBox="1"/>
          <p:nvPr/>
        </p:nvSpPr>
        <p:spPr>
          <a:xfrm>
            <a:off x="5557290" y="3591689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sz="1600"/>
          </a:p>
        </p:txBody>
      </p:sp>
      <p:sp>
        <p:nvSpPr>
          <p:cNvPr id="1322" name="Google Shape;1322;p84"/>
          <p:cNvSpPr txBox="1"/>
          <p:nvPr/>
        </p:nvSpPr>
        <p:spPr>
          <a:xfrm>
            <a:off x="7614690" y="3163939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endParaRPr sz="1600"/>
          </a:p>
        </p:txBody>
      </p:sp>
      <p:sp>
        <p:nvSpPr>
          <p:cNvPr id="1323" name="Google Shape;1323;p84"/>
          <p:cNvSpPr txBox="1"/>
          <p:nvPr/>
        </p:nvSpPr>
        <p:spPr>
          <a:xfrm>
            <a:off x="1137690" y="3879190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sz="1600"/>
          </a:p>
        </p:txBody>
      </p:sp>
      <p:sp>
        <p:nvSpPr>
          <p:cNvPr id="1324" name="Google Shape;1324;p84"/>
          <p:cNvSpPr txBox="1"/>
          <p:nvPr/>
        </p:nvSpPr>
        <p:spPr>
          <a:xfrm>
            <a:off x="3195090" y="3879190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8</a:t>
            </a:r>
            <a:endParaRPr sz="1600"/>
          </a:p>
        </p:txBody>
      </p:sp>
      <p:sp>
        <p:nvSpPr>
          <p:cNvPr id="1325" name="Google Shape;1325;p84"/>
          <p:cNvSpPr txBox="1"/>
          <p:nvPr/>
        </p:nvSpPr>
        <p:spPr>
          <a:xfrm>
            <a:off x="7614690" y="4019438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endParaRPr sz="1600"/>
          </a:p>
        </p:txBody>
      </p:sp>
      <p:sp>
        <p:nvSpPr>
          <p:cNvPr id="1326" name="Google Shape;1326;p84"/>
          <p:cNvSpPr txBox="1"/>
          <p:nvPr/>
        </p:nvSpPr>
        <p:spPr>
          <a:xfrm>
            <a:off x="5557290" y="4019438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sz="1600"/>
          </a:p>
        </p:txBody>
      </p:sp>
      <p:cxnSp>
        <p:nvCxnSpPr>
          <p:cNvPr id="1327" name="Google Shape;1327;p84"/>
          <p:cNvCxnSpPr/>
          <p:nvPr/>
        </p:nvCxnSpPr>
        <p:spPr>
          <a:xfrm>
            <a:off x="1824090" y="2981740"/>
            <a:ext cx="1371000" cy="5334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31" name="Shape 1331"/>
        <p:cNvGrpSpPr/>
        <p:nvPr/>
      </p:nvGrpSpPr>
      <p:grpSpPr>
        <a:xfrm>
          <a:off x="0" y="0"/>
          <a:ext cx="0" cy="0"/>
        </a:xfrm>
      </p:grpSpPr>
      <p:sp>
        <p:nvSpPr>
          <p:cNvPr id="1332" name="Google Shape;1332;p85"/>
          <p:cNvSpPr txBox="1"/>
          <p:nvPr>
            <p:ph type="body" idx="1"/>
          </p:nvPr>
        </p:nvSpPr>
        <p:spPr>
          <a:xfrm>
            <a:off x="324000" y="759300"/>
            <a:ext cx="76011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2) Andeep and Jacob are looking at an arithmetic sequence.</a:t>
            </a:r>
            <a:endParaRPr sz="2000"/>
          </a:p>
        </p:txBody>
      </p:sp>
      <p:sp>
        <p:nvSpPr>
          <p:cNvPr id="1333" name="Google Shape;1333;p8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position of a term in a sequence</a:t>
            </a:r>
            <a:endParaRPr/>
          </a:p>
        </p:txBody>
      </p:sp>
      <p:graphicFrame>
        <p:nvGraphicFramePr>
          <p:cNvPr id="1334" name="Google Shape;1334;p85"/>
          <p:cNvGraphicFramePr>
            <a:graphicFrameLocks noGrp="1"/>
          </p:cNvGraphicFramePr>
          <p:nvPr/>
        </p:nvGraphicFramePr>
        <p:xfrm>
          <a:off x="2560814" y="12320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{36393E4A-1B3B-4A6D-B05D-6F587DC3BFE1}</a:tableStyleId>
              </a:tblPr>
              <a:tblGrid>
                <a:gridCol w="2023400"/>
                <a:gridCol w="389300"/>
                <a:gridCol w="389300"/>
                <a:gridCol w="389300"/>
                <a:gridCol w="389300"/>
                <a:gridCol w="389300"/>
              </a:tblGrid>
              <a:tr h="407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73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335" name="Google Shape;1335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873775" y="2899276"/>
            <a:ext cx="605350" cy="1868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6" name="Google Shape;1336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525" y="2915639"/>
            <a:ext cx="480206" cy="1868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7" name="Google Shape;1337;p85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 flipH="1">
            <a:off x="721516" y="2171875"/>
            <a:ext cx="3270774" cy="815451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85"/>
          <p:cNvSpPr txBox="1"/>
          <p:nvPr>
            <p:ph type="body" idx="4294967295"/>
          </p:nvPr>
        </p:nvSpPr>
        <p:spPr>
          <a:xfrm>
            <a:off x="1016785" y="2212275"/>
            <a:ext cx="30186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 see the pattern!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When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0</a:t>
            </a:r>
            <a:r>
              <a:rPr lang="en-GB" sz="1800"/>
              <a:t> the term 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endParaRPr sz="1800"/>
          </a:p>
        </p:txBody>
      </p:sp>
      <p:pic>
        <p:nvPicPr>
          <p:cNvPr id="1339" name="Google Shape;1339;p85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>
            <a:off x="4919525" y="2171875"/>
            <a:ext cx="2996874" cy="123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0" name="Google Shape;1340;p85"/>
          <p:cNvSpPr txBox="1"/>
          <p:nvPr>
            <p:ph type="body" idx="4294967295"/>
          </p:nvPr>
        </p:nvSpPr>
        <p:spPr>
          <a:xfrm>
            <a:off x="5020778" y="2223808"/>
            <a:ext cx="27627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 agree! Next would be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when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−1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The term will be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55</a:t>
            </a:r>
            <a:endParaRPr sz="1800"/>
          </a:p>
        </p:txBody>
      </p:sp>
      <p:sp>
        <p:nvSpPr>
          <p:cNvPr id="1341" name="Google Shape;1341;p85"/>
          <p:cNvSpPr txBox="1"/>
          <p:nvPr>
            <p:ph type="body" idx="4294967295"/>
          </p:nvPr>
        </p:nvSpPr>
        <p:spPr>
          <a:xfrm>
            <a:off x="2464570" y="4117275"/>
            <a:ext cx="44517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Write a sentence explaining why Andeep and Jacob are wrong.</a:t>
            </a:r>
            <a:endParaRPr sz="1800"/>
          </a:p>
        </p:txBody>
      </p:sp>
    </p:spTree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45" name="Shape 1345"/>
        <p:cNvGrpSpPr/>
        <p:nvPr/>
      </p:nvGrpSpPr>
      <p:grpSpPr>
        <a:xfrm>
          <a:off x="0" y="0"/>
          <a:ext cx="0" cy="0"/>
        </a:xfrm>
      </p:grpSpPr>
      <p:sp>
        <p:nvSpPr>
          <p:cNvPr id="1346" name="Google Shape;1346;p86"/>
          <p:cNvSpPr txBox="1"/>
          <p:nvPr>
            <p:ph type="body" idx="1"/>
          </p:nvPr>
        </p:nvSpPr>
        <p:spPr>
          <a:xfrm>
            <a:off x="324000" y="759300"/>
            <a:ext cx="6855300" cy="70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Match the term number (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) to the term values (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000"/>
              <a:t>). One has been done for you. </a:t>
            </a:r>
            <a:endParaRPr sz="2000"/>
          </a:p>
        </p:txBody>
      </p:sp>
      <p:sp>
        <p:nvSpPr>
          <p:cNvPr id="1347" name="Google Shape;1347;p8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position of a term in a sequence</a:t>
            </a:r>
            <a:endParaRPr/>
          </a:p>
        </p:txBody>
      </p:sp>
      <p:graphicFrame>
        <p:nvGraphicFramePr>
          <p:cNvPr id="1348" name="Google Shape;1348;p86"/>
          <p:cNvGraphicFramePr>
            <a:graphicFrameLocks noGrp="1"/>
          </p:cNvGraphicFramePr>
          <p:nvPr/>
        </p:nvGraphicFramePr>
        <p:xfrm>
          <a:off x="579614" y="17954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{36393E4A-1B3B-4A6D-B05D-6F587DC3BFE1}</a:tableStyleId>
              </a:tblPr>
              <a:tblGrid>
                <a:gridCol w="1948000"/>
                <a:gridCol w="374800"/>
                <a:gridCol w="374800"/>
                <a:gridCol w="374800"/>
                <a:gridCol w="374800"/>
                <a:gridCol w="374800"/>
              </a:tblGrid>
              <a:tr h="408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2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49" name="Google Shape;1349;p86"/>
          <p:cNvSpPr txBox="1"/>
          <p:nvPr/>
        </p:nvSpPr>
        <p:spPr>
          <a:xfrm>
            <a:off x="1137690" y="3345790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1600"/>
          </a:p>
        </p:txBody>
      </p:sp>
      <p:sp>
        <p:nvSpPr>
          <p:cNvPr id="1350" name="Google Shape;1350;p86"/>
          <p:cNvSpPr txBox="1"/>
          <p:nvPr/>
        </p:nvSpPr>
        <p:spPr>
          <a:xfrm>
            <a:off x="1137690" y="4412590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sz="1600"/>
          </a:p>
        </p:txBody>
      </p:sp>
      <p:sp>
        <p:nvSpPr>
          <p:cNvPr id="1351" name="Google Shape;1351;p86"/>
          <p:cNvSpPr txBox="1"/>
          <p:nvPr/>
        </p:nvSpPr>
        <p:spPr>
          <a:xfrm>
            <a:off x="1137690" y="2812390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endParaRPr sz="1600"/>
          </a:p>
        </p:txBody>
      </p:sp>
      <p:sp>
        <p:nvSpPr>
          <p:cNvPr id="1352" name="Google Shape;1352;p86"/>
          <p:cNvSpPr txBox="1"/>
          <p:nvPr/>
        </p:nvSpPr>
        <p:spPr>
          <a:xfrm>
            <a:off x="3195103" y="2812390"/>
            <a:ext cx="914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14</a:t>
            </a:r>
            <a:endParaRPr sz="1600"/>
          </a:p>
        </p:txBody>
      </p:sp>
      <p:sp>
        <p:nvSpPr>
          <p:cNvPr id="1353" name="Google Shape;1353;p86"/>
          <p:cNvSpPr txBox="1"/>
          <p:nvPr/>
        </p:nvSpPr>
        <p:spPr>
          <a:xfrm>
            <a:off x="3195090" y="3345790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endParaRPr sz="1600"/>
          </a:p>
        </p:txBody>
      </p:sp>
      <p:sp>
        <p:nvSpPr>
          <p:cNvPr id="1354" name="Google Shape;1354;p86"/>
          <p:cNvSpPr txBox="1"/>
          <p:nvPr/>
        </p:nvSpPr>
        <p:spPr>
          <a:xfrm>
            <a:off x="3195090" y="4412590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endParaRPr sz="1600"/>
          </a:p>
        </p:txBody>
      </p:sp>
      <p:sp>
        <p:nvSpPr>
          <p:cNvPr id="1355" name="Google Shape;1355;p86"/>
          <p:cNvSpPr txBox="1"/>
          <p:nvPr>
            <p:ph type="body" idx="1"/>
          </p:nvPr>
        </p:nvSpPr>
        <p:spPr>
          <a:xfrm>
            <a:off x="324000" y="1468165"/>
            <a:ext cx="3819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a) </a:t>
            </a:r>
            <a:endParaRPr sz="2000"/>
          </a:p>
        </p:txBody>
      </p:sp>
      <p:graphicFrame>
        <p:nvGraphicFramePr>
          <p:cNvPr id="1356" name="Google Shape;1356;p86"/>
          <p:cNvGraphicFramePr>
            <a:graphicFrameLocks noGrp="1"/>
          </p:cNvGraphicFramePr>
          <p:nvPr/>
        </p:nvGraphicFramePr>
        <p:xfrm>
          <a:off x="4999214" y="17954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{36393E4A-1B3B-4A6D-B05D-6F587DC3BFE1}</a:tableStyleId>
              </a:tblPr>
              <a:tblGrid>
                <a:gridCol w="1948000"/>
                <a:gridCol w="374800"/>
                <a:gridCol w="374800"/>
                <a:gridCol w="374800"/>
                <a:gridCol w="374800"/>
                <a:gridCol w="374800"/>
              </a:tblGrid>
              <a:tr h="408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2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57" name="Google Shape;1357;p86"/>
          <p:cNvSpPr txBox="1"/>
          <p:nvPr/>
        </p:nvSpPr>
        <p:spPr>
          <a:xfrm>
            <a:off x="5557290" y="3163939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1600"/>
          </a:p>
        </p:txBody>
      </p:sp>
      <p:sp>
        <p:nvSpPr>
          <p:cNvPr id="1358" name="Google Shape;1358;p86"/>
          <p:cNvSpPr txBox="1"/>
          <p:nvPr/>
        </p:nvSpPr>
        <p:spPr>
          <a:xfrm>
            <a:off x="5557290" y="4447188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sz="1600"/>
          </a:p>
        </p:txBody>
      </p:sp>
      <p:sp>
        <p:nvSpPr>
          <p:cNvPr id="1359" name="Google Shape;1359;p86"/>
          <p:cNvSpPr txBox="1"/>
          <p:nvPr/>
        </p:nvSpPr>
        <p:spPr>
          <a:xfrm>
            <a:off x="5557290" y="2736190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endParaRPr sz="1600"/>
          </a:p>
        </p:txBody>
      </p:sp>
      <p:sp>
        <p:nvSpPr>
          <p:cNvPr id="1360" name="Google Shape;1360;p86"/>
          <p:cNvSpPr txBox="1"/>
          <p:nvPr/>
        </p:nvSpPr>
        <p:spPr>
          <a:xfrm>
            <a:off x="7614703" y="2736190"/>
            <a:ext cx="914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</a:t>
            </a:r>
            <a:endParaRPr sz="1600"/>
          </a:p>
        </p:txBody>
      </p:sp>
      <p:sp>
        <p:nvSpPr>
          <p:cNvPr id="1361" name="Google Shape;1361;p86"/>
          <p:cNvSpPr txBox="1"/>
          <p:nvPr/>
        </p:nvSpPr>
        <p:spPr>
          <a:xfrm>
            <a:off x="7614690" y="3591689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endParaRPr sz="1600"/>
          </a:p>
        </p:txBody>
      </p:sp>
      <p:sp>
        <p:nvSpPr>
          <p:cNvPr id="1362" name="Google Shape;1362;p86"/>
          <p:cNvSpPr txBox="1"/>
          <p:nvPr/>
        </p:nvSpPr>
        <p:spPr>
          <a:xfrm>
            <a:off x="7614690" y="4447188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</a:t>
            </a:r>
            <a:endParaRPr sz="1600"/>
          </a:p>
        </p:txBody>
      </p:sp>
      <p:sp>
        <p:nvSpPr>
          <p:cNvPr id="1363" name="Google Shape;1363;p86"/>
          <p:cNvSpPr txBox="1"/>
          <p:nvPr>
            <p:ph type="body" idx="1"/>
          </p:nvPr>
        </p:nvSpPr>
        <p:spPr>
          <a:xfrm>
            <a:off x="4743600" y="1468165"/>
            <a:ext cx="381900" cy="41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 </a:t>
            </a:r>
            <a:endParaRPr sz="2000"/>
          </a:p>
        </p:txBody>
      </p:sp>
      <p:sp>
        <p:nvSpPr>
          <p:cNvPr id="1364" name="Google Shape;1364;p86"/>
          <p:cNvSpPr txBox="1"/>
          <p:nvPr/>
        </p:nvSpPr>
        <p:spPr>
          <a:xfrm>
            <a:off x="5557290" y="3591689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sz="1600"/>
          </a:p>
        </p:txBody>
      </p:sp>
      <p:sp>
        <p:nvSpPr>
          <p:cNvPr id="1365" name="Google Shape;1365;p86"/>
          <p:cNvSpPr txBox="1"/>
          <p:nvPr/>
        </p:nvSpPr>
        <p:spPr>
          <a:xfrm>
            <a:off x="7614690" y="3163939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endParaRPr sz="1600"/>
          </a:p>
        </p:txBody>
      </p:sp>
      <p:sp>
        <p:nvSpPr>
          <p:cNvPr id="1366" name="Google Shape;1366;p86"/>
          <p:cNvSpPr txBox="1"/>
          <p:nvPr/>
        </p:nvSpPr>
        <p:spPr>
          <a:xfrm>
            <a:off x="1137690" y="3879190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sz="1600"/>
          </a:p>
        </p:txBody>
      </p:sp>
      <p:sp>
        <p:nvSpPr>
          <p:cNvPr id="1367" name="Google Shape;1367;p86"/>
          <p:cNvSpPr txBox="1"/>
          <p:nvPr/>
        </p:nvSpPr>
        <p:spPr>
          <a:xfrm>
            <a:off x="3195090" y="3879190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8</a:t>
            </a:r>
            <a:endParaRPr sz="1600"/>
          </a:p>
        </p:txBody>
      </p:sp>
      <p:sp>
        <p:nvSpPr>
          <p:cNvPr id="1368" name="Google Shape;1368;p86"/>
          <p:cNvSpPr txBox="1"/>
          <p:nvPr/>
        </p:nvSpPr>
        <p:spPr>
          <a:xfrm>
            <a:off x="7614690" y="4019438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</a:t>
            </a:r>
            <a:endParaRPr sz="1600"/>
          </a:p>
        </p:txBody>
      </p:sp>
      <p:sp>
        <p:nvSpPr>
          <p:cNvPr id="1369" name="Google Shape;1369;p86"/>
          <p:cNvSpPr txBox="1"/>
          <p:nvPr/>
        </p:nvSpPr>
        <p:spPr>
          <a:xfrm>
            <a:off x="5557290" y="4019438"/>
            <a:ext cx="68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endParaRPr sz="1600"/>
          </a:p>
        </p:txBody>
      </p:sp>
      <p:cxnSp>
        <p:nvCxnSpPr>
          <p:cNvPr id="1370" name="Google Shape;1370;p86"/>
          <p:cNvCxnSpPr>
            <a:stCxn id="1351" idx="3"/>
            <a:endCxn id="1353" idx="1"/>
          </p:cNvCxnSpPr>
          <p:nvPr/>
        </p:nvCxnSpPr>
        <p:spPr>
          <a:xfrm>
            <a:off x="1824090" y="2981740"/>
            <a:ext cx="1371000" cy="5334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1" name="Google Shape;1371;p86"/>
          <p:cNvCxnSpPr>
            <a:endCxn id="1354" idx="1"/>
          </p:cNvCxnSpPr>
          <p:nvPr/>
        </p:nvCxnSpPr>
        <p:spPr>
          <a:xfrm>
            <a:off x="1824090" y="3515140"/>
            <a:ext cx="1371000" cy="10668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2" name="Google Shape;1372;p86"/>
          <p:cNvCxnSpPr>
            <a:endCxn id="1367" idx="1"/>
          </p:cNvCxnSpPr>
          <p:nvPr/>
        </p:nvCxnSpPr>
        <p:spPr>
          <a:xfrm>
            <a:off x="1824090" y="4048540"/>
            <a:ext cx="1371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3" name="Google Shape;1373;p86"/>
          <p:cNvCxnSpPr>
            <a:endCxn id="1352" idx="1"/>
          </p:cNvCxnSpPr>
          <p:nvPr/>
        </p:nvCxnSpPr>
        <p:spPr>
          <a:xfrm rot="10800000" flipH="1">
            <a:off x="1824103" y="2981740"/>
            <a:ext cx="1371000" cy="16002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4" name="Google Shape;1374;p86"/>
          <p:cNvCxnSpPr>
            <a:stCxn id="1359" idx="3"/>
            <a:endCxn id="1362" idx="1"/>
          </p:cNvCxnSpPr>
          <p:nvPr/>
        </p:nvCxnSpPr>
        <p:spPr>
          <a:xfrm>
            <a:off x="6243690" y="2905540"/>
            <a:ext cx="1371000" cy="17109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5" name="Google Shape;1375;p86"/>
          <p:cNvCxnSpPr>
            <a:stCxn id="1357" idx="3"/>
            <a:endCxn id="1365" idx="1"/>
          </p:cNvCxnSpPr>
          <p:nvPr/>
        </p:nvCxnSpPr>
        <p:spPr>
          <a:xfrm>
            <a:off x="6243690" y="3333289"/>
            <a:ext cx="1371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6" name="Google Shape;1376;p86"/>
          <p:cNvCxnSpPr>
            <a:stCxn id="1364" idx="3"/>
            <a:endCxn id="1368" idx="1"/>
          </p:cNvCxnSpPr>
          <p:nvPr/>
        </p:nvCxnSpPr>
        <p:spPr>
          <a:xfrm>
            <a:off x="6243690" y="3761039"/>
            <a:ext cx="1371000" cy="4278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7" name="Google Shape;1377;p86"/>
          <p:cNvCxnSpPr>
            <a:stCxn id="1369" idx="3"/>
            <a:endCxn id="1361" idx="1"/>
          </p:cNvCxnSpPr>
          <p:nvPr/>
        </p:nvCxnSpPr>
        <p:spPr>
          <a:xfrm rot="10800000" flipH="1">
            <a:off x="6243690" y="3760988"/>
            <a:ext cx="1371000" cy="4278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8" name="Google Shape;1378;p86"/>
          <p:cNvCxnSpPr>
            <a:stCxn id="1358" idx="3"/>
            <a:endCxn id="1360" idx="1"/>
          </p:cNvCxnSpPr>
          <p:nvPr/>
        </p:nvCxnSpPr>
        <p:spPr>
          <a:xfrm rot="10800000" flipH="1">
            <a:off x="6243690" y="2905638"/>
            <a:ext cx="1371000" cy="171090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82" name="Shape 1382"/>
        <p:cNvGrpSpPr/>
        <p:nvPr/>
      </p:nvGrpSpPr>
      <p:grpSpPr>
        <a:xfrm>
          <a:off x="0" y="0"/>
          <a:ext cx="0" cy="0"/>
        </a:xfrm>
      </p:grpSpPr>
      <p:sp>
        <p:nvSpPr>
          <p:cNvPr id="1383" name="Google Shape;1383;p87"/>
          <p:cNvSpPr txBox="1"/>
          <p:nvPr>
            <p:ph type="body" idx="1"/>
          </p:nvPr>
        </p:nvSpPr>
        <p:spPr>
          <a:xfrm>
            <a:off x="324000" y="759300"/>
            <a:ext cx="82377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2) Andeep and Jacob are looking at an arithmetic sequence.</a:t>
            </a:r>
            <a:endParaRPr sz="2000"/>
          </a:p>
        </p:txBody>
      </p:sp>
      <p:sp>
        <p:nvSpPr>
          <p:cNvPr id="1384" name="Google Shape;1384;p8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position of a term in a sequence</a:t>
            </a:r>
            <a:endParaRPr/>
          </a:p>
        </p:txBody>
      </p:sp>
      <p:graphicFrame>
        <p:nvGraphicFramePr>
          <p:cNvPr id="1385" name="Google Shape;1385;p87"/>
          <p:cNvGraphicFramePr>
            <a:graphicFrameLocks noGrp="1"/>
          </p:cNvGraphicFramePr>
          <p:nvPr/>
        </p:nvGraphicFramePr>
        <p:xfrm>
          <a:off x="2560814" y="12320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{36393E4A-1B3B-4A6D-B05D-6F587DC3BFE1}</a:tableStyleId>
              </a:tblPr>
              <a:tblGrid>
                <a:gridCol w="1948000"/>
                <a:gridCol w="374800"/>
                <a:gridCol w="374800"/>
                <a:gridCol w="374800"/>
                <a:gridCol w="374800"/>
                <a:gridCol w="374800"/>
              </a:tblGrid>
              <a:tr h="408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0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11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386" name="Google Shape;1386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873775" y="2899276"/>
            <a:ext cx="605350" cy="1868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" name="Google Shape;1387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525" y="2915639"/>
            <a:ext cx="480206" cy="1868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8" name="Google Shape;1388;p87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 flipH="1">
            <a:off x="721516" y="2171875"/>
            <a:ext cx="3270774" cy="8154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p87"/>
          <p:cNvSpPr txBox="1"/>
          <p:nvPr>
            <p:ph type="body" idx="4294967295"/>
          </p:nvPr>
        </p:nvSpPr>
        <p:spPr>
          <a:xfrm>
            <a:off x="1016785" y="2212275"/>
            <a:ext cx="30186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 see the pattern!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When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0</a:t>
            </a:r>
            <a:r>
              <a:rPr lang="en-GB" sz="1800"/>
              <a:t> the term 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endParaRPr sz="1800"/>
          </a:p>
        </p:txBody>
      </p:sp>
      <p:pic>
        <p:nvPicPr>
          <p:cNvPr id="1390" name="Google Shape;1390;p87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>
            <a:off x="4919525" y="2171875"/>
            <a:ext cx="2996874" cy="123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87"/>
          <p:cNvSpPr txBox="1"/>
          <p:nvPr>
            <p:ph type="body" idx="4294967295"/>
          </p:nvPr>
        </p:nvSpPr>
        <p:spPr>
          <a:xfrm>
            <a:off x="5020778" y="2223808"/>
            <a:ext cx="27627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 agree! Next would be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when </a:t>
            </a: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−1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The term will be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55</a:t>
            </a:r>
            <a:endParaRPr sz="1800"/>
          </a:p>
        </p:txBody>
      </p:sp>
      <p:sp>
        <p:nvSpPr>
          <p:cNvPr id="1392" name="Google Shape;1392;p87"/>
          <p:cNvSpPr txBox="1"/>
          <p:nvPr>
            <p:ph type="body" idx="4294967295"/>
          </p:nvPr>
        </p:nvSpPr>
        <p:spPr>
          <a:xfrm>
            <a:off x="1397750" y="3004350"/>
            <a:ext cx="5927700" cy="181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might have written: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is no zero term, or</a:t>
            </a:r>
            <a:r>
              <a:rPr lang="en-GB" sz="2000"/>
              <a:t> −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 in this sequence.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first 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where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is the first number in this sequence. There is nothing before it.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96" name="Shape 1396"/>
        <p:cNvGrpSpPr/>
        <p:nvPr/>
      </p:nvGrpSpPr>
      <p:grpSpPr>
        <a:xfrm>
          <a:off x="0" y="0"/>
          <a:ext cx="0" cy="0"/>
        </a:xfrm>
      </p:grpSpPr>
      <p:sp>
        <p:nvSpPr>
          <p:cNvPr id="1397" name="Google Shape;1397;p8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position of a term in a sequence</a:t>
            </a:r>
            <a:endParaRPr/>
          </a:p>
        </p:txBody>
      </p:sp>
      <p:sp>
        <p:nvSpPr>
          <p:cNvPr id="1398" name="Google Shape;1398;p88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general term of a sequence</a:t>
            </a:r>
            <a:endParaRPr/>
          </a:p>
        </p:txBody>
      </p:sp>
      <p:sp>
        <p:nvSpPr>
          <p:cNvPr id="1399" name="Google Shape;1399;p88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Expressing an arithmetic sequence</a:t>
            </a:r>
            <a:endParaRPr/>
          </a:p>
        </p:txBody>
      </p:sp>
      <p:pic>
        <p:nvPicPr>
          <p:cNvPr id="1400" name="Google Shape;1400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18" y="298736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04" name="Shape 1404"/>
        <p:cNvGrpSpPr/>
        <p:nvPr/>
      </p:nvGrpSpPr>
      <p:grpSpPr>
        <a:xfrm>
          <a:off x="0" y="0"/>
          <a:ext cx="0" cy="0"/>
        </a:xfrm>
      </p:grpSpPr>
      <p:sp>
        <p:nvSpPr>
          <p:cNvPr id="1405" name="Google Shape;1405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general term of a sequence</a:t>
            </a:r>
            <a:endParaRPr/>
          </a:p>
        </p:txBody>
      </p:sp>
      <p:sp>
        <p:nvSpPr>
          <p:cNvPr id="1406" name="Google Shape;1406;p89"/>
          <p:cNvSpPr txBox="1"/>
          <p:nvPr>
            <p:ph type="body" idx="1"/>
          </p:nvPr>
        </p:nvSpPr>
        <p:spPr>
          <a:xfrm>
            <a:off x="324025" y="2574073"/>
            <a:ext cx="59328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/>
              <a:t> number in the sequence?</a:t>
            </a:r>
            <a:endParaRPr sz="2000"/>
          </a:p>
        </p:txBody>
      </p:sp>
      <p:sp>
        <p:nvSpPr>
          <p:cNvPr id="1407" name="Google Shape;1407;p89"/>
          <p:cNvSpPr txBox="1"/>
          <p:nvPr>
            <p:ph type="body" idx="1"/>
          </p:nvPr>
        </p:nvSpPr>
        <p:spPr>
          <a:xfrm>
            <a:off x="324025" y="4479050"/>
            <a:ext cx="71352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Using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we can write a </a:t>
            </a:r>
            <a:r>
              <a:rPr lang="en-GB" sz="2000">
                <a:solidFill>
                  <a:schemeClr val="accent5"/>
                </a:solidFill>
              </a:rPr>
              <a:t>general rule</a:t>
            </a:r>
            <a:r>
              <a:rPr lang="en-GB" sz="2000"/>
              <a:t> for our sequence.</a:t>
            </a:r>
            <a:endParaRPr sz="2000"/>
          </a:p>
        </p:txBody>
      </p:sp>
      <p:sp>
        <p:nvSpPr>
          <p:cNvPr id="1408" name="Google Shape;1408;p89"/>
          <p:cNvSpPr txBox="1"/>
          <p:nvPr>
            <p:ph type="body" idx="1"/>
          </p:nvPr>
        </p:nvSpPr>
        <p:spPr>
          <a:xfrm>
            <a:off x="342475" y="736235"/>
            <a:ext cx="29466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5, 10, 15, 20, 25, …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09" name="Google Shape;1409;p89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 rot="5400000">
            <a:off x="7965229" y="1547601"/>
            <a:ext cx="588952" cy="4537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10" name="Google Shape;1410;p89"/>
          <p:cNvGraphicFramePr>
            <a:graphicFrameLocks noGrp="1"/>
          </p:cNvGraphicFramePr>
          <p:nvPr/>
        </p:nvGraphicFramePr>
        <p:xfrm>
          <a:off x="336989" y="12810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{36393E4A-1B3B-4A6D-B05D-6F587DC3BFE1}</a:tableStyleId>
              </a:tblPr>
              <a:tblGrid>
                <a:gridCol w="2586600"/>
                <a:gridCol w="535725"/>
                <a:gridCol w="535725"/>
                <a:gridCol w="535725"/>
                <a:gridCol w="535725"/>
                <a:gridCol w="535725"/>
                <a:gridCol w="535725"/>
                <a:gridCol w="535725"/>
                <a:gridCol w="535725"/>
                <a:gridCol w="731775"/>
              </a:tblGrid>
              <a:tr h="531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24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1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× 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411" name="Google Shape;1411;p89"/>
          <p:cNvSpPr txBox="1"/>
          <p:nvPr>
            <p:ph type="body" idx="1"/>
          </p:nvPr>
        </p:nvSpPr>
        <p:spPr>
          <a:xfrm>
            <a:off x="8395477" y="1597500"/>
            <a:ext cx="4140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×5</a:t>
            </a:r>
            <a:endParaRPr sz="2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2" name="Google Shape;1412;p89"/>
          <p:cNvSpPr txBox="1"/>
          <p:nvPr>
            <p:ph type="body" idx="1"/>
          </p:nvPr>
        </p:nvSpPr>
        <p:spPr>
          <a:xfrm>
            <a:off x="324025" y="3050318"/>
            <a:ext cx="59328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/>
              <a:t> number in the sequence?</a:t>
            </a:r>
            <a:endParaRPr sz="2000"/>
          </a:p>
        </p:txBody>
      </p:sp>
      <p:sp>
        <p:nvSpPr>
          <p:cNvPr id="1413" name="Google Shape;1413;p89"/>
          <p:cNvSpPr txBox="1"/>
          <p:nvPr>
            <p:ph type="body" idx="1"/>
          </p:nvPr>
        </p:nvSpPr>
        <p:spPr>
          <a:xfrm>
            <a:off x="324025" y="3526564"/>
            <a:ext cx="59328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/>
              <a:t> number in the sequence?</a:t>
            </a:r>
            <a:endParaRPr sz="2000"/>
          </a:p>
        </p:txBody>
      </p:sp>
      <p:sp>
        <p:nvSpPr>
          <p:cNvPr id="1414" name="Google Shape;1414;p89"/>
          <p:cNvSpPr txBox="1"/>
          <p:nvPr>
            <p:ph type="body" idx="1"/>
          </p:nvPr>
        </p:nvSpPr>
        <p:spPr>
          <a:xfrm>
            <a:off x="324025" y="4002809"/>
            <a:ext cx="59328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/>
              <a:t> number in the sequence?</a:t>
            </a:r>
            <a:endParaRPr sz="2000"/>
          </a:p>
        </p:txBody>
      </p:sp>
      <p:sp>
        <p:nvSpPr>
          <p:cNvPr id="1415" name="Google Shape;1415;p89"/>
          <p:cNvSpPr/>
          <p:nvPr/>
        </p:nvSpPr>
        <p:spPr>
          <a:xfrm>
            <a:off x="5664775" y="1872875"/>
            <a:ext cx="414000" cy="379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89"/>
          <p:cNvSpPr/>
          <p:nvPr/>
        </p:nvSpPr>
        <p:spPr>
          <a:xfrm>
            <a:off x="5664775" y="1339475"/>
            <a:ext cx="414000" cy="379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7" name="Google Shape;1417;p89"/>
          <p:cNvSpPr/>
          <p:nvPr/>
        </p:nvSpPr>
        <p:spPr>
          <a:xfrm>
            <a:off x="6198175" y="1339475"/>
            <a:ext cx="414000" cy="379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89"/>
          <p:cNvSpPr/>
          <p:nvPr/>
        </p:nvSpPr>
        <p:spPr>
          <a:xfrm>
            <a:off x="6198175" y="1872875"/>
            <a:ext cx="414000" cy="379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89"/>
          <p:cNvSpPr/>
          <p:nvPr/>
        </p:nvSpPr>
        <p:spPr>
          <a:xfrm>
            <a:off x="6743108" y="1872875"/>
            <a:ext cx="414000" cy="379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89"/>
          <p:cNvSpPr/>
          <p:nvPr/>
        </p:nvSpPr>
        <p:spPr>
          <a:xfrm>
            <a:off x="6743108" y="1339475"/>
            <a:ext cx="414000" cy="379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1" name="Google Shape;1421;p89"/>
          <p:cNvSpPr/>
          <p:nvPr/>
        </p:nvSpPr>
        <p:spPr>
          <a:xfrm>
            <a:off x="7264975" y="1339475"/>
            <a:ext cx="414000" cy="379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89"/>
          <p:cNvSpPr/>
          <p:nvPr/>
        </p:nvSpPr>
        <p:spPr>
          <a:xfrm>
            <a:off x="7264975" y="1872875"/>
            <a:ext cx="619800" cy="379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89"/>
          <p:cNvSpPr txBox="1"/>
          <p:nvPr>
            <p:ph type="body" idx="1"/>
          </p:nvPr>
        </p:nvSpPr>
        <p:spPr>
          <a:xfrm>
            <a:off x="6256800" y="4002800"/>
            <a:ext cx="8148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× 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27" name="Shape 1427"/>
        <p:cNvGrpSpPr/>
        <p:nvPr/>
      </p:nvGrpSpPr>
      <p:grpSpPr>
        <a:xfrm>
          <a:off x="0" y="0"/>
          <a:ext cx="0" cy="0"/>
        </a:xfrm>
      </p:grpSpPr>
      <p:sp>
        <p:nvSpPr>
          <p:cNvPr id="1428" name="Google Shape;1428;p9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What would a general rule for this sequence be?</a:t>
            </a:r>
            <a:endParaRPr/>
          </a:p>
        </p:txBody>
      </p:sp>
      <p:sp>
        <p:nvSpPr>
          <p:cNvPr id="1429" name="Google Shape;1429;p9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general term of a sequence</a:t>
            </a:r>
            <a:endParaRPr/>
          </a:p>
        </p:txBody>
      </p:sp>
      <p:graphicFrame>
        <p:nvGraphicFramePr>
          <p:cNvPr id="1430" name="Google Shape;1430;p90"/>
          <p:cNvGraphicFramePr>
            <a:graphicFrameLocks noGrp="1"/>
          </p:cNvGraphicFramePr>
          <p:nvPr/>
        </p:nvGraphicFramePr>
        <p:xfrm>
          <a:off x="2912389" y="13572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{36393E4A-1B3B-4A6D-B05D-6F587DC3BFE1}</a:tableStyleId>
              </a:tblPr>
              <a:tblGrid>
                <a:gridCol w="2139525"/>
                <a:gridCol w="438950"/>
                <a:gridCol w="438950"/>
                <a:gridCol w="438950"/>
                <a:gridCol w="438950"/>
                <a:gridCol w="438950"/>
                <a:gridCol w="799275"/>
              </a:tblGrid>
              <a:tr h="467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24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7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 (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× 7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431" name="Google Shape;1431;p90"/>
          <p:cNvSpPr txBox="1"/>
          <p:nvPr>
            <p:ph type="body" idx="4294967295"/>
          </p:nvPr>
        </p:nvSpPr>
        <p:spPr>
          <a:xfrm>
            <a:off x="964403" y="1816065"/>
            <a:ext cx="8148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= 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2" name="Google Shape;1432;p90"/>
          <p:cNvSpPr txBox="1"/>
          <p:nvPr>
            <p:ph type="body" idx="4294967295"/>
          </p:nvPr>
        </p:nvSpPr>
        <p:spPr>
          <a:xfrm>
            <a:off x="964403" y="2806665"/>
            <a:ext cx="8148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3" name="Google Shape;1433;p90"/>
          <p:cNvSpPr txBox="1"/>
          <p:nvPr>
            <p:ph type="body" idx="4294967295"/>
          </p:nvPr>
        </p:nvSpPr>
        <p:spPr>
          <a:xfrm>
            <a:off x="964403" y="3778728"/>
            <a:ext cx="8148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× 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4" name="Google Shape;1434;p90"/>
          <p:cNvSpPr/>
          <p:nvPr/>
        </p:nvSpPr>
        <p:spPr>
          <a:xfrm>
            <a:off x="7276495" y="1861350"/>
            <a:ext cx="704100" cy="379800"/>
          </a:xfrm>
          <a:prstGeom prst="rect">
            <a:avLst/>
          </a:prstGeom>
          <a:solidFill>
            <a:srgbClr val="EAF2F2"/>
          </a:solidFill>
          <a:ln w="9525" cap="flat" cmpd="sng">
            <a:solidFill>
              <a:srgbClr val="EA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5" name="Google Shape;1435;p90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 rot="5400000">
            <a:off x="7863787" y="1671828"/>
            <a:ext cx="650600" cy="35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90"/>
          <p:cNvSpPr txBox="1"/>
          <p:nvPr>
            <p:ph type="body" idx="4294967295"/>
          </p:nvPr>
        </p:nvSpPr>
        <p:spPr>
          <a:xfrm>
            <a:off x="8355801" y="1668190"/>
            <a:ext cx="3513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×7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37" name="Google Shape;1437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1046" y="3829823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8" name="Google Shape;1438;p90"/>
          <p:cNvSpPr txBox="1"/>
          <p:nvPr>
            <p:ph type="body" idx="4294967295"/>
          </p:nvPr>
        </p:nvSpPr>
        <p:spPr>
          <a:xfrm>
            <a:off x="2540750" y="3842550"/>
            <a:ext cx="5439900" cy="41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general term for this sequence is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× 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42" name="Shape 1442"/>
        <p:cNvGrpSpPr/>
        <p:nvPr/>
      </p:nvGrpSpPr>
      <p:grpSpPr>
        <a:xfrm>
          <a:off x="0" y="0"/>
          <a:ext cx="0" cy="0"/>
        </a:xfrm>
      </p:grpSpPr>
      <p:sp>
        <p:nvSpPr>
          <p:cNvPr id="1443" name="Google Shape;1443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general term of a sequence</a:t>
            </a:r>
            <a:endParaRPr/>
          </a:p>
        </p:txBody>
      </p:sp>
      <p:sp>
        <p:nvSpPr>
          <p:cNvPr id="1444" name="Google Shape;1444;p91"/>
          <p:cNvSpPr txBox="1"/>
          <p:nvPr>
            <p:ph type="body" idx="1"/>
          </p:nvPr>
        </p:nvSpPr>
        <p:spPr>
          <a:xfrm>
            <a:off x="324025" y="821450"/>
            <a:ext cx="71352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Using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 we can write a general rule for any arithmetic sequence.</a:t>
            </a:r>
            <a:endParaRPr/>
          </a:p>
        </p:txBody>
      </p:sp>
      <p:grpSp>
        <p:nvGrpSpPr>
          <p:cNvPr id="1445" name="Google Shape;1445;p91"/>
          <p:cNvGrpSpPr/>
          <p:nvPr/>
        </p:nvGrpSpPr>
        <p:grpSpPr>
          <a:xfrm>
            <a:off x="4810932" y="1321125"/>
            <a:ext cx="1015340" cy="1020666"/>
            <a:chOff x="4658532" y="1473525"/>
            <a:chExt cx="1015340" cy="1020666"/>
          </a:xfrm>
        </p:grpSpPr>
        <p:sp>
          <p:nvSpPr>
            <p:cNvPr id="1446" name="Google Shape;1446;p91"/>
            <p:cNvSpPr/>
            <p:nvPr/>
          </p:nvSpPr>
          <p:spPr>
            <a:xfrm>
              <a:off x="5064652" y="1676586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7" name="Google Shape;1447;p91"/>
            <p:cNvSpPr/>
            <p:nvPr/>
          </p:nvSpPr>
          <p:spPr>
            <a:xfrm>
              <a:off x="4861592" y="1879647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8" name="Google Shape;1448;p91"/>
            <p:cNvSpPr/>
            <p:nvPr/>
          </p:nvSpPr>
          <p:spPr>
            <a:xfrm>
              <a:off x="5267712" y="1879647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9" name="Google Shape;1449;p91"/>
            <p:cNvSpPr/>
            <p:nvPr/>
          </p:nvSpPr>
          <p:spPr>
            <a:xfrm>
              <a:off x="5064652" y="2084025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0" name="Google Shape;1450;p91"/>
            <p:cNvSpPr/>
            <p:nvPr/>
          </p:nvSpPr>
          <p:spPr>
            <a:xfrm>
              <a:off x="5064652" y="1473525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1" name="Google Shape;1451;p91"/>
            <p:cNvSpPr/>
            <p:nvPr/>
          </p:nvSpPr>
          <p:spPr>
            <a:xfrm>
              <a:off x="5064652" y="2291091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2" name="Google Shape;1452;p91"/>
            <p:cNvSpPr/>
            <p:nvPr/>
          </p:nvSpPr>
          <p:spPr>
            <a:xfrm>
              <a:off x="5470772" y="1879647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3" name="Google Shape;1453;p91"/>
            <p:cNvSpPr/>
            <p:nvPr/>
          </p:nvSpPr>
          <p:spPr>
            <a:xfrm>
              <a:off x="4658532" y="1879647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54" name="Google Shape;1454;p91"/>
          <p:cNvGrpSpPr/>
          <p:nvPr/>
        </p:nvGrpSpPr>
        <p:grpSpPr>
          <a:xfrm>
            <a:off x="3642392" y="1524186"/>
            <a:ext cx="609220" cy="610539"/>
            <a:chOff x="3489992" y="1676586"/>
            <a:chExt cx="609220" cy="610539"/>
          </a:xfrm>
        </p:grpSpPr>
        <p:sp>
          <p:nvSpPr>
            <p:cNvPr id="1455" name="Google Shape;1455;p91"/>
            <p:cNvSpPr/>
            <p:nvPr/>
          </p:nvSpPr>
          <p:spPr>
            <a:xfrm>
              <a:off x="3693052" y="1676586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6" name="Google Shape;1456;p91"/>
            <p:cNvSpPr/>
            <p:nvPr/>
          </p:nvSpPr>
          <p:spPr>
            <a:xfrm>
              <a:off x="3489992" y="1879647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7" name="Google Shape;1457;p91"/>
            <p:cNvSpPr/>
            <p:nvPr/>
          </p:nvSpPr>
          <p:spPr>
            <a:xfrm>
              <a:off x="3896112" y="1879647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8" name="Google Shape;1458;p91"/>
            <p:cNvSpPr/>
            <p:nvPr/>
          </p:nvSpPr>
          <p:spPr>
            <a:xfrm>
              <a:off x="3693052" y="2084025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59" name="Google Shape;1459;p91"/>
          <p:cNvGrpSpPr/>
          <p:nvPr/>
        </p:nvGrpSpPr>
        <p:grpSpPr>
          <a:xfrm>
            <a:off x="6357997" y="1115590"/>
            <a:ext cx="1426410" cy="1431736"/>
            <a:chOff x="6205597" y="1267990"/>
            <a:chExt cx="1426410" cy="1431736"/>
          </a:xfrm>
        </p:grpSpPr>
        <p:sp>
          <p:nvSpPr>
            <p:cNvPr id="1460" name="Google Shape;1460;p91"/>
            <p:cNvSpPr/>
            <p:nvPr/>
          </p:nvSpPr>
          <p:spPr>
            <a:xfrm>
              <a:off x="6817252" y="1676586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1" name="Google Shape;1461;p91"/>
            <p:cNvSpPr/>
            <p:nvPr/>
          </p:nvSpPr>
          <p:spPr>
            <a:xfrm>
              <a:off x="6614192" y="1879647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2" name="Google Shape;1462;p91"/>
            <p:cNvSpPr/>
            <p:nvPr/>
          </p:nvSpPr>
          <p:spPr>
            <a:xfrm>
              <a:off x="7020312" y="1879647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3" name="Google Shape;1463;p91"/>
            <p:cNvSpPr/>
            <p:nvPr/>
          </p:nvSpPr>
          <p:spPr>
            <a:xfrm>
              <a:off x="6817252" y="2084025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4" name="Google Shape;1464;p91"/>
            <p:cNvSpPr/>
            <p:nvPr/>
          </p:nvSpPr>
          <p:spPr>
            <a:xfrm>
              <a:off x="6817252" y="1473525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5" name="Google Shape;1465;p91"/>
            <p:cNvSpPr/>
            <p:nvPr/>
          </p:nvSpPr>
          <p:spPr>
            <a:xfrm>
              <a:off x="6817252" y="2291091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6" name="Google Shape;1466;p91"/>
            <p:cNvSpPr/>
            <p:nvPr/>
          </p:nvSpPr>
          <p:spPr>
            <a:xfrm>
              <a:off x="7223372" y="1879647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7" name="Google Shape;1467;p91"/>
            <p:cNvSpPr/>
            <p:nvPr/>
          </p:nvSpPr>
          <p:spPr>
            <a:xfrm>
              <a:off x="6411132" y="1879647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8" name="Google Shape;1468;p91"/>
            <p:cNvSpPr/>
            <p:nvPr/>
          </p:nvSpPr>
          <p:spPr>
            <a:xfrm>
              <a:off x="6205597" y="1879647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9" name="Google Shape;1469;p91"/>
            <p:cNvSpPr/>
            <p:nvPr/>
          </p:nvSpPr>
          <p:spPr>
            <a:xfrm>
              <a:off x="7428907" y="1879647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0" name="Google Shape;1470;p91"/>
            <p:cNvSpPr/>
            <p:nvPr/>
          </p:nvSpPr>
          <p:spPr>
            <a:xfrm>
              <a:off x="6817252" y="2496626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1" name="Google Shape;1471;p91"/>
            <p:cNvSpPr/>
            <p:nvPr/>
          </p:nvSpPr>
          <p:spPr>
            <a:xfrm>
              <a:off x="6817252" y="1267990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72" name="Google Shape;1472;p91"/>
          <p:cNvSpPr txBox="1"/>
          <p:nvPr/>
        </p:nvSpPr>
        <p:spPr>
          <a:xfrm>
            <a:off x="7956058" y="1877750"/>
            <a:ext cx="3933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91"/>
          <p:cNvSpPr txBox="1"/>
          <p:nvPr/>
        </p:nvSpPr>
        <p:spPr>
          <a:xfrm>
            <a:off x="5898658" y="1877750"/>
            <a:ext cx="3933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91"/>
          <p:cNvSpPr txBox="1"/>
          <p:nvPr/>
        </p:nvSpPr>
        <p:spPr>
          <a:xfrm>
            <a:off x="4374658" y="1877750"/>
            <a:ext cx="3933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91"/>
          <p:cNvSpPr txBox="1"/>
          <p:nvPr>
            <p:ph type="body" idx="1"/>
          </p:nvPr>
        </p:nvSpPr>
        <p:spPr>
          <a:xfrm>
            <a:off x="324025" y="4098050"/>
            <a:ext cx="76041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Can you fill in this table and write a general rule?</a:t>
            </a:r>
            <a:endParaRPr sz="2000"/>
          </a:p>
        </p:txBody>
      </p:sp>
      <p:graphicFrame>
        <p:nvGraphicFramePr>
          <p:cNvPr id="1476" name="Google Shape;1476;p91"/>
          <p:cNvGraphicFramePr>
            <a:graphicFrameLocks noGrp="1"/>
          </p:cNvGraphicFramePr>
          <p:nvPr/>
        </p:nvGraphicFramePr>
        <p:xfrm>
          <a:off x="336989" y="27288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{36393E4A-1B3B-4A6D-B05D-6F587DC3BFE1}</a:tableStyleId>
              </a:tblPr>
              <a:tblGrid>
                <a:gridCol w="2586600"/>
                <a:gridCol w="535725"/>
                <a:gridCol w="535725"/>
                <a:gridCol w="535725"/>
                <a:gridCol w="535725"/>
                <a:gridCol w="535725"/>
                <a:gridCol w="535725"/>
                <a:gridCol w="535725"/>
                <a:gridCol w="535725"/>
                <a:gridCol w="731775"/>
              </a:tblGrid>
              <a:tr h="531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Pattern number (</a:t>
                      </a: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24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1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green squares (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× 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477" name="Google Shape;1477;p91"/>
          <p:cNvSpPr/>
          <p:nvPr/>
        </p:nvSpPr>
        <p:spPr>
          <a:xfrm>
            <a:off x="5664775" y="3385342"/>
            <a:ext cx="414000" cy="379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91"/>
          <p:cNvSpPr/>
          <p:nvPr/>
        </p:nvSpPr>
        <p:spPr>
          <a:xfrm>
            <a:off x="6162615" y="3385350"/>
            <a:ext cx="472500" cy="379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9" name="Google Shape;1479;p91"/>
          <p:cNvSpPr/>
          <p:nvPr/>
        </p:nvSpPr>
        <p:spPr>
          <a:xfrm>
            <a:off x="6702281" y="3385350"/>
            <a:ext cx="472500" cy="379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91"/>
          <p:cNvSpPr/>
          <p:nvPr/>
        </p:nvSpPr>
        <p:spPr>
          <a:xfrm>
            <a:off x="7264975" y="3385342"/>
            <a:ext cx="619800" cy="379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91"/>
          <p:cNvSpPr txBox="1"/>
          <p:nvPr>
            <p:ph type="body" idx="1"/>
          </p:nvPr>
        </p:nvSpPr>
        <p:spPr>
          <a:xfrm>
            <a:off x="2000425" y="4479050"/>
            <a:ext cx="51885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× 4</a:t>
            </a:r>
            <a:r>
              <a:rPr lang="en-GB" sz="2000"/>
              <a:t> is a general rule for this sequence.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85" name="Shape 1485"/>
        <p:cNvGrpSpPr/>
        <p:nvPr/>
      </p:nvGrpSpPr>
      <p:grpSpPr>
        <a:xfrm>
          <a:off x="0" y="0"/>
          <a:ext cx="0" cy="0"/>
        </a:xfrm>
      </p:grpSpPr>
      <p:pic>
        <p:nvPicPr>
          <p:cNvPr id="1486" name="Google Shape;1486;p92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7454721" y="3273265"/>
            <a:ext cx="1258301" cy="496399"/>
          </a:xfrm>
          <a:prstGeom prst="rect">
            <a:avLst/>
          </a:prstGeom>
          <a:noFill/>
          <a:ln>
            <a:noFill/>
          </a:ln>
        </p:spPr>
      </p:pic>
      <p:sp>
        <p:nvSpPr>
          <p:cNvPr id="1487" name="Google Shape;1487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general term of a sequence</a:t>
            </a:r>
            <a:endParaRPr/>
          </a:p>
        </p:txBody>
      </p:sp>
      <p:sp>
        <p:nvSpPr>
          <p:cNvPr id="1488" name="Google Shape;1488;p92"/>
          <p:cNvSpPr txBox="1"/>
          <p:nvPr>
            <p:ph type="body" idx="1"/>
          </p:nvPr>
        </p:nvSpPr>
        <p:spPr>
          <a:xfrm>
            <a:off x="324025" y="821450"/>
            <a:ext cx="71352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Same pattern, but what if we now say, “All squares”?</a:t>
            </a:r>
            <a:endParaRPr sz="2000"/>
          </a:p>
        </p:txBody>
      </p:sp>
      <p:grpSp>
        <p:nvGrpSpPr>
          <p:cNvPr id="1489" name="Google Shape;1489;p92"/>
          <p:cNvGrpSpPr/>
          <p:nvPr/>
        </p:nvGrpSpPr>
        <p:grpSpPr>
          <a:xfrm>
            <a:off x="5626067" y="1321125"/>
            <a:ext cx="1015340" cy="1020666"/>
            <a:chOff x="4658532" y="1473525"/>
            <a:chExt cx="1015340" cy="1020666"/>
          </a:xfrm>
        </p:grpSpPr>
        <p:sp>
          <p:nvSpPr>
            <p:cNvPr id="1490" name="Google Shape;1490;p92"/>
            <p:cNvSpPr/>
            <p:nvPr/>
          </p:nvSpPr>
          <p:spPr>
            <a:xfrm>
              <a:off x="5064652" y="1676586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1" name="Google Shape;1491;p92"/>
            <p:cNvSpPr/>
            <p:nvPr/>
          </p:nvSpPr>
          <p:spPr>
            <a:xfrm>
              <a:off x="4861592" y="1879647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2" name="Google Shape;1492;p92"/>
            <p:cNvSpPr/>
            <p:nvPr/>
          </p:nvSpPr>
          <p:spPr>
            <a:xfrm>
              <a:off x="5267712" y="1879647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3" name="Google Shape;1493;p92"/>
            <p:cNvSpPr/>
            <p:nvPr/>
          </p:nvSpPr>
          <p:spPr>
            <a:xfrm>
              <a:off x="5064652" y="2084025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4" name="Google Shape;1494;p92"/>
            <p:cNvSpPr/>
            <p:nvPr/>
          </p:nvSpPr>
          <p:spPr>
            <a:xfrm>
              <a:off x="5064652" y="1473525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5" name="Google Shape;1495;p92"/>
            <p:cNvSpPr/>
            <p:nvPr/>
          </p:nvSpPr>
          <p:spPr>
            <a:xfrm>
              <a:off x="5064652" y="2291091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6" name="Google Shape;1496;p92"/>
            <p:cNvSpPr/>
            <p:nvPr/>
          </p:nvSpPr>
          <p:spPr>
            <a:xfrm>
              <a:off x="5470772" y="1879647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7" name="Google Shape;1497;p92"/>
            <p:cNvSpPr/>
            <p:nvPr/>
          </p:nvSpPr>
          <p:spPr>
            <a:xfrm>
              <a:off x="4658532" y="1879647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98" name="Google Shape;1498;p92"/>
          <p:cNvGrpSpPr/>
          <p:nvPr/>
        </p:nvGrpSpPr>
        <p:grpSpPr>
          <a:xfrm>
            <a:off x="4686127" y="1524186"/>
            <a:ext cx="609220" cy="610539"/>
            <a:chOff x="3489992" y="1676586"/>
            <a:chExt cx="609220" cy="610539"/>
          </a:xfrm>
        </p:grpSpPr>
        <p:sp>
          <p:nvSpPr>
            <p:cNvPr id="1499" name="Google Shape;1499;p92"/>
            <p:cNvSpPr/>
            <p:nvPr/>
          </p:nvSpPr>
          <p:spPr>
            <a:xfrm>
              <a:off x="3693052" y="1676586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0" name="Google Shape;1500;p92"/>
            <p:cNvSpPr/>
            <p:nvPr/>
          </p:nvSpPr>
          <p:spPr>
            <a:xfrm>
              <a:off x="3489992" y="1879647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1" name="Google Shape;1501;p92"/>
            <p:cNvSpPr/>
            <p:nvPr/>
          </p:nvSpPr>
          <p:spPr>
            <a:xfrm>
              <a:off x="3896112" y="1879647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2" name="Google Shape;1502;p92"/>
            <p:cNvSpPr/>
            <p:nvPr/>
          </p:nvSpPr>
          <p:spPr>
            <a:xfrm>
              <a:off x="3693052" y="2084025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03" name="Google Shape;1503;p92"/>
          <p:cNvGrpSpPr/>
          <p:nvPr/>
        </p:nvGrpSpPr>
        <p:grpSpPr>
          <a:xfrm>
            <a:off x="6944532" y="1115590"/>
            <a:ext cx="1426410" cy="1431736"/>
            <a:chOff x="6205597" y="1267990"/>
            <a:chExt cx="1426410" cy="1431736"/>
          </a:xfrm>
        </p:grpSpPr>
        <p:sp>
          <p:nvSpPr>
            <p:cNvPr id="1504" name="Google Shape;1504;p92"/>
            <p:cNvSpPr/>
            <p:nvPr/>
          </p:nvSpPr>
          <p:spPr>
            <a:xfrm>
              <a:off x="6817252" y="1676586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5" name="Google Shape;1505;p92"/>
            <p:cNvSpPr/>
            <p:nvPr/>
          </p:nvSpPr>
          <p:spPr>
            <a:xfrm>
              <a:off x="6614192" y="1879647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6" name="Google Shape;1506;p92"/>
            <p:cNvSpPr/>
            <p:nvPr/>
          </p:nvSpPr>
          <p:spPr>
            <a:xfrm>
              <a:off x="7020312" y="1879647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7" name="Google Shape;1507;p92"/>
            <p:cNvSpPr/>
            <p:nvPr/>
          </p:nvSpPr>
          <p:spPr>
            <a:xfrm>
              <a:off x="6817252" y="2084025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8" name="Google Shape;1508;p92"/>
            <p:cNvSpPr/>
            <p:nvPr/>
          </p:nvSpPr>
          <p:spPr>
            <a:xfrm>
              <a:off x="6817252" y="1473525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9" name="Google Shape;1509;p92"/>
            <p:cNvSpPr/>
            <p:nvPr/>
          </p:nvSpPr>
          <p:spPr>
            <a:xfrm>
              <a:off x="6817252" y="2291091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0" name="Google Shape;1510;p92"/>
            <p:cNvSpPr/>
            <p:nvPr/>
          </p:nvSpPr>
          <p:spPr>
            <a:xfrm>
              <a:off x="7223372" y="1879647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1" name="Google Shape;1511;p92"/>
            <p:cNvSpPr/>
            <p:nvPr/>
          </p:nvSpPr>
          <p:spPr>
            <a:xfrm>
              <a:off x="6411132" y="1879647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2" name="Google Shape;1512;p92"/>
            <p:cNvSpPr/>
            <p:nvPr/>
          </p:nvSpPr>
          <p:spPr>
            <a:xfrm>
              <a:off x="6205597" y="1879647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3" name="Google Shape;1513;p92"/>
            <p:cNvSpPr/>
            <p:nvPr/>
          </p:nvSpPr>
          <p:spPr>
            <a:xfrm>
              <a:off x="7428907" y="1879647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4" name="Google Shape;1514;p92"/>
            <p:cNvSpPr/>
            <p:nvPr/>
          </p:nvSpPr>
          <p:spPr>
            <a:xfrm>
              <a:off x="6817252" y="2496626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5" name="Google Shape;1515;p92"/>
            <p:cNvSpPr/>
            <p:nvPr/>
          </p:nvSpPr>
          <p:spPr>
            <a:xfrm>
              <a:off x="6817252" y="1267990"/>
              <a:ext cx="203100" cy="203100"/>
            </a:xfrm>
            <a:prstGeom prst="rect">
              <a:avLst/>
            </a:prstGeom>
            <a:solidFill>
              <a:srgbClr val="808080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16" name="Google Shape;1516;p92"/>
          <p:cNvSpPr txBox="1"/>
          <p:nvPr/>
        </p:nvSpPr>
        <p:spPr>
          <a:xfrm>
            <a:off x="8424790" y="1877750"/>
            <a:ext cx="3933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92"/>
          <p:cNvSpPr txBox="1"/>
          <p:nvPr/>
        </p:nvSpPr>
        <p:spPr>
          <a:xfrm>
            <a:off x="6713792" y="1877750"/>
            <a:ext cx="3933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8" name="Google Shape;1518;p92"/>
          <p:cNvSpPr txBox="1"/>
          <p:nvPr/>
        </p:nvSpPr>
        <p:spPr>
          <a:xfrm>
            <a:off x="5418392" y="1877750"/>
            <a:ext cx="3933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9" name="Google Shape;1519;p92"/>
          <p:cNvSpPr txBox="1"/>
          <p:nvPr>
            <p:ph type="body" idx="1"/>
          </p:nvPr>
        </p:nvSpPr>
        <p:spPr>
          <a:xfrm>
            <a:off x="1026225" y="2878850"/>
            <a:ext cx="71352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All of our students’ rules work, but Aisha’s is the most concise.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520" name="Google Shape;1520;p92"/>
          <p:cNvGraphicFramePr>
            <a:graphicFrameLocks noGrp="1"/>
          </p:cNvGraphicFramePr>
          <p:nvPr/>
        </p:nvGraphicFramePr>
        <p:xfrm>
          <a:off x="319947" y="13572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{36393E4A-1B3B-4A6D-B05D-6F587DC3BFE1}</a:tableStyleId>
              </a:tblPr>
              <a:tblGrid>
                <a:gridCol w="2914675"/>
                <a:gridCol w="393625"/>
                <a:gridCol w="393625"/>
                <a:gridCol w="393625"/>
              </a:tblGrid>
              <a:tr h="4090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Pattern number (</a:t>
                      </a: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90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squares (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521" name="Google Shape;1521;p92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546059" y="3250190"/>
            <a:ext cx="3161452" cy="711574"/>
          </a:xfrm>
          <a:prstGeom prst="rect">
            <a:avLst/>
          </a:prstGeom>
          <a:noFill/>
          <a:ln>
            <a:noFill/>
          </a:ln>
        </p:spPr>
      </p:pic>
      <p:sp>
        <p:nvSpPr>
          <p:cNvPr id="1522" name="Google Shape;1522;p92"/>
          <p:cNvSpPr txBox="1"/>
          <p:nvPr>
            <p:ph type="body" idx="1"/>
          </p:nvPr>
        </p:nvSpPr>
        <p:spPr>
          <a:xfrm>
            <a:off x="788185" y="3225940"/>
            <a:ext cx="30186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-GB" sz="1800"/>
              <a:t>times the pattern number, plus the middle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800"/>
          </a:p>
        </p:txBody>
      </p:sp>
      <p:sp>
        <p:nvSpPr>
          <p:cNvPr id="1523" name="Google Shape;1523;p92"/>
          <p:cNvSpPr txBox="1"/>
          <p:nvPr>
            <p:ph type="body" idx="1"/>
          </p:nvPr>
        </p:nvSpPr>
        <p:spPr>
          <a:xfrm>
            <a:off x="7646177" y="3302140"/>
            <a:ext cx="10152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× 4 + 1</a:t>
            </a:r>
            <a:endParaRPr sz="1800"/>
          </a:p>
        </p:txBody>
      </p:sp>
      <p:sp>
        <p:nvSpPr>
          <p:cNvPr id="1524" name="Google Shape;1524;p92"/>
          <p:cNvSpPr txBox="1"/>
          <p:nvPr>
            <p:ph type="body" idx="1"/>
          </p:nvPr>
        </p:nvSpPr>
        <p:spPr>
          <a:xfrm>
            <a:off x="335558" y="2527920"/>
            <a:ext cx="53868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the general rule for this sequence?</a:t>
            </a:r>
            <a:endParaRPr sz="2000"/>
          </a:p>
        </p:txBody>
      </p:sp>
      <p:pic>
        <p:nvPicPr>
          <p:cNvPr id="1525" name="Google Shape;1525;p92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3845727" y="3284805"/>
            <a:ext cx="3313848" cy="420201"/>
          </a:xfrm>
          <a:prstGeom prst="rect">
            <a:avLst/>
          </a:prstGeom>
          <a:noFill/>
          <a:ln>
            <a:noFill/>
          </a:ln>
        </p:spPr>
      </p:pic>
      <p:sp>
        <p:nvSpPr>
          <p:cNvPr id="1526" name="Google Shape;1526;p92"/>
          <p:cNvSpPr txBox="1"/>
          <p:nvPr>
            <p:ph type="body" idx="1"/>
          </p:nvPr>
        </p:nvSpPr>
        <p:spPr>
          <a:xfrm>
            <a:off x="4140985" y="3302140"/>
            <a:ext cx="30186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Pattern number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×4</a:t>
            </a:r>
            <a:r>
              <a:rPr lang="en-GB" sz="1800"/>
              <a:t>, plus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800"/>
          </a:p>
        </p:txBody>
      </p:sp>
      <p:pic>
        <p:nvPicPr>
          <p:cNvPr id="1527" name="Google Shape;1527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6691" y="3726866"/>
            <a:ext cx="576901" cy="1089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001" y="3850757"/>
            <a:ext cx="672993" cy="841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9" name="Google Shape;1529;p9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3753721" y="3758690"/>
            <a:ext cx="672994" cy="828988"/>
          </a:xfrm>
          <a:prstGeom prst="rect">
            <a:avLst/>
          </a:prstGeom>
          <a:noFill/>
          <a:ln>
            <a:noFill/>
          </a:ln>
        </p:spPr>
      </p:pic>
      <p:sp>
        <p:nvSpPr>
          <p:cNvPr id="1530" name="Google Shape;1530;p92"/>
          <p:cNvSpPr txBox="1"/>
          <p:nvPr/>
        </p:nvSpPr>
        <p:spPr>
          <a:xfrm>
            <a:off x="605313" y="427273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1" name="Google Shape;1531;p92"/>
          <p:cNvSpPr txBox="1"/>
          <p:nvPr/>
        </p:nvSpPr>
        <p:spPr>
          <a:xfrm>
            <a:off x="7206975" y="419653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2" name="Google Shape;1532;p92"/>
          <p:cNvSpPr txBox="1"/>
          <p:nvPr/>
        </p:nvSpPr>
        <p:spPr>
          <a:xfrm>
            <a:off x="3881728" y="419653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3" name="Google Shape;1533;p92"/>
          <p:cNvSpPr/>
          <p:nvPr/>
        </p:nvSpPr>
        <p:spPr>
          <a:xfrm>
            <a:off x="7472900" y="3238242"/>
            <a:ext cx="1258200" cy="4965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37" name="Shape 1537"/>
        <p:cNvGrpSpPr/>
        <p:nvPr/>
      </p:nvGrpSpPr>
      <p:grpSpPr>
        <a:xfrm>
          <a:off x="0" y="0"/>
          <a:ext cx="0" cy="0"/>
        </a:xfrm>
      </p:grpSpPr>
      <p:sp>
        <p:nvSpPr>
          <p:cNvPr id="1538" name="Google Shape;1538;p93"/>
          <p:cNvSpPr txBox="1"/>
          <p:nvPr>
            <p:ph type="body" idx="1"/>
          </p:nvPr>
        </p:nvSpPr>
        <p:spPr>
          <a:xfrm>
            <a:off x="324000" y="759300"/>
            <a:ext cx="8237700" cy="46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Match each pattern to it’s verbal rule and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rule.</a:t>
            </a:r>
            <a:endParaRPr/>
          </a:p>
        </p:txBody>
      </p:sp>
      <p:sp>
        <p:nvSpPr>
          <p:cNvPr id="1539" name="Google Shape;1539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general term of a sequence</a:t>
            </a:r>
            <a:endParaRPr/>
          </a:p>
        </p:txBody>
      </p:sp>
      <p:sp>
        <p:nvSpPr>
          <p:cNvPr id="1540" name="Google Shape;1540;p93"/>
          <p:cNvSpPr/>
          <p:nvPr/>
        </p:nvSpPr>
        <p:spPr>
          <a:xfrm>
            <a:off x="1049676" y="1753355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1" name="Google Shape;1541;p93"/>
          <p:cNvSpPr/>
          <p:nvPr/>
        </p:nvSpPr>
        <p:spPr>
          <a:xfrm>
            <a:off x="1049676" y="1560440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2" name="Google Shape;1542;p93"/>
          <p:cNvSpPr/>
          <p:nvPr/>
        </p:nvSpPr>
        <p:spPr>
          <a:xfrm>
            <a:off x="1242591" y="1753355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3" name="Google Shape;1543;p93"/>
          <p:cNvSpPr/>
          <p:nvPr/>
        </p:nvSpPr>
        <p:spPr>
          <a:xfrm>
            <a:off x="1049676" y="1367525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4" name="Google Shape;1544;p93"/>
          <p:cNvSpPr/>
          <p:nvPr/>
        </p:nvSpPr>
        <p:spPr>
          <a:xfrm>
            <a:off x="1435505" y="1753355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5" name="Google Shape;1545;p93"/>
          <p:cNvSpPr/>
          <p:nvPr/>
        </p:nvSpPr>
        <p:spPr>
          <a:xfrm>
            <a:off x="402443" y="1753355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6" name="Google Shape;1546;p93"/>
          <p:cNvSpPr/>
          <p:nvPr/>
        </p:nvSpPr>
        <p:spPr>
          <a:xfrm>
            <a:off x="402443" y="1560440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7" name="Google Shape;1547;p93"/>
          <p:cNvSpPr/>
          <p:nvPr/>
        </p:nvSpPr>
        <p:spPr>
          <a:xfrm>
            <a:off x="595357" y="1753355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8" name="Google Shape;1548;p93"/>
          <p:cNvSpPr/>
          <p:nvPr/>
        </p:nvSpPr>
        <p:spPr>
          <a:xfrm>
            <a:off x="1867910" y="1753355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9" name="Google Shape;1549;p93"/>
          <p:cNvSpPr/>
          <p:nvPr/>
        </p:nvSpPr>
        <p:spPr>
          <a:xfrm>
            <a:off x="1867910" y="1560440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0" name="Google Shape;1550;p93"/>
          <p:cNvSpPr/>
          <p:nvPr/>
        </p:nvSpPr>
        <p:spPr>
          <a:xfrm>
            <a:off x="2060824" y="1753355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1" name="Google Shape;1551;p93"/>
          <p:cNvSpPr/>
          <p:nvPr/>
        </p:nvSpPr>
        <p:spPr>
          <a:xfrm>
            <a:off x="1867910" y="1367525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2" name="Google Shape;1552;p93"/>
          <p:cNvSpPr/>
          <p:nvPr/>
        </p:nvSpPr>
        <p:spPr>
          <a:xfrm>
            <a:off x="2253739" y="1753355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3" name="Google Shape;1553;p93"/>
          <p:cNvSpPr/>
          <p:nvPr/>
        </p:nvSpPr>
        <p:spPr>
          <a:xfrm>
            <a:off x="2449005" y="1753355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93"/>
          <p:cNvSpPr/>
          <p:nvPr/>
        </p:nvSpPr>
        <p:spPr>
          <a:xfrm>
            <a:off x="1868145" y="1172260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5" name="Google Shape;1555;p93"/>
          <p:cNvSpPr txBox="1"/>
          <p:nvPr/>
        </p:nvSpPr>
        <p:spPr>
          <a:xfrm>
            <a:off x="2699770" y="1751553"/>
            <a:ext cx="3735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6" name="Google Shape;1556;p93"/>
          <p:cNvSpPr txBox="1"/>
          <p:nvPr/>
        </p:nvSpPr>
        <p:spPr>
          <a:xfrm>
            <a:off x="1686271" y="1751553"/>
            <a:ext cx="3735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7" name="Google Shape;1557;p93"/>
          <p:cNvSpPr txBox="1"/>
          <p:nvPr/>
        </p:nvSpPr>
        <p:spPr>
          <a:xfrm>
            <a:off x="850426" y="1751553"/>
            <a:ext cx="3735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8" name="Google Shape;1558;p93"/>
          <p:cNvSpPr/>
          <p:nvPr/>
        </p:nvSpPr>
        <p:spPr>
          <a:xfrm>
            <a:off x="391535" y="3014819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9" name="Google Shape;1559;p93"/>
          <p:cNvSpPr/>
          <p:nvPr/>
        </p:nvSpPr>
        <p:spPr>
          <a:xfrm>
            <a:off x="391535" y="2821904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0" name="Google Shape;1560;p93"/>
          <p:cNvSpPr/>
          <p:nvPr/>
        </p:nvSpPr>
        <p:spPr>
          <a:xfrm>
            <a:off x="584450" y="3014819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1" name="Google Shape;1561;p93"/>
          <p:cNvSpPr/>
          <p:nvPr/>
        </p:nvSpPr>
        <p:spPr>
          <a:xfrm>
            <a:off x="777364" y="3014819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2" name="Google Shape;1562;p93"/>
          <p:cNvSpPr txBox="1"/>
          <p:nvPr/>
        </p:nvSpPr>
        <p:spPr>
          <a:xfrm>
            <a:off x="2697465" y="2980148"/>
            <a:ext cx="3735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3" name="Google Shape;1563;p93"/>
          <p:cNvSpPr txBox="1"/>
          <p:nvPr/>
        </p:nvSpPr>
        <p:spPr>
          <a:xfrm>
            <a:off x="1868275" y="2980148"/>
            <a:ext cx="3735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4" name="Google Shape;1564;p93"/>
          <p:cNvSpPr txBox="1"/>
          <p:nvPr/>
        </p:nvSpPr>
        <p:spPr>
          <a:xfrm>
            <a:off x="1032430" y="2980148"/>
            <a:ext cx="3735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5" name="Google Shape;1565;p93"/>
          <p:cNvSpPr/>
          <p:nvPr/>
        </p:nvSpPr>
        <p:spPr>
          <a:xfrm>
            <a:off x="1231681" y="2797642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6" name="Google Shape;1566;p93"/>
          <p:cNvSpPr/>
          <p:nvPr/>
        </p:nvSpPr>
        <p:spPr>
          <a:xfrm>
            <a:off x="1231681" y="2604727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7" name="Google Shape;1567;p93"/>
          <p:cNvSpPr/>
          <p:nvPr/>
        </p:nvSpPr>
        <p:spPr>
          <a:xfrm>
            <a:off x="1424596" y="2797642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8" name="Google Shape;1568;p93"/>
          <p:cNvSpPr/>
          <p:nvPr/>
        </p:nvSpPr>
        <p:spPr>
          <a:xfrm>
            <a:off x="1617510" y="2797642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9" name="Google Shape;1569;p93"/>
          <p:cNvSpPr/>
          <p:nvPr/>
        </p:nvSpPr>
        <p:spPr>
          <a:xfrm>
            <a:off x="1231681" y="2992907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0" name="Google Shape;1570;p93"/>
          <p:cNvSpPr/>
          <p:nvPr/>
        </p:nvSpPr>
        <p:spPr>
          <a:xfrm>
            <a:off x="1424596" y="2992907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1" name="Google Shape;1571;p93"/>
          <p:cNvSpPr/>
          <p:nvPr/>
        </p:nvSpPr>
        <p:spPr>
          <a:xfrm>
            <a:off x="1617510" y="2992907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2" name="Google Shape;1572;p93"/>
          <p:cNvSpPr/>
          <p:nvPr/>
        </p:nvSpPr>
        <p:spPr>
          <a:xfrm>
            <a:off x="2038958" y="2992907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93"/>
          <p:cNvSpPr/>
          <p:nvPr/>
        </p:nvSpPr>
        <p:spPr>
          <a:xfrm>
            <a:off x="2231873" y="2992907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4" name="Google Shape;1574;p93"/>
          <p:cNvSpPr/>
          <p:nvPr/>
        </p:nvSpPr>
        <p:spPr>
          <a:xfrm>
            <a:off x="2424787" y="2992907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5" name="Google Shape;1575;p93"/>
          <p:cNvSpPr/>
          <p:nvPr/>
        </p:nvSpPr>
        <p:spPr>
          <a:xfrm>
            <a:off x="2038958" y="2602377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6" name="Google Shape;1576;p93"/>
          <p:cNvSpPr/>
          <p:nvPr/>
        </p:nvSpPr>
        <p:spPr>
          <a:xfrm>
            <a:off x="2038958" y="2409461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7" name="Google Shape;1577;p93"/>
          <p:cNvSpPr/>
          <p:nvPr/>
        </p:nvSpPr>
        <p:spPr>
          <a:xfrm>
            <a:off x="2231873" y="2602377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8" name="Google Shape;1578;p93"/>
          <p:cNvSpPr/>
          <p:nvPr/>
        </p:nvSpPr>
        <p:spPr>
          <a:xfrm>
            <a:off x="2424787" y="2602377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9" name="Google Shape;1579;p93"/>
          <p:cNvSpPr/>
          <p:nvPr/>
        </p:nvSpPr>
        <p:spPr>
          <a:xfrm>
            <a:off x="2038958" y="2797642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0" name="Google Shape;1580;p93"/>
          <p:cNvSpPr/>
          <p:nvPr/>
        </p:nvSpPr>
        <p:spPr>
          <a:xfrm>
            <a:off x="2231873" y="2797642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1" name="Google Shape;1581;p93"/>
          <p:cNvSpPr/>
          <p:nvPr/>
        </p:nvSpPr>
        <p:spPr>
          <a:xfrm>
            <a:off x="2424787" y="2797642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2" name="Google Shape;1582;p93"/>
          <p:cNvSpPr/>
          <p:nvPr/>
        </p:nvSpPr>
        <p:spPr>
          <a:xfrm>
            <a:off x="937809" y="4556799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3" name="Google Shape;1583;p93"/>
          <p:cNvSpPr/>
          <p:nvPr/>
        </p:nvSpPr>
        <p:spPr>
          <a:xfrm>
            <a:off x="937809" y="4363883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4" name="Google Shape;1584;p93"/>
          <p:cNvSpPr/>
          <p:nvPr/>
        </p:nvSpPr>
        <p:spPr>
          <a:xfrm>
            <a:off x="1130723" y="4556799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5" name="Google Shape;1585;p93"/>
          <p:cNvSpPr txBox="1"/>
          <p:nvPr/>
        </p:nvSpPr>
        <p:spPr>
          <a:xfrm>
            <a:off x="2697465" y="4522127"/>
            <a:ext cx="3735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6" name="Google Shape;1586;p93"/>
          <p:cNvSpPr txBox="1"/>
          <p:nvPr/>
        </p:nvSpPr>
        <p:spPr>
          <a:xfrm>
            <a:off x="2063541" y="4522127"/>
            <a:ext cx="3735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7" name="Google Shape;1587;p93"/>
          <p:cNvSpPr txBox="1"/>
          <p:nvPr/>
        </p:nvSpPr>
        <p:spPr>
          <a:xfrm>
            <a:off x="1383438" y="4522127"/>
            <a:ext cx="3735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93"/>
          <p:cNvSpPr/>
          <p:nvPr/>
        </p:nvSpPr>
        <p:spPr>
          <a:xfrm>
            <a:off x="1571733" y="4534886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9" name="Google Shape;1589;p93"/>
          <p:cNvSpPr/>
          <p:nvPr/>
        </p:nvSpPr>
        <p:spPr>
          <a:xfrm>
            <a:off x="1764647" y="4534886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93"/>
          <p:cNvSpPr/>
          <p:nvPr/>
        </p:nvSpPr>
        <p:spPr>
          <a:xfrm>
            <a:off x="2234224" y="4534886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1" name="Google Shape;1591;p93"/>
          <p:cNvSpPr/>
          <p:nvPr/>
        </p:nvSpPr>
        <p:spPr>
          <a:xfrm>
            <a:off x="2427139" y="4534886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2" name="Google Shape;1592;p93"/>
          <p:cNvSpPr/>
          <p:nvPr/>
        </p:nvSpPr>
        <p:spPr>
          <a:xfrm>
            <a:off x="2234224" y="4339621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3" name="Google Shape;1593;p93"/>
          <p:cNvSpPr/>
          <p:nvPr/>
        </p:nvSpPr>
        <p:spPr>
          <a:xfrm>
            <a:off x="2427139" y="4339621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4" name="Google Shape;1594;p93"/>
          <p:cNvSpPr/>
          <p:nvPr/>
        </p:nvSpPr>
        <p:spPr>
          <a:xfrm>
            <a:off x="937809" y="4168618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5" name="Google Shape;1595;p93"/>
          <p:cNvSpPr/>
          <p:nvPr/>
        </p:nvSpPr>
        <p:spPr>
          <a:xfrm>
            <a:off x="937809" y="3973353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6" name="Google Shape;1596;p93"/>
          <p:cNvSpPr/>
          <p:nvPr/>
        </p:nvSpPr>
        <p:spPr>
          <a:xfrm>
            <a:off x="1571956" y="4343922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93"/>
          <p:cNvSpPr/>
          <p:nvPr/>
        </p:nvSpPr>
        <p:spPr>
          <a:xfrm>
            <a:off x="1571956" y="4151007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93"/>
          <p:cNvSpPr/>
          <p:nvPr/>
        </p:nvSpPr>
        <p:spPr>
          <a:xfrm>
            <a:off x="1764870" y="4343922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9" name="Google Shape;1599;p93"/>
          <p:cNvSpPr/>
          <p:nvPr/>
        </p:nvSpPr>
        <p:spPr>
          <a:xfrm>
            <a:off x="1571956" y="3955742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0" name="Google Shape;1600;p93"/>
          <p:cNvSpPr/>
          <p:nvPr/>
        </p:nvSpPr>
        <p:spPr>
          <a:xfrm>
            <a:off x="1571956" y="3760477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1" name="Google Shape;1601;p93"/>
          <p:cNvSpPr/>
          <p:nvPr/>
        </p:nvSpPr>
        <p:spPr>
          <a:xfrm>
            <a:off x="2234447" y="4142225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2" name="Google Shape;1602;p93"/>
          <p:cNvSpPr/>
          <p:nvPr/>
        </p:nvSpPr>
        <p:spPr>
          <a:xfrm>
            <a:off x="2234447" y="3949310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3" name="Google Shape;1603;p93"/>
          <p:cNvSpPr/>
          <p:nvPr/>
        </p:nvSpPr>
        <p:spPr>
          <a:xfrm>
            <a:off x="2427362" y="4142225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4" name="Google Shape;1604;p93"/>
          <p:cNvSpPr/>
          <p:nvPr/>
        </p:nvSpPr>
        <p:spPr>
          <a:xfrm>
            <a:off x="2234447" y="3754045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5" name="Google Shape;1605;p93"/>
          <p:cNvSpPr/>
          <p:nvPr/>
        </p:nvSpPr>
        <p:spPr>
          <a:xfrm>
            <a:off x="2234447" y="3558780"/>
            <a:ext cx="192900" cy="1929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6" name="Google Shape;1606;p93"/>
          <p:cNvSpPr txBox="1"/>
          <p:nvPr/>
        </p:nvSpPr>
        <p:spPr>
          <a:xfrm>
            <a:off x="6787216" y="3882780"/>
            <a:ext cx="161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2</a:t>
            </a: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7" name="Google Shape;1607;p93"/>
          <p:cNvSpPr txBox="1"/>
          <p:nvPr/>
        </p:nvSpPr>
        <p:spPr>
          <a:xfrm>
            <a:off x="6787216" y="1585190"/>
            <a:ext cx="161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3</a:t>
            </a: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8" name="Google Shape;1608;p93"/>
          <p:cNvSpPr txBox="1"/>
          <p:nvPr/>
        </p:nvSpPr>
        <p:spPr>
          <a:xfrm>
            <a:off x="6787216" y="2733985"/>
            <a:ext cx="161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2</a:t>
            </a:r>
            <a:r>
              <a:rPr lang="en-GB" sz="2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9" name="Google Shape;1609;p93"/>
          <p:cNvSpPr txBox="1"/>
          <p:nvPr>
            <p:ph type="body" idx="1"/>
          </p:nvPr>
        </p:nvSpPr>
        <p:spPr>
          <a:xfrm>
            <a:off x="4057800" y="1597500"/>
            <a:ext cx="1872300" cy="46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Pattern number times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/>
              <a:t> plus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0" name="Google Shape;1610;p93"/>
          <p:cNvSpPr txBox="1"/>
          <p:nvPr>
            <p:ph type="body" idx="1"/>
          </p:nvPr>
        </p:nvSpPr>
        <p:spPr>
          <a:xfrm>
            <a:off x="4057800" y="2740500"/>
            <a:ext cx="1872300" cy="46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Pattern number times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/>
              <a:t> plus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1" name="Google Shape;1611;p93"/>
          <p:cNvSpPr txBox="1"/>
          <p:nvPr>
            <p:ph type="body" idx="1"/>
          </p:nvPr>
        </p:nvSpPr>
        <p:spPr>
          <a:xfrm>
            <a:off x="4057800" y="3883500"/>
            <a:ext cx="1872300" cy="46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Pattern number times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800"/>
              <a:t> plus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12" name="Google Shape;1612;p93"/>
          <p:cNvCxnSpPr>
            <a:stCxn id="1555" idx="3"/>
            <a:endCxn id="1610" idx="1"/>
          </p:cNvCxnSpPr>
          <p:nvPr/>
        </p:nvCxnSpPr>
        <p:spPr>
          <a:xfrm>
            <a:off x="3073270" y="1865403"/>
            <a:ext cx="984600" cy="11088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3" name="Google Shape;1613;p93"/>
          <p:cNvCxnSpPr>
            <a:stCxn id="1562" idx="3"/>
            <a:endCxn id="1611" idx="1"/>
          </p:cNvCxnSpPr>
          <p:nvPr/>
        </p:nvCxnSpPr>
        <p:spPr>
          <a:xfrm>
            <a:off x="3070965" y="3093998"/>
            <a:ext cx="986700" cy="10233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4" name="Google Shape;1614;p93"/>
          <p:cNvCxnSpPr>
            <a:stCxn id="1585" idx="3"/>
            <a:endCxn id="1609" idx="1"/>
          </p:cNvCxnSpPr>
          <p:nvPr/>
        </p:nvCxnSpPr>
        <p:spPr>
          <a:xfrm rot="10800000" flipH="1">
            <a:off x="3070965" y="1831277"/>
            <a:ext cx="986700" cy="28047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5" name="Google Shape;1615;p93"/>
          <p:cNvCxnSpPr>
            <a:stCxn id="1609" idx="3"/>
            <a:endCxn id="1608" idx="1"/>
          </p:cNvCxnSpPr>
          <p:nvPr/>
        </p:nvCxnSpPr>
        <p:spPr>
          <a:xfrm>
            <a:off x="5930100" y="1831350"/>
            <a:ext cx="857100" cy="11601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6" name="Google Shape;1616;p93"/>
          <p:cNvCxnSpPr>
            <a:stCxn id="1610" idx="3"/>
            <a:endCxn id="1606" idx="1"/>
          </p:cNvCxnSpPr>
          <p:nvPr/>
        </p:nvCxnSpPr>
        <p:spPr>
          <a:xfrm>
            <a:off x="5930100" y="2974350"/>
            <a:ext cx="857100" cy="11661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7" name="Google Shape;1617;p93"/>
          <p:cNvCxnSpPr>
            <a:stCxn id="1611" idx="3"/>
            <a:endCxn id="1607" idx="1"/>
          </p:cNvCxnSpPr>
          <p:nvPr/>
        </p:nvCxnSpPr>
        <p:spPr>
          <a:xfrm rot="10800000" flipH="1">
            <a:off x="5930100" y="1842750"/>
            <a:ext cx="857100" cy="22746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21" name="Shape 1621"/>
        <p:cNvGrpSpPr/>
        <p:nvPr/>
      </p:nvGrpSpPr>
      <p:grpSpPr>
        <a:xfrm>
          <a:off x="0" y="0"/>
          <a:ext cx="0" cy="0"/>
        </a:xfrm>
      </p:grpSpPr>
      <p:graphicFrame>
        <p:nvGraphicFramePr>
          <p:cNvPr id="1622" name="Google Shape;1622;p94"/>
          <p:cNvGraphicFramePr>
            <a:graphicFrameLocks noGrp="1"/>
          </p:cNvGraphicFramePr>
          <p:nvPr/>
        </p:nvGraphicFramePr>
        <p:xfrm>
          <a:off x="336216" y="24240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{36393E4A-1B3B-4A6D-B05D-6F587DC3BFE1}</a:tableStyleId>
              </a:tblPr>
              <a:tblGrid>
                <a:gridCol w="2754125"/>
                <a:gridCol w="570425"/>
                <a:gridCol w="570425"/>
                <a:gridCol w="570425"/>
                <a:gridCol w="3460750"/>
              </a:tblGrid>
              <a:tr h="457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Pattern number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7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23" name="Google Shape;1623;p94"/>
          <p:cNvGraphicFramePr>
            <a:graphicFrameLocks noGrp="1"/>
          </p:cNvGraphicFramePr>
          <p:nvPr/>
        </p:nvGraphicFramePr>
        <p:xfrm>
          <a:off x="336216" y="24240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{36393E4A-1B3B-4A6D-B05D-6F587DC3BFE1}</a:tableStyleId>
              </a:tblPr>
              <a:tblGrid>
                <a:gridCol w="2754125"/>
                <a:gridCol w="570425"/>
                <a:gridCol w="570425"/>
                <a:gridCol w="570425"/>
                <a:gridCol w="3460750"/>
              </a:tblGrid>
              <a:tr h="457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Pattern number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Pattern number</a:t>
                      </a:r>
                      <a:endParaRPr sz="2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7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Pattern number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× 3 + 1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24" name="Google Shape;1624;p94"/>
          <p:cNvSpPr txBox="1"/>
          <p:nvPr>
            <p:ph type="body" idx="1"/>
          </p:nvPr>
        </p:nvSpPr>
        <p:spPr>
          <a:xfrm>
            <a:off x="324000" y="759300"/>
            <a:ext cx="7135200" cy="4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1) Sam spots a general rule for this sequence.</a:t>
            </a:r>
            <a:endParaRPr/>
          </a:p>
        </p:txBody>
      </p:sp>
      <p:sp>
        <p:nvSpPr>
          <p:cNvPr id="1625" name="Google Shape;1625;p9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general term of a sequence</a:t>
            </a:r>
            <a:endParaRPr/>
          </a:p>
        </p:txBody>
      </p:sp>
      <p:sp>
        <p:nvSpPr>
          <p:cNvPr id="1626" name="Google Shape;1626;p94"/>
          <p:cNvSpPr txBox="1"/>
          <p:nvPr/>
        </p:nvSpPr>
        <p:spPr>
          <a:xfrm>
            <a:off x="7999218" y="1827753"/>
            <a:ext cx="3735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p94"/>
          <p:cNvSpPr txBox="1"/>
          <p:nvPr/>
        </p:nvSpPr>
        <p:spPr>
          <a:xfrm>
            <a:off x="6105871" y="1827753"/>
            <a:ext cx="3735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8" name="Google Shape;1628;p94"/>
          <p:cNvSpPr txBox="1"/>
          <p:nvPr/>
        </p:nvSpPr>
        <p:spPr>
          <a:xfrm>
            <a:off x="4660426" y="1827753"/>
            <a:ext cx="3735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9" name="Google Shape;1629;p94"/>
          <p:cNvSpPr/>
          <p:nvPr/>
        </p:nvSpPr>
        <p:spPr>
          <a:xfrm>
            <a:off x="405098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0" name="Google Shape;1630;p94"/>
          <p:cNvSpPr/>
          <p:nvPr/>
        </p:nvSpPr>
        <p:spPr>
          <a:xfrm>
            <a:off x="425404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1" name="Google Shape;1631;p94"/>
          <p:cNvSpPr/>
          <p:nvPr/>
        </p:nvSpPr>
        <p:spPr>
          <a:xfrm>
            <a:off x="3843211" y="1857748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2" name="Google Shape;1632;p94"/>
          <p:cNvSpPr/>
          <p:nvPr/>
        </p:nvSpPr>
        <p:spPr>
          <a:xfrm>
            <a:off x="4050987" y="1651047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3" name="Google Shape;1633;p94"/>
          <p:cNvSpPr/>
          <p:nvPr/>
        </p:nvSpPr>
        <p:spPr>
          <a:xfrm>
            <a:off x="511778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4" name="Google Shape;1634;p94"/>
          <p:cNvSpPr/>
          <p:nvPr/>
        </p:nvSpPr>
        <p:spPr>
          <a:xfrm>
            <a:off x="532084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5" name="Google Shape;1635;p94"/>
          <p:cNvSpPr/>
          <p:nvPr/>
        </p:nvSpPr>
        <p:spPr>
          <a:xfrm>
            <a:off x="552390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6" name="Google Shape;1636;p94"/>
          <p:cNvSpPr/>
          <p:nvPr/>
        </p:nvSpPr>
        <p:spPr>
          <a:xfrm>
            <a:off x="5325563" y="144551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7" name="Google Shape;1637;p94"/>
          <p:cNvSpPr/>
          <p:nvPr/>
        </p:nvSpPr>
        <p:spPr>
          <a:xfrm>
            <a:off x="5325563" y="1651047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8" name="Google Shape;1638;p94"/>
          <p:cNvSpPr/>
          <p:nvPr/>
        </p:nvSpPr>
        <p:spPr>
          <a:xfrm>
            <a:off x="5729442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9" name="Google Shape;1639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732" y="1200586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0" name="Google Shape;1640;p94"/>
          <p:cNvSpPr txBox="1"/>
          <p:nvPr>
            <p:ph type="body" idx="1"/>
          </p:nvPr>
        </p:nvSpPr>
        <p:spPr>
          <a:xfrm>
            <a:off x="324000" y="3654900"/>
            <a:ext cx="4748700" cy="4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Whilst their general rule works, how would you improve upon it?</a:t>
            </a:r>
            <a:endParaRPr/>
          </a:p>
        </p:txBody>
      </p:sp>
      <p:sp>
        <p:nvSpPr>
          <p:cNvPr id="1641" name="Google Shape;1641;p94"/>
          <p:cNvSpPr/>
          <p:nvPr/>
        </p:nvSpPr>
        <p:spPr>
          <a:xfrm>
            <a:off x="491332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2" name="Google Shape;1642;p94"/>
          <p:cNvSpPr/>
          <p:nvPr/>
        </p:nvSpPr>
        <p:spPr>
          <a:xfrm>
            <a:off x="679418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3" name="Google Shape;1643;p94"/>
          <p:cNvSpPr/>
          <p:nvPr/>
        </p:nvSpPr>
        <p:spPr>
          <a:xfrm>
            <a:off x="699724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4" name="Google Shape;1644;p94"/>
          <p:cNvSpPr/>
          <p:nvPr/>
        </p:nvSpPr>
        <p:spPr>
          <a:xfrm>
            <a:off x="720030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5" name="Google Shape;1645;p94"/>
          <p:cNvSpPr/>
          <p:nvPr/>
        </p:nvSpPr>
        <p:spPr>
          <a:xfrm>
            <a:off x="7001963" y="144551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6" name="Google Shape;1646;p94"/>
          <p:cNvSpPr/>
          <p:nvPr/>
        </p:nvSpPr>
        <p:spPr>
          <a:xfrm>
            <a:off x="7001963" y="1651047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7" name="Google Shape;1647;p94"/>
          <p:cNvSpPr/>
          <p:nvPr/>
        </p:nvSpPr>
        <p:spPr>
          <a:xfrm>
            <a:off x="7405842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8" name="Google Shape;1648;p94"/>
          <p:cNvSpPr/>
          <p:nvPr/>
        </p:nvSpPr>
        <p:spPr>
          <a:xfrm>
            <a:off x="658972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9" name="Google Shape;1649;p94"/>
          <p:cNvSpPr/>
          <p:nvPr/>
        </p:nvSpPr>
        <p:spPr>
          <a:xfrm>
            <a:off x="7001963" y="1237736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0" name="Google Shape;1650;p94"/>
          <p:cNvSpPr/>
          <p:nvPr/>
        </p:nvSpPr>
        <p:spPr>
          <a:xfrm>
            <a:off x="6381951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1" name="Google Shape;1651;p94"/>
          <p:cNvSpPr/>
          <p:nvPr/>
        </p:nvSpPr>
        <p:spPr>
          <a:xfrm>
            <a:off x="7613618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55" name="Shape 1655"/>
        <p:cNvGrpSpPr/>
        <p:nvPr/>
      </p:nvGrpSpPr>
      <p:grpSpPr>
        <a:xfrm>
          <a:off x="0" y="0"/>
          <a:ext cx="0" cy="0"/>
        </a:xfrm>
      </p:grpSpPr>
      <p:sp>
        <p:nvSpPr>
          <p:cNvPr id="1656" name="Google Shape;1656;p95"/>
          <p:cNvSpPr txBox="1"/>
          <p:nvPr>
            <p:ph type="body" idx="1"/>
          </p:nvPr>
        </p:nvSpPr>
        <p:spPr>
          <a:xfrm>
            <a:off x="324000" y="759300"/>
            <a:ext cx="7135200" cy="76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2) Fill in the table for this sequence and write a general rule each row.</a:t>
            </a:r>
            <a:endParaRPr/>
          </a:p>
        </p:txBody>
      </p:sp>
      <p:sp>
        <p:nvSpPr>
          <p:cNvPr id="1657" name="Google Shape;1657;p9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general term of a sequence</a:t>
            </a:r>
            <a:endParaRPr/>
          </a:p>
        </p:txBody>
      </p:sp>
      <p:sp>
        <p:nvSpPr>
          <p:cNvPr id="1658" name="Google Shape;1658;p95"/>
          <p:cNvSpPr/>
          <p:nvPr/>
        </p:nvSpPr>
        <p:spPr>
          <a:xfrm>
            <a:off x="5196042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9" name="Google Shape;1659;p95"/>
          <p:cNvSpPr/>
          <p:nvPr/>
        </p:nvSpPr>
        <p:spPr>
          <a:xfrm>
            <a:off x="5196042" y="1445512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0" name="Google Shape;1660;p95"/>
          <p:cNvSpPr/>
          <p:nvPr/>
        </p:nvSpPr>
        <p:spPr>
          <a:xfrm>
            <a:off x="5196042" y="1651047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1" name="Google Shape;1661;p95"/>
          <p:cNvSpPr/>
          <p:nvPr/>
        </p:nvSpPr>
        <p:spPr>
          <a:xfrm>
            <a:off x="5196042" y="1239978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2" name="Google Shape;1662;p95"/>
          <p:cNvSpPr/>
          <p:nvPr/>
        </p:nvSpPr>
        <p:spPr>
          <a:xfrm>
            <a:off x="4992982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3" name="Google Shape;1663;p95"/>
          <p:cNvSpPr/>
          <p:nvPr/>
        </p:nvSpPr>
        <p:spPr>
          <a:xfrm>
            <a:off x="4992982" y="1445512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95"/>
          <p:cNvSpPr/>
          <p:nvPr/>
        </p:nvSpPr>
        <p:spPr>
          <a:xfrm>
            <a:off x="4992982" y="1651047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95"/>
          <p:cNvSpPr/>
          <p:nvPr/>
        </p:nvSpPr>
        <p:spPr>
          <a:xfrm>
            <a:off x="4992982" y="1239978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95"/>
          <p:cNvSpPr/>
          <p:nvPr/>
        </p:nvSpPr>
        <p:spPr>
          <a:xfrm>
            <a:off x="6339042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7" name="Google Shape;1667;p95"/>
          <p:cNvSpPr/>
          <p:nvPr/>
        </p:nvSpPr>
        <p:spPr>
          <a:xfrm>
            <a:off x="6339042" y="1445512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8" name="Google Shape;1668;p95"/>
          <p:cNvSpPr/>
          <p:nvPr/>
        </p:nvSpPr>
        <p:spPr>
          <a:xfrm>
            <a:off x="6339042" y="1651047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9" name="Google Shape;1669;p95"/>
          <p:cNvSpPr/>
          <p:nvPr/>
        </p:nvSpPr>
        <p:spPr>
          <a:xfrm>
            <a:off x="6339042" y="1239978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0" name="Google Shape;1670;p95"/>
          <p:cNvSpPr/>
          <p:nvPr/>
        </p:nvSpPr>
        <p:spPr>
          <a:xfrm>
            <a:off x="6135982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1" name="Google Shape;1671;p95"/>
          <p:cNvSpPr/>
          <p:nvPr/>
        </p:nvSpPr>
        <p:spPr>
          <a:xfrm>
            <a:off x="6135982" y="1445512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2" name="Google Shape;1672;p95"/>
          <p:cNvSpPr/>
          <p:nvPr/>
        </p:nvSpPr>
        <p:spPr>
          <a:xfrm>
            <a:off x="6135982" y="1651047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3" name="Google Shape;1673;p95"/>
          <p:cNvSpPr/>
          <p:nvPr/>
        </p:nvSpPr>
        <p:spPr>
          <a:xfrm>
            <a:off x="6135982" y="1239978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4" name="Google Shape;1674;p95"/>
          <p:cNvSpPr/>
          <p:nvPr/>
        </p:nvSpPr>
        <p:spPr>
          <a:xfrm>
            <a:off x="4078582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5" name="Google Shape;1675;p95"/>
          <p:cNvSpPr/>
          <p:nvPr/>
        </p:nvSpPr>
        <p:spPr>
          <a:xfrm>
            <a:off x="4078582" y="1445512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6" name="Google Shape;1676;p95"/>
          <p:cNvSpPr/>
          <p:nvPr/>
        </p:nvSpPr>
        <p:spPr>
          <a:xfrm>
            <a:off x="4078582" y="1651047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7" name="Google Shape;1677;p95"/>
          <p:cNvSpPr/>
          <p:nvPr/>
        </p:nvSpPr>
        <p:spPr>
          <a:xfrm>
            <a:off x="4078582" y="1239978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8" name="Google Shape;1678;p95"/>
          <p:cNvSpPr/>
          <p:nvPr/>
        </p:nvSpPr>
        <p:spPr>
          <a:xfrm>
            <a:off x="6533044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9" name="Google Shape;1679;p95"/>
          <p:cNvSpPr/>
          <p:nvPr/>
        </p:nvSpPr>
        <p:spPr>
          <a:xfrm>
            <a:off x="6533044" y="1445512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0" name="Google Shape;1680;p95"/>
          <p:cNvSpPr/>
          <p:nvPr/>
        </p:nvSpPr>
        <p:spPr>
          <a:xfrm>
            <a:off x="6533044" y="1651047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1" name="Google Shape;1681;p95"/>
          <p:cNvSpPr/>
          <p:nvPr/>
        </p:nvSpPr>
        <p:spPr>
          <a:xfrm>
            <a:off x="6533044" y="1239978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2" name="Google Shape;1682;p95"/>
          <p:cNvSpPr/>
          <p:nvPr/>
        </p:nvSpPr>
        <p:spPr>
          <a:xfrm>
            <a:off x="7558242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3" name="Google Shape;1683;p95"/>
          <p:cNvSpPr/>
          <p:nvPr/>
        </p:nvSpPr>
        <p:spPr>
          <a:xfrm>
            <a:off x="7558242" y="1445512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4" name="Google Shape;1684;p95"/>
          <p:cNvSpPr/>
          <p:nvPr/>
        </p:nvSpPr>
        <p:spPr>
          <a:xfrm>
            <a:off x="7558242" y="1651047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5" name="Google Shape;1685;p95"/>
          <p:cNvSpPr/>
          <p:nvPr/>
        </p:nvSpPr>
        <p:spPr>
          <a:xfrm>
            <a:off x="7558242" y="1239978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6" name="Google Shape;1686;p95"/>
          <p:cNvSpPr/>
          <p:nvPr/>
        </p:nvSpPr>
        <p:spPr>
          <a:xfrm>
            <a:off x="7355182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7" name="Google Shape;1687;p95"/>
          <p:cNvSpPr/>
          <p:nvPr/>
        </p:nvSpPr>
        <p:spPr>
          <a:xfrm>
            <a:off x="7355182" y="1445512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8" name="Google Shape;1688;p95"/>
          <p:cNvSpPr/>
          <p:nvPr/>
        </p:nvSpPr>
        <p:spPr>
          <a:xfrm>
            <a:off x="7355182" y="1651047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9" name="Google Shape;1689;p95"/>
          <p:cNvSpPr/>
          <p:nvPr/>
        </p:nvSpPr>
        <p:spPr>
          <a:xfrm>
            <a:off x="7355182" y="1239978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0" name="Google Shape;1690;p95"/>
          <p:cNvSpPr/>
          <p:nvPr/>
        </p:nvSpPr>
        <p:spPr>
          <a:xfrm>
            <a:off x="7752244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1" name="Google Shape;1691;p95"/>
          <p:cNvSpPr/>
          <p:nvPr/>
        </p:nvSpPr>
        <p:spPr>
          <a:xfrm>
            <a:off x="7752244" y="1445512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2" name="Google Shape;1692;p95"/>
          <p:cNvSpPr/>
          <p:nvPr/>
        </p:nvSpPr>
        <p:spPr>
          <a:xfrm>
            <a:off x="7752244" y="1651047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3" name="Google Shape;1693;p95"/>
          <p:cNvSpPr/>
          <p:nvPr/>
        </p:nvSpPr>
        <p:spPr>
          <a:xfrm>
            <a:off x="7752244" y="1239978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4" name="Google Shape;1694;p95"/>
          <p:cNvSpPr/>
          <p:nvPr/>
        </p:nvSpPr>
        <p:spPr>
          <a:xfrm>
            <a:off x="7950774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5" name="Google Shape;1695;p95"/>
          <p:cNvSpPr/>
          <p:nvPr/>
        </p:nvSpPr>
        <p:spPr>
          <a:xfrm>
            <a:off x="7950774" y="1445512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6" name="Google Shape;1696;p95"/>
          <p:cNvSpPr/>
          <p:nvPr/>
        </p:nvSpPr>
        <p:spPr>
          <a:xfrm>
            <a:off x="7950774" y="1651047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7" name="Google Shape;1697;p95"/>
          <p:cNvSpPr/>
          <p:nvPr/>
        </p:nvSpPr>
        <p:spPr>
          <a:xfrm>
            <a:off x="7950774" y="1239978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8" name="Google Shape;1698;p95"/>
          <p:cNvSpPr txBox="1"/>
          <p:nvPr/>
        </p:nvSpPr>
        <p:spPr>
          <a:xfrm>
            <a:off x="8262370" y="1827753"/>
            <a:ext cx="3735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9" name="Google Shape;1699;p95"/>
          <p:cNvSpPr txBox="1"/>
          <p:nvPr/>
        </p:nvSpPr>
        <p:spPr>
          <a:xfrm>
            <a:off x="6867871" y="1827753"/>
            <a:ext cx="3735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0" name="Google Shape;1700;p95"/>
          <p:cNvSpPr txBox="1"/>
          <p:nvPr/>
        </p:nvSpPr>
        <p:spPr>
          <a:xfrm>
            <a:off x="5574826" y="1827753"/>
            <a:ext cx="3735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1" name="Google Shape;1701;p95"/>
          <p:cNvSpPr txBox="1"/>
          <p:nvPr/>
        </p:nvSpPr>
        <p:spPr>
          <a:xfrm>
            <a:off x="4431826" y="1827753"/>
            <a:ext cx="3735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02" name="Google Shape;1702;p95"/>
          <p:cNvGraphicFramePr>
            <a:graphicFrameLocks noGrp="1"/>
          </p:cNvGraphicFramePr>
          <p:nvPr/>
        </p:nvGraphicFramePr>
        <p:xfrm>
          <a:off x="336216" y="24240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{36393E4A-1B3B-4A6D-B05D-6F587DC3BFE1}</a:tableStyleId>
              </a:tblPr>
              <a:tblGrid>
                <a:gridCol w="2754125"/>
                <a:gridCol w="570425"/>
                <a:gridCol w="570425"/>
                <a:gridCol w="570425"/>
                <a:gridCol w="570425"/>
                <a:gridCol w="570425"/>
                <a:gridCol w="570425"/>
                <a:gridCol w="570425"/>
                <a:gridCol w="570425"/>
                <a:gridCol w="1174850"/>
              </a:tblGrid>
              <a:tr h="457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Pattern number (</a:t>
                      </a: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2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7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Shaded squares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7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squares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7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208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6" name="Shape 1706"/>
        <p:cNvGrpSpPr/>
        <p:nvPr/>
      </p:nvGrpSpPr>
      <p:grpSpPr>
        <a:xfrm>
          <a:off x="0" y="0"/>
          <a:ext cx="0" cy="0"/>
        </a:xfrm>
      </p:grpSpPr>
      <p:sp>
        <p:nvSpPr>
          <p:cNvPr id="1707" name="Google Shape;1707;p96"/>
          <p:cNvSpPr txBox="1"/>
          <p:nvPr>
            <p:ph type="body" idx="1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1) Sam spots a general rule for this sequence.</a:t>
            </a:r>
            <a:endParaRPr/>
          </a:p>
        </p:txBody>
      </p:sp>
      <p:sp>
        <p:nvSpPr>
          <p:cNvPr id="1708" name="Google Shape;1708;p9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general term of a sequence</a:t>
            </a:r>
            <a:endParaRPr/>
          </a:p>
        </p:txBody>
      </p:sp>
      <p:pic>
        <p:nvPicPr>
          <p:cNvPr id="1709" name="Google Shape;1709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732" y="1200586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0" name="Google Shape;1710;p96"/>
          <p:cNvSpPr txBox="1"/>
          <p:nvPr>
            <p:ph type="body" idx="1"/>
          </p:nvPr>
        </p:nvSpPr>
        <p:spPr>
          <a:xfrm>
            <a:off x="324000" y="3654900"/>
            <a:ext cx="4082400" cy="4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Whilst their general rule works, how would you improve upon it?</a:t>
            </a:r>
            <a:endParaRPr sz="2000"/>
          </a:p>
        </p:txBody>
      </p:sp>
      <p:graphicFrame>
        <p:nvGraphicFramePr>
          <p:cNvPr id="1711" name="Google Shape;1711;p96"/>
          <p:cNvGraphicFramePr>
            <a:graphicFrameLocks noGrp="1"/>
          </p:cNvGraphicFramePr>
          <p:nvPr/>
        </p:nvGraphicFramePr>
        <p:xfrm>
          <a:off x="336216" y="24240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{36393E4A-1B3B-4A6D-B05D-6F587DC3BFE1}</a:tableStyleId>
              </a:tblPr>
              <a:tblGrid>
                <a:gridCol w="2754125"/>
                <a:gridCol w="570425"/>
                <a:gridCol w="570425"/>
                <a:gridCol w="570425"/>
                <a:gridCol w="3460750"/>
              </a:tblGrid>
              <a:tr h="457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Pattern number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Pattern number</a:t>
                      </a:r>
                      <a:endParaRPr sz="2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7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Pattern number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× 3 + 1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12" name="Google Shape;1712;p96"/>
          <p:cNvSpPr txBox="1"/>
          <p:nvPr/>
        </p:nvSpPr>
        <p:spPr>
          <a:xfrm>
            <a:off x="7999218" y="1827753"/>
            <a:ext cx="3735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3" name="Google Shape;1713;p96"/>
          <p:cNvSpPr txBox="1"/>
          <p:nvPr/>
        </p:nvSpPr>
        <p:spPr>
          <a:xfrm>
            <a:off x="6105871" y="1827753"/>
            <a:ext cx="3735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4" name="Google Shape;1714;p96"/>
          <p:cNvSpPr txBox="1"/>
          <p:nvPr/>
        </p:nvSpPr>
        <p:spPr>
          <a:xfrm>
            <a:off x="4660426" y="1827753"/>
            <a:ext cx="3735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96"/>
          <p:cNvSpPr/>
          <p:nvPr/>
        </p:nvSpPr>
        <p:spPr>
          <a:xfrm>
            <a:off x="405098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6" name="Google Shape;1716;p96"/>
          <p:cNvSpPr/>
          <p:nvPr/>
        </p:nvSpPr>
        <p:spPr>
          <a:xfrm>
            <a:off x="425404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7" name="Google Shape;1717;p96"/>
          <p:cNvSpPr/>
          <p:nvPr/>
        </p:nvSpPr>
        <p:spPr>
          <a:xfrm>
            <a:off x="3843211" y="1857748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8" name="Google Shape;1718;p96"/>
          <p:cNvSpPr/>
          <p:nvPr/>
        </p:nvSpPr>
        <p:spPr>
          <a:xfrm>
            <a:off x="4050987" y="1651047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9" name="Google Shape;1719;p96"/>
          <p:cNvSpPr/>
          <p:nvPr/>
        </p:nvSpPr>
        <p:spPr>
          <a:xfrm>
            <a:off x="511778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0" name="Google Shape;1720;p96"/>
          <p:cNvSpPr/>
          <p:nvPr/>
        </p:nvSpPr>
        <p:spPr>
          <a:xfrm>
            <a:off x="532084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1" name="Google Shape;1721;p96"/>
          <p:cNvSpPr/>
          <p:nvPr/>
        </p:nvSpPr>
        <p:spPr>
          <a:xfrm>
            <a:off x="552390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2" name="Google Shape;1722;p96"/>
          <p:cNvSpPr/>
          <p:nvPr/>
        </p:nvSpPr>
        <p:spPr>
          <a:xfrm>
            <a:off x="5325563" y="144551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3" name="Google Shape;1723;p96"/>
          <p:cNvSpPr/>
          <p:nvPr/>
        </p:nvSpPr>
        <p:spPr>
          <a:xfrm>
            <a:off x="5325563" y="1651047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4" name="Google Shape;1724;p96"/>
          <p:cNvSpPr/>
          <p:nvPr/>
        </p:nvSpPr>
        <p:spPr>
          <a:xfrm>
            <a:off x="5729442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5" name="Google Shape;1725;p96"/>
          <p:cNvSpPr/>
          <p:nvPr/>
        </p:nvSpPr>
        <p:spPr>
          <a:xfrm>
            <a:off x="491332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6" name="Google Shape;1726;p96"/>
          <p:cNvSpPr/>
          <p:nvPr/>
        </p:nvSpPr>
        <p:spPr>
          <a:xfrm>
            <a:off x="679418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7" name="Google Shape;1727;p96"/>
          <p:cNvSpPr/>
          <p:nvPr/>
        </p:nvSpPr>
        <p:spPr>
          <a:xfrm>
            <a:off x="699724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8" name="Google Shape;1728;p96"/>
          <p:cNvSpPr/>
          <p:nvPr/>
        </p:nvSpPr>
        <p:spPr>
          <a:xfrm>
            <a:off x="720030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9" name="Google Shape;1729;p96"/>
          <p:cNvSpPr/>
          <p:nvPr/>
        </p:nvSpPr>
        <p:spPr>
          <a:xfrm>
            <a:off x="7001963" y="144551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0" name="Google Shape;1730;p96"/>
          <p:cNvSpPr/>
          <p:nvPr/>
        </p:nvSpPr>
        <p:spPr>
          <a:xfrm>
            <a:off x="7001963" y="1651047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1" name="Google Shape;1731;p96"/>
          <p:cNvSpPr/>
          <p:nvPr/>
        </p:nvSpPr>
        <p:spPr>
          <a:xfrm>
            <a:off x="7405842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2" name="Google Shape;1732;p96"/>
          <p:cNvSpPr/>
          <p:nvPr/>
        </p:nvSpPr>
        <p:spPr>
          <a:xfrm>
            <a:off x="658972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3" name="Google Shape;1733;p96"/>
          <p:cNvSpPr/>
          <p:nvPr/>
        </p:nvSpPr>
        <p:spPr>
          <a:xfrm>
            <a:off x="7001963" y="1237736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4" name="Google Shape;1734;p96"/>
          <p:cNvSpPr/>
          <p:nvPr/>
        </p:nvSpPr>
        <p:spPr>
          <a:xfrm>
            <a:off x="6381951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5" name="Google Shape;1735;p96"/>
          <p:cNvSpPr/>
          <p:nvPr/>
        </p:nvSpPr>
        <p:spPr>
          <a:xfrm>
            <a:off x="7613618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6" name="Google Shape;1736;p96"/>
          <p:cNvSpPr txBox="1"/>
          <p:nvPr>
            <p:ph type="body" idx="4294967295"/>
          </p:nvPr>
        </p:nvSpPr>
        <p:spPr>
          <a:xfrm>
            <a:off x="4837125" y="3564650"/>
            <a:ext cx="39066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might have said, use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to represent the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 thus writing the rule more concisely.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40" name="Shape 1740"/>
        <p:cNvGrpSpPr/>
        <p:nvPr/>
      </p:nvGrpSpPr>
      <p:grpSpPr>
        <a:xfrm>
          <a:off x="0" y="0"/>
          <a:ext cx="0" cy="0"/>
        </a:xfrm>
      </p:grpSpPr>
      <p:sp>
        <p:nvSpPr>
          <p:cNvPr id="1741" name="Google Shape;1741;p97"/>
          <p:cNvSpPr txBox="1"/>
          <p:nvPr>
            <p:ph type="body" idx="1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1) Sam spots a general rule for this sequence.</a:t>
            </a:r>
            <a:endParaRPr/>
          </a:p>
        </p:txBody>
      </p:sp>
      <p:sp>
        <p:nvSpPr>
          <p:cNvPr id="1742" name="Google Shape;1742;p9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general term of a sequence</a:t>
            </a:r>
            <a:endParaRPr/>
          </a:p>
        </p:txBody>
      </p:sp>
      <p:pic>
        <p:nvPicPr>
          <p:cNvPr id="1743" name="Google Shape;1743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732" y="1200586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4" name="Google Shape;1744;p97"/>
          <p:cNvSpPr txBox="1"/>
          <p:nvPr>
            <p:ph type="body" idx="1"/>
          </p:nvPr>
        </p:nvSpPr>
        <p:spPr>
          <a:xfrm>
            <a:off x="324000" y="3654900"/>
            <a:ext cx="4336500" cy="4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Whilst their general rule works, how would you improve upon it?</a:t>
            </a:r>
            <a:endParaRPr sz="2000"/>
          </a:p>
        </p:txBody>
      </p:sp>
      <p:graphicFrame>
        <p:nvGraphicFramePr>
          <p:cNvPr id="1745" name="Google Shape;1745;p97"/>
          <p:cNvGraphicFramePr>
            <a:graphicFrameLocks noGrp="1"/>
          </p:cNvGraphicFramePr>
          <p:nvPr/>
        </p:nvGraphicFramePr>
        <p:xfrm>
          <a:off x="336216" y="24240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{36393E4A-1B3B-4A6D-B05D-6F587DC3BFE1}</a:tableStyleId>
              </a:tblPr>
              <a:tblGrid>
                <a:gridCol w="2754125"/>
                <a:gridCol w="570425"/>
                <a:gridCol w="570425"/>
                <a:gridCol w="570425"/>
                <a:gridCol w="3460750"/>
              </a:tblGrid>
              <a:tr h="457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Pattern number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lang="en-GB" sz="22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24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7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× 3 + 1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46" name="Google Shape;1746;p97"/>
          <p:cNvSpPr txBox="1"/>
          <p:nvPr/>
        </p:nvSpPr>
        <p:spPr>
          <a:xfrm>
            <a:off x="7999218" y="1827753"/>
            <a:ext cx="3735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7" name="Google Shape;1747;p97"/>
          <p:cNvSpPr txBox="1"/>
          <p:nvPr/>
        </p:nvSpPr>
        <p:spPr>
          <a:xfrm>
            <a:off x="6105871" y="1827753"/>
            <a:ext cx="3735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8" name="Google Shape;1748;p97"/>
          <p:cNvSpPr txBox="1"/>
          <p:nvPr/>
        </p:nvSpPr>
        <p:spPr>
          <a:xfrm>
            <a:off x="4660426" y="1827753"/>
            <a:ext cx="3735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9" name="Google Shape;1749;p97"/>
          <p:cNvSpPr/>
          <p:nvPr/>
        </p:nvSpPr>
        <p:spPr>
          <a:xfrm>
            <a:off x="405098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0" name="Google Shape;1750;p97"/>
          <p:cNvSpPr/>
          <p:nvPr/>
        </p:nvSpPr>
        <p:spPr>
          <a:xfrm>
            <a:off x="425404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1" name="Google Shape;1751;p97"/>
          <p:cNvSpPr/>
          <p:nvPr/>
        </p:nvSpPr>
        <p:spPr>
          <a:xfrm>
            <a:off x="3843211" y="1857748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2" name="Google Shape;1752;p97"/>
          <p:cNvSpPr/>
          <p:nvPr/>
        </p:nvSpPr>
        <p:spPr>
          <a:xfrm>
            <a:off x="4050987" y="1651047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3" name="Google Shape;1753;p97"/>
          <p:cNvSpPr/>
          <p:nvPr/>
        </p:nvSpPr>
        <p:spPr>
          <a:xfrm>
            <a:off x="511778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4" name="Google Shape;1754;p97"/>
          <p:cNvSpPr/>
          <p:nvPr/>
        </p:nvSpPr>
        <p:spPr>
          <a:xfrm>
            <a:off x="532084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5" name="Google Shape;1755;p97"/>
          <p:cNvSpPr/>
          <p:nvPr/>
        </p:nvSpPr>
        <p:spPr>
          <a:xfrm>
            <a:off x="552390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6" name="Google Shape;1756;p97"/>
          <p:cNvSpPr/>
          <p:nvPr/>
        </p:nvSpPr>
        <p:spPr>
          <a:xfrm>
            <a:off x="5325563" y="144551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7" name="Google Shape;1757;p97"/>
          <p:cNvSpPr/>
          <p:nvPr/>
        </p:nvSpPr>
        <p:spPr>
          <a:xfrm>
            <a:off x="5325563" y="1651047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8" name="Google Shape;1758;p97"/>
          <p:cNvSpPr/>
          <p:nvPr/>
        </p:nvSpPr>
        <p:spPr>
          <a:xfrm>
            <a:off x="5729442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9" name="Google Shape;1759;p97"/>
          <p:cNvSpPr/>
          <p:nvPr/>
        </p:nvSpPr>
        <p:spPr>
          <a:xfrm>
            <a:off x="491332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0" name="Google Shape;1760;p97"/>
          <p:cNvSpPr/>
          <p:nvPr/>
        </p:nvSpPr>
        <p:spPr>
          <a:xfrm>
            <a:off x="679418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1" name="Google Shape;1761;p97"/>
          <p:cNvSpPr/>
          <p:nvPr/>
        </p:nvSpPr>
        <p:spPr>
          <a:xfrm>
            <a:off x="699724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2" name="Google Shape;1762;p97"/>
          <p:cNvSpPr/>
          <p:nvPr/>
        </p:nvSpPr>
        <p:spPr>
          <a:xfrm>
            <a:off x="720030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3" name="Google Shape;1763;p97"/>
          <p:cNvSpPr/>
          <p:nvPr/>
        </p:nvSpPr>
        <p:spPr>
          <a:xfrm>
            <a:off x="7001963" y="144551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4" name="Google Shape;1764;p97"/>
          <p:cNvSpPr/>
          <p:nvPr/>
        </p:nvSpPr>
        <p:spPr>
          <a:xfrm>
            <a:off x="7001963" y="1651047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5" name="Google Shape;1765;p97"/>
          <p:cNvSpPr/>
          <p:nvPr/>
        </p:nvSpPr>
        <p:spPr>
          <a:xfrm>
            <a:off x="7405842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6" name="Google Shape;1766;p97"/>
          <p:cNvSpPr/>
          <p:nvPr/>
        </p:nvSpPr>
        <p:spPr>
          <a:xfrm>
            <a:off x="6589727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7" name="Google Shape;1767;p97"/>
          <p:cNvSpPr/>
          <p:nvPr/>
        </p:nvSpPr>
        <p:spPr>
          <a:xfrm>
            <a:off x="7001963" y="1237736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8" name="Google Shape;1768;p97"/>
          <p:cNvSpPr/>
          <p:nvPr/>
        </p:nvSpPr>
        <p:spPr>
          <a:xfrm>
            <a:off x="6381951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9" name="Google Shape;1769;p97"/>
          <p:cNvSpPr/>
          <p:nvPr/>
        </p:nvSpPr>
        <p:spPr>
          <a:xfrm>
            <a:off x="7613618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0" name="Google Shape;1770;p97"/>
          <p:cNvSpPr txBox="1"/>
          <p:nvPr>
            <p:ph type="body" idx="4294967295"/>
          </p:nvPr>
        </p:nvSpPr>
        <p:spPr>
          <a:xfrm>
            <a:off x="4837125" y="3564650"/>
            <a:ext cx="3906600" cy="37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might have said, use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to represent the </a:t>
            </a: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 thus writing the rule more concisely.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74" name="Shape 1774"/>
        <p:cNvGrpSpPr/>
        <p:nvPr/>
      </p:nvGrpSpPr>
      <p:grpSpPr>
        <a:xfrm>
          <a:off x="0" y="0"/>
          <a:ext cx="0" cy="0"/>
        </a:xfrm>
      </p:grpSpPr>
      <p:sp>
        <p:nvSpPr>
          <p:cNvPr id="1775" name="Google Shape;1775;p98"/>
          <p:cNvSpPr txBox="1"/>
          <p:nvPr>
            <p:ph type="body" idx="1"/>
          </p:nvPr>
        </p:nvSpPr>
        <p:spPr>
          <a:xfrm>
            <a:off x="324000" y="759300"/>
            <a:ext cx="7031100" cy="38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2) Fill in the table for this sequence and write a general rule each row.</a:t>
            </a:r>
            <a:endParaRPr/>
          </a:p>
        </p:txBody>
      </p:sp>
      <p:sp>
        <p:nvSpPr>
          <p:cNvPr id="1776" name="Google Shape;1776;p9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general term of a sequence</a:t>
            </a:r>
            <a:endParaRPr/>
          </a:p>
        </p:txBody>
      </p:sp>
      <p:sp>
        <p:nvSpPr>
          <p:cNvPr id="1777" name="Google Shape;1777;p98"/>
          <p:cNvSpPr/>
          <p:nvPr/>
        </p:nvSpPr>
        <p:spPr>
          <a:xfrm>
            <a:off x="5196042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8" name="Google Shape;1778;p98"/>
          <p:cNvSpPr/>
          <p:nvPr/>
        </p:nvSpPr>
        <p:spPr>
          <a:xfrm>
            <a:off x="5196042" y="1445512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9" name="Google Shape;1779;p98"/>
          <p:cNvSpPr/>
          <p:nvPr/>
        </p:nvSpPr>
        <p:spPr>
          <a:xfrm>
            <a:off x="5196042" y="1651047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0" name="Google Shape;1780;p98"/>
          <p:cNvSpPr/>
          <p:nvPr/>
        </p:nvSpPr>
        <p:spPr>
          <a:xfrm>
            <a:off x="5196042" y="1239978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1" name="Google Shape;1781;p98"/>
          <p:cNvSpPr/>
          <p:nvPr/>
        </p:nvSpPr>
        <p:spPr>
          <a:xfrm>
            <a:off x="4992982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2" name="Google Shape;1782;p98"/>
          <p:cNvSpPr/>
          <p:nvPr/>
        </p:nvSpPr>
        <p:spPr>
          <a:xfrm>
            <a:off x="4992982" y="1445512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3" name="Google Shape;1783;p98"/>
          <p:cNvSpPr/>
          <p:nvPr/>
        </p:nvSpPr>
        <p:spPr>
          <a:xfrm>
            <a:off x="4992982" y="1651047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4" name="Google Shape;1784;p98"/>
          <p:cNvSpPr/>
          <p:nvPr/>
        </p:nvSpPr>
        <p:spPr>
          <a:xfrm>
            <a:off x="4992982" y="1239978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5" name="Google Shape;1785;p98"/>
          <p:cNvSpPr/>
          <p:nvPr/>
        </p:nvSpPr>
        <p:spPr>
          <a:xfrm>
            <a:off x="6339042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6" name="Google Shape;1786;p98"/>
          <p:cNvSpPr/>
          <p:nvPr/>
        </p:nvSpPr>
        <p:spPr>
          <a:xfrm>
            <a:off x="6339042" y="1445512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7" name="Google Shape;1787;p98"/>
          <p:cNvSpPr/>
          <p:nvPr/>
        </p:nvSpPr>
        <p:spPr>
          <a:xfrm>
            <a:off x="6339042" y="1651047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8" name="Google Shape;1788;p98"/>
          <p:cNvSpPr/>
          <p:nvPr/>
        </p:nvSpPr>
        <p:spPr>
          <a:xfrm>
            <a:off x="6339042" y="1239978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9" name="Google Shape;1789;p98"/>
          <p:cNvSpPr/>
          <p:nvPr/>
        </p:nvSpPr>
        <p:spPr>
          <a:xfrm>
            <a:off x="6135982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0" name="Google Shape;1790;p98"/>
          <p:cNvSpPr/>
          <p:nvPr/>
        </p:nvSpPr>
        <p:spPr>
          <a:xfrm>
            <a:off x="6135982" y="1445512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1" name="Google Shape;1791;p98"/>
          <p:cNvSpPr/>
          <p:nvPr/>
        </p:nvSpPr>
        <p:spPr>
          <a:xfrm>
            <a:off x="6135982" y="1651047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2" name="Google Shape;1792;p98"/>
          <p:cNvSpPr/>
          <p:nvPr/>
        </p:nvSpPr>
        <p:spPr>
          <a:xfrm>
            <a:off x="6135982" y="1239978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3" name="Google Shape;1793;p98"/>
          <p:cNvSpPr/>
          <p:nvPr/>
        </p:nvSpPr>
        <p:spPr>
          <a:xfrm>
            <a:off x="4078582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4" name="Google Shape;1794;p98"/>
          <p:cNvSpPr/>
          <p:nvPr/>
        </p:nvSpPr>
        <p:spPr>
          <a:xfrm>
            <a:off x="4078582" y="1445512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5" name="Google Shape;1795;p98"/>
          <p:cNvSpPr/>
          <p:nvPr/>
        </p:nvSpPr>
        <p:spPr>
          <a:xfrm>
            <a:off x="4078582" y="1651047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6" name="Google Shape;1796;p98"/>
          <p:cNvSpPr/>
          <p:nvPr/>
        </p:nvSpPr>
        <p:spPr>
          <a:xfrm>
            <a:off x="4078582" y="1239978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7" name="Google Shape;1797;p98"/>
          <p:cNvSpPr/>
          <p:nvPr/>
        </p:nvSpPr>
        <p:spPr>
          <a:xfrm>
            <a:off x="6533044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8" name="Google Shape;1798;p98"/>
          <p:cNvSpPr/>
          <p:nvPr/>
        </p:nvSpPr>
        <p:spPr>
          <a:xfrm>
            <a:off x="6533044" y="1445512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9" name="Google Shape;1799;p98"/>
          <p:cNvSpPr/>
          <p:nvPr/>
        </p:nvSpPr>
        <p:spPr>
          <a:xfrm>
            <a:off x="6533044" y="1651047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0" name="Google Shape;1800;p98"/>
          <p:cNvSpPr/>
          <p:nvPr/>
        </p:nvSpPr>
        <p:spPr>
          <a:xfrm>
            <a:off x="6533044" y="1239978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1" name="Google Shape;1801;p98"/>
          <p:cNvSpPr/>
          <p:nvPr/>
        </p:nvSpPr>
        <p:spPr>
          <a:xfrm>
            <a:off x="7558242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2" name="Google Shape;1802;p98"/>
          <p:cNvSpPr/>
          <p:nvPr/>
        </p:nvSpPr>
        <p:spPr>
          <a:xfrm>
            <a:off x="7558242" y="1445512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3" name="Google Shape;1803;p98"/>
          <p:cNvSpPr/>
          <p:nvPr/>
        </p:nvSpPr>
        <p:spPr>
          <a:xfrm>
            <a:off x="7558242" y="1651047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4" name="Google Shape;1804;p98"/>
          <p:cNvSpPr/>
          <p:nvPr/>
        </p:nvSpPr>
        <p:spPr>
          <a:xfrm>
            <a:off x="7558242" y="1239978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5" name="Google Shape;1805;p98"/>
          <p:cNvSpPr/>
          <p:nvPr/>
        </p:nvSpPr>
        <p:spPr>
          <a:xfrm>
            <a:off x="7355182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6" name="Google Shape;1806;p98"/>
          <p:cNvSpPr/>
          <p:nvPr/>
        </p:nvSpPr>
        <p:spPr>
          <a:xfrm>
            <a:off x="7355182" y="1445512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7" name="Google Shape;1807;p98"/>
          <p:cNvSpPr/>
          <p:nvPr/>
        </p:nvSpPr>
        <p:spPr>
          <a:xfrm>
            <a:off x="7355182" y="1651047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8" name="Google Shape;1808;p98"/>
          <p:cNvSpPr/>
          <p:nvPr/>
        </p:nvSpPr>
        <p:spPr>
          <a:xfrm>
            <a:off x="7355182" y="1239978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9" name="Google Shape;1809;p98"/>
          <p:cNvSpPr/>
          <p:nvPr/>
        </p:nvSpPr>
        <p:spPr>
          <a:xfrm>
            <a:off x="7752244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0" name="Google Shape;1810;p98"/>
          <p:cNvSpPr/>
          <p:nvPr/>
        </p:nvSpPr>
        <p:spPr>
          <a:xfrm>
            <a:off x="7752244" y="1445512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1" name="Google Shape;1811;p98"/>
          <p:cNvSpPr/>
          <p:nvPr/>
        </p:nvSpPr>
        <p:spPr>
          <a:xfrm>
            <a:off x="7752244" y="1651047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2" name="Google Shape;1812;p98"/>
          <p:cNvSpPr/>
          <p:nvPr/>
        </p:nvSpPr>
        <p:spPr>
          <a:xfrm>
            <a:off x="7752244" y="1239978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3" name="Google Shape;1813;p98"/>
          <p:cNvSpPr/>
          <p:nvPr/>
        </p:nvSpPr>
        <p:spPr>
          <a:xfrm>
            <a:off x="7950774" y="1856582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4" name="Google Shape;1814;p98"/>
          <p:cNvSpPr/>
          <p:nvPr/>
        </p:nvSpPr>
        <p:spPr>
          <a:xfrm>
            <a:off x="7950774" y="1445512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5" name="Google Shape;1815;p98"/>
          <p:cNvSpPr/>
          <p:nvPr/>
        </p:nvSpPr>
        <p:spPr>
          <a:xfrm>
            <a:off x="7950774" y="1651047"/>
            <a:ext cx="203100" cy="2031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6" name="Google Shape;1816;p98"/>
          <p:cNvSpPr/>
          <p:nvPr/>
        </p:nvSpPr>
        <p:spPr>
          <a:xfrm>
            <a:off x="7950774" y="1239978"/>
            <a:ext cx="203100" cy="203100"/>
          </a:xfrm>
          <a:prstGeom prst="rect">
            <a:avLst/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7" name="Google Shape;1817;p98"/>
          <p:cNvSpPr txBox="1"/>
          <p:nvPr/>
        </p:nvSpPr>
        <p:spPr>
          <a:xfrm>
            <a:off x="8262370" y="1827753"/>
            <a:ext cx="3735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8" name="Google Shape;1818;p98"/>
          <p:cNvSpPr txBox="1"/>
          <p:nvPr/>
        </p:nvSpPr>
        <p:spPr>
          <a:xfrm>
            <a:off x="6867871" y="1827753"/>
            <a:ext cx="3735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9" name="Google Shape;1819;p98"/>
          <p:cNvSpPr txBox="1"/>
          <p:nvPr/>
        </p:nvSpPr>
        <p:spPr>
          <a:xfrm>
            <a:off x="5574826" y="1827753"/>
            <a:ext cx="3735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0" name="Google Shape;1820;p98"/>
          <p:cNvSpPr txBox="1"/>
          <p:nvPr/>
        </p:nvSpPr>
        <p:spPr>
          <a:xfrm>
            <a:off x="4431826" y="1827753"/>
            <a:ext cx="373500" cy="2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21" name="Google Shape;1821;p98"/>
          <p:cNvGraphicFramePr>
            <a:graphicFrameLocks noGrp="1"/>
          </p:cNvGraphicFramePr>
          <p:nvPr/>
        </p:nvGraphicFramePr>
        <p:xfrm>
          <a:off x="336216" y="24240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{36393E4A-1B3B-4A6D-B05D-6F587DC3BFE1}</a:tableStyleId>
              </a:tblPr>
              <a:tblGrid>
                <a:gridCol w="2754125"/>
                <a:gridCol w="570425"/>
                <a:gridCol w="570425"/>
                <a:gridCol w="570425"/>
                <a:gridCol w="570425"/>
                <a:gridCol w="570425"/>
                <a:gridCol w="570425"/>
                <a:gridCol w="570425"/>
                <a:gridCol w="570425"/>
                <a:gridCol w="1174850"/>
              </a:tblGrid>
              <a:tr h="457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Pattern number (</a:t>
                      </a: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100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2200"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7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Shaded squares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100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200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× 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7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squares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100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400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× 4</a:t>
                      </a:r>
                      <a:endParaRPr sz="2000"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7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18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58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108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208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2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× 2 + 8</a:t>
                      </a:r>
                      <a:endParaRPr sz="2000"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22" name="Google Shape;1822;p98"/>
          <p:cNvSpPr/>
          <p:nvPr/>
        </p:nvSpPr>
        <p:spPr>
          <a:xfrm>
            <a:off x="7688725" y="2917750"/>
            <a:ext cx="1080300" cy="379800"/>
          </a:xfrm>
          <a:prstGeom prst="rect">
            <a:avLst/>
          </a:prstGeom>
          <a:solidFill>
            <a:srgbClr val="EAF2F2"/>
          </a:solidFill>
          <a:ln w="9525" cap="flat" cmpd="sng">
            <a:solidFill>
              <a:srgbClr val="EA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3" name="Google Shape;1823;p98"/>
          <p:cNvSpPr/>
          <p:nvPr/>
        </p:nvSpPr>
        <p:spPr>
          <a:xfrm>
            <a:off x="7688725" y="3374950"/>
            <a:ext cx="1080300" cy="379800"/>
          </a:xfrm>
          <a:prstGeom prst="rect">
            <a:avLst/>
          </a:prstGeom>
          <a:solidFill>
            <a:srgbClr val="EAF2F2"/>
          </a:solidFill>
          <a:ln w="9525" cap="flat" cmpd="sng">
            <a:solidFill>
              <a:srgbClr val="EA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4" name="Google Shape;1824;p98"/>
          <p:cNvSpPr/>
          <p:nvPr/>
        </p:nvSpPr>
        <p:spPr>
          <a:xfrm>
            <a:off x="7688725" y="3832150"/>
            <a:ext cx="1080300" cy="379800"/>
          </a:xfrm>
          <a:prstGeom prst="rect">
            <a:avLst/>
          </a:prstGeom>
          <a:solidFill>
            <a:srgbClr val="EAF2F2"/>
          </a:solidFill>
          <a:ln w="9525" cap="flat" cmpd="sng">
            <a:solidFill>
              <a:srgbClr val="EA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28" name="Shape 1828"/>
        <p:cNvGrpSpPr/>
        <p:nvPr/>
      </p:nvGrpSpPr>
      <p:grpSpPr>
        <a:xfrm>
          <a:off x="0" y="0"/>
          <a:ext cx="0" cy="0"/>
        </a:xfrm>
      </p:grpSpPr>
      <p:sp>
        <p:nvSpPr>
          <p:cNvPr id="1829" name="Google Shape;1829;p99"/>
          <p:cNvSpPr txBox="1"/>
          <p:nvPr>
            <p:ph type="body" idx="1"/>
          </p:nvPr>
        </p:nvSpPr>
        <p:spPr>
          <a:xfrm>
            <a:off x="324000" y="1232400"/>
            <a:ext cx="8496000" cy="137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 can appreciate that any term in an arithmetic sequence can be expressed in terms of its position in the sequence.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 represents the term number.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10 </a:t>
            </a:r>
            <a:r>
              <a:rPr lang="en-GB"/>
              <a:t>means the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10</a:t>
            </a:r>
            <a:r>
              <a:rPr lang="en-GB" sz="2400" baseline="30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number in the sequence.</a:t>
            </a:r>
            <a:endParaRPr/>
          </a:p>
        </p:txBody>
      </p:sp>
      <p:sp>
        <p:nvSpPr>
          <p:cNvPr id="1830" name="Google Shape;1830;p9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Expressing an arithmetic sequence</a:t>
            </a:r>
            <a:endParaRPr/>
          </a:p>
        </p:txBody>
      </p:sp>
    </p:spTree>
  </p:cSld>
  <p:clrMapOvr>
    <a:masterClrMapping/>
  </p:clrMapOvr>
  <p:transition/>
  <p:timing/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34" name="Shape 1834"/>
        <p:cNvGrpSpPr/>
        <p:nvPr/>
      </p:nvGrpSpPr>
      <p:grpSpPr>
        <a:xfrm>
          <a:off x="0" y="0"/>
          <a:ext cx="0" cy="0"/>
        </a:xfrm>
      </p:grpSpPr>
      <p:sp>
        <p:nvSpPr>
          <p:cNvPr id="1835" name="Google Shape;1835;p100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836" name="Google Shape;1836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289</Paragraphs>
  <Slides>37</Slides>
  <Notes>37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baseType="lpstr" size="46">
      <vt:lpstr>Arial</vt:lpstr>
      <vt:lpstr>Lexend</vt:lpstr>
      <vt:lpstr>Lexend Medium</vt:lpstr>
      <vt:lpstr>Kalam</vt:lpstr>
      <vt:lpstr>Lexend Light</vt:lpstr>
      <vt:lpstr>Calibri</vt:lpstr>
      <vt:lpstr>ABeeZee</vt:lpstr>
      <vt:lpstr>Times New Roman</vt:lpstr>
      <vt:lpstr>simple-light-2</vt:lpstr>
      <vt:lpstr>Expressing an arithmetic sequence</vt:lpstr>
      <vt:lpstr>PowerPoint Presentation</vt:lpstr>
      <vt:lpstr>PowerPoint Presentation</vt:lpstr>
      <vt:lpstr>PowerPoint Presentation</vt:lpstr>
      <vt:lpstr>The position of a term in a sequence</vt:lpstr>
      <vt:lpstr>The position of a term in a sequence</vt:lpstr>
      <vt:lpstr>The position of a term in a sequence</vt:lpstr>
      <vt:lpstr>The position of a term in a sequence</vt:lpstr>
      <vt:lpstr>The position of a term in a sequence</vt:lpstr>
      <vt:lpstr>The position of a term in a sequence</vt:lpstr>
      <vt:lpstr>The position of a term in a sequence</vt:lpstr>
      <vt:lpstr>In sequences we use the letter n to represent what?</vt:lpstr>
      <vt:lpstr>In sequences, n = 5 means what?</vt:lpstr>
      <vt:lpstr>When discussing the 100th term number which would we use?</vt:lpstr>
      <vt:lpstr>The position of a term in a sequence</vt:lpstr>
      <vt:lpstr>The position of a term in a sequence</vt:lpstr>
      <vt:lpstr>The position of a term in a sequence</vt:lpstr>
      <vt:lpstr>The position of a term in a sequence</vt:lpstr>
      <vt:lpstr>The position of a term in a sequence</vt:lpstr>
      <vt:lpstr>The position of a term in a sequence</vt:lpstr>
      <vt:lpstr>PowerPoint Presentation</vt:lpstr>
      <vt:lpstr>PowerPoint Presentation</vt:lpstr>
      <vt:lpstr>PowerPoint Presentation</vt:lpstr>
      <vt:lpstr>PowerPoint Presentation</vt:lpstr>
      <vt:lpstr>The position of a term in a sequence</vt:lpstr>
      <vt:lpstr>The general term of a sequence</vt:lpstr>
      <vt:lpstr>What would a general rule for this sequence be?</vt:lpstr>
      <vt:lpstr>The general term of a sequence</vt:lpstr>
      <vt:lpstr>The general term of a sequence</vt:lpstr>
      <vt:lpstr>The general term of a sequence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Expressing an arithmetic sequence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2023-12-08T09:37:08.805</cp:lastPrinted>
  <dcterms:created xsi:type="dcterms:W3CDTF">2023-12-08T09:37:08Z</dcterms:created>
  <dcterms:modified xsi:type="dcterms:W3CDTF">2023-12-08T09:34:35Z</dcterms:modified>
</cp:coreProperties>
</file>