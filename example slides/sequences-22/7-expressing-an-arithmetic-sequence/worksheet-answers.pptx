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E7129544-ADF3-4E37-8E24-E9C166DEE274}">
  <a:tblStyle styleId="{E7129544-ADF3-4E37-8E24-E9C166DEE2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6" name="Shape 216"/>
        <p:cNvGrpSpPr/>
        <p:nvPr/>
      </p:nvGrpSpPr>
      <p:grpSpPr>
        <a:xfrm>
          <a:off x="0" y="0"/>
          <a:ext cx="0" cy="0"/>
        </a:xfrm>
      </p:grpSpPr>
      <p:sp>
        <p:nvSpPr>
          <p:cNvPr id="217" name="Google Shape;21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Expressing an arithmetic sequence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804875"/>
            <a:ext cx="662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term number 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to the term values (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). One has been done for you.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676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The position of a term in a sequence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>
            <a:graphicFrameLocks noGrp="1"/>
          </p:cNvGraphicFramePr>
          <p:nvPr/>
        </p:nvGraphicFramePr>
        <p:xfrm>
          <a:off x="467989" y="2524459"/>
          <a:ext cx="3030950" cy="634575"/>
        </p:xfrm>
        <a:graphic>
          <a:graphicData uri="http://schemas.openxmlformats.org/drawingml/2006/table">
            <a:tbl>
              <a:tblPr>
                <a:noFill/>
                <a:tableStyleId>{E7129544-ADF3-4E37-8E24-E9C166DEE274}</a:tableStyleId>
              </a:tblPr>
              <a:tblGrid>
                <a:gridCol w="1544825"/>
                <a:gridCol w="297225"/>
                <a:gridCol w="297225"/>
                <a:gridCol w="297225"/>
                <a:gridCol w="297225"/>
                <a:gridCol w="297225"/>
              </a:tblGrid>
              <a:tr h="323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1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20"/>
          <p:cNvSpPr txBox="1"/>
          <p:nvPr/>
        </p:nvSpPr>
        <p:spPr>
          <a:xfrm>
            <a:off x="544315" y="3899465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1200"/>
          </a:p>
        </p:txBody>
      </p:sp>
      <p:sp>
        <p:nvSpPr>
          <p:cNvPr id="177" name="Google Shape;177;p20"/>
          <p:cNvSpPr txBox="1"/>
          <p:nvPr/>
        </p:nvSpPr>
        <p:spPr>
          <a:xfrm>
            <a:off x="544315" y="4966265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1200"/>
          </a:p>
        </p:txBody>
      </p:sp>
      <p:sp>
        <p:nvSpPr>
          <p:cNvPr id="178" name="Google Shape;178;p20"/>
          <p:cNvSpPr txBox="1"/>
          <p:nvPr/>
        </p:nvSpPr>
        <p:spPr>
          <a:xfrm>
            <a:off x="544315" y="3366065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 sz="1200"/>
          </a:p>
        </p:txBody>
      </p:sp>
      <p:sp>
        <p:nvSpPr>
          <p:cNvPr id="179" name="Google Shape;179;p20"/>
          <p:cNvSpPr txBox="1"/>
          <p:nvPr/>
        </p:nvSpPr>
        <p:spPr>
          <a:xfrm>
            <a:off x="2601728" y="3366065"/>
            <a:ext cx="914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14</a:t>
            </a:r>
            <a:endParaRPr sz="1200"/>
          </a:p>
        </p:txBody>
      </p:sp>
      <p:sp>
        <p:nvSpPr>
          <p:cNvPr id="180" name="Google Shape;180;p20"/>
          <p:cNvSpPr txBox="1"/>
          <p:nvPr/>
        </p:nvSpPr>
        <p:spPr>
          <a:xfrm>
            <a:off x="2601715" y="3899465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 sz="1200"/>
          </a:p>
        </p:txBody>
      </p:sp>
      <p:sp>
        <p:nvSpPr>
          <p:cNvPr id="181" name="Google Shape;181;p20"/>
          <p:cNvSpPr txBox="1"/>
          <p:nvPr/>
        </p:nvSpPr>
        <p:spPr>
          <a:xfrm>
            <a:off x="2601715" y="4966265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endParaRPr sz="1200"/>
          </a:p>
        </p:txBody>
      </p:sp>
      <p:sp>
        <p:nvSpPr>
          <p:cNvPr id="182" name="Google Shape;182;p20"/>
          <p:cNvSpPr txBox="1"/>
          <p:nvPr/>
        </p:nvSpPr>
        <p:spPr>
          <a:xfrm>
            <a:off x="468000" y="2210240"/>
            <a:ext cx="381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3" name="Google Shape;183;p20"/>
          <p:cNvGraphicFramePr>
            <a:graphicFrameLocks noGrp="1"/>
          </p:cNvGraphicFramePr>
          <p:nvPr/>
        </p:nvGraphicFramePr>
        <p:xfrm>
          <a:off x="4064056" y="2524459"/>
          <a:ext cx="3030975" cy="635000"/>
        </p:xfrm>
        <a:graphic>
          <a:graphicData uri="http://schemas.openxmlformats.org/drawingml/2006/table">
            <a:tbl>
              <a:tblPr>
                <a:noFill/>
                <a:tableStyleId>{E7129544-ADF3-4E37-8E24-E9C166DEE274}</a:tableStyleId>
              </a:tblPr>
              <a:tblGrid>
                <a:gridCol w="1544850"/>
                <a:gridCol w="297225"/>
                <a:gridCol w="297225"/>
                <a:gridCol w="297225"/>
                <a:gridCol w="297225"/>
                <a:gridCol w="297225"/>
              </a:tblGrid>
              <a:tr h="323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p20"/>
          <p:cNvSpPr txBox="1"/>
          <p:nvPr/>
        </p:nvSpPr>
        <p:spPr>
          <a:xfrm>
            <a:off x="4125715" y="3717614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1200"/>
          </a:p>
        </p:txBody>
      </p:sp>
      <p:sp>
        <p:nvSpPr>
          <p:cNvPr id="185" name="Google Shape;185;p20"/>
          <p:cNvSpPr txBox="1"/>
          <p:nvPr/>
        </p:nvSpPr>
        <p:spPr>
          <a:xfrm>
            <a:off x="4125715" y="5000863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1200"/>
          </a:p>
        </p:txBody>
      </p:sp>
      <p:sp>
        <p:nvSpPr>
          <p:cNvPr id="186" name="Google Shape;186;p20"/>
          <p:cNvSpPr txBox="1"/>
          <p:nvPr/>
        </p:nvSpPr>
        <p:spPr>
          <a:xfrm>
            <a:off x="4125715" y="3289865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 sz="1200"/>
          </a:p>
        </p:txBody>
      </p:sp>
      <p:sp>
        <p:nvSpPr>
          <p:cNvPr id="187" name="Google Shape;187;p20"/>
          <p:cNvSpPr txBox="1"/>
          <p:nvPr/>
        </p:nvSpPr>
        <p:spPr>
          <a:xfrm>
            <a:off x="6183128" y="3289865"/>
            <a:ext cx="914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endParaRPr sz="1200"/>
          </a:p>
        </p:txBody>
      </p:sp>
      <p:sp>
        <p:nvSpPr>
          <p:cNvPr id="188" name="Google Shape;188;p20"/>
          <p:cNvSpPr txBox="1"/>
          <p:nvPr/>
        </p:nvSpPr>
        <p:spPr>
          <a:xfrm>
            <a:off x="6183115" y="4145364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 sz="1200"/>
          </a:p>
        </p:txBody>
      </p:sp>
      <p:sp>
        <p:nvSpPr>
          <p:cNvPr id="189" name="Google Shape;189;p20"/>
          <p:cNvSpPr txBox="1"/>
          <p:nvPr/>
        </p:nvSpPr>
        <p:spPr>
          <a:xfrm>
            <a:off x="6183115" y="5000863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endParaRPr sz="1200"/>
          </a:p>
        </p:txBody>
      </p:sp>
      <p:sp>
        <p:nvSpPr>
          <p:cNvPr id="190" name="Google Shape;190;p20"/>
          <p:cNvSpPr txBox="1"/>
          <p:nvPr/>
        </p:nvSpPr>
        <p:spPr>
          <a:xfrm>
            <a:off x="4048922" y="2210240"/>
            <a:ext cx="381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125715" y="4145364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sz="1200"/>
          </a:p>
        </p:txBody>
      </p:sp>
      <p:sp>
        <p:nvSpPr>
          <p:cNvPr id="192" name="Google Shape;192;p20"/>
          <p:cNvSpPr txBox="1"/>
          <p:nvPr/>
        </p:nvSpPr>
        <p:spPr>
          <a:xfrm>
            <a:off x="6183115" y="3717614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endParaRPr sz="1200"/>
          </a:p>
        </p:txBody>
      </p:sp>
      <p:sp>
        <p:nvSpPr>
          <p:cNvPr id="193" name="Google Shape;193;p20"/>
          <p:cNvSpPr txBox="1"/>
          <p:nvPr/>
        </p:nvSpPr>
        <p:spPr>
          <a:xfrm>
            <a:off x="544315" y="4432865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sz="1200"/>
          </a:p>
        </p:txBody>
      </p:sp>
      <p:sp>
        <p:nvSpPr>
          <p:cNvPr id="194" name="Google Shape;194;p20"/>
          <p:cNvSpPr txBox="1"/>
          <p:nvPr/>
        </p:nvSpPr>
        <p:spPr>
          <a:xfrm>
            <a:off x="2601715" y="4432865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8</a:t>
            </a:r>
            <a:endParaRPr sz="1200"/>
          </a:p>
        </p:txBody>
      </p:sp>
      <p:sp>
        <p:nvSpPr>
          <p:cNvPr id="195" name="Google Shape;195;p20"/>
          <p:cNvSpPr txBox="1"/>
          <p:nvPr/>
        </p:nvSpPr>
        <p:spPr>
          <a:xfrm>
            <a:off x="6183115" y="4573113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endParaRPr sz="1200"/>
          </a:p>
        </p:txBody>
      </p:sp>
      <p:sp>
        <p:nvSpPr>
          <p:cNvPr id="196" name="Google Shape;196;p20"/>
          <p:cNvSpPr txBox="1"/>
          <p:nvPr/>
        </p:nvSpPr>
        <p:spPr>
          <a:xfrm>
            <a:off x="4125715" y="4573113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1200"/>
          </a:p>
        </p:txBody>
      </p:sp>
      <p:cxnSp>
        <p:nvCxnSpPr>
          <p:cNvPr id="197" name="Google Shape;197;p20"/>
          <p:cNvCxnSpPr>
            <a:stCxn id="178" idx="3"/>
            <a:endCxn id="180" idx="1"/>
          </p:cNvCxnSpPr>
          <p:nvPr/>
        </p:nvCxnSpPr>
        <p:spPr>
          <a:xfrm>
            <a:off x="1230715" y="3458465"/>
            <a:ext cx="1371000" cy="533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0"/>
          <p:cNvCxnSpPr>
            <a:endCxn id="181" idx="1"/>
          </p:cNvCxnSpPr>
          <p:nvPr/>
        </p:nvCxnSpPr>
        <p:spPr>
          <a:xfrm>
            <a:off x="1230715" y="3991865"/>
            <a:ext cx="1371000" cy="1066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" name="Google Shape;199;p20"/>
          <p:cNvCxnSpPr>
            <a:endCxn id="194" idx="1"/>
          </p:cNvCxnSpPr>
          <p:nvPr/>
        </p:nvCxnSpPr>
        <p:spPr>
          <a:xfrm>
            <a:off x="1230715" y="4525265"/>
            <a:ext cx="1371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20"/>
          <p:cNvCxnSpPr>
            <a:endCxn id="179" idx="1"/>
          </p:cNvCxnSpPr>
          <p:nvPr/>
        </p:nvCxnSpPr>
        <p:spPr>
          <a:xfrm rot="10800000" flipH="1">
            <a:off x="1230728" y="3458465"/>
            <a:ext cx="1371000" cy="1600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" name="Google Shape;201;p20"/>
          <p:cNvCxnSpPr>
            <a:stCxn id="186" idx="3"/>
            <a:endCxn id="189" idx="1"/>
          </p:cNvCxnSpPr>
          <p:nvPr/>
        </p:nvCxnSpPr>
        <p:spPr>
          <a:xfrm>
            <a:off x="4812115" y="3382265"/>
            <a:ext cx="1371000" cy="1710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20"/>
          <p:cNvCxnSpPr>
            <a:stCxn id="184" idx="3"/>
            <a:endCxn id="192" idx="1"/>
          </p:cNvCxnSpPr>
          <p:nvPr/>
        </p:nvCxnSpPr>
        <p:spPr>
          <a:xfrm>
            <a:off x="4812115" y="3810014"/>
            <a:ext cx="1371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20"/>
          <p:cNvCxnSpPr>
            <a:stCxn id="191" idx="3"/>
            <a:endCxn id="195" idx="1"/>
          </p:cNvCxnSpPr>
          <p:nvPr/>
        </p:nvCxnSpPr>
        <p:spPr>
          <a:xfrm>
            <a:off x="4812115" y="4237764"/>
            <a:ext cx="1371000" cy="427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20"/>
          <p:cNvCxnSpPr>
            <a:stCxn id="196" idx="3"/>
            <a:endCxn id="188" idx="1"/>
          </p:cNvCxnSpPr>
          <p:nvPr/>
        </p:nvCxnSpPr>
        <p:spPr>
          <a:xfrm rot="10800000" flipH="1">
            <a:off x="4812115" y="4237713"/>
            <a:ext cx="1371000" cy="427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20"/>
          <p:cNvCxnSpPr>
            <a:stCxn id="185" idx="3"/>
            <a:endCxn id="187" idx="1"/>
          </p:cNvCxnSpPr>
          <p:nvPr/>
        </p:nvCxnSpPr>
        <p:spPr>
          <a:xfrm rot="10800000" flipH="1">
            <a:off x="4812115" y="3382363"/>
            <a:ext cx="1371000" cy="1710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6" name="Google Shape;206;p20"/>
          <p:cNvSpPr txBox="1"/>
          <p:nvPr/>
        </p:nvSpPr>
        <p:spPr>
          <a:xfrm>
            <a:off x="468000" y="55295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Andeep and Jacob are looking at an arithmetic sequence.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7" name="Google Shape;207;p20"/>
          <p:cNvGraphicFramePr>
            <a:graphicFrameLocks noGrp="1"/>
          </p:cNvGraphicFramePr>
          <p:nvPr/>
        </p:nvGraphicFramePr>
        <p:xfrm>
          <a:off x="2202677" y="5989389"/>
          <a:ext cx="3154625" cy="635000"/>
        </p:xfrm>
        <a:graphic>
          <a:graphicData uri="http://schemas.openxmlformats.org/drawingml/2006/table">
            <a:tbl>
              <a:tblPr>
                <a:noFill/>
                <a:tableStyleId>{E7129544-ADF3-4E37-8E24-E9C166DEE274}</a:tableStyleId>
              </a:tblPr>
              <a:tblGrid>
                <a:gridCol w="1607875"/>
                <a:gridCol w="309350"/>
                <a:gridCol w="309350"/>
                <a:gridCol w="309350"/>
                <a:gridCol w="309350"/>
                <a:gridCol w="309350"/>
              </a:tblGrid>
              <a:tr h="336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81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08" name="Google Shape;2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155293" y="7311924"/>
            <a:ext cx="549382" cy="169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000" y="7326774"/>
            <a:ext cx="435808" cy="169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flipH="1">
            <a:off x="1246523" y="6747075"/>
            <a:ext cx="2208952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1541779" y="6787475"/>
            <a:ext cx="19137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see the pattern!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term 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2" name="Google Shape;212;p20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>
            <a:off x="4149125" y="6747075"/>
            <a:ext cx="2006175" cy="72205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4250378" y="6798995"/>
            <a:ext cx="27627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agree! Next would be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term will be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1494195" y="8236750"/>
            <a:ext cx="44517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explaining why Andeep and Jacob are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might have written: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is no zero term, or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−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term in this sequence.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first term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, where </a:t>
            </a:r>
            <a:r>
              <a:rPr lang="en-GB" sz="1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, is the first number in this sequence. There is nothing before it.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" name="Google Shape;215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9" name="Shape 219"/>
        <p:cNvGrpSpPr/>
        <p:nvPr/>
      </p:nvGrpSpPr>
      <p:grpSpPr>
        <a:xfrm>
          <a:off x="0" y="0"/>
          <a:ext cx="0" cy="0"/>
        </a:xfrm>
      </p:grpSpPr>
      <p:sp>
        <p:nvSpPr>
          <p:cNvPr id="220" name="Google Shape;22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1" name="Google Shape;221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Expressing an arithmetic sequence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468000" y="1057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Sam spots a general rule for this sequence.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The general term of a sequence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" name="Google Shape;2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226" y="1394401"/>
            <a:ext cx="622163" cy="89592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468000" y="3315225"/>
            <a:ext cx="66240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Whilst their general rule works, how would you improve upon it?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8" name="Google Shape;228;p21"/>
          <p:cNvGraphicFramePr>
            <a:graphicFrameLocks noGrp="1"/>
          </p:cNvGraphicFramePr>
          <p:nvPr/>
        </p:nvGraphicFramePr>
        <p:xfrm>
          <a:off x="467991" y="24202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{E7129544-ADF3-4E37-8E24-E9C166DEE274}</a:tableStyleId>
              </a:tblPr>
              <a:tblGrid>
                <a:gridCol w="2301675"/>
                <a:gridCol w="476725"/>
                <a:gridCol w="476725"/>
                <a:gridCol w="476725"/>
                <a:gridCol w="2892200"/>
              </a:tblGrid>
              <a:tr h="382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number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number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2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number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× 3 + 1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9" name="Google Shape;229;p21"/>
          <p:cNvSpPr txBox="1"/>
          <p:nvPr/>
        </p:nvSpPr>
        <p:spPr>
          <a:xfrm>
            <a:off x="6775052" y="1947136"/>
            <a:ext cx="3291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5106405" y="1947136"/>
            <a:ext cx="3291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3832503" y="1947136"/>
            <a:ext cx="3291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3295391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3474353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3112274" y="1973572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3295391" y="1791402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4235585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4414546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4593508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4418703" y="1610260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4418703" y="1791402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4774650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4055390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5713033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5891994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070955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5896150" y="1610260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5896150" y="1791402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6252097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5532838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5896150" y="1427143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5349720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6435215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468025" y="3635050"/>
            <a:ext cx="66240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said, use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to represent the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term thus writing the rule more concisely.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54" name="Google Shape;254;p21"/>
          <p:cNvGraphicFramePr>
            <a:graphicFrameLocks noGrp="1"/>
          </p:cNvGraphicFramePr>
          <p:nvPr/>
        </p:nvGraphicFramePr>
        <p:xfrm>
          <a:off x="468016" y="39234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{E7129544-ADF3-4E37-8E24-E9C166DEE274}</a:tableStyleId>
              </a:tblPr>
              <a:tblGrid>
                <a:gridCol w="2301675"/>
                <a:gridCol w="476725"/>
                <a:gridCol w="476725"/>
                <a:gridCol w="476725"/>
                <a:gridCol w="2892225"/>
              </a:tblGrid>
              <a:tr h="382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number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2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× 3 + 1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5" name="Google Shape;255;p21"/>
          <p:cNvSpPr txBox="1"/>
          <p:nvPr/>
        </p:nvSpPr>
        <p:spPr>
          <a:xfrm>
            <a:off x="468000" y="5245675"/>
            <a:ext cx="6624000" cy="3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table for this sequence and write a general rule each row.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2772896" y="6060034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2772896" y="570349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2772896" y="588176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2772896" y="5525225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2596774" y="6060034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2596774" y="570349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2596774" y="588176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2596774" y="5525225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3764269" y="6060034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3764269" y="570349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3764269" y="588176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3764269" y="5525225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3588147" y="6060034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3588147" y="570349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3588147" y="588176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3588147" y="5525225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1803675" y="6060034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1803675" y="570349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1803675" y="588176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1803675" y="5525225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3932536" y="6060034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3932536" y="570349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3932536" y="588176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3932536" y="5525225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4821734" y="6060034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4821734" y="570349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4821734" y="588176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4821734" y="5525225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4645611" y="6060034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4645611" y="570349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4645611" y="588176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4645611" y="5525225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4990001" y="6060034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4990001" y="570349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4990001" y="588176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4990001" y="5525225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5162194" y="6060034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5162194" y="570349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5162194" y="588176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5162194" y="5525225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5432455" y="6035029"/>
            <a:ext cx="32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4222945" y="6035029"/>
            <a:ext cx="32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3101432" y="6035029"/>
            <a:ext cx="32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2110059" y="6035029"/>
            <a:ext cx="32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00" name="Google Shape;300;p21"/>
          <p:cNvGraphicFramePr>
            <a:graphicFrameLocks noGrp="1"/>
          </p:cNvGraphicFramePr>
          <p:nvPr/>
        </p:nvGraphicFramePr>
        <p:xfrm>
          <a:off x="467979" y="65381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{E7129544-ADF3-4E37-8E24-E9C166DEE274}</a:tableStyleId>
              </a:tblPr>
              <a:tblGrid>
                <a:gridCol w="2148200"/>
                <a:gridCol w="444925"/>
                <a:gridCol w="444925"/>
                <a:gridCol w="444925"/>
                <a:gridCol w="444925"/>
                <a:gridCol w="444925"/>
                <a:gridCol w="444925"/>
                <a:gridCol w="444925"/>
                <a:gridCol w="444925"/>
                <a:gridCol w="916375"/>
              </a:tblGrid>
              <a:tr h="356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number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6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Shaded squares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× 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6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squares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× 4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6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× 2 + 8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50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Times New Roman</vt:lpstr>
      <vt:lpstr>simple-light-2</vt:lpstr>
      <vt:lpstr>Expressing an arithmetic sequence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2023-12-08T09:34:10.007</cp:lastPrinted>
  <dcterms:created xsi:type="dcterms:W3CDTF">2023-12-08T09:34:10Z</dcterms:created>
  <dcterms:modified xsi:type="dcterms:W3CDTF">2023-12-08T09:34:20Z</dcterms:modified>
</cp:coreProperties>
</file>