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1CBB32CF-CD8D-46E8-BA1D-2416DBB40793}">
  <a:tblStyle styleId="{1CBB32CF-CD8D-46E8-BA1D-2416DBB407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58" name="Shape 358"/>
        <p:cNvGrpSpPr/>
        <p:nvPr/>
      </p:nvGrpSpPr>
      <p:grpSpPr>
        <a:xfrm>
          <a:off x="0" y="0"/>
          <a:ext cx="0" cy="0"/>
        </a:xfrm>
      </p:grpSpPr>
      <p:sp>
        <p:nvSpPr>
          <p:cNvPr id="359" name="Google Shape;359;g1eb3fdda2ba_0_267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1eb3fdda2ba_0_2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491" name="Shape 491"/>
        <p:cNvGrpSpPr/>
        <p:nvPr/>
      </p:nvGrpSpPr>
      <p:grpSpPr>
        <a:xfrm>
          <a:off x="0" y="0"/>
          <a:ext cx="0" cy="0"/>
        </a:xfrm>
      </p:grpSpPr>
      <p:sp>
        <p:nvSpPr>
          <p:cNvPr id="492" name="Google Shape;492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Formalising a sequence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815925"/>
            <a:ext cx="66240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Andeep is making different patterns that go up in fours.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 is making different patterns that go up in threes.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They show one image from each of their patterns. Which are Andeep’s, which are Alex’s and which could be either?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787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Pictorial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483781" y="3041999"/>
            <a:ext cx="204000" cy="200700"/>
          </a:xfrm>
          <a:prstGeom prst="rect">
            <a:avLst/>
          </a:prstGeom>
          <a:solidFill>
            <a:srgbClr val="845A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687849" y="3041999"/>
            <a:ext cx="204000" cy="200700"/>
          </a:xfrm>
          <a:prstGeom prst="rect">
            <a:avLst/>
          </a:prstGeom>
          <a:solidFill>
            <a:srgbClr val="845A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483781" y="3242793"/>
            <a:ext cx="204000" cy="200700"/>
          </a:xfrm>
          <a:prstGeom prst="rect">
            <a:avLst/>
          </a:prstGeom>
          <a:solidFill>
            <a:srgbClr val="845A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5687849" y="3242793"/>
            <a:ext cx="204000" cy="200700"/>
          </a:xfrm>
          <a:prstGeom prst="rect">
            <a:avLst/>
          </a:prstGeom>
          <a:solidFill>
            <a:srgbClr val="845A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483781" y="3468701"/>
            <a:ext cx="204000" cy="200700"/>
          </a:xfrm>
          <a:prstGeom prst="rect">
            <a:avLst/>
          </a:prstGeom>
          <a:solidFill>
            <a:srgbClr val="845A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687849" y="3468701"/>
            <a:ext cx="204000" cy="200700"/>
          </a:xfrm>
          <a:prstGeom prst="rect">
            <a:avLst/>
          </a:prstGeom>
          <a:solidFill>
            <a:srgbClr val="845A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5482564" y="3669495"/>
            <a:ext cx="204000" cy="200700"/>
          </a:xfrm>
          <a:prstGeom prst="rect">
            <a:avLst/>
          </a:prstGeom>
          <a:solidFill>
            <a:srgbClr val="845A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5686632" y="3669495"/>
            <a:ext cx="204000" cy="200700"/>
          </a:xfrm>
          <a:prstGeom prst="rect">
            <a:avLst/>
          </a:prstGeom>
          <a:solidFill>
            <a:srgbClr val="845A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483781" y="3889124"/>
            <a:ext cx="204000" cy="200700"/>
          </a:xfrm>
          <a:prstGeom prst="rect">
            <a:avLst/>
          </a:prstGeom>
          <a:solidFill>
            <a:srgbClr val="845A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687849" y="3889124"/>
            <a:ext cx="204000" cy="200700"/>
          </a:xfrm>
          <a:prstGeom prst="rect">
            <a:avLst/>
          </a:prstGeom>
          <a:solidFill>
            <a:srgbClr val="845A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483781" y="4095324"/>
            <a:ext cx="204000" cy="200700"/>
          </a:xfrm>
          <a:prstGeom prst="rect">
            <a:avLst/>
          </a:prstGeom>
          <a:solidFill>
            <a:srgbClr val="845A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687849" y="4095324"/>
            <a:ext cx="204000" cy="200700"/>
          </a:xfrm>
          <a:prstGeom prst="rect">
            <a:avLst/>
          </a:prstGeom>
          <a:solidFill>
            <a:srgbClr val="845A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540282" y="3098519"/>
            <a:ext cx="86100" cy="861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747889" y="3098519"/>
            <a:ext cx="86100" cy="861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540282" y="3299847"/>
            <a:ext cx="86100" cy="861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747889" y="3299847"/>
            <a:ext cx="86100" cy="861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540282" y="3520011"/>
            <a:ext cx="86100" cy="861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747889" y="3520011"/>
            <a:ext cx="86100" cy="861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540282" y="3731943"/>
            <a:ext cx="86100" cy="861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5747889" y="3731943"/>
            <a:ext cx="86100" cy="861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540282" y="3945828"/>
            <a:ext cx="86100" cy="861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747889" y="3945828"/>
            <a:ext cx="86100" cy="861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540282" y="4153434"/>
            <a:ext cx="86100" cy="861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5747889" y="4153434"/>
            <a:ext cx="86100" cy="861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6164048" y="4387106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6373113" y="4387106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6582178" y="4387106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6164048" y="4575877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6373113" y="4575877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6582178" y="4575877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6164048" y="4762695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6373113" y="4762695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6582178" y="4762695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6164048" y="4957745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6373113" y="4957745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6582178" y="4957745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1" name="Google Shape;211;p20"/>
          <p:cNvGrpSpPr/>
          <p:nvPr/>
        </p:nvGrpSpPr>
        <p:grpSpPr>
          <a:xfrm>
            <a:off x="3151260" y="3909973"/>
            <a:ext cx="1249059" cy="618859"/>
            <a:chOff x="3685300" y="3256942"/>
            <a:chExt cx="1564648" cy="775221"/>
          </a:xfrm>
        </p:grpSpPr>
        <p:cxnSp>
          <p:nvCxnSpPr>
            <p:cNvPr id="212" name="Google Shape;212;p20"/>
            <p:cNvCxnSpPr/>
            <p:nvPr/>
          </p:nvCxnSpPr>
          <p:spPr>
            <a:xfrm flipH="1">
              <a:off x="3685300" y="3269263"/>
              <a:ext cx="7800" cy="762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3" name="Google Shape;213;p20"/>
            <p:cNvCxnSpPr/>
            <p:nvPr/>
          </p:nvCxnSpPr>
          <p:spPr>
            <a:xfrm flipH="1">
              <a:off x="4203475" y="3269263"/>
              <a:ext cx="7800" cy="762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" name="Google Shape;214;p20"/>
            <p:cNvCxnSpPr/>
            <p:nvPr/>
          </p:nvCxnSpPr>
          <p:spPr>
            <a:xfrm flipH="1">
              <a:off x="4721650" y="3269263"/>
              <a:ext cx="7800" cy="762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" name="Google Shape;215;p20"/>
            <p:cNvCxnSpPr/>
            <p:nvPr/>
          </p:nvCxnSpPr>
          <p:spPr>
            <a:xfrm flipH="1">
              <a:off x="5231960" y="3256942"/>
              <a:ext cx="7800" cy="762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" name="Google Shape;216;p20"/>
            <p:cNvCxnSpPr/>
            <p:nvPr/>
          </p:nvCxnSpPr>
          <p:spPr>
            <a:xfrm rot="10800000">
              <a:off x="3693225" y="3505038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7" name="Google Shape;217;p20"/>
            <p:cNvCxnSpPr/>
            <p:nvPr/>
          </p:nvCxnSpPr>
          <p:spPr>
            <a:xfrm rot="10800000">
              <a:off x="3693225" y="3276438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8" name="Google Shape;218;p20"/>
            <p:cNvCxnSpPr/>
            <p:nvPr/>
          </p:nvCxnSpPr>
          <p:spPr>
            <a:xfrm rot="10800000">
              <a:off x="3685360" y="3749367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9" name="Google Shape;219;p20"/>
            <p:cNvCxnSpPr/>
            <p:nvPr/>
          </p:nvCxnSpPr>
          <p:spPr>
            <a:xfrm rot="10800000">
              <a:off x="4226625" y="3505038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0" name="Google Shape;220;p20"/>
            <p:cNvCxnSpPr/>
            <p:nvPr/>
          </p:nvCxnSpPr>
          <p:spPr>
            <a:xfrm rot="10800000">
              <a:off x="4226625" y="3276438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" name="Google Shape;221;p20"/>
            <p:cNvCxnSpPr/>
            <p:nvPr/>
          </p:nvCxnSpPr>
          <p:spPr>
            <a:xfrm rot="10800000">
              <a:off x="4218760" y="3749367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" name="Google Shape;222;p20"/>
            <p:cNvCxnSpPr/>
            <p:nvPr/>
          </p:nvCxnSpPr>
          <p:spPr>
            <a:xfrm rot="10800000">
              <a:off x="4723148" y="3505038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3" name="Google Shape;223;p20"/>
            <p:cNvCxnSpPr/>
            <p:nvPr/>
          </p:nvCxnSpPr>
          <p:spPr>
            <a:xfrm rot="10800000">
              <a:off x="4723148" y="3276438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4" name="Google Shape;224;p20"/>
            <p:cNvCxnSpPr/>
            <p:nvPr/>
          </p:nvCxnSpPr>
          <p:spPr>
            <a:xfrm rot="10800000">
              <a:off x="4715284" y="3749367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5" name="Google Shape;225;p20"/>
          <p:cNvGrpSpPr/>
          <p:nvPr/>
        </p:nvGrpSpPr>
        <p:grpSpPr>
          <a:xfrm>
            <a:off x="769516" y="4380663"/>
            <a:ext cx="606698" cy="406344"/>
            <a:chOff x="1291375" y="2815398"/>
            <a:chExt cx="759988" cy="509012"/>
          </a:xfrm>
        </p:grpSpPr>
        <p:sp>
          <p:nvSpPr>
            <p:cNvPr id="226" name="Google Shape;226;p20"/>
            <p:cNvSpPr/>
            <p:nvPr/>
          </p:nvSpPr>
          <p:spPr>
            <a:xfrm>
              <a:off x="1291375" y="2815398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1543569" y="2815398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" name="Google Shape;228;p20"/>
            <p:cNvSpPr/>
            <p:nvPr/>
          </p:nvSpPr>
          <p:spPr>
            <a:xfrm>
              <a:off x="1795763" y="2815398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1543569" y="3073010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0" name="Google Shape;230;p20"/>
          <p:cNvGrpSpPr/>
          <p:nvPr/>
        </p:nvGrpSpPr>
        <p:grpSpPr>
          <a:xfrm rot="10800000">
            <a:off x="1215620" y="4412096"/>
            <a:ext cx="606698" cy="406344"/>
            <a:chOff x="1291375" y="2815398"/>
            <a:chExt cx="759988" cy="509012"/>
          </a:xfrm>
        </p:grpSpPr>
        <p:sp>
          <p:nvSpPr>
            <p:cNvPr id="231" name="Google Shape;231;p20"/>
            <p:cNvSpPr/>
            <p:nvPr/>
          </p:nvSpPr>
          <p:spPr>
            <a:xfrm>
              <a:off x="1291375" y="2815398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" name="Google Shape;232;p20"/>
            <p:cNvSpPr/>
            <p:nvPr/>
          </p:nvSpPr>
          <p:spPr>
            <a:xfrm>
              <a:off x="1543569" y="2815398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0"/>
            <p:cNvSpPr/>
            <p:nvPr/>
          </p:nvSpPr>
          <p:spPr>
            <a:xfrm>
              <a:off x="1795763" y="2815398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0"/>
            <p:cNvSpPr/>
            <p:nvPr/>
          </p:nvSpPr>
          <p:spPr>
            <a:xfrm>
              <a:off x="1543569" y="3073010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5" name="Google Shape;235;p20"/>
          <p:cNvGrpSpPr/>
          <p:nvPr/>
        </p:nvGrpSpPr>
        <p:grpSpPr>
          <a:xfrm>
            <a:off x="1656871" y="4380663"/>
            <a:ext cx="606698" cy="406344"/>
            <a:chOff x="1291375" y="2815398"/>
            <a:chExt cx="759988" cy="509012"/>
          </a:xfrm>
        </p:grpSpPr>
        <p:sp>
          <p:nvSpPr>
            <p:cNvPr id="236" name="Google Shape;236;p20"/>
            <p:cNvSpPr/>
            <p:nvPr/>
          </p:nvSpPr>
          <p:spPr>
            <a:xfrm>
              <a:off x="1291375" y="2815398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1543569" y="2815398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8" name="Google Shape;238;p20"/>
            <p:cNvSpPr/>
            <p:nvPr/>
          </p:nvSpPr>
          <p:spPr>
            <a:xfrm>
              <a:off x="1795763" y="2815398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1543569" y="3073010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0" name="Google Shape;240;p20"/>
          <p:cNvGrpSpPr/>
          <p:nvPr/>
        </p:nvGrpSpPr>
        <p:grpSpPr>
          <a:xfrm>
            <a:off x="769532" y="3180494"/>
            <a:ext cx="1635328" cy="611996"/>
            <a:chOff x="701800" y="2343152"/>
            <a:chExt cx="2048513" cy="766624"/>
          </a:xfrm>
        </p:grpSpPr>
        <p:sp>
          <p:nvSpPr>
            <p:cNvPr id="241" name="Google Shape;241;p20"/>
            <p:cNvSpPr/>
            <p:nvPr/>
          </p:nvSpPr>
          <p:spPr>
            <a:xfrm>
              <a:off x="701800" y="2343152"/>
              <a:ext cx="5142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1216100" y="2343152"/>
              <a:ext cx="5142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1730400" y="2343152"/>
              <a:ext cx="5142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2236113" y="2343152"/>
              <a:ext cx="5142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701800" y="2600764"/>
              <a:ext cx="5142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1216100" y="2600764"/>
              <a:ext cx="5142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1730400" y="2600764"/>
              <a:ext cx="5142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2236113" y="2600764"/>
              <a:ext cx="5142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701800" y="2858375"/>
              <a:ext cx="5142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1216100" y="2858375"/>
              <a:ext cx="5142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1730400" y="2858375"/>
              <a:ext cx="5142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" name="Google Shape;252;p20"/>
            <p:cNvSpPr/>
            <p:nvPr/>
          </p:nvSpPr>
          <p:spPr>
            <a:xfrm>
              <a:off x="2236113" y="2858375"/>
              <a:ext cx="5142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3" name="Google Shape;253;p20"/>
          <p:cNvGrpSpPr/>
          <p:nvPr/>
        </p:nvGrpSpPr>
        <p:grpSpPr>
          <a:xfrm>
            <a:off x="3144734" y="3174988"/>
            <a:ext cx="1642183" cy="383475"/>
            <a:chOff x="3677125" y="2336254"/>
            <a:chExt cx="2057100" cy="480365"/>
          </a:xfrm>
        </p:grpSpPr>
        <p:sp>
          <p:nvSpPr>
            <p:cNvPr id="254" name="Google Shape;254;p20"/>
            <p:cNvSpPr/>
            <p:nvPr/>
          </p:nvSpPr>
          <p:spPr>
            <a:xfrm>
              <a:off x="3677125" y="2336254"/>
              <a:ext cx="514200" cy="479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" name="Google Shape;255;p20"/>
            <p:cNvSpPr/>
            <p:nvPr/>
          </p:nvSpPr>
          <p:spPr>
            <a:xfrm>
              <a:off x="4191425" y="2336254"/>
              <a:ext cx="514200" cy="479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" name="Google Shape;256;p20"/>
            <p:cNvSpPr/>
            <p:nvPr/>
          </p:nvSpPr>
          <p:spPr>
            <a:xfrm>
              <a:off x="4705725" y="2336254"/>
              <a:ext cx="514200" cy="479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3742884" y="2612046"/>
              <a:ext cx="108000" cy="1080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3880234" y="2515040"/>
              <a:ext cx="108000" cy="1080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" name="Google Shape;259;p20"/>
            <p:cNvSpPr/>
            <p:nvPr/>
          </p:nvSpPr>
          <p:spPr>
            <a:xfrm>
              <a:off x="4032634" y="2415246"/>
              <a:ext cx="108000" cy="1080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4276284" y="2612046"/>
              <a:ext cx="108000" cy="1080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4413634" y="2515040"/>
              <a:ext cx="108000" cy="1080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4566034" y="2415246"/>
              <a:ext cx="108000" cy="1080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4778225" y="2612046"/>
              <a:ext cx="108000" cy="1080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4" name="Google Shape;264;p20"/>
            <p:cNvSpPr/>
            <p:nvPr/>
          </p:nvSpPr>
          <p:spPr>
            <a:xfrm>
              <a:off x="4915575" y="2515040"/>
              <a:ext cx="108000" cy="1080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5067975" y="2415246"/>
              <a:ext cx="108000" cy="1080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5220025" y="2337218"/>
              <a:ext cx="514200" cy="479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5292525" y="2613010"/>
              <a:ext cx="108000" cy="1080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" name="Google Shape;268;p20"/>
            <p:cNvSpPr/>
            <p:nvPr/>
          </p:nvSpPr>
          <p:spPr>
            <a:xfrm>
              <a:off x="5429875" y="2516004"/>
              <a:ext cx="108000" cy="1080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" name="Google Shape;269;p20"/>
            <p:cNvSpPr/>
            <p:nvPr/>
          </p:nvSpPr>
          <p:spPr>
            <a:xfrm>
              <a:off x="5582275" y="2416210"/>
              <a:ext cx="108000" cy="1080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0" name="Google Shape;270;p20"/>
          <p:cNvSpPr txBox="1"/>
          <p:nvPr/>
        </p:nvSpPr>
        <p:spPr>
          <a:xfrm>
            <a:off x="467938" y="3180509"/>
            <a:ext cx="2664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467938" y="4357492"/>
            <a:ext cx="2664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2812675" y="3156799"/>
            <a:ext cx="2664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2811677" y="3910001"/>
            <a:ext cx="2664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5157412" y="3042003"/>
            <a:ext cx="2664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5861083" y="4463308"/>
            <a:ext cx="2664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769539" y="3910381"/>
            <a:ext cx="17448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Either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7" name="Google Shape;277;p20"/>
          <p:cNvSpPr txBox="1"/>
          <p:nvPr/>
        </p:nvSpPr>
        <p:spPr>
          <a:xfrm>
            <a:off x="769539" y="4868269"/>
            <a:ext cx="17448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Andeep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3173411" y="3590659"/>
            <a:ext cx="17448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Alex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2498979" y="4598222"/>
            <a:ext cx="29883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Either depending on whether we refer to total lines or just horizontal lines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5953248" y="3098483"/>
            <a:ext cx="8472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Andeep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6244850" y="4119088"/>
            <a:ext cx="8472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Either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467950" y="5529903"/>
            <a:ext cx="58845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 has drawn a ‘dog’ by shading in squares. Their classmates each continue the pattern in different ways.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467950" y="6051994"/>
            <a:ext cx="3312000" cy="26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Aisha continues it this way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Describe how the pattern is developing in words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squares would be needed for the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dog?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3779950" y="6038455"/>
            <a:ext cx="3312000" cy="27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Lucas continues it this way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Describe how the pattern is developing in words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squares would be needed for the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dog?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85" name="Google Shape;285;p20"/>
          <p:cNvGrpSpPr/>
          <p:nvPr/>
        </p:nvGrpSpPr>
        <p:grpSpPr>
          <a:xfrm>
            <a:off x="6479451" y="5520399"/>
            <a:ext cx="531768" cy="393014"/>
            <a:chOff x="7247798" y="1063260"/>
            <a:chExt cx="1015600" cy="754200"/>
          </a:xfrm>
        </p:grpSpPr>
        <p:sp>
          <p:nvSpPr>
            <p:cNvPr id="286" name="Google Shape;286;p20"/>
            <p:cNvSpPr/>
            <p:nvPr/>
          </p:nvSpPr>
          <p:spPr>
            <a:xfrm>
              <a:off x="7247804" y="1314648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7499998" y="1314648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7752192" y="1314648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7247798" y="1566060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0" name="Google Shape;290;p20"/>
            <p:cNvSpPr/>
            <p:nvPr/>
          </p:nvSpPr>
          <p:spPr>
            <a:xfrm>
              <a:off x="7752198" y="1566060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1" name="Google Shape;291;p20"/>
            <p:cNvSpPr/>
            <p:nvPr/>
          </p:nvSpPr>
          <p:spPr>
            <a:xfrm>
              <a:off x="7752198" y="1063260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2" name="Google Shape;292;p20"/>
            <p:cNvSpPr/>
            <p:nvPr/>
          </p:nvSpPr>
          <p:spPr>
            <a:xfrm>
              <a:off x="8007798" y="1063260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3" name="Google Shape;293;p20"/>
          <p:cNvGrpSpPr/>
          <p:nvPr/>
        </p:nvGrpSpPr>
        <p:grpSpPr>
          <a:xfrm>
            <a:off x="711772" y="6342914"/>
            <a:ext cx="531768" cy="393014"/>
            <a:chOff x="7247798" y="1063260"/>
            <a:chExt cx="1015600" cy="754200"/>
          </a:xfrm>
        </p:grpSpPr>
        <p:sp>
          <p:nvSpPr>
            <p:cNvPr id="294" name="Google Shape;294;p20"/>
            <p:cNvSpPr/>
            <p:nvPr/>
          </p:nvSpPr>
          <p:spPr>
            <a:xfrm>
              <a:off x="7247804" y="1314648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7499998" y="1314648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7752192" y="1314648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7" name="Google Shape;297;p20"/>
            <p:cNvSpPr/>
            <p:nvPr/>
          </p:nvSpPr>
          <p:spPr>
            <a:xfrm>
              <a:off x="7247798" y="1566060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8" name="Google Shape;298;p20"/>
            <p:cNvSpPr/>
            <p:nvPr/>
          </p:nvSpPr>
          <p:spPr>
            <a:xfrm>
              <a:off x="7752198" y="1566060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9" name="Google Shape;299;p20"/>
            <p:cNvSpPr/>
            <p:nvPr/>
          </p:nvSpPr>
          <p:spPr>
            <a:xfrm>
              <a:off x="7752198" y="1063260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0" name="Google Shape;300;p20"/>
            <p:cNvSpPr/>
            <p:nvPr/>
          </p:nvSpPr>
          <p:spPr>
            <a:xfrm>
              <a:off x="8007798" y="1063260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1" name="Google Shape;301;p20"/>
          <p:cNvGrpSpPr/>
          <p:nvPr/>
        </p:nvGrpSpPr>
        <p:grpSpPr>
          <a:xfrm>
            <a:off x="1439486" y="6343007"/>
            <a:ext cx="685479" cy="525603"/>
            <a:chOff x="1487651" y="1725923"/>
            <a:chExt cx="879157" cy="674109"/>
          </a:xfrm>
        </p:grpSpPr>
        <p:sp>
          <p:nvSpPr>
            <p:cNvPr id="302" name="Google Shape;302;p20"/>
            <p:cNvSpPr/>
            <p:nvPr/>
          </p:nvSpPr>
          <p:spPr>
            <a:xfrm>
              <a:off x="1487655" y="1893950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1854170" y="1893950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4" name="Google Shape;304;p20"/>
            <p:cNvSpPr/>
            <p:nvPr/>
          </p:nvSpPr>
          <p:spPr>
            <a:xfrm>
              <a:off x="2023543" y="1893950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5" name="Google Shape;305;p20"/>
            <p:cNvSpPr/>
            <p:nvPr/>
          </p:nvSpPr>
          <p:spPr>
            <a:xfrm>
              <a:off x="1487651" y="2061994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2023547" y="2061994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2023547" y="1725923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2195208" y="1725923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1487676" y="2232032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2023572" y="2232032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1" name="Google Shape;311;p20"/>
            <p:cNvSpPr/>
            <p:nvPr/>
          </p:nvSpPr>
          <p:spPr>
            <a:xfrm>
              <a:off x="1670311" y="1893950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12" name="Google Shape;312;p20"/>
          <p:cNvGrpSpPr/>
          <p:nvPr/>
        </p:nvGrpSpPr>
        <p:grpSpPr>
          <a:xfrm>
            <a:off x="2348000" y="6343007"/>
            <a:ext cx="816152" cy="662825"/>
            <a:chOff x="2735232" y="1725923"/>
            <a:chExt cx="1046751" cy="850103"/>
          </a:xfrm>
        </p:grpSpPr>
        <p:sp>
          <p:nvSpPr>
            <p:cNvPr id="313" name="Google Shape;313;p20"/>
            <p:cNvSpPr/>
            <p:nvPr/>
          </p:nvSpPr>
          <p:spPr>
            <a:xfrm>
              <a:off x="2735236" y="1892963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3269345" y="1893950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5" name="Google Shape;315;p20"/>
            <p:cNvSpPr/>
            <p:nvPr/>
          </p:nvSpPr>
          <p:spPr>
            <a:xfrm>
              <a:off x="3438718" y="1893950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6" name="Google Shape;316;p20"/>
            <p:cNvSpPr/>
            <p:nvPr/>
          </p:nvSpPr>
          <p:spPr>
            <a:xfrm>
              <a:off x="2735232" y="2061007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7" name="Google Shape;317;p20"/>
            <p:cNvSpPr/>
            <p:nvPr/>
          </p:nvSpPr>
          <p:spPr>
            <a:xfrm>
              <a:off x="3438722" y="2061994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8" name="Google Shape;318;p20"/>
            <p:cNvSpPr/>
            <p:nvPr/>
          </p:nvSpPr>
          <p:spPr>
            <a:xfrm>
              <a:off x="3438722" y="1725923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3610383" y="1725923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0" name="Google Shape;320;p20"/>
            <p:cNvSpPr/>
            <p:nvPr/>
          </p:nvSpPr>
          <p:spPr>
            <a:xfrm>
              <a:off x="2735257" y="2231044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1" name="Google Shape;321;p20"/>
            <p:cNvSpPr/>
            <p:nvPr/>
          </p:nvSpPr>
          <p:spPr>
            <a:xfrm>
              <a:off x="3438747" y="2232032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2" name="Google Shape;322;p20"/>
            <p:cNvSpPr/>
            <p:nvPr/>
          </p:nvSpPr>
          <p:spPr>
            <a:xfrm>
              <a:off x="3085486" y="1893950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3" name="Google Shape;323;p20"/>
            <p:cNvSpPr/>
            <p:nvPr/>
          </p:nvSpPr>
          <p:spPr>
            <a:xfrm>
              <a:off x="2909492" y="1893950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4" name="Google Shape;324;p20"/>
            <p:cNvSpPr/>
            <p:nvPr/>
          </p:nvSpPr>
          <p:spPr>
            <a:xfrm>
              <a:off x="2735257" y="2407038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5" name="Google Shape;325;p20"/>
            <p:cNvSpPr/>
            <p:nvPr/>
          </p:nvSpPr>
          <p:spPr>
            <a:xfrm>
              <a:off x="3438747" y="2408026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6" name="Google Shape;326;p20"/>
          <p:cNvGrpSpPr/>
          <p:nvPr/>
        </p:nvGrpSpPr>
        <p:grpSpPr>
          <a:xfrm>
            <a:off x="3976271" y="6508920"/>
            <a:ext cx="531768" cy="393014"/>
            <a:chOff x="7247798" y="1063260"/>
            <a:chExt cx="1015600" cy="754200"/>
          </a:xfrm>
        </p:grpSpPr>
        <p:sp>
          <p:nvSpPr>
            <p:cNvPr id="327" name="Google Shape;327;p20"/>
            <p:cNvSpPr/>
            <p:nvPr/>
          </p:nvSpPr>
          <p:spPr>
            <a:xfrm>
              <a:off x="7247804" y="1314648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8" name="Google Shape;328;p20"/>
            <p:cNvSpPr/>
            <p:nvPr/>
          </p:nvSpPr>
          <p:spPr>
            <a:xfrm>
              <a:off x="7499998" y="1314648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9" name="Google Shape;329;p20"/>
            <p:cNvSpPr/>
            <p:nvPr/>
          </p:nvSpPr>
          <p:spPr>
            <a:xfrm>
              <a:off x="7752192" y="1314648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0" name="Google Shape;330;p20"/>
            <p:cNvSpPr/>
            <p:nvPr/>
          </p:nvSpPr>
          <p:spPr>
            <a:xfrm>
              <a:off x="7247798" y="1566060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1" name="Google Shape;331;p20"/>
            <p:cNvSpPr/>
            <p:nvPr/>
          </p:nvSpPr>
          <p:spPr>
            <a:xfrm>
              <a:off x="7752198" y="1566060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2" name="Google Shape;332;p20"/>
            <p:cNvSpPr/>
            <p:nvPr/>
          </p:nvSpPr>
          <p:spPr>
            <a:xfrm>
              <a:off x="7752198" y="1063260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3" name="Google Shape;333;p20"/>
            <p:cNvSpPr/>
            <p:nvPr/>
          </p:nvSpPr>
          <p:spPr>
            <a:xfrm>
              <a:off x="8007798" y="1063260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34" name="Google Shape;334;p20"/>
          <p:cNvGrpSpPr/>
          <p:nvPr/>
        </p:nvGrpSpPr>
        <p:grpSpPr>
          <a:xfrm>
            <a:off x="4704912" y="6379885"/>
            <a:ext cx="685440" cy="524034"/>
            <a:chOff x="5758076" y="1902021"/>
            <a:chExt cx="879107" cy="672097"/>
          </a:xfrm>
        </p:grpSpPr>
        <p:sp>
          <p:nvSpPr>
            <p:cNvPr id="335" name="Google Shape;335;p20"/>
            <p:cNvSpPr/>
            <p:nvPr/>
          </p:nvSpPr>
          <p:spPr>
            <a:xfrm>
              <a:off x="5758080" y="2238074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6124595" y="2238074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6293968" y="2238074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5758076" y="2406118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9" name="Google Shape;339;p20"/>
            <p:cNvSpPr/>
            <p:nvPr/>
          </p:nvSpPr>
          <p:spPr>
            <a:xfrm>
              <a:off x="6293972" y="2406118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0" name="Google Shape;340;p20"/>
            <p:cNvSpPr/>
            <p:nvPr/>
          </p:nvSpPr>
          <p:spPr>
            <a:xfrm>
              <a:off x="6293972" y="2070046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1" name="Google Shape;341;p20"/>
            <p:cNvSpPr/>
            <p:nvPr/>
          </p:nvSpPr>
          <p:spPr>
            <a:xfrm>
              <a:off x="6293983" y="1902021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2" name="Google Shape;342;p20"/>
            <p:cNvSpPr/>
            <p:nvPr/>
          </p:nvSpPr>
          <p:spPr>
            <a:xfrm>
              <a:off x="5940736" y="2238074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3" name="Google Shape;343;p20"/>
            <p:cNvSpPr/>
            <p:nvPr/>
          </p:nvSpPr>
          <p:spPr>
            <a:xfrm>
              <a:off x="6465583" y="1902021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4" name="Google Shape;344;p20"/>
          <p:cNvGrpSpPr/>
          <p:nvPr/>
        </p:nvGrpSpPr>
        <p:grpSpPr>
          <a:xfrm>
            <a:off x="5490752" y="6251574"/>
            <a:ext cx="827852" cy="652343"/>
            <a:chOff x="6765951" y="1684853"/>
            <a:chExt cx="1061757" cy="836659"/>
          </a:xfrm>
        </p:grpSpPr>
        <p:sp>
          <p:nvSpPr>
            <p:cNvPr id="345" name="Google Shape;345;p20"/>
            <p:cNvSpPr/>
            <p:nvPr/>
          </p:nvSpPr>
          <p:spPr>
            <a:xfrm>
              <a:off x="6948605" y="2185468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6" name="Google Shape;346;p20"/>
            <p:cNvSpPr/>
            <p:nvPr/>
          </p:nvSpPr>
          <p:spPr>
            <a:xfrm>
              <a:off x="7315120" y="2185468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7" name="Google Shape;347;p20"/>
            <p:cNvSpPr/>
            <p:nvPr/>
          </p:nvSpPr>
          <p:spPr>
            <a:xfrm>
              <a:off x="7484493" y="2185468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6765951" y="2353512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9" name="Google Shape;349;p20"/>
            <p:cNvSpPr/>
            <p:nvPr/>
          </p:nvSpPr>
          <p:spPr>
            <a:xfrm>
              <a:off x="7484497" y="2353512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0" name="Google Shape;350;p20"/>
            <p:cNvSpPr/>
            <p:nvPr/>
          </p:nvSpPr>
          <p:spPr>
            <a:xfrm>
              <a:off x="7484497" y="2017440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1" name="Google Shape;351;p20"/>
            <p:cNvSpPr/>
            <p:nvPr/>
          </p:nvSpPr>
          <p:spPr>
            <a:xfrm>
              <a:off x="7484508" y="1849415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2" name="Google Shape;352;p20"/>
            <p:cNvSpPr/>
            <p:nvPr/>
          </p:nvSpPr>
          <p:spPr>
            <a:xfrm>
              <a:off x="7131261" y="2185468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3" name="Google Shape;353;p20"/>
            <p:cNvSpPr/>
            <p:nvPr/>
          </p:nvSpPr>
          <p:spPr>
            <a:xfrm>
              <a:off x="7484508" y="1684853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6765961" y="2183093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7656108" y="1684865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56" name="Google Shape;356;p20"/>
          <p:cNvSpPr txBox="1"/>
          <p:nvPr/>
        </p:nvSpPr>
        <p:spPr>
          <a:xfrm>
            <a:off x="467775" y="7476075"/>
            <a:ext cx="32067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The body is getting longer by 1 and each leg is getting longer by 1.</a:t>
            </a:r>
            <a:endParaRPr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0"/>
          <p:cNvSpPr txBox="1"/>
          <p:nvPr/>
        </p:nvSpPr>
        <p:spPr>
          <a:xfrm>
            <a:off x="3779950" y="7474750"/>
            <a:ext cx="33120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The body is getting longer by 1 and the neck is getting longer by 1</a:t>
            </a:r>
            <a:endParaRPr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61" name="Shape 361"/>
        <p:cNvGrpSpPr/>
        <p:nvPr/>
      </p:nvGrpSpPr>
      <p:grpSpPr>
        <a:xfrm>
          <a:off x="0" y="0"/>
          <a:ext cx="0" cy="0"/>
        </a:xfrm>
      </p:grpSpPr>
      <p:sp>
        <p:nvSpPr>
          <p:cNvPr id="362" name="Google Shape;362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Formalising a sequence</a:t>
            </a:r>
            <a:endParaRPr/>
          </a:p>
        </p:txBody>
      </p:sp>
      <p:sp>
        <p:nvSpPr>
          <p:cNvPr id="363" name="Google Shape;363;p21"/>
          <p:cNvSpPr txBox="1"/>
          <p:nvPr/>
        </p:nvSpPr>
        <p:spPr>
          <a:xfrm>
            <a:off x="468000" y="720000"/>
            <a:ext cx="6624000" cy="24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Izzy continues it this way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Describe how the pattern is developing in words.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squares would be needed for the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dog?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10th dog will have a 10 by 10 square in the middle 11 squares for each leg and 2 for the head. 124 squares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64" name="Google Shape;364;p21"/>
          <p:cNvGrpSpPr/>
          <p:nvPr/>
        </p:nvGrpSpPr>
        <p:grpSpPr>
          <a:xfrm>
            <a:off x="3088229" y="727645"/>
            <a:ext cx="531768" cy="393014"/>
            <a:chOff x="7247798" y="1063260"/>
            <a:chExt cx="1015600" cy="754200"/>
          </a:xfrm>
        </p:grpSpPr>
        <p:sp>
          <p:nvSpPr>
            <p:cNvPr id="365" name="Google Shape;365;p21"/>
            <p:cNvSpPr/>
            <p:nvPr/>
          </p:nvSpPr>
          <p:spPr>
            <a:xfrm>
              <a:off x="7247804" y="1314648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7499998" y="1314648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7" name="Google Shape;367;p21"/>
            <p:cNvSpPr/>
            <p:nvPr/>
          </p:nvSpPr>
          <p:spPr>
            <a:xfrm>
              <a:off x="7752192" y="1314648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8" name="Google Shape;368;p21"/>
            <p:cNvSpPr/>
            <p:nvPr/>
          </p:nvSpPr>
          <p:spPr>
            <a:xfrm>
              <a:off x="7247798" y="1566060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9" name="Google Shape;369;p21"/>
            <p:cNvSpPr/>
            <p:nvPr/>
          </p:nvSpPr>
          <p:spPr>
            <a:xfrm>
              <a:off x="7752198" y="1566060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0" name="Google Shape;370;p21"/>
            <p:cNvSpPr/>
            <p:nvPr/>
          </p:nvSpPr>
          <p:spPr>
            <a:xfrm>
              <a:off x="7752198" y="1063260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1" name="Google Shape;371;p21"/>
            <p:cNvSpPr/>
            <p:nvPr/>
          </p:nvSpPr>
          <p:spPr>
            <a:xfrm>
              <a:off x="8007798" y="1063260"/>
              <a:ext cx="255600" cy="2514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72" name="Google Shape;372;p21"/>
          <p:cNvSpPr/>
          <p:nvPr/>
        </p:nvSpPr>
        <p:spPr>
          <a:xfrm>
            <a:off x="3815888" y="858677"/>
            <a:ext cx="133800" cy="131100"/>
          </a:xfrm>
          <a:prstGeom prst="rect">
            <a:avLst/>
          </a:prstGeom>
          <a:solidFill>
            <a:srgbClr val="845A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1"/>
          <p:cNvSpPr/>
          <p:nvPr/>
        </p:nvSpPr>
        <p:spPr>
          <a:xfrm>
            <a:off x="4101645" y="858677"/>
            <a:ext cx="133800" cy="131100"/>
          </a:xfrm>
          <a:prstGeom prst="rect">
            <a:avLst/>
          </a:prstGeom>
          <a:solidFill>
            <a:srgbClr val="845A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1"/>
          <p:cNvSpPr/>
          <p:nvPr/>
        </p:nvSpPr>
        <p:spPr>
          <a:xfrm>
            <a:off x="4233699" y="858677"/>
            <a:ext cx="133800" cy="131100"/>
          </a:xfrm>
          <a:prstGeom prst="rect">
            <a:avLst/>
          </a:prstGeom>
          <a:solidFill>
            <a:srgbClr val="845A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1"/>
          <p:cNvSpPr/>
          <p:nvPr/>
        </p:nvSpPr>
        <p:spPr>
          <a:xfrm>
            <a:off x="3815885" y="989694"/>
            <a:ext cx="133800" cy="131100"/>
          </a:xfrm>
          <a:prstGeom prst="rect">
            <a:avLst/>
          </a:prstGeom>
          <a:solidFill>
            <a:srgbClr val="845A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1"/>
          <p:cNvSpPr/>
          <p:nvPr/>
        </p:nvSpPr>
        <p:spPr>
          <a:xfrm>
            <a:off x="4233702" y="989694"/>
            <a:ext cx="133800" cy="131100"/>
          </a:xfrm>
          <a:prstGeom prst="rect">
            <a:avLst/>
          </a:prstGeom>
          <a:solidFill>
            <a:srgbClr val="845A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4233702" y="727672"/>
            <a:ext cx="133800" cy="131100"/>
          </a:xfrm>
          <a:prstGeom prst="rect">
            <a:avLst/>
          </a:prstGeom>
          <a:solidFill>
            <a:srgbClr val="845A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4367540" y="727672"/>
            <a:ext cx="133800" cy="131100"/>
          </a:xfrm>
          <a:prstGeom prst="rect">
            <a:avLst/>
          </a:prstGeom>
          <a:solidFill>
            <a:srgbClr val="845A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3815904" y="1122265"/>
            <a:ext cx="133800" cy="131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1"/>
          <p:cNvSpPr/>
          <p:nvPr/>
        </p:nvSpPr>
        <p:spPr>
          <a:xfrm>
            <a:off x="4233722" y="1122265"/>
            <a:ext cx="133800" cy="131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1"/>
          <p:cNvSpPr/>
          <p:nvPr/>
        </p:nvSpPr>
        <p:spPr>
          <a:xfrm>
            <a:off x="3958298" y="858677"/>
            <a:ext cx="133800" cy="131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82" name="Google Shape;382;p21"/>
          <p:cNvGrpSpPr/>
          <p:nvPr/>
        </p:nvGrpSpPr>
        <p:grpSpPr>
          <a:xfrm>
            <a:off x="4724457" y="727739"/>
            <a:ext cx="816152" cy="662825"/>
            <a:chOff x="2735232" y="1725923"/>
            <a:chExt cx="1046751" cy="850103"/>
          </a:xfrm>
        </p:grpSpPr>
        <p:sp>
          <p:nvSpPr>
            <p:cNvPr id="383" name="Google Shape;383;p21"/>
            <p:cNvSpPr/>
            <p:nvPr/>
          </p:nvSpPr>
          <p:spPr>
            <a:xfrm>
              <a:off x="2735236" y="1892963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4" name="Google Shape;384;p21"/>
            <p:cNvSpPr/>
            <p:nvPr/>
          </p:nvSpPr>
          <p:spPr>
            <a:xfrm>
              <a:off x="3269345" y="1893950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5" name="Google Shape;385;p21"/>
            <p:cNvSpPr/>
            <p:nvPr/>
          </p:nvSpPr>
          <p:spPr>
            <a:xfrm>
              <a:off x="3438718" y="1893950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6" name="Google Shape;386;p21"/>
            <p:cNvSpPr/>
            <p:nvPr/>
          </p:nvSpPr>
          <p:spPr>
            <a:xfrm>
              <a:off x="2735232" y="2061007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7" name="Google Shape;387;p21"/>
            <p:cNvSpPr/>
            <p:nvPr/>
          </p:nvSpPr>
          <p:spPr>
            <a:xfrm>
              <a:off x="3438722" y="2061994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8" name="Google Shape;388;p21"/>
            <p:cNvSpPr/>
            <p:nvPr/>
          </p:nvSpPr>
          <p:spPr>
            <a:xfrm>
              <a:off x="3438722" y="1725923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9" name="Google Shape;389;p21"/>
            <p:cNvSpPr/>
            <p:nvPr/>
          </p:nvSpPr>
          <p:spPr>
            <a:xfrm>
              <a:off x="3610383" y="1725923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0" name="Google Shape;390;p21"/>
            <p:cNvSpPr/>
            <p:nvPr/>
          </p:nvSpPr>
          <p:spPr>
            <a:xfrm>
              <a:off x="2735257" y="2231044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1" name="Google Shape;391;p21"/>
            <p:cNvSpPr/>
            <p:nvPr/>
          </p:nvSpPr>
          <p:spPr>
            <a:xfrm>
              <a:off x="3438747" y="2232032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2" name="Google Shape;392;p21"/>
            <p:cNvSpPr/>
            <p:nvPr/>
          </p:nvSpPr>
          <p:spPr>
            <a:xfrm>
              <a:off x="3085486" y="1893950"/>
              <a:ext cx="171600" cy="168000"/>
            </a:xfrm>
            <a:prstGeom prst="rect">
              <a:avLst/>
            </a:prstGeom>
            <a:solidFill>
              <a:srgbClr val="845AD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3" name="Google Shape;393;p21"/>
            <p:cNvSpPr/>
            <p:nvPr/>
          </p:nvSpPr>
          <p:spPr>
            <a:xfrm>
              <a:off x="2909492" y="1893950"/>
              <a:ext cx="171600" cy="168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4" name="Google Shape;394;p21"/>
            <p:cNvSpPr/>
            <p:nvPr/>
          </p:nvSpPr>
          <p:spPr>
            <a:xfrm>
              <a:off x="2735257" y="2407038"/>
              <a:ext cx="171600" cy="168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5" name="Google Shape;395;p21"/>
            <p:cNvSpPr/>
            <p:nvPr/>
          </p:nvSpPr>
          <p:spPr>
            <a:xfrm>
              <a:off x="3438747" y="2408026"/>
              <a:ext cx="171600" cy="168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96" name="Google Shape;396;p21"/>
          <p:cNvSpPr/>
          <p:nvPr/>
        </p:nvSpPr>
        <p:spPr>
          <a:xfrm>
            <a:off x="3957897" y="993575"/>
            <a:ext cx="133800" cy="131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4091734" y="993575"/>
            <a:ext cx="133800" cy="131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8" name="Google Shape;398;p21"/>
          <p:cNvSpPr/>
          <p:nvPr/>
        </p:nvSpPr>
        <p:spPr>
          <a:xfrm>
            <a:off x="4858846" y="993575"/>
            <a:ext cx="133800" cy="131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21"/>
          <p:cNvSpPr/>
          <p:nvPr/>
        </p:nvSpPr>
        <p:spPr>
          <a:xfrm>
            <a:off x="4998815" y="993575"/>
            <a:ext cx="133800" cy="131100"/>
          </a:xfrm>
          <a:prstGeom prst="rect">
            <a:avLst/>
          </a:prstGeom>
          <a:solidFill>
            <a:srgbClr val="845A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4858846" y="1122258"/>
            <a:ext cx="133800" cy="131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21"/>
          <p:cNvSpPr/>
          <p:nvPr/>
        </p:nvSpPr>
        <p:spPr>
          <a:xfrm>
            <a:off x="4998815" y="1122258"/>
            <a:ext cx="133800" cy="131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5136337" y="993575"/>
            <a:ext cx="133800" cy="131100"/>
          </a:xfrm>
          <a:prstGeom prst="rect">
            <a:avLst/>
          </a:prstGeom>
          <a:solidFill>
            <a:srgbClr val="845A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5132634" y="1122258"/>
            <a:ext cx="133800" cy="131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4" name="Google Shape;404;p21"/>
          <p:cNvCxnSpPr/>
          <p:nvPr/>
        </p:nvCxnSpPr>
        <p:spPr>
          <a:xfrm>
            <a:off x="474745" y="303581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5" name="Google Shape;405;p21"/>
          <p:cNvSpPr txBox="1"/>
          <p:nvPr/>
        </p:nvSpPr>
        <p:spPr>
          <a:xfrm>
            <a:off x="460250" y="3535500"/>
            <a:ext cx="6422700" cy="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sequence, fill in the table for the number of squares and perimeter. Describe the rule for both 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1"/>
          <p:cNvSpPr txBox="1"/>
          <p:nvPr/>
        </p:nvSpPr>
        <p:spPr>
          <a:xfrm>
            <a:off x="460244" y="31983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Describing patterns in pictorial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07" name="Google Shape;407;p21"/>
          <p:cNvGraphicFramePr>
            <a:graphicFrameLocks noGrp="1"/>
          </p:cNvGraphicFramePr>
          <p:nvPr/>
        </p:nvGraphicFramePr>
        <p:xfrm>
          <a:off x="856979" y="4313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{1CBB32CF-CD8D-46E8-BA1D-2416DBB40793}</a:tableStyleId>
              </a:tblPr>
              <a:tblGrid>
                <a:gridCol w="819250"/>
                <a:gridCol w="282900"/>
                <a:gridCol w="268175"/>
                <a:gridCol w="272200"/>
                <a:gridCol w="266775"/>
                <a:gridCol w="266775"/>
              </a:tblGrid>
              <a:tr h="158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58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58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08" name="Google Shape;408;p21"/>
          <p:cNvSpPr/>
          <p:nvPr/>
        </p:nvSpPr>
        <p:spPr>
          <a:xfrm>
            <a:off x="828975" y="4027563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09" name="Google Shape;409;p21"/>
          <p:cNvGrpSpPr/>
          <p:nvPr/>
        </p:nvGrpSpPr>
        <p:grpSpPr>
          <a:xfrm>
            <a:off x="1105679" y="4027618"/>
            <a:ext cx="280692" cy="140346"/>
            <a:chOff x="1063800" y="1421875"/>
            <a:chExt cx="360000" cy="180000"/>
          </a:xfrm>
        </p:grpSpPr>
        <p:sp>
          <p:nvSpPr>
            <p:cNvPr id="410" name="Google Shape;410;p21"/>
            <p:cNvSpPr/>
            <p:nvPr/>
          </p:nvSpPr>
          <p:spPr>
            <a:xfrm>
              <a:off x="1063800" y="14218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11" name="Google Shape;411;p21"/>
            <p:cNvSpPr/>
            <p:nvPr/>
          </p:nvSpPr>
          <p:spPr>
            <a:xfrm>
              <a:off x="1243800" y="14218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21"/>
          <p:cNvGrpSpPr/>
          <p:nvPr/>
        </p:nvGrpSpPr>
        <p:grpSpPr>
          <a:xfrm>
            <a:off x="1560552" y="4027618"/>
            <a:ext cx="427170" cy="140346"/>
            <a:chOff x="1803600" y="1421875"/>
            <a:chExt cx="547865" cy="180000"/>
          </a:xfrm>
        </p:grpSpPr>
        <p:sp>
          <p:nvSpPr>
            <p:cNvPr id="413" name="Google Shape;413;p21"/>
            <p:cNvSpPr/>
            <p:nvPr/>
          </p:nvSpPr>
          <p:spPr>
            <a:xfrm>
              <a:off x="1803600" y="14218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1983600" y="14218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15" name="Google Shape;415;p21"/>
            <p:cNvSpPr/>
            <p:nvPr/>
          </p:nvSpPr>
          <p:spPr>
            <a:xfrm>
              <a:off x="2171465" y="14218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16" name="Google Shape;416;p21"/>
          <p:cNvSpPr txBox="1"/>
          <p:nvPr/>
        </p:nvSpPr>
        <p:spPr>
          <a:xfrm>
            <a:off x="469860" y="4955847"/>
            <a:ext cx="31059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Rule for squares: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Increase by 1 each time/ Same as the term number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17" name="Google Shape;417;p21"/>
          <p:cNvCxnSpPr/>
          <p:nvPr/>
        </p:nvCxnSpPr>
        <p:spPr>
          <a:xfrm flipH="1">
            <a:off x="3775680" y="3988229"/>
            <a:ext cx="0" cy="550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8" name="Google Shape;418;p21"/>
          <p:cNvSpPr txBox="1"/>
          <p:nvPr/>
        </p:nvSpPr>
        <p:spPr>
          <a:xfrm>
            <a:off x="469858" y="5921282"/>
            <a:ext cx="3105900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Rule for Perimeter: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Increase by 2 each time/ 2 lines for each square plus 2 on each end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21"/>
          <p:cNvSpPr/>
          <p:nvPr/>
        </p:nvSpPr>
        <p:spPr>
          <a:xfrm>
            <a:off x="4414713" y="4023184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20" name="Google Shape;420;p21"/>
          <p:cNvGrpSpPr/>
          <p:nvPr/>
        </p:nvGrpSpPr>
        <p:grpSpPr>
          <a:xfrm>
            <a:off x="4723770" y="4023233"/>
            <a:ext cx="280692" cy="280692"/>
            <a:chOff x="3963429" y="1269475"/>
            <a:chExt cx="360000" cy="360000"/>
          </a:xfrm>
        </p:grpSpPr>
        <p:sp>
          <p:nvSpPr>
            <p:cNvPr id="421" name="Google Shape;421;p21"/>
            <p:cNvSpPr/>
            <p:nvPr/>
          </p:nvSpPr>
          <p:spPr>
            <a:xfrm>
              <a:off x="3963429" y="126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2" name="Google Shape;422;p21"/>
            <p:cNvSpPr/>
            <p:nvPr/>
          </p:nvSpPr>
          <p:spPr>
            <a:xfrm>
              <a:off x="396342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3" name="Google Shape;423;p21"/>
            <p:cNvSpPr/>
            <p:nvPr/>
          </p:nvSpPr>
          <p:spPr>
            <a:xfrm>
              <a:off x="414342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4" name="Google Shape;424;p21"/>
          <p:cNvGrpSpPr/>
          <p:nvPr/>
        </p:nvGrpSpPr>
        <p:grpSpPr>
          <a:xfrm>
            <a:off x="5096008" y="4023226"/>
            <a:ext cx="414705" cy="422294"/>
            <a:chOff x="4440842" y="1087865"/>
            <a:chExt cx="531877" cy="541610"/>
          </a:xfrm>
        </p:grpSpPr>
        <p:grpSp>
          <p:nvGrpSpPr>
            <p:cNvPr id="425" name="Google Shape;425;p21"/>
            <p:cNvGrpSpPr/>
            <p:nvPr/>
          </p:nvGrpSpPr>
          <p:grpSpPr>
            <a:xfrm>
              <a:off x="4440842" y="1269475"/>
              <a:ext cx="360000" cy="360000"/>
              <a:chOff x="3963429" y="1269475"/>
              <a:chExt cx="360000" cy="360000"/>
            </a:xfrm>
          </p:grpSpPr>
          <p:sp>
            <p:nvSpPr>
              <p:cNvPr id="426" name="Google Shape;426;p21"/>
              <p:cNvSpPr/>
              <p:nvPr/>
            </p:nvSpPr>
            <p:spPr>
              <a:xfrm>
                <a:off x="3963429" y="126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27" name="Google Shape;427;p21"/>
              <p:cNvSpPr/>
              <p:nvPr/>
            </p:nvSpPr>
            <p:spPr>
              <a:xfrm>
                <a:off x="3963429" y="144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28" name="Google Shape;428;p21"/>
              <p:cNvSpPr/>
              <p:nvPr/>
            </p:nvSpPr>
            <p:spPr>
              <a:xfrm>
                <a:off x="4143429" y="144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429" name="Google Shape;429;p21"/>
            <p:cNvSpPr/>
            <p:nvPr/>
          </p:nvSpPr>
          <p:spPr>
            <a:xfrm>
              <a:off x="4440854" y="108786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30" name="Google Shape;430;p21"/>
            <p:cNvSpPr/>
            <p:nvPr/>
          </p:nvSpPr>
          <p:spPr>
            <a:xfrm>
              <a:off x="479271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31" name="Google Shape;431;p21"/>
          <p:cNvSpPr txBox="1"/>
          <p:nvPr/>
        </p:nvSpPr>
        <p:spPr>
          <a:xfrm>
            <a:off x="3892474" y="5214480"/>
            <a:ext cx="31917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Rule for squares: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Increase by 2 each time/ 2 squares per diagonal minus 1 for first diagonal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432" name="Google Shape;432;p21"/>
          <p:cNvGraphicFramePr>
            <a:graphicFrameLocks noGrp="1"/>
          </p:cNvGraphicFramePr>
          <p:nvPr/>
        </p:nvGraphicFramePr>
        <p:xfrm>
          <a:off x="4157729" y="448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{1CBB32CF-CD8D-46E8-BA1D-2416DBB40793}</a:tableStyleId>
              </a:tblPr>
              <a:tblGrid>
                <a:gridCol w="946475"/>
                <a:gridCol w="326825"/>
                <a:gridCol w="309825"/>
                <a:gridCol w="314475"/>
                <a:gridCol w="308225"/>
                <a:gridCol w="308225"/>
              </a:tblGrid>
              <a:tr h="182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2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2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33" name="Google Shape;433;p21"/>
          <p:cNvSpPr txBox="1"/>
          <p:nvPr/>
        </p:nvSpPr>
        <p:spPr>
          <a:xfrm>
            <a:off x="3861812" y="6033982"/>
            <a:ext cx="3105900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Rule for Perimeter: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Increase by 4 each time/ Term number multiplied by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21"/>
          <p:cNvSpPr txBox="1"/>
          <p:nvPr/>
        </p:nvSpPr>
        <p:spPr>
          <a:xfrm>
            <a:off x="505490" y="3990412"/>
            <a:ext cx="2355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21"/>
          <p:cNvSpPr txBox="1"/>
          <p:nvPr/>
        </p:nvSpPr>
        <p:spPr>
          <a:xfrm>
            <a:off x="3917091" y="4040954"/>
            <a:ext cx="2355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36" name="Google Shape;436;p21"/>
          <p:cNvGraphicFramePr>
            <a:graphicFrameLocks noGrp="1"/>
          </p:cNvGraphicFramePr>
          <p:nvPr/>
        </p:nvGraphicFramePr>
        <p:xfrm>
          <a:off x="751229" y="746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{1CBB32CF-CD8D-46E8-BA1D-2416DBB40793}</a:tableStyleId>
              </a:tblPr>
              <a:tblGrid>
                <a:gridCol w="946475"/>
                <a:gridCol w="326850"/>
                <a:gridCol w="309800"/>
                <a:gridCol w="314475"/>
                <a:gridCol w="308225"/>
                <a:gridCol w="308225"/>
              </a:tblGrid>
              <a:tr h="182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2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2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37" name="Google Shape;437;p21"/>
          <p:cNvSpPr txBox="1"/>
          <p:nvPr/>
        </p:nvSpPr>
        <p:spPr>
          <a:xfrm>
            <a:off x="460250" y="8143875"/>
            <a:ext cx="3110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Rule for squares: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Increase by 4 each time/ 4 squares per H plus 3 for the start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8" name="Google Shape;438;p21"/>
          <p:cNvSpPr txBox="1"/>
          <p:nvPr/>
        </p:nvSpPr>
        <p:spPr>
          <a:xfrm>
            <a:off x="460250" y="8914811"/>
            <a:ext cx="31104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Rule for Perimeter: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Increase by 8 each time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21"/>
          <p:cNvSpPr/>
          <p:nvPr/>
        </p:nvSpPr>
        <p:spPr>
          <a:xfrm>
            <a:off x="4648821" y="6831231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40" name="Google Shape;440;p21"/>
          <p:cNvGrpSpPr/>
          <p:nvPr/>
        </p:nvGrpSpPr>
        <p:grpSpPr>
          <a:xfrm>
            <a:off x="4958197" y="6831239"/>
            <a:ext cx="281088" cy="281088"/>
            <a:chOff x="3963429" y="1269475"/>
            <a:chExt cx="360000" cy="360000"/>
          </a:xfrm>
        </p:grpSpPr>
        <p:sp>
          <p:nvSpPr>
            <p:cNvPr id="441" name="Google Shape;441;p21"/>
            <p:cNvSpPr/>
            <p:nvPr/>
          </p:nvSpPr>
          <p:spPr>
            <a:xfrm>
              <a:off x="3963429" y="126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2" name="Google Shape;442;p21"/>
            <p:cNvSpPr/>
            <p:nvPr/>
          </p:nvSpPr>
          <p:spPr>
            <a:xfrm>
              <a:off x="396342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3" name="Google Shape;443;p21"/>
            <p:cNvSpPr/>
            <p:nvPr/>
          </p:nvSpPr>
          <p:spPr>
            <a:xfrm>
              <a:off x="414342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4" name="Google Shape;444;p21"/>
          <p:cNvGrpSpPr/>
          <p:nvPr/>
        </p:nvGrpSpPr>
        <p:grpSpPr>
          <a:xfrm>
            <a:off x="5330960" y="6831238"/>
            <a:ext cx="415290" cy="422889"/>
            <a:chOff x="4440842" y="1087865"/>
            <a:chExt cx="531877" cy="541610"/>
          </a:xfrm>
        </p:grpSpPr>
        <p:grpSp>
          <p:nvGrpSpPr>
            <p:cNvPr id="445" name="Google Shape;445;p21"/>
            <p:cNvGrpSpPr/>
            <p:nvPr/>
          </p:nvGrpSpPr>
          <p:grpSpPr>
            <a:xfrm>
              <a:off x="4440842" y="1269475"/>
              <a:ext cx="360000" cy="360000"/>
              <a:chOff x="3963429" y="1269475"/>
              <a:chExt cx="360000" cy="3600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3963429" y="126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3963429" y="144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4143429" y="144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449" name="Google Shape;449;p21"/>
            <p:cNvSpPr/>
            <p:nvPr/>
          </p:nvSpPr>
          <p:spPr>
            <a:xfrm>
              <a:off x="4440854" y="108786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0" name="Google Shape;450;p21"/>
            <p:cNvSpPr/>
            <p:nvPr/>
          </p:nvSpPr>
          <p:spPr>
            <a:xfrm>
              <a:off x="479271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51" name="Google Shape;451;p21"/>
          <p:cNvSpPr txBox="1"/>
          <p:nvPr/>
        </p:nvSpPr>
        <p:spPr>
          <a:xfrm>
            <a:off x="3887837" y="8024257"/>
            <a:ext cx="31965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Rule for squares: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Increase by 2 , then 3 then 4…/ Add term number on to the previous term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452" name="Google Shape;452;p21"/>
          <p:cNvGraphicFramePr>
            <a:graphicFrameLocks noGrp="1"/>
          </p:cNvGraphicFramePr>
          <p:nvPr/>
        </p:nvGraphicFramePr>
        <p:xfrm>
          <a:off x="4157729" y="73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{1CBB32CF-CD8D-46E8-BA1D-2416DBB40793}</a:tableStyleId>
              </a:tblPr>
              <a:tblGrid>
                <a:gridCol w="946475"/>
                <a:gridCol w="326825"/>
                <a:gridCol w="309825"/>
                <a:gridCol w="314475"/>
                <a:gridCol w="308225"/>
                <a:gridCol w="308225"/>
              </a:tblGrid>
              <a:tr h="182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2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2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53" name="Google Shape;453;p21"/>
          <p:cNvSpPr txBox="1"/>
          <p:nvPr/>
        </p:nvSpPr>
        <p:spPr>
          <a:xfrm>
            <a:off x="3857130" y="8844950"/>
            <a:ext cx="31104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Rule for Perimeter: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Increase by 4 each time/ Term number multiplied by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4" name="Google Shape;454;p21"/>
          <p:cNvSpPr/>
          <p:nvPr/>
        </p:nvSpPr>
        <p:spPr>
          <a:xfrm>
            <a:off x="5468313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21"/>
          <p:cNvSpPr/>
          <p:nvPr/>
        </p:nvSpPr>
        <p:spPr>
          <a:xfrm>
            <a:off x="969585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6" name="Google Shape;456;p21"/>
          <p:cNvSpPr/>
          <p:nvPr/>
        </p:nvSpPr>
        <p:spPr>
          <a:xfrm>
            <a:off x="969585" y="6831865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21"/>
          <p:cNvSpPr/>
          <p:nvPr/>
        </p:nvSpPr>
        <p:spPr>
          <a:xfrm>
            <a:off x="969585" y="7112951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21"/>
          <p:cNvSpPr/>
          <p:nvPr/>
        </p:nvSpPr>
        <p:spPr>
          <a:xfrm>
            <a:off x="1989106" y="697239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21"/>
          <p:cNvSpPr/>
          <p:nvPr/>
        </p:nvSpPr>
        <p:spPr>
          <a:xfrm>
            <a:off x="1110127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21"/>
          <p:cNvSpPr/>
          <p:nvPr/>
        </p:nvSpPr>
        <p:spPr>
          <a:xfrm>
            <a:off x="1250670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1" name="Google Shape;461;p21"/>
          <p:cNvSpPr/>
          <p:nvPr/>
        </p:nvSpPr>
        <p:spPr>
          <a:xfrm>
            <a:off x="1250670" y="6831865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21"/>
          <p:cNvSpPr/>
          <p:nvPr/>
        </p:nvSpPr>
        <p:spPr>
          <a:xfrm>
            <a:off x="1250670" y="7112951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21"/>
          <p:cNvSpPr/>
          <p:nvPr/>
        </p:nvSpPr>
        <p:spPr>
          <a:xfrm>
            <a:off x="1567477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21"/>
          <p:cNvSpPr/>
          <p:nvPr/>
        </p:nvSpPr>
        <p:spPr>
          <a:xfrm>
            <a:off x="1567477" y="6831865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5" name="Google Shape;465;p21"/>
          <p:cNvSpPr/>
          <p:nvPr/>
        </p:nvSpPr>
        <p:spPr>
          <a:xfrm>
            <a:off x="1567477" y="7112951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6" name="Google Shape;466;p21"/>
          <p:cNvSpPr/>
          <p:nvPr/>
        </p:nvSpPr>
        <p:spPr>
          <a:xfrm>
            <a:off x="1708020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7" name="Google Shape;467;p21"/>
          <p:cNvSpPr/>
          <p:nvPr/>
        </p:nvSpPr>
        <p:spPr>
          <a:xfrm>
            <a:off x="1848563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p21"/>
          <p:cNvSpPr/>
          <p:nvPr/>
        </p:nvSpPr>
        <p:spPr>
          <a:xfrm>
            <a:off x="1848563" y="6831865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9" name="Google Shape;469;p21"/>
          <p:cNvSpPr/>
          <p:nvPr/>
        </p:nvSpPr>
        <p:spPr>
          <a:xfrm>
            <a:off x="1848563" y="7112951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0" name="Google Shape;470;p21"/>
          <p:cNvSpPr/>
          <p:nvPr/>
        </p:nvSpPr>
        <p:spPr>
          <a:xfrm>
            <a:off x="2129649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21"/>
          <p:cNvSpPr/>
          <p:nvPr/>
        </p:nvSpPr>
        <p:spPr>
          <a:xfrm>
            <a:off x="2129649" y="6831865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2129649" y="7112951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2889302" y="697239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4" name="Google Shape;474;p21"/>
          <p:cNvSpPr/>
          <p:nvPr/>
        </p:nvSpPr>
        <p:spPr>
          <a:xfrm>
            <a:off x="2467674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5" name="Google Shape;475;p21"/>
          <p:cNvSpPr/>
          <p:nvPr/>
        </p:nvSpPr>
        <p:spPr>
          <a:xfrm>
            <a:off x="2467674" y="6831865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2467674" y="7112951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7" name="Google Shape;477;p21"/>
          <p:cNvSpPr/>
          <p:nvPr/>
        </p:nvSpPr>
        <p:spPr>
          <a:xfrm>
            <a:off x="2608217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8" name="Google Shape;478;p21"/>
          <p:cNvSpPr/>
          <p:nvPr/>
        </p:nvSpPr>
        <p:spPr>
          <a:xfrm>
            <a:off x="2748760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9" name="Google Shape;479;p21"/>
          <p:cNvSpPr/>
          <p:nvPr/>
        </p:nvSpPr>
        <p:spPr>
          <a:xfrm>
            <a:off x="2748760" y="6831865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0" name="Google Shape;480;p21"/>
          <p:cNvSpPr/>
          <p:nvPr/>
        </p:nvSpPr>
        <p:spPr>
          <a:xfrm>
            <a:off x="2748760" y="7112951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21"/>
          <p:cNvSpPr/>
          <p:nvPr/>
        </p:nvSpPr>
        <p:spPr>
          <a:xfrm>
            <a:off x="3029845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3029845" y="6831865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21"/>
          <p:cNvSpPr/>
          <p:nvPr/>
        </p:nvSpPr>
        <p:spPr>
          <a:xfrm>
            <a:off x="3029845" y="7112951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21"/>
          <p:cNvSpPr/>
          <p:nvPr/>
        </p:nvSpPr>
        <p:spPr>
          <a:xfrm>
            <a:off x="3167179" y="697239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21"/>
          <p:cNvSpPr/>
          <p:nvPr/>
        </p:nvSpPr>
        <p:spPr>
          <a:xfrm>
            <a:off x="3307722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6" name="Google Shape;486;p21"/>
          <p:cNvSpPr/>
          <p:nvPr/>
        </p:nvSpPr>
        <p:spPr>
          <a:xfrm>
            <a:off x="3307722" y="6831865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7" name="Google Shape;487;p21"/>
          <p:cNvSpPr/>
          <p:nvPr/>
        </p:nvSpPr>
        <p:spPr>
          <a:xfrm>
            <a:off x="3307722" y="7112951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8" name="Google Shape;488;p21"/>
          <p:cNvSpPr txBox="1"/>
          <p:nvPr/>
        </p:nvSpPr>
        <p:spPr>
          <a:xfrm>
            <a:off x="495932" y="6810693"/>
            <a:ext cx="2358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9" name="Google Shape;489;p21"/>
          <p:cNvSpPr txBox="1"/>
          <p:nvPr/>
        </p:nvSpPr>
        <p:spPr>
          <a:xfrm>
            <a:off x="3946337" y="6810693"/>
            <a:ext cx="2358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21"/>
          <p:cNvSpPr txBox="1"/>
          <p:nvPr/>
        </p:nvSpPr>
        <p:spPr>
          <a:xfrm>
            <a:off x="488950" y="1644650"/>
            <a:ext cx="6595200" cy="4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The legs are both getting longer by 1 each time (2 in total). The body increases in both directions. A 1 by 1 square, then a 2 by 2 square then a 3  by 3 square</a:t>
            </a:r>
            <a:endParaRPr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494" name="Shape 494"/>
        <p:cNvGrpSpPr/>
        <p:nvPr/>
      </p:nvGrpSpPr>
      <p:grpSpPr>
        <a:xfrm>
          <a:off x="0" y="0"/>
          <a:ext cx="0" cy="0"/>
        </a:xfrm>
      </p:grpSpPr>
      <p:sp>
        <p:nvSpPr>
          <p:cNvPr id="495" name="Google Shape;495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496" name="Google Shape;496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Formalising a sequence</a:t>
            </a:r>
            <a:endParaRPr/>
          </a:p>
        </p:txBody>
      </p:sp>
      <p:sp>
        <p:nvSpPr>
          <p:cNvPr id="497" name="Google Shape;497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8" name="Google Shape;498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499" name="Google Shape;499;p22"/>
          <p:cNvSpPr txBox="1"/>
          <p:nvPr/>
        </p:nvSpPr>
        <p:spPr>
          <a:xfrm>
            <a:off x="465750" y="3304675"/>
            <a:ext cx="6624000" cy="9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To calculate the number of chairs needed, the caretaker multiplies the number of tables by 6. Which way are they planning on arranging the tables?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Arrangement 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00" name="Google Shape;500;p22"/>
          <p:cNvSpPr txBox="1"/>
          <p:nvPr/>
        </p:nvSpPr>
        <p:spPr>
          <a:xfrm>
            <a:off x="468000" y="4394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For each arrangement how many more chairs can be added if an extra table is added?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A: 2 or 4 depending which way round, B: 2, C: 4, D:6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01" name="Google Shape;501;p22"/>
          <p:cNvSpPr txBox="1"/>
          <p:nvPr/>
        </p:nvSpPr>
        <p:spPr>
          <a:xfrm>
            <a:off x="468000" y="720000"/>
            <a:ext cx="66240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In a school dining hall, 6 chairs (circles) fit around one rectangular table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2" name="Google Shape;502;p22"/>
          <p:cNvSpPr txBox="1"/>
          <p:nvPr/>
        </p:nvSpPr>
        <p:spPr>
          <a:xfrm>
            <a:off x="465750" y="1400567"/>
            <a:ext cx="4670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Below are 4 ways to arrange 4 tables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03" name="Google Shape;503;p22"/>
          <p:cNvGrpSpPr/>
          <p:nvPr/>
        </p:nvGrpSpPr>
        <p:grpSpPr>
          <a:xfrm>
            <a:off x="6151456" y="784574"/>
            <a:ext cx="832008" cy="550042"/>
            <a:chOff x="7538462" y="1036516"/>
            <a:chExt cx="1023254" cy="676475"/>
          </a:xfrm>
        </p:grpSpPr>
        <p:sp>
          <p:nvSpPr>
            <p:cNvPr id="504" name="Google Shape;504;p22"/>
            <p:cNvSpPr/>
            <p:nvPr/>
          </p:nvSpPr>
          <p:spPr>
            <a:xfrm>
              <a:off x="7702231" y="1200398"/>
              <a:ext cx="695700" cy="348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5" name="Google Shape;505;p22"/>
            <p:cNvSpPr/>
            <p:nvPr/>
          </p:nvSpPr>
          <p:spPr>
            <a:xfrm>
              <a:off x="7815551" y="1036545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6" name="Google Shape;506;p22"/>
            <p:cNvSpPr/>
            <p:nvPr/>
          </p:nvSpPr>
          <p:spPr>
            <a:xfrm>
              <a:off x="7815551" y="1590891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7" name="Google Shape;507;p22"/>
            <p:cNvSpPr/>
            <p:nvPr/>
          </p:nvSpPr>
          <p:spPr>
            <a:xfrm>
              <a:off x="7538462" y="1313672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8" name="Google Shape;508;p22"/>
            <p:cNvSpPr/>
            <p:nvPr/>
          </p:nvSpPr>
          <p:spPr>
            <a:xfrm>
              <a:off x="8133377" y="1036516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9" name="Google Shape;509;p22"/>
            <p:cNvSpPr/>
            <p:nvPr/>
          </p:nvSpPr>
          <p:spPr>
            <a:xfrm>
              <a:off x="8133377" y="1590770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0" name="Google Shape;510;p22"/>
            <p:cNvSpPr/>
            <p:nvPr/>
          </p:nvSpPr>
          <p:spPr>
            <a:xfrm>
              <a:off x="8439616" y="1313643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11" name="Google Shape;511;p22"/>
          <p:cNvSpPr/>
          <p:nvPr/>
        </p:nvSpPr>
        <p:spPr>
          <a:xfrm>
            <a:off x="467975" y="1922690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2" name="Google Shape;512;p22"/>
          <p:cNvSpPr/>
          <p:nvPr/>
        </p:nvSpPr>
        <p:spPr>
          <a:xfrm>
            <a:off x="467975" y="2206120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3" name="Google Shape;513;p22"/>
          <p:cNvSpPr/>
          <p:nvPr/>
        </p:nvSpPr>
        <p:spPr>
          <a:xfrm>
            <a:off x="1036029" y="1922690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4" name="Google Shape;514;p22"/>
          <p:cNvSpPr/>
          <p:nvPr/>
        </p:nvSpPr>
        <p:spPr>
          <a:xfrm>
            <a:off x="1036029" y="2206120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5" name="Google Shape;515;p22"/>
          <p:cNvSpPr/>
          <p:nvPr/>
        </p:nvSpPr>
        <p:spPr>
          <a:xfrm>
            <a:off x="1792556" y="1798781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6" name="Google Shape;516;p22"/>
          <p:cNvSpPr/>
          <p:nvPr/>
        </p:nvSpPr>
        <p:spPr>
          <a:xfrm>
            <a:off x="1792556" y="2082211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7" name="Google Shape;517;p22"/>
          <p:cNvSpPr/>
          <p:nvPr/>
        </p:nvSpPr>
        <p:spPr>
          <a:xfrm>
            <a:off x="1792556" y="2365641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8" name="Google Shape;518;p22"/>
          <p:cNvSpPr/>
          <p:nvPr/>
        </p:nvSpPr>
        <p:spPr>
          <a:xfrm>
            <a:off x="1792556" y="2649070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9" name="Google Shape;519;p22"/>
          <p:cNvSpPr/>
          <p:nvPr/>
        </p:nvSpPr>
        <p:spPr>
          <a:xfrm>
            <a:off x="3101289" y="2157052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0" name="Google Shape;520;p22"/>
          <p:cNvSpPr/>
          <p:nvPr/>
        </p:nvSpPr>
        <p:spPr>
          <a:xfrm>
            <a:off x="2535647" y="2157052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4232573" y="2157052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2" name="Google Shape;522;p22"/>
          <p:cNvSpPr/>
          <p:nvPr/>
        </p:nvSpPr>
        <p:spPr>
          <a:xfrm>
            <a:off x="3666931" y="2157052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3" name="Google Shape;523;p22"/>
          <p:cNvSpPr/>
          <p:nvPr/>
        </p:nvSpPr>
        <p:spPr>
          <a:xfrm>
            <a:off x="5055892" y="2033143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4" name="Google Shape;524;p22"/>
          <p:cNvSpPr/>
          <p:nvPr/>
        </p:nvSpPr>
        <p:spPr>
          <a:xfrm>
            <a:off x="5793668" y="2032371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5" name="Google Shape;525;p22"/>
          <p:cNvSpPr/>
          <p:nvPr/>
        </p:nvSpPr>
        <p:spPr>
          <a:xfrm>
            <a:off x="5055892" y="2499408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6" name="Google Shape;526;p22"/>
          <p:cNvSpPr/>
          <p:nvPr/>
        </p:nvSpPr>
        <p:spPr>
          <a:xfrm>
            <a:off x="5793668" y="2498635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22"/>
          <p:cNvSpPr txBox="1"/>
          <p:nvPr/>
        </p:nvSpPr>
        <p:spPr>
          <a:xfrm>
            <a:off x="501732" y="2524004"/>
            <a:ext cx="3135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22"/>
          <p:cNvSpPr txBox="1"/>
          <p:nvPr/>
        </p:nvSpPr>
        <p:spPr>
          <a:xfrm>
            <a:off x="2396881" y="2674439"/>
            <a:ext cx="3135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9" name="Google Shape;529;p22"/>
          <p:cNvSpPr txBox="1"/>
          <p:nvPr/>
        </p:nvSpPr>
        <p:spPr>
          <a:xfrm>
            <a:off x="2549085" y="1896796"/>
            <a:ext cx="3135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0" name="Google Shape;530;p22"/>
          <p:cNvSpPr txBox="1"/>
          <p:nvPr/>
        </p:nvSpPr>
        <p:spPr>
          <a:xfrm>
            <a:off x="5061261" y="1720669"/>
            <a:ext cx="3135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22"/>
          <p:cNvSpPr txBox="1"/>
          <p:nvPr/>
        </p:nvSpPr>
        <p:spPr>
          <a:xfrm>
            <a:off x="468000" y="5346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In a school dining hall, 6 chairs (circles) fit around one rectangular table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2" name="Google Shape;532;p22"/>
          <p:cNvSpPr txBox="1"/>
          <p:nvPr/>
        </p:nvSpPr>
        <p:spPr>
          <a:xfrm>
            <a:off x="483475" y="6059525"/>
            <a:ext cx="4670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tables are arranged like this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3" name="Google Shape;533;p22"/>
          <p:cNvSpPr txBox="1"/>
          <p:nvPr/>
        </p:nvSpPr>
        <p:spPr>
          <a:xfrm>
            <a:off x="497213" y="7153917"/>
            <a:ext cx="491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How many chairs will fit round 4 tables?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34" name="Google Shape;534;p22"/>
          <p:cNvSpPr txBox="1"/>
          <p:nvPr/>
        </p:nvSpPr>
        <p:spPr>
          <a:xfrm>
            <a:off x="465747" y="76281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is the relationship between the number of chairs and the number of tables?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5" name="Google Shape;535;p22"/>
          <p:cNvSpPr txBox="1"/>
          <p:nvPr/>
        </p:nvSpPr>
        <p:spPr>
          <a:xfrm>
            <a:off x="497222" y="8312500"/>
            <a:ext cx="6512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How many chairs can fit round 10 tables?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36" name="Google Shape;536;p22"/>
          <p:cNvGrpSpPr/>
          <p:nvPr/>
        </p:nvGrpSpPr>
        <p:grpSpPr>
          <a:xfrm>
            <a:off x="1936458" y="6401768"/>
            <a:ext cx="3682583" cy="550021"/>
            <a:chOff x="402650" y="1521199"/>
            <a:chExt cx="5297919" cy="791283"/>
          </a:xfrm>
        </p:grpSpPr>
        <p:sp>
          <p:nvSpPr>
            <p:cNvPr id="537" name="Google Shape;537;p22"/>
            <p:cNvSpPr/>
            <p:nvPr/>
          </p:nvSpPr>
          <p:spPr>
            <a:xfrm>
              <a:off x="726730" y="1521311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726730" y="2169669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402650" y="1845490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1134530" y="1521274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1134530" y="2169632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1542330" y="1521199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1542330" y="2169557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1950131" y="1521353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594192" y="1713040"/>
              <a:ext cx="813600" cy="4077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1407792" y="1712928"/>
              <a:ext cx="813600" cy="4077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1950131" y="2169403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2282181" y="1845565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9" name="Google Shape;549;p22"/>
            <p:cNvSpPr/>
            <p:nvPr/>
          </p:nvSpPr>
          <p:spPr>
            <a:xfrm>
              <a:off x="3189455" y="1521324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0" name="Google Shape;550;p22"/>
            <p:cNvSpPr/>
            <p:nvPr/>
          </p:nvSpPr>
          <p:spPr>
            <a:xfrm>
              <a:off x="3189455" y="2169682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1" name="Google Shape;551;p22"/>
            <p:cNvSpPr/>
            <p:nvPr/>
          </p:nvSpPr>
          <p:spPr>
            <a:xfrm>
              <a:off x="2865375" y="1845503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3597255" y="1521286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3597255" y="2169644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4005055" y="1521211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4005055" y="2169569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4412856" y="1521365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3056917" y="1713053"/>
              <a:ext cx="813600" cy="4077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3870517" y="1712940"/>
              <a:ext cx="813600" cy="4077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4412856" y="2169415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5557768" y="1845578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4813205" y="1521211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4813205" y="2169569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5221006" y="1521365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4678667" y="1712940"/>
              <a:ext cx="813600" cy="4077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5221006" y="2169415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66" name="Google Shape;566;p22"/>
          <p:cNvSpPr txBox="1"/>
          <p:nvPr/>
        </p:nvSpPr>
        <p:spPr>
          <a:xfrm>
            <a:off x="497222" y="8780650"/>
            <a:ext cx="6512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Jacob has 25 classmates. How many tables are needed so all 26 of them can have a chair.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7" name="Google Shape;567;p22"/>
          <p:cNvSpPr txBox="1"/>
          <p:nvPr/>
        </p:nvSpPr>
        <p:spPr>
          <a:xfrm>
            <a:off x="3812963" y="7153917"/>
            <a:ext cx="663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68" name="Google Shape;568;p22"/>
          <p:cNvSpPr txBox="1"/>
          <p:nvPr/>
        </p:nvSpPr>
        <p:spPr>
          <a:xfrm>
            <a:off x="1321095" y="7904025"/>
            <a:ext cx="38325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Each table can have 4 chairs plus 2 for the ends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69" name="Google Shape;569;p22"/>
          <p:cNvSpPr txBox="1"/>
          <p:nvPr/>
        </p:nvSpPr>
        <p:spPr>
          <a:xfrm>
            <a:off x="3887213" y="8312492"/>
            <a:ext cx="401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70" name="Google Shape;570;p22"/>
          <p:cNvSpPr txBox="1"/>
          <p:nvPr/>
        </p:nvSpPr>
        <p:spPr>
          <a:xfrm>
            <a:off x="1124788" y="8981711"/>
            <a:ext cx="365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 tables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571" name="Google Shape;571;p22"/>
          <p:cNvGrpSpPr/>
          <p:nvPr/>
        </p:nvGrpSpPr>
        <p:grpSpPr>
          <a:xfrm>
            <a:off x="6177969" y="5426787"/>
            <a:ext cx="832008" cy="550042"/>
            <a:chOff x="7538462" y="1036516"/>
            <a:chExt cx="1023254" cy="676475"/>
          </a:xfrm>
        </p:grpSpPr>
        <p:sp>
          <p:nvSpPr>
            <p:cNvPr id="572" name="Google Shape;572;p22"/>
            <p:cNvSpPr/>
            <p:nvPr/>
          </p:nvSpPr>
          <p:spPr>
            <a:xfrm>
              <a:off x="7702231" y="1200398"/>
              <a:ext cx="695700" cy="348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73" name="Google Shape;573;p22"/>
            <p:cNvSpPr/>
            <p:nvPr/>
          </p:nvSpPr>
          <p:spPr>
            <a:xfrm>
              <a:off x="7815551" y="1036545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74" name="Google Shape;574;p22"/>
            <p:cNvSpPr/>
            <p:nvPr/>
          </p:nvSpPr>
          <p:spPr>
            <a:xfrm>
              <a:off x="7815551" y="1590891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75" name="Google Shape;575;p22"/>
            <p:cNvSpPr/>
            <p:nvPr/>
          </p:nvSpPr>
          <p:spPr>
            <a:xfrm>
              <a:off x="7538462" y="1313672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76" name="Google Shape;576;p22"/>
            <p:cNvSpPr/>
            <p:nvPr/>
          </p:nvSpPr>
          <p:spPr>
            <a:xfrm>
              <a:off x="8133377" y="1036516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77" name="Google Shape;577;p22"/>
            <p:cNvSpPr/>
            <p:nvPr/>
          </p:nvSpPr>
          <p:spPr>
            <a:xfrm>
              <a:off x="8133377" y="1590770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78" name="Google Shape;578;p22"/>
            <p:cNvSpPr/>
            <p:nvPr/>
          </p:nvSpPr>
          <p:spPr>
            <a:xfrm>
              <a:off x="8439616" y="1313643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79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simple-light-2</vt:lpstr>
      <vt:lpstr>Formalising a sequence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2023-12-08T09:32:29.676</cp:lastPrinted>
  <dcterms:created xsi:type="dcterms:W3CDTF">2023-12-08T09:32:29Z</dcterms:created>
  <dcterms:modified xsi:type="dcterms:W3CDTF">2023-12-08T09:32:40Z</dcterms:modified>
</cp:coreProperties>
</file>