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9D2D218-71D0-4922-AEDA-94241C95367E}">
  <a:tblStyle styleId="{79D2D218-71D0-4922-AEDA-94241C9536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40" name="Shape 340"/>
        <p:cNvGrpSpPr/>
        <p:nvPr/>
      </p:nvGrpSpPr>
      <p:grpSpPr>
        <a:xfrm>
          <a:off x="0" y="0"/>
          <a:ext cx="0" cy="0"/>
        </a:xfrm>
      </p:grpSpPr>
      <p:sp>
        <p:nvSpPr>
          <p:cNvPr id="341" name="Google Shape;341;g29a6bfa2c4e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9a6bfa2c4e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472" name="Shape 472"/>
        <p:cNvGrpSpPr/>
        <p:nvPr/>
      </p:nvGrpSpPr>
      <p:grpSpPr>
        <a:xfrm>
          <a:off x="0" y="0"/>
          <a:ext cx="0" cy="0"/>
        </a:xfrm>
      </p:grpSpPr>
      <p:sp>
        <p:nvSpPr>
          <p:cNvPr id="473" name="Google Shape;47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Formalising a sequence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815925"/>
            <a:ext cx="66240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Andeep is making different patterns that go up in fours.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is making different patterns that go up in threes.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show one image from each of their patterns. Which are Andeep’s, which are Alex’s and which could be either?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787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Pictorial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483781" y="3041999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687849" y="3041999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483781" y="3242793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687849" y="3242793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483781" y="3468701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687849" y="3468701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482564" y="3669495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686632" y="3669495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483781" y="3889124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687849" y="3889124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483781" y="4095324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687849" y="4095324"/>
            <a:ext cx="204000" cy="2007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540282" y="3098519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747889" y="3098519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540282" y="3299847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747889" y="3299847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540282" y="3520011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747889" y="3520011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540282" y="3731943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747889" y="3731943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540282" y="3945828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747889" y="3945828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540282" y="4153434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747889" y="4153434"/>
            <a:ext cx="86100" cy="86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164048" y="4387106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373113" y="4387106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6582178" y="4387106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164048" y="4575877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373113" y="4575877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6582178" y="4575877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164048" y="476269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373113" y="476269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6582178" y="476269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164048" y="495774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373113" y="495774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582178" y="4957745"/>
            <a:ext cx="172500" cy="172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3151260" y="3909973"/>
            <a:ext cx="1249059" cy="618859"/>
            <a:chOff x="3685300" y="3256942"/>
            <a:chExt cx="1564648" cy="775221"/>
          </a:xfrm>
        </p:grpSpPr>
        <p:cxnSp>
          <p:nvCxnSpPr>
            <p:cNvPr id="202" name="Google Shape;202;p20"/>
            <p:cNvCxnSpPr/>
            <p:nvPr/>
          </p:nvCxnSpPr>
          <p:spPr>
            <a:xfrm flipH="1">
              <a:off x="3685300" y="3269263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20"/>
            <p:cNvCxnSpPr/>
            <p:nvPr/>
          </p:nvCxnSpPr>
          <p:spPr>
            <a:xfrm flipH="1">
              <a:off x="4203475" y="3269263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20"/>
            <p:cNvCxnSpPr/>
            <p:nvPr/>
          </p:nvCxnSpPr>
          <p:spPr>
            <a:xfrm flipH="1">
              <a:off x="4721650" y="3269263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20"/>
            <p:cNvCxnSpPr/>
            <p:nvPr/>
          </p:nvCxnSpPr>
          <p:spPr>
            <a:xfrm flipH="1">
              <a:off x="5231960" y="3256942"/>
              <a:ext cx="7800" cy="762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20"/>
            <p:cNvCxnSpPr/>
            <p:nvPr/>
          </p:nvCxnSpPr>
          <p:spPr>
            <a:xfrm rot="10800000">
              <a:off x="3693225" y="35050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0"/>
            <p:cNvCxnSpPr/>
            <p:nvPr/>
          </p:nvCxnSpPr>
          <p:spPr>
            <a:xfrm rot="10800000">
              <a:off x="3693225" y="32764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20"/>
            <p:cNvCxnSpPr/>
            <p:nvPr/>
          </p:nvCxnSpPr>
          <p:spPr>
            <a:xfrm rot="10800000">
              <a:off x="3685360" y="3749367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20"/>
            <p:cNvCxnSpPr/>
            <p:nvPr/>
          </p:nvCxnSpPr>
          <p:spPr>
            <a:xfrm rot="10800000">
              <a:off x="4226625" y="35050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20"/>
            <p:cNvCxnSpPr/>
            <p:nvPr/>
          </p:nvCxnSpPr>
          <p:spPr>
            <a:xfrm rot="10800000">
              <a:off x="4226625" y="32764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0"/>
            <p:cNvCxnSpPr/>
            <p:nvPr/>
          </p:nvCxnSpPr>
          <p:spPr>
            <a:xfrm rot="10800000">
              <a:off x="4218760" y="3749367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p20"/>
            <p:cNvCxnSpPr/>
            <p:nvPr/>
          </p:nvCxnSpPr>
          <p:spPr>
            <a:xfrm rot="10800000">
              <a:off x="4723148" y="35050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20"/>
            <p:cNvCxnSpPr/>
            <p:nvPr/>
          </p:nvCxnSpPr>
          <p:spPr>
            <a:xfrm rot="10800000">
              <a:off x="4723148" y="3276438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20"/>
            <p:cNvCxnSpPr/>
            <p:nvPr/>
          </p:nvCxnSpPr>
          <p:spPr>
            <a:xfrm rot="10800000">
              <a:off x="4715284" y="3749367"/>
              <a:ext cx="526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5" name="Google Shape;215;p20"/>
          <p:cNvGrpSpPr/>
          <p:nvPr/>
        </p:nvGrpSpPr>
        <p:grpSpPr>
          <a:xfrm>
            <a:off x="769516" y="4380663"/>
            <a:ext cx="606698" cy="406344"/>
            <a:chOff x="1291375" y="2815398"/>
            <a:chExt cx="759988" cy="509012"/>
          </a:xfrm>
        </p:grpSpPr>
        <p:sp>
          <p:nvSpPr>
            <p:cNvPr id="216" name="Google Shape;216;p20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" name="Google Shape;220;p20"/>
          <p:cNvGrpSpPr/>
          <p:nvPr/>
        </p:nvGrpSpPr>
        <p:grpSpPr>
          <a:xfrm rot="10800000">
            <a:off x="1215620" y="4412096"/>
            <a:ext cx="606698" cy="406344"/>
            <a:chOff x="1291375" y="2815398"/>
            <a:chExt cx="759988" cy="509012"/>
          </a:xfrm>
        </p:grpSpPr>
        <p:sp>
          <p:nvSpPr>
            <p:cNvPr id="221" name="Google Shape;221;p20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5" name="Google Shape;225;p20"/>
          <p:cNvGrpSpPr/>
          <p:nvPr/>
        </p:nvGrpSpPr>
        <p:grpSpPr>
          <a:xfrm>
            <a:off x="1656871" y="4380663"/>
            <a:ext cx="606698" cy="406344"/>
            <a:chOff x="1291375" y="2815398"/>
            <a:chExt cx="759988" cy="509012"/>
          </a:xfrm>
        </p:grpSpPr>
        <p:sp>
          <p:nvSpPr>
            <p:cNvPr id="226" name="Google Shape;226;p20"/>
            <p:cNvSpPr/>
            <p:nvPr/>
          </p:nvSpPr>
          <p:spPr>
            <a:xfrm>
              <a:off x="1291375" y="281539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1543569" y="281539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1795763" y="281539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1543569" y="307301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>
            <a:off x="769532" y="3180494"/>
            <a:ext cx="1635328" cy="611996"/>
            <a:chOff x="701800" y="2343152"/>
            <a:chExt cx="2048513" cy="766624"/>
          </a:xfrm>
        </p:grpSpPr>
        <p:sp>
          <p:nvSpPr>
            <p:cNvPr id="231" name="Google Shape;231;p20"/>
            <p:cNvSpPr/>
            <p:nvPr/>
          </p:nvSpPr>
          <p:spPr>
            <a:xfrm>
              <a:off x="701800" y="2343152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1216100" y="2343152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1730400" y="2343152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2236113" y="2343152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701800" y="2600764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1216100" y="2600764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1730400" y="2600764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2236113" y="2600764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701800" y="2858375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1216100" y="2858375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1730400" y="2858375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2236113" y="2858375"/>
              <a:ext cx="5142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3144734" y="3174988"/>
            <a:ext cx="1642183" cy="383475"/>
            <a:chOff x="3677125" y="2336254"/>
            <a:chExt cx="2057100" cy="480365"/>
          </a:xfrm>
        </p:grpSpPr>
        <p:sp>
          <p:nvSpPr>
            <p:cNvPr id="244" name="Google Shape;244;p20"/>
            <p:cNvSpPr/>
            <p:nvPr/>
          </p:nvSpPr>
          <p:spPr>
            <a:xfrm>
              <a:off x="3677125" y="2336254"/>
              <a:ext cx="514200" cy="4794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4191425" y="2336254"/>
              <a:ext cx="514200" cy="4794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4705725" y="2336254"/>
              <a:ext cx="514200" cy="4794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3742884" y="2612046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3880234" y="2515040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4032634" y="2415246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4276284" y="2612046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4413634" y="2515040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4566034" y="2415246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4778225" y="2612046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4915575" y="2515040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5067975" y="2415246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5220025" y="2337218"/>
              <a:ext cx="514200" cy="4794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5292525" y="2613010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5429875" y="2516004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5582275" y="2416210"/>
              <a:ext cx="108000" cy="10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0" name="Google Shape;260;p20"/>
          <p:cNvSpPr txBox="1"/>
          <p:nvPr/>
        </p:nvSpPr>
        <p:spPr>
          <a:xfrm>
            <a:off x="467938" y="3180509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467938" y="4357492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2812675" y="3156799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2811677" y="3910001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157412" y="3042003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5861083" y="4463308"/>
            <a:ext cx="266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467950" y="5529903"/>
            <a:ext cx="5884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has drawn a ‘dog’ by shading in squares. Their classmates each continue the pattern in different ways.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467950" y="6051994"/>
            <a:ext cx="3312000" cy="26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continues it this way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how the pattern is developing in words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squares would be needed for the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dog?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3779950" y="6038455"/>
            <a:ext cx="3312000" cy="27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Lucas continues it this way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how the pattern is developing in words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squares would be needed for the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dog?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9" name="Google Shape;269;p20"/>
          <p:cNvGrpSpPr/>
          <p:nvPr/>
        </p:nvGrpSpPr>
        <p:grpSpPr>
          <a:xfrm>
            <a:off x="6479451" y="5520399"/>
            <a:ext cx="531768" cy="393014"/>
            <a:chOff x="7247798" y="1063260"/>
            <a:chExt cx="1015600" cy="754200"/>
          </a:xfrm>
        </p:grpSpPr>
        <p:sp>
          <p:nvSpPr>
            <p:cNvPr id="270" name="Google Shape;270;p20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" name="Google Shape;277;p20"/>
          <p:cNvGrpSpPr/>
          <p:nvPr/>
        </p:nvGrpSpPr>
        <p:grpSpPr>
          <a:xfrm>
            <a:off x="711772" y="6342914"/>
            <a:ext cx="531768" cy="393014"/>
            <a:chOff x="7247798" y="1063260"/>
            <a:chExt cx="1015600" cy="754200"/>
          </a:xfrm>
        </p:grpSpPr>
        <p:sp>
          <p:nvSpPr>
            <p:cNvPr id="278" name="Google Shape;278;p20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0"/>
          <p:cNvGrpSpPr/>
          <p:nvPr/>
        </p:nvGrpSpPr>
        <p:grpSpPr>
          <a:xfrm>
            <a:off x="1439486" y="6343007"/>
            <a:ext cx="685479" cy="525603"/>
            <a:chOff x="1487651" y="1725923"/>
            <a:chExt cx="879157" cy="674109"/>
          </a:xfrm>
        </p:grpSpPr>
        <p:sp>
          <p:nvSpPr>
            <p:cNvPr id="286" name="Google Shape;286;p20"/>
            <p:cNvSpPr/>
            <p:nvPr/>
          </p:nvSpPr>
          <p:spPr>
            <a:xfrm>
              <a:off x="1487655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1854170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2023543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1487651" y="2061994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2023547" y="2061994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2023547" y="1725923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2195208" y="1725923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1487676" y="2232032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2023572" y="2232032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1670311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6" name="Google Shape;296;p20"/>
          <p:cNvGrpSpPr/>
          <p:nvPr/>
        </p:nvGrpSpPr>
        <p:grpSpPr>
          <a:xfrm>
            <a:off x="2348000" y="6343007"/>
            <a:ext cx="816152" cy="662825"/>
            <a:chOff x="2735232" y="1725923"/>
            <a:chExt cx="1046751" cy="850103"/>
          </a:xfrm>
        </p:grpSpPr>
        <p:sp>
          <p:nvSpPr>
            <p:cNvPr id="297" name="Google Shape;297;p20"/>
            <p:cNvSpPr/>
            <p:nvPr/>
          </p:nvSpPr>
          <p:spPr>
            <a:xfrm>
              <a:off x="2735236" y="1892963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3269345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3438718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2735232" y="2061007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3438722" y="2061994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3438722" y="1725923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3610383" y="1725923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2735257" y="2231044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3438747" y="2232032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3085486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2909492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2735257" y="2407038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3438747" y="2408026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0" name="Google Shape;310;p20"/>
          <p:cNvGrpSpPr/>
          <p:nvPr/>
        </p:nvGrpSpPr>
        <p:grpSpPr>
          <a:xfrm>
            <a:off x="3976271" y="6508920"/>
            <a:ext cx="531768" cy="393014"/>
            <a:chOff x="7247798" y="1063260"/>
            <a:chExt cx="1015600" cy="754200"/>
          </a:xfrm>
        </p:grpSpPr>
        <p:sp>
          <p:nvSpPr>
            <p:cNvPr id="311" name="Google Shape;311;p20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8" name="Google Shape;318;p20"/>
          <p:cNvGrpSpPr/>
          <p:nvPr/>
        </p:nvGrpSpPr>
        <p:grpSpPr>
          <a:xfrm>
            <a:off x="4704912" y="6379885"/>
            <a:ext cx="685440" cy="524034"/>
            <a:chOff x="5758076" y="1902021"/>
            <a:chExt cx="879107" cy="672097"/>
          </a:xfrm>
        </p:grpSpPr>
        <p:sp>
          <p:nvSpPr>
            <p:cNvPr id="319" name="Google Shape;319;p20"/>
            <p:cNvSpPr/>
            <p:nvPr/>
          </p:nvSpPr>
          <p:spPr>
            <a:xfrm>
              <a:off x="5758080" y="2238074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6124595" y="2238074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6293968" y="2238074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5758076" y="2406118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6293972" y="2406118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6293972" y="2070046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6293983" y="1902021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5940736" y="2238074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6465583" y="1902021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8" name="Google Shape;328;p20"/>
          <p:cNvGrpSpPr/>
          <p:nvPr/>
        </p:nvGrpSpPr>
        <p:grpSpPr>
          <a:xfrm>
            <a:off x="5490752" y="6251574"/>
            <a:ext cx="827852" cy="652343"/>
            <a:chOff x="6765951" y="1684853"/>
            <a:chExt cx="1061757" cy="836659"/>
          </a:xfrm>
        </p:grpSpPr>
        <p:sp>
          <p:nvSpPr>
            <p:cNvPr id="329" name="Google Shape;329;p20"/>
            <p:cNvSpPr/>
            <p:nvPr/>
          </p:nvSpPr>
          <p:spPr>
            <a:xfrm>
              <a:off x="6948605" y="2185468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7315120" y="2185468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7484493" y="2185468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6765951" y="2353512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7484497" y="2353512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7484497" y="201744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7484508" y="1849415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7131261" y="2185468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7484508" y="1684853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6765961" y="2183093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7656108" y="1684865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43" name="Shape 343"/>
        <p:cNvGrpSpPr/>
        <p:nvPr/>
      </p:nvGrpSpPr>
      <p:grpSpPr>
        <a:xfrm>
          <a:off x="0" y="0"/>
          <a:ext cx="0" cy="0"/>
        </a:xfrm>
      </p:grpSpPr>
      <p:sp>
        <p:nvSpPr>
          <p:cNvPr id="344" name="Google Shape;34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Formalising a sequence</a:t>
            </a:r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468000" y="720000"/>
            <a:ext cx="6624000" cy="24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Izzy continues it this way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how the pattern is developing in words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squares would be needed for the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dog?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46" name="Google Shape;346;p21"/>
          <p:cNvGrpSpPr/>
          <p:nvPr/>
        </p:nvGrpSpPr>
        <p:grpSpPr>
          <a:xfrm>
            <a:off x="3088229" y="727645"/>
            <a:ext cx="531768" cy="393014"/>
            <a:chOff x="7247798" y="1063260"/>
            <a:chExt cx="1015600" cy="754200"/>
          </a:xfrm>
        </p:grpSpPr>
        <p:sp>
          <p:nvSpPr>
            <p:cNvPr id="347" name="Google Shape;347;p21"/>
            <p:cNvSpPr/>
            <p:nvPr/>
          </p:nvSpPr>
          <p:spPr>
            <a:xfrm>
              <a:off x="7247804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7499998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7752192" y="1314648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7247798" y="15660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7752198" y="15660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7752198" y="10632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8007798" y="1063260"/>
              <a:ext cx="255600" cy="2514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54" name="Google Shape;354;p21"/>
          <p:cNvSpPr/>
          <p:nvPr/>
        </p:nvSpPr>
        <p:spPr>
          <a:xfrm>
            <a:off x="3815888" y="858677"/>
            <a:ext cx="133800" cy="1311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4101645" y="858677"/>
            <a:ext cx="133800" cy="1311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4233699" y="858677"/>
            <a:ext cx="133800" cy="1311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3815885" y="989694"/>
            <a:ext cx="133800" cy="1311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4233702" y="989694"/>
            <a:ext cx="133800" cy="1311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4233702" y="727672"/>
            <a:ext cx="133800" cy="1311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4367540" y="727672"/>
            <a:ext cx="133800" cy="1311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3815904" y="1122265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4233722" y="1122265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3958298" y="858677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4" name="Google Shape;364;p21"/>
          <p:cNvGrpSpPr/>
          <p:nvPr/>
        </p:nvGrpSpPr>
        <p:grpSpPr>
          <a:xfrm>
            <a:off x="4724457" y="727739"/>
            <a:ext cx="816152" cy="662825"/>
            <a:chOff x="2735232" y="1725923"/>
            <a:chExt cx="1046751" cy="850103"/>
          </a:xfrm>
        </p:grpSpPr>
        <p:sp>
          <p:nvSpPr>
            <p:cNvPr id="365" name="Google Shape;365;p21"/>
            <p:cNvSpPr/>
            <p:nvPr/>
          </p:nvSpPr>
          <p:spPr>
            <a:xfrm>
              <a:off x="2735236" y="1892963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3269345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3438718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2735232" y="2061007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3438722" y="2061994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3438722" y="1725923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3610383" y="1725923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2735257" y="2231044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3438747" y="2232032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3085486" y="1893950"/>
              <a:ext cx="171600" cy="168000"/>
            </a:xfrm>
            <a:prstGeom prst="rect">
              <a:avLst/>
            </a:prstGeom>
            <a:solidFill>
              <a:srgbClr val="9E9E9E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2909492" y="1893950"/>
              <a:ext cx="171600" cy="168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2735257" y="2407038"/>
              <a:ext cx="171600" cy="168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3438747" y="2408026"/>
              <a:ext cx="171600" cy="168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78" name="Google Shape;378;p21"/>
          <p:cNvSpPr/>
          <p:nvPr/>
        </p:nvSpPr>
        <p:spPr>
          <a:xfrm>
            <a:off x="3957897" y="993575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4091734" y="993575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4858846" y="993575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4998815" y="993575"/>
            <a:ext cx="133800" cy="1311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4858846" y="1122258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4998815" y="1122258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5136337" y="993575"/>
            <a:ext cx="133800" cy="131100"/>
          </a:xfrm>
          <a:prstGeom prst="rect">
            <a:avLst/>
          </a:prstGeom>
          <a:solidFill>
            <a:srgbClr val="9E9E9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5132634" y="1122258"/>
            <a:ext cx="133800" cy="131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6" name="Google Shape;386;p21"/>
          <p:cNvCxnSpPr/>
          <p:nvPr/>
        </p:nvCxnSpPr>
        <p:spPr>
          <a:xfrm>
            <a:off x="474745" y="30358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21"/>
          <p:cNvSpPr txBox="1"/>
          <p:nvPr/>
        </p:nvSpPr>
        <p:spPr>
          <a:xfrm>
            <a:off x="460250" y="3535500"/>
            <a:ext cx="64227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sequence, fill in the table for the number of squares and perimeter. Describe the rule for both 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460244" y="31983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Describing patterns in pictorial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9" name="Google Shape;389;p21"/>
          <p:cNvGraphicFramePr>
            <a:graphicFrameLocks noGrp="1"/>
          </p:cNvGraphicFramePr>
          <p:nvPr/>
        </p:nvGraphicFramePr>
        <p:xfrm>
          <a:off x="856979" y="431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{79D2D218-71D0-4922-AEDA-94241C95367E}</a:tableStyleId>
              </a:tblPr>
              <a:tblGrid>
                <a:gridCol w="819250"/>
                <a:gridCol w="282900"/>
                <a:gridCol w="268175"/>
                <a:gridCol w="272200"/>
                <a:gridCol w="266775"/>
                <a:gridCol w="266775"/>
              </a:tblGrid>
              <a:tr h="158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8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8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90" name="Google Shape;390;p21"/>
          <p:cNvSpPr/>
          <p:nvPr/>
        </p:nvSpPr>
        <p:spPr>
          <a:xfrm>
            <a:off x="828975" y="4027563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1" name="Google Shape;391;p21"/>
          <p:cNvGrpSpPr/>
          <p:nvPr/>
        </p:nvGrpSpPr>
        <p:grpSpPr>
          <a:xfrm>
            <a:off x="1105679" y="4027618"/>
            <a:ext cx="280692" cy="140346"/>
            <a:chOff x="1063800" y="1421875"/>
            <a:chExt cx="360000" cy="180000"/>
          </a:xfrm>
        </p:grpSpPr>
        <p:sp>
          <p:nvSpPr>
            <p:cNvPr id="392" name="Google Shape;392;p21"/>
            <p:cNvSpPr/>
            <p:nvPr/>
          </p:nvSpPr>
          <p:spPr>
            <a:xfrm>
              <a:off x="10638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12438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4" name="Google Shape;394;p21"/>
          <p:cNvGrpSpPr/>
          <p:nvPr/>
        </p:nvGrpSpPr>
        <p:grpSpPr>
          <a:xfrm>
            <a:off x="1560552" y="4027618"/>
            <a:ext cx="427170" cy="140346"/>
            <a:chOff x="1803600" y="1421875"/>
            <a:chExt cx="547865" cy="180000"/>
          </a:xfrm>
        </p:grpSpPr>
        <p:sp>
          <p:nvSpPr>
            <p:cNvPr id="395" name="Google Shape;395;p21"/>
            <p:cNvSpPr/>
            <p:nvPr/>
          </p:nvSpPr>
          <p:spPr>
            <a:xfrm>
              <a:off x="18036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1983600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2171465" y="14218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8" name="Google Shape;398;p21"/>
          <p:cNvSpPr txBox="1"/>
          <p:nvPr/>
        </p:nvSpPr>
        <p:spPr>
          <a:xfrm>
            <a:off x="469860" y="4955847"/>
            <a:ext cx="31059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squares: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99" name="Google Shape;399;p21"/>
          <p:cNvCxnSpPr/>
          <p:nvPr/>
        </p:nvCxnSpPr>
        <p:spPr>
          <a:xfrm flipH="1">
            <a:off x="3775680" y="3988229"/>
            <a:ext cx="0" cy="550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0" name="Google Shape;400;p21"/>
          <p:cNvSpPr txBox="1"/>
          <p:nvPr/>
        </p:nvSpPr>
        <p:spPr>
          <a:xfrm>
            <a:off x="469858" y="5921282"/>
            <a:ext cx="31059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Perimeter: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4414713" y="4023184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2" name="Google Shape;402;p21"/>
          <p:cNvGrpSpPr/>
          <p:nvPr/>
        </p:nvGrpSpPr>
        <p:grpSpPr>
          <a:xfrm>
            <a:off x="4723770" y="4023233"/>
            <a:ext cx="280692" cy="280692"/>
            <a:chOff x="3963429" y="1269475"/>
            <a:chExt cx="360000" cy="360000"/>
          </a:xfrm>
        </p:grpSpPr>
        <p:sp>
          <p:nvSpPr>
            <p:cNvPr id="403" name="Google Shape;403;p21"/>
            <p:cNvSpPr/>
            <p:nvPr/>
          </p:nvSpPr>
          <p:spPr>
            <a:xfrm>
              <a:off x="3963429" y="126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396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414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6" name="Google Shape;406;p21"/>
          <p:cNvGrpSpPr/>
          <p:nvPr/>
        </p:nvGrpSpPr>
        <p:grpSpPr>
          <a:xfrm>
            <a:off x="5096008" y="4023226"/>
            <a:ext cx="414705" cy="422294"/>
            <a:chOff x="4440842" y="1087865"/>
            <a:chExt cx="531877" cy="541610"/>
          </a:xfrm>
        </p:grpSpPr>
        <p:grpSp>
          <p:nvGrpSpPr>
            <p:cNvPr id="407" name="Google Shape;407;p21"/>
            <p:cNvGrpSpPr/>
            <p:nvPr/>
          </p:nvGrpSpPr>
          <p:grpSpPr>
            <a:xfrm>
              <a:off x="4440842" y="1269475"/>
              <a:ext cx="360000" cy="360000"/>
              <a:chOff x="3963429" y="1269475"/>
              <a:chExt cx="360000" cy="360000"/>
            </a:xfrm>
          </p:grpSpPr>
          <p:sp>
            <p:nvSpPr>
              <p:cNvPr id="408" name="Google Shape;408;p21"/>
              <p:cNvSpPr/>
              <p:nvPr/>
            </p:nvSpPr>
            <p:spPr>
              <a:xfrm>
                <a:off x="3963429" y="126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>
                <a:off x="396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0" name="Google Shape;410;p21"/>
              <p:cNvSpPr/>
              <p:nvPr/>
            </p:nvSpPr>
            <p:spPr>
              <a:xfrm>
                <a:off x="414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11" name="Google Shape;411;p21"/>
            <p:cNvSpPr/>
            <p:nvPr/>
          </p:nvSpPr>
          <p:spPr>
            <a:xfrm>
              <a:off x="4440854" y="108786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479271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13" name="Google Shape;413;p21"/>
          <p:cNvSpPr txBox="1"/>
          <p:nvPr/>
        </p:nvSpPr>
        <p:spPr>
          <a:xfrm>
            <a:off x="3892474" y="5214480"/>
            <a:ext cx="31917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squares: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414" name="Google Shape;414;p21"/>
          <p:cNvGraphicFramePr>
            <a:graphicFrameLocks noGrp="1"/>
          </p:cNvGraphicFramePr>
          <p:nvPr/>
        </p:nvGraphicFramePr>
        <p:xfrm>
          <a:off x="4157729" y="448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{79D2D218-71D0-4922-AEDA-94241C95367E}</a:tableStyleId>
              </a:tblPr>
              <a:tblGrid>
                <a:gridCol w="946475"/>
                <a:gridCol w="326825"/>
                <a:gridCol w="309825"/>
                <a:gridCol w="314475"/>
                <a:gridCol w="308225"/>
                <a:gridCol w="308225"/>
              </a:tblGrid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15" name="Google Shape;415;p21"/>
          <p:cNvSpPr txBox="1"/>
          <p:nvPr/>
        </p:nvSpPr>
        <p:spPr>
          <a:xfrm>
            <a:off x="3861812" y="6033982"/>
            <a:ext cx="31059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Perimeter: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1"/>
          <p:cNvSpPr txBox="1"/>
          <p:nvPr/>
        </p:nvSpPr>
        <p:spPr>
          <a:xfrm>
            <a:off x="505490" y="3990412"/>
            <a:ext cx="2355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3917091" y="4040954"/>
            <a:ext cx="2355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18" name="Google Shape;418;p21"/>
          <p:cNvGraphicFramePr>
            <a:graphicFrameLocks noGrp="1"/>
          </p:cNvGraphicFramePr>
          <p:nvPr/>
        </p:nvGraphicFramePr>
        <p:xfrm>
          <a:off x="751229" y="746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{79D2D218-71D0-4922-AEDA-94241C95367E}</a:tableStyleId>
              </a:tblPr>
              <a:tblGrid>
                <a:gridCol w="946475"/>
                <a:gridCol w="326850"/>
                <a:gridCol w="309800"/>
                <a:gridCol w="314475"/>
                <a:gridCol w="308225"/>
                <a:gridCol w="308225"/>
              </a:tblGrid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19" name="Google Shape;419;p21"/>
          <p:cNvSpPr txBox="1"/>
          <p:nvPr/>
        </p:nvSpPr>
        <p:spPr>
          <a:xfrm>
            <a:off x="460250" y="8143875"/>
            <a:ext cx="3110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squares: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460250" y="8914811"/>
            <a:ext cx="31104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Perimeter: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4648821" y="683123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2" name="Google Shape;422;p21"/>
          <p:cNvGrpSpPr/>
          <p:nvPr/>
        </p:nvGrpSpPr>
        <p:grpSpPr>
          <a:xfrm>
            <a:off x="4958197" y="6831239"/>
            <a:ext cx="281088" cy="281088"/>
            <a:chOff x="3963429" y="1269475"/>
            <a:chExt cx="360000" cy="360000"/>
          </a:xfrm>
        </p:grpSpPr>
        <p:sp>
          <p:nvSpPr>
            <p:cNvPr id="423" name="Google Shape;423;p21"/>
            <p:cNvSpPr/>
            <p:nvPr/>
          </p:nvSpPr>
          <p:spPr>
            <a:xfrm>
              <a:off x="3963429" y="126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396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414342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6" name="Google Shape;426;p21"/>
          <p:cNvGrpSpPr/>
          <p:nvPr/>
        </p:nvGrpSpPr>
        <p:grpSpPr>
          <a:xfrm>
            <a:off x="5330960" y="6831238"/>
            <a:ext cx="415290" cy="422889"/>
            <a:chOff x="4440842" y="1087865"/>
            <a:chExt cx="531877" cy="541610"/>
          </a:xfrm>
        </p:grpSpPr>
        <p:grpSp>
          <p:nvGrpSpPr>
            <p:cNvPr id="427" name="Google Shape;427;p21"/>
            <p:cNvGrpSpPr/>
            <p:nvPr/>
          </p:nvGrpSpPr>
          <p:grpSpPr>
            <a:xfrm>
              <a:off x="4440842" y="1269475"/>
              <a:ext cx="360000" cy="360000"/>
              <a:chOff x="3963429" y="1269475"/>
              <a:chExt cx="360000" cy="360000"/>
            </a:xfrm>
          </p:grpSpPr>
          <p:sp>
            <p:nvSpPr>
              <p:cNvPr id="428" name="Google Shape;428;p21"/>
              <p:cNvSpPr/>
              <p:nvPr/>
            </p:nvSpPr>
            <p:spPr>
              <a:xfrm>
                <a:off x="3963429" y="126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9" name="Google Shape;429;p21"/>
              <p:cNvSpPr/>
              <p:nvPr/>
            </p:nvSpPr>
            <p:spPr>
              <a:xfrm>
                <a:off x="396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0" name="Google Shape;430;p21"/>
              <p:cNvSpPr/>
              <p:nvPr/>
            </p:nvSpPr>
            <p:spPr>
              <a:xfrm>
                <a:off x="4143429" y="1449475"/>
                <a:ext cx="180000" cy="1800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31" name="Google Shape;431;p21"/>
            <p:cNvSpPr/>
            <p:nvPr/>
          </p:nvSpPr>
          <p:spPr>
            <a:xfrm>
              <a:off x="4440854" y="108786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4792719" y="1449475"/>
              <a:ext cx="180000" cy="180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33" name="Google Shape;433;p21"/>
          <p:cNvSpPr txBox="1"/>
          <p:nvPr/>
        </p:nvSpPr>
        <p:spPr>
          <a:xfrm>
            <a:off x="3887837" y="8024257"/>
            <a:ext cx="31965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squares: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434" name="Google Shape;434;p21"/>
          <p:cNvGraphicFramePr>
            <a:graphicFrameLocks noGrp="1"/>
          </p:cNvGraphicFramePr>
          <p:nvPr/>
        </p:nvGraphicFramePr>
        <p:xfrm>
          <a:off x="4157729" y="73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{79D2D218-71D0-4922-AEDA-94241C95367E}</a:tableStyleId>
              </a:tblPr>
              <a:tblGrid>
                <a:gridCol w="946475"/>
                <a:gridCol w="326825"/>
                <a:gridCol w="309825"/>
                <a:gridCol w="314475"/>
                <a:gridCol w="308225"/>
                <a:gridCol w="308225"/>
              </a:tblGrid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2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35" name="Google Shape;435;p21"/>
          <p:cNvSpPr txBox="1"/>
          <p:nvPr/>
        </p:nvSpPr>
        <p:spPr>
          <a:xfrm>
            <a:off x="3857130" y="8844950"/>
            <a:ext cx="31104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Rule for Perimeter: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5468313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969585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969585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969585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1989106" y="697239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1110127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21"/>
          <p:cNvSpPr/>
          <p:nvPr/>
        </p:nvSpPr>
        <p:spPr>
          <a:xfrm>
            <a:off x="1250670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1250670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21"/>
          <p:cNvSpPr/>
          <p:nvPr/>
        </p:nvSpPr>
        <p:spPr>
          <a:xfrm>
            <a:off x="1250670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1567477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1567477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1567477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1708020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1848563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1848563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1848563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2129649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2129649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2129649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2889302" y="697239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2467674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2467674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2467674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2608217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2748760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2748760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2748760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3029845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3029845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3029845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3167179" y="697239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3307722" y="6972408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3307722" y="6831865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3307722" y="7112951"/>
            <a:ext cx="140400" cy="14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495932" y="6810693"/>
            <a:ext cx="2358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3946337" y="6810693"/>
            <a:ext cx="2358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sp>
        <p:nvSpPr>
          <p:cNvPr id="476" name="Google Shape;47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477" name="Google Shape;477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Formalising a sequence</a:t>
            </a:r>
            <a:endParaRPr/>
          </a:p>
        </p:txBody>
      </p:sp>
      <p:sp>
        <p:nvSpPr>
          <p:cNvPr id="478" name="Google Shape;478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79" name="Google Shape;47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22"/>
          <p:cNvSpPr txBox="1"/>
          <p:nvPr/>
        </p:nvSpPr>
        <p:spPr>
          <a:xfrm>
            <a:off x="465750" y="3304675"/>
            <a:ext cx="662400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To calculate the number of chairs needed, the caretaker multiplies the number of tables by 6. Which way are they planning on arranging the tables?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1" name="Google Shape;481;p22"/>
          <p:cNvSpPr txBox="1"/>
          <p:nvPr/>
        </p:nvSpPr>
        <p:spPr>
          <a:xfrm>
            <a:off x="468000" y="4394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For each arrangement how many more chairs can be added if an extra table is added?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468000" y="720000"/>
            <a:ext cx="66240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a school dining hall, 6 chairs (circles) fit around one rectangular table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465750" y="1400567"/>
            <a:ext cx="4670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are 4 ways to arrange 4 tables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84" name="Google Shape;484;p22"/>
          <p:cNvGrpSpPr/>
          <p:nvPr/>
        </p:nvGrpSpPr>
        <p:grpSpPr>
          <a:xfrm>
            <a:off x="6151456" y="784574"/>
            <a:ext cx="832008" cy="550042"/>
            <a:chOff x="7538462" y="1036516"/>
            <a:chExt cx="1023254" cy="676475"/>
          </a:xfrm>
        </p:grpSpPr>
        <p:sp>
          <p:nvSpPr>
            <p:cNvPr id="485" name="Google Shape;485;p22"/>
            <p:cNvSpPr/>
            <p:nvPr/>
          </p:nvSpPr>
          <p:spPr>
            <a:xfrm>
              <a:off x="7702231" y="1200398"/>
              <a:ext cx="695700" cy="348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86" name="Google Shape;486;p22"/>
            <p:cNvSpPr/>
            <p:nvPr/>
          </p:nvSpPr>
          <p:spPr>
            <a:xfrm>
              <a:off x="7815551" y="1036545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87" name="Google Shape;487;p22"/>
            <p:cNvSpPr/>
            <p:nvPr/>
          </p:nvSpPr>
          <p:spPr>
            <a:xfrm>
              <a:off x="7815551" y="1590891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88" name="Google Shape;488;p22"/>
            <p:cNvSpPr/>
            <p:nvPr/>
          </p:nvSpPr>
          <p:spPr>
            <a:xfrm>
              <a:off x="7538462" y="1313672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89" name="Google Shape;489;p22"/>
            <p:cNvSpPr/>
            <p:nvPr/>
          </p:nvSpPr>
          <p:spPr>
            <a:xfrm>
              <a:off x="8133377" y="1036516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0" name="Google Shape;490;p22"/>
            <p:cNvSpPr/>
            <p:nvPr/>
          </p:nvSpPr>
          <p:spPr>
            <a:xfrm>
              <a:off x="8133377" y="1590770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1" name="Google Shape;491;p22"/>
            <p:cNvSpPr/>
            <p:nvPr/>
          </p:nvSpPr>
          <p:spPr>
            <a:xfrm>
              <a:off x="8439616" y="1313643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92" name="Google Shape;492;p22"/>
          <p:cNvSpPr/>
          <p:nvPr/>
        </p:nvSpPr>
        <p:spPr>
          <a:xfrm>
            <a:off x="467975" y="1922690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467975" y="2206120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1036029" y="1922690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1036029" y="2206120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1792556" y="1798781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1792556" y="2082211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1792556" y="2365641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1792556" y="2649070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3101289" y="2157052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2535647" y="2157052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4232573" y="2157052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3666931" y="2157052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5055892" y="2033143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5793668" y="2032371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5055892" y="2499408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5793668" y="2498635"/>
            <a:ext cx="565800" cy="28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22"/>
          <p:cNvSpPr txBox="1"/>
          <p:nvPr/>
        </p:nvSpPr>
        <p:spPr>
          <a:xfrm>
            <a:off x="501732" y="2524004"/>
            <a:ext cx="3135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2396881" y="2674439"/>
            <a:ext cx="3135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2"/>
          <p:cNvSpPr txBox="1"/>
          <p:nvPr/>
        </p:nvSpPr>
        <p:spPr>
          <a:xfrm>
            <a:off x="2549085" y="1896796"/>
            <a:ext cx="3135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5061261" y="1720669"/>
            <a:ext cx="3135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468000" y="5346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a school dining hall, 6 chairs (circles) fit around one rectangular table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483475" y="6059525"/>
            <a:ext cx="4670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tables are arranged like this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497213" y="7153917"/>
            <a:ext cx="491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many chairs will fit round 4 tables?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465747" y="7628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relationship between the number of chairs and the number of tables?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497222" y="8312500"/>
            <a:ext cx="6512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chairs can fit round 10 tables?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17" name="Google Shape;517;p22"/>
          <p:cNvGrpSpPr/>
          <p:nvPr/>
        </p:nvGrpSpPr>
        <p:grpSpPr>
          <a:xfrm>
            <a:off x="1936458" y="6401768"/>
            <a:ext cx="3682583" cy="550021"/>
            <a:chOff x="402650" y="1521199"/>
            <a:chExt cx="5297919" cy="791283"/>
          </a:xfrm>
        </p:grpSpPr>
        <p:sp>
          <p:nvSpPr>
            <p:cNvPr id="518" name="Google Shape;518;p22"/>
            <p:cNvSpPr/>
            <p:nvPr/>
          </p:nvSpPr>
          <p:spPr>
            <a:xfrm>
              <a:off x="726730" y="1521311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9" name="Google Shape;519;p22"/>
            <p:cNvSpPr/>
            <p:nvPr/>
          </p:nvSpPr>
          <p:spPr>
            <a:xfrm>
              <a:off x="726730" y="2169669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0" name="Google Shape;520;p22"/>
            <p:cNvSpPr/>
            <p:nvPr/>
          </p:nvSpPr>
          <p:spPr>
            <a:xfrm>
              <a:off x="402650" y="1845490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1" name="Google Shape;521;p22"/>
            <p:cNvSpPr/>
            <p:nvPr/>
          </p:nvSpPr>
          <p:spPr>
            <a:xfrm>
              <a:off x="1134530" y="1521274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2" name="Google Shape;522;p22"/>
            <p:cNvSpPr/>
            <p:nvPr/>
          </p:nvSpPr>
          <p:spPr>
            <a:xfrm>
              <a:off x="1134530" y="2169632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3" name="Google Shape;523;p22"/>
            <p:cNvSpPr/>
            <p:nvPr/>
          </p:nvSpPr>
          <p:spPr>
            <a:xfrm>
              <a:off x="1542330" y="1521199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4" name="Google Shape;524;p22"/>
            <p:cNvSpPr/>
            <p:nvPr/>
          </p:nvSpPr>
          <p:spPr>
            <a:xfrm>
              <a:off x="1542330" y="2169557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5" name="Google Shape;525;p22"/>
            <p:cNvSpPr/>
            <p:nvPr/>
          </p:nvSpPr>
          <p:spPr>
            <a:xfrm>
              <a:off x="1950131" y="1521353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6" name="Google Shape;526;p22"/>
            <p:cNvSpPr/>
            <p:nvPr/>
          </p:nvSpPr>
          <p:spPr>
            <a:xfrm>
              <a:off x="594192" y="17130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7" name="Google Shape;527;p22"/>
            <p:cNvSpPr/>
            <p:nvPr/>
          </p:nvSpPr>
          <p:spPr>
            <a:xfrm>
              <a:off x="1407792" y="1712928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1950131" y="2169403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2282181" y="1845565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3189455" y="1521324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3189455" y="2169682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2865375" y="1845503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3597255" y="1521286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3597255" y="2169644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4005055" y="1521211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4005055" y="2169569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4412856" y="1521365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3056917" y="1713053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3870517" y="17129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4412856" y="2169415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5557768" y="1845578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4813205" y="1521211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4813205" y="2169569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5221006" y="1521365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4678667" y="1712940"/>
              <a:ext cx="813600" cy="4077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5221006" y="2169415"/>
              <a:ext cx="142800" cy="1428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47" name="Google Shape;547;p22"/>
          <p:cNvSpPr txBox="1"/>
          <p:nvPr/>
        </p:nvSpPr>
        <p:spPr>
          <a:xfrm>
            <a:off x="497222" y="8780650"/>
            <a:ext cx="6512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Jacob has 25 classmates. How many tables are needed so all 26 of them can have a chair.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48" name="Google Shape;548;p22"/>
          <p:cNvGrpSpPr/>
          <p:nvPr/>
        </p:nvGrpSpPr>
        <p:grpSpPr>
          <a:xfrm>
            <a:off x="6177969" y="5426787"/>
            <a:ext cx="832008" cy="550042"/>
            <a:chOff x="7538462" y="1036516"/>
            <a:chExt cx="1023254" cy="676475"/>
          </a:xfrm>
        </p:grpSpPr>
        <p:sp>
          <p:nvSpPr>
            <p:cNvPr id="549" name="Google Shape;549;p22"/>
            <p:cNvSpPr/>
            <p:nvPr/>
          </p:nvSpPr>
          <p:spPr>
            <a:xfrm>
              <a:off x="7702231" y="1200398"/>
              <a:ext cx="695700" cy="348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7815551" y="1036545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7815551" y="1590891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7538462" y="1313672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8133377" y="1036516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8133377" y="1590770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8439616" y="1313643"/>
              <a:ext cx="122100" cy="122100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Formalising a sequence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2023-12-08T09:35:12.674</cp:lastPrinted>
  <dcterms:created xsi:type="dcterms:W3CDTF">2023-12-08T09:35:12Z</dcterms:created>
  <dcterms:modified xsi:type="dcterms:W3CDTF">2023-12-08T09:32:34Z</dcterms:modified>
</cp:coreProperties>
</file>