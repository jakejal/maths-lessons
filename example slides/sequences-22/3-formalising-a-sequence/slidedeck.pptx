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9144000" cy="5143500"/>
  <p:notesSz cx="6858000" cy="9144000"/>
  <p:embeddedFontLst>
    <p:embeddedFont>
      <p:font typeface="Lexend" panose="00000000000000000000"/>
      <p:regular r:id="rId43"/>
    </p:embeddedFont>
    <p:embeddedFont>
      <p:font typeface="Lexend Medium" panose="00000000000000000000"/>
      <p:regular r:id="rId44"/>
    </p:embeddedFont>
    <p:embeddedFont>
      <p:font typeface="Kalam" panose="02000000000000000000"/>
      <p:regular r:id="rId45"/>
    </p:embeddedFont>
    <p:embeddedFont>
      <p:font typeface="Lexend Light" panose="00000000000000000000"/>
      <p:regular r:id="rId46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CA0D83E-311E-4E5F-8FFE-C6DC9FAF1DE0}">
  <a:tblStyle styleId="{2CA0D83E-311E-4E5F-8FFE-C6DC9FAF1D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tags" Target="tags/tag1.xml" /><Relationship Id="rId43" Type="http://schemas.openxmlformats.org/officeDocument/2006/relationships/font" Target="fonts/font1.fntdata" /><Relationship Id="rId44" Type="http://schemas.openxmlformats.org/officeDocument/2006/relationships/font" Target="fonts/font2.fntdata" /><Relationship Id="rId45" Type="http://schemas.openxmlformats.org/officeDocument/2006/relationships/font" Target="fonts/font3.fntdata" /><Relationship Id="rId46" Type="http://schemas.openxmlformats.org/officeDocument/2006/relationships/font" Target="fonts/font4.fntdata" /><Relationship Id="rId47" Type="http://schemas.openxmlformats.org/officeDocument/2006/relationships/presProps" Target="presProps.xml" /><Relationship Id="rId48" Type="http://schemas.openxmlformats.org/officeDocument/2006/relationships/viewProps" Target="viewProps.xml" /><Relationship Id="rId49" Type="http://schemas.openxmlformats.org/officeDocument/2006/relationships/theme" Target="theme/theme1.xml" /><Relationship Id="rId5" Type="http://schemas.openxmlformats.org/officeDocument/2006/relationships/slide" Target="slides/slide3.xml" /><Relationship Id="rId50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3feef7524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3feef7524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297905d6e03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7905d6e03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293feef7524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93feef7524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293feef7524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93feef7524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4" name="Shape 794"/>
        <p:cNvGrpSpPr/>
        <p:nvPr/>
      </p:nvGrpSpPr>
      <p:grpSpPr>
        <a:xfrm>
          <a:off x="0" y="0"/>
          <a:ext cx="0" cy="0"/>
        </a:xfrm>
      </p:grpSpPr>
      <p:sp>
        <p:nvSpPr>
          <p:cNvPr id="795" name="Google Shape;795;g293feef7524_1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93feef7524_1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1" name="Shape 821"/>
        <p:cNvGrpSpPr/>
        <p:nvPr/>
      </p:nvGrpSpPr>
      <p:grpSpPr>
        <a:xfrm>
          <a:off x="0" y="0"/>
          <a:ext cx="0" cy="0"/>
        </a:xfrm>
      </p:grpSpPr>
      <p:sp>
        <p:nvSpPr>
          <p:cNvPr id="822" name="Google Shape;822;g293feef7524_1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93feef7524_1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2" name="Shape 852"/>
        <p:cNvGrpSpPr/>
        <p:nvPr/>
      </p:nvGrpSpPr>
      <p:grpSpPr>
        <a:xfrm>
          <a:off x="0" y="0"/>
          <a:ext cx="0" cy="0"/>
        </a:xfrm>
      </p:grpSpPr>
      <p:sp>
        <p:nvSpPr>
          <p:cNvPr id="853" name="Google Shape;853;g293feef7524_1_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93feef7524_1_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4" name="Shape 864"/>
        <p:cNvGrpSpPr/>
        <p:nvPr/>
      </p:nvGrpSpPr>
      <p:grpSpPr>
        <a:xfrm>
          <a:off x="0" y="0"/>
          <a:ext cx="0" cy="0"/>
        </a:xfrm>
      </p:grpSpPr>
      <p:sp>
        <p:nvSpPr>
          <p:cNvPr id="865" name="Google Shape;865;g293feef7524_1_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93feef7524_1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6" name="Shape 876"/>
        <p:cNvGrpSpPr/>
        <p:nvPr/>
      </p:nvGrpSpPr>
      <p:grpSpPr>
        <a:xfrm>
          <a:off x="0" y="0"/>
          <a:ext cx="0" cy="0"/>
        </a:xfrm>
      </p:grpSpPr>
      <p:sp>
        <p:nvSpPr>
          <p:cNvPr id="877" name="Google Shape;877;g293feef7524_1_1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93feef7524_1_1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9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g293feef7524_1_2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93feef7524_1_2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2" name="Shape 902"/>
        <p:cNvGrpSpPr/>
        <p:nvPr/>
      </p:nvGrpSpPr>
      <p:grpSpPr>
        <a:xfrm>
          <a:off x="0" y="0"/>
          <a:ext cx="0" cy="0"/>
        </a:xfrm>
      </p:grpSpPr>
      <p:sp>
        <p:nvSpPr>
          <p:cNvPr id="903" name="Google Shape;903;g293feef7524_1_3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93feef7524_1_3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6" name="Shape 916"/>
        <p:cNvGrpSpPr/>
        <p:nvPr/>
      </p:nvGrpSpPr>
      <p:grpSpPr>
        <a:xfrm>
          <a:off x="0" y="0"/>
          <a:ext cx="0" cy="0"/>
        </a:xfrm>
      </p:grpSpPr>
      <p:sp>
        <p:nvSpPr>
          <p:cNvPr id="917" name="Google Shape;917;g293feef7524_1_3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93feef7524_1_3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1" name="Shape 971"/>
        <p:cNvGrpSpPr/>
        <p:nvPr/>
      </p:nvGrpSpPr>
      <p:grpSpPr>
        <a:xfrm>
          <a:off x="0" y="0"/>
          <a:ext cx="0" cy="0"/>
        </a:xfrm>
      </p:grpSpPr>
      <p:sp>
        <p:nvSpPr>
          <p:cNvPr id="972" name="Google Shape;972;g293feef7524_1_4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293feef7524_1_4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6" name="Shape 1076"/>
        <p:cNvGrpSpPr/>
        <p:nvPr/>
      </p:nvGrpSpPr>
      <p:grpSpPr>
        <a:xfrm>
          <a:off x="0" y="0"/>
          <a:ext cx="0" cy="0"/>
        </a:xfrm>
      </p:grpSpPr>
      <p:sp>
        <p:nvSpPr>
          <p:cNvPr id="1077" name="Google Shape;1077;g293feef7524_1_5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93feef7524_1_5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4" name="Shape 1154"/>
        <p:cNvGrpSpPr/>
        <p:nvPr/>
      </p:nvGrpSpPr>
      <p:grpSpPr>
        <a:xfrm>
          <a:off x="0" y="0"/>
          <a:ext cx="0" cy="0"/>
        </a:xfrm>
      </p:grpSpPr>
      <p:sp>
        <p:nvSpPr>
          <p:cNvPr id="1155" name="Google Shape;1155;g293feef7524_1_7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93feef7524_1_7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9" name="Shape 1209"/>
        <p:cNvGrpSpPr/>
        <p:nvPr/>
      </p:nvGrpSpPr>
      <p:grpSpPr>
        <a:xfrm>
          <a:off x="0" y="0"/>
          <a:ext cx="0" cy="0"/>
        </a:xfrm>
      </p:grpSpPr>
      <p:sp>
        <p:nvSpPr>
          <p:cNvPr id="1210" name="Google Shape;1210;g293feef7524_1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93feef7524_1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2" name="Shape 1322"/>
        <p:cNvGrpSpPr/>
        <p:nvPr/>
      </p:nvGrpSpPr>
      <p:grpSpPr>
        <a:xfrm>
          <a:off x="0" y="0"/>
          <a:ext cx="0" cy="0"/>
        </a:xfrm>
      </p:grpSpPr>
      <p:sp>
        <p:nvSpPr>
          <p:cNvPr id="1323" name="Google Shape;1323;g293feef7524_1_9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93feef7524_1_9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3" name="Shape 1403"/>
        <p:cNvGrpSpPr/>
        <p:nvPr/>
      </p:nvGrpSpPr>
      <p:grpSpPr>
        <a:xfrm>
          <a:off x="0" y="0"/>
          <a:ext cx="0" cy="0"/>
        </a:xfrm>
      </p:grpSpPr>
      <p:sp>
        <p:nvSpPr>
          <p:cNvPr id="1404" name="Google Shape;1404;g293feef7524_1_10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93feef7524_1_10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9" name="Shape 1459"/>
        <p:cNvGrpSpPr/>
        <p:nvPr/>
      </p:nvGrpSpPr>
      <p:grpSpPr>
        <a:xfrm>
          <a:off x="0" y="0"/>
          <a:ext cx="0" cy="0"/>
        </a:xfrm>
      </p:grpSpPr>
      <p:sp>
        <p:nvSpPr>
          <p:cNvPr id="1460" name="Google Shape;1460;g293feef7524_1_18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293feef7524_1_18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67" name="Shape 1467"/>
        <p:cNvGrpSpPr/>
        <p:nvPr/>
      </p:nvGrpSpPr>
      <p:grpSpPr>
        <a:xfrm>
          <a:off x="0" y="0"/>
          <a:ext cx="0" cy="0"/>
        </a:xfrm>
      </p:grpSpPr>
      <p:sp>
        <p:nvSpPr>
          <p:cNvPr id="1468" name="Google Shape;1468;g293feef7524_1_11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293feef7524_1_11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0" name="Shape 1480"/>
        <p:cNvGrpSpPr/>
        <p:nvPr/>
      </p:nvGrpSpPr>
      <p:grpSpPr>
        <a:xfrm>
          <a:off x="0" y="0"/>
          <a:ext cx="0" cy="0"/>
        </a:xfrm>
      </p:grpSpPr>
      <p:sp>
        <p:nvSpPr>
          <p:cNvPr id="1481" name="Google Shape;1481;g293feef7524_1_11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93feef7524_1_11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3" name="Shape 1493"/>
        <p:cNvGrpSpPr/>
        <p:nvPr/>
      </p:nvGrpSpPr>
      <p:grpSpPr>
        <a:xfrm>
          <a:off x="0" y="0"/>
          <a:ext cx="0" cy="0"/>
        </a:xfrm>
      </p:grpSpPr>
      <p:sp>
        <p:nvSpPr>
          <p:cNvPr id="1494" name="Google Shape;1494;g293feef7524_1_11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93feef7524_1_11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4" name="Shape 1504"/>
        <p:cNvGrpSpPr/>
        <p:nvPr/>
      </p:nvGrpSpPr>
      <p:grpSpPr>
        <a:xfrm>
          <a:off x="0" y="0"/>
          <a:ext cx="0" cy="0"/>
        </a:xfrm>
      </p:grpSpPr>
      <p:sp>
        <p:nvSpPr>
          <p:cNvPr id="1505" name="Google Shape;1505;g293feef7524_1_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293feef7524_1_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6" name="Shape 1516"/>
        <p:cNvGrpSpPr/>
        <p:nvPr/>
      </p:nvGrpSpPr>
      <p:grpSpPr>
        <a:xfrm>
          <a:off x="0" y="0"/>
          <a:ext cx="0" cy="0"/>
        </a:xfrm>
      </p:grpSpPr>
      <p:sp>
        <p:nvSpPr>
          <p:cNvPr id="1517" name="Google Shape;1517;g293feef7524_1_13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293feef7524_1_13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6" name="Shape 1606"/>
        <p:cNvGrpSpPr/>
        <p:nvPr/>
      </p:nvGrpSpPr>
      <p:grpSpPr>
        <a:xfrm>
          <a:off x="0" y="0"/>
          <a:ext cx="0" cy="0"/>
        </a:xfrm>
      </p:grpSpPr>
      <p:sp>
        <p:nvSpPr>
          <p:cNvPr id="1607" name="Google Shape;1607;g2941d868d0a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2941d868d0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96" name="Shape 1696"/>
        <p:cNvGrpSpPr/>
        <p:nvPr/>
      </p:nvGrpSpPr>
      <p:grpSpPr>
        <a:xfrm>
          <a:off x="0" y="0"/>
          <a:ext cx="0" cy="0"/>
        </a:xfrm>
      </p:grpSpPr>
      <p:sp>
        <p:nvSpPr>
          <p:cNvPr id="1697" name="Google Shape;1697;g2941d868d0a_0_4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2941d868d0a_0_4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1" name="Shape 1741"/>
        <p:cNvGrpSpPr/>
        <p:nvPr/>
      </p:nvGrpSpPr>
      <p:grpSpPr>
        <a:xfrm>
          <a:off x="0" y="0"/>
          <a:ext cx="0" cy="0"/>
        </a:xfrm>
      </p:grpSpPr>
      <p:sp>
        <p:nvSpPr>
          <p:cNvPr id="1742" name="Google Shape;1742;g2941d868d0a_0_1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941d868d0a_0_1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6" name="Shape 1776"/>
        <p:cNvGrpSpPr/>
        <p:nvPr/>
      </p:nvGrpSpPr>
      <p:grpSpPr>
        <a:xfrm>
          <a:off x="0" y="0"/>
          <a:ext cx="0" cy="0"/>
        </a:xfrm>
      </p:grpSpPr>
      <p:sp>
        <p:nvSpPr>
          <p:cNvPr id="1777" name="Google Shape;1777;g2941d868d0a_0_2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" name="Google Shape;1778;g2941d868d0a_0_2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37" name="Shape 1837"/>
        <p:cNvGrpSpPr/>
        <p:nvPr/>
      </p:nvGrpSpPr>
      <p:grpSpPr>
        <a:xfrm>
          <a:off x="0" y="0"/>
          <a:ext cx="0" cy="0"/>
        </a:xfrm>
      </p:grpSpPr>
      <p:sp>
        <p:nvSpPr>
          <p:cNvPr id="1838" name="Google Shape;1838;g293feef7524_1_12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93feef7524_1_12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3" name="Shape 1873"/>
        <p:cNvGrpSpPr/>
        <p:nvPr/>
      </p:nvGrpSpPr>
      <p:grpSpPr>
        <a:xfrm>
          <a:off x="0" y="0"/>
          <a:ext cx="0" cy="0"/>
        </a:xfrm>
      </p:grpSpPr>
      <p:sp>
        <p:nvSpPr>
          <p:cNvPr id="1874" name="Google Shape;1874;g293feef7524_1_11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293feef7524_1_11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2" name="Shape 1922"/>
        <p:cNvGrpSpPr/>
        <p:nvPr/>
      </p:nvGrpSpPr>
      <p:grpSpPr>
        <a:xfrm>
          <a:off x="0" y="0"/>
          <a:ext cx="0" cy="0"/>
        </a:xfrm>
      </p:grpSpPr>
      <p:sp>
        <p:nvSpPr>
          <p:cNvPr id="1923" name="Google Shape;1923;g2941d868d0a_0_3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2941d868d0a_0_3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7" name="Shape 1957"/>
        <p:cNvGrpSpPr/>
        <p:nvPr/>
      </p:nvGrpSpPr>
      <p:grpSpPr>
        <a:xfrm>
          <a:off x="0" y="0"/>
          <a:ext cx="0" cy="0"/>
        </a:xfrm>
      </p:grpSpPr>
      <p:sp>
        <p:nvSpPr>
          <p:cNvPr id="1958" name="Google Shape;1958;g2941d868d0a_0_4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2941d868d0a_0_4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8" name="Shape 2018"/>
        <p:cNvGrpSpPr/>
        <p:nvPr/>
      </p:nvGrpSpPr>
      <p:grpSpPr>
        <a:xfrm>
          <a:off x="0" y="0"/>
          <a:ext cx="0" cy="0"/>
        </a:xfrm>
      </p:grpSpPr>
      <p:sp>
        <p:nvSpPr>
          <p:cNvPr id="2019" name="Google Shape;2019;g293feef7524_1_14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0" name="Google Shape;2020;g293feef7524_1_14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54" name="Shape 2054"/>
        <p:cNvGrpSpPr/>
        <p:nvPr/>
      </p:nvGrpSpPr>
      <p:grpSpPr>
        <a:xfrm>
          <a:off x="0" y="0"/>
          <a:ext cx="0" cy="0"/>
        </a:xfrm>
      </p:grpSpPr>
      <p:sp>
        <p:nvSpPr>
          <p:cNvPr id="2055" name="Google Shape;2055;g293feef7524_1_14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293feef7524_1_14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07" name="Shape 2107"/>
        <p:cNvGrpSpPr/>
        <p:nvPr/>
      </p:nvGrpSpPr>
      <p:grpSpPr>
        <a:xfrm>
          <a:off x="0" y="0"/>
          <a:ext cx="0" cy="0"/>
        </a:xfrm>
      </p:grpSpPr>
      <p:sp>
        <p:nvSpPr>
          <p:cNvPr id="2108" name="Google Shape;2108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9" name="Google Shape;2109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13" name="Shape 2113"/>
        <p:cNvGrpSpPr/>
        <p:nvPr/>
      </p:nvGrpSpPr>
      <p:grpSpPr>
        <a:xfrm>
          <a:off x="0" y="0"/>
          <a:ext cx="0" cy="0"/>
        </a:xfrm>
      </p:grpSpPr>
      <p:sp>
        <p:nvSpPr>
          <p:cNvPr id="2114" name="Google Shape;2114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3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8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8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8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4.png" /><Relationship Id="rId4" Type="http://schemas.openxmlformats.org/officeDocument/2006/relationships/image" Target="../media/image46.png" /><Relationship Id="rId5" Type="http://schemas.openxmlformats.org/officeDocument/2006/relationships/image" Target="../media/image48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8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4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43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49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9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Formalising a sequence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Sequences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appreciate that a sequence is a succession of terms usually formed according to a rule.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sequence is a succession of objects, diagrams or values usually formed according to a rule. 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8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Each value or pattern in a sequence is called a </a:t>
            </a:r>
            <a:r>
              <a:rPr lang="en-GB" b="1"/>
              <a:t>term.</a:t>
            </a:r>
            <a:endParaRPr b="1"/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777" name="Google Shape;777;p6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sp>
        <p:nvSpPr>
          <p:cNvPr id="778" name="Google Shape;778;p6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Formalising a sequence</a:t>
            </a:r>
            <a:endParaRPr/>
          </a:p>
        </p:txBody>
      </p:sp>
      <p:pic>
        <p:nvPicPr>
          <p:cNvPr id="779" name="Google Shape;77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785" name="Google Shape;785;p70"/>
          <p:cNvSpPr txBox="1"/>
          <p:nvPr>
            <p:ph type="body" idx="1"/>
          </p:nvPr>
        </p:nvSpPr>
        <p:spPr>
          <a:xfrm>
            <a:off x="324000" y="675300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sequence can be made from a pattern of objects.</a:t>
            </a:r>
            <a:endParaRPr/>
          </a:p>
        </p:txBody>
      </p:sp>
      <p:graphicFrame>
        <p:nvGraphicFramePr>
          <p:cNvPr id="786" name="Google Shape;786;p70"/>
          <p:cNvGraphicFramePr>
            <a:graphicFrameLocks noGrp="1"/>
          </p:cNvGraphicFramePr>
          <p:nvPr/>
        </p:nvGraphicFramePr>
        <p:xfrm>
          <a:off x="324000" y="200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40000"/>
                <a:gridCol w="240000"/>
                <a:gridCol w="240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787" name="Google Shape;787;p70"/>
          <p:cNvSpPr txBox="1"/>
          <p:nvPr>
            <p:ph type="body" idx="1"/>
          </p:nvPr>
        </p:nvSpPr>
        <p:spPr>
          <a:xfrm>
            <a:off x="324000" y="1184400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Here is the first pattern in a sequence. What could the next pattern look like?</a:t>
            </a:r>
            <a:endParaRPr/>
          </a:p>
        </p:txBody>
      </p:sp>
      <p:graphicFrame>
        <p:nvGraphicFramePr>
          <p:cNvPr id="788" name="Google Shape;788;p70"/>
          <p:cNvGraphicFramePr>
            <a:graphicFrameLocks noGrp="1"/>
          </p:cNvGraphicFramePr>
          <p:nvPr/>
        </p:nvGraphicFramePr>
        <p:xfrm>
          <a:off x="371175" y="303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5075"/>
                <a:gridCol w="235075"/>
                <a:gridCol w="235075"/>
                <a:gridCol w="235075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9" name="Google Shape;789;p70"/>
          <p:cNvGraphicFramePr>
            <a:graphicFrameLocks noGrp="1"/>
          </p:cNvGraphicFramePr>
          <p:nvPr/>
        </p:nvGraphicFramePr>
        <p:xfrm>
          <a:off x="2042465" y="2827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5075"/>
                <a:gridCol w="235075"/>
                <a:gridCol w="235075"/>
                <a:gridCol w="235075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0" name="Google Shape;790;p70"/>
          <p:cNvGraphicFramePr>
            <a:graphicFrameLocks noGrp="1"/>
          </p:cNvGraphicFramePr>
          <p:nvPr/>
        </p:nvGraphicFramePr>
        <p:xfrm>
          <a:off x="3713775" y="282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40000"/>
                <a:gridCol w="240000"/>
                <a:gridCol w="240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1" name="Google Shape;791;p70"/>
          <p:cNvGraphicFramePr>
            <a:graphicFrameLocks noGrp="1"/>
          </p:cNvGraphicFramePr>
          <p:nvPr/>
        </p:nvGraphicFramePr>
        <p:xfrm>
          <a:off x="5056052" y="25590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40150"/>
                <a:gridCol w="240150"/>
                <a:gridCol w="240150"/>
                <a:gridCol w="240150"/>
                <a:gridCol w="24015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792" name="Google Shape;792;p70"/>
          <p:cNvSpPr txBox="1"/>
          <p:nvPr>
            <p:ph type="body" idx="1"/>
          </p:nvPr>
        </p:nvSpPr>
        <p:spPr>
          <a:xfrm>
            <a:off x="324000" y="3997550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To be able to draw the next pattern we need to understand how the pattern develops.</a:t>
            </a:r>
            <a:endParaRPr/>
          </a:p>
        </p:txBody>
      </p:sp>
      <p:sp>
        <p:nvSpPr>
          <p:cNvPr id="793" name="Google Shape;793;p70"/>
          <p:cNvSpPr txBox="1"/>
          <p:nvPr>
            <p:ph type="body" idx="1"/>
          </p:nvPr>
        </p:nvSpPr>
        <p:spPr>
          <a:xfrm>
            <a:off x="1684800" y="2160000"/>
            <a:ext cx="31392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are some suggestions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7" name="Shape 797"/>
        <p:cNvGrpSpPr/>
        <p:nvPr/>
      </p:nvGrpSpPr>
      <p:grpSpPr>
        <a:xfrm>
          <a:off x="0" y="0"/>
          <a:ext cx="0" cy="0"/>
        </a:xfrm>
      </p:grpSpPr>
      <p:sp>
        <p:nvSpPr>
          <p:cNvPr id="798" name="Google Shape;79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799" name="Google Shape;799;p71"/>
          <p:cNvSpPr txBox="1"/>
          <p:nvPr>
            <p:ph type="body" idx="1"/>
          </p:nvPr>
        </p:nvSpPr>
        <p:spPr>
          <a:xfrm>
            <a:off x="324000" y="675300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These are the first two patterns in a sequence</a:t>
            </a:r>
            <a:endParaRPr/>
          </a:p>
        </p:txBody>
      </p:sp>
      <p:graphicFrame>
        <p:nvGraphicFramePr>
          <p:cNvPr id="800" name="Google Shape;800;p71"/>
          <p:cNvGraphicFramePr>
            <a:graphicFrameLocks noGrp="1"/>
          </p:cNvGraphicFramePr>
          <p:nvPr/>
        </p:nvGraphicFramePr>
        <p:xfrm>
          <a:off x="324000" y="113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40000"/>
                <a:gridCol w="240000"/>
                <a:gridCol w="240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1" name="Google Shape;801;p71"/>
          <p:cNvGraphicFramePr>
            <a:graphicFrameLocks noGrp="1"/>
          </p:cNvGraphicFramePr>
          <p:nvPr/>
        </p:nvGraphicFramePr>
        <p:xfrm>
          <a:off x="1385725" y="113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5075"/>
                <a:gridCol w="235075"/>
                <a:gridCol w="235075"/>
                <a:gridCol w="235075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802" name="Google Shape;802;p71"/>
          <p:cNvSpPr txBox="1"/>
          <p:nvPr>
            <p:ph type="body" idx="1"/>
          </p:nvPr>
        </p:nvSpPr>
        <p:spPr>
          <a:xfrm>
            <a:off x="324000" y="2464200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could we describe how the pattern is continued?</a:t>
            </a:r>
            <a:endParaRPr/>
          </a:p>
        </p:txBody>
      </p:sp>
      <p:sp>
        <p:nvSpPr>
          <p:cNvPr id="803" name="Google Shape;803;p71"/>
          <p:cNvSpPr txBox="1"/>
          <p:nvPr>
            <p:ph type="body" idx="1"/>
          </p:nvPr>
        </p:nvSpPr>
        <p:spPr>
          <a:xfrm>
            <a:off x="324000" y="1903600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would the next pattern look like?</a:t>
            </a:r>
            <a:endParaRPr/>
          </a:p>
        </p:txBody>
      </p:sp>
      <p:graphicFrame>
        <p:nvGraphicFramePr>
          <p:cNvPr id="804" name="Google Shape;804;p71"/>
          <p:cNvGraphicFramePr>
            <a:graphicFrameLocks noGrp="1"/>
          </p:cNvGraphicFramePr>
          <p:nvPr/>
        </p:nvGraphicFramePr>
        <p:xfrm>
          <a:off x="2784600" y="113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4000"/>
                <a:gridCol w="234000"/>
                <a:gridCol w="234000"/>
                <a:gridCol w="234000"/>
                <a:gridCol w="234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pSp>
        <p:nvGrpSpPr>
          <p:cNvPr id="805" name="Google Shape;805;p71"/>
          <p:cNvGrpSpPr/>
          <p:nvPr/>
        </p:nvGrpSpPr>
        <p:grpSpPr>
          <a:xfrm>
            <a:off x="935773" y="2911675"/>
            <a:ext cx="1955251" cy="1316250"/>
            <a:chOff x="1902373" y="1836975"/>
            <a:chExt cx="1955251" cy="1316250"/>
          </a:xfrm>
        </p:grpSpPr>
        <p:pic>
          <p:nvPicPr>
            <p:cNvPr id="806" name="Google Shape;806;p71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1902373" y="18369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7" name="Google Shape;807;p71"/>
            <p:cNvSpPr txBox="1"/>
            <p:nvPr/>
          </p:nvSpPr>
          <p:spPr>
            <a:xfrm flipH="1">
              <a:off x="2078107" y="2089313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pattern increases by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8" name="Google Shape;808;p71"/>
          <p:cNvGrpSpPr/>
          <p:nvPr/>
        </p:nvGrpSpPr>
        <p:grpSpPr>
          <a:xfrm>
            <a:off x="3875248" y="2911675"/>
            <a:ext cx="1955251" cy="1316250"/>
            <a:chOff x="3875248" y="2911675"/>
            <a:chExt cx="1955251" cy="1316250"/>
          </a:xfrm>
        </p:grpSpPr>
        <p:pic>
          <p:nvPicPr>
            <p:cNvPr id="809" name="Google Shape;809;p71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3875248" y="29116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71"/>
            <p:cNvSpPr txBox="1"/>
            <p:nvPr/>
          </p:nvSpPr>
          <p:spPr>
            <a:xfrm flipH="1">
              <a:off x="4131607" y="3119238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pattern increases by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1" name="Google Shape;811;p71"/>
          <p:cNvGrpSpPr/>
          <p:nvPr/>
        </p:nvGrpSpPr>
        <p:grpSpPr>
          <a:xfrm>
            <a:off x="6890923" y="2932825"/>
            <a:ext cx="1955251" cy="1316250"/>
            <a:chOff x="6890923" y="2932825"/>
            <a:chExt cx="1955251" cy="1316250"/>
          </a:xfrm>
        </p:grpSpPr>
        <p:pic>
          <p:nvPicPr>
            <p:cNvPr id="812" name="Google Shape;812;p71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6890923" y="293282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3" name="Google Shape;813;p71"/>
            <p:cNvSpPr txBox="1"/>
            <p:nvPr/>
          </p:nvSpPr>
          <p:spPr>
            <a:xfrm flipH="1">
              <a:off x="7147282" y="3140388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pattern increases by 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4" name="Google Shape;814;p71"/>
          <p:cNvSpPr txBox="1"/>
          <p:nvPr>
            <p:ph type="body" idx="1"/>
          </p:nvPr>
        </p:nvSpPr>
        <p:spPr>
          <a:xfrm>
            <a:off x="324000" y="4415700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do you think each pupil is referring to?</a:t>
            </a:r>
            <a:endParaRPr sz="2000"/>
          </a:p>
        </p:txBody>
      </p:sp>
      <p:pic>
        <p:nvPicPr>
          <p:cNvPr id="815" name="Google Shape;81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880" y="3239999"/>
            <a:ext cx="409645" cy="77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71"/>
          <p:cNvSpPr txBox="1"/>
          <p:nvPr/>
        </p:nvSpPr>
        <p:spPr>
          <a:xfrm>
            <a:off x="324000" y="3981000"/>
            <a:ext cx="9402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1"/>
          <p:cNvSpPr txBox="1"/>
          <p:nvPr/>
        </p:nvSpPr>
        <p:spPr>
          <a:xfrm>
            <a:off x="6025648" y="4077297"/>
            <a:ext cx="10368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1"/>
          <p:cNvSpPr txBox="1"/>
          <p:nvPr/>
        </p:nvSpPr>
        <p:spPr>
          <a:xfrm>
            <a:off x="3003425" y="3915297"/>
            <a:ext cx="9402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9" name="Google Shape;819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2600" y="3315751"/>
            <a:ext cx="54655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799" y="3274200"/>
            <a:ext cx="511250" cy="73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4" name="Shape 824"/>
        <p:cNvGrpSpPr/>
        <p:nvPr/>
      </p:nvGrpSpPr>
      <p:grpSpPr>
        <a:xfrm>
          <a:off x="0" y="0"/>
          <a:ext cx="0" cy="0"/>
        </a:xfrm>
      </p:grpSpPr>
      <p:sp>
        <p:nvSpPr>
          <p:cNvPr id="825" name="Google Shape;82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grpSp>
        <p:nvGrpSpPr>
          <p:cNvPr id="826" name="Google Shape;826;p72"/>
          <p:cNvGrpSpPr/>
          <p:nvPr/>
        </p:nvGrpSpPr>
        <p:grpSpPr>
          <a:xfrm>
            <a:off x="975851" y="1396518"/>
            <a:ext cx="1955251" cy="1031414"/>
            <a:chOff x="1902373" y="1836975"/>
            <a:chExt cx="1955251" cy="1316250"/>
          </a:xfrm>
        </p:grpSpPr>
        <p:pic>
          <p:nvPicPr>
            <p:cNvPr id="827" name="Google Shape;827;p72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1902373" y="18369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8" name="Google Shape;828;p72"/>
            <p:cNvSpPr txBox="1"/>
            <p:nvPr/>
          </p:nvSpPr>
          <p:spPr>
            <a:xfrm flipH="1">
              <a:off x="2078107" y="2089313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pattern increases by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9" name="Google Shape;829;p72"/>
          <p:cNvGrpSpPr/>
          <p:nvPr/>
        </p:nvGrpSpPr>
        <p:grpSpPr>
          <a:xfrm>
            <a:off x="3887302" y="1396518"/>
            <a:ext cx="1955251" cy="1031413"/>
            <a:chOff x="3875248" y="2911675"/>
            <a:chExt cx="1955251" cy="1316250"/>
          </a:xfrm>
        </p:grpSpPr>
        <p:pic>
          <p:nvPicPr>
            <p:cNvPr id="830" name="Google Shape;830;p72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3875248" y="29116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72"/>
            <p:cNvSpPr txBox="1"/>
            <p:nvPr/>
          </p:nvSpPr>
          <p:spPr>
            <a:xfrm flipH="1">
              <a:off x="4131607" y="3119238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pattern increases by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2" name="Google Shape;832;p72"/>
          <p:cNvGrpSpPr/>
          <p:nvPr/>
        </p:nvGrpSpPr>
        <p:grpSpPr>
          <a:xfrm>
            <a:off x="6878904" y="1396518"/>
            <a:ext cx="1955251" cy="1031414"/>
            <a:chOff x="6878898" y="2791283"/>
            <a:chExt cx="1955251" cy="1316250"/>
          </a:xfrm>
        </p:grpSpPr>
        <p:pic>
          <p:nvPicPr>
            <p:cNvPr id="833" name="Google Shape;833;p72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6878898" y="2791283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4" name="Google Shape;834;p72"/>
            <p:cNvSpPr txBox="1"/>
            <p:nvPr/>
          </p:nvSpPr>
          <p:spPr>
            <a:xfrm flipH="1">
              <a:off x="7062432" y="3004923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pattern increases by 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5" name="Google Shape;835;p72"/>
          <p:cNvSpPr txBox="1"/>
          <p:nvPr>
            <p:ph type="body" idx="1"/>
          </p:nvPr>
        </p:nvSpPr>
        <p:spPr>
          <a:xfrm>
            <a:off x="324000" y="770675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do you think each pupil is referring to?</a:t>
            </a:r>
            <a:endParaRPr sz="2000"/>
          </a:p>
        </p:txBody>
      </p:sp>
      <p:pic>
        <p:nvPicPr>
          <p:cNvPr id="836" name="Google Shape;83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880" y="1563599"/>
            <a:ext cx="409645" cy="77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2"/>
          <p:cNvSpPr txBox="1"/>
          <p:nvPr/>
        </p:nvSpPr>
        <p:spPr>
          <a:xfrm>
            <a:off x="324000" y="2304600"/>
            <a:ext cx="9402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2"/>
          <p:cNvSpPr txBox="1"/>
          <p:nvPr/>
        </p:nvSpPr>
        <p:spPr>
          <a:xfrm>
            <a:off x="5994023" y="2348710"/>
            <a:ext cx="10368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2"/>
          <p:cNvSpPr txBox="1"/>
          <p:nvPr/>
        </p:nvSpPr>
        <p:spPr>
          <a:xfrm>
            <a:off x="3003425" y="2238897"/>
            <a:ext cx="9402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0" name="Google Shape;840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2600" y="1639351"/>
            <a:ext cx="54655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799" y="1500975"/>
            <a:ext cx="511250" cy="736199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2"/>
          <p:cNvSpPr txBox="1"/>
          <p:nvPr>
            <p:ph type="body" idx="1"/>
          </p:nvPr>
        </p:nvSpPr>
        <p:spPr>
          <a:xfrm>
            <a:off x="324000" y="2606125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 could be referring to the number of white squares in the middle of the pattern, or the width of the pattern.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843" name="Google Shape;843;p72"/>
          <p:cNvGraphicFramePr>
            <a:graphicFrameLocks noGrp="1"/>
          </p:cNvGraphicFramePr>
          <p:nvPr/>
        </p:nvGraphicFramePr>
        <p:xfrm>
          <a:off x="6000713" y="66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40000"/>
                <a:gridCol w="240000"/>
                <a:gridCol w="240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4" name="Google Shape;844;p72"/>
          <p:cNvGraphicFramePr>
            <a:graphicFrameLocks noGrp="1"/>
          </p:cNvGraphicFramePr>
          <p:nvPr/>
        </p:nvGraphicFramePr>
        <p:xfrm>
          <a:off x="7062450" y="66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5075"/>
                <a:gridCol w="235075"/>
                <a:gridCol w="235075"/>
                <a:gridCol w="235075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845" name="Google Shape;845;p72"/>
          <p:cNvSpPr txBox="1"/>
          <p:nvPr>
            <p:ph type="body" idx="1"/>
          </p:nvPr>
        </p:nvSpPr>
        <p:spPr>
          <a:xfrm>
            <a:off x="324000" y="33753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could be referring to the number of black squares around the edge of the pattern or the perimeter of the pattern.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6" name="Google Shape;846;p72"/>
          <p:cNvSpPr txBox="1"/>
          <p:nvPr>
            <p:ph type="body" idx="1"/>
          </p:nvPr>
        </p:nvSpPr>
        <p:spPr>
          <a:xfrm>
            <a:off x="324000" y="4227500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 could be referring to the number of squares overall in each pattern or the area of the pattern.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7" name="Google Shape;847;p72"/>
          <p:cNvSpPr/>
          <p:nvPr/>
        </p:nvSpPr>
        <p:spPr>
          <a:xfrm>
            <a:off x="7500273" y="891300"/>
            <a:ext cx="291600" cy="276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8" name="Google Shape;848;p72"/>
          <p:cNvGrpSpPr/>
          <p:nvPr/>
        </p:nvGrpSpPr>
        <p:grpSpPr>
          <a:xfrm>
            <a:off x="7500273" y="654775"/>
            <a:ext cx="291600" cy="753700"/>
            <a:chOff x="7500273" y="654775"/>
            <a:chExt cx="291600" cy="753700"/>
          </a:xfrm>
        </p:grpSpPr>
        <p:sp>
          <p:nvSpPr>
            <p:cNvPr id="849" name="Google Shape;849;p72"/>
            <p:cNvSpPr/>
            <p:nvPr/>
          </p:nvSpPr>
          <p:spPr>
            <a:xfrm>
              <a:off x="7500273" y="1132175"/>
              <a:ext cx="291600" cy="2763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0" name="Google Shape;850;p72"/>
            <p:cNvSpPr/>
            <p:nvPr/>
          </p:nvSpPr>
          <p:spPr>
            <a:xfrm>
              <a:off x="7500273" y="654775"/>
              <a:ext cx="291600" cy="2763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1" name="Google Shape;851;p72"/>
          <p:cNvSpPr/>
          <p:nvPr/>
        </p:nvSpPr>
        <p:spPr>
          <a:xfrm>
            <a:off x="7500275" y="652650"/>
            <a:ext cx="291600" cy="753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5" name="Shape 855"/>
        <p:cNvGrpSpPr/>
        <p:nvPr/>
      </p:nvGrpSpPr>
      <p:grpSpPr>
        <a:xfrm>
          <a:off x="0" y="0"/>
          <a:ext cx="0" cy="0"/>
        </a:xfrm>
      </p:grpSpPr>
      <p:sp>
        <p:nvSpPr>
          <p:cNvPr id="856" name="Google Shape;85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857" name="Google Shape;857;p73"/>
          <p:cNvSpPr txBox="1"/>
          <p:nvPr>
            <p:ph type="body" idx="1"/>
          </p:nvPr>
        </p:nvSpPr>
        <p:spPr>
          <a:xfrm>
            <a:off x="324000" y="770675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look at individual elements of a pattern to describe how it develops. </a:t>
            </a:r>
            <a:endParaRPr sz="2000"/>
          </a:p>
        </p:txBody>
      </p:sp>
      <p:sp>
        <p:nvSpPr>
          <p:cNvPr id="858" name="Google Shape;858;p73"/>
          <p:cNvSpPr txBox="1"/>
          <p:nvPr>
            <p:ph type="body" idx="1"/>
          </p:nvPr>
        </p:nvSpPr>
        <p:spPr>
          <a:xfrm>
            <a:off x="324000" y="16200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It is important that we are precise with which object in the pattern we are referring to.</a:t>
            </a:r>
            <a:endParaRPr sz="2000"/>
          </a:p>
        </p:txBody>
      </p:sp>
      <p:sp>
        <p:nvSpPr>
          <p:cNvPr id="859" name="Google Shape;859;p73"/>
          <p:cNvSpPr txBox="1"/>
          <p:nvPr>
            <p:ph type="body" idx="1"/>
          </p:nvPr>
        </p:nvSpPr>
        <p:spPr>
          <a:xfrm>
            <a:off x="324000" y="25835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pattern is made of three solid red lines (           ) and two diagonal dashed blue lines (               )</a:t>
            </a:r>
            <a:endParaRPr sz="2000"/>
          </a:p>
        </p:txBody>
      </p:sp>
      <p:sp>
        <p:nvSpPr>
          <p:cNvPr id="860" name="Google Shape;860;p73"/>
          <p:cNvSpPr txBox="1"/>
          <p:nvPr>
            <p:ph type="body" idx="1"/>
          </p:nvPr>
        </p:nvSpPr>
        <p:spPr>
          <a:xfrm>
            <a:off x="324000" y="4396325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would you describe how this pattern is developing?</a:t>
            </a:r>
            <a:endParaRPr sz="2000"/>
          </a:p>
        </p:txBody>
      </p:sp>
      <p:cxnSp>
        <p:nvCxnSpPr>
          <p:cNvPr id="861" name="Google Shape;861;p73"/>
          <p:cNvCxnSpPr/>
          <p:nvPr/>
        </p:nvCxnSpPr>
        <p:spPr>
          <a:xfrm rot="10800000">
            <a:off x="5774525" y="2750050"/>
            <a:ext cx="8082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2" name="Google Shape;862;p73"/>
          <p:cNvCxnSpPr/>
          <p:nvPr/>
        </p:nvCxnSpPr>
        <p:spPr>
          <a:xfrm rot="10800000">
            <a:off x="3750521" y="3119050"/>
            <a:ext cx="10548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63" name="Google Shape;86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875" y="3309571"/>
            <a:ext cx="3890106" cy="8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7" name="Shape 867"/>
        <p:cNvGrpSpPr/>
        <p:nvPr/>
      </p:nvGrpSpPr>
      <p:grpSpPr>
        <a:xfrm>
          <a:off x="0" y="0"/>
          <a:ext cx="0" cy="0"/>
        </a:xfrm>
      </p:grpSpPr>
      <p:sp>
        <p:nvSpPr>
          <p:cNvPr id="868" name="Google Shape;86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869" name="Google Shape;869;p74"/>
          <p:cNvSpPr txBox="1"/>
          <p:nvPr>
            <p:ph type="body" idx="1"/>
          </p:nvPr>
        </p:nvSpPr>
        <p:spPr>
          <a:xfrm>
            <a:off x="324000" y="16029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staying the same in this pattern?</a:t>
            </a:r>
            <a:endParaRPr sz="1800"/>
          </a:p>
        </p:txBody>
      </p:sp>
      <p:sp>
        <p:nvSpPr>
          <p:cNvPr id="870" name="Google Shape;870;p74"/>
          <p:cNvSpPr txBox="1"/>
          <p:nvPr>
            <p:ph type="body" idx="1"/>
          </p:nvPr>
        </p:nvSpPr>
        <p:spPr>
          <a:xfrm>
            <a:off x="324000" y="1973788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 that for each new red section there are two new blue dashed lines. The pattern stays the same height.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1" name="Google Shape;871;p74"/>
          <p:cNvSpPr txBox="1"/>
          <p:nvPr>
            <p:ph type="body" idx="1"/>
          </p:nvPr>
        </p:nvSpPr>
        <p:spPr>
          <a:xfrm>
            <a:off x="324000" y="27000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are the red lines developing from pattern to pattern ?</a:t>
            </a:r>
            <a:endParaRPr sz="1800"/>
          </a:p>
        </p:txBody>
      </p:sp>
      <p:sp>
        <p:nvSpPr>
          <p:cNvPr id="872" name="Google Shape;872;p74"/>
          <p:cNvSpPr txBox="1"/>
          <p:nvPr>
            <p:ph type="body" idx="1"/>
          </p:nvPr>
        </p:nvSpPr>
        <p:spPr>
          <a:xfrm>
            <a:off x="324000" y="303765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 that two red lines are added each time. Each ‘house shape’ needs two more red lines.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3" name="Google Shape;873;p74"/>
          <p:cNvSpPr txBox="1"/>
          <p:nvPr>
            <p:ph type="body" idx="1"/>
          </p:nvPr>
        </p:nvSpPr>
        <p:spPr>
          <a:xfrm>
            <a:off x="324000" y="38456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are the blue dashed lines developing from pattern to pattern ?</a:t>
            </a:r>
            <a:endParaRPr sz="1800"/>
          </a:p>
        </p:txBody>
      </p:sp>
      <p:sp>
        <p:nvSpPr>
          <p:cNvPr id="874" name="Google Shape;874;p74"/>
          <p:cNvSpPr txBox="1"/>
          <p:nvPr>
            <p:ph type="body" idx="1"/>
          </p:nvPr>
        </p:nvSpPr>
        <p:spPr>
          <a:xfrm>
            <a:off x="324000" y="42356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 that two blue dashed lines are added each time. Each ‘house shape’ needs two more blue lines.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75" name="Google Shape;87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950" y="660071"/>
            <a:ext cx="3890106" cy="8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9" name="Shape 879"/>
        <p:cNvGrpSpPr/>
        <p:nvPr/>
      </p:nvGrpSpPr>
      <p:grpSpPr>
        <a:xfrm>
          <a:off x="0" y="0"/>
          <a:ext cx="0" cy="0"/>
        </a:xfrm>
      </p:grpSpPr>
      <p:sp>
        <p:nvSpPr>
          <p:cNvPr id="880" name="Google Shape;88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881" name="Google Shape;881;p75"/>
          <p:cNvSpPr txBox="1"/>
          <p:nvPr>
            <p:ph type="body" idx="1"/>
          </p:nvPr>
        </p:nvSpPr>
        <p:spPr>
          <a:xfrm>
            <a:off x="324000" y="16029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agree with Aisha’s statement?</a:t>
            </a:r>
            <a:endParaRPr sz="1800"/>
          </a:p>
        </p:txBody>
      </p:sp>
      <p:grpSp>
        <p:nvGrpSpPr>
          <p:cNvPr id="882" name="Google Shape;882;p75"/>
          <p:cNvGrpSpPr/>
          <p:nvPr/>
        </p:nvGrpSpPr>
        <p:grpSpPr>
          <a:xfrm>
            <a:off x="975988" y="1911088"/>
            <a:ext cx="3782238" cy="2147199"/>
            <a:chOff x="1902373" y="1836975"/>
            <a:chExt cx="1955251" cy="1316250"/>
          </a:xfrm>
        </p:grpSpPr>
        <p:pic>
          <p:nvPicPr>
            <p:cNvPr id="883" name="Google Shape;883;p75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1902373" y="18369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4" name="Google Shape;884;p75"/>
            <p:cNvSpPr txBox="1"/>
            <p:nvPr/>
          </p:nvSpPr>
          <p:spPr>
            <a:xfrm flipH="1">
              <a:off x="2077969" y="2019801"/>
              <a:ext cx="1670400" cy="91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pattern needs two red lines and two dashed blue lines. The fourth pattern will have 8 red lines and 8 blue lines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85" name="Google Shape;88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260" y="3177876"/>
            <a:ext cx="637774" cy="1204251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5"/>
          <p:cNvSpPr txBox="1"/>
          <p:nvPr/>
        </p:nvSpPr>
        <p:spPr>
          <a:xfrm>
            <a:off x="324000" y="4463097"/>
            <a:ext cx="7983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5"/>
          <p:cNvSpPr txBox="1"/>
          <p:nvPr>
            <p:ph type="body" idx="1"/>
          </p:nvPr>
        </p:nvSpPr>
        <p:spPr>
          <a:xfrm>
            <a:off x="4824000" y="2160000"/>
            <a:ext cx="3996000" cy="16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correct that each new pattern will have 4 more lines however the first pattern has an extra red line at the start to make the house shape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88" name="Google Shape;888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6950" y="660071"/>
            <a:ext cx="3890106" cy="8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2" name="Shape 892"/>
        <p:cNvGrpSpPr/>
        <p:nvPr/>
      </p:nvGrpSpPr>
      <p:grpSpPr>
        <a:xfrm>
          <a:off x="0" y="0"/>
          <a:ext cx="0" cy="0"/>
        </a:xfrm>
      </p:grpSpPr>
      <p:sp>
        <p:nvSpPr>
          <p:cNvPr id="893" name="Google Shape;89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894" name="Google Shape;894;p76"/>
          <p:cNvSpPr txBox="1"/>
          <p:nvPr>
            <p:ph type="body" idx="1"/>
          </p:nvPr>
        </p:nvSpPr>
        <p:spPr>
          <a:xfrm>
            <a:off x="324000" y="16029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agree with Lucas’ statement?</a:t>
            </a:r>
            <a:endParaRPr sz="1800"/>
          </a:p>
        </p:txBody>
      </p:sp>
      <p:grpSp>
        <p:nvGrpSpPr>
          <p:cNvPr id="895" name="Google Shape;895;p76"/>
          <p:cNvGrpSpPr/>
          <p:nvPr/>
        </p:nvGrpSpPr>
        <p:grpSpPr>
          <a:xfrm>
            <a:off x="975988" y="1911088"/>
            <a:ext cx="3782238" cy="2147199"/>
            <a:chOff x="1902373" y="1836975"/>
            <a:chExt cx="1955251" cy="1316250"/>
          </a:xfrm>
        </p:grpSpPr>
        <p:pic>
          <p:nvPicPr>
            <p:cNvPr id="896" name="Google Shape;896;p76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1902373" y="18369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7" name="Google Shape;897;p76"/>
            <p:cNvSpPr txBox="1"/>
            <p:nvPr/>
          </p:nvSpPr>
          <p:spPr>
            <a:xfrm flipH="1">
              <a:off x="2071462" y="1989565"/>
              <a:ext cx="1670400" cy="91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house shape needs 3 red lines and 2 blue dashed lines. For four house shapes, there will be 20 lines overall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8" name="Google Shape;898;p76"/>
          <p:cNvSpPr txBox="1"/>
          <p:nvPr>
            <p:ph type="body" idx="1"/>
          </p:nvPr>
        </p:nvSpPr>
        <p:spPr>
          <a:xfrm>
            <a:off x="4824000" y="2160000"/>
            <a:ext cx="3996000" cy="17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correct that each ‘house’ needs two blue dashed lines however its only the first house that needs three red lines, the rest only need two as one is already there.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9" name="Google Shape;899;p76"/>
          <p:cNvSpPr txBox="1"/>
          <p:nvPr/>
        </p:nvSpPr>
        <p:spPr>
          <a:xfrm>
            <a:off x="324000" y="4214172"/>
            <a:ext cx="9402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0" name="Google Shape;90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475" y="3414700"/>
            <a:ext cx="650875" cy="73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6950" y="660071"/>
            <a:ext cx="3890106" cy="8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5" name="Shape 905"/>
        <p:cNvGrpSpPr/>
        <p:nvPr/>
      </p:nvGrpSpPr>
      <p:grpSpPr>
        <a:xfrm>
          <a:off x="0" y="0"/>
          <a:ext cx="0" cy="0"/>
        </a:xfrm>
      </p:grpSpPr>
      <p:sp>
        <p:nvSpPr>
          <p:cNvPr id="906" name="Google Shape;90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907" name="Google Shape;907;p77"/>
          <p:cNvSpPr txBox="1"/>
          <p:nvPr>
            <p:ph type="body" idx="1"/>
          </p:nvPr>
        </p:nvSpPr>
        <p:spPr>
          <a:xfrm>
            <a:off x="324000" y="16029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many red lines will be needed for 10 ‘houses’?</a:t>
            </a:r>
            <a:endParaRPr sz="1800"/>
          </a:p>
        </p:txBody>
      </p:sp>
      <p:sp>
        <p:nvSpPr>
          <p:cNvPr id="908" name="Google Shape;908;p77"/>
          <p:cNvSpPr txBox="1"/>
          <p:nvPr>
            <p:ph type="body" idx="1"/>
          </p:nvPr>
        </p:nvSpPr>
        <p:spPr>
          <a:xfrm>
            <a:off x="324000" y="23490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many blue dashed lines will be needed for 10 ‘houses’?</a:t>
            </a:r>
            <a:endParaRPr sz="1800"/>
          </a:p>
        </p:txBody>
      </p:sp>
      <p:sp>
        <p:nvSpPr>
          <p:cNvPr id="909" name="Google Shape;909;p77"/>
          <p:cNvSpPr txBox="1"/>
          <p:nvPr>
            <p:ph type="body" idx="1"/>
          </p:nvPr>
        </p:nvSpPr>
        <p:spPr>
          <a:xfrm>
            <a:off x="324000" y="32400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many lines overall will be needed for 10 ‘houses’?</a:t>
            </a:r>
            <a:endParaRPr sz="1800"/>
          </a:p>
        </p:txBody>
      </p:sp>
      <p:sp>
        <p:nvSpPr>
          <p:cNvPr id="910" name="Google Shape;910;p77"/>
          <p:cNvSpPr txBox="1"/>
          <p:nvPr>
            <p:ph type="body" idx="1"/>
          </p:nvPr>
        </p:nvSpPr>
        <p:spPr>
          <a:xfrm>
            <a:off x="324000" y="41310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many blue lines will there be in the pattern which has 33 red lines?</a:t>
            </a:r>
            <a:endParaRPr sz="1800"/>
          </a:p>
        </p:txBody>
      </p:sp>
      <p:sp>
        <p:nvSpPr>
          <p:cNvPr id="911" name="Google Shape;911;p77"/>
          <p:cNvSpPr txBox="1"/>
          <p:nvPr>
            <p:ph type="body" idx="1"/>
          </p:nvPr>
        </p:nvSpPr>
        <p:spPr>
          <a:xfrm>
            <a:off x="324000" y="195315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Two per house and an extra one. 21 red lines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2" name="Google Shape;912;p77"/>
          <p:cNvSpPr txBox="1"/>
          <p:nvPr>
            <p:ph type="body" idx="1"/>
          </p:nvPr>
        </p:nvSpPr>
        <p:spPr>
          <a:xfrm>
            <a:off x="324000" y="27537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Two per house. 20 blue dashed lines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3" name="Google Shape;913;p77"/>
          <p:cNvSpPr txBox="1"/>
          <p:nvPr>
            <p:ph type="body" idx="1"/>
          </p:nvPr>
        </p:nvSpPr>
        <p:spPr>
          <a:xfrm>
            <a:off x="324000" y="36021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Four per house and an extra one for the start. 41 lines.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4" name="Google Shape;914;p77"/>
          <p:cNvSpPr txBox="1"/>
          <p:nvPr>
            <p:ph type="body" idx="1"/>
          </p:nvPr>
        </p:nvSpPr>
        <p:spPr>
          <a:xfrm>
            <a:off x="324000" y="441150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One less than the number of red lines. 32 blue dashed lines.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15" name="Google Shape;91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950" y="660071"/>
            <a:ext cx="3890106" cy="8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9" name="Shape 919"/>
        <p:cNvGrpSpPr/>
        <p:nvPr/>
      </p:nvGrpSpPr>
      <p:grpSpPr>
        <a:xfrm>
          <a:off x="0" y="0"/>
          <a:ext cx="0" cy="0"/>
        </a:xfrm>
      </p:grpSpPr>
      <p:sp>
        <p:nvSpPr>
          <p:cNvPr id="920" name="Google Shape;92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921" name="Google Shape;921;p78"/>
          <p:cNvSpPr txBox="1"/>
          <p:nvPr>
            <p:ph type="body" idx="1"/>
          </p:nvPr>
        </p:nvSpPr>
        <p:spPr>
          <a:xfrm>
            <a:off x="324000" y="64965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Some pupils have drawn the first three patterns of a sequence on squared paper. Match their statements with the element of the pattern they are describing. </a:t>
            </a:r>
            <a:endParaRPr sz="1800"/>
          </a:p>
        </p:txBody>
      </p:sp>
      <p:grpSp>
        <p:nvGrpSpPr>
          <p:cNvPr id="922" name="Google Shape;922;p78"/>
          <p:cNvGrpSpPr/>
          <p:nvPr/>
        </p:nvGrpSpPr>
        <p:grpSpPr>
          <a:xfrm>
            <a:off x="717341" y="1558645"/>
            <a:ext cx="1934917" cy="860696"/>
            <a:chOff x="1902373" y="1836975"/>
            <a:chExt cx="1955251" cy="1316250"/>
          </a:xfrm>
        </p:grpSpPr>
        <p:pic>
          <p:nvPicPr>
            <p:cNvPr id="923" name="Google Shape;923;p78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1902373" y="18369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4" name="Google Shape;924;p78"/>
            <p:cNvSpPr txBox="1"/>
            <p:nvPr/>
          </p:nvSpPr>
          <p:spPr>
            <a:xfrm flipH="1">
              <a:off x="2078017" y="2089315"/>
              <a:ext cx="17796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pattern increases by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5" name="Google Shape;925;p78"/>
          <p:cNvGrpSpPr/>
          <p:nvPr/>
        </p:nvGrpSpPr>
        <p:grpSpPr>
          <a:xfrm>
            <a:off x="1152327" y="2357880"/>
            <a:ext cx="1955251" cy="860696"/>
            <a:chOff x="3875248" y="2911675"/>
            <a:chExt cx="1955251" cy="1316250"/>
          </a:xfrm>
        </p:grpSpPr>
        <p:pic>
          <p:nvPicPr>
            <p:cNvPr id="926" name="Google Shape;926;p78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>
              <a:off x="3875248" y="29116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" name="Google Shape;927;p78"/>
            <p:cNvSpPr txBox="1"/>
            <p:nvPr/>
          </p:nvSpPr>
          <p:spPr>
            <a:xfrm flipH="1">
              <a:off x="4013619" y="3150351"/>
              <a:ext cx="18120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pattern increases by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8" name="Google Shape;928;p78"/>
          <p:cNvGrpSpPr/>
          <p:nvPr/>
        </p:nvGrpSpPr>
        <p:grpSpPr>
          <a:xfrm>
            <a:off x="570542" y="3138172"/>
            <a:ext cx="2082147" cy="860696"/>
            <a:chOff x="6890923" y="2932825"/>
            <a:chExt cx="1955251" cy="1316250"/>
          </a:xfrm>
        </p:grpSpPr>
        <p:pic>
          <p:nvPicPr>
            <p:cNvPr id="929" name="Google Shape;929;p78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6890923" y="293282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0" name="Google Shape;930;p78"/>
            <p:cNvSpPr txBox="1"/>
            <p:nvPr/>
          </p:nvSpPr>
          <p:spPr>
            <a:xfrm flipH="1">
              <a:off x="7147282" y="3140388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pattern increases by 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1" name="Google Shape;931;p78"/>
          <p:cNvGrpSpPr/>
          <p:nvPr/>
        </p:nvGrpSpPr>
        <p:grpSpPr>
          <a:xfrm flipH="1">
            <a:off x="1020995" y="3909997"/>
            <a:ext cx="1955251" cy="820024"/>
            <a:chOff x="6890923" y="2932825"/>
            <a:chExt cx="1955251" cy="1316250"/>
          </a:xfrm>
        </p:grpSpPr>
        <p:pic>
          <p:nvPicPr>
            <p:cNvPr id="932" name="Google Shape;932;p78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6890923" y="293282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3" name="Google Shape;933;p78"/>
            <p:cNvSpPr txBox="1"/>
            <p:nvPr/>
          </p:nvSpPr>
          <p:spPr>
            <a:xfrm flipH="1">
              <a:off x="6962596" y="3183391"/>
              <a:ext cx="1759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pattern increases by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4" name="Google Shape;934;p78"/>
          <p:cNvSpPr txBox="1"/>
          <p:nvPr/>
        </p:nvSpPr>
        <p:spPr>
          <a:xfrm flipH="1">
            <a:off x="4824000" y="4477913"/>
            <a:ext cx="34116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number of vertical lines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8"/>
          <p:cNvSpPr txBox="1"/>
          <p:nvPr/>
        </p:nvSpPr>
        <p:spPr>
          <a:xfrm flipH="1">
            <a:off x="4824125" y="3524850"/>
            <a:ext cx="36267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number of horizontal lines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8"/>
          <p:cNvSpPr txBox="1"/>
          <p:nvPr/>
        </p:nvSpPr>
        <p:spPr>
          <a:xfrm flipH="1">
            <a:off x="4824000" y="4001379"/>
            <a:ext cx="34116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number of lines overall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8"/>
          <p:cNvSpPr txBox="1"/>
          <p:nvPr/>
        </p:nvSpPr>
        <p:spPr>
          <a:xfrm flipH="1">
            <a:off x="4824000" y="3048313"/>
            <a:ext cx="34116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width of the pattern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8" name="Google Shape;938;p78"/>
          <p:cNvGraphicFramePr>
            <a:graphicFrameLocks noGrp="1"/>
          </p:cNvGraphicFramePr>
          <p:nvPr/>
        </p:nvGraphicFramePr>
        <p:xfrm>
          <a:off x="3369600" y="125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76000"/>
                <a:gridCol w="276000"/>
                <a:gridCol w="293900"/>
                <a:gridCol w="258100"/>
                <a:gridCol w="276000"/>
                <a:gridCol w="276000"/>
                <a:gridCol w="276000"/>
                <a:gridCol w="276000"/>
                <a:gridCol w="276000"/>
                <a:gridCol w="276000"/>
                <a:gridCol w="276000"/>
                <a:gridCol w="276000"/>
              </a:tblGrid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39" name="Google Shape;939;p78"/>
          <p:cNvGraphicFramePr>
            <a:graphicFrameLocks noGrp="1"/>
          </p:cNvGraphicFramePr>
          <p:nvPr/>
        </p:nvGraphicFramePr>
        <p:xfrm>
          <a:off x="5302994" y="124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76000"/>
                <a:gridCol w="276000"/>
                <a:gridCol w="276000"/>
                <a:gridCol w="276000"/>
                <a:gridCol w="276000"/>
                <a:gridCol w="276000"/>
                <a:gridCol w="276000"/>
                <a:gridCol w="276000"/>
                <a:gridCol w="276000"/>
                <a:gridCol w="276000"/>
                <a:gridCol w="276000"/>
                <a:gridCol w="276000"/>
              </a:tblGrid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940" name="Google Shape;940;p78"/>
          <p:cNvCxnSpPr/>
          <p:nvPr/>
        </p:nvCxnSpPr>
        <p:spPr>
          <a:xfrm flipH="1">
            <a:off x="3649275" y="1517875"/>
            <a:ext cx="7800" cy="1116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1" name="Google Shape;941;p78"/>
          <p:cNvCxnSpPr/>
          <p:nvPr/>
        </p:nvCxnSpPr>
        <p:spPr>
          <a:xfrm flipH="1">
            <a:off x="4198775" y="1517875"/>
            <a:ext cx="7800" cy="1116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2" name="Google Shape;942;p78"/>
          <p:cNvCxnSpPr/>
          <p:nvPr/>
        </p:nvCxnSpPr>
        <p:spPr>
          <a:xfrm flipH="1">
            <a:off x="4732629" y="1517875"/>
            <a:ext cx="7800" cy="1116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3" name="Google Shape;943;p78"/>
          <p:cNvCxnSpPr/>
          <p:nvPr/>
        </p:nvCxnSpPr>
        <p:spPr>
          <a:xfrm flipH="1">
            <a:off x="5288529" y="1517875"/>
            <a:ext cx="7800" cy="1116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4" name="Google Shape;944;p78"/>
          <p:cNvCxnSpPr/>
          <p:nvPr/>
        </p:nvCxnSpPr>
        <p:spPr>
          <a:xfrm flipH="1">
            <a:off x="5832729" y="1517875"/>
            <a:ext cx="7800" cy="1116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5" name="Google Shape;945;p78"/>
          <p:cNvCxnSpPr/>
          <p:nvPr/>
        </p:nvCxnSpPr>
        <p:spPr>
          <a:xfrm>
            <a:off x="3672800" y="1801000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6" name="Google Shape;946;p78"/>
          <p:cNvCxnSpPr/>
          <p:nvPr/>
        </p:nvCxnSpPr>
        <p:spPr>
          <a:xfrm>
            <a:off x="3663875" y="207632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7" name="Google Shape;947;p78"/>
          <p:cNvCxnSpPr/>
          <p:nvPr/>
        </p:nvCxnSpPr>
        <p:spPr>
          <a:xfrm>
            <a:off x="3663875" y="235232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78"/>
          <p:cNvCxnSpPr/>
          <p:nvPr/>
        </p:nvCxnSpPr>
        <p:spPr>
          <a:xfrm>
            <a:off x="4740429" y="1801000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78"/>
          <p:cNvCxnSpPr/>
          <p:nvPr/>
        </p:nvCxnSpPr>
        <p:spPr>
          <a:xfrm>
            <a:off x="4740429" y="207867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0" name="Google Shape;950;p78"/>
          <p:cNvCxnSpPr/>
          <p:nvPr/>
        </p:nvCxnSpPr>
        <p:spPr>
          <a:xfrm>
            <a:off x="4740429" y="235232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1" name="Google Shape;951;p78"/>
          <p:cNvCxnSpPr/>
          <p:nvPr/>
        </p:nvCxnSpPr>
        <p:spPr>
          <a:xfrm>
            <a:off x="5296329" y="1801000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Google Shape;952;p78"/>
          <p:cNvCxnSpPr/>
          <p:nvPr/>
        </p:nvCxnSpPr>
        <p:spPr>
          <a:xfrm>
            <a:off x="5288529" y="207632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3" name="Google Shape;953;p78"/>
          <p:cNvCxnSpPr/>
          <p:nvPr/>
        </p:nvCxnSpPr>
        <p:spPr>
          <a:xfrm>
            <a:off x="5288529" y="235232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4" name="Google Shape;954;p78"/>
          <p:cNvCxnSpPr/>
          <p:nvPr/>
        </p:nvCxnSpPr>
        <p:spPr>
          <a:xfrm flipH="1">
            <a:off x="6421965" y="1508138"/>
            <a:ext cx="7800" cy="1116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5" name="Google Shape;955;p78"/>
          <p:cNvCxnSpPr/>
          <p:nvPr/>
        </p:nvCxnSpPr>
        <p:spPr>
          <a:xfrm flipH="1">
            <a:off x="6972465" y="1508125"/>
            <a:ext cx="7800" cy="1116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6" name="Google Shape;956;p78"/>
          <p:cNvCxnSpPr/>
          <p:nvPr/>
        </p:nvCxnSpPr>
        <p:spPr>
          <a:xfrm flipH="1">
            <a:off x="7522965" y="1508138"/>
            <a:ext cx="7800" cy="1116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7" name="Google Shape;957;p78"/>
          <p:cNvCxnSpPr/>
          <p:nvPr/>
        </p:nvCxnSpPr>
        <p:spPr>
          <a:xfrm>
            <a:off x="6442765" y="1801000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8" name="Google Shape;958;p78"/>
          <p:cNvCxnSpPr/>
          <p:nvPr/>
        </p:nvCxnSpPr>
        <p:spPr>
          <a:xfrm>
            <a:off x="6421965" y="207867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9" name="Google Shape;959;p78"/>
          <p:cNvCxnSpPr/>
          <p:nvPr/>
        </p:nvCxnSpPr>
        <p:spPr>
          <a:xfrm>
            <a:off x="6421965" y="235232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0" name="Google Shape;960;p78"/>
          <p:cNvCxnSpPr/>
          <p:nvPr/>
        </p:nvCxnSpPr>
        <p:spPr>
          <a:xfrm>
            <a:off x="6980390" y="1801000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1" name="Google Shape;961;p78"/>
          <p:cNvCxnSpPr/>
          <p:nvPr/>
        </p:nvCxnSpPr>
        <p:spPr>
          <a:xfrm>
            <a:off x="6985465" y="207867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2" name="Google Shape;962;p78"/>
          <p:cNvCxnSpPr/>
          <p:nvPr/>
        </p:nvCxnSpPr>
        <p:spPr>
          <a:xfrm>
            <a:off x="6988065" y="235232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3" name="Google Shape;963;p78"/>
          <p:cNvCxnSpPr/>
          <p:nvPr/>
        </p:nvCxnSpPr>
        <p:spPr>
          <a:xfrm flipH="1">
            <a:off x="8073465" y="1508113"/>
            <a:ext cx="7800" cy="1116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4" name="Google Shape;964;p78"/>
          <p:cNvCxnSpPr/>
          <p:nvPr/>
        </p:nvCxnSpPr>
        <p:spPr>
          <a:xfrm>
            <a:off x="7522965" y="180502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5" name="Google Shape;965;p78"/>
          <p:cNvCxnSpPr/>
          <p:nvPr/>
        </p:nvCxnSpPr>
        <p:spPr>
          <a:xfrm>
            <a:off x="7537465" y="207632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6" name="Google Shape;966;p78"/>
          <p:cNvCxnSpPr/>
          <p:nvPr/>
        </p:nvCxnSpPr>
        <p:spPr>
          <a:xfrm>
            <a:off x="7537465" y="2352325"/>
            <a:ext cx="542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7" name="Google Shape;967;p78"/>
          <p:cNvCxnSpPr>
            <a:stCxn id="923" idx="1"/>
            <a:endCxn id="934" idx="3"/>
          </p:cNvCxnSpPr>
          <p:nvPr/>
        </p:nvCxnSpPr>
        <p:spPr>
          <a:xfrm>
            <a:off x="2652258" y="1988993"/>
            <a:ext cx="2171700" cy="2653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8" name="Google Shape;968;p78"/>
          <p:cNvCxnSpPr/>
          <p:nvPr/>
        </p:nvCxnSpPr>
        <p:spPr>
          <a:xfrm>
            <a:off x="3009133" y="2794168"/>
            <a:ext cx="1812000" cy="406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9" name="Google Shape;969;p78"/>
          <p:cNvCxnSpPr>
            <a:endCxn id="935" idx="3"/>
          </p:cNvCxnSpPr>
          <p:nvPr/>
        </p:nvCxnSpPr>
        <p:spPr>
          <a:xfrm>
            <a:off x="2525525" y="3576600"/>
            <a:ext cx="2298600" cy="1131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0" name="Google Shape;970;p78"/>
          <p:cNvCxnSpPr>
            <a:endCxn id="936" idx="3"/>
          </p:cNvCxnSpPr>
          <p:nvPr/>
        </p:nvCxnSpPr>
        <p:spPr>
          <a:xfrm rot="10800000" flipH="1">
            <a:off x="2887200" y="4166229"/>
            <a:ext cx="1936800" cy="153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4" name="Shape 974"/>
        <p:cNvGrpSpPr/>
        <p:nvPr/>
      </p:nvGrpSpPr>
      <p:grpSpPr>
        <a:xfrm>
          <a:off x="0" y="0"/>
          <a:ext cx="0" cy="0"/>
        </a:xfrm>
      </p:grpSpPr>
      <p:sp>
        <p:nvSpPr>
          <p:cNvPr id="975" name="Google Shape;975;p79"/>
          <p:cNvSpPr txBox="1"/>
          <p:nvPr>
            <p:ph type="body" idx="1"/>
          </p:nvPr>
        </p:nvSpPr>
        <p:spPr>
          <a:xfrm>
            <a:off x="324000" y="696375"/>
            <a:ext cx="82377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Andeep is making different patterns that go up in fours.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Alex is making different patterns that go up in threes.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They show one image from each of their patterns. Which are Andeep’s, which are Alex’s and which could be either?</a:t>
            </a:r>
            <a:endParaRPr sz="1800"/>
          </a:p>
        </p:txBody>
      </p:sp>
      <p:sp>
        <p:nvSpPr>
          <p:cNvPr id="976" name="Google Shape;976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977" name="Google Shape;977;p79"/>
          <p:cNvSpPr/>
          <p:nvPr/>
        </p:nvSpPr>
        <p:spPr>
          <a:xfrm>
            <a:off x="6607075" y="2161781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9"/>
          <p:cNvSpPr/>
          <p:nvPr/>
        </p:nvSpPr>
        <p:spPr>
          <a:xfrm>
            <a:off x="6862700" y="2161781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9"/>
          <p:cNvSpPr/>
          <p:nvPr/>
        </p:nvSpPr>
        <p:spPr>
          <a:xfrm>
            <a:off x="6607075" y="2413306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9"/>
          <p:cNvSpPr/>
          <p:nvPr/>
        </p:nvSpPr>
        <p:spPr>
          <a:xfrm>
            <a:off x="6862700" y="2413306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9"/>
          <p:cNvSpPr/>
          <p:nvPr/>
        </p:nvSpPr>
        <p:spPr>
          <a:xfrm>
            <a:off x="6607075" y="2696290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9"/>
          <p:cNvSpPr/>
          <p:nvPr/>
        </p:nvSpPr>
        <p:spPr>
          <a:xfrm>
            <a:off x="6862700" y="2696290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9"/>
          <p:cNvSpPr/>
          <p:nvPr/>
        </p:nvSpPr>
        <p:spPr>
          <a:xfrm>
            <a:off x="6605550" y="2947815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9"/>
          <p:cNvSpPr/>
          <p:nvPr/>
        </p:nvSpPr>
        <p:spPr>
          <a:xfrm>
            <a:off x="6861175" y="2947815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9"/>
          <p:cNvSpPr/>
          <p:nvPr/>
        </p:nvSpPr>
        <p:spPr>
          <a:xfrm>
            <a:off x="6607075" y="3230798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9"/>
          <p:cNvSpPr/>
          <p:nvPr/>
        </p:nvSpPr>
        <p:spPr>
          <a:xfrm>
            <a:off x="6862700" y="3230798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9"/>
          <p:cNvSpPr/>
          <p:nvPr/>
        </p:nvSpPr>
        <p:spPr>
          <a:xfrm>
            <a:off x="6607075" y="3489094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9"/>
          <p:cNvSpPr/>
          <p:nvPr/>
        </p:nvSpPr>
        <p:spPr>
          <a:xfrm>
            <a:off x="6862700" y="3489094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9"/>
          <p:cNvSpPr/>
          <p:nvPr/>
        </p:nvSpPr>
        <p:spPr>
          <a:xfrm>
            <a:off x="6677850" y="2232581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9"/>
          <p:cNvSpPr/>
          <p:nvPr/>
        </p:nvSpPr>
        <p:spPr>
          <a:xfrm>
            <a:off x="6937909" y="2232581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9"/>
          <p:cNvSpPr/>
          <p:nvPr/>
        </p:nvSpPr>
        <p:spPr>
          <a:xfrm>
            <a:off x="6677850" y="2484775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9"/>
          <p:cNvSpPr/>
          <p:nvPr/>
        </p:nvSpPr>
        <p:spPr>
          <a:xfrm>
            <a:off x="6937909" y="2484775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9"/>
          <p:cNvSpPr/>
          <p:nvPr/>
        </p:nvSpPr>
        <p:spPr>
          <a:xfrm>
            <a:off x="6677850" y="2760563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9"/>
          <p:cNvSpPr/>
          <p:nvPr/>
        </p:nvSpPr>
        <p:spPr>
          <a:xfrm>
            <a:off x="6937909" y="2760563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9"/>
          <p:cNvSpPr/>
          <p:nvPr/>
        </p:nvSpPr>
        <p:spPr>
          <a:xfrm>
            <a:off x="6677850" y="3026040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9"/>
          <p:cNvSpPr/>
          <p:nvPr/>
        </p:nvSpPr>
        <p:spPr>
          <a:xfrm>
            <a:off x="6937909" y="3026040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9"/>
          <p:cNvSpPr/>
          <p:nvPr/>
        </p:nvSpPr>
        <p:spPr>
          <a:xfrm>
            <a:off x="6677850" y="3301828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9"/>
          <p:cNvSpPr/>
          <p:nvPr/>
        </p:nvSpPr>
        <p:spPr>
          <a:xfrm>
            <a:off x="6937909" y="3301828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9"/>
          <p:cNvSpPr/>
          <p:nvPr/>
        </p:nvSpPr>
        <p:spPr>
          <a:xfrm>
            <a:off x="6677850" y="3561886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9"/>
          <p:cNvSpPr/>
          <p:nvPr/>
        </p:nvSpPr>
        <p:spPr>
          <a:xfrm>
            <a:off x="6937909" y="3561886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9"/>
          <p:cNvSpPr/>
          <p:nvPr/>
        </p:nvSpPr>
        <p:spPr>
          <a:xfrm>
            <a:off x="3677125" y="2564854"/>
            <a:ext cx="514200" cy="479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9"/>
          <p:cNvSpPr/>
          <p:nvPr/>
        </p:nvSpPr>
        <p:spPr>
          <a:xfrm>
            <a:off x="4191425" y="2564854"/>
            <a:ext cx="514200" cy="479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9"/>
          <p:cNvSpPr/>
          <p:nvPr/>
        </p:nvSpPr>
        <p:spPr>
          <a:xfrm>
            <a:off x="4705725" y="2564854"/>
            <a:ext cx="514200" cy="479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9"/>
          <p:cNvSpPr/>
          <p:nvPr/>
        </p:nvSpPr>
        <p:spPr>
          <a:xfrm>
            <a:off x="3742884" y="2840646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9"/>
          <p:cNvSpPr/>
          <p:nvPr/>
        </p:nvSpPr>
        <p:spPr>
          <a:xfrm>
            <a:off x="3880234" y="2743640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9"/>
          <p:cNvSpPr/>
          <p:nvPr/>
        </p:nvSpPr>
        <p:spPr>
          <a:xfrm>
            <a:off x="4032634" y="2643846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9"/>
          <p:cNvSpPr/>
          <p:nvPr/>
        </p:nvSpPr>
        <p:spPr>
          <a:xfrm>
            <a:off x="4276284" y="2840646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9"/>
          <p:cNvSpPr/>
          <p:nvPr/>
        </p:nvSpPr>
        <p:spPr>
          <a:xfrm>
            <a:off x="4413634" y="2743640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9"/>
          <p:cNvSpPr/>
          <p:nvPr/>
        </p:nvSpPr>
        <p:spPr>
          <a:xfrm>
            <a:off x="4566034" y="2643846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9"/>
          <p:cNvSpPr/>
          <p:nvPr/>
        </p:nvSpPr>
        <p:spPr>
          <a:xfrm>
            <a:off x="4778225" y="2840646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9"/>
          <p:cNvSpPr/>
          <p:nvPr/>
        </p:nvSpPr>
        <p:spPr>
          <a:xfrm>
            <a:off x="4915575" y="2743640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9"/>
          <p:cNvSpPr/>
          <p:nvPr/>
        </p:nvSpPr>
        <p:spPr>
          <a:xfrm>
            <a:off x="5067975" y="2643846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9"/>
          <p:cNvSpPr/>
          <p:nvPr/>
        </p:nvSpPr>
        <p:spPr>
          <a:xfrm>
            <a:off x="7459209" y="3854596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9"/>
          <p:cNvSpPr/>
          <p:nvPr/>
        </p:nvSpPr>
        <p:spPr>
          <a:xfrm>
            <a:off x="7721093" y="3854596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9"/>
          <p:cNvSpPr/>
          <p:nvPr/>
        </p:nvSpPr>
        <p:spPr>
          <a:xfrm>
            <a:off x="7982977" y="3854596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9"/>
          <p:cNvSpPr/>
          <p:nvPr/>
        </p:nvSpPr>
        <p:spPr>
          <a:xfrm>
            <a:off x="7459209" y="4091060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9"/>
          <p:cNvSpPr/>
          <p:nvPr/>
        </p:nvSpPr>
        <p:spPr>
          <a:xfrm>
            <a:off x="7721093" y="4091060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9"/>
          <p:cNvSpPr/>
          <p:nvPr/>
        </p:nvSpPr>
        <p:spPr>
          <a:xfrm>
            <a:off x="7982977" y="4091060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9"/>
          <p:cNvSpPr/>
          <p:nvPr/>
        </p:nvSpPr>
        <p:spPr>
          <a:xfrm>
            <a:off x="7459209" y="432507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9"/>
          <p:cNvSpPr/>
          <p:nvPr/>
        </p:nvSpPr>
        <p:spPr>
          <a:xfrm>
            <a:off x="7721093" y="432507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9"/>
          <p:cNvSpPr/>
          <p:nvPr/>
        </p:nvSpPr>
        <p:spPr>
          <a:xfrm>
            <a:off x="7982977" y="432507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9"/>
          <p:cNvSpPr/>
          <p:nvPr/>
        </p:nvSpPr>
        <p:spPr>
          <a:xfrm>
            <a:off x="7459209" y="456940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9"/>
          <p:cNvSpPr/>
          <p:nvPr/>
        </p:nvSpPr>
        <p:spPr>
          <a:xfrm>
            <a:off x="7721093" y="456940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9"/>
          <p:cNvSpPr/>
          <p:nvPr/>
        </p:nvSpPr>
        <p:spPr>
          <a:xfrm>
            <a:off x="7982977" y="456940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5" name="Google Shape;1025;p79"/>
          <p:cNvCxnSpPr/>
          <p:nvPr/>
        </p:nvCxnSpPr>
        <p:spPr>
          <a:xfrm flipH="1">
            <a:off x="3685300" y="3802663"/>
            <a:ext cx="7800" cy="762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79"/>
          <p:cNvCxnSpPr/>
          <p:nvPr/>
        </p:nvCxnSpPr>
        <p:spPr>
          <a:xfrm flipH="1">
            <a:off x="4203475" y="3802663"/>
            <a:ext cx="7800" cy="762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7" name="Google Shape;1027;p79"/>
          <p:cNvCxnSpPr/>
          <p:nvPr/>
        </p:nvCxnSpPr>
        <p:spPr>
          <a:xfrm flipH="1">
            <a:off x="4721650" y="3802663"/>
            <a:ext cx="7800" cy="762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8" name="Google Shape;1028;p79"/>
          <p:cNvCxnSpPr/>
          <p:nvPr/>
        </p:nvCxnSpPr>
        <p:spPr>
          <a:xfrm flipH="1">
            <a:off x="5231960" y="3790342"/>
            <a:ext cx="7800" cy="762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9" name="Google Shape;1029;p79"/>
          <p:cNvCxnSpPr/>
          <p:nvPr/>
        </p:nvCxnSpPr>
        <p:spPr>
          <a:xfrm rot="10800000">
            <a:off x="3693225" y="4038438"/>
            <a:ext cx="52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0" name="Google Shape;1030;p79"/>
          <p:cNvCxnSpPr/>
          <p:nvPr/>
        </p:nvCxnSpPr>
        <p:spPr>
          <a:xfrm rot="10800000">
            <a:off x="3693225" y="3809838"/>
            <a:ext cx="52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1" name="Google Shape;1031;p79"/>
          <p:cNvCxnSpPr/>
          <p:nvPr/>
        </p:nvCxnSpPr>
        <p:spPr>
          <a:xfrm rot="10800000">
            <a:off x="3685360" y="4282767"/>
            <a:ext cx="52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2" name="Google Shape;1032;p79"/>
          <p:cNvCxnSpPr/>
          <p:nvPr/>
        </p:nvCxnSpPr>
        <p:spPr>
          <a:xfrm rot="10800000">
            <a:off x="4226625" y="4038438"/>
            <a:ext cx="52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3" name="Google Shape;1033;p79"/>
          <p:cNvCxnSpPr/>
          <p:nvPr/>
        </p:nvCxnSpPr>
        <p:spPr>
          <a:xfrm rot="10800000">
            <a:off x="4226625" y="3809838"/>
            <a:ext cx="52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4" name="Google Shape;1034;p79"/>
          <p:cNvCxnSpPr/>
          <p:nvPr/>
        </p:nvCxnSpPr>
        <p:spPr>
          <a:xfrm rot="10800000">
            <a:off x="4218760" y="4282767"/>
            <a:ext cx="52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5" name="Google Shape;1035;p79"/>
          <p:cNvCxnSpPr/>
          <p:nvPr/>
        </p:nvCxnSpPr>
        <p:spPr>
          <a:xfrm rot="10800000">
            <a:off x="4723148" y="4038438"/>
            <a:ext cx="52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6" name="Google Shape;1036;p79"/>
          <p:cNvCxnSpPr/>
          <p:nvPr/>
        </p:nvCxnSpPr>
        <p:spPr>
          <a:xfrm rot="10800000">
            <a:off x="4723148" y="3809838"/>
            <a:ext cx="52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7" name="Google Shape;1037;p79"/>
          <p:cNvCxnSpPr/>
          <p:nvPr/>
        </p:nvCxnSpPr>
        <p:spPr>
          <a:xfrm rot="10800000">
            <a:off x="4715284" y="4282767"/>
            <a:ext cx="52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38" name="Google Shape;1038;p79"/>
          <p:cNvGrpSpPr/>
          <p:nvPr/>
        </p:nvGrpSpPr>
        <p:grpSpPr>
          <a:xfrm>
            <a:off x="701788" y="4075148"/>
            <a:ext cx="759988" cy="509012"/>
            <a:chOff x="1291375" y="2815398"/>
            <a:chExt cx="759988" cy="509012"/>
          </a:xfrm>
        </p:grpSpPr>
        <p:sp>
          <p:nvSpPr>
            <p:cNvPr id="1039" name="Google Shape;1039;p79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0" name="Google Shape;1040;p79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1" name="Google Shape;1041;p79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79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3" name="Google Shape;1043;p79"/>
          <p:cNvGrpSpPr/>
          <p:nvPr/>
        </p:nvGrpSpPr>
        <p:grpSpPr>
          <a:xfrm rot="10800000">
            <a:off x="1260555" y="4114472"/>
            <a:ext cx="759988" cy="509012"/>
            <a:chOff x="1291375" y="2815398"/>
            <a:chExt cx="759988" cy="509012"/>
          </a:xfrm>
        </p:grpSpPr>
        <p:sp>
          <p:nvSpPr>
            <p:cNvPr id="1044" name="Google Shape;1044;p79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79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79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7" name="Google Shape;1047;p79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8" name="Google Shape;1048;p79"/>
          <p:cNvGrpSpPr/>
          <p:nvPr/>
        </p:nvGrpSpPr>
        <p:grpSpPr>
          <a:xfrm>
            <a:off x="1813329" y="4075148"/>
            <a:ext cx="759988" cy="509012"/>
            <a:chOff x="1291375" y="2815398"/>
            <a:chExt cx="759988" cy="509012"/>
          </a:xfrm>
        </p:grpSpPr>
        <p:sp>
          <p:nvSpPr>
            <p:cNvPr id="1049" name="Google Shape;1049;p79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0" name="Google Shape;1050;p79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1" name="Google Shape;1051;p79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2" name="Google Shape;1052;p79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79"/>
          <p:cNvGrpSpPr/>
          <p:nvPr/>
        </p:nvGrpSpPr>
        <p:grpSpPr>
          <a:xfrm>
            <a:off x="701800" y="2571752"/>
            <a:ext cx="2048513" cy="766624"/>
            <a:chOff x="701800" y="2571752"/>
            <a:chExt cx="2048513" cy="766624"/>
          </a:xfrm>
        </p:grpSpPr>
        <p:sp>
          <p:nvSpPr>
            <p:cNvPr id="1054" name="Google Shape;1054;p79"/>
            <p:cNvSpPr/>
            <p:nvPr/>
          </p:nvSpPr>
          <p:spPr>
            <a:xfrm>
              <a:off x="701800" y="2571752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5" name="Google Shape;1055;p79"/>
            <p:cNvSpPr/>
            <p:nvPr/>
          </p:nvSpPr>
          <p:spPr>
            <a:xfrm>
              <a:off x="1216100" y="2571752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6" name="Google Shape;1056;p79"/>
            <p:cNvSpPr/>
            <p:nvPr/>
          </p:nvSpPr>
          <p:spPr>
            <a:xfrm>
              <a:off x="1730400" y="2571752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7" name="Google Shape;1057;p79"/>
            <p:cNvSpPr/>
            <p:nvPr/>
          </p:nvSpPr>
          <p:spPr>
            <a:xfrm>
              <a:off x="2236113" y="2571752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8" name="Google Shape;1058;p79"/>
            <p:cNvSpPr/>
            <p:nvPr/>
          </p:nvSpPr>
          <p:spPr>
            <a:xfrm>
              <a:off x="701800" y="2829364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9" name="Google Shape;1059;p79"/>
            <p:cNvSpPr/>
            <p:nvPr/>
          </p:nvSpPr>
          <p:spPr>
            <a:xfrm>
              <a:off x="1216100" y="2829364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0" name="Google Shape;1060;p79"/>
            <p:cNvSpPr/>
            <p:nvPr/>
          </p:nvSpPr>
          <p:spPr>
            <a:xfrm>
              <a:off x="1730400" y="2829364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1" name="Google Shape;1061;p79"/>
            <p:cNvSpPr/>
            <p:nvPr/>
          </p:nvSpPr>
          <p:spPr>
            <a:xfrm>
              <a:off x="2236113" y="2829364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2" name="Google Shape;1062;p79"/>
            <p:cNvSpPr/>
            <p:nvPr/>
          </p:nvSpPr>
          <p:spPr>
            <a:xfrm>
              <a:off x="701800" y="3086975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79"/>
            <p:cNvSpPr/>
            <p:nvPr/>
          </p:nvSpPr>
          <p:spPr>
            <a:xfrm>
              <a:off x="1216100" y="3086975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4" name="Google Shape;1064;p79"/>
            <p:cNvSpPr/>
            <p:nvPr/>
          </p:nvSpPr>
          <p:spPr>
            <a:xfrm>
              <a:off x="1730400" y="3086975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5" name="Google Shape;1065;p79"/>
            <p:cNvSpPr/>
            <p:nvPr/>
          </p:nvSpPr>
          <p:spPr>
            <a:xfrm>
              <a:off x="2236113" y="3086975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6" name="Google Shape;1066;p79"/>
          <p:cNvSpPr/>
          <p:nvPr/>
        </p:nvSpPr>
        <p:spPr>
          <a:xfrm>
            <a:off x="5220025" y="2565818"/>
            <a:ext cx="514200" cy="479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9"/>
          <p:cNvSpPr/>
          <p:nvPr/>
        </p:nvSpPr>
        <p:spPr>
          <a:xfrm>
            <a:off x="5292525" y="2841610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9"/>
          <p:cNvSpPr/>
          <p:nvPr/>
        </p:nvSpPr>
        <p:spPr>
          <a:xfrm>
            <a:off x="5429875" y="2744604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9"/>
          <p:cNvSpPr/>
          <p:nvPr/>
        </p:nvSpPr>
        <p:spPr>
          <a:xfrm>
            <a:off x="5582275" y="2644810"/>
            <a:ext cx="108000" cy="108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9"/>
          <p:cNvSpPr txBox="1"/>
          <p:nvPr>
            <p:ph type="body" idx="1"/>
          </p:nvPr>
        </p:nvSpPr>
        <p:spPr>
          <a:xfrm>
            <a:off x="324000" y="257175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071" name="Google Shape;1071;p79"/>
          <p:cNvSpPr txBox="1"/>
          <p:nvPr>
            <p:ph type="body" idx="1"/>
          </p:nvPr>
        </p:nvSpPr>
        <p:spPr>
          <a:xfrm>
            <a:off x="324000" y="404610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072" name="Google Shape;1072;p79"/>
          <p:cNvSpPr txBox="1"/>
          <p:nvPr>
            <p:ph type="body" idx="1"/>
          </p:nvPr>
        </p:nvSpPr>
        <p:spPr>
          <a:xfrm>
            <a:off x="3304075" y="257175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073" name="Google Shape;1073;p79"/>
          <p:cNvSpPr txBox="1"/>
          <p:nvPr>
            <p:ph type="body" idx="1"/>
          </p:nvPr>
        </p:nvSpPr>
        <p:spPr>
          <a:xfrm>
            <a:off x="3259875" y="379035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1074" name="Google Shape;1074;p79"/>
          <p:cNvSpPr txBox="1"/>
          <p:nvPr>
            <p:ph type="body" idx="1"/>
          </p:nvPr>
        </p:nvSpPr>
        <p:spPr>
          <a:xfrm>
            <a:off x="6198250" y="216965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e)</a:t>
            </a:r>
            <a:endParaRPr sz="1800"/>
          </a:p>
        </p:txBody>
      </p:sp>
      <p:sp>
        <p:nvSpPr>
          <p:cNvPr id="1075" name="Google Shape;1075;p79"/>
          <p:cNvSpPr txBox="1"/>
          <p:nvPr>
            <p:ph type="body" idx="1"/>
          </p:nvPr>
        </p:nvSpPr>
        <p:spPr>
          <a:xfrm>
            <a:off x="7079700" y="395005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f)</a:t>
            </a:r>
            <a:endParaRPr sz="1800"/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9" name="Shape 1079"/>
        <p:cNvGrpSpPr/>
        <p:nvPr/>
      </p:nvGrpSpPr>
      <p:grpSpPr>
        <a:xfrm>
          <a:off x="0" y="0"/>
          <a:ext cx="0" cy="0"/>
        </a:xfrm>
      </p:grpSpPr>
      <p:sp>
        <p:nvSpPr>
          <p:cNvPr id="1080" name="Google Shape;1080;p80"/>
          <p:cNvSpPr txBox="1"/>
          <p:nvPr>
            <p:ph type="body" idx="1"/>
          </p:nvPr>
        </p:nvSpPr>
        <p:spPr>
          <a:xfrm>
            <a:off x="324000" y="709150"/>
            <a:ext cx="8237700" cy="6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 has drawn a ‘dog’ by shading in squares. Their classmates each continue the pattern in different ways. </a:t>
            </a:r>
            <a:endParaRPr sz="1800"/>
          </a:p>
        </p:txBody>
      </p:sp>
      <p:sp>
        <p:nvSpPr>
          <p:cNvPr id="1081" name="Google Shape;1081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1082" name="Google Shape;1082;p80"/>
          <p:cNvSpPr txBox="1"/>
          <p:nvPr>
            <p:ph type="body" idx="1"/>
          </p:nvPr>
        </p:nvSpPr>
        <p:spPr>
          <a:xfrm>
            <a:off x="324000" y="1641825"/>
            <a:ext cx="4248000" cy="3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Aisha continues it this way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4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Describe how the pattern is developing in words</a:t>
            </a:r>
            <a:br>
              <a:rPr lang="en-GB" sz="1800"/>
            </a:b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How many squares would be needed for the 10</a:t>
            </a:r>
            <a:r>
              <a:rPr lang="en-GB" sz="1800" baseline="30000"/>
              <a:t>th</a:t>
            </a:r>
            <a:r>
              <a:rPr lang="en-GB" sz="1800"/>
              <a:t> dog?</a:t>
            </a:r>
            <a:endParaRPr sz="1800"/>
          </a:p>
        </p:txBody>
      </p:sp>
      <p:sp>
        <p:nvSpPr>
          <p:cNvPr id="1083" name="Google Shape;1083;p80"/>
          <p:cNvSpPr txBox="1"/>
          <p:nvPr>
            <p:ph type="body" idx="1"/>
          </p:nvPr>
        </p:nvSpPr>
        <p:spPr>
          <a:xfrm>
            <a:off x="4572000" y="1574100"/>
            <a:ext cx="4248000" cy="3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Lucas continues it this way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Describe how the pattern is developing in words</a:t>
            </a:r>
            <a:br>
              <a:rPr lang="en-GB" sz="1800"/>
            </a:b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How many squares would be needed for the 10</a:t>
            </a:r>
            <a:r>
              <a:rPr lang="en-GB" sz="1800" baseline="30000"/>
              <a:t>th</a:t>
            </a:r>
            <a:r>
              <a:rPr lang="en-GB" sz="1800"/>
              <a:t> dog?</a:t>
            </a:r>
            <a:endParaRPr sz="1800"/>
          </a:p>
        </p:txBody>
      </p:sp>
      <p:grpSp>
        <p:nvGrpSpPr>
          <p:cNvPr id="1084" name="Google Shape;1084;p80"/>
          <p:cNvGrpSpPr/>
          <p:nvPr/>
        </p:nvGrpSpPr>
        <p:grpSpPr>
          <a:xfrm>
            <a:off x="8034592" y="747160"/>
            <a:ext cx="682077" cy="504107"/>
            <a:chOff x="7247798" y="1063260"/>
            <a:chExt cx="1015600" cy="754200"/>
          </a:xfrm>
        </p:grpSpPr>
        <p:sp>
          <p:nvSpPr>
            <p:cNvPr id="1085" name="Google Shape;1085;p80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6" name="Google Shape;1086;p80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7" name="Google Shape;1087;p80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8" name="Google Shape;1088;p80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9" name="Google Shape;1089;p80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0" name="Google Shape;1090;p80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1" name="Google Shape;1091;p80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2" name="Google Shape;1092;p80"/>
          <p:cNvGrpSpPr/>
          <p:nvPr/>
        </p:nvGrpSpPr>
        <p:grpSpPr>
          <a:xfrm>
            <a:off x="636917" y="2030723"/>
            <a:ext cx="682077" cy="504107"/>
            <a:chOff x="7247798" y="1063260"/>
            <a:chExt cx="1015600" cy="754200"/>
          </a:xfrm>
        </p:grpSpPr>
        <p:sp>
          <p:nvSpPr>
            <p:cNvPr id="1093" name="Google Shape;1093;p80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4" name="Google Shape;1094;p80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80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6" name="Google Shape;1096;p80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7" name="Google Shape;1097;p80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80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9" name="Google Shape;1099;p80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0" name="Google Shape;1100;p80"/>
          <p:cNvGrpSpPr/>
          <p:nvPr/>
        </p:nvGrpSpPr>
        <p:grpSpPr>
          <a:xfrm>
            <a:off x="1570026" y="2030723"/>
            <a:ext cx="879218" cy="674109"/>
            <a:chOff x="1487651" y="1725923"/>
            <a:chExt cx="879218" cy="674109"/>
          </a:xfrm>
        </p:grpSpPr>
        <p:sp>
          <p:nvSpPr>
            <p:cNvPr id="1101" name="Google Shape;1101;p80"/>
            <p:cNvSpPr/>
            <p:nvPr/>
          </p:nvSpPr>
          <p:spPr>
            <a:xfrm>
              <a:off x="1487655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2" name="Google Shape;1102;p80"/>
            <p:cNvSpPr/>
            <p:nvPr/>
          </p:nvSpPr>
          <p:spPr>
            <a:xfrm>
              <a:off x="1854170" y="1893950"/>
              <a:ext cx="171661" cy="168036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80"/>
            <p:cNvSpPr/>
            <p:nvPr/>
          </p:nvSpPr>
          <p:spPr>
            <a:xfrm>
              <a:off x="2023543" y="1893950"/>
              <a:ext cx="171661" cy="168036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4" name="Google Shape;1104;p80"/>
            <p:cNvSpPr/>
            <p:nvPr/>
          </p:nvSpPr>
          <p:spPr>
            <a:xfrm>
              <a:off x="1487651" y="206199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5" name="Google Shape;1105;p80"/>
            <p:cNvSpPr/>
            <p:nvPr/>
          </p:nvSpPr>
          <p:spPr>
            <a:xfrm>
              <a:off x="2023547" y="2061994"/>
              <a:ext cx="171661" cy="168036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6" name="Google Shape;1106;p80"/>
            <p:cNvSpPr/>
            <p:nvPr/>
          </p:nvSpPr>
          <p:spPr>
            <a:xfrm>
              <a:off x="2023547" y="1725923"/>
              <a:ext cx="171661" cy="168036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7" name="Google Shape;1107;p80"/>
            <p:cNvSpPr/>
            <p:nvPr/>
          </p:nvSpPr>
          <p:spPr>
            <a:xfrm>
              <a:off x="2195208" y="1725923"/>
              <a:ext cx="171661" cy="168036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8" name="Google Shape;1108;p80"/>
            <p:cNvSpPr/>
            <p:nvPr/>
          </p:nvSpPr>
          <p:spPr>
            <a:xfrm>
              <a:off x="1487676" y="2232032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9" name="Google Shape;1109;p80"/>
            <p:cNvSpPr/>
            <p:nvPr/>
          </p:nvSpPr>
          <p:spPr>
            <a:xfrm>
              <a:off x="2023572" y="2232032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0" name="Google Shape;1110;p80"/>
            <p:cNvSpPr/>
            <p:nvPr/>
          </p:nvSpPr>
          <p:spPr>
            <a:xfrm>
              <a:off x="1670311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80"/>
          <p:cNvGrpSpPr/>
          <p:nvPr/>
        </p:nvGrpSpPr>
        <p:grpSpPr>
          <a:xfrm>
            <a:off x="2735232" y="2030723"/>
            <a:ext cx="1046751" cy="850103"/>
            <a:chOff x="2735232" y="1725923"/>
            <a:chExt cx="1046751" cy="850103"/>
          </a:xfrm>
        </p:grpSpPr>
        <p:sp>
          <p:nvSpPr>
            <p:cNvPr id="1112" name="Google Shape;1112;p80"/>
            <p:cNvSpPr/>
            <p:nvPr/>
          </p:nvSpPr>
          <p:spPr>
            <a:xfrm>
              <a:off x="2735236" y="189296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3" name="Google Shape;1113;p80"/>
            <p:cNvSpPr/>
            <p:nvPr/>
          </p:nvSpPr>
          <p:spPr>
            <a:xfrm>
              <a:off x="3269345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4" name="Google Shape;1114;p80"/>
            <p:cNvSpPr/>
            <p:nvPr/>
          </p:nvSpPr>
          <p:spPr>
            <a:xfrm>
              <a:off x="3438718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5" name="Google Shape;1115;p80"/>
            <p:cNvSpPr/>
            <p:nvPr/>
          </p:nvSpPr>
          <p:spPr>
            <a:xfrm>
              <a:off x="2735232" y="2061007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6" name="Google Shape;1116;p80"/>
            <p:cNvSpPr/>
            <p:nvPr/>
          </p:nvSpPr>
          <p:spPr>
            <a:xfrm>
              <a:off x="3438722" y="206199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7" name="Google Shape;1117;p80"/>
            <p:cNvSpPr/>
            <p:nvPr/>
          </p:nvSpPr>
          <p:spPr>
            <a:xfrm>
              <a:off x="3438722" y="172592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8" name="Google Shape;1118;p80"/>
            <p:cNvSpPr/>
            <p:nvPr/>
          </p:nvSpPr>
          <p:spPr>
            <a:xfrm>
              <a:off x="3610383" y="172592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9" name="Google Shape;1119;p80"/>
            <p:cNvSpPr/>
            <p:nvPr/>
          </p:nvSpPr>
          <p:spPr>
            <a:xfrm>
              <a:off x="2735257" y="223104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0" name="Google Shape;1120;p80"/>
            <p:cNvSpPr/>
            <p:nvPr/>
          </p:nvSpPr>
          <p:spPr>
            <a:xfrm>
              <a:off x="3438747" y="2232032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1" name="Google Shape;1121;p80"/>
            <p:cNvSpPr/>
            <p:nvPr/>
          </p:nvSpPr>
          <p:spPr>
            <a:xfrm>
              <a:off x="3085486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2" name="Google Shape;1122;p80"/>
            <p:cNvSpPr/>
            <p:nvPr/>
          </p:nvSpPr>
          <p:spPr>
            <a:xfrm>
              <a:off x="2909492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3" name="Google Shape;1123;p80"/>
            <p:cNvSpPr/>
            <p:nvPr/>
          </p:nvSpPr>
          <p:spPr>
            <a:xfrm>
              <a:off x="2735257" y="2407038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4" name="Google Shape;1124;p80"/>
            <p:cNvSpPr/>
            <p:nvPr/>
          </p:nvSpPr>
          <p:spPr>
            <a:xfrm>
              <a:off x="3438747" y="2408026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5" name="Google Shape;1125;p80"/>
          <p:cNvGrpSpPr/>
          <p:nvPr/>
        </p:nvGrpSpPr>
        <p:grpSpPr>
          <a:xfrm>
            <a:off x="4823992" y="2243642"/>
            <a:ext cx="682077" cy="504107"/>
            <a:chOff x="7247798" y="1063260"/>
            <a:chExt cx="1015600" cy="754200"/>
          </a:xfrm>
        </p:grpSpPr>
        <p:sp>
          <p:nvSpPr>
            <p:cNvPr id="1126" name="Google Shape;1126;p80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7" name="Google Shape;1127;p80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80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80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80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80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80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80"/>
          <p:cNvGrpSpPr/>
          <p:nvPr/>
        </p:nvGrpSpPr>
        <p:grpSpPr>
          <a:xfrm>
            <a:off x="5758076" y="2078015"/>
            <a:ext cx="879107" cy="672097"/>
            <a:chOff x="5758076" y="1902021"/>
            <a:chExt cx="879107" cy="672097"/>
          </a:xfrm>
        </p:grpSpPr>
        <p:sp>
          <p:nvSpPr>
            <p:cNvPr id="1134" name="Google Shape;1134;p80"/>
            <p:cNvSpPr/>
            <p:nvPr/>
          </p:nvSpPr>
          <p:spPr>
            <a:xfrm>
              <a:off x="5758080" y="223807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80"/>
            <p:cNvSpPr/>
            <p:nvPr/>
          </p:nvSpPr>
          <p:spPr>
            <a:xfrm>
              <a:off x="6124595" y="223807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6" name="Google Shape;1136;p80"/>
            <p:cNvSpPr/>
            <p:nvPr/>
          </p:nvSpPr>
          <p:spPr>
            <a:xfrm>
              <a:off x="6293968" y="223807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7" name="Google Shape;1137;p80"/>
            <p:cNvSpPr/>
            <p:nvPr/>
          </p:nvSpPr>
          <p:spPr>
            <a:xfrm>
              <a:off x="5758076" y="2406118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8" name="Google Shape;1138;p80"/>
            <p:cNvSpPr/>
            <p:nvPr/>
          </p:nvSpPr>
          <p:spPr>
            <a:xfrm>
              <a:off x="6293972" y="2406118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9" name="Google Shape;1139;p80"/>
            <p:cNvSpPr/>
            <p:nvPr/>
          </p:nvSpPr>
          <p:spPr>
            <a:xfrm>
              <a:off x="6293972" y="2070046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0" name="Google Shape;1140;p80"/>
            <p:cNvSpPr/>
            <p:nvPr/>
          </p:nvSpPr>
          <p:spPr>
            <a:xfrm>
              <a:off x="6293983" y="1902021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1" name="Google Shape;1141;p80"/>
            <p:cNvSpPr/>
            <p:nvPr/>
          </p:nvSpPr>
          <p:spPr>
            <a:xfrm>
              <a:off x="5940736" y="223807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2" name="Google Shape;1142;p80"/>
            <p:cNvSpPr/>
            <p:nvPr/>
          </p:nvSpPr>
          <p:spPr>
            <a:xfrm>
              <a:off x="6465583" y="1902021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3" name="Google Shape;1143;p80"/>
          <p:cNvSpPr/>
          <p:nvPr/>
        </p:nvSpPr>
        <p:spPr>
          <a:xfrm>
            <a:off x="6948605" y="2414068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80"/>
          <p:cNvSpPr/>
          <p:nvPr/>
        </p:nvSpPr>
        <p:spPr>
          <a:xfrm>
            <a:off x="7315120" y="2414068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80"/>
          <p:cNvSpPr/>
          <p:nvPr/>
        </p:nvSpPr>
        <p:spPr>
          <a:xfrm>
            <a:off x="7484493" y="2414068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0"/>
          <p:cNvSpPr/>
          <p:nvPr/>
        </p:nvSpPr>
        <p:spPr>
          <a:xfrm>
            <a:off x="6765951" y="2582112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0"/>
          <p:cNvSpPr/>
          <p:nvPr/>
        </p:nvSpPr>
        <p:spPr>
          <a:xfrm>
            <a:off x="7484497" y="2582112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0"/>
          <p:cNvSpPr/>
          <p:nvPr/>
        </p:nvSpPr>
        <p:spPr>
          <a:xfrm>
            <a:off x="7484497" y="2246040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0"/>
          <p:cNvSpPr/>
          <p:nvPr/>
        </p:nvSpPr>
        <p:spPr>
          <a:xfrm>
            <a:off x="7484508" y="2078015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0"/>
          <p:cNvSpPr/>
          <p:nvPr/>
        </p:nvSpPr>
        <p:spPr>
          <a:xfrm>
            <a:off x="7131261" y="2414068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0"/>
          <p:cNvSpPr/>
          <p:nvPr/>
        </p:nvSpPr>
        <p:spPr>
          <a:xfrm>
            <a:off x="7484508" y="191345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0"/>
          <p:cNvSpPr/>
          <p:nvPr/>
        </p:nvSpPr>
        <p:spPr>
          <a:xfrm>
            <a:off x="6765961" y="241169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0"/>
          <p:cNvSpPr/>
          <p:nvPr/>
        </p:nvSpPr>
        <p:spPr>
          <a:xfrm>
            <a:off x="7656108" y="1913465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7" name="Shape 1157"/>
        <p:cNvGrpSpPr/>
        <p:nvPr/>
      </p:nvGrpSpPr>
      <p:grpSpPr>
        <a:xfrm>
          <a:off x="0" y="0"/>
          <a:ext cx="0" cy="0"/>
        </a:xfrm>
      </p:grpSpPr>
      <p:sp>
        <p:nvSpPr>
          <p:cNvPr id="1158" name="Google Shape;1158;p81"/>
          <p:cNvSpPr txBox="1"/>
          <p:nvPr>
            <p:ph type="body" idx="1"/>
          </p:nvPr>
        </p:nvSpPr>
        <p:spPr>
          <a:xfrm>
            <a:off x="324000" y="709150"/>
            <a:ext cx="8237700" cy="6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 has drawn a ‘dog’ by shading in squares. Their classmates each continue the pattern in different ways. </a:t>
            </a:r>
            <a:endParaRPr sz="1800"/>
          </a:p>
        </p:txBody>
      </p:sp>
      <p:sp>
        <p:nvSpPr>
          <p:cNvPr id="1159" name="Google Shape;1159;p8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grpSp>
        <p:nvGrpSpPr>
          <p:cNvPr id="1160" name="Google Shape;1160;p81"/>
          <p:cNvGrpSpPr/>
          <p:nvPr/>
        </p:nvGrpSpPr>
        <p:grpSpPr>
          <a:xfrm>
            <a:off x="8034592" y="747160"/>
            <a:ext cx="682077" cy="504107"/>
            <a:chOff x="7247798" y="1063260"/>
            <a:chExt cx="1015600" cy="754200"/>
          </a:xfrm>
        </p:grpSpPr>
        <p:sp>
          <p:nvSpPr>
            <p:cNvPr id="1161" name="Google Shape;1161;p81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81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81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81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81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81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7" name="Google Shape;1167;p81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81"/>
          <p:cNvGrpSpPr/>
          <p:nvPr/>
        </p:nvGrpSpPr>
        <p:grpSpPr>
          <a:xfrm>
            <a:off x="636917" y="2030723"/>
            <a:ext cx="682077" cy="504107"/>
            <a:chOff x="7247798" y="1063260"/>
            <a:chExt cx="1015600" cy="754200"/>
          </a:xfrm>
        </p:grpSpPr>
        <p:sp>
          <p:nvSpPr>
            <p:cNvPr id="1169" name="Google Shape;1169;p81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81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1" name="Google Shape;1171;p81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2" name="Google Shape;1172;p81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81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81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5" name="Google Shape;1175;p81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6" name="Google Shape;1176;p81"/>
          <p:cNvSpPr/>
          <p:nvPr/>
        </p:nvSpPr>
        <p:spPr>
          <a:xfrm>
            <a:off x="1570030" y="2198750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1"/>
          <p:cNvSpPr/>
          <p:nvPr/>
        </p:nvSpPr>
        <p:spPr>
          <a:xfrm>
            <a:off x="1936545" y="2198750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1"/>
          <p:cNvSpPr/>
          <p:nvPr/>
        </p:nvSpPr>
        <p:spPr>
          <a:xfrm>
            <a:off x="2105918" y="2198750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1"/>
          <p:cNvSpPr/>
          <p:nvPr/>
        </p:nvSpPr>
        <p:spPr>
          <a:xfrm>
            <a:off x="1570026" y="2366794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1"/>
          <p:cNvSpPr/>
          <p:nvPr/>
        </p:nvSpPr>
        <p:spPr>
          <a:xfrm>
            <a:off x="2105922" y="2366794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1"/>
          <p:cNvSpPr/>
          <p:nvPr/>
        </p:nvSpPr>
        <p:spPr>
          <a:xfrm>
            <a:off x="2105922" y="203072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1"/>
          <p:cNvSpPr/>
          <p:nvPr/>
        </p:nvSpPr>
        <p:spPr>
          <a:xfrm>
            <a:off x="2277583" y="203072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1"/>
          <p:cNvSpPr/>
          <p:nvPr/>
        </p:nvSpPr>
        <p:spPr>
          <a:xfrm>
            <a:off x="1570051" y="2536832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1"/>
          <p:cNvSpPr/>
          <p:nvPr/>
        </p:nvSpPr>
        <p:spPr>
          <a:xfrm>
            <a:off x="2105947" y="2536832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1"/>
          <p:cNvSpPr/>
          <p:nvPr/>
        </p:nvSpPr>
        <p:spPr>
          <a:xfrm>
            <a:off x="1752686" y="2198750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6" name="Google Shape;1186;p81"/>
          <p:cNvGrpSpPr/>
          <p:nvPr/>
        </p:nvGrpSpPr>
        <p:grpSpPr>
          <a:xfrm>
            <a:off x="2735232" y="2030723"/>
            <a:ext cx="1046751" cy="850103"/>
            <a:chOff x="2735232" y="1725923"/>
            <a:chExt cx="1046751" cy="850103"/>
          </a:xfrm>
        </p:grpSpPr>
        <p:sp>
          <p:nvSpPr>
            <p:cNvPr id="1187" name="Google Shape;1187;p81"/>
            <p:cNvSpPr/>
            <p:nvPr/>
          </p:nvSpPr>
          <p:spPr>
            <a:xfrm>
              <a:off x="2735236" y="189296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8" name="Google Shape;1188;p81"/>
            <p:cNvSpPr/>
            <p:nvPr/>
          </p:nvSpPr>
          <p:spPr>
            <a:xfrm>
              <a:off x="3269345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9" name="Google Shape;1189;p81"/>
            <p:cNvSpPr/>
            <p:nvPr/>
          </p:nvSpPr>
          <p:spPr>
            <a:xfrm>
              <a:off x="3438718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0" name="Google Shape;1190;p81"/>
            <p:cNvSpPr/>
            <p:nvPr/>
          </p:nvSpPr>
          <p:spPr>
            <a:xfrm>
              <a:off x="2735232" y="2061007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1" name="Google Shape;1191;p81"/>
            <p:cNvSpPr/>
            <p:nvPr/>
          </p:nvSpPr>
          <p:spPr>
            <a:xfrm>
              <a:off x="3438722" y="206199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81"/>
            <p:cNvSpPr/>
            <p:nvPr/>
          </p:nvSpPr>
          <p:spPr>
            <a:xfrm>
              <a:off x="3438722" y="172592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81"/>
            <p:cNvSpPr/>
            <p:nvPr/>
          </p:nvSpPr>
          <p:spPr>
            <a:xfrm>
              <a:off x="3610383" y="172592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81"/>
            <p:cNvSpPr/>
            <p:nvPr/>
          </p:nvSpPr>
          <p:spPr>
            <a:xfrm>
              <a:off x="2735257" y="223104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5" name="Google Shape;1195;p81"/>
            <p:cNvSpPr/>
            <p:nvPr/>
          </p:nvSpPr>
          <p:spPr>
            <a:xfrm>
              <a:off x="3438747" y="2232032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6" name="Google Shape;1196;p81"/>
            <p:cNvSpPr/>
            <p:nvPr/>
          </p:nvSpPr>
          <p:spPr>
            <a:xfrm>
              <a:off x="3085486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7" name="Google Shape;1197;p81"/>
            <p:cNvSpPr/>
            <p:nvPr/>
          </p:nvSpPr>
          <p:spPr>
            <a:xfrm>
              <a:off x="2909492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8" name="Google Shape;1198;p81"/>
            <p:cNvSpPr/>
            <p:nvPr/>
          </p:nvSpPr>
          <p:spPr>
            <a:xfrm>
              <a:off x="2735257" y="2407038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9" name="Google Shape;1199;p81"/>
            <p:cNvSpPr/>
            <p:nvPr/>
          </p:nvSpPr>
          <p:spPr>
            <a:xfrm>
              <a:off x="3438747" y="2408026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0" name="Google Shape;1200;p81"/>
          <p:cNvSpPr/>
          <p:nvPr/>
        </p:nvSpPr>
        <p:spPr>
          <a:xfrm>
            <a:off x="1752172" y="237177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1"/>
          <p:cNvSpPr/>
          <p:nvPr/>
        </p:nvSpPr>
        <p:spPr>
          <a:xfrm>
            <a:off x="1923833" y="237177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1"/>
          <p:cNvSpPr/>
          <p:nvPr/>
        </p:nvSpPr>
        <p:spPr>
          <a:xfrm>
            <a:off x="2907737" y="237177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1"/>
          <p:cNvSpPr txBox="1"/>
          <p:nvPr>
            <p:ph type="body" idx="1"/>
          </p:nvPr>
        </p:nvSpPr>
        <p:spPr>
          <a:xfrm>
            <a:off x="324000" y="1641825"/>
            <a:ext cx="8496000" cy="3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4) Izzy continues it this way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4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Describe how the pattern is developing in words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How many squares would be needed for the 10</a:t>
            </a:r>
            <a:r>
              <a:rPr lang="en-GB" sz="1800" baseline="30000"/>
              <a:t>th</a:t>
            </a:r>
            <a:r>
              <a:rPr lang="en-GB" sz="1800"/>
              <a:t> dog?</a:t>
            </a:r>
            <a:endParaRPr sz="1800"/>
          </a:p>
        </p:txBody>
      </p:sp>
      <p:sp>
        <p:nvSpPr>
          <p:cNvPr id="1204" name="Google Shape;1204;p81"/>
          <p:cNvSpPr/>
          <p:nvPr/>
        </p:nvSpPr>
        <p:spPr>
          <a:xfrm>
            <a:off x="3087263" y="237177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1"/>
          <p:cNvSpPr/>
          <p:nvPr/>
        </p:nvSpPr>
        <p:spPr>
          <a:xfrm>
            <a:off x="2907737" y="253682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1"/>
          <p:cNvSpPr/>
          <p:nvPr/>
        </p:nvSpPr>
        <p:spPr>
          <a:xfrm>
            <a:off x="3087263" y="253682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1"/>
          <p:cNvSpPr/>
          <p:nvPr/>
        </p:nvSpPr>
        <p:spPr>
          <a:xfrm>
            <a:off x="3263650" y="237177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1"/>
          <p:cNvSpPr/>
          <p:nvPr/>
        </p:nvSpPr>
        <p:spPr>
          <a:xfrm>
            <a:off x="3258900" y="2536823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2" name="Shape 1212"/>
        <p:cNvGrpSpPr/>
        <p:nvPr/>
      </p:nvGrpSpPr>
      <p:grpSpPr>
        <a:xfrm>
          <a:off x="0" y="0"/>
          <a:ext cx="0" cy="0"/>
        </a:xfrm>
      </p:grpSpPr>
      <p:sp>
        <p:nvSpPr>
          <p:cNvPr id="1213" name="Google Shape;1213;p82"/>
          <p:cNvSpPr txBox="1"/>
          <p:nvPr>
            <p:ph type="body" idx="1"/>
          </p:nvPr>
        </p:nvSpPr>
        <p:spPr>
          <a:xfrm>
            <a:off x="324000" y="759300"/>
            <a:ext cx="8237700" cy="148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Andeep is making different patterns that go up in fours.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Alex is making different patterns that go up in threes.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They show one image from each of their patterns. Which are Andeep’s, which are Alex’s and which could be either?</a:t>
            </a:r>
            <a:endParaRPr sz="1800"/>
          </a:p>
        </p:txBody>
      </p:sp>
      <p:sp>
        <p:nvSpPr>
          <p:cNvPr id="1214" name="Google Shape;1214;p8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1215" name="Google Shape;1215;p82"/>
          <p:cNvSpPr/>
          <p:nvPr/>
        </p:nvSpPr>
        <p:spPr>
          <a:xfrm>
            <a:off x="6607075" y="2169646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2"/>
          <p:cNvSpPr/>
          <p:nvPr/>
        </p:nvSpPr>
        <p:spPr>
          <a:xfrm>
            <a:off x="6862700" y="2169646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2"/>
          <p:cNvSpPr/>
          <p:nvPr/>
        </p:nvSpPr>
        <p:spPr>
          <a:xfrm>
            <a:off x="6607075" y="2421171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2"/>
          <p:cNvSpPr/>
          <p:nvPr/>
        </p:nvSpPr>
        <p:spPr>
          <a:xfrm>
            <a:off x="6862700" y="2421171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2"/>
          <p:cNvSpPr/>
          <p:nvPr/>
        </p:nvSpPr>
        <p:spPr>
          <a:xfrm>
            <a:off x="6607075" y="2704154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2"/>
          <p:cNvSpPr/>
          <p:nvPr/>
        </p:nvSpPr>
        <p:spPr>
          <a:xfrm>
            <a:off x="6862700" y="2704154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2"/>
          <p:cNvSpPr/>
          <p:nvPr/>
        </p:nvSpPr>
        <p:spPr>
          <a:xfrm>
            <a:off x="6605550" y="2955679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2"/>
          <p:cNvSpPr/>
          <p:nvPr/>
        </p:nvSpPr>
        <p:spPr>
          <a:xfrm>
            <a:off x="6861175" y="2955679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2"/>
          <p:cNvSpPr/>
          <p:nvPr/>
        </p:nvSpPr>
        <p:spPr>
          <a:xfrm>
            <a:off x="6607075" y="3230798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2"/>
          <p:cNvSpPr/>
          <p:nvPr/>
        </p:nvSpPr>
        <p:spPr>
          <a:xfrm>
            <a:off x="6862700" y="3230798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2"/>
          <p:cNvSpPr/>
          <p:nvPr/>
        </p:nvSpPr>
        <p:spPr>
          <a:xfrm>
            <a:off x="6607075" y="3489094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82"/>
          <p:cNvSpPr/>
          <p:nvPr/>
        </p:nvSpPr>
        <p:spPr>
          <a:xfrm>
            <a:off x="6862700" y="3489094"/>
            <a:ext cx="255600" cy="2514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82"/>
          <p:cNvSpPr/>
          <p:nvPr/>
        </p:nvSpPr>
        <p:spPr>
          <a:xfrm>
            <a:off x="6677850" y="2240446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2"/>
          <p:cNvSpPr/>
          <p:nvPr/>
        </p:nvSpPr>
        <p:spPr>
          <a:xfrm>
            <a:off x="6937909" y="2240446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82"/>
          <p:cNvSpPr/>
          <p:nvPr/>
        </p:nvSpPr>
        <p:spPr>
          <a:xfrm>
            <a:off x="6677850" y="2492640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82"/>
          <p:cNvSpPr/>
          <p:nvPr/>
        </p:nvSpPr>
        <p:spPr>
          <a:xfrm>
            <a:off x="6937909" y="2492640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2"/>
          <p:cNvSpPr/>
          <p:nvPr/>
        </p:nvSpPr>
        <p:spPr>
          <a:xfrm>
            <a:off x="6677850" y="2768428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2"/>
          <p:cNvSpPr/>
          <p:nvPr/>
        </p:nvSpPr>
        <p:spPr>
          <a:xfrm>
            <a:off x="6937909" y="2768428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82"/>
          <p:cNvSpPr/>
          <p:nvPr/>
        </p:nvSpPr>
        <p:spPr>
          <a:xfrm>
            <a:off x="6677850" y="3033904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2"/>
          <p:cNvSpPr/>
          <p:nvPr/>
        </p:nvSpPr>
        <p:spPr>
          <a:xfrm>
            <a:off x="6937909" y="3033904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82"/>
          <p:cNvSpPr/>
          <p:nvPr/>
        </p:nvSpPr>
        <p:spPr>
          <a:xfrm>
            <a:off x="6677850" y="3301828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2"/>
          <p:cNvSpPr/>
          <p:nvPr/>
        </p:nvSpPr>
        <p:spPr>
          <a:xfrm>
            <a:off x="6937909" y="3301828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2"/>
          <p:cNvSpPr/>
          <p:nvPr/>
        </p:nvSpPr>
        <p:spPr>
          <a:xfrm>
            <a:off x="6677850" y="3561886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2"/>
          <p:cNvSpPr/>
          <p:nvPr/>
        </p:nvSpPr>
        <p:spPr>
          <a:xfrm>
            <a:off x="6937909" y="3561886"/>
            <a:ext cx="108000" cy="108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2"/>
          <p:cNvSpPr/>
          <p:nvPr/>
        </p:nvSpPr>
        <p:spPr>
          <a:xfrm>
            <a:off x="7459209" y="3854596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2"/>
          <p:cNvSpPr/>
          <p:nvPr/>
        </p:nvSpPr>
        <p:spPr>
          <a:xfrm>
            <a:off x="7721093" y="3854596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2"/>
          <p:cNvSpPr/>
          <p:nvPr/>
        </p:nvSpPr>
        <p:spPr>
          <a:xfrm>
            <a:off x="7982977" y="3854596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2"/>
          <p:cNvSpPr/>
          <p:nvPr/>
        </p:nvSpPr>
        <p:spPr>
          <a:xfrm>
            <a:off x="7459209" y="4091060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2"/>
          <p:cNvSpPr/>
          <p:nvPr/>
        </p:nvSpPr>
        <p:spPr>
          <a:xfrm>
            <a:off x="7721093" y="4091060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2"/>
          <p:cNvSpPr/>
          <p:nvPr/>
        </p:nvSpPr>
        <p:spPr>
          <a:xfrm>
            <a:off x="7982977" y="4091060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2"/>
          <p:cNvSpPr/>
          <p:nvPr/>
        </p:nvSpPr>
        <p:spPr>
          <a:xfrm>
            <a:off x="7459209" y="432507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82"/>
          <p:cNvSpPr/>
          <p:nvPr/>
        </p:nvSpPr>
        <p:spPr>
          <a:xfrm>
            <a:off x="7721093" y="432507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2"/>
          <p:cNvSpPr/>
          <p:nvPr/>
        </p:nvSpPr>
        <p:spPr>
          <a:xfrm>
            <a:off x="7982977" y="432507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2"/>
          <p:cNvSpPr/>
          <p:nvPr/>
        </p:nvSpPr>
        <p:spPr>
          <a:xfrm>
            <a:off x="7459209" y="456940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2"/>
          <p:cNvSpPr/>
          <p:nvPr/>
        </p:nvSpPr>
        <p:spPr>
          <a:xfrm>
            <a:off x="7721093" y="456940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2"/>
          <p:cNvSpPr/>
          <p:nvPr/>
        </p:nvSpPr>
        <p:spPr>
          <a:xfrm>
            <a:off x="7982977" y="4569408"/>
            <a:ext cx="216000" cy="216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1" name="Google Shape;1251;p82"/>
          <p:cNvGrpSpPr/>
          <p:nvPr/>
        </p:nvGrpSpPr>
        <p:grpSpPr>
          <a:xfrm>
            <a:off x="3685300" y="3256942"/>
            <a:ext cx="1564648" cy="775221"/>
            <a:chOff x="3685300" y="3256942"/>
            <a:chExt cx="1564648" cy="775221"/>
          </a:xfrm>
        </p:grpSpPr>
        <p:cxnSp>
          <p:nvCxnSpPr>
            <p:cNvPr id="1252" name="Google Shape;1252;p82"/>
            <p:cNvCxnSpPr/>
            <p:nvPr/>
          </p:nvCxnSpPr>
          <p:spPr>
            <a:xfrm flipH="1">
              <a:off x="3685300" y="3269263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3" name="Google Shape;1253;p82"/>
            <p:cNvCxnSpPr/>
            <p:nvPr/>
          </p:nvCxnSpPr>
          <p:spPr>
            <a:xfrm flipH="1">
              <a:off x="4203475" y="3269263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4" name="Google Shape;1254;p82"/>
            <p:cNvCxnSpPr/>
            <p:nvPr/>
          </p:nvCxnSpPr>
          <p:spPr>
            <a:xfrm flipH="1">
              <a:off x="4721650" y="3269263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5" name="Google Shape;1255;p82"/>
            <p:cNvCxnSpPr/>
            <p:nvPr/>
          </p:nvCxnSpPr>
          <p:spPr>
            <a:xfrm flipH="1">
              <a:off x="5231960" y="3256942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6" name="Google Shape;1256;p82"/>
            <p:cNvCxnSpPr/>
            <p:nvPr/>
          </p:nvCxnSpPr>
          <p:spPr>
            <a:xfrm rot="10800000">
              <a:off x="3693225" y="35050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7" name="Google Shape;1257;p82"/>
            <p:cNvCxnSpPr/>
            <p:nvPr/>
          </p:nvCxnSpPr>
          <p:spPr>
            <a:xfrm rot="10800000">
              <a:off x="3693225" y="32764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8" name="Google Shape;1258;p82"/>
            <p:cNvCxnSpPr/>
            <p:nvPr/>
          </p:nvCxnSpPr>
          <p:spPr>
            <a:xfrm rot="10800000">
              <a:off x="3685360" y="3749367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9" name="Google Shape;1259;p82"/>
            <p:cNvCxnSpPr/>
            <p:nvPr/>
          </p:nvCxnSpPr>
          <p:spPr>
            <a:xfrm rot="10800000">
              <a:off x="4226625" y="35050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0" name="Google Shape;1260;p82"/>
            <p:cNvCxnSpPr/>
            <p:nvPr/>
          </p:nvCxnSpPr>
          <p:spPr>
            <a:xfrm rot="10800000">
              <a:off x="4226625" y="32764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1" name="Google Shape;1261;p82"/>
            <p:cNvCxnSpPr/>
            <p:nvPr/>
          </p:nvCxnSpPr>
          <p:spPr>
            <a:xfrm rot="10800000">
              <a:off x="4218760" y="3749367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2" name="Google Shape;1262;p82"/>
            <p:cNvCxnSpPr/>
            <p:nvPr/>
          </p:nvCxnSpPr>
          <p:spPr>
            <a:xfrm rot="10800000">
              <a:off x="4723148" y="35050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3" name="Google Shape;1263;p82"/>
            <p:cNvCxnSpPr/>
            <p:nvPr/>
          </p:nvCxnSpPr>
          <p:spPr>
            <a:xfrm rot="10800000">
              <a:off x="4723148" y="32764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4" name="Google Shape;1264;p82"/>
            <p:cNvCxnSpPr/>
            <p:nvPr/>
          </p:nvCxnSpPr>
          <p:spPr>
            <a:xfrm rot="10800000">
              <a:off x="4715284" y="3749367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65" name="Google Shape;1265;p82"/>
          <p:cNvGrpSpPr/>
          <p:nvPr/>
        </p:nvGrpSpPr>
        <p:grpSpPr>
          <a:xfrm>
            <a:off x="701788" y="3846548"/>
            <a:ext cx="759988" cy="509012"/>
            <a:chOff x="1291375" y="2815398"/>
            <a:chExt cx="759988" cy="509012"/>
          </a:xfrm>
        </p:grpSpPr>
        <p:sp>
          <p:nvSpPr>
            <p:cNvPr id="1266" name="Google Shape;1266;p82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7" name="Google Shape;1267;p82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8" name="Google Shape;1268;p82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9" name="Google Shape;1269;p82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0" name="Google Shape;1270;p82"/>
          <p:cNvGrpSpPr/>
          <p:nvPr/>
        </p:nvGrpSpPr>
        <p:grpSpPr>
          <a:xfrm rot="10800000">
            <a:off x="1260555" y="3885872"/>
            <a:ext cx="759988" cy="509012"/>
            <a:chOff x="1291375" y="2815398"/>
            <a:chExt cx="759988" cy="509012"/>
          </a:xfrm>
        </p:grpSpPr>
        <p:sp>
          <p:nvSpPr>
            <p:cNvPr id="1271" name="Google Shape;1271;p82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2" name="Google Shape;1272;p82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3" name="Google Shape;1273;p82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4" name="Google Shape;1274;p82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5" name="Google Shape;1275;p82"/>
          <p:cNvGrpSpPr/>
          <p:nvPr/>
        </p:nvGrpSpPr>
        <p:grpSpPr>
          <a:xfrm>
            <a:off x="1813329" y="3846548"/>
            <a:ext cx="759988" cy="509012"/>
            <a:chOff x="1291375" y="2815398"/>
            <a:chExt cx="759988" cy="509012"/>
          </a:xfrm>
        </p:grpSpPr>
        <p:sp>
          <p:nvSpPr>
            <p:cNvPr id="1276" name="Google Shape;1276;p82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7" name="Google Shape;1277;p82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8" name="Google Shape;1278;p82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9" name="Google Shape;1279;p82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82"/>
          <p:cNvGrpSpPr/>
          <p:nvPr/>
        </p:nvGrpSpPr>
        <p:grpSpPr>
          <a:xfrm>
            <a:off x="701800" y="2343152"/>
            <a:ext cx="2048513" cy="766624"/>
            <a:chOff x="701800" y="2343152"/>
            <a:chExt cx="2048513" cy="766624"/>
          </a:xfrm>
        </p:grpSpPr>
        <p:sp>
          <p:nvSpPr>
            <p:cNvPr id="1281" name="Google Shape;1281;p82"/>
            <p:cNvSpPr/>
            <p:nvPr/>
          </p:nvSpPr>
          <p:spPr>
            <a:xfrm>
              <a:off x="701800" y="2343152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2" name="Google Shape;1282;p82"/>
            <p:cNvSpPr/>
            <p:nvPr/>
          </p:nvSpPr>
          <p:spPr>
            <a:xfrm>
              <a:off x="1216100" y="2343152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3" name="Google Shape;1283;p82"/>
            <p:cNvSpPr/>
            <p:nvPr/>
          </p:nvSpPr>
          <p:spPr>
            <a:xfrm>
              <a:off x="1730400" y="2343152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4" name="Google Shape;1284;p82"/>
            <p:cNvSpPr/>
            <p:nvPr/>
          </p:nvSpPr>
          <p:spPr>
            <a:xfrm>
              <a:off x="2236113" y="2343152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5" name="Google Shape;1285;p82"/>
            <p:cNvSpPr/>
            <p:nvPr/>
          </p:nvSpPr>
          <p:spPr>
            <a:xfrm>
              <a:off x="701800" y="2600764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6" name="Google Shape;1286;p82"/>
            <p:cNvSpPr/>
            <p:nvPr/>
          </p:nvSpPr>
          <p:spPr>
            <a:xfrm>
              <a:off x="1216100" y="2600764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7" name="Google Shape;1287;p82"/>
            <p:cNvSpPr/>
            <p:nvPr/>
          </p:nvSpPr>
          <p:spPr>
            <a:xfrm>
              <a:off x="1730400" y="2600764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8" name="Google Shape;1288;p82"/>
            <p:cNvSpPr/>
            <p:nvPr/>
          </p:nvSpPr>
          <p:spPr>
            <a:xfrm>
              <a:off x="2236113" y="2600764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82"/>
            <p:cNvSpPr/>
            <p:nvPr/>
          </p:nvSpPr>
          <p:spPr>
            <a:xfrm>
              <a:off x="701800" y="2858375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0" name="Google Shape;1290;p82"/>
            <p:cNvSpPr/>
            <p:nvPr/>
          </p:nvSpPr>
          <p:spPr>
            <a:xfrm>
              <a:off x="1216100" y="2858375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1" name="Google Shape;1291;p82"/>
            <p:cNvSpPr/>
            <p:nvPr/>
          </p:nvSpPr>
          <p:spPr>
            <a:xfrm>
              <a:off x="1730400" y="2858375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2" name="Google Shape;1292;p82"/>
            <p:cNvSpPr/>
            <p:nvPr/>
          </p:nvSpPr>
          <p:spPr>
            <a:xfrm>
              <a:off x="2236113" y="2858375"/>
              <a:ext cx="5142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3" name="Google Shape;1293;p82"/>
          <p:cNvGrpSpPr/>
          <p:nvPr/>
        </p:nvGrpSpPr>
        <p:grpSpPr>
          <a:xfrm>
            <a:off x="3677125" y="2336254"/>
            <a:ext cx="2057100" cy="480365"/>
            <a:chOff x="3677125" y="2336254"/>
            <a:chExt cx="2057100" cy="480365"/>
          </a:xfrm>
        </p:grpSpPr>
        <p:sp>
          <p:nvSpPr>
            <p:cNvPr id="1294" name="Google Shape;1294;p82"/>
            <p:cNvSpPr/>
            <p:nvPr/>
          </p:nvSpPr>
          <p:spPr>
            <a:xfrm>
              <a:off x="3677125" y="2336254"/>
              <a:ext cx="514200" cy="479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5" name="Google Shape;1295;p82"/>
            <p:cNvSpPr/>
            <p:nvPr/>
          </p:nvSpPr>
          <p:spPr>
            <a:xfrm>
              <a:off x="4191425" y="2336254"/>
              <a:ext cx="514200" cy="479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6" name="Google Shape;1296;p82"/>
            <p:cNvSpPr/>
            <p:nvPr/>
          </p:nvSpPr>
          <p:spPr>
            <a:xfrm>
              <a:off x="4705725" y="2336254"/>
              <a:ext cx="514200" cy="479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7" name="Google Shape;1297;p82"/>
            <p:cNvSpPr/>
            <p:nvPr/>
          </p:nvSpPr>
          <p:spPr>
            <a:xfrm>
              <a:off x="3742884" y="2612046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8" name="Google Shape;1298;p82"/>
            <p:cNvSpPr/>
            <p:nvPr/>
          </p:nvSpPr>
          <p:spPr>
            <a:xfrm>
              <a:off x="3880234" y="251504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82"/>
            <p:cNvSpPr/>
            <p:nvPr/>
          </p:nvSpPr>
          <p:spPr>
            <a:xfrm>
              <a:off x="4032634" y="2415246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82"/>
            <p:cNvSpPr/>
            <p:nvPr/>
          </p:nvSpPr>
          <p:spPr>
            <a:xfrm>
              <a:off x="4276284" y="2612046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82"/>
            <p:cNvSpPr/>
            <p:nvPr/>
          </p:nvSpPr>
          <p:spPr>
            <a:xfrm>
              <a:off x="4413634" y="251504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82"/>
            <p:cNvSpPr/>
            <p:nvPr/>
          </p:nvSpPr>
          <p:spPr>
            <a:xfrm>
              <a:off x="4566034" y="2415246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3" name="Google Shape;1303;p82"/>
            <p:cNvSpPr/>
            <p:nvPr/>
          </p:nvSpPr>
          <p:spPr>
            <a:xfrm>
              <a:off x="4778225" y="2612046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4" name="Google Shape;1304;p82"/>
            <p:cNvSpPr/>
            <p:nvPr/>
          </p:nvSpPr>
          <p:spPr>
            <a:xfrm>
              <a:off x="4915575" y="251504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5" name="Google Shape;1305;p82"/>
            <p:cNvSpPr/>
            <p:nvPr/>
          </p:nvSpPr>
          <p:spPr>
            <a:xfrm>
              <a:off x="5067975" y="2415246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6" name="Google Shape;1306;p82"/>
            <p:cNvSpPr/>
            <p:nvPr/>
          </p:nvSpPr>
          <p:spPr>
            <a:xfrm>
              <a:off x="5220025" y="2337218"/>
              <a:ext cx="514200" cy="479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7" name="Google Shape;1307;p82"/>
            <p:cNvSpPr/>
            <p:nvPr/>
          </p:nvSpPr>
          <p:spPr>
            <a:xfrm>
              <a:off x="5292525" y="261301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8" name="Google Shape;1308;p82"/>
            <p:cNvSpPr/>
            <p:nvPr/>
          </p:nvSpPr>
          <p:spPr>
            <a:xfrm>
              <a:off x="5429875" y="2516004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9" name="Google Shape;1309;p82"/>
            <p:cNvSpPr/>
            <p:nvPr/>
          </p:nvSpPr>
          <p:spPr>
            <a:xfrm>
              <a:off x="5582275" y="241621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0" name="Google Shape;1310;p82"/>
          <p:cNvSpPr txBox="1"/>
          <p:nvPr>
            <p:ph type="body" idx="1"/>
          </p:nvPr>
        </p:nvSpPr>
        <p:spPr>
          <a:xfrm>
            <a:off x="324000" y="234315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311" name="Google Shape;1311;p82"/>
          <p:cNvSpPr txBox="1"/>
          <p:nvPr>
            <p:ph type="body" idx="1"/>
          </p:nvPr>
        </p:nvSpPr>
        <p:spPr>
          <a:xfrm>
            <a:off x="324000" y="381750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312" name="Google Shape;1312;p82"/>
          <p:cNvSpPr txBox="1"/>
          <p:nvPr>
            <p:ph type="body" idx="1"/>
          </p:nvPr>
        </p:nvSpPr>
        <p:spPr>
          <a:xfrm>
            <a:off x="3261125" y="231345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313" name="Google Shape;1313;p82"/>
          <p:cNvSpPr txBox="1"/>
          <p:nvPr>
            <p:ph type="body" idx="1"/>
          </p:nvPr>
        </p:nvSpPr>
        <p:spPr>
          <a:xfrm>
            <a:off x="3259875" y="325695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1314" name="Google Shape;1314;p82"/>
          <p:cNvSpPr txBox="1"/>
          <p:nvPr>
            <p:ph type="body" idx="1"/>
          </p:nvPr>
        </p:nvSpPr>
        <p:spPr>
          <a:xfrm>
            <a:off x="6198250" y="216965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e)</a:t>
            </a:r>
            <a:endParaRPr sz="1800"/>
          </a:p>
        </p:txBody>
      </p:sp>
      <p:sp>
        <p:nvSpPr>
          <p:cNvPr id="1315" name="Google Shape;1315;p82"/>
          <p:cNvSpPr txBox="1"/>
          <p:nvPr>
            <p:ph type="body" idx="1"/>
          </p:nvPr>
        </p:nvSpPr>
        <p:spPr>
          <a:xfrm>
            <a:off x="7079700" y="3950050"/>
            <a:ext cx="3336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f)</a:t>
            </a:r>
            <a:endParaRPr sz="1800"/>
          </a:p>
        </p:txBody>
      </p:sp>
      <p:sp>
        <p:nvSpPr>
          <p:cNvPr id="1316" name="Google Shape;1316;p82"/>
          <p:cNvSpPr txBox="1"/>
          <p:nvPr>
            <p:ph type="body" idx="1"/>
          </p:nvPr>
        </p:nvSpPr>
        <p:spPr>
          <a:xfrm>
            <a:off x="701800" y="3257425"/>
            <a:ext cx="21855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Either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7" name="Google Shape;1317;p82"/>
          <p:cNvSpPr txBox="1"/>
          <p:nvPr>
            <p:ph type="body" idx="1"/>
          </p:nvPr>
        </p:nvSpPr>
        <p:spPr>
          <a:xfrm>
            <a:off x="701800" y="4457325"/>
            <a:ext cx="21855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Andeep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82"/>
          <p:cNvSpPr txBox="1"/>
          <p:nvPr>
            <p:ph type="body" idx="1"/>
          </p:nvPr>
        </p:nvSpPr>
        <p:spPr>
          <a:xfrm>
            <a:off x="3713000" y="2856925"/>
            <a:ext cx="21855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Alex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9" name="Google Shape;1319;p82"/>
          <p:cNvSpPr txBox="1"/>
          <p:nvPr>
            <p:ph type="body" idx="1"/>
          </p:nvPr>
        </p:nvSpPr>
        <p:spPr>
          <a:xfrm>
            <a:off x="2868175" y="4119050"/>
            <a:ext cx="37434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Either depending on whether we refer to total lines or just horizontal lines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0" name="Google Shape;1320;p82"/>
          <p:cNvSpPr txBox="1"/>
          <p:nvPr>
            <p:ph type="body" idx="1"/>
          </p:nvPr>
        </p:nvSpPr>
        <p:spPr>
          <a:xfrm>
            <a:off x="7195150" y="2240400"/>
            <a:ext cx="10611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Andeep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1" name="Google Shape;1321;p82"/>
          <p:cNvSpPr txBox="1"/>
          <p:nvPr>
            <p:ph type="body" idx="1"/>
          </p:nvPr>
        </p:nvSpPr>
        <p:spPr>
          <a:xfrm>
            <a:off x="7560425" y="3518863"/>
            <a:ext cx="1061100" cy="2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Either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5" name="Shape 1325"/>
        <p:cNvGrpSpPr/>
        <p:nvPr/>
      </p:nvGrpSpPr>
      <p:grpSpPr>
        <a:xfrm>
          <a:off x="0" y="0"/>
          <a:ext cx="0" cy="0"/>
        </a:xfrm>
      </p:grpSpPr>
      <p:sp>
        <p:nvSpPr>
          <p:cNvPr id="1326" name="Google Shape;1326;p8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 has drawn a ‘dog’ by shading in squares. Their classmates each continue the pattern in different ways. </a:t>
            </a:r>
            <a:endParaRPr sz="1800"/>
          </a:p>
        </p:txBody>
      </p:sp>
      <p:sp>
        <p:nvSpPr>
          <p:cNvPr id="1327" name="Google Shape;1327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sp>
        <p:nvSpPr>
          <p:cNvPr id="1328" name="Google Shape;1328;p83"/>
          <p:cNvSpPr txBox="1"/>
          <p:nvPr>
            <p:ph type="body" idx="1"/>
          </p:nvPr>
        </p:nvSpPr>
        <p:spPr>
          <a:xfrm>
            <a:off x="324000" y="1428950"/>
            <a:ext cx="4248000" cy="339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Aisha continues it this way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4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Describe how the pattern is developing in words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How many squares would be needed for the 10</a:t>
            </a:r>
            <a:r>
              <a:rPr lang="en-GB" sz="1800" baseline="30000"/>
              <a:t>th</a:t>
            </a:r>
            <a:r>
              <a:rPr lang="en-GB" sz="1800"/>
              <a:t> dog?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9" name="Google Shape;1329;p83"/>
          <p:cNvSpPr txBox="1"/>
          <p:nvPr>
            <p:ph type="body" idx="1"/>
          </p:nvPr>
        </p:nvSpPr>
        <p:spPr>
          <a:xfrm>
            <a:off x="4572000" y="1411575"/>
            <a:ext cx="4248000" cy="3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Lucas continues it this way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4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Describe how the pattern is developing in words</a:t>
            </a:r>
            <a:br>
              <a:rPr lang="en-GB" sz="1800"/>
            </a:br>
            <a:br>
              <a:rPr lang="en-GB" sz="1800"/>
            </a:br>
            <a:br>
              <a:rPr lang="en-GB" sz="1800"/>
            </a:b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How many squares would be needed for the 10</a:t>
            </a:r>
            <a:r>
              <a:rPr lang="en-GB" sz="1800" baseline="30000"/>
              <a:t>th</a:t>
            </a:r>
            <a:r>
              <a:rPr lang="en-GB" sz="1800"/>
              <a:t> dog?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30" name="Google Shape;1330;p83"/>
          <p:cNvGrpSpPr/>
          <p:nvPr/>
        </p:nvGrpSpPr>
        <p:grpSpPr>
          <a:xfrm>
            <a:off x="8034592" y="747160"/>
            <a:ext cx="682077" cy="504107"/>
            <a:chOff x="7247798" y="1063260"/>
            <a:chExt cx="1015600" cy="754200"/>
          </a:xfrm>
        </p:grpSpPr>
        <p:sp>
          <p:nvSpPr>
            <p:cNvPr id="1331" name="Google Shape;1331;p83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2" name="Google Shape;1332;p83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3" name="Google Shape;1333;p83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4" name="Google Shape;1334;p83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83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6" name="Google Shape;1336;p83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7" name="Google Shape;1337;p83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8" name="Google Shape;1338;p83"/>
          <p:cNvGrpSpPr/>
          <p:nvPr/>
        </p:nvGrpSpPr>
        <p:grpSpPr>
          <a:xfrm>
            <a:off x="636917" y="1802123"/>
            <a:ext cx="682077" cy="504107"/>
            <a:chOff x="7247798" y="1063260"/>
            <a:chExt cx="1015600" cy="754200"/>
          </a:xfrm>
        </p:grpSpPr>
        <p:sp>
          <p:nvSpPr>
            <p:cNvPr id="1339" name="Google Shape;1339;p83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0" name="Google Shape;1340;p83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1" name="Google Shape;1341;p83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2" name="Google Shape;1342;p83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3" name="Google Shape;1343;p83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4" name="Google Shape;1344;p83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5" name="Google Shape;1345;p83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6" name="Google Shape;1346;p83"/>
          <p:cNvGrpSpPr/>
          <p:nvPr/>
        </p:nvGrpSpPr>
        <p:grpSpPr>
          <a:xfrm>
            <a:off x="1570026" y="1802123"/>
            <a:ext cx="879157" cy="674109"/>
            <a:chOff x="1487651" y="1725923"/>
            <a:chExt cx="879157" cy="674109"/>
          </a:xfrm>
        </p:grpSpPr>
        <p:sp>
          <p:nvSpPr>
            <p:cNvPr id="1347" name="Google Shape;1347;p83"/>
            <p:cNvSpPr/>
            <p:nvPr/>
          </p:nvSpPr>
          <p:spPr>
            <a:xfrm>
              <a:off x="1487655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8" name="Google Shape;1348;p83"/>
            <p:cNvSpPr/>
            <p:nvPr/>
          </p:nvSpPr>
          <p:spPr>
            <a:xfrm>
              <a:off x="1854170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9" name="Google Shape;1349;p83"/>
            <p:cNvSpPr/>
            <p:nvPr/>
          </p:nvSpPr>
          <p:spPr>
            <a:xfrm>
              <a:off x="2023543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0" name="Google Shape;1350;p83"/>
            <p:cNvSpPr/>
            <p:nvPr/>
          </p:nvSpPr>
          <p:spPr>
            <a:xfrm>
              <a:off x="1487651" y="206199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1" name="Google Shape;1351;p83"/>
            <p:cNvSpPr/>
            <p:nvPr/>
          </p:nvSpPr>
          <p:spPr>
            <a:xfrm>
              <a:off x="2023547" y="206199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2" name="Google Shape;1352;p83"/>
            <p:cNvSpPr/>
            <p:nvPr/>
          </p:nvSpPr>
          <p:spPr>
            <a:xfrm>
              <a:off x="2023547" y="172592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3" name="Google Shape;1353;p83"/>
            <p:cNvSpPr/>
            <p:nvPr/>
          </p:nvSpPr>
          <p:spPr>
            <a:xfrm>
              <a:off x="2195208" y="172592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4" name="Google Shape;1354;p83"/>
            <p:cNvSpPr/>
            <p:nvPr/>
          </p:nvSpPr>
          <p:spPr>
            <a:xfrm>
              <a:off x="1487676" y="2232032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5" name="Google Shape;1355;p83"/>
            <p:cNvSpPr/>
            <p:nvPr/>
          </p:nvSpPr>
          <p:spPr>
            <a:xfrm>
              <a:off x="2023572" y="2232032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6" name="Google Shape;1356;p83"/>
            <p:cNvSpPr/>
            <p:nvPr/>
          </p:nvSpPr>
          <p:spPr>
            <a:xfrm>
              <a:off x="1670311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7" name="Google Shape;1357;p83"/>
          <p:cNvGrpSpPr/>
          <p:nvPr/>
        </p:nvGrpSpPr>
        <p:grpSpPr>
          <a:xfrm>
            <a:off x="2735232" y="1802123"/>
            <a:ext cx="1046751" cy="850103"/>
            <a:chOff x="2735232" y="1725923"/>
            <a:chExt cx="1046751" cy="850103"/>
          </a:xfrm>
        </p:grpSpPr>
        <p:sp>
          <p:nvSpPr>
            <p:cNvPr id="1358" name="Google Shape;1358;p83"/>
            <p:cNvSpPr/>
            <p:nvPr/>
          </p:nvSpPr>
          <p:spPr>
            <a:xfrm>
              <a:off x="2735236" y="189296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9" name="Google Shape;1359;p83"/>
            <p:cNvSpPr/>
            <p:nvPr/>
          </p:nvSpPr>
          <p:spPr>
            <a:xfrm>
              <a:off x="3269345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0" name="Google Shape;1360;p83"/>
            <p:cNvSpPr/>
            <p:nvPr/>
          </p:nvSpPr>
          <p:spPr>
            <a:xfrm>
              <a:off x="3438718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1" name="Google Shape;1361;p83"/>
            <p:cNvSpPr/>
            <p:nvPr/>
          </p:nvSpPr>
          <p:spPr>
            <a:xfrm>
              <a:off x="2735232" y="2061007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2" name="Google Shape;1362;p83"/>
            <p:cNvSpPr/>
            <p:nvPr/>
          </p:nvSpPr>
          <p:spPr>
            <a:xfrm>
              <a:off x="3438722" y="206199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3" name="Google Shape;1363;p83"/>
            <p:cNvSpPr/>
            <p:nvPr/>
          </p:nvSpPr>
          <p:spPr>
            <a:xfrm>
              <a:off x="3438722" y="172592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4" name="Google Shape;1364;p83"/>
            <p:cNvSpPr/>
            <p:nvPr/>
          </p:nvSpPr>
          <p:spPr>
            <a:xfrm>
              <a:off x="3610383" y="172592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5" name="Google Shape;1365;p83"/>
            <p:cNvSpPr/>
            <p:nvPr/>
          </p:nvSpPr>
          <p:spPr>
            <a:xfrm>
              <a:off x="2735257" y="223104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6" name="Google Shape;1366;p83"/>
            <p:cNvSpPr/>
            <p:nvPr/>
          </p:nvSpPr>
          <p:spPr>
            <a:xfrm>
              <a:off x="3438747" y="2232032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7" name="Google Shape;1367;p83"/>
            <p:cNvSpPr/>
            <p:nvPr/>
          </p:nvSpPr>
          <p:spPr>
            <a:xfrm>
              <a:off x="3085486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8" name="Google Shape;1368;p83"/>
            <p:cNvSpPr/>
            <p:nvPr/>
          </p:nvSpPr>
          <p:spPr>
            <a:xfrm>
              <a:off x="2909492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9" name="Google Shape;1369;p83"/>
            <p:cNvSpPr/>
            <p:nvPr/>
          </p:nvSpPr>
          <p:spPr>
            <a:xfrm>
              <a:off x="2735257" y="2407038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0" name="Google Shape;1370;p83"/>
            <p:cNvSpPr/>
            <p:nvPr/>
          </p:nvSpPr>
          <p:spPr>
            <a:xfrm>
              <a:off x="3438747" y="2408026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1" name="Google Shape;1371;p83"/>
          <p:cNvGrpSpPr/>
          <p:nvPr/>
        </p:nvGrpSpPr>
        <p:grpSpPr>
          <a:xfrm>
            <a:off x="4823992" y="2015042"/>
            <a:ext cx="682077" cy="504107"/>
            <a:chOff x="7247798" y="1063260"/>
            <a:chExt cx="1015600" cy="754200"/>
          </a:xfrm>
        </p:grpSpPr>
        <p:sp>
          <p:nvSpPr>
            <p:cNvPr id="1372" name="Google Shape;1372;p83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3" name="Google Shape;1373;p83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4" name="Google Shape;1374;p83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5" name="Google Shape;1375;p83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6" name="Google Shape;1376;p83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7" name="Google Shape;1377;p83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8" name="Google Shape;1378;p83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9" name="Google Shape;1379;p83"/>
          <p:cNvGrpSpPr/>
          <p:nvPr/>
        </p:nvGrpSpPr>
        <p:grpSpPr>
          <a:xfrm>
            <a:off x="5758076" y="1849415"/>
            <a:ext cx="879107" cy="672097"/>
            <a:chOff x="5758076" y="1902021"/>
            <a:chExt cx="879107" cy="672097"/>
          </a:xfrm>
        </p:grpSpPr>
        <p:sp>
          <p:nvSpPr>
            <p:cNvPr id="1380" name="Google Shape;1380;p83"/>
            <p:cNvSpPr/>
            <p:nvPr/>
          </p:nvSpPr>
          <p:spPr>
            <a:xfrm>
              <a:off x="5758080" y="223807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1" name="Google Shape;1381;p83"/>
            <p:cNvSpPr/>
            <p:nvPr/>
          </p:nvSpPr>
          <p:spPr>
            <a:xfrm>
              <a:off x="6124595" y="223807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2" name="Google Shape;1382;p83"/>
            <p:cNvSpPr/>
            <p:nvPr/>
          </p:nvSpPr>
          <p:spPr>
            <a:xfrm>
              <a:off x="6293968" y="223807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3" name="Google Shape;1383;p83"/>
            <p:cNvSpPr/>
            <p:nvPr/>
          </p:nvSpPr>
          <p:spPr>
            <a:xfrm>
              <a:off x="5758076" y="2406118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4" name="Google Shape;1384;p83"/>
            <p:cNvSpPr/>
            <p:nvPr/>
          </p:nvSpPr>
          <p:spPr>
            <a:xfrm>
              <a:off x="6293972" y="2406118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5" name="Google Shape;1385;p83"/>
            <p:cNvSpPr/>
            <p:nvPr/>
          </p:nvSpPr>
          <p:spPr>
            <a:xfrm>
              <a:off x="6293972" y="2070046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6" name="Google Shape;1386;p83"/>
            <p:cNvSpPr/>
            <p:nvPr/>
          </p:nvSpPr>
          <p:spPr>
            <a:xfrm>
              <a:off x="6293983" y="1902021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7" name="Google Shape;1387;p83"/>
            <p:cNvSpPr/>
            <p:nvPr/>
          </p:nvSpPr>
          <p:spPr>
            <a:xfrm>
              <a:off x="5940736" y="223807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8" name="Google Shape;1388;p83"/>
            <p:cNvSpPr/>
            <p:nvPr/>
          </p:nvSpPr>
          <p:spPr>
            <a:xfrm>
              <a:off x="6465583" y="1902021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9" name="Google Shape;1389;p83"/>
          <p:cNvGrpSpPr/>
          <p:nvPr/>
        </p:nvGrpSpPr>
        <p:grpSpPr>
          <a:xfrm>
            <a:off x="6765951" y="1684853"/>
            <a:ext cx="1061757" cy="836659"/>
            <a:chOff x="6765951" y="1684853"/>
            <a:chExt cx="1061757" cy="836659"/>
          </a:xfrm>
        </p:grpSpPr>
        <p:sp>
          <p:nvSpPr>
            <p:cNvPr id="1390" name="Google Shape;1390;p83"/>
            <p:cNvSpPr/>
            <p:nvPr/>
          </p:nvSpPr>
          <p:spPr>
            <a:xfrm>
              <a:off x="6948605" y="2185468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83"/>
            <p:cNvSpPr/>
            <p:nvPr/>
          </p:nvSpPr>
          <p:spPr>
            <a:xfrm>
              <a:off x="7315120" y="2185468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2" name="Google Shape;1392;p83"/>
            <p:cNvSpPr/>
            <p:nvPr/>
          </p:nvSpPr>
          <p:spPr>
            <a:xfrm>
              <a:off x="7484493" y="2185468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3" name="Google Shape;1393;p83"/>
            <p:cNvSpPr/>
            <p:nvPr/>
          </p:nvSpPr>
          <p:spPr>
            <a:xfrm>
              <a:off x="6765951" y="2353512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4" name="Google Shape;1394;p83"/>
            <p:cNvSpPr/>
            <p:nvPr/>
          </p:nvSpPr>
          <p:spPr>
            <a:xfrm>
              <a:off x="7484497" y="2353512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5" name="Google Shape;1395;p83"/>
            <p:cNvSpPr/>
            <p:nvPr/>
          </p:nvSpPr>
          <p:spPr>
            <a:xfrm>
              <a:off x="7484497" y="201744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6" name="Google Shape;1396;p83"/>
            <p:cNvSpPr/>
            <p:nvPr/>
          </p:nvSpPr>
          <p:spPr>
            <a:xfrm>
              <a:off x="7484508" y="1849415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7" name="Google Shape;1397;p83"/>
            <p:cNvSpPr/>
            <p:nvPr/>
          </p:nvSpPr>
          <p:spPr>
            <a:xfrm>
              <a:off x="7131261" y="2185468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8" name="Google Shape;1398;p83"/>
            <p:cNvSpPr/>
            <p:nvPr/>
          </p:nvSpPr>
          <p:spPr>
            <a:xfrm>
              <a:off x="7484508" y="168485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9" name="Google Shape;1399;p83"/>
            <p:cNvSpPr/>
            <p:nvPr/>
          </p:nvSpPr>
          <p:spPr>
            <a:xfrm>
              <a:off x="6765961" y="218309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0" name="Google Shape;1400;p83"/>
            <p:cNvSpPr/>
            <p:nvPr/>
          </p:nvSpPr>
          <p:spPr>
            <a:xfrm>
              <a:off x="7656108" y="1684865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01" name="Google Shape;1401;p83"/>
          <p:cNvSpPr txBox="1"/>
          <p:nvPr/>
        </p:nvSpPr>
        <p:spPr>
          <a:xfrm>
            <a:off x="4579375" y="3254775"/>
            <a:ext cx="42480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The body is getting longer by 1 and the neck is getting longer by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83"/>
          <p:cNvSpPr txBox="1"/>
          <p:nvPr/>
        </p:nvSpPr>
        <p:spPr>
          <a:xfrm>
            <a:off x="348425" y="3227125"/>
            <a:ext cx="42237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The body is getting longer by 1 and each leg is getting longer by 1.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6" name="Shape 1406"/>
        <p:cNvGrpSpPr/>
        <p:nvPr/>
      </p:nvGrpSpPr>
      <p:grpSpPr>
        <a:xfrm>
          <a:off x="0" y="0"/>
          <a:ext cx="0" cy="0"/>
        </a:xfrm>
      </p:grpSpPr>
      <p:sp>
        <p:nvSpPr>
          <p:cNvPr id="1407" name="Google Shape;1407;p84"/>
          <p:cNvSpPr txBox="1"/>
          <p:nvPr>
            <p:ph type="body" idx="1"/>
          </p:nvPr>
        </p:nvSpPr>
        <p:spPr>
          <a:xfrm>
            <a:off x="324000" y="1398000"/>
            <a:ext cx="8496000" cy="31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4) Izzy continues it this way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Describe how the pattern is developing in words</a:t>
            </a:r>
            <a:br>
              <a:rPr lang="en-GB" sz="1800"/>
            </a:br>
            <a:br>
              <a:rPr lang="en-GB" sz="1800"/>
            </a:br>
            <a:br>
              <a:rPr lang="en-GB" sz="1800"/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How many squares would be needed for the 10</a:t>
            </a:r>
            <a:r>
              <a:rPr lang="en-GB" sz="1800" baseline="30000"/>
              <a:t>th</a:t>
            </a:r>
            <a:r>
              <a:rPr lang="en-GB" sz="1800"/>
              <a:t> dog?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10th dog will have a 10 by 10 square in the middle 11 squares for each leg and 2 for the head. 124 squares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8" name="Google Shape;1408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Pictorial sequences</a:t>
            </a:r>
            <a:endParaRPr/>
          </a:p>
        </p:txBody>
      </p:sp>
      <p:grpSp>
        <p:nvGrpSpPr>
          <p:cNvPr id="1409" name="Google Shape;1409;p84"/>
          <p:cNvGrpSpPr/>
          <p:nvPr/>
        </p:nvGrpSpPr>
        <p:grpSpPr>
          <a:xfrm>
            <a:off x="8034592" y="747160"/>
            <a:ext cx="682077" cy="504107"/>
            <a:chOff x="7247798" y="1063260"/>
            <a:chExt cx="1015600" cy="754200"/>
          </a:xfrm>
        </p:grpSpPr>
        <p:sp>
          <p:nvSpPr>
            <p:cNvPr id="1410" name="Google Shape;1410;p84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1" name="Google Shape;1411;p84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2" name="Google Shape;1412;p84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3" name="Google Shape;1413;p84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4" name="Google Shape;1414;p84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5" name="Google Shape;1415;p84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6" name="Google Shape;1416;p84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7" name="Google Shape;1417;p84"/>
          <p:cNvGrpSpPr/>
          <p:nvPr/>
        </p:nvGrpSpPr>
        <p:grpSpPr>
          <a:xfrm>
            <a:off x="3684917" y="1407840"/>
            <a:ext cx="682077" cy="504107"/>
            <a:chOff x="7247798" y="1063260"/>
            <a:chExt cx="1015600" cy="754200"/>
          </a:xfrm>
        </p:grpSpPr>
        <p:sp>
          <p:nvSpPr>
            <p:cNvPr id="1418" name="Google Shape;1418;p84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9" name="Google Shape;1419;p84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0" name="Google Shape;1420;p84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1" name="Google Shape;1421;p84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2" name="Google Shape;1422;p84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3" name="Google Shape;1423;p84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4" name="Google Shape;1424;p84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5" name="Google Shape;1425;p84"/>
          <p:cNvSpPr/>
          <p:nvPr/>
        </p:nvSpPr>
        <p:spPr>
          <a:xfrm>
            <a:off x="4618030" y="1575868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84"/>
          <p:cNvSpPr/>
          <p:nvPr/>
        </p:nvSpPr>
        <p:spPr>
          <a:xfrm>
            <a:off x="4984545" y="1575868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84"/>
          <p:cNvSpPr/>
          <p:nvPr/>
        </p:nvSpPr>
        <p:spPr>
          <a:xfrm>
            <a:off x="5153918" y="1575868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84"/>
          <p:cNvSpPr/>
          <p:nvPr/>
        </p:nvSpPr>
        <p:spPr>
          <a:xfrm>
            <a:off x="4618026" y="1743912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84"/>
          <p:cNvSpPr/>
          <p:nvPr/>
        </p:nvSpPr>
        <p:spPr>
          <a:xfrm>
            <a:off x="5153922" y="1743912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84"/>
          <p:cNvSpPr/>
          <p:nvPr/>
        </p:nvSpPr>
        <p:spPr>
          <a:xfrm>
            <a:off x="5153922" y="1407840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84"/>
          <p:cNvSpPr/>
          <p:nvPr/>
        </p:nvSpPr>
        <p:spPr>
          <a:xfrm>
            <a:off x="5325583" y="1407840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84"/>
          <p:cNvSpPr/>
          <p:nvPr/>
        </p:nvSpPr>
        <p:spPr>
          <a:xfrm>
            <a:off x="4618051" y="1913949"/>
            <a:ext cx="171600" cy="16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4"/>
          <p:cNvSpPr/>
          <p:nvPr/>
        </p:nvSpPr>
        <p:spPr>
          <a:xfrm>
            <a:off x="5153947" y="1913949"/>
            <a:ext cx="171600" cy="16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4"/>
          <p:cNvSpPr/>
          <p:nvPr/>
        </p:nvSpPr>
        <p:spPr>
          <a:xfrm>
            <a:off x="4800686" y="1575868"/>
            <a:ext cx="171600" cy="16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5" name="Google Shape;1435;p84"/>
          <p:cNvGrpSpPr/>
          <p:nvPr/>
        </p:nvGrpSpPr>
        <p:grpSpPr>
          <a:xfrm>
            <a:off x="5783232" y="1407840"/>
            <a:ext cx="1046751" cy="850103"/>
            <a:chOff x="2735232" y="1725923"/>
            <a:chExt cx="1046751" cy="850103"/>
          </a:xfrm>
        </p:grpSpPr>
        <p:sp>
          <p:nvSpPr>
            <p:cNvPr id="1436" name="Google Shape;1436;p84"/>
            <p:cNvSpPr/>
            <p:nvPr/>
          </p:nvSpPr>
          <p:spPr>
            <a:xfrm>
              <a:off x="2735236" y="189296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7" name="Google Shape;1437;p84"/>
            <p:cNvSpPr/>
            <p:nvPr/>
          </p:nvSpPr>
          <p:spPr>
            <a:xfrm>
              <a:off x="3269345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8" name="Google Shape;1438;p84"/>
            <p:cNvSpPr/>
            <p:nvPr/>
          </p:nvSpPr>
          <p:spPr>
            <a:xfrm>
              <a:off x="3438718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9" name="Google Shape;1439;p84"/>
            <p:cNvSpPr/>
            <p:nvPr/>
          </p:nvSpPr>
          <p:spPr>
            <a:xfrm>
              <a:off x="2735232" y="2061007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0" name="Google Shape;1440;p84"/>
            <p:cNvSpPr/>
            <p:nvPr/>
          </p:nvSpPr>
          <p:spPr>
            <a:xfrm>
              <a:off x="3438722" y="206199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1" name="Google Shape;1441;p84"/>
            <p:cNvSpPr/>
            <p:nvPr/>
          </p:nvSpPr>
          <p:spPr>
            <a:xfrm>
              <a:off x="3438722" y="172592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2" name="Google Shape;1442;p84"/>
            <p:cNvSpPr/>
            <p:nvPr/>
          </p:nvSpPr>
          <p:spPr>
            <a:xfrm>
              <a:off x="3610383" y="1725923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3" name="Google Shape;1443;p84"/>
            <p:cNvSpPr/>
            <p:nvPr/>
          </p:nvSpPr>
          <p:spPr>
            <a:xfrm>
              <a:off x="2735257" y="2231044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4" name="Google Shape;1444;p84"/>
            <p:cNvSpPr/>
            <p:nvPr/>
          </p:nvSpPr>
          <p:spPr>
            <a:xfrm>
              <a:off x="3438747" y="2232032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5" name="Google Shape;1445;p84"/>
            <p:cNvSpPr/>
            <p:nvPr/>
          </p:nvSpPr>
          <p:spPr>
            <a:xfrm>
              <a:off x="3085486" y="1893950"/>
              <a:ext cx="171600" cy="168000"/>
            </a:xfrm>
            <a:prstGeom prst="rect">
              <a:avLst/>
            </a:pr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6" name="Google Shape;1446;p84"/>
            <p:cNvSpPr/>
            <p:nvPr/>
          </p:nvSpPr>
          <p:spPr>
            <a:xfrm>
              <a:off x="2909492" y="1893950"/>
              <a:ext cx="171600" cy="168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7" name="Google Shape;1447;p84"/>
            <p:cNvSpPr/>
            <p:nvPr/>
          </p:nvSpPr>
          <p:spPr>
            <a:xfrm>
              <a:off x="2735257" y="2407038"/>
              <a:ext cx="171600" cy="168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8" name="Google Shape;1448;p84"/>
            <p:cNvSpPr/>
            <p:nvPr/>
          </p:nvSpPr>
          <p:spPr>
            <a:xfrm>
              <a:off x="3438747" y="2408026"/>
              <a:ext cx="171600" cy="168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49" name="Google Shape;1449;p84"/>
          <p:cNvSpPr/>
          <p:nvPr/>
        </p:nvSpPr>
        <p:spPr>
          <a:xfrm>
            <a:off x="4800172" y="1748890"/>
            <a:ext cx="171600" cy="16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84"/>
          <p:cNvSpPr/>
          <p:nvPr/>
        </p:nvSpPr>
        <p:spPr>
          <a:xfrm>
            <a:off x="4971833" y="1748890"/>
            <a:ext cx="171600" cy="16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84"/>
          <p:cNvSpPr/>
          <p:nvPr/>
        </p:nvSpPr>
        <p:spPr>
          <a:xfrm>
            <a:off x="5955737" y="1748890"/>
            <a:ext cx="171600" cy="16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84"/>
          <p:cNvSpPr/>
          <p:nvPr/>
        </p:nvSpPr>
        <p:spPr>
          <a:xfrm>
            <a:off x="6135263" y="1748890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84"/>
          <p:cNvSpPr/>
          <p:nvPr/>
        </p:nvSpPr>
        <p:spPr>
          <a:xfrm>
            <a:off x="5955737" y="1913940"/>
            <a:ext cx="171600" cy="16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84"/>
          <p:cNvSpPr/>
          <p:nvPr/>
        </p:nvSpPr>
        <p:spPr>
          <a:xfrm>
            <a:off x="6135263" y="1913940"/>
            <a:ext cx="171600" cy="16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84"/>
          <p:cNvSpPr/>
          <p:nvPr/>
        </p:nvSpPr>
        <p:spPr>
          <a:xfrm>
            <a:off x="6311650" y="1748890"/>
            <a:ext cx="171600" cy="168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4"/>
          <p:cNvSpPr/>
          <p:nvPr/>
        </p:nvSpPr>
        <p:spPr>
          <a:xfrm>
            <a:off x="6306900" y="1913940"/>
            <a:ext cx="171600" cy="168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84"/>
          <p:cNvSpPr txBox="1"/>
          <p:nvPr>
            <p:ph type="body" idx="1"/>
          </p:nvPr>
        </p:nvSpPr>
        <p:spPr>
          <a:xfrm>
            <a:off x="324000" y="759300"/>
            <a:ext cx="8237700" cy="80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 has drawn a ‘dog’ by shading in squares. Their classmates each continue the pattern in different ways.</a:t>
            </a:r>
            <a:endParaRPr sz="1800"/>
          </a:p>
        </p:txBody>
      </p:sp>
      <p:sp>
        <p:nvSpPr>
          <p:cNvPr id="1458" name="Google Shape;1458;p84"/>
          <p:cNvSpPr txBox="1"/>
          <p:nvPr/>
        </p:nvSpPr>
        <p:spPr>
          <a:xfrm>
            <a:off x="206400" y="2511525"/>
            <a:ext cx="8472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The legs are both getting longer by 1 each time (2 in total). The body increases in both directions. A 1 by 1 square, then a 2 by 2 square then a 3  by 3 square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62" name="Shape 1462"/>
        <p:cNvGrpSpPr/>
        <p:nvPr/>
      </p:nvGrpSpPr>
      <p:grpSpPr>
        <a:xfrm>
          <a:off x="0" y="0"/>
          <a:ext cx="0" cy="0"/>
        </a:xfrm>
      </p:grpSpPr>
      <p:sp>
        <p:nvSpPr>
          <p:cNvPr id="1463" name="Google Shape;1463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Sequences of diagrams</a:t>
            </a:r>
            <a:endParaRPr/>
          </a:p>
        </p:txBody>
      </p:sp>
      <p:sp>
        <p:nvSpPr>
          <p:cNvPr id="1464" name="Google Shape;1464;p85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sp>
        <p:nvSpPr>
          <p:cNvPr id="1465" name="Google Shape;1465;p85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Formalising a sequence</a:t>
            </a:r>
            <a:endParaRPr/>
          </a:p>
        </p:txBody>
      </p:sp>
      <p:pic>
        <p:nvPicPr>
          <p:cNvPr id="1466" name="Google Shape;146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40" y="297978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0" name="Shape 1470"/>
        <p:cNvGrpSpPr/>
        <p:nvPr/>
      </p:nvGrpSpPr>
      <p:grpSpPr>
        <a:xfrm>
          <a:off x="0" y="0"/>
          <a:ext cx="0" cy="0"/>
        </a:xfrm>
      </p:grpSpPr>
      <p:graphicFrame>
        <p:nvGraphicFramePr>
          <p:cNvPr id="1471" name="Google Shape;1471;p86"/>
          <p:cNvGraphicFramePr>
            <a:graphicFrameLocks noGrp="1"/>
          </p:cNvGraphicFramePr>
          <p:nvPr/>
        </p:nvGraphicFramePr>
        <p:xfrm>
          <a:off x="324000" y="13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72" name="Google Shape;1472;p86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Each value or pattern in a sequence is called a </a:t>
            </a:r>
            <a:r>
              <a:rPr lang="en-GB" b="1"/>
              <a:t>term</a:t>
            </a:r>
            <a:r>
              <a:rPr lang="en-GB"/>
              <a:t> </a:t>
            </a:r>
            <a:endParaRPr/>
          </a:p>
        </p:txBody>
      </p:sp>
      <p:sp>
        <p:nvSpPr>
          <p:cNvPr id="1473" name="Google Shape;1473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graphicFrame>
        <p:nvGraphicFramePr>
          <p:cNvPr id="1474" name="Google Shape;1474;p86"/>
          <p:cNvGraphicFramePr>
            <a:graphicFrameLocks noGrp="1"/>
          </p:cNvGraphicFramePr>
          <p:nvPr/>
        </p:nvGraphicFramePr>
        <p:xfrm>
          <a:off x="2243000" y="201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40000"/>
                <a:gridCol w="240000"/>
                <a:gridCol w="240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5" name="Google Shape;1475;p86"/>
          <p:cNvGraphicFramePr>
            <a:graphicFrameLocks noGrp="1"/>
          </p:cNvGraphicFramePr>
          <p:nvPr/>
        </p:nvGraphicFramePr>
        <p:xfrm>
          <a:off x="4101850" y="201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5075"/>
                <a:gridCol w="235075"/>
                <a:gridCol w="235075"/>
                <a:gridCol w="235075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6" name="Google Shape;1476;p86"/>
          <p:cNvGraphicFramePr>
            <a:graphicFrameLocks noGrp="1"/>
          </p:cNvGraphicFramePr>
          <p:nvPr/>
        </p:nvGraphicFramePr>
        <p:xfrm>
          <a:off x="5993375" y="19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4000"/>
                <a:gridCol w="234000"/>
                <a:gridCol w="234000"/>
                <a:gridCol w="234000"/>
                <a:gridCol w="234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477" name="Google Shape;1477;p86"/>
          <p:cNvSpPr txBox="1"/>
          <p:nvPr>
            <p:ph type="body" idx="1"/>
          </p:nvPr>
        </p:nvSpPr>
        <p:spPr>
          <a:xfrm>
            <a:off x="324000" y="3079650"/>
            <a:ext cx="8237700" cy="7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You can describe a sequence by looking at how each </a:t>
            </a:r>
            <a:r>
              <a:rPr lang="en-GB" sz="2000" b="1"/>
              <a:t>term</a:t>
            </a:r>
            <a:r>
              <a:rPr lang="en-GB" sz="2000"/>
              <a:t> relates to the previous one. </a:t>
            </a:r>
            <a:endParaRPr sz="2000"/>
          </a:p>
        </p:txBody>
      </p:sp>
      <p:sp>
        <p:nvSpPr>
          <p:cNvPr id="1478" name="Google Shape;1478;p86"/>
          <p:cNvSpPr txBox="1"/>
          <p:nvPr>
            <p:ph type="body" idx="1"/>
          </p:nvPr>
        </p:nvSpPr>
        <p:spPr>
          <a:xfrm>
            <a:off x="324000" y="3884800"/>
            <a:ext cx="82377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can you describe what is happening to the number of black squares? </a:t>
            </a:r>
            <a:endParaRPr sz="2000"/>
          </a:p>
        </p:txBody>
      </p:sp>
      <p:sp>
        <p:nvSpPr>
          <p:cNvPr id="1479" name="Google Shape;1479;p86"/>
          <p:cNvSpPr txBox="1"/>
          <p:nvPr>
            <p:ph type="body" idx="1"/>
          </p:nvPr>
        </p:nvSpPr>
        <p:spPr>
          <a:xfrm>
            <a:off x="1848000" y="4263650"/>
            <a:ext cx="55563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increase by 2 from one term to the next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3" name="Shape 1483"/>
        <p:cNvGrpSpPr/>
        <p:nvPr/>
      </p:nvGrpSpPr>
      <p:grpSpPr>
        <a:xfrm>
          <a:off x="0" y="0"/>
          <a:ext cx="0" cy="0"/>
        </a:xfrm>
      </p:grpSpPr>
      <p:graphicFrame>
        <p:nvGraphicFramePr>
          <p:cNvPr id="1484" name="Google Shape;1484;p87"/>
          <p:cNvGraphicFramePr>
            <a:graphicFrameLocks noGrp="1"/>
          </p:cNvGraphicFramePr>
          <p:nvPr/>
        </p:nvGraphicFramePr>
        <p:xfrm>
          <a:off x="324000" y="78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85" name="Google Shape;148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graphicFrame>
        <p:nvGraphicFramePr>
          <p:cNvPr id="1486" name="Google Shape;1486;p87"/>
          <p:cNvGraphicFramePr>
            <a:graphicFrameLocks noGrp="1"/>
          </p:cNvGraphicFramePr>
          <p:nvPr/>
        </p:nvGraphicFramePr>
        <p:xfrm>
          <a:off x="2243000" y="140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40000"/>
                <a:gridCol w="240000"/>
                <a:gridCol w="240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7" name="Google Shape;1487;p87"/>
          <p:cNvGraphicFramePr>
            <a:graphicFrameLocks noGrp="1"/>
          </p:cNvGraphicFramePr>
          <p:nvPr/>
        </p:nvGraphicFramePr>
        <p:xfrm>
          <a:off x="4101850" y="140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5075"/>
                <a:gridCol w="235075"/>
                <a:gridCol w="235075"/>
                <a:gridCol w="235075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8" name="Google Shape;1488;p87"/>
          <p:cNvGraphicFramePr>
            <a:graphicFrameLocks noGrp="1"/>
          </p:cNvGraphicFramePr>
          <p:nvPr/>
        </p:nvGraphicFramePr>
        <p:xfrm>
          <a:off x="5993375" y="137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4000"/>
                <a:gridCol w="234000"/>
                <a:gridCol w="234000"/>
                <a:gridCol w="234000"/>
                <a:gridCol w="234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489" name="Google Shape;1489;p87"/>
          <p:cNvSpPr txBox="1"/>
          <p:nvPr>
            <p:ph type="body" idx="1"/>
          </p:nvPr>
        </p:nvSpPr>
        <p:spPr>
          <a:xfrm>
            <a:off x="324000" y="2427013"/>
            <a:ext cx="8237700" cy="7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You can also describe a sequence by looking at the relationship between the objects.  </a:t>
            </a:r>
            <a:endParaRPr sz="2000"/>
          </a:p>
        </p:txBody>
      </p:sp>
      <p:sp>
        <p:nvSpPr>
          <p:cNvPr id="1490" name="Google Shape;1490;p87"/>
          <p:cNvSpPr txBox="1"/>
          <p:nvPr>
            <p:ph type="body" idx="1"/>
          </p:nvPr>
        </p:nvSpPr>
        <p:spPr>
          <a:xfrm>
            <a:off x="324000" y="3275200"/>
            <a:ext cx="82377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many white squares are there in each </a:t>
            </a:r>
            <a:r>
              <a:rPr lang="en-GB" sz="2000" b="1"/>
              <a:t>term</a:t>
            </a:r>
            <a:r>
              <a:rPr lang="en-GB" sz="2000"/>
              <a:t>? </a:t>
            </a:r>
            <a:endParaRPr sz="2000"/>
          </a:p>
        </p:txBody>
      </p:sp>
      <p:sp>
        <p:nvSpPr>
          <p:cNvPr id="1491" name="Google Shape;1491;p87"/>
          <p:cNvSpPr txBox="1"/>
          <p:nvPr>
            <p:ph type="body" idx="1"/>
          </p:nvPr>
        </p:nvSpPr>
        <p:spPr>
          <a:xfrm>
            <a:off x="324000" y="3730250"/>
            <a:ext cx="82377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in term 1. 2 in term 2. 3 in term 3 …..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2" name="Google Shape;1492;p87"/>
          <p:cNvSpPr txBox="1"/>
          <p:nvPr>
            <p:ph type="body" idx="1"/>
          </p:nvPr>
        </p:nvSpPr>
        <p:spPr>
          <a:xfrm>
            <a:off x="324000" y="4185300"/>
            <a:ext cx="82377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In this case the number of white squares is the same as the </a:t>
            </a:r>
            <a:r>
              <a:rPr lang="en-GB" sz="2000" b="1"/>
              <a:t>term</a:t>
            </a:r>
            <a:r>
              <a:rPr lang="en-GB" sz="2000"/>
              <a:t> number. 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6" name="Shape 1496"/>
        <p:cNvGrpSpPr/>
        <p:nvPr/>
      </p:nvGrpSpPr>
      <p:grpSpPr>
        <a:xfrm>
          <a:off x="0" y="0"/>
          <a:ext cx="0" cy="0"/>
        </a:xfrm>
      </p:grpSpPr>
      <p:graphicFrame>
        <p:nvGraphicFramePr>
          <p:cNvPr id="1497" name="Google Shape;1497;p88"/>
          <p:cNvGraphicFramePr>
            <a:graphicFrameLocks noGrp="1"/>
          </p:cNvGraphicFramePr>
          <p:nvPr/>
        </p:nvGraphicFramePr>
        <p:xfrm>
          <a:off x="324000" y="78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98" name="Google Shape;149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graphicFrame>
        <p:nvGraphicFramePr>
          <p:cNvPr id="1499" name="Google Shape;1499;p88"/>
          <p:cNvGraphicFramePr>
            <a:graphicFrameLocks noGrp="1"/>
          </p:cNvGraphicFramePr>
          <p:nvPr/>
        </p:nvGraphicFramePr>
        <p:xfrm>
          <a:off x="2243000" y="140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40000"/>
                <a:gridCol w="240000"/>
                <a:gridCol w="240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0" name="Google Shape;1500;p88"/>
          <p:cNvGraphicFramePr>
            <a:graphicFrameLocks noGrp="1"/>
          </p:cNvGraphicFramePr>
          <p:nvPr/>
        </p:nvGraphicFramePr>
        <p:xfrm>
          <a:off x="4101850" y="140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5075"/>
                <a:gridCol w="235075"/>
                <a:gridCol w="235075"/>
                <a:gridCol w="235075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1" name="Google Shape;1501;p88"/>
          <p:cNvGraphicFramePr>
            <a:graphicFrameLocks noGrp="1"/>
          </p:cNvGraphicFramePr>
          <p:nvPr/>
        </p:nvGraphicFramePr>
        <p:xfrm>
          <a:off x="5993375" y="137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4000"/>
                <a:gridCol w="234000"/>
                <a:gridCol w="234000"/>
                <a:gridCol w="234000"/>
                <a:gridCol w="234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502" name="Google Shape;1502;p88"/>
          <p:cNvSpPr txBox="1"/>
          <p:nvPr>
            <p:ph type="body" idx="1"/>
          </p:nvPr>
        </p:nvSpPr>
        <p:spPr>
          <a:xfrm>
            <a:off x="324000" y="2404675"/>
            <a:ext cx="84960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relationship between the white squares and the black squares? If you know the number of white squares, how can you calculate the black squares?</a:t>
            </a:r>
            <a:endParaRPr sz="2000"/>
          </a:p>
        </p:txBody>
      </p:sp>
      <p:sp>
        <p:nvSpPr>
          <p:cNvPr id="1503" name="Google Shape;1503;p88"/>
          <p:cNvSpPr txBox="1"/>
          <p:nvPr>
            <p:ph type="body" idx="1"/>
          </p:nvPr>
        </p:nvSpPr>
        <p:spPr>
          <a:xfrm>
            <a:off x="324000" y="3496750"/>
            <a:ext cx="84960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Ignoring the 3 black squares on each end. For every new white square there are 2 new black squares. We can double the number of white squares and add 6 (3 for each side of the rectangle)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7" name="Shape 1507"/>
        <p:cNvGrpSpPr/>
        <p:nvPr/>
      </p:nvGrpSpPr>
      <p:grpSpPr>
        <a:xfrm>
          <a:off x="0" y="0"/>
          <a:ext cx="0" cy="0"/>
        </a:xfrm>
      </p:grpSpPr>
      <p:graphicFrame>
        <p:nvGraphicFramePr>
          <p:cNvPr id="1508" name="Google Shape;1508;p89"/>
          <p:cNvGraphicFramePr>
            <a:graphicFrameLocks noGrp="1"/>
          </p:cNvGraphicFramePr>
          <p:nvPr/>
        </p:nvGraphicFramePr>
        <p:xfrm>
          <a:off x="324000" y="78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5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09" name="Google Shape;150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graphicFrame>
        <p:nvGraphicFramePr>
          <p:cNvPr id="1510" name="Google Shape;1510;p89"/>
          <p:cNvGraphicFramePr>
            <a:graphicFrameLocks noGrp="1"/>
          </p:cNvGraphicFramePr>
          <p:nvPr/>
        </p:nvGraphicFramePr>
        <p:xfrm>
          <a:off x="2243000" y="140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40000"/>
                <a:gridCol w="240000"/>
                <a:gridCol w="240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1" name="Google Shape;1511;p89"/>
          <p:cNvGraphicFramePr>
            <a:graphicFrameLocks noGrp="1"/>
          </p:cNvGraphicFramePr>
          <p:nvPr/>
        </p:nvGraphicFramePr>
        <p:xfrm>
          <a:off x="4101850" y="140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5075"/>
                <a:gridCol w="235075"/>
                <a:gridCol w="235075"/>
                <a:gridCol w="235075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2" name="Google Shape;1512;p89"/>
          <p:cNvGraphicFramePr>
            <a:graphicFrameLocks noGrp="1"/>
          </p:cNvGraphicFramePr>
          <p:nvPr/>
        </p:nvGraphicFramePr>
        <p:xfrm>
          <a:off x="5993375" y="137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234000"/>
                <a:gridCol w="234000"/>
                <a:gridCol w="234000"/>
                <a:gridCol w="234000"/>
                <a:gridCol w="234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513" name="Google Shape;1513;p89"/>
          <p:cNvSpPr txBox="1"/>
          <p:nvPr>
            <p:ph type="body" idx="1"/>
          </p:nvPr>
        </p:nvSpPr>
        <p:spPr>
          <a:xfrm>
            <a:off x="324000" y="2404675"/>
            <a:ext cx="84960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many black squares will there be in </a:t>
            </a:r>
            <a:r>
              <a:rPr lang="en-GB" sz="2000" b="1"/>
              <a:t>term</a:t>
            </a:r>
            <a:r>
              <a:rPr lang="en-GB" sz="2000"/>
              <a:t> 10? </a:t>
            </a:r>
            <a:endParaRPr sz="2000"/>
          </a:p>
        </p:txBody>
      </p:sp>
      <p:sp>
        <p:nvSpPr>
          <p:cNvPr id="1514" name="Google Shape;1514;p89"/>
          <p:cNvSpPr txBox="1"/>
          <p:nvPr>
            <p:ph type="body" idx="1"/>
          </p:nvPr>
        </p:nvSpPr>
        <p:spPr>
          <a:xfrm>
            <a:off x="324000" y="3643300"/>
            <a:ext cx="84960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But we know there are 2 black squares for every white square plus the 6 on either end. 10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2 + 6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26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5" name="Google Shape;1515;p89"/>
          <p:cNvSpPr txBox="1"/>
          <p:nvPr>
            <p:ph type="body" idx="1"/>
          </p:nvPr>
        </p:nvSpPr>
        <p:spPr>
          <a:xfrm>
            <a:off x="324000" y="2925950"/>
            <a:ext cx="84960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first pattern has 8 so we can add 2 until we get to term 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9" name="Shape 1519"/>
        <p:cNvGrpSpPr/>
        <p:nvPr/>
      </p:nvGrpSpPr>
      <p:grpSpPr>
        <a:xfrm>
          <a:off x="0" y="0"/>
          <a:ext cx="0" cy="0"/>
        </a:xfrm>
      </p:grpSpPr>
      <p:sp>
        <p:nvSpPr>
          <p:cNvPr id="1520" name="Google Shape;152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sp>
        <p:nvSpPr>
          <p:cNvPr id="1521" name="Google Shape;1521;p90"/>
          <p:cNvSpPr txBox="1"/>
          <p:nvPr>
            <p:ph type="body" idx="1"/>
          </p:nvPr>
        </p:nvSpPr>
        <p:spPr>
          <a:xfrm>
            <a:off x="324000" y="810000"/>
            <a:ext cx="84960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It can be helpful to write the number of a certain object in a pattern to investigate the rule for the sequence. </a:t>
            </a:r>
            <a:endParaRPr sz="1900"/>
          </a:p>
        </p:txBody>
      </p:sp>
      <p:sp>
        <p:nvSpPr>
          <p:cNvPr id="1522" name="Google Shape;1522;p90"/>
          <p:cNvSpPr txBox="1"/>
          <p:nvPr>
            <p:ph type="body" idx="1"/>
          </p:nvPr>
        </p:nvSpPr>
        <p:spPr>
          <a:xfrm>
            <a:off x="361150" y="3855450"/>
            <a:ext cx="84960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For this sequence you can count how many lines make each pattern.</a:t>
            </a:r>
            <a:endParaRPr sz="1900"/>
          </a:p>
        </p:txBody>
      </p:sp>
      <p:graphicFrame>
        <p:nvGraphicFramePr>
          <p:cNvPr id="1523" name="Google Shape;1523;p90"/>
          <p:cNvGraphicFramePr>
            <a:graphicFrameLocks noGrp="1"/>
          </p:cNvGraphicFramePr>
          <p:nvPr/>
        </p:nvGraphicFramePr>
        <p:xfrm>
          <a:off x="365250" y="33594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682700"/>
                <a:gridCol w="1682700"/>
                <a:gridCol w="1682700"/>
                <a:gridCol w="16827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24" name="Google Shape;1524;p90"/>
          <p:cNvSpPr txBox="1"/>
          <p:nvPr>
            <p:ph type="body" idx="1"/>
          </p:nvPr>
        </p:nvSpPr>
        <p:spPr>
          <a:xfrm>
            <a:off x="324000" y="4333725"/>
            <a:ext cx="84960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This can make it easier to see that for each </a:t>
            </a:r>
            <a:r>
              <a:rPr lang="en-GB" sz="1900" b="1"/>
              <a:t>term</a:t>
            </a:r>
            <a:r>
              <a:rPr lang="en-GB" sz="1900"/>
              <a:t>, 6 lines are added.</a:t>
            </a:r>
            <a:endParaRPr sz="1900"/>
          </a:p>
        </p:txBody>
      </p:sp>
      <p:graphicFrame>
        <p:nvGraphicFramePr>
          <p:cNvPr id="1525" name="Google Shape;1525;p90"/>
          <p:cNvGraphicFramePr>
            <a:graphicFrameLocks noGrp="1"/>
          </p:cNvGraphicFramePr>
          <p:nvPr/>
        </p:nvGraphicFramePr>
        <p:xfrm>
          <a:off x="363300" y="158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682700"/>
                <a:gridCol w="1682700"/>
                <a:gridCol w="1682700"/>
                <a:gridCol w="1682700"/>
              </a:tblGrid>
              <a:tr h="4324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1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16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26" name="Google Shape;1526;p90"/>
          <p:cNvSpPr txBox="1"/>
          <p:nvPr/>
        </p:nvSpPr>
        <p:spPr>
          <a:xfrm>
            <a:off x="5418775" y="3366075"/>
            <a:ext cx="16773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7" name="Google Shape;1527;p90"/>
          <p:cNvGrpSpPr/>
          <p:nvPr/>
        </p:nvGrpSpPr>
        <p:grpSpPr>
          <a:xfrm>
            <a:off x="983869" y="2402783"/>
            <a:ext cx="317313" cy="290625"/>
            <a:chOff x="1717194" y="2060008"/>
            <a:chExt cx="317313" cy="290625"/>
          </a:xfrm>
        </p:grpSpPr>
        <p:cxnSp>
          <p:nvCxnSpPr>
            <p:cNvPr id="1528" name="Google Shape;1528;p90"/>
            <p:cNvCxnSpPr/>
            <p:nvPr/>
          </p:nvCxnSpPr>
          <p:spPr>
            <a:xfrm>
              <a:off x="1720467" y="2350633"/>
              <a:ext cx="310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9" name="Google Shape;1529;p90"/>
            <p:cNvCxnSpPr/>
            <p:nvPr/>
          </p:nvCxnSpPr>
          <p:spPr>
            <a:xfrm rot="3777907">
              <a:off x="1808423" y="2198458"/>
              <a:ext cx="310869" cy="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0" name="Google Shape;1530;p90"/>
            <p:cNvCxnSpPr/>
            <p:nvPr/>
          </p:nvCxnSpPr>
          <p:spPr>
            <a:xfrm rot="7203208">
              <a:off x="1639595" y="2195274"/>
              <a:ext cx="310898" cy="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31" name="Google Shape;1531;p90"/>
          <p:cNvGrpSpPr/>
          <p:nvPr/>
        </p:nvGrpSpPr>
        <p:grpSpPr>
          <a:xfrm>
            <a:off x="2537280" y="2273282"/>
            <a:ext cx="775608" cy="710751"/>
            <a:chOff x="2537280" y="2273282"/>
            <a:chExt cx="775608" cy="710751"/>
          </a:xfrm>
        </p:grpSpPr>
        <p:grpSp>
          <p:nvGrpSpPr>
            <p:cNvPr id="1532" name="Google Shape;1532;p90"/>
            <p:cNvGrpSpPr/>
            <p:nvPr/>
          </p:nvGrpSpPr>
          <p:grpSpPr>
            <a:xfrm rot="3599956">
              <a:off x="2949067" y="2338026"/>
              <a:ext cx="317306" cy="290619"/>
              <a:chOff x="1717194" y="2060008"/>
              <a:chExt cx="317313" cy="290625"/>
            </a:xfrm>
          </p:grpSpPr>
          <p:cxnSp>
            <p:nvCxnSpPr>
              <p:cNvPr id="1533" name="Google Shape;1533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4" name="Google Shape;1534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5" name="Google Shape;1535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36" name="Google Shape;1536;p90"/>
            <p:cNvGrpSpPr/>
            <p:nvPr/>
          </p:nvGrpSpPr>
          <p:grpSpPr>
            <a:xfrm rot="10800000" flipH="1">
              <a:off x="2728975" y="2693408"/>
              <a:ext cx="317313" cy="290625"/>
              <a:chOff x="1717194" y="2060008"/>
              <a:chExt cx="317313" cy="290625"/>
            </a:xfrm>
          </p:grpSpPr>
          <p:cxnSp>
            <p:nvCxnSpPr>
              <p:cNvPr id="1537" name="Google Shape;1537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8" name="Google Shape;1538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9" name="Google Shape;1539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40" name="Google Shape;1540;p90"/>
            <p:cNvGrpSpPr/>
            <p:nvPr/>
          </p:nvGrpSpPr>
          <p:grpSpPr>
            <a:xfrm rot="3599956">
              <a:off x="2583796" y="2338026"/>
              <a:ext cx="317306" cy="290619"/>
              <a:chOff x="1717194" y="2060008"/>
              <a:chExt cx="317313" cy="290625"/>
            </a:xfrm>
          </p:grpSpPr>
          <p:cxnSp>
            <p:nvCxnSpPr>
              <p:cNvPr id="1541" name="Google Shape;1541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2" name="Google Shape;1542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3" name="Google Shape;1543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44" name="Google Shape;1544;p90"/>
          <p:cNvGrpSpPr/>
          <p:nvPr/>
        </p:nvGrpSpPr>
        <p:grpSpPr>
          <a:xfrm>
            <a:off x="4250935" y="2097351"/>
            <a:ext cx="874992" cy="885311"/>
            <a:chOff x="4250935" y="2097351"/>
            <a:chExt cx="874992" cy="885311"/>
          </a:xfrm>
        </p:grpSpPr>
        <p:grpSp>
          <p:nvGrpSpPr>
            <p:cNvPr id="1545" name="Google Shape;1545;p90"/>
            <p:cNvGrpSpPr/>
            <p:nvPr/>
          </p:nvGrpSpPr>
          <p:grpSpPr>
            <a:xfrm rot="3599956">
              <a:off x="4662721" y="2310705"/>
              <a:ext cx="317306" cy="290619"/>
              <a:chOff x="1717194" y="2060008"/>
              <a:chExt cx="317313" cy="290625"/>
            </a:xfrm>
          </p:grpSpPr>
          <p:cxnSp>
            <p:nvCxnSpPr>
              <p:cNvPr id="1546" name="Google Shape;1546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7" name="Google Shape;1547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8" name="Google Shape;1548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49" name="Google Shape;1549;p90"/>
            <p:cNvGrpSpPr/>
            <p:nvPr/>
          </p:nvGrpSpPr>
          <p:grpSpPr>
            <a:xfrm rot="10800000" flipH="1">
              <a:off x="4442629" y="2666088"/>
              <a:ext cx="317313" cy="290625"/>
              <a:chOff x="1717194" y="2060008"/>
              <a:chExt cx="317313" cy="290625"/>
            </a:xfrm>
          </p:grpSpPr>
          <p:cxnSp>
            <p:nvCxnSpPr>
              <p:cNvPr id="1550" name="Google Shape;1550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1" name="Google Shape;1551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2" name="Google Shape;1552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53" name="Google Shape;1553;p90"/>
            <p:cNvGrpSpPr/>
            <p:nvPr/>
          </p:nvGrpSpPr>
          <p:grpSpPr>
            <a:xfrm rot="3599956">
              <a:off x="4297450" y="2310705"/>
              <a:ext cx="317306" cy="290619"/>
              <a:chOff x="1717194" y="2060008"/>
              <a:chExt cx="317313" cy="290625"/>
            </a:xfrm>
          </p:grpSpPr>
          <p:cxnSp>
            <p:nvCxnSpPr>
              <p:cNvPr id="1554" name="Google Shape;1554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5" name="Google Shape;1555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6" name="Google Shape;1556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57" name="Google Shape;1557;p90"/>
            <p:cNvGrpSpPr/>
            <p:nvPr/>
          </p:nvGrpSpPr>
          <p:grpSpPr>
            <a:xfrm>
              <a:off x="4808614" y="2380614"/>
              <a:ext cx="317313" cy="290625"/>
              <a:chOff x="1717194" y="2060008"/>
              <a:chExt cx="317313" cy="290625"/>
            </a:xfrm>
          </p:grpSpPr>
          <p:cxnSp>
            <p:nvCxnSpPr>
              <p:cNvPr id="1558" name="Google Shape;1558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9" name="Google Shape;1559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0" name="Google Shape;1560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61" name="Google Shape;1561;p90"/>
            <p:cNvGrpSpPr/>
            <p:nvPr/>
          </p:nvGrpSpPr>
          <p:grpSpPr>
            <a:xfrm>
              <a:off x="4266659" y="2692037"/>
              <a:ext cx="317313" cy="290625"/>
              <a:chOff x="1717194" y="2060008"/>
              <a:chExt cx="317313" cy="290625"/>
            </a:xfrm>
          </p:grpSpPr>
          <p:cxnSp>
            <p:nvCxnSpPr>
              <p:cNvPr id="1562" name="Google Shape;1562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3" name="Google Shape;1563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4" name="Google Shape;1564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65" name="Google Shape;1565;p90"/>
            <p:cNvGrpSpPr/>
            <p:nvPr/>
          </p:nvGrpSpPr>
          <p:grpSpPr>
            <a:xfrm>
              <a:off x="4266652" y="2097351"/>
              <a:ext cx="317313" cy="290625"/>
              <a:chOff x="1717194" y="2060008"/>
              <a:chExt cx="317313" cy="290625"/>
            </a:xfrm>
          </p:grpSpPr>
          <p:cxnSp>
            <p:nvCxnSpPr>
              <p:cNvPr id="1566" name="Google Shape;1566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7" name="Google Shape;1567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8" name="Google Shape;1568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69" name="Google Shape;1569;p90"/>
          <p:cNvGrpSpPr/>
          <p:nvPr/>
        </p:nvGrpSpPr>
        <p:grpSpPr>
          <a:xfrm>
            <a:off x="5701555" y="1955610"/>
            <a:ext cx="1311225" cy="1326485"/>
            <a:chOff x="5743850" y="1994934"/>
            <a:chExt cx="1311225" cy="1326485"/>
          </a:xfrm>
        </p:grpSpPr>
        <p:grpSp>
          <p:nvGrpSpPr>
            <p:cNvPr id="1570" name="Google Shape;1570;p90"/>
            <p:cNvGrpSpPr/>
            <p:nvPr/>
          </p:nvGrpSpPr>
          <p:grpSpPr>
            <a:xfrm rot="3599956">
              <a:off x="6331611" y="2357026"/>
              <a:ext cx="317306" cy="290619"/>
              <a:chOff x="1717194" y="2060008"/>
              <a:chExt cx="317313" cy="290625"/>
            </a:xfrm>
          </p:grpSpPr>
          <p:cxnSp>
            <p:nvCxnSpPr>
              <p:cNvPr id="1571" name="Google Shape;1571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2" name="Google Shape;1572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3" name="Google Shape;1573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74" name="Google Shape;1574;p90"/>
            <p:cNvGrpSpPr/>
            <p:nvPr/>
          </p:nvGrpSpPr>
          <p:grpSpPr>
            <a:xfrm rot="10800000" flipH="1">
              <a:off x="6111519" y="2712408"/>
              <a:ext cx="317313" cy="290625"/>
              <a:chOff x="1717194" y="2060008"/>
              <a:chExt cx="317313" cy="290625"/>
            </a:xfrm>
          </p:grpSpPr>
          <p:cxnSp>
            <p:nvCxnSpPr>
              <p:cNvPr id="1575" name="Google Shape;1575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6" name="Google Shape;1576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7" name="Google Shape;1577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78" name="Google Shape;1578;p90"/>
            <p:cNvGrpSpPr/>
            <p:nvPr/>
          </p:nvGrpSpPr>
          <p:grpSpPr>
            <a:xfrm rot="3599956">
              <a:off x="5966340" y="2357026"/>
              <a:ext cx="317306" cy="290619"/>
              <a:chOff x="1717194" y="2060008"/>
              <a:chExt cx="317313" cy="290625"/>
            </a:xfrm>
          </p:grpSpPr>
          <p:cxnSp>
            <p:nvCxnSpPr>
              <p:cNvPr id="1579" name="Google Shape;1579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0" name="Google Shape;1580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1" name="Google Shape;1581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82" name="Google Shape;1582;p90"/>
            <p:cNvGrpSpPr/>
            <p:nvPr/>
          </p:nvGrpSpPr>
          <p:grpSpPr>
            <a:xfrm>
              <a:off x="6477504" y="2426935"/>
              <a:ext cx="317313" cy="290625"/>
              <a:chOff x="1717194" y="2060008"/>
              <a:chExt cx="317313" cy="290625"/>
            </a:xfrm>
          </p:grpSpPr>
          <p:cxnSp>
            <p:nvCxnSpPr>
              <p:cNvPr id="1583" name="Google Shape;1583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4" name="Google Shape;1584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5" name="Google Shape;1585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86" name="Google Shape;1586;p90"/>
            <p:cNvGrpSpPr/>
            <p:nvPr/>
          </p:nvGrpSpPr>
          <p:grpSpPr>
            <a:xfrm>
              <a:off x="5935548" y="2738358"/>
              <a:ext cx="317313" cy="290625"/>
              <a:chOff x="1717194" y="2060008"/>
              <a:chExt cx="317313" cy="290625"/>
            </a:xfrm>
          </p:grpSpPr>
          <p:cxnSp>
            <p:nvCxnSpPr>
              <p:cNvPr id="1587" name="Google Shape;1587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8" name="Google Shape;1588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9" name="Google Shape;1589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90" name="Google Shape;1590;p90"/>
            <p:cNvGrpSpPr/>
            <p:nvPr/>
          </p:nvGrpSpPr>
          <p:grpSpPr>
            <a:xfrm>
              <a:off x="5935541" y="2143672"/>
              <a:ext cx="317313" cy="290625"/>
              <a:chOff x="1717194" y="2060008"/>
              <a:chExt cx="317313" cy="290625"/>
            </a:xfrm>
          </p:grpSpPr>
          <p:cxnSp>
            <p:nvCxnSpPr>
              <p:cNvPr id="1591" name="Google Shape;1591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2" name="Google Shape;1592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3" name="Google Shape;1593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94" name="Google Shape;1594;p90"/>
            <p:cNvGrpSpPr/>
            <p:nvPr/>
          </p:nvGrpSpPr>
          <p:grpSpPr>
            <a:xfrm rot="3599956">
              <a:off x="6691253" y="2357027"/>
              <a:ext cx="317306" cy="290619"/>
              <a:chOff x="1717194" y="2060008"/>
              <a:chExt cx="317313" cy="290625"/>
            </a:xfrm>
          </p:grpSpPr>
          <p:cxnSp>
            <p:nvCxnSpPr>
              <p:cNvPr id="1595" name="Google Shape;1595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6" name="Google Shape;1596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7" name="Google Shape;1597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98" name="Google Shape;1598;p90"/>
            <p:cNvGrpSpPr/>
            <p:nvPr/>
          </p:nvGrpSpPr>
          <p:grpSpPr>
            <a:xfrm rot="3599956">
              <a:off x="5981125" y="2966057"/>
              <a:ext cx="317306" cy="290619"/>
              <a:chOff x="1717194" y="2060008"/>
              <a:chExt cx="317313" cy="290625"/>
            </a:xfrm>
          </p:grpSpPr>
          <p:cxnSp>
            <p:nvCxnSpPr>
              <p:cNvPr id="1599" name="Google Shape;1599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0" name="Google Shape;1600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1" name="Google Shape;1601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02" name="Google Shape;1602;p90"/>
            <p:cNvGrpSpPr/>
            <p:nvPr/>
          </p:nvGrpSpPr>
          <p:grpSpPr>
            <a:xfrm rot="3599956">
              <a:off x="5790366" y="2059677"/>
              <a:ext cx="317306" cy="290619"/>
              <a:chOff x="1717194" y="2060008"/>
              <a:chExt cx="317313" cy="290625"/>
            </a:xfrm>
          </p:grpSpPr>
          <p:cxnSp>
            <p:nvCxnSpPr>
              <p:cNvPr id="1603" name="Google Shape;1603;p90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4" name="Google Shape;1604;p90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5" name="Google Shape;1605;p90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9" name="Shape 1609"/>
        <p:cNvGrpSpPr/>
        <p:nvPr/>
      </p:nvGrpSpPr>
      <p:grpSpPr>
        <a:xfrm>
          <a:off x="0" y="0"/>
          <a:ext cx="0" cy="0"/>
        </a:xfrm>
      </p:grpSpPr>
      <p:sp>
        <p:nvSpPr>
          <p:cNvPr id="1610" name="Google Shape;161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sp>
        <p:nvSpPr>
          <p:cNvPr id="1611" name="Google Shape;1611;p91"/>
          <p:cNvSpPr txBox="1"/>
          <p:nvPr>
            <p:ph type="body" idx="1"/>
          </p:nvPr>
        </p:nvSpPr>
        <p:spPr>
          <a:xfrm>
            <a:off x="324000" y="724788"/>
            <a:ext cx="84960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perimeter of each </a:t>
            </a:r>
            <a:r>
              <a:rPr lang="en-GB" sz="2000" b="1"/>
              <a:t>term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612" name="Google Shape;1612;p91"/>
          <p:cNvSpPr txBox="1"/>
          <p:nvPr>
            <p:ph type="body" idx="1"/>
          </p:nvPr>
        </p:nvSpPr>
        <p:spPr>
          <a:xfrm>
            <a:off x="361150" y="3733525"/>
            <a:ext cx="84960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pattern in the perimeters of each </a:t>
            </a:r>
            <a:r>
              <a:rPr lang="en-GB" sz="2000" b="1"/>
              <a:t>term</a:t>
            </a:r>
            <a:r>
              <a:rPr lang="en-GB" sz="2000"/>
              <a:t>?</a:t>
            </a:r>
            <a:endParaRPr sz="2000"/>
          </a:p>
        </p:txBody>
      </p:sp>
      <p:graphicFrame>
        <p:nvGraphicFramePr>
          <p:cNvPr id="1613" name="Google Shape;1613;p91"/>
          <p:cNvGraphicFramePr>
            <a:graphicFrameLocks noGrp="1"/>
          </p:cNvGraphicFramePr>
          <p:nvPr/>
        </p:nvGraphicFramePr>
        <p:xfrm>
          <a:off x="361225" y="28260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632050"/>
                <a:gridCol w="1632050"/>
                <a:gridCol w="1632050"/>
                <a:gridCol w="1632050"/>
                <a:gridCol w="16320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Lines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14" name="Google Shape;1614;p91"/>
          <p:cNvSpPr txBox="1"/>
          <p:nvPr>
            <p:ph type="body" idx="1"/>
          </p:nvPr>
        </p:nvSpPr>
        <p:spPr>
          <a:xfrm>
            <a:off x="361150" y="4159450"/>
            <a:ext cx="8496000" cy="3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each term the perimeter increases by 3/ The term number multiplied by 3 gives the perimeter.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615" name="Google Shape;1615;p91"/>
          <p:cNvGraphicFramePr>
            <a:graphicFrameLocks noGrp="1"/>
          </p:cNvGraphicFramePr>
          <p:nvPr/>
        </p:nvGraphicFramePr>
        <p:xfrm>
          <a:off x="1990387" y="105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632050"/>
                <a:gridCol w="1632050"/>
                <a:gridCol w="1632050"/>
                <a:gridCol w="1632050"/>
              </a:tblGrid>
              <a:tr h="4324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1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16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616" name="Google Shape;1616;p91"/>
          <p:cNvGrpSpPr/>
          <p:nvPr/>
        </p:nvGrpSpPr>
        <p:grpSpPr>
          <a:xfrm>
            <a:off x="2584069" y="1921989"/>
            <a:ext cx="317313" cy="290625"/>
            <a:chOff x="1717194" y="2060008"/>
            <a:chExt cx="317313" cy="290625"/>
          </a:xfrm>
        </p:grpSpPr>
        <p:cxnSp>
          <p:nvCxnSpPr>
            <p:cNvPr id="1617" name="Google Shape;1617;p91"/>
            <p:cNvCxnSpPr/>
            <p:nvPr/>
          </p:nvCxnSpPr>
          <p:spPr>
            <a:xfrm>
              <a:off x="1720467" y="2350633"/>
              <a:ext cx="310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8" name="Google Shape;1618;p91"/>
            <p:cNvCxnSpPr/>
            <p:nvPr/>
          </p:nvCxnSpPr>
          <p:spPr>
            <a:xfrm rot="3777907">
              <a:off x="1808423" y="2198458"/>
              <a:ext cx="310869" cy="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9" name="Google Shape;1619;p91"/>
            <p:cNvCxnSpPr/>
            <p:nvPr/>
          </p:nvCxnSpPr>
          <p:spPr>
            <a:xfrm rot="7203208">
              <a:off x="1639595" y="2195274"/>
              <a:ext cx="310898" cy="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20" name="Google Shape;1620;p91"/>
          <p:cNvGrpSpPr/>
          <p:nvPr/>
        </p:nvGrpSpPr>
        <p:grpSpPr>
          <a:xfrm>
            <a:off x="4061280" y="1792488"/>
            <a:ext cx="775608" cy="710751"/>
            <a:chOff x="2537280" y="2273282"/>
            <a:chExt cx="775608" cy="710751"/>
          </a:xfrm>
        </p:grpSpPr>
        <p:grpSp>
          <p:nvGrpSpPr>
            <p:cNvPr id="1621" name="Google Shape;1621;p91"/>
            <p:cNvGrpSpPr/>
            <p:nvPr/>
          </p:nvGrpSpPr>
          <p:grpSpPr>
            <a:xfrm rot="3599956">
              <a:off x="2949067" y="2338026"/>
              <a:ext cx="317306" cy="290619"/>
              <a:chOff x="1717194" y="2060008"/>
              <a:chExt cx="317313" cy="290625"/>
            </a:xfrm>
          </p:grpSpPr>
          <p:cxnSp>
            <p:nvCxnSpPr>
              <p:cNvPr id="1622" name="Google Shape;1622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3" name="Google Shape;1623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4" name="Google Shape;1624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25" name="Google Shape;1625;p91"/>
            <p:cNvGrpSpPr/>
            <p:nvPr/>
          </p:nvGrpSpPr>
          <p:grpSpPr>
            <a:xfrm rot="10800000" flipH="1">
              <a:off x="2728975" y="2693408"/>
              <a:ext cx="317313" cy="290625"/>
              <a:chOff x="1717194" y="2060008"/>
              <a:chExt cx="317313" cy="290625"/>
            </a:xfrm>
          </p:grpSpPr>
          <p:cxnSp>
            <p:nvCxnSpPr>
              <p:cNvPr id="1626" name="Google Shape;1626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7" name="Google Shape;1627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8" name="Google Shape;1628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29" name="Google Shape;1629;p91"/>
            <p:cNvGrpSpPr/>
            <p:nvPr/>
          </p:nvGrpSpPr>
          <p:grpSpPr>
            <a:xfrm rot="3599956">
              <a:off x="2583796" y="2338026"/>
              <a:ext cx="317306" cy="290619"/>
              <a:chOff x="1717194" y="2060008"/>
              <a:chExt cx="317313" cy="290625"/>
            </a:xfrm>
          </p:grpSpPr>
          <p:cxnSp>
            <p:nvCxnSpPr>
              <p:cNvPr id="1630" name="Google Shape;1630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31" name="Google Shape;1631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32" name="Google Shape;1632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33" name="Google Shape;1633;p91"/>
          <p:cNvGrpSpPr/>
          <p:nvPr/>
        </p:nvGrpSpPr>
        <p:grpSpPr>
          <a:xfrm>
            <a:off x="5698735" y="1616557"/>
            <a:ext cx="874992" cy="885311"/>
            <a:chOff x="4250935" y="2097351"/>
            <a:chExt cx="874992" cy="885311"/>
          </a:xfrm>
        </p:grpSpPr>
        <p:grpSp>
          <p:nvGrpSpPr>
            <p:cNvPr id="1634" name="Google Shape;1634;p91"/>
            <p:cNvGrpSpPr/>
            <p:nvPr/>
          </p:nvGrpSpPr>
          <p:grpSpPr>
            <a:xfrm rot="3599956">
              <a:off x="4662721" y="2310705"/>
              <a:ext cx="317306" cy="290619"/>
              <a:chOff x="1717194" y="2060008"/>
              <a:chExt cx="317313" cy="290625"/>
            </a:xfrm>
          </p:grpSpPr>
          <p:cxnSp>
            <p:nvCxnSpPr>
              <p:cNvPr id="1635" name="Google Shape;1635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36" name="Google Shape;1636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37" name="Google Shape;1637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38" name="Google Shape;1638;p91"/>
            <p:cNvGrpSpPr/>
            <p:nvPr/>
          </p:nvGrpSpPr>
          <p:grpSpPr>
            <a:xfrm rot="10800000" flipH="1">
              <a:off x="4442629" y="2666088"/>
              <a:ext cx="317313" cy="290625"/>
              <a:chOff x="1717194" y="2060008"/>
              <a:chExt cx="317313" cy="290625"/>
            </a:xfrm>
          </p:grpSpPr>
          <p:cxnSp>
            <p:nvCxnSpPr>
              <p:cNvPr id="1639" name="Google Shape;1639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0" name="Google Shape;1640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1" name="Google Shape;1641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42" name="Google Shape;1642;p91"/>
            <p:cNvGrpSpPr/>
            <p:nvPr/>
          </p:nvGrpSpPr>
          <p:grpSpPr>
            <a:xfrm rot="3599956">
              <a:off x="4297450" y="2310705"/>
              <a:ext cx="317306" cy="290619"/>
              <a:chOff x="1717194" y="2060008"/>
              <a:chExt cx="317313" cy="290625"/>
            </a:xfrm>
          </p:grpSpPr>
          <p:cxnSp>
            <p:nvCxnSpPr>
              <p:cNvPr id="1643" name="Google Shape;1643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4" name="Google Shape;1644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5" name="Google Shape;1645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46" name="Google Shape;1646;p91"/>
            <p:cNvGrpSpPr/>
            <p:nvPr/>
          </p:nvGrpSpPr>
          <p:grpSpPr>
            <a:xfrm>
              <a:off x="4808614" y="2380614"/>
              <a:ext cx="317313" cy="290625"/>
              <a:chOff x="1717194" y="2060008"/>
              <a:chExt cx="317313" cy="290625"/>
            </a:xfrm>
          </p:grpSpPr>
          <p:cxnSp>
            <p:nvCxnSpPr>
              <p:cNvPr id="1647" name="Google Shape;1647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8" name="Google Shape;1648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9" name="Google Shape;1649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50" name="Google Shape;1650;p91"/>
            <p:cNvGrpSpPr/>
            <p:nvPr/>
          </p:nvGrpSpPr>
          <p:grpSpPr>
            <a:xfrm>
              <a:off x="4266659" y="2692037"/>
              <a:ext cx="317313" cy="290625"/>
              <a:chOff x="1717194" y="2060008"/>
              <a:chExt cx="317313" cy="290625"/>
            </a:xfrm>
          </p:grpSpPr>
          <p:cxnSp>
            <p:nvCxnSpPr>
              <p:cNvPr id="1651" name="Google Shape;1651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2" name="Google Shape;1652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3" name="Google Shape;1653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54" name="Google Shape;1654;p91"/>
            <p:cNvGrpSpPr/>
            <p:nvPr/>
          </p:nvGrpSpPr>
          <p:grpSpPr>
            <a:xfrm>
              <a:off x="4266652" y="2097351"/>
              <a:ext cx="317313" cy="290625"/>
              <a:chOff x="1717194" y="2060008"/>
              <a:chExt cx="317313" cy="290625"/>
            </a:xfrm>
          </p:grpSpPr>
          <p:cxnSp>
            <p:nvCxnSpPr>
              <p:cNvPr id="1655" name="Google Shape;1655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6" name="Google Shape;1656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7" name="Google Shape;1657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58" name="Google Shape;1658;p91"/>
          <p:cNvGrpSpPr/>
          <p:nvPr/>
        </p:nvGrpSpPr>
        <p:grpSpPr>
          <a:xfrm>
            <a:off x="7149355" y="1474816"/>
            <a:ext cx="1311225" cy="1326485"/>
            <a:chOff x="5743850" y="1994934"/>
            <a:chExt cx="1311225" cy="1326485"/>
          </a:xfrm>
        </p:grpSpPr>
        <p:grpSp>
          <p:nvGrpSpPr>
            <p:cNvPr id="1659" name="Google Shape;1659;p91"/>
            <p:cNvGrpSpPr/>
            <p:nvPr/>
          </p:nvGrpSpPr>
          <p:grpSpPr>
            <a:xfrm rot="3599956">
              <a:off x="6331611" y="2357026"/>
              <a:ext cx="317306" cy="290619"/>
              <a:chOff x="1717194" y="2060008"/>
              <a:chExt cx="317313" cy="290625"/>
            </a:xfrm>
          </p:grpSpPr>
          <p:cxnSp>
            <p:nvCxnSpPr>
              <p:cNvPr id="1660" name="Google Shape;1660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1" name="Google Shape;1661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2" name="Google Shape;1662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63" name="Google Shape;1663;p91"/>
            <p:cNvGrpSpPr/>
            <p:nvPr/>
          </p:nvGrpSpPr>
          <p:grpSpPr>
            <a:xfrm rot="10800000" flipH="1">
              <a:off x="6111519" y="2712408"/>
              <a:ext cx="317313" cy="290625"/>
              <a:chOff x="1717194" y="2060008"/>
              <a:chExt cx="317313" cy="290625"/>
            </a:xfrm>
          </p:grpSpPr>
          <p:cxnSp>
            <p:nvCxnSpPr>
              <p:cNvPr id="1664" name="Google Shape;1664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5" name="Google Shape;1665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6" name="Google Shape;1666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67" name="Google Shape;1667;p91"/>
            <p:cNvGrpSpPr/>
            <p:nvPr/>
          </p:nvGrpSpPr>
          <p:grpSpPr>
            <a:xfrm rot="3599956">
              <a:off x="5966340" y="2357026"/>
              <a:ext cx="317306" cy="290619"/>
              <a:chOff x="1717194" y="2060008"/>
              <a:chExt cx="317313" cy="290625"/>
            </a:xfrm>
          </p:grpSpPr>
          <p:cxnSp>
            <p:nvCxnSpPr>
              <p:cNvPr id="1668" name="Google Shape;1668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9" name="Google Shape;1669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0" name="Google Shape;1670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71" name="Google Shape;1671;p91"/>
            <p:cNvGrpSpPr/>
            <p:nvPr/>
          </p:nvGrpSpPr>
          <p:grpSpPr>
            <a:xfrm>
              <a:off x="6477504" y="2426935"/>
              <a:ext cx="317313" cy="290625"/>
              <a:chOff x="1717194" y="2060008"/>
              <a:chExt cx="317313" cy="290625"/>
            </a:xfrm>
          </p:grpSpPr>
          <p:cxnSp>
            <p:nvCxnSpPr>
              <p:cNvPr id="1672" name="Google Shape;1672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3" name="Google Shape;1673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4" name="Google Shape;1674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75" name="Google Shape;1675;p91"/>
            <p:cNvGrpSpPr/>
            <p:nvPr/>
          </p:nvGrpSpPr>
          <p:grpSpPr>
            <a:xfrm>
              <a:off x="5935548" y="2738358"/>
              <a:ext cx="317313" cy="290625"/>
              <a:chOff x="1717194" y="2060008"/>
              <a:chExt cx="317313" cy="290625"/>
            </a:xfrm>
          </p:grpSpPr>
          <p:cxnSp>
            <p:nvCxnSpPr>
              <p:cNvPr id="1676" name="Google Shape;1676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7" name="Google Shape;1677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8" name="Google Shape;1678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79" name="Google Shape;1679;p91"/>
            <p:cNvGrpSpPr/>
            <p:nvPr/>
          </p:nvGrpSpPr>
          <p:grpSpPr>
            <a:xfrm>
              <a:off x="5935541" y="2143672"/>
              <a:ext cx="317313" cy="290625"/>
              <a:chOff x="1717194" y="2060008"/>
              <a:chExt cx="317313" cy="290625"/>
            </a:xfrm>
          </p:grpSpPr>
          <p:cxnSp>
            <p:nvCxnSpPr>
              <p:cNvPr id="1680" name="Google Shape;1680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1" name="Google Shape;1681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2" name="Google Shape;1682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83" name="Google Shape;1683;p91"/>
            <p:cNvGrpSpPr/>
            <p:nvPr/>
          </p:nvGrpSpPr>
          <p:grpSpPr>
            <a:xfrm rot="3599956">
              <a:off x="6691253" y="2357027"/>
              <a:ext cx="317306" cy="290619"/>
              <a:chOff x="1717194" y="2060008"/>
              <a:chExt cx="317313" cy="290625"/>
            </a:xfrm>
          </p:grpSpPr>
          <p:cxnSp>
            <p:nvCxnSpPr>
              <p:cNvPr id="1684" name="Google Shape;1684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5" name="Google Shape;1685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6" name="Google Shape;1686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87" name="Google Shape;1687;p91"/>
            <p:cNvGrpSpPr/>
            <p:nvPr/>
          </p:nvGrpSpPr>
          <p:grpSpPr>
            <a:xfrm rot="3599956">
              <a:off x="5981125" y="2966057"/>
              <a:ext cx="317306" cy="290619"/>
              <a:chOff x="1717194" y="2060008"/>
              <a:chExt cx="317313" cy="290625"/>
            </a:xfrm>
          </p:grpSpPr>
          <p:cxnSp>
            <p:nvCxnSpPr>
              <p:cNvPr id="1688" name="Google Shape;1688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9" name="Google Shape;1689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0" name="Google Shape;1690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91" name="Google Shape;1691;p91"/>
            <p:cNvGrpSpPr/>
            <p:nvPr/>
          </p:nvGrpSpPr>
          <p:grpSpPr>
            <a:xfrm rot="3599956">
              <a:off x="5790366" y="2059677"/>
              <a:ext cx="317306" cy="290619"/>
              <a:chOff x="1717194" y="2060008"/>
              <a:chExt cx="317313" cy="290625"/>
            </a:xfrm>
          </p:grpSpPr>
          <p:cxnSp>
            <p:nvCxnSpPr>
              <p:cNvPr id="1692" name="Google Shape;1692;p91"/>
              <p:cNvCxnSpPr/>
              <p:nvPr/>
            </p:nvCxnSpPr>
            <p:spPr>
              <a:xfrm>
                <a:off x="1720467" y="2350633"/>
                <a:ext cx="310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3" name="Google Shape;1693;p91"/>
              <p:cNvCxnSpPr/>
              <p:nvPr/>
            </p:nvCxnSpPr>
            <p:spPr>
              <a:xfrm rot="3777907">
                <a:off x="1808423" y="2198458"/>
                <a:ext cx="31086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4" name="Google Shape;1694;p91"/>
              <p:cNvCxnSpPr/>
              <p:nvPr/>
            </p:nvCxnSpPr>
            <p:spPr>
              <a:xfrm rot="7203208">
                <a:off x="1639595" y="2195274"/>
                <a:ext cx="31089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aphicFrame>
        <p:nvGraphicFramePr>
          <p:cNvPr id="1695" name="Google Shape;1695;p91"/>
          <p:cNvGraphicFramePr>
            <a:graphicFrameLocks noGrp="1"/>
          </p:cNvGraphicFramePr>
          <p:nvPr/>
        </p:nvGraphicFramePr>
        <p:xfrm>
          <a:off x="361175" y="32058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632050"/>
                <a:gridCol w="1632050"/>
                <a:gridCol w="1632050"/>
                <a:gridCol w="1632050"/>
                <a:gridCol w="16320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9" name="Shape 1699"/>
        <p:cNvGrpSpPr/>
        <p:nvPr/>
      </p:nvGrpSpPr>
      <p:grpSpPr>
        <a:xfrm>
          <a:off x="0" y="0"/>
          <a:ext cx="0" cy="0"/>
        </a:xfrm>
      </p:grpSpPr>
      <p:sp>
        <p:nvSpPr>
          <p:cNvPr id="1700" name="Google Shape;1700;p9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sp>
        <p:nvSpPr>
          <p:cNvPr id="1701" name="Google Shape;1701;p92"/>
          <p:cNvSpPr txBox="1"/>
          <p:nvPr>
            <p:ph type="title"/>
          </p:nvPr>
        </p:nvSpPr>
        <p:spPr>
          <a:xfrm>
            <a:off x="324000" y="748775"/>
            <a:ext cx="84960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Which picture would come next to make the number of shaded squares in each pattern have a constant additive pattern?</a:t>
            </a:r>
            <a:endParaRPr sz="21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02" name="Google Shape;1702;p92"/>
          <p:cNvSpPr/>
          <p:nvPr/>
        </p:nvSpPr>
        <p:spPr>
          <a:xfrm>
            <a:off x="364729" y="1956713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92"/>
          <p:cNvSpPr/>
          <p:nvPr/>
        </p:nvSpPr>
        <p:spPr>
          <a:xfrm>
            <a:off x="1103671" y="1956713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92"/>
          <p:cNvSpPr/>
          <p:nvPr/>
        </p:nvSpPr>
        <p:spPr>
          <a:xfrm>
            <a:off x="1103671" y="1776713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92"/>
          <p:cNvSpPr/>
          <p:nvPr/>
        </p:nvSpPr>
        <p:spPr>
          <a:xfrm>
            <a:off x="923671" y="1956713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92"/>
          <p:cNvSpPr/>
          <p:nvPr/>
        </p:nvSpPr>
        <p:spPr>
          <a:xfrm>
            <a:off x="1283671" y="1956713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92"/>
          <p:cNvSpPr/>
          <p:nvPr/>
        </p:nvSpPr>
        <p:spPr>
          <a:xfrm>
            <a:off x="1103671" y="215832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92"/>
          <p:cNvSpPr/>
          <p:nvPr/>
        </p:nvSpPr>
        <p:spPr>
          <a:xfrm>
            <a:off x="1547054" y="3196750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92"/>
          <p:cNvSpPr/>
          <p:nvPr/>
        </p:nvSpPr>
        <p:spPr>
          <a:xfrm>
            <a:off x="1547054" y="3016750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92"/>
          <p:cNvSpPr/>
          <p:nvPr/>
        </p:nvSpPr>
        <p:spPr>
          <a:xfrm>
            <a:off x="1367054" y="3196750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92"/>
          <p:cNvSpPr/>
          <p:nvPr/>
        </p:nvSpPr>
        <p:spPr>
          <a:xfrm>
            <a:off x="1727054" y="3196750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92"/>
          <p:cNvSpPr/>
          <p:nvPr/>
        </p:nvSpPr>
        <p:spPr>
          <a:xfrm>
            <a:off x="1547054" y="3398363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92"/>
          <p:cNvSpPr/>
          <p:nvPr/>
        </p:nvSpPr>
        <p:spPr>
          <a:xfrm>
            <a:off x="1547054" y="2836750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92"/>
          <p:cNvSpPr/>
          <p:nvPr/>
        </p:nvSpPr>
        <p:spPr>
          <a:xfrm>
            <a:off x="1547054" y="359213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92"/>
          <p:cNvSpPr/>
          <p:nvPr/>
        </p:nvSpPr>
        <p:spPr>
          <a:xfrm>
            <a:off x="4482004" y="323117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92"/>
          <p:cNvSpPr/>
          <p:nvPr/>
        </p:nvSpPr>
        <p:spPr>
          <a:xfrm>
            <a:off x="4482004" y="305117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92"/>
          <p:cNvSpPr/>
          <p:nvPr/>
        </p:nvSpPr>
        <p:spPr>
          <a:xfrm>
            <a:off x="4302004" y="323117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92"/>
          <p:cNvSpPr/>
          <p:nvPr/>
        </p:nvSpPr>
        <p:spPr>
          <a:xfrm>
            <a:off x="4662004" y="323117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92"/>
          <p:cNvSpPr/>
          <p:nvPr/>
        </p:nvSpPr>
        <p:spPr>
          <a:xfrm>
            <a:off x="4482004" y="3414104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92"/>
          <p:cNvSpPr/>
          <p:nvPr/>
        </p:nvSpPr>
        <p:spPr>
          <a:xfrm>
            <a:off x="4302004" y="2852479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92"/>
          <p:cNvSpPr/>
          <p:nvPr/>
        </p:nvSpPr>
        <p:spPr>
          <a:xfrm>
            <a:off x="4662004" y="2852479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92"/>
          <p:cNvSpPr/>
          <p:nvPr/>
        </p:nvSpPr>
        <p:spPr>
          <a:xfrm>
            <a:off x="7369204" y="328132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92"/>
          <p:cNvSpPr/>
          <p:nvPr/>
        </p:nvSpPr>
        <p:spPr>
          <a:xfrm>
            <a:off x="7369204" y="310132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92"/>
          <p:cNvSpPr/>
          <p:nvPr/>
        </p:nvSpPr>
        <p:spPr>
          <a:xfrm>
            <a:off x="7189204" y="328132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92"/>
          <p:cNvSpPr/>
          <p:nvPr/>
        </p:nvSpPr>
        <p:spPr>
          <a:xfrm>
            <a:off x="7549204" y="328132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92"/>
          <p:cNvSpPr/>
          <p:nvPr/>
        </p:nvSpPr>
        <p:spPr>
          <a:xfrm>
            <a:off x="7369204" y="3482938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92"/>
          <p:cNvSpPr/>
          <p:nvPr/>
        </p:nvSpPr>
        <p:spPr>
          <a:xfrm>
            <a:off x="7369204" y="292132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92"/>
          <p:cNvSpPr/>
          <p:nvPr/>
        </p:nvSpPr>
        <p:spPr>
          <a:xfrm>
            <a:off x="7369204" y="3676710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92"/>
          <p:cNvSpPr/>
          <p:nvPr/>
        </p:nvSpPr>
        <p:spPr>
          <a:xfrm>
            <a:off x="7729204" y="328132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92"/>
          <p:cNvSpPr/>
          <p:nvPr/>
        </p:nvSpPr>
        <p:spPr>
          <a:xfrm>
            <a:off x="7009204" y="328132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92"/>
          <p:cNvSpPr/>
          <p:nvPr/>
        </p:nvSpPr>
        <p:spPr>
          <a:xfrm>
            <a:off x="4842004" y="305117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92"/>
          <p:cNvSpPr/>
          <p:nvPr/>
        </p:nvSpPr>
        <p:spPr>
          <a:xfrm>
            <a:off x="4842004" y="3414104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92"/>
          <p:cNvSpPr/>
          <p:nvPr/>
        </p:nvSpPr>
        <p:spPr>
          <a:xfrm>
            <a:off x="4662004" y="361773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92"/>
          <p:cNvSpPr/>
          <p:nvPr/>
        </p:nvSpPr>
        <p:spPr>
          <a:xfrm>
            <a:off x="4302004" y="3617735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92"/>
          <p:cNvSpPr/>
          <p:nvPr/>
        </p:nvSpPr>
        <p:spPr>
          <a:xfrm>
            <a:off x="4122004" y="3414104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92"/>
          <p:cNvSpPr/>
          <p:nvPr/>
        </p:nvSpPr>
        <p:spPr>
          <a:xfrm>
            <a:off x="4122004" y="3051163"/>
            <a:ext cx="180000" cy="1800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92"/>
          <p:cNvSpPr txBox="1"/>
          <p:nvPr>
            <p:ph type="title"/>
          </p:nvPr>
        </p:nvSpPr>
        <p:spPr>
          <a:xfrm>
            <a:off x="669525" y="1848725"/>
            <a:ext cx="1608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,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38" name="Google Shape;1738;p92"/>
          <p:cNvSpPr txBox="1"/>
          <p:nvPr>
            <p:ph type="title"/>
          </p:nvPr>
        </p:nvSpPr>
        <p:spPr>
          <a:xfrm>
            <a:off x="1619925" y="1812725"/>
            <a:ext cx="3933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, …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39" name="Google Shape;173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9208" y="41538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0" name="Google Shape;1740;p92"/>
          <p:cNvSpPr txBox="1"/>
          <p:nvPr>
            <p:ph type="title"/>
          </p:nvPr>
        </p:nvSpPr>
        <p:spPr>
          <a:xfrm>
            <a:off x="5223900" y="1835050"/>
            <a:ext cx="35961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number of squares is: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1, 5, 9,... with a rule of ‘add 4’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4" name="Shape 1744"/>
        <p:cNvGrpSpPr/>
        <p:nvPr/>
      </p:nvGrpSpPr>
      <p:grpSpPr>
        <a:xfrm>
          <a:off x="0" y="0"/>
          <a:ext cx="0" cy="0"/>
        </a:xfrm>
      </p:grpSpPr>
      <p:sp>
        <p:nvSpPr>
          <p:cNvPr id="1745" name="Google Shape;1745;p93"/>
          <p:cNvSpPr txBox="1"/>
          <p:nvPr>
            <p:ph type="body" idx="1"/>
          </p:nvPr>
        </p:nvSpPr>
        <p:spPr>
          <a:xfrm>
            <a:off x="324000" y="619500"/>
            <a:ext cx="84960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For each sequence, fill in the table for the number of squares and the perimeter. Describe the rule for both  sequences.</a:t>
            </a:r>
            <a:endParaRPr sz="1800"/>
          </a:p>
        </p:txBody>
      </p:sp>
      <p:sp>
        <p:nvSpPr>
          <p:cNvPr id="1746" name="Google Shape;1746;p9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graphicFrame>
        <p:nvGraphicFramePr>
          <p:cNvPr id="1747" name="Google Shape;1747;p93"/>
          <p:cNvGraphicFramePr>
            <a:graphicFrameLocks noGrp="1"/>
          </p:cNvGraphicFramePr>
          <p:nvPr/>
        </p:nvGraphicFramePr>
        <p:xfrm>
          <a:off x="339729" y="156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169275"/>
                <a:gridCol w="403775"/>
                <a:gridCol w="382750"/>
                <a:gridCol w="388500"/>
                <a:gridCol w="380775"/>
                <a:gridCol w="380775"/>
              </a:tblGrid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48" name="Google Shape;1748;p93"/>
          <p:cNvSpPr/>
          <p:nvPr/>
        </p:nvSpPr>
        <p:spPr>
          <a:xfrm>
            <a:off x="796929" y="1269475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9" name="Google Shape;1749;p93"/>
          <p:cNvGrpSpPr/>
          <p:nvPr/>
        </p:nvGrpSpPr>
        <p:grpSpPr>
          <a:xfrm>
            <a:off x="1151779" y="1269475"/>
            <a:ext cx="360000" cy="180000"/>
            <a:chOff x="1063800" y="1421875"/>
            <a:chExt cx="360000" cy="180000"/>
          </a:xfrm>
        </p:grpSpPr>
        <p:sp>
          <p:nvSpPr>
            <p:cNvPr id="1750" name="Google Shape;1750;p93"/>
            <p:cNvSpPr/>
            <p:nvPr/>
          </p:nvSpPr>
          <p:spPr>
            <a:xfrm>
              <a:off x="10638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1" name="Google Shape;1751;p93"/>
            <p:cNvSpPr/>
            <p:nvPr/>
          </p:nvSpPr>
          <p:spPr>
            <a:xfrm>
              <a:off x="12438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2" name="Google Shape;1752;p93"/>
          <p:cNvGrpSpPr/>
          <p:nvPr/>
        </p:nvGrpSpPr>
        <p:grpSpPr>
          <a:xfrm>
            <a:off x="1735167" y="1269475"/>
            <a:ext cx="547865" cy="180000"/>
            <a:chOff x="1803600" y="1421875"/>
            <a:chExt cx="547865" cy="180000"/>
          </a:xfrm>
        </p:grpSpPr>
        <p:sp>
          <p:nvSpPr>
            <p:cNvPr id="1753" name="Google Shape;1753;p93"/>
            <p:cNvSpPr/>
            <p:nvPr/>
          </p:nvSpPr>
          <p:spPr>
            <a:xfrm>
              <a:off x="18036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4" name="Google Shape;1754;p93"/>
            <p:cNvSpPr/>
            <p:nvPr/>
          </p:nvSpPr>
          <p:spPr>
            <a:xfrm>
              <a:off x="19836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5" name="Google Shape;1755;p93"/>
            <p:cNvSpPr/>
            <p:nvPr/>
          </p:nvSpPr>
          <p:spPr>
            <a:xfrm>
              <a:off x="2171465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6" name="Google Shape;1756;p93"/>
          <p:cNvSpPr txBox="1"/>
          <p:nvPr>
            <p:ph type="body" idx="1"/>
          </p:nvPr>
        </p:nvSpPr>
        <p:spPr>
          <a:xfrm>
            <a:off x="336326" y="2460100"/>
            <a:ext cx="3983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squares: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57" name="Google Shape;1757;p93"/>
          <p:cNvCxnSpPr/>
          <p:nvPr/>
        </p:nvCxnSpPr>
        <p:spPr>
          <a:xfrm flipH="1">
            <a:off x="4576400" y="1219025"/>
            <a:ext cx="0" cy="3601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8" name="Google Shape;1758;p93"/>
          <p:cNvSpPr txBox="1"/>
          <p:nvPr>
            <p:ph type="body" idx="1"/>
          </p:nvPr>
        </p:nvSpPr>
        <p:spPr>
          <a:xfrm>
            <a:off x="336323" y="3698375"/>
            <a:ext cx="39837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Perimeter: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759" name="Google Shape;1759;p93"/>
          <p:cNvSpPr/>
          <p:nvPr/>
        </p:nvSpPr>
        <p:spPr>
          <a:xfrm>
            <a:off x="5396029" y="1263859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0" name="Google Shape;1760;p93"/>
          <p:cNvGrpSpPr/>
          <p:nvPr/>
        </p:nvGrpSpPr>
        <p:grpSpPr>
          <a:xfrm>
            <a:off x="5792229" y="1263859"/>
            <a:ext cx="360000" cy="360000"/>
            <a:chOff x="3963429" y="1269475"/>
            <a:chExt cx="360000" cy="360000"/>
          </a:xfrm>
        </p:grpSpPr>
        <p:sp>
          <p:nvSpPr>
            <p:cNvPr id="1761" name="Google Shape;1761;p93"/>
            <p:cNvSpPr/>
            <p:nvPr/>
          </p:nvSpPr>
          <p:spPr>
            <a:xfrm>
              <a:off x="3963429" y="126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2" name="Google Shape;1762;p93"/>
            <p:cNvSpPr/>
            <p:nvPr/>
          </p:nvSpPr>
          <p:spPr>
            <a:xfrm>
              <a:off x="396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3" name="Google Shape;1763;p93"/>
            <p:cNvSpPr/>
            <p:nvPr/>
          </p:nvSpPr>
          <p:spPr>
            <a:xfrm>
              <a:off x="414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4" name="Google Shape;1764;p93"/>
          <p:cNvGrpSpPr/>
          <p:nvPr/>
        </p:nvGrpSpPr>
        <p:grpSpPr>
          <a:xfrm>
            <a:off x="6269642" y="1263859"/>
            <a:ext cx="531877" cy="541610"/>
            <a:chOff x="4440842" y="1087865"/>
            <a:chExt cx="531877" cy="541610"/>
          </a:xfrm>
        </p:grpSpPr>
        <p:grpSp>
          <p:nvGrpSpPr>
            <p:cNvPr id="1765" name="Google Shape;1765;p93"/>
            <p:cNvGrpSpPr/>
            <p:nvPr/>
          </p:nvGrpSpPr>
          <p:grpSpPr>
            <a:xfrm>
              <a:off x="4440842" y="1269475"/>
              <a:ext cx="360000" cy="360000"/>
              <a:chOff x="3963429" y="1269475"/>
              <a:chExt cx="360000" cy="360000"/>
            </a:xfrm>
          </p:grpSpPr>
          <p:sp>
            <p:nvSpPr>
              <p:cNvPr id="1766" name="Google Shape;1766;p93"/>
              <p:cNvSpPr/>
              <p:nvPr/>
            </p:nvSpPr>
            <p:spPr>
              <a:xfrm>
                <a:off x="3963429" y="126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67" name="Google Shape;1767;p93"/>
              <p:cNvSpPr/>
              <p:nvPr/>
            </p:nvSpPr>
            <p:spPr>
              <a:xfrm>
                <a:off x="396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68" name="Google Shape;1768;p93"/>
              <p:cNvSpPr/>
              <p:nvPr/>
            </p:nvSpPr>
            <p:spPr>
              <a:xfrm>
                <a:off x="414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69" name="Google Shape;1769;p93"/>
            <p:cNvSpPr/>
            <p:nvPr/>
          </p:nvSpPr>
          <p:spPr>
            <a:xfrm>
              <a:off x="4440854" y="108786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0" name="Google Shape;1770;p93"/>
            <p:cNvSpPr/>
            <p:nvPr/>
          </p:nvSpPr>
          <p:spPr>
            <a:xfrm>
              <a:off x="479271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1" name="Google Shape;1771;p93"/>
          <p:cNvSpPr txBox="1"/>
          <p:nvPr>
            <p:ph type="body" idx="1"/>
          </p:nvPr>
        </p:nvSpPr>
        <p:spPr>
          <a:xfrm>
            <a:off x="4726201" y="2791825"/>
            <a:ext cx="4093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squares: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72" name="Google Shape;1772;p93"/>
          <p:cNvGraphicFramePr>
            <a:graphicFrameLocks noGrp="1"/>
          </p:cNvGraphicFramePr>
          <p:nvPr/>
        </p:nvGraphicFramePr>
        <p:xfrm>
          <a:off x="4824004" y="188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169275"/>
                <a:gridCol w="403775"/>
                <a:gridCol w="382750"/>
                <a:gridCol w="388500"/>
                <a:gridCol w="380775"/>
                <a:gridCol w="380775"/>
              </a:tblGrid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3" name="Google Shape;1773;p93"/>
          <p:cNvSpPr txBox="1"/>
          <p:nvPr>
            <p:ph type="body" idx="1"/>
          </p:nvPr>
        </p:nvSpPr>
        <p:spPr>
          <a:xfrm>
            <a:off x="4686873" y="3842925"/>
            <a:ext cx="39837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Perimeter: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774" name="Google Shape;1774;p93"/>
          <p:cNvSpPr txBox="1"/>
          <p:nvPr>
            <p:ph type="body" idx="1"/>
          </p:nvPr>
        </p:nvSpPr>
        <p:spPr>
          <a:xfrm>
            <a:off x="382025" y="1221825"/>
            <a:ext cx="302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775" name="Google Shape;1775;p93"/>
          <p:cNvSpPr txBox="1"/>
          <p:nvPr>
            <p:ph type="body" idx="1"/>
          </p:nvPr>
        </p:nvSpPr>
        <p:spPr>
          <a:xfrm>
            <a:off x="4757775" y="1286650"/>
            <a:ext cx="302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9" name="Shape 1779"/>
        <p:cNvGrpSpPr/>
        <p:nvPr/>
      </p:nvGrpSpPr>
      <p:grpSpPr>
        <a:xfrm>
          <a:off x="0" y="0"/>
          <a:ext cx="0" cy="0"/>
        </a:xfrm>
      </p:grpSpPr>
      <p:sp>
        <p:nvSpPr>
          <p:cNvPr id="1780" name="Google Shape;1780;p94"/>
          <p:cNvSpPr txBox="1"/>
          <p:nvPr>
            <p:ph type="body" idx="1"/>
          </p:nvPr>
        </p:nvSpPr>
        <p:spPr>
          <a:xfrm>
            <a:off x="324000" y="619500"/>
            <a:ext cx="84960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For each sequence, fill in the table for the number of squares and the perimeter. Describe the rule for both  sequences.</a:t>
            </a:r>
            <a:endParaRPr sz="1800"/>
          </a:p>
        </p:txBody>
      </p:sp>
      <p:sp>
        <p:nvSpPr>
          <p:cNvPr id="1781" name="Google Shape;1781;p9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graphicFrame>
        <p:nvGraphicFramePr>
          <p:cNvPr id="1782" name="Google Shape;1782;p94"/>
          <p:cNvGraphicFramePr>
            <a:graphicFrameLocks noGrp="1"/>
          </p:cNvGraphicFramePr>
          <p:nvPr/>
        </p:nvGraphicFramePr>
        <p:xfrm>
          <a:off x="379054" y="188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169275"/>
                <a:gridCol w="403775"/>
                <a:gridCol w="382750"/>
                <a:gridCol w="388500"/>
                <a:gridCol w="380775"/>
                <a:gridCol w="380775"/>
              </a:tblGrid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83" name="Google Shape;1783;p94"/>
          <p:cNvSpPr txBox="1"/>
          <p:nvPr>
            <p:ph type="body" idx="1"/>
          </p:nvPr>
        </p:nvSpPr>
        <p:spPr>
          <a:xfrm>
            <a:off x="336326" y="2792625"/>
            <a:ext cx="3983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squares: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84" name="Google Shape;1784;p94"/>
          <p:cNvCxnSpPr/>
          <p:nvPr/>
        </p:nvCxnSpPr>
        <p:spPr>
          <a:xfrm flipH="1">
            <a:off x="4576400" y="1219025"/>
            <a:ext cx="0" cy="3601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5" name="Google Shape;1785;p94"/>
          <p:cNvSpPr txBox="1"/>
          <p:nvPr>
            <p:ph type="body" idx="1"/>
          </p:nvPr>
        </p:nvSpPr>
        <p:spPr>
          <a:xfrm>
            <a:off x="336325" y="3780000"/>
            <a:ext cx="3983700" cy="82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Perimeter: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786" name="Google Shape;1786;p94"/>
          <p:cNvSpPr/>
          <p:nvPr/>
        </p:nvSpPr>
        <p:spPr>
          <a:xfrm>
            <a:off x="5700829" y="1263859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7" name="Google Shape;1787;p94"/>
          <p:cNvGrpSpPr/>
          <p:nvPr/>
        </p:nvGrpSpPr>
        <p:grpSpPr>
          <a:xfrm>
            <a:off x="6097029" y="1263859"/>
            <a:ext cx="360000" cy="360000"/>
            <a:chOff x="3963429" y="1269475"/>
            <a:chExt cx="360000" cy="360000"/>
          </a:xfrm>
        </p:grpSpPr>
        <p:sp>
          <p:nvSpPr>
            <p:cNvPr id="1788" name="Google Shape;1788;p94"/>
            <p:cNvSpPr/>
            <p:nvPr/>
          </p:nvSpPr>
          <p:spPr>
            <a:xfrm>
              <a:off x="3963429" y="126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9" name="Google Shape;1789;p94"/>
            <p:cNvSpPr/>
            <p:nvPr/>
          </p:nvSpPr>
          <p:spPr>
            <a:xfrm>
              <a:off x="396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0" name="Google Shape;1790;p94"/>
            <p:cNvSpPr/>
            <p:nvPr/>
          </p:nvSpPr>
          <p:spPr>
            <a:xfrm>
              <a:off x="414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1" name="Google Shape;1791;p94"/>
          <p:cNvGrpSpPr/>
          <p:nvPr/>
        </p:nvGrpSpPr>
        <p:grpSpPr>
          <a:xfrm>
            <a:off x="6574442" y="1263859"/>
            <a:ext cx="531877" cy="541610"/>
            <a:chOff x="4440842" y="1087865"/>
            <a:chExt cx="531877" cy="541610"/>
          </a:xfrm>
        </p:grpSpPr>
        <p:grpSp>
          <p:nvGrpSpPr>
            <p:cNvPr id="1792" name="Google Shape;1792;p94"/>
            <p:cNvGrpSpPr/>
            <p:nvPr/>
          </p:nvGrpSpPr>
          <p:grpSpPr>
            <a:xfrm>
              <a:off x="4440842" y="1269475"/>
              <a:ext cx="360000" cy="360000"/>
              <a:chOff x="3963429" y="1269475"/>
              <a:chExt cx="360000" cy="360000"/>
            </a:xfrm>
          </p:grpSpPr>
          <p:sp>
            <p:nvSpPr>
              <p:cNvPr id="1793" name="Google Shape;1793;p94"/>
              <p:cNvSpPr/>
              <p:nvPr/>
            </p:nvSpPr>
            <p:spPr>
              <a:xfrm>
                <a:off x="3963429" y="126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4" name="Google Shape;1794;p94"/>
              <p:cNvSpPr/>
              <p:nvPr/>
            </p:nvSpPr>
            <p:spPr>
              <a:xfrm>
                <a:off x="396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5" name="Google Shape;1795;p94"/>
              <p:cNvSpPr/>
              <p:nvPr/>
            </p:nvSpPr>
            <p:spPr>
              <a:xfrm>
                <a:off x="414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96" name="Google Shape;1796;p94"/>
            <p:cNvSpPr/>
            <p:nvPr/>
          </p:nvSpPr>
          <p:spPr>
            <a:xfrm>
              <a:off x="4440854" y="108786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7" name="Google Shape;1797;p94"/>
            <p:cNvSpPr/>
            <p:nvPr/>
          </p:nvSpPr>
          <p:spPr>
            <a:xfrm>
              <a:off x="479271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8" name="Google Shape;1798;p94"/>
          <p:cNvSpPr txBox="1"/>
          <p:nvPr>
            <p:ph type="body" idx="1"/>
          </p:nvPr>
        </p:nvSpPr>
        <p:spPr>
          <a:xfrm>
            <a:off x="4726201" y="2791825"/>
            <a:ext cx="4093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squares: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99" name="Google Shape;1799;p94"/>
          <p:cNvGraphicFramePr>
            <a:graphicFrameLocks noGrp="1"/>
          </p:cNvGraphicFramePr>
          <p:nvPr/>
        </p:nvGraphicFramePr>
        <p:xfrm>
          <a:off x="4824004" y="188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169275"/>
                <a:gridCol w="403775"/>
                <a:gridCol w="382750"/>
                <a:gridCol w="388500"/>
                <a:gridCol w="380775"/>
                <a:gridCol w="380775"/>
              </a:tblGrid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00" name="Google Shape;1800;p94"/>
          <p:cNvSpPr txBox="1"/>
          <p:nvPr>
            <p:ph type="body" idx="1"/>
          </p:nvPr>
        </p:nvSpPr>
        <p:spPr>
          <a:xfrm>
            <a:off x="4686873" y="3842925"/>
            <a:ext cx="39837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Perimeter: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801" name="Google Shape;1801;p94"/>
          <p:cNvSpPr/>
          <p:nvPr/>
        </p:nvSpPr>
        <p:spPr>
          <a:xfrm>
            <a:off x="6750392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94"/>
          <p:cNvSpPr/>
          <p:nvPr/>
        </p:nvSpPr>
        <p:spPr>
          <a:xfrm>
            <a:off x="98865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94"/>
          <p:cNvSpPr/>
          <p:nvPr/>
        </p:nvSpPr>
        <p:spPr>
          <a:xfrm>
            <a:off x="988654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94"/>
          <p:cNvSpPr/>
          <p:nvPr/>
        </p:nvSpPr>
        <p:spPr>
          <a:xfrm>
            <a:off x="988654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5" name="Google Shape;1805;p94"/>
          <p:cNvSpPr/>
          <p:nvPr/>
        </p:nvSpPr>
        <p:spPr>
          <a:xfrm>
            <a:off x="2294404" y="1444659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94"/>
          <p:cNvSpPr/>
          <p:nvPr/>
        </p:nvSpPr>
        <p:spPr>
          <a:xfrm>
            <a:off x="116865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94"/>
          <p:cNvSpPr/>
          <p:nvPr/>
        </p:nvSpPr>
        <p:spPr>
          <a:xfrm>
            <a:off x="134865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94"/>
          <p:cNvSpPr/>
          <p:nvPr/>
        </p:nvSpPr>
        <p:spPr>
          <a:xfrm>
            <a:off x="1348654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9" name="Google Shape;1809;p94"/>
          <p:cNvSpPr/>
          <p:nvPr/>
        </p:nvSpPr>
        <p:spPr>
          <a:xfrm>
            <a:off x="1348654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0" name="Google Shape;1810;p94"/>
          <p:cNvSpPr/>
          <p:nvPr/>
        </p:nvSpPr>
        <p:spPr>
          <a:xfrm>
            <a:off x="175440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94"/>
          <p:cNvSpPr/>
          <p:nvPr/>
        </p:nvSpPr>
        <p:spPr>
          <a:xfrm>
            <a:off x="1754404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94"/>
          <p:cNvSpPr/>
          <p:nvPr/>
        </p:nvSpPr>
        <p:spPr>
          <a:xfrm>
            <a:off x="1754404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94"/>
          <p:cNvSpPr/>
          <p:nvPr/>
        </p:nvSpPr>
        <p:spPr>
          <a:xfrm>
            <a:off x="193440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94"/>
          <p:cNvSpPr/>
          <p:nvPr/>
        </p:nvSpPr>
        <p:spPr>
          <a:xfrm>
            <a:off x="211440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94"/>
          <p:cNvSpPr/>
          <p:nvPr/>
        </p:nvSpPr>
        <p:spPr>
          <a:xfrm>
            <a:off x="2114404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94"/>
          <p:cNvSpPr/>
          <p:nvPr/>
        </p:nvSpPr>
        <p:spPr>
          <a:xfrm>
            <a:off x="2114404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94"/>
          <p:cNvSpPr/>
          <p:nvPr/>
        </p:nvSpPr>
        <p:spPr>
          <a:xfrm>
            <a:off x="247440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94"/>
          <p:cNvSpPr/>
          <p:nvPr/>
        </p:nvSpPr>
        <p:spPr>
          <a:xfrm>
            <a:off x="2474404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94"/>
          <p:cNvSpPr/>
          <p:nvPr/>
        </p:nvSpPr>
        <p:spPr>
          <a:xfrm>
            <a:off x="2474404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94"/>
          <p:cNvSpPr/>
          <p:nvPr/>
        </p:nvSpPr>
        <p:spPr>
          <a:xfrm>
            <a:off x="3447329" y="1444659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94"/>
          <p:cNvSpPr/>
          <p:nvPr/>
        </p:nvSpPr>
        <p:spPr>
          <a:xfrm>
            <a:off x="2907329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94"/>
          <p:cNvSpPr/>
          <p:nvPr/>
        </p:nvSpPr>
        <p:spPr>
          <a:xfrm>
            <a:off x="2907329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94"/>
          <p:cNvSpPr/>
          <p:nvPr/>
        </p:nvSpPr>
        <p:spPr>
          <a:xfrm>
            <a:off x="2907329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94"/>
          <p:cNvSpPr/>
          <p:nvPr/>
        </p:nvSpPr>
        <p:spPr>
          <a:xfrm>
            <a:off x="3087329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94"/>
          <p:cNvSpPr/>
          <p:nvPr/>
        </p:nvSpPr>
        <p:spPr>
          <a:xfrm>
            <a:off x="3267329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94"/>
          <p:cNvSpPr/>
          <p:nvPr/>
        </p:nvSpPr>
        <p:spPr>
          <a:xfrm>
            <a:off x="3267329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94"/>
          <p:cNvSpPr/>
          <p:nvPr/>
        </p:nvSpPr>
        <p:spPr>
          <a:xfrm>
            <a:off x="3267329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94"/>
          <p:cNvSpPr/>
          <p:nvPr/>
        </p:nvSpPr>
        <p:spPr>
          <a:xfrm>
            <a:off x="3627329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94"/>
          <p:cNvSpPr/>
          <p:nvPr/>
        </p:nvSpPr>
        <p:spPr>
          <a:xfrm>
            <a:off x="3627329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94"/>
          <p:cNvSpPr/>
          <p:nvPr/>
        </p:nvSpPr>
        <p:spPr>
          <a:xfrm>
            <a:off x="3627329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94"/>
          <p:cNvSpPr/>
          <p:nvPr/>
        </p:nvSpPr>
        <p:spPr>
          <a:xfrm>
            <a:off x="3803219" y="1444659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94"/>
          <p:cNvSpPr/>
          <p:nvPr/>
        </p:nvSpPr>
        <p:spPr>
          <a:xfrm>
            <a:off x="3983219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94"/>
          <p:cNvSpPr/>
          <p:nvPr/>
        </p:nvSpPr>
        <p:spPr>
          <a:xfrm>
            <a:off x="3983219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94"/>
          <p:cNvSpPr/>
          <p:nvPr/>
        </p:nvSpPr>
        <p:spPr>
          <a:xfrm>
            <a:off x="3983219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94"/>
          <p:cNvSpPr txBox="1"/>
          <p:nvPr>
            <p:ph type="body" idx="1"/>
          </p:nvPr>
        </p:nvSpPr>
        <p:spPr>
          <a:xfrm>
            <a:off x="382025" y="1237554"/>
            <a:ext cx="302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836" name="Google Shape;1836;p94"/>
          <p:cNvSpPr txBox="1"/>
          <p:nvPr>
            <p:ph type="body" idx="1"/>
          </p:nvPr>
        </p:nvSpPr>
        <p:spPr>
          <a:xfrm>
            <a:off x="4801125" y="1237554"/>
            <a:ext cx="302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0" name="Shape 1840"/>
        <p:cNvGrpSpPr/>
        <p:nvPr/>
      </p:nvGrpSpPr>
      <p:grpSpPr>
        <a:xfrm>
          <a:off x="0" y="0"/>
          <a:ext cx="0" cy="0"/>
        </a:xfrm>
      </p:grpSpPr>
      <p:sp>
        <p:nvSpPr>
          <p:cNvPr id="1841" name="Google Shape;1841;p9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sp>
        <p:nvSpPr>
          <p:cNvPr id="1842" name="Google Shape;1842;p95"/>
          <p:cNvSpPr txBox="1"/>
          <p:nvPr>
            <p:ph type="body" idx="1"/>
          </p:nvPr>
        </p:nvSpPr>
        <p:spPr>
          <a:xfrm>
            <a:off x="324000" y="2902800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To calculate the number of chairs needed, the caretaker multiplies the number of tables by 6. Which way is he planning on arranging the tables? </a:t>
            </a:r>
            <a:endParaRPr sz="1800"/>
          </a:p>
        </p:txBody>
      </p:sp>
      <p:sp>
        <p:nvSpPr>
          <p:cNvPr id="1843" name="Google Shape;1843;p95"/>
          <p:cNvSpPr txBox="1"/>
          <p:nvPr>
            <p:ph type="body" idx="1"/>
          </p:nvPr>
        </p:nvSpPr>
        <p:spPr>
          <a:xfrm>
            <a:off x="324000" y="3780000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For each arrangement how many more chairs can be added if an extra table is added? </a:t>
            </a:r>
            <a:endParaRPr sz="1800"/>
          </a:p>
        </p:txBody>
      </p:sp>
      <p:sp>
        <p:nvSpPr>
          <p:cNvPr id="1844" name="Google Shape;1844;p95"/>
          <p:cNvSpPr txBox="1"/>
          <p:nvPr>
            <p:ph type="body" idx="1"/>
          </p:nvPr>
        </p:nvSpPr>
        <p:spPr>
          <a:xfrm>
            <a:off x="324000" y="759300"/>
            <a:ext cx="8705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In a school dining hall, 6 chairs (circles) fit around one rectangular table </a:t>
            </a:r>
            <a:endParaRPr sz="1800"/>
          </a:p>
        </p:txBody>
      </p:sp>
      <p:sp>
        <p:nvSpPr>
          <p:cNvPr id="1845" name="Google Shape;1845;p95"/>
          <p:cNvSpPr/>
          <p:nvPr/>
        </p:nvSpPr>
        <p:spPr>
          <a:xfrm>
            <a:off x="7702231" y="1200398"/>
            <a:ext cx="695628" cy="34858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95"/>
          <p:cNvSpPr/>
          <p:nvPr/>
        </p:nvSpPr>
        <p:spPr>
          <a:xfrm>
            <a:off x="7815551" y="1036545"/>
            <a:ext cx="122094" cy="122094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95"/>
          <p:cNvSpPr/>
          <p:nvPr/>
        </p:nvSpPr>
        <p:spPr>
          <a:xfrm>
            <a:off x="7815551" y="1590891"/>
            <a:ext cx="122094" cy="122094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8" name="Google Shape;1848;p95"/>
          <p:cNvSpPr/>
          <p:nvPr/>
        </p:nvSpPr>
        <p:spPr>
          <a:xfrm>
            <a:off x="7538462" y="1313672"/>
            <a:ext cx="122094" cy="122094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95"/>
          <p:cNvSpPr/>
          <p:nvPr/>
        </p:nvSpPr>
        <p:spPr>
          <a:xfrm>
            <a:off x="8133377" y="1036516"/>
            <a:ext cx="122094" cy="122094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0" name="Google Shape;1850;p95"/>
          <p:cNvSpPr/>
          <p:nvPr/>
        </p:nvSpPr>
        <p:spPr>
          <a:xfrm>
            <a:off x="8133377" y="1590770"/>
            <a:ext cx="122094" cy="122094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95"/>
          <p:cNvSpPr/>
          <p:nvPr/>
        </p:nvSpPr>
        <p:spPr>
          <a:xfrm>
            <a:off x="8439616" y="1313643"/>
            <a:ext cx="122094" cy="122094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95"/>
          <p:cNvSpPr/>
          <p:nvPr/>
        </p:nvSpPr>
        <p:spPr>
          <a:xfrm>
            <a:off x="414631" y="16199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95"/>
          <p:cNvSpPr/>
          <p:nvPr/>
        </p:nvSpPr>
        <p:spPr>
          <a:xfrm>
            <a:off x="414631" y="19685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95"/>
          <p:cNvSpPr/>
          <p:nvPr/>
        </p:nvSpPr>
        <p:spPr>
          <a:xfrm>
            <a:off x="1113297" y="16199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95"/>
          <p:cNvSpPr/>
          <p:nvPr/>
        </p:nvSpPr>
        <p:spPr>
          <a:xfrm>
            <a:off x="1113297" y="19685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95"/>
          <p:cNvSpPr/>
          <p:nvPr/>
        </p:nvSpPr>
        <p:spPr>
          <a:xfrm>
            <a:off x="2043772" y="14675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95"/>
          <p:cNvSpPr/>
          <p:nvPr/>
        </p:nvSpPr>
        <p:spPr>
          <a:xfrm>
            <a:off x="2043772" y="18161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95"/>
          <p:cNvSpPr/>
          <p:nvPr/>
        </p:nvSpPr>
        <p:spPr>
          <a:xfrm>
            <a:off x="2043772" y="21647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95"/>
          <p:cNvSpPr/>
          <p:nvPr/>
        </p:nvSpPr>
        <p:spPr>
          <a:xfrm>
            <a:off x="2043772" y="25133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95"/>
          <p:cNvSpPr/>
          <p:nvPr/>
        </p:nvSpPr>
        <p:spPr>
          <a:xfrm>
            <a:off x="3653422" y="190824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95"/>
          <p:cNvSpPr/>
          <p:nvPr/>
        </p:nvSpPr>
        <p:spPr>
          <a:xfrm>
            <a:off x="2957722" y="190824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95"/>
          <p:cNvSpPr/>
          <p:nvPr/>
        </p:nvSpPr>
        <p:spPr>
          <a:xfrm>
            <a:off x="5044822" y="190824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95"/>
          <p:cNvSpPr/>
          <p:nvPr/>
        </p:nvSpPr>
        <p:spPr>
          <a:xfrm>
            <a:off x="4349122" y="190824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95"/>
          <p:cNvSpPr/>
          <p:nvPr/>
        </p:nvSpPr>
        <p:spPr>
          <a:xfrm>
            <a:off x="6057447" y="175584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95"/>
          <p:cNvSpPr/>
          <p:nvPr/>
        </p:nvSpPr>
        <p:spPr>
          <a:xfrm>
            <a:off x="6964859" y="17548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6" name="Google Shape;1866;p95"/>
          <p:cNvSpPr/>
          <p:nvPr/>
        </p:nvSpPr>
        <p:spPr>
          <a:xfrm>
            <a:off x="6057447" y="2329323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95"/>
          <p:cNvSpPr/>
          <p:nvPr/>
        </p:nvSpPr>
        <p:spPr>
          <a:xfrm>
            <a:off x="6964859" y="2328373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95"/>
          <p:cNvSpPr txBox="1"/>
          <p:nvPr/>
        </p:nvSpPr>
        <p:spPr>
          <a:xfrm>
            <a:off x="456150" y="2359575"/>
            <a:ext cx="385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95"/>
          <p:cNvSpPr txBox="1"/>
          <p:nvPr/>
        </p:nvSpPr>
        <p:spPr>
          <a:xfrm>
            <a:off x="2787050" y="2544600"/>
            <a:ext cx="385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95"/>
          <p:cNvSpPr txBox="1"/>
          <p:nvPr/>
        </p:nvSpPr>
        <p:spPr>
          <a:xfrm>
            <a:off x="2974250" y="1588150"/>
            <a:ext cx="385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95"/>
          <p:cNvSpPr txBox="1"/>
          <p:nvPr/>
        </p:nvSpPr>
        <p:spPr>
          <a:xfrm>
            <a:off x="6064050" y="1371525"/>
            <a:ext cx="385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95"/>
          <p:cNvSpPr txBox="1"/>
          <p:nvPr>
            <p:ph type="body" idx="1"/>
          </p:nvPr>
        </p:nvSpPr>
        <p:spPr>
          <a:xfrm>
            <a:off x="324000" y="1140250"/>
            <a:ext cx="6224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Below are four ways to arrange the 4 tables. 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6" name="Shape 1876"/>
        <p:cNvGrpSpPr/>
        <p:nvPr/>
      </p:nvGrpSpPr>
      <p:grpSpPr>
        <a:xfrm>
          <a:off x="0" y="0"/>
          <a:ext cx="0" cy="0"/>
        </a:xfrm>
      </p:grpSpPr>
      <p:sp>
        <p:nvSpPr>
          <p:cNvPr id="1877" name="Google Shape;1877;p96"/>
          <p:cNvSpPr txBox="1"/>
          <p:nvPr>
            <p:ph type="body" idx="1"/>
          </p:nvPr>
        </p:nvSpPr>
        <p:spPr>
          <a:xfrm>
            <a:off x="324000" y="759300"/>
            <a:ext cx="8739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In a school dining hall, 6 chairs (circles) fit around one rectangular table </a:t>
            </a:r>
            <a:endParaRPr sz="1800"/>
          </a:p>
        </p:txBody>
      </p:sp>
      <p:sp>
        <p:nvSpPr>
          <p:cNvPr id="1878" name="Google Shape;1878;p9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sp>
        <p:nvSpPr>
          <p:cNvPr id="1879" name="Google Shape;1879;p96"/>
          <p:cNvSpPr txBox="1"/>
          <p:nvPr>
            <p:ph type="body" idx="1"/>
          </p:nvPr>
        </p:nvSpPr>
        <p:spPr>
          <a:xfrm>
            <a:off x="324000" y="1140250"/>
            <a:ext cx="4670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tables are arranged like this </a:t>
            </a:r>
            <a:endParaRPr sz="1800"/>
          </a:p>
        </p:txBody>
      </p:sp>
      <p:sp>
        <p:nvSpPr>
          <p:cNvPr id="1880" name="Google Shape;1880;p96"/>
          <p:cNvSpPr txBox="1"/>
          <p:nvPr>
            <p:ph type="body" idx="1"/>
          </p:nvPr>
        </p:nvSpPr>
        <p:spPr>
          <a:xfrm>
            <a:off x="324000" y="2594338"/>
            <a:ext cx="4929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How many chairs will fit round 4 tables?</a:t>
            </a:r>
            <a:endParaRPr sz="1800"/>
          </a:p>
        </p:txBody>
      </p:sp>
      <p:sp>
        <p:nvSpPr>
          <p:cNvPr id="1881" name="Google Shape;1881;p96"/>
          <p:cNvSpPr txBox="1"/>
          <p:nvPr>
            <p:ph type="body" idx="1"/>
          </p:nvPr>
        </p:nvSpPr>
        <p:spPr>
          <a:xfrm>
            <a:off x="292525" y="3068525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What is the relationship between the number of chairs and the number of tables?</a:t>
            </a:r>
            <a:endParaRPr sz="1800"/>
          </a:p>
        </p:txBody>
      </p:sp>
      <p:sp>
        <p:nvSpPr>
          <p:cNvPr id="1882" name="Google Shape;1882;p96"/>
          <p:cNvSpPr txBox="1"/>
          <p:nvPr>
            <p:ph type="body" idx="1"/>
          </p:nvPr>
        </p:nvSpPr>
        <p:spPr>
          <a:xfrm>
            <a:off x="324000" y="3752925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How many chairs can fit round 10 tables?</a:t>
            </a:r>
            <a:endParaRPr sz="1800"/>
          </a:p>
        </p:txBody>
      </p:sp>
      <p:grpSp>
        <p:nvGrpSpPr>
          <p:cNvPr id="1883" name="Google Shape;1883;p96"/>
          <p:cNvGrpSpPr/>
          <p:nvPr/>
        </p:nvGrpSpPr>
        <p:grpSpPr>
          <a:xfrm>
            <a:off x="7538462" y="1036516"/>
            <a:ext cx="1023248" cy="676411"/>
            <a:chOff x="6692000" y="1100703"/>
            <a:chExt cx="1196781" cy="791124"/>
          </a:xfrm>
        </p:grpSpPr>
        <p:sp>
          <p:nvSpPr>
            <p:cNvPr id="1884" name="Google Shape;1884;p96"/>
            <p:cNvSpPr/>
            <p:nvPr/>
          </p:nvSpPr>
          <p:spPr>
            <a:xfrm>
              <a:off x="6883542" y="1292378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5" name="Google Shape;1885;p96"/>
            <p:cNvSpPr/>
            <p:nvPr/>
          </p:nvSpPr>
          <p:spPr>
            <a:xfrm>
              <a:off x="7016080" y="1100736"/>
              <a:ext cx="142733" cy="142733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6" name="Google Shape;1886;p96"/>
            <p:cNvSpPr/>
            <p:nvPr/>
          </p:nvSpPr>
          <p:spPr>
            <a:xfrm>
              <a:off x="7016080" y="1749094"/>
              <a:ext cx="142733" cy="142733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7" name="Google Shape;1887;p96"/>
            <p:cNvSpPr/>
            <p:nvPr/>
          </p:nvSpPr>
          <p:spPr>
            <a:xfrm>
              <a:off x="6692000" y="1424861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8" name="Google Shape;1888;p96"/>
            <p:cNvSpPr/>
            <p:nvPr/>
          </p:nvSpPr>
          <p:spPr>
            <a:xfrm>
              <a:off x="7387806" y="1100703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9" name="Google Shape;1889;p96"/>
            <p:cNvSpPr/>
            <p:nvPr/>
          </p:nvSpPr>
          <p:spPr>
            <a:xfrm>
              <a:off x="7387806" y="1748953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0" name="Google Shape;1890;p96"/>
            <p:cNvSpPr/>
            <p:nvPr/>
          </p:nvSpPr>
          <p:spPr>
            <a:xfrm>
              <a:off x="7745981" y="1424828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1" name="Google Shape;1891;p96"/>
          <p:cNvGrpSpPr/>
          <p:nvPr/>
        </p:nvGrpSpPr>
        <p:grpSpPr>
          <a:xfrm>
            <a:off x="384534" y="1495734"/>
            <a:ext cx="4187475" cy="625430"/>
            <a:chOff x="402650" y="1521199"/>
            <a:chExt cx="5297919" cy="791283"/>
          </a:xfrm>
        </p:grpSpPr>
        <p:sp>
          <p:nvSpPr>
            <p:cNvPr id="1892" name="Google Shape;1892;p96"/>
            <p:cNvSpPr/>
            <p:nvPr/>
          </p:nvSpPr>
          <p:spPr>
            <a:xfrm>
              <a:off x="726730" y="1521311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3" name="Google Shape;1893;p96"/>
            <p:cNvSpPr/>
            <p:nvPr/>
          </p:nvSpPr>
          <p:spPr>
            <a:xfrm>
              <a:off x="726730" y="2169669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4" name="Google Shape;1894;p96"/>
            <p:cNvSpPr/>
            <p:nvPr/>
          </p:nvSpPr>
          <p:spPr>
            <a:xfrm>
              <a:off x="402650" y="1845490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5" name="Google Shape;1895;p96"/>
            <p:cNvSpPr/>
            <p:nvPr/>
          </p:nvSpPr>
          <p:spPr>
            <a:xfrm>
              <a:off x="1134530" y="1521274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6" name="Google Shape;1896;p96"/>
            <p:cNvSpPr/>
            <p:nvPr/>
          </p:nvSpPr>
          <p:spPr>
            <a:xfrm>
              <a:off x="1134530" y="2169632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7" name="Google Shape;1897;p96"/>
            <p:cNvSpPr/>
            <p:nvPr/>
          </p:nvSpPr>
          <p:spPr>
            <a:xfrm>
              <a:off x="1542330" y="1521199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8" name="Google Shape;1898;p96"/>
            <p:cNvSpPr/>
            <p:nvPr/>
          </p:nvSpPr>
          <p:spPr>
            <a:xfrm>
              <a:off x="1542330" y="2169557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9" name="Google Shape;1899;p96"/>
            <p:cNvSpPr/>
            <p:nvPr/>
          </p:nvSpPr>
          <p:spPr>
            <a:xfrm>
              <a:off x="1950131" y="1521353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0" name="Google Shape;1900;p96"/>
            <p:cNvSpPr/>
            <p:nvPr/>
          </p:nvSpPr>
          <p:spPr>
            <a:xfrm>
              <a:off x="594192" y="17130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1" name="Google Shape;1901;p96"/>
            <p:cNvSpPr/>
            <p:nvPr/>
          </p:nvSpPr>
          <p:spPr>
            <a:xfrm>
              <a:off x="1407792" y="1712928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2" name="Google Shape;1902;p96"/>
            <p:cNvSpPr/>
            <p:nvPr/>
          </p:nvSpPr>
          <p:spPr>
            <a:xfrm>
              <a:off x="1950131" y="2169403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3" name="Google Shape;1903;p96"/>
            <p:cNvSpPr/>
            <p:nvPr/>
          </p:nvSpPr>
          <p:spPr>
            <a:xfrm>
              <a:off x="2282181" y="1845565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4" name="Google Shape;1904;p96"/>
            <p:cNvSpPr/>
            <p:nvPr/>
          </p:nvSpPr>
          <p:spPr>
            <a:xfrm>
              <a:off x="3189455" y="1521324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5" name="Google Shape;1905;p96"/>
            <p:cNvSpPr/>
            <p:nvPr/>
          </p:nvSpPr>
          <p:spPr>
            <a:xfrm>
              <a:off x="3189455" y="2169682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6" name="Google Shape;1906;p96"/>
            <p:cNvSpPr/>
            <p:nvPr/>
          </p:nvSpPr>
          <p:spPr>
            <a:xfrm>
              <a:off x="2865375" y="1845503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7" name="Google Shape;1907;p96"/>
            <p:cNvSpPr/>
            <p:nvPr/>
          </p:nvSpPr>
          <p:spPr>
            <a:xfrm>
              <a:off x="3597255" y="1521286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8" name="Google Shape;1908;p96"/>
            <p:cNvSpPr/>
            <p:nvPr/>
          </p:nvSpPr>
          <p:spPr>
            <a:xfrm>
              <a:off x="3597255" y="2169644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9" name="Google Shape;1909;p96"/>
            <p:cNvSpPr/>
            <p:nvPr/>
          </p:nvSpPr>
          <p:spPr>
            <a:xfrm>
              <a:off x="4005055" y="1521211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0" name="Google Shape;1910;p96"/>
            <p:cNvSpPr/>
            <p:nvPr/>
          </p:nvSpPr>
          <p:spPr>
            <a:xfrm>
              <a:off x="4005055" y="2169569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1" name="Google Shape;1911;p96"/>
            <p:cNvSpPr/>
            <p:nvPr/>
          </p:nvSpPr>
          <p:spPr>
            <a:xfrm>
              <a:off x="4412856" y="1521365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2" name="Google Shape;1912;p96"/>
            <p:cNvSpPr/>
            <p:nvPr/>
          </p:nvSpPr>
          <p:spPr>
            <a:xfrm>
              <a:off x="3056917" y="1713053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3" name="Google Shape;1913;p96"/>
            <p:cNvSpPr/>
            <p:nvPr/>
          </p:nvSpPr>
          <p:spPr>
            <a:xfrm>
              <a:off x="3870517" y="17129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4" name="Google Shape;1914;p96"/>
            <p:cNvSpPr/>
            <p:nvPr/>
          </p:nvSpPr>
          <p:spPr>
            <a:xfrm>
              <a:off x="4412856" y="2169415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5" name="Google Shape;1915;p96"/>
            <p:cNvSpPr/>
            <p:nvPr/>
          </p:nvSpPr>
          <p:spPr>
            <a:xfrm>
              <a:off x="5557768" y="1845578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6" name="Google Shape;1916;p96"/>
            <p:cNvSpPr/>
            <p:nvPr/>
          </p:nvSpPr>
          <p:spPr>
            <a:xfrm>
              <a:off x="4813205" y="1521211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7" name="Google Shape;1917;p96"/>
            <p:cNvSpPr/>
            <p:nvPr/>
          </p:nvSpPr>
          <p:spPr>
            <a:xfrm>
              <a:off x="4813205" y="2169569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8" name="Google Shape;1918;p96"/>
            <p:cNvSpPr/>
            <p:nvPr/>
          </p:nvSpPr>
          <p:spPr>
            <a:xfrm>
              <a:off x="5221006" y="1521365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9" name="Google Shape;1919;p96"/>
            <p:cNvSpPr/>
            <p:nvPr/>
          </p:nvSpPr>
          <p:spPr>
            <a:xfrm>
              <a:off x="4678667" y="17129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0" name="Google Shape;1920;p96"/>
            <p:cNvSpPr/>
            <p:nvPr/>
          </p:nvSpPr>
          <p:spPr>
            <a:xfrm>
              <a:off x="5221006" y="2169415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21" name="Google Shape;1921;p96"/>
          <p:cNvSpPr txBox="1"/>
          <p:nvPr>
            <p:ph type="body" idx="1"/>
          </p:nvPr>
        </p:nvSpPr>
        <p:spPr>
          <a:xfrm>
            <a:off x="324000" y="4221075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Jacob has 25 classmates. How many tables are needed so all 26 of them can have a chair. 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5" name="Shape 1925"/>
        <p:cNvGrpSpPr/>
        <p:nvPr/>
      </p:nvGrpSpPr>
      <p:grpSpPr>
        <a:xfrm>
          <a:off x="0" y="0"/>
          <a:ext cx="0" cy="0"/>
        </a:xfrm>
      </p:grpSpPr>
      <p:sp>
        <p:nvSpPr>
          <p:cNvPr id="1926" name="Google Shape;1926;p97"/>
          <p:cNvSpPr txBox="1"/>
          <p:nvPr>
            <p:ph type="body" idx="1"/>
          </p:nvPr>
        </p:nvSpPr>
        <p:spPr>
          <a:xfrm>
            <a:off x="324000" y="638352"/>
            <a:ext cx="8237700" cy="60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For each sequence, fill in the table for the number of squares and perimeter. Describe the rule for both  sequences.</a:t>
            </a:r>
            <a:endParaRPr sz="1800"/>
          </a:p>
        </p:txBody>
      </p:sp>
      <p:sp>
        <p:nvSpPr>
          <p:cNvPr id="1927" name="Google Shape;1927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graphicFrame>
        <p:nvGraphicFramePr>
          <p:cNvPr id="1928" name="Google Shape;1928;p97"/>
          <p:cNvGraphicFramePr>
            <a:graphicFrameLocks noGrp="1"/>
          </p:cNvGraphicFramePr>
          <p:nvPr/>
        </p:nvGraphicFramePr>
        <p:xfrm>
          <a:off x="339729" y="156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169275"/>
                <a:gridCol w="403775"/>
                <a:gridCol w="382750"/>
                <a:gridCol w="388500"/>
                <a:gridCol w="380775"/>
                <a:gridCol w="380775"/>
              </a:tblGrid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29" name="Google Shape;1929;p97"/>
          <p:cNvSpPr/>
          <p:nvPr/>
        </p:nvSpPr>
        <p:spPr>
          <a:xfrm>
            <a:off x="796929" y="1269475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0" name="Google Shape;1930;p97"/>
          <p:cNvGrpSpPr/>
          <p:nvPr/>
        </p:nvGrpSpPr>
        <p:grpSpPr>
          <a:xfrm>
            <a:off x="1151779" y="1269475"/>
            <a:ext cx="360000" cy="180000"/>
            <a:chOff x="1063800" y="1421875"/>
            <a:chExt cx="360000" cy="180000"/>
          </a:xfrm>
        </p:grpSpPr>
        <p:sp>
          <p:nvSpPr>
            <p:cNvPr id="1931" name="Google Shape;1931;p97"/>
            <p:cNvSpPr/>
            <p:nvPr/>
          </p:nvSpPr>
          <p:spPr>
            <a:xfrm>
              <a:off x="10638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2" name="Google Shape;1932;p97"/>
            <p:cNvSpPr/>
            <p:nvPr/>
          </p:nvSpPr>
          <p:spPr>
            <a:xfrm>
              <a:off x="12438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3" name="Google Shape;1933;p97"/>
          <p:cNvGrpSpPr/>
          <p:nvPr/>
        </p:nvGrpSpPr>
        <p:grpSpPr>
          <a:xfrm>
            <a:off x="1735167" y="1269475"/>
            <a:ext cx="547865" cy="180000"/>
            <a:chOff x="1803600" y="1421875"/>
            <a:chExt cx="547865" cy="180000"/>
          </a:xfrm>
        </p:grpSpPr>
        <p:sp>
          <p:nvSpPr>
            <p:cNvPr id="1934" name="Google Shape;1934;p97"/>
            <p:cNvSpPr/>
            <p:nvPr/>
          </p:nvSpPr>
          <p:spPr>
            <a:xfrm>
              <a:off x="18036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5" name="Google Shape;1935;p97"/>
            <p:cNvSpPr/>
            <p:nvPr/>
          </p:nvSpPr>
          <p:spPr>
            <a:xfrm>
              <a:off x="19836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6" name="Google Shape;1936;p97"/>
            <p:cNvSpPr/>
            <p:nvPr/>
          </p:nvSpPr>
          <p:spPr>
            <a:xfrm>
              <a:off x="2171465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7" name="Google Shape;1937;p97"/>
          <p:cNvSpPr txBox="1"/>
          <p:nvPr>
            <p:ph type="body" idx="1"/>
          </p:nvPr>
        </p:nvSpPr>
        <p:spPr>
          <a:xfrm>
            <a:off x="336326" y="2460100"/>
            <a:ext cx="3983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squares: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Increase by 1 each time/ Same as the term number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38" name="Google Shape;1938;p97"/>
          <p:cNvCxnSpPr/>
          <p:nvPr/>
        </p:nvCxnSpPr>
        <p:spPr>
          <a:xfrm flipH="1">
            <a:off x="4576400" y="1219025"/>
            <a:ext cx="0" cy="3601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9" name="Google Shape;1939;p97"/>
          <p:cNvSpPr txBox="1"/>
          <p:nvPr>
            <p:ph type="body" idx="1"/>
          </p:nvPr>
        </p:nvSpPr>
        <p:spPr>
          <a:xfrm>
            <a:off x="336323" y="3698375"/>
            <a:ext cx="39837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Perimeter: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Increase by 2 each time/ 2 lines for each square plus 2 on each end</a:t>
            </a:r>
            <a:endParaRPr sz="1800"/>
          </a:p>
        </p:txBody>
      </p:sp>
      <p:sp>
        <p:nvSpPr>
          <p:cNvPr id="1940" name="Google Shape;1940;p97"/>
          <p:cNvSpPr/>
          <p:nvPr/>
        </p:nvSpPr>
        <p:spPr>
          <a:xfrm>
            <a:off x="5396029" y="1263859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1" name="Google Shape;1941;p97"/>
          <p:cNvGrpSpPr/>
          <p:nvPr/>
        </p:nvGrpSpPr>
        <p:grpSpPr>
          <a:xfrm>
            <a:off x="5792229" y="1263859"/>
            <a:ext cx="360000" cy="360000"/>
            <a:chOff x="3963429" y="1269475"/>
            <a:chExt cx="360000" cy="360000"/>
          </a:xfrm>
        </p:grpSpPr>
        <p:sp>
          <p:nvSpPr>
            <p:cNvPr id="1942" name="Google Shape;1942;p97"/>
            <p:cNvSpPr/>
            <p:nvPr/>
          </p:nvSpPr>
          <p:spPr>
            <a:xfrm>
              <a:off x="3963429" y="126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3" name="Google Shape;1943;p97"/>
            <p:cNvSpPr/>
            <p:nvPr/>
          </p:nvSpPr>
          <p:spPr>
            <a:xfrm>
              <a:off x="396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4" name="Google Shape;1944;p97"/>
            <p:cNvSpPr/>
            <p:nvPr/>
          </p:nvSpPr>
          <p:spPr>
            <a:xfrm>
              <a:off x="414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5" name="Google Shape;1945;p97"/>
          <p:cNvGrpSpPr/>
          <p:nvPr/>
        </p:nvGrpSpPr>
        <p:grpSpPr>
          <a:xfrm>
            <a:off x="6269642" y="1263859"/>
            <a:ext cx="531877" cy="541610"/>
            <a:chOff x="4440842" y="1087865"/>
            <a:chExt cx="531877" cy="541610"/>
          </a:xfrm>
        </p:grpSpPr>
        <p:grpSp>
          <p:nvGrpSpPr>
            <p:cNvPr id="1946" name="Google Shape;1946;p97"/>
            <p:cNvGrpSpPr/>
            <p:nvPr/>
          </p:nvGrpSpPr>
          <p:grpSpPr>
            <a:xfrm>
              <a:off x="4440842" y="1269475"/>
              <a:ext cx="360000" cy="360000"/>
              <a:chOff x="3963429" y="1269475"/>
              <a:chExt cx="360000" cy="360000"/>
            </a:xfrm>
          </p:grpSpPr>
          <p:sp>
            <p:nvSpPr>
              <p:cNvPr id="1947" name="Google Shape;1947;p97"/>
              <p:cNvSpPr/>
              <p:nvPr/>
            </p:nvSpPr>
            <p:spPr>
              <a:xfrm>
                <a:off x="3963429" y="126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8" name="Google Shape;1948;p97"/>
              <p:cNvSpPr/>
              <p:nvPr/>
            </p:nvSpPr>
            <p:spPr>
              <a:xfrm>
                <a:off x="396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9" name="Google Shape;1949;p97"/>
              <p:cNvSpPr/>
              <p:nvPr/>
            </p:nvSpPr>
            <p:spPr>
              <a:xfrm>
                <a:off x="414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950" name="Google Shape;1950;p97"/>
            <p:cNvSpPr/>
            <p:nvPr/>
          </p:nvSpPr>
          <p:spPr>
            <a:xfrm>
              <a:off x="4440854" y="108786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1" name="Google Shape;1951;p97"/>
            <p:cNvSpPr/>
            <p:nvPr/>
          </p:nvSpPr>
          <p:spPr>
            <a:xfrm>
              <a:off x="479271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52" name="Google Shape;1952;p97"/>
          <p:cNvSpPr txBox="1"/>
          <p:nvPr>
            <p:ph type="body" idx="1"/>
          </p:nvPr>
        </p:nvSpPr>
        <p:spPr>
          <a:xfrm>
            <a:off x="4726201" y="2791825"/>
            <a:ext cx="4093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squares: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Increase by 2 each time/ 2 squares per diagonal minus 1 for first diagonal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953" name="Google Shape;1953;p97"/>
          <p:cNvGraphicFramePr>
            <a:graphicFrameLocks noGrp="1"/>
          </p:cNvGraphicFramePr>
          <p:nvPr/>
        </p:nvGraphicFramePr>
        <p:xfrm>
          <a:off x="4824004" y="188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169275"/>
                <a:gridCol w="403775"/>
                <a:gridCol w="382750"/>
                <a:gridCol w="388500"/>
                <a:gridCol w="380775"/>
                <a:gridCol w="380775"/>
              </a:tblGrid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54" name="Google Shape;1954;p97"/>
          <p:cNvSpPr txBox="1"/>
          <p:nvPr>
            <p:ph type="body" idx="1"/>
          </p:nvPr>
        </p:nvSpPr>
        <p:spPr>
          <a:xfrm>
            <a:off x="4686873" y="3842925"/>
            <a:ext cx="39837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Perimeter: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Increase by 4 each time/ Term number multiplied by 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955" name="Google Shape;1955;p97"/>
          <p:cNvSpPr txBox="1"/>
          <p:nvPr>
            <p:ph type="body" idx="1"/>
          </p:nvPr>
        </p:nvSpPr>
        <p:spPr>
          <a:xfrm>
            <a:off x="382025" y="1221825"/>
            <a:ext cx="302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956" name="Google Shape;1956;p97"/>
          <p:cNvSpPr txBox="1"/>
          <p:nvPr>
            <p:ph type="body" idx="1"/>
          </p:nvPr>
        </p:nvSpPr>
        <p:spPr>
          <a:xfrm>
            <a:off x="4757775" y="1286650"/>
            <a:ext cx="302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0" name="Shape 1960"/>
        <p:cNvGrpSpPr/>
        <p:nvPr/>
      </p:nvGrpSpPr>
      <p:grpSpPr>
        <a:xfrm>
          <a:off x="0" y="0"/>
          <a:ext cx="0" cy="0"/>
        </a:xfrm>
      </p:grpSpPr>
      <p:sp>
        <p:nvSpPr>
          <p:cNvPr id="1961" name="Google Shape;1961;p98"/>
          <p:cNvSpPr txBox="1"/>
          <p:nvPr>
            <p:ph type="body" idx="1"/>
          </p:nvPr>
        </p:nvSpPr>
        <p:spPr>
          <a:xfrm>
            <a:off x="324000" y="605800"/>
            <a:ext cx="8237700" cy="5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For each sequence, fill in the table for the number of squares and perimeter. Describe the rule for both  sequences.</a:t>
            </a:r>
            <a:endParaRPr sz="1800"/>
          </a:p>
        </p:txBody>
      </p:sp>
      <p:sp>
        <p:nvSpPr>
          <p:cNvPr id="1962" name="Google Shape;1962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graphicFrame>
        <p:nvGraphicFramePr>
          <p:cNvPr id="1963" name="Google Shape;1963;p98"/>
          <p:cNvGraphicFramePr>
            <a:graphicFrameLocks noGrp="1"/>
          </p:cNvGraphicFramePr>
          <p:nvPr/>
        </p:nvGraphicFramePr>
        <p:xfrm>
          <a:off x="379054" y="188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169275"/>
                <a:gridCol w="403775"/>
                <a:gridCol w="382750"/>
                <a:gridCol w="388500"/>
                <a:gridCol w="380775"/>
                <a:gridCol w="380775"/>
              </a:tblGrid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64" name="Google Shape;1964;p98"/>
          <p:cNvSpPr txBox="1"/>
          <p:nvPr>
            <p:ph type="body" idx="1"/>
          </p:nvPr>
        </p:nvSpPr>
        <p:spPr>
          <a:xfrm>
            <a:off x="336326" y="2945025"/>
            <a:ext cx="3983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squares: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Increase by 4 each time/ 4 squares per H plus 3 for the start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65" name="Google Shape;1965;p98"/>
          <p:cNvCxnSpPr/>
          <p:nvPr/>
        </p:nvCxnSpPr>
        <p:spPr>
          <a:xfrm flipH="1">
            <a:off x="4576400" y="1219025"/>
            <a:ext cx="0" cy="3601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6" name="Google Shape;1966;p98"/>
          <p:cNvSpPr txBox="1"/>
          <p:nvPr>
            <p:ph type="body" idx="1"/>
          </p:nvPr>
        </p:nvSpPr>
        <p:spPr>
          <a:xfrm>
            <a:off x="336325" y="3932400"/>
            <a:ext cx="3983700" cy="82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Perimeter: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Increase by 8 each time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967" name="Google Shape;1967;p98"/>
          <p:cNvSpPr/>
          <p:nvPr/>
        </p:nvSpPr>
        <p:spPr>
          <a:xfrm>
            <a:off x="5700829" y="1263859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8" name="Google Shape;1968;p98"/>
          <p:cNvGrpSpPr/>
          <p:nvPr/>
        </p:nvGrpSpPr>
        <p:grpSpPr>
          <a:xfrm>
            <a:off x="6097029" y="1263859"/>
            <a:ext cx="360000" cy="360000"/>
            <a:chOff x="3963429" y="1269475"/>
            <a:chExt cx="360000" cy="360000"/>
          </a:xfrm>
        </p:grpSpPr>
        <p:sp>
          <p:nvSpPr>
            <p:cNvPr id="1969" name="Google Shape;1969;p98"/>
            <p:cNvSpPr/>
            <p:nvPr/>
          </p:nvSpPr>
          <p:spPr>
            <a:xfrm>
              <a:off x="3963429" y="126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0" name="Google Shape;1970;p98"/>
            <p:cNvSpPr/>
            <p:nvPr/>
          </p:nvSpPr>
          <p:spPr>
            <a:xfrm>
              <a:off x="396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1" name="Google Shape;1971;p98"/>
            <p:cNvSpPr/>
            <p:nvPr/>
          </p:nvSpPr>
          <p:spPr>
            <a:xfrm>
              <a:off x="414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2" name="Google Shape;1972;p98"/>
          <p:cNvGrpSpPr/>
          <p:nvPr/>
        </p:nvGrpSpPr>
        <p:grpSpPr>
          <a:xfrm>
            <a:off x="6574442" y="1263859"/>
            <a:ext cx="531877" cy="541610"/>
            <a:chOff x="4440842" y="1087865"/>
            <a:chExt cx="531877" cy="541610"/>
          </a:xfrm>
        </p:grpSpPr>
        <p:grpSp>
          <p:nvGrpSpPr>
            <p:cNvPr id="1973" name="Google Shape;1973;p98"/>
            <p:cNvGrpSpPr/>
            <p:nvPr/>
          </p:nvGrpSpPr>
          <p:grpSpPr>
            <a:xfrm>
              <a:off x="4440842" y="1269475"/>
              <a:ext cx="360000" cy="360000"/>
              <a:chOff x="3963429" y="1269475"/>
              <a:chExt cx="360000" cy="360000"/>
            </a:xfrm>
          </p:grpSpPr>
          <p:sp>
            <p:nvSpPr>
              <p:cNvPr id="1974" name="Google Shape;1974;p98"/>
              <p:cNvSpPr/>
              <p:nvPr/>
            </p:nvSpPr>
            <p:spPr>
              <a:xfrm>
                <a:off x="3963429" y="126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5" name="Google Shape;1975;p98"/>
              <p:cNvSpPr/>
              <p:nvPr/>
            </p:nvSpPr>
            <p:spPr>
              <a:xfrm>
                <a:off x="396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6" name="Google Shape;1976;p98"/>
              <p:cNvSpPr/>
              <p:nvPr/>
            </p:nvSpPr>
            <p:spPr>
              <a:xfrm>
                <a:off x="414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977" name="Google Shape;1977;p98"/>
            <p:cNvSpPr/>
            <p:nvPr/>
          </p:nvSpPr>
          <p:spPr>
            <a:xfrm>
              <a:off x="4440854" y="108786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8" name="Google Shape;1978;p98"/>
            <p:cNvSpPr/>
            <p:nvPr/>
          </p:nvSpPr>
          <p:spPr>
            <a:xfrm>
              <a:off x="479271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9" name="Google Shape;1979;p98"/>
          <p:cNvSpPr txBox="1"/>
          <p:nvPr>
            <p:ph type="body" idx="1"/>
          </p:nvPr>
        </p:nvSpPr>
        <p:spPr>
          <a:xfrm>
            <a:off x="4726201" y="2791825"/>
            <a:ext cx="4093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squares: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Increase by 2 , then 3 then 4…/ Add term number on to the previous term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980" name="Google Shape;1980;p98"/>
          <p:cNvGraphicFramePr>
            <a:graphicFrameLocks noGrp="1"/>
          </p:cNvGraphicFramePr>
          <p:nvPr/>
        </p:nvGraphicFramePr>
        <p:xfrm>
          <a:off x="4824004" y="188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{2CA0D83E-311E-4E5F-8FFE-C6DC9FAF1DE0}</a:tableStyleId>
              </a:tblPr>
              <a:tblGrid>
                <a:gridCol w="1169275"/>
                <a:gridCol w="403775"/>
                <a:gridCol w="382750"/>
                <a:gridCol w="388500"/>
                <a:gridCol w="380775"/>
                <a:gridCol w="380775"/>
              </a:tblGrid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81" name="Google Shape;1981;p98"/>
          <p:cNvSpPr txBox="1"/>
          <p:nvPr>
            <p:ph type="body" idx="1"/>
          </p:nvPr>
        </p:nvSpPr>
        <p:spPr>
          <a:xfrm>
            <a:off x="4686873" y="3842925"/>
            <a:ext cx="39837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Rule for Perimeter: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Increase by 4 each time/ Term number multiplied by 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982" name="Google Shape;1982;p98"/>
          <p:cNvSpPr/>
          <p:nvPr/>
        </p:nvSpPr>
        <p:spPr>
          <a:xfrm>
            <a:off x="6750392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98"/>
          <p:cNvSpPr/>
          <p:nvPr/>
        </p:nvSpPr>
        <p:spPr>
          <a:xfrm>
            <a:off x="98865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98"/>
          <p:cNvSpPr/>
          <p:nvPr/>
        </p:nvSpPr>
        <p:spPr>
          <a:xfrm>
            <a:off x="988654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98"/>
          <p:cNvSpPr/>
          <p:nvPr/>
        </p:nvSpPr>
        <p:spPr>
          <a:xfrm>
            <a:off x="988654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98"/>
          <p:cNvSpPr/>
          <p:nvPr/>
        </p:nvSpPr>
        <p:spPr>
          <a:xfrm>
            <a:off x="2294404" y="1444659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98"/>
          <p:cNvSpPr/>
          <p:nvPr/>
        </p:nvSpPr>
        <p:spPr>
          <a:xfrm>
            <a:off x="116865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98"/>
          <p:cNvSpPr/>
          <p:nvPr/>
        </p:nvSpPr>
        <p:spPr>
          <a:xfrm>
            <a:off x="134865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98"/>
          <p:cNvSpPr/>
          <p:nvPr/>
        </p:nvSpPr>
        <p:spPr>
          <a:xfrm>
            <a:off x="1348654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98"/>
          <p:cNvSpPr/>
          <p:nvPr/>
        </p:nvSpPr>
        <p:spPr>
          <a:xfrm>
            <a:off x="1348654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98"/>
          <p:cNvSpPr/>
          <p:nvPr/>
        </p:nvSpPr>
        <p:spPr>
          <a:xfrm>
            <a:off x="175440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98"/>
          <p:cNvSpPr/>
          <p:nvPr/>
        </p:nvSpPr>
        <p:spPr>
          <a:xfrm>
            <a:off x="1754404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3" name="Google Shape;1993;p98"/>
          <p:cNvSpPr/>
          <p:nvPr/>
        </p:nvSpPr>
        <p:spPr>
          <a:xfrm>
            <a:off x="1754404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98"/>
          <p:cNvSpPr/>
          <p:nvPr/>
        </p:nvSpPr>
        <p:spPr>
          <a:xfrm>
            <a:off x="193440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98"/>
          <p:cNvSpPr/>
          <p:nvPr/>
        </p:nvSpPr>
        <p:spPr>
          <a:xfrm>
            <a:off x="211440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98"/>
          <p:cNvSpPr/>
          <p:nvPr/>
        </p:nvSpPr>
        <p:spPr>
          <a:xfrm>
            <a:off x="2114404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98"/>
          <p:cNvSpPr/>
          <p:nvPr/>
        </p:nvSpPr>
        <p:spPr>
          <a:xfrm>
            <a:off x="2114404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98"/>
          <p:cNvSpPr/>
          <p:nvPr/>
        </p:nvSpPr>
        <p:spPr>
          <a:xfrm>
            <a:off x="2474404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98"/>
          <p:cNvSpPr/>
          <p:nvPr/>
        </p:nvSpPr>
        <p:spPr>
          <a:xfrm>
            <a:off x="2474404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98"/>
          <p:cNvSpPr/>
          <p:nvPr/>
        </p:nvSpPr>
        <p:spPr>
          <a:xfrm>
            <a:off x="2474404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98"/>
          <p:cNvSpPr/>
          <p:nvPr/>
        </p:nvSpPr>
        <p:spPr>
          <a:xfrm>
            <a:off x="3447329" y="1444659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98"/>
          <p:cNvSpPr/>
          <p:nvPr/>
        </p:nvSpPr>
        <p:spPr>
          <a:xfrm>
            <a:off x="2907329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98"/>
          <p:cNvSpPr/>
          <p:nvPr/>
        </p:nvSpPr>
        <p:spPr>
          <a:xfrm>
            <a:off x="2907329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98"/>
          <p:cNvSpPr/>
          <p:nvPr/>
        </p:nvSpPr>
        <p:spPr>
          <a:xfrm>
            <a:off x="2907329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98"/>
          <p:cNvSpPr/>
          <p:nvPr/>
        </p:nvSpPr>
        <p:spPr>
          <a:xfrm>
            <a:off x="3087329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98"/>
          <p:cNvSpPr/>
          <p:nvPr/>
        </p:nvSpPr>
        <p:spPr>
          <a:xfrm>
            <a:off x="3267329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98"/>
          <p:cNvSpPr/>
          <p:nvPr/>
        </p:nvSpPr>
        <p:spPr>
          <a:xfrm>
            <a:off x="3267329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8" name="Google Shape;2008;p98"/>
          <p:cNvSpPr/>
          <p:nvPr/>
        </p:nvSpPr>
        <p:spPr>
          <a:xfrm>
            <a:off x="3267329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9" name="Google Shape;2009;p98"/>
          <p:cNvSpPr/>
          <p:nvPr/>
        </p:nvSpPr>
        <p:spPr>
          <a:xfrm>
            <a:off x="3627329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98"/>
          <p:cNvSpPr/>
          <p:nvPr/>
        </p:nvSpPr>
        <p:spPr>
          <a:xfrm>
            <a:off x="3627329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98"/>
          <p:cNvSpPr/>
          <p:nvPr/>
        </p:nvSpPr>
        <p:spPr>
          <a:xfrm>
            <a:off x="3627329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98"/>
          <p:cNvSpPr/>
          <p:nvPr/>
        </p:nvSpPr>
        <p:spPr>
          <a:xfrm>
            <a:off x="3803219" y="1444659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3" name="Google Shape;2013;p98"/>
          <p:cNvSpPr/>
          <p:nvPr/>
        </p:nvSpPr>
        <p:spPr>
          <a:xfrm>
            <a:off x="3983219" y="144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4" name="Google Shape;2014;p98"/>
          <p:cNvSpPr/>
          <p:nvPr/>
        </p:nvSpPr>
        <p:spPr>
          <a:xfrm>
            <a:off x="3983219" y="126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5" name="Google Shape;2015;p98"/>
          <p:cNvSpPr/>
          <p:nvPr/>
        </p:nvSpPr>
        <p:spPr>
          <a:xfrm>
            <a:off x="3983219" y="1624671"/>
            <a:ext cx="180000" cy="1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6" name="Google Shape;2016;p98"/>
          <p:cNvSpPr txBox="1"/>
          <p:nvPr>
            <p:ph type="body" idx="1"/>
          </p:nvPr>
        </p:nvSpPr>
        <p:spPr>
          <a:xfrm>
            <a:off x="382025" y="1237554"/>
            <a:ext cx="302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2017" name="Google Shape;2017;p98"/>
          <p:cNvSpPr txBox="1"/>
          <p:nvPr>
            <p:ph type="body" idx="1"/>
          </p:nvPr>
        </p:nvSpPr>
        <p:spPr>
          <a:xfrm>
            <a:off x="4801125" y="1237554"/>
            <a:ext cx="302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21" name="Shape 2021"/>
        <p:cNvGrpSpPr/>
        <p:nvPr/>
      </p:nvGrpSpPr>
      <p:grpSpPr>
        <a:xfrm>
          <a:off x="0" y="0"/>
          <a:ext cx="0" cy="0"/>
        </a:xfrm>
      </p:grpSpPr>
      <p:sp>
        <p:nvSpPr>
          <p:cNvPr id="2022" name="Google Shape;2022;p9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sp>
        <p:nvSpPr>
          <p:cNvPr id="2023" name="Google Shape;2023;p99"/>
          <p:cNvSpPr txBox="1"/>
          <p:nvPr>
            <p:ph type="body" idx="1"/>
          </p:nvPr>
        </p:nvSpPr>
        <p:spPr>
          <a:xfrm>
            <a:off x="324000" y="2892900"/>
            <a:ext cx="8237700" cy="94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To calculate the number of chairs needed, the caretaker multiplies the number of tables by 6. Which way are they planning on arranging the tables?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Arrangement 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4" name="Google Shape;2024;p99"/>
          <p:cNvSpPr txBox="1"/>
          <p:nvPr>
            <p:ph type="body" idx="1"/>
          </p:nvPr>
        </p:nvSpPr>
        <p:spPr>
          <a:xfrm>
            <a:off x="324000" y="3982800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For each arrangement how many more chairs can be added if an extra table is added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 - 2 or 4 depending which way round, B - 2, C - 4, D - 6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5" name="Google Shape;2025;p99"/>
          <p:cNvSpPr txBox="1"/>
          <p:nvPr>
            <p:ph type="body" idx="1"/>
          </p:nvPr>
        </p:nvSpPr>
        <p:spPr>
          <a:xfrm>
            <a:off x="324000" y="753250"/>
            <a:ext cx="8750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In a school dining hall, 6 chairs (circles) fit around one rectangular table </a:t>
            </a:r>
            <a:endParaRPr sz="1800"/>
          </a:p>
        </p:txBody>
      </p:sp>
      <p:sp>
        <p:nvSpPr>
          <p:cNvPr id="2026" name="Google Shape;2026;p99"/>
          <p:cNvSpPr txBox="1"/>
          <p:nvPr>
            <p:ph type="body" idx="1"/>
          </p:nvPr>
        </p:nvSpPr>
        <p:spPr>
          <a:xfrm>
            <a:off x="324000" y="1140250"/>
            <a:ext cx="4670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Below are 4 ways to arrange 4 tables </a:t>
            </a:r>
            <a:endParaRPr sz="1800"/>
          </a:p>
        </p:txBody>
      </p:sp>
      <p:sp>
        <p:nvSpPr>
          <p:cNvPr id="2027" name="Google Shape;2027;p99"/>
          <p:cNvSpPr/>
          <p:nvPr/>
        </p:nvSpPr>
        <p:spPr>
          <a:xfrm>
            <a:off x="7702231" y="12003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99"/>
          <p:cNvSpPr/>
          <p:nvPr/>
        </p:nvSpPr>
        <p:spPr>
          <a:xfrm>
            <a:off x="7815551" y="1036545"/>
            <a:ext cx="122100" cy="1221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99"/>
          <p:cNvSpPr/>
          <p:nvPr/>
        </p:nvSpPr>
        <p:spPr>
          <a:xfrm>
            <a:off x="7815551" y="1590891"/>
            <a:ext cx="122100" cy="1221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99"/>
          <p:cNvSpPr/>
          <p:nvPr/>
        </p:nvSpPr>
        <p:spPr>
          <a:xfrm>
            <a:off x="7538462" y="1313672"/>
            <a:ext cx="122100" cy="1221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1" name="Google Shape;2031;p99"/>
          <p:cNvSpPr/>
          <p:nvPr/>
        </p:nvSpPr>
        <p:spPr>
          <a:xfrm>
            <a:off x="8133377" y="1036516"/>
            <a:ext cx="122100" cy="1221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99"/>
          <p:cNvSpPr/>
          <p:nvPr/>
        </p:nvSpPr>
        <p:spPr>
          <a:xfrm>
            <a:off x="8133377" y="1590770"/>
            <a:ext cx="122100" cy="1221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99"/>
          <p:cNvSpPr/>
          <p:nvPr/>
        </p:nvSpPr>
        <p:spPr>
          <a:xfrm>
            <a:off x="8439616" y="1313643"/>
            <a:ext cx="122100" cy="1221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99"/>
          <p:cNvSpPr/>
          <p:nvPr/>
        </p:nvSpPr>
        <p:spPr>
          <a:xfrm>
            <a:off x="414631" y="16199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99"/>
          <p:cNvSpPr/>
          <p:nvPr/>
        </p:nvSpPr>
        <p:spPr>
          <a:xfrm>
            <a:off x="414631" y="19685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99"/>
          <p:cNvSpPr/>
          <p:nvPr/>
        </p:nvSpPr>
        <p:spPr>
          <a:xfrm>
            <a:off x="1113297" y="16199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7" name="Google Shape;2037;p99"/>
          <p:cNvSpPr/>
          <p:nvPr/>
        </p:nvSpPr>
        <p:spPr>
          <a:xfrm>
            <a:off x="1113297" y="19685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8" name="Google Shape;2038;p99"/>
          <p:cNvSpPr/>
          <p:nvPr/>
        </p:nvSpPr>
        <p:spPr>
          <a:xfrm>
            <a:off x="2043772" y="14675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99"/>
          <p:cNvSpPr/>
          <p:nvPr/>
        </p:nvSpPr>
        <p:spPr>
          <a:xfrm>
            <a:off x="2043772" y="18161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0" name="Google Shape;2040;p99"/>
          <p:cNvSpPr/>
          <p:nvPr/>
        </p:nvSpPr>
        <p:spPr>
          <a:xfrm>
            <a:off x="2043772" y="21647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1" name="Google Shape;2041;p99"/>
          <p:cNvSpPr/>
          <p:nvPr/>
        </p:nvSpPr>
        <p:spPr>
          <a:xfrm>
            <a:off x="2043772" y="25133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99"/>
          <p:cNvSpPr/>
          <p:nvPr/>
        </p:nvSpPr>
        <p:spPr>
          <a:xfrm>
            <a:off x="3653422" y="190824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99"/>
          <p:cNvSpPr/>
          <p:nvPr/>
        </p:nvSpPr>
        <p:spPr>
          <a:xfrm>
            <a:off x="2957722" y="190824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99"/>
          <p:cNvSpPr/>
          <p:nvPr/>
        </p:nvSpPr>
        <p:spPr>
          <a:xfrm>
            <a:off x="5044822" y="190824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99"/>
          <p:cNvSpPr/>
          <p:nvPr/>
        </p:nvSpPr>
        <p:spPr>
          <a:xfrm>
            <a:off x="4349122" y="190824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6" name="Google Shape;2046;p99"/>
          <p:cNvSpPr/>
          <p:nvPr/>
        </p:nvSpPr>
        <p:spPr>
          <a:xfrm>
            <a:off x="6057447" y="175584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99"/>
          <p:cNvSpPr/>
          <p:nvPr/>
        </p:nvSpPr>
        <p:spPr>
          <a:xfrm>
            <a:off x="6964859" y="1754898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99"/>
          <p:cNvSpPr/>
          <p:nvPr/>
        </p:nvSpPr>
        <p:spPr>
          <a:xfrm>
            <a:off x="6057447" y="2329323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99"/>
          <p:cNvSpPr/>
          <p:nvPr/>
        </p:nvSpPr>
        <p:spPr>
          <a:xfrm>
            <a:off x="6964859" y="2328373"/>
            <a:ext cx="695700" cy="348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99"/>
          <p:cNvSpPr txBox="1"/>
          <p:nvPr/>
        </p:nvSpPr>
        <p:spPr>
          <a:xfrm>
            <a:off x="456150" y="2359575"/>
            <a:ext cx="385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99"/>
          <p:cNvSpPr txBox="1"/>
          <p:nvPr/>
        </p:nvSpPr>
        <p:spPr>
          <a:xfrm>
            <a:off x="2787050" y="2544600"/>
            <a:ext cx="385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99"/>
          <p:cNvSpPr txBox="1"/>
          <p:nvPr/>
        </p:nvSpPr>
        <p:spPr>
          <a:xfrm>
            <a:off x="2974250" y="1588150"/>
            <a:ext cx="385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99"/>
          <p:cNvSpPr txBox="1"/>
          <p:nvPr/>
        </p:nvSpPr>
        <p:spPr>
          <a:xfrm>
            <a:off x="6064050" y="1371525"/>
            <a:ext cx="385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57" name="Shape 2057"/>
        <p:cNvGrpSpPr/>
        <p:nvPr/>
      </p:nvGrpSpPr>
      <p:grpSpPr>
        <a:xfrm>
          <a:off x="0" y="0"/>
          <a:ext cx="0" cy="0"/>
        </a:xfrm>
      </p:grpSpPr>
      <p:sp>
        <p:nvSpPr>
          <p:cNvPr id="2058" name="Google Shape;2058;p100"/>
          <p:cNvSpPr txBox="1"/>
          <p:nvPr>
            <p:ph type="body" idx="1"/>
          </p:nvPr>
        </p:nvSpPr>
        <p:spPr>
          <a:xfrm>
            <a:off x="324000" y="759300"/>
            <a:ext cx="8750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In a school dining hall, 6 chairs (circles) fit around one rectangular table </a:t>
            </a:r>
            <a:endParaRPr sz="1800"/>
          </a:p>
        </p:txBody>
      </p:sp>
      <p:sp>
        <p:nvSpPr>
          <p:cNvPr id="2059" name="Google Shape;2059;p10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patterns in pictorial sequences</a:t>
            </a:r>
            <a:endParaRPr/>
          </a:p>
        </p:txBody>
      </p:sp>
      <p:sp>
        <p:nvSpPr>
          <p:cNvPr id="2060" name="Google Shape;2060;p100"/>
          <p:cNvSpPr txBox="1"/>
          <p:nvPr>
            <p:ph type="body" idx="1"/>
          </p:nvPr>
        </p:nvSpPr>
        <p:spPr>
          <a:xfrm>
            <a:off x="324000" y="1140250"/>
            <a:ext cx="4670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tables are arranged like this </a:t>
            </a:r>
            <a:endParaRPr sz="1800"/>
          </a:p>
        </p:txBody>
      </p:sp>
      <p:sp>
        <p:nvSpPr>
          <p:cNvPr id="2061" name="Google Shape;2061;p100"/>
          <p:cNvSpPr txBox="1"/>
          <p:nvPr>
            <p:ph type="body" idx="1"/>
          </p:nvPr>
        </p:nvSpPr>
        <p:spPr>
          <a:xfrm>
            <a:off x="324000" y="2594350"/>
            <a:ext cx="4914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How many chairs will fit round 4 tables?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2" name="Google Shape;2062;p100"/>
          <p:cNvSpPr txBox="1"/>
          <p:nvPr>
            <p:ph type="body" idx="1"/>
          </p:nvPr>
        </p:nvSpPr>
        <p:spPr>
          <a:xfrm>
            <a:off x="292525" y="3068525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What is the relationship between the number of chairs and the number of tables?</a:t>
            </a:r>
            <a:endParaRPr sz="1800"/>
          </a:p>
        </p:txBody>
      </p:sp>
      <p:sp>
        <p:nvSpPr>
          <p:cNvPr id="2063" name="Google Shape;2063;p100"/>
          <p:cNvSpPr txBox="1"/>
          <p:nvPr>
            <p:ph type="body" idx="1"/>
          </p:nvPr>
        </p:nvSpPr>
        <p:spPr>
          <a:xfrm>
            <a:off x="324000" y="3752925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How many chairs can fit round 10 tables?</a:t>
            </a:r>
            <a:endParaRPr sz="1800"/>
          </a:p>
        </p:txBody>
      </p:sp>
      <p:grpSp>
        <p:nvGrpSpPr>
          <p:cNvPr id="2064" name="Google Shape;2064;p100"/>
          <p:cNvGrpSpPr/>
          <p:nvPr/>
        </p:nvGrpSpPr>
        <p:grpSpPr>
          <a:xfrm>
            <a:off x="7538462" y="1036516"/>
            <a:ext cx="1023248" cy="676469"/>
            <a:chOff x="6692000" y="1100703"/>
            <a:chExt cx="1196781" cy="791192"/>
          </a:xfrm>
        </p:grpSpPr>
        <p:sp>
          <p:nvSpPr>
            <p:cNvPr id="2065" name="Google Shape;2065;p100"/>
            <p:cNvSpPr/>
            <p:nvPr/>
          </p:nvSpPr>
          <p:spPr>
            <a:xfrm>
              <a:off x="6883542" y="1292378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6" name="Google Shape;2066;p100"/>
            <p:cNvSpPr/>
            <p:nvPr/>
          </p:nvSpPr>
          <p:spPr>
            <a:xfrm>
              <a:off x="7016080" y="1100736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7" name="Google Shape;2067;p100"/>
            <p:cNvSpPr/>
            <p:nvPr/>
          </p:nvSpPr>
          <p:spPr>
            <a:xfrm>
              <a:off x="7016080" y="1749094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8" name="Google Shape;2068;p100"/>
            <p:cNvSpPr/>
            <p:nvPr/>
          </p:nvSpPr>
          <p:spPr>
            <a:xfrm>
              <a:off x="6692000" y="1424861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9" name="Google Shape;2069;p100"/>
            <p:cNvSpPr/>
            <p:nvPr/>
          </p:nvSpPr>
          <p:spPr>
            <a:xfrm>
              <a:off x="7387806" y="1100703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0" name="Google Shape;2070;p100"/>
            <p:cNvSpPr/>
            <p:nvPr/>
          </p:nvSpPr>
          <p:spPr>
            <a:xfrm>
              <a:off x="7387806" y="1748953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1" name="Google Shape;2071;p100"/>
            <p:cNvSpPr/>
            <p:nvPr/>
          </p:nvSpPr>
          <p:spPr>
            <a:xfrm>
              <a:off x="7745981" y="1424828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2" name="Google Shape;2072;p100"/>
          <p:cNvGrpSpPr/>
          <p:nvPr/>
        </p:nvGrpSpPr>
        <p:grpSpPr>
          <a:xfrm>
            <a:off x="384534" y="1495734"/>
            <a:ext cx="4187475" cy="625430"/>
            <a:chOff x="402650" y="1521199"/>
            <a:chExt cx="5297919" cy="791283"/>
          </a:xfrm>
        </p:grpSpPr>
        <p:sp>
          <p:nvSpPr>
            <p:cNvPr id="2073" name="Google Shape;2073;p100"/>
            <p:cNvSpPr/>
            <p:nvPr/>
          </p:nvSpPr>
          <p:spPr>
            <a:xfrm>
              <a:off x="726730" y="1521311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4" name="Google Shape;2074;p100"/>
            <p:cNvSpPr/>
            <p:nvPr/>
          </p:nvSpPr>
          <p:spPr>
            <a:xfrm>
              <a:off x="726730" y="2169669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5" name="Google Shape;2075;p100"/>
            <p:cNvSpPr/>
            <p:nvPr/>
          </p:nvSpPr>
          <p:spPr>
            <a:xfrm>
              <a:off x="402650" y="1845490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6" name="Google Shape;2076;p100"/>
            <p:cNvSpPr/>
            <p:nvPr/>
          </p:nvSpPr>
          <p:spPr>
            <a:xfrm>
              <a:off x="1134530" y="1521274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7" name="Google Shape;2077;p100"/>
            <p:cNvSpPr/>
            <p:nvPr/>
          </p:nvSpPr>
          <p:spPr>
            <a:xfrm>
              <a:off x="1134530" y="2169632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8" name="Google Shape;2078;p100"/>
            <p:cNvSpPr/>
            <p:nvPr/>
          </p:nvSpPr>
          <p:spPr>
            <a:xfrm>
              <a:off x="1542330" y="1521199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9" name="Google Shape;2079;p100"/>
            <p:cNvSpPr/>
            <p:nvPr/>
          </p:nvSpPr>
          <p:spPr>
            <a:xfrm>
              <a:off x="1542330" y="2169557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0" name="Google Shape;2080;p100"/>
            <p:cNvSpPr/>
            <p:nvPr/>
          </p:nvSpPr>
          <p:spPr>
            <a:xfrm>
              <a:off x="1950131" y="1521353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1" name="Google Shape;2081;p100"/>
            <p:cNvSpPr/>
            <p:nvPr/>
          </p:nvSpPr>
          <p:spPr>
            <a:xfrm>
              <a:off x="594192" y="17130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2" name="Google Shape;2082;p100"/>
            <p:cNvSpPr/>
            <p:nvPr/>
          </p:nvSpPr>
          <p:spPr>
            <a:xfrm>
              <a:off x="1407792" y="1712928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3" name="Google Shape;2083;p100"/>
            <p:cNvSpPr/>
            <p:nvPr/>
          </p:nvSpPr>
          <p:spPr>
            <a:xfrm>
              <a:off x="1950131" y="2169403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4" name="Google Shape;2084;p100"/>
            <p:cNvSpPr/>
            <p:nvPr/>
          </p:nvSpPr>
          <p:spPr>
            <a:xfrm>
              <a:off x="2282181" y="1845565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5" name="Google Shape;2085;p100"/>
            <p:cNvSpPr/>
            <p:nvPr/>
          </p:nvSpPr>
          <p:spPr>
            <a:xfrm>
              <a:off x="3189455" y="1521324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6" name="Google Shape;2086;p100"/>
            <p:cNvSpPr/>
            <p:nvPr/>
          </p:nvSpPr>
          <p:spPr>
            <a:xfrm>
              <a:off x="3189455" y="2169682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7" name="Google Shape;2087;p100"/>
            <p:cNvSpPr/>
            <p:nvPr/>
          </p:nvSpPr>
          <p:spPr>
            <a:xfrm>
              <a:off x="2865375" y="1845503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8" name="Google Shape;2088;p100"/>
            <p:cNvSpPr/>
            <p:nvPr/>
          </p:nvSpPr>
          <p:spPr>
            <a:xfrm>
              <a:off x="3597255" y="1521286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9" name="Google Shape;2089;p100"/>
            <p:cNvSpPr/>
            <p:nvPr/>
          </p:nvSpPr>
          <p:spPr>
            <a:xfrm>
              <a:off x="3597255" y="2169644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0" name="Google Shape;2090;p100"/>
            <p:cNvSpPr/>
            <p:nvPr/>
          </p:nvSpPr>
          <p:spPr>
            <a:xfrm>
              <a:off x="4005055" y="1521211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1" name="Google Shape;2091;p100"/>
            <p:cNvSpPr/>
            <p:nvPr/>
          </p:nvSpPr>
          <p:spPr>
            <a:xfrm>
              <a:off x="4005055" y="2169569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2" name="Google Shape;2092;p100"/>
            <p:cNvSpPr/>
            <p:nvPr/>
          </p:nvSpPr>
          <p:spPr>
            <a:xfrm>
              <a:off x="4412856" y="1521365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3" name="Google Shape;2093;p100"/>
            <p:cNvSpPr/>
            <p:nvPr/>
          </p:nvSpPr>
          <p:spPr>
            <a:xfrm>
              <a:off x="3056917" y="1713053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4" name="Google Shape;2094;p100"/>
            <p:cNvSpPr/>
            <p:nvPr/>
          </p:nvSpPr>
          <p:spPr>
            <a:xfrm>
              <a:off x="3870517" y="17129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5" name="Google Shape;2095;p100"/>
            <p:cNvSpPr/>
            <p:nvPr/>
          </p:nvSpPr>
          <p:spPr>
            <a:xfrm>
              <a:off x="4412856" y="2169415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6" name="Google Shape;2096;p100"/>
            <p:cNvSpPr/>
            <p:nvPr/>
          </p:nvSpPr>
          <p:spPr>
            <a:xfrm>
              <a:off x="5557768" y="1845578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7" name="Google Shape;2097;p100"/>
            <p:cNvSpPr/>
            <p:nvPr/>
          </p:nvSpPr>
          <p:spPr>
            <a:xfrm>
              <a:off x="4813205" y="1521211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8" name="Google Shape;2098;p100"/>
            <p:cNvSpPr/>
            <p:nvPr/>
          </p:nvSpPr>
          <p:spPr>
            <a:xfrm>
              <a:off x="4813205" y="2169569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9" name="Google Shape;2099;p100"/>
            <p:cNvSpPr/>
            <p:nvPr/>
          </p:nvSpPr>
          <p:spPr>
            <a:xfrm>
              <a:off x="5221006" y="1521365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0" name="Google Shape;2100;p100"/>
            <p:cNvSpPr/>
            <p:nvPr/>
          </p:nvSpPr>
          <p:spPr>
            <a:xfrm>
              <a:off x="4678667" y="17129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1" name="Google Shape;2101;p100"/>
            <p:cNvSpPr/>
            <p:nvPr/>
          </p:nvSpPr>
          <p:spPr>
            <a:xfrm>
              <a:off x="5221006" y="2169415"/>
              <a:ext cx="142800" cy="1428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2" name="Google Shape;2102;p100"/>
          <p:cNvSpPr txBox="1"/>
          <p:nvPr>
            <p:ph type="body" idx="1"/>
          </p:nvPr>
        </p:nvSpPr>
        <p:spPr>
          <a:xfrm>
            <a:off x="324000" y="4221075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Jacob has 25 classmates. How many tables are needed so all 26 of them can have a chair. </a:t>
            </a:r>
            <a:endParaRPr sz="1800"/>
          </a:p>
        </p:txBody>
      </p:sp>
      <p:sp>
        <p:nvSpPr>
          <p:cNvPr id="2103" name="Google Shape;2103;p100"/>
          <p:cNvSpPr txBox="1"/>
          <p:nvPr>
            <p:ph type="body" idx="1"/>
          </p:nvPr>
        </p:nvSpPr>
        <p:spPr>
          <a:xfrm>
            <a:off x="5163750" y="2594350"/>
            <a:ext cx="663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r>
              <a:rPr lang="en-GB" sz="1800"/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4" name="Google Shape;2104;p100"/>
          <p:cNvSpPr txBox="1"/>
          <p:nvPr>
            <p:ph type="body" idx="1"/>
          </p:nvPr>
        </p:nvSpPr>
        <p:spPr>
          <a:xfrm>
            <a:off x="1147875" y="3344450"/>
            <a:ext cx="6803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table can have 4 chairs plus 2 for the ends </a:t>
            </a:r>
            <a:r>
              <a:rPr lang="en-GB" sz="1800"/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5" name="Google Shape;2105;p100"/>
          <p:cNvSpPr txBox="1"/>
          <p:nvPr>
            <p:ph type="body" idx="1"/>
          </p:nvPr>
        </p:nvSpPr>
        <p:spPr>
          <a:xfrm>
            <a:off x="5238000" y="3752925"/>
            <a:ext cx="401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 </a:t>
            </a:r>
            <a:r>
              <a:rPr lang="en-GB" sz="1800"/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6" name="Google Shape;2106;p100"/>
          <p:cNvSpPr txBox="1"/>
          <p:nvPr>
            <p:ph type="body" idx="1"/>
          </p:nvPr>
        </p:nvSpPr>
        <p:spPr>
          <a:xfrm>
            <a:off x="2323175" y="4525475"/>
            <a:ext cx="3654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 tables  </a:t>
            </a:r>
            <a:r>
              <a:rPr lang="en-GB" sz="1800"/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0" name="Shape 2110"/>
        <p:cNvGrpSpPr/>
        <p:nvPr/>
      </p:nvGrpSpPr>
      <p:grpSpPr>
        <a:xfrm>
          <a:off x="0" y="0"/>
          <a:ext cx="0" cy="0"/>
        </a:xfrm>
      </p:grpSpPr>
      <p:sp>
        <p:nvSpPr>
          <p:cNvPr id="2111" name="Google Shape;2111;p101"/>
          <p:cNvSpPr txBox="1"/>
          <p:nvPr>
            <p:ph type="body" idx="1"/>
          </p:nvPr>
        </p:nvSpPr>
        <p:spPr>
          <a:xfrm>
            <a:off x="324000" y="867675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A pattern of objects can be made by following a rule.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Describing the rule in words can help find the next pattern.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Each value or pattern in a sequence is called a </a:t>
            </a:r>
            <a:r>
              <a:rPr lang="en-GB" sz="2000" b="1"/>
              <a:t>term</a:t>
            </a:r>
            <a:r>
              <a:rPr lang="en-GB" sz="2000"/>
              <a:t>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Writing the </a:t>
            </a:r>
            <a:r>
              <a:rPr lang="en-GB" sz="2000" b="1"/>
              <a:t>terms</a:t>
            </a:r>
            <a:r>
              <a:rPr lang="en-GB" sz="2000"/>
              <a:t> as numerical values can help spot patterns in pictorial sequences.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2112" name="Google Shape;2112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Formalising a sequence</a:t>
            </a:r>
            <a:endParaRPr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6" name="Shape 2116"/>
        <p:cNvGrpSpPr/>
        <p:nvPr/>
      </p:nvGrpSpPr>
      <p:grpSpPr>
        <a:xfrm>
          <a:off x="0" y="0"/>
          <a:ext cx="0" cy="0"/>
        </a:xfrm>
      </p:grpSpPr>
      <p:sp>
        <p:nvSpPr>
          <p:cNvPr id="2117" name="Google Shape;2117;p102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18" name="Google Shape;2118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252</Paragraphs>
  <Slides>39</Slides>
  <Notes>39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baseType="lpstr" size="47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Formalising a sequence</vt:lpstr>
      <vt:lpstr>PowerPoint Presentation</vt:lpstr>
      <vt:lpstr>PowerPoint Presentation</vt:lpstr>
      <vt:lpstr>PowerPoint Presentation</vt:lpstr>
      <vt:lpstr>PowerPoint Presentation</vt:lpstr>
      <vt:lpstr>Pictorial sequences</vt:lpstr>
      <vt:lpstr>Pictorial sequences</vt:lpstr>
      <vt:lpstr>Pictorial sequences</vt:lpstr>
      <vt:lpstr>Pictorial sequences</vt:lpstr>
      <vt:lpstr>Pictorial sequences</vt:lpstr>
      <vt:lpstr>Pictorial sequences</vt:lpstr>
      <vt:lpstr>Pictorial sequences</vt:lpstr>
      <vt:lpstr>Pictorial sequences</vt:lpstr>
      <vt:lpstr>Pictorial sequences</vt:lpstr>
      <vt:lpstr>Pictorial sequences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Sequences of diagrams</vt:lpstr>
      <vt:lpstr>Describing patterns in pictorial sequences</vt:lpstr>
      <vt:lpstr>Describing patterns in pictorial sequences</vt:lpstr>
      <vt:lpstr>Describing patterns in pictorial sequences</vt:lpstr>
      <vt:lpstr>Describing patterns in pictorial sequences</vt:lpstr>
      <vt:lpstr>Describing patterns in pictorial sequences</vt:lpstr>
      <vt:lpstr>Describing patterns in pictorial sequences</vt:lpstr>
      <vt:lpstr>Describing patterns in pictorial sequences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Formalising a sequence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2023-12-08T09:35:25.526</cp:lastPrinted>
  <dcterms:created xsi:type="dcterms:W3CDTF">2023-12-08T09:35:25Z</dcterms:created>
  <dcterms:modified xsi:type="dcterms:W3CDTF">2023-12-08T09:32:54Z</dcterms:modified>
</cp:coreProperties>
</file>