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9144000" cy="5143500"/>
  <p:notesSz cx="6858000" cy="9144000"/>
  <p:embeddedFontLst>
    <p:embeddedFont>
      <p:font typeface="Lexend" panose="00000000000000000000"/>
      <p:regular r:id="rId48"/>
    </p:embeddedFont>
    <p:embeddedFont>
      <p:font typeface="Lexend Medium" panose="00000000000000000000"/>
      <p:regular r:id="rId49"/>
    </p:embeddedFont>
    <p:embeddedFont>
      <p:font typeface="Kalam" panose="02000000000000000000"/>
      <p:regular r:id="rId50"/>
    </p:embeddedFont>
    <p:embeddedFont>
      <p:font typeface="Lexend Light" panose="00000000000000000000"/>
      <p:regular r:id="rId51"/>
    </p:embeddedFont>
  </p:embeddedFontLst>
  <p:custDataLst>
    <p:tags r:id="rId4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6E1FF72A-8528-4BD9-A9AC-8E4AE6456878}">
  <a:tblStyle styleId="{6E1FF72A-8528-4BD9-A9AC-8E4AE64568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slide" Target="slides/slide43.xml" /><Relationship Id="rId46" Type="http://schemas.openxmlformats.org/officeDocument/2006/relationships/slide" Target="slides/slide44.xml" /><Relationship Id="rId47" Type="http://schemas.openxmlformats.org/officeDocument/2006/relationships/tags" Target="tags/tag1.xml" /><Relationship Id="rId48" Type="http://schemas.openxmlformats.org/officeDocument/2006/relationships/font" Target="fonts/font1.fntdata" /><Relationship Id="rId49" Type="http://schemas.openxmlformats.org/officeDocument/2006/relationships/font" Target="fonts/font2.fntdata" /><Relationship Id="rId5" Type="http://schemas.openxmlformats.org/officeDocument/2006/relationships/slide" Target="slides/slide3.xml" /><Relationship Id="rId50" Type="http://schemas.openxmlformats.org/officeDocument/2006/relationships/font" Target="fonts/font3.fntdata" /><Relationship Id="rId51" Type="http://schemas.openxmlformats.org/officeDocument/2006/relationships/font" Target="fonts/font4.fntdata" /><Relationship Id="rId52" Type="http://schemas.openxmlformats.org/officeDocument/2006/relationships/presProps" Target="presProps.xml" /><Relationship Id="rId53" Type="http://schemas.openxmlformats.org/officeDocument/2006/relationships/viewProps" Target="viewProps.xml" /><Relationship Id="rId54" Type="http://schemas.openxmlformats.org/officeDocument/2006/relationships/theme" Target="theme/theme1.xml" /><Relationship Id="rId55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_rels/notesSlide4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95c05fb54c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5c05fb54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sp>
        <p:nvSpPr>
          <p:cNvPr id="770" name="Google Shape;770;g295c05fb54c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5c05fb54c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7" name="Shape 777"/>
        <p:cNvGrpSpPr/>
        <p:nvPr/>
      </p:nvGrpSpPr>
      <p:grpSpPr>
        <a:xfrm>
          <a:off x="0" y="0"/>
          <a:ext cx="0" cy="0"/>
        </a:xfrm>
      </p:grpSpPr>
      <p:sp>
        <p:nvSpPr>
          <p:cNvPr id="778" name="Google Shape;778;g1ea68f1c669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ea68f1c669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2" name="Shape 802"/>
        <p:cNvGrpSpPr/>
        <p:nvPr/>
      </p:nvGrpSpPr>
      <p:grpSpPr>
        <a:xfrm>
          <a:off x="0" y="0"/>
          <a:ext cx="0" cy="0"/>
        </a:xfrm>
      </p:grpSpPr>
      <p:sp>
        <p:nvSpPr>
          <p:cNvPr id="803" name="Google Shape;803;g1ea68f1c669_0_1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1ea68f1c669_0_1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4" name="Shape 844"/>
        <p:cNvGrpSpPr/>
        <p:nvPr/>
      </p:nvGrpSpPr>
      <p:grpSpPr>
        <a:xfrm>
          <a:off x="0" y="0"/>
          <a:ext cx="0" cy="0"/>
        </a:xfrm>
      </p:grpSpPr>
      <p:sp>
        <p:nvSpPr>
          <p:cNvPr id="845" name="Google Shape;845;g1ea68f1c669_0_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1ea68f1c669_0_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7" name="Shape 887"/>
        <p:cNvGrpSpPr/>
        <p:nvPr/>
      </p:nvGrpSpPr>
      <p:grpSpPr>
        <a:xfrm>
          <a:off x="0" y="0"/>
          <a:ext cx="0" cy="0"/>
        </a:xfrm>
      </p:grpSpPr>
      <p:sp>
        <p:nvSpPr>
          <p:cNvPr id="888" name="Google Shape;888;g1ea68f1c669_0_2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1ea68f1c669_0_2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0" name="Shape 930"/>
        <p:cNvGrpSpPr/>
        <p:nvPr/>
      </p:nvGrpSpPr>
      <p:grpSpPr>
        <a:xfrm>
          <a:off x="0" y="0"/>
          <a:ext cx="0" cy="0"/>
        </a:xfrm>
      </p:grpSpPr>
      <p:sp>
        <p:nvSpPr>
          <p:cNvPr id="931" name="Google Shape;931;g1ea68f1c669_0_2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1ea68f1c669_0_2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3" name="Shape 973"/>
        <p:cNvGrpSpPr/>
        <p:nvPr/>
      </p:nvGrpSpPr>
      <p:grpSpPr>
        <a:xfrm>
          <a:off x="0" y="0"/>
          <a:ext cx="0" cy="0"/>
        </a:xfrm>
      </p:grpSpPr>
      <p:sp>
        <p:nvSpPr>
          <p:cNvPr id="974" name="Google Shape;974;g1ea68f1c669_0_3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1ea68f1c669_0_3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5" name="Shape 985"/>
        <p:cNvGrpSpPr/>
        <p:nvPr/>
      </p:nvGrpSpPr>
      <p:grpSpPr>
        <a:xfrm>
          <a:off x="0" y="0"/>
          <a:ext cx="0" cy="0"/>
        </a:xfrm>
      </p:grpSpPr>
      <p:sp>
        <p:nvSpPr>
          <p:cNvPr id="986" name="Google Shape;986;g1ea68f1c669_0_3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1ea68f1c669_0_3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1" name="Shape 1031"/>
        <p:cNvGrpSpPr/>
        <p:nvPr/>
      </p:nvGrpSpPr>
      <p:grpSpPr>
        <a:xfrm>
          <a:off x="0" y="0"/>
          <a:ext cx="0" cy="0"/>
        </a:xfrm>
      </p:grpSpPr>
      <p:sp>
        <p:nvSpPr>
          <p:cNvPr id="1032" name="Google Shape;1032;g1ea68f1c669_0_4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1ea68f1c669_0_4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7" name="Shape 1097"/>
        <p:cNvGrpSpPr/>
        <p:nvPr/>
      </p:nvGrpSpPr>
      <p:grpSpPr>
        <a:xfrm>
          <a:off x="0" y="0"/>
          <a:ext cx="0" cy="0"/>
        </a:xfrm>
      </p:grpSpPr>
      <p:sp>
        <p:nvSpPr>
          <p:cNvPr id="1098" name="Google Shape;1098;g1ea68f1c669_0_5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1ea68f1c669_0_5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18" name="Shape 1218"/>
        <p:cNvGrpSpPr/>
        <p:nvPr/>
      </p:nvGrpSpPr>
      <p:grpSpPr>
        <a:xfrm>
          <a:off x="0" y="0"/>
          <a:ext cx="0" cy="0"/>
        </a:xfrm>
      </p:grpSpPr>
      <p:sp>
        <p:nvSpPr>
          <p:cNvPr id="1219" name="Google Shape;1219;g1ea68f1c669_0_6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1ea68f1c669_0_6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6" name="Shape 1236"/>
        <p:cNvGrpSpPr/>
        <p:nvPr/>
      </p:nvGrpSpPr>
      <p:grpSpPr>
        <a:xfrm>
          <a:off x="0" y="0"/>
          <a:ext cx="0" cy="0"/>
        </a:xfrm>
      </p:grpSpPr>
      <p:sp>
        <p:nvSpPr>
          <p:cNvPr id="1237" name="Google Shape;1237;g1ea68f1c669_0_7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1ea68f1c669_0_7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58" name="Shape 1258"/>
        <p:cNvGrpSpPr/>
        <p:nvPr/>
      </p:nvGrpSpPr>
      <p:grpSpPr>
        <a:xfrm>
          <a:off x="0" y="0"/>
          <a:ext cx="0" cy="0"/>
        </a:xfrm>
      </p:grpSpPr>
      <p:sp>
        <p:nvSpPr>
          <p:cNvPr id="1259" name="Google Shape;1259;g1ea68f1c669_0_7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1ea68f1c669_0_7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3" name="Shape 1273"/>
        <p:cNvGrpSpPr/>
        <p:nvPr/>
      </p:nvGrpSpPr>
      <p:grpSpPr>
        <a:xfrm>
          <a:off x="0" y="0"/>
          <a:ext cx="0" cy="0"/>
        </a:xfrm>
      </p:grpSpPr>
      <p:sp>
        <p:nvSpPr>
          <p:cNvPr id="1274" name="Google Shape;1274;g1ea68f1c669_0_7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1ea68f1c669_0_7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1" name="Shape 1301"/>
        <p:cNvGrpSpPr/>
        <p:nvPr/>
      </p:nvGrpSpPr>
      <p:grpSpPr>
        <a:xfrm>
          <a:off x="0" y="0"/>
          <a:ext cx="0" cy="0"/>
        </a:xfrm>
      </p:grpSpPr>
      <p:sp>
        <p:nvSpPr>
          <p:cNvPr id="1302" name="Google Shape;1302;g1ea68f1c669_0_8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1ea68f1c669_0_8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17" name="Shape 1317"/>
        <p:cNvGrpSpPr/>
        <p:nvPr/>
      </p:nvGrpSpPr>
      <p:grpSpPr>
        <a:xfrm>
          <a:off x="0" y="0"/>
          <a:ext cx="0" cy="0"/>
        </a:xfrm>
      </p:grpSpPr>
      <p:sp>
        <p:nvSpPr>
          <p:cNvPr id="1318" name="Google Shape;1318;g1ea68f1c669_0_8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1ea68f1c669_0_8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5" name="Shape 1335"/>
        <p:cNvGrpSpPr/>
        <p:nvPr/>
      </p:nvGrpSpPr>
      <p:grpSpPr>
        <a:xfrm>
          <a:off x="0" y="0"/>
          <a:ext cx="0" cy="0"/>
        </a:xfrm>
      </p:grpSpPr>
      <p:sp>
        <p:nvSpPr>
          <p:cNvPr id="1336" name="Google Shape;1336;g1ea68f1c669_0_8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1ea68f1c669_0_8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59" name="Shape 1359"/>
        <p:cNvGrpSpPr/>
        <p:nvPr/>
      </p:nvGrpSpPr>
      <p:grpSpPr>
        <a:xfrm>
          <a:off x="0" y="0"/>
          <a:ext cx="0" cy="0"/>
        </a:xfrm>
      </p:grpSpPr>
      <p:sp>
        <p:nvSpPr>
          <p:cNvPr id="1360" name="Google Shape;1360;g1ea68f1c669_0_9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1" name="Google Shape;1361;g1ea68f1c669_0_9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75" name="Shape 1375"/>
        <p:cNvGrpSpPr/>
        <p:nvPr/>
      </p:nvGrpSpPr>
      <p:grpSpPr>
        <a:xfrm>
          <a:off x="0" y="0"/>
          <a:ext cx="0" cy="0"/>
        </a:xfrm>
      </p:grpSpPr>
      <p:sp>
        <p:nvSpPr>
          <p:cNvPr id="1376" name="Google Shape;1376;g1ea68f1c669_0_9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1ea68f1c669_0_9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97" name="Shape 1397"/>
        <p:cNvGrpSpPr/>
        <p:nvPr/>
      </p:nvGrpSpPr>
      <p:grpSpPr>
        <a:xfrm>
          <a:off x="0" y="0"/>
          <a:ext cx="0" cy="0"/>
        </a:xfrm>
      </p:grpSpPr>
      <p:sp>
        <p:nvSpPr>
          <p:cNvPr id="1398" name="Google Shape;1398;g1ea68f1c669_0_9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1ea68f1c669_0_9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35" name="Shape 1435"/>
        <p:cNvGrpSpPr/>
        <p:nvPr/>
      </p:nvGrpSpPr>
      <p:grpSpPr>
        <a:xfrm>
          <a:off x="0" y="0"/>
          <a:ext cx="0" cy="0"/>
        </a:xfrm>
      </p:grpSpPr>
      <p:sp>
        <p:nvSpPr>
          <p:cNvPr id="1436" name="Google Shape;1436;g1ea68f1c669_0_10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7" name="Google Shape;1437;g1ea68f1c669_0_10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92" name="Shape 1592"/>
        <p:cNvGrpSpPr/>
        <p:nvPr/>
      </p:nvGrpSpPr>
      <p:grpSpPr>
        <a:xfrm>
          <a:off x="0" y="0"/>
          <a:ext cx="0" cy="0"/>
        </a:xfrm>
      </p:grpSpPr>
      <p:sp>
        <p:nvSpPr>
          <p:cNvPr id="1593" name="Google Shape;1593;g1ea68f1c669_0_15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1ea68f1c669_0_15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14" name="Shape 1614"/>
        <p:cNvGrpSpPr/>
        <p:nvPr/>
      </p:nvGrpSpPr>
      <p:grpSpPr>
        <a:xfrm>
          <a:off x="0" y="0"/>
          <a:ext cx="0" cy="0"/>
        </a:xfrm>
      </p:grpSpPr>
      <p:sp>
        <p:nvSpPr>
          <p:cNvPr id="1615" name="Google Shape;1615;g1ea68f1c669_0_13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1ea68f1c669_0_13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1" name="Shape 1771"/>
        <p:cNvGrpSpPr/>
        <p:nvPr/>
      </p:nvGrpSpPr>
      <p:grpSpPr>
        <a:xfrm>
          <a:off x="0" y="0"/>
          <a:ext cx="0" cy="0"/>
        </a:xfrm>
      </p:grpSpPr>
      <p:sp>
        <p:nvSpPr>
          <p:cNvPr id="1772" name="Google Shape;1772;g1ea68f1c669_0_16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1ea68f1c669_0_16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94" name="Shape 1794"/>
        <p:cNvGrpSpPr/>
        <p:nvPr/>
      </p:nvGrpSpPr>
      <p:grpSpPr>
        <a:xfrm>
          <a:off x="0" y="0"/>
          <a:ext cx="0" cy="0"/>
        </a:xfrm>
      </p:grpSpPr>
      <p:sp>
        <p:nvSpPr>
          <p:cNvPr id="1795" name="Google Shape;1795;g1ea68f1c669_0_16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1ea68f1c669_0_16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16" name="Shape 1816"/>
        <p:cNvGrpSpPr/>
        <p:nvPr/>
      </p:nvGrpSpPr>
      <p:grpSpPr>
        <a:xfrm>
          <a:off x="0" y="0"/>
          <a:ext cx="0" cy="0"/>
        </a:xfrm>
      </p:grpSpPr>
      <p:sp>
        <p:nvSpPr>
          <p:cNvPr id="1817" name="Google Shape;1817;g1ea68f1c669_0_16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1ea68f1c669_0_16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24" name="Shape 1824"/>
        <p:cNvGrpSpPr/>
        <p:nvPr/>
      </p:nvGrpSpPr>
      <p:grpSpPr>
        <a:xfrm>
          <a:off x="0" y="0"/>
          <a:ext cx="0" cy="0"/>
        </a:xfrm>
      </p:grpSpPr>
      <p:sp>
        <p:nvSpPr>
          <p:cNvPr id="1825" name="Google Shape;1825;g1ea68f1c669_0_16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g1ea68f1c669_0_16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42" name="Shape 1842"/>
        <p:cNvGrpSpPr/>
        <p:nvPr/>
      </p:nvGrpSpPr>
      <p:grpSpPr>
        <a:xfrm>
          <a:off x="0" y="0"/>
          <a:ext cx="0" cy="0"/>
        </a:xfrm>
      </p:grpSpPr>
      <p:sp>
        <p:nvSpPr>
          <p:cNvPr id="1843" name="Google Shape;1843;g1ea68f1c669_0_17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1ea68f1c669_0_17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61" name="Shape 1861"/>
        <p:cNvGrpSpPr/>
        <p:nvPr/>
      </p:nvGrpSpPr>
      <p:grpSpPr>
        <a:xfrm>
          <a:off x="0" y="0"/>
          <a:ext cx="0" cy="0"/>
        </a:xfrm>
      </p:grpSpPr>
      <p:sp>
        <p:nvSpPr>
          <p:cNvPr id="1862" name="Google Shape;1862;g1ea68f1c669_0_16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3" name="Google Shape;1863;g1ea68f1c669_0_16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7" name="Shape 1877"/>
        <p:cNvGrpSpPr/>
        <p:nvPr/>
      </p:nvGrpSpPr>
      <p:grpSpPr>
        <a:xfrm>
          <a:off x="0" y="0"/>
          <a:ext cx="0" cy="0"/>
        </a:xfrm>
      </p:grpSpPr>
      <p:sp>
        <p:nvSpPr>
          <p:cNvPr id="1878" name="Google Shape;1878;g1ea68f1c669_0_17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9" name="Google Shape;1879;g1ea68f1c669_0_17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96" name="Shape 1896"/>
        <p:cNvGrpSpPr/>
        <p:nvPr/>
      </p:nvGrpSpPr>
      <p:grpSpPr>
        <a:xfrm>
          <a:off x="0" y="0"/>
          <a:ext cx="0" cy="0"/>
        </a:xfrm>
      </p:grpSpPr>
      <p:sp>
        <p:nvSpPr>
          <p:cNvPr id="1897" name="Google Shape;1897;g1ea68f1c669_0_17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1ea68f1c669_0_17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14" name="Shape 1914"/>
        <p:cNvGrpSpPr/>
        <p:nvPr/>
      </p:nvGrpSpPr>
      <p:grpSpPr>
        <a:xfrm>
          <a:off x="0" y="0"/>
          <a:ext cx="0" cy="0"/>
        </a:xfrm>
      </p:grpSpPr>
      <p:sp>
        <p:nvSpPr>
          <p:cNvPr id="1915" name="Google Shape;1915;g1ea68f1c669_0_19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6" name="Google Shape;1916;g1ea68f1c669_0_19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30" name="Shape 1930"/>
        <p:cNvGrpSpPr/>
        <p:nvPr/>
      </p:nvGrpSpPr>
      <p:grpSpPr>
        <a:xfrm>
          <a:off x="0" y="0"/>
          <a:ext cx="0" cy="0"/>
        </a:xfrm>
      </p:grpSpPr>
      <p:sp>
        <p:nvSpPr>
          <p:cNvPr id="1931" name="Google Shape;1931;g1ea68f1c669_0_17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1ea68f1c669_0_17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48" name="Shape 1948"/>
        <p:cNvGrpSpPr/>
        <p:nvPr/>
      </p:nvGrpSpPr>
      <p:grpSpPr>
        <a:xfrm>
          <a:off x="0" y="0"/>
          <a:ext cx="0" cy="0"/>
        </a:xfrm>
      </p:grpSpPr>
      <p:sp>
        <p:nvSpPr>
          <p:cNvPr id="1949" name="Google Shape;1949;g1ea68f1c669_0_18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0" name="Google Shape;1950;g1ea68f1c669_0_18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63" name="Shape 1963"/>
        <p:cNvGrpSpPr/>
        <p:nvPr/>
      </p:nvGrpSpPr>
      <p:grpSpPr>
        <a:xfrm>
          <a:off x="0" y="0"/>
          <a:ext cx="0" cy="0"/>
        </a:xfrm>
      </p:grpSpPr>
      <p:sp>
        <p:nvSpPr>
          <p:cNvPr id="1964" name="Google Shape;1964;g1ea68f1c669_0_18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5" name="Google Shape;1965;g1ea68f1c669_0_18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79" name="Shape 1979"/>
        <p:cNvGrpSpPr/>
        <p:nvPr/>
      </p:nvGrpSpPr>
      <p:grpSpPr>
        <a:xfrm>
          <a:off x="0" y="0"/>
          <a:ext cx="0" cy="0"/>
        </a:xfrm>
      </p:grpSpPr>
      <p:sp>
        <p:nvSpPr>
          <p:cNvPr id="1980" name="Google Shape;1980;g1ea68f1c669_0_18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1" name="Google Shape;1981;g1ea68f1c669_0_18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08" name="Shape 2008"/>
        <p:cNvGrpSpPr/>
        <p:nvPr/>
      </p:nvGrpSpPr>
      <p:grpSpPr>
        <a:xfrm>
          <a:off x="0" y="0"/>
          <a:ext cx="0" cy="0"/>
        </a:xfrm>
      </p:grpSpPr>
      <p:sp>
        <p:nvSpPr>
          <p:cNvPr id="2009" name="Google Shape;2009;g1ea68f1c669_0_19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1ea68f1c669_0_19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14" name="Shape 2014"/>
        <p:cNvGrpSpPr/>
        <p:nvPr/>
      </p:nvGrpSpPr>
      <p:grpSpPr>
        <a:xfrm>
          <a:off x="0" y="0"/>
          <a:ext cx="0" cy="0"/>
        </a:xfrm>
      </p:grpSpPr>
      <p:sp>
        <p:nvSpPr>
          <p:cNvPr id="2015" name="Google Shape;2015;g1ea68f1c669_0_19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6" name="Google Shape;2016;g1ea68f1c669_0_19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27" name="Shape 2027"/>
        <p:cNvGrpSpPr/>
        <p:nvPr/>
      </p:nvGrpSpPr>
      <p:grpSpPr>
        <a:xfrm>
          <a:off x="0" y="0"/>
          <a:ext cx="0" cy="0"/>
        </a:xfrm>
      </p:grpSpPr>
      <p:sp>
        <p:nvSpPr>
          <p:cNvPr id="2028" name="Google Shape;2028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9" name="Google Shape;2029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33" name="Shape 2033"/>
        <p:cNvGrpSpPr/>
        <p:nvPr/>
      </p:nvGrpSpPr>
      <p:grpSpPr>
        <a:xfrm>
          <a:off x="0" y="0"/>
          <a:ext cx="0" cy="0"/>
        </a:xfrm>
      </p:grpSpPr>
      <p:sp>
        <p:nvSpPr>
          <p:cNvPr id="2034" name="Google Shape;2034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5" name="Google Shape;2035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5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44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44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44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4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4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Relationship Id="rId6" Type="http://schemas.openxmlformats.org/officeDocument/2006/relationships/image" Target="../media/image50.png" /><Relationship Id="rId7" Type="http://schemas.openxmlformats.org/officeDocument/2006/relationships/image" Target="../media/image46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Relationship Id="rId6" Type="http://schemas.openxmlformats.org/officeDocument/2006/relationships/image" Target="../media/image50.png" /><Relationship Id="rId7" Type="http://schemas.openxmlformats.org/officeDocument/2006/relationships/image" Target="../media/image46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Relationship Id="rId5" Type="http://schemas.openxmlformats.org/officeDocument/2006/relationships/image" Target="../media/image50.png" /><Relationship Id="rId6" Type="http://schemas.openxmlformats.org/officeDocument/2006/relationships/image" Target="../media/image46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43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50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50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50.png" /><Relationship Id="rId4" Type="http://schemas.openxmlformats.org/officeDocument/2006/relationships/image" Target="../media/image46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44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44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46.png" /><Relationship Id="rId4" Type="http://schemas.openxmlformats.org/officeDocument/2006/relationships/image" Target="../media/image51.png" /><Relationship Id="rId5" Type="http://schemas.openxmlformats.org/officeDocument/2006/relationships/image" Target="../media/image52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9.xml" /><Relationship Id="rId3" Type="http://schemas.openxmlformats.org/officeDocument/2006/relationships/image" Target="../media/image46.png" /><Relationship Id="rId4" Type="http://schemas.openxmlformats.org/officeDocument/2006/relationships/image" Target="../media/image51.png" /><Relationship Id="rId5" Type="http://schemas.openxmlformats.org/officeDocument/2006/relationships/image" Target="../media/image52.png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6.xml" /><Relationship Id="rId2" Type="http://schemas.openxmlformats.org/officeDocument/2006/relationships/notesSlide" Target="../notesSlides/notesSlide40.xml" /><Relationship Id="rId3" Type="http://schemas.openxmlformats.org/officeDocument/2006/relationships/image" Target="../media/image44.png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41.xml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42.xml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43.xml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4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5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a sequence using a position-to-term rule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Sequences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appreciate that a sequence can be generated and described by a </a:t>
            </a:r>
            <a:r>
              <a:rPr lang="en-GB" b="1"/>
              <a:t>position-to-term</a:t>
            </a:r>
            <a:r>
              <a:rPr lang="en-GB"/>
              <a:t> rule.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2"/>
          </p:nvPr>
        </p:nvSpPr>
        <p:spPr>
          <a:xfrm>
            <a:off x="324001" y="20863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term-to-term rule describes how to calculate the next term in the sequence from the previous term.</a:t>
            </a:r>
            <a:endParaRPr/>
          </a:p>
        </p:txBody>
      </p:sp>
      <p:sp>
        <p:nvSpPr>
          <p:cNvPr id="767" name="Google Shape;767;p67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Each value or pattern in a sequence is called a term.</a:t>
            </a:r>
            <a:endParaRPr/>
          </a:p>
        </p:txBody>
      </p:sp>
      <p:sp>
        <p:nvSpPr>
          <p:cNvPr id="768" name="Google Shape;768;p67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</a:t>
            </a:r>
            <a:r>
              <a:rPr lang="en-GB" b="1"/>
              <a:t>position-to-term</a:t>
            </a:r>
            <a:r>
              <a:rPr lang="en-GB"/>
              <a:t> rule describes how to generate the term from the term number.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774" name="Google Shape;774;p6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terms from position-to-term rules</a:t>
            </a:r>
            <a:endParaRPr/>
          </a:p>
        </p:txBody>
      </p:sp>
      <p:sp>
        <p:nvSpPr>
          <p:cNvPr id="775" name="Google Shape;775;p68"/>
          <p:cNvSpPr txBox="1"/>
          <p:nvPr>
            <p:ph type="title" idx="3"/>
          </p:nvPr>
        </p:nvSpPr>
        <p:spPr>
          <a:xfrm>
            <a:off x="324000" y="657600"/>
            <a:ext cx="61722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a sequence using a position to term rule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54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782" name="Google Shape;782;p69"/>
          <p:cNvSpPr txBox="1"/>
          <p:nvPr>
            <p:ph type="body" idx="1"/>
          </p:nvPr>
        </p:nvSpPr>
        <p:spPr>
          <a:xfrm>
            <a:off x="324000" y="759300"/>
            <a:ext cx="82377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Each value or pattern in a sequence is called a term.</a:t>
            </a:r>
            <a:endParaRPr sz="2000"/>
          </a:p>
        </p:txBody>
      </p:sp>
      <p:sp>
        <p:nvSpPr>
          <p:cNvPr id="783" name="Google Shape;783;p69"/>
          <p:cNvSpPr txBox="1"/>
          <p:nvPr>
            <p:ph type="body" idx="1"/>
          </p:nvPr>
        </p:nvSpPr>
        <p:spPr>
          <a:xfrm>
            <a:off x="324000" y="1304425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Each term has a term number so we can refer to specific terms in a sequence.</a:t>
            </a:r>
            <a:endParaRPr sz="2000"/>
          </a:p>
        </p:txBody>
      </p:sp>
      <p:sp>
        <p:nvSpPr>
          <p:cNvPr id="784" name="Google Shape;784;p69"/>
          <p:cNvSpPr txBox="1"/>
          <p:nvPr>
            <p:ph type="body" idx="1"/>
          </p:nvPr>
        </p:nvSpPr>
        <p:spPr>
          <a:xfrm>
            <a:off x="324000" y="286505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E.g. In the sequence  3, 5, 7, 9, …</a:t>
            </a:r>
            <a:endParaRPr sz="2000"/>
          </a:p>
        </p:txBody>
      </p:sp>
      <p:sp>
        <p:nvSpPr>
          <p:cNvPr id="785" name="Google Shape;785;p69"/>
          <p:cNvSpPr txBox="1"/>
          <p:nvPr>
            <p:ph type="body" idx="1"/>
          </p:nvPr>
        </p:nvSpPr>
        <p:spPr>
          <a:xfrm>
            <a:off x="324000" y="3460325"/>
            <a:ext cx="44991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1</a:t>
            </a:r>
            <a:r>
              <a:rPr lang="en-GB" sz="2000" baseline="30000"/>
              <a:t>st</a:t>
            </a:r>
            <a:r>
              <a:rPr lang="en-GB" sz="2000"/>
              <a:t> term is 3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cxnSp>
        <p:nvCxnSpPr>
          <p:cNvPr id="786" name="Google Shape;786;p69"/>
          <p:cNvCxnSpPr/>
          <p:nvPr/>
        </p:nvCxnSpPr>
        <p:spPr>
          <a:xfrm>
            <a:off x="2631300" y="3567725"/>
            <a:ext cx="1329000" cy="0"/>
          </a:xfrm>
          <a:prstGeom prst="straightConnector1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7" name="Google Shape;787;p69"/>
          <p:cNvSpPr txBox="1"/>
          <p:nvPr/>
        </p:nvSpPr>
        <p:spPr>
          <a:xfrm>
            <a:off x="4015050" y="3460325"/>
            <a:ext cx="8079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 baseline="-25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8" name="Google Shape;788;p69"/>
          <p:cNvCxnSpPr/>
          <p:nvPr/>
        </p:nvCxnSpPr>
        <p:spPr>
          <a:xfrm>
            <a:off x="2631300" y="4097625"/>
            <a:ext cx="1329000" cy="0"/>
          </a:xfrm>
          <a:prstGeom prst="straightConnector1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9" name="Google Shape;789;p69"/>
          <p:cNvSpPr txBox="1"/>
          <p:nvPr/>
        </p:nvSpPr>
        <p:spPr>
          <a:xfrm>
            <a:off x="4015050" y="3948863"/>
            <a:ext cx="8079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 baseline="-250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0" name="Google Shape;790;p69"/>
          <p:cNvCxnSpPr/>
          <p:nvPr/>
        </p:nvCxnSpPr>
        <p:spPr>
          <a:xfrm>
            <a:off x="2631300" y="4663300"/>
            <a:ext cx="1329000" cy="0"/>
          </a:xfrm>
          <a:prstGeom prst="straightConnector1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1" name="Google Shape;791;p69"/>
          <p:cNvSpPr txBox="1"/>
          <p:nvPr/>
        </p:nvSpPr>
        <p:spPr>
          <a:xfrm>
            <a:off x="4015050" y="4437400"/>
            <a:ext cx="8079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 baseline="-250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92" name="Google Shape;792;p69"/>
          <p:cNvGraphicFramePr>
            <a:graphicFrameLocks noGrp="1"/>
          </p:cNvGraphicFramePr>
          <p:nvPr/>
        </p:nvGraphicFramePr>
        <p:xfrm>
          <a:off x="4822950" y="2852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1780550"/>
                <a:gridCol w="481500"/>
                <a:gridCol w="481500"/>
                <a:gridCol w="481500"/>
                <a:gridCol w="481500"/>
              </a:tblGrid>
              <a:tr h="387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7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793" name="Google Shape;793;p69"/>
          <p:cNvSpPr txBox="1"/>
          <p:nvPr>
            <p:ph type="body" idx="1"/>
          </p:nvPr>
        </p:nvSpPr>
        <p:spPr>
          <a:xfrm>
            <a:off x="324000" y="222825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term number is the position of the term in the sequence.</a:t>
            </a:r>
            <a:endParaRPr sz="2000"/>
          </a:p>
        </p:txBody>
      </p:sp>
      <p:sp>
        <p:nvSpPr>
          <p:cNvPr id="794" name="Google Shape;794;p69"/>
          <p:cNvSpPr/>
          <p:nvPr/>
        </p:nvSpPr>
        <p:spPr>
          <a:xfrm>
            <a:off x="6724300" y="2902075"/>
            <a:ext cx="251700" cy="291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9"/>
          <p:cNvSpPr/>
          <p:nvPr/>
        </p:nvSpPr>
        <p:spPr>
          <a:xfrm>
            <a:off x="7207500" y="2902075"/>
            <a:ext cx="251700" cy="291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9"/>
          <p:cNvSpPr/>
          <p:nvPr/>
        </p:nvSpPr>
        <p:spPr>
          <a:xfrm>
            <a:off x="7690700" y="2902075"/>
            <a:ext cx="251700" cy="291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9"/>
          <p:cNvSpPr/>
          <p:nvPr/>
        </p:nvSpPr>
        <p:spPr>
          <a:xfrm>
            <a:off x="4110815" y="3629015"/>
            <a:ext cx="151800" cy="193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9"/>
          <p:cNvSpPr/>
          <p:nvPr/>
        </p:nvSpPr>
        <p:spPr>
          <a:xfrm>
            <a:off x="4110815" y="4117673"/>
            <a:ext cx="151800" cy="193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9"/>
          <p:cNvSpPr/>
          <p:nvPr/>
        </p:nvSpPr>
        <p:spPr>
          <a:xfrm>
            <a:off x="4110815" y="4611750"/>
            <a:ext cx="151800" cy="193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/>
        </p:nvSpPr>
        <p:spPr>
          <a:xfrm>
            <a:off x="324000" y="3948863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2</a:t>
            </a:r>
            <a:r>
              <a:rPr lang="en-GB" sz="20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 is 5</a:t>
            </a:r>
            <a:endParaRPr/>
          </a:p>
        </p:txBody>
      </p:sp>
      <p:sp>
        <p:nvSpPr>
          <p:cNvPr id="801" name="Google Shape;801;p69"/>
          <p:cNvSpPr txBox="1"/>
          <p:nvPr/>
        </p:nvSpPr>
        <p:spPr>
          <a:xfrm>
            <a:off x="324000" y="4425675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3</a:t>
            </a:r>
            <a:r>
              <a:rPr lang="en-GB" sz="20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 is 7 …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5" name="Shape 805"/>
        <p:cNvGrpSpPr/>
        <p:nvPr/>
      </p:nvGrpSpPr>
      <p:grpSpPr>
        <a:xfrm>
          <a:off x="0" y="0"/>
          <a:ext cx="0" cy="0"/>
        </a:xfrm>
      </p:grpSpPr>
      <p:sp>
        <p:nvSpPr>
          <p:cNvPr id="806" name="Google Shape;80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807" name="Google Shape;807;p70"/>
          <p:cNvSpPr txBox="1"/>
          <p:nvPr>
            <p:ph type="body" idx="1"/>
          </p:nvPr>
        </p:nvSpPr>
        <p:spPr>
          <a:xfrm>
            <a:off x="324000" y="7843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 could you describe the pattern for the number of lines in each term for this sequence?</a:t>
            </a:r>
            <a:endParaRPr sz="2000"/>
          </a:p>
        </p:txBody>
      </p:sp>
      <p:grpSp>
        <p:nvGrpSpPr>
          <p:cNvPr id="808" name="Google Shape;808;p70"/>
          <p:cNvGrpSpPr/>
          <p:nvPr/>
        </p:nvGrpSpPr>
        <p:grpSpPr>
          <a:xfrm>
            <a:off x="2048785" y="2169201"/>
            <a:ext cx="376531" cy="313404"/>
            <a:chOff x="888693" y="2360601"/>
            <a:chExt cx="376531" cy="313404"/>
          </a:xfrm>
        </p:grpSpPr>
        <p:cxnSp>
          <p:nvCxnSpPr>
            <p:cNvPr id="809" name="Google Shape;809;p70"/>
            <p:cNvCxnSpPr/>
            <p:nvPr/>
          </p:nvCxnSpPr>
          <p:spPr>
            <a:xfrm>
              <a:off x="888700" y="26740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0" name="Google Shape;810;p70"/>
            <p:cNvCxnSpPr/>
            <p:nvPr/>
          </p:nvCxnSpPr>
          <p:spPr>
            <a:xfrm rot="3599392">
              <a:off x="993930" y="25172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1" name="Google Shape;811;p70"/>
            <p:cNvCxnSpPr/>
            <p:nvPr/>
          </p:nvCxnSpPr>
          <p:spPr>
            <a:xfrm rot="7200608">
              <a:off x="798299" y="25174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12" name="Google Shape;812;p70"/>
          <p:cNvGrpSpPr/>
          <p:nvPr/>
        </p:nvGrpSpPr>
        <p:grpSpPr>
          <a:xfrm>
            <a:off x="2822918" y="2169101"/>
            <a:ext cx="767781" cy="313504"/>
            <a:chOff x="1992718" y="2360701"/>
            <a:chExt cx="767781" cy="313504"/>
          </a:xfrm>
        </p:grpSpPr>
        <p:cxnSp>
          <p:nvCxnSpPr>
            <p:cNvPr id="813" name="Google Shape;813;p70"/>
            <p:cNvCxnSpPr/>
            <p:nvPr/>
          </p:nvCxnSpPr>
          <p:spPr>
            <a:xfrm>
              <a:off x="1992725" y="26741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4" name="Google Shape;814;p70"/>
            <p:cNvCxnSpPr/>
            <p:nvPr/>
          </p:nvCxnSpPr>
          <p:spPr>
            <a:xfrm rot="3599392">
              <a:off x="2097955" y="25173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5" name="Google Shape;815;p70"/>
            <p:cNvCxnSpPr/>
            <p:nvPr/>
          </p:nvCxnSpPr>
          <p:spPr>
            <a:xfrm rot="7200608">
              <a:off x="1902324" y="25175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6" name="Google Shape;816;p70"/>
            <p:cNvCxnSpPr/>
            <p:nvPr/>
          </p:nvCxnSpPr>
          <p:spPr>
            <a:xfrm>
              <a:off x="2383975" y="26742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7" name="Google Shape;817;p70"/>
            <p:cNvCxnSpPr/>
            <p:nvPr/>
          </p:nvCxnSpPr>
          <p:spPr>
            <a:xfrm rot="3599392">
              <a:off x="2489205" y="25174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8" name="Google Shape;818;p70"/>
            <p:cNvCxnSpPr/>
            <p:nvPr/>
          </p:nvCxnSpPr>
          <p:spPr>
            <a:xfrm rot="7200608">
              <a:off x="2293574" y="25176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19" name="Google Shape;819;p70"/>
          <p:cNvGrpSpPr/>
          <p:nvPr/>
        </p:nvGrpSpPr>
        <p:grpSpPr>
          <a:xfrm>
            <a:off x="3988301" y="2169001"/>
            <a:ext cx="1159031" cy="313604"/>
            <a:chOff x="3419193" y="2360851"/>
            <a:chExt cx="1159031" cy="313604"/>
          </a:xfrm>
        </p:grpSpPr>
        <p:cxnSp>
          <p:nvCxnSpPr>
            <p:cNvPr id="820" name="Google Shape;820;p70"/>
            <p:cNvCxnSpPr/>
            <p:nvPr/>
          </p:nvCxnSpPr>
          <p:spPr>
            <a:xfrm>
              <a:off x="3419200" y="267425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1" name="Google Shape;821;p70"/>
            <p:cNvCxnSpPr/>
            <p:nvPr/>
          </p:nvCxnSpPr>
          <p:spPr>
            <a:xfrm rot="3599392">
              <a:off x="3524430" y="251745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2" name="Google Shape;822;p70"/>
            <p:cNvCxnSpPr/>
            <p:nvPr/>
          </p:nvCxnSpPr>
          <p:spPr>
            <a:xfrm rot="7200608">
              <a:off x="3328799" y="251765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3" name="Google Shape;823;p70"/>
            <p:cNvCxnSpPr/>
            <p:nvPr/>
          </p:nvCxnSpPr>
          <p:spPr>
            <a:xfrm>
              <a:off x="3810450" y="267435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4" name="Google Shape;824;p70"/>
            <p:cNvCxnSpPr/>
            <p:nvPr/>
          </p:nvCxnSpPr>
          <p:spPr>
            <a:xfrm rot="3599392">
              <a:off x="3915680" y="251755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5" name="Google Shape;825;p70"/>
            <p:cNvCxnSpPr/>
            <p:nvPr/>
          </p:nvCxnSpPr>
          <p:spPr>
            <a:xfrm rot="7200608">
              <a:off x="3720049" y="251775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6" name="Google Shape;826;p70"/>
            <p:cNvCxnSpPr/>
            <p:nvPr/>
          </p:nvCxnSpPr>
          <p:spPr>
            <a:xfrm>
              <a:off x="4201700" y="267445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7" name="Google Shape;827;p70"/>
            <p:cNvCxnSpPr/>
            <p:nvPr/>
          </p:nvCxnSpPr>
          <p:spPr>
            <a:xfrm rot="3599392">
              <a:off x="4306930" y="251765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8" name="Google Shape;828;p70"/>
            <p:cNvCxnSpPr/>
            <p:nvPr/>
          </p:nvCxnSpPr>
          <p:spPr>
            <a:xfrm rot="7200608">
              <a:off x="4111299" y="251785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29" name="Google Shape;829;p70"/>
          <p:cNvGrpSpPr/>
          <p:nvPr/>
        </p:nvGrpSpPr>
        <p:grpSpPr>
          <a:xfrm>
            <a:off x="5544935" y="2168451"/>
            <a:ext cx="1550281" cy="314154"/>
            <a:chOff x="4984193" y="2360401"/>
            <a:chExt cx="1550281" cy="314154"/>
          </a:xfrm>
        </p:grpSpPr>
        <p:cxnSp>
          <p:nvCxnSpPr>
            <p:cNvPr id="830" name="Google Shape;830;p70"/>
            <p:cNvCxnSpPr/>
            <p:nvPr/>
          </p:nvCxnSpPr>
          <p:spPr>
            <a:xfrm>
              <a:off x="4984200" y="26738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1" name="Google Shape;831;p70"/>
            <p:cNvCxnSpPr/>
            <p:nvPr/>
          </p:nvCxnSpPr>
          <p:spPr>
            <a:xfrm rot="3599392">
              <a:off x="5089430" y="25170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2" name="Google Shape;832;p70"/>
            <p:cNvCxnSpPr/>
            <p:nvPr/>
          </p:nvCxnSpPr>
          <p:spPr>
            <a:xfrm rot="7200608">
              <a:off x="4893799" y="25172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3" name="Google Shape;833;p70"/>
            <p:cNvCxnSpPr/>
            <p:nvPr/>
          </p:nvCxnSpPr>
          <p:spPr>
            <a:xfrm>
              <a:off x="5375450" y="26739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4" name="Google Shape;834;p70"/>
            <p:cNvCxnSpPr/>
            <p:nvPr/>
          </p:nvCxnSpPr>
          <p:spPr>
            <a:xfrm rot="3599392">
              <a:off x="5480680" y="25171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5" name="Google Shape;835;p70"/>
            <p:cNvCxnSpPr/>
            <p:nvPr/>
          </p:nvCxnSpPr>
          <p:spPr>
            <a:xfrm rot="7200608">
              <a:off x="5285049" y="25173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6" name="Google Shape;836;p70"/>
            <p:cNvCxnSpPr/>
            <p:nvPr/>
          </p:nvCxnSpPr>
          <p:spPr>
            <a:xfrm>
              <a:off x="5766700" y="26740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7" name="Google Shape;837;p70"/>
            <p:cNvCxnSpPr/>
            <p:nvPr/>
          </p:nvCxnSpPr>
          <p:spPr>
            <a:xfrm rot="3599392">
              <a:off x="5871930" y="25172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8" name="Google Shape;838;p70"/>
            <p:cNvCxnSpPr/>
            <p:nvPr/>
          </p:nvCxnSpPr>
          <p:spPr>
            <a:xfrm rot="7200608">
              <a:off x="5676299" y="25174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9" name="Google Shape;839;p70"/>
            <p:cNvCxnSpPr/>
            <p:nvPr/>
          </p:nvCxnSpPr>
          <p:spPr>
            <a:xfrm>
              <a:off x="6157950" y="267455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0" name="Google Shape;840;p70"/>
            <p:cNvCxnSpPr/>
            <p:nvPr/>
          </p:nvCxnSpPr>
          <p:spPr>
            <a:xfrm rot="3599392">
              <a:off x="6263180" y="251775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1" name="Google Shape;841;p70"/>
            <p:cNvCxnSpPr/>
            <p:nvPr/>
          </p:nvCxnSpPr>
          <p:spPr>
            <a:xfrm rot="7200608">
              <a:off x="6067549" y="251795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42" name="Google Shape;842;p70"/>
          <p:cNvSpPr txBox="1"/>
          <p:nvPr>
            <p:ph type="body" idx="1"/>
          </p:nvPr>
        </p:nvSpPr>
        <p:spPr>
          <a:xfrm>
            <a:off x="324000" y="32400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could have said that each term adds three more lines.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3" name="Google Shape;843;p70"/>
          <p:cNvSpPr txBox="1"/>
          <p:nvPr>
            <p:ph type="body" idx="1"/>
          </p:nvPr>
        </p:nvSpPr>
        <p:spPr>
          <a:xfrm>
            <a:off x="324000" y="386315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This would be a term-to-term rule as it describes how to get from one term to the next. 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7" name="Shape 847"/>
        <p:cNvGrpSpPr/>
        <p:nvPr/>
      </p:nvGrpSpPr>
      <p:grpSpPr>
        <a:xfrm>
          <a:off x="0" y="0"/>
          <a:ext cx="0" cy="0"/>
        </a:xfrm>
      </p:grpSpPr>
      <p:sp>
        <p:nvSpPr>
          <p:cNvPr id="848" name="Google Shape;84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849" name="Google Shape;849;p71"/>
          <p:cNvSpPr txBox="1"/>
          <p:nvPr>
            <p:ph type="body" idx="1"/>
          </p:nvPr>
        </p:nvSpPr>
        <p:spPr>
          <a:xfrm>
            <a:off x="324000" y="759300"/>
            <a:ext cx="82377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To find a </a:t>
            </a:r>
            <a:r>
              <a:rPr lang="en-GB" sz="2000" b="1"/>
              <a:t>position-to-term</a:t>
            </a:r>
            <a:r>
              <a:rPr lang="en-GB" sz="2000"/>
              <a:t> rule we need to look at the relationship between the term number and the term  </a:t>
            </a:r>
            <a:endParaRPr sz="2000"/>
          </a:p>
        </p:txBody>
      </p:sp>
      <p:sp>
        <p:nvSpPr>
          <p:cNvPr id="850" name="Google Shape;850;p71"/>
          <p:cNvSpPr txBox="1"/>
          <p:nvPr>
            <p:ph type="body" idx="1"/>
          </p:nvPr>
        </p:nvSpPr>
        <p:spPr>
          <a:xfrm>
            <a:off x="324000" y="32400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In this case the term number is the same as the number of triangles in the pattern.  </a:t>
            </a:r>
            <a:endParaRPr sz="1800"/>
          </a:p>
        </p:txBody>
      </p:sp>
      <p:graphicFrame>
        <p:nvGraphicFramePr>
          <p:cNvPr id="851" name="Google Shape;851;p71"/>
          <p:cNvGraphicFramePr>
            <a:graphicFrameLocks noGrp="1"/>
          </p:cNvGraphicFramePr>
          <p:nvPr/>
        </p:nvGraphicFramePr>
        <p:xfrm>
          <a:off x="486888" y="163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2044150"/>
                <a:gridCol w="838550"/>
                <a:gridCol w="1071175"/>
                <a:gridCol w="1619425"/>
                <a:gridCol w="1949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lines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852" name="Google Shape;852;p71"/>
          <p:cNvGrpSpPr/>
          <p:nvPr/>
        </p:nvGrpSpPr>
        <p:grpSpPr>
          <a:xfrm>
            <a:off x="2760643" y="2169201"/>
            <a:ext cx="376531" cy="313404"/>
            <a:chOff x="888693" y="2360601"/>
            <a:chExt cx="376531" cy="313404"/>
          </a:xfrm>
        </p:grpSpPr>
        <p:cxnSp>
          <p:nvCxnSpPr>
            <p:cNvPr id="853" name="Google Shape;853;p71"/>
            <p:cNvCxnSpPr/>
            <p:nvPr/>
          </p:nvCxnSpPr>
          <p:spPr>
            <a:xfrm>
              <a:off x="888700" y="26740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4" name="Google Shape;854;p71"/>
            <p:cNvCxnSpPr/>
            <p:nvPr/>
          </p:nvCxnSpPr>
          <p:spPr>
            <a:xfrm rot="3599392">
              <a:off x="993930" y="25172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5" name="Google Shape;855;p71"/>
            <p:cNvCxnSpPr/>
            <p:nvPr/>
          </p:nvCxnSpPr>
          <p:spPr>
            <a:xfrm rot="7200608">
              <a:off x="798299" y="25174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56" name="Google Shape;856;p71"/>
          <p:cNvGrpSpPr/>
          <p:nvPr/>
        </p:nvGrpSpPr>
        <p:grpSpPr>
          <a:xfrm>
            <a:off x="3534777" y="2169101"/>
            <a:ext cx="767781" cy="313504"/>
            <a:chOff x="1992718" y="2360701"/>
            <a:chExt cx="767781" cy="313504"/>
          </a:xfrm>
        </p:grpSpPr>
        <p:cxnSp>
          <p:nvCxnSpPr>
            <p:cNvPr id="857" name="Google Shape;857;p71"/>
            <p:cNvCxnSpPr/>
            <p:nvPr/>
          </p:nvCxnSpPr>
          <p:spPr>
            <a:xfrm>
              <a:off x="1992725" y="26741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8" name="Google Shape;858;p71"/>
            <p:cNvCxnSpPr/>
            <p:nvPr/>
          </p:nvCxnSpPr>
          <p:spPr>
            <a:xfrm rot="3599392">
              <a:off x="2097955" y="25173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9" name="Google Shape;859;p71"/>
            <p:cNvCxnSpPr/>
            <p:nvPr/>
          </p:nvCxnSpPr>
          <p:spPr>
            <a:xfrm rot="7200608">
              <a:off x="1902324" y="25175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0" name="Google Shape;860;p71"/>
            <p:cNvCxnSpPr/>
            <p:nvPr/>
          </p:nvCxnSpPr>
          <p:spPr>
            <a:xfrm>
              <a:off x="2383975" y="26742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1" name="Google Shape;861;p71"/>
            <p:cNvCxnSpPr/>
            <p:nvPr/>
          </p:nvCxnSpPr>
          <p:spPr>
            <a:xfrm rot="3599392">
              <a:off x="2489205" y="25174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2" name="Google Shape;862;p71"/>
            <p:cNvCxnSpPr/>
            <p:nvPr/>
          </p:nvCxnSpPr>
          <p:spPr>
            <a:xfrm rot="7200608">
              <a:off x="2293574" y="25176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63" name="Google Shape;863;p71"/>
          <p:cNvGrpSpPr/>
          <p:nvPr/>
        </p:nvGrpSpPr>
        <p:grpSpPr>
          <a:xfrm>
            <a:off x="4700160" y="2169001"/>
            <a:ext cx="1159031" cy="313604"/>
            <a:chOff x="3419193" y="2360851"/>
            <a:chExt cx="1159031" cy="313604"/>
          </a:xfrm>
        </p:grpSpPr>
        <p:cxnSp>
          <p:nvCxnSpPr>
            <p:cNvPr id="864" name="Google Shape;864;p71"/>
            <p:cNvCxnSpPr/>
            <p:nvPr/>
          </p:nvCxnSpPr>
          <p:spPr>
            <a:xfrm>
              <a:off x="3419200" y="267425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5" name="Google Shape;865;p71"/>
            <p:cNvCxnSpPr/>
            <p:nvPr/>
          </p:nvCxnSpPr>
          <p:spPr>
            <a:xfrm rot="3599392">
              <a:off x="3524430" y="251745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6" name="Google Shape;866;p71"/>
            <p:cNvCxnSpPr/>
            <p:nvPr/>
          </p:nvCxnSpPr>
          <p:spPr>
            <a:xfrm rot="7200608">
              <a:off x="3328799" y="251765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7" name="Google Shape;867;p71"/>
            <p:cNvCxnSpPr/>
            <p:nvPr/>
          </p:nvCxnSpPr>
          <p:spPr>
            <a:xfrm>
              <a:off x="3810450" y="267435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8" name="Google Shape;868;p71"/>
            <p:cNvCxnSpPr/>
            <p:nvPr/>
          </p:nvCxnSpPr>
          <p:spPr>
            <a:xfrm rot="3599392">
              <a:off x="3915680" y="251755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9" name="Google Shape;869;p71"/>
            <p:cNvCxnSpPr/>
            <p:nvPr/>
          </p:nvCxnSpPr>
          <p:spPr>
            <a:xfrm rot="7200608">
              <a:off x="3720049" y="251775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0" name="Google Shape;870;p71"/>
            <p:cNvCxnSpPr/>
            <p:nvPr/>
          </p:nvCxnSpPr>
          <p:spPr>
            <a:xfrm>
              <a:off x="4201700" y="267445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1" name="Google Shape;871;p71"/>
            <p:cNvCxnSpPr/>
            <p:nvPr/>
          </p:nvCxnSpPr>
          <p:spPr>
            <a:xfrm rot="3599392">
              <a:off x="4306930" y="251765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2" name="Google Shape;872;p71"/>
            <p:cNvCxnSpPr/>
            <p:nvPr/>
          </p:nvCxnSpPr>
          <p:spPr>
            <a:xfrm rot="7200608">
              <a:off x="4111299" y="251785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73" name="Google Shape;873;p71"/>
          <p:cNvGrpSpPr/>
          <p:nvPr/>
        </p:nvGrpSpPr>
        <p:grpSpPr>
          <a:xfrm>
            <a:off x="6256793" y="2168451"/>
            <a:ext cx="1550281" cy="314154"/>
            <a:chOff x="4984193" y="2360401"/>
            <a:chExt cx="1550281" cy="314154"/>
          </a:xfrm>
        </p:grpSpPr>
        <p:cxnSp>
          <p:nvCxnSpPr>
            <p:cNvPr id="874" name="Google Shape;874;p71"/>
            <p:cNvCxnSpPr/>
            <p:nvPr/>
          </p:nvCxnSpPr>
          <p:spPr>
            <a:xfrm>
              <a:off x="4984200" y="26738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5" name="Google Shape;875;p71"/>
            <p:cNvCxnSpPr/>
            <p:nvPr/>
          </p:nvCxnSpPr>
          <p:spPr>
            <a:xfrm rot="3599392">
              <a:off x="5089430" y="25170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6" name="Google Shape;876;p71"/>
            <p:cNvCxnSpPr/>
            <p:nvPr/>
          </p:nvCxnSpPr>
          <p:spPr>
            <a:xfrm rot="7200608">
              <a:off x="4893799" y="25172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7" name="Google Shape;877;p71"/>
            <p:cNvCxnSpPr/>
            <p:nvPr/>
          </p:nvCxnSpPr>
          <p:spPr>
            <a:xfrm>
              <a:off x="5375450" y="26739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8" name="Google Shape;878;p71"/>
            <p:cNvCxnSpPr/>
            <p:nvPr/>
          </p:nvCxnSpPr>
          <p:spPr>
            <a:xfrm rot="3599392">
              <a:off x="5480680" y="25171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9" name="Google Shape;879;p71"/>
            <p:cNvCxnSpPr/>
            <p:nvPr/>
          </p:nvCxnSpPr>
          <p:spPr>
            <a:xfrm rot="7200608">
              <a:off x="5285049" y="25173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0" name="Google Shape;880;p71"/>
            <p:cNvCxnSpPr/>
            <p:nvPr/>
          </p:nvCxnSpPr>
          <p:spPr>
            <a:xfrm>
              <a:off x="5766700" y="26740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1" name="Google Shape;881;p71"/>
            <p:cNvCxnSpPr/>
            <p:nvPr/>
          </p:nvCxnSpPr>
          <p:spPr>
            <a:xfrm rot="3599392">
              <a:off x="5871930" y="25172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2" name="Google Shape;882;p71"/>
            <p:cNvCxnSpPr/>
            <p:nvPr/>
          </p:nvCxnSpPr>
          <p:spPr>
            <a:xfrm rot="7200608">
              <a:off x="5676299" y="25174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3" name="Google Shape;883;p71"/>
            <p:cNvCxnSpPr/>
            <p:nvPr/>
          </p:nvCxnSpPr>
          <p:spPr>
            <a:xfrm>
              <a:off x="6157950" y="267455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4" name="Google Shape;884;p71"/>
            <p:cNvCxnSpPr/>
            <p:nvPr/>
          </p:nvCxnSpPr>
          <p:spPr>
            <a:xfrm rot="3599392">
              <a:off x="6263180" y="251775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5" name="Google Shape;885;p71"/>
            <p:cNvCxnSpPr/>
            <p:nvPr/>
          </p:nvCxnSpPr>
          <p:spPr>
            <a:xfrm rot="7200608">
              <a:off x="6067549" y="251795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86" name="Google Shape;886;p71"/>
          <p:cNvSpPr txBox="1"/>
          <p:nvPr>
            <p:ph type="body" idx="1"/>
          </p:nvPr>
        </p:nvSpPr>
        <p:spPr>
          <a:xfrm>
            <a:off x="324000" y="411375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is the relationship between the number of triangles and the number of lines? 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0" name="Shape 890"/>
        <p:cNvGrpSpPr/>
        <p:nvPr/>
      </p:nvGrpSpPr>
      <p:grpSpPr>
        <a:xfrm>
          <a:off x="0" y="0"/>
          <a:ext cx="0" cy="0"/>
        </a:xfrm>
      </p:grpSpPr>
      <p:sp>
        <p:nvSpPr>
          <p:cNvPr id="891" name="Google Shape;89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892" name="Google Shape;892;p72"/>
          <p:cNvSpPr txBox="1"/>
          <p:nvPr>
            <p:ph type="body" idx="1"/>
          </p:nvPr>
        </p:nvSpPr>
        <p:spPr>
          <a:xfrm>
            <a:off x="324000" y="759300"/>
            <a:ext cx="82377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To find a </a:t>
            </a:r>
            <a:r>
              <a:rPr lang="en-GB" sz="2000" b="1"/>
              <a:t>position-to-term</a:t>
            </a:r>
            <a:r>
              <a:rPr lang="en-GB" sz="2000"/>
              <a:t> rule we need to look at the relationship between the term number and the term  </a:t>
            </a:r>
            <a:endParaRPr sz="2000"/>
          </a:p>
        </p:txBody>
      </p:sp>
      <p:graphicFrame>
        <p:nvGraphicFramePr>
          <p:cNvPr id="893" name="Google Shape;893;p72"/>
          <p:cNvGraphicFramePr>
            <a:graphicFrameLocks noGrp="1"/>
          </p:cNvGraphicFramePr>
          <p:nvPr/>
        </p:nvGraphicFramePr>
        <p:xfrm>
          <a:off x="486888" y="163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2044150"/>
                <a:gridCol w="838550"/>
                <a:gridCol w="1071175"/>
                <a:gridCol w="1619425"/>
                <a:gridCol w="1949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lines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894" name="Google Shape;894;p72"/>
          <p:cNvGrpSpPr/>
          <p:nvPr/>
        </p:nvGrpSpPr>
        <p:grpSpPr>
          <a:xfrm>
            <a:off x="2760643" y="2169201"/>
            <a:ext cx="376531" cy="313404"/>
            <a:chOff x="888693" y="2360601"/>
            <a:chExt cx="376531" cy="313404"/>
          </a:xfrm>
        </p:grpSpPr>
        <p:cxnSp>
          <p:nvCxnSpPr>
            <p:cNvPr id="895" name="Google Shape;895;p72"/>
            <p:cNvCxnSpPr/>
            <p:nvPr/>
          </p:nvCxnSpPr>
          <p:spPr>
            <a:xfrm>
              <a:off x="888700" y="26740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6" name="Google Shape;896;p72"/>
            <p:cNvCxnSpPr/>
            <p:nvPr/>
          </p:nvCxnSpPr>
          <p:spPr>
            <a:xfrm rot="3599392">
              <a:off x="993930" y="25172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7" name="Google Shape;897;p72"/>
            <p:cNvCxnSpPr/>
            <p:nvPr/>
          </p:nvCxnSpPr>
          <p:spPr>
            <a:xfrm rot="7200608">
              <a:off x="798299" y="25174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98" name="Google Shape;898;p72"/>
          <p:cNvGrpSpPr/>
          <p:nvPr/>
        </p:nvGrpSpPr>
        <p:grpSpPr>
          <a:xfrm>
            <a:off x="3534777" y="2169101"/>
            <a:ext cx="767781" cy="313504"/>
            <a:chOff x="1992718" y="2360701"/>
            <a:chExt cx="767781" cy="313504"/>
          </a:xfrm>
        </p:grpSpPr>
        <p:cxnSp>
          <p:nvCxnSpPr>
            <p:cNvPr id="899" name="Google Shape;899;p72"/>
            <p:cNvCxnSpPr/>
            <p:nvPr/>
          </p:nvCxnSpPr>
          <p:spPr>
            <a:xfrm>
              <a:off x="1992725" y="26741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0" name="Google Shape;900;p72"/>
            <p:cNvCxnSpPr/>
            <p:nvPr/>
          </p:nvCxnSpPr>
          <p:spPr>
            <a:xfrm rot="3599392">
              <a:off x="2097955" y="25173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1" name="Google Shape;901;p72"/>
            <p:cNvCxnSpPr/>
            <p:nvPr/>
          </p:nvCxnSpPr>
          <p:spPr>
            <a:xfrm rot="7200608">
              <a:off x="1902324" y="25175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2" name="Google Shape;902;p72"/>
            <p:cNvCxnSpPr/>
            <p:nvPr/>
          </p:nvCxnSpPr>
          <p:spPr>
            <a:xfrm>
              <a:off x="2383975" y="26742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3" name="Google Shape;903;p72"/>
            <p:cNvCxnSpPr/>
            <p:nvPr/>
          </p:nvCxnSpPr>
          <p:spPr>
            <a:xfrm rot="3599392">
              <a:off x="2489205" y="25174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4" name="Google Shape;904;p72"/>
            <p:cNvCxnSpPr/>
            <p:nvPr/>
          </p:nvCxnSpPr>
          <p:spPr>
            <a:xfrm rot="7200608">
              <a:off x="2293574" y="25176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05" name="Google Shape;905;p72"/>
          <p:cNvGrpSpPr/>
          <p:nvPr/>
        </p:nvGrpSpPr>
        <p:grpSpPr>
          <a:xfrm>
            <a:off x="4700160" y="2169001"/>
            <a:ext cx="1159031" cy="313604"/>
            <a:chOff x="3419193" y="2360851"/>
            <a:chExt cx="1159031" cy="313604"/>
          </a:xfrm>
        </p:grpSpPr>
        <p:cxnSp>
          <p:nvCxnSpPr>
            <p:cNvPr id="906" name="Google Shape;906;p72"/>
            <p:cNvCxnSpPr/>
            <p:nvPr/>
          </p:nvCxnSpPr>
          <p:spPr>
            <a:xfrm>
              <a:off x="3419200" y="267425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7" name="Google Shape;907;p72"/>
            <p:cNvCxnSpPr/>
            <p:nvPr/>
          </p:nvCxnSpPr>
          <p:spPr>
            <a:xfrm rot="3599392">
              <a:off x="3524430" y="251745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8" name="Google Shape;908;p72"/>
            <p:cNvCxnSpPr/>
            <p:nvPr/>
          </p:nvCxnSpPr>
          <p:spPr>
            <a:xfrm rot="7200608">
              <a:off x="3328799" y="251765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9" name="Google Shape;909;p72"/>
            <p:cNvCxnSpPr/>
            <p:nvPr/>
          </p:nvCxnSpPr>
          <p:spPr>
            <a:xfrm>
              <a:off x="3810450" y="267435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0" name="Google Shape;910;p72"/>
            <p:cNvCxnSpPr/>
            <p:nvPr/>
          </p:nvCxnSpPr>
          <p:spPr>
            <a:xfrm rot="3599392">
              <a:off x="3915680" y="251755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1" name="Google Shape;911;p72"/>
            <p:cNvCxnSpPr/>
            <p:nvPr/>
          </p:nvCxnSpPr>
          <p:spPr>
            <a:xfrm rot="7200608">
              <a:off x="3720049" y="251775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2" name="Google Shape;912;p72"/>
            <p:cNvCxnSpPr/>
            <p:nvPr/>
          </p:nvCxnSpPr>
          <p:spPr>
            <a:xfrm>
              <a:off x="4201700" y="267445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3" name="Google Shape;913;p72"/>
            <p:cNvCxnSpPr/>
            <p:nvPr/>
          </p:nvCxnSpPr>
          <p:spPr>
            <a:xfrm rot="3599392">
              <a:off x="4306930" y="251765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4" name="Google Shape;914;p72"/>
            <p:cNvCxnSpPr/>
            <p:nvPr/>
          </p:nvCxnSpPr>
          <p:spPr>
            <a:xfrm rot="7200608">
              <a:off x="4111299" y="251785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15" name="Google Shape;915;p72"/>
          <p:cNvGrpSpPr/>
          <p:nvPr/>
        </p:nvGrpSpPr>
        <p:grpSpPr>
          <a:xfrm>
            <a:off x="6256793" y="2168451"/>
            <a:ext cx="1550281" cy="314154"/>
            <a:chOff x="4984193" y="2360401"/>
            <a:chExt cx="1550281" cy="314154"/>
          </a:xfrm>
        </p:grpSpPr>
        <p:cxnSp>
          <p:nvCxnSpPr>
            <p:cNvPr id="916" name="Google Shape;916;p72"/>
            <p:cNvCxnSpPr/>
            <p:nvPr/>
          </p:nvCxnSpPr>
          <p:spPr>
            <a:xfrm>
              <a:off x="4984200" y="26738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7" name="Google Shape;917;p72"/>
            <p:cNvCxnSpPr/>
            <p:nvPr/>
          </p:nvCxnSpPr>
          <p:spPr>
            <a:xfrm rot="3599392">
              <a:off x="5089430" y="25170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8" name="Google Shape;918;p72"/>
            <p:cNvCxnSpPr/>
            <p:nvPr/>
          </p:nvCxnSpPr>
          <p:spPr>
            <a:xfrm rot="7200608">
              <a:off x="4893799" y="25172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9" name="Google Shape;919;p72"/>
            <p:cNvCxnSpPr/>
            <p:nvPr/>
          </p:nvCxnSpPr>
          <p:spPr>
            <a:xfrm>
              <a:off x="5375450" y="26739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0" name="Google Shape;920;p72"/>
            <p:cNvCxnSpPr/>
            <p:nvPr/>
          </p:nvCxnSpPr>
          <p:spPr>
            <a:xfrm rot="3599392">
              <a:off x="5480680" y="25171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1" name="Google Shape;921;p72"/>
            <p:cNvCxnSpPr/>
            <p:nvPr/>
          </p:nvCxnSpPr>
          <p:spPr>
            <a:xfrm rot="7200608">
              <a:off x="5285049" y="25173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2" name="Google Shape;922;p72"/>
            <p:cNvCxnSpPr/>
            <p:nvPr/>
          </p:nvCxnSpPr>
          <p:spPr>
            <a:xfrm>
              <a:off x="5766700" y="26740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3" name="Google Shape;923;p72"/>
            <p:cNvCxnSpPr/>
            <p:nvPr/>
          </p:nvCxnSpPr>
          <p:spPr>
            <a:xfrm rot="3599392">
              <a:off x="5871930" y="25172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4" name="Google Shape;924;p72"/>
            <p:cNvCxnSpPr/>
            <p:nvPr/>
          </p:nvCxnSpPr>
          <p:spPr>
            <a:xfrm rot="7200608">
              <a:off x="5676299" y="25174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5" name="Google Shape;925;p72"/>
            <p:cNvCxnSpPr/>
            <p:nvPr/>
          </p:nvCxnSpPr>
          <p:spPr>
            <a:xfrm>
              <a:off x="6157950" y="267455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6" name="Google Shape;926;p72"/>
            <p:cNvCxnSpPr/>
            <p:nvPr/>
          </p:nvCxnSpPr>
          <p:spPr>
            <a:xfrm rot="3599392">
              <a:off x="6263180" y="251775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7" name="Google Shape;927;p72"/>
            <p:cNvCxnSpPr/>
            <p:nvPr/>
          </p:nvCxnSpPr>
          <p:spPr>
            <a:xfrm rot="7200608">
              <a:off x="6067549" y="251795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28" name="Google Shape;928;p72"/>
          <p:cNvSpPr txBox="1"/>
          <p:nvPr>
            <p:ph type="body" idx="1"/>
          </p:nvPr>
        </p:nvSpPr>
        <p:spPr>
          <a:xfrm>
            <a:off x="324000" y="32400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is the relationship between the number of triangles and the number of lines? </a:t>
            </a:r>
            <a:endParaRPr sz="1800"/>
          </a:p>
        </p:txBody>
      </p:sp>
      <p:sp>
        <p:nvSpPr>
          <p:cNvPr id="929" name="Google Shape;929;p72"/>
          <p:cNvSpPr txBox="1"/>
          <p:nvPr>
            <p:ph type="body" idx="1"/>
          </p:nvPr>
        </p:nvSpPr>
        <p:spPr>
          <a:xfrm>
            <a:off x="324000" y="407665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triangle needs 3 lines so the number of lines is the number of triangles multiplied by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33" name="Shape 933"/>
        <p:cNvGrpSpPr/>
        <p:nvPr/>
      </p:nvGrpSpPr>
      <p:grpSpPr>
        <a:xfrm>
          <a:off x="0" y="0"/>
          <a:ext cx="0" cy="0"/>
        </a:xfrm>
      </p:grpSpPr>
      <p:sp>
        <p:nvSpPr>
          <p:cNvPr id="934" name="Google Shape;93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935" name="Google Shape;935;p73"/>
          <p:cNvSpPr txBox="1"/>
          <p:nvPr>
            <p:ph type="body" idx="1"/>
          </p:nvPr>
        </p:nvSpPr>
        <p:spPr>
          <a:xfrm>
            <a:off x="324000" y="3045300"/>
            <a:ext cx="82377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To find a </a:t>
            </a:r>
            <a:r>
              <a:rPr lang="en-GB" sz="1900" b="1"/>
              <a:t>position-to-term</a:t>
            </a:r>
            <a:r>
              <a:rPr lang="en-GB" sz="1900"/>
              <a:t> rule we need to look at the relationship between the </a:t>
            </a:r>
            <a:r>
              <a:rPr lang="en-GB" sz="1900">
                <a:solidFill>
                  <a:schemeClr val="accent4"/>
                </a:solidFill>
              </a:rPr>
              <a:t>term number</a:t>
            </a:r>
            <a:r>
              <a:rPr lang="en-GB" sz="1900"/>
              <a:t> and the </a:t>
            </a:r>
            <a:r>
              <a:rPr lang="en-GB" sz="1900">
                <a:solidFill>
                  <a:schemeClr val="accent4"/>
                </a:solidFill>
              </a:rPr>
              <a:t>value </a:t>
            </a:r>
            <a:r>
              <a:rPr lang="en-GB" sz="1900"/>
              <a:t>of the </a:t>
            </a:r>
            <a:r>
              <a:rPr lang="en-GB" sz="1900">
                <a:solidFill>
                  <a:schemeClr val="accent4"/>
                </a:solidFill>
              </a:rPr>
              <a:t>term</a:t>
            </a:r>
            <a:r>
              <a:rPr lang="en-GB" sz="1900"/>
              <a:t>.  </a:t>
            </a:r>
            <a:endParaRPr sz="1900"/>
          </a:p>
        </p:txBody>
      </p:sp>
      <p:graphicFrame>
        <p:nvGraphicFramePr>
          <p:cNvPr id="936" name="Google Shape;936;p73"/>
          <p:cNvGraphicFramePr>
            <a:graphicFrameLocks noGrp="1"/>
          </p:cNvGraphicFramePr>
          <p:nvPr/>
        </p:nvGraphicFramePr>
        <p:xfrm>
          <a:off x="486888" y="72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2044150"/>
                <a:gridCol w="838550"/>
                <a:gridCol w="1071175"/>
                <a:gridCol w="1619425"/>
                <a:gridCol w="1949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lines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937" name="Google Shape;937;p73"/>
          <p:cNvGrpSpPr/>
          <p:nvPr/>
        </p:nvGrpSpPr>
        <p:grpSpPr>
          <a:xfrm>
            <a:off x="2760643" y="1254801"/>
            <a:ext cx="376531" cy="313404"/>
            <a:chOff x="888693" y="2360601"/>
            <a:chExt cx="376531" cy="313404"/>
          </a:xfrm>
        </p:grpSpPr>
        <p:cxnSp>
          <p:nvCxnSpPr>
            <p:cNvPr id="938" name="Google Shape;938;p73"/>
            <p:cNvCxnSpPr/>
            <p:nvPr/>
          </p:nvCxnSpPr>
          <p:spPr>
            <a:xfrm>
              <a:off x="888700" y="26740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9" name="Google Shape;939;p73"/>
            <p:cNvCxnSpPr/>
            <p:nvPr/>
          </p:nvCxnSpPr>
          <p:spPr>
            <a:xfrm rot="3599392">
              <a:off x="993930" y="25172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0" name="Google Shape;940;p73"/>
            <p:cNvCxnSpPr/>
            <p:nvPr/>
          </p:nvCxnSpPr>
          <p:spPr>
            <a:xfrm rot="7200608">
              <a:off x="798299" y="25174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41" name="Google Shape;941;p73"/>
          <p:cNvGrpSpPr/>
          <p:nvPr/>
        </p:nvGrpSpPr>
        <p:grpSpPr>
          <a:xfrm>
            <a:off x="3534777" y="1254701"/>
            <a:ext cx="767781" cy="313504"/>
            <a:chOff x="1992718" y="2360701"/>
            <a:chExt cx="767781" cy="313504"/>
          </a:xfrm>
        </p:grpSpPr>
        <p:cxnSp>
          <p:nvCxnSpPr>
            <p:cNvPr id="942" name="Google Shape;942;p73"/>
            <p:cNvCxnSpPr/>
            <p:nvPr/>
          </p:nvCxnSpPr>
          <p:spPr>
            <a:xfrm>
              <a:off x="1992725" y="26741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3" name="Google Shape;943;p73"/>
            <p:cNvCxnSpPr/>
            <p:nvPr/>
          </p:nvCxnSpPr>
          <p:spPr>
            <a:xfrm rot="3599392">
              <a:off x="2097955" y="25173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4" name="Google Shape;944;p73"/>
            <p:cNvCxnSpPr/>
            <p:nvPr/>
          </p:nvCxnSpPr>
          <p:spPr>
            <a:xfrm rot="7200608">
              <a:off x="1902324" y="25175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5" name="Google Shape;945;p73"/>
            <p:cNvCxnSpPr/>
            <p:nvPr/>
          </p:nvCxnSpPr>
          <p:spPr>
            <a:xfrm>
              <a:off x="2383975" y="26742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6" name="Google Shape;946;p73"/>
            <p:cNvCxnSpPr/>
            <p:nvPr/>
          </p:nvCxnSpPr>
          <p:spPr>
            <a:xfrm rot="3599392">
              <a:off x="2489205" y="25174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7" name="Google Shape;947;p73"/>
            <p:cNvCxnSpPr/>
            <p:nvPr/>
          </p:nvCxnSpPr>
          <p:spPr>
            <a:xfrm rot="7200608">
              <a:off x="2293574" y="25176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48" name="Google Shape;948;p73"/>
          <p:cNvGrpSpPr/>
          <p:nvPr/>
        </p:nvGrpSpPr>
        <p:grpSpPr>
          <a:xfrm>
            <a:off x="4700160" y="1254601"/>
            <a:ext cx="1159031" cy="313604"/>
            <a:chOff x="3419193" y="2360851"/>
            <a:chExt cx="1159031" cy="313604"/>
          </a:xfrm>
        </p:grpSpPr>
        <p:cxnSp>
          <p:nvCxnSpPr>
            <p:cNvPr id="949" name="Google Shape;949;p73"/>
            <p:cNvCxnSpPr/>
            <p:nvPr/>
          </p:nvCxnSpPr>
          <p:spPr>
            <a:xfrm>
              <a:off x="3419200" y="267425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0" name="Google Shape;950;p73"/>
            <p:cNvCxnSpPr/>
            <p:nvPr/>
          </p:nvCxnSpPr>
          <p:spPr>
            <a:xfrm rot="3599392">
              <a:off x="3524430" y="251745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1" name="Google Shape;951;p73"/>
            <p:cNvCxnSpPr/>
            <p:nvPr/>
          </p:nvCxnSpPr>
          <p:spPr>
            <a:xfrm rot="7200608">
              <a:off x="3328799" y="251765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2" name="Google Shape;952;p73"/>
            <p:cNvCxnSpPr/>
            <p:nvPr/>
          </p:nvCxnSpPr>
          <p:spPr>
            <a:xfrm>
              <a:off x="3810450" y="267435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3" name="Google Shape;953;p73"/>
            <p:cNvCxnSpPr/>
            <p:nvPr/>
          </p:nvCxnSpPr>
          <p:spPr>
            <a:xfrm rot="3599392">
              <a:off x="3915680" y="251755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4" name="Google Shape;954;p73"/>
            <p:cNvCxnSpPr/>
            <p:nvPr/>
          </p:nvCxnSpPr>
          <p:spPr>
            <a:xfrm rot="7200608">
              <a:off x="3720049" y="251775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5" name="Google Shape;955;p73"/>
            <p:cNvCxnSpPr/>
            <p:nvPr/>
          </p:nvCxnSpPr>
          <p:spPr>
            <a:xfrm>
              <a:off x="4201700" y="267445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6" name="Google Shape;956;p73"/>
            <p:cNvCxnSpPr/>
            <p:nvPr/>
          </p:nvCxnSpPr>
          <p:spPr>
            <a:xfrm rot="3599392">
              <a:off x="4306930" y="251765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7" name="Google Shape;957;p73"/>
            <p:cNvCxnSpPr/>
            <p:nvPr/>
          </p:nvCxnSpPr>
          <p:spPr>
            <a:xfrm rot="7200608">
              <a:off x="4111299" y="251785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58" name="Google Shape;958;p73"/>
          <p:cNvGrpSpPr/>
          <p:nvPr/>
        </p:nvGrpSpPr>
        <p:grpSpPr>
          <a:xfrm>
            <a:off x="6256793" y="1254051"/>
            <a:ext cx="1550281" cy="314154"/>
            <a:chOff x="4984193" y="2360401"/>
            <a:chExt cx="1550281" cy="314154"/>
          </a:xfrm>
        </p:grpSpPr>
        <p:cxnSp>
          <p:nvCxnSpPr>
            <p:cNvPr id="959" name="Google Shape;959;p73"/>
            <p:cNvCxnSpPr/>
            <p:nvPr/>
          </p:nvCxnSpPr>
          <p:spPr>
            <a:xfrm>
              <a:off x="4984200" y="26738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0" name="Google Shape;960;p73"/>
            <p:cNvCxnSpPr/>
            <p:nvPr/>
          </p:nvCxnSpPr>
          <p:spPr>
            <a:xfrm rot="3599392">
              <a:off x="5089430" y="25170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1" name="Google Shape;961;p73"/>
            <p:cNvCxnSpPr/>
            <p:nvPr/>
          </p:nvCxnSpPr>
          <p:spPr>
            <a:xfrm rot="7200608">
              <a:off x="4893799" y="25172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2" name="Google Shape;962;p73"/>
            <p:cNvCxnSpPr/>
            <p:nvPr/>
          </p:nvCxnSpPr>
          <p:spPr>
            <a:xfrm>
              <a:off x="5375450" y="26739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3" name="Google Shape;963;p73"/>
            <p:cNvCxnSpPr/>
            <p:nvPr/>
          </p:nvCxnSpPr>
          <p:spPr>
            <a:xfrm rot="3599392">
              <a:off x="5480680" y="25171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4" name="Google Shape;964;p73"/>
            <p:cNvCxnSpPr/>
            <p:nvPr/>
          </p:nvCxnSpPr>
          <p:spPr>
            <a:xfrm rot="7200608">
              <a:off x="5285049" y="25173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5" name="Google Shape;965;p73"/>
            <p:cNvCxnSpPr/>
            <p:nvPr/>
          </p:nvCxnSpPr>
          <p:spPr>
            <a:xfrm>
              <a:off x="5766700" y="26740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6" name="Google Shape;966;p73"/>
            <p:cNvCxnSpPr/>
            <p:nvPr/>
          </p:nvCxnSpPr>
          <p:spPr>
            <a:xfrm rot="3599392">
              <a:off x="5871930" y="25172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7" name="Google Shape;967;p73"/>
            <p:cNvCxnSpPr/>
            <p:nvPr/>
          </p:nvCxnSpPr>
          <p:spPr>
            <a:xfrm rot="7200608">
              <a:off x="5676299" y="25174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8" name="Google Shape;968;p73"/>
            <p:cNvCxnSpPr/>
            <p:nvPr/>
          </p:nvCxnSpPr>
          <p:spPr>
            <a:xfrm>
              <a:off x="6157950" y="267455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9" name="Google Shape;969;p73"/>
            <p:cNvCxnSpPr/>
            <p:nvPr/>
          </p:nvCxnSpPr>
          <p:spPr>
            <a:xfrm rot="3599392">
              <a:off x="6263180" y="251775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0" name="Google Shape;970;p73"/>
            <p:cNvCxnSpPr/>
            <p:nvPr/>
          </p:nvCxnSpPr>
          <p:spPr>
            <a:xfrm rot="7200608">
              <a:off x="6067549" y="251795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71" name="Google Shape;971;p73"/>
          <p:cNvSpPr txBox="1"/>
          <p:nvPr>
            <p:ph type="body" idx="1"/>
          </p:nvPr>
        </p:nvSpPr>
        <p:spPr>
          <a:xfrm>
            <a:off x="324000" y="3964325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We can rewrite this as: 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‘The number of lines is the term number multiplied by 3’ </a:t>
            </a:r>
            <a:endParaRPr sz="1900"/>
          </a:p>
        </p:txBody>
      </p:sp>
      <p:sp>
        <p:nvSpPr>
          <p:cNvPr id="972" name="Google Shape;972;p73"/>
          <p:cNvSpPr txBox="1"/>
          <p:nvPr>
            <p:ph type="body" idx="1"/>
          </p:nvPr>
        </p:nvSpPr>
        <p:spPr>
          <a:xfrm>
            <a:off x="324000" y="22494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triangle needs 3 lines so the number of lines is the number of triangles multiplied by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6" name="Shape 976"/>
        <p:cNvGrpSpPr/>
        <p:nvPr/>
      </p:nvGrpSpPr>
      <p:grpSpPr>
        <a:xfrm>
          <a:off x="0" y="0"/>
          <a:ext cx="0" cy="0"/>
        </a:xfrm>
      </p:grpSpPr>
      <p:sp>
        <p:nvSpPr>
          <p:cNvPr id="977" name="Google Shape;97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978" name="Google Shape;978;p74"/>
          <p:cNvSpPr txBox="1"/>
          <p:nvPr>
            <p:ph type="body" idx="1"/>
          </p:nvPr>
        </p:nvSpPr>
        <p:spPr>
          <a:xfrm>
            <a:off x="324000" y="701150"/>
            <a:ext cx="82377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If the </a:t>
            </a:r>
            <a:r>
              <a:rPr lang="en-GB" sz="1900" b="1"/>
              <a:t>position-to-term</a:t>
            </a:r>
            <a:r>
              <a:rPr lang="en-GB" sz="1900"/>
              <a:t> rule is:  </a:t>
            </a:r>
            <a:endParaRPr sz="1900"/>
          </a:p>
        </p:txBody>
      </p:sp>
      <p:sp>
        <p:nvSpPr>
          <p:cNvPr id="979" name="Google Shape;979;p74"/>
          <p:cNvSpPr txBox="1"/>
          <p:nvPr>
            <p:ph type="body" idx="1"/>
          </p:nvPr>
        </p:nvSpPr>
        <p:spPr>
          <a:xfrm>
            <a:off x="324000" y="113305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‘The number of lines is the term number multiplied by 3’ </a:t>
            </a:r>
            <a:endParaRPr sz="1900"/>
          </a:p>
        </p:txBody>
      </p:sp>
      <p:sp>
        <p:nvSpPr>
          <p:cNvPr id="980" name="Google Shape;980;p74"/>
          <p:cNvSpPr txBox="1"/>
          <p:nvPr>
            <p:ph type="body" idx="1"/>
          </p:nvPr>
        </p:nvSpPr>
        <p:spPr>
          <a:xfrm>
            <a:off x="324000" y="2406350"/>
            <a:ext cx="4248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3 = 30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1" name="Google Shape;981;p74"/>
          <p:cNvSpPr txBox="1"/>
          <p:nvPr>
            <p:ph type="body" idx="1"/>
          </p:nvPr>
        </p:nvSpPr>
        <p:spPr>
          <a:xfrm>
            <a:off x="324000" y="186745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How many lines will there be in the 10</a:t>
            </a:r>
            <a:r>
              <a:rPr lang="en-GB" sz="1900" baseline="30000"/>
              <a:t>th</a:t>
            </a:r>
            <a:r>
              <a:rPr lang="en-GB" sz="1900"/>
              <a:t> term? </a:t>
            </a:r>
            <a:endParaRPr sz="1900"/>
          </a:p>
        </p:txBody>
      </p:sp>
      <p:sp>
        <p:nvSpPr>
          <p:cNvPr id="982" name="Google Shape;982;p74"/>
          <p:cNvSpPr txBox="1"/>
          <p:nvPr>
            <p:ph type="body" idx="1"/>
          </p:nvPr>
        </p:nvSpPr>
        <p:spPr>
          <a:xfrm>
            <a:off x="324000" y="303375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How many lines will there be in T</a:t>
            </a:r>
            <a:r>
              <a:rPr lang="en-GB" sz="1900" baseline="-25000"/>
              <a:t>100</a:t>
            </a:r>
            <a:r>
              <a:rPr lang="en-GB" sz="1900"/>
              <a:t>? </a:t>
            </a:r>
            <a:endParaRPr sz="1900"/>
          </a:p>
        </p:txBody>
      </p:sp>
      <p:sp>
        <p:nvSpPr>
          <p:cNvPr id="983" name="Google Shape;983;p74"/>
          <p:cNvSpPr txBox="1"/>
          <p:nvPr>
            <p:ph type="body" idx="1"/>
          </p:nvPr>
        </p:nvSpPr>
        <p:spPr>
          <a:xfrm>
            <a:off x="324000" y="3616900"/>
            <a:ext cx="4248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100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3 = 300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4" name="Google Shape;984;p74"/>
          <p:cNvSpPr txBox="1"/>
          <p:nvPr>
            <p:ph type="body" idx="1"/>
          </p:nvPr>
        </p:nvSpPr>
        <p:spPr>
          <a:xfrm>
            <a:off x="324000" y="4200050"/>
            <a:ext cx="82377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Using a </a:t>
            </a:r>
            <a:r>
              <a:rPr lang="en-GB" sz="1900" b="1"/>
              <a:t>position-to-term</a:t>
            </a:r>
            <a:r>
              <a:rPr lang="en-GB" sz="1900"/>
              <a:t> rule is a quick way to find any term from its term number. </a:t>
            </a:r>
            <a:endParaRPr sz="19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8" name="Shape 988"/>
        <p:cNvGrpSpPr/>
        <p:nvPr/>
      </p:nvGrpSpPr>
      <p:grpSpPr>
        <a:xfrm>
          <a:off x="0" y="0"/>
          <a:ext cx="0" cy="0"/>
        </a:xfrm>
      </p:grpSpPr>
      <p:graphicFrame>
        <p:nvGraphicFramePr>
          <p:cNvPr id="989" name="Google Shape;989;p75"/>
          <p:cNvGraphicFramePr>
            <a:graphicFrameLocks noGrp="1"/>
          </p:cNvGraphicFramePr>
          <p:nvPr/>
        </p:nvGraphicFramePr>
        <p:xfrm>
          <a:off x="486888" y="156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2044150"/>
                <a:gridCol w="838550"/>
                <a:gridCol w="1071175"/>
                <a:gridCol w="1619425"/>
                <a:gridCol w="1949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90" name="Google Shape;990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991" name="Google Shape;991;p75"/>
          <p:cNvSpPr txBox="1"/>
          <p:nvPr>
            <p:ph type="body" idx="1"/>
          </p:nvPr>
        </p:nvSpPr>
        <p:spPr>
          <a:xfrm>
            <a:off x="324000" y="7843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could we calculate a </a:t>
            </a:r>
            <a:r>
              <a:rPr lang="en-GB" sz="1800" b="1"/>
              <a:t>position-to-term</a:t>
            </a:r>
            <a:r>
              <a:rPr lang="en-GB" sz="1800"/>
              <a:t> rule for the number of lines in each term for this sequence?</a:t>
            </a:r>
            <a:endParaRPr sz="1800"/>
          </a:p>
        </p:txBody>
      </p:sp>
      <p:grpSp>
        <p:nvGrpSpPr>
          <p:cNvPr id="992" name="Google Shape;992;p75"/>
          <p:cNvGrpSpPr/>
          <p:nvPr/>
        </p:nvGrpSpPr>
        <p:grpSpPr>
          <a:xfrm>
            <a:off x="2760643" y="2093004"/>
            <a:ext cx="376531" cy="313404"/>
            <a:chOff x="888693" y="2360601"/>
            <a:chExt cx="376531" cy="313404"/>
          </a:xfrm>
        </p:grpSpPr>
        <p:cxnSp>
          <p:nvCxnSpPr>
            <p:cNvPr id="993" name="Google Shape;993;p75"/>
            <p:cNvCxnSpPr/>
            <p:nvPr/>
          </p:nvCxnSpPr>
          <p:spPr>
            <a:xfrm>
              <a:off x="888700" y="26740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4" name="Google Shape;994;p75"/>
            <p:cNvCxnSpPr/>
            <p:nvPr/>
          </p:nvCxnSpPr>
          <p:spPr>
            <a:xfrm rot="3599392">
              <a:off x="993930" y="25172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5" name="Google Shape;995;p75"/>
            <p:cNvCxnSpPr/>
            <p:nvPr/>
          </p:nvCxnSpPr>
          <p:spPr>
            <a:xfrm rot="7200608">
              <a:off x="798299" y="25174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96" name="Google Shape;996;p75"/>
          <p:cNvGrpSpPr/>
          <p:nvPr/>
        </p:nvGrpSpPr>
        <p:grpSpPr>
          <a:xfrm>
            <a:off x="3610977" y="1920841"/>
            <a:ext cx="574394" cy="485567"/>
            <a:chOff x="3534777" y="1996938"/>
            <a:chExt cx="574394" cy="485567"/>
          </a:xfrm>
        </p:grpSpPr>
        <p:cxnSp>
          <p:nvCxnSpPr>
            <p:cNvPr id="997" name="Google Shape;997;p75"/>
            <p:cNvCxnSpPr/>
            <p:nvPr/>
          </p:nvCxnSpPr>
          <p:spPr>
            <a:xfrm>
              <a:off x="3534783" y="24825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8" name="Google Shape;998;p75"/>
            <p:cNvCxnSpPr/>
            <p:nvPr/>
          </p:nvCxnSpPr>
          <p:spPr>
            <a:xfrm rot="3599392">
              <a:off x="3640013" y="23257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9" name="Google Shape;999;p75"/>
            <p:cNvCxnSpPr/>
            <p:nvPr/>
          </p:nvCxnSpPr>
          <p:spPr>
            <a:xfrm rot="7200608">
              <a:off x="3444382" y="23259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00" name="Google Shape;1000;p75"/>
            <p:cNvGrpSpPr/>
            <p:nvPr/>
          </p:nvGrpSpPr>
          <p:grpSpPr>
            <a:xfrm rot="-3599956">
              <a:off x="3691080" y="2081627"/>
              <a:ext cx="376516" cy="313393"/>
              <a:chOff x="3926033" y="2169201"/>
              <a:chExt cx="376524" cy="313399"/>
            </a:xfrm>
          </p:grpSpPr>
          <p:cxnSp>
            <p:nvCxnSpPr>
              <p:cNvPr id="1001" name="Google Shape;1001;p75"/>
              <p:cNvCxnSpPr/>
              <p:nvPr/>
            </p:nvCxnSpPr>
            <p:spPr>
              <a:xfrm>
                <a:off x="3926033" y="2482600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2" name="Google Shape;1002;p75"/>
              <p:cNvCxnSpPr/>
              <p:nvPr/>
            </p:nvCxnSpPr>
            <p:spPr>
              <a:xfrm rot="3599392">
                <a:off x="4031263" y="23258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03" name="Google Shape;1003;p75"/>
          <p:cNvSpPr txBox="1"/>
          <p:nvPr>
            <p:ph type="body" idx="1"/>
          </p:nvPr>
        </p:nvSpPr>
        <p:spPr>
          <a:xfrm>
            <a:off x="324000" y="36789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triangle needs two lines except the first triangle than needs an extra one.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4" name="Google Shape;1004;p75"/>
          <p:cNvSpPr txBox="1"/>
          <p:nvPr>
            <p:ph type="body" idx="1"/>
          </p:nvPr>
        </p:nvSpPr>
        <p:spPr>
          <a:xfrm>
            <a:off x="324000" y="2643675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The term number is the same as the number of triangles.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is the relationship between the number of triangles and the number of lines? </a:t>
            </a:r>
            <a:endParaRPr sz="1800"/>
          </a:p>
        </p:txBody>
      </p:sp>
      <p:grpSp>
        <p:nvGrpSpPr>
          <p:cNvPr id="1005" name="Google Shape;1005;p75"/>
          <p:cNvGrpSpPr/>
          <p:nvPr/>
        </p:nvGrpSpPr>
        <p:grpSpPr>
          <a:xfrm>
            <a:off x="4850093" y="1923638"/>
            <a:ext cx="784097" cy="482770"/>
            <a:chOff x="4621493" y="1999838"/>
            <a:chExt cx="784097" cy="482770"/>
          </a:xfrm>
        </p:grpSpPr>
        <p:grpSp>
          <p:nvGrpSpPr>
            <p:cNvPr id="1006" name="Google Shape;1006;p75"/>
            <p:cNvGrpSpPr/>
            <p:nvPr/>
          </p:nvGrpSpPr>
          <p:grpSpPr>
            <a:xfrm>
              <a:off x="4621493" y="2169201"/>
              <a:ext cx="376531" cy="313404"/>
              <a:chOff x="888693" y="2360601"/>
              <a:chExt cx="376531" cy="313404"/>
            </a:xfrm>
          </p:grpSpPr>
          <p:cxnSp>
            <p:nvCxnSpPr>
              <p:cNvPr id="1007" name="Google Shape;1007;p75"/>
              <p:cNvCxnSpPr/>
              <p:nvPr/>
            </p:nvCxnSpPr>
            <p:spPr>
              <a:xfrm>
                <a:off x="888700" y="2674000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8" name="Google Shape;1008;p75"/>
              <p:cNvCxnSpPr/>
              <p:nvPr/>
            </p:nvCxnSpPr>
            <p:spPr>
              <a:xfrm rot="3599392">
                <a:off x="993930" y="25172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9" name="Google Shape;1009;p75"/>
              <p:cNvCxnSpPr/>
              <p:nvPr/>
            </p:nvCxnSpPr>
            <p:spPr>
              <a:xfrm rot="7200608">
                <a:off x="798299" y="2517405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10" name="Google Shape;1010;p75"/>
            <p:cNvGrpSpPr/>
            <p:nvPr/>
          </p:nvGrpSpPr>
          <p:grpSpPr>
            <a:xfrm rot="-3599956">
              <a:off x="4782251" y="2084527"/>
              <a:ext cx="376516" cy="313393"/>
              <a:chOff x="3926033" y="2169201"/>
              <a:chExt cx="376524" cy="313399"/>
            </a:xfrm>
          </p:grpSpPr>
          <p:cxnSp>
            <p:nvCxnSpPr>
              <p:cNvPr id="1011" name="Google Shape;1011;p75"/>
              <p:cNvCxnSpPr/>
              <p:nvPr/>
            </p:nvCxnSpPr>
            <p:spPr>
              <a:xfrm>
                <a:off x="3926033" y="2482600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2" name="Google Shape;1012;p75"/>
              <p:cNvCxnSpPr/>
              <p:nvPr/>
            </p:nvCxnSpPr>
            <p:spPr>
              <a:xfrm rot="3599392">
                <a:off x="4031263" y="23258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13" name="Google Shape;1013;p75"/>
            <p:cNvGrpSpPr/>
            <p:nvPr/>
          </p:nvGrpSpPr>
          <p:grpSpPr>
            <a:xfrm>
              <a:off x="5029066" y="2168833"/>
              <a:ext cx="376524" cy="313399"/>
              <a:chOff x="3926033" y="2169201"/>
              <a:chExt cx="376524" cy="313399"/>
            </a:xfrm>
          </p:grpSpPr>
          <p:cxnSp>
            <p:nvCxnSpPr>
              <p:cNvPr id="1014" name="Google Shape;1014;p75"/>
              <p:cNvCxnSpPr/>
              <p:nvPr/>
            </p:nvCxnSpPr>
            <p:spPr>
              <a:xfrm>
                <a:off x="3926033" y="2482600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5" name="Google Shape;1015;p75"/>
              <p:cNvCxnSpPr/>
              <p:nvPr/>
            </p:nvCxnSpPr>
            <p:spPr>
              <a:xfrm rot="3599392">
                <a:off x="4031263" y="23258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16" name="Google Shape;1016;p75"/>
          <p:cNvGrpSpPr/>
          <p:nvPr/>
        </p:nvGrpSpPr>
        <p:grpSpPr>
          <a:xfrm>
            <a:off x="6554093" y="1923638"/>
            <a:ext cx="999200" cy="482770"/>
            <a:chOff x="6325493" y="1977013"/>
            <a:chExt cx="999200" cy="482770"/>
          </a:xfrm>
        </p:grpSpPr>
        <p:grpSp>
          <p:nvGrpSpPr>
            <p:cNvPr id="1017" name="Google Shape;1017;p75"/>
            <p:cNvGrpSpPr/>
            <p:nvPr/>
          </p:nvGrpSpPr>
          <p:grpSpPr>
            <a:xfrm>
              <a:off x="6325493" y="2146376"/>
              <a:ext cx="376531" cy="313404"/>
              <a:chOff x="888693" y="2360601"/>
              <a:chExt cx="376531" cy="313404"/>
            </a:xfrm>
          </p:grpSpPr>
          <p:cxnSp>
            <p:nvCxnSpPr>
              <p:cNvPr id="1018" name="Google Shape;1018;p75"/>
              <p:cNvCxnSpPr/>
              <p:nvPr/>
            </p:nvCxnSpPr>
            <p:spPr>
              <a:xfrm>
                <a:off x="888700" y="2674000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9" name="Google Shape;1019;p75"/>
              <p:cNvCxnSpPr/>
              <p:nvPr/>
            </p:nvCxnSpPr>
            <p:spPr>
              <a:xfrm rot="3599392">
                <a:off x="993930" y="25172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0" name="Google Shape;1020;p75"/>
              <p:cNvCxnSpPr/>
              <p:nvPr/>
            </p:nvCxnSpPr>
            <p:spPr>
              <a:xfrm rot="7200608">
                <a:off x="798299" y="2517405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21" name="Google Shape;1021;p75"/>
            <p:cNvGrpSpPr/>
            <p:nvPr/>
          </p:nvGrpSpPr>
          <p:grpSpPr>
            <a:xfrm rot="-3599956">
              <a:off x="6486251" y="2061702"/>
              <a:ext cx="376516" cy="313393"/>
              <a:chOff x="3926033" y="2169201"/>
              <a:chExt cx="376524" cy="313399"/>
            </a:xfrm>
          </p:grpSpPr>
          <p:cxnSp>
            <p:nvCxnSpPr>
              <p:cNvPr id="1022" name="Google Shape;1022;p75"/>
              <p:cNvCxnSpPr/>
              <p:nvPr/>
            </p:nvCxnSpPr>
            <p:spPr>
              <a:xfrm>
                <a:off x="3926033" y="2482600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3" name="Google Shape;1023;p75"/>
              <p:cNvCxnSpPr/>
              <p:nvPr/>
            </p:nvCxnSpPr>
            <p:spPr>
              <a:xfrm rot="3599392">
                <a:off x="4031263" y="23258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24" name="Google Shape;1024;p75"/>
            <p:cNvGrpSpPr/>
            <p:nvPr/>
          </p:nvGrpSpPr>
          <p:grpSpPr>
            <a:xfrm>
              <a:off x="6733066" y="2146008"/>
              <a:ext cx="376524" cy="313399"/>
              <a:chOff x="3926033" y="2169201"/>
              <a:chExt cx="376524" cy="313399"/>
            </a:xfrm>
          </p:grpSpPr>
          <p:cxnSp>
            <p:nvCxnSpPr>
              <p:cNvPr id="1025" name="Google Shape;1025;p75"/>
              <p:cNvCxnSpPr/>
              <p:nvPr/>
            </p:nvCxnSpPr>
            <p:spPr>
              <a:xfrm>
                <a:off x="3926033" y="2482600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6" name="Google Shape;1026;p75"/>
              <p:cNvCxnSpPr/>
              <p:nvPr/>
            </p:nvCxnSpPr>
            <p:spPr>
              <a:xfrm rot="3599392">
                <a:off x="4031263" y="23258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27" name="Google Shape;1027;p75"/>
            <p:cNvGrpSpPr/>
            <p:nvPr/>
          </p:nvGrpSpPr>
          <p:grpSpPr>
            <a:xfrm rot="-3599956">
              <a:off x="6906602" y="2061702"/>
              <a:ext cx="376516" cy="313393"/>
              <a:chOff x="3926033" y="2169201"/>
              <a:chExt cx="376524" cy="313399"/>
            </a:xfrm>
          </p:grpSpPr>
          <p:cxnSp>
            <p:nvCxnSpPr>
              <p:cNvPr id="1028" name="Google Shape;1028;p75"/>
              <p:cNvCxnSpPr/>
              <p:nvPr/>
            </p:nvCxnSpPr>
            <p:spPr>
              <a:xfrm>
                <a:off x="3926033" y="2482600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9" name="Google Shape;1029;p75"/>
              <p:cNvCxnSpPr/>
              <p:nvPr/>
            </p:nvCxnSpPr>
            <p:spPr>
              <a:xfrm rot="3599392">
                <a:off x="4031263" y="23258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30" name="Google Shape;1030;p75"/>
          <p:cNvSpPr txBox="1"/>
          <p:nvPr>
            <p:ph type="body" idx="1"/>
          </p:nvPr>
        </p:nvSpPr>
        <p:spPr>
          <a:xfrm>
            <a:off x="324000" y="4342525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Two lines per triangle plus 1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4" name="Shape 1034"/>
        <p:cNvGrpSpPr/>
        <p:nvPr/>
      </p:nvGrpSpPr>
      <p:grpSpPr>
        <a:xfrm>
          <a:off x="0" y="0"/>
          <a:ext cx="0" cy="0"/>
        </a:xfrm>
      </p:grpSpPr>
      <p:graphicFrame>
        <p:nvGraphicFramePr>
          <p:cNvPr id="1035" name="Google Shape;1035;p76"/>
          <p:cNvGraphicFramePr>
            <a:graphicFrameLocks noGrp="1"/>
          </p:cNvGraphicFramePr>
          <p:nvPr/>
        </p:nvGraphicFramePr>
        <p:xfrm>
          <a:off x="334488" y="163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2044150"/>
                <a:gridCol w="838550"/>
                <a:gridCol w="1071175"/>
                <a:gridCol w="1619425"/>
                <a:gridCol w="1949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lines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36" name="Google Shape;103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1037" name="Google Shape;1037;p76"/>
          <p:cNvSpPr txBox="1"/>
          <p:nvPr>
            <p:ph type="body" idx="1"/>
          </p:nvPr>
        </p:nvSpPr>
        <p:spPr>
          <a:xfrm>
            <a:off x="324000" y="7843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 can you write this as a </a:t>
            </a:r>
            <a:r>
              <a:rPr lang="en-GB" sz="2000" b="1"/>
              <a:t>position-to-term</a:t>
            </a:r>
            <a:r>
              <a:rPr lang="en-GB" sz="2000"/>
              <a:t> rule? </a:t>
            </a:r>
            <a:endParaRPr sz="2000"/>
          </a:p>
        </p:txBody>
      </p:sp>
      <p:grpSp>
        <p:nvGrpSpPr>
          <p:cNvPr id="1038" name="Google Shape;1038;p76"/>
          <p:cNvGrpSpPr/>
          <p:nvPr/>
        </p:nvGrpSpPr>
        <p:grpSpPr>
          <a:xfrm>
            <a:off x="2608243" y="2169204"/>
            <a:ext cx="376531" cy="313404"/>
            <a:chOff x="888693" y="2360601"/>
            <a:chExt cx="376531" cy="313404"/>
          </a:xfrm>
        </p:grpSpPr>
        <p:cxnSp>
          <p:nvCxnSpPr>
            <p:cNvPr id="1039" name="Google Shape;1039;p76"/>
            <p:cNvCxnSpPr/>
            <p:nvPr/>
          </p:nvCxnSpPr>
          <p:spPr>
            <a:xfrm>
              <a:off x="888700" y="26740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0" name="Google Shape;1040;p76"/>
            <p:cNvCxnSpPr/>
            <p:nvPr/>
          </p:nvCxnSpPr>
          <p:spPr>
            <a:xfrm rot="3599392">
              <a:off x="993930" y="25172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1" name="Google Shape;1041;p76"/>
            <p:cNvCxnSpPr/>
            <p:nvPr/>
          </p:nvCxnSpPr>
          <p:spPr>
            <a:xfrm rot="7200608">
              <a:off x="798299" y="25174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42" name="Google Shape;1042;p76"/>
          <p:cNvGrpSpPr/>
          <p:nvPr/>
        </p:nvGrpSpPr>
        <p:grpSpPr>
          <a:xfrm>
            <a:off x="3458577" y="1997041"/>
            <a:ext cx="574394" cy="485567"/>
            <a:chOff x="3534777" y="1996938"/>
            <a:chExt cx="574394" cy="485567"/>
          </a:xfrm>
        </p:grpSpPr>
        <p:cxnSp>
          <p:nvCxnSpPr>
            <p:cNvPr id="1043" name="Google Shape;1043;p76"/>
            <p:cNvCxnSpPr/>
            <p:nvPr/>
          </p:nvCxnSpPr>
          <p:spPr>
            <a:xfrm>
              <a:off x="3534783" y="2482500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4" name="Google Shape;1044;p76"/>
            <p:cNvCxnSpPr/>
            <p:nvPr/>
          </p:nvCxnSpPr>
          <p:spPr>
            <a:xfrm rot="3599392">
              <a:off x="3640013" y="2325701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5" name="Google Shape;1045;p76"/>
            <p:cNvCxnSpPr/>
            <p:nvPr/>
          </p:nvCxnSpPr>
          <p:spPr>
            <a:xfrm rot="7200608">
              <a:off x="3444382" y="2325905"/>
              <a:ext cx="361689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46" name="Google Shape;1046;p76"/>
            <p:cNvGrpSpPr/>
            <p:nvPr/>
          </p:nvGrpSpPr>
          <p:grpSpPr>
            <a:xfrm rot="-3599956">
              <a:off x="3691080" y="2081627"/>
              <a:ext cx="376516" cy="313393"/>
              <a:chOff x="3926033" y="2169201"/>
              <a:chExt cx="376524" cy="313399"/>
            </a:xfrm>
          </p:grpSpPr>
          <p:cxnSp>
            <p:nvCxnSpPr>
              <p:cNvPr id="1047" name="Google Shape;1047;p76"/>
              <p:cNvCxnSpPr/>
              <p:nvPr/>
            </p:nvCxnSpPr>
            <p:spPr>
              <a:xfrm>
                <a:off x="3926033" y="2482600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8" name="Google Shape;1048;p76"/>
              <p:cNvCxnSpPr/>
              <p:nvPr/>
            </p:nvCxnSpPr>
            <p:spPr>
              <a:xfrm rot="3599392">
                <a:off x="4031263" y="23258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49" name="Google Shape;1049;p76"/>
          <p:cNvSpPr txBox="1"/>
          <p:nvPr>
            <p:ph type="body" idx="1"/>
          </p:nvPr>
        </p:nvSpPr>
        <p:spPr>
          <a:xfrm>
            <a:off x="324000" y="32975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‘The number of lines is the </a:t>
            </a:r>
            <a:r>
              <a:rPr lang="en-GB" sz="1800">
                <a:solidFill>
                  <a:schemeClr val="accent4"/>
                </a:solidFill>
              </a:rPr>
              <a:t>term number</a:t>
            </a:r>
            <a:r>
              <a:rPr lang="en-GB" sz="1800"/>
              <a:t> multiplied by 2 plus 1’ </a:t>
            </a:r>
            <a:endParaRPr sz="1800"/>
          </a:p>
        </p:txBody>
      </p:sp>
      <p:grpSp>
        <p:nvGrpSpPr>
          <p:cNvPr id="1050" name="Google Shape;1050;p76"/>
          <p:cNvGrpSpPr/>
          <p:nvPr/>
        </p:nvGrpSpPr>
        <p:grpSpPr>
          <a:xfrm>
            <a:off x="4697693" y="1999838"/>
            <a:ext cx="784097" cy="482770"/>
            <a:chOff x="4621493" y="1999838"/>
            <a:chExt cx="784097" cy="482770"/>
          </a:xfrm>
        </p:grpSpPr>
        <p:grpSp>
          <p:nvGrpSpPr>
            <p:cNvPr id="1051" name="Google Shape;1051;p76"/>
            <p:cNvGrpSpPr/>
            <p:nvPr/>
          </p:nvGrpSpPr>
          <p:grpSpPr>
            <a:xfrm>
              <a:off x="4621493" y="2169201"/>
              <a:ext cx="376531" cy="313404"/>
              <a:chOff x="888693" y="2360601"/>
              <a:chExt cx="376531" cy="313404"/>
            </a:xfrm>
          </p:grpSpPr>
          <p:cxnSp>
            <p:nvCxnSpPr>
              <p:cNvPr id="1052" name="Google Shape;1052;p76"/>
              <p:cNvCxnSpPr/>
              <p:nvPr/>
            </p:nvCxnSpPr>
            <p:spPr>
              <a:xfrm>
                <a:off x="888700" y="2674000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3" name="Google Shape;1053;p76"/>
              <p:cNvCxnSpPr/>
              <p:nvPr/>
            </p:nvCxnSpPr>
            <p:spPr>
              <a:xfrm rot="3599392">
                <a:off x="993930" y="25172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4" name="Google Shape;1054;p76"/>
              <p:cNvCxnSpPr/>
              <p:nvPr/>
            </p:nvCxnSpPr>
            <p:spPr>
              <a:xfrm rot="7200608">
                <a:off x="798299" y="2517405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55" name="Google Shape;1055;p76"/>
            <p:cNvGrpSpPr/>
            <p:nvPr/>
          </p:nvGrpSpPr>
          <p:grpSpPr>
            <a:xfrm rot="-3599956">
              <a:off x="4782251" y="2084527"/>
              <a:ext cx="376516" cy="313393"/>
              <a:chOff x="3926033" y="2169201"/>
              <a:chExt cx="376524" cy="313399"/>
            </a:xfrm>
          </p:grpSpPr>
          <p:cxnSp>
            <p:nvCxnSpPr>
              <p:cNvPr id="1056" name="Google Shape;1056;p76"/>
              <p:cNvCxnSpPr/>
              <p:nvPr/>
            </p:nvCxnSpPr>
            <p:spPr>
              <a:xfrm>
                <a:off x="3926033" y="2482600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7" name="Google Shape;1057;p76"/>
              <p:cNvCxnSpPr/>
              <p:nvPr/>
            </p:nvCxnSpPr>
            <p:spPr>
              <a:xfrm rot="3599392">
                <a:off x="4031263" y="23258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58" name="Google Shape;1058;p76"/>
            <p:cNvGrpSpPr/>
            <p:nvPr/>
          </p:nvGrpSpPr>
          <p:grpSpPr>
            <a:xfrm>
              <a:off x="5029066" y="2168833"/>
              <a:ext cx="376524" cy="313399"/>
              <a:chOff x="3926033" y="2169201"/>
              <a:chExt cx="376524" cy="313399"/>
            </a:xfrm>
          </p:grpSpPr>
          <p:cxnSp>
            <p:nvCxnSpPr>
              <p:cNvPr id="1059" name="Google Shape;1059;p76"/>
              <p:cNvCxnSpPr/>
              <p:nvPr/>
            </p:nvCxnSpPr>
            <p:spPr>
              <a:xfrm>
                <a:off x="3926033" y="2482600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0" name="Google Shape;1060;p76"/>
              <p:cNvCxnSpPr/>
              <p:nvPr/>
            </p:nvCxnSpPr>
            <p:spPr>
              <a:xfrm rot="3599392">
                <a:off x="4031263" y="23258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61" name="Google Shape;1061;p76"/>
          <p:cNvGrpSpPr/>
          <p:nvPr/>
        </p:nvGrpSpPr>
        <p:grpSpPr>
          <a:xfrm>
            <a:off x="6401693" y="1999838"/>
            <a:ext cx="999200" cy="482770"/>
            <a:chOff x="6325493" y="1977013"/>
            <a:chExt cx="999200" cy="482770"/>
          </a:xfrm>
        </p:grpSpPr>
        <p:grpSp>
          <p:nvGrpSpPr>
            <p:cNvPr id="1062" name="Google Shape;1062;p76"/>
            <p:cNvGrpSpPr/>
            <p:nvPr/>
          </p:nvGrpSpPr>
          <p:grpSpPr>
            <a:xfrm>
              <a:off x="6325493" y="2146376"/>
              <a:ext cx="376531" cy="313404"/>
              <a:chOff x="888693" y="2360601"/>
              <a:chExt cx="376531" cy="313404"/>
            </a:xfrm>
          </p:grpSpPr>
          <p:cxnSp>
            <p:nvCxnSpPr>
              <p:cNvPr id="1063" name="Google Shape;1063;p76"/>
              <p:cNvCxnSpPr/>
              <p:nvPr/>
            </p:nvCxnSpPr>
            <p:spPr>
              <a:xfrm>
                <a:off x="888700" y="2674000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4" name="Google Shape;1064;p76"/>
              <p:cNvCxnSpPr/>
              <p:nvPr/>
            </p:nvCxnSpPr>
            <p:spPr>
              <a:xfrm rot="3599392">
                <a:off x="993930" y="25172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5" name="Google Shape;1065;p76"/>
              <p:cNvCxnSpPr/>
              <p:nvPr/>
            </p:nvCxnSpPr>
            <p:spPr>
              <a:xfrm rot="7200608">
                <a:off x="798299" y="2517405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66" name="Google Shape;1066;p76"/>
            <p:cNvGrpSpPr/>
            <p:nvPr/>
          </p:nvGrpSpPr>
          <p:grpSpPr>
            <a:xfrm rot="-3599956">
              <a:off x="6486251" y="2061702"/>
              <a:ext cx="376516" cy="313393"/>
              <a:chOff x="3926033" y="2169201"/>
              <a:chExt cx="376524" cy="313399"/>
            </a:xfrm>
          </p:grpSpPr>
          <p:cxnSp>
            <p:nvCxnSpPr>
              <p:cNvPr id="1067" name="Google Shape;1067;p76"/>
              <p:cNvCxnSpPr/>
              <p:nvPr/>
            </p:nvCxnSpPr>
            <p:spPr>
              <a:xfrm>
                <a:off x="3926033" y="2482600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8" name="Google Shape;1068;p76"/>
              <p:cNvCxnSpPr/>
              <p:nvPr/>
            </p:nvCxnSpPr>
            <p:spPr>
              <a:xfrm rot="3599392">
                <a:off x="4031263" y="23258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69" name="Google Shape;1069;p76"/>
            <p:cNvGrpSpPr/>
            <p:nvPr/>
          </p:nvGrpSpPr>
          <p:grpSpPr>
            <a:xfrm>
              <a:off x="6733066" y="2146008"/>
              <a:ext cx="376524" cy="313399"/>
              <a:chOff x="3926033" y="2169201"/>
              <a:chExt cx="376524" cy="313399"/>
            </a:xfrm>
          </p:grpSpPr>
          <p:cxnSp>
            <p:nvCxnSpPr>
              <p:cNvPr id="1070" name="Google Shape;1070;p76"/>
              <p:cNvCxnSpPr/>
              <p:nvPr/>
            </p:nvCxnSpPr>
            <p:spPr>
              <a:xfrm>
                <a:off x="3926033" y="2482600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1" name="Google Shape;1071;p76"/>
              <p:cNvCxnSpPr/>
              <p:nvPr/>
            </p:nvCxnSpPr>
            <p:spPr>
              <a:xfrm rot="3599392">
                <a:off x="4031263" y="23258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72" name="Google Shape;1072;p76"/>
            <p:cNvGrpSpPr/>
            <p:nvPr/>
          </p:nvGrpSpPr>
          <p:grpSpPr>
            <a:xfrm rot="-3599956">
              <a:off x="6906602" y="2061702"/>
              <a:ext cx="376516" cy="313393"/>
              <a:chOff x="3926033" y="2169201"/>
              <a:chExt cx="376524" cy="313399"/>
            </a:xfrm>
          </p:grpSpPr>
          <p:cxnSp>
            <p:nvCxnSpPr>
              <p:cNvPr id="1073" name="Google Shape;1073;p76"/>
              <p:cNvCxnSpPr/>
              <p:nvPr/>
            </p:nvCxnSpPr>
            <p:spPr>
              <a:xfrm>
                <a:off x="3926033" y="2482600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4" name="Google Shape;1074;p76"/>
              <p:cNvCxnSpPr/>
              <p:nvPr/>
            </p:nvCxnSpPr>
            <p:spPr>
              <a:xfrm rot="3599392">
                <a:off x="4031263" y="23258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75" name="Google Shape;1075;p76"/>
          <p:cNvSpPr txBox="1"/>
          <p:nvPr>
            <p:ph type="body" idx="1"/>
          </p:nvPr>
        </p:nvSpPr>
        <p:spPr>
          <a:xfrm>
            <a:off x="324000" y="11851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Two lines per triangle plus 1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6" name="Google Shape;1076;p76"/>
          <p:cNvSpPr txBox="1"/>
          <p:nvPr>
            <p:ph type="body" idx="1"/>
          </p:nvPr>
        </p:nvSpPr>
        <p:spPr>
          <a:xfrm>
            <a:off x="324000" y="37800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You can check that the rule works for each term shown. </a:t>
            </a:r>
            <a:endParaRPr sz="1800"/>
          </a:p>
        </p:txBody>
      </p:sp>
      <p:sp>
        <p:nvSpPr>
          <p:cNvPr id="1077" name="Google Shape;1077;p76"/>
          <p:cNvSpPr/>
          <p:nvPr/>
        </p:nvSpPr>
        <p:spPr>
          <a:xfrm>
            <a:off x="2631690" y="1714504"/>
            <a:ext cx="3147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76"/>
          <p:cNvSpPr txBox="1"/>
          <p:nvPr>
            <p:ph type="body" idx="1"/>
          </p:nvPr>
        </p:nvSpPr>
        <p:spPr>
          <a:xfrm>
            <a:off x="324000" y="4192500"/>
            <a:ext cx="14142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 </a:t>
            </a:r>
            <a:r>
              <a:rPr lang="en-GB" sz="1800">
                <a:solidFill>
                  <a:srgbClr val="222222"/>
                </a:solidFill>
              </a:rPr>
              <a:t>×</a:t>
            </a:r>
            <a:r>
              <a:rPr lang="en-GB" sz="1800"/>
              <a:t> 2 + 1 = </a:t>
            </a:r>
            <a:endParaRPr sz="1800"/>
          </a:p>
        </p:txBody>
      </p:sp>
      <p:sp>
        <p:nvSpPr>
          <p:cNvPr id="1079" name="Google Shape;1079;p76"/>
          <p:cNvSpPr/>
          <p:nvPr/>
        </p:nvSpPr>
        <p:spPr>
          <a:xfrm>
            <a:off x="2639152" y="2623804"/>
            <a:ext cx="3147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76"/>
          <p:cNvSpPr/>
          <p:nvPr/>
        </p:nvSpPr>
        <p:spPr>
          <a:xfrm>
            <a:off x="3598696" y="1714504"/>
            <a:ext cx="3147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6"/>
          <p:cNvSpPr/>
          <p:nvPr/>
        </p:nvSpPr>
        <p:spPr>
          <a:xfrm>
            <a:off x="3606158" y="2623804"/>
            <a:ext cx="3147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76"/>
          <p:cNvSpPr/>
          <p:nvPr/>
        </p:nvSpPr>
        <p:spPr>
          <a:xfrm>
            <a:off x="4933419" y="1714504"/>
            <a:ext cx="3147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76"/>
          <p:cNvSpPr/>
          <p:nvPr/>
        </p:nvSpPr>
        <p:spPr>
          <a:xfrm>
            <a:off x="4940882" y="2623804"/>
            <a:ext cx="3147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76"/>
          <p:cNvSpPr/>
          <p:nvPr/>
        </p:nvSpPr>
        <p:spPr>
          <a:xfrm>
            <a:off x="6725342" y="1714504"/>
            <a:ext cx="3147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76"/>
          <p:cNvSpPr/>
          <p:nvPr/>
        </p:nvSpPr>
        <p:spPr>
          <a:xfrm>
            <a:off x="6732805" y="2623804"/>
            <a:ext cx="3147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76"/>
          <p:cNvSpPr txBox="1"/>
          <p:nvPr>
            <p:ph type="body" idx="1"/>
          </p:nvPr>
        </p:nvSpPr>
        <p:spPr>
          <a:xfrm>
            <a:off x="2394800" y="4192500"/>
            <a:ext cx="14142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 </a:t>
            </a:r>
            <a:r>
              <a:rPr lang="en-GB" sz="1800">
                <a:solidFill>
                  <a:srgbClr val="222222"/>
                </a:solidFill>
              </a:rPr>
              <a:t>×</a:t>
            </a:r>
            <a:r>
              <a:rPr lang="en-GB" sz="1800"/>
              <a:t> 2 + 1 = </a:t>
            </a:r>
            <a:endParaRPr sz="1800"/>
          </a:p>
        </p:txBody>
      </p:sp>
      <p:sp>
        <p:nvSpPr>
          <p:cNvPr id="1087" name="Google Shape;1087;p76"/>
          <p:cNvSpPr txBox="1"/>
          <p:nvPr>
            <p:ph type="body" idx="1"/>
          </p:nvPr>
        </p:nvSpPr>
        <p:spPr>
          <a:xfrm>
            <a:off x="4465600" y="4192500"/>
            <a:ext cx="14142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 </a:t>
            </a:r>
            <a:r>
              <a:rPr lang="en-GB" sz="1800">
                <a:solidFill>
                  <a:srgbClr val="222222"/>
                </a:solidFill>
              </a:rPr>
              <a:t>×</a:t>
            </a:r>
            <a:r>
              <a:rPr lang="en-GB" sz="1800"/>
              <a:t> 2 + 1 = </a:t>
            </a:r>
            <a:endParaRPr sz="1800"/>
          </a:p>
        </p:txBody>
      </p:sp>
      <p:sp>
        <p:nvSpPr>
          <p:cNvPr id="1088" name="Google Shape;1088;p76"/>
          <p:cNvSpPr txBox="1"/>
          <p:nvPr>
            <p:ph type="body" idx="1"/>
          </p:nvPr>
        </p:nvSpPr>
        <p:spPr>
          <a:xfrm>
            <a:off x="6536400" y="4192500"/>
            <a:ext cx="14142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 </a:t>
            </a:r>
            <a:r>
              <a:rPr lang="en-GB" sz="1800">
                <a:solidFill>
                  <a:srgbClr val="222222"/>
                </a:solidFill>
              </a:rPr>
              <a:t>×</a:t>
            </a:r>
            <a:r>
              <a:rPr lang="en-GB" sz="1800"/>
              <a:t> 2 + 1 = </a:t>
            </a:r>
            <a:endParaRPr sz="1800"/>
          </a:p>
        </p:txBody>
      </p:sp>
      <p:sp>
        <p:nvSpPr>
          <p:cNvPr id="1089" name="Google Shape;1089;p76"/>
          <p:cNvSpPr txBox="1"/>
          <p:nvPr>
            <p:ph type="body" idx="1"/>
          </p:nvPr>
        </p:nvSpPr>
        <p:spPr>
          <a:xfrm>
            <a:off x="1512100" y="4192500"/>
            <a:ext cx="3765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 </a:t>
            </a:r>
            <a:endParaRPr sz="1800"/>
          </a:p>
        </p:txBody>
      </p:sp>
      <p:sp>
        <p:nvSpPr>
          <p:cNvPr id="1090" name="Google Shape;1090;p76"/>
          <p:cNvSpPr/>
          <p:nvPr/>
        </p:nvSpPr>
        <p:spPr>
          <a:xfrm>
            <a:off x="323995" y="4163250"/>
            <a:ext cx="1635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76"/>
          <p:cNvSpPr txBox="1"/>
          <p:nvPr>
            <p:ph type="body" idx="1"/>
          </p:nvPr>
        </p:nvSpPr>
        <p:spPr>
          <a:xfrm>
            <a:off x="3504825" y="4192500"/>
            <a:ext cx="3765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 </a:t>
            </a:r>
            <a:endParaRPr sz="1800"/>
          </a:p>
        </p:txBody>
      </p:sp>
      <p:sp>
        <p:nvSpPr>
          <p:cNvPr id="1092" name="Google Shape;1092;p76"/>
          <p:cNvSpPr/>
          <p:nvPr/>
        </p:nvSpPr>
        <p:spPr>
          <a:xfrm>
            <a:off x="2378645" y="4163250"/>
            <a:ext cx="1635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76"/>
          <p:cNvSpPr/>
          <p:nvPr/>
        </p:nvSpPr>
        <p:spPr>
          <a:xfrm>
            <a:off x="4457520" y="4163250"/>
            <a:ext cx="1635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76"/>
          <p:cNvSpPr/>
          <p:nvPr/>
        </p:nvSpPr>
        <p:spPr>
          <a:xfrm>
            <a:off x="6528530" y="4163250"/>
            <a:ext cx="1635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76"/>
          <p:cNvSpPr txBox="1"/>
          <p:nvPr>
            <p:ph type="body" idx="1"/>
          </p:nvPr>
        </p:nvSpPr>
        <p:spPr>
          <a:xfrm>
            <a:off x="5586150" y="4192500"/>
            <a:ext cx="3765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 </a:t>
            </a:r>
            <a:endParaRPr sz="1800"/>
          </a:p>
        </p:txBody>
      </p:sp>
      <p:sp>
        <p:nvSpPr>
          <p:cNvPr id="1096" name="Google Shape;1096;p76"/>
          <p:cNvSpPr txBox="1"/>
          <p:nvPr>
            <p:ph type="body" idx="1"/>
          </p:nvPr>
        </p:nvSpPr>
        <p:spPr>
          <a:xfrm>
            <a:off x="7667475" y="4192500"/>
            <a:ext cx="3765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 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00" name="Shape 1100"/>
        <p:cNvGrpSpPr/>
        <p:nvPr/>
      </p:nvGrpSpPr>
      <p:grpSpPr>
        <a:xfrm>
          <a:off x="0" y="0"/>
          <a:ext cx="0" cy="0"/>
        </a:xfrm>
      </p:grpSpPr>
      <p:sp>
        <p:nvSpPr>
          <p:cNvPr id="1101" name="Google Shape;1101;p77"/>
          <p:cNvSpPr txBox="1"/>
          <p:nvPr>
            <p:ph type="body" idx="1"/>
          </p:nvPr>
        </p:nvSpPr>
        <p:spPr>
          <a:xfrm>
            <a:off x="324000" y="759300"/>
            <a:ext cx="8237700" cy="70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Match the sequence to the </a:t>
            </a:r>
            <a:r>
              <a:rPr lang="en-GB" sz="2000" b="1"/>
              <a:t>position-to-term</a:t>
            </a:r>
            <a:r>
              <a:rPr lang="en-GB" sz="2000"/>
              <a:t> rule for the number of lines in each pattern.</a:t>
            </a:r>
            <a:endParaRPr sz="2000"/>
          </a:p>
        </p:txBody>
      </p:sp>
      <p:sp>
        <p:nvSpPr>
          <p:cNvPr id="1102" name="Google Shape;1102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grpSp>
        <p:nvGrpSpPr>
          <p:cNvPr id="1103" name="Google Shape;1103;p77"/>
          <p:cNvGrpSpPr/>
          <p:nvPr/>
        </p:nvGrpSpPr>
        <p:grpSpPr>
          <a:xfrm>
            <a:off x="418729" y="1587357"/>
            <a:ext cx="2278951" cy="320555"/>
            <a:chOff x="416975" y="1886993"/>
            <a:chExt cx="2797975" cy="393560"/>
          </a:xfrm>
        </p:grpSpPr>
        <p:cxnSp>
          <p:nvCxnSpPr>
            <p:cNvPr id="1104" name="Google Shape;1104;p77"/>
            <p:cNvCxnSpPr/>
            <p:nvPr/>
          </p:nvCxnSpPr>
          <p:spPr>
            <a:xfrm>
              <a:off x="416975" y="228055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5" name="Google Shape;1105;p77"/>
            <p:cNvCxnSpPr/>
            <p:nvPr/>
          </p:nvCxnSpPr>
          <p:spPr>
            <a:xfrm>
              <a:off x="416975" y="190290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6" name="Google Shape;1106;p77"/>
            <p:cNvCxnSpPr/>
            <p:nvPr/>
          </p:nvCxnSpPr>
          <p:spPr>
            <a:xfrm rot="5400000">
              <a:off x="236075" y="208380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7" name="Google Shape;1107;p77"/>
            <p:cNvCxnSpPr/>
            <p:nvPr/>
          </p:nvCxnSpPr>
          <p:spPr>
            <a:xfrm rot="5400000">
              <a:off x="597875" y="208380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8" name="Google Shape;1108;p77"/>
            <p:cNvCxnSpPr/>
            <p:nvPr/>
          </p:nvCxnSpPr>
          <p:spPr>
            <a:xfrm>
              <a:off x="1104175" y="2272628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9" name="Google Shape;1109;p77"/>
            <p:cNvCxnSpPr/>
            <p:nvPr/>
          </p:nvCxnSpPr>
          <p:spPr>
            <a:xfrm>
              <a:off x="1104175" y="1894978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0" name="Google Shape;1110;p77"/>
            <p:cNvCxnSpPr/>
            <p:nvPr/>
          </p:nvCxnSpPr>
          <p:spPr>
            <a:xfrm rot="5400000">
              <a:off x="923275" y="2075878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1" name="Google Shape;1111;p77"/>
            <p:cNvCxnSpPr/>
            <p:nvPr/>
          </p:nvCxnSpPr>
          <p:spPr>
            <a:xfrm rot="5400000">
              <a:off x="1285075" y="2075878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2" name="Google Shape;1112;p77"/>
            <p:cNvCxnSpPr/>
            <p:nvPr/>
          </p:nvCxnSpPr>
          <p:spPr>
            <a:xfrm>
              <a:off x="1465975" y="2272628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3" name="Google Shape;1113;p77"/>
            <p:cNvCxnSpPr/>
            <p:nvPr/>
          </p:nvCxnSpPr>
          <p:spPr>
            <a:xfrm>
              <a:off x="1465975" y="1894978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4" name="Google Shape;1114;p77"/>
            <p:cNvCxnSpPr/>
            <p:nvPr/>
          </p:nvCxnSpPr>
          <p:spPr>
            <a:xfrm rot="5400000">
              <a:off x="1646875" y="2075878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5" name="Google Shape;1115;p77"/>
            <p:cNvCxnSpPr/>
            <p:nvPr/>
          </p:nvCxnSpPr>
          <p:spPr>
            <a:xfrm>
              <a:off x="2129550" y="226470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6" name="Google Shape;1116;p77"/>
            <p:cNvCxnSpPr/>
            <p:nvPr/>
          </p:nvCxnSpPr>
          <p:spPr>
            <a:xfrm>
              <a:off x="2129550" y="188705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7" name="Google Shape;1117;p77"/>
            <p:cNvCxnSpPr/>
            <p:nvPr/>
          </p:nvCxnSpPr>
          <p:spPr>
            <a:xfrm rot="5400000">
              <a:off x="1948650" y="206795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8" name="Google Shape;1118;p77"/>
            <p:cNvCxnSpPr/>
            <p:nvPr/>
          </p:nvCxnSpPr>
          <p:spPr>
            <a:xfrm rot="5400000">
              <a:off x="2310450" y="206795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9" name="Google Shape;1119;p77"/>
            <p:cNvCxnSpPr/>
            <p:nvPr/>
          </p:nvCxnSpPr>
          <p:spPr>
            <a:xfrm>
              <a:off x="2491350" y="226470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0" name="Google Shape;1120;p77"/>
            <p:cNvCxnSpPr/>
            <p:nvPr/>
          </p:nvCxnSpPr>
          <p:spPr>
            <a:xfrm>
              <a:off x="2491350" y="188705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1" name="Google Shape;1121;p77"/>
            <p:cNvCxnSpPr/>
            <p:nvPr/>
          </p:nvCxnSpPr>
          <p:spPr>
            <a:xfrm rot="5400000">
              <a:off x="2672250" y="206795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2" name="Google Shape;1122;p77"/>
            <p:cNvCxnSpPr/>
            <p:nvPr/>
          </p:nvCxnSpPr>
          <p:spPr>
            <a:xfrm>
              <a:off x="2853150" y="226464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3" name="Google Shape;1123;p77"/>
            <p:cNvCxnSpPr/>
            <p:nvPr/>
          </p:nvCxnSpPr>
          <p:spPr>
            <a:xfrm>
              <a:off x="2853150" y="188699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4" name="Google Shape;1124;p77"/>
            <p:cNvCxnSpPr/>
            <p:nvPr/>
          </p:nvCxnSpPr>
          <p:spPr>
            <a:xfrm rot="5400000">
              <a:off x="3034050" y="206789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25" name="Google Shape;1125;p77"/>
          <p:cNvSpPr txBox="1"/>
          <p:nvPr>
            <p:ph type="body" idx="1"/>
          </p:nvPr>
        </p:nvSpPr>
        <p:spPr>
          <a:xfrm>
            <a:off x="4211850" y="1395875"/>
            <a:ext cx="4608300" cy="70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number of lines is the term number multiplied by 3 plus 1</a:t>
            </a:r>
            <a:endParaRPr sz="1800"/>
          </a:p>
        </p:txBody>
      </p:sp>
      <p:grpSp>
        <p:nvGrpSpPr>
          <p:cNvPr id="1126" name="Google Shape;1126;p77"/>
          <p:cNvGrpSpPr/>
          <p:nvPr/>
        </p:nvGrpSpPr>
        <p:grpSpPr>
          <a:xfrm>
            <a:off x="419603" y="2189309"/>
            <a:ext cx="2236549" cy="542262"/>
            <a:chOff x="409606" y="2642303"/>
            <a:chExt cx="2929721" cy="710325"/>
          </a:xfrm>
        </p:grpSpPr>
        <p:cxnSp>
          <p:nvCxnSpPr>
            <p:cNvPr id="1127" name="Google Shape;1127;p77"/>
            <p:cNvCxnSpPr/>
            <p:nvPr/>
          </p:nvCxnSpPr>
          <p:spPr>
            <a:xfrm>
              <a:off x="416975" y="3352628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8" name="Google Shape;1128;p77"/>
            <p:cNvCxnSpPr/>
            <p:nvPr/>
          </p:nvCxnSpPr>
          <p:spPr>
            <a:xfrm rot="5400000">
              <a:off x="236075" y="3155878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9" name="Google Shape;1129;p77"/>
            <p:cNvCxnSpPr/>
            <p:nvPr/>
          </p:nvCxnSpPr>
          <p:spPr>
            <a:xfrm rot="5400000">
              <a:off x="597875" y="3155878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30" name="Google Shape;1130;p77"/>
            <p:cNvGrpSpPr/>
            <p:nvPr/>
          </p:nvGrpSpPr>
          <p:grpSpPr>
            <a:xfrm>
              <a:off x="409606" y="2659888"/>
              <a:ext cx="376531" cy="313404"/>
              <a:chOff x="888693" y="2360601"/>
              <a:chExt cx="376531" cy="313404"/>
            </a:xfrm>
          </p:grpSpPr>
          <p:cxnSp>
            <p:nvCxnSpPr>
              <p:cNvPr id="1131" name="Google Shape;1131;p77"/>
              <p:cNvCxnSpPr/>
              <p:nvPr/>
            </p:nvCxnSpPr>
            <p:spPr>
              <a:xfrm rot="3599392">
                <a:off x="993930" y="25172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2" name="Google Shape;1132;p77"/>
              <p:cNvCxnSpPr/>
              <p:nvPr/>
            </p:nvCxnSpPr>
            <p:spPr>
              <a:xfrm rot="7200608">
                <a:off x="798299" y="2517405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133" name="Google Shape;1133;p77"/>
            <p:cNvCxnSpPr/>
            <p:nvPr/>
          </p:nvCxnSpPr>
          <p:spPr>
            <a:xfrm>
              <a:off x="1159225" y="3352628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4" name="Google Shape;1134;p77"/>
            <p:cNvCxnSpPr/>
            <p:nvPr/>
          </p:nvCxnSpPr>
          <p:spPr>
            <a:xfrm rot="5400000">
              <a:off x="978325" y="3155878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5" name="Google Shape;1135;p77"/>
            <p:cNvCxnSpPr/>
            <p:nvPr/>
          </p:nvCxnSpPr>
          <p:spPr>
            <a:xfrm rot="5400000">
              <a:off x="1340125" y="3155878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36" name="Google Shape;1136;p77"/>
            <p:cNvGrpSpPr/>
            <p:nvPr/>
          </p:nvGrpSpPr>
          <p:grpSpPr>
            <a:xfrm>
              <a:off x="1151856" y="2659888"/>
              <a:ext cx="376531" cy="313404"/>
              <a:chOff x="888693" y="2360601"/>
              <a:chExt cx="376531" cy="313404"/>
            </a:xfrm>
          </p:grpSpPr>
          <p:cxnSp>
            <p:nvCxnSpPr>
              <p:cNvPr id="1137" name="Google Shape;1137;p77"/>
              <p:cNvCxnSpPr/>
              <p:nvPr/>
            </p:nvCxnSpPr>
            <p:spPr>
              <a:xfrm rot="3599392">
                <a:off x="993930" y="25172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8" name="Google Shape;1138;p77"/>
              <p:cNvCxnSpPr/>
              <p:nvPr/>
            </p:nvCxnSpPr>
            <p:spPr>
              <a:xfrm rot="7200608">
                <a:off x="798299" y="2517405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139" name="Google Shape;1139;p77"/>
            <p:cNvCxnSpPr/>
            <p:nvPr/>
          </p:nvCxnSpPr>
          <p:spPr>
            <a:xfrm>
              <a:off x="1536265" y="3350868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0" name="Google Shape;1140;p77"/>
            <p:cNvCxnSpPr/>
            <p:nvPr/>
          </p:nvCxnSpPr>
          <p:spPr>
            <a:xfrm rot="5400000">
              <a:off x="1717165" y="3154118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41" name="Google Shape;1141;p77"/>
            <p:cNvGrpSpPr/>
            <p:nvPr/>
          </p:nvGrpSpPr>
          <p:grpSpPr>
            <a:xfrm>
              <a:off x="1528895" y="2658128"/>
              <a:ext cx="376531" cy="313404"/>
              <a:chOff x="888693" y="2360601"/>
              <a:chExt cx="376531" cy="313404"/>
            </a:xfrm>
          </p:grpSpPr>
          <p:cxnSp>
            <p:nvCxnSpPr>
              <p:cNvPr id="1142" name="Google Shape;1142;p77"/>
              <p:cNvCxnSpPr/>
              <p:nvPr/>
            </p:nvCxnSpPr>
            <p:spPr>
              <a:xfrm rot="3599392">
                <a:off x="993930" y="25172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3" name="Google Shape;1143;p77"/>
              <p:cNvCxnSpPr/>
              <p:nvPr/>
            </p:nvCxnSpPr>
            <p:spPr>
              <a:xfrm rot="7200608">
                <a:off x="798299" y="2517405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144" name="Google Shape;1144;p77"/>
            <p:cNvCxnSpPr/>
            <p:nvPr/>
          </p:nvCxnSpPr>
          <p:spPr>
            <a:xfrm>
              <a:off x="2216075" y="333685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5" name="Google Shape;1145;p77"/>
            <p:cNvCxnSpPr/>
            <p:nvPr/>
          </p:nvCxnSpPr>
          <p:spPr>
            <a:xfrm rot="5400000">
              <a:off x="2035175" y="314010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6" name="Google Shape;1146;p77"/>
            <p:cNvCxnSpPr/>
            <p:nvPr/>
          </p:nvCxnSpPr>
          <p:spPr>
            <a:xfrm rot="5400000">
              <a:off x="2396975" y="314010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47" name="Google Shape;1147;p77"/>
            <p:cNvGrpSpPr/>
            <p:nvPr/>
          </p:nvGrpSpPr>
          <p:grpSpPr>
            <a:xfrm>
              <a:off x="2208706" y="2644113"/>
              <a:ext cx="376531" cy="313404"/>
              <a:chOff x="888693" y="2360601"/>
              <a:chExt cx="376531" cy="313404"/>
            </a:xfrm>
          </p:grpSpPr>
          <p:cxnSp>
            <p:nvCxnSpPr>
              <p:cNvPr id="1148" name="Google Shape;1148;p77"/>
              <p:cNvCxnSpPr/>
              <p:nvPr/>
            </p:nvCxnSpPr>
            <p:spPr>
              <a:xfrm rot="3599392">
                <a:off x="993930" y="25172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9" name="Google Shape;1149;p77"/>
              <p:cNvCxnSpPr/>
              <p:nvPr/>
            </p:nvCxnSpPr>
            <p:spPr>
              <a:xfrm rot="7200608">
                <a:off x="798299" y="2517405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150" name="Google Shape;1150;p77"/>
            <p:cNvCxnSpPr/>
            <p:nvPr/>
          </p:nvCxnSpPr>
          <p:spPr>
            <a:xfrm>
              <a:off x="2593115" y="333509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1" name="Google Shape;1151;p77"/>
            <p:cNvCxnSpPr/>
            <p:nvPr/>
          </p:nvCxnSpPr>
          <p:spPr>
            <a:xfrm rot="5400000">
              <a:off x="2774015" y="313834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52" name="Google Shape;1152;p77"/>
            <p:cNvGrpSpPr/>
            <p:nvPr/>
          </p:nvGrpSpPr>
          <p:grpSpPr>
            <a:xfrm>
              <a:off x="2585745" y="2642353"/>
              <a:ext cx="376531" cy="313404"/>
              <a:chOff x="888693" y="2360601"/>
              <a:chExt cx="376531" cy="313404"/>
            </a:xfrm>
          </p:grpSpPr>
          <p:cxnSp>
            <p:nvCxnSpPr>
              <p:cNvPr id="1153" name="Google Shape;1153;p77"/>
              <p:cNvCxnSpPr/>
              <p:nvPr/>
            </p:nvCxnSpPr>
            <p:spPr>
              <a:xfrm rot="3599392">
                <a:off x="993930" y="25172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4" name="Google Shape;1154;p77"/>
              <p:cNvCxnSpPr/>
              <p:nvPr/>
            </p:nvCxnSpPr>
            <p:spPr>
              <a:xfrm rot="7200608">
                <a:off x="798299" y="2517405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155" name="Google Shape;1155;p77"/>
            <p:cNvCxnSpPr/>
            <p:nvPr/>
          </p:nvCxnSpPr>
          <p:spPr>
            <a:xfrm>
              <a:off x="2970165" y="333504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6" name="Google Shape;1156;p77"/>
            <p:cNvCxnSpPr/>
            <p:nvPr/>
          </p:nvCxnSpPr>
          <p:spPr>
            <a:xfrm rot="5400000">
              <a:off x="3151065" y="313829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57" name="Google Shape;1157;p77"/>
            <p:cNvGrpSpPr/>
            <p:nvPr/>
          </p:nvGrpSpPr>
          <p:grpSpPr>
            <a:xfrm>
              <a:off x="2962795" y="2642303"/>
              <a:ext cx="376531" cy="313404"/>
              <a:chOff x="888693" y="2360601"/>
              <a:chExt cx="376531" cy="313404"/>
            </a:xfrm>
          </p:grpSpPr>
          <p:cxnSp>
            <p:nvCxnSpPr>
              <p:cNvPr id="1158" name="Google Shape;1158;p77"/>
              <p:cNvCxnSpPr/>
              <p:nvPr/>
            </p:nvCxnSpPr>
            <p:spPr>
              <a:xfrm rot="3599392">
                <a:off x="993930" y="2517201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9" name="Google Shape;1159;p77"/>
              <p:cNvCxnSpPr/>
              <p:nvPr/>
            </p:nvCxnSpPr>
            <p:spPr>
              <a:xfrm rot="7200608">
                <a:off x="798299" y="2517405"/>
                <a:ext cx="36168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160" name="Google Shape;1160;p77"/>
          <p:cNvSpPr txBox="1"/>
          <p:nvPr>
            <p:ph type="body" idx="1"/>
          </p:nvPr>
        </p:nvSpPr>
        <p:spPr>
          <a:xfrm>
            <a:off x="4211850" y="4225625"/>
            <a:ext cx="4504500" cy="70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number of lines is the term number multiplied by 4 plus 1</a:t>
            </a:r>
            <a:endParaRPr sz="1800"/>
          </a:p>
        </p:txBody>
      </p:sp>
      <p:sp>
        <p:nvSpPr>
          <p:cNvPr id="1161" name="Google Shape;1161;p77"/>
          <p:cNvSpPr txBox="1"/>
          <p:nvPr>
            <p:ph type="body" idx="1"/>
          </p:nvPr>
        </p:nvSpPr>
        <p:spPr>
          <a:xfrm>
            <a:off x="4211850" y="2339125"/>
            <a:ext cx="4461600" cy="70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number of lines is the term number multiplied by 3 plus 2</a:t>
            </a:r>
            <a:endParaRPr sz="1800"/>
          </a:p>
        </p:txBody>
      </p:sp>
      <p:grpSp>
        <p:nvGrpSpPr>
          <p:cNvPr id="1162" name="Google Shape;1162;p77"/>
          <p:cNvGrpSpPr/>
          <p:nvPr/>
        </p:nvGrpSpPr>
        <p:grpSpPr>
          <a:xfrm>
            <a:off x="419669" y="3012968"/>
            <a:ext cx="2278786" cy="562837"/>
            <a:chOff x="409600" y="3780003"/>
            <a:chExt cx="3104190" cy="766808"/>
          </a:xfrm>
        </p:grpSpPr>
        <p:cxnSp>
          <p:nvCxnSpPr>
            <p:cNvPr id="1163" name="Google Shape;1163;p77"/>
            <p:cNvCxnSpPr/>
            <p:nvPr/>
          </p:nvCxnSpPr>
          <p:spPr>
            <a:xfrm rot="5400000">
              <a:off x="228700" y="396090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4" name="Google Shape;1164;p77"/>
            <p:cNvCxnSpPr/>
            <p:nvPr/>
          </p:nvCxnSpPr>
          <p:spPr>
            <a:xfrm rot="5400000">
              <a:off x="228700" y="4360024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5" name="Google Shape;1165;p77"/>
            <p:cNvCxnSpPr/>
            <p:nvPr/>
          </p:nvCxnSpPr>
          <p:spPr>
            <a:xfrm>
              <a:off x="451437" y="4163399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6" name="Google Shape;1166;p77"/>
            <p:cNvCxnSpPr/>
            <p:nvPr/>
          </p:nvCxnSpPr>
          <p:spPr>
            <a:xfrm rot="5400000">
              <a:off x="640190" y="3963841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7" name="Google Shape;1167;p77"/>
            <p:cNvCxnSpPr/>
            <p:nvPr/>
          </p:nvCxnSpPr>
          <p:spPr>
            <a:xfrm rot="5400000">
              <a:off x="640190" y="4362961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8" name="Google Shape;1168;p77"/>
            <p:cNvCxnSpPr/>
            <p:nvPr/>
          </p:nvCxnSpPr>
          <p:spPr>
            <a:xfrm rot="5400000">
              <a:off x="963100" y="3962378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9" name="Google Shape;1169;p77"/>
            <p:cNvCxnSpPr/>
            <p:nvPr/>
          </p:nvCxnSpPr>
          <p:spPr>
            <a:xfrm rot="5400000">
              <a:off x="963100" y="4361499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0" name="Google Shape;1170;p77"/>
            <p:cNvCxnSpPr/>
            <p:nvPr/>
          </p:nvCxnSpPr>
          <p:spPr>
            <a:xfrm>
              <a:off x="1185837" y="4164874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1" name="Google Shape;1171;p77"/>
            <p:cNvCxnSpPr/>
            <p:nvPr/>
          </p:nvCxnSpPr>
          <p:spPr>
            <a:xfrm rot="5400000">
              <a:off x="1374590" y="3965316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2" name="Google Shape;1172;p77"/>
            <p:cNvCxnSpPr/>
            <p:nvPr/>
          </p:nvCxnSpPr>
          <p:spPr>
            <a:xfrm rot="5400000">
              <a:off x="1374590" y="4364436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3" name="Google Shape;1173;p77"/>
            <p:cNvCxnSpPr/>
            <p:nvPr/>
          </p:nvCxnSpPr>
          <p:spPr>
            <a:xfrm>
              <a:off x="1594787" y="4163399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4" name="Google Shape;1174;p77"/>
            <p:cNvCxnSpPr/>
            <p:nvPr/>
          </p:nvCxnSpPr>
          <p:spPr>
            <a:xfrm rot="5400000">
              <a:off x="1783540" y="3963841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5" name="Google Shape;1175;p77"/>
            <p:cNvCxnSpPr/>
            <p:nvPr/>
          </p:nvCxnSpPr>
          <p:spPr>
            <a:xfrm rot="5400000">
              <a:off x="1783540" y="4362961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6" name="Google Shape;1176;p77"/>
            <p:cNvCxnSpPr/>
            <p:nvPr/>
          </p:nvCxnSpPr>
          <p:spPr>
            <a:xfrm rot="5400000">
              <a:off x="2098350" y="3963853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7" name="Google Shape;1177;p77"/>
            <p:cNvCxnSpPr/>
            <p:nvPr/>
          </p:nvCxnSpPr>
          <p:spPr>
            <a:xfrm rot="5400000">
              <a:off x="2098350" y="4362974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8" name="Google Shape;1178;p77"/>
            <p:cNvCxnSpPr/>
            <p:nvPr/>
          </p:nvCxnSpPr>
          <p:spPr>
            <a:xfrm>
              <a:off x="2321087" y="4166349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9" name="Google Shape;1179;p77"/>
            <p:cNvCxnSpPr/>
            <p:nvPr/>
          </p:nvCxnSpPr>
          <p:spPr>
            <a:xfrm rot="5400000">
              <a:off x="2509840" y="3966791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0" name="Google Shape;1180;p77"/>
            <p:cNvCxnSpPr/>
            <p:nvPr/>
          </p:nvCxnSpPr>
          <p:spPr>
            <a:xfrm rot="5400000">
              <a:off x="2509840" y="4365911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1" name="Google Shape;1181;p77"/>
            <p:cNvCxnSpPr/>
            <p:nvPr/>
          </p:nvCxnSpPr>
          <p:spPr>
            <a:xfrm>
              <a:off x="2730037" y="4164874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2" name="Google Shape;1182;p77"/>
            <p:cNvCxnSpPr/>
            <p:nvPr/>
          </p:nvCxnSpPr>
          <p:spPr>
            <a:xfrm rot="5400000">
              <a:off x="2918790" y="3965316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3" name="Google Shape;1183;p77"/>
            <p:cNvCxnSpPr/>
            <p:nvPr/>
          </p:nvCxnSpPr>
          <p:spPr>
            <a:xfrm rot="5400000">
              <a:off x="2918790" y="4364436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4" name="Google Shape;1184;p77"/>
            <p:cNvCxnSpPr/>
            <p:nvPr/>
          </p:nvCxnSpPr>
          <p:spPr>
            <a:xfrm>
              <a:off x="3144137" y="4163399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5" name="Google Shape;1185;p77"/>
            <p:cNvCxnSpPr/>
            <p:nvPr/>
          </p:nvCxnSpPr>
          <p:spPr>
            <a:xfrm rot="5400000">
              <a:off x="3332890" y="3963841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6" name="Google Shape;1186;p77"/>
            <p:cNvCxnSpPr/>
            <p:nvPr/>
          </p:nvCxnSpPr>
          <p:spPr>
            <a:xfrm rot="5400000">
              <a:off x="3332890" y="4362961"/>
              <a:ext cx="36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87" name="Google Shape;1187;p77"/>
          <p:cNvSpPr txBox="1"/>
          <p:nvPr>
            <p:ph type="body" idx="1"/>
          </p:nvPr>
        </p:nvSpPr>
        <p:spPr>
          <a:xfrm>
            <a:off x="4211850" y="3282375"/>
            <a:ext cx="4504500" cy="70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number of lines is the term number multiplied by 4 </a:t>
            </a:r>
            <a:endParaRPr sz="1800"/>
          </a:p>
        </p:txBody>
      </p:sp>
      <p:grpSp>
        <p:nvGrpSpPr>
          <p:cNvPr id="1188" name="Google Shape;1188;p77"/>
          <p:cNvGrpSpPr/>
          <p:nvPr/>
        </p:nvGrpSpPr>
        <p:grpSpPr>
          <a:xfrm>
            <a:off x="419591" y="3857201"/>
            <a:ext cx="2236494" cy="913815"/>
            <a:chOff x="418721" y="3902973"/>
            <a:chExt cx="2587038" cy="1038898"/>
          </a:xfrm>
        </p:grpSpPr>
        <p:grpSp>
          <p:nvGrpSpPr>
            <p:cNvPr id="1189" name="Google Shape;1189;p77"/>
            <p:cNvGrpSpPr/>
            <p:nvPr/>
          </p:nvGrpSpPr>
          <p:grpSpPr>
            <a:xfrm>
              <a:off x="418721" y="4222485"/>
              <a:ext cx="327429" cy="341773"/>
              <a:chOff x="416975" y="1902903"/>
              <a:chExt cx="361800" cy="377650"/>
            </a:xfrm>
          </p:grpSpPr>
          <p:cxnSp>
            <p:nvCxnSpPr>
              <p:cNvPr id="1190" name="Google Shape;1190;p77"/>
              <p:cNvCxnSpPr/>
              <p:nvPr/>
            </p:nvCxnSpPr>
            <p:spPr>
              <a:xfrm>
                <a:off x="416975" y="2280553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1" name="Google Shape;1191;p77"/>
              <p:cNvCxnSpPr/>
              <p:nvPr/>
            </p:nvCxnSpPr>
            <p:spPr>
              <a:xfrm>
                <a:off x="416975" y="1902903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2" name="Google Shape;1192;p77"/>
              <p:cNvCxnSpPr/>
              <p:nvPr/>
            </p:nvCxnSpPr>
            <p:spPr>
              <a:xfrm rot="5400000">
                <a:off x="236075" y="2083803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3" name="Google Shape;1193;p77"/>
              <p:cNvCxnSpPr/>
              <p:nvPr/>
            </p:nvCxnSpPr>
            <p:spPr>
              <a:xfrm rot="5400000">
                <a:off x="597875" y="2083803"/>
                <a:ext cx="361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194" name="Google Shape;1194;p77"/>
            <p:cNvCxnSpPr/>
            <p:nvPr/>
          </p:nvCxnSpPr>
          <p:spPr>
            <a:xfrm>
              <a:off x="1400993" y="4747687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5" name="Google Shape;1195;p77"/>
            <p:cNvCxnSpPr/>
            <p:nvPr/>
          </p:nvCxnSpPr>
          <p:spPr>
            <a:xfrm>
              <a:off x="1042234" y="4039048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6" name="Google Shape;1196;p77"/>
            <p:cNvCxnSpPr/>
            <p:nvPr/>
          </p:nvCxnSpPr>
          <p:spPr>
            <a:xfrm rot="5400000">
              <a:off x="878584" y="4227143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7" name="Google Shape;1197;p77"/>
            <p:cNvCxnSpPr/>
            <p:nvPr/>
          </p:nvCxnSpPr>
          <p:spPr>
            <a:xfrm rot="5400000">
              <a:off x="878563" y="4570173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8" name="Google Shape;1198;p77"/>
            <p:cNvCxnSpPr/>
            <p:nvPr/>
          </p:nvCxnSpPr>
          <p:spPr>
            <a:xfrm>
              <a:off x="1394013" y="4039048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9" name="Google Shape;1199;p77"/>
            <p:cNvCxnSpPr/>
            <p:nvPr/>
          </p:nvCxnSpPr>
          <p:spPr>
            <a:xfrm rot="5400000">
              <a:off x="1572940" y="4227143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0" name="Google Shape;1200;p77"/>
            <p:cNvCxnSpPr/>
            <p:nvPr/>
          </p:nvCxnSpPr>
          <p:spPr>
            <a:xfrm rot="5400000">
              <a:off x="1572940" y="4570173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1" name="Google Shape;1201;p77"/>
            <p:cNvCxnSpPr/>
            <p:nvPr/>
          </p:nvCxnSpPr>
          <p:spPr>
            <a:xfrm>
              <a:off x="1049005" y="4747687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2" name="Google Shape;1202;p77"/>
            <p:cNvCxnSpPr/>
            <p:nvPr/>
          </p:nvCxnSpPr>
          <p:spPr>
            <a:xfrm>
              <a:off x="2675459" y="3902973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3" name="Google Shape;1203;p77"/>
            <p:cNvCxnSpPr/>
            <p:nvPr/>
          </p:nvCxnSpPr>
          <p:spPr>
            <a:xfrm>
              <a:off x="2325003" y="4940787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4" name="Google Shape;1204;p77"/>
            <p:cNvCxnSpPr/>
            <p:nvPr/>
          </p:nvCxnSpPr>
          <p:spPr>
            <a:xfrm>
              <a:off x="1981084" y="3902973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5" name="Google Shape;1205;p77"/>
            <p:cNvCxnSpPr/>
            <p:nvPr/>
          </p:nvCxnSpPr>
          <p:spPr>
            <a:xfrm rot="5400000">
              <a:off x="1817413" y="4091068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6" name="Google Shape;1206;p77"/>
            <p:cNvCxnSpPr/>
            <p:nvPr/>
          </p:nvCxnSpPr>
          <p:spPr>
            <a:xfrm rot="5400000">
              <a:off x="1817413" y="4434098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7" name="Google Shape;1207;p77"/>
            <p:cNvCxnSpPr/>
            <p:nvPr/>
          </p:nvCxnSpPr>
          <p:spPr>
            <a:xfrm>
              <a:off x="2332863" y="3902973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8" name="Google Shape;1208;p77"/>
            <p:cNvCxnSpPr/>
            <p:nvPr/>
          </p:nvCxnSpPr>
          <p:spPr>
            <a:xfrm rot="5400000">
              <a:off x="2842090" y="4091068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9" name="Google Shape;1209;p77"/>
            <p:cNvCxnSpPr/>
            <p:nvPr/>
          </p:nvCxnSpPr>
          <p:spPr>
            <a:xfrm rot="5400000">
              <a:off x="2842090" y="4434098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0" name="Google Shape;1210;p77"/>
            <p:cNvCxnSpPr/>
            <p:nvPr/>
          </p:nvCxnSpPr>
          <p:spPr>
            <a:xfrm>
              <a:off x="1981080" y="4940787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1" name="Google Shape;1211;p77"/>
            <p:cNvCxnSpPr/>
            <p:nvPr/>
          </p:nvCxnSpPr>
          <p:spPr>
            <a:xfrm rot="5400000">
              <a:off x="2842109" y="4777118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2" name="Google Shape;1212;p77"/>
            <p:cNvCxnSpPr/>
            <p:nvPr/>
          </p:nvCxnSpPr>
          <p:spPr>
            <a:xfrm rot="5400000">
              <a:off x="1817413" y="4778221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3" name="Google Shape;1213;p77"/>
            <p:cNvCxnSpPr/>
            <p:nvPr/>
          </p:nvCxnSpPr>
          <p:spPr>
            <a:xfrm>
              <a:off x="2668032" y="4940787"/>
              <a:ext cx="327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214" name="Google Shape;1214;p77"/>
          <p:cNvCxnSpPr/>
          <p:nvPr/>
        </p:nvCxnSpPr>
        <p:spPr>
          <a:xfrm>
            <a:off x="2887200" y="1747625"/>
            <a:ext cx="12189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5" name="Google Shape;1215;p77"/>
          <p:cNvCxnSpPr/>
          <p:nvPr/>
        </p:nvCxnSpPr>
        <p:spPr>
          <a:xfrm>
            <a:off x="2887200" y="2460438"/>
            <a:ext cx="1186800" cy="2022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6" name="Google Shape;1216;p77"/>
          <p:cNvCxnSpPr>
            <a:endCxn id="1161" idx="1"/>
          </p:cNvCxnSpPr>
          <p:nvPr/>
        </p:nvCxnSpPr>
        <p:spPr>
          <a:xfrm rot="10800000" flipH="1">
            <a:off x="2894250" y="2690875"/>
            <a:ext cx="1317600" cy="612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7" name="Google Shape;1217;p77"/>
          <p:cNvCxnSpPr/>
          <p:nvPr/>
        </p:nvCxnSpPr>
        <p:spPr>
          <a:xfrm rot="10800000" flipH="1">
            <a:off x="2894200" y="3613325"/>
            <a:ext cx="1317600" cy="612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21" name="Shape 1221"/>
        <p:cNvGrpSpPr/>
        <p:nvPr/>
      </p:nvGrpSpPr>
      <p:grpSpPr>
        <a:xfrm>
          <a:off x="0" y="0"/>
          <a:ext cx="0" cy="0"/>
        </a:xfrm>
      </p:grpSpPr>
      <p:sp>
        <p:nvSpPr>
          <p:cNvPr id="1222" name="Google Shape;1222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1223" name="Google Shape;1223;p78"/>
          <p:cNvSpPr txBox="1"/>
          <p:nvPr>
            <p:ph type="body" idx="1"/>
          </p:nvPr>
        </p:nvSpPr>
        <p:spPr>
          <a:xfrm>
            <a:off x="324000" y="7843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can write </a:t>
            </a:r>
            <a:r>
              <a:rPr lang="en-GB" sz="2000" b="1"/>
              <a:t>position-to-term</a:t>
            </a:r>
            <a:r>
              <a:rPr lang="en-GB" sz="2000"/>
              <a:t> rules for numerical sequences. </a:t>
            </a:r>
            <a:endParaRPr sz="2000"/>
          </a:p>
        </p:txBody>
      </p:sp>
      <p:sp>
        <p:nvSpPr>
          <p:cNvPr id="1224" name="Google Shape;1224;p78"/>
          <p:cNvSpPr txBox="1"/>
          <p:nvPr>
            <p:ph type="body" idx="1"/>
          </p:nvPr>
        </p:nvSpPr>
        <p:spPr>
          <a:xfrm>
            <a:off x="324000" y="17256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4, 8, 12, 16, … </a:t>
            </a:r>
            <a:endParaRPr sz="2000"/>
          </a:p>
        </p:txBody>
      </p:sp>
      <p:sp>
        <p:nvSpPr>
          <p:cNvPr id="1225" name="Google Shape;1225;p78"/>
          <p:cNvSpPr txBox="1"/>
          <p:nvPr>
            <p:ph type="body" idx="1"/>
          </p:nvPr>
        </p:nvSpPr>
        <p:spPr>
          <a:xfrm>
            <a:off x="324000" y="1313088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 could we describe what is happening in this sequence? </a:t>
            </a:r>
            <a:endParaRPr sz="2000"/>
          </a:p>
        </p:txBody>
      </p:sp>
      <p:sp>
        <p:nvSpPr>
          <p:cNvPr id="1226" name="Google Shape;1226;p78"/>
          <p:cNvSpPr txBox="1"/>
          <p:nvPr>
            <p:ph type="body" idx="1"/>
          </p:nvPr>
        </p:nvSpPr>
        <p:spPr>
          <a:xfrm>
            <a:off x="324000" y="2159988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said: This sequence is adding 4 each time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7" name="Google Shape;1227;p78"/>
          <p:cNvSpPr txBox="1"/>
          <p:nvPr>
            <p:ph type="body" idx="1"/>
          </p:nvPr>
        </p:nvSpPr>
        <p:spPr>
          <a:xfrm>
            <a:off x="324000" y="2596088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Or, this sequence is the 4 times table.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28" name="Google Shape;1228;p78"/>
          <p:cNvGraphicFramePr>
            <a:graphicFrameLocks noGrp="1"/>
          </p:cNvGraphicFramePr>
          <p:nvPr/>
        </p:nvGraphicFramePr>
        <p:xfrm>
          <a:off x="323988" y="387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2044150"/>
                <a:gridCol w="848700"/>
                <a:gridCol w="848700"/>
                <a:gridCol w="848700"/>
                <a:gridCol w="8487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29" name="Google Shape;1229;p78"/>
          <p:cNvSpPr txBox="1"/>
          <p:nvPr>
            <p:ph type="body" idx="1"/>
          </p:nvPr>
        </p:nvSpPr>
        <p:spPr>
          <a:xfrm>
            <a:off x="6256800" y="3706500"/>
            <a:ext cx="26226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term is the term number multiplied by 4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0" name="Google Shape;1230;p78"/>
          <p:cNvSpPr txBox="1"/>
          <p:nvPr>
            <p:ph type="body" idx="1"/>
          </p:nvPr>
        </p:nvSpPr>
        <p:spPr>
          <a:xfrm>
            <a:off x="324000" y="3174125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relationship between the term number and the term?</a:t>
            </a:r>
            <a:endParaRPr sz="2000"/>
          </a:p>
        </p:txBody>
      </p:sp>
      <p:cxnSp>
        <p:nvCxnSpPr>
          <p:cNvPr id="1231" name="Google Shape;1231;p78"/>
          <p:cNvCxnSpPr/>
          <p:nvPr/>
        </p:nvCxnSpPr>
        <p:spPr>
          <a:xfrm flipH="1">
            <a:off x="2887200" y="4119000"/>
            <a:ext cx="0" cy="4875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32" name="Google Shape;1232;p78"/>
          <p:cNvCxnSpPr/>
          <p:nvPr/>
        </p:nvCxnSpPr>
        <p:spPr>
          <a:xfrm flipH="1">
            <a:off x="3789900" y="4128950"/>
            <a:ext cx="0" cy="4875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33" name="Google Shape;1233;p78"/>
          <p:cNvCxnSpPr/>
          <p:nvPr/>
        </p:nvCxnSpPr>
        <p:spPr>
          <a:xfrm flipH="1">
            <a:off x="4704300" y="4128950"/>
            <a:ext cx="0" cy="4875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34" name="Google Shape;1234;p78"/>
          <p:cNvCxnSpPr/>
          <p:nvPr/>
        </p:nvCxnSpPr>
        <p:spPr>
          <a:xfrm flipH="1">
            <a:off x="5542500" y="4128950"/>
            <a:ext cx="0" cy="4875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35" name="Google Shape;1235;p78"/>
          <p:cNvSpPr txBox="1"/>
          <p:nvPr>
            <p:ph type="body" idx="1"/>
          </p:nvPr>
        </p:nvSpPr>
        <p:spPr>
          <a:xfrm>
            <a:off x="5822689" y="4188260"/>
            <a:ext cx="4341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×</a:t>
            </a:r>
            <a:r>
              <a:rPr lang="en-GB" sz="1800"/>
              <a:t> 4 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9" name="Shape 1239"/>
        <p:cNvGrpSpPr/>
        <p:nvPr/>
      </p:nvGrpSpPr>
      <p:grpSpPr>
        <a:xfrm>
          <a:off x="0" y="0"/>
          <a:ext cx="0" cy="0"/>
        </a:xfrm>
      </p:grpSpPr>
      <p:sp>
        <p:nvSpPr>
          <p:cNvPr id="1240" name="Google Shape;124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1241" name="Google Shape;1241;p79"/>
          <p:cNvSpPr txBox="1"/>
          <p:nvPr>
            <p:ph type="body" idx="1"/>
          </p:nvPr>
        </p:nvSpPr>
        <p:spPr>
          <a:xfrm>
            <a:off x="324000" y="113485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6, 10, 14, 18, … </a:t>
            </a:r>
            <a:endParaRPr sz="2000"/>
          </a:p>
        </p:txBody>
      </p:sp>
      <p:sp>
        <p:nvSpPr>
          <p:cNvPr id="1242" name="Google Shape;1242;p79"/>
          <p:cNvSpPr txBox="1"/>
          <p:nvPr>
            <p:ph type="body" idx="1"/>
          </p:nvPr>
        </p:nvSpPr>
        <p:spPr>
          <a:xfrm>
            <a:off x="324000" y="764513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This sequence is also adding 4 each time but is not the 4 times table. </a:t>
            </a:r>
            <a:endParaRPr sz="2000"/>
          </a:p>
        </p:txBody>
      </p:sp>
      <p:graphicFrame>
        <p:nvGraphicFramePr>
          <p:cNvPr id="1243" name="Google Shape;1243;p79"/>
          <p:cNvGraphicFramePr>
            <a:graphicFrameLocks noGrp="1"/>
          </p:cNvGraphicFramePr>
          <p:nvPr/>
        </p:nvGraphicFramePr>
        <p:xfrm>
          <a:off x="1852513" y="143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2044150"/>
                <a:gridCol w="848700"/>
                <a:gridCol w="848700"/>
                <a:gridCol w="848700"/>
                <a:gridCol w="8487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44" name="Google Shape;1244;p79"/>
          <p:cNvSpPr txBox="1"/>
          <p:nvPr>
            <p:ph type="body" idx="1"/>
          </p:nvPr>
        </p:nvSpPr>
        <p:spPr>
          <a:xfrm>
            <a:off x="324000" y="3130250"/>
            <a:ext cx="44214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term-to-term rule would be add 4.</a:t>
            </a:r>
            <a:endParaRPr sz="1800"/>
          </a:p>
        </p:txBody>
      </p:sp>
      <p:pic>
        <p:nvPicPr>
          <p:cNvPr id="1245" name="Google Shape;1245;p79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5125337" y="2502649"/>
            <a:ext cx="990952" cy="2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79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4254875" y="2520949"/>
            <a:ext cx="990952" cy="2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79"/>
          <p:cNvSpPr txBox="1"/>
          <p:nvPr/>
        </p:nvSpPr>
        <p:spPr>
          <a:xfrm>
            <a:off x="4571997" y="2680459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79"/>
          <p:cNvSpPr txBox="1"/>
          <p:nvPr/>
        </p:nvSpPr>
        <p:spPr>
          <a:xfrm>
            <a:off x="5536835" y="2680459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79"/>
          <p:cNvSpPr txBox="1"/>
          <p:nvPr>
            <p:ph type="body" idx="1"/>
          </p:nvPr>
        </p:nvSpPr>
        <p:spPr>
          <a:xfrm>
            <a:off x="324000" y="3500575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can write each term by adding 4s onto the same value. </a:t>
            </a:r>
            <a:endParaRPr sz="1800"/>
          </a:p>
        </p:txBody>
      </p:sp>
      <p:sp>
        <p:nvSpPr>
          <p:cNvPr id="1250" name="Google Shape;1250;p79"/>
          <p:cNvSpPr txBox="1"/>
          <p:nvPr>
            <p:ph type="body" idx="1"/>
          </p:nvPr>
        </p:nvSpPr>
        <p:spPr>
          <a:xfrm>
            <a:off x="2384550" y="3913075"/>
            <a:ext cx="12567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1</a:t>
            </a:r>
            <a:r>
              <a:rPr lang="en-GB" sz="1800"/>
              <a:t> = 2 + 4</a:t>
            </a:r>
            <a:endParaRPr sz="1800"/>
          </a:p>
        </p:txBody>
      </p:sp>
      <p:sp>
        <p:nvSpPr>
          <p:cNvPr id="1251" name="Google Shape;1251;p79"/>
          <p:cNvSpPr/>
          <p:nvPr/>
        </p:nvSpPr>
        <p:spPr>
          <a:xfrm>
            <a:off x="4162640" y="1953454"/>
            <a:ext cx="3147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79"/>
          <p:cNvSpPr txBox="1"/>
          <p:nvPr>
            <p:ph type="body" idx="1"/>
          </p:nvPr>
        </p:nvSpPr>
        <p:spPr>
          <a:xfrm>
            <a:off x="4136550" y="3913075"/>
            <a:ext cx="15876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2</a:t>
            </a:r>
            <a:r>
              <a:rPr lang="en-GB" sz="1800"/>
              <a:t> = 2 + 4 + 4</a:t>
            </a:r>
            <a:endParaRPr sz="1800"/>
          </a:p>
        </p:txBody>
      </p:sp>
      <p:sp>
        <p:nvSpPr>
          <p:cNvPr id="1253" name="Google Shape;1253;p79"/>
          <p:cNvSpPr txBox="1"/>
          <p:nvPr>
            <p:ph type="body" idx="1"/>
          </p:nvPr>
        </p:nvSpPr>
        <p:spPr>
          <a:xfrm>
            <a:off x="324000" y="3913075"/>
            <a:ext cx="13608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 = 2 + 4 </a:t>
            </a:r>
            <a:endParaRPr sz="1800"/>
          </a:p>
        </p:txBody>
      </p:sp>
      <p:sp>
        <p:nvSpPr>
          <p:cNvPr id="1254" name="Google Shape;1254;p79"/>
          <p:cNvSpPr txBox="1"/>
          <p:nvPr>
            <p:ph type="body" idx="1"/>
          </p:nvPr>
        </p:nvSpPr>
        <p:spPr>
          <a:xfrm>
            <a:off x="6219450" y="3913075"/>
            <a:ext cx="20625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3</a:t>
            </a:r>
            <a:r>
              <a:rPr lang="en-GB" sz="1800"/>
              <a:t> = 2 + 4 + 4 + 4</a:t>
            </a:r>
            <a:endParaRPr sz="1800"/>
          </a:p>
        </p:txBody>
      </p:sp>
      <p:sp>
        <p:nvSpPr>
          <p:cNvPr id="1255" name="Google Shape;1255;p79"/>
          <p:cNvSpPr txBox="1"/>
          <p:nvPr>
            <p:ph type="body" idx="1"/>
          </p:nvPr>
        </p:nvSpPr>
        <p:spPr>
          <a:xfrm>
            <a:off x="301650" y="4233175"/>
            <a:ext cx="15876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10 = 2 + 4 + 4 </a:t>
            </a:r>
            <a:endParaRPr sz="1800"/>
          </a:p>
        </p:txBody>
      </p:sp>
      <p:sp>
        <p:nvSpPr>
          <p:cNvPr id="1256" name="Google Shape;1256;p79"/>
          <p:cNvSpPr txBox="1"/>
          <p:nvPr>
            <p:ph type="body" idx="1"/>
          </p:nvPr>
        </p:nvSpPr>
        <p:spPr>
          <a:xfrm>
            <a:off x="301650" y="4548600"/>
            <a:ext cx="2294700" cy="28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14 = 2 + 4 + 4 + 4 </a:t>
            </a:r>
            <a:endParaRPr sz="1800"/>
          </a:p>
        </p:txBody>
      </p:sp>
      <p:sp>
        <p:nvSpPr>
          <p:cNvPr id="1257" name="Google Shape;1257;p79"/>
          <p:cNvSpPr txBox="1"/>
          <p:nvPr>
            <p:ph type="body" idx="1"/>
          </p:nvPr>
        </p:nvSpPr>
        <p:spPr>
          <a:xfrm>
            <a:off x="4081475" y="2327650"/>
            <a:ext cx="663900" cy="20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 + 4 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61" name="Shape 1261"/>
        <p:cNvGrpSpPr/>
        <p:nvPr/>
      </p:nvGrpSpPr>
      <p:grpSpPr>
        <a:xfrm>
          <a:off x="0" y="0"/>
          <a:ext cx="0" cy="0"/>
        </a:xfrm>
      </p:grpSpPr>
      <p:sp>
        <p:nvSpPr>
          <p:cNvPr id="1262" name="Google Shape;1262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1263" name="Google Shape;1263;p80"/>
          <p:cNvSpPr txBox="1"/>
          <p:nvPr>
            <p:ph type="body" idx="1"/>
          </p:nvPr>
        </p:nvSpPr>
        <p:spPr>
          <a:xfrm>
            <a:off x="324000" y="810000"/>
            <a:ext cx="12567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1</a:t>
            </a:r>
            <a:r>
              <a:rPr lang="en-GB" sz="1800"/>
              <a:t> = 2 + 4</a:t>
            </a:r>
            <a:endParaRPr sz="1800"/>
          </a:p>
        </p:txBody>
      </p:sp>
      <p:sp>
        <p:nvSpPr>
          <p:cNvPr id="1264" name="Google Shape;1264;p80"/>
          <p:cNvSpPr txBox="1"/>
          <p:nvPr>
            <p:ph type="body" idx="1"/>
          </p:nvPr>
        </p:nvSpPr>
        <p:spPr>
          <a:xfrm>
            <a:off x="2076000" y="810000"/>
            <a:ext cx="15876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2</a:t>
            </a:r>
            <a:r>
              <a:rPr lang="en-GB" sz="1800"/>
              <a:t> = 2 + 4 + 4</a:t>
            </a:r>
            <a:endParaRPr sz="1800"/>
          </a:p>
        </p:txBody>
      </p:sp>
      <p:sp>
        <p:nvSpPr>
          <p:cNvPr id="1265" name="Google Shape;1265;p80"/>
          <p:cNvSpPr txBox="1"/>
          <p:nvPr>
            <p:ph type="body" idx="1"/>
          </p:nvPr>
        </p:nvSpPr>
        <p:spPr>
          <a:xfrm>
            <a:off x="4158900" y="810000"/>
            <a:ext cx="20625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3</a:t>
            </a:r>
            <a:r>
              <a:rPr lang="en-GB" sz="1800"/>
              <a:t> = 2 + 4 + 4 + 4</a:t>
            </a:r>
            <a:endParaRPr sz="1800"/>
          </a:p>
        </p:txBody>
      </p:sp>
      <p:sp>
        <p:nvSpPr>
          <p:cNvPr id="1266" name="Google Shape;1266;p80"/>
          <p:cNvSpPr txBox="1"/>
          <p:nvPr>
            <p:ph type="body" idx="1"/>
          </p:nvPr>
        </p:nvSpPr>
        <p:spPr>
          <a:xfrm>
            <a:off x="324000" y="1521575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could we write T</a:t>
            </a:r>
            <a:r>
              <a:rPr lang="en-GB" sz="1800" baseline="-25000"/>
              <a:t>10</a:t>
            </a:r>
            <a:r>
              <a:rPr lang="en-GB" sz="1800"/>
              <a:t> in the same format?</a:t>
            </a:r>
            <a:endParaRPr sz="1800"/>
          </a:p>
        </p:txBody>
      </p:sp>
      <p:sp>
        <p:nvSpPr>
          <p:cNvPr id="1267" name="Google Shape;1267;p80"/>
          <p:cNvSpPr txBox="1"/>
          <p:nvPr>
            <p:ph type="body" idx="1"/>
          </p:nvPr>
        </p:nvSpPr>
        <p:spPr>
          <a:xfrm>
            <a:off x="324000" y="2160000"/>
            <a:ext cx="80205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2 + 4 + 4 + 4 + 4 + 4 + 4 + 4 + 4 + 4 + 4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8" name="Google Shape;1268;p80"/>
          <p:cNvSpPr txBox="1"/>
          <p:nvPr>
            <p:ph type="body" idx="1"/>
          </p:nvPr>
        </p:nvSpPr>
        <p:spPr>
          <a:xfrm>
            <a:off x="324000" y="2798425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Can you spot a simpler way to write this?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You can use multiplication for the repeated addition of the same value.</a:t>
            </a:r>
            <a:endParaRPr sz="1800"/>
          </a:p>
        </p:txBody>
      </p:sp>
      <p:sp>
        <p:nvSpPr>
          <p:cNvPr id="1269" name="Google Shape;1269;p80"/>
          <p:cNvSpPr txBox="1"/>
          <p:nvPr>
            <p:ph type="body" idx="1"/>
          </p:nvPr>
        </p:nvSpPr>
        <p:spPr>
          <a:xfrm>
            <a:off x="324000" y="3665125"/>
            <a:ext cx="58563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2 + 4 + 4 + 4 + 4 + 4 + 4 + 4 + 4 + 4 + 4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0" name="Google Shape;1270;p80"/>
          <p:cNvSpPr txBox="1"/>
          <p:nvPr>
            <p:ph type="body" idx="1"/>
          </p:nvPr>
        </p:nvSpPr>
        <p:spPr>
          <a:xfrm>
            <a:off x="324000" y="4119000"/>
            <a:ext cx="58563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2 + 10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1" name="Google Shape;1271;p80"/>
          <p:cNvSpPr/>
          <p:nvPr/>
        </p:nvSpPr>
        <p:spPr>
          <a:xfrm>
            <a:off x="416825" y="4325569"/>
            <a:ext cx="228000" cy="180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80"/>
          <p:cNvSpPr/>
          <p:nvPr/>
        </p:nvSpPr>
        <p:spPr>
          <a:xfrm>
            <a:off x="1370090" y="4119004"/>
            <a:ext cx="3147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6" name="Shape 1276"/>
        <p:cNvGrpSpPr/>
        <p:nvPr/>
      </p:nvGrpSpPr>
      <p:grpSpPr>
        <a:xfrm>
          <a:off x="0" y="0"/>
          <a:ext cx="0" cy="0"/>
        </a:xfrm>
      </p:grpSpPr>
      <p:sp>
        <p:nvSpPr>
          <p:cNvPr id="1277" name="Google Shape;1277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1278" name="Google Shape;1278;p81"/>
          <p:cNvSpPr txBox="1"/>
          <p:nvPr>
            <p:ph type="body" idx="1"/>
          </p:nvPr>
        </p:nvSpPr>
        <p:spPr>
          <a:xfrm>
            <a:off x="324000" y="1180500"/>
            <a:ext cx="12567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1</a:t>
            </a:r>
            <a:r>
              <a:rPr lang="en-GB" sz="1800"/>
              <a:t> = 2 + 4</a:t>
            </a:r>
            <a:endParaRPr sz="1800"/>
          </a:p>
        </p:txBody>
      </p:sp>
      <p:sp>
        <p:nvSpPr>
          <p:cNvPr id="1279" name="Google Shape;1279;p81"/>
          <p:cNvSpPr txBox="1"/>
          <p:nvPr>
            <p:ph type="body" idx="1"/>
          </p:nvPr>
        </p:nvSpPr>
        <p:spPr>
          <a:xfrm>
            <a:off x="324000" y="1706550"/>
            <a:ext cx="15876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2</a:t>
            </a:r>
            <a:r>
              <a:rPr lang="en-GB" sz="1800"/>
              <a:t> = 2 + 4 + 4</a:t>
            </a:r>
            <a:endParaRPr sz="1800"/>
          </a:p>
        </p:txBody>
      </p:sp>
      <p:sp>
        <p:nvSpPr>
          <p:cNvPr id="1280" name="Google Shape;1280;p81"/>
          <p:cNvSpPr txBox="1"/>
          <p:nvPr>
            <p:ph type="body" idx="1"/>
          </p:nvPr>
        </p:nvSpPr>
        <p:spPr>
          <a:xfrm>
            <a:off x="324000" y="2274000"/>
            <a:ext cx="20625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3</a:t>
            </a:r>
            <a:r>
              <a:rPr lang="en-GB" sz="1800"/>
              <a:t> = 2 + 4 + 4 + 4</a:t>
            </a:r>
            <a:endParaRPr sz="1800"/>
          </a:p>
        </p:txBody>
      </p:sp>
      <p:sp>
        <p:nvSpPr>
          <p:cNvPr id="1281" name="Google Shape;1281;p81"/>
          <p:cNvSpPr txBox="1"/>
          <p:nvPr>
            <p:ph type="body" idx="1"/>
          </p:nvPr>
        </p:nvSpPr>
        <p:spPr>
          <a:xfrm>
            <a:off x="324000" y="77445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Looking at this pattern can help you to </a:t>
            </a:r>
            <a:r>
              <a:rPr lang="en-GB" sz="1800">
                <a:solidFill>
                  <a:schemeClr val="accent4"/>
                </a:solidFill>
              </a:rPr>
              <a:t>generalise </a:t>
            </a:r>
            <a:r>
              <a:rPr lang="en-GB" sz="1800"/>
              <a:t>what is happening. </a:t>
            </a:r>
            <a:endParaRPr sz="1800"/>
          </a:p>
        </p:txBody>
      </p:sp>
      <p:sp>
        <p:nvSpPr>
          <p:cNvPr id="1282" name="Google Shape;1282;p81"/>
          <p:cNvSpPr txBox="1"/>
          <p:nvPr>
            <p:ph type="body" idx="1"/>
          </p:nvPr>
        </p:nvSpPr>
        <p:spPr>
          <a:xfrm>
            <a:off x="324000" y="3367500"/>
            <a:ext cx="66756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10</a:t>
            </a:r>
            <a:r>
              <a:rPr lang="en-GB" sz="1800"/>
              <a:t> = 2 + 4 + 4 + 4 + 4 + 4 + 4 + 4 + 4 + 4 + 4</a:t>
            </a:r>
            <a:endParaRPr sz="1800"/>
          </a:p>
        </p:txBody>
      </p:sp>
      <p:sp>
        <p:nvSpPr>
          <p:cNvPr id="1283" name="Google Shape;1283;p81"/>
          <p:cNvSpPr txBox="1"/>
          <p:nvPr>
            <p:ph type="body" idx="1"/>
          </p:nvPr>
        </p:nvSpPr>
        <p:spPr>
          <a:xfrm>
            <a:off x="6051750" y="3367500"/>
            <a:ext cx="18444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10</a:t>
            </a:r>
            <a:r>
              <a:rPr lang="en-GB" sz="1800"/>
              <a:t> = 2 + 10 </a:t>
            </a:r>
            <a:r>
              <a:rPr lang="en-GB" sz="1800">
                <a:solidFill>
                  <a:srgbClr val="222222"/>
                </a:solidFill>
              </a:rPr>
              <a:t>× 4</a:t>
            </a:r>
            <a:endParaRPr sz="1800"/>
          </a:p>
        </p:txBody>
      </p:sp>
      <p:sp>
        <p:nvSpPr>
          <p:cNvPr id="1284" name="Google Shape;1284;p81"/>
          <p:cNvSpPr/>
          <p:nvPr/>
        </p:nvSpPr>
        <p:spPr>
          <a:xfrm>
            <a:off x="6110850" y="1366646"/>
            <a:ext cx="228000" cy="180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81"/>
          <p:cNvSpPr txBox="1"/>
          <p:nvPr>
            <p:ph type="body" idx="1"/>
          </p:nvPr>
        </p:nvSpPr>
        <p:spPr>
          <a:xfrm>
            <a:off x="324000" y="2820750"/>
            <a:ext cx="28296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4</a:t>
            </a:r>
            <a:r>
              <a:rPr lang="en-GB" sz="1800"/>
              <a:t> = 2 + 4 + 4 + 4 +4</a:t>
            </a:r>
            <a:endParaRPr sz="1800"/>
          </a:p>
        </p:txBody>
      </p:sp>
      <p:sp>
        <p:nvSpPr>
          <p:cNvPr id="1286" name="Google Shape;1286;p81"/>
          <p:cNvSpPr txBox="1"/>
          <p:nvPr>
            <p:ph type="body" idx="1"/>
          </p:nvPr>
        </p:nvSpPr>
        <p:spPr>
          <a:xfrm>
            <a:off x="6051750" y="1180500"/>
            <a:ext cx="1844400" cy="2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1</a:t>
            </a:r>
            <a:r>
              <a:rPr lang="en-GB" sz="1800"/>
              <a:t> = 2 + 1 </a:t>
            </a:r>
            <a:r>
              <a:rPr lang="en-GB" sz="1800">
                <a:solidFill>
                  <a:srgbClr val="222222"/>
                </a:solidFill>
              </a:rPr>
              <a:t>× 4</a:t>
            </a:r>
            <a:endParaRPr sz="1800"/>
          </a:p>
        </p:txBody>
      </p:sp>
      <p:sp>
        <p:nvSpPr>
          <p:cNvPr id="1287" name="Google Shape;1287;p81"/>
          <p:cNvSpPr txBox="1"/>
          <p:nvPr>
            <p:ph type="body" idx="1"/>
          </p:nvPr>
        </p:nvSpPr>
        <p:spPr>
          <a:xfrm>
            <a:off x="6051750" y="1727250"/>
            <a:ext cx="18444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2</a:t>
            </a:r>
            <a:r>
              <a:rPr lang="en-GB" sz="1800"/>
              <a:t> = 2 + 2 </a:t>
            </a:r>
            <a:r>
              <a:rPr lang="en-GB" sz="1800">
                <a:solidFill>
                  <a:srgbClr val="222222"/>
                </a:solidFill>
              </a:rPr>
              <a:t>× 4</a:t>
            </a:r>
            <a:endParaRPr sz="1800"/>
          </a:p>
        </p:txBody>
      </p:sp>
      <p:sp>
        <p:nvSpPr>
          <p:cNvPr id="1288" name="Google Shape;1288;p81"/>
          <p:cNvSpPr txBox="1"/>
          <p:nvPr>
            <p:ph type="body" idx="1"/>
          </p:nvPr>
        </p:nvSpPr>
        <p:spPr>
          <a:xfrm>
            <a:off x="6051750" y="2274000"/>
            <a:ext cx="18444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3</a:t>
            </a:r>
            <a:r>
              <a:rPr lang="en-GB" sz="1800"/>
              <a:t> = 2 + 3 </a:t>
            </a:r>
            <a:r>
              <a:rPr lang="en-GB" sz="1800">
                <a:solidFill>
                  <a:srgbClr val="222222"/>
                </a:solidFill>
              </a:rPr>
              <a:t>× 4</a:t>
            </a:r>
            <a:endParaRPr sz="1800"/>
          </a:p>
        </p:txBody>
      </p:sp>
      <p:sp>
        <p:nvSpPr>
          <p:cNvPr id="1289" name="Google Shape;1289;p81"/>
          <p:cNvSpPr txBox="1"/>
          <p:nvPr>
            <p:ph type="body" idx="1"/>
          </p:nvPr>
        </p:nvSpPr>
        <p:spPr>
          <a:xfrm>
            <a:off x="6051750" y="2820750"/>
            <a:ext cx="18444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4</a:t>
            </a:r>
            <a:r>
              <a:rPr lang="en-GB" sz="1800"/>
              <a:t> = 2 + 4 </a:t>
            </a:r>
            <a:r>
              <a:rPr lang="en-GB" sz="1800">
                <a:solidFill>
                  <a:srgbClr val="222222"/>
                </a:solidFill>
              </a:rPr>
              <a:t>× 4</a:t>
            </a:r>
            <a:endParaRPr sz="1800"/>
          </a:p>
        </p:txBody>
      </p:sp>
      <p:sp>
        <p:nvSpPr>
          <p:cNvPr id="1290" name="Google Shape;1290;p81"/>
          <p:cNvSpPr/>
          <p:nvPr/>
        </p:nvSpPr>
        <p:spPr>
          <a:xfrm>
            <a:off x="6863200" y="1180500"/>
            <a:ext cx="1980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1"/>
          <p:cNvSpPr/>
          <p:nvPr/>
        </p:nvSpPr>
        <p:spPr>
          <a:xfrm>
            <a:off x="6126579" y="1900046"/>
            <a:ext cx="228000" cy="180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81"/>
          <p:cNvSpPr/>
          <p:nvPr/>
        </p:nvSpPr>
        <p:spPr>
          <a:xfrm>
            <a:off x="6878930" y="1713900"/>
            <a:ext cx="1980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81"/>
          <p:cNvSpPr/>
          <p:nvPr/>
        </p:nvSpPr>
        <p:spPr>
          <a:xfrm>
            <a:off x="6110850" y="2449175"/>
            <a:ext cx="228000" cy="180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81"/>
          <p:cNvSpPr/>
          <p:nvPr/>
        </p:nvSpPr>
        <p:spPr>
          <a:xfrm>
            <a:off x="6863200" y="2263029"/>
            <a:ext cx="1980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81"/>
          <p:cNvSpPr/>
          <p:nvPr/>
        </p:nvSpPr>
        <p:spPr>
          <a:xfrm>
            <a:off x="6150173" y="3539569"/>
            <a:ext cx="228000" cy="180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81"/>
          <p:cNvSpPr/>
          <p:nvPr/>
        </p:nvSpPr>
        <p:spPr>
          <a:xfrm>
            <a:off x="6960125" y="3353425"/>
            <a:ext cx="3147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81"/>
          <p:cNvSpPr txBox="1"/>
          <p:nvPr>
            <p:ph type="body" idx="1"/>
          </p:nvPr>
        </p:nvSpPr>
        <p:spPr>
          <a:xfrm>
            <a:off x="324000" y="397615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value of a given term is 2 plus term number multiplied by 4.</a:t>
            </a:r>
            <a:endParaRPr sz="1800"/>
          </a:p>
        </p:txBody>
      </p:sp>
      <p:sp>
        <p:nvSpPr>
          <p:cNvPr id="1298" name="Google Shape;1298;p81"/>
          <p:cNvSpPr txBox="1"/>
          <p:nvPr>
            <p:ph type="body" idx="1"/>
          </p:nvPr>
        </p:nvSpPr>
        <p:spPr>
          <a:xfrm>
            <a:off x="324000" y="44281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Or, multiply the term number by 4 and add 2 to get the value of the term.  </a:t>
            </a:r>
            <a:endParaRPr sz="1800"/>
          </a:p>
        </p:txBody>
      </p:sp>
      <p:sp>
        <p:nvSpPr>
          <p:cNvPr id="1299" name="Google Shape;1299;p81"/>
          <p:cNvSpPr/>
          <p:nvPr/>
        </p:nvSpPr>
        <p:spPr>
          <a:xfrm>
            <a:off x="6150175" y="2994363"/>
            <a:ext cx="228000" cy="180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81"/>
          <p:cNvSpPr/>
          <p:nvPr/>
        </p:nvSpPr>
        <p:spPr>
          <a:xfrm>
            <a:off x="6902525" y="2808217"/>
            <a:ext cx="1980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4" name="Shape 1304"/>
        <p:cNvGrpSpPr/>
        <p:nvPr/>
      </p:nvGrpSpPr>
      <p:grpSpPr>
        <a:xfrm>
          <a:off x="0" y="0"/>
          <a:ext cx="0" cy="0"/>
        </a:xfrm>
      </p:grpSpPr>
      <p:sp>
        <p:nvSpPr>
          <p:cNvPr id="1305" name="Google Shape;1305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1306" name="Google Shape;1306;p82"/>
          <p:cNvSpPr txBox="1"/>
          <p:nvPr>
            <p:ph type="body" idx="1"/>
          </p:nvPr>
        </p:nvSpPr>
        <p:spPr>
          <a:xfrm>
            <a:off x="324000" y="1559175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20, 24, 28, 32, … </a:t>
            </a:r>
            <a:endParaRPr sz="1800"/>
          </a:p>
        </p:txBody>
      </p:sp>
      <p:sp>
        <p:nvSpPr>
          <p:cNvPr id="1307" name="Google Shape;1307;p82"/>
          <p:cNvSpPr txBox="1"/>
          <p:nvPr>
            <p:ph type="body" idx="1"/>
          </p:nvPr>
        </p:nvSpPr>
        <p:spPr>
          <a:xfrm>
            <a:off x="324000" y="754938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Let’s look at another sequence. What is the same and what is different from our previous sequences?</a:t>
            </a:r>
            <a:endParaRPr sz="1800"/>
          </a:p>
        </p:txBody>
      </p:sp>
      <p:sp>
        <p:nvSpPr>
          <p:cNvPr id="1308" name="Google Shape;1308;p82"/>
          <p:cNvSpPr txBox="1"/>
          <p:nvPr>
            <p:ph type="body" idx="1"/>
          </p:nvPr>
        </p:nvSpPr>
        <p:spPr>
          <a:xfrm>
            <a:off x="324000" y="2061475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sequence also has the term-to-term rule ‘add 4’ but starts on a different value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09" name="Google Shape;1309;p82"/>
          <p:cNvGraphicFramePr>
            <a:graphicFrameLocks noGrp="1"/>
          </p:cNvGraphicFramePr>
          <p:nvPr/>
        </p:nvGraphicFramePr>
        <p:xfrm>
          <a:off x="2065188" y="273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2044150"/>
                <a:gridCol w="848700"/>
                <a:gridCol w="848700"/>
                <a:gridCol w="848700"/>
                <a:gridCol w="8487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310" name="Google Shape;1310;p82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5338012" y="3650749"/>
            <a:ext cx="990952" cy="2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1" name="Google Shape;1311;p82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4415400" y="3650749"/>
            <a:ext cx="990952" cy="2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2" name="Google Shape;1312;p82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6260624" y="3650749"/>
            <a:ext cx="990952" cy="2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82"/>
          <p:cNvSpPr txBox="1"/>
          <p:nvPr/>
        </p:nvSpPr>
        <p:spPr>
          <a:xfrm>
            <a:off x="4784672" y="3828559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82"/>
          <p:cNvSpPr txBox="1"/>
          <p:nvPr/>
        </p:nvSpPr>
        <p:spPr>
          <a:xfrm>
            <a:off x="5749510" y="3828559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82"/>
          <p:cNvSpPr txBox="1"/>
          <p:nvPr/>
        </p:nvSpPr>
        <p:spPr>
          <a:xfrm>
            <a:off x="6655460" y="3828559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82"/>
          <p:cNvSpPr txBox="1"/>
          <p:nvPr>
            <p:ph type="body" idx="1"/>
          </p:nvPr>
        </p:nvSpPr>
        <p:spPr>
          <a:xfrm>
            <a:off x="324000" y="4319988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Again, we can write each term by adding 4s onto a set value  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20" name="Shape 1320"/>
        <p:cNvGrpSpPr/>
        <p:nvPr/>
      </p:nvGrpSpPr>
      <p:grpSpPr>
        <a:xfrm>
          <a:off x="0" y="0"/>
          <a:ext cx="0" cy="0"/>
        </a:xfrm>
      </p:grpSpPr>
      <p:sp>
        <p:nvSpPr>
          <p:cNvPr id="1321" name="Google Shape;132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graphicFrame>
        <p:nvGraphicFramePr>
          <p:cNvPr id="1322" name="Google Shape;1322;p83"/>
          <p:cNvGraphicFramePr>
            <a:graphicFrameLocks noGrp="1"/>
          </p:cNvGraphicFramePr>
          <p:nvPr/>
        </p:nvGraphicFramePr>
        <p:xfrm>
          <a:off x="323988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2044150"/>
                <a:gridCol w="848700"/>
                <a:gridCol w="848700"/>
                <a:gridCol w="848700"/>
                <a:gridCol w="8487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323" name="Google Shape;1323;p83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3596812" y="1724299"/>
            <a:ext cx="990952" cy="2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83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2674200" y="1724299"/>
            <a:ext cx="990952" cy="2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5" name="Google Shape;1325;p83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4519424" y="1724299"/>
            <a:ext cx="990952" cy="2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83"/>
          <p:cNvSpPr txBox="1"/>
          <p:nvPr/>
        </p:nvSpPr>
        <p:spPr>
          <a:xfrm>
            <a:off x="3043472" y="1902109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83"/>
          <p:cNvSpPr txBox="1"/>
          <p:nvPr/>
        </p:nvSpPr>
        <p:spPr>
          <a:xfrm>
            <a:off x="4008310" y="1902109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83"/>
          <p:cNvSpPr txBox="1"/>
          <p:nvPr/>
        </p:nvSpPr>
        <p:spPr>
          <a:xfrm>
            <a:off x="4914260" y="1902109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83"/>
          <p:cNvSpPr txBox="1"/>
          <p:nvPr>
            <p:ph type="body" idx="1"/>
          </p:nvPr>
        </p:nvSpPr>
        <p:spPr>
          <a:xfrm>
            <a:off x="324000" y="2265138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can we write 20 as a value add 4?  </a:t>
            </a:r>
            <a:endParaRPr sz="1800"/>
          </a:p>
        </p:txBody>
      </p:sp>
      <p:sp>
        <p:nvSpPr>
          <p:cNvPr id="1330" name="Google Shape;1330;p83"/>
          <p:cNvSpPr txBox="1"/>
          <p:nvPr>
            <p:ph type="body" idx="1"/>
          </p:nvPr>
        </p:nvSpPr>
        <p:spPr>
          <a:xfrm>
            <a:off x="324000" y="2677638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 = 16 + 4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1" name="Google Shape;1331;p83"/>
          <p:cNvSpPr txBox="1"/>
          <p:nvPr>
            <p:ph type="body" idx="1"/>
          </p:nvPr>
        </p:nvSpPr>
        <p:spPr>
          <a:xfrm>
            <a:off x="324000" y="3551388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24 = 16 + 4 + 4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2" name="Google Shape;1332;p83"/>
          <p:cNvSpPr txBox="1"/>
          <p:nvPr>
            <p:ph type="body" idx="1"/>
          </p:nvPr>
        </p:nvSpPr>
        <p:spPr>
          <a:xfrm>
            <a:off x="324000" y="3090138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Now how can we write T</a:t>
            </a:r>
            <a:r>
              <a:rPr lang="en-GB" sz="1800" baseline="-25000"/>
              <a:t>2</a:t>
            </a:r>
            <a:r>
              <a:rPr lang="en-GB" sz="1800"/>
              <a:t>?  </a:t>
            </a:r>
            <a:endParaRPr sz="1800"/>
          </a:p>
        </p:txBody>
      </p:sp>
      <p:sp>
        <p:nvSpPr>
          <p:cNvPr id="1333" name="Google Shape;1333;p83"/>
          <p:cNvSpPr txBox="1"/>
          <p:nvPr>
            <p:ph type="body" idx="1"/>
          </p:nvPr>
        </p:nvSpPr>
        <p:spPr>
          <a:xfrm>
            <a:off x="324000" y="4012638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about T</a:t>
            </a:r>
            <a:r>
              <a:rPr lang="en-GB" sz="1800" baseline="-25000"/>
              <a:t>4</a:t>
            </a:r>
            <a:r>
              <a:rPr lang="en-GB" sz="1800"/>
              <a:t>?  </a:t>
            </a:r>
            <a:endParaRPr sz="1800"/>
          </a:p>
        </p:txBody>
      </p:sp>
      <p:sp>
        <p:nvSpPr>
          <p:cNvPr id="1334" name="Google Shape;1334;p83"/>
          <p:cNvSpPr txBox="1"/>
          <p:nvPr>
            <p:ph type="body" idx="1"/>
          </p:nvPr>
        </p:nvSpPr>
        <p:spPr>
          <a:xfrm>
            <a:off x="324000" y="4404500"/>
            <a:ext cx="30762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32 = 16 + 4 + 4 + 4 + 4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8" name="Shape 1338"/>
        <p:cNvGrpSpPr/>
        <p:nvPr/>
      </p:nvGrpSpPr>
      <p:grpSpPr>
        <a:xfrm>
          <a:off x="0" y="0"/>
          <a:ext cx="0" cy="0"/>
        </a:xfrm>
      </p:grpSpPr>
      <p:sp>
        <p:nvSpPr>
          <p:cNvPr id="1339" name="Google Shape;133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1340" name="Google Shape;1340;p84"/>
          <p:cNvSpPr txBox="1"/>
          <p:nvPr>
            <p:ph type="body" idx="1"/>
          </p:nvPr>
        </p:nvSpPr>
        <p:spPr>
          <a:xfrm>
            <a:off x="324000" y="1180500"/>
            <a:ext cx="12567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1</a:t>
            </a:r>
            <a:r>
              <a:rPr lang="en-GB" sz="1800"/>
              <a:t> = 16 + 4</a:t>
            </a:r>
            <a:endParaRPr sz="1800"/>
          </a:p>
        </p:txBody>
      </p:sp>
      <p:sp>
        <p:nvSpPr>
          <p:cNvPr id="1341" name="Google Shape;1341;p84"/>
          <p:cNvSpPr txBox="1"/>
          <p:nvPr>
            <p:ph type="body" idx="1"/>
          </p:nvPr>
        </p:nvSpPr>
        <p:spPr>
          <a:xfrm>
            <a:off x="324000" y="1706550"/>
            <a:ext cx="15876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2</a:t>
            </a:r>
            <a:r>
              <a:rPr lang="en-GB" sz="1800"/>
              <a:t> = 16 + 4 + 4</a:t>
            </a:r>
            <a:endParaRPr sz="1800"/>
          </a:p>
        </p:txBody>
      </p:sp>
      <p:sp>
        <p:nvSpPr>
          <p:cNvPr id="1342" name="Google Shape;1342;p84"/>
          <p:cNvSpPr txBox="1"/>
          <p:nvPr>
            <p:ph type="body" idx="1"/>
          </p:nvPr>
        </p:nvSpPr>
        <p:spPr>
          <a:xfrm>
            <a:off x="324000" y="2274000"/>
            <a:ext cx="20625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3</a:t>
            </a:r>
            <a:r>
              <a:rPr lang="en-GB" sz="1800"/>
              <a:t> = 16 + 4 + 4 + 4</a:t>
            </a:r>
            <a:endParaRPr sz="1800"/>
          </a:p>
        </p:txBody>
      </p:sp>
      <p:sp>
        <p:nvSpPr>
          <p:cNvPr id="1343" name="Google Shape;1343;p84"/>
          <p:cNvSpPr txBox="1"/>
          <p:nvPr>
            <p:ph type="body" idx="1"/>
          </p:nvPr>
        </p:nvSpPr>
        <p:spPr>
          <a:xfrm>
            <a:off x="324000" y="77445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do you notice about the number of times we add 4 to get each term?</a:t>
            </a:r>
            <a:endParaRPr sz="1800"/>
          </a:p>
        </p:txBody>
      </p:sp>
      <p:sp>
        <p:nvSpPr>
          <p:cNvPr id="1344" name="Google Shape;1344;p84"/>
          <p:cNvSpPr/>
          <p:nvPr/>
        </p:nvSpPr>
        <p:spPr>
          <a:xfrm>
            <a:off x="6110850" y="1366646"/>
            <a:ext cx="228000" cy="180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84"/>
          <p:cNvSpPr txBox="1"/>
          <p:nvPr>
            <p:ph type="body" idx="1"/>
          </p:nvPr>
        </p:nvSpPr>
        <p:spPr>
          <a:xfrm>
            <a:off x="324000" y="2820750"/>
            <a:ext cx="28296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4</a:t>
            </a:r>
            <a:r>
              <a:rPr lang="en-GB" sz="1800"/>
              <a:t> = 16 + 4 + 4 + 4 +4</a:t>
            </a:r>
            <a:endParaRPr sz="1800"/>
          </a:p>
        </p:txBody>
      </p:sp>
      <p:sp>
        <p:nvSpPr>
          <p:cNvPr id="1346" name="Google Shape;1346;p84"/>
          <p:cNvSpPr txBox="1"/>
          <p:nvPr>
            <p:ph type="body" idx="1"/>
          </p:nvPr>
        </p:nvSpPr>
        <p:spPr>
          <a:xfrm>
            <a:off x="6051750" y="1180500"/>
            <a:ext cx="1844400" cy="2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1</a:t>
            </a:r>
            <a:r>
              <a:rPr lang="en-GB" sz="1800"/>
              <a:t> = 16 + 1 </a:t>
            </a:r>
            <a:r>
              <a:rPr lang="en-GB" sz="1800">
                <a:solidFill>
                  <a:srgbClr val="222222"/>
                </a:solidFill>
              </a:rPr>
              <a:t>× 4</a:t>
            </a:r>
            <a:endParaRPr sz="1800"/>
          </a:p>
        </p:txBody>
      </p:sp>
      <p:sp>
        <p:nvSpPr>
          <p:cNvPr id="1347" name="Google Shape;1347;p84"/>
          <p:cNvSpPr txBox="1"/>
          <p:nvPr>
            <p:ph type="body" idx="1"/>
          </p:nvPr>
        </p:nvSpPr>
        <p:spPr>
          <a:xfrm>
            <a:off x="6051750" y="1727250"/>
            <a:ext cx="18444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2</a:t>
            </a:r>
            <a:r>
              <a:rPr lang="en-GB" sz="1800"/>
              <a:t> = 16 + 2 </a:t>
            </a:r>
            <a:r>
              <a:rPr lang="en-GB" sz="1800">
                <a:solidFill>
                  <a:srgbClr val="222222"/>
                </a:solidFill>
              </a:rPr>
              <a:t>× 4</a:t>
            </a:r>
            <a:endParaRPr sz="1800"/>
          </a:p>
        </p:txBody>
      </p:sp>
      <p:sp>
        <p:nvSpPr>
          <p:cNvPr id="1348" name="Google Shape;1348;p84"/>
          <p:cNvSpPr txBox="1"/>
          <p:nvPr>
            <p:ph type="body" idx="1"/>
          </p:nvPr>
        </p:nvSpPr>
        <p:spPr>
          <a:xfrm>
            <a:off x="6051750" y="2274000"/>
            <a:ext cx="18444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3</a:t>
            </a:r>
            <a:r>
              <a:rPr lang="en-GB" sz="1800"/>
              <a:t> = 16 + 3 </a:t>
            </a:r>
            <a:r>
              <a:rPr lang="en-GB" sz="1800">
                <a:solidFill>
                  <a:srgbClr val="222222"/>
                </a:solidFill>
              </a:rPr>
              <a:t>× 4</a:t>
            </a:r>
            <a:endParaRPr sz="1800"/>
          </a:p>
        </p:txBody>
      </p:sp>
      <p:sp>
        <p:nvSpPr>
          <p:cNvPr id="1349" name="Google Shape;1349;p84"/>
          <p:cNvSpPr txBox="1"/>
          <p:nvPr>
            <p:ph type="body" idx="1"/>
          </p:nvPr>
        </p:nvSpPr>
        <p:spPr>
          <a:xfrm>
            <a:off x="6051750" y="2820750"/>
            <a:ext cx="18444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4</a:t>
            </a:r>
            <a:r>
              <a:rPr lang="en-GB" sz="1800"/>
              <a:t> = 16 + 4 </a:t>
            </a:r>
            <a:r>
              <a:rPr lang="en-GB" sz="1800">
                <a:solidFill>
                  <a:srgbClr val="222222"/>
                </a:solidFill>
              </a:rPr>
              <a:t>× 4</a:t>
            </a:r>
            <a:endParaRPr sz="1800"/>
          </a:p>
        </p:txBody>
      </p:sp>
      <p:sp>
        <p:nvSpPr>
          <p:cNvPr id="1350" name="Google Shape;1350;p84"/>
          <p:cNvSpPr/>
          <p:nvPr/>
        </p:nvSpPr>
        <p:spPr>
          <a:xfrm>
            <a:off x="6978724" y="1180500"/>
            <a:ext cx="1980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84"/>
          <p:cNvSpPr/>
          <p:nvPr/>
        </p:nvSpPr>
        <p:spPr>
          <a:xfrm>
            <a:off x="6126579" y="1900046"/>
            <a:ext cx="228000" cy="180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84"/>
          <p:cNvSpPr/>
          <p:nvPr/>
        </p:nvSpPr>
        <p:spPr>
          <a:xfrm>
            <a:off x="6994453" y="1713900"/>
            <a:ext cx="1980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84"/>
          <p:cNvSpPr/>
          <p:nvPr/>
        </p:nvSpPr>
        <p:spPr>
          <a:xfrm>
            <a:off x="6110850" y="2449175"/>
            <a:ext cx="228000" cy="180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84"/>
          <p:cNvSpPr/>
          <p:nvPr/>
        </p:nvSpPr>
        <p:spPr>
          <a:xfrm>
            <a:off x="6978724" y="2263029"/>
            <a:ext cx="1980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84"/>
          <p:cNvSpPr/>
          <p:nvPr/>
        </p:nvSpPr>
        <p:spPr>
          <a:xfrm>
            <a:off x="6126579" y="2990440"/>
            <a:ext cx="228000" cy="180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84"/>
          <p:cNvSpPr/>
          <p:nvPr/>
        </p:nvSpPr>
        <p:spPr>
          <a:xfrm>
            <a:off x="6994453" y="2804294"/>
            <a:ext cx="1980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84"/>
          <p:cNvSpPr txBox="1"/>
          <p:nvPr>
            <p:ph type="body" idx="1"/>
          </p:nvPr>
        </p:nvSpPr>
        <p:spPr>
          <a:xfrm>
            <a:off x="324000" y="342385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number of times we add 4 is the same as the term number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8" name="Google Shape;1358;p84"/>
          <p:cNvSpPr txBox="1"/>
          <p:nvPr>
            <p:ph type="body" idx="1"/>
          </p:nvPr>
        </p:nvSpPr>
        <p:spPr>
          <a:xfrm>
            <a:off x="324000" y="4026950"/>
            <a:ext cx="84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1800" b="1"/>
              <a:t>position-to-term</a:t>
            </a:r>
            <a:r>
              <a:rPr lang="en-GB" sz="1800"/>
              <a:t> rule would be: ‘Multiply the term number by 4 and add 16 to get the term.’ 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62" name="Shape 1362"/>
        <p:cNvGrpSpPr/>
        <p:nvPr/>
      </p:nvGrpSpPr>
      <p:grpSpPr>
        <a:xfrm>
          <a:off x="0" y="0"/>
          <a:ext cx="0" cy="0"/>
        </a:xfrm>
      </p:grpSpPr>
      <p:sp>
        <p:nvSpPr>
          <p:cNvPr id="1363" name="Google Shape;136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1364" name="Google Shape;1364;p85"/>
          <p:cNvSpPr txBox="1"/>
          <p:nvPr>
            <p:ph type="body" idx="1"/>
          </p:nvPr>
        </p:nvSpPr>
        <p:spPr>
          <a:xfrm>
            <a:off x="5914250" y="926700"/>
            <a:ext cx="2886000" cy="3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could we check if Aisha is correct?</a:t>
            </a:r>
            <a:endParaRPr sz="1800"/>
          </a:p>
        </p:txBody>
      </p:sp>
      <p:pic>
        <p:nvPicPr>
          <p:cNvPr id="1365" name="Google Shape;1365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528" y="1426274"/>
            <a:ext cx="465917" cy="879758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85"/>
          <p:cNvSpPr txBox="1"/>
          <p:nvPr/>
        </p:nvSpPr>
        <p:spPr>
          <a:xfrm>
            <a:off x="348975" y="2264048"/>
            <a:ext cx="10311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67" name="Google Shape;1367;p85"/>
          <p:cNvPicPr preferRelativeResize="0"/>
          <p:nvPr/>
        </p:nvPicPr>
        <p:blipFill>
          <a:blip r:embed="rId4">
            <a:alphaModFix/>
          </a:blip>
          <a:srcRect l="40550" t="13240" b="6172"/>
          <a:stretch>
            <a:fillRect/>
          </a:stretch>
        </p:blipFill>
        <p:spPr>
          <a:xfrm>
            <a:off x="1260225" y="689125"/>
            <a:ext cx="4514176" cy="1812174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85"/>
          <p:cNvSpPr txBox="1"/>
          <p:nvPr/>
        </p:nvSpPr>
        <p:spPr>
          <a:xfrm>
            <a:off x="1614000" y="874725"/>
            <a:ext cx="4095900" cy="12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position-to-term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rule for the sequence 6, 11, 16, 21, 26, … could be: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‘multiply the term number by 5 then add 6’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69" name="Google Shape;1369;p85"/>
          <p:cNvGraphicFramePr>
            <a:graphicFrameLocks noGrp="1"/>
          </p:cNvGraphicFramePr>
          <p:nvPr/>
        </p:nvGraphicFramePr>
        <p:xfrm>
          <a:off x="323988" y="28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2044150"/>
                <a:gridCol w="848700"/>
                <a:gridCol w="848700"/>
                <a:gridCol w="848700"/>
                <a:gridCol w="8487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70" name="Google Shape;1370;p85"/>
          <p:cNvSpPr txBox="1"/>
          <p:nvPr>
            <p:ph type="body" idx="1"/>
          </p:nvPr>
        </p:nvSpPr>
        <p:spPr>
          <a:xfrm>
            <a:off x="6118200" y="2768225"/>
            <a:ext cx="2682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5 + 6 = 11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1" name="Google Shape;1371;p85"/>
          <p:cNvSpPr/>
          <p:nvPr/>
        </p:nvSpPr>
        <p:spPr>
          <a:xfrm>
            <a:off x="2621701" y="3357450"/>
            <a:ext cx="3354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85"/>
          <p:cNvSpPr txBox="1"/>
          <p:nvPr>
            <p:ph type="body" idx="1"/>
          </p:nvPr>
        </p:nvSpPr>
        <p:spPr>
          <a:xfrm>
            <a:off x="6118200" y="3221700"/>
            <a:ext cx="2682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5 + 6 = 16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3" name="Google Shape;1373;p85"/>
          <p:cNvSpPr/>
          <p:nvPr/>
        </p:nvSpPr>
        <p:spPr>
          <a:xfrm>
            <a:off x="3478522" y="3357450"/>
            <a:ext cx="3354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85"/>
          <p:cNvSpPr txBox="1"/>
          <p:nvPr>
            <p:ph type="body" idx="1"/>
          </p:nvPr>
        </p:nvSpPr>
        <p:spPr>
          <a:xfrm>
            <a:off x="324000" y="3955650"/>
            <a:ext cx="8496000" cy="3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 is not correct as her rule does not generate the correct term from its term number.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78" name="Shape 1378"/>
        <p:cNvGrpSpPr/>
        <p:nvPr/>
      </p:nvGrpSpPr>
      <p:grpSpPr>
        <a:xfrm>
          <a:off x="0" y="0"/>
          <a:ext cx="0" cy="0"/>
        </a:xfrm>
      </p:grpSpPr>
      <p:sp>
        <p:nvSpPr>
          <p:cNvPr id="1379" name="Google Shape;137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1380" name="Google Shape;1380;p86"/>
          <p:cNvSpPr txBox="1"/>
          <p:nvPr>
            <p:ph type="body" idx="1"/>
          </p:nvPr>
        </p:nvSpPr>
        <p:spPr>
          <a:xfrm>
            <a:off x="5914250" y="926700"/>
            <a:ext cx="2886000" cy="3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Where has Aisha gone wrong?</a:t>
            </a:r>
            <a:endParaRPr sz="1800"/>
          </a:p>
        </p:txBody>
      </p:sp>
      <p:pic>
        <p:nvPicPr>
          <p:cNvPr id="1381" name="Google Shape;1381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528" y="1426274"/>
            <a:ext cx="465917" cy="879758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86"/>
          <p:cNvSpPr txBox="1"/>
          <p:nvPr/>
        </p:nvSpPr>
        <p:spPr>
          <a:xfrm>
            <a:off x="348975" y="2264048"/>
            <a:ext cx="10311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3" name="Google Shape;1383;p86"/>
          <p:cNvPicPr preferRelativeResize="0"/>
          <p:nvPr/>
        </p:nvPicPr>
        <p:blipFill>
          <a:blip r:embed="rId4">
            <a:alphaModFix/>
          </a:blip>
          <a:srcRect l="40550" t="13240" b="6172"/>
          <a:stretch>
            <a:fillRect/>
          </a:stretch>
        </p:blipFill>
        <p:spPr>
          <a:xfrm>
            <a:off x="1260225" y="689125"/>
            <a:ext cx="4514176" cy="1812174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86"/>
          <p:cNvSpPr txBox="1"/>
          <p:nvPr/>
        </p:nvSpPr>
        <p:spPr>
          <a:xfrm>
            <a:off x="1614000" y="874725"/>
            <a:ext cx="4095900" cy="12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position-to-term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rule for the sequence 6, 11, 16, 21, 26, … could be: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‘multiply the term number by 5 then add 6’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85" name="Google Shape;1385;p86"/>
          <p:cNvGraphicFramePr>
            <a:graphicFrameLocks noGrp="1"/>
          </p:cNvGraphicFramePr>
          <p:nvPr/>
        </p:nvGraphicFramePr>
        <p:xfrm>
          <a:off x="323988" y="28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2044150"/>
                <a:gridCol w="848700"/>
                <a:gridCol w="848700"/>
                <a:gridCol w="848700"/>
                <a:gridCol w="8487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86" name="Google Shape;1386;p86"/>
          <p:cNvSpPr/>
          <p:nvPr/>
        </p:nvSpPr>
        <p:spPr>
          <a:xfrm>
            <a:off x="2621701" y="3357450"/>
            <a:ext cx="3354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86"/>
          <p:cNvSpPr/>
          <p:nvPr/>
        </p:nvSpPr>
        <p:spPr>
          <a:xfrm>
            <a:off x="3478522" y="3357450"/>
            <a:ext cx="3354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8" name="Google Shape;1388;p86"/>
          <p:cNvPicPr preferRelativeResize="0"/>
          <p:nvPr/>
        </p:nvPicPr>
        <p:blipFill>
          <a:blip r:embed="rId5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3544312" y="3747899"/>
            <a:ext cx="990952" cy="2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9" name="Google Shape;1389;p86"/>
          <p:cNvPicPr preferRelativeResize="0"/>
          <p:nvPr/>
        </p:nvPicPr>
        <p:blipFill>
          <a:blip r:embed="rId5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2621700" y="3747899"/>
            <a:ext cx="990952" cy="2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86"/>
          <p:cNvSpPr txBox="1"/>
          <p:nvPr/>
        </p:nvSpPr>
        <p:spPr>
          <a:xfrm>
            <a:off x="2990972" y="3925709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86"/>
          <p:cNvSpPr txBox="1"/>
          <p:nvPr/>
        </p:nvSpPr>
        <p:spPr>
          <a:xfrm>
            <a:off x="3955810" y="3925709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86"/>
          <p:cNvSpPr txBox="1"/>
          <p:nvPr>
            <p:ph type="body" idx="1"/>
          </p:nvPr>
        </p:nvSpPr>
        <p:spPr>
          <a:xfrm>
            <a:off x="5871100" y="1690600"/>
            <a:ext cx="2754300" cy="3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She needs to write 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as a value add 5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3" name="Google Shape;1393;p86"/>
          <p:cNvSpPr txBox="1"/>
          <p:nvPr>
            <p:ph type="body" idx="1"/>
          </p:nvPr>
        </p:nvSpPr>
        <p:spPr>
          <a:xfrm>
            <a:off x="5871100" y="2429550"/>
            <a:ext cx="2886000" cy="3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 + 5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4" name="Google Shape;1394;p86"/>
          <p:cNvSpPr txBox="1"/>
          <p:nvPr>
            <p:ph type="body" idx="1"/>
          </p:nvPr>
        </p:nvSpPr>
        <p:spPr>
          <a:xfrm>
            <a:off x="5871100" y="2856875"/>
            <a:ext cx="2886000" cy="3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 + 5 + 5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5" name="Google Shape;1395;p86"/>
          <p:cNvSpPr txBox="1"/>
          <p:nvPr>
            <p:ph type="body" idx="1"/>
          </p:nvPr>
        </p:nvSpPr>
        <p:spPr>
          <a:xfrm>
            <a:off x="5871100" y="3284200"/>
            <a:ext cx="2886000" cy="3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 + 5 + 5 + 5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6" name="Google Shape;1396;p86"/>
          <p:cNvSpPr txBox="1"/>
          <p:nvPr>
            <p:ph type="body" idx="1"/>
          </p:nvPr>
        </p:nvSpPr>
        <p:spPr>
          <a:xfrm>
            <a:off x="5774400" y="3915500"/>
            <a:ext cx="2886000" cy="3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Multiply the term number by 5 then add 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00" name="Shape 1400"/>
        <p:cNvGrpSpPr/>
        <p:nvPr/>
      </p:nvGrpSpPr>
      <p:grpSpPr>
        <a:xfrm>
          <a:off x="0" y="0"/>
          <a:ext cx="0" cy="0"/>
        </a:xfrm>
      </p:grpSpPr>
      <p:sp>
        <p:nvSpPr>
          <p:cNvPr id="1401" name="Google Shape;1401;p87"/>
          <p:cNvSpPr txBox="1"/>
          <p:nvPr>
            <p:ph type="subTitle" idx="1"/>
          </p:nvPr>
        </p:nvSpPr>
        <p:spPr>
          <a:xfrm>
            <a:off x="337825" y="810000"/>
            <a:ext cx="3982200" cy="69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Work out the </a:t>
            </a:r>
            <a:r>
              <a:rPr lang="en-GB" b="1"/>
              <a:t>position-to-term</a:t>
            </a:r>
            <a:r>
              <a:rPr lang="en-GB"/>
              <a:t> rule for the sequence 5, 8, 11, 14, …</a:t>
            </a:r>
            <a:endParaRPr/>
          </a:p>
        </p:txBody>
      </p:sp>
      <p:sp>
        <p:nvSpPr>
          <p:cNvPr id="1402" name="Google Shape;1402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1403" name="Google Shape;1403;p87"/>
          <p:cNvSpPr txBox="1"/>
          <p:nvPr>
            <p:ph type="subTitle" idx="2"/>
          </p:nvPr>
        </p:nvSpPr>
        <p:spPr>
          <a:xfrm>
            <a:off x="4824000" y="810000"/>
            <a:ext cx="3982200" cy="8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Work out the </a:t>
            </a:r>
            <a:r>
              <a:rPr lang="en-GB" b="1"/>
              <a:t>position-to-term</a:t>
            </a:r>
            <a:r>
              <a:rPr lang="en-GB"/>
              <a:t> rule for the sequence 13, 23, 33, 43, …</a:t>
            </a:r>
            <a:endParaRPr/>
          </a:p>
        </p:txBody>
      </p:sp>
      <p:sp>
        <p:nvSpPr>
          <p:cNvPr id="1404" name="Google Shape;1404;p87"/>
          <p:cNvSpPr txBox="1"/>
          <p:nvPr>
            <p:ph type="subTitle" idx="1"/>
          </p:nvPr>
        </p:nvSpPr>
        <p:spPr>
          <a:xfrm>
            <a:off x="324000" y="1706400"/>
            <a:ext cx="39822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 5,      8,      11,      14, …</a:t>
            </a:r>
            <a:endParaRPr/>
          </a:p>
        </p:txBody>
      </p:sp>
      <p:pic>
        <p:nvPicPr>
          <p:cNvPr id="1405" name="Google Shape;1405;p87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337825" y="1937801"/>
            <a:ext cx="763224" cy="286188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p87"/>
          <p:cNvSpPr txBox="1"/>
          <p:nvPr/>
        </p:nvSpPr>
        <p:spPr>
          <a:xfrm>
            <a:off x="622237" y="2115603"/>
            <a:ext cx="274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7" name="Google Shape;1407;p87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985700" y="1937801"/>
            <a:ext cx="763224" cy="286188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87"/>
          <p:cNvSpPr txBox="1"/>
          <p:nvPr/>
        </p:nvSpPr>
        <p:spPr>
          <a:xfrm>
            <a:off x="1270112" y="2115603"/>
            <a:ext cx="274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9" name="Google Shape;1409;p87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1627150" y="1937801"/>
            <a:ext cx="763224" cy="286188"/>
          </a:xfrm>
          <a:prstGeom prst="rect">
            <a:avLst/>
          </a:prstGeom>
          <a:noFill/>
          <a:ln>
            <a:noFill/>
          </a:ln>
        </p:spPr>
      </p:pic>
      <p:sp>
        <p:nvSpPr>
          <p:cNvPr id="1410" name="Google Shape;1410;p87"/>
          <p:cNvSpPr txBox="1"/>
          <p:nvPr/>
        </p:nvSpPr>
        <p:spPr>
          <a:xfrm>
            <a:off x="1911562" y="2115603"/>
            <a:ext cx="274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87"/>
          <p:cNvSpPr txBox="1"/>
          <p:nvPr>
            <p:ph type="subTitle" idx="1"/>
          </p:nvPr>
        </p:nvSpPr>
        <p:spPr>
          <a:xfrm>
            <a:off x="337825" y="2700000"/>
            <a:ext cx="39822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</a:t>
            </a:r>
            <a:r>
              <a:rPr lang="en-GB" baseline="-25000"/>
              <a:t>1 </a:t>
            </a:r>
            <a:r>
              <a:rPr lang="en-GB"/>
              <a:t>= 2 + 3</a:t>
            </a:r>
            <a:endParaRPr/>
          </a:p>
        </p:txBody>
      </p:sp>
      <p:sp>
        <p:nvSpPr>
          <p:cNvPr id="1412" name="Google Shape;1412;p87"/>
          <p:cNvSpPr txBox="1"/>
          <p:nvPr>
            <p:ph type="subTitle" idx="1"/>
          </p:nvPr>
        </p:nvSpPr>
        <p:spPr>
          <a:xfrm>
            <a:off x="324000" y="3114150"/>
            <a:ext cx="39822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</a:t>
            </a:r>
            <a:r>
              <a:rPr lang="en-GB" baseline="-25000"/>
              <a:t>2 </a:t>
            </a:r>
            <a:r>
              <a:rPr lang="en-GB"/>
              <a:t>= 2 + 3 + 3</a:t>
            </a:r>
            <a:endParaRPr/>
          </a:p>
        </p:txBody>
      </p:sp>
      <p:sp>
        <p:nvSpPr>
          <p:cNvPr id="1413" name="Google Shape;1413;p87"/>
          <p:cNvSpPr txBox="1"/>
          <p:nvPr>
            <p:ph type="subTitle" idx="1"/>
          </p:nvPr>
        </p:nvSpPr>
        <p:spPr>
          <a:xfrm>
            <a:off x="337825" y="3528300"/>
            <a:ext cx="39822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</a:t>
            </a:r>
            <a:r>
              <a:rPr lang="en-GB" baseline="-25000"/>
              <a:t>3 </a:t>
            </a:r>
            <a:r>
              <a:rPr lang="en-GB"/>
              <a:t>= 2 + 3 + 3 + 3</a:t>
            </a:r>
            <a:endParaRPr/>
          </a:p>
        </p:txBody>
      </p:sp>
      <p:cxnSp>
        <p:nvCxnSpPr>
          <p:cNvPr id="1414" name="Google Shape;1414;p87"/>
          <p:cNvCxnSpPr/>
          <p:nvPr/>
        </p:nvCxnSpPr>
        <p:spPr>
          <a:xfrm>
            <a:off x="1360600" y="2890800"/>
            <a:ext cx="1443600" cy="0"/>
          </a:xfrm>
          <a:prstGeom prst="straightConnector1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15" name="Google Shape;1415;p87"/>
          <p:cNvSpPr txBox="1"/>
          <p:nvPr/>
        </p:nvSpPr>
        <p:spPr>
          <a:xfrm>
            <a:off x="2819625" y="2700000"/>
            <a:ext cx="14865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 baseline="-25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+ 1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6" name="Google Shape;1416;p87"/>
          <p:cNvCxnSpPr/>
          <p:nvPr/>
        </p:nvCxnSpPr>
        <p:spPr>
          <a:xfrm>
            <a:off x="1705179" y="3260700"/>
            <a:ext cx="1119300" cy="0"/>
          </a:xfrm>
          <a:prstGeom prst="straightConnector1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17" name="Google Shape;1417;p87"/>
          <p:cNvSpPr txBox="1"/>
          <p:nvPr/>
        </p:nvSpPr>
        <p:spPr>
          <a:xfrm>
            <a:off x="2819625" y="3114150"/>
            <a:ext cx="14865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 baseline="-250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87"/>
          <p:cNvSpPr txBox="1"/>
          <p:nvPr/>
        </p:nvSpPr>
        <p:spPr>
          <a:xfrm>
            <a:off x="2819625" y="3528300"/>
            <a:ext cx="14865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 baseline="-250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9" name="Google Shape;1419;p87"/>
          <p:cNvCxnSpPr/>
          <p:nvPr/>
        </p:nvCxnSpPr>
        <p:spPr>
          <a:xfrm>
            <a:off x="2081625" y="3680575"/>
            <a:ext cx="738000" cy="0"/>
          </a:xfrm>
          <a:prstGeom prst="straightConnector1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20" name="Google Shape;1420;p87"/>
          <p:cNvSpPr txBox="1"/>
          <p:nvPr>
            <p:ph type="subTitle" idx="1"/>
          </p:nvPr>
        </p:nvSpPr>
        <p:spPr>
          <a:xfrm>
            <a:off x="324000" y="4100450"/>
            <a:ext cx="3982200" cy="69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‘The term is the term number multiplied by 3 add 2’ </a:t>
            </a:r>
            <a:endParaRPr/>
          </a:p>
        </p:txBody>
      </p:sp>
      <p:sp>
        <p:nvSpPr>
          <p:cNvPr id="1421" name="Google Shape;1421;p87"/>
          <p:cNvSpPr txBox="1"/>
          <p:nvPr>
            <p:ph type="subTitle" idx="1"/>
          </p:nvPr>
        </p:nvSpPr>
        <p:spPr>
          <a:xfrm>
            <a:off x="4824000" y="1620000"/>
            <a:ext cx="39822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13,  23,   33,   43, …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22" name="Google Shape;1422;p87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4837825" y="1851401"/>
            <a:ext cx="763224" cy="286188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87"/>
          <p:cNvSpPr txBox="1"/>
          <p:nvPr/>
        </p:nvSpPr>
        <p:spPr>
          <a:xfrm>
            <a:off x="5046019" y="2029200"/>
            <a:ext cx="406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+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24" name="Google Shape;1424;p87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5485700" y="1851401"/>
            <a:ext cx="763224" cy="286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87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6127150" y="1851401"/>
            <a:ext cx="763224" cy="286188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p87"/>
          <p:cNvSpPr txBox="1"/>
          <p:nvPr/>
        </p:nvSpPr>
        <p:spPr>
          <a:xfrm>
            <a:off x="5655619" y="2029200"/>
            <a:ext cx="406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+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7" name="Google Shape;1427;p87"/>
          <p:cNvSpPr txBox="1"/>
          <p:nvPr/>
        </p:nvSpPr>
        <p:spPr>
          <a:xfrm>
            <a:off x="6341419" y="2029200"/>
            <a:ext cx="406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+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8" name="Google Shape;1428;p87"/>
          <p:cNvSpPr txBox="1"/>
          <p:nvPr>
            <p:ph type="subTitle" idx="1"/>
          </p:nvPr>
        </p:nvSpPr>
        <p:spPr>
          <a:xfrm>
            <a:off x="4830913" y="2724600"/>
            <a:ext cx="39822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1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3 + 10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9" name="Google Shape;1429;p87"/>
          <p:cNvSpPr txBox="1"/>
          <p:nvPr>
            <p:ph type="subTitle" idx="1"/>
          </p:nvPr>
        </p:nvSpPr>
        <p:spPr>
          <a:xfrm>
            <a:off x="4817088" y="3138750"/>
            <a:ext cx="39822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3 + 10 + 10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30" name="Google Shape;1430;p87"/>
          <p:cNvCxnSpPr/>
          <p:nvPr/>
        </p:nvCxnSpPr>
        <p:spPr>
          <a:xfrm>
            <a:off x="6181375" y="2865500"/>
            <a:ext cx="872100" cy="0"/>
          </a:xfrm>
          <a:prstGeom prst="straightConnector1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31" name="Google Shape;1431;p87"/>
          <p:cNvSpPr txBox="1"/>
          <p:nvPr/>
        </p:nvSpPr>
        <p:spPr>
          <a:xfrm>
            <a:off x="7047957" y="2724600"/>
            <a:ext cx="18312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+ 1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32" name="Google Shape;1432;p87"/>
          <p:cNvCxnSpPr/>
          <p:nvPr/>
        </p:nvCxnSpPr>
        <p:spPr>
          <a:xfrm>
            <a:off x="6725800" y="3285300"/>
            <a:ext cx="284100" cy="0"/>
          </a:xfrm>
          <a:prstGeom prst="straightConnector1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33" name="Google Shape;1433;p87"/>
          <p:cNvSpPr txBox="1"/>
          <p:nvPr/>
        </p:nvSpPr>
        <p:spPr>
          <a:xfrm>
            <a:off x="7047955" y="3114150"/>
            <a:ext cx="20484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4" name="Google Shape;1434;p87"/>
          <p:cNvSpPr txBox="1"/>
          <p:nvPr>
            <p:ph type="subTitle" idx="1"/>
          </p:nvPr>
        </p:nvSpPr>
        <p:spPr>
          <a:xfrm>
            <a:off x="4830925" y="4124900"/>
            <a:ext cx="3982200" cy="69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‘The term is the term number multiplied by 10 add 3’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38" name="Shape 1438"/>
        <p:cNvGrpSpPr/>
        <p:nvPr/>
      </p:nvGrpSpPr>
      <p:grpSpPr>
        <a:xfrm>
          <a:off x="0" y="0"/>
          <a:ext cx="0" cy="0"/>
        </a:xfrm>
      </p:grpSpPr>
      <p:sp>
        <p:nvSpPr>
          <p:cNvPr id="1439" name="Google Shape;1439;p8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1440" name="Google Shape;1440;p88"/>
          <p:cNvSpPr txBox="1"/>
          <p:nvPr>
            <p:ph type="body" idx="1"/>
          </p:nvPr>
        </p:nvSpPr>
        <p:spPr>
          <a:xfrm>
            <a:off x="324000" y="645000"/>
            <a:ext cx="8496000" cy="64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For each sequence, write a </a:t>
            </a:r>
            <a:r>
              <a:rPr lang="en-GB" sz="1800" b="1"/>
              <a:t>position-to-term</a:t>
            </a:r>
            <a:r>
              <a:rPr lang="en-GB" sz="1800"/>
              <a:t> rule for the number of dots in each pattern. </a:t>
            </a:r>
            <a:endParaRPr sz="1800"/>
          </a:p>
        </p:txBody>
      </p:sp>
      <p:sp>
        <p:nvSpPr>
          <p:cNvPr id="1441" name="Google Shape;1441;p88"/>
          <p:cNvSpPr/>
          <p:nvPr/>
        </p:nvSpPr>
        <p:spPr>
          <a:xfrm>
            <a:off x="488922" y="1867440"/>
            <a:ext cx="100800" cy="100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88"/>
          <p:cNvSpPr/>
          <p:nvPr/>
        </p:nvSpPr>
        <p:spPr>
          <a:xfrm>
            <a:off x="931272" y="1867442"/>
            <a:ext cx="100800" cy="100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43" name="Google Shape;1443;p88"/>
          <p:cNvGrpSpPr/>
          <p:nvPr/>
        </p:nvGrpSpPr>
        <p:grpSpPr>
          <a:xfrm>
            <a:off x="704991" y="3245810"/>
            <a:ext cx="3556438" cy="435406"/>
            <a:chOff x="400191" y="3245810"/>
            <a:chExt cx="3556438" cy="435406"/>
          </a:xfrm>
        </p:grpSpPr>
        <p:grpSp>
          <p:nvGrpSpPr>
            <p:cNvPr id="1444" name="Google Shape;1444;p88"/>
            <p:cNvGrpSpPr/>
            <p:nvPr/>
          </p:nvGrpSpPr>
          <p:grpSpPr>
            <a:xfrm>
              <a:off x="400191" y="3245810"/>
              <a:ext cx="503254" cy="435406"/>
              <a:chOff x="361850" y="3138300"/>
              <a:chExt cx="565200" cy="489000"/>
            </a:xfrm>
          </p:grpSpPr>
          <p:sp>
            <p:nvSpPr>
              <p:cNvPr id="1445" name="Google Shape;1445;p88"/>
              <p:cNvSpPr/>
              <p:nvPr/>
            </p:nvSpPr>
            <p:spPr>
              <a:xfrm>
                <a:off x="3618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46" name="Google Shape;1446;p88"/>
              <p:cNvSpPr/>
              <p:nvPr/>
            </p:nvSpPr>
            <p:spPr>
              <a:xfrm>
                <a:off x="3618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47" name="Google Shape;1447;p88"/>
              <p:cNvSpPr/>
              <p:nvPr/>
            </p:nvSpPr>
            <p:spPr>
              <a:xfrm>
                <a:off x="3618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48" name="Google Shape;1448;p88"/>
              <p:cNvSpPr/>
              <p:nvPr/>
            </p:nvSpPr>
            <p:spPr>
              <a:xfrm>
                <a:off x="5904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49" name="Google Shape;1449;p88"/>
              <p:cNvSpPr/>
              <p:nvPr/>
            </p:nvSpPr>
            <p:spPr>
              <a:xfrm>
                <a:off x="8190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50" name="Google Shape;1450;p88"/>
              <p:cNvSpPr/>
              <p:nvPr/>
            </p:nvSpPr>
            <p:spPr>
              <a:xfrm>
                <a:off x="8190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51" name="Google Shape;1451;p88"/>
              <p:cNvSpPr/>
              <p:nvPr/>
            </p:nvSpPr>
            <p:spPr>
              <a:xfrm>
                <a:off x="8190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52" name="Google Shape;1452;p88"/>
            <p:cNvGrpSpPr/>
            <p:nvPr/>
          </p:nvGrpSpPr>
          <p:grpSpPr>
            <a:xfrm>
              <a:off x="1350072" y="3245810"/>
              <a:ext cx="910345" cy="435406"/>
              <a:chOff x="1581050" y="3138300"/>
              <a:chExt cx="1022400" cy="489000"/>
            </a:xfrm>
          </p:grpSpPr>
          <p:sp>
            <p:nvSpPr>
              <p:cNvPr id="1453" name="Google Shape;1453;p88"/>
              <p:cNvSpPr/>
              <p:nvPr/>
            </p:nvSpPr>
            <p:spPr>
              <a:xfrm>
                <a:off x="15810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54" name="Google Shape;1454;p88"/>
              <p:cNvSpPr/>
              <p:nvPr/>
            </p:nvSpPr>
            <p:spPr>
              <a:xfrm>
                <a:off x="15810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55" name="Google Shape;1455;p88"/>
              <p:cNvSpPr/>
              <p:nvPr/>
            </p:nvSpPr>
            <p:spPr>
              <a:xfrm>
                <a:off x="15810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56" name="Google Shape;1456;p88"/>
              <p:cNvSpPr/>
              <p:nvPr/>
            </p:nvSpPr>
            <p:spPr>
              <a:xfrm>
                <a:off x="18096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57" name="Google Shape;1457;p88"/>
              <p:cNvSpPr/>
              <p:nvPr/>
            </p:nvSpPr>
            <p:spPr>
              <a:xfrm>
                <a:off x="20382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58" name="Google Shape;1458;p88"/>
              <p:cNvSpPr/>
              <p:nvPr/>
            </p:nvSpPr>
            <p:spPr>
              <a:xfrm>
                <a:off x="20382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59" name="Google Shape;1459;p88"/>
              <p:cNvSpPr/>
              <p:nvPr/>
            </p:nvSpPr>
            <p:spPr>
              <a:xfrm>
                <a:off x="20382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0" name="Google Shape;1460;p88"/>
              <p:cNvSpPr/>
              <p:nvPr/>
            </p:nvSpPr>
            <p:spPr>
              <a:xfrm>
                <a:off x="22668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1" name="Google Shape;1461;p88"/>
              <p:cNvSpPr/>
              <p:nvPr/>
            </p:nvSpPr>
            <p:spPr>
              <a:xfrm>
                <a:off x="24954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2" name="Google Shape;1462;p88"/>
              <p:cNvSpPr/>
              <p:nvPr/>
            </p:nvSpPr>
            <p:spPr>
              <a:xfrm>
                <a:off x="24954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3" name="Google Shape;1463;p88"/>
              <p:cNvSpPr/>
              <p:nvPr/>
            </p:nvSpPr>
            <p:spPr>
              <a:xfrm>
                <a:off x="24954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64" name="Google Shape;1464;p88"/>
            <p:cNvGrpSpPr/>
            <p:nvPr/>
          </p:nvGrpSpPr>
          <p:grpSpPr>
            <a:xfrm>
              <a:off x="2639193" y="3245810"/>
              <a:ext cx="1317436" cy="435406"/>
              <a:chOff x="3028850" y="3138300"/>
              <a:chExt cx="1479600" cy="489000"/>
            </a:xfrm>
          </p:grpSpPr>
          <p:sp>
            <p:nvSpPr>
              <p:cNvPr id="1465" name="Google Shape;1465;p88"/>
              <p:cNvSpPr/>
              <p:nvPr/>
            </p:nvSpPr>
            <p:spPr>
              <a:xfrm>
                <a:off x="41718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6" name="Google Shape;1466;p88"/>
              <p:cNvSpPr/>
              <p:nvPr/>
            </p:nvSpPr>
            <p:spPr>
              <a:xfrm>
                <a:off x="44004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7" name="Google Shape;1467;p88"/>
              <p:cNvSpPr/>
              <p:nvPr/>
            </p:nvSpPr>
            <p:spPr>
              <a:xfrm>
                <a:off x="44004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8" name="Google Shape;1468;p88"/>
              <p:cNvSpPr/>
              <p:nvPr/>
            </p:nvSpPr>
            <p:spPr>
              <a:xfrm>
                <a:off x="44004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9" name="Google Shape;1469;p88"/>
              <p:cNvSpPr/>
              <p:nvPr/>
            </p:nvSpPr>
            <p:spPr>
              <a:xfrm>
                <a:off x="30288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0" name="Google Shape;1470;p88"/>
              <p:cNvSpPr/>
              <p:nvPr/>
            </p:nvSpPr>
            <p:spPr>
              <a:xfrm>
                <a:off x="30288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1" name="Google Shape;1471;p88"/>
              <p:cNvSpPr/>
              <p:nvPr/>
            </p:nvSpPr>
            <p:spPr>
              <a:xfrm>
                <a:off x="30288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2" name="Google Shape;1472;p88"/>
              <p:cNvSpPr/>
              <p:nvPr/>
            </p:nvSpPr>
            <p:spPr>
              <a:xfrm>
                <a:off x="32574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3" name="Google Shape;1473;p88"/>
              <p:cNvSpPr/>
              <p:nvPr/>
            </p:nvSpPr>
            <p:spPr>
              <a:xfrm>
                <a:off x="34860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4" name="Google Shape;1474;p88"/>
              <p:cNvSpPr/>
              <p:nvPr/>
            </p:nvSpPr>
            <p:spPr>
              <a:xfrm>
                <a:off x="34860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5" name="Google Shape;1475;p88"/>
              <p:cNvSpPr/>
              <p:nvPr/>
            </p:nvSpPr>
            <p:spPr>
              <a:xfrm>
                <a:off x="34860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6" name="Google Shape;1476;p88"/>
              <p:cNvSpPr/>
              <p:nvPr/>
            </p:nvSpPr>
            <p:spPr>
              <a:xfrm>
                <a:off x="37146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7" name="Google Shape;1477;p88"/>
              <p:cNvSpPr/>
              <p:nvPr/>
            </p:nvSpPr>
            <p:spPr>
              <a:xfrm>
                <a:off x="39432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8" name="Google Shape;1478;p88"/>
              <p:cNvSpPr/>
              <p:nvPr/>
            </p:nvSpPr>
            <p:spPr>
              <a:xfrm>
                <a:off x="39432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9" name="Google Shape;1479;p88"/>
              <p:cNvSpPr/>
              <p:nvPr/>
            </p:nvSpPr>
            <p:spPr>
              <a:xfrm>
                <a:off x="39432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80" name="Google Shape;1480;p88"/>
          <p:cNvGrpSpPr/>
          <p:nvPr/>
        </p:nvGrpSpPr>
        <p:grpSpPr>
          <a:xfrm>
            <a:off x="588642" y="1458315"/>
            <a:ext cx="3582180" cy="466601"/>
            <a:chOff x="588642" y="1458315"/>
            <a:chExt cx="3582180" cy="466601"/>
          </a:xfrm>
        </p:grpSpPr>
        <p:sp>
          <p:nvSpPr>
            <p:cNvPr id="1481" name="Google Shape;1481;p88"/>
            <p:cNvSpPr/>
            <p:nvPr/>
          </p:nvSpPr>
          <p:spPr>
            <a:xfrm>
              <a:off x="714677" y="1501640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2" name="Google Shape;1482;p88"/>
            <p:cNvSpPr/>
            <p:nvPr/>
          </p:nvSpPr>
          <p:spPr>
            <a:xfrm>
              <a:off x="714679" y="1695583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3" name="Google Shape;1483;p88"/>
            <p:cNvSpPr/>
            <p:nvPr/>
          </p:nvSpPr>
          <p:spPr>
            <a:xfrm>
              <a:off x="588642" y="1695583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4" name="Google Shape;1484;p88"/>
            <p:cNvSpPr/>
            <p:nvPr/>
          </p:nvSpPr>
          <p:spPr>
            <a:xfrm>
              <a:off x="840716" y="1695583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5" name="Google Shape;1485;p88"/>
            <p:cNvSpPr/>
            <p:nvPr/>
          </p:nvSpPr>
          <p:spPr>
            <a:xfrm>
              <a:off x="1759427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6" name="Google Shape;1486;p88"/>
            <p:cNvSpPr/>
            <p:nvPr/>
          </p:nvSpPr>
          <p:spPr>
            <a:xfrm>
              <a:off x="1533672" y="18241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7" name="Google Shape;1487;p88"/>
            <p:cNvSpPr/>
            <p:nvPr/>
          </p:nvSpPr>
          <p:spPr>
            <a:xfrm>
              <a:off x="175942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8" name="Google Shape;1488;p88"/>
            <p:cNvSpPr/>
            <p:nvPr/>
          </p:nvSpPr>
          <p:spPr>
            <a:xfrm>
              <a:off x="197602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9" name="Google Shape;1489;p88"/>
            <p:cNvSpPr/>
            <p:nvPr/>
          </p:nvSpPr>
          <p:spPr>
            <a:xfrm>
              <a:off x="163339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0" name="Google Shape;1490;p88"/>
            <p:cNvSpPr/>
            <p:nvPr/>
          </p:nvSpPr>
          <p:spPr>
            <a:xfrm>
              <a:off x="1885466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1" name="Google Shape;1491;p88"/>
            <p:cNvSpPr/>
            <p:nvPr/>
          </p:nvSpPr>
          <p:spPr>
            <a:xfrm>
              <a:off x="2194988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2" name="Google Shape;1492;p88"/>
            <p:cNvSpPr/>
            <p:nvPr/>
          </p:nvSpPr>
          <p:spPr>
            <a:xfrm>
              <a:off x="219498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3" name="Google Shape;1493;p88"/>
            <p:cNvSpPr/>
            <p:nvPr/>
          </p:nvSpPr>
          <p:spPr>
            <a:xfrm>
              <a:off x="241158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4" name="Google Shape;1494;p88"/>
            <p:cNvSpPr/>
            <p:nvPr/>
          </p:nvSpPr>
          <p:spPr>
            <a:xfrm>
              <a:off x="206895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5" name="Google Shape;1495;p88"/>
            <p:cNvSpPr/>
            <p:nvPr/>
          </p:nvSpPr>
          <p:spPr>
            <a:xfrm>
              <a:off x="2321027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6" name="Google Shape;1496;p88"/>
            <p:cNvSpPr/>
            <p:nvPr/>
          </p:nvSpPr>
          <p:spPr>
            <a:xfrm>
              <a:off x="2982327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7" name="Google Shape;1497;p88"/>
            <p:cNvSpPr/>
            <p:nvPr/>
          </p:nvSpPr>
          <p:spPr>
            <a:xfrm>
              <a:off x="2756572" y="18241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8" name="Google Shape;1498;p88"/>
            <p:cNvSpPr/>
            <p:nvPr/>
          </p:nvSpPr>
          <p:spPr>
            <a:xfrm>
              <a:off x="298232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9" name="Google Shape;1499;p88"/>
            <p:cNvSpPr/>
            <p:nvPr/>
          </p:nvSpPr>
          <p:spPr>
            <a:xfrm>
              <a:off x="319892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0" name="Google Shape;1500;p88"/>
            <p:cNvSpPr/>
            <p:nvPr/>
          </p:nvSpPr>
          <p:spPr>
            <a:xfrm>
              <a:off x="285629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1" name="Google Shape;1501;p88"/>
            <p:cNvSpPr/>
            <p:nvPr/>
          </p:nvSpPr>
          <p:spPr>
            <a:xfrm>
              <a:off x="3108366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2" name="Google Shape;1502;p88"/>
            <p:cNvSpPr/>
            <p:nvPr/>
          </p:nvSpPr>
          <p:spPr>
            <a:xfrm>
              <a:off x="3417888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3" name="Google Shape;1503;p88"/>
            <p:cNvSpPr/>
            <p:nvPr/>
          </p:nvSpPr>
          <p:spPr>
            <a:xfrm>
              <a:off x="341788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4" name="Google Shape;1504;p88"/>
            <p:cNvSpPr/>
            <p:nvPr/>
          </p:nvSpPr>
          <p:spPr>
            <a:xfrm>
              <a:off x="363448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5" name="Google Shape;1505;p88"/>
            <p:cNvSpPr/>
            <p:nvPr/>
          </p:nvSpPr>
          <p:spPr>
            <a:xfrm>
              <a:off x="329185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6" name="Google Shape;1506;p88"/>
            <p:cNvSpPr/>
            <p:nvPr/>
          </p:nvSpPr>
          <p:spPr>
            <a:xfrm>
              <a:off x="3543927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7" name="Google Shape;1507;p88"/>
            <p:cNvSpPr/>
            <p:nvPr/>
          </p:nvSpPr>
          <p:spPr>
            <a:xfrm>
              <a:off x="3853427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8" name="Google Shape;1508;p88"/>
            <p:cNvSpPr/>
            <p:nvPr/>
          </p:nvSpPr>
          <p:spPr>
            <a:xfrm>
              <a:off x="385342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9" name="Google Shape;1509;p88"/>
            <p:cNvSpPr/>
            <p:nvPr/>
          </p:nvSpPr>
          <p:spPr>
            <a:xfrm>
              <a:off x="407002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0" name="Google Shape;1510;p88"/>
            <p:cNvSpPr/>
            <p:nvPr/>
          </p:nvSpPr>
          <p:spPr>
            <a:xfrm>
              <a:off x="372739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1" name="Google Shape;1511;p88"/>
            <p:cNvSpPr/>
            <p:nvPr/>
          </p:nvSpPr>
          <p:spPr>
            <a:xfrm>
              <a:off x="3979466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2" name="Google Shape;1512;p88"/>
          <p:cNvGrpSpPr/>
          <p:nvPr/>
        </p:nvGrpSpPr>
        <p:grpSpPr>
          <a:xfrm>
            <a:off x="4949516" y="3166703"/>
            <a:ext cx="327350" cy="324900"/>
            <a:chOff x="4949516" y="3087603"/>
            <a:chExt cx="327350" cy="324900"/>
          </a:xfrm>
        </p:grpSpPr>
        <p:sp>
          <p:nvSpPr>
            <p:cNvPr id="1513" name="Google Shape;1513;p88"/>
            <p:cNvSpPr/>
            <p:nvPr/>
          </p:nvSpPr>
          <p:spPr>
            <a:xfrm>
              <a:off x="4949516" y="30876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4" name="Google Shape;1514;p88"/>
            <p:cNvSpPr/>
            <p:nvPr/>
          </p:nvSpPr>
          <p:spPr>
            <a:xfrm>
              <a:off x="5180566" y="30876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5" name="Google Shape;1515;p88"/>
            <p:cNvSpPr/>
            <p:nvPr/>
          </p:nvSpPr>
          <p:spPr>
            <a:xfrm>
              <a:off x="4949516" y="3316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6" name="Google Shape;1516;p88"/>
            <p:cNvSpPr/>
            <p:nvPr/>
          </p:nvSpPr>
          <p:spPr>
            <a:xfrm>
              <a:off x="5180566" y="3316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7" name="Google Shape;1517;p88"/>
          <p:cNvGrpSpPr/>
          <p:nvPr/>
        </p:nvGrpSpPr>
        <p:grpSpPr>
          <a:xfrm>
            <a:off x="6079841" y="3050807"/>
            <a:ext cx="555950" cy="556691"/>
            <a:chOff x="6073366" y="2935203"/>
            <a:chExt cx="555950" cy="556691"/>
          </a:xfrm>
        </p:grpSpPr>
        <p:sp>
          <p:nvSpPr>
            <p:cNvPr id="1518" name="Google Shape;1518;p88"/>
            <p:cNvSpPr/>
            <p:nvPr/>
          </p:nvSpPr>
          <p:spPr>
            <a:xfrm>
              <a:off x="607336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9" name="Google Shape;1519;p88"/>
            <p:cNvSpPr/>
            <p:nvPr/>
          </p:nvSpPr>
          <p:spPr>
            <a:xfrm>
              <a:off x="630441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0" name="Google Shape;1520;p88"/>
            <p:cNvSpPr/>
            <p:nvPr/>
          </p:nvSpPr>
          <p:spPr>
            <a:xfrm>
              <a:off x="6073366" y="31638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1" name="Google Shape;1521;p88"/>
            <p:cNvSpPr/>
            <p:nvPr/>
          </p:nvSpPr>
          <p:spPr>
            <a:xfrm>
              <a:off x="6073366" y="33924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2" name="Google Shape;1522;p88"/>
            <p:cNvSpPr/>
            <p:nvPr/>
          </p:nvSpPr>
          <p:spPr>
            <a:xfrm>
              <a:off x="653301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3" name="Google Shape;1523;p88"/>
            <p:cNvSpPr/>
            <p:nvPr/>
          </p:nvSpPr>
          <p:spPr>
            <a:xfrm>
              <a:off x="6304416" y="3395594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4" name="Google Shape;1524;p88"/>
            <p:cNvSpPr/>
            <p:nvPr/>
          </p:nvSpPr>
          <p:spPr>
            <a:xfrm>
              <a:off x="6533016" y="3395594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5" name="Google Shape;1525;p88"/>
            <p:cNvSpPr/>
            <p:nvPr/>
          </p:nvSpPr>
          <p:spPr>
            <a:xfrm>
              <a:off x="6533016" y="3166994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6" name="Google Shape;1526;p88"/>
          <p:cNvGrpSpPr/>
          <p:nvPr/>
        </p:nvGrpSpPr>
        <p:grpSpPr>
          <a:xfrm>
            <a:off x="7438766" y="2935203"/>
            <a:ext cx="804975" cy="787900"/>
            <a:chOff x="7438766" y="2935203"/>
            <a:chExt cx="804975" cy="787900"/>
          </a:xfrm>
        </p:grpSpPr>
        <p:sp>
          <p:nvSpPr>
            <p:cNvPr id="1527" name="Google Shape;1527;p88"/>
            <p:cNvSpPr/>
            <p:nvPr/>
          </p:nvSpPr>
          <p:spPr>
            <a:xfrm>
              <a:off x="743876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8" name="Google Shape;1528;p88"/>
            <p:cNvSpPr/>
            <p:nvPr/>
          </p:nvSpPr>
          <p:spPr>
            <a:xfrm>
              <a:off x="766981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9" name="Google Shape;1529;p88"/>
            <p:cNvSpPr/>
            <p:nvPr/>
          </p:nvSpPr>
          <p:spPr>
            <a:xfrm>
              <a:off x="7916391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0" name="Google Shape;1530;p88"/>
            <p:cNvSpPr/>
            <p:nvPr/>
          </p:nvSpPr>
          <p:spPr>
            <a:xfrm>
              <a:off x="8147441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1" name="Google Shape;1531;p88"/>
            <p:cNvSpPr/>
            <p:nvPr/>
          </p:nvSpPr>
          <p:spPr>
            <a:xfrm>
              <a:off x="7454291" y="31696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2" name="Google Shape;1532;p88"/>
            <p:cNvSpPr/>
            <p:nvPr/>
          </p:nvSpPr>
          <p:spPr>
            <a:xfrm>
              <a:off x="8142541" y="31696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3" name="Google Shape;1533;p88"/>
            <p:cNvSpPr/>
            <p:nvPr/>
          </p:nvSpPr>
          <p:spPr>
            <a:xfrm>
              <a:off x="7454291" y="3398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4" name="Google Shape;1534;p88"/>
            <p:cNvSpPr/>
            <p:nvPr/>
          </p:nvSpPr>
          <p:spPr>
            <a:xfrm>
              <a:off x="8142541" y="3398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5" name="Google Shape;1535;p88"/>
            <p:cNvSpPr/>
            <p:nvPr/>
          </p:nvSpPr>
          <p:spPr>
            <a:xfrm>
              <a:off x="7454291" y="36268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6" name="Google Shape;1536;p88"/>
            <p:cNvSpPr/>
            <p:nvPr/>
          </p:nvSpPr>
          <p:spPr>
            <a:xfrm>
              <a:off x="7685341" y="36268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7" name="Google Shape;1537;p88"/>
            <p:cNvSpPr/>
            <p:nvPr/>
          </p:nvSpPr>
          <p:spPr>
            <a:xfrm>
              <a:off x="8142541" y="36268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8" name="Google Shape;1538;p88"/>
            <p:cNvSpPr/>
            <p:nvPr/>
          </p:nvSpPr>
          <p:spPr>
            <a:xfrm>
              <a:off x="7916391" y="36210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539" name="Google Shape;1539;p88"/>
          <p:cNvGraphicFramePr>
            <a:graphicFrameLocks noGrp="1"/>
          </p:cNvGraphicFramePr>
          <p:nvPr/>
        </p:nvGraphicFramePr>
        <p:xfrm>
          <a:off x="360075" y="2113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1764175"/>
                <a:gridCol w="606875"/>
                <a:gridCol w="721750"/>
                <a:gridCol w="677825"/>
              </a:tblGrid>
              <a:tr h="289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40" name="Google Shape;1540;p88"/>
          <p:cNvSpPr txBox="1"/>
          <p:nvPr>
            <p:ph type="body" idx="1"/>
          </p:nvPr>
        </p:nvSpPr>
        <p:spPr>
          <a:xfrm>
            <a:off x="360075" y="2800025"/>
            <a:ext cx="3411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Rule:</a:t>
            </a:r>
            <a:endParaRPr sz="1800"/>
          </a:p>
        </p:txBody>
      </p:sp>
      <p:graphicFrame>
        <p:nvGraphicFramePr>
          <p:cNvPr id="1541" name="Google Shape;1541;p88"/>
          <p:cNvGraphicFramePr>
            <a:graphicFrameLocks noGrp="1"/>
          </p:cNvGraphicFramePr>
          <p:nvPr/>
        </p:nvGraphicFramePr>
        <p:xfrm>
          <a:off x="360075" y="3866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1764175"/>
                <a:gridCol w="606875"/>
                <a:gridCol w="721750"/>
                <a:gridCol w="677825"/>
              </a:tblGrid>
              <a:tr h="289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42" name="Google Shape;1542;p88"/>
          <p:cNvSpPr txBox="1"/>
          <p:nvPr>
            <p:ph type="body" idx="1"/>
          </p:nvPr>
        </p:nvSpPr>
        <p:spPr>
          <a:xfrm>
            <a:off x="360075" y="4552625"/>
            <a:ext cx="3411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Rule:</a:t>
            </a:r>
            <a:endParaRPr sz="1800"/>
          </a:p>
        </p:txBody>
      </p:sp>
      <p:graphicFrame>
        <p:nvGraphicFramePr>
          <p:cNvPr id="1543" name="Google Shape;1543;p88"/>
          <p:cNvGraphicFramePr>
            <a:graphicFrameLocks noGrp="1"/>
          </p:cNvGraphicFramePr>
          <p:nvPr/>
        </p:nvGraphicFramePr>
        <p:xfrm>
          <a:off x="4627275" y="3866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1764175"/>
                <a:gridCol w="606875"/>
                <a:gridCol w="721750"/>
                <a:gridCol w="677825"/>
              </a:tblGrid>
              <a:tr h="289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44" name="Google Shape;1544;p88"/>
          <p:cNvSpPr txBox="1"/>
          <p:nvPr>
            <p:ph type="body" idx="1"/>
          </p:nvPr>
        </p:nvSpPr>
        <p:spPr>
          <a:xfrm>
            <a:off x="4627275" y="4552625"/>
            <a:ext cx="3411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Rule:</a:t>
            </a:r>
            <a:endParaRPr sz="1800"/>
          </a:p>
        </p:txBody>
      </p:sp>
      <p:graphicFrame>
        <p:nvGraphicFramePr>
          <p:cNvPr id="1545" name="Google Shape;1545;p88"/>
          <p:cNvGraphicFramePr>
            <a:graphicFrameLocks noGrp="1"/>
          </p:cNvGraphicFramePr>
          <p:nvPr/>
        </p:nvGraphicFramePr>
        <p:xfrm>
          <a:off x="4627275" y="1884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1764175"/>
                <a:gridCol w="606875"/>
                <a:gridCol w="721750"/>
                <a:gridCol w="677825"/>
              </a:tblGrid>
              <a:tr h="289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46" name="Google Shape;1546;p88"/>
          <p:cNvSpPr txBox="1"/>
          <p:nvPr>
            <p:ph type="body" idx="1"/>
          </p:nvPr>
        </p:nvSpPr>
        <p:spPr>
          <a:xfrm>
            <a:off x="4627275" y="2571425"/>
            <a:ext cx="3411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Rule:</a:t>
            </a:r>
            <a:endParaRPr sz="1800"/>
          </a:p>
        </p:txBody>
      </p:sp>
      <p:sp>
        <p:nvSpPr>
          <p:cNvPr id="1547" name="Google Shape;1547;p88"/>
          <p:cNvSpPr txBox="1"/>
          <p:nvPr>
            <p:ph type="body" idx="1"/>
          </p:nvPr>
        </p:nvSpPr>
        <p:spPr>
          <a:xfrm>
            <a:off x="324000" y="1397325"/>
            <a:ext cx="327300" cy="32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548" name="Google Shape;1548;p88"/>
          <p:cNvSpPr txBox="1"/>
          <p:nvPr>
            <p:ph type="body" idx="1"/>
          </p:nvPr>
        </p:nvSpPr>
        <p:spPr>
          <a:xfrm>
            <a:off x="324000" y="3228725"/>
            <a:ext cx="327300" cy="32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549" name="Google Shape;1549;p88"/>
          <p:cNvSpPr txBox="1"/>
          <p:nvPr>
            <p:ph type="body" idx="1"/>
          </p:nvPr>
        </p:nvSpPr>
        <p:spPr>
          <a:xfrm>
            <a:off x="4572000" y="1398673"/>
            <a:ext cx="327300" cy="32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550" name="Google Shape;1550;p88"/>
          <p:cNvSpPr txBox="1"/>
          <p:nvPr>
            <p:ph type="body" idx="1"/>
          </p:nvPr>
        </p:nvSpPr>
        <p:spPr>
          <a:xfrm>
            <a:off x="4572000" y="3224898"/>
            <a:ext cx="327300" cy="32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cxnSp>
        <p:nvCxnSpPr>
          <p:cNvPr id="1551" name="Google Shape;1551;p88"/>
          <p:cNvCxnSpPr/>
          <p:nvPr/>
        </p:nvCxnSpPr>
        <p:spPr>
          <a:xfrm flipH="1">
            <a:off x="4419600" y="1285500"/>
            <a:ext cx="0" cy="35355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2" name="Google Shape;1552;p88"/>
          <p:cNvSpPr/>
          <p:nvPr/>
        </p:nvSpPr>
        <p:spPr>
          <a:xfrm>
            <a:off x="4967783" y="1583982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88"/>
          <p:cNvSpPr/>
          <p:nvPr/>
        </p:nvSpPr>
        <p:spPr>
          <a:xfrm>
            <a:off x="4901525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88"/>
          <p:cNvSpPr/>
          <p:nvPr/>
        </p:nvSpPr>
        <p:spPr>
          <a:xfrm>
            <a:off x="4817625" y="1292575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88"/>
          <p:cNvSpPr/>
          <p:nvPr/>
        </p:nvSpPr>
        <p:spPr>
          <a:xfrm>
            <a:off x="5071142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88"/>
          <p:cNvSpPr/>
          <p:nvPr/>
        </p:nvSpPr>
        <p:spPr>
          <a:xfrm>
            <a:off x="5190055" y="1583982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7" name="Google Shape;1557;p88"/>
          <p:cNvSpPr/>
          <p:nvPr/>
        </p:nvSpPr>
        <p:spPr>
          <a:xfrm>
            <a:off x="5262284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8" name="Google Shape;1558;p88"/>
          <p:cNvSpPr/>
          <p:nvPr/>
        </p:nvSpPr>
        <p:spPr>
          <a:xfrm>
            <a:off x="5346184" y="1292575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9" name="Google Shape;1559;p88"/>
          <p:cNvSpPr/>
          <p:nvPr/>
        </p:nvSpPr>
        <p:spPr>
          <a:xfrm>
            <a:off x="5882262" y="1583982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88"/>
          <p:cNvSpPr/>
          <p:nvPr/>
        </p:nvSpPr>
        <p:spPr>
          <a:xfrm>
            <a:off x="5816004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88"/>
          <p:cNvSpPr/>
          <p:nvPr/>
        </p:nvSpPr>
        <p:spPr>
          <a:xfrm>
            <a:off x="5732104" y="1292575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88"/>
          <p:cNvSpPr/>
          <p:nvPr/>
        </p:nvSpPr>
        <p:spPr>
          <a:xfrm>
            <a:off x="5985620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88"/>
          <p:cNvSpPr/>
          <p:nvPr/>
        </p:nvSpPr>
        <p:spPr>
          <a:xfrm>
            <a:off x="6104533" y="1583982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88"/>
          <p:cNvSpPr/>
          <p:nvPr/>
        </p:nvSpPr>
        <p:spPr>
          <a:xfrm>
            <a:off x="6176763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88"/>
          <p:cNvSpPr/>
          <p:nvPr/>
        </p:nvSpPr>
        <p:spPr>
          <a:xfrm>
            <a:off x="6260663" y="1292575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88"/>
          <p:cNvSpPr/>
          <p:nvPr/>
        </p:nvSpPr>
        <p:spPr>
          <a:xfrm>
            <a:off x="6410823" y="1583982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88"/>
          <p:cNvSpPr/>
          <p:nvPr/>
        </p:nvSpPr>
        <p:spPr>
          <a:xfrm>
            <a:off x="6344566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88"/>
          <p:cNvSpPr/>
          <p:nvPr/>
        </p:nvSpPr>
        <p:spPr>
          <a:xfrm>
            <a:off x="6514182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88"/>
          <p:cNvSpPr/>
          <p:nvPr/>
        </p:nvSpPr>
        <p:spPr>
          <a:xfrm>
            <a:off x="6633095" y="1583982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88"/>
          <p:cNvSpPr/>
          <p:nvPr/>
        </p:nvSpPr>
        <p:spPr>
          <a:xfrm>
            <a:off x="6705325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88"/>
          <p:cNvSpPr/>
          <p:nvPr/>
        </p:nvSpPr>
        <p:spPr>
          <a:xfrm>
            <a:off x="6789225" y="1292575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88"/>
          <p:cNvSpPr/>
          <p:nvPr/>
        </p:nvSpPr>
        <p:spPr>
          <a:xfrm>
            <a:off x="7226916" y="1583982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88"/>
          <p:cNvSpPr/>
          <p:nvPr/>
        </p:nvSpPr>
        <p:spPr>
          <a:xfrm>
            <a:off x="7160659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88"/>
          <p:cNvSpPr/>
          <p:nvPr/>
        </p:nvSpPr>
        <p:spPr>
          <a:xfrm>
            <a:off x="7076758" y="1292575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88"/>
          <p:cNvSpPr/>
          <p:nvPr/>
        </p:nvSpPr>
        <p:spPr>
          <a:xfrm>
            <a:off x="7330275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88"/>
          <p:cNvSpPr/>
          <p:nvPr/>
        </p:nvSpPr>
        <p:spPr>
          <a:xfrm>
            <a:off x="7449188" y="1583982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88"/>
          <p:cNvSpPr/>
          <p:nvPr/>
        </p:nvSpPr>
        <p:spPr>
          <a:xfrm>
            <a:off x="7521417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88"/>
          <p:cNvSpPr/>
          <p:nvPr/>
        </p:nvSpPr>
        <p:spPr>
          <a:xfrm>
            <a:off x="7605318" y="1292575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88"/>
          <p:cNvSpPr/>
          <p:nvPr/>
        </p:nvSpPr>
        <p:spPr>
          <a:xfrm>
            <a:off x="7755478" y="1583982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88"/>
          <p:cNvSpPr/>
          <p:nvPr/>
        </p:nvSpPr>
        <p:spPr>
          <a:xfrm>
            <a:off x="7689220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1" name="Google Shape;1581;p88"/>
          <p:cNvSpPr/>
          <p:nvPr/>
        </p:nvSpPr>
        <p:spPr>
          <a:xfrm>
            <a:off x="7858837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88"/>
          <p:cNvSpPr/>
          <p:nvPr/>
        </p:nvSpPr>
        <p:spPr>
          <a:xfrm>
            <a:off x="7977750" y="1583982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88"/>
          <p:cNvSpPr/>
          <p:nvPr/>
        </p:nvSpPr>
        <p:spPr>
          <a:xfrm>
            <a:off x="8049979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88"/>
          <p:cNvSpPr/>
          <p:nvPr/>
        </p:nvSpPr>
        <p:spPr>
          <a:xfrm>
            <a:off x="8133879" y="1292575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88"/>
          <p:cNvSpPr/>
          <p:nvPr/>
        </p:nvSpPr>
        <p:spPr>
          <a:xfrm>
            <a:off x="8137558" y="1292575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88"/>
          <p:cNvSpPr/>
          <p:nvPr/>
        </p:nvSpPr>
        <p:spPr>
          <a:xfrm>
            <a:off x="8287718" y="1583982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88"/>
          <p:cNvSpPr/>
          <p:nvPr/>
        </p:nvSpPr>
        <p:spPr>
          <a:xfrm>
            <a:off x="8221460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88"/>
          <p:cNvSpPr/>
          <p:nvPr/>
        </p:nvSpPr>
        <p:spPr>
          <a:xfrm>
            <a:off x="8391077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88"/>
          <p:cNvSpPr/>
          <p:nvPr/>
        </p:nvSpPr>
        <p:spPr>
          <a:xfrm>
            <a:off x="8509990" y="1583982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88"/>
          <p:cNvSpPr/>
          <p:nvPr/>
        </p:nvSpPr>
        <p:spPr>
          <a:xfrm>
            <a:off x="8582219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88"/>
          <p:cNvSpPr/>
          <p:nvPr/>
        </p:nvSpPr>
        <p:spPr>
          <a:xfrm>
            <a:off x="8666119" y="1292575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95" name="Shape 1595"/>
        <p:cNvGrpSpPr/>
        <p:nvPr/>
      </p:nvGrpSpPr>
      <p:grpSpPr>
        <a:xfrm>
          <a:off x="0" y="0"/>
          <a:ext cx="0" cy="0"/>
        </a:xfrm>
      </p:grpSpPr>
      <p:sp>
        <p:nvSpPr>
          <p:cNvPr id="1596" name="Google Shape;1596;p89"/>
          <p:cNvSpPr txBox="1"/>
          <p:nvPr>
            <p:ph type="body" idx="1"/>
          </p:nvPr>
        </p:nvSpPr>
        <p:spPr>
          <a:xfrm>
            <a:off x="324000" y="759300"/>
            <a:ext cx="8496000" cy="130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2)  Four students are writing a </a:t>
            </a:r>
            <a:r>
              <a:rPr lang="en-GB" sz="1900" b="1"/>
              <a:t>position-to-term</a:t>
            </a:r>
            <a:r>
              <a:rPr lang="en-GB" sz="1900"/>
              <a:t> rule for the sequence: 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900"/>
              <a:t>9, 11, 13, …  Who is correct?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For the incorrect answers, show how you know they are incorrect. </a:t>
            </a:r>
            <a:endParaRPr sz="1900"/>
          </a:p>
        </p:txBody>
      </p:sp>
      <p:sp>
        <p:nvSpPr>
          <p:cNvPr id="1597" name="Google Shape;1597;p8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1598" name="Google Shape;1598;p89"/>
          <p:cNvSpPr txBox="1"/>
          <p:nvPr/>
        </p:nvSpPr>
        <p:spPr>
          <a:xfrm>
            <a:off x="2020120" y="3797739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89"/>
          <p:cNvSpPr txBox="1"/>
          <p:nvPr/>
        </p:nvSpPr>
        <p:spPr>
          <a:xfrm>
            <a:off x="126850" y="3797739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0" name="Google Shape;160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292842" y="3307276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962" y="3274173"/>
            <a:ext cx="387923" cy="558609"/>
          </a:xfrm>
          <a:prstGeom prst="rect">
            <a:avLst/>
          </a:prstGeom>
          <a:noFill/>
          <a:ln>
            <a:noFill/>
          </a:ln>
        </p:spPr>
      </p:pic>
      <p:sp>
        <p:nvSpPr>
          <p:cNvPr id="1602" name="Google Shape;1602;p89"/>
          <p:cNvSpPr txBox="1"/>
          <p:nvPr/>
        </p:nvSpPr>
        <p:spPr>
          <a:xfrm flipH="1">
            <a:off x="4157100" y="3829700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3" name="Google Shape;1603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195469" y="3297527"/>
            <a:ext cx="443850" cy="51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4" name="Google Shape;1604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326675" y="3189175"/>
            <a:ext cx="675955" cy="6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p89"/>
          <p:cNvSpPr txBox="1"/>
          <p:nvPr/>
        </p:nvSpPr>
        <p:spPr>
          <a:xfrm flipH="1">
            <a:off x="6130350" y="3829700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6" name="Google Shape;1606;p89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361773" y="2160000"/>
            <a:ext cx="1949102" cy="114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7" name="Google Shape;1607;p89"/>
          <p:cNvSpPr/>
          <p:nvPr/>
        </p:nvSpPr>
        <p:spPr>
          <a:xfrm>
            <a:off x="534800" y="2183600"/>
            <a:ext cx="17382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term is the term number  multiplied by 9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8" name="Google Shape;1608;p89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2443123" y="2160000"/>
            <a:ext cx="1824077" cy="114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9" name="Google Shape;1609;p89"/>
          <p:cNvSpPr/>
          <p:nvPr/>
        </p:nvSpPr>
        <p:spPr>
          <a:xfrm>
            <a:off x="2582400" y="2249500"/>
            <a:ext cx="15993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term is the term number add 2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0" name="Google Shape;1610;p89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4336648" y="2031525"/>
            <a:ext cx="2122127" cy="14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89"/>
          <p:cNvSpPr/>
          <p:nvPr/>
        </p:nvSpPr>
        <p:spPr>
          <a:xfrm>
            <a:off x="4584750" y="2083800"/>
            <a:ext cx="19491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term is the term number multiplied by 2 add 7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2" name="Google Shape;1612;p89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6698848" y="2031525"/>
            <a:ext cx="2122127" cy="14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3" name="Google Shape;1613;p89"/>
          <p:cNvSpPr/>
          <p:nvPr/>
        </p:nvSpPr>
        <p:spPr>
          <a:xfrm>
            <a:off x="6870750" y="2083800"/>
            <a:ext cx="19491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term is the term number multiplied by 2 add 9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17" name="Shape 1617"/>
        <p:cNvGrpSpPr/>
        <p:nvPr/>
      </p:nvGrpSpPr>
      <p:grpSpPr>
        <a:xfrm>
          <a:off x="0" y="0"/>
          <a:ext cx="0" cy="0"/>
        </a:xfrm>
      </p:grpSpPr>
      <p:sp>
        <p:nvSpPr>
          <p:cNvPr id="1618" name="Google Shape;1618;p9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1619" name="Google Shape;1619;p9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For each sequence, write a </a:t>
            </a:r>
            <a:r>
              <a:rPr lang="en-GB" sz="1800" b="1"/>
              <a:t>position-to-term</a:t>
            </a:r>
            <a:r>
              <a:rPr lang="en-GB" sz="1800"/>
              <a:t> rule for the number of dots in each pattern. </a:t>
            </a:r>
            <a:endParaRPr sz="1800"/>
          </a:p>
        </p:txBody>
      </p:sp>
      <p:sp>
        <p:nvSpPr>
          <p:cNvPr id="1620" name="Google Shape;1620;p90"/>
          <p:cNvSpPr/>
          <p:nvPr/>
        </p:nvSpPr>
        <p:spPr>
          <a:xfrm>
            <a:off x="488922" y="1867440"/>
            <a:ext cx="100800" cy="100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90"/>
          <p:cNvSpPr/>
          <p:nvPr/>
        </p:nvSpPr>
        <p:spPr>
          <a:xfrm>
            <a:off x="931272" y="1867442"/>
            <a:ext cx="100800" cy="100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22" name="Google Shape;1622;p90"/>
          <p:cNvGrpSpPr/>
          <p:nvPr/>
        </p:nvGrpSpPr>
        <p:grpSpPr>
          <a:xfrm>
            <a:off x="704991" y="3245810"/>
            <a:ext cx="3556438" cy="435406"/>
            <a:chOff x="400191" y="3245810"/>
            <a:chExt cx="3556438" cy="435406"/>
          </a:xfrm>
        </p:grpSpPr>
        <p:grpSp>
          <p:nvGrpSpPr>
            <p:cNvPr id="1623" name="Google Shape;1623;p90"/>
            <p:cNvGrpSpPr/>
            <p:nvPr/>
          </p:nvGrpSpPr>
          <p:grpSpPr>
            <a:xfrm>
              <a:off x="400191" y="3245810"/>
              <a:ext cx="503254" cy="435406"/>
              <a:chOff x="361850" y="3138300"/>
              <a:chExt cx="565200" cy="489000"/>
            </a:xfrm>
          </p:grpSpPr>
          <p:sp>
            <p:nvSpPr>
              <p:cNvPr id="1624" name="Google Shape;1624;p90"/>
              <p:cNvSpPr/>
              <p:nvPr/>
            </p:nvSpPr>
            <p:spPr>
              <a:xfrm>
                <a:off x="3618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25" name="Google Shape;1625;p90"/>
              <p:cNvSpPr/>
              <p:nvPr/>
            </p:nvSpPr>
            <p:spPr>
              <a:xfrm>
                <a:off x="3618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26" name="Google Shape;1626;p90"/>
              <p:cNvSpPr/>
              <p:nvPr/>
            </p:nvSpPr>
            <p:spPr>
              <a:xfrm>
                <a:off x="3618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27" name="Google Shape;1627;p90"/>
              <p:cNvSpPr/>
              <p:nvPr/>
            </p:nvSpPr>
            <p:spPr>
              <a:xfrm>
                <a:off x="5904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28" name="Google Shape;1628;p90"/>
              <p:cNvSpPr/>
              <p:nvPr/>
            </p:nvSpPr>
            <p:spPr>
              <a:xfrm>
                <a:off x="8190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29" name="Google Shape;1629;p90"/>
              <p:cNvSpPr/>
              <p:nvPr/>
            </p:nvSpPr>
            <p:spPr>
              <a:xfrm>
                <a:off x="8190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30" name="Google Shape;1630;p90"/>
              <p:cNvSpPr/>
              <p:nvPr/>
            </p:nvSpPr>
            <p:spPr>
              <a:xfrm>
                <a:off x="8190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31" name="Google Shape;1631;p90"/>
            <p:cNvGrpSpPr/>
            <p:nvPr/>
          </p:nvGrpSpPr>
          <p:grpSpPr>
            <a:xfrm>
              <a:off x="1350072" y="3245810"/>
              <a:ext cx="910345" cy="435406"/>
              <a:chOff x="1581050" y="3138300"/>
              <a:chExt cx="1022400" cy="489000"/>
            </a:xfrm>
          </p:grpSpPr>
          <p:sp>
            <p:nvSpPr>
              <p:cNvPr id="1632" name="Google Shape;1632;p90"/>
              <p:cNvSpPr/>
              <p:nvPr/>
            </p:nvSpPr>
            <p:spPr>
              <a:xfrm>
                <a:off x="15810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33" name="Google Shape;1633;p90"/>
              <p:cNvSpPr/>
              <p:nvPr/>
            </p:nvSpPr>
            <p:spPr>
              <a:xfrm>
                <a:off x="15810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34" name="Google Shape;1634;p90"/>
              <p:cNvSpPr/>
              <p:nvPr/>
            </p:nvSpPr>
            <p:spPr>
              <a:xfrm>
                <a:off x="15810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35" name="Google Shape;1635;p90"/>
              <p:cNvSpPr/>
              <p:nvPr/>
            </p:nvSpPr>
            <p:spPr>
              <a:xfrm>
                <a:off x="18096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36" name="Google Shape;1636;p90"/>
              <p:cNvSpPr/>
              <p:nvPr/>
            </p:nvSpPr>
            <p:spPr>
              <a:xfrm>
                <a:off x="20382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37" name="Google Shape;1637;p90"/>
              <p:cNvSpPr/>
              <p:nvPr/>
            </p:nvSpPr>
            <p:spPr>
              <a:xfrm>
                <a:off x="20382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38" name="Google Shape;1638;p90"/>
              <p:cNvSpPr/>
              <p:nvPr/>
            </p:nvSpPr>
            <p:spPr>
              <a:xfrm>
                <a:off x="20382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39" name="Google Shape;1639;p90"/>
              <p:cNvSpPr/>
              <p:nvPr/>
            </p:nvSpPr>
            <p:spPr>
              <a:xfrm>
                <a:off x="22668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40" name="Google Shape;1640;p90"/>
              <p:cNvSpPr/>
              <p:nvPr/>
            </p:nvSpPr>
            <p:spPr>
              <a:xfrm>
                <a:off x="24954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41" name="Google Shape;1641;p90"/>
              <p:cNvSpPr/>
              <p:nvPr/>
            </p:nvSpPr>
            <p:spPr>
              <a:xfrm>
                <a:off x="24954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42" name="Google Shape;1642;p90"/>
              <p:cNvSpPr/>
              <p:nvPr/>
            </p:nvSpPr>
            <p:spPr>
              <a:xfrm>
                <a:off x="24954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43" name="Google Shape;1643;p90"/>
            <p:cNvGrpSpPr/>
            <p:nvPr/>
          </p:nvGrpSpPr>
          <p:grpSpPr>
            <a:xfrm>
              <a:off x="2639193" y="3245810"/>
              <a:ext cx="1317436" cy="435406"/>
              <a:chOff x="3028850" y="3138300"/>
              <a:chExt cx="1479600" cy="489000"/>
            </a:xfrm>
          </p:grpSpPr>
          <p:sp>
            <p:nvSpPr>
              <p:cNvPr id="1644" name="Google Shape;1644;p90"/>
              <p:cNvSpPr/>
              <p:nvPr/>
            </p:nvSpPr>
            <p:spPr>
              <a:xfrm>
                <a:off x="41718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45" name="Google Shape;1645;p90"/>
              <p:cNvSpPr/>
              <p:nvPr/>
            </p:nvSpPr>
            <p:spPr>
              <a:xfrm>
                <a:off x="44004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46" name="Google Shape;1646;p90"/>
              <p:cNvSpPr/>
              <p:nvPr/>
            </p:nvSpPr>
            <p:spPr>
              <a:xfrm>
                <a:off x="44004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47" name="Google Shape;1647;p90"/>
              <p:cNvSpPr/>
              <p:nvPr/>
            </p:nvSpPr>
            <p:spPr>
              <a:xfrm>
                <a:off x="44004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48" name="Google Shape;1648;p90"/>
              <p:cNvSpPr/>
              <p:nvPr/>
            </p:nvSpPr>
            <p:spPr>
              <a:xfrm>
                <a:off x="30288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49" name="Google Shape;1649;p90"/>
              <p:cNvSpPr/>
              <p:nvPr/>
            </p:nvSpPr>
            <p:spPr>
              <a:xfrm>
                <a:off x="30288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0" name="Google Shape;1650;p90"/>
              <p:cNvSpPr/>
              <p:nvPr/>
            </p:nvSpPr>
            <p:spPr>
              <a:xfrm>
                <a:off x="30288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1" name="Google Shape;1651;p90"/>
              <p:cNvSpPr/>
              <p:nvPr/>
            </p:nvSpPr>
            <p:spPr>
              <a:xfrm>
                <a:off x="32574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2" name="Google Shape;1652;p90"/>
              <p:cNvSpPr/>
              <p:nvPr/>
            </p:nvSpPr>
            <p:spPr>
              <a:xfrm>
                <a:off x="34860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3" name="Google Shape;1653;p90"/>
              <p:cNvSpPr/>
              <p:nvPr/>
            </p:nvSpPr>
            <p:spPr>
              <a:xfrm>
                <a:off x="34860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4" name="Google Shape;1654;p90"/>
              <p:cNvSpPr/>
              <p:nvPr/>
            </p:nvSpPr>
            <p:spPr>
              <a:xfrm>
                <a:off x="34860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5" name="Google Shape;1655;p90"/>
              <p:cNvSpPr/>
              <p:nvPr/>
            </p:nvSpPr>
            <p:spPr>
              <a:xfrm>
                <a:off x="37146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6" name="Google Shape;1656;p90"/>
              <p:cNvSpPr/>
              <p:nvPr/>
            </p:nvSpPr>
            <p:spPr>
              <a:xfrm>
                <a:off x="39432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7" name="Google Shape;1657;p90"/>
              <p:cNvSpPr/>
              <p:nvPr/>
            </p:nvSpPr>
            <p:spPr>
              <a:xfrm>
                <a:off x="39432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8" name="Google Shape;1658;p90"/>
              <p:cNvSpPr/>
              <p:nvPr/>
            </p:nvSpPr>
            <p:spPr>
              <a:xfrm>
                <a:off x="39432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659" name="Google Shape;1659;p90"/>
          <p:cNvGrpSpPr/>
          <p:nvPr/>
        </p:nvGrpSpPr>
        <p:grpSpPr>
          <a:xfrm>
            <a:off x="588642" y="1458315"/>
            <a:ext cx="3582180" cy="466601"/>
            <a:chOff x="588642" y="1458315"/>
            <a:chExt cx="3582180" cy="466601"/>
          </a:xfrm>
        </p:grpSpPr>
        <p:sp>
          <p:nvSpPr>
            <p:cNvPr id="1660" name="Google Shape;1660;p90"/>
            <p:cNvSpPr/>
            <p:nvPr/>
          </p:nvSpPr>
          <p:spPr>
            <a:xfrm>
              <a:off x="714677" y="1501640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1" name="Google Shape;1661;p90"/>
            <p:cNvSpPr/>
            <p:nvPr/>
          </p:nvSpPr>
          <p:spPr>
            <a:xfrm>
              <a:off x="714679" y="1695583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2" name="Google Shape;1662;p90"/>
            <p:cNvSpPr/>
            <p:nvPr/>
          </p:nvSpPr>
          <p:spPr>
            <a:xfrm>
              <a:off x="588642" y="1695583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3" name="Google Shape;1663;p90"/>
            <p:cNvSpPr/>
            <p:nvPr/>
          </p:nvSpPr>
          <p:spPr>
            <a:xfrm>
              <a:off x="840716" y="1695583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4" name="Google Shape;1664;p90"/>
            <p:cNvSpPr/>
            <p:nvPr/>
          </p:nvSpPr>
          <p:spPr>
            <a:xfrm>
              <a:off x="1759427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5" name="Google Shape;1665;p90"/>
            <p:cNvSpPr/>
            <p:nvPr/>
          </p:nvSpPr>
          <p:spPr>
            <a:xfrm>
              <a:off x="1533672" y="18241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6" name="Google Shape;1666;p90"/>
            <p:cNvSpPr/>
            <p:nvPr/>
          </p:nvSpPr>
          <p:spPr>
            <a:xfrm>
              <a:off x="175942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7" name="Google Shape;1667;p90"/>
            <p:cNvSpPr/>
            <p:nvPr/>
          </p:nvSpPr>
          <p:spPr>
            <a:xfrm>
              <a:off x="197602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8" name="Google Shape;1668;p90"/>
            <p:cNvSpPr/>
            <p:nvPr/>
          </p:nvSpPr>
          <p:spPr>
            <a:xfrm>
              <a:off x="163339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9" name="Google Shape;1669;p90"/>
            <p:cNvSpPr/>
            <p:nvPr/>
          </p:nvSpPr>
          <p:spPr>
            <a:xfrm>
              <a:off x="1885466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0" name="Google Shape;1670;p90"/>
            <p:cNvSpPr/>
            <p:nvPr/>
          </p:nvSpPr>
          <p:spPr>
            <a:xfrm>
              <a:off x="2194988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1" name="Google Shape;1671;p90"/>
            <p:cNvSpPr/>
            <p:nvPr/>
          </p:nvSpPr>
          <p:spPr>
            <a:xfrm>
              <a:off x="219498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2" name="Google Shape;1672;p90"/>
            <p:cNvSpPr/>
            <p:nvPr/>
          </p:nvSpPr>
          <p:spPr>
            <a:xfrm>
              <a:off x="241158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3" name="Google Shape;1673;p90"/>
            <p:cNvSpPr/>
            <p:nvPr/>
          </p:nvSpPr>
          <p:spPr>
            <a:xfrm>
              <a:off x="206895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4" name="Google Shape;1674;p90"/>
            <p:cNvSpPr/>
            <p:nvPr/>
          </p:nvSpPr>
          <p:spPr>
            <a:xfrm>
              <a:off x="2321027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5" name="Google Shape;1675;p90"/>
            <p:cNvSpPr/>
            <p:nvPr/>
          </p:nvSpPr>
          <p:spPr>
            <a:xfrm>
              <a:off x="2982327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6" name="Google Shape;1676;p90"/>
            <p:cNvSpPr/>
            <p:nvPr/>
          </p:nvSpPr>
          <p:spPr>
            <a:xfrm>
              <a:off x="2756572" y="18241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7" name="Google Shape;1677;p90"/>
            <p:cNvSpPr/>
            <p:nvPr/>
          </p:nvSpPr>
          <p:spPr>
            <a:xfrm>
              <a:off x="298232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8" name="Google Shape;1678;p90"/>
            <p:cNvSpPr/>
            <p:nvPr/>
          </p:nvSpPr>
          <p:spPr>
            <a:xfrm>
              <a:off x="319892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9" name="Google Shape;1679;p90"/>
            <p:cNvSpPr/>
            <p:nvPr/>
          </p:nvSpPr>
          <p:spPr>
            <a:xfrm>
              <a:off x="285629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0" name="Google Shape;1680;p90"/>
            <p:cNvSpPr/>
            <p:nvPr/>
          </p:nvSpPr>
          <p:spPr>
            <a:xfrm>
              <a:off x="3108366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1" name="Google Shape;1681;p90"/>
            <p:cNvSpPr/>
            <p:nvPr/>
          </p:nvSpPr>
          <p:spPr>
            <a:xfrm>
              <a:off x="3417888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2" name="Google Shape;1682;p90"/>
            <p:cNvSpPr/>
            <p:nvPr/>
          </p:nvSpPr>
          <p:spPr>
            <a:xfrm>
              <a:off x="341788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3" name="Google Shape;1683;p90"/>
            <p:cNvSpPr/>
            <p:nvPr/>
          </p:nvSpPr>
          <p:spPr>
            <a:xfrm>
              <a:off x="363448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4" name="Google Shape;1684;p90"/>
            <p:cNvSpPr/>
            <p:nvPr/>
          </p:nvSpPr>
          <p:spPr>
            <a:xfrm>
              <a:off x="329185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5" name="Google Shape;1685;p90"/>
            <p:cNvSpPr/>
            <p:nvPr/>
          </p:nvSpPr>
          <p:spPr>
            <a:xfrm>
              <a:off x="3543927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6" name="Google Shape;1686;p90"/>
            <p:cNvSpPr/>
            <p:nvPr/>
          </p:nvSpPr>
          <p:spPr>
            <a:xfrm>
              <a:off x="3853427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7" name="Google Shape;1687;p90"/>
            <p:cNvSpPr/>
            <p:nvPr/>
          </p:nvSpPr>
          <p:spPr>
            <a:xfrm>
              <a:off x="385342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8" name="Google Shape;1688;p90"/>
            <p:cNvSpPr/>
            <p:nvPr/>
          </p:nvSpPr>
          <p:spPr>
            <a:xfrm>
              <a:off x="407002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9" name="Google Shape;1689;p90"/>
            <p:cNvSpPr/>
            <p:nvPr/>
          </p:nvSpPr>
          <p:spPr>
            <a:xfrm>
              <a:off x="372739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0" name="Google Shape;1690;p90"/>
            <p:cNvSpPr/>
            <p:nvPr/>
          </p:nvSpPr>
          <p:spPr>
            <a:xfrm>
              <a:off x="3979466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91" name="Google Shape;1691;p90"/>
          <p:cNvSpPr/>
          <p:nvPr/>
        </p:nvSpPr>
        <p:spPr>
          <a:xfrm>
            <a:off x="4967783" y="1583982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90"/>
          <p:cNvSpPr/>
          <p:nvPr/>
        </p:nvSpPr>
        <p:spPr>
          <a:xfrm>
            <a:off x="4901525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90"/>
          <p:cNvSpPr/>
          <p:nvPr/>
        </p:nvSpPr>
        <p:spPr>
          <a:xfrm>
            <a:off x="4817625" y="1292575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90"/>
          <p:cNvSpPr/>
          <p:nvPr/>
        </p:nvSpPr>
        <p:spPr>
          <a:xfrm>
            <a:off x="5071142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90"/>
          <p:cNvSpPr/>
          <p:nvPr/>
        </p:nvSpPr>
        <p:spPr>
          <a:xfrm>
            <a:off x="5190055" y="1583982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90"/>
          <p:cNvSpPr/>
          <p:nvPr/>
        </p:nvSpPr>
        <p:spPr>
          <a:xfrm>
            <a:off x="5262284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90"/>
          <p:cNvSpPr/>
          <p:nvPr/>
        </p:nvSpPr>
        <p:spPr>
          <a:xfrm>
            <a:off x="5346184" y="1292575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90"/>
          <p:cNvSpPr/>
          <p:nvPr/>
        </p:nvSpPr>
        <p:spPr>
          <a:xfrm>
            <a:off x="5882262" y="1583982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90"/>
          <p:cNvSpPr/>
          <p:nvPr/>
        </p:nvSpPr>
        <p:spPr>
          <a:xfrm>
            <a:off x="5816004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90"/>
          <p:cNvSpPr/>
          <p:nvPr/>
        </p:nvSpPr>
        <p:spPr>
          <a:xfrm>
            <a:off x="5732104" y="1292575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90"/>
          <p:cNvSpPr/>
          <p:nvPr/>
        </p:nvSpPr>
        <p:spPr>
          <a:xfrm>
            <a:off x="5985620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2" name="Google Shape;1702;p90"/>
          <p:cNvSpPr/>
          <p:nvPr/>
        </p:nvSpPr>
        <p:spPr>
          <a:xfrm>
            <a:off x="6104533" y="1583982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90"/>
          <p:cNvSpPr/>
          <p:nvPr/>
        </p:nvSpPr>
        <p:spPr>
          <a:xfrm>
            <a:off x="6176763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90"/>
          <p:cNvSpPr/>
          <p:nvPr/>
        </p:nvSpPr>
        <p:spPr>
          <a:xfrm>
            <a:off x="6260663" y="1292575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05" name="Google Shape;1705;p90"/>
          <p:cNvGrpSpPr/>
          <p:nvPr/>
        </p:nvGrpSpPr>
        <p:grpSpPr>
          <a:xfrm>
            <a:off x="4949516" y="3166703"/>
            <a:ext cx="327350" cy="324900"/>
            <a:chOff x="4949516" y="3087603"/>
            <a:chExt cx="327350" cy="324900"/>
          </a:xfrm>
        </p:grpSpPr>
        <p:sp>
          <p:nvSpPr>
            <p:cNvPr id="1706" name="Google Shape;1706;p90"/>
            <p:cNvSpPr/>
            <p:nvPr/>
          </p:nvSpPr>
          <p:spPr>
            <a:xfrm>
              <a:off x="4949516" y="30876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7" name="Google Shape;1707;p90"/>
            <p:cNvSpPr/>
            <p:nvPr/>
          </p:nvSpPr>
          <p:spPr>
            <a:xfrm>
              <a:off x="5180566" y="30876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8" name="Google Shape;1708;p90"/>
            <p:cNvSpPr/>
            <p:nvPr/>
          </p:nvSpPr>
          <p:spPr>
            <a:xfrm>
              <a:off x="4949516" y="3316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9" name="Google Shape;1709;p90"/>
            <p:cNvSpPr/>
            <p:nvPr/>
          </p:nvSpPr>
          <p:spPr>
            <a:xfrm>
              <a:off x="5180566" y="3316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0" name="Google Shape;1710;p90"/>
          <p:cNvGrpSpPr/>
          <p:nvPr/>
        </p:nvGrpSpPr>
        <p:grpSpPr>
          <a:xfrm>
            <a:off x="6079841" y="3050807"/>
            <a:ext cx="555950" cy="556691"/>
            <a:chOff x="6073366" y="2935203"/>
            <a:chExt cx="555950" cy="556691"/>
          </a:xfrm>
        </p:grpSpPr>
        <p:sp>
          <p:nvSpPr>
            <p:cNvPr id="1711" name="Google Shape;1711;p90"/>
            <p:cNvSpPr/>
            <p:nvPr/>
          </p:nvSpPr>
          <p:spPr>
            <a:xfrm>
              <a:off x="607336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2" name="Google Shape;1712;p90"/>
            <p:cNvSpPr/>
            <p:nvPr/>
          </p:nvSpPr>
          <p:spPr>
            <a:xfrm>
              <a:off x="630441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3" name="Google Shape;1713;p90"/>
            <p:cNvSpPr/>
            <p:nvPr/>
          </p:nvSpPr>
          <p:spPr>
            <a:xfrm>
              <a:off x="6073366" y="31638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4" name="Google Shape;1714;p90"/>
            <p:cNvSpPr/>
            <p:nvPr/>
          </p:nvSpPr>
          <p:spPr>
            <a:xfrm>
              <a:off x="6073366" y="33924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5" name="Google Shape;1715;p90"/>
            <p:cNvSpPr/>
            <p:nvPr/>
          </p:nvSpPr>
          <p:spPr>
            <a:xfrm>
              <a:off x="653301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6" name="Google Shape;1716;p90"/>
            <p:cNvSpPr/>
            <p:nvPr/>
          </p:nvSpPr>
          <p:spPr>
            <a:xfrm>
              <a:off x="6304416" y="3395594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7" name="Google Shape;1717;p90"/>
            <p:cNvSpPr/>
            <p:nvPr/>
          </p:nvSpPr>
          <p:spPr>
            <a:xfrm>
              <a:off x="6533016" y="3395594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8" name="Google Shape;1718;p90"/>
            <p:cNvSpPr/>
            <p:nvPr/>
          </p:nvSpPr>
          <p:spPr>
            <a:xfrm>
              <a:off x="6533016" y="3166994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9" name="Google Shape;1719;p90"/>
          <p:cNvGrpSpPr/>
          <p:nvPr/>
        </p:nvGrpSpPr>
        <p:grpSpPr>
          <a:xfrm>
            <a:off x="7438766" y="2935203"/>
            <a:ext cx="804975" cy="787900"/>
            <a:chOff x="7438766" y="2935203"/>
            <a:chExt cx="804975" cy="787900"/>
          </a:xfrm>
        </p:grpSpPr>
        <p:sp>
          <p:nvSpPr>
            <p:cNvPr id="1720" name="Google Shape;1720;p90"/>
            <p:cNvSpPr/>
            <p:nvPr/>
          </p:nvSpPr>
          <p:spPr>
            <a:xfrm>
              <a:off x="743876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1" name="Google Shape;1721;p90"/>
            <p:cNvSpPr/>
            <p:nvPr/>
          </p:nvSpPr>
          <p:spPr>
            <a:xfrm>
              <a:off x="766981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2" name="Google Shape;1722;p90"/>
            <p:cNvSpPr/>
            <p:nvPr/>
          </p:nvSpPr>
          <p:spPr>
            <a:xfrm>
              <a:off x="7916391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3" name="Google Shape;1723;p90"/>
            <p:cNvSpPr/>
            <p:nvPr/>
          </p:nvSpPr>
          <p:spPr>
            <a:xfrm>
              <a:off x="8147441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4" name="Google Shape;1724;p90"/>
            <p:cNvSpPr/>
            <p:nvPr/>
          </p:nvSpPr>
          <p:spPr>
            <a:xfrm>
              <a:off x="7454291" y="31696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5" name="Google Shape;1725;p90"/>
            <p:cNvSpPr/>
            <p:nvPr/>
          </p:nvSpPr>
          <p:spPr>
            <a:xfrm>
              <a:off x="8142541" y="31696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6" name="Google Shape;1726;p90"/>
            <p:cNvSpPr/>
            <p:nvPr/>
          </p:nvSpPr>
          <p:spPr>
            <a:xfrm>
              <a:off x="7454291" y="3398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7" name="Google Shape;1727;p90"/>
            <p:cNvSpPr/>
            <p:nvPr/>
          </p:nvSpPr>
          <p:spPr>
            <a:xfrm>
              <a:off x="8142541" y="3398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8" name="Google Shape;1728;p90"/>
            <p:cNvSpPr/>
            <p:nvPr/>
          </p:nvSpPr>
          <p:spPr>
            <a:xfrm>
              <a:off x="7454291" y="36268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9" name="Google Shape;1729;p90"/>
            <p:cNvSpPr/>
            <p:nvPr/>
          </p:nvSpPr>
          <p:spPr>
            <a:xfrm>
              <a:off x="7685341" y="36268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0" name="Google Shape;1730;p90"/>
            <p:cNvSpPr/>
            <p:nvPr/>
          </p:nvSpPr>
          <p:spPr>
            <a:xfrm>
              <a:off x="8142541" y="36268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1" name="Google Shape;1731;p90"/>
            <p:cNvSpPr/>
            <p:nvPr/>
          </p:nvSpPr>
          <p:spPr>
            <a:xfrm>
              <a:off x="7916391" y="36210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732" name="Google Shape;1732;p90"/>
          <p:cNvGraphicFramePr>
            <a:graphicFrameLocks noGrp="1"/>
          </p:cNvGraphicFramePr>
          <p:nvPr/>
        </p:nvGraphicFramePr>
        <p:xfrm>
          <a:off x="360075" y="2113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1764175"/>
                <a:gridCol w="606875"/>
                <a:gridCol w="721750"/>
                <a:gridCol w="677825"/>
              </a:tblGrid>
              <a:tr h="289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33" name="Google Shape;1733;p90"/>
          <p:cNvSpPr txBox="1"/>
          <p:nvPr>
            <p:ph type="body" idx="1"/>
          </p:nvPr>
        </p:nvSpPr>
        <p:spPr>
          <a:xfrm>
            <a:off x="360075" y="2800025"/>
            <a:ext cx="3901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Rule: ‘term number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5 + 1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’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34" name="Google Shape;1734;p90"/>
          <p:cNvGraphicFramePr>
            <a:graphicFrameLocks noGrp="1"/>
          </p:cNvGraphicFramePr>
          <p:nvPr/>
        </p:nvGraphicFramePr>
        <p:xfrm>
          <a:off x="360075" y="3866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1764175"/>
                <a:gridCol w="606875"/>
                <a:gridCol w="721750"/>
                <a:gridCol w="677825"/>
              </a:tblGrid>
              <a:tr h="289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35" name="Google Shape;1735;p90"/>
          <p:cNvGraphicFramePr>
            <a:graphicFrameLocks noGrp="1"/>
          </p:cNvGraphicFramePr>
          <p:nvPr/>
        </p:nvGraphicFramePr>
        <p:xfrm>
          <a:off x="4627275" y="3866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1764175"/>
                <a:gridCol w="606875"/>
                <a:gridCol w="721750"/>
                <a:gridCol w="677825"/>
              </a:tblGrid>
              <a:tr h="289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36" name="Google Shape;1736;p90"/>
          <p:cNvGraphicFramePr>
            <a:graphicFrameLocks noGrp="1"/>
          </p:cNvGraphicFramePr>
          <p:nvPr/>
        </p:nvGraphicFramePr>
        <p:xfrm>
          <a:off x="4627275" y="1884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1764175"/>
                <a:gridCol w="606875"/>
                <a:gridCol w="721750"/>
                <a:gridCol w="677825"/>
              </a:tblGrid>
              <a:tr h="289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37" name="Google Shape;1737;p90"/>
          <p:cNvSpPr txBox="1"/>
          <p:nvPr>
            <p:ph type="body" idx="1"/>
          </p:nvPr>
        </p:nvSpPr>
        <p:spPr>
          <a:xfrm>
            <a:off x="324000" y="1397325"/>
            <a:ext cx="327300" cy="32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738" name="Google Shape;1738;p90"/>
          <p:cNvSpPr txBox="1"/>
          <p:nvPr>
            <p:ph type="body" idx="1"/>
          </p:nvPr>
        </p:nvSpPr>
        <p:spPr>
          <a:xfrm>
            <a:off x="324000" y="3228725"/>
            <a:ext cx="327300" cy="32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739" name="Google Shape;1739;p90"/>
          <p:cNvSpPr txBox="1"/>
          <p:nvPr>
            <p:ph type="body" idx="1"/>
          </p:nvPr>
        </p:nvSpPr>
        <p:spPr>
          <a:xfrm>
            <a:off x="4572000" y="1424084"/>
            <a:ext cx="315000" cy="29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740" name="Google Shape;1740;p90"/>
          <p:cNvSpPr txBox="1"/>
          <p:nvPr>
            <p:ph type="body" idx="1"/>
          </p:nvPr>
        </p:nvSpPr>
        <p:spPr>
          <a:xfrm>
            <a:off x="4572000" y="3224898"/>
            <a:ext cx="327300" cy="32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cxnSp>
        <p:nvCxnSpPr>
          <p:cNvPr id="1741" name="Google Shape;1741;p90"/>
          <p:cNvCxnSpPr/>
          <p:nvPr/>
        </p:nvCxnSpPr>
        <p:spPr>
          <a:xfrm flipH="1">
            <a:off x="4419600" y="1285500"/>
            <a:ext cx="0" cy="35355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2" name="Google Shape;1742;p90"/>
          <p:cNvSpPr txBox="1"/>
          <p:nvPr>
            <p:ph type="body" idx="1"/>
          </p:nvPr>
        </p:nvSpPr>
        <p:spPr>
          <a:xfrm>
            <a:off x="360075" y="4483800"/>
            <a:ext cx="3901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Rule: ‘term number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4 + 3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’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3" name="Google Shape;1743;p90"/>
          <p:cNvSpPr txBox="1"/>
          <p:nvPr>
            <p:ph type="body" idx="1"/>
          </p:nvPr>
        </p:nvSpPr>
        <p:spPr>
          <a:xfrm>
            <a:off x="4577625" y="2588238"/>
            <a:ext cx="3901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Rule: ‘term number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6 + 1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’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4" name="Google Shape;1744;p90"/>
          <p:cNvSpPr/>
          <p:nvPr/>
        </p:nvSpPr>
        <p:spPr>
          <a:xfrm>
            <a:off x="6410823" y="1583982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90"/>
          <p:cNvSpPr/>
          <p:nvPr/>
        </p:nvSpPr>
        <p:spPr>
          <a:xfrm>
            <a:off x="6344566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90"/>
          <p:cNvSpPr/>
          <p:nvPr/>
        </p:nvSpPr>
        <p:spPr>
          <a:xfrm>
            <a:off x="6514182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90"/>
          <p:cNvSpPr/>
          <p:nvPr/>
        </p:nvSpPr>
        <p:spPr>
          <a:xfrm>
            <a:off x="6633095" y="1583982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90"/>
          <p:cNvSpPr/>
          <p:nvPr/>
        </p:nvSpPr>
        <p:spPr>
          <a:xfrm>
            <a:off x="6705325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90"/>
          <p:cNvSpPr/>
          <p:nvPr/>
        </p:nvSpPr>
        <p:spPr>
          <a:xfrm>
            <a:off x="6789225" y="1292575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90"/>
          <p:cNvSpPr/>
          <p:nvPr/>
        </p:nvSpPr>
        <p:spPr>
          <a:xfrm>
            <a:off x="7226916" y="1583982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90"/>
          <p:cNvSpPr/>
          <p:nvPr/>
        </p:nvSpPr>
        <p:spPr>
          <a:xfrm>
            <a:off x="7160659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2" name="Google Shape;1752;p90"/>
          <p:cNvSpPr/>
          <p:nvPr/>
        </p:nvSpPr>
        <p:spPr>
          <a:xfrm>
            <a:off x="7076758" y="1292575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3" name="Google Shape;1753;p90"/>
          <p:cNvSpPr/>
          <p:nvPr/>
        </p:nvSpPr>
        <p:spPr>
          <a:xfrm>
            <a:off x="7330275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90"/>
          <p:cNvSpPr/>
          <p:nvPr/>
        </p:nvSpPr>
        <p:spPr>
          <a:xfrm>
            <a:off x="7449188" y="1583982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90"/>
          <p:cNvSpPr/>
          <p:nvPr/>
        </p:nvSpPr>
        <p:spPr>
          <a:xfrm>
            <a:off x="7521417" y="1443976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90"/>
          <p:cNvSpPr/>
          <p:nvPr/>
        </p:nvSpPr>
        <p:spPr>
          <a:xfrm>
            <a:off x="7605318" y="1292575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90"/>
          <p:cNvSpPr/>
          <p:nvPr/>
        </p:nvSpPr>
        <p:spPr>
          <a:xfrm>
            <a:off x="7755478" y="1583982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90"/>
          <p:cNvSpPr/>
          <p:nvPr/>
        </p:nvSpPr>
        <p:spPr>
          <a:xfrm>
            <a:off x="7689220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90"/>
          <p:cNvSpPr/>
          <p:nvPr/>
        </p:nvSpPr>
        <p:spPr>
          <a:xfrm>
            <a:off x="7858837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0" name="Google Shape;1760;p90"/>
          <p:cNvSpPr/>
          <p:nvPr/>
        </p:nvSpPr>
        <p:spPr>
          <a:xfrm>
            <a:off x="7977750" y="1583982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1" name="Google Shape;1761;p90"/>
          <p:cNvSpPr/>
          <p:nvPr/>
        </p:nvSpPr>
        <p:spPr>
          <a:xfrm>
            <a:off x="8049979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2" name="Google Shape;1762;p90"/>
          <p:cNvSpPr/>
          <p:nvPr/>
        </p:nvSpPr>
        <p:spPr>
          <a:xfrm>
            <a:off x="8133879" y="1292575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90"/>
          <p:cNvSpPr/>
          <p:nvPr/>
        </p:nvSpPr>
        <p:spPr>
          <a:xfrm>
            <a:off x="8137558" y="1292575"/>
            <a:ext cx="753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90"/>
          <p:cNvSpPr/>
          <p:nvPr/>
        </p:nvSpPr>
        <p:spPr>
          <a:xfrm>
            <a:off x="8287718" y="1583982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90"/>
          <p:cNvSpPr/>
          <p:nvPr/>
        </p:nvSpPr>
        <p:spPr>
          <a:xfrm>
            <a:off x="8221460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90"/>
          <p:cNvSpPr/>
          <p:nvPr/>
        </p:nvSpPr>
        <p:spPr>
          <a:xfrm>
            <a:off x="8391077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90"/>
          <p:cNvSpPr/>
          <p:nvPr/>
        </p:nvSpPr>
        <p:spPr>
          <a:xfrm>
            <a:off x="8509990" y="1583982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90"/>
          <p:cNvSpPr/>
          <p:nvPr/>
        </p:nvSpPr>
        <p:spPr>
          <a:xfrm>
            <a:off x="8582219" y="1443976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90"/>
          <p:cNvSpPr/>
          <p:nvPr/>
        </p:nvSpPr>
        <p:spPr>
          <a:xfrm>
            <a:off x="8666119" y="1292575"/>
            <a:ext cx="75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90"/>
          <p:cNvSpPr txBox="1"/>
          <p:nvPr>
            <p:ph type="body" idx="1"/>
          </p:nvPr>
        </p:nvSpPr>
        <p:spPr>
          <a:xfrm>
            <a:off x="4577625" y="4478088"/>
            <a:ext cx="3901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Rule: ‘term number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4’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4" name="Shape 1774"/>
        <p:cNvGrpSpPr/>
        <p:nvPr/>
      </p:nvGrpSpPr>
      <p:grpSpPr>
        <a:xfrm>
          <a:off x="0" y="0"/>
          <a:ext cx="0" cy="0"/>
        </a:xfrm>
      </p:grpSpPr>
      <p:sp>
        <p:nvSpPr>
          <p:cNvPr id="1775" name="Google Shape;1775;p9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2)  Four students are writing a </a:t>
            </a:r>
            <a:r>
              <a:rPr lang="en-GB" sz="1900" b="1"/>
              <a:t>position-to-term</a:t>
            </a:r>
            <a:r>
              <a:rPr lang="en-GB" sz="1900"/>
              <a:t> rule for the sequence: 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900"/>
              <a:t>9, 11, 13, …  Who is correct?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For the incorrect answers, show how you know they are incorrect. </a:t>
            </a:r>
            <a:endParaRPr sz="1900"/>
          </a:p>
        </p:txBody>
      </p:sp>
      <p:sp>
        <p:nvSpPr>
          <p:cNvPr id="1776" name="Google Shape;1776;p9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1777" name="Google Shape;1777;p91"/>
          <p:cNvSpPr txBox="1"/>
          <p:nvPr/>
        </p:nvSpPr>
        <p:spPr>
          <a:xfrm>
            <a:off x="2020120" y="3797739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8" name="Google Shape;1778;p91"/>
          <p:cNvSpPr txBox="1"/>
          <p:nvPr/>
        </p:nvSpPr>
        <p:spPr>
          <a:xfrm>
            <a:off x="126850" y="3797739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9" name="Google Shape;177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292842" y="3307276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0" name="Google Shape;1780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962" y="3274173"/>
            <a:ext cx="387923" cy="558609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Google Shape;1781;p91"/>
          <p:cNvSpPr txBox="1"/>
          <p:nvPr/>
        </p:nvSpPr>
        <p:spPr>
          <a:xfrm flipH="1">
            <a:off x="4157100" y="3829700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2" name="Google Shape;1782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195469" y="3297527"/>
            <a:ext cx="443850" cy="51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3" name="Google Shape;1783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326675" y="3189175"/>
            <a:ext cx="675955" cy="6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4" name="Google Shape;1784;p91"/>
          <p:cNvSpPr txBox="1"/>
          <p:nvPr/>
        </p:nvSpPr>
        <p:spPr>
          <a:xfrm flipH="1">
            <a:off x="6130350" y="3829700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5" name="Google Shape;1785;p91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361773" y="2160000"/>
            <a:ext cx="1949102" cy="114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6" name="Google Shape;1786;p91"/>
          <p:cNvSpPr/>
          <p:nvPr/>
        </p:nvSpPr>
        <p:spPr>
          <a:xfrm>
            <a:off x="534800" y="2183600"/>
            <a:ext cx="17382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term is the term number  multiplied by 9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7" name="Google Shape;1787;p91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2443123" y="2160000"/>
            <a:ext cx="1824077" cy="114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8" name="Google Shape;1788;p91"/>
          <p:cNvSpPr/>
          <p:nvPr/>
        </p:nvSpPr>
        <p:spPr>
          <a:xfrm>
            <a:off x="2582400" y="2249500"/>
            <a:ext cx="15993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term is the term number add 2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9" name="Google Shape;1789;p91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4336648" y="2031525"/>
            <a:ext cx="2122127" cy="14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0" name="Google Shape;1790;p91"/>
          <p:cNvSpPr/>
          <p:nvPr/>
        </p:nvSpPr>
        <p:spPr>
          <a:xfrm>
            <a:off x="4584750" y="2083800"/>
            <a:ext cx="19491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term is the term number multiplied by 2 add 7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1" name="Google Shape;1791;p91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6698848" y="2031525"/>
            <a:ext cx="2122127" cy="14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2" name="Google Shape;1792;p91"/>
          <p:cNvSpPr/>
          <p:nvPr/>
        </p:nvSpPr>
        <p:spPr>
          <a:xfrm>
            <a:off x="6870750" y="2083800"/>
            <a:ext cx="19491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term is the term number multiplied by 2 add 9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91"/>
          <p:cNvSpPr txBox="1"/>
          <p:nvPr>
            <p:ph type="body" idx="1"/>
          </p:nvPr>
        </p:nvSpPr>
        <p:spPr>
          <a:xfrm>
            <a:off x="324000" y="4276050"/>
            <a:ext cx="8413800" cy="6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Alex is correct.    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2 + 7,      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2 + 2 + 7,      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2 + 2 + 2 + 7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97" name="Shape 1797"/>
        <p:cNvGrpSpPr/>
        <p:nvPr/>
      </p:nvGrpSpPr>
      <p:grpSpPr>
        <a:xfrm>
          <a:off x="0" y="0"/>
          <a:ext cx="0" cy="0"/>
        </a:xfrm>
      </p:grpSpPr>
      <p:sp>
        <p:nvSpPr>
          <p:cNvPr id="1798" name="Google Shape;1798;p9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2)  Four students are writing a </a:t>
            </a:r>
            <a:r>
              <a:rPr lang="en-GB" sz="1900" b="1"/>
              <a:t>position-to-term</a:t>
            </a:r>
            <a:r>
              <a:rPr lang="en-GB" sz="1900"/>
              <a:t> rule for the sequence: 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900"/>
              <a:t>9, 11, 13, …  Who is correct?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For the incorrect answers, show how you know they are incorrect. </a:t>
            </a:r>
            <a:endParaRPr sz="1900"/>
          </a:p>
        </p:txBody>
      </p:sp>
      <p:sp>
        <p:nvSpPr>
          <p:cNvPr id="1799" name="Google Shape;1799;p9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1800" name="Google Shape;1800;p92"/>
          <p:cNvSpPr txBox="1"/>
          <p:nvPr/>
        </p:nvSpPr>
        <p:spPr>
          <a:xfrm>
            <a:off x="2020120" y="3797739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92"/>
          <p:cNvSpPr txBox="1"/>
          <p:nvPr/>
        </p:nvSpPr>
        <p:spPr>
          <a:xfrm>
            <a:off x="126850" y="3797739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2" name="Google Shape;180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292842" y="3307276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3" name="Google Shape;1803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962" y="3274173"/>
            <a:ext cx="387923" cy="558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4" name="Google Shape;1804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326675" y="3189175"/>
            <a:ext cx="675955" cy="6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5" name="Google Shape;1805;p92"/>
          <p:cNvSpPr txBox="1"/>
          <p:nvPr/>
        </p:nvSpPr>
        <p:spPr>
          <a:xfrm flipH="1">
            <a:off x="6130350" y="3829700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6" name="Google Shape;1806;p92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361773" y="2160000"/>
            <a:ext cx="1949102" cy="114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7" name="Google Shape;1807;p92"/>
          <p:cNvSpPr/>
          <p:nvPr/>
        </p:nvSpPr>
        <p:spPr>
          <a:xfrm>
            <a:off x="534800" y="2183600"/>
            <a:ext cx="17382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term is the term number  multiplied by 9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8" name="Google Shape;1808;p92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2443124" y="2160000"/>
            <a:ext cx="2346476" cy="97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09" name="Google Shape;1809;p92"/>
          <p:cNvSpPr/>
          <p:nvPr/>
        </p:nvSpPr>
        <p:spPr>
          <a:xfrm>
            <a:off x="2598129" y="2249500"/>
            <a:ext cx="22071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term is the term number add 2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0" name="Google Shape;1810;p92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6698848" y="2031525"/>
            <a:ext cx="2122127" cy="14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1" name="Google Shape;1811;p92"/>
          <p:cNvSpPr/>
          <p:nvPr/>
        </p:nvSpPr>
        <p:spPr>
          <a:xfrm>
            <a:off x="6870750" y="2083800"/>
            <a:ext cx="19491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term is the term number multiplied by 2 add 9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2" name="Google Shape;1812;p92"/>
          <p:cNvSpPr txBox="1"/>
          <p:nvPr>
            <p:ph type="body" idx="1"/>
          </p:nvPr>
        </p:nvSpPr>
        <p:spPr>
          <a:xfrm>
            <a:off x="324000" y="4137400"/>
            <a:ext cx="3045600" cy="6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Sam: 1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9 = 9</a:t>
            </a: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But 2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9 is not 11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3" name="Google Shape;1813;p92"/>
          <p:cNvSpPr txBox="1"/>
          <p:nvPr>
            <p:ph type="body" idx="1"/>
          </p:nvPr>
        </p:nvSpPr>
        <p:spPr>
          <a:xfrm>
            <a:off x="2992675" y="3138000"/>
            <a:ext cx="3264000" cy="6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Sofia: The term-to-term rule could be add 2. 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4" name="Google Shape;1814;p92"/>
          <p:cNvSpPr txBox="1"/>
          <p:nvPr/>
        </p:nvSpPr>
        <p:spPr>
          <a:xfrm>
            <a:off x="2912800" y="3719700"/>
            <a:ext cx="32949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But 1 + 2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≠ 9, 2 + 2 ≠ 11…</a:t>
            </a: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term number add 2 is not the correct rule.</a:t>
            </a:r>
            <a:endParaRPr/>
          </a:p>
        </p:txBody>
      </p:sp>
      <p:sp>
        <p:nvSpPr>
          <p:cNvPr id="1815" name="Google Shape;1815;p92"/>
          <p:cNvSpPr txBox="1"/>
          <p:nvPr>
            <p:ph type="body" idx="1"/>
          </p:nvPr>
        </p:nvSpPr>
        <p:spPr>
          <a:xfrm>
            <a:off x="6237100" y="4166100"/>
            <a:ext cx="2583900" cy="6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Izzy: 1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2 + 9 ≠ 9</a:t>
            </a: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 2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2 + 9 ≠ 11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19" name="Shape 1819"/>
        <p:cNvGrpSpPr/>
        <p:nvPr/>
      </p:nvGrpSpPr>
      <p:grpSpPr>
        <a:xfrm>
          <a:off x="0" y="0"/>
          <a:ext cx="0" cy="0"/>
        </a:xfrm>
      </p:grpSpPr>
      <p:sp>
        <p:nvSpPr>
          <p:cNvPr id="1820" name="Google Shape;1820;p9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position-to-term rules</a:t>
            </a:r>
            <a:endParaRPr/>
          </a:p>
        </p:txBody>
      </p:sp>
      <p:sp>
        <p:nvSpPr>
          <p:cNvPr id="1821" name="Google Shape;1821;p93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terms from position-to-term rules</a:t>
            </a:r>
            <a:endParaRPr/>
          </a:p>
        </p:txBody>
      </p:sp>
      <p:sp>
        <p:nvSpPr>
          <p:cNvPr id="1822" name="Google Shape;1822;p93"/>
          <p:cNvSpPr txBox="1"/>
          <p:nvPr>
            <p:ph type="title" idx="3"/>
          </p:nvPr>
        </p:nvSpPr>
        <p:spPr>
          <a:xfrm>
            <a:off x="324000" y="657600"/>
            <a:ext cx="61722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a sequence using a position to term rule</a:t>
            </a:r>
            <a:endParaRPr/>
          </a:p>
        </p:txBody>
      </p:sp>
      <p:pic>
        <p:nvPicPr>
          <p:cNvPr id="1823" name="Google Shape;182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54" y="299795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27" name="Shape 1827"/>
        <p:cNvGrpSpPr/>
        <p:nvPr/>
      </p:nvGrpSpPr>
      <p:grpSpPr>
        <a:xfrm>
          <a:off x="0" y="0"/>
          <a:ext cx="0" cy="0"/>
        </a:xfrm>
      </p:grpSpPr>
      <p:sp>
        <p:nvSpPr>
          <p:cNvPr id="1828" name="Google Shape;1828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terms from position-to-term rules</a:t>
            </a:r>
            <a:endParaRPr/>
          </a:p>
        </p:txBody>
      </p:sp>
      <p:sp>
        <p:nvSpPr>
          <p:cNvPr id="1829" name="Google Shape;1829;p94"/>
          <p:cNvSpPr txBox="1"/>
          <p:nvPr>
            <p:ph type="body" idx="1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If we know the </a:t>
            </a:r>
            <a:r>
              <a:rPr lang="en-GB" sz="2000" b="1"/>
              <a:t>position-to-term</a:t>
            </a:r>
            <a:r>
              <a:rPr lang="en-GB" sz="2000"/>
              <a:t> rule, we can generate any term in the sequence.</a:t>
            </a:r>
            <a:endParaRPr sz="2000"/>
          </a:p>
        </p:txBody>
      </p:sp>
      <p:pic>
        <p:nvPicPr>
          <p:cNvPr id="1830" name="Google Shape;183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540" y="2233474"/>
            <a:ext cx="465917" cy="879758"/>
          </a:xfrm>
          <a:prstGeom prst="rect">
            <a:avLst/>
          </a:prstGeom>
          <a:noFill/>
          <a:ln>
            <a:noFill/>
          </a:ln>
        </p:spPr>
      </p:pic>
      <p:sp>
        <p:nvSpPr>
          <p:cNvPr id="1831" name="Google Shape;1831;p94"/>
          <p:cNvSpPr txBox="1"/>
          <p:nvPr/>
        </p:nvSpPr>
        <p:spPr>
          <a:xfrm>
            <a:off x="370950" y="3113223"/>
            <a:ext cx="10311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2" name="Google Shape;1832;p94"/>
          <p:cNvPicPr preferRelativeResize="0"/>
          <p:nvPr/>
        </p:nvPicPr>
        <p:blipFill>
          <a:blip r:embed="rId4">
            <a:alphaModFix/>
          </a:blip>
          <a:srcRect l="40550" t="13240" b="6172"/>
          <a:stretch>
            <a:fillRect/>
          </a:stretch>
        </p:blipFill>
        <p:spPr>
          <a:xfrm>
            <a:off x="1160525" y="1415063"/>
            <a:ext cx="3663473" cy="1812174"/>
          </a:xfrm>
          <a:prstGeom prst="rect">
            <a:avLst/>
          </a:prstGeom>
          <a:noFill/>
          <a:ln>
            <a:noFill/>
          </a:ln>
        </p:spPr>
      </p:pic>
      <p:sp>
        <p:nvSpPr>
          <p:cNvPr id="1833" name="Google Shape;1833;p94"/>
          <p:cNvSpPr txBox="1"/>
          <p:nvPr/>
        </p:nvSpPr>
        <p:spPr>
          <a:xfrm>
            <a:off x="1514350" y="1570775"/>
            <a:ext cx="3210000" cy="12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position-to-term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rule for my sequence is: ‘multiply the term number by 5 then subtract 2’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4" name="Google Shape;183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33400" y="2499951"/>
            <a:ext cx="726549" cy="7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5" name="Google Shape;1835;p94"/>
          <p:cNvSpPr txBox="1"/>
          <p:nvPr/>
        </p:nvSpPr>
        <p:spPr>
          <a:xfrm>
            <a:off x="7537075" y="3189437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6" name="Google Shape;1836;p94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5268050" y="1803150"/>
            <a:ext cx="2769126" cy="105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7" name="Google Shape;1837;p94"/>
          <p:cNvSpPr/>
          <p:nvPr/>
        </p:nvSpPr>
        <p:spPr>
          <a:xfrm flipH="1">
            <a:off x="5334025" y="1918538"/>
            <a:ext cx="24873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do I know what number to start on?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94"/>
          <p:cNvSpPr txBox="1"/>
          <p:nvPr>
            <p:ph type="body" idx="1"/>
          </p:nvPr>
        </p:nvSpPr>
        <p:spPr>
          <a:xfrm>
            <a:off x="324000" y="3724000"/>
            <a:ext cx="8496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Izzy wants to work out the first term in Aisha’s sequence then the term number is 1.</a:t>
            </a:r>
            <a:endParaRPr sz="1800"/>
          </a:p>
        </p:txBody>
      </p:sp>
      <p:sp>
        <p:nvSpPr>
          <p:cNvPr id="1839" name="Google Shape;1839;p94"/>
          <p:cNvSpPr txBox="1"/>
          <p:nvPr>
            <p:ph type="body" idx="1"/>
          </p:nvPr>
        </p:nvSpPr>
        <p:spPr>
          <a:xfrm>
            <a:off x="3833446" y="4029013"/>
            <a:ext cx="1743900" cy="29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 </a:t>
            </a:r>
            <a:r>
              <a:rPr lang="en-GB" sz="1900">
                <a:solidFill>
                  <a:srgbClr val="222222"/>
                </a:solidFill>
              </a:rPr>
              <a:t>×</a:t>
            </a:r>
            <a:r>
              <a:rPr lang="en-GB" sz="1800"/>
              <a:t> 5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1800"/>
              <a:t> 2 = 3 </a:t>
            </a:r>
            <a:endParaRPr sz="1800"/>
          </a:p>
        </p:txBody>
      </p:sp>
      <p:sp>
        <p:nvSpPr>
          <p:cNvPr id="1840" name="Google Shape;1840;p94"/>
          <p:cNvSpPr txBox="1"/>
          <p:nvPr>
            <p:ph type="body" idx="1"/>
          </p:nvPr>
        </p:nvSpPr>
        <p:spPr>
          <a:xfrm>
            <a:off x="324000" y="4470600"/>
            <a:ext cx="8496000" cy="34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Aisha’s sequence starts on the number 3</a:t>
            </a:r>
            <a:endParaRPr sz="1800"/>
          </a:p>
        </p:txBody>
      </p:sp>
      <p:sp>
        <p:nvSpPr>
          <p:cNvPr id="1841" name="Google Shape;1841;p94"/>
          <p:cNvSpPr/>
          <p:nvPr/>
        </p:nvSpPr>
        <p:spPr>
          <a:xfrm>
            <a:off x="3795425" y="4029025"/>
            <a:ext cx="183000" cy="294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45" name="Shape 1845"/>
        <p:cNvGrpSpPr/>
        <p:nvPr/>
      </p:nvGrpSpPr>
      <p:grpSpPr>
        <a:xfrm>
          <a:off x="0" y="0"/>
          <a:ext cx="0" cy="0"/>
        </a:xfrm>
      </p:grpSpPr>
      <p:sp>
        <p:nvSpPr>
          <p:cNvPr id="1846" name="Google Shape;1846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terms from position-to-term rules</a:t>
            </a:r>
            <a:endParaRPr/>
          </a:p>
        </p:txBody>
      </p:sp>
      <p:pic>
        <p:nvPicPr>
          <p:cNvPr id="1847" name="Google Shape;184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540" y="1547674"/>
            <a:ext cx="465917" cy="879758"/>
          </a:xfrm>
          <a:prstGeom prst="rect">
            <a:avLst/>
          </a:prstGeom>
          <a:noFill/>
          <a:ln>
            <a:noFill/>
          </a:ln>
        </p:spPr>
      </p:pic>
      <p:sp>
        <p:nvSpPr>
          <p:cNvPr id="1848" name="Google Shape;1848;p95"/>
          <p:cNvSpPr txBox="1"/>
          <p:nvPr/>
        </p:nvSpPr>
        <p:spPr>
          <a:xfrm>
            <a:off x="370950" y="2427423"/>
            <a:ext cx="10311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9" name="Google Shape;1849;p95"/>
          <p:cNvPicPr preferRelativeResize="0"/>
          <p:nvPr/>
        </p:nvPicPr>
        <p:blipFill>
          <a:blip r:embed="rId4">
            <a:alphaModFix/>
          </a:blip>
          <a:srcRect l="40550" t="13240" b="6172"/>
          <a:stretch>
            <a:fillRect/>
          </a:stretch>
        </p:blipFill>
        <p:spPr>
          <a:xfrm>
            <a:off x="1160525" y="729263"/>
            <a:ext cx="3663473" cy="1812174"/>
          </a:xfrm>
          <a:prstGeom prst="rect">
            <a:avLst/>
          </a:prstGeom>
          <a:noFill/>
          <a:ln>
            <a:noFill/>
          </a:ln>
        </p:spPr>
      </p:pic>
      <p:sp>
        <p:nvSpPr>
          <p:cNvPr id="1850" name="Google Shape;1850;p95"/>
          <p:cNvSpPr txBox="1"/>
          <p:nvPr/>
        </p:nvSpPr>
        <p:spPr>
          <a:xfrm>
            <a:off x="1514350" y="884975"/>
            <a:ext cx="3210000" cy="12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position-to-term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rule for my sequence is: ‘multiply the term number by 5 then subtract 2’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1" name="Google Shape;1851;p95"/>
          <p:cNvSpPr txBox="1"/>
          <p:nvPr>
            <p:ph type="body" idx="1"/>
          </p:nvPr>
        </p:nvSpPr>
        <p:spPr>
          <a:xfrm>
            <a:off x="5018950" y="810000"/>
            <a:ext cx="3801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could Izzy work out the second number in this sequence?</a:t>
            </a:r>
            <a:endParaRPr sz="1800"/>
          </a:p>
        </p:txBody>
      </p:sp>
      <p:sp>
        <p:nvSpPr>
          <p:cNvPr id="1852" name="Google Shape;1852;p95"/>
          <p:cNvSpPr txBox="1"/>
          <p:nvPr>
            <p:ph type="body" idx="1"/>
          </p:nvPr>
        </p:nvSpPr>
        <p:spPr>
          <a:xfrm>
            <a:off x="5018946" y="1619988"/>
            <a:ext cx="1743900" cy="29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5 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2 = 8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3" name="Google Shape;1853;p95"/>
          <p:cNvSpPr txBox="1"/>
          <p:nvPr>
            <p:ph type="body" idx="1"/>
          </p:nvPr>
        </p:nvSpPr>
        <p:spPr>
          <a:xfrm>
            <a:off x="5018950" y="2159925"/>
            <a:ext cx="3996000" cy="34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Aisha’s sequence starts 3, 8, …</a:t>
            </a:r>
            <a:endParaRPr sz="1800"/>
          </a:p>
        </p:txBody>
      </p:sp>
      <p:sp>
        <p:nvSpPr>
          <p:cNvPr id="1854" name="Google Shape;1854;p95"/>
          <p:cNvSpPr txBox="1"/>
          <p:nvPr>
            <p:ph type="body" idx="1"/>
          </p:nvPr>
        </p:nvSpPr>
        <p:spPr>
          <a:xfrm>
            <a:off x="324000" y="2910063"/>
            <a:ext cx="6981000" cy="38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are the next 3 terms in her sequence?</a:t>
            </a:r>
            <a:endParaRPr sz="1800"/>
          </a:p>
        </p:txBody>
      </p:sp>
      <p:sp>
        <p:nvSpPr>
          <p:cNvPr id="1855" name="Google Shape;1855;p95"/>
          <p:cNvSpPr txBox="1"/>
          <p:nvPr>
            <p:ph type="body" idx="1"/>
          </p:nvPr>
        </p:nvSpPr>
        <p:spPr>
          <a:xfrm>
            <a:off x="324000" y="3297375"/>
            <a:ext cx="8496000" cy="70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might not know how this sequence grows, however we can use the term number to generate T</a:t>
            </a:r>
            <a:r>
              <a:rPr lang="en-GB" sz="1800" baseline="-25000"/>
              <a:t>3</a:t>
            </a:r>
            <a:r>
              <a:rPr lang="en-GB" sz="1800"/>
              <a:t>, T</a:t>
            </a:r>
            <a:r>
              <a:rPr lang="en-GB" sz="1800" baseline="-25000"/>
              <a:t>4</a:t>
            </a:r>
            <a:r>
              <a:rPr lang="en-GB" sz="1800"/>
              <a:t>, and T</a:t>
            </a:r>
            <a:r>
              <a:rPr lang="en-GB" sz="1800" baseline="-25000"/>
              <a:t>5</a:t>
            </a:r>
            <a:r>
              <a:rPr lang="en-GB" sz="1800"/>
              <a:t> and find out.</a:t>
            </a:r>
            <a:endParaRPr sz="1800"/>
          </a:p>
        </p:txBody>
      </p:sp>
      <p:sp>
        <p:nvSpPr>
          <p:cNvPr id="1856" name="Google Shape;1856;p95"/>
          <p:cNvSpPr txBox="1"/>
          <p:nvPr>
            <p:ph type="body" idx="1"/>
          </p:nvPr>
        </p:nvSpPr>
        <p:spPr>
          <a:xfrm>
            <a:off x="323996" y="4056163"/>
            <a:ext cx="1743900" cy="29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5 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2 = 13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7" name="Google Shape;1857;p95"/>
          <p:cNvSpPr txBox="1"/>
          <p:nvPr>
            <p:ph type="body" idx="1"/>
          </p:nvPr>
        </p:nvSpPr>
        <p:spPr>
          <a:xfrm>
            <a:off x="2887196" y="4056163"/>
            <a:ext cx="1743900" cy="29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 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5 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2 = 18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8" name="Google Shape;1858;p95"/>
          <p:cNvSpPr txBox="1"/>
          <p:nvPr>
            <p:ph type="body" idx="1"/>
          </p:nvPr>
        </p:nvSpPr>
        <p:spPr>
          <a:xfrm>
            <a:off x="5076476" y="4056175"/>
            <a:ext cx="2016000" cy="29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 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5 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2 = 23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9" name="Google Shape;1859;p95"/>
          <p:cNvSpPr txBox="1"/>
          <p:nvPr>
            <p:ph type="body" idx="1"/>
          </p:nvPr>
        </p:nvSpPr>
        <p:spPr>
          <a:xfrm>
            <a:off x="324000" y="4470600"/>
            <a:ext cx="7655100" cy="34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first 5 terms in Aisha’s sequence are  3, 8, 13, 18, 23 …</a:t>
            </a:r>
            <a:endParaRPr sz="1800"/>
          </a:p>
        </p:txBody>
      </p:sp>
      <p:sp>
        <p:nvSpPr>
          <p:cNvPr id="1860" name="Google Shape;1860;p95"/>
          <p:cNvSpPr/>
          <p:nvPr/>
        </p:nvSpPr>
        <p:spPr>
          <a:xfrm>
            <a:off x="4960325" y="1604600"/>
            <a:ext cx="256500" cy="387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64" name="Shape 1864"/>
        <p:cNvGrpSpPr/>
        <p:nvPr/>
      </p:nvGrpSpPr>
      <p:grpSpPr>
        <a:xfrm>
          <a:off x="0" y="0"/>
          <a:ext cx="0" cy="0"/>
        </a:xfrm>
      </p:grpSpPr>
      <p:sp>
        <p:nvSpPr>
          <p:cNvPr id="1865" name="Google Shape;1865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terms from position-to-term rules</a:t>
            </a:r>
            <a:endParaRPr/>
          </a:p>
        </p:txBody>
      </p:sp>
      <p:pic>
        <p:nvPicPr>
          <p:cNvPr id="1866" name="Google Shape;186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540" y="1547674"/>
            <a:ext cx="465917" cy="879758"/>
          </a:xfrm>
          <a:prstGeom prst="rect">
            <a:avLst/>
          </a:prstGeom>
          <a:noFill/>
          <a:ln>
            <a:noFill/>
          </a:ln>
        </p:spPr>
      </p:pic>
      <p:sp>
        <p:nvSpPr>
          <p:cNvPr id="1867" name="Google Shape;1867;p96"/>
          <p:cNvSpPr txBox="1"/>
          <p:nvPr/>
        </p:nvSpPr>
        <p:spPr>
          <a:xfrm>
            <a:off x="370950" y="2427423"/>
            <a:ext cx="10311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8" name="Google Shape;1868;p96"/>
          <p:cNvPicPr preferRelativeResize="0"/>
          <p:nvPr/>
        </p:nvPicPr>
        <p:blipFill>
          <a:blip r:embed="rId4">
            <a:alphaModFix/>
          </a:blip>
          <a:srcRect l="40550" t="13240" b="6172"/>
          <a:stretch>
            <a:fillRect/>
          </a:stretch>
        </p:blipFill>
        <p:spPr>
          <a:xfrm>
            <a:off x="1160525" y="729263"/>
            <a:ext cx="3663473" cy="1812174"/>
          </a:xfrm>
          <a:prstGeom prst="rect">
            <a:avLst/>
          </a:prstGeom>
          <a:noFill/>
          <a:ln>
            <a:noFill/>
          </a:ln>
        </p:spPr>
      </p:pic>
      <p:sp>
        <p:nvSpPr>
          <p:cNvPr id="1869" name="Google Shape;1869;p96"/>
          <p:cNvSpPr txBox="1"/>
          <p:nvPr/>
        </p:nvSpPr>
        <p:spPr>
          <a:xfrm>
            <a:off x="1514350" y="884975"/>
            <a:ext cx="3210000" cy="12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position-to-term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rule for my sequence is: ‘multiply the term number by 5 then subtract 2’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0" name="Google Shape;1870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0625" y="1592151"/>
            <a:ext cx="726549" cy="7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1" name="Google Shape;1871;p96"/>
          <p:cNvSpPr txBox="1"/>
          <p:nvPr/>
        </p:nvSpPr>
        <p:spPr>
          <a:xfrm>
            <a:off x="7654300" y="2281637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2" name="Google Shape;1872;p96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5070225" y="865025"/>
            <a:ext cx="3084175" cy="1089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73" name="Google Shape;1873;p96"/>
          <p:cNvSpPr/>
          <p:nvPr/>
        </p:nvSpPr>
        <p:spPr>
          <a:xfrm flipH="1">
            <a:off x="5159850" y="865025"/>
            <a:ext cx="2745900" cy="7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I want to work out the 10</a:t>
            </a:r>
            <a:r>
              <a:rPr lang="en-GB" sz="1800" baseline="30000"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term this might take me a while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4" name="Google Shape;1874;p96"/>
          <p:cNvSpPr txBox="1"/>
          <p:nvPr>
            <p:ph type="body" idx="1"/>
          </p:nvPr>
        </p:nvSpPr>
        <p:spPr>
          <a:xfrm>
            <a:off x="324000" y="3046350"/>
            <a:ext cx="6981000" cy="38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Is there a quick way Izzy could work out the 10</a:t>
            </a:r>
            <a:r>
              <a:rPr lang="en-GB" sz="1800" baseline="30000"/>
              <a:t>th</a:t>
            </a:r>
            <a:r>
              <a:rPr lang="en-GB" sz="1800"/>
              <a:t> term?</a:t>
            </a:r>
            <a:endParaRPr sz="1800"/>
          </a:p>
        </p:txBody>
      </p:sp>
      <p:sp>
        <p:nvSpPr>
          <p:cNvPr id="1875" name="Google Shape;1875;p96"/>
          <p:cNvSpPr txBox="1"/>
          <p:nvPr>
            <p:ph type="body" idx="1"/>
          </p:nvPr>
        </p:nvSpPr>
        <p:spPr>
          <a:xfrm>
            <a:off x="324001" y="3614575"/>
            <a:ext cx="2299200" cy="29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 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5 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2 = 48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6" name="Google Shape;1876;p96"/>
          <p:cNvSpPr txBox="1"/>
          <p:nvPr>
            <p:ph type="body" idx="1"/>
          </p:nvPr>
        </p:nvSpPr>
        <p:spPr>
          <a:xfrm>
            <a:off x="324000" y="4216025"/>
            <a:ext cx="8496000" cy="38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1800" b="1"/>
              <a:t>position-to-term</a:t>
            </a:r>
            <a:r>
              <a:rPr lang="en-GB" sz="1800"/>
              <a:t> rule gives a quick way to calculate any term in a sequence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80" name="Shape 1880"/>
        <p:cNvGrpSpPr/>
        <p:nvPr/>
      </p:nvGrpSpPr>
      <p:grpSpPr>
        <a:xfrm>
          <a:off x="0" y="0"/>
          <a:ext cx="0" cy="0"/>
        </a:xfrm>
      </p:grpSpPr>
      <p:sp>
        <p:nvSpPr>
          <p:cNvPr id="1881" name="Google Shape;1881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terms from position-to-term rules</a:t>
            </a:r>
            <a:endParaRPr/>
          </a:p>
        </p:txBody>
      </p:sp>
      <p:pic>
        <p:nvPicPr>
          <p:cNvPr id="1882" name="Google Shape;188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00000" y="2347126"/>
            <a:ext cx="726549" cy="7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3" name="Google Shape;1883;p97"/>
          <p:cNvSpPr txBox="1"/>
          <p:nvPr/>
        </p:nvSpPr>
        <p:spPr>
          <a:xfrm flipH="1">
            <a:off x="454275" y="3036612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4" name="Google Shape;1884;p97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1154650" y="1485475"/>
            <a:ext cx="3204874" cy="1496574"/>
          </a:xfrm>
          <a:prstGeom prst="rect">
            <a:avLst/>
          </a:prstGeom>
          <a:noFill/>
          <a:ln>
            <a:noFill/>
          </a:ln>
        </p:spPr>
      </p:pic>
      <p:sp>
        <p:nvSpPr>
          <p:cNvPr id="1885" name="Google Shape;1885;p97"/>
          <p:cNvSpPr/>
          <p:nvPr/>
        </p:nvSpPr>
        <p:spPr>
          <a:xfrm>
            <a:off x="1384800" y="1548825"/>
            <a:ext cx="2861100" cy="11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about if I cube the term number and add 1, what will that sequence look like?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97"/>
          <p:cNvSpPr txBox="1"/>
          <p:nvPr>
            <p:ph type="body" idx="1"/>
          </p:nvPr>
        </p:nvSpPr>
        <p:spPr>
          <a:xfrm>
            <a:off x="4572000" y="1548825"/>
            <a:ext cx="4248000" cy="8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Start by working out the first few terms. </a:t>
            </a:r>
            <a:endParaRPr sz="1800"/>
          </a:p>
        </p:txBody>
      </p:sp>
      <p:sp>
        <p:nvSpPr>
          <p:cNvPr id="1887" name="Google Shape;1887;p97"/>
          <p:cNvSpPr txBox="1"/>
          <p:nvPr>
            <p:ph type="body" idx="1"/>
          </p:nvPr>
        </p:nvSpPr>
        <p:spPr>
          <a:xfrm>
            <a:off x="4572001" y="2277150"/>
            <a:ext cx="2299200" cy="29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+ 1 = 2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8" name="Google Shape;1888;p97"/>
          <p:cNvSpPr txBox="1"/>
          <p:nvPr>
            <p:ph type="body" idx="1"/>
          </p:nvPr>
        </p:nvSpPr>
        <p:spPr>
          <a:xfrm>
            <a:off x="324000" y="779700"/>
            <a:ext cx="8496000" cy="38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1800" b="1"/>
              <a:t>position-to-term</a:t>
            </a:r>
            <a:r>
              <a:rPr lang="en-GB" sz="1800"/>
              <a:t> rule helps us investigate types of sequences we may not be as familiar with. </a:t>
            </a:r>
            <a:endParaRPr sz="1800"/>
          </a:p>
        </p:txBody>
      </p:sp>
      <p:sp>
        <p:nvSpPr>
          <p:cNvPr id="1889" name="Google Shape;1889;p97"/>
          <p:cNvSpPr txBox="1"/>
          <p:nvPr>
            <p:ph type="body" idx="1"/>
          </p:nvPr>
        </p:nvSpPr>
        <p:spPr>
          <a:xfrm>
            <a:off x="4572001" y="2699925"/>
            <a:ext cx="2299200" cy="29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+ 1 = 9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0" name="Google Shape;1890;p97"/>
          <p:cNvSpPr txBox="1"/>
          <p:nvPr>
            <p:ph type="body" idx="1"/>
          </p:nvPr>
        </p:nvSpPr>
        <p:spPr>
          <a:xfrm>
            <a:off x="4572001" y="3097050"/>
            <a:ext cx="2299200" cy="29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+ 1 = 28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1" name="Google Shape;1891;p97"/>
          <p:cNvSpPr txBox="1"/>
          <p:nvPr>
            <p:ph type="body" idx="1"/>
          </p:nvPr>
        </p:nvSpPr>
        <p:spPr>
          <a:xfrm>
            <a:off x="6256801" y="2480875"/>
            <a:ext cx="2299200" cy="29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+ 1 = 65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2" name="Google Shape;1892;p97"/>
          <p:cNvSpPr txBox="1"/>
          <p:nvPr>
            <p:ph type="body" idx="1"/>
          </p:nvPr>
        </p:nvSpPr>
        <p:spPr>
          <a:xfrm>
            <a:off x="6256801" y="2875025"/>
            <a:ext cx="2299200" cy="29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+ 1 = 126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3" name="Google Shape;1893;p97"/>
          <p:cNvSpPr txBox="1"/>
          <p:nvPr>
            <p:ph type="body" idx="1"/>
          </p:nvPr>
        </p:nvSpPr>
        <p:spPr>
          <a:xfrm>
            <a:off x="324000" y="3716125"/>
            <a:ext cx="8496000" cy="35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This sequence starts 2, 9, 28, 65, 126, … </a:t>
            </a:r>
            <a:endParaRPr sz="1800"/>
          </a:p>
        </p:txBody>
      </p:sp>
      <p:sp>
        <p:nvSpPr>
          <p:cNvPr id="1894" name="Google Shape;1894;p97"/>
          <p:cNvSpPr txBox="1"/>
          <p:nvPr>
            <p:ph type="body" idx="1"/>
          </p:nvPr>
        </p:nvSpPr>
        <p:spPr>
          <a:xfrm>
            <a:off x="324000" y="4144800"/>
            <a:ext cx="8496000" cy="35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would the 10</a:t>
            </a:r>
            <a:r>
              <a:rPr lang="en-GB" sz="1800" baseline="30000"/>
              <a:t>th</a:t>
            </a:r>
            <a:r>
              <a:rPr lang="en-GB" sz="1800"/>
              <a:t> term be? </a:t>
            </a:r>
            <a:endParaRPr sz="1800"/>
          </a:p>
        </p:txBody>
      </p:sp>
      <p:sp>
        <p:nvSpPr>
          <p:cNvPr id="1895" name="Google Shape;1895;p97"/>
          <p:cNvSpPr txBox="1"/>
          <p:nvPr>
            <p:ph type="body" idx="1"/>
          </p:nvPr>
        </p:nvSpPr>
        <p:spPr>
          <a:xfrm>
            <a:off x="324001" y="4525800"/>
            <a:ext cx="2299200" cy="29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+ 1 = 1001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99" name="Shape 1899"/>
        <p:cNvGrpSpPr/>
        <p:nvPr/>
      </p:nvGrpSpPr>
      <p:grpSpPr>
        <a:xfrm>
          <a:off x="0" y="0"/>
          <a:ext cx="0" cy="0"/>
        </a:xfrm>
      </p:grpSpPr>
      <p:sp>
        <p:nvSpPr>
          <p:cNvPr id="1900" name="Google Shape;1900;p98"/>
          <p:cNvSpPr txBox="1"/>
          <p:nvPr>
            <p:ph type="body" idx="1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Match up the </a:t>
            </a:r>
            <a:r>
              <a:rPr lang="en-GB" sz="2000" b="1"/>
              <a:t>position-to-term</a:t>
            </a:r>
            <a:r>
              <a:rPr lang="en-GB" sz="2000"/>
              <a:t> rule with the 10</a:t>
            </a:r>
            <a:r>
              <a:rPr lang="en-GB" sz="2000" baseline="30000"/>
              <a:t>th</a:t>
            </a:r>
            <a:r>
              <a:rPr lang="en-GB" sz="2000"/>
              <a:t> term. </a:t>
            </a:r>
            <a:endParaRPr sz="2000"/>
          </a:p>
        </p:txBody>
      </p:sp>
      <p:sp>
        <p:nvSpPr>
          <p:cNvPr id="1901" name="Google Shape;1901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terms from position-to-term rules</a:t>
            </a:r>
            <a:endParaRPr/>
          </a:p>
        </p:txBody>
      </p:sp>
      <p:sp>
        <p:nvSpPr>
          <p:cNvPr id="1902" name="Google Shape;1902;p98"/>
          <p:cNvSpPr txBox="1"/>
          <p:nvPr>
            <p:ph type="body" idx="1"/>
          </p:nvPr>
        </p:nvSpPr>
        <p:spPr>
          <a:xfrm>
            <a:off x="324000" y="1330500"/>
            <a:ext cx="4951500" cy="6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Multiply the term number by 4 then add 6 to get the term.</a:t>
            </a:r>
            <a:endParaRPr sz="1800"/>
          </a:p>
        </p:txBody>
      </p:sp>
      <p:sp>
        <p:nvSpPr>
          <p:cNvPr id="1903" name="Google Shape;1903;p98"/>
          <p:cNvSpPr txBox="1"/>
          <p:nvPr>
            <p:ph type="body" idx="1"/>
          </p:nvPr>
        </p:nvSpPr>
        <p:spPr>
          <a:xfrm>
            <a:off x="324000" y="2432523"/>
            <a:ext cx="4951500" cy="6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Multiply the term number by 8 then subtract 12 to get the term.</a:t>
            </a:r>
            <a:endParaRPr sz="1800"/>
          </a:p>
        </p:txBody>
      </p:sp>
      <p:sp>
        <p:nvSpPr>
          <p:cNvPr id="1904" name="Google Shape;1904;p98"/>
          <p:cNvSpPr txBox="1"/>
          <p:nvPr>
            <p:ph type="body" idx="1"/>
          </p:nvPr>
        </p:nvSpPr>
        <p:spPr>
          <a:xfrm>
            <a:off x="324000" y="3534546"/>
            <a:ext cx="4951500" cy="4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Square the term number then add 3 to get the term. </a:t>
            </a:r>
            <a:endParaRPr sz="1800"/>
          </a:p>
        </p:txBody>
      </p:sp>
      <p:sp>
        <p:nvSpPr>
          <p:cNvPr id="1905" name="Google Shape;1905;p98"/>
          <p:cNvSpPr txBox="1"/>
          <p:nvPr>
            <p:ph type="body" idx="1"/>
          </p:nvPr>
        </p:nvSpPr>
        <p:spPr>
          <a:xfrm>
            <a:off x="324000" y="4393269"/>
            <a:ext cx="4951500" cy="4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Add 100 to the term number to get the term  </a:t>
            </a:r>
            <a:endParaRPr sz="1800"/>
          </a:p>
        </p:txBody>
      </p:sp>
      <p:sp>
        <p:nvSpPr>
          <p:cNvPr id="1906" name="Google Shape;1906;p98"/>
          <p:cNvSpPr txBox="1"/>
          <p:nvPr>
            <p:ph type="body" idx="1"/>
          </p:nvPr>
        </p:nvSpPr>
        <p:spPr>
          <a:xfrm>
            <a:off x="6925800" y="4393269"/>
            <a:ext cx="951300" cy="4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10</a:t>
            </a:r>
            <a:r>
              <a:rPr lang="en-GB" sz="1800"/>
              <a:t>= 46</a:t>
            </a:r>
            <a:endParaRPr sz="1800"/>
          </a:p>
        </p:txBody>
      </p:sp>
      <p:sp>
        <p:nvSpPr>
          <p:cNvPr id="1907" name="Google Shape;1907;p98"/>
          <p:cNvSpPr txBox="1"/>
          <p:nvPr>
            <p:ph type="body" idx="1"/>
          </p:nvPr>
        </p:nvSpPr>
        <p:spPr>
          <a:xfrm>
            <a:off x="6925800" y="3372346"/>
            <a:ext cx="951300" cy="4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10</a:t>
            </a:r>
            <a:r>
              <a:rPr lang="en-GB" sz="1800"/>
              <a:t>= 68</a:t>
            </a:r>
            <a:endParaRPr sz="1800"/>
          </a:p>
        </p:txBody>
      </p:sp>
      <p:sp>
        <p:nvSpPr>
          <p:cNvPr id="1908" name="Google Shape;1908;p98"/>
          <p:cNvSpPr txBox="1"/>
          <p:nvPr>
            <p:ph type="body" idx="1"/>
          </p:nvPr>
        </p:nvSpPr>
        <p:spPr>
          <a:xfrm>
            <a:off x="6925800" y="2351423"/>
            <a:ext cx="951300" cy="4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10</a:t>
            </a:r>
            <a:r>
              <a:rPr lang="en-GB" sz="1800"/>
              <a:t>= 103</a:t>
            </a:r>
            <a:endParaRPr sz="1800"/>
          </a:p>
        </p:txBody>
      </p:sp>
      <p:sp>
        <p:nvSpPr>
          <p:cNvPr id="1909" name="Google Shape;1909;p98"/>
          <p:cNvSpPr txBox="1"/>
          <p:nvPr>
            <p:ph type="body" idx="1"/>
          </p:nvPr>
        </p:nvSpPr>
        <p:spPr>
          <a:xfrm>
            <a:off x="6925800" y="1330500"/>
            <a:ext cx="951300" cy="4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 baseline="-25000"/>
              <a:t>10</a:t>
            </a:r>
            <a:r>
              <a:rPr lang="en-GB" sz="1800"/>
              <a:t>= 110</a:t>
            </a:r>
            <a:endParaRPr sz="1800"/>
          </a:p>
        </p:txBody>
      </p:sp>
      <p:cxnSp>
        <p:nvCxnSpPr>
          <p:cNvPr id="1910" name="Google Shape;1910;p98"/>
          <p:cNvCxnSpPr/>
          <p:nvPr/>
        </p:nvCxnSpPr>
        <p:spPr>
          <a:xfrm>
            <a:off x="5399950" y="1509350"/>
            <a:ext cx="1340700" cy="30846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1" name="Google Shape;1911;p98"/>
          <p:cNvCxnSpPr/>
          <p:nvPr/>
        </p:nvCxnSpPr>
        <p:spPr>
          <a:xfrm>
            <a:off x="5341325" y="2608375"/>
            <a:ext cx="1429800" cy="9261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2" name="Google Shape;1912;p98"/>
          <p:cNvCxnSpPr/>
          <p:nvPr/>
        </p:nvCxnSpPr>
        <p:spPr>
          <a:xfrm rot="10800000" flipH="1">
            <a:off x="5420850" y="2571900"/>
            <a:ext cx="1349100" cy="10155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3" name="Google Shape;1913;p98"/>
          <p:cNvCxnSpPr/>
          <p:nvPr/>
        </p:nvCxnSpPr>
        <p:spPr>
          <a:xfrm rot="10800000" flipH="1">
            <a:off x="5426100" y="1509450"/>
            <a:ext cx="1380600" cy="29997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17" name="Shape 1917"/>
        <p:cNvGrpSpPr/>
        <p:nvPr/>
      </p:nvGrpSpPr>
      <p:grpSpPr>
        <a:xfrm>
          <a:off x="0" y="0"/>
          <a:ext cx="0" cy="0"/>
        </a:xfrm>
      </p:grpSpPr>
      <p:sp>
        <p:nvSpPr>
          <p:cNvPr id="1918" name="Google Shape;1918;p99"/>
          <p:cNvSpPr txBox="1"/>
          <p:nvPr>
            <p:ph type="body" idx="1"/>
          </p:nvPr>
        </p:nvSpPr>
        <p:spPr>
          <a:xfrm>
            <a:off x="324000" y="700925"/>
            <a:ext cx="8237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Working out the </a:t>
            </a:r>
            <a:r>
              <a:rPr lang="en-GB" sz="1800" b="1"/>
              <a:t>position-to-term</a:t>
            </a:r>
            <a:r>
              <a:rPr lang="en-GB" sz="1800"/>
              <a:t> rule first can help us find larger term numbers in some types of sequences. </a:t>
            </a:r>
            <a:endParaRPr sz="1800"/>
          </a:p>
        </p:txBody>
      </p:sp>
      <p:sp>
        <p:nvSpPr>
          <p:cNvPr id="1919" name="Google Shape;1919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terms from position-to-term rules</a:t>
            </a:r>
            <a:endParaRPr/>
          </a:p>
        </p:txBody>
      </p:sp>
      <p:sp>
        <p:nvSpPr>
          <p:cNvPr id="1920" name="Google Shape;1920;p99"/>
          <p:cNvSpPr txBox="1"/>
          <p:nvPr>
            <p:ph type="body" idx="1"/>
          </p:nvPr>
        </p:nvSpPr>
        <p:spPr>
          <a:xfrm>
            <a:off x="324000" y="1506425"/>
            <a:ext cx="8496000" cy="43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would the 50</a:t>
            </a:r>
            <a:r>
              <a:rPr lang="en-GB" sz="1800" baseline="30000"/>
              <a:t>th</a:t>
            </a:r>
            <a:r>
              <a:rPr lang="en-GB" sz="1800"/>
              <a:t> term be in the sequence which starts:  12, 21, 30, 39, …</a:t>
            </a:r>
            <a:endParaRPr sz="1800"/>
          </a:p>
        </p:txBody>
      </p:sp>
      <p:graphicFrame>
        <p:nvGraphicFramePr>
          <p:cNvPr id="1921" name="Google Shape;1921;p99"/>
          <p:cNvGraphicFramePr>
            <a:graphicFrameLocks noGrp="1"/>
          </p:cNvGraphicFramePr>
          <p:nvPr/>
        </p:nvGraphicFramePr>
        <p:xfrm>
          <a:off x="323988" y="19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2044150"/>
                <a:gridCol w="848700"/>
                <a:gridCol w="848700"/>
                <a:gridCol w="848700"/>
                <a:gridCol w="8487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922" name="Google Shape;1922;p99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2783700" y="2909698"/>
            <a:ext cx="975000" cy="318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3" name="Google Shape;1923;p99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3639500" y="2909698"/>
            <a:ext cx="975000" cy="318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4" name="Google Shape;1924;p99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4509950" y="2909698"/>
            <a:ext cx="975000" cy="3185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5" name="Google Shape;1925;p99"/>
          <p:cNvSpPr txBox="1"/>
          <p:nvPr/>
        </p:nvSpPr>
        <p:spPr>
          <a:xfrm>
            <a:off x="3092847" y="3195609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99"/>
          <p:cNvSpPr txBox="1"/>
          <p:nvPr/>
        </p:nvSpPr>
        <p:spPr>
          <a:xfrm>
            <a:off x="3948647" y="3195609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99"/>
          <p:cNvSpPr txBox="1"/>
          <p:nvPr/>
        </p:nvSpPr>
        <p:spPr>
          <a:xfrm>
            <a:off x="4819097" y="3195609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99"/>
          <p:cNvSpPr txBox="1"/>
          <p:nvPr>
            <p:ph type="body" idx="1"/>
          </p:nvPr>
        </p:nvSpPr>
        <p:spPr>
          <a:xfrm>
            <a:off x="324000" y="3670075"/>
            <a:ext cx="8496000" cy="3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term-to-term rule is add 9 each time. </a:t>
            </a:r>
            <a:endParaRPr sz="1800"/>
          </a:p>
        </p:txBody>
      </p:sp>
      <p:sp>
        <p:nvSpPr>
          <p:cNvPr id="1929" name="Google Shape;1929;p99"/>
          <p:cNvSpPr txBox="1"/>
          <p:nvPr>
            <p:ph type="body" idx="1"/>
          </p:nvPr>
        </p:nvSpPr>
        <p:spPr>
          <a:xfrm>
            <a:off x="324000" y="4107025"/>
            <a:ext cx="8496000" cy="3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Adding on 9, 49 times could be time consuming, using the </a:t>
            </a:r>
            <a:r>
              <a:rPr lang="en-GB" sz="1800" b="1"/>
              <a:t>position-to-term</a:t>
            </a:r>
            <a:r>
              <a:rPr lang="en-GB" sz="1800"/>
              <a:t> rule instead could be quicker.   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33" name="Shape 1933"/>
        <p:cNvGrpSpPr/>
        <p:nvPr/>
      </p:nvGrpSpPr>
      <p:grpSpPr>
        <a:xfrm>
          <a:off x="0" y="0"/>
          <a:ext cx="0" cy="0"/>
        </a:xfrm>
      </p:grpSpPr>
      <p:sp>
        <p:nvSpPr>
          <p:cNvPr id="1934" name="Google Shape;1934;p100"/>
          <p:cNvSpPr txBox="1"/>
          <p:nvPr>
            <p:ph type="body" idx="1"/>
          </p:nvPr>
        </p:nvSpPr>
        <p:spPr>
          <a:xfrm>
            <a:off x="324000" y="700925"/>
            <a:ext cx="8237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Working out the </a:t>
            </a:r>
            <a:r>
              <a:rPr lang="en-GB" sz="1800" b="1"/>
              <a:t>position-to-term</a:t>
            </a:r>
            <a:r>
              <a:rPr lang="en-GB" sz="1800"/>
              <a:t> rule first can help us find larger term numbers in some types of sequences. </a:t>
            </a:r>
            <a:endParaRPr sz="1800"/>
          </a:p>
        </p:txBody>
      </p:sp>
      <p:sp>
        <p:nvSpPr>
          <p:cNvPr id="1935" name="Google Shape;1935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terms from position-to-term rules</a:t>
            </a:r>
            <a:endParaRPr/>
          </a:p>
        </p:txBody>
      </p:sp>
      <p:sp>
        <p:nvSpPr>
          <p:cNvPr id="1936" name="Google Shape;1936;p100"/>
          <p:cNvSpPr txBox="1"/>
          <p:nvPr>
            <p:ph type="body" idx="1"/>
          </p:nvPr>
        </p:nvSpPr>
        <p:spPr>
          <a:xfrm>
            <a:off x="324000" y="1506425"/>
            <a:ext cx="8496000" cy="43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would the 50</a:t>
            </a:r>
            <a:r>
              <a:rPr lang="en-GB" sz="1800" baseline="30000"/>
              <a:t>th</a:t>
            </a:r>
            <a:r>
              <a:rPr lang="en-GB" sz="1800"/>
              <a:t> term be in the sequence which starts:  12, 21, 30, 39, …</a:t>
            </a:r>
            <a:endParaRPr sz="1800"/>
          </a:p>
        </p:txBody>
      </p:sp>
      <p:graphicFrame>
        <p:nvGraphicFramePr>
          <p:cNvPr id="1937" name="Google Shape;1937;p100"/>
          <p:cNvGraphicFramePr>
            <a:graphicFrameLocks noGrp="1"/>
          </p:cNvGraphicFramePr>
          <p:nvPr/>
        </p:nvGraphicFramePr>
        <p:xfrm>
          <a:off x="323988" y="19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{6E1FF72A-8528-4BD9-A9AC-8E4AE6456878}</a:tableStyleId>
              </a:tblPr>
              <a:tblGrid>
                <a:gridCol w="2044150"/>
                <a:gridCol w="848700"/>
                <a:gridCol w="848700"/>
                <a:gridCol w="848700"/>
                <a:gridCol w="8487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938" name="Google Shape;1938;p100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2783700" y="2909698"/>
            <a:ext cx="975000" cy="318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9" name="Google Shape;1939;p100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3639500" y="2909698"/>
            <a:ext cx="975000" cy="318552"/>
          </a:xfrm>
          <a:prstGeom prst="rect">
            <a:avLst/>
          </a:prstGeom>
          <a:noFill/>
          <a:ln>
            <a:noFill/>
          </a:ln>
        </p:spPr>
      </p:pic>
      <p:sp>
        <p:nvSpPr>
          <p:cNvPr id="1940" name="Google Shape;1940;p100"/>
          <p:cNvSpPr txBox="1"/>
          <p:nvPr/>
        </p:nvSpPr>
        <p:spPr>
          <a:xfrm>
            <a:off x="3092847" y="3195609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1" name="Google Shape;1941;p100"/>
          <p:cNvSpPr txBox="1"/>
          <p:nvPr/>
        </p:nvSpPr>
        <p:spPr>
          <a:xfrm>
            <a:off x="3948647" y="3195609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2" name="Google Shape;1942;p100"/>
          <p:cNvSpPr txBox="1"/>
          <p:nvPr>
            <p:ph type="body" idx="1"/>
          </p:nvPr>
        </p:nvSpPr>
        <p:spPr>
          <a:xfrm>
            <a:off x="6256800" y="2362550"/>
            <a:ext cx="1863300" cy="3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21 = 3 + 9 + 9 </a:t>
            </a:r>
            <a:endParaRPr sz="1800"/>
          </a:p>
        </p:txBody>
      </p:sp>
      <p:sp>
        <p:nvSpPr>
          <p:cNvPr id="1943" name="Google Shape;1943;p100"/>
          <p:cNvSpPr txBox="1"/>
          <p:nvPr>
            <p:ph type="body" idx="1"/>
          </p:nvPr>
        </p:nvSpPr>
        <p:spPr>
          <a:xfrm>
            <a:off x="324000" y="3670075"/>
            <a:ext cx="8496000" cy="3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1800" b="1"/>
              <a:t>position-to-term</a:t>
            </a:r>
            <a:r>
              <a:rPr lang="en-GB" sz="1800"/>
              <a:t> rule is: ‘multiply the term number by 9 and add 3.’ </a:t>
            </a:r>
            <a:endParaRPr sz="1800"/>
          </a:p>
        </p:txBody>
      </p:sp>
      <p:sp>
        <p:nvSpPr>
          <p:cNvPr id="1944" name="Google Shape;1944;p100"/>
          <p:cNvSpPr txBox="1"/>
          <p:nvPr>
            <p:ph type="body" idx="1"/>
          </p:nvPr>
        </p:nvSpPr>
        <p:spPr>
          <a:xfrm>
            <a:off x="6256800" y="2726525"/>
            <a:ext cx="2563200" cy="3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30 = 3 + 9 + 9 +9 </a:t>
            </a:r>
            <a:endParaRPr sz="1800"/>
          </a:p>
        </p:txBody>
      </p:sp>
      <p:sp>
        <p:nvSpPr>
          <p:cNvPr id="1945" name="Google Shape;1945;p100"/>
          <p:cNvSpPr txBox="1"/>
          <p:nvPr>
            <p:ph type="body" idx="1"/>
          </p:nvPr>
        </p:nvSpPr>
        <p:spPr>
          <a:xfrm>
            <a:off x="6256800" y="1962150"/>
            <a:ext cx="1441500" cy="3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12 = 3 + 9 </a:t>
            </a:r>
            <a:endParaRPr sz="1800"/>
          </a:p>
        </p:txBody>
      </p:sp>
      <p:sp>
        <p:nvSpPr>
          <p:cNvPr id="1946" name="Google Shape;1946;p100"/>
          <p:cNvSpPr txBox="1"/>
          <p:nvPr>
            <p:ph type="body" idx="1"/>
          </p:nvPr>
        </p:nvSpPr>
        <p:spPr>
          <a:xfrm>
            <a:off x="324000" y="4107025"/>
            <a:ext cx="8496000" cy="3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For the 50</a:t>
            </a:r>
            <a:r>
              <a:rPr lang="en-GB" sz="1800" baseline="30000"/>
              <a:t>th</a:t>
            </a:r>
            <a:r>
              <a:rPr lang="en-GB" sz="1800"/>
              <a:t> term: 50 </a:t>
            </a:r>
            <a:r>
              <a:rPr lang="en-GB" sz="1800">
                <a:solidFill>
                  <a:srgbClr val="222222"/>
                </a:solidFill>
              </a:rPr>
              <a:t>×</a:t>
            </a:r>
            <a:r>
              <a:rPr lang="en-GB" sz="1800"/>
              <a:t> 9 + 3 = 453 </a:t>
            </a:r>
            <a:endParaRPr sz="1800"/>
          </a:p>
        </p:txBody>
      </p:sp>
      <p:sp>
        <p:nvSpPr>
          <p:cNvPr id="1947" name="Google Shape;1947;p100"/>
          <p:cNvSpPr/>
          <p:nvPr/>
        </p:nvSpPr>
        <p:spPr>
          <a:xfrm>
            <a:off x="2582600" y="2495800"/>
            <a:ext cx="434100" cy="369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51" name="Shape 1951"/>
        <p:cNvGrpSpPr/>
        <p:nvPr/>
      </p:nvGrpSpPr>
      <p:grpSpPr>
        <a:xfrm>
          <a:off x="0" y="0"/>
          <a:ext cx="0" cy="0"/>
        </a:xfrm>
      </p:grpSpPr>
      <p:sp>
        <p:nvSpPr>
          <p:cNvPr id="1952" name="Google Shape;1952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terms from position-to-term rules</a:t>
            </a:r>
            <a:endParaRPr/>
          </a:p>
        </p:txBody>
      </p:sp>
      <p:pic>
        <p:nvPicPr>
          <p:cNvPr id="1953" name="Google Shape;1953;p101"/>
          <p:cNvPicPr preferRelativeResize="0"/>
          <p:nvPr/>
        </p:nvPicPr>
        <p:blipFill>
          <a:blip r:embed="rId3">
            <a:alphaModFix/>
          </a:blip>
          <a:srcRect l="40550" t="13240" b="6172"/>
          <a:stretch>
            <a:fillRect/>
          </a:stretch>
        </p:blipFill>
        <p:spPr>
          <a:xfrm>
            <a:off x="1171925" y="713925"/>
            <a:ext cx="3754552" cy="181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4" name="Google Shape;1954;p101"/>
          <p:cNvSpPr txBox="1"/>
          <p:nvPr/>
        </p:nvSpPr>
        <p:spPr>
          <a:xfrm>
            <a:off x="1467575" y="893700"/>
            <a:ext cx="3422700" cy="12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sequence 4, 7, 10, 13,...  and the sequence 7, 10, 13 16,… have the same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position-to-term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rule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5" name="Google Shape;1955;p101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5070225" y="925975"/>
            <a:ext cx="308417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6" name="Google Shape;1956;p101"/>
          <p:cNvSpPr/>
          <p:nvPr/>
        </p:nvSpPr>
        <p:spPr>
          <a:xfrm flipH="1">
            <a:off x="5159850" y="1040245"/>
            <a:ext cx="2745900" cy="6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That means they have the same 10</a:t>
            </a:r>
            <a:r>
              <a:rPr lang="en-GB" sz="1800" baseline="30000"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term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7" name="Google Shape;1957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23087" y="1346912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8" name="Google Shape;1958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833412" y="175011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9" name="Google Shape;1959;p101"/>
          <p:cNvSpPr txBox="1"/>
          <p:nvPr/>
        </p:nvSpPr>
        <p:spPr>
          <a:xfrm>
            <a:off x="7459200" y="25717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0" name="Google Shape;1960;p101"/>
          <p:cNvSpPr txBox="1"/>
          <p:nvPr/>
        </p:nvSpPr>
        <p:spPr>
          <a:xfrm>
            <a:off x="153759" y="22974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1" name="Google Shape;1961;p101"/>
          <p:cNvSpPr txBox="1"/>
          <p:nvPr>
            <p:ph type="body" idx="1"/>
          </p:nvPr>
        </p:nvSpPr>
        <p:spPr>
          <a:xfrm>
            <a:off x="324000" y="2926350"/>
            <a:ext cx="4320300" cy="3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you agree with these statements?  </a:t>
            </a:r>
            <a:endParaRPr sz="1800"/>
          </a:p>
        </p:txBody>
      </p:sp>
      <p:sp>
        <p:nvSpPr>
          <p:cNvPr id="1962" name="Google Shape;1962;p101"/>
          <p:cNvSpPr txBox="1"/>
          <p:nvPr>
            <p:ph type="body" idx="1"/>
          </p:nvPr>
        </p:nvSpPr>
        <p:spPr>
          <a:xfrm>
            <a:off x="324000" y="3385200"/>
            <a:ext cx="8496000" cy="3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Andeep is incorrect, even though both sequences go up in 3s, they are different as they start on different terms. Different sequences have different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position-to-term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rules.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6" name="Shape 1966"/>
        <p:cNvGrpSpPr/>
        <p:nvPr/>
      </p:nvGrpSpPr>
      <p:grpSpPr>
        <a:xfrm>
          <a:off x="0" y="0"/>
          <a:ext cx="0" cy="0"/>
        </a:xfrm>
      </p:grpSpPr>
      <p:sp>
        <p:nvSpPr>
          <p:cNvPr id="1967" name="Google Shape;1967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terms from position-to-term rules</a:t>
            </a:r>
            <a:endParaRPr/>
          </a:p>
        </p:txBody>
      </p:sp>
      <p:pic>
        <p:nvPicPr>
          <p:cNvPr id="1968" name="Google Shape;1968;p102"/>
          <p:cNvPicPr preferRelativeResize="0"/>
          <p:nvPr/>
        </p:nvPicPr>
        <p:blipFill>
          <a:blip r:embed="rId3">
            <a:alphaModFix/>
          </a:blip>
          <a:srcRect l="40550" t="13240" b="6172"/>
          <a:stretch>
            <a:fillRect/>
          </a:stretch>
        </p:blipFill>
        <p:spPr>
          <a:xfrm>
            <a:off x="1171925" y="713925"/>
            <a:ext cx="3754552" cy="181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9" name="Google Shape;1969;p102"/>
          <p:cNvSpPr txBox="1"/>
          <p:nvPr/>
        </p:nvSpPr>
        <p:spPr>
          <a:xfrm>
            <a:off x="1467575" y="893700"/>
            <a:ext cx="3422700" cy="12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sequence 4, 7, 10, 13,...  and the sequence 7, 10, 13 16,… have the same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position-to-term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rule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70" name="Google Shape;1970;p102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5070225" y="925975"/>
            <a:ext cx="308417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1" name="Google Shape;1971;p102"/>
          <p:cNvSpPr/>
          <p:nvPr/>
        </p:nvSpPr>
        <p:spPr>
          <a:xfrm flipH="1">
            <a:off x="5159850" y="1040245"/>
            <a:ext cx="2745900" cy="6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That means they have the same 10</a:t>
            </a:r>
            <a:r>
              <a:rPr lang="en-GB" sz="1800" baseline="30000"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term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72" name="Google Shape;1972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23087" y="1346912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3" name="Google Shape;1973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833412" y="175011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4" name="Google Shape;1974;p102"/>
          <p:cNvSpPr txBox="1"/>
          <p:nvPr/>
        </p:nvSpPr>
        <p:spPr>
          <a:xfrm>
            <a:off x="7459200" y="25717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102"/>
          <p:cNvSpPr txBox="1"/>
          <p:nvPr/>
        </p:nvSpPr>
        <p:spPr>
          <a:xfrm>
            <a:off x="153759" y="22974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102"/>
          <p:cNvSpPr txBox="1"/>
          <p:nvPr>
            <p:ph type="body" idx="1"/>
          </p:nvPr>
        </p:nvSpPr>
        <p:spPr>
          <a:xfrm>
            <a:off x="324000" y="2926350"/>
            <a:ext cx="4320300" cy="3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you agree with these statements?  </a:t>
            </a:r>
            <a:endParaRPr sz="1800"/>
          </a:p>
        </p:txBody>
      </p:sp>
      <p:sp>
        <p:nvSpPr>
          <p:cNvPr id="1977" name="Google Shape;1977;p102"/>
          <p:cNvSpPr txBox="1"/>
          <p:nvPr>
            <p:ph type="body" idx="1"/>
          </p:nvPr>
        </p:nvSpPr>
        <p:spPr>
          <a:xfrm>
            <a:off x="324000" y="3309000"/>
            <a:ext cx="8496000" cy="3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Jun is correct that if they had the same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position-to-term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rule they would have the same 10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as they would be the same sequence.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8" name="Google Shape;1978;p102"/>
          <p:cNvSpPr txBox="1"/>
          <p:nvPr>
            <p:ph type="body" idx="1"/>
          </p:nvPr>
        </p:nvSpPr>
        <p:spPr>
          <a:xfrm>
            <a:off x="324000" y="4170350"/>
            <a:ext cx="8496000" cy="3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However these two sequences cannot have the same 10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term. The second sequence will have a larger 10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term.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82" name="Shape 1982"/>
        <p:cNvGrpSpPr/>
        <p:nvPr/>
      </p:nvGrpSpPr>
      <p:grpSpPr>
        <a:xfrm>
          <a:off x="0" y="0"/>
          <a:ext cx="0" cy="0"/>
        </a:xfrm>
      </p:grpSpPr>
      <p:sp>
        <p:nvSpPr>
          <p:cNvPr id="1983" name="Google Shape;1983;p103"/>
          <p:cNvSpPr txBox="1"/>
          <p:nvPr>
            <p:ph type="subTitle" idx="1"/>
          </p:nvPr>
        </p:nvSpPr>
        <p:spPr>
          <a:xfrm>
            <a:off x="337825" y="810000"/>
            <a:ext cx="3982200" cy="8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</a:t>
            </a:r>
            <a:r>
              <a:rPr lang="en-GB" baseline="-25000"/>
              <a:t>100</a:t>
            </a:r>
            <a:r>
              <a:rPr lang="en-GB"/>
              <a:t> for the sequence which starts 30, 37, 44, 51, … </a:t>
            </a:r>
            <a:endParaRPr/>
          </a:p>
        </p:txBody>
      </p:sp>
      <p:sp>
        <p:nvSpPr>
          <p:cNvPr id="1984" name="Google Shape;1984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terms from position-to-term rules</a:t>
            </a:r>
            <a:endParaRPr/>
          </a:p>
        </p:txBody>
      </p:sp>
      <p:sp>
        <p:nvSpPr>
          <p:cNvPr id="1985" name="Google Shape;1985;p103"/>
          <p:cNvSpPr txBox="1"/>
          <p:nvPr>
            <p:ph type="subTitle" idx="1"/>
          </p:nvPr>
        </p:nvSpPr>
        <p:spPr>
          <a:xfrm>
            <a:off x="337825" y="1623600"/>
            <a:ext cx="3982200" cy="8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30,    37,    44,    51, … </a:t>
            </a:r>
            <a:endParaRPr/>
          </a:p>
        </p:txBody>
      </p:sp>
      <p:pic>
        <p:nvPicPr>
          <p:cNvPr id="1986" name="Google Shape;1986;p103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367475" y="1855198"/>
            <a:ext cx="717648" cy="229263"/>
          </a:xfrm>
          <a:prstGeom prst="rect">
            <a:avLst/>
          </a:prstGeom>
          <a:noFill/>
          <a:ln>
            <a:noFill/>
          </a:ln>
        </p:spPr>
      </p:pic>
      <p:sp>
        <p:nvSpPr>
          <p:cNvPr id="1987" name="Google Shape;1987;p103"/>
          <p:cNvSpPr txBox="1"/>
          <p:nvPr/>
        </p:nvSpPr>
        <p:spPr>
          <a:xfrm>
            <a:off x="522684" y="2046442"/>
            <a:ext cx="3453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8" name="Google Shape;1988;p103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977075" y="1855198"/>
            <a:ext cx="717648" cy="229263"/>
          </a:xfrm>
          <a:prstGeom prst="rect">
            <a:avLst/>
          </a:prstGeom>
          <a:noFill/>
          <a:ln>
            <a:noFill/>
          </a:ln>
        </p:spPr>
      </p:pic>
      <p:sp>
        <p:nvSpPr>
          <p:cNvPr id="1989" name="Google Shape;1989;p103"/>
          <p:cNvSpPr txBox="1"/>
          <p:nvPr/>
        </p:nvSpPr>
        <p:spPr>
          <a:xfrm>
            <a:off x="1132284" y="2046442"/>
            <a:ext cx="3453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0" name="Google Shape;1990;p103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1586675" y="1855198"/>
            <a:ext cx="717648" cy="229263"/>
          </a:xfrm>
          <a:prstGeom prst="rect">
            <a:avLst/>
          </a:prstGeom>
          <a:noFill/>
          <a:ln>
            <a:noFill/>
          </a:ln>
        </p:spPr>
      </p:pic>
      <p:sp>
        <p:nvSpPr>
          <p:cNvPr id="1991" name="Google Shape;1991;p103"/>
          <p:cNvSpPr txBox="1"/>
          <p:nvPr/>
        </p:nvSpPr>
        <p:spPr>
          <a:xfrm>
            <a:off x="1741884" y="2046442"/>
            <a:ext cx="3453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2" name="Google Shape;1992;p103"/>
          <p:cNvSpPr txBox="1"/>
          <p:nvPr>
            <p:ph type="subTitle" idx="1"/>
          </p:nvPr>
        </p:nvSpPr>
        <p:spPr>
          <a:xfrm>
            <a:off x="337825" y="2528350"/>
            <a:ext cx="3982200" cy="7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</a:t>
            </a:r>
            <a:r>
              <a:rPr lang="en-GB" baseline="-25000"/>
              <a:t>1</a:t>
            </a:r>
            <a:r>
              <a:rPr lang="en-GB"/>
              <a:t> = 23 + 7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</a:t>
            </a:r>
            <a:r>
              <a:rPr lang="en-GB" baseline="-25000"/>
              <a:t>2</a:t>
            </a:r>
            <a:r>
              <a:rPr lang="en-GB"/>
              <a:t>= 23 + 7 + 7</a:t>
            </a:r>
            <a:endParaRPr/>
          </a:p>
        </p:txBody>
      </p:sp>
      <p:sp>
        <p:nvSpPr>
          <p:cNvPr id="1993" name="Google Shape;1993;p103"/>
          <p:cNvSpPr txBox="1"/>
          <p:nvPr>
            <p:ph type="subTitle" idx="1"/>
          </p:nvPr>
        </p:nvSpPr>
        <p:spPr>
          <a:xfrm>
            <a:off x="337825" y="3291550"/>
            <a:ext cx="3982200" cy="7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/>
              <a:t>Position-to-term</a:t>
            </a:r>
            <a:r>
              <a:rPr lang="en-GB"/>
              <a:t> rule: Multiply the term number by 7 and add 23 </a:t>
            </a:r>
            <a:endParaRPr/>
          </a:p>
        </p:txBody>
      </p:sp>
      <p:sp>
        <p:nvSpPr>
          <p:cNvPr id="1994" name="Google Shape;1994;p103"/>
          <p:cNvSpPr txBox="1"/>
          <p:nvPr>
            <p:ph type="subTitle" idx="1"/>
          </p:nvPr>
        </p:nvSpPr>
        <p:spPr>
          <a:xfrm>
            <a:off x="337825" y="3997375"/>
            <a:ext cx="3982200" cy="37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</a:t>
            </a:r>
            <a:r>
              <a:rPr lang="en-GB" baseline="-25000"/>
              <a:t>100</a:t>
            </a:r>
            <a:r>
              <a:rPr lang="en-GB"/>
              <a:t> = 100 </a:t>
            </a:r>
            <a:r>
              <a:rPr lang="en-GB">
                <a:solidFill>
                  <a:srgbClr val="222222"/>
                </a:solidFill>
              </a:rPr>
              <a:t>×</a:t>
            </a:r>
            <a:r>
              <a:rPr lang="en-GB"/>
              <a:t> 7 + 23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95" name="Google Shape;1995;p103"/>
          <p:cNvSpPr txBox="1"/>
          <p:nvPr>
            <p:ph type="subTitle" idx="1"/>
          </p:nvPr>
        </p:nvSpPr>
        <p:spPr>
          <a:xfrm>
            <a:off x="337825" y="4441200"/>
            <a:ext cx="3982200" cy="37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</a:t>
            </a:r>
            <a:r>
              <a:rPr lang="en-GB" baseline="-25000"/>
              <a:t>100</a:t>
            </a:r>
            <a:r>
              <a:rPr lang="en-GB"/>
              <a:t> = 723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96" name="Google Shape;1996;p103"/>
          <p:cNvSpPr txBox="1"/>
          <p:nvPr>
            <p:ph type="subTitle" idx="1"/>
          </p:nvPr>
        </p:nvSpPr>
        <p:spPr>
          <a:xfrm>
            <a:off x="4833625" y="810000"/>
            <a:ext cx="3982200" cy="8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</a:t>
            </a:r>
            <a:r>
              <a:rPr lang="en-GB" baseline="-25000"/>
              <a:t>100</a:t>
            </a:r>
            <a:r>
              <a:rPr lang="en-GB"/>
              <a:t> for the sequence which starts 12, 20, 28, 36, … </a:t>
            </a:r>
            <a:endParaRPr/>
          </a:p>
        </p:txBody>
      </p:sp>
      <p:sp>
        <p:nvSpPr>
          <p:cNvPr id="1997" name="Google Shape;1997;p103"/>
          <p:cNvSpPr txBox="1"/>
          <p:nvPr>
            <p:ph type="subTitle" idx="1"/>
          </p:nvPr>
        </p:nvSpPr>
        <p:spPr>
          <a:xfrm>
            <a:off x="4833625" y="1558492"/>
            <a:ext cx="3982200" cy="8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12,  20,   28,  36, …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98" name="Google Shape;1998;p103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4863275" y="1790091"/>
            <a:ext cx="717648" cy="229263"/>
          </a:xfrm>
          <a:prstGeom prst="rect">
            <a:avLst/>
          </a:prstGeom>
          <a:noFill/>
          <a:ln>
            <a:noFill/>
          </a:ln>
        </p:spPr>
      </p:pic>
      <p:sp>
        <p:nvSpPr>
          <p:cNvPr id="1999" name="Google Shape;1999;p103"/>
          <p:cNvSpPr txBox="1"/>
          <p:nvPr/>
        </p:nvSpPr>
        <p:spPr>
          <a:xfrm>
            <a:off x="5018475" y="1981342"/>
            <a:ext cx="506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+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00" name="Google Shape;2000;p103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5472875" y="1790091"/>
            <a:ext cx="717648" cy="229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103"/>
          <p:cNvSpPr txBox="1"/>
          <p:nvPr/>
        </p:nvSpPr>
        <p:spPr>
          <a:xfrm>
            <a:off x="5629684" y="1981342"/>
            <a:ext cx="506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+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02" name="Google Shape;2002;p103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6082475" y="1790091"/>
            <a:ext cx="717648" cy="229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03" name="Google Shape;2003;p103"/>
          <p:cNvSpPr txBox="1"/>
          <p:nvPr/>
        </p:nvSpPr>
        <p:spPr>
          <a:xfrm>
            <a:off x="6273688" y="1981342"/>
            <a:ext cx="506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+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4" name="Google Shape;2004;p103"/>
          <p:cNvSpPr txBox="1"/>
          <p:nvPr>
            <p:ph type="subTitle" idx="1"/>
          </p:nvPr>
        </p:nvSpPr>
        <p:spPr>
          <a:xfrm>
            <a:off x="4833625" y="2375950"/>
            <a:ext cx="3982200" cy="7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4 + 8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4 + 8 + 8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5" name="Google Shape;2005;p103"/>
          <p:cNvSpPr txBox="1"/>
          <p:nvPr>
            <p:ph type="subTitle" idx="1"/>
          </p:nvPr>
        </p:nvSpPr>
        <p:spPr>
          <a:xfrm>
            <a:off x="4833625" y="3215350"/>
            <a:ext cx="3982200" cy="7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Position-to-term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rule: Multiply the term number by 8 and add 4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6" name="Google Shape;2006;p103"/>
          <p:cNvSpPr txBox="1"/>
          <p:nvPr>
            <p:ph type="subTitle" idx="1"/>
          </p:nvPr>
        </p:nvSpPr>
        <p:spPr>
          <a:xfrm>
            <a:off x="4833625" y="3997375"/>
            <a:ext cx="3982200" cy="37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100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100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8 + 4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7" name="Google Shape;2007;p103"/>
          <p:cNvSpPr txBox="1"/>
          <p:nvPr>
            <p:ph type="subTitle" idx="1"/>
          </p:nvPr>
        </p:nvSpPr>
        <p:spPr>
          <a:xfrm>
            <a:off x="4833625" y="4441200"/>
            <a:ext cx="3982200" cy="37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100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804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11" name="Shape 2011"/>
        <p:cNvGrpSpPr/>
        <p:nvPr/>
      </p:nvGrpSpPr>
      <p:grpSpPr>
        <a:xfrm>
          <a:off x="0" y="0"/>
          <a:ext cx="0" cy="0"/>
        </a:xfrm>
      </p:grpSpPr>
      <p:sp>
        <p:nvSpPr>
          <p:cNvPr id="2012" name="Google Shape;2012;p10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Generating terms from position-to-term rules</a:t>
            </a:r>
            <a:endParaRPr/>
          </a:p>
        </p:txBody>
      </p:sp>
      <p:sp>
        <p:nvSpPr>
          <p:cNvPr id="2013" name="Google Shape;2013;p104"/>
          <p:cNvSpPr txBox="1"/>
          <p:nvPr>
            <p:ph type="body" idx="1"/>
          </p:nvPr>
        </p:nvSpPr>
        <p:spPr>
          <a:xfrm>
            <a:off x="324000" y="701425"/>
            <a:ext cx="8237700" cy="392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For each sequence, find the value of T</a:t>
            </a:r>
            <a:r>
              <a:rPr lang="en-GB" sz="2000" baseline="-25000"/>
              <a:t>60</a:t>
            </a:r>
            <a:endParaRPr sz="2000"/>
          </a:p>
          <a:p>
            <a:pPr marL="457200" lvl="0" indent="-342900" algn="l" rt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Each term is the term number multiplied by 5 plus 6</a:t>
            </a:r>
            <a:endParaRPr sz="1800"/>
          </a:p>
          <a:p>
            <a:pPr marL="457200" lvl="0" indent="-3429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Each term is the term number halved then add 2</a:t>
            </a:r>
            <a:endParaRPr sz="1800"/>
          </a:p>
          <a:p>
            <a:pPr marL="457200" lvl="0" indent="-3429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Each term is the term number subtract 5</a:t>
            </a:r>
            <a:endParaRPr sz="1800"/>
          </a:p>
          <a:p>
            <a:pPr marL="457200" lvl="0" indent="-3429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Each term is 10 less than the term number multiplied by 3</a:t>
            </a:r>
            <a:endParaRPr sz="1800"/>
          </a:p>
          <a:p>
            <a:pPr marL="457200" lvl="0" indent="-3429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12, 15, 18, 21, …. (with a constant additive pattern)</a:t>
            </a:r>
            <a:endParaRPr sz="1800"/>
          </a:p>
          <a:p>
            <a:pPr marL="457200" lvl="0" indent="-3429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18, 19, 20, 21, … (with a constant additive pattern)</a:t>
            </a:r>
            <a:endParaRPr sz="1800"/>
          </a:p>
          <a:p>
            <a:pPr marL="457200" lvl="0" indent="-3429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 1.4, 1.8, 2.2, 2.6, … (with a constant additive pattern </a:t>
            </a:r>
            <a:endParaRPr sz="1800"/>
          </a:p>
        </p:txBody>
      </p:sp>
    </p:spTree>
  </p:cSld>
  <p:clrMapOvr>
    <a:masterClrMapping/>
  </p:clrMapOvr>
  <p:transition/>
  <p:timing/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17" name="Shape 2017"/>
        <p:cNvGrpSpPr/>
        <p:nvPr/>
      </p:nvGrpSpPr>
      <p:grpSpPr>
        <a:xfrm>
          <a:off x="0" y="0"/>
          <a:ext cx="0" cy="0"/>
        </a:xfrm>
      </p:grpSpPr>
      <p:sp>
        <p:nvSpPr>
          <p:cNvPr id="2018" name="Google Shape;2018;p10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Generating terms from position-to-term rules</a:t>
            </a:r>
            <a:endParaRPr/>
          </a:p>
        </p:txBody>
      </p:sp>
      <p:sp>
        <p:nvSpPr>
          <p:cNvPr id="2019" name="Google Shape;2019;p10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For each sequence, find the value of T</a:t>
            </a:r>
            <a:r>
              <a:rPr lang="en-GB" sz="2000" baseline="-25000"/>
              <a:t>60</a:t>
            </a:r>
            <a:endParaRPr sz="2000"/>
          </a:p>
          <a:p>
            <a:pPr marL="457200" lvl="0" indent="-342900" algn="l" rt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Each term is the term number multiplied by 5 plus 6</a:t>
            </a:r>
            <a:endParaRPr sz="1800"/>
          </a:p>
          <a:p>
            <a:pPr marL="457200" lvl="0" indent="-3429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Each term is the term number halved then add 2</a:t>
            </a:r>
            <a:endParaRPr sz="1800"/>
          </a:p>
          <a:p>
            <a:pPr marL="457200" lvl="0" indent="-3429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Each term is the term number subtract 5</a:t>
            </a:r>
            <a:endParaRPr sz="1800"/>
          </a:p>
          <a:p>
            <a:pPr marL="457200" lvl="0" indent="-3429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Each term is 10 less than the term number then multiplied by 3</a:t>
            </a:r>
            <a:endParaRPr sz="1800"/>
          </a:p>
          <a:p>
            <a:pPr marL="457200" lvl="0" indent="-3429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12, 15, 18, 21, …. (with a constant additive pattern)</a:t>
            </a:r>
            <a:endParaRPr sz="1800"/>
          </a:p>
          <a:p>
            <a:pPr marL="457200" lvl="0" indent="-3429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18, 19, 20, 21, … (with a constant additive pattern)</a:t>
            </a:r>
            <a:endParaRPr sz="1800"/>
          </a:p>
          <a:p>
            <a:pPr marL="457200" lvl="0" indent="-3429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 1.4, 1.8, 2.2, 2.6, … (with a constant additive pattern)</a:t>
            </a:r>
            <a:endParaRPr sz="1800"/>
          </a:p>
        </p:txBody>
      </p:sp>
      <p:sp>
        <p:nvSpPr>
          <p:cNvPr id="2020" name="Google Shape;2020;p105"/>
          <p:cNvSpPr txBox="1"/>
          <p:nvPr>
            <p:ph type="body" idx="1"/>
          </p:nvPr>
        </p:nvSpPr>
        <p:spPr>
          <a:xfrm>
            <a:off x="7459200" y="1201075"/>
            <a:ext cx="12549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306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1" name="Google Shape;2021;p105"/>
          <p:cNvSpPr txBox="1"/>
          <p:nvPr>
            <p:ph type="body" idx="1"/>
          </p:nvPr>
        </p:nvSpPr>
        <p:spPr>
          <a:xfrm>
            <a:off x="7459200" y="1777880"/>
            <a:ext cx="12549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32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2" name="Google Shape;2022;p105"/>
          <p:cNvSpPr txBox="1"/>
          <p:nvPr>
            <p:ph type="body" idx="1"/>
          </p:nvPr>
        </p:nvSpPr>
        <p:spPr>
          <a:xfrm>
            <a:off x="7459200" y="2329124"/>
            <a:ext cx="12549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55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3" name="Google Shape;2023;p105"/>
          <p:cNvSpPr txBox="1"/>
          <p:nvPr>
            <p:ph type="body" idx="1"/>
          </p:nvPr>
        </p:nvSpPr>
        <p:spPr>
          <a:xfrm>
            <a:off x="7889100" y="2893150"/>
            <a:ext cx="9309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150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4" name="Google Shape;2024;p105"/>
          <p:cNvSpPr txBox="1"/>
          <p:nvPr>
            <p:ph type="body" idx="1"/>
          </p:nvPr>
        </p:nvSpPr>
        <p:spPr>
          <a:xfrm>
            <a:off x="7459200" y="3457175"/>
            <a:ext cx="10482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189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5" name="Google Shape;2025;p105"/>
          <p:cNvSpPr txBox="1"/>
          <p:nvPr>
            <p:ph type="body" idx="1"/>
          </p:nvPr>
        </p:nvSpPr>
        <p:spPr>
          <a:xfrm>
            <a:off x="7459200" y="4021200"/>
            <a:ext cx="10482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77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6" name="Google Shape;2026;p105"/>
          <p:cNvSpPr txBox="1"/>
          <p:nvPr>
            <p:ph type="body" idx="1"/>
          </p:nvPr>
        </p:nvSpPr>
        <p:spPr>
          <a:xfrm>
            <a:off x="7459200" y="4477450"/>
            <a:ext cx="10482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30" name="Shape 2030"/>
        <p:cNvGrpSpPr/>
        <p:nvPr/>
      </p:nvGrpSpPr>
      <p:grpSpPr>
        <a:xfrm>
          <a:off x="0" y="0"/>
          <a:ext cx="0" cy="0"/>
        </a:xfrm>
      </p:grpSpPr>
      <p:sp>
        <p:nvSpPr>
          <p:cNvPr id="2031" name="Google Shape;2031;p106"/>
          <p:cNvSpPr txBox="1"/>
          <p:nvPr>
            <p:ph type="body" idx="1"/>
          </p:nvPr>
        </p:nvSpPr>
        <p:spPr>
          <a:xfrm>
            <a:off x="324000" y="877425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We can use the term number to describe a sequence using a </a:t>
            </a:r>
            <a:r>
              <a:rPr lang="en-GB" b="1"/>
              <a:t>position-to-term</a:t>
            </a:r>
            <a:r>
              <a:rPr lang="en-GB"/>
              <a:t> rule.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 b="1"/>
              <a:t>position-to-term</a:t>
            </a:r>
            <a:r>
              <a:rPr lang="en-GB"/>
              <a:t> rule can be used to generate any number in a sequence.</a:t>
            </a:r>
            <a:endParaRPr/>
          </a:p>
        </p:txBody>
      </p:sp>
      <p:sp>
        <p:nvSpPr>
          <p:cNvPr id="2032" name="Google Shape;2032;p106"/>
          <p:cNvSpPr txBox="1"/>
          <p:nvPr>
            <p:ph type="title"/>
          </p:nvPr>
        </p:nvSpPr>
        <p:spPr>
          <a:xfrm>
            <a:off x="1684800" y="157525"/>
            <a:ext cx="67068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a sequence using a position to term rule</a:t>
            </a:r>
            <a:endParaRPr/>
          </a:p>
        </p:txBody>
      </p:sp>
    </p:spTree>
  </p:cSld>
  <p:clrMapOvr>
    <a:masterClrMapping/>
  </p:clrMapOvr>
  <p:transition/>
  <p:timing/>
</p:sld>
</file>

<file path=ppt/slides/slide4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36" name="Shape 2036"/>
        <p:cNvGrpSpPr/>
        <p:nvPr/>
      </p:nvGrpSpPr>
      <p:grpSpPr>
        <a:xfrm>
          <a:off x="0" y="0"/>
          <a:ext cx="0" cy="0"/>
        </a:xfrm>
      </p:grpSpPr>
      <p:sp>
        <p:nvSpPr>
          <p:cNvPr id="2037" name="Google Shape;2037;p107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038" name="Google Shape;2038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393</Paragraphs>
  <Slides>44</Slides>
  <Notes>44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baseType="lpstr" size="52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Generating a sequence using a position-to-term rule</vt:lpstr>
      <vt:lpstr>PowerPoint Presentation</vt:lpstr>
      <vt:lpstr>PowerPoint Presentation</vt:lpstr>
      <vt:lpstr>PowerPoint Presentation</vt:lpstr>
      <vt:lpstr>Writing position-to-term rules</vt:lpstr>
      <vt:lpstr>Writing position-to-term rules</vt:lpstr>
      <vt:lpstr>Writing position-to-term rules</vt:lpstr>
      <vt:lpstr>Writing position-to-term rules</vt:lpstr>
      <vt:lpstr>Writing position-to-term rules</vt:lpstr>
      <vt:lpstr>Writing position-to-term rules</vt:lpstr>
      <vt:lpstr>Writing position-to-term rules</vt:lpstr>
      <vt:lpstr>Writing position-to-term rules</vt:lpstr>
      <vt:lpstr>Writing position-to-term rules</vt:lpstr>
      <vt:lpstr>Writing position-to-term rules</vt:lpstr>
      <vt:lpstr>Writing position-to-term rules</vt:lpstr>
      <vt:lpstr>Writing position-to-term rules</vt:lpstr>
      <vt:lpstr>Writing position-to-term rules</vt:lpstr>
      <vt:lpstr>Writing position-to-term rules</vt:lpstr>
      <vt:lpstr>Writing position-to-term rules</vt:lpstr>
      <vt:lpstr>Writing position-to-term rules</vt:lpstr>
      <vt:lpstr>Writing position-to-term rules</vt:lpstr>
      <vt:lpstr>Writing position-to-term rules</vt:lpstr>
      <vt:lpstr>Writing position-to-term rules</vt:lpstr>
      <vt:lpstr>Writing position-to-term rules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Writing position-to-term rules</vt:lpstr>
      <vt:lpstr>Generating terms from position-to-term rules</vt:lpstr>
      <vt:lpstr>Generating terms from position-to-term rules</vt:lpstr>
      <vt:lpstr>Generating terms from position-to-term rules</vt:lpstr>
      <vt:lpstr>Generating terms from position-to-term rules</vt:lpstr>
      <vt:lpstr>Generating terms from position-to-term rules</vt:lpstr>
      <vt:lpstr>Generating terms from position-to-term rules</vt:lpstr>
      <vt:lpstr>Generating terms from position-to-term rules</vt:lpstr>
      <vt:lpstr>Generating terms from position-to-term rules</vt:lpstr>
      <vt:lpstr>Generating terms from position-to-term rules</vt:lpstr>
      <vt:lpstr>Generating terms from position-to-term rules</vt:lpstr>
      <vt:lpstr>PowerPoint Presentation</vt:lpstr>
      <vt:lpstr>PowerPoint Presentation</vt:lpstr>
      <vt:lpstr>Generating a sequence using a position to term rule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2023-12-08T09:33:27.975</cp:lastPrinted>
  <dcterms:created xsi:type="dcterms:W3CDTF">2023-12-08T09:33:27Z</dcterms:created>
  <dcterms:modified xsi:type="dcterms:W3CDTF">2023-12-08T09:33:46Z</dcterms:modified>
</cp:coreProperties>
</file>