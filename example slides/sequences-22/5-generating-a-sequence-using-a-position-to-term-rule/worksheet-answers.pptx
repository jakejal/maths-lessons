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9BEF464-4102-4347-B789-C0B3A26475B3}">
  <a:tblStyle styleId="{D9BEF464-4102-4347-B789-C0B3A26475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8" name="Shape 348"/>
        <p:cNvGrpSpPr/>
        <p:nvPr/>
      </p:nvGrpSpPr>
      <p:grpSpPr>
        <a:xfrm>
          <a:off x="0" y="0"/>
          <a:ext cx="0" cy="0"/>
        </a:xfrm>
      </p:grpSpPr>
      <p:sp>
        <p:nvSpPr>
          <p:cNvPr id="349" name="Google Shape;34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a sequence using a position-to-term rule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1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Writing position-to-term rules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99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sequence, write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rule for the number of dots in each pattern.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97779" y="2813435"/>
            <a:ext cx="79200" cy="79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945869" y="2813436"/>
            <a:ext cx="79200" cy="79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767802" y="3898054"/>
            <a:ext cx="2798561" cy="342621"/>
            <a:chOff x="400191" y="3245810"/>
            <a:chExt cx="3556438" cy="435406"/>
          </a:xfrm>
        </p:grpSpPr>
        <p:grpSp>
          <p:nvGrpSpPr>
            <p:cNvPr id="178" name="Google Shape;178;p20"/>
            <p:cNvGrpSpPr/>
            <p:nvPr/>
          </p:nvGrpSpPr>
          <p:grpSpPr>
            <a:xfrm>
              <a:off x="400191" y="3245810"/>
              <a:ext cx="503254" cy="435406"/>
              <a:chOff x="361850" y="3138300"/>
              <a:chExt cx="565200" cy="489000"/>
            </a:xfrm>
          </p:grpSpPr>
          <p:sp>
            <p:nvSpPr>
              <p:cNvPr id="179" name="Google Shape;179;p20"/>
              <p:cNvSpPr/>
              <p:nvPr/>
            </p:nvSpPr>
            <p:spPr>
              <a:xfrm>
                <a:off x="361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" name="Google Shape;180;p20"/>
              <p:cNvSpPr/>
              <p:nvPr/>
            </p:nvSpPr>
            <p:spPr>
              <a:xfrm>
                <a:off x="36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>
                <a:off x="361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59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819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819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>
                <a:off x="819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6" name="Google Shape;186;p20"/>
            <p:cNvGrpSpPr/>
            <p:nvPr/>
          </p:nvGrpSpPr>
          <p:grpSpPr>
            <a:xfrm>
              <a:off x="1350072" y="3245810"/>
              <a:ext cx="910345" cy="435406"/>
              <a:chOff x="1581050" y="3138300"/>
              <a:chExt cx="1022400" cy="489000"/>
            </a:xfrm>
          </p:grpSpPr>
          <p:sp>
            <p:nvSpPr>
              <p:cNvPr id="187" name="Google Shape;187;p20"/>
              <p:cNvSpPr/>
              <p:nvPr/>
            </p:nvSpPr>
            <p:spPr>
              <a:xfrm>
                <a:off x="1581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1581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>
                <a:off x="1581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1809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2038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2038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2038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2266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2495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2495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2495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98" name="Google Shape;198;p20"/>
            <p:cNvGrpSpPr/>
            <p:nvPr/>
          </p:nvGrpSpPr>
          <p:grpSpPr>
            <a:xfrm>
              <a:off x="2639193" y="3245810"/>
              <a:ext cx="1317436" cy="435406"/>
              <a:chOff x="3028850" y="3138300"/>
              <a:chExt cx="1479600" cy="489000"/>
            </a:xfrm>
          </p:grpSpPr>
          <p:sp>
            <p:nvSpPr>
              <p:cNvPr id="199" name="Google Shape;199;p20"/>
              <p:cNvSpPr/>
              <p:nvPr/>
            </p:nvSpPr>
            <p:spPr>
              <a:xfrm>
                <a:off x="417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4400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440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4400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3028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>
                <a:off x="3028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>
                <a:off x="3028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3257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3486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3486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3486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0" name="Google Shape;210;p20"/>
              <p:cNvSpPr/>
              <p:nvPr/>
            </p:nvSpPr>
            <p:spPr>
              <a:xfrm>
                <a:off x="3714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3943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3943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3943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14" name="Google Shape;214;p20"/>
          <p:cNvGrpSpPr/>
          <p:nvPr/>
        </p:nvGrpSpPr>
        <p:grpSpPr>
          <a:xfrm>
            <a:off x="676243" y="2491474"/>
            <a:ext cx="2818817" cy="367169"/>
            <a:chOff x="588642" y="1458315"/>
            <a:chExt cx="3582180" cy="466601"/>
          </a:xfrm>
        </p:grpSpPr>
        <p:sp>
          <p:nvSpPr>
            <p:cNvPr id="215" name="Google Shape;215;p20"/>
            <p:cNvSpPr/>
            <p:nvPr/>
          </p:nvSpPr>
          <p:spPr>
            <a:xfrm>
              <a:off x="714677" y="1501640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714679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588642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840716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1759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15336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1759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1976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1633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1885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21949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21949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24115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20689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23210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29823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27565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9823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31989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28562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31083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34178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4178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36344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32918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35439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3853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3853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4070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3727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3979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6" name="Google Shape;246;p20"/>
          <p:cNvSpPr/>
          <p:nvPr/>
        </p:nvSpPr>
        <p:spPr>
          <a:xfrm>
            <a:off x="4122246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070107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004085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203580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297154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35399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420015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841860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789721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723699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4923194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5016768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5073606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5139628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0" name="Google Shape;260;p20"/>
          <p:cNvGrpSpPr/>
          <p:nvPr/>
        </p:nvGrpSpPr>
        <p:grpSpPr>
          <a:xfrm>
            <a:off x="4107815" y="3835805"/>
            <a:ext cx="257592" cy="255664"/>
            <a:chOff x="4949516" y="3087603"/>
            <a:chExt cx="327350" cy="324900"/>
          </a:xfrm>
        </p:grpSpPr>
        <p:sp>
          <p:nvSpPr>
            <p:cNvPr id="261" name="Google Shape;261;p20"/>
            <p:cNvSpPr/>
            <p:nvPr/>
          </p:nvSpPr>
          <p:spPr>
            <a:xfrm>
              <a:off x="494951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18056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494951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518056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5" name="Google Shape;265;p20"/>
          <p:cNvGrpSpPr/>
          <p:nvPr/>
        </p:nvGrpSpPr>
        <p:grpSpPr>
          <a:xfrm>
            <a:off x="4997267" y="3744607"/>
            <a:ext cx="437477" cy="438060"/>
            <a:chOff x="6073366" y="2935203"/>
            <a:chExt cx="555950" cy="556691"/>
          </a:xfrm>
        </p:grpSpPr>
        <p:sp>
          <p:nvSpPr>
            <p:cNvPr id="266" name="Google Shape;266;p20"/>
            <p:cNvSpPr/>
            <p:nvPr/>
          </p:nvSpPr>
          <p:spPr>
            <a:xfrm>
              <a:off x="60733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63044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6073366" y="3163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6073366" y="33924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65330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63044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65330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6533016" y="31669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4" name="Google Shape;274;p20"/>
          <p:cNvGrpSpPr/>
          <p:nvPr/>
        </p:nvGrpSpPr>
        <p:grpSpPr>
          <a:xfrm>
            <a:off x="6066606" y="3653637"/>
            <a:ext cx="633435" cy="619999"/>
            <a:chOff x="7438766" y="2935203"/>
            <a:chExt cx="804975" cy="787900"/>
          </a:xfrm>
        </p:grpSpPr>
        <p:sp>
          <p:nvSpPr>
            <p:cNvPr id="275" name="Google Shape;275;p20"/>
            <p:cNvSpPr/>
            <p:nvPr/>
          </p:nvSpPr>
          <p:spPr>
            <a:xfrm>
              <a:off x="74387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76698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791639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814744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745429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814254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745429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814254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745429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76853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81425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7916391" y="36210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87" name="Google Shape;287;p20"/>
          <p:cNvGraphicFramePr>
            <a:graphicFrameLocks noGrp="1"/>
          </p:cNvGraphicFramePr>
          <p:nvPr/>
        </p:nvGraphicFramePr>
        <p:xfrm>
          <a:off x="468000" y="2930950"/>
          <a:ext cx="2857800" cy="438100"/>
        </p:xfrm>
        <a:graphic>
          <a:graphicData uri="http://schemas.openxmlformats.org/drawingml/2006/table">
            <a:tbl>
              <a:tblPr>
                <a:noFill/>
                <a:tableStyleId>{D9BEF464-4102-4347-B789-C0B3A26475B3}</a:tableStyleId>
              </a:tblPr>
              <a:tblGrid>
                <a:gridCol w="1337100"/>
                <a:gridCol w="459950"/>
                <a:gridCol w="547025"/>
                <a:gridCol w="51372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0"/>
          <p:cNvSpPr txBox="1"/>
          <p:nvPr/>
        </p:nvSpPr>
        <p:spPr>
          <a:xfrm>
            <a:off x="496388" y="3547296"/>
            <a:ext cx="30702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+ 1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89" name="Google Shape;289;p20"/>
          <p:cNvGraphicFramePr>
            <a:graphicFrameLocks noGrp="1"/>
          </p:cNvGraphicFramePr>
          <p:nvPr/>
        </p:nvGraphicFramePr>
        <p:xfrm>
          <a:off x="467913" y="4337413"/>
          <a:ext cx="2857975" cy="438100"/>
        </p:xfrm>
        <a:graphic>
          <a:graphicData uri="http://schemas.openxmlformats.org/drawingml/2006/table">
            <a:tbl>
              <a:tblPr>
                <a:noFill/>
                <a:tableStyleId>{D9BEF464-4102-4347-B789-C0B3A26475B3}</a:tableStyleId>
              </a:tblPr>
              <a:tblGrid>
                <a:gridCol w="1337175"/>
                <a:gridCol w="459975"/>
                <a:gridCol w="547050"/>
                <a:gridCol w="51377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0" name="Google Shape;290;p20"/>
          <p:cNvGraphicFramePr>
            <a:graphicFrameLocks noGrp="1"/>
          </p:cNvGraphicFramePr>
          <p:nvPr/>
        </p:nvGraphicFramePr>
        <p:xfrm>
          <a:off x="3806350" y="4351637"/>
          <a:ext cx="2857975" cy="438100"/>
        </p:xfrm>
        <a:graphic>
          <a:graphicData uri="http://schemas.openxmlformats.org/drawingml/2006/table">
            <a:tbl>
              <a:tblPr>
                <a:noFill/>
                <a:tableStyleId>{D9BEF464-4102-4347-B789-C0B3A26475B3}</a:tableStyleId>
              </a:tblPr>
              <a:tblGrid>
                <a:gridCol w="1337175"/>
                <a:gridCol w="459975"/>
                <a:gridCol w="547050"/>
                <a:gridCol w="51377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1" name="Google Shape;291;p20"/>
          <p:cNvGraphicFramePr>
            <a:graphicFrameLocks noGrp="1"/>
          </p:cNvGraphicFramePr>
          <p:nvPr/>
        </p:nvGraphicFramePr>
        <p:xfrm>
          <a:off x="3858513" y="2931438"/>
          <a:ext cx="2857975" cy="438100"/>
        </p:xfrm>
        <a:graphic>
          <a:graphicData uri="http://schemas.openxmlformats.org/drawingml/2006/table">
            <a:tbl>
              <a:tblPr>
                <a:noFill/>
                <a:tableStyleId>{D9BEF464-4102-4347-B789-C0B3A26475B3}</a:tableStyleId>
              </a:tblPr>
              <a:tblGrid>
                <a:gridCol w="1337175"/>
                <a:gridCol w="459975"/>
                <a:gridCol w="547050"/>
                <a:gridCol w="51377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20"/>
          <p:cNvSpPr txBox="1"/>
          <p:nvPr/>
        </p:nvSpPr>
        <p:spPr>
          <a:xfrm>
            <a:off x="468000" y="2443496"/>
            <a:ext cx="257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468000" y="3884645"/>
            <a:ext cx="257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3810800" y="2464553"/>
            <a:ext cx="2478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3810800" y="3881634"/>
            <a:ext cx="257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0"/>
          <p:cNvCxnSpPr/>
          <p:nvPr/>
        </p:nvCxnSpPr>
        <p:spPr>
          <a:xfrm flipH="1">
            <a:off x="3690875" y="2355500"/>
            <a:ext cx="0" cy="2782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0"/>
          <p:cNvSpPr txBox="1"/>
          <p:nvPr/>
        </p:nvSpPr>
        <p:spPr>
          <a:xfrm>
            <a:off x="496388" y="4872277"/>
            <a:ext cx="30702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4 + 3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3815226" y="3380638"/>
            <a:ext cx="30702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6 + 1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5257791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520565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5339125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5432699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5489538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5555560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5899984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847845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781823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981318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6074892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6131730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6197752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6315915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6263776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6397249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6490823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654766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6613684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6616578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6734741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668260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6816075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6909649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966487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7032509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3815226" y="4867782"/>
            <a:ext cx="30702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Rule: ‘term number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4’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467925" y="5298575"/>
            <a:ext cx="6624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Four students are writing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rule for the sequence: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9, 11, 13, …  Who is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incorrect answers, show how you know they are incorrect.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1990283" y="7601964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476163" y="7629452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63004" y="7111501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75" y="7105886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0"/>
          <p:cNvSpPr txBox="1"/>
          <p:nvPr/>
        </p:nvSpPr>
        <p:spPr>
          <a:xfrm flipH="1">
            <a:off x="491875" y="951462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2" name="Google Shape;33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30244" y="8982452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384700" y="8874100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 flipH="1">
            <a:off x="2188375" y="951462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5" name="Google Shape;335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711076" y="6220325"/>
            <a:ext cx="1599299" cy="94137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0"/>
          <p:cNvSpPr/>
          <p:nvPr/>
        </p:nvSpPr>
        <p:spPr>
          <a:xfrm>
            <a:off x="884122" y="6243925"/>
            <a:ext cx="13848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 multiplied by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7" name="Google Shape;337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413278" y="6192835"/>
            <a:ext cx="1496709" cy="9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0"/>
          <p:cNvSpPr/>
          <p:nvPr/>
        </p:nvSpPr>
        <p:spPr>
          <a:xfrm>
            <a:off x="2552573" y="6282338"/>
            <a:ext cx="13848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add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9" name="Google Shape;339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671413" y="7945062"/>
            <a:ext cx="1847424" cy="8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0"/>
          <p:cNvSpPr/>
          <p:nvPr/>
        </p:nvSpPr>
        <p:spPr>
          <a:xfrm>
            <a:off x="919535" y="7997338"/>
            <a:ext cx="1599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multiplied by 2 add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1" name="Google Shape;341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756863" y="7945062"/>
            <a:ext cx="1847424" cy="8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0"/>
          <p:cNvSpPr/>
          <p:nvPr/>
        </p:nvSpPr>
        <p:spPr>
          <a:xfrm>
            <a:off x="2928785" y="7997338"/>
            <a:ext cx="1599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multiplied by 2 add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4129042" y="8662175"/>
            <a:ext cx="2912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 is correct.    	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+ 7,    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	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+ 2 + 7,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+ 2 + 2 + 7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4179575" y="6211863"/>
            <a:ext cx="2912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Sam: 1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9 = 9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But 2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9 is not 11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4182000" y="6825325"/>
            <a:ext cx="2912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Sofia: The term-to-term rule could be add 2.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But 1 + 2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≠ 9, 2 + 2 ≠ 11…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term number add 2 is not the correct rule.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4163975" y="9316475"/>
            <a:ext cx="23727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Izzy: 1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2 + 9 ≠ 9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 2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2 + 9 ≠ 11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7" name="Google Shape;347;p20"/>
          <p:cNvCxnSpPr/>
          <p:nvPr/>
        </p:nvCxnSpPr>
        <p:spPr>
          <a:xfrm>
            <a:off x="47468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51" name="Shape 351"/>
        <p:cNvGrpSpPr/>
        <p:nvPr/>
      </p:nvGrpSpPr>
      <p:grpSpPr>
        <a:xfrm>
          <a:off x="0" y="0"/>
          <a:ext cx="0" cy="0"/>
        </a:xfrm>
      </p:grpSpPr>
      <p:sp>
        <p:nvSpPr>
          <p:cNvPr id="352" name="Google Shape;35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53" name="Google Shape;35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Generating a sequence using a position-to-term rule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468000" y="719750"/>
            <a:ext cx="6624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Generating terms from position-to-term rules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68000" y="1138550"/>
            <a:ext cx="6624000" cy="50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sequence, find the value of T</a:t>
            </a:r>
            <a: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b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the term number multiplied by 5 plus 6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306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the term number halved then add 2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32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the term number subtract 5	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55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10 less than the term number then multiplied by 3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150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12, 15, 18, 21, …. (with a constant additive pattern)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189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18, 19, 20, 21, … (with a constant additive pattern)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77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1.4, 1.8, 2.2, 2.6, … (with a constant additive pattern)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 baseline="-2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Generating a sequence using a position-to-term rule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2023-12-08T09:36:08.613</cp:lastPrinted>
  <dcterms:created xsi:type="dcterms:W3CDTF">2023-12-08T09:36:08Z</dcterms:created>
  <dcterms:modified xsi:type="dcterms:W3CDTF">2023-12-08T09:36:20Z</dcterms:modified>
</cp:coreProperties>
</file>