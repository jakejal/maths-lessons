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50692D9-5CA7-4755-A0E6-73E425B64892}">
  <a:tblStyle styleId="{350692D9-5CA7-4755-A0E6-73E425B648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sp>
        <p:nvSpPr>
          <p:cNvPr id="331" name="Google Shape;33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Generating a sequence using a position-to-term rule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61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Writing position-to-term rules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990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sequence, write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rule for the number of dots in each pattern.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97779" y="2813435"/>
            <a:ext cx="79200" cy="79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945869" y="2813436"/>
            <a:ext cx="79200" cy="79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>
            <a:off x="767802" y="3898054"/>
            <a:ext cx="2798561" cy="342621"/>
            <a:chOff x="400191" y="3245810"/>
            <a:chExt cx="3556438" cy="435406"/>
          </a:xfrm>
        </p:grpSpPr>
        <p:grpSp>
          <p:nvGrpSpPr>
            <p:cNvPr id="168" name="Google Shape;168;p20"/>
            <p:cNvGrpSpPr/>
            <p:nvPr/>
          </p:nvGrpSpPr>
          <p:grpSpPr>
            <a:xfrm>
              <a:off x="400191" y="3245810"/>
              <a:ext cx="503254" cy="435406"/>
              <a:chOff x="361850" y="3138300"/>
              <a:chExt cx="565200" cy="489000"/>
            </a:xfrm>
          </p:grpSpPr>
          <p:sp>
            <p:nvSpPr>
              <p:cNvPr id="169" name="Google Shape;169;p20"/>
              <p:cNvSpPr/>
              <p:nvPr/>
            </p:nvSpPr>
            <p:spPr>
              <a:xfrm>
                <a:off x="3618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" name="Google Shape;170;p20"/>
              <p:cNvSpPr/>
              <p:nvPr/>
            </p:nvSpPr>
            <p:spPr>
              <a:xfrm>
                <a:off x="361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" name="Google Shape;171;p20"/>
              <p:cNvSpPr/>
              <p:nvPr/>
            </p:nvSpPr>
            <p:spPr>
              <a:xfrm>
                <a:off x="3618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590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819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819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5" name="Google Shape;175;p20"/>
              <p:cNvSpPr/>
              <p:nvPr/>
            </p:nvSpPr>
            <p:spPr>
              <a:xfrm>
                <a:off x="819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6" name="Google Shape;176;p20"/>
            <p:cNvGrpSpPr/>
            <p:nvPr/>
          </p:nvGrpSpPr>
          <p:grpSpPr>
            <a:xfrm>
              <a:off x="1350072" y="3245810"/>
              <a:ext cx="910345" cy="435406"/>
              <a:chOff x="1581050" y="3138300"/>
              <a:chExt cx="1022400" cy="489000"/>
            </a:xfrm>
          </p:grpSpPr>
          <p:sp>
            <p:nvSpPr>
              <p:cNvPr id="177" name="Google Shape;177;p20"/>
              <p:cNvSpPr/>
              <p:nvPr/>
            </p:nvSpPr>
            <p:spPr>
              <a:xfrm>
                <a:off x="1581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1581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9" name="Google Shape;179;p20"/>
              <p:cNvSpPr/>
              <p:nvPr/>
            </p:nvSpPr>
            <p:spPr>
              <a:xfrm>
                <a:off x="1581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0" name="Google Shape;180;p20"/>
              <p:cNvSpPr/>
              <p:nvPr/>
            </p:nvSpPr>
            <p:spPr>
              <a:xfrm>
                <a:off x="18096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" name="Google Shape;181;p20"/>
              <p:cNvSpPr/>
              <p:nvPr/>
            </p:nvSpPr>
            <p:spPr>
              <a:xfrm>
                <a:off x="20382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2" name="Google Shape;182;p20"/>
              <p:cNvSpPr/>
              <p:nvPr/>
            </p:nvSpPr>
            <p:spPr>
              <a:xfrm>
                <a:off x="20382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" name="Google Shape;183;p20"/>
              <p:cNvSpPr/>
              <p:nvPr/>
            </p:nvSpPr>
            <p:spPr>
              <a:xfrm>
                <a:off x="20382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2266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" name="Google Shape;185;p20"/>
              <p:cNvSpPr/>
              <p:nvPr/>
            </p:nvSpPr>
            <p:spPr>
              <a:xfrm>
                <a:off x="24954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>
                <a:off x="2495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" name="Google Shape;187;p20"/>
              <p:cNvSpPr/>
              <p:nvPr/>
            </p:nvSpPr>
            <p:spPr>
              <a:xfrm>
                <a:off x="24954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8" name="Google Shape;188;p20"/>
            <p:cNvGrpSpPr/>
            <p:nvPr/>
          </p:nvGrpSpPr>
          <p:grpSpPr>
            <a:xfrm>
              <a:off x="2639193" y="3245810"/>
              <a:ext cx="1317436" cy="435406"/>
              <a:chOff x="3028850" y="3138300"/>
              <a:chExt cx="1479600" cy="4890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4171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44004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>
                <a:off x="4400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44004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" name="Google Shape;193;p20"/>
              <p:cNvSpPr/>
              <p:nvPr/>
            </p:nvSpPr>
            <p:spPr>
              <a:xfrm>
                <a:off x="30288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30288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30288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32574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>
                <a:off x="34860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34860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34860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>
                <a:off x="37146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3943250" y="3138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>
                <a:off x="3943250" y="3328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3943250" y="35193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04" name="Google Shape;204;p20"/>
          <p:cNvGrpSpPr/>
          <p:nvPr/>
        </p:nvGrpSpPr>
        <p:grpSpPr>
          <a:xfrm>
            <a:off x="676243" y="2491474"/>
            <a:ext cx="2818817" cy="367169"/>
            <a:chOff x="588642" y="1458315"/>
            <a:chExt cx="3582180" cy="466601"/>
          </a:xfrm>
        </p:grpSpPr>
        <p:sp>
          <p:nvSpPr>
            <p:cNvPr id="205" name="Google Shape;205;p20"/>
            <p:cNvSpPr/>
            <p:nvPr/>
          </p:nvSpPr>
          <p:spPr>
            <a:xfrm>
              <a:off x="714677" y="1501640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714679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588642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840716" y="1695583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17594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1533672" y="18241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17594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19760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16333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18854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2194988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219498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241158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206895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2321027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29823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2756572" y="18241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29823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31989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28562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31083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3417888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341788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363448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329185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3543927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3853427" y="1458315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3853429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4070022" y="1824117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3727392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3979466" y="1652258"/>
              <a:ext cx="100800" cy="1008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6" name="Google Shape;236;p20"/>
          <p:cNvSpPr/>
          <p:nvPr/>
        </p:nvSpPr>
        <p:spPr>
          <a:xfrm>
            <a:off x="4122246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070107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004085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203580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297154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353992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420015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841860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4789721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723699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923194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5016768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073606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139628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0" name="Google Shape;250;p20"/>
          <p:cNvGrpSpPr/>
          <p:nvPr/>
        </p:nvGrpSpPr>
        <p:grpSpPr>
          <a:xfrm>
            <a:off x="4107815" y="3835805"/>
            <a:ext cx="257592" cy="255664"/>
            <a:chOff x="4949516" y="3087603"/>
            <a:chExt cx="327350" cy="324900"/>
          </a:xfrm>
        </p:grpSpPr>
        <p:sp>
          <p:nvSpPr>
            <p:cNvPr id="251" name="Google Shape;251;p20"/>
            <p:cNvSpPr/>
            <p:nvPr/>
          </p:nvSpPr>
          <p:spPr>
            <a:xfrm>
              <a:off x="4949516" y="3087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5180566" y="3087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4949516" y="3316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5180566" y="3316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0"/>
          <p:cNvGrpSpPr/>
          <p:nvPr/>
        </p:nvGrpSpPr>
        <p:grpSpPr>
          <a:xfrm>
            <a:off x="4997267" y="3744607"/>
            <a:ext cx="437477" cy="438060"/>
            <a:chOff x="6073366" y="2935203"/>
            <a:chExt cx="555950" cy="556691"/>
          </a:xfrm>
        </p:grpSpPr>
        <p:sp>
          <p:nvSpPr>
            <p:cNvPr id="256" name="Google Shape;256;p20"/>
            <p:cNvSpPr/>
            <p:nvPr/>
          </p:nvSpPr>
          <p:spPr>
            <a:xfrm>
              <a:off x="607336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63044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6073366" y="3163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6073366" y="33924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65330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6304416" y="33955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6533016" y="33955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6533016" y="3166994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6066606" y="3653637"/>
            <a:ext cx="633435" cy="619999"/>
            <a:chOff x="7438766" y="2935203"/>
            <a:chExt cx="804975" cy="787900"/>
          </a:xfrm>
        </p:grpSpPr>
        <p:sp>
          <p:nvSpPr>
            <p:cNvPr id="265" name="Google Shape;265;p20"/>
            <p:cNvSpPr/>
            <p:nvPr/>
          </p:nvSpPr>
          <p:spPr>
            <a:xfrm>
              <a:off x="743876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7669816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7916391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8147441" y="2935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7454291" y="3169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8142541" y="31696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7454291" y="3398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8142541" y="33982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745429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768534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8142541" y="36268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7916391" y="3621003"/>
              <a:ext cx="96300" cy="963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77" name="Google Shape;277;p20"/>
          <p:cNvGraphicFramePr>
            <a:graphicFrameLocks noGrp="1"/>
          </p:cNvGraphicFramePr>
          <p:nvPr/>
        </p:nvGraphicFramePr>
        <p:xfrm>
          <a:off x="468000" y="2930950"/>
          <a:ext cx="2857800" cy="438100"/>
        </p:xfrm>
        <a:graphic>
          <a:graphicData uri="http://schemas.openxmlformats.org/drawingml/2006/table">
            <a:tbl>
              <a:tblPr>
                <a:noFill/>
                <a:tableStyleId>{350692D9-5CA7-4755-A0E6-73E425B64892}</a:tableStyleId>
              </a:tblPr>
              <a:tblGrid>
                <a:gridCol w="1337100"/>
                <a:gridCol w="459950"/>
                <a:gridCol w="547025"/>
                <a:gridCol w="513725"/>
              </a:tblGrid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8" name="Google Shape;278;p20"/>
          <p:cNvGraphicFramePr>
            <a:graphicFrameLocks noGrp="1"/>
          </p:cNvGraphicFramePr>
          <p:nvPr/>
        </p:nvGraphicFramePr>
        <p:xfrm>
          <a:off x="467913" y="4337413"/>
          <a:ext cx="2857975" cy="438100"/>
        </p:xfrm>
        <a:graphic>
          <a:graphicData uri="http://schemas.openxmlformats.org/drawingml/2006/table">
            <a:tbl>
              <a:tblPr>
                <a:noFill/>
                <a:tableStyleId>{350692D9-5CA7-4755-A0E6-73E425B64892}</a:tableStyleId>
              </a:tblPr>
              <a:tblGrid>
                <a:gridCol w="1337175"/>
                <a:gridCol w="459975"/>
                <a:gridCol w="547050"/>
                <a:gridCol w="513775"/>
              </a:tblGrid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9" name="Google Shape;279;p20"/>
          <p:cNvGraphicFramePr>
            <a:graphicFrameLocks noGrp="1"/>
          </p:cNvGraphicFramePr>
          <p:nvPr/>
        </p:nvGraphicFramePr>
        <p:xfrm>
          <a:off x="3806350" y="4351637"/>
          <a:ext cx="2857975" cy="438100"/>
        </p:xfrm>
        <a:graphic>
          <a:graphicData uri="http://schemas.openxmlformats.org/drawingml/2006/table">
            <a:tbl>
              <a:tblPr>
                <a:noFill/>
                <a:tableStyleId>{350692D9-5CA7-4755-A0E6-73E425B64892}</a:tableStyleId>
              </a:tblPr>
              <a:tblGrid>
                <a:gridCol w="1337175"/>
                <a:gridCol w="459975"/>
                <a:gridCol w="547050"/>
                <a:gridCol w="513775"/>
              </a:tblGrid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80" name="Google Shape;280;p20"/>
          <p:cNvGraphicFramePr>
            <a:graphicFrameLocks noGrp="1"/>
          </p:cNvGraphicFramePr>
          <p:nvPr/>
        </p:nvGraphicFramePr>
        <p:xfrm>
          <a:off x="3858513" y="2931438"/>
          <a:ext cx="2857975" cy="438100"/>
        </p:xfrm>
        <a:graphic>
          <a:graphicData uri="http://schemas.openxmlformats.org/drawingml/2006/table">
            <a:tbl>
              <a:tblPr>
                <a:noFill/>
                <a:tableStyleId>{350692D9-5CA7-4755-A0E6-73E425B64892}</a:tableStyleId>
              </a:tblPr>
              <a:tblGrid>
                <a:gridCol w="1337175"/>
                <a:gridCol w="459975"/>
                <a:gridCol w="547050"/>
                <a:gridCol w="513775"/>
              </a:tblGrid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20"/>
          <p:cNvSpPr txBox="1"/>
          <p:nvPr/>
        </p:nvSpPr>
        <p:spPr>
          <a:xfrm>
            <a:off x="468000" y="2443496"/>
            <a:ext cx="2577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468000" y="3884645"/>
            <a:ext cx="2577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810800" y="2464553"/>
            <a:ext cx="2478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3810800" y="3881634"/>
            <a:ext cx="2577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0"/>
          <p:cNvCxnSpPr/>
          <p:nvPr/>
        </p:nvCxnSpPr>
        <p:spPr>
          <a:xfrm flipH="1">
            <a:off x="3690875" y="2355500"/>
            <a:ext cx="0" cy="2782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0"/>
          <p:cNvSpPr/>
          <p:nvPr/>
        </p:nvSpPr>
        <p:spPr>
          <a:xfrm>
            <a:off x="5257791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205652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5339125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5432699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5489538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5555560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5899984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5847845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5781823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5981318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6074892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6131730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6197752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6315915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6263776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6397249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6490823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6547662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6613684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6616578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6734741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6682602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6816075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6909649" y="2590378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6966487" y="2480206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7032509" y="2361067"/>
            <a:ext cx="59400" cy="57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467925" y="5298575"/>
            <a:ext cx="6624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Four students are writing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position-to-term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rule for the sequence: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9, 11, 13, …  Who is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the incorrect answers, show how you know they are incorrect.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1990283" y="7601964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476163" y="7629452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5" name="Google Shape;3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263004" y="7111501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275" y="7105886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 txBox="1"/>
          <p:nvPr/>
        </p:nvSpPr>
        <p:spPr>
          <a:xfrm flipH="1">
            <a:off x="491875" y="9514625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8" name="Google Shape;3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30244" y="8982452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2384700" y="8874100"/>
            <a:ext cx="675955" cy="6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0"/>
          <p:cNvSpPr txBox="1"/>
          <p:nvPr/>
        </p:nvSpPr>
        <p:spPr>
          <a:xfrm flipH="1">
            <a:off x="2188375" y="9514625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1" name="Google Shape;321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711076" y="6220325"/>
            <a:ext cx="1599299" cy="94137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/>
          <p:nvPr/>
        </p:nvSpPr>
        <p:spPr>
          <a:xfrm>
            <a:off x="884122" y="6243925"/>
            <a:ext cx="13848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term is the term number  multiplied by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3" name="Google Shape;323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2413278" y="6192835"/>
            <a:ext cx="1496709" cy="9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0"/>
          <p:cNvSpPr/>
          <p:nvPr/>
        </p:nvSpPr>
        <p:spPr>
          <a:xfrm>
            <a:off x="2552573" y="6282338"/>
            <a:ext cx="13848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term is the term number add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671413" y="7945062"/>
            <a:ext cx="1847424" cy="82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0"/>
          <p:cNvSpPr/>
          <p:nvPr/>
        </p:nvSpPr>
        <p:spPr>
          <a:xfrm>
            <a:off x="919535" y="7997338"/>
            <a:ext cx="15993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term is the term number multiplied by 2 add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7" name="Google Shape;327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2756863" y="7945062"/>
            <a:ext cx="1847424" cy="82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0"/>
          <p:cNvSpPr/>
          <p:nvPr/>
        </p:nvSpPr>
        <p:spPr>
          <a:xfrm>
            <a:off x="2928785" y="7997338"/>
            <a:ext cx="15993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term is the term number multiplied by 2 add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9" name="Google Shape;329;p20"/>
          <p:cNvCxnSpPr/>
          <p:nvPr/>
        </p:nvCxnSpPr>
        <p:spPr>
          <a:xfrm>
            <a:off x="47468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33" name="Shape 333"/>
        <p:cNvGrpSpPr/>
        <p:nvPr/>
      </p:nvGrpSpPr>
      <p:grpSpPr>
        <a:xfrm>
          <a:off x="0" y="0"/>
          <a:ext cx="0" cy="0"/>
        </a:xfrm>
      </p:grpSpPr>
      <p:sp>
        <p:nvSpPr>
          <p:cNvPr id="334" name="Google Shape;33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35" name="Google Shape;33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Generating a sequence using a position-to-term rule</a:t>
            </a:r>
            <a:endParaRPr/>
          </a:p>
        </p:txBody>
      </p:sp>
      <p:sp>
        <p:nvSpPr>
          <p:cNvPr id="336" name="Google Shape;33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68000" y="719750"/>
            <a:ext cx="66240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Generating terms from position-to-term rules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68000" y="1138550"/>
            <a:ext cx="6624000" cy="4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sequence, find the value of T</a:t>
            </a:r>
            <a:r>
              <a:rPr lang="en-GB" sz="1200" baseline="-25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br>
              <a:rPr lang="en-GB" sz="1200" baseline="-25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 baseline="-25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 baseline="-25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term is the term number multiplied by 5 plus 6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term is the term number halved then add 2	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term is the term number subtract 5	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term is 10 less than the term number then multiplied by 3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12, 15, 18, 21, …. (with a constant additive pattern)	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18, 19, 20, 21, … (with a constant additive pattern)	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1.4, 1.8, 2.2, 2.6, … (with a constant additive pattern)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Generating a sequence using a position-to-term rule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2023-12-08T09:33:16.663</cp:lastPrinted>
  <dcterms:created xsi:type="dcterms:W3CDTF">2023-12-08T09:33:16Z</dcterms:created>
  <dcterms:modified xsi:type="dcterms:W3CDTF">2023-12-08T09:36:18Z</dcterms:modified>
</cp:coreProperties>
</file>