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FD9E331-171E-4808-9E1E-5CC3F39DF49B}">
  <a:tblStyle styleId="{8FD9E331-171E-4808-9E1E-5CC3F39DF4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1" name="Shape 271"/>
        <p:cNvGrpSpPr/>
        <p:nvPr/>
      </p:nvGrpSpPr>
      <p:grpSpPr>
        <a:xfrm>
          <a:off x="0" y="0"/>
          <a:ext cx="0" cy="0"/>
        </a:xfrm>
      </p:grpSpPr>
      <p:sp>
        <p:nvSpPr>
          <p:cNvPr id="272" name="Google Shape;272;g29ac9c5ae72_0_98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9ac9c5ae72_0_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8" name="Shape 368"/>
        <p:cNvGrpSpPr/>
        <p:nvPr/>
      </p:nvGrpSpPr>
      <p:grpSpPr>
        <a:xfrm>
          <a:off x="0" y="0"/>
          <a:ext cx="0" cy="0"/>
        </a:xfrm>
      </p:grpSpPr>
      <p:sp>
        <p:nvSpPr>
          <p:cNvPr id="369" name="Google Shape;36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sequences</a:t>
            </a:r>
            <a:endParaRPr/>
          </a:p>
        </p:txBody>
      </p:sp>
      <p:grpSp>
        <p:nvGrpSpPr>
          <p:cNvPr id="173" name="Google Shape;173;p20"/>
          <p:cNvGrpSpPr/>
          <p:nvPr/>
        </p:nvGrpSpPr>
        <p:grpSpPr>
          <a:xfrm>
            <a:off x="861472" y="6074477"/>
            <a:ext cx="5605914" cy="417173"/>
            <a:chOff x="430854" y="3579502"/>
            <a:chExt cx="5605914" cy="417173"/>
          </a:xfrm>
        </p:grpSpPr>
        <p:sp>
          <p:nvSpPr>
            <p:cNvPr id="174" name="Google Shape;174;p20"/>
            <p:cNvSpPr/>
            <p:nvPr/>
          </p:nvSpPr>
          <p:spPr>
            <a:xfrm>
              <a:off x="430854" y="357950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1327424" y="358827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2230934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0911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111727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200624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29719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5581068" y="3626775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39293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38101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48437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46483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" name="Google Shape;186;p20"/>
          <p:cNvSpPr txBox="1"/>
          <p:nvPr/>
        </p:nvSpPr>
        <p:spPr>
          <a:xfrm>
            <a:off x="861475" y="5388000"/>
            <a:ext cx="623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No. For 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=4 and 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=16 the rule is add 6. But that would make 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=28 not T</a:t>
            </a:r>
            <a:r>
              <a:rPr lang="en-GB" sz="1200" baseline="-25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200" baseline="-25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1850325"/>
            <a:ext cx="66240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set of terms, work out if they could form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 sequence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 Explain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861472" y="2485212"/>
            <a:ext cx="5605914" cy="417173"/>
            <a:chOff x="430854" y="1742837"/>
            <a:chExt cx="5605914" cy="417173"/>
          </a:xfrm>
        </p:grpSpPr>
        <p:sp>
          <p:nvSpPr>
            <p:cNvPr id="189" name="Google Shape;189;p20"/>
            <p:cNvSpPr/>
            <p:nvPr/>
          </p:nvSpPr>
          <p:spPr>
            <a:xfrm>
              <a:off x="430854" y="17428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1327424" y="17516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230934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13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0911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11727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200624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29719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0"/>
            <p:cNvSpPr txBox="1"/>
            <p:nvPr/>
          </p:nvSpPr>
          <p:spPr>
            <a:xfrm>
              <a:off x="5581068" y="17901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39293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21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98" name="Google Shape;198;p20"/>
            <p:cNvSpPr txBox="1"/>
            <p:nvPr/>
          </p:nvSpPr>
          <p:spPr>
            <a:xfrm>
              <a:off x="38101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48437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25 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46483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861472" y="3630834"/>
            <a:ext cx="5605914" cy="417173"/>
            <a:chOff x="430854" y="2428637"/>
            <a:chExt cx="5605914" cy="417173"/>
          </a:xfrm>
        </p:grpSpPr>
        <p:sp>
          <p:nvSpPr>
            <p:cNvPr id="202" name="Google Shape;202;p20"/>
            <p:cNvSpPr/>
            <p:nvPr/>
          </p:nvSpPr>
          <p:spPr>
            <a:xfrm>
              <a:off x="430854" y="24286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327424" y="24374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0.15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2230934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0.2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30911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0.25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11727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0"/>
            <p:cNvSpPr txBox="1"/>
            <p:nvPr/>
          </p:nvSpPr>
          <p:spPr>
            <a:xfrm>
              <a:off x="200624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29719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5581068" y="24759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39293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0.3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38101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48437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0.35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6483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861472" y="4852655"/>
            <a:ext cx="5682114" cy="417173"/>
            <a:chOff x="430854" y="3038237"/>
            <a:chExt cx="5682114" cy="417173"/>
          </a:xfrm>
        </p:grpSpPr>
        <p:sp>
          <p:nvSpPr>
            <p:cNvPr id="215" name="Google Shape;215;p20"/>
            <p:cNvSpPr/>
            <p:nvPr/>
          </p:nvSpPr>
          <p:spPr>
            <a:xfrm>
              <a:off x="430854" y="30382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1327424" y="30470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230934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30911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111727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0"/>
            <p:cNvSpPr txBox="1"/>
            <p:nvPr/>
          </p:nvSpPr>
          <p:spPr>
            <a:xfrm>
              <a:off x="200624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29719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5657268" y="30855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39293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38101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48437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46483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7" name="Google Shape;227;p20"/>
          <p:cNvSpPr txBox="1"/>
          <p:nvPr/>
        </p:nvSpPr>
        <p:spPr>
          <a:xfrm>
            <a:off x="861466" y="3057947"/>
            <a:ext cx="27771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Yes. Add 4 each 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861466" y="4246716"/>
            <a:ext cx="2696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Yes. Add 0.05 each 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861466" y="6647225"/>
            <a:ext cx="2696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Yes. Add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each 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30" name="Google Shape;230;p20"/>
          <p:cNvGraphicFramePr>
            <a:graphicFrameLocks noGrp="1"/>
          </p:cNvGraphicFramePr>
          <p:nvPr/>
        </p:nvGraphicFramePr>
        <p:xfrm>
          <a:off x="467994" y="2485200"/>
          <a:ext cx="693500" cy="39168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34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0"/>
          <p:cNvSpPr txBox="1"/>
          <p:nvPr/>
        </p:nvSpPr>
        <p:spPr>
          <a:xfrm>
            <a:off x="468000" y="1513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Identifying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84651" y="7108750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601148" y="7120916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222416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813946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1456648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2067918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73195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4578420" y="7150951"/>
            <a:ext cx="3132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390308" y="7118671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330831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019063" y="7120899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884671" y="7162193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4" name="Google Shape;244;p20" descr="&lt;math xmlns=&quot;http://www.w3.org/1998/Math/MathML&quot; display=&quot;block&quot; data-is-equatio=&quot;1&quot; data-latex=&quot;2&quot;&gt;&lt;mn&gt;2&lt;/mn&gt;&lt;/math&gt;" title="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312" y="7259106"/>
            <a:ext cx="104174" cy="156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014" y="7126188"/>
            <a:ext cx="235164" cy="3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&lt;math xmlns=&quot;http://www.w3.org/1998/Math/MathML&quot; display=&quot;block&quot; data-is-equatio=&quot;1&quot; data-latex=&quot;2\frac{1}{2}=\frac{15}{6}&quot;&gt;&lt;mn&gt;2&lt;/mn&gt;&lt;mfrac&gt;&lt;mn&gt;1&lt;/mn&gt;&lt;mn&gt;2&lt;/mn&gt;&lt;/mfrac&gt;&lt;mo&gt;=&lt;/mo&gt;&lt;mfrac&gt;&lt;mn&gt;15&lt;/mn&gt;&lt;mn&gt;6&lt;/mn&gt;&lt;/mfrac&gt;&lt;/math&gt;" title="2 and one half equals fifteen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2250" y="7672872"/>
            <a:ext cx="615931" cy="334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&lt;math xmlns=&quot;http://www.w3.org/1998/Math/MathML&quot; display=&quot;block&quot; data-is-equatio=&quot;1&quot; data-latex=&quot;2=\frac{12}{6}&quot;&gt;&lt;mn&gt;2&lt;/mn&gt;&lt;mo&gt;=&lt;/mo&gt;&lt;mfrac&gt;&lt;mn&gt;12&lt;/mn&gt;&lt;mn&gt;6&lt;/mn&gt;&lt;/mfrac&gt;&lt;/math&gt;" title="2 equals twelve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1585" y="7683255"/>
            <a:ext cx="567581" cy="39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/>
          <p:nvPr/>
        </p:nvSpPr>
        <p:spPr>
          <a:xfrm>
            <a:off x="984651" y="8209077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601148" y="8221243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2222416" y="8221226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2813946" y="8221226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56648" y="8262520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2067918" y="8262520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2731951" y="8262520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4578420" y="8251278"/>
            <a:ext cx="3132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3390308" y="8218998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308311" y="8262520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019063" y="8221226"/>
            <a:ext cx="437100" cy="4302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884671" y="8262520"/>
            <a:ext cx="1041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0" name="Google Shape;260;p20" descr="&lt;math xmlns=&quot;http://www.w3.org/1998/Math/MathML&quot; display=&quot;block&quot; data-is-equatio=&quot;1&quot; data-latex=&quot;\frac{15}{6}&quot;&gt;&lt;mfrac&gt;&lt;mn&gt;15&lt;/mn&gt;&lt;mn&gt;6&lt;/mn&gt;&lt;/mfrac&gt;&lt;/math&gt;" title="fifteen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94188" y="8226190"/>
            <a:ext cx="217837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&lt;math xmlns=&quot;http://www.w3.org/1998/Math/MathML&quot; display=&quot;block&quot; data-is-equatio=&quot;1&quot; data-latex=&quot;\frac{14}{6}&quot;&gt;&lt;mfrac&gt;&lt;mn&gt;14&lt;/mn&gt;&lt;mn&gt;6&lt;/mn&gt;&lt;/mfrac&gt;&lt;/math&gt;" title="fourteen six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05444" y="8246088"/>
            <a:ext cx="217837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0" descr="&lt;math xmlns=&quot;http://www.w3.org/1998/Math/MathML&quot; display=&quot;block&quot; data-is-equatio=&quot;1&quot; data-latex=&quot;\frac{13}{6}&quot;&gt;&lt;mfrac&gt;&lt;mn&gt;13&lt;/mn&gt;&lt;mn&gt;6&lt;/mn&gt;&lt;/mfrac&gt;&lt;/math&gt;" title="thirteen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43104" y="8238361"/>
            <a:ext cx="217836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&lt;math xmlns=&quot;http://www.w3.org/1998/Math/MathML&quot; display=&quot;block&quot; data-is-equatio=&quot;1&quot; data-latex=&quot;\frac{12}{6}&quot;&gt;&lt;mfrac&gt;&lt;mn&gt;12&lt;/mn&gt;&lt;mn&gt;6&lt;/mn&gt;&lt;/mfrac&gt;&lt;/math&gt;" title="twelve six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19463" y="8238361"/>
            <a:ext cx="217836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73413" y="7140741"/>
            <a:ext cx="124256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0" descr="&lt;math xmlns=&quot;http://www.w3.org/1998/Math/MathML&quot; display=&quot;block&quot; data-is-equatio=&quot;1&quot; data-latex=&quot;\frac{5}{3}=\frac{10}{6}&quot;&gt;&lt;mfrac&gt;&lt;mn&gt;5&lt;/mn&gt;&lt;mn&gt;3&lt;/mn&gt;&lt;/mfrac&gt;&lt;mo&gt;=&lt;/mo&gt;&lt;mfrac&gt;&lt;mn&gt;10&lt;/mn&gt;&lt;mn&gt;6&lt;/mn&gt;&lt;/mfrac&gt;&lt;/math&gt;" title="five thirds equals ten six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45605" y="7696778"/>
            <a:ext cx="567575" cy="36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 descr="&lt;math xmlns=&quot;http://www.w3.org/1998/Math/MathML&quot; display=&quot;block&quot; data-is-equatio=&quot;1&quot; data-latex=&quot;\frac{11}{6}&quot;&gt;&lt;mfrac&gt;&lt;mn&gt;11&lt;/mn&gt;&lt;mn&gt;6&lt;/mn&gt;&lt;/mfrac&gt;&lt;/math&gt;" title="eleven six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08479" y="8246084"/>
            <a:ext cx="217836" cy="39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 descr="&lt;math xmlns=&quot;http://www.w3.org/1998/Math/MathML&quot; display=&quot;block&quot; data-is-equatio=&quot;1&quot; data-latex=&quot;\frac{10}{6}&quot;&gt;&lt;mfrac&gt;&lt;mn&gt;10&lt;/mn&gt;&lt;mn&gt;6&lt;/mn&gt;&lt;/mfrac&gt;&lt;/math&gt;" title="ten six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28600" y="8246080"/>
            <a:ext cx="217836" cy="3960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984650" y="8985425"/>
            <a:ext cx="2696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Yes. Add 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each time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69" name="Google Shape;269;p20" descr="&lt;math xmlns=&quot;http://www.w3.org/1998/Math/MathML&quot; display=&quot;block&quot; data-is-equatio=&quot;1&quot; data-latex=&quot;-\frac{1}{6}&quot;&gt;&lt;mo&gt;−&lt;/mo&gt;&lt;mfrac&gt;&lt;mn&gt;1&lt;/mn&gt;&lt;mn&gt;6&lt;/mn&gt;&lt;/mfrac&gt;&lt;/math&gt;" title="negative one six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625305" y="8935563"/>
            <a:ext cx="223395" cy="33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0" name="Google Shape;270;p20"/>
          <p:cNvGraphicFramePr>
            <a:graphicFrameLocks noGrp="1"/>
          </p:cNvGraphicFramePr>
          <p:nvPr/>
        </p:nvGraphicFramePr>
        <p:xfrm>
          <a:off x="467994" y="7036850"/>
          <a:ext cx="693500" cy="62505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4" name="Shape 274"/>
        <p:cNvGrpSpPr/>
        <p:nvPr/>
      </p:nvGrpSpPr>
      <p:grpSpPr>
        <a:xfrm>
          <a:off x="0" y="0"/>
          <a:ext cx="0" cy="0"/>
        </a:xfrm>
      </p:grpSpPr>
      <p:sp>
        <p:nvSpPr>
          <p:cNvPr id="275" name="Google Shape;27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Arithmetic sequences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468000" y="720000"/>
            <a:ext cx="66240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 work out the perimeter and area of each term and state whether they form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 sequence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862761" y="1930692"/>
            <a:ext cx="2511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616679" y="1930692"/>
            <a:ext cx="5019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2657043" y="1930692"/>
            <a:ext cx="7533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321217" y="1870731"/>
            <a:ext cx="228300" cy="2199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5075924" y="1790730"/>
            <a:ext cx="382200" cy="369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6031072" y="1675134"/>
            <a:ext cx="546000" cy="530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3" name="Google Shape;283;p21"/>
          <p:cNvGraphicFramePr>
            <a:graphicFrameLocks noGrp="1"/>
          </p:cNvGraphicFramePr>
          <p:nvPr/>
        </p:nvGraphicFramePr>
        <p:xfrm>
          <a:off x="468075" y="235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1401325"/>
                <a:gridCol w="513100"/>
                <a:gridCol w="529175"/>
                <a:gridCol w="508325"/>
              </a:tblGrid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21"/>
          <p:cNvSpPr txBox="1"/>
          <p:nvPr/>
        </p:nvSpPr>
        <p:spPr>
          <a:xfrm>
            <a:off x="1154655" y="1930700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2163799" y="1930700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3487099" y="1930691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860903" y="187248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88" name="Google Shape;288;p21"/>
          <p:cNvCxnSpPr/>
          <p:nvPr/>
        </p:nvCxnSpPr>
        <p:spPr>
          <a:xfrm rot="5400000">
            <a:off x="696721" y="20531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9" name="Google Shape;289;p21"/>
          <p:cNvSpPr txBox="1"/>
          <p:nvPr/>
        </p:nvSpPr>
        <p:spPr>
          <a:xfrm>
            <a:off x="860903" y="1652683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515252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5400000">
            <a:off x="1452162" y="20500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2" name="Google Shape;292;p21"/>
          <p:cNvCxnSpPr/>
          <p:nvPr/>
        </p:nvCxnSpPr>
        <p:spPr>
          <a:xfrm>
            <a:off x="1612290" y="1872487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3" name="Google Shape;293;p21"/>
          <p:cNvSpPr txBox="1"/>
          <p:nvPr/>
        </p:nvSpPr>
        <p:spPr>
          <a:xfrm>
            <a:off x="1727882" y="1652683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 rot="5400000">
            <a:off x="2466411" y="2050022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5" name="Google Shape;295;p21"/>
          <p:cNvCxnSpPr/>
          <p:nvPr/>
        </p:nvCxnSpPr>
        <p:spPr>
          <a:xfrm>
            <a:off x="2626539" y="1872487"/>
            <a:ext cx="783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6" name="Google Shape;296;p21"/>
          <p:cNvSpPr txBox="1"/>
          <p:nvPr/>
        </p:nvSpPr>
        <p:spPr>
          <a:xfrm>
            <a:off x="2857727" y="1652683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1288632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2302881" y="194006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9" name="Google Shape;299;p21"/>
          <p:cNvCxnSpPr/>
          <p:nvPr/>
        </p:nvCxnSpPr>
        <p:spPr>
          <a:xfrm>
            <a:off x="4312743" y="1814690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0" name="Google Shape;300;p21"/>
          <p:cNvCxnSpPr/>
          <p:nvPr/>
        </p:nvCxnSpPr>
        <p:spPr>
          <a:xfrm rot="5400000">
            <a:off x="4148561" y="199532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1" name="Google Shape;301;p21"/>
          <p:cNvSpPr txBox="1"/>
          <p:nvPr/>
        </p:nvSpPr>
        <p:spPr>
          <a:xfrm>
            <a:off x="4312743" y="1594885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3967093" y="188226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3" name="Google Shape;303;p21"/>
          <p:cNvCxnSpPr/>
          <p:nvPr/>
        </p:nvCxnSpPr>
        <p:spPr>
          <a:xfrm>
            <a:off x="5058152" y="1716990"/>
            <a:ext cx="406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4" name="Google Shape;304;p21"/>
          <p:cNvCxnSpPr/>
          <p:nvPr/>
        </p:nvCxnSpPr>
        <p:spPr>
          <a:xfrm flipH="1">
            <a:off x="5013370" y="1778225"/>
            <a:ext cx="0" cy="366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5" name="Google Shape;305;p21"/>
          <p:cNvSpPr txBox="1"/>
          <p:nvPr/>
        </p:nvSpPr>
        <p:spPr>
          <a:xfrm>
            <a:off x="5094247" y="1491955"/>
            <a:ext cx="3456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694326" y="1830210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6031079" y="1617246"/>
            <a:ext cx="54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8" name="Google Shape;308;p21"/>
          <p:cNvSpPr txBox="1"/>
          <p:nvPr/>
        </p:nvSpPr>
        <p:spPr>
          <a:xfrm>
            <a:off x="6161819" y="1411707"/>
            <a:ext cx="4644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9" name="Google Shape;309;p21"/>
          <p:cNvCxnSpPr/>
          <p:nvPr/>
        </p:nvCxnSpPr>
        <p:spPr>
          <a:xfrm flipH="1">
            <a:off x="5961995" y="1690611"/>
            <a:ext cx="0" cy="530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0" name="Google Shape;310;p21"/>
          <p:cNvSpPr txBox="1"/>
          <p:nvPr/>
        </p:nvSpPr>
        <p:spPr>
          <a:xfrm>
            <a:off x="5642949" y="1765812"/>
            <a:ext cx="3009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02701" y="1855002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554047" y="1855002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6646154" y="1854992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4" name="Google Shape;314;p21"/>
          <p:cNvGraphicFramePr>
            <a:graphicFrameLocks noGrp="1"/>
          </p:cNvGraphicFramePr>
          <p:nvPr/>
        </p:nvGraphicFramePr>
        <p:xfrm>
          <a:off x="4084875" y="2374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1401250"/>
                <a:gridCol w="513100"/>
                <a:gridCol w="529150"/>
                <a:gridCol w="508300"/>
              </a:tblGrid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5" name="Google Shape;315;p21"/>
          <p:cNvGraphicFramePr>
            <a:graphicFrameLocks noGrp="1"/>
          </p:cNvGraphicFramePr>
          <p:nvPr/>
        </p:nvGraphicFramePr>
        <p:xfrm>
          <a:off x="468000" y="409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1401350"/>
                <a:gridCol w="513125"/>
                <a:gridCol w="529175"/>
                <a:gridCol w="508350"/>
              </a:tblGrid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6" name="Google Shape;316;p21"/>
          <p:cNvSpPr/>
          <p:nvPr/>
        </p:nvSpPr>
        <p:spPr>
          <a:xfrm>
            <a:off x="871549" y="3581085"/>
            <a:ext cx="2511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625467" y="3581085"/>
            <a:ext cx="5019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2665831" y="3581085"/>
            <a:ext cx="753300" cy="222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163442" y="3581093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2172586" y="3581093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1" name="Google Shape;321;p21"/>
          <p:cNvCxnSpPr/>
          <p:nvPr/>
        </p:nvCxnSpPr>
        <p:spPr>
          <a:xfrm>
            <a:off x="869690" y="3522880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2" name="Google Shape;322;p21"/>
          <p:cNvCxnSpPr/>
          <p:nvPr/>
        </p:nvCxnSpPr>
        <p:spPr>
          <a:xfrm rot="5400000">
            <a:off x="705508" y="37035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3" name="Google Shape;323;p21"/>
          <p:cNvSpPr txBox="1"/>
          <p:nvPr/>
        </p:nvSpPr>
        <p:spPr>
          <a:xfrm>
            <a:off x="869690" y="3303075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524040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5" name="Google Shape;325;p21"/>
          <p:cNvCxnSpPr/>
          <p:nvPr/>
        </p:nvCxnSpPr>
        <p:spPr>
          <a:xfrm rot="5400000">
            <a:off x="1460950" y="37004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6" name="Google Shape;326;p21"/>
          <p:cNvCxnSpPr/>
          <p:nvPr/>
        </p:nvCxnSpPr>
        <p:spPr>
          <a:xfrm>
            <a:off x="1621078" y="352288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7" name="Google Shape;327;p21"/>
          <p:cNvSpPr txBox="1"/>
          <p:nvPr/>
        </p:nvSpPr>
        <p:spPr>
          <a:xfrm>
            <a:off x="1736669" y="3303075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 rot="5400000">
            <a:off x="2475199" y="3700414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9" name="Google Shape;329;p21"/>
          <p:cNvCxnSpPr/>
          <p:nvPr/>
        </p:nvCxnSpPr>
        <p:spPr>
          <a:xfrm>
            <a:off x="2635327" y="3522880"/>
            <a:ext cx="783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0" name="Google Shape;330;p21"/>
          <p:cNvSpPr txBox="1"/>
          <p:nvPr/>
        </p:nvSpPr>
        <p:spPr>
          <a:xfrm>
            <a:off x="2866515" y="3303075"/>
            <a:ext cx="5019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297420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311669" y="3590452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073005" y="3699702"/>
            <a:ext cx="741300" cy="120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278575" y="3664446"/>
            <a:ext cx="569700" cy="183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6286691" y="3619491"/>
            <a:ext cx="382200" cy="280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845868" y="3629466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5873074" y="3629466"/>
            <a:ext cx="1149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3472372" y="3581090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709704" y="3638875"/>
            <a:ext cx="3456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" name="Google Shape;340;p21"/>
          <p:cNvCxnSpPr/>
          <p:nvPr/>
        </p:nvCxnSpPr>
        <p:spPr>
          <a:xfrm>
            <a:off x="4085198" y="3647622"/>
            <a:ext cx="7245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1" name="Google Shape;341;p21"/>
          <p:cNvCxnSpPr/>
          <p:nvPr/>
        </p:nvCxnSpPr>
        <p:spPr>
          <a:xfrm flipH="1">
            <a:off x="4023127" y="3684196"/>
            <a:ext cx="0" cy="171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2" name="Google Shape;342;p21"/>
          <p:cNvSpPr txBox="1"/>
          <p:nvPr/>
        </p:nvSpPr>
        <p:spPr>
          <a:xfrm>
            <a:off x="4335096" y="3418677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3727184" y="3659843"/>
            <a:ext cx="2511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>
            <a:off x="5278580" y="3601851"/>
            <a:ext cx="557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5" name="Google Shape;345;p21"/>
          <p:cNvCxnSpPr/>
          <p:nvPr/>
        </p:nvCxnSpPr>
        <p:spPr>
          <a:xfrm rot="5400000">
            <a:off x="5104123" y="376727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6" name="Google Shape;346;p21"/>
          <p:cNvSpPr txBox="1"/>
          <p:nvPr/>
        </p:nvSpPr>
        <p:spPr>
          <a:xfrm>
            <a:off x="5402571" y="3400782"/>
            <a:ext cx="345600" cy="1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4936549" y="3668494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8" name="Google Shape;348;p21"/>
          <p:cNvCxnSpPr/>
          <p:nvPr/>
        </p:nvCxnSpPr>
        <p:spPr>
          <a:xfrm>
            <a:off x="6296485" y="3558672"/>
            <a:ext cx="362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9" name="Google Shape;349;p21"/>
          <p:cNvCxnSpPr/>
          <p:nvPr/>
        </p:nvCxnSpPr>
        <p:spPr>
          <a:xfrm rot="5400000">
            <a:off x="6108695" y="3739307"/>
            <a:ext cx="2388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0" name="Google Shape;350;p21"/>
          <p:cNvSpPr txBox="1"/>
          <p:nvPr/>
        </p:nvSpPr>
        <p:spPr>
          <a:xfrm>
            <a:off x="6330674" y="3338867"/>
            <a:ext cx="3456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5927226" y="3626245"/>
            <a:ext cx="3009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2" name="Google Shape;352;p21"/>
          <p:cNvGraphicFramePr>
            <a:graphicFrameLocks noGrp="1"/>
          </p:cNvGraphicFramePr>
          <p:nvPr/>
        </p:nvGraphicFramePr>
        <p:xfrm>
          <a:off x="4099375" y="4130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1401350"/>
                <a:gridCol w="513125"/>
                <a:gridCol w="529175"/>
                <a:gridCol w="508350"/>
              </a:tblGrid>
              <a:tr h="234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4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0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53" name="Google Shape;353;p21"/>
          <p:cNvSpPr/>
          <p:nvPr/>
        </p:nvSpPr>
        <p:spPr>
          <a:xfrm>
            <a:off x="470525" y="2603275"/>
            <a:ext cx="2952000" cy="219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468000" y="2821250"/>
            <a:ext cx="2952000" cy="238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076400" y="2621650"/>
            <a:ext cx="2951700" cy="238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095700" y="4378125"/>
            <a:ext cx="2951700" cy="183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3175749" y="971499"/>
            <a:ext cx="1749300" cy="385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Kalam"/>
                <a:ea typeface="Kalam"/>
                <a:cs typeface="Kalam"/>
                <a:sym typeface="Kalam"/>
              </a:rPr>
              <a:t>Linear sequences</a:t>
            </a:r>
            <a:endParaRPr sz="12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515252" y="1609628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3936239" y="1609628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504679" y="3347241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3941736" y="3347241"/>
            <a:ext cx="2283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21"/>
          <p:cNvCxnSpPr/>
          <p:nvPr/>
        </p:nvCxnSpPr>
        <p:spPr>
          <a:xfrm flipH="1">
            <a:off x="3710182" y="1489790"/>
            <a:ext cx="0" cy="3583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1"/>
          <p:cNvCxnSpPr/>
          <p:nvPr/>
        </p:nvCxnSpPr>
        <p:spPr>
          <a:xfrm>
            <a:off x="474757" y="5084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1"/>
          <p:cNvSpPr txBox="1"/>
          <p:nvPr/>
        </p:nvSpPr>
        <p:spPr>
          <a:xfrm>
            <a:off x="470525" y="5457500"/>
            <a:ext cx="66240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sequence state whether it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or not. If it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arithmetic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describe the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70525" y="5177000"/>
            <a:ext cx="6624000" cy="2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Describing arithmetic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 txBox="1"/>
          <p:nvPr/>
        </p:nvSpPr>
        <p:spPr>
          <a:xfrm>
            <a:off x="474750" y="5922800"/>
            <a:ext cx="6610500" cy="4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15, 24, 33,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12, 15, 22,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−3, −11, −19, …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1, 3, 9, 27, …	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1.5, 2.6, 3.7, 5.8,...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25, 15, 10, 5, …	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…		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16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…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200"/>
              <a:buFont typeface="Lexend"/>
              <a:buAutoNum type="alphaLcParenR"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…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400"/>
              <a:buFont typeface="Lexend"/>
              <a:buAutoNum type="alphaLcParenR"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…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22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 txBox="1"/>
          <p:nvPr/>
        </p:nvSpPr>
        <p:spPr>
          <a:xfrm>
            <a:off x="3107050" y="5922800"/>
            <a:ext cx="3978300" cy="4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6 and common difference 9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7 then 3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5 and common difference −8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2, then 6, then 18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differences of 1.1, 1.1 and 2.1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10, then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5, then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2</a:t>
            </a:r>
            <a:b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</a:b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b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sz="1200" i="1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</a:t>
            </a:r>
            <a:r>
              <a:rPr lang="en-GB" sz="1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2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71" name="Shape 371"/>
        <p:cNvGrpSpPr/>
        <p:nvPr/>
      </p:nvGrpSpPr>
      <p:grpSpPr>
        <a:xfrm>
          <a:off x="0" y="0"/>
          <a:ext cx="0" cy="0"/>
        </a:xfrm>
      </p:grpSpPr>
      <p:sp>
        <p:nvSpPr>
          <p:cNvPr id="372" name="Google Shape;372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73" name="Google Shape;373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Arithmetic sequences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468000" y="864000"/>
            <a:ext cx="6624000" cy="5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Below are the first four terms in four different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linear sequences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Fill in the table with true or false for each sequence.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77" name="Google Shape;377;p22"/>
          <p:cNvGraphicFramePr>
            <a:graphicFrameLocks noGrp="1"/>
          </p:cNvGraphicFramePr>
          <p:nvPr/>
        </p:nvGraphicFramePr>
        <p:xfrm>
          <a:off x="468000" y="169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{8FD9E331-171E-4808-9E1E-5CC3F39DF49B}</a:tableStyleId>
              </a:tblPr>
              <a:tblGrid>
                <a:gridCol w="1716375"/>
                <a:gridCol w="1239900"/>
                <a:gridCol w="1239900"/>
                <a:gridCol w="1239900"/>
                <a:gridCol w="1187950"/>
              </a:tblGrid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1, 5, 9, 13,..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7, 13, 19, 25,..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80, 75, 70, 65,..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22, 19, 16, 13,..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Contains negative numbers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6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Common difference is positive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1 as a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25 as a 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5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values greater than 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Times</vt:lpstr>
      <vt:lpstr>simple-light-2</vt:lpstr>
      <vt:lpstr>Arithmetic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2023-12-08T09:33:46.241</cp:lastPrinted>
  <dcterms:created xsi:type="dcterms:W3CDTF">2023-12-08T09:33:46Z</dcterms:created>
  <dcterms:modified xsi:type="dcterms:W3CDTF">2023-12-08T09:36:46Z</dcterms:modified>
</cp:coreProperties>
</file>