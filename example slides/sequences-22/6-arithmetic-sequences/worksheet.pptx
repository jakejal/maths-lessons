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BA26BDC-ECC3-469A-BB7E-53FB329BD529}">
  <a:tblStyle styleId="{7BA26BDC-ECC3-469A-BB7E-53FB329BD5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g29b0de99a0d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b0de99a0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5" name="Shape 325"/>
        <p:cNvGrpSpPr/>
        <p:nvPr/>
      </p:nvGrpSpPr>
      <p:grpSpPr>
        <a:xfrm>
          <a:off x="0" y="0"/>
          <a:ext cx="0" cy="0"/>
        </a:xfrm>
      </p:grpSpPr>
      <p:sp>
        <p:nvSpPr>
          <p:cNvPr id="326" name="Google Shape;32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sequences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50325"/>
            <a:ext cx="66240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terms, work out if they could form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 sequence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861472" y="2485212"/>
            <a:ext cx="5605914" cy="417173"/>
            <a:chOff x="430854" y="1742837"/>
            <a:chExt cx="5605914" cy="417173"/>
          </a:xfrm>
        </p:grpSpPr>
        <p:sp>
          <p:nvSpPr>
            <p:cNvPr id="165" name="Google Shape;165;p20"/>
            <p:cNvSpPr/>
            <p:nvPr/>
          </p:nvSpPr>
          <p:spPr>
            <a:xfrm>
              <a:off x="430854" y="17428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1327424" y="17516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230934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0911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111727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200624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29719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5581068" y="17901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9293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38101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48437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46483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861472" y="3630834"/>
            <a:ext cx="5605914" cy="417173"/>
            <a:chOff x="430854" y="2428637"/>
            <a:chExt cx="5605914" cy="417173"/>
          </a:xfrm>
        </p:grpSpPr>
        <p:sp>
          <p:nvSpPr>
            <p:cNvPr id="178" name="Google Shape;178;p20"/>
            <p:cNvSpPr/>
            <p:nvPr/>
          </p:nvSpPr>
          <p:spPr>
            <a:xfrm>
              <a:off x="430854" y="24286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1327424" y="24374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2230934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0911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111727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200624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29719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5581068" y="24759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39293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38101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48437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46483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861472" y="4852655"/>
            <a:ext cx="5682114" cy="417173"/>
            <a:chOff x="430854" y="3038237"/>
            <a:chExt cx="5682114" cy="417173"/>
          </a:xfrm>
        </p:grpSpPr>
        <p:sp>
          <p:nvSpPr>
            <p:cNvPr id="191" name="Google Shape;191;p20"/>
            <p:cNvSpPr/>
            <p:nvPr/>
          </p:nvSpPr>
          <p:spPr>
            <a:xfrm>
              <a:off x="430854" y="30382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327424" y="30470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2230934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30911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111727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200624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29719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5657268" y="30855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39293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38101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48437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46483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03" name="Google Shape;203;p20"/>
          <p:cNvGraphicFramePr>
            <a:graphicFrameLocks noGrp="1"/>
          </p:cNvGraphicFramePr>
          <p:nvPr/>
        </p:nvGraphicFramePr>
        <p:xfrm>
          <a:off x="467994" y="2485200"/>
          <a:ext cx="693500" cy="39168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34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0"/>
          <p:cNvSpPr txBox="1"/>
          <p:nvPr/>
        </p:nvSpPr>
        <p:spPr>
          <a:xfrm>
            <a:off x="468000" y="1513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Identifying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984651" y="7108750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601148" y="7120916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222416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813946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456648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067918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73195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78420" y="7150951"/>
            <a:ext cx="3132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90308" y="7118671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30831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019063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88467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0" descr="&lt;math xmlns=&quot;http://www.w3.org/1998/Math/MathML&quot; display=&quot;block&quot; data-is-equatio=&quot;1&quot; data-latex=&quot;2&quot;&gt;&lt;mn&gt;2&lt;/mn&gt;&lt;/math&gt;" title="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12" y="7259106"/>
            <a:ext cx="104174" cy="156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014" y="7126188"/>
            <a:ext cx="235164" cy="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3413" y="7140741"/>
            <a:ext cx="124256" cy="3960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20"/>
          <p:cNvGraphicFramePr>
            <a:graphicFrameLocks noGrp="1"/>
          </p:cNvGraphicFramePr>
          <p:nvPr/>
        </p:nvGraphicFramePr>
        <p:xfrm>
          <a:off x="467994" y="7036850"/>
          <a:ext cx="693500" cy="62505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21" name="Google Shape;221;p20"/>
          <p:cNvGrpSpPr/>
          <p:nvPr/>
        </p:nvGrpSpPr>
        <p:grpSpPr>
          <a:xfrm>
            <a:off x="861472" y="6074477"/>
            <a:ext cx="5605914" cy="417173"/>
            <a:chOff x="430854" y="3579502"/>
            <a:chExt cx="5605914" cy="417173"/>
          </a:xfrm>
        </p:grpSpPr>
        <p:sp>
          <p:nvSpPr>
            <p:cNvPr id="222" name="Google Shape;222;p20"/>
            <p:cNvSpPr/>
            <p:nvPr/>
          </p:nvSpPr>
          <p:spPr>
            <a:xfrm>
              <a:off x="430854" y="357950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2230934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30911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111727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200624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29719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5581068" y="3626775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39293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38101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48437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46483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1327424" y="358827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7" name="Shape 237"/>
        <p:cNvGrpSpPr/>
        <p:nvPr/>
      </p:nvGrpSpPr>
      <p:grpSpPr>
        <a:xfrm>
          <a:off x="0" y="0"/>
          <a:ext cx="0" cy="0"/>
        </a:xfrm>
      </p:grpSpPr>
      <p:sp>
        <p:nvSpPr>
          <p:cNvPr id="238" name="Google Shape;23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Arithmetic sequences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720000"/>
            <a:ext cx="66240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 work out the perimeter and area of each term and state whether they form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 sequence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62761" y="1930692"/>
            <a:ext cx="2511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616679" y="1930692"/>
            <a:ext cx="5019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2657043" y="1930692"/>
            <a:ext cx="7533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321217" y="1870731"/>
            <a:ext cx="228300" cy="219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075924" y="1790730"/>
            <a:ext cx="382200" cy="36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031072" y="1675134"/>
            <a:ext cx="546000" cy="530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1"/>
          <p:cNvGraphicFramePr>
            <a:graphicFrameLocks noGrp="1"/>
          </p:cNvGraphicFramePr>
          <p:nvPr/>
        </p:nvGraphicFramePr>
        <p:xfrm>
          <a:off x="468075" y="235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1401325"/>
                <a:gridCol w="513100"/>
                <a:gridCol w="529175"/>
                <a:gridCol w="508325"/>
              </a:tblGrid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1"/>
          <p:cNvSpPr txBox="1"/>
          <p:nvPr/>
        </p:nvSpPr>
        <p:spPr>
          <a:xfrm>
            <a:off x="1154655" y="1930700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2163799" y="1930700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487099" y="1930691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>
            <a:off x="860903" y="187248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1"/>
          <p:cNvCxnSpPr/>
          <p:nvPr/>
        </p:nvCxnSpPr>
        <p:spPr>
          <a:xfrm rot="5400000">
            <a:off x="696721" y="20531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2" name="Google Shape;252;p21"/>
          <p:cNvSpPr txBox="1"/>
          <p:nvPr/>
        </p:nvSpPr>
        <p:spPr>
          <a:xfrm>
            <a:off x="860903" y="1652683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15252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 rot="5400000">
            <a:off x="1452162" y="20500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1612290" y="1872487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6" name="Google Shape;256;p21"/>
          <p:cNvSpPr txBox="1"/>
          <p:nvPr/>
        </p:nvSpPr>
        <p:spPr>
          <a:xfrm>
            <a:off x="1727882" y="1652683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 rot="5400000">
            <a:off x="2466411" y="20500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8" name="Google Shape;258;p21"/>
          <p:cNvCxnSpPr/>
          <p:nvPr/>
        </p:nvCxnSpPr>
        <p:spPr>
          <a:xfrm>
            <a:off x="2626539" y="1872487"/>
            <a:ext cx="783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9" name="Google Shape;259;p21"/>
          <p:cNvSpPr txBox="1"/>
          <p:nvPr/>
        </p:nvSpPr>
        <p:spPr>
          <a:xfrm>
            <a:off x="2857727" y="1652683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288632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302881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4312743" y="1814690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3" name="Google Shape;263;p21"/>
          <p:cNvCxnSpPr/>
          <p:nvPr/>
        </p:nvCxnSpPr>
        <p:spPr>
          <a:xfrm rot="5400000">
            <a:off x="4148561" y="199532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4" name="Google Shape;264;p21"/>
          <p:cNvSpPr txBox="1"/>
          <p:nvPr/>
        </p:nvSpPr>
        <p:spPr>
          <a:xfrm>
            <a:off x="4312743" y="1594885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3967093" y="188226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>
            <a:off x="5058152" y="1716990"/>
            <a:ext cx="406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7" name="Google Shape;267;p21"/>
          <p:cNvCxnSpPr/>
          <p:nvPr/>
        </p:nvCxnSpPr>
        <p:spPr>
          <a:xfrm flipH="1">
            <a:off x="5013370" y="1778225"/>
            <a:ext cx="0" cy="366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8" name="Google Shape;268;p21"/>
          <p:cNvSpPr txBox="1"/>
          <p:nvPr/>
        </p:nvSpPr>
        <p:spPr>
          <a:xfrm>
            <a:off x="5094247" y="1491955"/>
            <a:ext cx="3456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694326" y="183021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>
            <a:off x="6031079" y="1617246"/>
            <a:ext cx="54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6161819" y="1411707"/>
            <a:ext cx="4644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flipH="1">
            <a:off x="5961995" y="1690611"/>
            <a:ext cx="0" cy="530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3" name="Google Shape;273;p21"/>
          <p:cNvSpPr txBox="1"/>
          <p:nvPr/>
        </p:nvSpPr>
        <p:spPr>
          <a:xfrm>
            <a:off x="5642949" y="1765812"/>
            <a:ext cx="3009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602701" y="1855002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554047" y="1855002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646154" y="1854992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7" name="Google Shape;277;p21"/>
          <p:cNvGraphicFramePr>
            <a:graphicFrameLocks noGrp="1"/>
          </p:cNvGraphicFramePr>
          <p:nvPr/>
        </p:nvGraphicFramePr>
        <p:xfrm>
          <a:off x="4084875" y="2374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1401250"/>
                <a:gridCol w="513100"/>
                <a:gridCol w="529150"/>
                <a:gridCol w="508300"/>
              </a:tblGrid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8" name="Google Shape;278;p21"/>
          <p:cNvGraphicFramePr>
            <a:graphicFrameLocks noGrp="1"/>
          </p:cNvGraphicFramePr>
          <p:nvPr/>
        </p:nvGraphicFramePr>
        <p:xfrm>
          <a:off x="468000" y="409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1401350"/>
                <a:gridCol w="513125"/>
                <a:gridCol w="529175"/>
                <a:gridCol w="508350"/>
              </a:tblGrid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21"/>
          <p:cNvSpPr/>
          <p:nvPr/>
        </p:nvSpPr>
        <p:spPr>
          <a:xfrm>
            <a:off x="871549" y="3581085"/>
            <a:ext cx="2511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1625467" y="3581085"/>
            <a:ext cx="5019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665831" y="3581085"/>
            <a:ext cx="7533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163442" y="3581093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2172586" y="3581093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4" name="Google Shape;284;p21"/>
          <p:cNvCxnSpPr/>
          <p:nvPr/>
        </p:nvCxnSpPr>
        <p:spPr>
          <a:xfrm>
            <a:off x="869690" y="3522880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5" name="Google Shape;285;p21"/>
          <p:cNvCxnSpPr/>
          <p:nvPr/>
        </p:nvCxnSpPr>
        <p:spPr>
          <a:xfrm rot="5400000">
            <a:off x="705508" y="37035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6" name="Google Shape;286;p21"/>
          <p:cNvSpPr txBox="1"/>
          <p:nvPr/>
        </p:nvSpPr>
        <p:spPr>
          <a:xfrm>
            <a:off x="869690" y="3303075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24040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" name="Google Shape;288;p21"/>
          <p:cNvCxnSpPr/>
          <p:nvPr/>
        </p:nvCxnSpPr>
        <p:spPr>
          <a:xfrm rot="5400000">
            <a:off x="1460950" y="37004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1621078" y="352288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0" name="Google Shape;290;p21"/>
          <p:cNvSpPr txBox="1"/>
          <p:nvPr/>
        </p:nvSpPr>
        <p:spPr>
          <a:xfrm>
            <a:off x="1736669" y="3303075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5400000">
            <a:off x="2475199" y="37004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2635327" y="3522880"/>
            <a:ext cx="783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3" name="Google Shape;293;p21"/>
          <p:cNvSpPr txBox="1"/>
          <p:nvPr/>
        </p:nvSpPr>
        <p:spPr>
          <a:xfrm>
            <a:off x="2866515" y="3303075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297420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311669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073005" y="3699702"/>
            <a:ext cx="741300" cy="120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5278575" y="3664446"/>
            <a:ext cx="569700" cy="183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286691" y="3619491"/>
            <a:ext cx="382200" cy="280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845868" y="3629466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873074" y="3629466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3472372" y="3581090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6709704" y="3638875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>
            <a:off x="4085198" y="3647622"/>
            <a:ext cx="724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4" name="Google Shape;304;p21"/>
          <p:cNvCxnSpPr/>
          <p:nvPr/>
        </p:nvCxnSpPr>
        <p:spPr>
          <a:xfrm flipH="1">
            <a:off x="4023127" y="3684196"/>
            <a:ext cx="0" cy="171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5" name="Google Shape;305;p21"/>
          <p:cNvSpPr txBox="1"/>
          <p:nvPr/>
        </p:nvSpPr>
        <p:spPr>
          <a:xfrm>
            <a:off x="4335096" y="3418677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727184" y="3659843"/>
            <a:ext cx="251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5278580" y="3601851"/>
            <a:ext cx="557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8" name="Google Shape;308;p21"/>
          <p:cNvCxnSpPr/>
          <p:nvPr/>
        </p:nvCxnSpPr>
        <p:spPr>
          <a:xfrm rot="5400000">
            <a:off x="5104123" y="376727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9" name="Google Shape;309;p21"/>
          <p:cNvSpPr txBox="1"/>
          <p:nvPr/>
        </p:nvSpPr>
        <p:spPr>
          <a:xfrm>
            <a:off x="5402571" y="3400782"/>
            <a:ext cx="3456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936549" y="3668494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>
            <a:off x="6296485" y="3558672"/>
            <a:ext cx="362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2" name="Google Shape;312;p21"/>
          <p:cNvCxnSpPr/>
          <p:nvPr/>
        </p:nvCxnSpPr>
        <p:spPr>
          <a:xfrm rot="5400000">
            <a:off x="6108695" y="373930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3" name="Google Shape;313;p21"/>
          <p:cNvSpPr txBox="1"/>
          <p:nvPr/>
        </p:nvSpPr>
        <p:spPr>
          <a:xfrm>
            <a:off x="6330674" y="3338867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927226" y="3626245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5" name="Google Shape;315;p21"/>
          <p:cNvGraphicFramePr>
            <a:graphicFrameLocks noGrp="1"/>
          </p:cNvGraphicFramePr>
          <p:nvPr/>
        </p:nvGraphicFramePr>
        <p:xfrm>
          <a:off x="4099375" y="4130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1401350"/>
                <a:gridCol w="513125"/>
                <a:gridCol w="529175"/>
                <a:gridCol w="508350"/>
              </a:tblGrid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21"/>
          <p:cNvSpPr txBox="1"/>
          <p:nvPr/>
        </p:nvSpPr>
        <p:spPr>
          <a:xfrm>
            <a:off x="515252" y="1609628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3936239" y="1609628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504679" y="3347241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3941736" y="3347241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" name="Google Shape;320;p21"/>
          <p:cNvCxnSpPr/>
          <p:nvPr/>
        </p:nvCxnSpPr>
        <p:spPr>
          <a:xfrm flipH="1">
            <a:off x="3710182" y="1489790"/>
            <a:ext cx="0" cy="358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1"/>
          <p:cNvCxnSpPr/>
          <p:nvPr/>
        </p:nvCxnSpPr>
        <p:spPr>
          <a:xfrm>
            <a:off x="474757" y="5084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21"/>
          <p:cNvSpPr txBox="1"/>
          <p:nvPr/>
        </p:nvSpPr>
        <p:spPr>
          <a:xfrm>
            <a:off x="470525" y="5457500"/>
            <a:ext cx="66240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 state whether it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 If it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describe the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70525" y="5177000"/>
            <a:ext cx="6624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Describing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74750" y="5922800"/>
            <a:ext cx="6610500" cy="4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15, 24, 33,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12, 15, 22,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−3, −11, −19, …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1, 3, 9, 27, …	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1.5, 2.6, 3.7, 5.8,...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25, 15, 10, 5,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…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16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…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…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400"/>
              <a:buFont typeface="Lexend"/>
              <a:buAutoNum type="alphaLcParenR"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…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2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8" name="Shape 328"/>
        <p:cNvGrpSpPr/>
        <p:nvPr/>
      </p:nvGrpSpPr>
      <p:grpSpPr>
        <a:xfrm>
          <a:off x="0" y="0"/>
          <a:ext cx="0" cy="0"/>
        </a:xfrm>
      </p:grpSpPr>
      <p:sp>
        <p:nvSpPr>
          <p:cNvPr id="329" name="Google Shape;32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30" name="Google Shape;330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Arithmetic sequences</a:t>
            </a:r>
            <a:endParaRPr/>
          </a:p>
        </p:txBody>
      </p:sp>
      <p:sp>
        <p:nvSpPr>
          <p:cNvPr id="331" name="Google Shape;331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468000" y="864000"/>
            <a:ext cx="66240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Below are the first four terms in four different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Fill in the table with true or false for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4" name="Google Shape;334;p22"/>
          <p:cNvGraphicFramePr>
            <a:graphicFrameLocks noGrp="1"/>
          </p:cNvGraphicFramePr>
          <p:nvPr/>
        </p:nvGraphicFramePr>
        <p:xfrm>
          <a:off x="468000" y="169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{7BA26BDC-ECC3-469A-BB7E-53FB329BD529}</a:tableStyleId>
              </a:tblPr>
              <a:tblGrid>
                <a:gridCol w="1716375"/>
                <a:gridCol w="1239900"/>
                <a:gridCol w="1239900"/>
                <a:gridCol w="1239900"/>
                <a:gridCol w="1187950"/>
              </a:tblGrid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1, 5, 9, 13,..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7, 13, 19, 25,..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80, 75, 70, 65,..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22, 19, 16, 13,..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Contains negative numbers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6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Common difference is positive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1 as a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25 as a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values greater than 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104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Times</vt:lpstr>
      <vt:lpstr>simple-light-2</vt:lpstr>
      <vt:lpstr>Arithmetic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2023-12-08T09:36:15.009</cp:lastPrinted>
  <dcterms:created xsi:type="dcterms:W3CDTF">2023-12-08T09:36:15Z</dcterms:created>
  <dcterms:modified xsi:type="dcterms:W3CDTF">2023-12-08T09:33:35Z</dcterms:modified>
</cp:coreProperties>
</file>