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710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</p:sldIdLst>
  <p:sldSz cx="9144000" cy="5143500"/>
  <p:notesSz cx="6858000" cy="9144000"/>
  <p:embeddedFontLst>
    <p:embeddedFont>
      <p:font typeface="Lexend" panose="00000000000000000000"/>
      <p:regular r:id="rId49"/>
    </p:embeddedFont>
    <p:embeddedFont>
      <p:font typeface="Lexend Medium" panose="00000000000000000000"/>
      <p:regular r:id="rId50"/>
    </p:embeddedFont>
    <p:embeddedFont>
      <p:font typeface="Kalam" panose="02000000000000000000"/>
      <p:regular r:id="rId51"/>
    </p:embeddedFont>
    <p:embeddedFont>
      <p:font typeface="Lexend Light" panose="00000000000000000000"/>
      <p:regular r:id="rId52"/>
    </p:embeddedFont>
  </p:embeddedFontLst>
  <p:custDataLst>
    <p:tags r:id="rId48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E94B1F7C-D626-4EB4-874A-6446D225D414}">
  <a:tblStyle styleId="{E94B1F7C-D626-4EB4-874A-6446D225D41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8.xml" /><Relationship Id="rId11" Type="http://schemas.openxmlformats.org/officeDocument/2006/relationships/slide" Target="slides/slide9.xml" /><Relationship Id="rId12" Type="http://schemas.openxmlformats.org/officeDocument/2006/relationships/slide" Target="slides/slide10.xml" /><Relationship Id="rId13" Type="http://schemas.openxmlformats.org/officeDocument/2006/relationships/slide" Target="slides/slide11.xml" /><Relationship Id="rId14" Type="http://schemas.openxmlformats.org/officeDocument/2006/relationships/slide" Target="slides/slide12.xml" /><Relationship Id="rId15" Type="http://schemas.openxmlformats.org/officeDocument/2006/relationships/slide" Target="slides/slide13.xml" /><Relationship Id="rId16" Type="http://schemas.openxmlformats.org/officeDocument/2006/relationships/slide" Target="slides/slide14.xml" /><Relationship Id="rId17" Type="http://schemas.openxmlformats.org/officeDocument/2006/relationships/slide" Target="slides/slide15.xml" /><Relationship Id="rId18" Type="http://schemas.openxmlformats.org/officeDocument/2006/relationships/slide" Target="slides/slide16.xml" /><Relationship Id="rId19" Type="http://schemas.openxmlformats.org/officeDocument/2006/relationships/slide" Target="slides/slide17.xml" /><Relationship Id="rId2" Type="http://schemas.openxmlformats.org/officeDocument/2006/relationships/notesMaster" Target="notesMasters/notesMaster1.xml" /><Relationship Id="rId20" Type="http://schemas.openxmlformats.org/officeDocument/2006/relationships/slide" Target="slides/slide18.xml" /><Relationship Id="rId21" Type="http://schemas.openxmlformats.org/officeDocument/2006/relationships/slide" Target="slides/slide19.xml" /><Relationship Id="rId22" Type="http://schemas.openxmlformats.org/officeDocument/2006/relationships/slide" Target="slides/slide20.xml" /><Relationship Id="rId23" Type="http://schemas.openxmlformats.org/officeDocument/2006/relationships/slide" Target="slides/slide21.xml" /><Relationship Id="rId24" Type="http://schemas.openxmlformats.org/officeDocument/2006/relationships/slide" Target="slides/slide22.xml" /><Relationship Id="rId25" Type="http://schemas.openxmlformats.org/officeDocument/2006/relationships/slide" Target="slides/slide23.xml" /><Relationship Id="rId26" Type="http://schemas.openxmlformats.org/officeDocument/2006/relationships/slide" Target="slides/slide24.xml" /><Relationship Id="rId27" Type="http://schemas.openxmlformats.org/officeDocument/2006/relationships/slide" Target="slides/slide25.xml" /><Relationship Id="rId28" Type="http://schemas.openxmlformats.org/officeDocument/2006/relationships/slide" Target="slides/slide26.xml" /><Relationship Id="rId29" Type="http://schemas.openxmlformats.org/officeDocument/2006/relationships/slide" Target="slides/slide27.xml" /><Relationship Id="rId3" Type="http://schemas.openxmlformats.org/officeDocument/2006/relationships/slide" Target="slides/slide1.xml" /><Relationship Id="rId30" Type="http://schemas.openxmlformats.org/officeDocument/2006/relationships/slide" Target="slides/slide28.xml" /><Relationship Id="rId31" Type="http://schemas.openxmlformats.org/officeDocument/2006/relationships/slide" Target="slides/slide29.xml" /><Relationship Id="rId32" Type="http://schemas.openxmlformats.org/officeDocument/2006/relationships/slide" Target="slides/slide30.xml" /><Relationship Id="rId33" Type="http://schemas.openxmlformats.org/officeDocument/2006/relationships/slide" Target="slides/slide31.xml" /><Relationship Id="rId34" Type="http://schemas.openxmlformats.org/officeDocument/2006/relationships/slide" Target="slides/slide32.xml" /><Relationship Id="rId35" Type="http://schemas.openxmlformats.org/officeDocument/2006/relationships/slide" Target="slides/slide33.xml" /><Relationship Id="rId36" Type="http://schemas.openxmlformats.org/officeDocument/2006/relationships/slide" Target="slides/slide34.xml" /><Relationship Id="rId37" Type="http://schemas.openxmlformats.org/officeDocument/2006/relationships/slide" Target="slides/slide35.xml" /><Relationship Id="rId38" Type="http://schemas.openxmlformats.org/officeDocument/2006/relationships/slide" Target="slides/slide36.xml" /><Relationship Id="rId39" Type="http://schemas.openxmlformats.org/officeDocument/2006/relationships/slide" Target="slides/slide37.xml" /><Relationship Id="rId4" Type="http://schemas.openxmlformats.org/officeDocument/2006/relationships/slide" Target="slides/slide2.xml" /><Relationship Id="rId40" Type="http://schemas.openxmlformats.org/officeDocument/2006/relationships/slide" Target="slides/slide38.xml" /><Relationship Id="rId41" Type="http://schemas.openxmlformats.org/officeDocument/2006/relationships/slide" Target="slides/slide39.xml" /><Relationship Id="rId42" Type="http://schemas.openxmlformats.org/officeDocument/2006/relationships/slide" Target="slides/slide40.xml" /><Relationship Id="rId43" Type="http://schemas.openxmlformats.org/officeDocument/2006/relationships/slide" Target="slides/slide41.xml" /><Relationship Id="rId44" Type="http://schemas.openxmlformats.org/officeDocument/2006/relationships/slide" Target="slides/slide42.xml" /><Relationship Id="rId45" Type="http://schemas.openxmlformats.org/officeDocument/2006/relationships/slide" Target="slides/slide43.xml" /><Relationship Id="rId46" Type="http://schemas.openxmlformats.org/officeDocument/2006/relationships/slide" Target="slides/slide44.xml" /><Relationship Id="rId47" Type="http://schemas.openxmlformats.org/officeDocument/2006/relationships/slide" Target="slides/slide45.xml" /><Relationship Id="rId48" Type="http://schemas.openxmlformats.org/officeDocument/2006/relationships/tags" Target="tags/tag1.xml" /><Relationship Id="rId49" Type="http://schemas.openxmlformats.org/officeDocument/2006/relationships/font" Target="fonts/font1.fntdata" /><Relationship Id="rId5" Type="http://schemas.openxmlformats.org/officeDocument/2006/relationships/slide" Target="slides/slide3.xml" /><Relationship Id="rId50" Type="http://schemas.openxmlformats.org/officeDocument/2006/relationships/font" Target="fonts/font2.fntdata" /><Relationship Id="rId51" Type="http://schemas.openxmlformats.org/officeDocument/2006/relationships/font" Target="fonts/font3.fntdata" /><Relationship Id="rId52" Type="http://schemas.openxmlformats.org/officeDocument/2006/relationships/font" Target="fonts/font4.fntdata" /><Relationship Id="rId53" Type="http://schemas.openxmlformats.org/officeDocument/2006/relationships/presProps" Target="presProps.xml" /><Relationship Id="rId54" Type="http://schemas.openxmlformats.org/officeDocument/2006/relationships/viewProps" Target="viewProps.xml" /><Relationship Id="rId55" Type="http://schemas.openxmlformats.org/officeDocument/2006/relationships/theme" Target="theme/theme1.xml" /><Relationship Id="rId56" Type="http://schemas.openxmlformats.org/officeDocument/2006/relationships/tableStyles" Target="tableStyles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/Relationships>
</file>

<file path=ppt/notesSlides/_rels/notesSlide1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/Relationships>
</file>

<file path=ppt/notesSlides/_rels/notesSlide1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_rels/notesSlide2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/Relationships>
</file>

<file path=ppt/notesSlides/_rels/notesSlide2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1.xml" /><Relationship Id="rId2" Type="http://schemas.openxmlformats.org/officeDocument/2006/relationships/notesMaster" Target="../notesMasters/notesMaster1.xml" /></Relationships>
</file>

<file path=ppt/notesSlides/_rels/notesSlide2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/Relationships>
</file>

<file path=ppt/notesSlides/_rels/notesSlide2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/Relationships>
</file>

<file path=ppt/notesSlides/_rels/notesSlide2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4.xml" /><Relationship Id="rId2" Type="http://schemas.openxmlformats.org/officeDocument/2006/relationships/notesMaster" Target="../notesMasters/notesMaster1.xml" /></Relationships>
</file>

<file path=ppt/notesSlides/_rels/notesSlide2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5.xml" /><Relationship Id="rId2" Type="http://schemas.openxmlformats.org/officeDocument/2006/relationships/notesMaster" Target="../notesMasters/notesMaster1.xml" /></Relationships>
</file>

<file path=ppt/notesSlides/_rels/notesSlide2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6.xml" /><Relationship Id="rId2" Type="http://schemas.openxmlformats.org/officeDocument/2006/relationships/notesMaster" Target="../notesMasters/notesMaster1.xml" /></Relationships>
</file>

<file path=ppt/notesSlides/_rels/notesSlide2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7.xml" /><Relationship Id="rId2" Type="http://schemas.openxmlformats.org/officeDocument/2006/relationships/notesMaster" Target="../notesMasters/notesMaster1.xml" /></Relationships>
</file>

<file path=ppt/notesSlides/_rels/notesSlide2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8.xml" /><Relationship Id="rId2" Type="http://schemas.openxmlformats.org/officeDocument/2006/relationships/notesMaster" Target="../notesMasters/notesMaster1.xml" /></Relationships>
</file>

<file path=ppt/notesSlides/_rels/notesSlide2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9.xml" /><Relationship Id="rId2" Type="http://schemas.openxmlformats.org/officeDocument/2006/relationships/notesMaster" Target="../notesMasters/notesMaster1.xml" /></Relationships>
</file>

<file path=ppt/notesSlides/_rels/notesSlide3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0.xml" /><Relationship Id="rId2" Type="http://schemas.openxmlformats.org/officeDocument/2006/relationships/notesMaster" Target="../notesMasters/notesMaster1.xml" /></Relationships>
</file>

<file path=ppt/notesSlides/_rels/notesSlide3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1.xml" /><Relationship Id="rId2" Type="http://schemas.openxmlformats.org/officeDocument/2006/relationships/notesMaster" Target="../notesMasters/notesMaster1.xml" /></Relationships>
</file>

<file path=ppt/notesSlides/_rels/notesSlide3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2.xml" /><Relationship Id="rId2" Type="http://schemas.openxmlformats.org/officeDocument/2006/relationships/notesMaster" Target="../notesMasters/notesMaster1.xml" /></Relationships>
</file>

<file path=ppt/notesSlides/_rels/notesSlide3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3.xml" /><Relationship Id="rId2" Type="http://schemas.openxmlformats.org/officeDocument/2006/relationships/notesMaster" Target="../notesMasters/notesMaster1.xml" /></Relationships>
</file>

<file path=ppt/notesSlides/_rels/notesSlide3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4.xml" /><Relationship Id="rId2" Type="http://schemas.openxmlformats.org/officeDocument/2006/relationships/notesMaster" Target="../notesMasters/notesMaster1.xml" /></Relationships>
</file>

<file path=ppt/notesSlides/_rels/notesSlide3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5.xml" /><Relationship Id="rId2" Type="http://schemas.openxmlformats.org/officeDocument/2006/relationships/notesMaster" Target="../notesMasters/notesMaster1.xml" /></Relationships>
</file>

<file path=ppt/notesSlides/_rels/notesSlide3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6.xml" /><Relationship Id="rId2" Type="http://schemas.openxmlformats.org/officeDocument/2006/relationships/notesMaster" Target="../notesMasters/notesMaster1.xml" /></Relationships>
</file>

<file path=ppt/notesSlides/_rels/notesSlide3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7.xml" /><Relationship Id="rId2" Type="http://schemas.openxmlformats.org/officeDocument/2006/relationships/notesMaster" Target="../notesMasters/notesMaster1.xml" /></Relationships>
</file>

<file path=ppt/notesSlides/_rels/notesSlide3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8.xml" /><Relationship Id="rId2" Type="http://schemas.openxmlformats.org/officeDocument/2006/relationships/notesMaster" Target="../notesMasters/notesMaster1.xml" /></Relationships>
</file>

<file path=ppt/notesSlides/_rels/notesSlide3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9.xml" /><Relationship Id="rId2" Type="http://schemas.openxmlformats.org/officeDocument/2006/relationships/notesMaster" Target="../notesMasters/notesMaster1.xml" /></Relationships>
</file>

<file path=ppt/notesSlides/_rels/notesSlide4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0.xml" /><Relationship Id="rId2" Type="http://schemas.openxmlformats.org/officeDocument/2006/relationships/notesMaster" Target="../notesMasters/notesMaster1.xml" /></Relationships>
</file>

<file path=ppt/notesSlides/_rels/notesSlide4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1.xml" /><Relationship Id="rId2" Type="http://schemas.openxmlformats.org/officeDocument/2006/relationships/notesMaster" Target="../notesMasters/notesMaster1.xml" /></Relationships>
</file>

<file path=ppt/notesSlides/_rels/notesSlide4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2.xml" /><Relationship Id="rId2" Type="http://schemas.openxmlformats.org/officeDocument/2006/relationships/notesMaster" Target="../notesMasters/notesMaster1.xml" /></Relationships>
</file>

<file path=ppt/notesSlides/_rels/notesSlide4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3.xml" /><Relationship Id="rId2" Type="http://schemas.openxmlformats.org/officeDocument/2006/relationships/notesMaster" Target="../notesMasters/notesMaster1.xml" /></Relationships>
</file>

<file path=ppt/notesSlides/_rels/notesSlide4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4.xml" /><Relationship Id="rId2" Type="http://schemas.openxmlformats.org/officeDocument/2006/relationships/notesMaster" Target="../notesMasters/notesMaster1.xml" /></Relationships>
</file>

<file path=ppt/notesSlides/_rels/notesSlide4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5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46" name="Shape 746"/>
        <p:cNvGrpSpPr/>
        <p:nvPr/>
      </p:nvGrpSpPr>
      <p:grpSpPr>
        <a:xfrm>
          <a:off x="0" y="0"/>
          <a:ext cx="0" cy="0"/>
        </a:xfrm>
      </p:grpSpPr>
      <p:sp>
        <p:nvSpPr>
          <p:cNvPr id="747" name="Google Shape;747;g279955a40ae_0_8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2" name="Shape 752"/>
        <p:cNvGrpSpPr/>
        <p:nvPr/>
      </p:nvGrpSpPr>
      <p:grpSpPr>
        <a:xfrm>
          <a:off x="0" y="0"/>
          <a:ext cx="0" cy="0"/>
        </a:xfrm>
      </p:grpSpPr>
      <p:sp>
        <p:nvSpPr>
          <p:cNvPr id="753" name="Google Shape;753;g279955a40ae_0_8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7" name="Shape 757"/>
        <p:cNvGrpSpPr/>
        <p:nvPr/>
      </p:nvGrpSpPr>
      <p:grpSpPr>
        <a:xfrm>
          <a:off x="0" y="0"/>
          <a:ext cx="0" cy="0"/>
        </a:xfrm>
      </p:grpSpPr>
      <p:sp>
        <p:nvSpPr>
          <p:cNvPr id="758" name="Google Shape;758;g279955a40ae_0_8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2" name="Shape 762"/>
        <p:cNvGrpSpPr/>
        <p:nvPr/>
      </p:nvGrpSpPr>
      <p:grpSpPr>
        <a:xfrm>
          <a:off x="0" y="0"/>
          <a:ext cx="0" cy="0"/>
        </a:xfrm>
      </p:grpSpPr>
      <p:sp>
        <p:nvSpPr>
          <p:cNvPr id="763" name="Google Shape;763;g295c05fb6e2_0_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95c05fb6e2_0_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7" name="Shape 767"/>
        <p:cNvGrpSpPr/>
        <p:nvPr/>
      </p:nvGrpSpPr>
      <p:grpSpPr>
        <a:xfrm>
          <a:off x="0" y="0"/>
          <a:ext cx="0" cy="0"/>
        </a:xfrm>
      </p:grpSpPr>
      <p:sp>
        <p:nvSpPr>
          <p:cNvPr id="768" name="Google Shape;768;g295c05fb6e2_0_2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295c05fb6e2_0_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75" name="Shape 775"/>
        <p:cNvGrpSpPr/>
        <p:nvPr/>
      </p:nvGrpSpPr>
      <p:grpSpPr>
        <a:xfrm>
          <a:off x="0" y="0"/>
          <a:ext cx="0" cy="0"/>
        </a:xfrm>
      </p:grpSpPr>
      <p:sp>
        <p:nvSpPr>
          <p:cNvPr id="776" name="Google Shape;776;g295c05fb6e2_0_3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295c05fb6e2_0_3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90" name="Shape 790"/>
        <p:cNvGrpSpPr/>
        <p:nvPr/>
      </p:nvGrpSpPr>
      <p:grpSpPr>
        <a:xfrm>
          <a:off x="0" y="0"/>
          <a:ext cx="0" cy="0"/>
        </a:xfrm>
      </p:grpSpPr>
      <p:sp>
        <p:nvSpPr>
          <p:cNvPr id="791" name="Google Shape;791;g295c05fb6e2_0_5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295c05fb6e2_0_5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24" name="Shape 824"/>
        <p:cNvGrpSpPr/>
        <p:nvPr/>
      </p:nvGrpSpPr>
      <p:grpSpPr>
        <a:xfrm>
          <a:off x="0" y="0"/>
          <a:ext cx="0" cy="0"/>
        </a:xfrm>
      </p:grpSpPr>
      <p:sp>
        <p:nvSpPr>
          <p:cNvPr id="825" name="Google Shape;825;g295c05fb6e2_0_10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6" name="Google Shape;826;g295c05fb6e2_0_10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48" name="Shape 848"/>
        <p:cNvGrpSpPr/>
        <p:nvPr/>
      </p:nvGrpSpPr>
      <p:grpSpPr>
        <a:xfrm>
          <a:off x="0" y="0"/>
          <a:ext cx="0" cy="0"/>
        </a:xfrm>
      </p:grpSpPr>
      <p:sp>
        <p:nvSpPr>
          <p:cNvPr id="849" name="Google Shape;849;g295c05fb6e2_0_21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295c05fb6e2_0_2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62" name="Shape 862"/>
        <p:cNvGrpSpPr/>
        <p:nvPr/>
      </p:nvGrpSpPr>
      <p:grpSpPr>
        <a:xfrm>
          <a:off x="0" y="0"/>
          <a:ext cx="0" cy="0"/>
        </a:xfrm>
      </p:grpSpPr>
      <p:sp>
        <p:nvSpPr>
          <p:cNvPr id="863" name="Google Shape;863;g295c05fb6e2_0_1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4" name="Google Shape;864;g295c05fb6e2_0_1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73" name="Shape 973"/>
        <p:cNvGrpSpPr/>
        <p:nvPr/>
      </p:nvGrpSpPr>
      <p:grpSpPr>
        <a:xfrm>
          <a:off x="0" y="0"/>
          <a:ext cx="0" cy="0"/>
        </a:xfrm>
      </p:grpSpPr>
      <p:sp>
        <p:nvSpPr>
          <p:cNvPr id="974" name="Google Shape;974;g295c05fb6e2_0_25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5" name="Google Shape;975;g295c05fb6e2_0_25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21" name="Shape 1021"/>
        <p:cNvGrpSpPr/>
        <p:nvPr/>
      </p:nvGrpSpPr>
      <p:grpSpPr>
        <a:xfrm>
          <a:off x="0" y="0"/>
          <a:ext cx="0" cy="0"/>
        </a:xfrm>
      </p:grpSpPr>
      <p:sp>
        <p:nvSpPr>
          <p:cNvPr id="1022" name="Google Shape;1022;g295c05fb6e2_0_41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3" name="Google Shape;1023;g295c05fb6e2_0_4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68" name="Shape 1068"/>
        <p:cNvGrpSpPr/>
        <p:nvPr/>
      </p:nvGrpSpPr>
      <p:grpSpPr>
        <a:xfrm>
          <a:off x="0" y="0"/>
          <a:ext cx="0" cy="0"/>
        </a:xfrm>
      </p:grpSpPr>
      <p:sp>
        <p:nvSpPr>
          <p:cNvPr id="1069" name="Google Shape;1069;g295c05fb6e2_0_47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0" name="Google Shape;1070;g295c05fb6e2_0_47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21" name="Shape 1121"/>
        <p:cNvGrpSpPr/>
        <p:nvPr/>
      </p:nvGrpSpPr>
      <p:grpSpPr>
        <a:xfrm>
          <a:off x="0" y="0"/>
          <a:ext cx="0" cy="0"/>
        </a:xfrm>
      </p:grpSpPr>
      <p:sp>
        <p:nvSpPr>
          <p:cNvPr id="1122" name="Google Shape;1122;g295c05fb6e2_0_62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3" name="Google Shape;1123;g295c05fb6e2_0_62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53" name="Shape 1153"/>
        <p:cNvGrpSpPr/>
        <p:nvPr/>
      </p:nvGrpSpPr>
      <p:grpSpPr>
        <a:xfrm>
          <a:off x="0" y="0"/>
          <a:ext cx="0" cy="0"/>
        </a:xfrm>
      </p:grpSpPr>
      <p:sp>
        <p:nvSpPr>
          <p:cNvPr id="1154" name="Google Shape;1154;g295c05fb6e2_0_69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5" name="Google Shape;1155;g295c05fb6e2_0_69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81" name="Shape 1181"/>
        <p:cNvGrpSpPr/>
        <p:nvPr/>
      </p:nvGrpSpPr>
      <p:grpSpPr>
        <a:xfrm>
          <a:off x="0" y="0"/>
          <a:ext cx="0" cy="0"/>
        </a:xfrm>
      </p:grpSpPr>
      <p:sp>
        <p:nvSpPr>
          <p:cNvPr id="1182" name="Google Shape;1182;g295c05fb6e2_0_72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3" name="Google Shape;1183;g295c05fb6e2_0_72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09" name="Shape 1209"/>
        <p:cNvGrpSpPr/>
        <p:nvPr/>
      </p:nvGrpSpPr>
      <p:grpSpPr>
        <a:xfrm>
          <a:off x="0" y="0"/>
          <a:ext cx="0" cy="0"/>
        </a:xfrm>
      </p:grpSpPr>
      <p:sp>
        <p:nvSpPr>
          <p:cNvPr id="1210" name="Google Shape;1210;g295c05fb6e2_0_76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1" name="Google Shape;1211;g295c05fb6e2_0_76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45" name="Shape 1245"/>
        <p:cNvGrpSpPr/>
        <p:nvPr/>
      </p:nvGrpSpPr>
      <p:grpSpPr>
        <a:xfrm>
          <a:off x="0" y="0"/>
          <a:ext cx="0" cy="0"/>
        </a:xfrm>
      </p:grpSpPr>
      <p:sp>
        <p:nvSpPr>
          <p:cNvPr id="1246" name="Google Shape;1246;g295c05fb6e2_0_80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7" name="Google Shape;1247;g295c05fb6e2_0_80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55" name="Shape 1255"/>
        <p:cNvGrpSpPr/>
        <p:nvPr/>
      </p:nvGrpSpPr>
      <p:grpSpPr>
        <a:xfrm>
          <a:off x="0" y="0"/>
          <a:ext cx="0" cy="0"/>
        </a:xfrm>
      </p:grpSpPr>
      <p:sp>
        <p:nvSpPr>
          <p:cNvPr id="1256" name="Google Shape;1256;g295c05fb6e2_0_80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7" name="Google Shape;1257;g295c05fb6e2_0_80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65" name="Shape 1265"/>
        <p:cNvGrpSpPr/>
        <p:nvPr/>
      </p:nvGrpSpPr>
      <p:grpSpPr>
        <a:xfrm>
          <a:off x="0" y="0"/>
          <a:ext cx="0" cy="0"/>
        </a:xfrm>
      </p:grpSpPr>
      <p:sp>
        <p:nvSpPr>
          <p:cNvPr id="1266" name="Google Shape;1266;g295c05fb6e2_0_82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7" name="Google Shape;1267;g295c05fb6e2_0_82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39" name="Shape 1339"/>
        <p:cNvGrpSpPr/>
        <p:nvPr/>
      </p:nvGrpSpPr>
      <p:grpSpPr>
        <a:xfrm>
          <a:off x="0" y="0"/>
          <a:ext cx="0" cy="0"/>
        </a:xfrm>
      </p:grpSpPr>
      <p:sp>
        <p:nvSpPr>
          <p:cNvPr id="1340" name="Google Shape;1340;g295c05fb6e2_0_90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1" name="Google Shape;1341;g295c05fb6e2_0_90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26" name="Shape 1426"/>
        <p:cNvGrpSpPr/>
        <p:nvPr/>
      </p:nvGrpSpPr>
      <p:grpSpPr>
        <a:xfrm>
          <a:off x="0" y="0"/>
          <a:ext cx="0" cy="0"/>
        </a:xfrm>
      </p:grpSpPr>
      <p:sp>
        <p:nvSpPr>
          <p:cNvPr id="1427" name="Google Shape;1427;g295c05fb6e2_0_118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8" name="Google Shape;1428;g295c05fb6e2_0_118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89" name="Shape 1489"/>
        <p:cNvGrpSpPr/>
        <p:nvPr/>
      </p:nvGrpSpPr>
      <p:grpSpPr>
        <a:xfrm>
          <a:off x="0" y="0"/>
          <a:ext cx="0" cy="0"/>
        </a:xfrm>
      </p:grpSpPr>
      <p:sp>
        <p:nvSpPr>
          <p:cNvPr id="1490" name="Google Shape;1490;g295c05fb6e2_0_126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1" name="Google Shape;1491;g295c05fb6e2_0_126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34" name="Shape 1534"/>
        <p:cNvGrpSpPr/>
        <p:nvPr/>
      </p:nvGrpSpPr>
      <p:grpSpPr>
        <a:xfrm>
          <a:off x="0" y="0"/>
          <a:ext cx="0" cy="0"/>
        </a:xfrm>
      </p:grpSpPr>
      <p:sp>
        <p:nvSpPr>
          <p:cNvPr id="1535" name="Google Shape;1535;g295c05fb6e2_0_110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6" name="Google Shape;1536;g295c05fb6e2_0_110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26" name="Shape 1626"/>
        <p:cNvGrpSpPr/>
        <p:nvPr/>
      </p:nvGrpSpPr>
      <p:grpSpPr>
        <a:xfrm>
          <a:off x="0" y="0"/>
          <a:ext cx="0" cy="0"/>
        </a:xfrm>
      </p:grpSpPr>
      <p:sp>
        <p:nvSpPr>
          <p:cNvPr id="1627" name="Google Shape;1627;g295c05fb6e2_0_1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8" name="Google Shape;1628;g295c05fb6e2_0_1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34" name="Shape 1634"/>
        <p:cNvGrpSpPr/>
        <p:nvPr/>
      </p:nvGrpSpPr>
      <p:grpSpPr>
        <a:xfrm>
          <a:off x="0" y="0"/>
          <a:ext cx="0" cy="0"/>
        </a:xfrm>
      </p:grpSpPr>
      <p:sp>
        <p:nvSpPr>
          <p:cNvPr id="1635" name="Google Shape;1635;g295c05fb6e2_0_138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6" name="Google Shape;1636;g295c05fb6e2_0_138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44" name="Shape 1644"/>
        <p:cNvGrpSpPr/>
        <p:nvPr/>
      </p:nvGrpSpPr>
      <p:grpSpPr>
        <a:xfrm>
          <a:off x="0" y="0"/>
          <a:ext cx="0" cy="0"/>
        </a:xfrm>
      </p:grpSpPr>
      <p:sp>
        <p:nvSpPr>
          <p:cNvPr id="1645" name="Google Shape;1645;g295c05fb6e2_0_139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6" name="Google Shape;1646;g295c05fb6e2_0_139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56" name="Shape 1656"/>
        <p:cNvGrpSpPr/>
        <p:nvPr/>
      </p:nvGrpSpPr>
      <p:grpSpPr>
        <a:xfrm>
          <a:off x="0" y="0"/>
          <a:ext cx="0" cy="0"/>
        </a:xfrm>
      </p:grpSpPr>
      <p:sp>
        <p:nvSpPr>
          <p:cNvPr id="1657" name="Google Shape;1657;g295c05fb6e2_0_140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8" name="Google Shape;1658;g295c05fb6e2_0_140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69" name="Shape 1669"/>
        <p:cNvGrpSpPr/>
        <p:nvPr/>
      </p:nvGrpSpPr>
      <p:grpSpPr>
        <a:xfrm>
          <a:off x="0" y="0"/>
          <a:ext cx="0" cy="0"/>
        </a:xfrm>
      </p:grpSpPr>
      <p:sp>
        <p:nvSpPr>
          <p:cNvPr id="1670" name="Google Shape;1670;g295c05fb6e2_0_142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1" name="Google Shape;1671;g295c05fb6e2_0_142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9" name="Shape 1679"/>
        <p:cNvGrpSpPr/>
        <p:nvPr/>
      </p:nvGrpSpPr>
      <p:grpSpPr>
        <a:xfrm>
          <a:off x="0" y="0"/>
          <a:ext cx="0" cy="0"/>
        </a:xfrm>
      </p:grpSpPr>
      <p:sp>
        <p:nvSpPr>
          <p:cNvPr id="1680" name="Google Shape;1680;g295da5eceba_0_4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1" name="Google Shape;1681;g295da5eceba_0_4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87" name="Shape 1687"/>
        <p:cNvGrpSpPr/>
        <p:nvPr/>
      </p:nvGrpSpPr>
      <p:grpSpPr>
        <a:xfrm>
          <a:off x="0" y="0"/>
          <a:ext cx="0" cy="0"/>
        </a:xfrm>
      </p:grpSpPr>
      <p:sp>
        <p:nvSpPr>
          <p:cNvPr id="1688" name="Google Shape;1688;g295c05fb6e2_0_143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9" name="Google Shape;1689;g295c05fb6e2_0_143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13" name="Shape 1713"/>
        <p:cNvGrpSpPr/>
        <p:nvPr/>
      </p:nvGrpSpPr>
      <p:grpSpPr>
        <a:xfrm>
          <a:off x="0" y="0"/>
          <a:ext cx="0" cy="0"/>
        </a:xfrm>
      </p:grpSpPr>
      <p:sp>
        <p:nvSpPr>
          <p:cNvPr id="1714" name="Google Shape;1714;g295c05fb6e2_0_144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5" name="Google Shape;1715;g295c05fb6e2_0_144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25" name="Shape 1725"/>
        <p:cNvGrpSpPr/>
        <p:nvPr/>
      </p:nvGrpSpPr>
      <p:grpSpPr>
        <a:xfrm>
          <a:off x="0" y="0"/>
          <a:ext cx="0" cy="0"/>
        </a:xfrm>
      </p:grpSpPr>
      <p:sp>
        <p:nvSpPr>
          <p:cNvPr id="1726" name="Google Shape;1726;g295c05fb6e2_0_145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7" name="Google Shape;1727;g295c05fb6e2_0_145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38" name="Shape 1738"/>
        <p:cNvGrpSpPr/>
        <p:nvPr/>
      </p:nvGrpSpPr>
      <p:grpSpPr>
        <a:xfrm>
          <a:off x="0" y="0"/>
          <a:ext cx="0" cy="0"/>
        </a:xfrm>
      </p:grpSpPr>
      <p:sp>
        <p:nvSpPr>
          <p:cNvPr id="1739" name="Google Shape;1739;g295c05fb6e2_0_146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0" name="Google Shape;1740;g295c05fb6e2_0_146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50" name="Shape 1750"/>
        <p:cNvGrpSpPr/>
        <p:nvPr/>
      </p:nvGrpSpPr>
      <p:grpSpPr>
        <a:xfrm>
          <a:off x="0" y="0"/>
          <a:ext cx="0" cy="0"/>
        </a:xfrm>
      </p:grpSpPr>
      <p:sp>
        <p:nvSpPr>
          <p:cNvPr id="1751" name="Google Shape;1751;g295c05fb6e2_0_148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2" name="Google Shape;1752;g295c05fb6e2_0_148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82" name="Shape 1782"/>
        <p:cNvGrpSpPr/>
        <p:nvPr/>
      </p:nvGrpSpPr>
      <p:grpSpPr>
        <a:xfrm>
          <a:off x="0" y="0"/>
          <a:ext cx="0" cy="0"/>
        </a:xfrm>
      </p:grpSpPr>
      <p:sp>
        <p:nvSpPr>
          <p:cNvPr id="1783" name="Google Shape;1783;g295c05fb6e2_0_157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4" name="Google Shape;1784;g295c05fb6e2_0_157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06" name="Shape 1806"/>
        <p:cNvGrpSpPr/>
        <p:nvPr/>
      </p:nvGrpSpPr>
      <p:grpSpPr>
        <a:xfrm>
          <a:off x="0" y="0"/>
          <a:ext cx="0" cy="0"/>
        </a:xfrm>
      </p:grpSpPr>
      <p:sp>
        <p:nvSpPr>
          <p:cNvPr id="1807" name="Google Shape;1807;g295c05fb6e2_0_152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8" name="Google Shape;1808;g295c05fb6e2_0_15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25" name="Shape 1825"/>
        <p:cNvGrpSpPr/>
        <p:nvPr/>
      </p:nvGrpSpPr>
      <p:grpSpPr>
        <a:xfrm>
          <a:off x="0" y="0"/>
          <a:ext cx="0" cy="0"/>
        </a:xfrm>
      </p:grpSpPr>
      <p:sp>
        <p:nvSpPr>
          <p:cNvPr id="1826" name="Google Shape;1826;g295c05fb6e2_0_154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7" name="Google Shape;1827;g295c05fb6e2_0_154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44" name="Shape 1844"/>
        <p:cNvGrpSpPr/>
        <p:nvPr/>
      </p:nvGrpSpPr>
      <p:grpSpPr>
        <a:xfrm>
          <a:off x="0" y="0"/>
          <a:ext cx="0" cy="0"/>
        </a:xfrm>
      </p:grpSpPr>
      <p:sp>
        <p:nvSpPr>
          <p:cNvPr id="1845" name="Google Shape;1845;g295da5eceba_0_7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6" name="Google Shape;1846;g295da5eceba_0_7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52" name="Shape 1852"/>
        <p:cNvGrpSpPr/>
        <p:nvPr/>
      </p:nvGrpSpPr>
      <p:grpSpPr>
        <a:xfrm>
          <a:off x="0" y="0"/>
          <a:ext cx="0" cy="0"/>
        </a:xfrm>
      </p:grpSpPr>
      <p:sp>
        <p:nvSpPr>
          <p:cNvPr id="1853" name="Google Shape;1853;g295da5eceba_0_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4" name="Google Shape;1854;g295da5eceba_0_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59" name="Shape 1859"/>
        <p:cNvGrpSpPr/>
        <p:nvPr/>
      </p:nvGrpSpPr>
      <p:grpSpPr>
        <a:xfrm>
          <a:off x="0" y="0"/>
          <a:ext cx="0" cy="0"/>
        </a:xfrm>
      </p:grpSpPr>
      <p:sp>
        <p:nvSpPr>
          <p:cNvPr id="1860" name="Google Shape;1860;g295da5eceba_0_8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1" name="Google Shape;1861;g295da5eceba_0_8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71" name="Shape 1871"/>
        <p:cNvGrpSpPr/>
        <p:nvPr/>
      </p:nvGrpSpPr>
      <p:grpSpPr>
        <a:xfrm>
          <a:off x="0" y="0"/>
          <a:ext cx="0" cy="0"/>
        </a:xfrm>
      </p:grpSpPr>
      <p:sp>
        <p:nvSpPr>
          <p:cNvPr id="1872" name="Google Shape;1872;g295da5eceba_0_8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3" name="Google Shape;1873;g295da5eceba_0_8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83" name="Shape 1883"/>
        <p:cNvGrpSpPr/>
        <p:nvPr/>
      </p:nvGrpSpPr>
      <p:grpSpPr>
        <a:xfrm>
          <a:off x="0" y="0"/>
          <a:ext cx="0" cy="0"/>
        </a:xfrm>
      </p:grpSpPr>
      <p:sp>
        <p:nvSpPr>
          <p:cNvPr id="1884" name="Google Shape;1884;g295da5eceba_0_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5" name="Google Shape;1885;g295da5eceba_0_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90" name="Shape 1890"/>
        <p:cNvGrpSpPr/>
        <p:nvPr/>
      </p:nvGrpSpPr>
      <p:grpSpPr>
        <a:xfrm>
          <a:off x="0" y="0"/>
          <a:ext cx="0" cy="0"/>
        </a:xfrm>
      </p:grpSpPr>
      <p:sp>
        <p:nvSpPr>
          <p:cNvPr id="1891" name="Google Shape;1891;g279955a40ae_0_8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2" name="Google Shape;1892;g279955a40ae_0_8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96" name="Shape 1896"/>
        <p:cNvGrpSpPr/>
        <p:nvPr/>
      </p:nvGrpSpPr>
      <p:grpSpPr>
        <a:xfrm>
          <a:off x="0" y="0"/>
          <a:ext cx="0" cy="0"/>
        </a:xfrm>
      </p:grpSpPr>
      <p:sp>
        <p:nvSpPr>
          <p:cNvPr id="1897" name="Google Shape;1897;g279955a40ae_0_8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8" name="Google Shape;1898;g279955a40ae_0_8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1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4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image" Target="../media/image17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2.png" /><Relationship Id="rId7" Type="http://schemas.openxmlformats.org/officeDocument/2006/relationships/slideMaster" Target="../slideMasters/slideMaster1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1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10" Type="http://schemas.openxmlformats.org/officeDocument/2006/relationships/image" Target="../media/image22.png" /><Relationship Id="rId11" Type="http://schemas.openxmlformats.org/officeDocument/2006/relationships/slideMaster" Target="../slideMasters/slideMaster1.xml" /><Relationship Id="rId2" Type="http://schemas.openxmlformats.org/officeDocument/2006/relationships/image" Target="../media/image25.png" /><Relationship Id="rId3" Type="http://schemas.openxmlformats.org/officeDocument/2006/relationships/image" Target="../media/image30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31.png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8.png" /><Relationship Id="rId2" Type="http://schemas.openxmlformats.org/officeDocument/2006/relationships/image" Target="../media/image32.png" /><Relationship Id="rId3" Type="http://schemas.openxmlformats.org/officeDocument/2006/relationships/image" Target="../media/image37.png" /><Relationship Id="rId4" Type="http://schemas.openxmlformats.org/officeDocument/2006/relationships/image" Target="../media/image39.png" /><Relationship Id="rId5" Type="http://schemas.openxmlformats.org/officeDocument/2006/relationships/slideMaster" Target="../slideMasters/slideMaster1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png" /><Relationship Id="rId2" Type="http://schemas.openxmlformats.org/officeDocument/2006/relationships/slideMaster" Target="../slideMasters/slideMaster1.xml" /></Relationships>
</file>

<file path=ppt/slideLayouts/_rels/slideLayout6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6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English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English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aths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pic>
        <p:nvPicPr>
          <p:cNvPr id="18" name="Google Shape;18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Maths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ography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</a:xfrm>
      </p:grpSpPr>
      <p:pic>
        <p:nvPicPr>
          <p:cNvPr id="26" name="Google Shape;26;p4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Geography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type="subTitle" idx="1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History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pic>
        <p:nvPicPr>
          <p:cNvPr id="34" name="Google Shape;34;p5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History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type="subTitle" idx="1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usic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</a:xfrm>
      </p:grpSpPr>
      <p:pic>
        <p:nvPicPr>
          <p:cNvPr id="45" name="Google Shape;45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Music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type="subTitle" idx="1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cience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Science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>
          <a:blip r:embed="rId2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Biology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</a:xfrm>
      </p:grpSpPr>
      <p:pic>
        <p:nvPicPr>
          <p:cNvPr id="64" name="Google Shape;64;p8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Biology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type="subTitle" idx="1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s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</a:xfrm>
      </p:grpSpPr>
      <p:pic>
        <p:nvPicPr>
          <p:cNvPr id="72" name="Google Shape;72;p9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hemistry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</a:xfrm>
      </p:grpSpPr>
      <p:pic>
        <p:nvPicPr>
          <p:cNvPr id="83" name="Google Shape;83;p10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Chemistry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800" b="1">
                <a:latin typeface="Lexend"/>
                <a:ea typeface="Lexend"/>
                <a:cs typeface="Lexend"/>
                <a:sym typeface="Lexend"/>
              </a:rPr>
              <a:t>Outcome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>
          <a:blip r:embed="rId5">
            <a:alphaModFix/>
          </a:blip>
          <a:srcRect l="3910" b="5222"/>
          <a:stretch>
            <a:fillRect/>
          </a:stretch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type="subTitle" idx="1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type="subTitle" idx="2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type="subTitle" idx="3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type="subTitle" idx="1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type="subTitle" idx="2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type="subTitle" idx="3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type="subTitle" idx="1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type="subTitle" idx="2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type="subTitle" idx="3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type="subTitle" idx="4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type="subTitle" idx="1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type="subTitle" idx="2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type="subTitle" idx="3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type="subTitle" idx="4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type="subTitle" idx="1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type="subTitle" idx="2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type="subTitle" idx="3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type="subTitle" idx="4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type="subTitle" idx="5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type="subTitle" idx="1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type="subTitle" idx="2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type="subTitle" idx="3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type="subTitle" idx="4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5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>
          <a:blip r:embed="rId1">
            <a:alphaModFix/>
          </a:blip>
          <a:srcRect t="3678" b="3669"/>
          <a:stretch>
            <a:fillRect/>
          </a:stretch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rcRect t="3678" b="3669"/>
          <a:stretch>
            <a:fillRect/>
          </a:stretch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rcRect l="74623"/>
          <a:stretch>
            <a:fillRect/>
          </a:stretch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>
          <a:blip r:embed="rId6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</a:xfrm>
      </p:grpSpPr>
      <p:pic>
        <p:nvPicPr>
          <p:cNvPr id="169" name="Google Shape;169;p20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 flipH="1">
            <a:off x="647802" y="1841898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type="title" idx="2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type="title" idx="3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>
          <a:blip r:embed="rId8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</a:xfrm>
      </p:grpSpPr>
      <p:pic>
        <p:nvPicPr>
          <p:cNvPr id="187" name="Google Shape;187;p21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>
          <a:blip r:embed="rId3">
            <a:alphaModFix/>
          </a:blip>
          <a:srcRect t="4387" b="4396"/>
          <a:stretch>
            <a:fillRect/>
          </a:stretch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>
          <a:blip r:embed="rId5">
            <a:alphaModFix/>
          </a:blip>
          <a:srcRect t="3678" b="3669"/>
          <a:stretch>
            <a:fillRect/>
          </a:stretch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type="title" idx="2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type="title" idx="3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type="title" idx="4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>
          <a:blip r:embed="rId10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type="title" idx="5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1" name="Google Shape;211;p2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</a:xfrm>
      </p:grpSpPr>
      <p:pic>
        <p:nvPicPr>
          <p:cNvPr id="216" name="Google Shape;216;p2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8" name="Google Shape;218;p2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</a:xfrm>
      </p:grpSpPr>
      <p:pic>
        <p:nvPicPr>
          <p:cNvPr id="223" name="Google Shape;223;p2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5" name="Google Shape;225;p2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</a:xfrm>
      </p:grpSpPr>
      <p:pic>
        <p:nvPicPr>
          <p:cNvPr id="230" name="Google Shape;230;p2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2" name="Google Shape;232;p2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0" name="Google Shape;240;p26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3" name="Google Shape;253;p27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6" name="Google Shape;266;p28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9" name="Google Shape;279;p29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</a:xfrm>
      </p:grpSpPr>
      <p:pic>
        <p:nvPicPr>
          <p:cNvPr id="312" name="Google Shape;312;p3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</a:xfrm>
      </p:grpSpPr>
      <p:pic>
        <p:nvPicPr>
          <p:cNvPr id="335" name="Google Shape;335;p3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</a:xfrm>
      </p:grpSpPr>
      <p:pic>
        <p:nvPicPr>
          <p:cNvPr id="358" name="Google Shape;358;p3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</a:xfrm>
      </p:grpSpPr>
      <p:pic>
        <p:nvPicPr>
          <p:cNvPr id="400" name="Google Shape;400;p3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</a:xfrm>
      </p:grpSpPr>
      <p:pic>
        <p:nvPicPr>
          <p:cNvPr id="419" name="Google Shape;419;p3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</a:xfrm>
      </p:grpSpPr>
      <p:pic>
        <p:nvPicPr>
          <p:cNvPr id="438" name="Google Shape;438;p3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</a:xfrm>
      </p:grpSpPr>
      <p:pic>
        <p:nvPicPr>
          <p:cNvPr id="480" name="Google Shape;480;p3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</a:xfrm>
      </p:grpSpPr>
      <p:pic>
        <p:nvPicPr>
          <p:cNvPr id="503" name="Google Shape;503;p4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</a:xfrm>
      </p:grpSpPr>
      <p:pic>
        <p:nvPicPr>
          <p:cNvPr id="526" name="Google Shape;526;p4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6" name="Google Shape;556;p42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7" name="Google Shape;557;p42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</a:xfrm>
      </p:grpSpPr>
      <p:pic>
        <p:nvPicPr>
          <p:cNvPr id="568" name="Google Shape;568;p4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5" name="Google Shape;575;p43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6" name="Google Shape;576;p43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</a:xfrm>
      </p:grpSpPr>
      <p:pic>
        <p:nvPicPr>
          <p:cNvPr id="587" name="Google Shape;587;p4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4" name="Google Shape;594;p44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5" name="Google Shape;595;p44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</a:xfrm>
      </p:grpSpPr>
      <p:pic>
        <p:nvPicPr>
          <p:cNvPr id="606" name="Google Shape;606;p4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3" name="Google Shape;613;p45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4" name="Google Shape;614;p45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27" name="Google Shape;627;p4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</a:xfrm>
      </p:grpSpPr>
      <p:pic>
        <p:nvPicPr>
          <p:cNvPr id="632" name="Google Shape;632;p4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4" name="Google Shape;634;p4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</a:xfrm>
      </p:grpSpPr>
      <p:pic>
        <p:nvPicPr>
          <p:cNvPr id="639" name="Google Shape;639;p4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1" name="Google Shape;641;p4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</a:xfrm>
      </p:grpSpPr>
      <p:pic>
        <p:nvPicPr>
          <p:cNvPr id="646" name="Google Shape;646;p4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8" name="Google Shape;648;p4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5" name="Google Shape;655;p5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</a:xfrm>
      </p:grpSpPr>
      <p:pic>
        <p:nvPicPr>
          <p:cNvPr id="661" name="Google Shape;661;p5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3" name="Google Shape;663;p5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</a:xfrm>
      </p:grpSpPr>
      <p:pic>
        <p:nvPicPr>
          <p:cNvPr id="669" name="Google Shape;669;p5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1" name="Google Shape;671;p5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</a:xfrm>
      </p:grpSpPr>
      <p:pic>
        <p:nvPicPr>
          <p:cNvPr id="677" name="Google Shape;677;p5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9" name="Google Shape;679;p5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87" name="Google Shape;687;p5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245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</a:xfrm>
      </p:grpSpPr>
      <p:pic>
        <p:nvPicPr>
          <p:cNvPr id="693" name="Google Shape;693;p5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5" name="Google Shape;695;p5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</a:xfrm>
      </p:grpSpPr>
      <p:pic>
        <p:nvPicPr>
          <p:cNvPr id="701" name="Google Shape;701;p5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3" name="Google Shape;703;p5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</a:xfrm>
      </p:grpSpPr>
      <p:pic>
        <p:nvPicPr>
          <p:cNvPr id="709" name="Google Shape;709;p5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11" name="Google Shape;711;p5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3 Projectable quiz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6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6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type="subTitle" idx="1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slideLayout" Target="../slideLayouts/slideLayout18.xml" /><Relationship Id="rId19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2.xml" /><Relationship Id="rId20" Type="http://schemas.openxmlformats.org/officeDocument/2006/relationships/slideLayout" Target="../slideLayouts/slideLayout20.xml" /><Relationship Id="rId21" Type="http://schemas.openxmlformats.org/officeDocument/2006/relationships/slideLayout" Target="../slideLayouts/slideLayout21.xml" /><Relationship Id="rId22" Type="http://schemas.openxmlformats.org/officeDocument/2006/relationships/slideLayout" Target="../slideLayouts/slideLayout22.xml" /><Relationship Id="rId23" Type="http://schemas.openxmlformats.org/officeDocument/2006/relationships/slideLayout" Target="../slideLayouts/slideLayout23.xml" /><Relationship Id="rId24" Type="http://schemas.openxmlformats.org/officeDocument/2006/relationships/slideLayout" Target="../slideLayouts/slideLayout24.xml" /><Relationship Id="rId25" Type="http://schemas.openxmlformats.org/officeDocument/2006/relationships/slideLayout" Target="../slideLayouts/slideLayout25.xml" /><Relationship Id="rId26" Type="http://schemas.openxmlformats.org/officeDocument/2006/relationships/slideLayout" Target="../slideLayouts/slideLayout26.xml" /><Relationship Id="rId27" Type="http://schemas.openxmlformats.org/officeDocument/2006/relationships/slideLayout" Target="../slideLayouts/slideLayout27.xml" /><Relationship Id="rId28" Type="http://schemas.openxmlformats.org/officeDocument/2006/relationships/slideLayout" Target="../slideLayouts/slideLayout28.xml" /><Relationship Id="rId29" Type="http://schemas.openxmlformats.org/officeDocument/2006/relationships/slideLayout" Target="../slideLayouts/slideLayout29.xml" /><Relationship Id="rId3" Type="http://schemas.openxmlformats.org/officeDocument/2006/relationships/slideLayout" Target="../slideLayouts/slideLayout3.xml" /><Relationship Id="rId30" Type="http://schemas.openxmlformats.org/officeDocument/2006/relationships/slideLayout" Target="../slideLayouts/slideLayout30.xml" /><Relationship Id="rId31" Type="http://schemas.openxmlformats.org/officeDocument/2006/relationships/slideLayout" Target="../slideLayouts/slideLayout31.xml" /><Relationship Id="rId32" Type="http://schemas.openxmlformats.org/officeDocument/2006/relationships/slideLayout" Target="../slideLayouts/slideLayout32.xml" /><Relationship Id="rId33" Type="http://schemas.openxmlformats.org/officeDocument/2006/relationships/slideLayout" Target="../slideLayouts/slideLayout33.xml" /><Relationship Id="rId34" Type="http://schemas.openxmlformats.org/officeDocument/2006/relationships/slideLayout" Target="../slideLayouts/slideLayout34.xml" /><Relationship Id="rId35" Type="http://schemas.openxmlformats.org/officeDocument/2006/relationships/slideLayout" Target="../slideLayouts/slideLayout35.xml" /><Relationship Id="rId36" Type="http://schemas.openxmlformats.org/officeDocument/2006/relationships/slideLayout" Target="../slideLayouts/slideLayout36.xml" /><Relationship Id="rId37" Type="http://schemas.openxmlformats.org/officeDocument/2006/relationships/slideLayout" Target="../slideLayouts/slideLayout37.xml" /><Relationship Id="rId38" Type="http://schemas.openxmlformats.org/officeDocument/2006/relationships/slideLayout" Target="../slideLayouts/slideLayout38.xml" /><Relationship Id="rId39" Type="http://schemas.openxmlformats.org/officeDocument/2006/relationships/slideLayout" Target="../slideLayouts/slideLayout39.xml" /><Relationship Id="rId4" Type="http://schemas.openxmlformats.org/officeDocument/2006/relationships/slideLayout" Target="../slideLayouts/slideLayout4.xml" /><Relationship Id="rId40" Type="http://schemas.openxmlformats.org/officeDocument/2006/relationships/slideLayout" Target="../slideLayouts/slideLayout40.xml" /><Relationship Id="rId41" Type="http://schemas.openxmlformats.org/officeDocument/2006/relationships/slideLayout" Target="../slideLayouts/slideLayout41.xml" /><Relationship Id="rId42" Type="http://schemas.openxmlformats.org/officeDocument/2006/relationships/slideLayout" Target="../slideLayouts/slideLayout42.xml" /><Relationship Id="rId43" Type="http://schemas.openxmlformats.org/officeDocument/2006/relationships/slideLayout" Target="../slideLayouts/slideLayout43.xml" /><Relationship Id="rId44" Type="http://schemas.openxmlformats.org/officeDocument/2006/relationships/slideLayout" Target="../slideLayouts/slideLayout44.xml" /><Relationship Id="rId45" Type="http://schemas.openxmlformats.org/officeDocument/2006/relationships/slideLayout" Target="../slideLayouts/slideLayout45.xml" /><Relationship Id="rId46" Type="http://schemas.openxmlformats.org/officeDocument/2006/relationships/slideLayout" Target="../slideLayouts/slideLayout46.xml" /><Relationship Id="rId47" Type="http://schemas.openxmlformats.org/officeDocument/2006/relationships/slideLayout" Target="../slideLayouts/slideLayout47.xml" /><Relationship Id="rId48" Type="http://schemas.openxmlformats.org/officeDocument/2006/relationships/slideLayout" Target="../slideLayouts/slideLayout48.xml" /><Relationship Id="rId49" Type="http://schemas.openxmlformats.org/officeDocument/2006/relationships/slideLayout" Target="../slideLayouts/slideLayout49.xml" /><Relationship Id="rId5" Type="http://schemas.openxmlformats.org/officeDocument/2006/relationships/slideLayout" Target="../slideLayouts/slideLayout5.xml" /><Relationship Id="rId50" Type="http://schemas.openxmlformats.org/officeDocument/2006/relationships/slideLayout" Target="../slideLayouts/slideLayout50.xml" /><Relationship Id="rId51" Type="http://schemas.openxmlformats.org/officeDocument/2006/relationships/slideLayout" Target="../slideLayouts/slideLayout51.xml" /><Relationship Id="rId52" Type="http://schemas.openxmlformats.org/officeDocument/2006/relationships/slideLayout" Target="../slideLayouts/slideLayout52.xml" /><Relationship Id="rId53" Type="http://schemas.openxmlformats.org/officeDocument/2006/relationships/slideLayout" Target="../slideLayouts/slideLayout53.xml" /><Relationship Id="rId54" Type="http://schemas.openxmlformats.org/officeDocument/2006/relationships/slideLayout" Target="../slideLayouts/slideLayout54.xml" /><Relationship Id="rId55" Type="http://schemas.openxmlformats.org/officeDocument/2006/relationships/slideLayout" Target="../slideLayouts/slideLayout55.xml" /><Relationship Id="rId56" Type="http://schemas.openxmlformats.org/officeDocument/2006/relationships/slideLayout" Target="../slideLayouts/slideLayout56.xml" /><Relationship Id="rId57" Type="http://schemas.openxmlformats.org/officeDocument/2006/relationships/slideLayout" Target="../slideLayouts/slideLayout57.xml" /><Relationship Id="rId58" Type="http://schemas.openxmlformats.org/officeDocument/2006/relationships/slideLayout" Target="../slideLayouts/slideLayout58.xml" /><Relationship Id="rId59" Type="http://schemas.openxmlformats.org/officeDocument/2006/relationships/slideLayout" Target="../slideLayouts/slideLayout59.xml" /><Relationship Id="rId6" Type="http://schemas.openxmlformats.org/officeDocument/2006/relationships/slideLayout" Target="../slideLayouts/slideLayout6.xml" /><Relationship Id="rId60" Type="http://schemas.openxmlformats.org/officeDocument/2006/relationships/slideLayout" Target="../slideLayouts/slideLayout60.xml" /><Relationship Id="rId61" Type="http://schemas.openxmlformats.org/officeDocument/2006/relationships/slideLayout" Target="../slideLayouts/slideLayout61.xml" /><Relationship Id="rId62" Type="http://schemas.openxmlformats.org/officeDocument/2006/relationships/slideLayout" Target="../slideLayouts/slideLayout62.xml" /><Relationship Id="rId63" Type="http://schemas.openxmlformats.org/officeDocument/2006/relationships/image" Target="../media/image42.png" /><Relationship Id="rId64" Type="http://schemas.openxmlformats.org/officeDocument/2006/relationships/theme" Target="../theme/theme1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195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4925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63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 /><Relationship Id="rId2" Type="http://schemas.openxmlformats.org/officeDocument/2006/relationships/notesSlide" Target="../notesSlides/notesSlide4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43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44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7.xml" /><Relationship Id="rId3" Type="http://schemas.openxmlformats.org/officeDocument/2006/relationships/image" Target="../media/image45.png" /><Relationship Id="rId4" Type="http://schemas.openxmlformats.org/officeDocument/2006/relationships/image" Target="../media/image46.png" /><Relationship Id="rId5" Type="http://schemas.openxmlformats.org/officeDocument/2006/relationships/image" Target="../media/image47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45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7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image48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45.png" /><Relationship Id="rId4" Type="http://schemas.openxmlformats.org/officeDocument/2006/relationships/image" Target="../media/image49.png" /><Relationship Id="rId5" Type="http://schemas.openxmlformats.org/officeDocument/2006/relationships/image" Target="../media/image50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51.png" /><Relationship Id="rId4" Type="http://schemas.openxmlformats.org/officeDocument/2006/relationships/image" Target="../media/image52.png" /><Relationship Id="rId5" Type="http://schemas.openxmlformats.org/officeDocument/2006/relationships/image" Target="../media/image45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52.png" /><Relationship Id="rId4" Type="http://schemas.openxmlformats.org/officeDocument/2006/relationships/image" Target="../media/image45.png" /><Relationship Id="rId5" Type="http://schemas.openxmlformats.org/officeDocument/2006/relationships/image" Target="../media/image53.pn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5.xml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54.png" /><Relationship Id="rId4" Type="http://schemas.openxmlformats.org/officeDocument/2006/relationships/image" Target="../media/image39.png" /><Relationship Id="rId5" Type="http://schemas.openxmlformats.org/officeDocument/2006/relationships/image" Target="../media/image48.pn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4.xml" /><Relationship Id="rId3" Type="http://schemas.openxmlformats.org/officeDocument/2006/relationships/image" Target="../media/image45.png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45.png" /><Relationship Id="rId4" Type="http://schemas.openxmlformats.org/officeDocument/2006/relationships/image" Target="../media/image55.png" /><Relationship Id="rId5" Type="http://schemas.openxmlformats.org/officeDocument/2006/relationships/image" Target="../media/image52.pn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6.xml" /><Relationship Id="rId3" Type="http://schemas.openxmlformats.org/officeDocument/2006/relationships/image" Target="../media/image45.png" /><Relationship Id="rId4" Type="http://schemas.openxmlformats.org/officeDocument/2006/relationships/image" Target="../media/image52.png" /><Relationship Id="rId5" Type="http://schemas.openxmlformats.org/officeDocument/2006/relationships/image" Target="../media/image56.png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7.xml" /><Relationship Id="rId3" Type="http://schemas.openxmlformats.org/officeDocument/2006/relationships/image" Target="../media/image45.png" /><Relationship Id="rId4" Type="http://schemas.openxmlformats.org/officeDocument/2006/relationships/image" Target="../media/image52.png" /><Relationship Id="rId5" Type="http://schemas.openxmlformats.org/officeDocument/2006/relationships/image" Target="../media/image56.png" /><Relationship Id="rId6" Type="http://schemas.openxmlformats.org/officeDocument/2006/relationships/image" Target="../media/image55.png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9.xml" /><Relationship Id="rId2" Type="http://schemas.openxmlformats.org/officeDocument/2006/relationships/notesSlide" Target="../notesSlides/notesSlide18.xml" /><Relationship Id="rId3" Type="http://schemas.openxmlformats.org/officeDocument/2006/relationships/image" Target="../media/image48.png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9.xml" /><Relationship Id="rId2" Type="http://schemas.openxmlformats.org/officeDocument/2006/relationships/notesSlide" Target="../notesSlides/notesSlide19.xml" /><Relationship Id="rId3" Type="http://schemas.openxmlformats.org/officeDocument/2006/relationships/image" Target="../media/image48.png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 /><Relationship Id="rId2" Type="http://schemas.openxmlformats.org/officeDocument/2006/relationships/notesSlide" Target="../notesSlides/notesSlide20.xml" /><Relationship Id="rId3" Type="http://schemas.openxmlformats.org/officeDocument/2006/relationships/image" Target="../media/image57.png" /><Relationship Id="rId4" Type="http://schemas.openxmlformats.org/officeDocument/2006/relationships/image" Target="../media/image58.png" /><Relationship Id="rId5" Type="http://schemas.openxmlformats.org/officeDocument/2006/relationships/image" Target="../media/image59.png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 /><Relationship Id="rId2" Type="http://schemas.openxmlformats.org/officeDocument/2006/relationships/notesSlide" Target="../notesSlides/notesSlide21.xml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2" Type="http://schemas.openxmlformats.org/officeDocument/2006/relationships/notesSlide" Target="../notesSlides/notesSlide22.xml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10" Type="http://schemas.openxmlformats.org/officeDocument/2006/relationships/image" Target="../media/image65.png" /><Relationship Id="rId11" Type="http://schemas.openxmlformats.org/officeDocument/2006/relationships/image" Target="../media/image59.png" /><Relationship Id="rId12" Type="http://schemas.openxmlformats.org/officeDocument/2006/relationships/image" Target="../media/image66.png" /><Relationship Id="rId13" Type="http://schemas.openxmlformats.org/officeDocument/2006/relationships/image" Target="../media/image67.png" /><Relationship Id="rId14" Type="http://schemas.openxmlformats.org/officeDocument/2006/relationships/image" Target="../media/image68.png" /><Relationship Id="rId15" Type="http://schemas.openxmlformats.org/officeDocument/2006/relationships/image" Target="../media/image69.png" /><Relationship Id="rId2" Type="http://schemas.openxmlformats.org/officeDocument/2006/relationships/notesSlide" Target="../notesSlides/notesSlide23.xml" /><Relationship Id="rId3" Type="http://schemas.openxmlformats.org/officeDocument/2006/relationships/image" Target="../media/image57.png" /><Relationship Id="rId4" Type="http://schemas.openxmlformats.org/officeDocument/2006/relationships/image" Target="../media/image58.png" /><Relationship Id="rId5" Type="http://schemas.openxmlformats.org/officeDocument/2006/relationships/image" Target="../media/image60.png" /><Relationship Id="rId6" Type="http://schemas.openxmlformats.org/officeDocument/2006/relationships/image" Target="../media/image61.png" /><Relationship Id="rId7" Type="http://schemas.openxmlformats.org/officeDocument/2006/relationships/image" Target="../media/image62.png" /><Relationship Id="rId8" Type="http://schemas.openxmlformats.org/officeDocument/2006/relationships/image" Target="../media/image63.png" /><Relationship Id="rId9" Type="http://schemas.openxmlformats.org/officeDocument/2006/relationships/image" Target="../media/image64.png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2" Type="http://schemas.openxmlformats.org/officeDocument/2006/relationships/notesSlide" Target="../notesSlides/notesSlide24.xml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 /><Relationship Id="rId2" Type="http://schemas.openxmlformats.org/officeDocument/2006/relationships/notesSlide" Target="../notesSlides/notesSlide25.xml" /><Relationship Id="rId3" Type="http://schemas.openxmlformats.org/officeDocument/2006/relationships/image" Target="../media/image43.png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6.xml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7.xml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8.xml" /><Relationship Id="rId3" Type="http://schemas.openxmlformats.org/officeDocument/2006/relationships/image" Target="../media/image70.png" /><Relationship Id="rId4" Type="http://schemas.openxmlformats.org/officeDocument/2006/relationships/image" Target="../media/image52.png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9.xml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30.xml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31.xml" /><Relationship Id="rId3" Type="http://schemas.openxmlformats.org/officeDocument/2006/relationships/image" Target="../media/image45.png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32.xml" /><Relationship Id="rId3" Type="http://schemas.openxmlformats.org/officeDocument/2006/relationships/image" Target="../media/image70.png" /><Relationship Id="rId4" Type="http://schemas.openxmlformats.org/officeDocument/2006/relationships/image" Target="../media/image52.png" /></Relationships>
</file>

<file path=ppt/slides/_rels/slide3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33.xml" /><Relationship Id="rId3" Type="http://schemas.openxmlformats.org/officeDocument/2006/relationships/image" Target="../media/image70.png" /><Relationship Id="rId4" Type="http://schemas.openxmlformats.org/officeDocument/2006/relationships/image" Target="../media/image52.png" /></Relationships>
</file>

<file path=ppt/slides/_rels/slide3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34.xml" /><Relationship Id="rId3" Type="http://schemas.openxmlformats.org/officeDocument/2006/relationships/image" Target="../media/image70.png" /><Relationship Id="rId4" Type="http://schemas.openxmlformats.org/officeDocument/2006/relationships/image" Target="../media/image52.png" /></Relationships>
</file>

<file path=ppt/slides/_rels/slide3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35.xml" /><Relationship Id="rId3" Type="http://schemas.openxmlformats.org/officeDocument/2006/relationships/image" Target="../media/image70.png" /><Relationship Id="rId4" Type="http://schemas.openxmlformats.org/officeDocument/2006/relationships/image" Target="../media/image52.png" /><Relationship Id="rId5" Type="http://schemas.openxmlformats.org/officeDocument/2006/relationships/image" Target="../media/image45.png" /></Relationships>
</file>

<file path=ppt/slides/_rels/slide3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36.xml" /><Relationship Id="rId3" Type="http://schemas.openxmlformats.org/officeDocument/2006/relationships/image" Target="../media/image71.png" /><Relationship Id="rId4" Type="http://schemas.openxmlformats.org/officeDocument/2006/relationships/image" Target="../media/image45.png" /></Relationships>
</file>

<file path=ppt/slides/_rels/slide3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6.xml" /><Relationship Id="rId2" Type="http://schemas.openxmlformats.org/officeDocument/2006/relationships/notesSlide" Target="../notesSlides/notesSlide37.xml" /><Relationship Id="rId3" Type="http://schemas.openxmlformats.org/officeDocument/2006/relationships/image" Target="../media/image39.png" /></Relationships>
</file>

<file path=ppt/slides/_rels/slide3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6.xml" /><Relationship Id="rId2" Type="http://schemas.openxmlformats.org/officeDocument/2006/relationships/notesSlide" Target="../notesSlides/notesSlide38.xml" /><Relationship Id="rId3" Type="http://schemas.openxmlformats.org/officeDocument/2006/relationships/image" Target="../media/image39.png" /></Relationships>
</file>

<file path=ppt/slides/_rels/slide3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0.xml" /><Relationship Id="rId2" Type="http://schemas.openxmlformats.org/officeDocument/2006/relationships/notesSlide" Target="../notesSlides/notesSlide39.xml" /></Relationships>
</file>

<file path=ppt/slides/_rels/slide4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0.xml" /><Relationship Id="rId2" Type="http://schemas.openxmlformats.org/officeDocument/2006/relationships/notesSlide" Target="../notesSlides/notesSlide40.xml" /></Relationships>
</file>

<file path=ppt/slides/_rels/slide4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 /><Relationship Id="rId2" Type="http://schemas.openxmlformats.org/officeDocument/2006/relationships/notesSlide" Target="../notesSlides/notesSlide41.xml" /></Relationships>
</file>

<file path=ppt/slides/_rels/slide4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 /><Relationship Id="rId2" Type="http://schemas.openxmlformats.org/officeDocument/2006/relationships/notesSlide" Target="../notesSlides/notesSlide42.xml" /></Relationships>
</file>

<file path=ppt/slides/_rels/slide4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 /><Relationship Id="rId2" Type="http://schemas.openxmlformats.org/officeDocument/2006/relationships/notesSlide" Target="../notesSlides/notesSlide43.xml" /></Relationships>
</file>

<file path=ppt/slides/_rels/slide4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7.xml" /><Relationship Id="rId2" Type="http://schemas.openxmlformats.org/officeDocument/2006/relationships/notesSlide" Target="../notesSlides/notesSlide44.xml" /></Relationships>
</file>

<file path=ppt/slides/_rels/slide4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1.xml" /><Relationship Id="rId2" Type="http://schemas.openxmlformats.org/officeDocument/2006/relationships/notesSlide" Target="../notesSlides/notesSlide45.xml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image" Target="../media/image72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49" name="Shape 749"/>
        <p:cNvGrpSpPr/>
        <p:nvPr/>
      </p:nvGrpSpPr>
      <p:grpSpPr>
        <a:xfrm>
          <a:off x="0" y="0"/>
          <a: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Arithmetic sequences</a:t>
            </a:r>
            <a:endParaRPr/>
          </a:p>
        </p:txBody>
      </p:sp>
      <p:sp>
        <p:nvSpPr>
          <p:cNvPr id="751" name="Google Shape;751;p64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Sequences </a:t>
            </a:r>
            <a:endParaRPr/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="0">
  <p:cSld name="">
    <p:spTree>
      <p:nvGrpSpPr>
        <p:cNvPr id="755" name="Shape 755"/>
        <p:cNvGrpSpPr/>
        <p:nvPr/>
      </p:nvGrpSpPr>
      <p:grpSpPr>
        <a:xfrm>
          <a:off x="0" y="0"/>
          <a: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0" name="Shape 760"/>
        <p:cNvGrpSpPr/>
        <p:nvPr/>
      </p:nvGrpSpPr>
      <p:grpSpPr>
        <a:xfrm>
          <a:off x="0" y="0"/>
          <a:ext cx="0" cy="0"/>
        </a:xfrm>
      </p:grpSpPr>
      <p:sp>
        <p:nvSpPr>
          <p:cNvPr id="761" name="Google Shape;761;p66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 can appreciate the features of an </a:t>
            </a:r>
            <a:r>
              <a:rPr lang="en-GB" b="1"/>
              <a:t>arithmetic sequence</a:t>
            </a:r>
            <a:r>
              <a:rPr lang="en-GB"/>
              <a:t> and be able to recognise one.</a:t>
            </a:r>
            <a:endParaRPr/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5" name="Shape 765"/>
        <p:cNvGrpSpPr/>
        <p:nvPr/>
      </p:nvGrpSpPr>
      <p:grpSpPr>
        <a:xfrm>
          <a:off x="0" y="0"/>
          <a:ext cx="0" cy="0"/>
        </a:xfrm>
      </p:grpSpPr>
      <p:sp>
        <p:nvSpPr>
          <p:cNvPr id="766" name="Google Shape;766;p67"/>
          <p:cNvSpPr txBox="1"/>
          <p:nvPr>
            <p:ph type="subTitle" idx="1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/>
              <a:t>Arithmetic</a:t>
            </a:r>
            <a:r>
              <a:rPr lang="en-GB"/>
              <a:t> </a:t>
            </a:r>
            <a:r>
              <a:rPr lang="en-GB" b="1"/>
              <a:t>(or linear) sequence</a:t>
            </a:r>
            <a:r>
              <a:rPr lang="en-GB"/>
              <a:t> - this will be defined later in the lesson. 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70" name="Shape 770"/>
        <p:cNvGrpSpPr/>
        <p:nvPr/>
      </p:nvGrpSpPr>
      <p:grpSpPr>
        <a:xfrm>
          <a:off x="0" y="0"/>
          <a:ext cx="0" cy="0"/>
        </a:xfrm>
      </p:grpSpPr>
      <p:sp>
        <p:nvSpPr>
          <p:cNvPr id="771" name="Google Shape;771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Identifying arithmetic sequences</a:t>
            </a:r>
            <a:endParaRPr/>
          </a:p>
        </p:txBody>
      </p:sp>
      <p:sp>
        <p:nvSpPr>
          <p:cNvPr id="772" name="Google Shape;772;p68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Describing arithmetic sequences</a:t>
            </a:r>
            <a:endParaRPr/>
          </a:p>
        </p:txBody>
      </p:sp>
      <p:sp>
        <p:nvSpPr>
          <p:cNvPr id="773" name="Google Shape;773;p68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Arithmetic sequences</a:t>
            </a:r>
            <a:endParaRPr/>
          </a:p>
        </p:txBody>
      </p:sp>
      <p:pic>
        <p:nvPicPr>
          <p:cNvPr id="774" name="Google Shape;774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750" y="2058246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78" name="Shape 778"/>
        <p:cNvGrpSpPr/>
        <p:nvPr/>
      </p:nvGrpSpPr>
      <p:grpSpPr>
        <a:xfrm>
          <a:off x="0" y="0"/>
          <a:ext cx="0" cy="0"/>
        </a:xfrm>
      </p:grpSpPr>
      <p:sp>
        <p:nvSpPr>
          <p:cNvPr id="779" name="Google Shape;779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Identifying arithmetic sequences</a:t>
            </a:r>
            <a:endParaRPr/>
          </a:p>
        </p:txBody>
      </p:sp>
      <p:sp>
        <p:nvSpPr>
          <p:cNvPr id="780" name="Google Shape;780;p69"/>
          <p:cNvSpPr txBox="1"/>
          <p:nvPr>
            <p:ph type="body" idx="1"/>
          </p:nvPr>
        </p:nvSpPr>
        <p:spPr>
          <a:xfrm>
            <a:off x="324000" y="759300"/>
            <a:ext cx="8237700" cy="49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Below are some examples of </a:t>
            </a:r>
            <a:r>
              <a:rPr lang="en-GB" b="1"/>
              <a:t>arithmetic sequences.</a:t>
            </a:r>
            <a:endParaRPr b="1"/>
          </a:p>
        </p:txBody>
      </p:sp>
      <p:sp>
        <p:nvSpPr>
          <p:cNvPr id="781" name="Google Shape;781;p69"/>
          <p:cNvSpPr txBox="1"/>
          <p:nvPr>
            <p:ph type="body" idx="1"/>
          </p:nvPr>
        </p:nvSpPr>
        <p:spPr>
          <a:xfrm>
            <a:off x="324000" y="1286075"/>
            <a:ext cx="2625300" cy="87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2, 4, 6, 8, …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5, 10, 15, 20, …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782" name="Google Shape;782;p69"/>
          <p:cNvSpPr txBox="1"/>
          <p:nvPr>
            <p:ph type="body" idx="1"/>
          </p:nvPr>
        </p:nvSpPr>
        <p:spPr>
          <a:xfrm>
            <a:off x="6290300" y="1312163"/>
            <a:ext cx="2625300" cy="82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5, −5, −15, −25, …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pic>
        <p:nvPicPr>
          <p:cNvPr id="783" name="Google Shape;783;p69" descr="&lt;math xmlns=&quot;http://www.w3.org/1998/Math/MathML&quot; display=&quot;block&quot; data-is-equatio=&quot;1&quot; data-latex=&quot;\frac{3}{5},\ \frac{2}{5},\frac{1}{\ 5},\ 0,\ ...&quot;&gt;&lt;mfrac&gt;&lt;mn&gt;3&lt;/mn&gt;&lt;mn&gt;5&lt;/mn&gt;&lt;/mfrac&gt;&lt;mo&gt;,&lt;/mo&gt;&lt;mtext&gt;&lt;/mtext&gt;&lt;mfrac&gt;&lt;mn&gt;2&lt;/mn&gt;&lt;mn&gt;5&lt;/mn&gt;&lt;/mfrac&gt;&lt;mo&gt;,&lt;/mo&gt;&lt;mfrac&gt;&lt;mn&gt;1&lt;/mn&gt;&lt;mrow&gt;&lt;mtext&gt;&lt;/mtext&gt;&lt;mn&gt;5&lt;/mn&gt;&lt;/mrow&gt;&lt;/mfrac&gt;&lt;mo&gt;,&lt;/mo&gt;&lt;mtext&gt;&lt;/mtext&gt;&lt;mn&gt;0&lt;/mn&gt;&lt;mo&gt;,&lt;/mo&gt;&lt;mtext&gt;&lt;/mtext&gt;&lt;mo&gt;.&lt;/mo&gt;&lt;mo&gt;.&lt;/mo&gt;&lt;mo&gt;.&lt;/mo&gt;&lt;/math&gt;" title="three fifths comma two fifths comma the fraction with numerator 1 and denominator 5 comma 0 comma period period perio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0307" y="1668913"/>
            <a:ext cx="1567835" cy="49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84" name="Google Shape;784;p69"/>
          <p:cNvSpPr txBox="1"/>
          <p:nvPr>
            <p:ph type="body" idx="1"/>
          </p:nvPr>
        </p:nvSpPr>
        <p:spPr>
          <a:xfrm>
            <a:off x="324000" y="2451700"/>
            <a:ext cx="8237700" cy="49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Here are some sequences that are </a:t>
            </a:r>
            <a:r>
              <a:rPr lang="en-GB">
                <a:solidFill>
                  <a:schemeClr val="accent4"/>
                </a:solidFill>
              </a:rPr>
              <a:t>not</a:t>
            </a:r>
            <a:r>
              <a:rPr lang="en-GB"/>
              <a:t> </a:t>
            </a:r>
            <a:r>
              <a:rPr lang="en-GB" b="1"/>
              <a:t>arithmetic.</a:t>
            </a:r>
            <a:r>
              <a:rPr lang="en-GB"/>
              <a:t> </a:t>
            </a:r>
            <a:endParaRPr b="1"/>
          </a:p>
        </p:txBody>
      </p:sp>
      <p:sp>
        <p:nvSpPr>
          <p:cNvPr id="785" name="Google Shape;785;p69"/>
          <p:cNvSpPr txBox="1"/>
          <p:nvPr>
            <p:ph type="body" idx="1"/>
          </p:nvPr>
        </p:nvSpPr>
        <p:spPr>
          <a:xfrm>
            <a:off x="3307150" y="1286075"/>
            <a:ext cx="2625300" cy="87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10, 14, 18, 22, …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13, 11, 9, 7, …</a:t>
            </a:r>
            <a:endParaRPr sz="1800"/>
          </a:p>
        </p:txBody>
      </p:sp>
      <p:sp>
        <p:nvSpPr>
          <p:cNvPr id="786" name="Google Shape;786;p69"/>
          <p:cNvSpPr txBox="1"/>
          <p:nvPr>
            <p:ph type="body" idx="1"/>
          </p:nvPr>
        </p:nvSpPr>
        <p:spPr>
          <a:xfrm>
            <a:off x="324000" y="3062850"/>
            <a:ext cx="2625300" cy="87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2, 4, 8, 16, …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5, 10, 15, 25, …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787" name="Google Shape;787;p69"/>
          <p:cNvSpPr txBox="1"/>
          <p:nvPr>
            <p:ph type="body" idx="1"/>
          </p:nvPr>
        </p:nvSpPr>
        <p:spPr>
          <a:xfrm>
            <a:off x="3499638" y="3062850"/>
            <a:ext cx="2625300" cy="87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1, 2, 4, 7, …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400, 40, 4, 0.4, …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788" name="Google Shape;788;p69"/>
          <p:cNvSpPr txBox="1"/>
          <p:nvPr>
            <p:ph type="body" idx="1"/>
          </p:nvPr>
        </p:nvSpPr>
        <p:spPr>
          <a:xfrm>
            <a:off x="6675275" y="3018625"/>
            <a:ext cx="2625300" cy="87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3, 5, 8, 13, …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0.8, 0.3, −0.3, −0.8, …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789" name="Google Shape;789;p69"/>
          <p:cNvSpPr txBox="1"/>
          <p:nvPr>
            <p:ph type="body" idx="1"/>
          </p:nvPr>
        </p:nvSpPr>
        <p:spPr>
          <a:xfrm>
            <a:off x="324000" y="4144100"/>
            <a:ext cx="8237700" cy="49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What makes a sequence an </a:t>
            </a:r>
            <a:r>
              <a:rPr lang="en-GB" sz="2000" b="1"/>
              <a:t>arithmetic sequence</a:t>
            </a:r>
            <a:r>
              <a:rPr lang="en-GB" sz="2000"/>
              <a:t>?</a:t>
            </a:r>
            <a:endParaRPr sz="2000" b="1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93" name="Shape 793"/>
        <p:cNvGrpSpPr/>
        <p:nvPr/>
      </p:nvGrpSpPr>
      <p:grpSpPr>
        <a:xfrm>
          <a:off x="0" y="0"/>
          <a:ext cx="0" cy="0"/>
        </a:xfrm>
      </p:grpSpPr>
      <p:sp>
        <p:nvSpPr>
          <p:cNvPr id="794" name="Google Shape;794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Identifying arithmetic sequences</a:t>
            </a:r>
            <a:endParaRPr/>
          </a:p>
        </p:txBody>
      </p:sp>
      <p:sp>
        <p:nvSpPr>
          <p:cNvPr id="795" name="Google Shape;795;p70"/>
          <p:cNvSpPr txBox="1"/>
          <p:nvPr>
            <p:ph type="body" idx="1"/>
          </p:nvPr>
        </p:nvSpPr>
        <p:spPr>
          <a:xfrm>
            <a:off x="324000" y="734700"/>
            <a:ext cx="8237700" cy="69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An </a:t>
            </a:r>
            <a:r>
              <a:rPr lang="en-GB" b="1"/>
              <a:t>arithmetic (or linear) sequence </a:t>
            </a:r>
            <a:r>
              <a:rPr lang="en-GB"/>
              <a:t>is a sequence where the difference between successive terms is a constant.</a:t>
            </a:r>
            <a:endParaRPr/>
          </a:p>
        </p:txBody>
      </p:sp>
      <p:sp>
        <p:nvSpPr>
          <p:cNvPr id="796" name="Google Shape;796;p70"/>
          <p:cNvSpPr txBox="1"/>
          <p:nvPr>
            <p:ph type="body" idx="1"/>
          </p:nvPr>
        </p:nvSpPr>
        <p:spPr>
          <a:xfrm>
            <a:off x="497025" y="2318979"/>
            <a:ext cx="3655500" cy="30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E.g.     2,     4,     6,     8, …</a:t>
            </a:r>
            <a:endParaRPr sz="1800"/>
          </a:p>
        </p:txBody>
      </p:sp>
      <p:sp>
        <p:nvSpPr>
          <p:cNvPr id="797" name="Google Shape;797;p70"/>
          <p:cNvSpPr txBox="1"/>
          <p:nvPr>
            <p:ph type="body" idx="1"/>
          </p:nvPr>
        </p:nvSpPr>
        <p:spPr>
          <a:xfrm>
            <a:off x="1130475" y="3918231"/>
            <a:ext cx="2625300" cy="36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13,       11,       9,       7, …</a:t>
            </a:r>
            <a:endParaRPr sz="1800"/>
          </a:p>
        </p:txBody>
      </p:sp>
      <p:sp>
        <p:nvSpPr>
          <p:cNvPr id="798" name="Google Shape;798;p70"/>
          <p:cNvSpPr txBox="1"/>
          <p:nvPr>
            <p:ph type="body" idx="1"/>
          </p:nvPr>
        </p:nvSpPr>
        <p:spPr>
          <a:xfrm>
            <a:off x="4944150" y="2313378"/>
            <a:ext cx="2625300" cy="49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10,    14,    18,    22, …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pic>
        <p:nvPicPr>
          <p:cNvPr id="799" name="Google Shape;799;p70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>
            <a:off x="1130474" y="2057629"/>
            <a:ext cx="671540" cy="308577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70"/>
          <p:cNvSpPr txBox="1"/>
          <p:nvPr/>
        </p:nvSpPr>
        <p:spPr>
          <a:xfrm>
            <a:off x="1290791" y="1846629"/>
            <a:ext cx="5652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1" name="Google Shape;801;p70"/>
          <p:cNvSpPr txBox="1"/>
          <p:nvPr/>
        </p:nvSpPr>
        <p:spPr>
          <a:xfrm>
            <a:off x="1859391" y="1844617"/>
            <a:ext cx="5652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02" name="Google Shape;802;p70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>
            <a:off x="1684799" y="2063666"/>
            <a:ext cx="671540" cy="308577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70"/>
          <p:cNvSpPr txBox="1"/>
          <p:nvPr/>
        </p:nvSpPr>
        <p:spPr>
          <a:xfrm>
            <a:off x="2392791" y="1844617"/>
            <a:ext cx="5652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04" name="Google Shape;804;p70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>
            <a:off x="2218199" y="2063666"/>
            <a:ext cx="671540" cy="3085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05" name="Google Shape;805;p70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>
            <a:off x="5010461" y="2074352"/>
            <a:ext cx="671540" cy="308577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70"/>
          <p:cNvSpPr txBox="1"/>
          <p:nvPr/>
        </p:nvSpPr>
        <p:spPr>
          <a:xfrm>
            <a:off x="5170778" y="1863353"/>
            <a:ext cx="5652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7" name="Google Shape;807;p70"/>
          <p:cNvSpPr txBox="1"/>
          <p:nvPr/>
        </p:nvSpPr>
        <p:spPr>
          <a:xfrm>
            <a:off x="5739378" y="1861341"/>
            <a:ext cx="5652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08" name="Google Shape;808;p70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>
            <a:off x="5564786" y="2080390"/>
            <a:ext cx="671540" cy="308577"/>
          </a:xfrm>
          <a:prstGeom prst="rect">
            <a:avLst/>
          </a:prstGeom>
          <a:noFill/>
          <a:ln>
            <a:noFill/>
          </a:ln>
        </p:spPr>
      </p:pic>
      <p:sp>
        <p:nvSpPr>
          <p:cNvPr id="809" name="Google Shape;809;p70"/>
          <p:cNvSpPr txBox="1"/>
          <p:nvPr/>
        </p:nvSpPr>
        <p:spPr>
          <a:xfrm>
            <a:off x="6272778" y="1861341"/>
            <a:ext cx="5652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0" name="Google Shape;810;p70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>
            <a:off x="6098186" y="2080390"/>
            <a:ext cx="671540" cy="3085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11" name="Google Shape;811;p70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>
            <a:off x="1196773" y="3663950"/>
            <a:ext cx="816576" cy="308577"/>
          </a:xfrm>
          <a:prstGeom prst="rect">
            <a:avLst/>
          </a:prstGeom>
          <a:noFill/>
          <a:ln>
            <a:noFill/>
          </a:ln>
        </p:spPr>
      </p:pic>
      <p:sp>
        <p:nvSpPr>
          <p:cNvPr id="812" name="Google Shape;812;p70"/>
          <p:cNvSpPr txBox="1"/>
          <p:nvPr/>
        </p:nvSpPr>
        <p:spPr>
          <a:xfrm>
            <a:off x="1227155" y="3452950"/>
            <a:ext cx="6717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(</a:t>
            </a: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3" name="Google Shape;813;p70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>
            <a:off x="1882573" y="3663950"/>
            <a:ext cx="816576" cy="308577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70"/>
          <p:cNvSpPr txBox="1"/>
          <p:nvPr/>
        </p:nvSpPr>
        <p:spPr>
          <a:xfrm>
            <a:off x="1952279" y="3452950"/>
            <a:ext cx="6717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(</a:t>
            </a: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5" name="Google Shape;815;p70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>
            <a:off x="2568373" y="3663950"/>
            <a:ext cx="816576" cy="308577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70"/>
          <p:cNvSpPr txBox="1"/>
          <p:nvPr/>
        </p:nvSpPr>
        <p:spPr>
          <a:xfrm>
            <a:off x="2693131" y="3452950"/>
            <a:ext cx="6717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(</a:t>
            </a: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7" name="Google Shape;817;p70" descr="&lt;math xmlns=&quot;http://www.w3.org/1998/Math/MathML&quot; display=&quot;block&quot; data-is-equatio=&quot;1&quot; data-latex=&quot;\frac{3}{5},\ \ \ \ \ \frac{2}{5},\ \ \ \ \frac{1}{5},\ \ \ \ \ 0,\ ...&quot;&gt;&lt;mfrac&gt;&lt;mn&gt;3&lt;/mn&gt;&lt;mn&gt;5&lt;/mn&gt;&lt;/mfrac&gt;&lt;mo&gt;,&lt;/mo&gt;&lt;mtext&gt;&lt;/mtext&gt;&lt;mtext&gt;&lt;/mtext&gt;&lt;mtext&gt;&lt;/mtext&gt;&lt;mtext&gt;&lt;/mtext&gt;&lt;mtext&gt;&lt;/mtext&gt;&lt;mfrac&gt;&lt;mn&gt;2&lt;/mn&gt;&lt;mn&gt;5&lt;/mn&gt;&lt;/mfrac&gt;&lt;mo&gt;,&lt;/mo&gt;&lt;mtext&gt;&lt;/mtext&gt;&lt;mtext&gt;&lt;/mtext&gt;&lt;mtext&gt;&lt;/mtext&gt;&lt;mtext&gt;&lt;/mtext&gt;&lt;mfrac&gt;&lt;mn&gt;1&lt;/mn&gt;&lt;mn&gt;5&lt;/mn&gt;&lt;/mfrac&gt;&lt;mo&gt;,&lt;/mo&gt;&lt;mtext&gt;&lt;/mtext&gt;&lt;mtext&gt;&lt;/mtext&gt;&lt;mtext&gt;&lt;/mtext&gt;&lt;mtext&gt;&lt;/mtext&gt;&lt;mtext&gt;&lt;/mtext&gt;&lt;mn&gt;0&lt;/mn&gt;&lt;mo&gt;,&lt;/mo&gt;&lt;mtext&gt;&lt;/mtext&gt;&lt;mo&gt;.&lt;/mo&gt;&lt;mo&gt;.&lt;/mo&gt;&lt;mo&gt;.&lt;/mo&gt;&lt;/math&gt;" title="three fifths comma two fifths comma one fifth comma 0 comma period period perio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2797" y="3806115"/>
            <a:ext cx="2215406" cy="49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8" name="Google Shape;818;p70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>
            <a:off x="4927875" y="3474875"/>
            <a:ext cx="703224" cy="3085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19" name="Google Shape;819;p70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>
            <a:off x="5483500" y="3474875"/>
            <a:ext cx="703224" cy="3085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" name="Google Shape;820;p70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>
            <a:off x="6039125" y="3474875"/>
            <a:ext cx="703224" cy="3085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21" name="Google Shape;821;p70" descr="&lt;math xmlns=&quot;http://www.w3.org/1998/Math/MathML&quot; display=&quot;block&quot; data-is-equatio=&quot;1&quot; data-latex=&quot;+\ \left(-\frac{1}{5}\right)&quot;&gt;&lt;mo&gt;+&lt;/mo&gt;&lt;mtext&gt;&lt;/mtext&gt;&lt;mrow data-mjx-texclass=&quot;INNER&quot;&gt;&lt;mo data-mjx-texclass=&quot;OPEN&quot;&gt;(&lt;/mo&gt;&lt;mo&gt;−&lt;/mo&gt;&lt;mfrac&gt;&lt;mn&gt;1&lt;/mn&gt;&lt;mn&gt;5&lt;/mn&gt;&lt;/mfrac&gt;&lt;mo data-mjx-texclass=&quot;CLOSE&quot;&gt;)&lt;/mo&gt;&lt;/mrow&gt;&lt;/math&gt;" title="plus negative one fif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27863" y="3158212"/>
            <a:ext cx="565200" cy="357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22" name="Google Shape;822;p70" descr="&lt;math xmlns=&quot;http://www.w3.org/1998/Math/MathML&quot; display=&quot;block&quot; data-is-equatio=&quot;1&quot; data-latex=&quot;+\ \left(-\frac{1}{5}\right)&quot;&gt;&lt;mo&gt;+&lt;/mo&gt;&lt;mtext&gt;&lt;/mtext&gt;&lt;mrow data-mjx-texclass=&quot;INNER&quot;&gt;&lt;mo data-mjx-texclass=&quot;OPEN&quot;&gt;(&lt;/mo&gt;&lt;mo&gt;−&lt;/mo&gt;&lt;mfrac&gt;&lt;mn&gt;1&lt;/mn&gt;&lt;mn&gt;5&lt;/mn&gt;&lt;/mfrac&gt;&lt;mo data-mjx-texclass=&quot;CLOSE&quot;&gt;)&lt;/mo&gt;&lt;/mrow&gt;&lt;/math&gt;" title="plus negative one fif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55033" y="3158212"/>
            <a:ext cx="565200" cy="357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23" name="Google Shape;823;p70" descr="&lt;math xmlns=&quot;http://www.w3.org/1998/Math/MathML&quot; display=&quot;block&quot; data-is-equatio=&quot;1&quot; data-latex=&quot;+\ \left(-\frac{1}{5}\right)&quot;&gt;&lt;mo&gt;+&lt;/mo&gt;&lt;mtext&gt;&lt;/mtext&gt;&lt;mrow data-mjx-texclass=&quot;INNER&quot;&gt;&lt;mo data-mjx-texclass=&quot;OPEN&quot;&gt;(&lt;/mo&gt;&lt;mo&gt;−&lt;/mo&gt;&lt;mfrac&gt;&lt;mn&gt;1&lt;/mn&gt;&lt;mn&gt;5&lt;/mn&gt;&lt;/mfrac&gt;&lt;mo data-mjx-texclass=&quot;CLOSE&quot;&gt;)&lt;/mo&gt;&lt;/mrow&gt;&lt;/math&gt;" title="plus negative one fif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6725" y="3158212"/>
            <a:ext cx="565200" cy="3570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27" name="Shape 827"/>
        <p:cNvGrpSpPr/>
        <p:nvPr/>
      </p:nvGrpSpPr>
      <p:grpSpPr>
        <a:xfrm>
          <a:off x="0" y="0"/>
          <a:ext cx="0" cy="0"/>
        </a:xfrm>
      </p:grpSpPr>
      <p:sp>
        <p:nvSpPr>
          <p:cNvPr id="828" name="Google Shape;828;p71"/>
          <p:cNvSpPr/>
          <p:nvPr/>
        </p:nvSpPr>
        <p:spPr>
          <a:xfrm>
            <a:off x="3303175" y="1242625"/>
            <a:ext cx="1572900" cy="2862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9" name="Google Shape;829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Identifying arithmetic sequences</a:t>
            </a:r>
            <a:endParaRPr/>
          </a:p>
        </p:txBody>
      </p:sp>
      <p:sp>
        <p:nvSpPr>
          <p:cNvPr id="830" name="Google Shape;830;p71"/>
          <p:cNvSpPr txBox="1"/>
          <p:nvPr>
            <p:ph type="body" idx="1"/>
          </p:nvPr>
        </p:nvSpPr>
        <p:spPr>
          <a:xfrm>
            <a:off x="324000" y="759300"/>
            <a:ext cx="8237700" cy="49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How could we explain why this sequence is not an </a:t>
            </a:r>
            <a:r>
              <a:rPr lang="en-GB" sz="1800" b="1"/>
              <a:t>arithmetic sequence</a:t>
            </a:r>
            <a:r>
              <a:rPr lang="en-GB" sz="1800"/>
              <a:t>?</a:t>
            </a:r>
            <a:endParaRPr sz="1800" b="1"/>
          </a:p>
        </p:txBody>
      </p:sp>
      <p:sp>
        <p:nvSpPr>
          <p:cNvPr id="831" name="Google Shape;831;p71"/>
          <p:cNvSpPr txBox="1"/>
          <p:nvPr>
            <p:ph type="body" idx="1"/>
          </p:nvPr>
        </p:nvSpPr>
        <p:spPr>
          <a:xfrm>
            <a:off x="324000" y="2163100"/>
            <a:ext cx="8237700" cy="49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difference between successive terms is not constant, first we add 2, then we add 4, then we add 8, … </a:t>
            </a:r>
            <a:endParaRPr sz="1800" b="1"/>
          </a:p>
        </p:txBody>
      </p:sp>
      <p:sp>
        <p:nvSpPr>
          <p:cNvPr id="832" name="Google Shape;832;p71"/>
          <p:cNvSpPr txBox="1"/>
          <p:nvPr>
            <p:ph type="body" idx="1"/>
          </p:nvPr>
        </p:nvSpPr>
        <p:spPr>
          <a:xfrm>
            <a:off x="3259350" y="3822825"/>
            <a:ext cx="2625300" cy="30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5,     10,     15,     25, …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800"/>
          </a:p>
        </p:txBody>
      </p:sp>
      <p:sp>
        <p:nvSpPr>
          <p:cNvPr id="833" name="Google Shape;833;p71"/>
          <p:cNvSpPr txBox="1"/>
          <p:nvPr>
            <p:ph type="body" idx="1"/>
          </p:nvPr>
        </p:nvSpPr>
        <p:spPr>
          <a:xfrm>
            <a:off x="324000" y="2860350"/>
            <a:ext cx="8237700" cy="49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Why is this not an </a:t>
            </a:r>
            <a:r>
              <a:rPr lang="en-GB" sz="1800" b="1"/>
              <a:t>arithmetic sequence</a:t>
            </a:r>
            <a:r>
              <a:rPr lang="en-GB" sz="1800"/>
              <a:t>?</a:t>
            </a:r>
            <a:endParaRPr sz="1800" b="1"/>
          </a:p>
        </p:txBody>
      </p:sp>
      <p:sp>
        <p:nvSpPr>
          <p:cNvPr id="834" name="Google Shape;834;p71"/>
          <p:cNvSpPr txBox="1"/>
          <p:nvPr>
            <p:ph type="body" idx="1"/>
          </p:nvPr>
        </p:nvSpPr>
        <p:spPr>
          <a:xfrm>
            <a:off x="3259350" y="1668375"/>
            <a:ext cx="2625300" cy="33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2,     4,     8,     16, …</a:t>
            </a:r>
            <a:endParaRPr sz="1800"/>
          </a:p>
        </p:txBody>
      </p:sp>
      <p:pic>
        <p:nvPicPr>
          <p:cNvPr id="835" name="Google Shape;835;p71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>
            <a:off x="3212174" y="1461404"/>
            <a:ext cx="671540" cy="308577"/>
          </a:xfrm>
          <a:prstGeom prst="rect">
            <a:avLst/>
          </a:prstGeom>
          <a:noFill/>
          <a:ln>
            <a:noFill/>
          </a:ln>
        </p:spPr>
      </p:pic>
      <p:sp>
        <p:nvSpPr>
          <p:cNvPr id="836" name="Google Shape;836;p71"/>
          <p:cNvSpPr txBox="1"/>
          <p:nvPr/>
        </p:nvSpPr>
        <p:spPr>
          <a:xfrm>
            <a:off x="3372491" y="1250404"/>
            <a:ext cx="5652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37" name="Google Shape;837;p71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>
            <a:off x="3749949" y="1461404"/>
            <a:ext cx="671540" cy="308577"/>
          </a:xfrm>
          <a:prstGeom prst="rect">
            <a:avLst/>
          </a:prstGeom>
          <a:noFill/>
          <a:ln>
            <a:noFill/>
          </a:ln>
        </p:spPr>
      </p:pic>
      <p:sp>
        <p:nvSpPr>
          <p:cNvPr id="838" name="Google Shape;838;p71"/>
          <p:cNvSpPr txBox="1"/>
          <p:nvPr/>
        </p:nvSpPr>
        <p:spPr>
          <a:xfrm>
            <a:off x="3910266" y="1250404"/>
            <a:ext cx="5652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39" name="Google Shape;839;p71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>
            <a:off x="4319999" y="1461404"/>
            <a:ext cx="671540" cy="308577"/>
          </a:xfrm>
          <a:prstGeom prst="rect">
            <a:avLst/>
          </a:prstGeom>
          <a:noFill/>
          <a:ln>
            <a:noFill/>
          </a:ln>
        </p:spPr>
      </p:pic>
      <p:sp>
        <p:nvSpPr>
          <p:cNvPr id="840" name="Google Shape;840;p71"/>
          <p:cNvSpPr txBox="1"/>
          <p:nvPr/>
        </p:nvSpPr>
        <p:spPr>
          <a:xfrm>
            <a:off x="4480316" y="1250404"/>
            <a:ext cx="5652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1" name="Google Shape;841;p71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>
            <a:off x="3243632" y="3534533"/>
            <a:ext cx="671540" cy="308577"/>
          </a:xfrm>
          <a:prstGeom prst="rect">
            <a:avLst/>
          </a:prstGeom>
          <a:noFill/>
          <a:ln>
            <a:noFill/>
          </a:ln>
        </p:spPr>
      </p:pic>
      <p:sp>
        <p:nvSpPr>
          <p:cNvPr id="842" name="Google Shape;842;p71"/>
          <p:cNvSpPr txBox="1"/>
          <p:nvPr/>
        </p:nvSpPr>
        <p:spPr>
          <a:xfrm>
            <a:off x="3403949" y="3323534"/>
            <a:ext cx="5652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3" name="Google Shape;843;p71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>
            <a:off x="3903845" y="3534533"/>
            <a:ext cx="671540" cy="308577"/>
          </a:xfrm>
          <a:prstGeom prst="rect">
            <a:avLst/>
          </a:prstGeom>
          <a:noFill/>
          <a:ln>
            <a:noFill/>
          </a:ln>
        </p:spPr>
      </p:pic>
      <p:sp>
        <p:nvSpPr>
          <p:cNvPr id="844" name="Google Shape;844;p71"/>
          <p:cNvSpPr txBox="1"/>
          <p:nvPr/>
        </p:nvSpPr>
        <p:spPr>
          <a:xfrm>
            <a:off x="4064162" y="3323534"/>
            <a:ext cx="5652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5" name="Google Shape;845;p71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>
            <a:off x="4571995" y="3534533"/>
            <a:ext cx="671540" cy="308577"/>
          </a:xfrm>
          <a:prstGeom prst="rect">
            <a:avLst/>
          </a:prstGeom>
          <a:noFill/>
          <a:ln>
            <a:noFill/>
          </a:ln>
        </p:spPr>
      </p:pic>
      <p:sp>
        <p:nvSpPr>
          <p:cNvPr id="846" name="Google Shape;846;p71"/>
          <p:cNvSpPr txBox="1"/>
          <p:nvPr/>
        </p:nvSpPr>
        <p:spPr>
          <a:xfrm>
            <a:off x="4732312" y="3323534"/>
            <a:ext cx="5652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7" name="Google Shape;847;p71"/>
          <p:cNvSpPr txBox="1"/>
          <p:nvPr>
            <p:ph type="body" idx="1"/>
          </p:nvPr>
        </p:nvSpPr>
        <p:spPr>
          <a:xfrm>
            <a:off x="324000" y="4203813"/>
            <a:ext cx="8237700" cy="49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difference between successive terms is not constant, we start by adding 5 but to get from 15 to 25 we add 10 </a:t>
            </a:r>
            <a:endParaRPr sz="1800" b="1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51" name="Shape 851"/>
        <p:cNvGrpSpPr/>
        <p:nvPr/>
      </p:nvGrpSpPr>
      <p:grpSpPr>
        <a:xfrm>
          <a:off x="0" y="0"/>
          <a:ext cx="0" cy="0"/>
        </a:xfrm>
      </p:grpSpPr>
      <p:sp>
        <p:nvSpPr>
          <p:cNvPr id="852" name="Google Shape;852;p72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21, 26, 32, 37, …</a:t>
            </a:r>
            <a:endParaRPr/>
          </a:p>
        </p:txBody>
      </p:sp>
      <p:sp>
        <p:nvSpPr>
          <p:cNvPr id="853" name="Google Shape;853;p7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Identifying arithmetic sequences</a:t>
            </a:r>
            <a:endParaRPr/>
          </a:p>
        </p:txBody>
      </p:sp>
      <p:sp>
        <p:nvSpPr>
          <p:cNvPr id="854" name="Google Shape;854;p72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Which of these are </a:t>
            </a:r>
            <a:r>
              <a:rPr lang="en-GB" b="1"/>
              <a:t>arithmetic sequences</a:t>
            </a:r>
            <a:r>
              <a:rPr lang="en-GB"/>
              <a:t>?</a:t>
            </a:r>
            <a:endParaRPr/>
          </a:p>
        </p:txBody>
      </p:sp>
      <p:sp>
        <p:nvSpPr>
          <p:cNvPr id="855" name="Google Shape;855;p72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100, 200, 400, 800, …</a:t>
            </a:r>
            <a:endParaRPr/>
          </a:p>
        </p:txBody>
      </p:sp>
      <p:sp>
        <p:nvSpPr>
          <p:cNvPr id="856" name="Google Shape;856;p72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16, 13, 10, 7, …</a:t>
            </a:r>
            <a:endParaRPr/>
          </a:p>
        </p:txBody>
      </p:sp>
      <p:sp>
        <p:nvSpPr>
          <p:cNvPr id="857" name="Google Shape;857;p72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7,  8,  9,  10, … </a:t>
            </a:r>
            <a:endParaRPr/>
          </a:p>
        </p:txBody>
      </p:sp>
      <p:pic>
        <p:nvPicPr>
          <p:cNvPr id="858" name="Google Shape;858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4008" y="3286638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9" name="Google Shape;859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4008" y="4113813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860" name="Google Shape;860;p72"/>
          <p:cNvSpPr txBox="1"/>
          <p:nvPr>
            <p:ph type="title"/>
          </p:nvPr>
        </p:nvSpPr>
        <p:spPr>
          <a:xfrm>
            <a:off x="5150525" y="3251388"/>
            <a:ext cx="32883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This sequence is adding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−3 each time.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61" name="Google Shape;861;p72"/>
          <p:cNvSpPr txBox="1"/>
          <p:nvPr>
            <p:ph type="title"/>
          </p:nvPr>
        </p:nvSpPr>
        <p:spPr>
          <a:xfrm>
            <a:off x="5210725" y="4113838"/>
            <a:ext cx="32883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This sequence is adding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1 each time.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65" name="Shape 865"/>
        <p:cNvGrpSpPr/>
        <p:nvPr/>
      </p:nvGrpSpPr>
      <p:grpSpPr>
        <a:xfrm>
          <a:off x="0" y="0"/>
          <a:ext cx="0" cy="0"/>
        </a:xfrm>
      </p:grpSpPr>
      <p:sp>
        <p:nvSpPr>
          <p:cNvPr id="866" name="Google Shape;866;p73"/>
          <p:cNvSpPr txBox="1"/>
          <p:nvPr>
            <p:ph type="body" idx="1"/>
          </p:nvPr>
        </p:nvSpPr>
        <p:spPr>
          <a:xfrm>
            <a:off x="324000" y="683100"/>
            <a:ext cx="8237700" cy="4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Pictorial sequences can form </a:t>
            </a:r>
            <a:r>
              <a:rPr lang="en-GB" sz="2000" b="1"/>
              <a:t>arithmetic sequences</a:t>
            </a:r>
            <a:r>
              <a:rPr lang="en-GB" sz="2000"/>
              <a:t> as well.</a:t>
            </a:r>
            <a:endParaRPr sz="2000"/>
          </a:p>
        </p:txBody>
      </p:sp>
      <p:sp>
        <p:nvSpPr>
          <p:cNvPr id="867" name="Google Shape;867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Identifying arithmetic sequences</a:t>
            </a:r>
            <a:endParaRPr/>
          </a:p>
        </p:txBody>
      </p:sp>
      <p:graphicFrame>
        <p:nvGraphicFramePr>
          <p:cNvPr id="868" name="Google Shape;868;p73"/>
          <p:cNvGraphicFramePr>
            <a:graphicFrameLocks noGrp="1"/>
          </p:cNvGraphicFramePr>
          <p:nvPr/>
        </p:nvGraphicFramePr>
        <p:xfrm>
          <a:off x="324000" y="156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{E94B1F7C-D626-4EB4-874A-6446D225D414}</a:tableStyleId>
              </a:tblPr>
              <a:tblGrid>
                <a:gridCol w="240000"/>
                <a:gridCol w="240000"/>
                <a:gridCol w="240000"/>
              </a:tblGrid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69" name="Google Shape;869;p73"/>
          <p:cNvGraphicFramePr>
            <a:graphicFrameLocks noGrp="1"/>
          </p:cNvGraphicFramePr>
          <p:nvPr/>
        </p:nvGraphicFramePr>
        <p:xfrm>
          <a:off x="1535175" y="156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{E94B1F7C-D626-4EB4-874A-6446D225D414}</a:tableStyleId>
              </a:tblPr>
              <a:tblGrid>
                <a:gridCol w="239975"/>
                <a:gridCol w="239975"/>
                <a:gridCol w="239975"/>
                <a:gridCol w="239975"/>
              </a:tblGrid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solidFill>
                      <a:schemeClr val="dk1"/>
                    </a:solidFill>
                  </a:tcPr>
                </a:tc>
              </a:tr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solidFill>
                      <a:schemeClr val="dk1"/>
                    </a:solidFill>
                  </a:tcPr>
                </a:tc>
              </a:tr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70" name="Google Shape;870;p73"/>
          <p:cNvGraphicFramePr>
            <a:graphicFrameLocks noGrp="1"/>
          </p:cNvGraphicFramePr>
          <p:nvPr/>
        </p:nvGraphicFramePr>
        <p:xfrm>
          <a:off x="2950838" y="156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{E94B1F7C-D626-4EB4-874A-6446D225D414}</a:tableStyleId>
              </a:tblPr>
              <a:tblGrid>
                <a:gridCol w="240475"/>
                <a:gridCol w="240475"/>
                <a:gridCol w="240475"/>
                <a:gridCol w="240475"/>
                <a:gridCol w="240475"/>
              </a:tblGrid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solidFill>
                      <a:schemeClr val="dk1"/>
                    </a:solidFill>
                  </a:tcPr>
                </a:tc>
              </a:tr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solidFill>
                      <a:schemeClr val="dk1"/>
                    </a:solidFill>
                  </a:tcPr>
                </a:tc>
              </a:tr>
              <a:tr h="240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sp>
        <p:nvSpPr>
          <p:cNvPr id="871" name="Google Shape;871;p73"/>
          <p:cNvSpPr/>
          <p:nvPr/>
        </p:nvSpPr>
        <p:spPr>
          <a:xfrm>
            <a:off x="2021210" y="1570485"/>
            <a:ext cx="225900" cy="226800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2" name="Google Shape;872;p73"/>
          <p:cNvSpPr/>
          <p:nvPr/>
        </p:nvSpPr>
        <p:spPr>
          <a:xfrm>
            <a:off x="2021210" y="2050596"/>
            <a:ext cx="225900" cy="226800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3" name="Google Shape;873;p73"/>
          <p:cNvSpPr/>
          <p:nvPr/>
        </p:nvSpPr>
        <p:spPr>
          <a:xfrm>
            <a:off x="3680150" y="1575735"/>
            <a:ext cx="225900" cy="226800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4" name="Google Shape;874;p73"/>
          <p:cNvSpPr/>
          <p:nvPr/>
        </p:nvSpPr>
        <p:spPr>
          <a:xfrm>
            <a:off x="3680150" y="2047981"/>
            <a:ext cx="225900" cy="226800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75" name="Google Shape;875;p73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>
            <a:off x="469850" y="1261111"/>
            <a:ext cx="1353516" cy="308577"/>
          </a:xfrm>
          <a:prstGeom prst="rect">
            <a:avLst/>
          </a:prstGeom>
          <a:noFill/>
          <a:ln>
            <a:noFill/>
          </a:ln>
        </p:spPr>
      </p:pic>
      <p:sp>
        <p:nvSpPr>
          <p:cNvPr id="876" name="Google Shape;876;p73"/>
          <p:cNvSpPr txBox="1"/>
          <p:nvPr/>
        </p:nvSpPr>
        <p:spPr>
          <a:xfrm>
            <a:off x="945376" y="1050112"/>
            <a:ext cx="11391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7" name="Google Shape;877;p73"/>
          <p:cNvSpPr txBox="1"/>
          <p:nvPr/>
        </p:nvSpPr>
        <p:spPr>
          <a:xfrm>
            <a:off x="2777214" y="1048100"/>
            <a:ext cx="11391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78" name="Google Shape;878;p73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>
            <a:off x="2196716" y="1267148"/>
            <a:ext cx="1353516" cy="3085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9" name="Google Shape;879;p73"/>
          <p:cNvGrpSpPr/>
          <p:nvPr/>
        </p:nvGrpSpPr>
        <p:grpSpPr>
          <a:xfrm>
            <a:off x="4761400" y="1684488"/>
            <a:ext cx="565200" cy="489000"/>
            <a:chOff x="361850" y="3138300"/>
            <a:chExt cx="565200" cy="489000"/>
          </a:xfrm>
        </p:grpSpPr>
        <p:sp>
          <p:nvSpPr>
            <p:cNvPr id="880" name="Google Shape;880;p73"/>
            <p:cNvSpPr/>
            <p:nvPr/>
          </p:nvSpPr>
          <p:spPr>
            <a:xfrm>
              <a:off x="361850" y="3138300"/>
              <a:ext cx="108000" cy="1080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1" name="Google Shape;881;p73"/>
            <p:cNvSpPr/>
            <p:nvPr/>
          </p:nvSpPr>
          <p:spPr>
            <a:xfrm>
              <a:off x="361850" y="3328800"/>
              <a:ext cx="108000" cy="1080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2" name="Google Shape;882;p73"/>
            <p:cNvSpPr/>
            <p:nvPr/>
          </p:nvSpPr>
          <p:spPr>
            <a:xfrm>
              <a:off x="361850" y="3519300"/>
              <a:ext cx="108000" cy="1080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3" name="Google Shape;883;p73"/>
            <p:cNvSpPr/>
            <p:nvPr/>
          </p:nvSpPr>
          <p:spPr>
            <a:xfrm>
              <a:off x="590450" y="3328800"/>
              <a:ext cx="108000" cy="1080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4" name="Google Shape;884;p73"/>
            <p:cNvSpPr/>
            <p:nvPr/>
          </p:nvSpPr>
          <p:spPr>
            <a:xfrm>
              <a:off x="819050" y="3138300"/>
              <a:ext cx="108000" cy="1080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5" name="Google Shape;885;p73"/>
            <p:cNvSpPr/>
            <p:nvPr/>
          </p:nvSpPr>
          <p:spPr>
            <a:xfrm>
              <a:off x="819050" y="3328800"/>
              <a:ext cx="108000" cy="1080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6" name="Google Shape;886;p73"/>
            <p:cNvSpPr/>
            <p:nvPr/>
          </p:nvSpPr>
          <p:spPr>
            <a:xfrm>
              <a:off x="819050" y="3519300"/>
              <a:ext cx="108000" cy="1080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87" name="Google Shape;887;p73"/>
          <p:cNvGrpSpPr/>
          <p:nvPr/>
        </p:nvGrpSpPr>
        <p:grpSpPr>
          <a:xfrm>
            <a:off x="5828200" y="1684488"/>
            <a:ext cx="1022400" cy="489000"/>
            <a:chOff x="1581050" y="3138300"/>
            <a:chExt cx="1022400" cy="489000"/>
          </a:xfrm>
        </p:grpSpPr>
        <p:sp>
          <p:nvSpPr>
            <p:cNvPr id="888" name="Google Shape;888;p73"/>
            <p:cNvSpPr/>
            <p:nvPr/>
          </p:nvSpPr>
          <p:spPr>
            <a:xfrm>
              <a:off x="1581050" y="3138300"/>
              <a:ext cx="108000" cy="1080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9" name="Google Shape;889;p73"/>
            <p:cNvSpPr/>
            <p:nvPr/>
          </p:nvSpPr>
          <p:spPr>
            <a:xfrm>
              <a:off x="1581050" y="3328800"/>
              <a:ext cx="108000" cy="1080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0" name="Google Shape;890;p73"/>
            <p:cNvSpPr/>
            <p:nvPr/>
          </p:nvSpPr>
          <p:spPr>
            <a:xfrm>
              <a:off x="1581050" y="3519300"/>
              <a:ext cx="108000" cy="1080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1" name="Google Shape;891;p73"/>
            <p:cNvSpPr/>
            <p:nvPr/>
          </p:nvSpPr>
          <p:spPr>
            <a:xfrm>
              <a:off x="1809650" y="3328800"/>
              <a:ext cx="108000" cy="1080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2" name="Google Shape;892;p73"/>
            <p:cNvSpPr/>
            <p:nvPr/>
          </p:nvSpPr>
          <p:spPr>
            <a:xfrm>
              <a:off x="2038250" y="3138300"/>
              <a:ext cx="108000" cy="1080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3" name="Google Shape;893;p73"/>
            <p:cNvSpPr/>
            <p:nvPr/>
          </p:nvSpPr>
          <p:spPr>
            <a:xfrm>
              <a:off x="2038250" y="3328800"/>
              <a:ext cx="108000" cy="1080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4" name="Google Shape;894;p73"/>
            <p:cNvSpPr/>
            <p:nvPr/>
          </p:nvSpPr>
          <p:spPr>
            <a:xfrm>
              <a:off x="2038250" y="3519300"/>
              <a:ext cx="108000" cy="1080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5" name="Google Shape;895;p73"/>
            <p:cNvSpPr/>
            <p:nvPr/>
          </p:nvSpPr>
          <p:spPr>
            <a:xfrm>
              <a:off x="2266850" y="3328800"/>
              <a:ext cx="108000" cy="1080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6" name="Google Shape;896;p73"/>
            <p:cNvSpPr/>
            <p:nvPr/>
          </p:nvSpPr>
          <p:spPr>
            <a:xfrm>
              <a:off x="2495450" y="3138300"/>
              <a:ext cx="108000" cy="1080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7" name="Google Shape;897;p73"/>
            <p:cNvSpPr/>
            <p:nvPr/>
          </p:nvSpPr>
          <p:spPr>
            <a:xfrm>
              <a:off x="2495450" y="3328800"/>
              <a:ext cx="108000" cy="1080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8" name="Google Shape;898;p73"/>
            <p:cNvSpPr/>
            <p:nvPr/>
          </p:nvSpPr>
          <p:spPr>
            <a:xfrm>
              <a:off x="2495450" y="3519300"/>
              <a:ext cx="108000" cy="1080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99" name="Google Shape;899;p73"/>
          <p:cNvGrpSpPr/>
          <p:nvPr/>
        </p:nvGrpSpPr>
        <p:grpSpPr>
          <a:xfrm>
            <a:off x="7276000" y="1684488"/>
            <a:ext cx="1479600" cy="489000"/>
            <a:chOff x="3028850" y="3138300"/>
            <a:chExt cx="1479600" cy="489000"/>
          </a:xfrm>
        </p:grpSpPr>
        <p:sp>
          <p:nvSpPr>
            <p:cNvPr id="900" name="Google Shape;900;p73"/>
            <p:cNvSpPr/>
            <p:nvPr/>
          </p:nvSpPr>
          <p:spPr>
            <a:xfrm>
              <a:off x="4171850" y="3328800"/>
              <a:ext cx="108000" cy="1080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1" name="Google Shape;901;p73"/>
            <p:cNvSpPr/>
            <p:nvPr/>
          </p:nvSpPr>
          <p:spPr>
            <a:xfrm>
              <a:off x="4400450" y="3138300"/>
              <a:ext cx="108000" cy="1080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2" name="Google Shape;902;p73"/>
            <p:cNvSpPr/>
            <p:nvPr/>
          </p:nvSpPr>
          <p:spPr>
            <a:xfrm>
              <a:off x="4400450" y="3328800"/>
              <a:ext cx="108000" cy="1080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3" name="Google Shape;903;p73"/>
            <p:cNvSpPr/>
            <p:nvPr/>
          </p:nvSpPr>
          <p:spPr>
            <a:xfrm>
              <a:off x="4400450" y="3519300"/>
              <a:ext cx="108000" cy="1080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4" name="Google Shape;904;p73"/>
            <p:cNvSpPr/>
            <p:nvPr/>
          </p:nvSpPr>
          <p:spPr>
            <a:xfrm>
              <a:off x="3028850" y="3138300"/>
              <a:ext cx="108000" cy="1080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5" name="Google Shape;905;p73"/>
            <p:cNvSpPr/>
            <p:nvPr/>
          </p:nvSpPr>
          <p:spPr>
            <a:xfrm>
              <a:off x="3028850" y="3328800"/>
              <a:ext cx="108000" cy="1080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6" name="Google Shape;906;p73"/>
            <p:cNvSpPr/>
            <p:nvPr/>
          </p:nvSpPr>
          <p:spPr>
            <a:xfrm>
              <a:off x="3028850" y="3519300"/>
              <a:ext cx="108000" cy="1080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7" name="Google Shape;907;p73"/>
            <p:cNvSpPr/>
            <p:nvPr/>
          </p:nvSpPr>
          <p:spPr>
            <a:xfrm>
              <a:off x="3257450" y="3328800"/>
              <a:ext cx="108000" cy="1080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8" name="Google Shape;908;p73"/>
            <p:cNvSpPr/>
            <p:nvPr/>
          </p:nvSpPr>
          <p:spPr>
            <a:xfrm>
              <a:off x="3486050" y="3138300"/>
              <a:ext cx="108000" cy="1080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09" name="Google Shape;909;p73"/>
            <p:cNvSpPr/>
            <p:nvPr/>
          </p:nvSpPr>
          <p:spPr>
            <a:xfrm>
              <a:off x="3486050" y="3328800"/>
              <a:ext cx="108000" cy="1080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0" name="Google Shape;910;p73"/>
            <p:cNvSpPr/>
            <p:nvPr/>
          </p:nvSpPr>
          <p:spPr>
            <a:xfrm>
              <a:off x="3486050" y="3519300"/>
              <a:ext cx="108000" cy="1080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1" name="Google Shape;911;p73"/>
            <p:cNvSpPr/>
            <p:nvPr/>
          </p:nvSpPr>
          <p:spPr>
            <a:xfrm>
              <a:off x="3714650" y="3328800"/>
              <a:ext cx="108000" cy="1080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2" name="Google Shape;912;p73"/>
            <p:cNvSpPr/>
            <p:nvPr/>
          </p:nvSpPr>
          <p:spPr>
            <a:xfrm>
              <a:off x="3943250" y="3138300"/>
              <a:ext cx="108000" cy="1080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3" name="Google Shape;913;p73"/>
            <p:cNvSpPr/>
            <p:nvPr/>
          </p:nvSpPr>
          <p:spPr>
            <a:xfrm>
              <a:off x="3943250" y="3328800"/>
              <a:ext cx="108000" cy="1080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4" name="Google Shape;914;p73"/>
            <p:cNvSpPr/>
            <p:nvPr/>
          </p:nvSpPr>
          <p:spPr>
            <a:xfrm>
              <a:off x="3943250" y="3519300"/>
              <a:ext cx="108000" cy="1080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915" name="Google Shape;915;p73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>
            <a:off x="5007375" y="1277511"/>
            <a:ext cx="1353516" cy="308577"/>
          </a:xfrm>
          <a:prstGeom prst="rect">
            <a:avLst/>
          </a:prstGeom>
          <a:noFill/>
          <a:ln>
            <a:noFill/>
          </a:ln>
        </p:spPr>
      </p:pic>
      <p:sp>
        <p:nvSpPr>
          <p:cNvPr id="916" name="Google Shape;916;p73"/>
          <p:cNvSpPr txBox="1"/>
          <p:nvPr/>
        </p:nvSpPr>
        <p:spPr>
          <a:xfrm>
            <a:off x="5482901" y="1066512"/>
            <a:ext cx="11391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7" name="Google Shape;917;p73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>
            <a:off x="6468337" y="1277511"/>
            <a:ext cx="1353516" cy="308577"/>
          </a:xfrm>
          <a:prstGeom prst="rect">
            <a:avLst/>
          </a:prstGeom>
          <a:noFill/>
          <a:ln>
            <a:noFill/>
          </a:ln>
        </p:spPr>
      </p:pic>
      <p:sp>
        <p:nvSpPr>
          <p:cNvPr id="918" name="Google Shape;918;p73"/>
          <p:cNvSpPr txBox="1"/>
          <p:nvPr/>
        </p:nvSpPr>
        <p:spPr>
          <a:xfrm>
            <a:off x="6943863" y="1066512"/>
            <a:ext cx="11391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19" name="Google Shape;919;p73"/>
          <p:cNvGrpSpPr/>
          <p:nvPr/>
        </p:nvGrpSpPr>
        <p:grpSpPr>
          <a:xfrm>
            <a:off x="6510115" y="1684488"/>
            <a:ext cx="336600" cy="489000"/>
            <a:chOff x="2419250" y="3976500"/>
            <a:chExt cx="336600" cy="489000"/>
          </a:xfrm>
        </p:grpSpPr>
        <p:sp>
          <p:nvSpPr>
            <p:cNvPr id="920" name="Google Shape;920;p73"/>
            <p:cNvSpPr/>
            <p:nvPr/>
          </p:nvSpPr>
          <p:spPr>
            <a:xfrm>
              <a:off x="2419250" y="4167000"/>
              <a:ext cx="108000" cy="108000"/>
            </a:xfrm>
            <a:prstGeom prst="ellipse">
              <a:avLst/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21" name="Google Shape;921;p73"/>
            <p:cNvSpPr/>
            <p:nvPr/>
          </p:nvSpPr>
          <p:spPr>
            <a:xfrm>
              <a:off x="2647850" y="3976500"/>
              <a:ext cx="108000" cy="108000"/>
            </a:xfrm>
            <a:prstGeom prst="ellipse">
              <a:avLst/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22" name="Google Shape;922;p73"/>
            <p:cNvSpPr/>
            <p:nvPr/>
          </p:nvSpPr>
          <p:spPr>
            <a:xfrm>
              <a:off x="2647850" y="4167000"/>
              <a:ext cx="108000" cy="108000"/>
            </a:xfrm>
            <a:prstGeom prst="ellipse">
              <a:avLst/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23" name="Google Shape;923;p73"/>
            <p:cNvSpPr/>
            <p:nvPr/>
          </p:nvSpPr>
          <p:spPr>
            <a:xfrm>
              <a:off x="2647850" y="4357500"/>
              <a:ext cx="108000" cy="108000"/>
            </a:xfrm>
            <a:prstGeom prst="ellipse">
              <a:avLst/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24" name="Google Shape;924;p73"/>
          <p:cNvGrpSpPr/>
          <p:nvPr/>
        </p:nvGrpSpPr>
        <p:grpSpPr>
          <a:xfrm>
            <a:off x="8415115" y="1684488"/>
            <a:ext cx="336600" cy="489000"/>
            <a:chOff x="2419250" y="3976500"/>
            <a:chExt cx="336600" cy="489000"/>
          </a:xfrm>
        </p:grpSpPr>
        <p:sp>
          <p:nvSpPr>
            <p:cNvPr id="925" name="Google Shape;925;p73"/>
            <p:cNvSpPr/>
            <p:nvPr/>
          </p:nvSpPr>
          <p:spPr>
            <a:xfrm>
              <a:off x="2419250" y="4167000"/>
              <a:ext cx="108000" cy="108000"/>
            </a:xfrm>
            <a:prstGeom prst="ellipse">
              <a:avLst/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26" name="Google Shape;926;p73"/>
            <p:cNvSpPr/>
            <p:nvPr/>
          </p:nvSpPr>
          <p:spPr>
            <a:xfrm>
              <a:off x="2647850" y="3976500"/>
              <a:ext cx="108000" cy="108000"/>
            </a:xfrm>
            <a:prstGeom prst="ellipse">
              <a:avLst/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27" name="Google Shape;927;p73"/>
            <p:cNvSpPr/>
            <p:nvPr/>
          </p:nvSpPr>
          <p:spPr>
            <a:xfrm>
              <a:off x="2647850" y="4167000"/>
              <a:ext cx="108000" cy="108000"/>
            </a:xfrm>
            <a:prstGeom prst="ellipse">
              <a:avLst/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28" name="Google Shape;928;p73"/>
            <p:cNvSpPr/>
            <p:nvPr/>
          </p:nvSpPr>
          <p:spPr>
            <a:xfrm>
              <a:off x="2647850" y="4357500"/>
              <a:ext cx="108000" cy="108000"/>
            </a:xfrm>
            <a:prstGeom prst="ellipse">
              <a:avLst/>
            </a:pr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29" name="Google Shape;929;p73"/>
          <p:cNvGrpSpPr/>
          <p:nvPr/>
        </p:nvGrpSpPr>
        <p:grpSpPr>
          <a:xfrm>
            <a:off x="410083" y="3820379"/>
            <a:ext cx="2549434" cy="1015548"/>
            <a:chOff x="410083" y="3820379"/>
            <a:chExt cx="2549434" cy="1015548"/>
          </a:xfrm>
        </p:grpSpPr>
        <p:sp>
          <p:nvSpPr>
            <p:cNvPr id="930" name="Google Shape;930;p73"/>
            <p:cNvSpPr/>
            <p:nvPr/>
          </p:nvSpPr>
          <p:spPr>
            <a:xfrm>
              <a:off x="1470808" y="4630219"/>
              <a:ext cx="201900" cy="2019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31" name="Google Shape;931;p73"/>
            <p:cNvSpPr/>
            <p:nvPr/>
          </p:nvSpPr>
          <p:spPr>
            <a:xfrm rot="5400000">
              <a:off x="1367196" y="4323859"/>
              <a:ext cx="410100" cy="203400"/>
            </a:xfrm>
            <a:prstGeom prst="rect">
              <a:avLst/>
            </a:prstGeom>
            <a:solidFill>
              <a:srgbClr val="FF0000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932" name="Google Shape;932;p73"/>
            <p:cNvGrpSpPr/>
            <p:nvPr/>
          </p:nvGrpSpPr>
          <p:grpSpPr>
            <a:xfrm>
              <a:off x="2756117" y="3820379"/>
              <a:ext cx="203400" cy="1011740"/>
              <a:chOff x="1901479" y="3780004"/>
              <a:chExt cx="203400" cy="1011740"/>
            </a:xfrm>
          </p:grpSpPr>
          <p:sp>
            <p:nvSpPr>
              <p:cNvPr id="933" name="Google Shape;933;p73"/>
              <p:cNvSpPr/>
              <p:nvPr/>
            </p:nvSpPr>
            <p:spPr>
              <a:xfrm>
                <a:off x="1901741" y="4589844"/>
                <a:ext cx="201900" cy="201900"/>
              </a:xfrm>
              <a:prstGeom prst="rect">
                <a:avLst/>
              </a:prstGeom>
              <a:solidFill>
                <a:srgbClr val="FFFFFF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934;p73"/>
              <p:cNvSpPr/>
              <p:nvPr/>
            </p:nvSpPr>
            <p:spPr>
              <a:xfrm rot="5400000">
                <a:off x="1798129" y="4283484"/>
                <a:ext cx="410100" cy="203400"/>
              </a:xfrm>
              <a:prstGeom prst="rect">
                <a:avLst/>
              </a:prstGeom>
              <a:solidFill>
                <a:srgbClr val="FF0000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73"/>
              <p:cNvSpPr/>
              <p:nvPr/>
            </p:nvSpPr>
            <p:spPr>
              <a:xfrm rot="5400000">
                <a:off x="1798129" y="3883354"/>
                <a:ext cx="410100" cy="203400"/>
              </a:xfrm>
              <a:prstGeom prst="rect">
                <a:avLst/>
              </a:prstGeom>
              <a:solidFill>
                <a:srgbClr val="FF0000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936" name="Google Shape;936;p73"/>
            <p:cNvSpPr/>
            <p:nvPr/>
          </p:nvSpPr>
          <p:spPr>
            <a:xfrm>
              <a:off x="410083" y="4634027"/>
              <a:ext cx="201900" cy="201900"/>
            </a:xfrm>
            <a:prstGeom prst="rect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pic>
        <p:nvPicPr>
          <p:cNvPr id="937" name="Google Shape;937;p73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>
            <a:off x="324000" y="3388611"/>
            <a:ext cx="1353516" cy="308577"/>
          </a:xfrm>
          <a:prstGeom prst="rect">
            <a:avLst/>
          </a:prstGeom>
          <a:noFill/>
          <a:ln>
            <a:noFill/>
          </a:ln>
        </p:spPr>
      </p:pic>
      <p:sp>
        <p:nvSpPr>
          <p:cNvPr id="938" name="Google Shape;938;p73"/>
          <p:cNvSpPr txBox="1"/>
          <p:nvPr/>
        </p:nvSpPr>
        <p:spPr>
          <a:xfrm>
            <a:off x="728151" y="3081012"/>
            <a:ext cx="11391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9" name="Google Shape;939;p73"/>
          <p:cNvSpPr/>
          <p:nvPr/>
        </p:nvSpPr>
        <p:spPr>
          <a:xfrm rot="5400000">
            <a:off x="874696" y="3056109"/>
            <a:ext cx="410100" cy="203400"/>
          </a:xfrm>
          <a:prstGeom prst="rect">
            <a:avLst/>
          </a:prstGeom>
          <a:solidFill>
            <a:srgbClr val="FF0000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940" name="Google Shape;940;p73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>
            <a:off x="1535175" y="3388611"/>
            <a:ext cx="1353516" cy="308577"/>
          </a:xfrm>
          <a:prstGeom prst="rect">
            <a:avLst/>
          </a:prstGeom>
          <a:noFill/>
          <a:ln>
            <a:noFill/>
          </a:ln>
        </p:spPr>
      </p:pic>
      <p:sp>
        <p:nvSpPr>
          <p:cNvPr id="941" name="Google Shape;941;p73"/>
          <p:cNvSpPr txBox="1"/>
          <p:nvPr/>
        </p:nvSpPr>
        <p:spPr>
          <a:xfrm>
            <a:off x="1938026" y="3099662"/>
            <a:ext cx="11391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2" name="Google Shape;942;p73"/>
          <p:cNvSpPr/>
          <p:nvPr/>
        </p:nvSpPr>
        <p:spPr>
          <a:xfrm rot="5400000">
            <a:off x="2084571" y="3074759"/>
            <a:ext cx="410100" cy="203400"/>
          </a:xfrm>
          <a:prstGeom prst="rect">
            <a:avLst/>
          </a:prstGeom>
          <a:solidFill>
            <a:srgbClr val="FF0000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943" name="Google Shape;943;p73"/>
          <p:cNvGrpSpPr/>
          <p:nvPr/>
        </p:nvGrpSpPr>
        <p:grpSpPr>
          <a:xfrm>
            <a:off x="4779665" y="3697192"/>
            <a:ext cx="3180553" cy="1083447"/>
            <a:chOff x="4779665" y="3697192"/>
            <a:chExt cx="3180553" cy="1083447"/>
          </a:xfrm>
        </p:grpSpPr>
        <p:pic>
          <p:nvPicPr>
            <p:cNvPr id="944" name="Google Shape;944;p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779665" y="4564792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5" name="Google Shape;945;p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144240" y="4133580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6" name="Google Shape;946;p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533290" y="3697192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7" name="Google Shape;947;p7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144230" y="4349327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8" name="Google Shape;948;p7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144230" y="4564977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9" name="Google Shape;949;p7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359490" y="4564979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0" name="Google Shape;950;p7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6359490" y="4349254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1" name="Google Shape;951;p7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529705" y="3917952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2" name="Google Shape;952;p7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529705" y="4133602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3" name="Google Shape;953;p7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744965" y="4133604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4" name="Google Shape;954;p7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7744965" y="3917879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5" name="Google Shape;955;p7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529705" y="4346727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6" name="Google Shape;956;p7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529705" y="4562377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7" name="Google Shape;957;p7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744965" y="4562379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8" name="Google Shape;958;p7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7744965" y="4346654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59" name="Google Shape;959;p73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>
            <a:off x="4824000" y="3289361"/>
            <a:ext cx="1353516" cy="3085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60" name="Google Shape;960;p73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>
            <a:off x="6416175" y="3289361"/>
            <a:ext cx="1353516" cy="308577"/>
          </a:xfrm>
          <a:prstGeom prst="rect">
            <a:avLst/>
          </a:prstGeom>
          <a:noFill/>
          <a:ln>
            <a:noFill/>
          </a:ln>
        </p:spPr>
      </p:pic>
      <p:sp>
        <p:nvSpPr>
          <p:cNvPr id="961" name="Google Shape;961;p73"/>
          <p:cNvSpPr txBox="1"/>
          <p:nvPr/>
        </p:nvSpPr>
        <p:spPr>
          <a:xfrm>
            <a:off x="5114576" y="2971412"/>
            <a:ext cx="11391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62" name="Google Shape;962;p73"/>
          <p:cNvGrpSpPr/>
          <p:nvPr/>
        </p:nvGrpSpPr>
        <p:grpSpPr>
          <a:xfrm>
            <a:off x="5397680" y="2888154"/>
            <a:ext cx="430514" cy="431385"/>
            <a:chOff x="5397680" y="2888154"/>
            <a:chExt cx="430514" cy="431385"/>
          </a:xfrm>
        </p:grpSpPr>
        <p:pic>
          <p:nvPicPr>
            <p:cNvPr id="963" name="Google Shape;963;p7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397680" y="2888227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64" name="Google Shape;964;p7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397680" y="3103877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65" name="Google Shape;965;p7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612940" y="3103879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66" name="Google Shape;966;p7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5612940" y="2888154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67" name="Google Shape;967;p73"/>
          <p:cNvSpPr txBox="1"/>
          <p:nvPr/>
        </p:nvSpPr>
        <p:spPr>
          <a:xfrm>
            <a:off x="6714776" y="2971412"/>
            <a:ext cx="11391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68" name="Google Shape;968;p73"/>
          <p:cNvGrpSpPr/>
          <p:nvPr/>
        </p:nvGrpSpPr>
        <p:grpSpPr>
          <a:xfrm>
            <a:off x="6997880" y="2888154"/>
            <a:ext cx="430514" cy="431385"/>
            <a:chOff x="6997880" y="2888154"/>
            <a:chExt cx="430514" cy="431385"/>
          </a:xfrm>
        </p:grpSpPr>
        <p:pic>
          <p:nvPicPr>
            <p:cNvPr id="969" name="Google Shape;969;p7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997880" y="2888227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0" name="Google Shape;970;p7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997880" y="3103877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1" name="Google Shape;971;p7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213140" y="3103879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2" name="Google Shape;972;p7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7213140" y="2888154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76" name="Shape 976"/>
        <p:cNvGrpSpPr/>
        <p:nvPr/>
      </p:nvGrpSpPr>
      <p:grpSpPr>
        <a:xfrm>
          <a:off x="0" y="0"/>
          <a:ext cx="0" cy="0"/>
        </a:xfrm>
      </p:grpSpPr>
      <p:sp>
        <p:nvSpPr>
          <p:cNvPr id="977" name="Google Shape;977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Identifying arithmetic sequences</a:t>
            </a:r>
            <a:endParaRPr/>
          </a:p>
        </p:txBody>
      </p:sp>
      <p:sp>
        <p:nvSpPr>
          <p:cNvPr id="978" name="Google Shape;978;p74"/>
          <p:cNvSpPr txBox="1"/>
          <p:nvPr>
            <p:ph type="body" idx="1"/>
          </p:nvPr>
        </p:nvSpPr>
        <p:spPr>
          <a:xfrm>
            <a:off x="324000" y="683100"/>
            <a:ext cx="8237700" cy="4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Here is a pictorial sequence.</a:t>
            </a:r>
            <a:endParaRPr sz="2000"/>
          </a:p>
        </p:txBody>
      </p:sp>
      <p:cxnSp>
        <p:nvCxnSpPr>
          <p:cNvPr id="979" name="Google Shape;979;p74"/>
          <p:cNvCxnSpPr/>
          <p:nvPr/>
        </p:nvCxnSpPr>
        <p:spPr>
          <a:xfrm>
            <a:off x="770725" y="2068400"/>
            <a:ext cx="393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80" name="Google Shape;980;p74"/>
          <p:cNvCxnSpPr/>
          <p:nvPr/>
        </p:nvCxnSpPr>
        <p:spPr>
          <a:xfrm rot="5400000">
            <a:off x="574075" y="1840244"/>
            <a:ext cx="393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81" name="Google Shape;981;p74"/>
          <p:cNvCxnSpPr/>
          <p:nvPr/>
        </p:nvCxnSpPr>
        <p:spPr>
          <a:xfrm rot="5400000">
            <a:off x="967375" y="1840244"/>
            <a:ext cx="393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82" name="Google Shape;982;p74"/>
          <p:cNvCxnSpPr/>
          <p:nvPr/>
        </p:nvCxnSpPr>
        <p:spPr>
          <a:xfrm rot="7199335">
            <a:off x="664550" y="1441895"/>
            <a:ext cx="393132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83" name="Google Shape;983;p74"/>
          <p:cNvCxnSpPr/>
          <p:nvPr/>
        </p:nvCxnSpPr>
        <p:spPr>
          <a:xfrm rot="3600665">
            <a:off x="876780" y="1441860"/>
            <a:ext cx="393132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84" name="Google Shape;984;p74"/>
          <p:cNvCxnSpPr/>
          <p:nvPr/>
        </p:nvCxnSpPr>
        <p:spPr>
          <a:xfrm>
            <a:off x="1544450" y="2068450"/>
            <a:ext cx="393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85" name="Google Shape;985;p74"/>
          <p:cNvCxnSpPr/>
          <p:nvPr/>
        </p:nvCxnSpPr>
        <p:spPr>
          <a:xfrm rot="5400000">
            <a:off x="1347800" y="1840294"/>
            <a:ext cx="393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86" name="Google Shape;986;p74"/>
          <p:cNvCxnSpPr/>
          <p:nvPr/>
        </p:nvCxnSpPr>
        <p:spPr>
          <a:xfrm rot="5400000">
            <a:off x="1741100" y="1840294"/>
            <a:ext cx="393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87" name="Google Shape;987;p74"/>
          <p:cNvCxnSpPr/>
          <p:nvPr/>
        </p:nvCxnSpPr>
        <p:spPr>
          <a:xfrm rot="7199335">
            <a:off x="1438275" y="1441945"/>
            <a:ext cx="393132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88" name="Google Shape;988;p74"/>
          <p:cNvCxnSpPr/>
          <p:nvPr/>
        </p:nvCxnSpPr>
        <p:spPr>
          <a:xfrm rot="3600665">
            <a:off x="1650505" y="1441910"/>
            <a:ext cx="393132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89" name="Google Shape;989;p74"/>
          <p:cNvCxnSpPr/>
          <p:nvPr/>
        </p:nvCxnSpPr>
        <p:spPr>
          <a:xfrm>
            <a:off x="1968900" y="2068400"/>
            <a:ext cx="393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0" name="Google Shape;990;p74"/>
          <p:cNvCxnSpPr/>
          <p:nvPr/>
        </p:nvCxnSpPr>
        <p:spPr>
          <a:xfrm rot="5400000">
            <a:off x="2165550" y="1840244"/>
            <a:ext cx="393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1" name="Google Shape;991;p74"/>
          <p:cNvCxnSpPr/>
          <p:nvPr/>
        </p:nvCxnSpPr>
        <p:spPr>
          <a:xfrm rot="7199335">
            <a:off x="1862725" y="1441895"/>
            <a:ext cx="393132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2" name="Google Shape;992;p74"/>
          <p:cNvCxnSpPr/>
          <p:nvPr/>
        </p:nvCxnSpPr>
        <p:spPr>
          <a:xfrm rot="3600665">
            <a:off x="2074955" y="1441860"/>
            <a:ext cx="393132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3" name="Google Shape;993;p74"/>
          <p:cNvCxnSpPr/>
          <p:nvPr/>
        </p:nvCxnSpPr>
        <p:spPr>
          <a:xfrm>
            <a:off x="2817800" y="2068550"/>
            <a:ext cx="393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4" name="Google Shape;994;p74"/>
          <p:cNvCxnSpPr/>
          <p:nvPr/>
        </p:nvCxnSpPr>
        <p:spPr>
          <a:xfrm rot="5400000">
            <a:off x="2621150" y="1840394"/>
            <a:ext cx="393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5" name="Google Shape;995;p74"/>
          <p:cNvCxnSpPr/>
          <p:nvPr/>
        </p:nvCxnSpPr>
        <p:spPr>
          <a:xfrm rot="5400000">
            <a:off x="3014450" y="1840394"/>
            <a:ext cx="393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6" name="Google Shape;996;p74"/>
          <p:cNvCxnSpPr/>
          <p:nvPr/>
        </p:nvCxnSpPr>
        <p:spPr>
          <a:xfrm rot="7199335">
            <a:off x="2711625" y="1442045"/>
            <a:ext cx="393132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7" name="Google Shape;997;p74"/>
          <p:cNvCxnSpPr/>
          <p:nvPr/>
        </p:nvCxnSpPr>
        <p:spPr>
          <a:xfrm rot="3600665">
            <a:off x="2923855" y="1442010"/>
            <a:ext cx="393132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8" name="Google Shape;998;p74"/>
          <p:cNvCxnSpPr/>
          <p:nvPr/>
        </p:nvCxnSpPr>
        <p:spPr>
          <a:xfrm>
            <a:off x="3242250" y="2068500"/>
            <a:ext cx="393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9" name="Google Shape;999;p74"/>
          <p:cNvCxnSpPr/>
          <p:nvPr/>
        </p:nvCxnSpPr>
        <p:spPr>
          <a:xfrm rot="5400000">
            <a:off x="3438900" y="1840344"/>
            <a:ext cx="393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00" name="Google Shape;1000;p74"/>
          <p:cNvCxnSpPr/>
          <p:nvPr/>
        </p:nvCxnSpPr>
        <p:spPr>
          <a:xfrm rot="7199335">
            <a:off x="3136075" y="1441995"/>
            <a:ext cx="393132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01" name="Google Shape;1001;p74"/>
          <p:cNvCxnSpPr/>
          <p:nvPr/>
        </p:nvCxnSpPr>
        <p:spPr>
          <a:xfrm rot="3600665">
            <a:off x="3348305" y="1441960"/>
            <a:ext cx="393132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02" name="Google Shape;1002;p74"/>
          <p:cNvCxnSpPr/>
          <p:nvPr/>
        </p:nvCxnSpPr>
        <p:spPr>
          <a:xfrm>
            <a:off x="3682429" y="2075935"/>
            <a:ext cx="393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03" name="Google Shape;1003;p74"/>
          <p:cNvCxnSpPr/>
          <p:nvPr/>
        </p:nvCxnSpPr>
        <p:spPr>
          <a:xfrm rot="5400000">
            <a:off x="3879079" y="1847779"/>
            <a:ext cx="393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04" name="Google Shape;1004;p74"/>
          <p:cNvCxnSpPr/>
          <p:nvPr/>
        </p:nvCxnSpPr>
        <p:spPr>
          <a:xfrm rot="7199335">
            <a:off x="3576255" y="1449430"/>
            <a:ext cx="393132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05" name="Google Shape;1005;p74"/>
          <p:cNvCxnSpPr/>
          <p:nvPr/>
        </p:nvCxnSpPr>
        <p:spPr>
          <a:xfrm rot="3600665">
            <a:off x="3788484" y="1449395"/>
            <a:ext cx="393132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06" name="Google Shape;1006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2599" y="1514949"/>
            <a:ext cx="846529" cy="819226"/>
          </a:xfrm>
          <a:prstGeom prst="rect">
            <a:avLst/>
          </a:prstGeom>
          <a:noFill/>
          <a:ln>
            <a:noFill/>
          </a:ln>
        </p:spPr>
      </p:pic>
      <p:sp>
        <p:nvSpPr>
          <p:cNvPr id="1007" name="Google Shape;1007;p74"/>
          <p:cNvSpPr txBox="1"/>
          <p:nvPr/>
        </p:nvSpPr>
        <p:spPr>
          <a:xfrm>
            <a:off x="7360648" y="2359844"/>
            <a:ext cx="1259100" cy="4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8" name="Google Shape;1008;p74"/>
          <p:cNvGrpSpPr/>
          <p:nvPr/>
        </p:nvGrpSpPr>
        <p:grpSpPr>
          <a:xfrm>
            <a:off x="4824003" y="1145342"/>
            <a:ext cx="2662052" cy="1389808"/>
            <a:chOff x="4286400" y="1477275"/>
            <a:chExt cx="2662052" cy="1695301"/>
          </a:xfrm>
        </p:grpSpPr>
        <p:pic>
          <p:nvPicPr>
            <p:cNvPr id="1009" name="Google Shape;1009;p74"/>
            <p:cNvPicPr preferRelativeResize="0"/>
            <p:nvPr/>
          </p:nvPicPr>
          <p:blipFill>
            <a:blip r:embed="rId4">
              <a:alphaModFix/>
            </a:blip>
            <a:srcRect r="57905" b="43690"/>
            <a:stretch>
              <a:fillRect/>
            </a:stretch>
          </p:blipFill>
          <p:spPr>
            <a:xfrm>
              <a:off x="4286400" y="1477275"/>
              <a:ext cx="2662052" cy="16953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0" name="Google Shape;1010;p74"/>
            <p:cNvSpPr txBox="1"/>
            <p:nvPr/>
          </p:nvSpPr>
          <p:spPr>
            <a:xfrm flipH="1">
              <a:off x="4394522" y="1608383"/>
              <a:ext cx="2342700" cy="115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The number of lines in each pattern is an arithmetic sequence.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11" name="Google Shape;1011;p74"/>
          <p:cNvSpPr txBox="1"/>
          <p:nvPr>
            <p:ph type="body" idx="1"/>
          </p:nvPr>
        </p:nvSpPr>
        <p:spPr>
          <a:xfrm>
            <a:off x="324000" y="2835300"/>
            <a:ext cx="8237700" cy="4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How can we check if Izzy is correct?</a:t>
            </a:r>
            <a:endParaRPr sz="2000"/>
          </a:p>
        </p:txBody>
      </p:sp>
      <p:graphicFrame>
        <p:nvGraphicFramePr>
          <p:cNvPr id="1012" name="Google Shape;1012;p74"/>
          <p:cNvGraphicFramePr>
            <a:graphicFrameLocks noGrp="1"/>
          </p:cNvGraphicFramePr>
          <p:nvPr/>
        </p:nvGraphicFramePr>
        <p:xfrm>
          <a:off x="334500" y="3322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{E94B1F7C-D626-4EB4-874A-6446D225D414}</a:tableStyleId>
              </a:tblPr>
              <a:tblGrid>
                <a:gridCol w="1969075"/>
                <a:gridCol w="1078125"/>
                <a:gridCol w="1069525"/>
                <a:gridCol w="106950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 of lines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013" name="Google Shape;1013;p74"/>
          <p:cNvSpPr/>
          <p:nvPr/>
        </p:nvSpPr>
        <p:spPr>
          <a:xfrm>
            <a:off x="2312225" y="3782900"/>
            <a:ext cx="1069500" cy="4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4" name="Google Shape;1014;p74"/>
          <p:cNvSpPr/>
          <p:nvPr/>
        </p:nvSpPr>
        <p:spPr>
          <a:xfrm>
            <a:off x="3381725" y="3782900"/>
            <a:ext cx="1069500" cy="4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5" name="Google Shape;1015;p74"/>
          <p:cNvSpPr/>
          <p:nvPr/>
        </p:nvSpPr>
        <p:spPr>
          <a:xfrm>
            <a:off x="4451225" y="3782900"/>
            <a:ext cx="1069500" cy="4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16" name="Google Shape;1016;p74"/>
          <p:cNvPicPr preferRelativeResize="0"/>
          <p:nvPr/>
        </p:nvPicPr>
        <p:blipFill>
          <a:blip r:embed="rId5">
            <a:alphaModFix/>
          </a:blip>
          <a:srcRect l="57225" r="18284" b="84458"/>
          <a:stretch>
            <a:fillRect/>
          </a:stretch>
        </p:blipFill>
        <p:spPr>
          <a:xfrm rot="10800000" flipH="1">
            <a:off x="2698389" y="4243187"/>
            <a:ext cx="1376964" cy="308577"/>
          </a:xfrm>
          <a:prstGeom prst="rect">
            <a:avLst/>
          </a:prstGeom>
          <a:noFill/>
          <a:ln>
            <a:noFill/>
          </a:ln>
        </p:spPr>
      </p:pic>
      <p:sp>
        <p:nvSpPr>
          <p:cNvPr id="1017" name="Google Shape;1017;p74"/>
          <p:cNvSpPr txBox="1"/>
          <p:nvPr/>
        </p:nvSpPr>
        <p:spPr>
          <a:xfrm>
            <a:off x="3174097" y="4478575"/>
            <a:ext cx="5082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8" name="Google Shape;1018;p74"/>
          <p:cNvSpPr txBox="1"/>
          <p:nvPr/>
        </p:nvSpPr>
        <p:spPr>
          <a:xfrm>
            <a:off x="4416180" y="4476575"/>
            <a:ext cx="6330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19" name="Google Shape;1019;p74"/>
          <p:cNvPicPr preferRelativeResize="0"/>
          <p:nvPr/>
        </p:nvPicPr>
        <p:blipFill>
          <a:blip r:embed="rId5">
            <a:alphaModFix/>
          </a:blip>
          <a:srcRect l="57225" r="18284" b="84458"/>
          <a:stretch>
            <a:fillRect/>
          </a:stretch>
        </p:blipFill>
        <p:spPr>
          <a:xfrm rot="10800000" flipH="1">
            <a:off x="3883523" y="4243187"/>
            <a:ext cx="1376964" cy="308577"/>
          </a:xfrm>
          <a:prstGeom prst="rect">
            <a:avLst/>
          </a:prstGeom>
          <a:noFill/>
          <a:ln>
            <a:noFill/>
          </a:ln>
        </p:spPr>
      </p:pic>
      <p:sp>
        <p:nvSpPr>
          <p:cNvPr id="1020" name="Google Shape;1020;p74"/>
          <p:cNvSpPr txBox="1"/>
          <p:nvPr>
            <p:ph type="body" idx="1"/>
          </p:nvPr>
        </p:nvSpPr>
        <p:spPr>
          <a:xfrm>
            <a:off x="5774400" y="3429525"/>
            <a:ext cx="3045600" cy="4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So Izzy is correct for the sequence so far.</a:t>
            </a:r>
            <a:endParaRPr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24" name="Shape 1024"/>
        <p:cNvGrpSpPr/>
        <p:nvPr/>
      </p:nvGrpSpPr>
      <p:grpSpPr>
        <a:xfrm>
          <a:off x="0" y="0"/>
          <a:ext cx="0" cy="0"/>
        </a:xfrm>
      </p:grpSpPr>
      <p:sp>
        <p:nvSpPr>
          <p:cNvPr id="1025" name="Google Shape;1025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Identifying arithmetic sequences</a:t>
            </a:r>
            <a:endParaRPr/>
          </a:p>
        </p:txBody>
      </p:sp>
      <p:cxnSp>
        <p:nvCxnSpPr>
          <p:cNvPr id="1026" name="Google Shape;1026;p75"/>
          <p:cNvCxnSpPr/>
          <p:nvPr/>
        </p:nvCxnSpPr>
        <p:spPr>
          <a:xfrm>
            <a:off x="770725" y="2068400"/>
            <a:ext cx="393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7" name="Google Shape;1027;p75"/>
          <p:cNvCxnSpPr/>
          <p:nvPr/>
        </p:nvCxnSpPr>
        <p:spPr>
          <a:xfrm rot="5400000">
            <a:off x="574075" y="1840244"/>
            <a:ext cx="393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8" name="Google Shape;1028;p75"/>
          <p:cNvCxnSpPr/>
          <p:nvPr/>
        </p:nvCxnSpPr>
        <p:spPr>
          <a:xfrm rot="5400000">
            <a:off x="967375" y="1840244"/>
            <a:ext cx="393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9" name="Google Shape;1029;p75"/>
          <p:cNvCxnSpPr/>
          <p:nvPr/>
        </p:nvCxnSpPr>
        <p:spPr>
          <a:xfrm rot="7199335">
            <a:off x="664550" y="1441895"/>
            <a:ext cx="393132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30" name="Google Shape;1030;p75"/>
          <p:cNvCxnSpPr/>
          <p:nvPr/>
        </p:nvCxnSpPr>
        <p:spPr>
          <a:xfrm rot="3600665">
            <a:off x="876780" y="1441860"/>
            <a:ext cx="393132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31" name="Google Shape;1031;p75"/>
          <p:cNvCxnSpPr/>
          <p:nvPr/>
        </p:nvCxnSpPr>
        <p:spPr>
          <a:xfrm>
            <a:off x="1544450" y="2068450"/>
            <a:ext cx="393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32" name="Google Shape;1032;p75"/>
          <p:cNvCxnSpPr/>
          <p:nvPr/>
        </p:nvCxnSpPr>
        <p:spPr>
          <a:xfrm rot="5400000">
            <a:off x="1347800" y="1840294"/>
            <a:ext cx="393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33" name="Google Shape;1033;p75"/>
          <p:cNvCxnSpPr/>
          <p:nvPr/>
        </p:nvCxnSpPr>
        <p:spPr>
          <a:xfrm rot="5400000">
            <a:off x="1741100" y="1840294"/>
            <a:ext cx="393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34" name="Google Shape;1034;p75"/>
          <p:cNvCxnSpPr/>
          <p:nvPr/>
        </p:nvCxnSpPr>
        <p:spPr>
          <a:xfrm rot="7199335">
            <a:off x="1438275" y="1441945"/>
            <a:ext cx="393132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35" name="Google Shape;1035;p75"/>
          <p:cNvCxnSpPr/>
          <p:nvPr/>
        </p:nvCxnSpPr>
        <p:spPr>
          <a:xfrm rot="3600665">
            <a:off x="1650505" y="1441910"/>
            <a:ext cx="393132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36" name="Google Shape;1036;p75"/>
          <p:cNvCxnSpPr/>
          <p:nvPr/>
        </p:nvCxnSpPr>
        <p:spPr>
          <a:xfrm>
            <a:off x="1968900" y="2068400"/>
            <a:ext cx="393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37" name="Google Shape;1037;p75"/>
          <p:cNvCxnSpPr/>
          <p:nvPr/>
        </p:nvCxnSpPr>
        <p:spPr>
          <a:xfrm rot="5400000">
            <a:off x="2165550" y="1840244"/>
            <a:ext cx="393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38" name="Google Shape;1038;p75"/>
          <p:cNvCxnSpPr/>
          <p:nvPr/>
        </p:nvCxnSpPr>
        <p:spPr>
          <a:xfrm rot="7199335">
            <a:off x="1862725" y="1441895"/>
            <a:ext cx="393132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39" name="Google Shape;1039;p75"/>
          <p:cNvCxnSpPr/>
          <p:nvPr/>
        </p:nvCxnSpPr>
        <p:spPr>
          <a:xfrm rot="3600665">
            <a:off x="2074955" y="1441860"/>
            <a:ext cx="393132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40" name="Google Shape;1040;p75"/>
          <p:cNvCxnSpPr/>
          <p:nvPr/>
        </p:nvCxnSpPr>
        <p:spPr>
          <a:xfrm>
            <a:off x="2817800" y="2068550"/>
            <a:ext cx="393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41" name="Google Shape;1041;p75"/>
          <p:cNvCxnSpPr/>
          <p:nvPr/>
        </p:nvCxnSpPr>
        <p:spPr>
          <a:xfrm rot="5400000">
            <a:off x="2621150" y="1840394"/>
            <a:ext cx="393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42" name="Google Shape;1042;p75"/>
          <p:cNvCxnSpPr/>
          <p:nvPr/>
        </p:nvCxnSpPr>
        <p:spPr>
          <a:xfrm rot="5400000">
            <a:off x="3014450" y="1840394"/>
            <a:ext cx="393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43" name="Google Shape;1043;p75"/>
          <p:cNvCxnSpPr/>
          <p:nvPr/>
        </p:nvCxnSpPr>
        <p:spPr>
          <a:xfrm rot="7199335">
            <a:off x="2711625" y="1442045"/>
            <a:ext cx="393132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44" name="Google Shape;1044;p75"/>
          <p:cNvCxnSpPr/>
          <p:nvPr/>
        </p:nvCxnSpPr>
        <p:spPr>
          <a:xfrm rot="3600665">
            <a:off x="2923855" y="1442010"/>
            <a:ext cx="393132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45" name="Google Shape;1045;p75"/>
          <p:cNvCxnSpPr/>
          <p:nvPr/>
        </p:nvCxnSpPr>
        <p:spPr>
          <a:xfrm>
            <a:off x="3242250" y="2068500"/>
            <a:ext cx="393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46" name="Google Shape;1046;p75"/>
          <p:cNvCxnSpPr/>
          <p:nvPr/>
        </p:nvCxnSpPr>
        <p:spPr>
          <a:xfrm rot="5400000">
            <a:off x="3438900" y="1840344"/>
            <a:ext cx="393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47" name="Google Shape;1047;p75"/>
          <p:cNvCxnSpPr/>
          <p:nvPr/>
        </p:nvCxnSpPr>
        <p:spPr>
          <a:xfrm rot="7199335">
            <a:off x="3136075" y="1441995"/>
            <a:ext cx="393132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48" name="Google Shape;1048;p75"/>
          <p:cNvCxnSpPr/>
          <p:nvPr/>
        </p:nvCxnSpPr>
        <p:spPr>
          <a:xfrm rot="3600665">
            <a:off x="3348305" y="1441960"/>
            <a:ext cx="393132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49" name="Google Shape;1049;p75"/>
          <p:cNvCxnSpPr/>
          <p:nvPr/>
        </p:nvCxnSpPr>
        <p:spPr>
          <a:xfrm>
            <a:off x="3682429" y="2075935"/>
            <a:ext cx="393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50" name="Google Shape;1050;p75"/>
          <p:cNvCxnSpPr/>
          <p:nvPr/>
        </p:nvCxnSpPr>
        <p:spPr>
          <a:xfrm rot="5400000">
            <a:off x="3879079" y="1847779"/>
            <a:ext cx="393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51" name="Google Shape;1051;p75"/>
          <p:cNvCxnSpPr/>
          <p:nvPr/>
        </p:nvCxnSpPr>
        <p:spPr>
          <a:xfrm rot="7199335">
            <a:off x="3576255" y="1449430"/>
            <a:ext cx="393132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52" name="Google Shape;1052;p75"/>
          <p:cNvCxnSpPr/>
          <p:nvPr/>
        </p:nvCxnSpPr>
        <p:spPr>
          <a:xfrm rot="3600665">
            <a:off x="3788484" y="1449395"/>
            <a:ext cx="393132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053" name="Google Shape;1053;p75"/>
          <p:cNvGrpSpPr/>
          <p:nvPr/>
        </p:nvGrpSpPr>
        <p:grpSpPr>
          <a:xfrm>
            <a:off x="4824003" y="1022371"/>
            <a:ext cx="2662052" cy="1512717"/>
            <a:chOff x="4286400" y="1477275"/>
            <a:chExt cx="2662052" cy="1695301"/>
          </a:xfrm>
        </p:grpSpPr>
        <p:pic>
          <p:nvPicPr>
            <p:cNvPr id="1054" name="Google Shape;1054;p75"/>
            <p:cNvPicPr preferRelativeResize="0"/>
            <p:nvPr/>
          </p:nvPicPr>
          <p:blipFill>
            <a:blip r:embed="rId3">
              <a:alphaModFix/>
            </a:blip>
            <a:srcRect r="57905" b="43690"/>
            <a:stretch>
              <a:fillRect/>
            </a:stretch>
          </p:blipFill>
          <p:spPr>
            <a:xfrm>
              <a:off x="4286400" y="1477275"/>
              <a:ext cx="2662052" cy="16953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5" name="Google Shape;1055;p75"/>
            <p:cNvSpPr txBox="1"/>
            <p:nvPr/>
          </p:nvSpPr>
          <p:spPr>
            <a:xfrm flipH="1">
              <a:off x="4321347" y="1608383"/>
              <a:ext cx="2426400" cy="115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The perimeter of each pattern will form the same arithmetic sequence.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56" name="Google Shape;1056;p75"/>
          <p:cNvSpPr txBox="1"/>
          <p:nvPr>
            <p:ph type="body" idx="1"/>
          </p:nvPr>
        </p:nvSpPr>
        <p:spPr>
          <a:xfrm>
            <a:off x="324000" y="2526725"/>
            <a:ext cx="3820800" cy="4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Is Jacob correct?</a:t>
            </a:r>
            <a:endParaRPr sz="2000"/>
          </a:p>
        </p:txBody>
      </p:sp>
      <p:graphicFrame>
        <p:nvGraphicFramePr>
          <p:cNvPr id="1057" name="Google Shape;1057;p75"/>
          <p:cNvGraphicFramePr>
            <a:graphicFrameLocks noGrp="1"/>
          </p:cNvGraphicFramePr>
          <p:nvPr/>
        </p:nvGraphicFramePr>
        <p:xfrm>
          <a:off x="446488" y="3020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{E94B1F7C-D626-4EB4-874A-6446D225D414}</a:tableStyleId>
              </a:tblPr>
              <a:tblGrid>
                <a:gridCol w="1969075"/>
                <a:gridCol w="1078125"/>
                <a:gridCol w="1069525"/>
                <a:gridCol w="106950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 of lines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Perimeter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058" name="Google Shape;1058;p75"/>
          <p:cNvSpPr/>
          <p:nvPr/>
        </p:nvSpPr>
        <p:spPr>
          <a:xfrm>
            <a:off x="2435450" y="3922050"/>
            <a:ext cx="1069500" cy="4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9" name="Google Shape;1059;p75"/>
          <p:cNvSpPr/>
          <p:nvPr/>
        </p:nvSpPr>
        <p:spPr>
          <a:xfrm>
            <a:off x="3496725" y="3914675"/>
            <a:ext cx="1069500" cy="4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0" name="Google Shape;1060;p75"/>
          <p:cNvSpPr/>
          <p:nvPr/>
        </p:nvSpPr>
        <p:spPr>
          <a:xfrm>
            <a:off x="4563225" y="3922050"/>
            <a:ext cx="1069500" cy="4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61" name="Google Shape;1061;p75"/>
          <p:cNvPicPr preferRelativeResize="0"/>
          <p:nvPr/>
        </p:nvPicPr>
        <p:blipFill>
          <a:blip r:embed="rId4">
            <a:alphaModFix/>
          </a:blip>
          <a:srcRect l="57225" r="18284" b="84458"/>
          <a:stretch>
            <a:fillRect/>
          </a:stretch>
        </p:blipFill>
        <p:spPr>
          <a:xfrm rot="10800000" flipH="1">
            <a:off x="2835060" y="4256470"/>
            <a:ext cx="1376964" cy="308577"/>
          </a:xfrm>
          <a:prstGeom prst="rect">
            <a:avLst/>
          </a:prstGeom>
          <a:noFill/>
          <a:ln>
            <a:noFill/>
          </a:ln>
        </p:spPr>
      </p:pic>
      <p:sp>
        <p:nvSpPr>
          <p:cNvPr id="1062" name="Google Shape;1062;p75"/>
          <p:cNvSpPr txBox="1"/>
          <p:nvPr/>
        </p:nvSpPr>
        <p:spPr>
          <a:xfrm>
            <a:off x="3326497" y="4554775"/>
            <a:ext cx="5082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3" name="Google Shape;1063;p75"/>
          <p:cNvSpPr txBox="1"/>
          <p:nvPr/>
        </p:nvSpPr>
        <p:spPr>
          <a:xfrm>
            <a:off x="4568580" y="4552775"/>
            <a:ext cx="6330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64" name="Google Shape;1064;p75"/>
          <p:cNvPicPr preferRelativeResize="0"/>
          <p:nvPr/>
        </p:nvPicPr>
        <p:blipFill>
          <a:blip r:embed="rId4">
            <a:alphaModFix/>
          </a:blip>
          <a:srcRect l="57225" r="18284" b="84458"/>
          <a:stretch>
            <a:fillRect/>
          </a:stretch>
        </p:blipFill>
        <p:spPr>
          <a:xfrm rot="10800000" flipH="1">
            <a:off x="4020193" y="4256470"/>
            <a:ext cx="1376964" cy="308577"/>
          </a:xfrm>
          <a:prstGeom prst="rect">
            <a:avLst/>
          </a:prstGeom>
          <a:noFill/>
          <a:ln>
            <a:noFill/>
          </a:ln>
        </p:spPr>
      </p:pic>
      <p:sp>
        <p:nvSpPr>
          <p:cNvPr id="1065" name="Google Shape;1065;p75"/>
          <p:cNvSpPr txBox="1"/>
          <p:nvPr>
            <p:ph type="body" idx="1"/>
          </p:nvPr>
        </p:nvSpPr>
        <p:spPr>
          <a:xfrm>
            <a:off x="5774400" y="3477325"/>
            <a:ext cx="3045600" cy="4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perimeter does form an </a:t>
            </a:r>
            <a:r>
              <a:rPr lang="en-GB" sz="1800" b="1"/>
              <a:t>arithmetic sequence</a:t>
            </a:r>
            <a:r>
              <a:rPr lang="en-GB" sz="1800"/>
              <a:t> but a different one to the number of lines.</a:t>
            </a:r>
            <a:endParaRPr sz="1800"/>
          </a:p>
        </p:txBody>
      </p:sp>
      <p:pic>
        <p:nvPicPr>
          <p:cNvPr id="1066" name="Google Shape;1066;p7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44070" y="2021818"/>
            <a:ext cx="604213" cy="744274"/>
          </a:xfrm>
          <a:prstGeom prst="rect">
            <a:avLst/>
          </a:prstGeom>
          <a:noFill/>
          <a:ln>
            <a:noFill/>
          </a:ln>
        </p:spPr>
      </p:pic>
      <p:sp>
        <p:nvSpPr>
          <p:cNvPr id="1067" name="Google Shape;1067;p75"/>
          <p:cNvSpPr txBox="1"/>
          <p:nvPr/>
        </p:nvSpPr>
        <p:spPr>
          <a:xfrm>
            <a:off x="7285350" y="2836261"/>
            <a:ext cx="1377000" cy="4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71" name="Shape 1071"/>
        <p:cNvGrpSpPr/>
        <p:nvPr/>
      </p:nvGrpSpPr>
      <p:grpSpPr>
        <a:xfrm>
          <a:off x="0" y="0"/>
          <a:ext cx="0" cy="0"/>
        </a:xfrm>
      </p:grpSpPr>
      <p:pic>
        <p:nvPicPr>
          <p:cNvPr id="1072" name="Google Shape;1072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1200" y="1393200"/>
            <a:ext cx="6415088" cy="1193006"/>
          </a:xfrm>
          <a:prstGeom prst="rect">
            <a:avLst/>
          </a:prstGeom>
          <a:noFill/>
          <a:ln>
            <a:noFill/>
          </a:ln>
        </p:spPr>
      </p:pic>
      <p:sp>
        <p:nvSpPr>
          <p:cNvPr id="1073" name="Google Shape;1073;p76"/>
          <p:cNvSpPr txBox="1"/>
          <p:nvPr>
            <p:ph type="body" idx="1"/>
          </p:nvPr>
        </p:nvSpPr>
        <p:spPr>
          <a:xfrm>
            <a:off x="324000" y="708173"/>
            <a:ext cx="8237700" cy="68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For each sequence, does the number of lines in each pattern form an </a:t>
            </a:r>
            <a:r>
              <a:rPr lang="en-GB" sz="2000" b="1"/>
              <a:t>arithmetic sequence</a:t>
            </a:r>
            <a:r>
              <a:rPr lang="en-GB" sz="2000"/>
              <a:t>? </a:t>
            </a:r>
            <a:endParaRPr sz="2000"/>
          </a:p>
        </p:txBody>
      </p:sp>
      <p:sp>
        <p:nvSpPr>
          <p:cNvPr id="1074" name="Google Shape;1074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Identifying arithmetic sequences</a:t>
            </a:r>
            <a:endParaRPr/>
          </a:p>
        </p:txBody>
      </p:sp>
      <p:cxnSp>
        <p:nvCxnSpPr>
          <p:cNvPr id="1075" name="Google Shape;1075;p76"/>
          <p:cNvCxnSpPr/>
          <p:nvPr/>
        </p:nvCxnSpPr>
        <p:spPr>
          <a:xfrm flipH="1">
            <a:off x="1428050" y="2669250"/>
            <a:ext cx="0" cy="684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76" name="Google Shape;1076;p76"/>
          <p:cNvCxnSpPr/>
          <p:nvPr/>
        </p:nvCxnSpPr>
        <p:spPr>
          <a:xfrm flipH="1">
            <a:off x="2102500" y="2669250"/>
            <a:ext cx="0" cy="684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77" name="Google Shape;1077;p76"/>
          <p:cNvCxnSpPr/>
          <p:nvPr/>
        </p:nvCxnSpPr>
        <p:spPr>
          <a:xfrm flipH="1">
            <a:off x="1442000" y="2774850"/>
            <a:ext cx="656400" cy="378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78" name="Google Shape;1078;p76"/>
          <p:cNvCxnSpPr/>
          <p:nvPr/>
        </p:nvCxnSpPr>
        <p:spPr>
          <a:xfrm flipH="1">
            <a:off x="2911775" y="2669250"/>
            <a:ext cx="0" cy="684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79" name="Google Shape;1079;p76"/>
          <p:cNvCxnSpPr/>
          <p:nvPr/>
        </p:nvCxnSpPr>
        <p:spPr>
          <a:xfrm flipH="1">
            <a:off x="3586225" y="2669250"/>
            <a:ext cx="0" cy="684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80" name="Google Shape;1080;p76"/>
          <p:cNvCxnSpPr/>
          <p:nvPr/>
        </p:nvCxnSpPr>
        <p:spPr>
          <a:xfrm flipH="1">
            <a:off x="2925725" y="2774850"/>
            <a:ext cx="656400" cy="378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81" name="Google Shape;1081;p76"/>
          <p:cNvCxnSpPr/>
          <p:nvPr/>
        </p:nvCxnSpPr>
        <p:spPr>
          <a:xfrm flipH="1">
            <a:off x="4236100" y="2669250"/>
            <a:ext cx="0" cy="684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82" name="Google Shape;1082;p76"/>
          <p:cNvCxnSpPr/>
          <p:nvPr/>
        </p:nvCxnSpPr>
        <p:spPr>
          <a:xfrm flipH="1">
            <a:off x="3575600" y="2774850"/>
            <a:ext cx="656400" cy="378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83" name="Google Shape;1083;p76"/>
          <p:cNvCxnSpPr/>
          <p:nvPr/>
        </p:nvCxnSpPr>
        <p:spPr>
          <a:xfrm rot="10800000">
            <a:off x="3575600" y="2774850"/>
            <a:ext cx="656400" cy="378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84" name="Google Shape;1084;p76"/>
          <p:cNvCxnSpPr/>
          <p:nvPr/>
        </p:nvCxnSpPr>
        <p:spPr>
          <a:xfrm flipH="1">
            <a:off x="1389275" y="3749250"/>
            <a:ext cx="0" cy="684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85" name="Google Shape;1085;p76"/>
          <p:cNvCxnSpPr/>
          <p:nvPr/>
        </p:nvCxnSpPr>
        <p:spPr>
          <a:xfrm flipH="1">
            <a:off x="2063725" y="3749250"/>
            <a:ext cx="0" cy="684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86" name="Google Shape;1086;p76"/>
          <p:cNvCxnSpPr/>
          <p:nvPr/>
        </p:nvCxnSpPr>
        <p:spPr>
          <a:xfrm flipH="1">
            <a:off x="1403225" y="3854850"/>
            <a:ext cx="656400" cy="378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87" name="Google Shape;1087;p76"/>
          <p:cNvCxnSpPr/>
          <p:nvPr/>
        </p:nvCxnSpPr>
        <p:spPr>
          <a:xfrm flipH="1">
            <a:off x="5121575" y="2669250"/>
            <a:ext cx="0" cy="684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88" name="Google Shape;1088;p76"/>
          <p:cNvCxnSpPr/>
          <p:nvPr/>
        </p:nvCxnSpPr>
        <p:spPr>
          <a:xfrm flipH="1">
            <a:off x="5796025" y="2669250"/>
            <a:ext cx="0" cy="684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89" name="Google Shape;1089;p76"/>
          <p:cNvCxnSpPr/>
          <p:nvPr/>
        </p:nvCxnSpPr>
        <p:spPr>
          <a:xfrm flipH="1">
            <a:off x="5135525" y="2774850"/>
            <a:ext cx="656400" cy="378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0" name="Google Shape;1090;p76"/>
          <p:cNvCxnSpPr/>
          <p:nvPr/>
        </p:nvCxnSpPr>
        <p:spPr>
          <a:xfrm flipH="1">
            <a:off x="6445900" y="2669250"/>
            <a:ext cx="0" cy="684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1" name="Google Shape;1091;p76"/>
          <p:cNvCxnSpPr/>
          <p:nvPr/>
        </p:nvCxnSpPr>
        <p:spPr>
          <a:xfrm flipH="1">
            <a:off x="5785400" y="2774850"/>
            <a:ext cx="656400" cy="378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2" name="Google Shape;1092;p76"/>
          <p:cNvCxnSpPr/>
          <p:nvPr/>
        </p:nvCxnSpPr>
        <p:spPr>
          <a:xfrm rot="10800000">
            <a:off x="5785400" y="2774850"/>
            <a:ext cx="656400" cy="378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3" name="Google Shape;1093;p76"/>
          <p:cNvCxnSpPr/>
          <p:nvPr/>
        </p:nvCxnSpPr>
        <p:spPr>
          <a:xfrm flipH="1">
            <a:off x="7102300" y="2669250"/>
            <a:ext cx="0" cy="684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4" name="Google Shape;1094;p76"/>
          <p:cNvCxnSpPr/>
          <p:nvPr/>
        </p:nvCxnSpPr>
        <p:spPr>
          <a:xfrm flipH="1">
            <a:off x="6441800" y="2774850"/>
            <a:ext cx="656400" cy="378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5" name="Google Shape;1095;p76"/>
          <p:cNvCxnSpPr/>
          <p:nvPr/>
        </p:nvCxnSpPr>
        <p:spPr>
          <a:xfrm flipH="1">
            <a:off x="2913275" y="3749250"/>
            <a:ext cx="0" cy="684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6" name="Google Shape;1096;p76"/>
          <p:cNvCxnSpPr/>
          <p:nvPr/>
        </p:nvCxnSpPr>
        <p:spPr>
          <a:xfrm flipH="1">
            <a:off x="3587725" y="3749250"/>
            <a:ext cx="0" cy="684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7" name="Google Shape;1097;p76"/>
          <p:cNvCxnSpPr/>
          <p:nvPr/>
        </p:nvCxnSpPr>
        <p:spPr>
          <a:xfrm flipH="1">
            <a:off x="2927225" y="3854850"/>
            <a:ext cx="656400" cy="378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8" name="Google Shape;1098;p76"/>
          <p:cNvCxnSpPr/>
          <p:nvPr/>
        </p:nvCxnSpPr>
        <p:spPr>
          <a:xfrm flipH="1">
            <a:off x="4252325" y="3749250"/>
            <a:ext cx="0" cy="684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9" name="Google Shape;1099;p76"/>
          <p:cNvCxnSpPr/>
          <p:nvPr/>
        </p:nvCxnSpPr>
        <p:spPr>
          <a:xfrm rot="10800000">
            <a:off x="3591825" y="3854850"/>
            <a:ext cx="656400" cy="378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0" name="Google Shape;1100;p76"/>
          <p:cNvCxnSpPr/>
          <p:nvPr/>
        </p:nvCxnSpPr>
        <p:spPr>
          <a:xfrm flipH="1">
            <a:off x="7092925" y="3749250"/>
            <a:ext cx="0" cy="684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1" name="Google Shape;1101;p76"/>
          <p:cNvCxnSpPr/>
          <p:nvPr/>
        </p:nvCxnSpPr>
        <p:spPr>
          <a:xfrm flipH="1">
            <a:off x="6432425" y="3854850"/>
            <a:ext cx="656400" cy="378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2" name="Google Shape;1102;p76"/>
          <p:cNvCxnSpPr/>
          <p:nvPr/>
        </p:nvCxnSpPr>
        <p:spPr>
          <a:xfrm flipH="1">
            <a:off x="5099481" y="3749250"/>
            <a:ext cx="0" cy="684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3" name="Google Shape;1103;p76"/>
          <p:cNvCxnSpPr/>
          <p:nvPr/>
        </p:nvCxnSpPr>
        <p:spPr>
          <a:xfrm flipH="1">
            <a:off x="5773931" y="3749250"/>
            <a:ext cx="0" cy="684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4" name="Google Shape;1104;p76"/>
          <p:cNvCxnSpPr/>
          <p:nvPr/>
        </p:nvCxnSpPr>
        <p:spPr>
          <a:xfrm flipH="1">
            <a:off x="5113431" y="3854850"/>
            <a:ext cx="656400" cy="378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5" name="Google Shape;1105;p76"/>
          <p:cNvCxnSpPr/>
          <p:nvPr/>
        </p:nvCxnSpPr>
        <p:spPr>
          <a:xfrm flipH="1">
            <a:off x="6438531" y="3749250"/>
            <a:ext cx="0" cy="684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6" name="Google Shape;1106;p76"/>
          <p:cNvCxnSpPr/>
          <p:nvPr/>
        </p:nvCxnSpPr>
        <p:spPr>
          <a:xfrm rot="10800000">
            <a:off x="5778031" y="3854850"/>
            <a:ext cx="656400" cy="378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07" name="Google Shape;1107;p76"/>
          <p:cNvGrpSpPr/>
          <p:nvPr/>
        </p:nvGrpSpPr>
        <p:grpSpPr>
          <a:xfrm>
            <a:off x="486216" y="1663525"/>
            <a:ext cx="457200" cy="457200"/>
            <a:chOff x="1020916" y="1442088"/>
            <a:chExt cx="457200" cy="457200"/>
          </a:xfrm>
        </p:grpSpPr>
        <p:pic>
          <p:nvPicPr>
            <p:cNvPr id="1108" name="Google Shape;1108;p7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9" name="Google Shape;1109;p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0" name="Google Shape;1110;p76"/>
          <p:cNvGrpSpPr/>
          <p:nvPr/>
        </p:nvGrpSpPr>
        <p:grpSpPr>
          <a:xfrm>
            <a:off x="486216" y="2730325"/>
            <a:ext cx="457200" cy="457200"/>
            <a:chOff x="1020916" y="1442088"/>
            <a:chExt cx="457200" cy="457200"/>
          </a:xfrm>
        </p:grpSpPr>
        <p:pic>
          <p:nvPicPr>
            <p:cNvPr id="1111" name="Google Shape;1111;p7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2" name="Google Shape;1112;p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3" name="Google Shape;1113;p76"/>
          <p:cNvGrpSpPr/>
          <p:nvPr/>
        </p:nvGrpSpPr>
        <p:grpSpPr>
          <a:xfrm>
            <a:off x="486216" y="3797125"/>
            <a:ext cx="457200" cy="457200"/>
            <a:chOff x="1020916" y="1442088"/>
            <a:chExt cx="457200" cy="457200"/>
          </a:xfrm>
        </p:grpSpPr>
        <p:pic>
          <p:nvPicPr>
            <p:cNvPr id="1114" name="Google Shape;1114;p7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5" name="Google Shape;1115;p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16" name="Google Shape;1116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63683" y="168257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7" name="Google Shape;1117;p76"/>
          <p:cNvSpPr txBox="1"/>
          <p:nvPr>
            <p:ph type="body" idx="1"/>
          </p:nvPr>
        </p:nvSpPr>
        <p:spPr>
          <a:xfrm>
            <a:off x="5778025" y="2255925"/>
            <a:ext cx="2670000" cy="37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Yes add 3 each time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8" name="Google Shape;1118;p76"/>
          <p:cNvSpPr txBox="1"/>
          <p:nvPr>
            <p:ph type="body" idx="1"/>
          </p:nvPr>
        </p:nvSpPr>
        <p:spPr>
          <a:xfrm>
            <a:off x="5778025" y="3373800"/>
            <a:ext cx="2720100" cy="37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No, add 3 then add 2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9" name="Google Shape;1119;p76"/>
          <p:cNvSpPr txBox="1"/>
          <p:nvPr>
            <p:ph type="body" idx="1"/>
          </p:nvPr>
        </p:nvSpPr>
        <p:spPr>
          <a:xfrm>
            <a:off x="5778025" y="4433550"/>
            <a:ext cx="2720100" cy="37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Yes, add 2 each time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20" name="Google Shape;1120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63683" y="39009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24" name="Shape 1124"/>
        <p:cNvGrpSpPr/>
        <p:nvPr/>
      </p:nvGrpSpPr>
      <p:grpSpPr>
        <a:xfrm>
          <a:off x="0" y="0"/>
          <a:ext cx="0" cy="0"/>
        </a:xfrm>
      </p:grpSpPr>
      <p:sp>
        <p:nvSpPr>
          <p:cNvPr id="1125" name="Google Shape;1125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Identifying arithmetic sequences</a:t>
            </a:r>
            <a:endParaRPr/>
          </a:p>
        </p:txBody>
      </p:sp>
      <p:sp>
        <p:nvSpPr>
          <p:cNvPr id="1126" name="Google Shape;1126;p77"/>
          <p:cNvSpPr txBox="1"/>
          <p:nvPr>
            <p:ph type="body" idx="1"/>
          </p:nvPr>
        </p:nvSpPr>
        <p:spPr>
          <a:xfrm>
            <a:off x="324000" y="683100"/>
            <a:ext cx="65922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If we know a sequence is </a:t>
            </a:r>
            <a:r>
              <a:rPr lang="en-GB" sz="2000" b="1"/>
              <a:t>linear (arithmetic) </a:t>
            </a:r>
            <a:r>
              <a:rPr lang="en-GB" sz="2000"/>
              <a:t>we can find missing terms.</a:t>
            </a:r>
            <a:endParaRPr sz="2000"/>
          </a:p>
        </p:txBody>
      </p:sp>
      <p:sp>
        <p:nvSpPr>
          <p:cNvPr id="1127" name="Google Shape;1127;p77"/>
          <p:cNvSpPr txBox="1"/>
          <p:nvPr>
            <p:ph type="body" idx="1"/>
          </p:nvPr>
        </p:nvSpPr>
        <p:spPr>
          <a:xfrm>
            <a:off x="324000" y="1455813"/>
            <a:ext cx="8237700" cy="4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Below are two terms in a </a:t>
            </a:r>
            <a:r>
              <a:rPr lang="en-GB" sz="2000" b="1"/>
              <a:t>linear</a:t>
            </a:r>
            <a:r>
              <a:rPr lang="en-GB" sz="2000"/>
              <a:t> sequence.</a:t>
            </a:r>
            <a:endParaRPr sz="2000"/>
          </a:p>
        </p:txBody>
      </p:sp>
      <p:pic>
        <p:nvPicPr>
          <p:cNvPr id="1128" name="Google Shape;1128;p77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>
            <a:off x="3578121" y="1758750"/>
            <a:ext cx="920476" cy="308601"/>
          </a:xfrm>
          <a:prstGeom prst="rect">
            <a:avLst/>
          </a:prstGeom>
          <a:noFill/>
          <a:ln>
            <a:noFill/>
          </a:ln>
        </p:spPr>
      </p:pic>
      <p:sp>
        <p:nvSpPr>
          <p:cNvPr id="1129" name="Google Shape;1129;p77"/>
          <p:cNvSpPr txBox="1"/>
          <p:nvPr/>
        </p:nvSpPr>
        <p:spPr>
          <a:xfrm>
            <a:off x="4443676" y="2700188"/>
            <a:ext cx="4557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30" name="Google Shape;1130;p77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 rot="10800000" flipH="1">
            <a:off x="3475251" y="2475498"/>
            <a:ext cx="2092948" cy="308577"/>
          </a:xfrm>
          <a:prstGeom prst="rect">
            <a:avLst/>
          </a:prstGeom>
          <a:noFill/>
          <a:ln>
            <a:noFill/>
          </a:ln>
        </p:spPr>
      </p:pic>
      <p:sp>
        <p:nvSpPr>
          <p:cNvPr id="1131" name="Google Shape;1131;p77"/>
          <p:cNvSpPr txBox="1"/>
          <p:nvPr>
            <p:ph type="body" idx="1"/>
          </p:nvPr>
        </p:nvSpPr>
        <p:spPr>
          <a:xfrm>
            <a:off x="324000" y="3144188"/>
            <a:ext cx="8496000" cy="4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difference between 12 and 18 is 6</a:t>
            </a:r>
            <a:endParaRPr sz="1800"/>
          </a:p>
        </p:txBody>
      </p:sp>
      <p:sp>
        <p:nvSpPr>
          <p:cNvPr id="1132" name="Google Shape;1132;p77"/>
          <p:cNvSpPr/>
          <p:nvPr/>
        </p:nvSpPr>
        <p:spPr>
          <a:xfrm>
            <a:off x="3276795" y="2067362"/>
            <a:ext cx="635400" cy="310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12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3" name="Google Shape;1133;p77"/>
          <p:cNvSpPr/>
          <p:nvPr/>
        </p:nvSpPr>
        <p:spPr>
          <a:xfrm>
            <a:off x="2366350" y="2067342"/>
            <a:ext cx="635400" cy="310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4" name="Google Shape;1134;p77"/>
          <p:cNvSpPr/>
          <p:nvPr/>
        </p:nvSpPr>
        <p:spPr>
          <a:xfrm>
            <a:off x="4173365" y="2076137"/>
            <a:ext cx="635400" cy="310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5" name="Google Shape;1135;p77"/>
          <p:cNvSpPr/>
          <p:nvPr/>
        </p:nvSpPr>
        <p:spPr>
          <a:xfrm>
            <a:off x="5076875" y="2076125"/>
            <a:ext cx="635400" cy="310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18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6" name="Google Shape;1136;p77"/>
          <p:cNvSpPr/>
          <p:nvPr/>
        </p:nvSpPr>
        <p:spPr>
          <a:xfrm>
            <a:off x="5937137" y="2076125"/>
            <a:ext cx="635400" cy="310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7" name="Google Shape;1137;p77"/>
          <p:cNvSpPr txBox="1"/>
          <p:nvPr/>
        </p:nvSpPr>
        <p:spPr>
          <a:xfrm>
            <a:off x="3074250" y="2114635"/>
            <a:ext cx="1515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8" name="Google Shape;1138;p77"/>
          <p:cNvSpPr txBox="1"/>
          <p:nvPr/>
        </p:nvSpPr>
        <p:spPr>
          <a:xfrm>
            <a:off x="3963219" y="2114635"/>
            <a:ext cx="1515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9" name="Google Shape;1139;p77"/>
          <p:cNvSpPr txBox="1"/>
          <p:nvPr/>
        </p:nvSpPr>
        <p:spPr>
          <a:xfrm>
            <a:off x="4852189" y="2114635"/>
            <a:ext cx="1515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0" name="Google Shape;1140;p77"/>
          <p:cNvSpPr txBox="1"/>
          <p:nvPr/>
        </p:nvSpPr>
        <p:spPr>
          <a:xfrm>
            <a:off x="5817890" y="2114635"/>
            <a:ext cx="1515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1" name="Google Shape;1141;p77"/>
          <p:cNvSpPr txBox="1"/>
          <p:nvPr/>
        </p:nvSpPr>
        <p:spPr>
          <a:xfrm>
            <a:off x="6643309" y="2114635"/>
            <a:ext cx="4557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…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2" name="Google Shape;1142;p77"/>
          <p:cNvSpPr/>
          <p:nvPr/>
        </p:nvSpPr>
        <p:spPr>
          <a:xfrm>
            <a:off x="4165753" y="2071243"/>
            <a:ext cx="635400" cy="3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15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3" name="Google Shape;1143;p77"/>
          <p:cNvSpPr/>
          <p:nvPr/>
        </p:nvSpPr>
        <p:spPr>
          <a:xfrm>
            <a:off x="5919175" y="2071231"/>
            <a:ext cx="635400" cy="3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21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4" name="Google Shape;1144;p77"/>
          <p:cNvSpPr/>
          <p:nvPr/>
        </p:nvSpPr>
        <p:spPr>
          <a:xfrm>
            <a:off x="2373953" y="2071243"/>
            <a:ext cx="635400" cy="3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9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5" name="Google Shape;1145;p77"/>
          <p:cNvSpPr txBox="1"/>
          <p:nvPr>
            <p:ph type="body" idx="1"/>
          </p:nvPr>
        </p:nvSpPr>
        <p:spPr>
          <a:xfrm>
            <a:off x="324000" y="3511338"/>
            <a:ext cx="8496000" cy="4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We need to add the same value twice to get from 12 to 18</a:t>
            </a:r>
            <a:endParaRPr sz="1800"/>
          </a:p>
        </p:txBody>
      </p:sp>
      <p:pic>
        <p:nvPicPr>
          <p:cNvPr id="1146" name="Google Shape;1146;p77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>
            <a:off x="4498609" y="1758750"/>
            <a:ext cx="920476" cy="308601"/>
          </a:xfrm>
          <a:prstGeom prst="rect">
            <a:avLst/>
          </a:prstGeom>
          <a:noFill/>
          <a:ln>
            <a:noFill/>
          </a:ln>
        </p:spPr>
      </p:pic>
      <p:sp>
        <p:nvSpPr>
          <p:cNvPr id="1147" name="Google Shape;1147;p77"/>
          <p:cNvSpPr txBox="1"/>
          <p:nvPr>
            <p:ph type="body" idx="1"/>
          </p:nvPr>
        </p:nvSpPr>
        <p:spPr>
          <a:xfrm>
            <a:off x="324000" y="3849250"/>
            <a:ext cx="8496000" cy="4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6 </a:t>
            </a:r>
            <a:r>
              <a:rPr lang="en-GB" sz="1800">
                <a:solidFill>
                  <a:srgbClr val="222222"/>
                </a:solidFill>
              </a:rPr>
              <a:t>÷ 2 = 3</a:t>
            </a:r>
            <a:endParaRPr sz="1800"/>
          </a:p>
        </p:txBody>
      </p:sp>
      <p:sp>
        <p:nvSpPr>
          <p:cNvPr id="1148" name="Google Shape;1148;p77"/>
          <p:cNvSpPr txBox="1"/>
          <p:nvPr/>
        </p:nvSpPr>
        <p:spPr>
          <a:xfrm>
            <a:off x="3864289" y="1789913"/>
            <a:ext cx="4557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9" name="Google Shape;1149;p77"/>
          <p:cNvSpPr txBox="1"/>
          <p:nvPr/>
        </p:nvSpPr>
        <p:spPr>
          <a:xfrm>
            <a:off x="4808764" y="1789913"/>
            <a:ext cx="4557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50" name="Google Shape;1150;p77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 rot="10800000">
            <a:off x="2802496" y="2423175"/>
            <a:ext cx="920476" cy="308601"/>
          </a:xfrm>
          <a:prstGeom prst="rect">
            <a:avLst/>
          </a:prstGeom>
          <a:noFill/>
          <a:ln>
            <a:noFill/>
          </a:ln>
        </p:spPr>
      </p:pic>
      <p:sp>
        <p:nvSpPr>
          <p:cNvPr id="1151" name="Google Shape;1151;p77"/>
          <p:cNvSpPr txBox="1"/>
          <p:nvPr/>
        </p:nvSpPr>
        <p:spPr>
          <a:xfrm>
            <a:off x="3001739" y="2670200"/>
            <a:ext cx="4557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2" name="Google Shape;1152;p77"/>
          <p:cNvSpPr txBox="1"/>
          <p:nvPr>
            <p:ph type="body" idx="1"/>
          </p:nvPr>
        </p:nvSpPr>
        <p:spPr>
          <a:xfrm>
            <a:off x="324000" y="4168800"/>
            <a:ext cx="84960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Now we know that the difference between successive terms is 3, we can work out the missing terms.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56" name="Shape 1156"/>
        <p:cNvGrpSpPr/>
        <p:nvPr/>
      </p:nvGrpSpPr>
      <p:grpSpPr>
        <a:xfrm>
          <a:off x="0" y="0"/>
          <a:ext cx="0" cy="0"/>
        </a:xfrm>
      </p:grpSpPr>
      <p:sp>
        <p:nvSpPr>
          <p:cNvPr id="1157" name="Google Shape;1157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Identifying arithmetic sequences</a:t>
            </a:r>
            <a:endParaRPr/>
          </a:p>
        </p:txBody>
      </p:sp>
      <p:pic>
        <p:nvPicPr>
          <p:cNvPr id="1158" name="Google Shape;1158;p78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>
            <a:off x="606321" y="1758750"/>
            <a:ext cx="920476" cy="308601"/>
          </a:xfrm>
          <a:prstGeom prst="rect">
            <a:avLst/>
          </a:prstGeom>
          <a:noFill/>
          <a:ln>
            <a:noFill/>
          </a:ln>
        </p:spPr>
      </p:pic>
      <p:sp>
        <p:nvSpPr>
          <p:cNvPr id="1159" name="Google Shape;1159;p78"/>
          <p:cNvSpPr txBox="1"/>
          <p:nvPr/>
        </p:nvSpPr>
        <p:spPr>
          <a:xfrm>
            <a:off x="1471876" y="2700188"/>
            <a:ext cx="4557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60" name="Google Shape;1160;p78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 rot="10800000" flipH="1">
            <a:off x="503451" y="2475498"/>
            <a:ext cx="2092948" cy="308577"/>
          </a:xfrm>
          <a:prstGeom prst="rect">
            <a:avLst/>
          </a:prstGeom>
          <a:noFill/>
          <a:ln>
            <a:noFill/>
          </a:ln>
        </p:spPr>
      </p:pic>
      <p:sp>
        <p:nvSpPr>
          <p:cNvPr id="1161" name="Google Shape;1161;p78"/>
          <p:cNvSpPr txBox="1"/>
          <p:nvPr>
            <p:ph type="body" idx="1"/>
          </p:nvPr>
        </p:nvSpPr>
        <p:spPr>
          <a:xfrm>
            <a:off x="324000" y="3342900"/>
            <a:ext cx="2272500" cy="4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Is Alex correct?</a:t>
            </a:r>
            <a:endParaRPr sz="1800"/>
          </a:p>
        </p:txBody>
      </p:sp>
      <p:sp>
        <p:nvSpPr>
          <p:cNvPr id="1162" name="Google Shape;1162;p78"/>
          <p:cNvSpPr/>
          <p:nvPr/>
        </p:nvSpPr>
        <p:spPr>
          <a:xfrm>
            <a:off x="304995" y="2067362"/>
            <a:ext cx="635400" cy="310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3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3" name="Google Shape;1163;p78"/>
          <p:cNvSpPr/>
          <p:nvPr/>
        </p:nvSpPr>
        <p:spPr>
          <a:xfrm>
            <a:off x="1201565" y="2076137"/>
            <a:ext cx="635400" cy="310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4" name="Google Shape;1164;p78"/>
          <p:cNvSpPr/>
          <p:nvPr/>
        </p:nvSpPr>
        <p:spPr>
          <a:xfrm>
            <a:off x="2105075" y="2076125"/>
            <a:ext cx="635400" cy="310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6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5" name="Google Shape;1165;p78"/>
          <p:cNvSpPr/>
          <p:nvPr/>
        </p:nvSpPr>
        <p:spPr>
          <a:xfrm>
            <a:off x="2965337" y="2076125"/>
            <a:ext cx="635400" cy="310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6" name="Google Shape;1166;p78"/>
          <p:cNvSpPr txBox="1"/>
          <p:nvPr/>
        </p:nvSpPr>
        <p:spPr>
          <a:xfrm>
            <a:off x="991419" y="2114635"/>
            <a:ext cx="1515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7" name="Google Shape;1167;p78"/>
          <p:cNvSpPr txBox="1"/>
          <p:nvPr/>
        </p:nvSpPr>
        <p:spPr>
          <a:xfrm>
            <a:off x="1880389" y="2114635"/>
            <a:ext cx="1515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8" name="Google Shape;1168;p78"/>
          <p:cNvSpPr txBox="1"/>
          <p:nvPr/>
        </p:nvSpPr>
        <p:spPr>
          <a:xfrm>
            <a:off x="2846090" y="2114635"/>
            <a:ext cx="1515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9" name="Google Shape;1169;p78"/>
          <p:cNvSpPr txBox="1"/>
          <p:nvPr/>
        </p:nvSpPr>
        <p:spPr>
          <a:xfrm>
            <a:off x="3671509" y="2114635"/>
            <a:ext cx="4557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…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0" name="Google Shape;1170;p78"/>
          <p:cNvSpPr/>
          <p:nvPr/>
        </p:nvSpPr>
        <p:spPr>
          <a:xfrm>
            <a:off x="1193953" y="2076137"/>
            <a:ext cx="635400" cy="3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4.5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1" name="Google Shape;1171;p78"/>
          <p:cNvSpPr/>
          <p:nvPr/>
        </p:nvSpPr>
        <p:spPr>
          <a:xfrm>
            <a:off x="2947375" y="2076125"/>
            <a:ext cx="635400" cy="3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7.5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2" name="Google Shape;1172;p78"/>
          <p:cNvSpPr txBox="1"/>
          <p:nvPr>
            <p:ph type="body" idx="1"/>
          </p:nvPr>
        </p:nvSpPr>
        <p:spPr>
          <a:xfrm>
            <a:off x="324000" y="3839075"/>
            <a:ext cx="8607600" cy="4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No, as the difference between successive terms could be a fraction or decimal.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73" name="Google Shape;1173;p78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>
            <a:off x="1526809" y="1758750"/>
            <a:ext cx="920476" cy="308601"/>
          </a:xfrm>
          <a:prstGeom prst="rect">
            <a:avLst/>
          </a:prstGeom>
          <a:noFill/>
          <a:ln>
            <a:noFill/>
          </a:ln>
        </p:spPr>
      </p:pic>
      <p:sp>
        <p:nvSpPr>
          <p:cNvPr id="1174" name="Google Shape;1174;p78"/>
          <p:cNvSpPr txBox="1"/>
          <p:nvPr/>
        </p:nvSpPr>
        <p:spPr>
          <a:xfrm>
            <a:off x="816303" y="1561325"/>
            <a:ext cx="5793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+ 1.5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5" name="Google Shape;1175;p78"/>
          <p:cNvSpPr txBox="1"/>
          <p:nvPr/>
        </p:nvSpPr>
        <p:spPr>
          <a:xfrm>
            <a:off x="1760779" y="1561325"/>
            <a:ext cx="5793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+ 1.5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6" name="Google Shape;1176;p78"/>
          <p:cNvSpPr txBox="1"/>
          <p:nvPr/>
        </p:nvSpPr>
        <p:spPr>
          <a:xfrm>
            <a:off x="7534825" y="2960187"/>
            <a:ext cx="1097400" cy="3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77" name="Google Shape;1177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99578" y="2198226"/>
            <a:ext cx="689475" cy="795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78" name="Google Shape;1178;p78"/>
          <p:cNvGrpSpPr/>
          <p:nvPr/>
        </p:nvGrpSpPr>
        <p:grpSpPr>
          <a:xfrm>
            <a:off x="4662291" y="1130216"/>
            <a:ext cx="3090110" cy="1787525"/>
            <a:chOff x="4286400" y="1477275"/>
            <a:chExt cx="2662052" cy="1695301"/>
          </a:xfrm>
        </p:grpSpPr>
        <p:pic>
          <p:nvPicPr>
            <p:cNvPr id="1179" name="Google Shape;1179;p78"/>
            <p:cNvPicPr preferRelativeResize="0"/>
            <p:nvPr/>
          </p:nvPicPr>
          <p:blipFill>
            <a:blip r:embed="rId5">
              <a:alphaModFix/>
            </a:blip>
            <a:srcRect r="57905" b="43690"/>
            <a:stretch>
              <a:fillRect/>
            </a:stretch>
          </p:blipFill>
          <p:spPr>
            <a:xfrm>
              <a:off x="4286400" y="1477275"/>
              <a:ext cx="2662052" cy="16953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0" name="Google Shape;1180;p78"/>
            <p:cNvSpPr txBox="1"/>
            <p:nvPr/>
          </p:nvSpPr>
          <p:spPr>
            <a:xfrm flipH="1">
              <a:off x="4394522" y="1608383"/>
              <a:ext cx="2342700" cy="115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This cannot form a linear sequence as nothing can be added to 3 twice to get 6.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84" name="Shape 1184"/>
        <p:cNvGrpSpPr/>
        <p:nvPr/>
      </p:nvGrpSpPr>
      <p:grpSpPr>
        <a:xfrm>
          <a:off x="0" y="0"/>
          <a:ext cx="0" cy="0"/>
        </a:xfrm>
      </p:grpSpPr>
      <p:sp>
        <p:nvSpPr>
          <p:cNvPr id="1185" name="Google Shape;1185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Identifying arithmetic sequences</a:t>
            </a:r>
            <a:endParaRPr/>
          </a:p>
        </p:txBody>
      </p:sp>
      <p:pic>
        <p:nvPicPr>
          <p:cNvPr id="1186" name="Google Shape;1186;p79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>
            <a:off x="637780" y="996750"/>
            <a:ext cx="920476" cy="308601"/>
          </a:xfrm>
          <a:prstGeom prst="rect">
            <a:avLst/>
          </a:prstGeom>
          <a:noFill/>
          <a:ln>
            <a:noFill/>
          </a:ln>
        </p:spPr>
      </p:pic>
      <p:sp>
        <p:nvSpPr>
          <p:cNvPr id="1187" name="Google Shape;1187;p79"/>
          <p:cNvSpPr txBox="1"/>
          <p:nvPr>
            <p:ph type="body" idx="1"/>
          </p:nvPr>
        </p:nvSpPr>
        <p:spPr>
          <a:xfrm>
            <a:off x="324000" y="3075500"/>
            <a:ext cx="4434000" cy="4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Can you explain why Sofia is wrong?</a:t>
            </a:r>
            <a:endParaRPr sz="1800"/>
          </a:p>
        </p:txBody>
      </p:sp>
      <p:sp>
        <p:nvSpPr>
          <p:cNvPr id="1188" name="Google Shape;1188;p79"/>
          <p:cNvSpPr/>
          <p:nvPr/>
        </p:nvSpPr>
        <p:spPr>
          <a:xfrm>
            <a:off x="336454" y="1305362"/>
            <a:ext cx="635400" cy="310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5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9" name="Google Shape;1189;p79"/>
          <p:cNvSpPr/>
          <p:nvPr/>
        </p:nvSpPr>
        <p:spPr>
          <a:xfrm>
            <a:off x="1233024" y="1314137"/>
            <a:ext cx="635400" cy="310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0" name="Google Shape;1190;p79"/>
          <p:cNvSpPr/>
          <p:nvPr/>
        </p:nvSpPr>
        <p:spPr>
          <a:xfrm>
            <a:off x="2136534" y="1314125"/>
            <a:ext cx="635400" cy="310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5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1" name="Google Shape;1191;p79"/>
          <p:cNvSpPr/>
          <p:nvPr/>
        </p:nvSpPr>
        <p:spPr>
          <a:xfrm>
            <a:off x="2996796" y="1314125"/>
            <a:ext cx="635400" cy="310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2" name="Google Shape;1192;p79"/>
          <p:cNvSpPr txBox="1"/>
          <p:nvPr/>
        </p:nvSpPr>
        <p:spPr>
          <a:xfrm>
            <a:off x="1022878" y="1352635"/>
            <a:ext cx="1515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3" name="Google Shape;1193;p79"/>
          <p:cNvSpPr txBox="1"/>
          <p:nvPr/>
        </p:nvSpPr>
        <p:spPr>
          <a:xfrm>
            <a:off x="1911848" y="1352635"/>
            <a:ext cx="1515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4" name="Google Shape;1194;p79"/>
          <p:cNvSpPr txBox="1"/>
          <p:nvPr/>
        </p:nvSpPr>
        <p:spPr>
          <a:xfrm>
            <a:off x="2877549" y="1352635"/>
            <a:ext cx="1515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5" name="Google Shape;1195;p79"/>
          <p:cNvSpPr txBox="1"/>
          <p:nvPr/>
        </p:nvSpPr>
        <p:spPr>
          <a:xfrm>
            <a:off x="3702968" y="1352635"/>
            <a:ext cx="4557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…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6" name="Google Shape;1196;p79"/>
          <p:cNvSpPr/>
          <p:nvPr/>
        </p:nvSpPr>
        <p:spPr>
          <a:xfrm>
            <a:off x="1225411" y="1314137"/>
            <a:ext cx="635400" cy="3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5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7" name="Google Shape;1197;p79"/>
          <p:cNvSpPr/>
          <p:nvPr/>
        </p:nvSpPr>
        <p:spPr>
          <a:xfrm>
            <a:off x="2994563" y="1314125"/>
            <a:ext cx="635400" cy="3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5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8" name="Google Shape;1198;p79"/>
          <p:cNvSpPr txBox="1"/>
          <p:nvPr>
            <p:ph type="body" idx="1"/>
          </p:nvPr>
        </p:nvSpPr>
        <p:spPr>
          <a:xfrm>
            <a:off x="324000" y="3839075"/>
            <a:ext cx="8496000" cy="4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First the sequence adds 10, then adds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−10, then adds 10 again. The value being added each time needs to be the same.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99" name="Google Shape;1199;p79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>
            <a:off x="1558268" y="996750"/>
            <a:ext cx="920476" cy="308601"/>
          </a:xfrm>
          <a:prstGeom prst="rect">
            <a:avLst/>
          </a:prstGeom>
          <a:noFill/>
          <a:ln>
            <a:noFill/>
          </a:ln>
        </p:spPr>
      </p:pic>
      <p:sp>
        <p:nvSpPr>
          <p:cNvPr id="1200" name="Google Shape;1200;p79"/>
          <p:cNvSpPr txBox="1"/>
          <p:nvPr/>
        </p:nvSpPr>
        <p:spPr>
          <a:xfrm>
            <a:off x="855637" y="741713"/>
            <a:ext cx="5793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1" name="Google Shape;1201;p79"/>
          <p:cNvSpPr txBox="1"/>
          <p:nvPr/>
        </p:nvSpPr>
        <p:spPr>
          <a:xfrm>
            <a:off x="1625561" y="741713"/>
            <a:ext cx="8532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(</a:t>
            </a: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10)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02" name="Google Shape;1202;p79"/>
          <p:cNvGrpSpPr/>
          <p:nvPr/>
        </p:nvGrpSpPr>
        <p:grpSpPr>
          <a:xfrm>
            <a:off x="4662291" y="1130216"/>
            <a:ext cx="3090110" cy="1787525"/>
            <a:chOff x="4286400" y="1477275"/>
            <a:chExt cx="2662052" cy="1695301"/>
          </a:xfrm>
        </p:grpSpPr>
        <p:pic>
          <p:nvPicPr>
            <p:cNvPr id="1203" name="Google Shape;1203;p79"/>
            <p:cNvPicPr preferRelativeResize="0"/>
            <p:nvPr/>
          </p:nvPicPr>
          <p:blipFill>
            <a:blip r:embed="rId4">
              <a:alphaModFix/>
            </a:blip>
            <a:srcRect r="57905" b="43690"/>
            <a:stretch>
              <a:fillRect/>
            </a:stretch>
          </p:blipFill>
          <p:spPr>
            <a:xfrm>
              <a:off x="4286400" y="1477275"/>
              <a:ext cx="2662052" cy="16953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4" name="Google Shape;1204;p79"/>
            <p:cNvSpPr txBox="1"/>
            <p:nvPr/>
          </p:nvSpPr>
          <p:spPr>
            <a:xfrm flipH="1">
              <a:off x="4394522" y="1608383"/>
              <a:ext cx="2342700" cy="115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The difference between each term is 10 so this should be a linear sequence.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05" name="Google Shape;1205;p79"/>
          <p:cNvSpPr txBox="1"/>
          <p:nvPr/>
        </p:nvSpPr>
        <p:spPr>
          <a:xfrm>
            <a:off x="7412088" y="2947048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06" name="Google Shape;1206;p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76338" y="2194900"/>
            <a:ext cx="679413" cy="75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7" name="Google Shape;1207;p79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>
            <a:off x="2390380" y="996750"/>
            <a:ext cx="920476" cy="308601"/>
          </a:xfrm>
          <a:prstGeom prst="rect">
            <a:avLst/>
          </a:prstGeom>
          <a:noFill/>
          <a:ln>
            <a:noFill/>
          </a:ln>
        </p:spPr>
      </p:pic>
      <p:sp>
        <p:nvSpPr>
          <p:cNvPr id="1208" name="Google Shape;1208;p79"/>
          <p:cNvSpPr txBox="1"/>
          <p:nvPr/>
        </p:nvSpPr>
        <p:spPr>
          <a:xfrm>
            <a:off x="2608237" y="741713"/>
            <a:ext cx="5793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12" name="Shape 1212"/>
        <p:cNvGrpSpPr/>
        <p:nvPr/>
      </p:nvGrpSpPr>
      <p:grpSpPr>
        <a:xfrm>
          <a:off x="0" y="0"/>
          <a:ext cx="0" cy="0"/>
        </a:xfrm>
      </p:grpSpPr>
      <p:sp>
        <p:nvSpPr>
          <p:cNvPr id="1213" name="Google Shape;1213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Identifying arithmetic sequences</a:t>
            </a:r>
            <a:endParaRPr/>
          </a:p>
        </p:txBody>
      </p:sp>
      <p:pic>
        <p:nvPicPr>
          <p:cNvPr id="1214" name="Google Shape;1214;p80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 rot="10800000" flipH="1">
            <a:off x="514439" y="1548424"/>
            <a:ext cx="2946000" cy="308601"/>
          </a:xfrm>
          <a:prstGeom prst="rect">
            <a:avLst/>
          </a:prstGeom>
          <a:noFill/>
          <a:ln>
            <a:noFill/>
          </a:ln>
        </p:spPr>
      </p:pic>
      <p:sp>
        <p:nvSpPr>
          <p:cNvPr id="1215" name="Google Shape;1215;p80"/>
          <p:cNvSpPr/>
          <p:nvPr/>
        </p:nvSpPr>
        <p:spPr>
          <a:xfrm>
            <a:off x="336454" y="1229162"/>
            <a:ext cx="635400" cy="310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33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6" name="Google Shape;1216;p80"/>
          <p:cNvSpPr/>
          <p:nvPr/>
        </p:nvSpPr>
        <p:spPr>
          <a:xfrm>
            <a:off x="1233024" y="1237937"/>
            <a:ext cx="635400" cy="310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7" name="Google Shape;1217;p80"/>
          <p:cNvSpPr/>
          <p:nvPr/>
        </p:nvSpPr>
        <p:spPr>
          <a:xfrm>
            <a:off x="2136534" y="1237925"/>
            <a:ext cx="635400" cy="310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8" name="Google Shape;1218;p80"/>
          <p:cNvSpPr/>
          <p:nvPr/>
        </p:nvSpPr>
        <p:spPr>
          <a:xfrm>
            <a:off x="2996796" y="1237925"/>
            <a:ext cx="635400" cy="310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9" name="Google Shape;1219;p80"/>
          <p:cNvSpPr txBox="1"/>
          <p:nvPr/>
        </p:nvSpPr>
        <p:spPr>
          <a:xfrm>
            <a:off x="1022878" y="1276435"/>
            <a:ext cx="1515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0" name="Google Shape;1220;p80"/>
          <p:cNvSpPr txBox="1"/>
          <p:nvPr/>
        </p:nvSpPr>
        <p:spPr>
          <a:xfrm>
            <a:off x="1911848" y="1276435"/>
            <a:ext cx="1515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1" name="Google Shape;1221;p80"/>
          <p:cNvSpPr txBox="1"/>
          <p:nvPr/>
        </p:nvSpPr>
        <p:spPr>
          <a:xfrm>
            <a:off x="2877549" y="1276435"/>
            <a:ext cx="1515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2" name="Google Shape;1222;p80"/>
          <p:cNvSpPr txBox="1"/>
          <p:nvPr/>
        </p:nvSpPr>
        <p:spPr>
          <a:xfrm>
            <a:off x="4572268" y="1276435"/>
            <a:ext cx="4557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…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3" name="Google Shape;1223;p80"/>
          <p:cNvSpPr/>
          <p:nvPr/>
        </p:nvSpPr>
        <p:spPr>
          <a:xfrm>
            <a:off x="2994563" y="1237925"/>
            <a:ext cx="635400" cy="3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21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24" name="Google Shape;1224;p80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>
            <a:off x="514443" y="926663"/>
            <a:ext cx="920476" cy="308601"/>
          </a:xfrm>
          <a:prstGeom prst="rect">
            <a:avLst/>
          </a:prstGeom>
          <a:noFill/>
          <a:ln>
            <a:noFill/>
          </a:ln>
        </p:spPr>
      </p:pic>
      <p:sp>
        <p:nvSpPr>
          <p:cNvPr id="1225" name="Google Shape;1225;p80"/>
          <p:cNvSpPr txBox="1"/>
          <p:nvPr/>
        </p:nvSpPr>
        <p:spPr>
          <a:xfrm>
            <a:off x="855637" y="665513"/>
            <a:ext cx="5793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− 4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6" name="Google Shape;1226;p80"/>
          <p:cNvSpPr txBox="1"/>
          <p:nvPr/>
        </p:nvSpPr>
        <p:spPr>
          <a:xfrm>
            <a:off x="1854161" y="665513"/>
            <a:ext cx="8532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− 4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27" name="Google Shape;1227;p80"/>
          <p:cNvGrpSpPr/>
          <p:nvPr/>
        </p:nvGrpSpPr>
        <p:grpSpPr>
          <a:xfrm>
            <a:off x="4470588" y="2231199"/>
            <a:ext cx="3866083" cy="1548850"/>
            <a:chOff x="4286408" y="1118952"/>
            <a:chExt cx="2662042" cy="2053633"/>
          </a:xfrm>
        </p:grpSpPr>
        <p:pic>
          <p:nvPicPr>
            <p:cNvPr id="1228" name="Google Shape;1228;p80"/>
            <p:cNvPicPr preferRelativeResize="0"/>
            <p:nvPr/>
          </p:nvPicPr>
          <p:blipFill>
            <a:blip r:embed="rId4">
              <a:alphaModFix/>
            </a:blip>
            <a:srcRect r="57905" b="43690"/>
            <a:stretch>
              <a:fillRect/>
            </a:stretch>
          </p:blipFill>
          <p:spPr>
            <a:xfrm>
              <a:off x="4286408" y="1118952"/>
              <a:ext cx="2662042" cy="205363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9" name="Google Shape;1229;p80"/>
            <p:cNvSpPr txBox="1"/>
            <p:nvPr/>
          </p:nvSpPr>
          <p:spPr>
            <a:xfrm flipH="1">
              <a:off x="4340647" y="1214103"/>
              <a:ext cx="2444100" cy="160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This could be a linear sequence but there are 2 missing terms and 12 </a:t>
              </a:r>
              <a:r>
                <a:rPr lang="en-GB" sz="19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÷ 2 = 6 so the sequence subtracts 6 each time.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30" name="Google Shape;1230;p80"/>
          <p:cNvSpPr txBox="1"/>
          <p:nvPr/>
        </p:nvSpPr>
        <p:spPr>
          <a:xfrm>
            <a:off x="7606800" y="4053600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31" name="Google Shape;1231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17700" y="3473510"/>
            <a:ext cx="689475" cy="764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2" name="Google Shape;1232;p80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>
            <a:off x="2478780" y="920550"/>
            <a:ext cx="920476" cy="308601"/>
          </a:xfrm>
          <a:prstGeom prst="rect">
            <a:avLst/>
          </a:prstGeom>
          <a:noFill/>
          <a:ln>
            <a:noFill/>
          </a:ln>
        </p:spPr>
      </p:pic>
      <p:sp>
        <p:nvSpPr>
          <p:cNvPr id="1233" name="Google Shape;1233;p80"/>
          <p:cNvSpPr txBox="1"/>
          <p:nvPr/>
        </p:nvSpPr>
        <p:spPr>
          <a:xfrm>
            <a:off x="1762512" y="1813650"/>
            <a:ext cx="5793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− 12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4" name="Google Shape;1234;p80"/>
          <p:cNvSpPr/>
          <p:nvPr/>
        </p:nvSpPr>
        <p:spPr>
          <a:xfrm>
            <a:off x="3834996" y="1237925"/>
            <a:ext cx="635400" cy="310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5" name="Google Shape;1235;p80"/>
          <p:cNvSpPr txBox="1"/>
          <p:nvPr/>
        </p:nvSpPr>
        <p:spPr>
          <a:xfrm>
            <a:off x="3715749" y="1276435"/>
            <a:ext cx="1515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6" name="Google Shape;1236;p80"/>
          <p:cNvSpPr txBox="1"/>
          <p:nvPr/>
        </p:nvSpPr>
        <p:spPr>
          <a:xfrm flipH="1">
            <a:off x="194653" y="4225048"/>
            <a:ext cx="1097400" cy="3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37" name="Google Shape;1237;p8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327600" y="3443226"/>
            <a:ext cx="689475" cy="795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38" name="Google Shape;1238;p80"/>
          <p:cNvGrpSpPr/>
          <p:nvPr/>
        </p:nvGrpSpPr>
        <p:grpSpPr>
          <a:xfrm flipH="1">
            <a:off x="602194" y="2231151"/>
            <a:ext cx="3832939" cy="1548851"/>
            <a:chOff x="4216677" y="1126058"/>
            <a:chExt cx="2681689" cy="1684449"/>
          </a:xfrm>
        </p:grpSpPr>
        <p:pic>
          <p:nvPicPr>
            <p:cNvPr id="1239" name="Google Shape;1239;p80"/>
            <p:cNvPicPr preferRelativeResize="0"/>
            <p:nvPr/>
          </p:nvPicPr>
          <p:blipFill>
            <a:blip r:embed="rId4">
              <a:alphaModFix/>
            </a:blip>
            <a:srcRect r="57905" b="43690"/>
            <a:stretch>
              <a:fillRect/>
            </a:stretch>
          </p:blipFill>
          <p:spPr>
            <a:xfrm>
              <a:off x="4243641" y="1126058"/>
              <a:ext cx="2654725" cy="16844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0" name="Google Shape;1240;p80"/>
            <p:cNvSpPr txBox="1"/>
            <p:nvPr/>
          </p:nvSpPr>
          <p:spPr>
            <a:xfrm flipH="1">
              <a:off x="4216677" y="1216406"/>
              <a:ext cx="2496000" cy="115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The difference between 33 and 21 is 12. This could be a linear sequence where we are subtracting 4 each time.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41" name="Google Shape;1241;p80"/>
          <p:cNvSpPr txBox="1"/>
          <p:nvPr>
            <p:ph type="body" idx="1"/>
          </p:nvPr>
        </p:nvSpPr>
        <p:spPr>
          <a:xfrm>
            <a:off x="1434925" y="3959550"/>
            <a:ext cx="2291700" cy="4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Who is correct?</a:t>
            </a:r>
            <a:endParaRPr sz="1800"/>
          </a:p>
        </p:txBody>
      </p:sp>
      <p:pic>
        <p:nvPicPr>
          <p:cNvPr id="1242" name="Google Shape;1242;p80"/>
          <p:cNvPicPr preferRelativeResize="0"/>
          <p:nvPr/>
        </p:nvPicPr>
        <p:blipFill>
          <a:blip r:embed="rId3">
            <a:alphaModFix/>
          </a:blip>
          <a:srcRect l="57225" r="18284" b="84458"/>
          <a:stretch>
            <a:fillRect/>
          </a:stretch>
        </p:blipFill>
        <p:spPr>
          <a:xfrm>
            <a:off x="1527355" y="926650"/>
            <a:ext cx="920476" cy="308601"/>
          </a:xfrm>
          <a:prstGeom prst="rect">
            <a:avLst/>
          </a:prstGeom>
          <a:noFill/>
          <a:ln>
            <a:noFill/>
          </a:ln>
        </p:spPr>
      </p:pic>
      <p:sp>
        <p:nvSpPr>
          <p:cNvPr id="1243" name="Google Shape;1243;p80"/>
          <p:cNvSpPr txBox="1"/>
          <p:nvPr/>
        </p:nvSpPr>
        <p:spPr>
          <a:xfrm>
            <a:off x="2765411" y="665513"/>
            <a:ext cx="8532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− 4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4" name="Google Shape;1244;p80"/>
          <p:cNvSpPr txBox="1"/>
          <p:nvPr>
            <p:ph type="body" idx="1"/>
          </p:nvPr>
        </p:nvSpPr>
        <p:spPr>
          <a:xfrm>
            <a:off x="3508475" y="3762918"/>
            <a:ext cx="4233900" cy="4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Alex. There are two missing terms, however we have to add the same number 3 times to get from T</a:t>
            </a:r>
            <a:r>
              <a:rPr lang="en-GB" sz="2000" baseline="-25000">
                <a:latin typeface="Kalam"/>
                <a:ea typeface="Kalam"/>
                <a:cs typeface="Kalam"/>
                <a:sym typeface="Kalam"/>
              </a:rPr>
              <a:t>1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to T</a:t>
            </a:r>
            <a:r>
              <a:rPr lang="en-GB" sz="2000" baseline="-25000">
                <a:latin typeface="Kalam"/>
                <a:ea typeface="Kalam"/>
                <a:cs typeface="Kalam"/>
                <a:sym typeface="Kalam"/>
              </a:rPr>
              <a:t>4</a:t>
            </a:r>
            <a:endParaRPr sz="2000" baseline="-25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48" name="Shape 1248"/>
        <p:cNvGrpSpPr/>
        <p:nvPr/>
      </p:nvGrpSpPr>
      <p:grpSpPr>
        <a:xfrm>
          <a:off x="0" y="0"/>
          <a:ext cx="0" cy="0"/>
        </a:xfrm>
      </p:grpSpPr>
      <p:sp>
        <p:nvSpPr>
          <p:cNvPr id="1249" name="Google Shape;1249;p81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To get the next term in an </a:t>
            </a:r>
            <a:r>
              <a:rPr lang="en-GB" b="1"/>
              <a:t>arithmetic sequence</a:t>
            </a:r>
            <a:r>
              <a:rPr lang="en-GB"/>
              <a:t> you add the same value each time.</a:t>
            </a:r>
            <a:endParaRPr/>
          </a:p>
        </p:txBody>
      </p:sp>
      <p:sp>
        <p:nvSpPr>
          <p:cNvPr id="1250" name="Google Shape;1250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Identifying arithmetic sequences</a:t>
            </a:r>
            <a:endParaRPr/>
          </a:p>
        </p:txBody>
      </p:sp>
      <p:sp>
        <p:nvSpPr>
          <p:cNvPr id="1251" name="Google Shape;1251;p81"/>
          <p:cNvSpPr txBox="1"/>
          <p:nvPr>
            <p:ph type="subTitle" idx="2"/>
          </p:nvPr>
        </p:nvSpPr>
        <p:spPr>
          <a:xfrm>
            <a:off x="324000" y="1080000"/>
            <a:ext cx="8496000" cy="33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Terms in </a:t>
            </a:r>
            <a:r>
              <a:rPr lang="en-GB" b="1"/>
              <a:t>arithmetic sequences</a:t>
            </a:r>
            <a:r>
              <a:rPr lang="en-GB"/>
              <a:t> increase in value by the same amount. </a:t>
            </a:r>
            <a:endParaRPr/>
          </a:p>
        </p:txBody>
      </p:sp>
      <p:sp>
        <p:nvSpPr>
          <p:cNvPr id="1252" name="Google Shape;1252;p81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Adding a negative value will mean successive terms decrease in value each time.</a:t>
            </a:r>
            <a:endParaRPr/>
          </a:p>
        </p:txBody>
      </p:sp>
      <p:pic>
        <p:nvPicPr>
          <p:cNvPr id="1253" name="Google Shape;1253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7008" y="17944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4" name="Google Shape;1254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85833" y="43520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58" name="Shape 1258"/>
        <p:cNvGrpSpPr/>
        <p:nvPr/>
      </p:nvGrpSpPr>
      <p:grpSpPr>
        <a:xfrm>
          <a:off x="0" y="0"/>
          <a:ext cx="0" cy="0"/>
        </a:xfrm>
      </p:grpSpPr>
      <p:sp>
        <p:nvSpPr>
          <p:cNvPr id="1259" name="Google Shape;1259;p82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Terms are either all positive  or all negative.</a:t>
            </a:r>
            <a:endParaRPr/>
          </a:p>
        </p:txBody>
      </p:sp>
      <p:sp>
        <p:nvSpPr>
          <p:cNvPr id="1260" name="Google Shape;1260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Identifying arithmetic sequences</a:t>
            </a:r>
            <a:endParaRPr/>
          </a:p>
        </p:txBody>
      </p:sp>
      <p:sp>
        <p:nvSpPr>
          <p:cNvPr id="1261" name="Google Shape;1261;p82"/>
          <p:cNvSpPr txBox="1"/>
          <p:nvPr>
            <p:ph type="subTitle" idx="2"/>
          </p:nvPr>
        </p:nvSpPr>
        <p:spPr>
          <a:xfrm>
            <a:off x="324000" y="1080000"/>
            <a:ext cx="8496000" cy="33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An </a:t>
            </a:r>
            <a:r>
              <a:rPr lang="en-GB" b="1"/>
              <a:t>arithmetic sequence</a:t>
            </a:r>
            <a:r>
              <a:rPr lang="en-GB"/>
              <a:t> can have both positive and negative terms. </a:t>
            </a:r>
            <a:endParaRPr/>
          </a:p>
        </p:txBody>
      </p:sp>
      <p:sp>
        <p:nvSpPr>
          <p:cNvPr id="1262" name="Google Shape;1262;p82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If you add a positive number to a negative number enough times you will get a positive value.</a:t>
            </a:r>
            <a:endParaRPr/>
          </a:p>
        </p:txBody>
      </p:sp>
      <p:pic>
        <p:nvPicPr>
          <p:cNvPr id="1263" name="Google Shape;1263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9683" y="18196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4" name="Google Shape;1264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9483" y="43520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68" name="Shape 1268"/>
        <p:cNvGrpSpPr/>
        <p:nvPr/>
      </p:nvGrpSpPr>
      <p:grpSpPr>
        <a:xfrm>
          <a:off x="0" y="0"/>
          <a:ext cx="0" cy="0"/>
        </a:xfrm>
      </p:grpSpPr>
      <p:sp>
        <p:nvSpPr>
          <p:cNvPr id="1269" name="Google Shape;1269;p83"/>
          <p:cNvSpPr txBox="1"/>
          <p:nvPr>
            <p:ph type="body" idx="1"/>
          </p:nvPr>
        </p:nvSpPr>
        <p:spPr>
          <a:xfrm>
            <a:off x="324000" y="759300"/>
            <a:ext cx="8563200" cy="86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61950" algn="l" rtl="0">
              <a:spcBef>
                <a:spcPct val="0"/>
              </a:spcBef>
              <a:spcAft>
                <a:spcPct val="0"/>
              </a:spcAft>
              <a:buSzPts val="2100"/>
              <a:buAutoNum type="arabicParenR"/>
            </a:pPr>
            <a:r>
              <a:rPr lang="en-GB" sz="2100"/>
              <a:t>For each set of terms, work out if they could form an </a:t>
            </a:r>
            <a:r>
              <a:rPr lang="en-GB" sz="2100" b="1"/>
              <a:t>arithmetic sequence</a:t>
            </a:r>
            <a:r>
              <a:rPr lang="en-GB" sz="2100"/>
              <a:t> or not. Explain your answer.</a:t>
            </a:r>
            <a:endParaRPr sz="2100"/>
          </a:p>
        </p:txBody>
      </p:sp>
      <p:sp>
        <p:nvSpPr>
          <p:cNvPr id="1270" name="Google Shape;1270;p83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Identifying arithmetic sequences</a:t>
            </a:r>
            <a:endParaRPr/>
          </a:p>
        </p:txBody>
      </p:sp>
      <p:grpSp>
        <p:nvGrpSpPr>
          <p:cNvPr id="1271" name="Google Shape;1271;p83"/>
          <p:cNvGrpSpPr/>
          <p:nvPr/>
        </p:nvGrpSpPr>
        <p:grpSpPr>
          <a:xfrm>
            <a:off x="683048" y="1742837"/>
            <a:ext cx="5682114" cy="417173"/>
            <a:chOff x="430854" y="1742837"/>
            <a:chExt cx="5682114" cy="417173"/>
          </a:xfrm>
        </p:grpSpPr>
        <p:sp>
          <p:nvSpPr>
            <p:cNvPr id="1272" name="Google Shape;1272;p83"/>
            <p:cNvSpPr/>
            <p:nvPr/>
          </p:nvSpPr>
          <p:spPr>
            <a:xfrm>
              <a:off x="430854" y="1742837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3" name="Google Shape;1273;p83"/>
            <p:cNvSpPr/>
            <p:nvPr/>
          </p:nvSpPr>
          <p:spPr>
            <a:xfrm>
              <a:off x="1327424" y="1751612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4" name="Google Shape;1274;p83"/>
            <p:cNvSpPr/>
            <p:nvPr/>
          </p:nvSpPr>
          <p:spPr>
            <a:xfrm>
              <a:off x="2230934" y="1751600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5" name="Google Shape;1275;p83"/>
            <p:cNvSpPr/>
            <p:nvPr/>
          </p:nvSpPr>
          <p:spPr>
            <a:xfrm>
              <a:off x="3091196" y="1751600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17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6" name="Google Shape;1276;p83"/>
            <p:cNvSpPr txBox="1"/>
            <p:nvPr/>
          </p:nvSpPr>
          <p:spPr>
            <a:xfrm>
              <a:off x="1117278" y="1790110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7" name="Google Shape;1277;p83"/>
            <p:cNvSpPr txBox="1"/>
            <p:nvPr/>
          </p:nvSpPr>
          <p:spPr>
            <a:xfrm>
              <a:off x="2006248" y="1790110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8" name="Google Shape;1278;p83"/>
            <p:cNvSpPr txBox="1"/>
            <p:nvPr/>
          </p:nvSpPr>
          <p:spPr>
            <a:xfrm>
              <a:off x="2971949" y="1790110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9" name="Google Shape;1279;p83"/>
            <p:cNvSpPr txBox="1"/>
            <p:nvPr/>
          </p:nvSpPr>
          <p:spPr>
            <a:xfrm>
              <a:off x="5657268" y="1790110"/>
              <a:ext cx="4557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 …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0" name="Google Shape;1280;p83"/>
            <p:cNvSpPr/>
            <p:nvPr/>
          </p:nvSpPr>
          <p:spPr>
            <a:xfrm>
              <a:off x="3929396" y="1751600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1" name="Google Shape;1281;p83"/>
            <p:cNvSpPr txBox="1"/>
            <p:nvPr/>
          </p:nvSpPr>
          <p:spPr>
            <a:xfrm>
              <a:off x="3810149" y="1790110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2" name="Google Shape;1282;p83"/>
            <p:cNvSpPr/>
            <p:nvPr/>
          </p:nvSpPr>
          <p:spPr>
            <a:xfrm>
              <a:off x="4843796" y="1751600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25 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3" name="Google Shape;1283;p83"/>
            <p:cNvSpPr txBox="1"/>
            <p:nvPr/>
          </p:nvSpPr>
          <p:spPr>
            <a:xfrm>
              <a:off x="4648349" y="1790110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4" name="Google Shape;1284;p83"/>
          <p:cNvGrpSpPr/>
          <p:nvPr/>
        </p:nvGrpSpPr>
        <p:grpSpPr>
          <a:xfrm>
            <a:off x="683048" y="2355059"/>
            <a:ext cx="5682114" cy="417173"/>
            <a:chOff x="430854" y="2428637"/>
            <a:chExt cx="5682114" cy="417173"/>
          </a:xfrm>
        </p:grpSpPr>
        <p:sp>
          <p:nvSpPr>
            <p:cNvPr id="1285" name="Google Shape;1285;p83"/>
            <p:cNvSpPr/>
            <p:nvPr/>
          </p:nvSpPr>
          <p:spPr>
            <a:xfrm>
              <a:off x="430854" y="2428637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0.1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6" name="Google Shape;1286;p83"/>
            <p:cNvSpPr/>
            <p:nvPr/>
          </p:nvSpPr>
          <p:spPr>
            <a:xfrm>
              <a:off x="1327424" y="2437412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7" name="Google Shape;1287;p83"/>
            <p:cNvSpPr/>
            <p:nvPr/>
          </p:nvSpPr>
          <p:spPr>
            <a:xfrm>
              <a:off x="2230934" y="2437400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8" name="Google Shape;1288;p83"/>
            <p:cNvSpPr/>
            <p:nvPr/>
          </p:nvSpPr>
          <p:spPr>
            <a:xfrm>
              <a:off x="3091196" y="2437400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89" name="Google Shape;1289;p83"/>
            <p:cNvSpPr txBox="1"/>
            <p:nvPr/>
          </p:nvSpPr>
          <p:spPr>
            <a:xfrm>
              <a:off x="1117278" y="2475910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0" name="Google Shape;1290;p83"/>
            <p:cNvSpPr txBox="1"/>
            <p:nvPr/>
          </p:nvSpPr>
          <p:spPr>
            <a:xfrm>
              <a:off x="2006248" y="2475910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1" name="Google Shape;1291;p83"/>
            <p:cNvSpPr txBox="1"/>
            <p:nvPr/>
          </p:nvSpPr>
          <p:spPr>
            <a:xfrm>
              <a:off x="2971949" y="2475910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2" name="Google Shape;1292;p83"/>
            <p:cNvSpPr txBox="1"/>
            <p:nvPr/>
          </p:nvSpPr>
          <p:spPr>
            <a:xfrm>
              <a:off x="5657268" y="2475910"/>
              <a:ext cx="4557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 …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3" name="Google Shape;1293;p83"/>
            <p:cNvSpPr/>
            <p:nvPr/>
          </p:nvSpPr>
          <p:spPr>
            <a:xfrm>
              <a:off x="3929396" y="2437400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0.3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4" name="Google Shape;1294;p83"/>
            <p:cNvSpPr txBox="1"/>
            <p:nvPr/>
          </p:nvSpPr>
          <p:spPr>
            <a:xfrm>
              <a:off x="3810149" y="2475910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5" name="Google Shape;1295;p83"/>
            <p:cNvSpPr/>
            <p:nvPr/>
          </p:nvSpPr>
          <p:spPr>
            <a:xfrm>
              <a:off x="4843796" y="2437400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6" name="Google Shape;1296;p83"/>
            <p:cNvSpPr txBox="1"/>
            <p:nvPr/>
          </p:nvSpPr>
          <p:spPr>
            <a:xfrm>
              <a:off x="4648349" y="2475910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7" name="Google Shape;1297;p83"/>
          <p:cNvGrpSpPr/>
          <p:nvPr/>
        </p:nvGrpSpPr>
        <p:grpSpPr>
          <a:xfrm>
            <a:off x="683048" y="2967280"/>
            <a:ext cx="5682114" cy="417173"/>
            <a:chOff x="430854" y="3038237"/>
            <a:chExt cx="5682114" cy="417173"/>
          </a:xfrm>
        </p:grpSpPr>
        <p:sp>
          <p:nvSpPr>
            <p:cNvPr id="1298" name="Google Shape;1298;p83"/>
            <p:cNvSpPr/>
            <p:nvPr/>
          </p:nvSpPr>
          <p:spPr>
            <a:xfrm>
              <a:off x="430854" y="3038237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9" name="Google Shape;1299;p83"/>
            <p:cNvSpPr/>
            <p:nvPr/>
          </p:nvSpPr>
          <p:spPr>
            <a:xfrm>
              <a:off x="1327424" y="3047012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0" name="Google Shape;1300;p83"/>
            <p:cNvSpPr/>
            <p:nvPr/>
          </p:nvSpPr>
          <p:spPr>
            <a:xfrm>
              <a:off x="2230934" y="3047000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16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1" name="Google Shape;1301;p83"/>
            <p:cNvSpPr/>
            <p:nvPr/>
          </p:nvSpPr>
          <p:spPr>
            <a:xfrm>
              <a:off x="3091196" y="3047000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2" name="Google Shape;1302;p83"/>
            <p:cNvSpPr txBox="1"/>
            <p:nvPr/>
          </p:nvSpPr>
          <p:spPr>
            <a:xfrm>
              <a:off x="1117278" y="3085510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3" name="Google Shape;1303;p83"/>
            <p:cNvSpPr txBox="1"/>
            <p:nvPr/>
          </p:nvSpPr>
          <p:spPr>
            <a:xfrm>
              <a:off x="2006248" y="3085510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4" name="Google Shape;1304;p83"/>
            <p:cNvSpPr txBox="1"/>
            <p:nvPr/>
          </p:nvSpPr>
          <p:spPr>
            <a:xfrm>
              <a:off x="2971949" y="3085510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5" name="Google Shape;1305;p83"/>
            <p:cNvSpPr txBox="1"/>
            <p:nvPr/>
          </p:nvSpPr>
          <p:spPr>
            <a:xfrm>
              <a:off x="5657268" y="3085510"/>
              <a:ext cx="4557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 …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6" name="Google Shape;1306;p83"/>
            <p:cNvSpPr/>
            <p:nvPr/>
          </p:nvSpPr>
          <p:spPr>
            <a:xfrm>
              <a:off x="3929396" y="3047000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7" name="Google Shape;1307;p83"/>
            <p:cNvSpPr txBox="1"/>
            <p:nvPr/>
          </p:nvSpPr>
          <p:spPr>
            <a:xfrm>
              <a:off x="3810149" y="3085510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8" name="Google Shape;1308;p83"/>
            <p:cNvSpPr/>
            <p:nvPr/>
          </p:nvSpPr>
          <p:spPr>
            <a:xfrm>
              <a:off x="4843796" y="3047000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28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9" name="Google Shape;1309;p83"/>
            <p:cNvSpPr txBox="1"/>
            <p:nvPr/>
          </p:nvSpPr>
          <p:spPr>
            <a:xfrm>
              <a:off x="4648349" y="3085510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10" name="Google Shape;1310;p83"/>
          <p:cNvGrpSpPr/>
          <p:nvPr/>
        </p:nvGrpSpPr>
        <p:grpSpPr>
          <a:xfrm>
            <a:off x="683048" y="3579502"/>
            <a:ext cx="5682114" cy="417173"/>
            <a:chOff x="430854" y="3579502"/>
            <a:chExt cx="5682114" cy="417173"/>
          </a:xfrm>
        </p:grpSpPr>
        <p:sp>
          <p:nvSpPr>
            <p:cNvPr id="1311" name="Google Shape;1311;p83"/>
            <p:cNvSpPr/>
            <p:nvPr/>
          </p:nvSpPr>
          <p:spPr>
            <a:xfrm>
              <a:off x="430854" y="3579502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2" name="Google Shape;1312;p83"/>
            <p:cNvSpPr/>
            <p:nvPr/>
          </p:nvSpPr>
          <p:spPr>
            <a:xfrm>
              <a:off x="1327424" y="3588277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3" name="Google Shape;1313;p83"/>
            <p:cNvSpPr/>
            <p:nvPr/>
          </p:nvSpPr>
          <p:spPr>
            <a:xfrm>
              <a:off x="2230934" y="3588265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4" name="Google Shape;1314;p83"/>
            <p:cNvSpPr/>
            <p:nvPr/>
          </p:nvSpPr>
          <p:spPr>
            <a:xfrm>
              <a:off x="3091196" y="3588265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5" name="Google Shape;1315;p83"/>
            <p:cNvSpPr txBox="1"/>
            <p:nvPr/>
          </p:nvSpPr>
          <p:spPr>
            <a:xfrm>
              <a:off x="1117278" y="3626775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6" name="Google Shape;1316;p83"/>
            <p:cNvSpPr txBox="1"/>
            <p:nvPr/>
          </p:nvSpPr>
          <p:spPr>
            <a:xfrm>
              <a:off x="2006248" y="3626775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7" name="Google Shape;1317;p83"/>
            <p:cNvSpPr txBox="1"/>
            <p:nvPr/>
          </p:nvSpPr>
          <p:spPr>
            <a:xfrm>
              <a:off x="2971949" y="3626775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8" name="Google Shape;1318;p83"/>
            <p:cNvSpPr txBox="1"/>
            <p:nvPr/>
          </p:nvSpPr>
          <p:spPr>
            <a:xfrm>
              <a:off x="5657268" y="3626775"/>
              <a:ext cx="4557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 …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9" name="Google Shape;1319;p83"/>
            <p:cNvSpPr/>
            <p:nvPr/>
          </p:nvSpPr>
          <p:spPr>
            <a:xfrm>
              <a:off x="3929396" y="3588265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0" name="Google Shape;1320;p83"/>
            <p:cNvSpPr txBox="1"/>
            <p:nvPr/>
          </p:nvSpPr>
          <p:spPr>
            <a:xfrm>
              <a:off x="3810149" y="3626775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1" name="Google Shape;1321;p83"/>
            <p:cNvSpPr/>
            <p:nvPr/>
          </p:nvSpPr>
          <p:spPr>
            <a:xfrm>
              <a:off x="4843796" y="3588265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-2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2" name="Google Shape;1322;p83"/>
            <p:cNvSpPr txBox="1"/>
            <p:nvPr/>
          </p:nvSpPr>
          <p:spPr>
            <a:xfrm>
              <a:off x="4648349" y="3626775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23" name="Google Shape;1323;p83"/>
          <p:cNvSpPr/>
          <p:nvPr/>
        </p:nvSpPr>
        <p:spPr>
          <a:xfrm>
            <a:off x="683044" y="4130350"/>
            <a:ext cx="635400" cy="6258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4" name="Google Shape;1324;p83"/>
          <p:cNvSpPr/>
          <p:nvPr/>
        </p:nvSpPr>
        <p:spPr>
          <a:xfrm>
            <a:off x="1579616" y="4148042"/>
            <a:ext cx="635400" cy="6258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5" name="Google Shape;1325;p83"/>
          <p:cNvSpPr/>
          <p:nvPr/>
        </p:nvSpPr>
        <p:spPr>
          <a:xfrm>
            <a:off x="2483127" y="4148018"/>
            <a:ext cx="635400" cy="6258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6" name="Google Shape;1326;p83"/>
          <p:cNvSpPr/>
          <p:nvPr/>
        </p:nvSpPr>
        <p:spPr>
          <a:xfrm>
            <a:off x="3343391" y="4148018"/>
            <a:ext cx="635400" cy="6258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7" name="Google Shape;1327;p83"/>
          <p:cNvSpPr txBox="1"/>
          <p:nvPr/>
        </p:nvSpPr>
        <p:spPr>
          <a:xfrm>
            <a:off x="1369470" y="4208072"/>
            <a:ext cx="151500" cy="6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8" name="Google Shape;1328;p83"/>
          <p:cNvSpPr txBox="1"/>
          <p:nvPr/>
        </p:nvSpPr>
        <p:spPr>
          <a:xfrm>
            <a:off x="2258441" y="4208072"/>
            <a:ext cx="151500" cy="6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9" name="Google Shape;1329;p83"/>
          <p:cNvSpPr txBox="1"/>
          <p:nvPr/>
        </p:nvSpPr>
        <p:spPr>
          <a:xfrm>
            <a:off x="3224144" y="4208072"/>
            <a:ext cx="151500" cy="6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0" name="Google Shape;1330;p83"/>
          <p:cNvSpPr txBox="1"/>
          <p:nvPr/>
        </p:nvSpPr>
        <p:spPr>
          <a:xfrm>
            <a:off x="5909468" y="4191722"/>
            <a:ext cx="455700" cy="6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…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1" name="Google Shape;1331;p83"/>
          <p:cNvSpPr/>
          <p:nvPr/>
        </p:nvSpPr>
        <p:spPr>
          <a:xfrm>
            <a:off x="4181594" y="4144778"/>
            <a:ext cx="635400" cy="6258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2" name="Google Shape;1332;p83"/>
          <p:cNvSpPr txBox="1"/>
          <p:nvPr/>
        </p:nvSpPr>
        <p:spPr>
          <a:xfrm>
            <a:off x="4062346" y="4208072"/>
            <a:ext cx="151500" cy="6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3" name="Google Shape;1333;p83"/>
          <p:cNvSpPr/>
          <p:nvPr/>
        </p:nvSpPr>
        <p:spPr>
          <a:xfrm>
            <a:off x="5095994" y="4148018"/>
            <a:ext cx="635400" cy="6258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4" name="Google Shape;1334;p83"/>
          <p:cNvSpPr txBox="1"/>
          <p:nvPr/>
        </p:nvSpPr>
        <p:spPr>
          <a:xfrm>
            <a:off x="4900547" y="4208072"/>
            <a:ext cx="151500" cy="6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35" name="Google Shape;1335;p83" descr="&lt;math xmlns=&quot;http://www.w3.org/1998/Math/MathML&quot; display=&quot;block&quot; data-is-equatio=&quot;1&quot; data-latex=&quot;2&quot;&gt;&lt;mn&gt;2&lt;/mn&gt;&lt;/math&gt;" title="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4063" y="4349012"/>
            <a:ext cx="151500" cy="22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6" name="Google Shape;1336;p83" descr="&lt;math xmlns=&quot;http://www.w3.org/1998/Math/MathML&quot; display=&quot;block&quot; data-is-equatio=&quot;1&quot; data-latex=&quot;2\frac{1}{2}&quot;&gt;&lt;mn&gt;2&lt;/mn&gt;&lt;mfrac&gt;&lt;mn&gt;1&lt;/mn&gt;&lt;mn&gt;2&lt;/mn&gt;&lt;/mfrac&gt;&lt;/math&gt;" title="2 and 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1550" y="4155710"/>
            <a:ext cx="342000" cy="577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7" name="Google Shape;1337;p83" descr="&lt;math xmlns=&quot;http://www.w3.org/1998/Math/MathML&quot; display=&quot;block&quot; data-is-equatio=&quot;1&quot; data-latex=&quot;\frac{5}{3}&quot;&gt;&lt;mfrac&gt;&lt;mn&gt;5&lt;/mn&gt;&lt;mn&gt;3&lt;/mn&gt;&lt;/mfrac&gt;&lt;/math&gt;" title="five third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45140" y="4175530"/>
            <a:ext cx="180706" cy="576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38" name="Google Shape;1338;p83"/>
          <p:cNvGraphicFramePr>
            <a:graphicFrameLocks noGrp="1"/>
          </p:cNvGraphicFramePr>
          <p:nvPr/>
        </p:nvGraphicFramePr>
        <p:xfrm>
          <a:off x="271394" y="162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{E94B1F7C-D626-4EB4-874A-6446D225D414}</a:tableStyleId>
              </a:tblPr>
              <a:tblGrid>
                <a:gridCol w="693500"/>
              </a:tblGrid>
              <a:tr h="6226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226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226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226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226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42" name="Shape 1342"/>
        <p:cNvGrpSpPr/>
        <p:nvPr/>
      </p:nvGrpSpPr>
      <p:grpSpPr>
        <a:xfrm>
          <a:off x="0" y="0"/>
          <a:ext cx="0" cy="0"/>
        </a:xfrm>
      </p:grpSpPr>
      <p:sp>
        <p:nvSpPr>
          <p:cNvPr id="1343" name="Google Shape;1343;p84"/>
          <p:cNvSpPr txBox="1"/>
          <p:nvPr>
            <p:ph type="body" idx="1"/>
          </p:nvPr>
        </p:nvSpPr>
        <p:spPr>
          <a:xfrm>
            <a:off x="335700" y="686390"/>
            <a:ext cx="8237700" cy="69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2) For each sequence work out the perimeter and area of each term and state whether they form a </a:t>
            </a:r>
            <a:r>
              <a:rPr lang="en-GB" sz="1800" b="1"/>
              <a:t>linear sequence</a:t>
            </a:r>
            <a:r>
              <a:rPr lang="en-GB" sz="1800"/>
              <a:t> or not</a:t>
            </a:r>
            <a:endParaRPr sz="1800"/>
          </a:p>
        </p:txBody>
      </p:sp>
      <p:sp>
        <p:nvSpPr>
          <p:cNvPr id="1344" name="Google Shape;1344;p84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Identifying arithmetic sequences</a:t>
            </a:r>
            <a:endParaRPr/>
          </a:p>
        </p:txBody>
      </p:sp>
      <p:sp>
        <p:nvSpPr>
          <p:cNvPr id="1345" name="Google Shape;1345;p84"/>
          <p:cNvSpPr/>
          <p:nvPr/>
        </p:nvSpPr>
        <p:spPr>
          <a:xfrm>
            <a:off x="797825" y="1751919"/>
            <a:ext cx="331200" cy="2925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6" name="Google Shape;1346;p84"/>
          <p:cNvSpPr/>
          <p:nvPr/>
        </p:nvSpPr>
        <p:spPr>
          <a:xfrm>
            <a:off x="1791779" y="1751919"/>
            <a:ext cx="661800" cy="2925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7" name="Google Shape;1347;p84"/>
          <p:cNvSpPr/>
          <p:nvPr/>
        </p:nvSpPr>
        <p:spPr>
          <a:xfrm>
            <a:off x="3163378" y="1751919"/>
            <a:ext cx="993000" cy="2925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8" name="Google Shape;1348;p84"/>
          <p:cNvSpPr/>
          <p:nvPr/>
        </p:nvSpPr>
        <p:spPr>
          <a:xfrm>
            <a:off x="5357400" y="1672867"/>
            <a:ext cx="300900" cy="289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9" name="Google Shape;1349;p84"/>
          <p:cNvSpPr/>
          <p:nvPr/>
        </p:nvSpPr>
        <p:spPr>
          <a:xfrm>
            <a:off x="6352393" y="1567394"/>
            <a:ext cx="504000" cy="4872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0" name="Google Shape;1350;p84"/>
          <p:cNvSpPr/>
          <p:nvPr/>
        </p:nvSpPr>
        <p:spPr>
          <a:xfrm>
            <a:off x="7611646" y="1414994"/>
            <a:ext cx="720000" cy="6987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351" name="Google Shape;1351;p84"/>
          <p:cNvGraphicFramePr>
            <a:graphicFrameLocks noGrp="1"/>
          </p:cNvGraphicFramePr>
          <p:nvPr/>
        </p:nvGraphicFramePr>
        <p:xfrm>
          <a:off x="390775" y="21985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{E94B1F7C-D626-4EB4-874A-6446D225D414}</a:tableStyleId>
              </a:tblPr>
              <a:tblGrid>
                <a:gridCol w="1612050"/>
                <a:gridCol w="590275"/>
                <a:gridCol w="608750"/>
                <a:gridCol w="584775"/>
              </a:tblGrid>
              <a:tr h="2697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Term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697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Perimeter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648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Area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352" name="Google Shape;1352;p84"/>
          <p:cNvSpPr txBox="1"/>
          <p:nvPr/>
        </p:nvSpPr>
        <p:spPr>
          <a:xfrm>
            <a:off x="1182653" y="1751929"/>
            <a:ext cx="1515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3" name="Google Shape;1353;p84"/>
          <p:cNvSpPr txBox="1"/>
          <p:nvPr/>
        </p:nvSpPr>
        <p:spPr>
          <a:xfrm>
            <a:off x="2513093" y="1751929"/>
            <a:ext cx="1515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4" name="Google Shape;1354;p84"/>
          <p:cNvSpPr txBox="1"/>
          <p:nvPr/>
        </p:nvSpPr>
        <p:spPr>
          <a:xfrm>
            <a:off x="4257711" y="1751917"/>
            <a:ext cx="4557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,…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55" name="Google Shape;1355;p84"/>
          <p:cNvCxnSpPr/>
          <p:nvPr/>
        </p:nvCxnSpPr>
        <p:spPr>
          <a:xfrm>
            <a:off x="795375" y="1675182"/>
            <a:ext cx="314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356" name="Google Shape;1356;p84"/>
          <p:cNvCxnSpPr/>
          <p:nvPr/>
        </p:nvCxnSpPr>
        <p:spPr>
          <a:xfrm rot="5400000">
            <a:off x="578985" y="1913263"/>
            <a:ext cx="314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357" name="Google Shape;1357;p84"/>
          <p:cNvSpPr txBox="1"/>
          <p:nvPr>
            <p:ph type="body" idx="1"/>
          </p:nvPr>
        </p:nvSpPr>
        <p:spPr>
          <a:xfrm>
            <a:off x="795375" y="1385394"/>
            <a:ext cx="455700" cy="28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2m</a:t>
            </a:r>
            <a:endParaRPr sz="1800"/>
          </a:p>
        </p:txBody>
      </p:sp>
      <p:sp>
        <p:nvSpPr>
          <p:cNvPr id="1358" name="Google Shape;1358;p84"/>
          <p:cNvSpPr txBox="1"/>
          <p:nvPr>
            <p:ph type="body" idx="1"/>
          </p:nvPr>
        </p:nvSpPr>
        <p:spPr>
          <a:xfrm>
            <a:off x="339675" y="1764269"/>
            <a:ext cx="396600" cy="28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2m</a:t>
            </a:r>
            <a:endParaRPr sz="1800"/>
          </a:p>
        </p:txBody>
      </p:sp>
      <p:cxnSp>
        <p:nvCxnSpPr>
          <p:cNvPr id="1359" name="Google Shape;1359;p84"/>
          <p:cNvCxnSpPr/>
          <p:nvPr/>
        </p:nvCxnSpPr>
        <p:spPr>
          <a:xfrm rot="5400000">
            <a:off x="1574947" y="1909176"/>
            <a:ext cx="314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360" name="Google Shape;1360;p84"/>
          <p:cNvCxnSpPr/>
          <p:nvPr/>
        </p:nvCxnSpPr>
        <p:spPr>
          <a:xfrm>
            <a:off x="1785993" y="1675182"/>
            <a:ext cx="67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361" name="Google Shape;1361;p84"/>
          <p:cNvSpPr txBox="1"/>
          <p:nvPr>
            <p:ph type="body" idx="1"/>
          </p:nvPr>
        </p:nvSpPr>
        <p:spPr>
          <a:xfrm>
            <a:off x="1938387" y="1385394"/>
            <a:ext cx="661800" cy="241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3m</a:t>
            </a:r>
            <a:endParaRPr sz="1800"/>
          </a:p>
        </p:txBody>
      </p:sp>
      <p:cxnSp>
        <p:nvCxnSpPr>
          <p:cNvPr id="1362" name="Google Shape;1362;p84"/>
          <p:cNvCxnSpPr/>
          <p:nvPr/>
        </p:nvCxnSpPr>
        <p:spPr>
          <a:xfrm rot="5400000">
            <a:off x="2912117" y="1909176"/>
            <a:ext cx="314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363" name="Google Shape;1363;p84"/>
          <p:cNvCxnSpPr/>
          <p:nvPr/>
        </p:nvCxnSpPr>
        <p:spPr>
          <a:xfrm>
            <a:off x="3123163" y="1675182"/>
            <a:ext cx="1032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364" name="Google Shape;1364;p84"/>
          <p:cNvSpPr txBox="1"/>
          <p:nvPr>
            <p:ph type="body" idx="1"/>
          </p:nvPr>
        </p:nvSpPr>
        <p:spPr>
          <a:xfrm>
            <a:off x="3427957" y="1385394"/>
            <a:ext cx="661800" cy="241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4m</a:t>
            </a:r>
            <a:endParaRPr sz="1800"/>
          </a:p>
        </p:txBody>
      </p:sp>
      <p:sp>
        <p:nvSpPr>
          <p:cNvPr id="1365" name="Google Shape;1365;p84"/>
          <p:cNvSpPr txBox="1"/>
          <p:nvPr>
            <p:ph type="body" idx="1"/>
          </p:nvPr>
        </p:nvSpPr>
        <p:spPr>
          <a:xfrm>
            <a:off x="1359287" y="1764269"/>
            <a:ext cx="396600" cy="28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2m</a:t>
            </a:r>
            <a:endParaRPr sz="1800"/>
          </a:p>
        </p:txBody>
      </p:sp>
      <p:sp>
        <p:nvSpPr>
          <p:cNvPr id="1366" name="Google Shape;1366;p84"/>
          <p:cNvSpPr txBox="1"/>
          <p:nvPr>
            <p:ph type="body" idx="1"/>
          </p:nvPr>
        </p:nvSpPr>
        <p:spPr>
          <a:xfrm>
            <a:off x="2696457" y="1764269"/>
            <a:ext cx="396600" cy="28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2m</a:t>
            </a:r>
            <a:endParaRPr sz="1800"/>
          </a:p>
        </p:txBody>
      </p:sp>
      <p:cxnSp>
        <p:nvCxnSpPr>
          <p:cNvPr id="1367" name="Google Shape;1367;p84"/>
          <p:cNvCxnSpPr/>
          <p:nvPr/>
        </p:nvCxnSpPr>
        <p:spPr>
          <a:xfrm>
            <a:off x="5346228" y="1598982"/>
            <a:ext cx="314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368" name="Google Shape;1368;p84"/>
          <p:cNvCxnSpPr/>
          <p:nvPr/>
        </p:nvCxnSpPr>
        <p:spPr>
          <a:xfrm rot="5400000">
            <a:off x="5129838" y="1837063"/>
            <a:ext cx="314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369" name="Google Shape;1369;p84"/>
          <p:cNvSpPr txBox="1"/>
          <p:nvPr>
            <p:ph type="body" idx="1"/>
          </p:nvPr>
        </p:nvSpPr>
        <p:spPr>
          <a:xfrm>
            <a:off x="5346228" y="1309194"/>
            <a:ext cx="455700" cy="28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2m</a:t>
            </a:r>
            <a:endParaRPr sz="1800"/>
          </a:p>
        </p:txBody>
      </p:sp>
      <p:sp>
        <p:nvSpPr>
          <p:cNvPr id="1370" name="Google Shape;1370;p84"/>
          <p:cNvSpPr txBox="1"/>
          <p:nvPr>
            <p:ph type="body" idx="1"/>
          </p:nvPr>
        </p:nvSpPr>
        <p:spPr>
          <a:xfrm>
            <a:off x="4890528" y="1688069"/>
            <a:ext cx="396600" cy="28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2m</a:t>
            </a:r>
            <a:endParaRPr sz="1800"/>
          </a:p>
        </p:txBody>
      </p:sp>
      <p:cxnSp>
        <p:nvCxnSpPr>
          <p:cNvPr id="1371" name="Google Shape;1371;p84"/>
          <p:cNvCxnSpPr/>
          <p:nvPr/>
        </p:nvCxnSpPr>
        <p:spPr>
          <a:xfrm>
            <a:off x="6328963" y="1470176"/>
            <a:ext cx="535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372" name="Google Shape;1372;p84"/>
          <p:cNvCxnSpPr/>
          <p:nvPr/>
        </p:nvCxnSpPr>
        <p:spPr>
          <a:xfrm flipH="1">
            <a:off x="6269923" y="1550907"/>
            <a:ext cx="0" cy="483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373" name="Google Shape;1373;p84"/>
          <p:cNvSpPr txBox="1"/>
          <p:nvPr>
            <p:ph type="body" idx="1"/>
          </p:nvPr>
        </p:nvSpPr>
        <p:spPr>
          <a:xfrm>
            <a:off x="6376550" y="1173493"/>
            <a:ext cx="455700" cy="241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3m</a:t>
            </a:r>
            <a:endParaRPr sz="1800"/>
          </a:p>
        </p:txBody>
      </p:sp>
      <p:sp>
        <p:nvSpPr>
          <p:cNvPr id="1374" name="Google Shape;1374;p84"/>
          <p:cNvSpPr txBox="1"/>
          <p:nvPr>
            <p:ph type="body" idx="1"/>
          </p:nvPr>
        </p:nvSpPr>
        <p:spPr>
          <a:xfrm>
            <a:off x="5849300" y="1619444"/>
            <a:ext cx="396600" cy="28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3m</a:t>
            </a:r>
            <a:endParaRPr sz="1800"/>
          </a:p>
        </p:txBody>
      </p:sp>
      <p:cxnSp>
        <p:nvCxnSpPr>
          <p:cNvPr id="1375" name="Google Shape;1375;p84"/>
          <p:cNvCxnSpPr/>
          <p:nvPr/>
        </p:nvCxnSpPr>
        <p:spPr>
          <a:xfrm>
            <a:off x="7611655" y="1338675"/>
            <a:ext cx="720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376" name="Google Shape;1376;p84"/>
          <p:cNvSpPr txBox="1"/>
          <p:nvPr>
            <p:ph type="body" idx="1"/>
          </p:nvPr>
        </p:nvSpPr>
        <p:spPr>
          <a:xfrm>
            <a:off x="7784021" y="1067694"/>
            <a:ext cx="612300" cy="241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4m</a:t>
            </a:r>
            <a:endParaRPr sz="1800"/>
          </a:p>
        </p:txBody>
      </p:sp>
      <p:cxnSp>
        <p:nvCxnSpPr>
          <p:cNvPr id="1377" name="Google Shape;1377;p84"/>
          <p:cNvCxnSpPr/>
          <p:nvPr/>
        </p:nvCxnSpPr>
        <p:spPr>
          <a:xfrm flipH="1">
            <a:off x="7520575" y="1435399"/>
            <a:ext cx="0" cy="698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378" name="Google Shape;1378;p84"/>
          <p:cNvSpPr txBox="1"/>
          <p:nvPr>
            <p:ph type="body" idx="1"/>
          </p:nvPr>
        </p:nvSpPr>
        <p:spPr>
          <a:xfrm>
            <a:off x="7099950" y="1534543"/>
            <a:ext cx="396600" cy="41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4m</a:t>
            </a:r>
            <a:endParaRPr sz="1800"/>
          </a:p>
        </p:txBody>
      </p:sp>
      <p:sp>
        <p:nvSpPr>
          <p:cNvPr id="1379" name="Google Shape;1379;p84"/>
          <p:cNvSpPr txBox="1"/>
          <p:nvPr/>
        </p:nvSpPr>
        <p:spPr>
          <a:xfrm>
            <a:off x="5728503" y="1652129"/>
            <a:ext cx="1515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0" name="Google Shape;1380;p84"/>
          <p:cNvSpPr txBox="1"/>
          <p:nvPr/>
        </p:nvSpPr>
        <p:spPr>
          <a:xfrm>
            <a:off x="6982743" y="1652129"/>
            <a:ext cx="1515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1" name="Google Shape;1381;p84"/>
          <p:cNvSpPr txBox="1"/>
          <p:nvPr/>
        </p:nvSpPr>
        <p:spPr>
          <a:xfrm>
            <a:off x="8422561" y="1652117"/>
            <a:ext cx="4557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,…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382" name="Google Shape;1382;p84"/>
          <p:cNvGraphicFramePr>
            <a:graphicFrameLocks noGrp="1"/>
          </p:cNvGraphicFramePr>
          <p:nvPr/>
        </p:nvGraphicFramePr>
        <p:xfrm>
          <a:off x="4824000" y="22194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{E94B1F7C-D626-4EB4-874A-6446D225D414}</a:tableStyleId>
              </a:tblPr>
              <a:tblGrid>
                <a:gridCol w="1612050"/>
                <a:gridCol w="590275"/>
                <a:gridCol w="608750"/>
                <a:gridCol w="584775"/>
              </a:tblGrid>
              <a:tr h="2697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Term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697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Perimeter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648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Area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383" name="Google Shape;1383;p84"/>
          <p:cNvGraphicFramePr>
            <a:graphicFrameLocks noGrp="1"/>
          </p:cNvGraphicFramePr>
          <p:nvPr/>
        </p:nvGraphicFramePr>
        <p:xfrm>
          <a:off x="390775" y="39212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{E94B1F7C-D626-4EB4-874A-6446D225D414}</a:tableStyleId>
              </a:tblPr>
              <a:tblGrid>
                <a:gridCol w="1612050"/>
                <a:gridCol w="590275"/>
                <a:gridCol w="608750"/>
                <a:gridCol w="584775"/>
              </a:tblGrid>
              <a:tr h="2697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Term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697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Perimeter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648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Area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384" name="Google Shape;1384;p84"/>
          <p:cNvSpPr/>
          <p:nvPr/>
        </p:nvSpPr>
        <p:spPr>
          <a:xfrm>
            <a:off x="797825" y="3449466"/>
            <a:ext cx="331200" cy="2925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5" name="Google Shape;1385;p84"/>
          <p:cNvSpPr/>
          <p:nvPr/>
        </p:nvSpPr>
        <p:spPr>
          <a:xfrm>
            <a:off x="1791779" y="3449466"/>
            <a:ext cx="661800" cy="2925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6" name="Google Shape;1386;p84"/>
          <p:cNvSpPr/>
          <p:nvPr/>
        </p:nvSpPr>
        <p:spPr>
          <a:xfrm>
            <a:off x="3163378" y="3449466"/>
            <a:ext cx="993000" cy="2925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7" name="Google Shape;1387;p84"/>
          <p:cNvSpPr txBox="1"/>
          <p:nvPr/>
        </p:nvSpPr>
        <p:spPr>
          <a:xfrm>
            <a:off x="1182653" y="3449477"/>
            <a:ext cx="1515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8" name="Google Shape;1388;p84"/>
          <p:cNvSpPr txBox="1"/>
          <p:nvPr/>
        </p:nvSpPr>
        <p:spPr>
          <a:xfrm>
            <a:off x="2513093" y="3449477"/>
            <a:ext cx="1515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89" name="Google Shape;1389;p84"/>
          <p:cNvCxnSpPr/>
          <p:nvPr/>
        </p:nvCxnSpPr>
        <p:spPr>
          <a:xfrm>
            <a:off x="795375" y="3372729"/>
            <a:ext cx="314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390" name="Google Shape;1390;p84"/>
          <p:cNvCxnSpPr/>
          <p:nvPr/>
        </p:nvCxnSpPr>
        <p:spPr>
          <a:xfrm rot="5400000">
            <a:off x="578985" y="3610810"/>
            <a:ext cx="314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391" name="Google Shape;1391;p84"/>
          <p:cNvSpPr txBox="1"/>
          <p:nvPr>
            <p:ph type="body" idx="1"/>
          </p:nvPr>
        </p:nvSpPr>
        <p:spPr>
          <a:xfrm>
            <a:off x="795375" y="3082941"/>
            <a:ext cx="455700" cy="28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2m</a:t>
            </a:r>
            <a:endParaRPr sz="1800"/>
          </a:p>
        </p:txBody>
      </p:sp>
      <p:sp>
        <p:nvSpPr>
          <p:cNvPr id="1392" name="Google Shape;1392;p84"/>
          <p:cNvSpPr txBox="1"/>
          <p:nvPr>
            <p:ph type="body" idx="1"/>
          </p:nvPr>
        </p:nvSpPr>
        <p:spPr>
          <a:xfrm>
            <a:off x="339675" y="3461816"/>
            <a:ext cx="396600" cy="28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2m</a:t>
            </a:r>
            <a:endParaRPr sz="1800"/>
          </a:p>
        </p:txBody>
      </p:sp>
      <p:cxnSp>
        <p:nvCxnSpPr>
          <p:cNvPr id="1393" name="Google Shape;1393;p84"/>
          <p:cNvCxnSpPr/>
          <p:nvPr/>
        </p:nvCxnSpPr>
        <p:spPr>
          <a:xfrm rot="5400000">
            <a:off x="1574947" y="3606723"/>
            <a:ext cx="314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394" name="Google Shape;1394;p84"/>
          <p:cNvCxnSpPr/>
          <p:nvPr/>
        </p:nvCxnSpPr>
        <p:spPr>
          <a:xfrm>
            <a:off x="1785993" y="3372729"/>
            <a:ext cx="67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395" name="Google Shape;1395;p84"/>
          <p:cNvSpPr txBox="1"/>
          <p:nvPr>
            <p:ph type="body" idx="1"/>
          </p:nvPr>
        </p:nvSpPr>
        <p:spPr>
          <a:xfrm>
            <a:off x="1938387" y="3082941"/>
            <a:ext cx="661800" cy="241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4m</a:t>
            </a:r>
            <a:endParaRPr sz="1800"/>
          </a:p>
        </p:txBody>
      </p:sp>
      <p:cxnSp>
        <p:nvCxnSpPr>
          <p:cNvPr id="1396" name="Google Shape;1396;p84"/>
          <p:cNvCxnSpPr/>
          <p:nvPr/>
        </p:nvCxnSpPr>
        <p:spPr>
          <a:xfrm rot="5400000">
            <a:off x="2912117" y="3606723"/>
            <a:ext cx="314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397" name="Google Shape;1397;p84"/>
          <p:cNvCxnSpPr/>
          <p:nvPr/>
        </p:nvCxnSpPr>
        <p:spPr>
          <a:xfrm>
            <a:off x="3123163" y="3372729"/>
            <a:ext cx="1032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398" name="Google Shape;1398;p84"/>
          <p:cNvSpPr txBox="1"/>
          <p:nvPr>
            <p:ph type="body" idx="1"/>
          </p:nvPr>
        </p:nvSpPr>
        <p:spPr>
          <a:xfrm>
            <a:off x="3427957" y="3082941"/>
            <a:ext cx="661800" cy="241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8m</a:t>
            </a:r>
            <a:endParaRPr sz="1800"/>
          </a:p>
        </p:txBody>
      </p:sp>
      <p:sp>
        <p:nvSpPr>
          <p:cNvPr id="1399" name="Google Shape;1399;p84"/>
          <p:cNvSpPr txBox="1"/>
          <p:nvPr>
            <p:ph type="body" idx="1"/>
          </p:nvPr>
        </p:nvSpPr>
        <p:spPr>
          <a:xfrm>
            <a:off x="1359287" y="3461816"/>
            <a:ext cx="396600" cy="28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2m</a:t>
            </a:r>
            <a:endParaRPr sz="1800"/>
          </a:p>
        </p:txBody>
      </p:sp>
      <p:sp>
        <p:nvSpPr>
          <p:cNvPr id="1400" name="Google Shape;1400;p84"/>
          <p:cNvSpPr txBox="1"/>
          <p:nvPr>
            <p:ph type="body" idx="1"/>
          </p:nvPr>
        </p:nvSpPr>
        <p:spPr>
          <a:xfrm>
            <a:off x="2696457" y="3461816"/>
            <a:ext cx="396600" cy="28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2m</a:t>
            </a:r>
            <a:endParaRPr sz="1800"/>
          </a:p>
        </p:txBody>
      </p:sp>
      <p:sp>
        <p:nvSpPr>
          <p:cNvPr id="1401" name="Google Shape;1401;p84"/>
          <p:cNvSpPr/>
          <p:nvPr/>
        </p:nvSpPr>
        <p:spPr>
          <a:xfrm>
            <a:off x="5018575" y="3529650"/>
            <a:ext cx="977400" cy="1584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2" name="Google Shape;1402;p84"/>
          <p:cNvSpPr/>
          <p:nvPr/>
        </p:nvSpPr>
        <p:spPr>
          <a:xfrm>
            <a:off x="6607979" y="3483169"/>
            <a:ext cx="751200" cy="2415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3" name="Google Shape;1403;p84"/>
          <p:cNvSpPr/>
          <p:nvPr/>
        </p:nvSpPr>
        <p:spPr>
          <a:xfrm>
            <a:off x="7937064" y="3423900"/>
            <a:ext cx="504000" cy="3699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4" name="Google Shape;1404;p84"/>
          <p:cNvSpPr txBox="1"/>
          <p:nvPr/>
        </p:nvSpPr>
        <p:spPr>
          <a:xfrm>
            <a:off x="6037506" y="3437052"/>
            <a:ext cx="1515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5" name="Google Shape;1405;p84"/>
          <p:cNvSpPr txBox="1"/>
          <p:nvPr/>
        </p:nvSpPr>
        <p:spPr>
          <a:xfrm>
            <a:off x="7391758" y="3437052"/>
            <a:ext cx="1515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6" name="Google Shape;1406;p84"/>
          <p:cNvSpPr txBox="1"/>
          <p:nvPr/>
        </p:nvSpPr>
        <p:spPr>
          <a:xfrm>
            <a:off x="4226711" y="3449473"/>
            <a:ext cx="4557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,…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7" name="Google Shape;1407;p84"/>
          <p:cNvSpPr txBox="1"/>
          <p:nvPr/>
        </p:nvSpPr>
        <p:spPr>
          <a:xfrm>
            <a:off x="8518358" y="3448456"/>
            <a:ext cx="4557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,…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08" name="Google Shape;1408;p84"/>
          <p:cNvCxnSpPr/>
          <p:nvPr/>
        </p:nvCxnSpPr>
        <p:spPr>
          <a:xfrm>
            <a:off x="5034650" y="3460988"/>
            <a:ext cx="955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409" name="Google Shape;1409;p84"/>
          <p:cNvCxnSpPr/>
          <p:nvPr/>
        </p:nvCxnSpPr>
        <p:spPr>
          <a:xfrm flipH="1">
            <a:off x="4952816" y="3509207"/>
            <a:ext cx="0" cy="225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410" name="Google Shape;1410;p84"/>
          <p:cNvSpPr txBox="1"/>
          <p:nvPr>
            <p:ph type="body" idx="1"/>
          </p:nvPr>
        </p:nvSpPr>
        <p:spPr>
          <a:xfrm>
            <a:off x="5364113" y="3159150"/>
            <a:ext cx="396600" cy="28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8m</a:t>
            </a:r>
            <a:endParaRPr sz="1800"/>
          </a:p>
        </p:txBody>
      </p:sp>
      <p:sp>
        <p:nvSpPr>
          <p:cNvPr id="1411" name="Google Shape;1411;p84"/>
          <p:cNvSpPr txBox="1"/>
          <p:nvPr>
            <p:ph type="body" idx="1"/>
          </p:nvPr>
        </p:nvSpPr>
        <p:spPr>
          <a:xfrm>
            <a:off x="4562650" y="3477100"/>
            <a:ext cx="331200" cy="28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1m</a:t>
            </a:r>
            <a:endParaRPr sz="1800"/>
          </a:p>
        </p:txBody>
      </p:sp>
      <p:cxnSp>
        <p:nvCxnSpPr>
          <p:cNvPr id="1412" name="Google Shape;1412;p84"/>
          <p:cNvCxnSpPr/>
          <p:nvPr/>
        </p:nvCxnSpPr>
        <p:spPr>
          <a:xfrm>
            <a:off x="6607987" y="3400644"/>
            <a:ext cx="734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413" name="Google Shape;1413;p84"/>
          <p:cNvCxnSpPr/>
          <p:nvPr/>
        </p:nvCxnSpPr>
        <p:spPr>
          <a:xfrm rot="5400000">
            <a:off x="6378050" y="3618675"/>
            <a:ext cx="314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414" name="Google Shape;1414;p84"/>
          <p:cNvSpPr txBox="1"/>
          <p:nvPr>
            <p:ph type="body" idx="1"/>
          </p:nvPr>
        </p:nvSpPr>
        <p:spPr>
          <a:xfrm>
            <a:off x="6771454" y="3135557"/>
            <a:ext cx="455700" cy="241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6m</a:t>
            </a:r>
            <a:endParaRPr sz="1800"/>
          </a:p>
        </p:txBody>
      </p:sp>
      <p:sp>
        <p:nvSpPr>
          <p:cNvPr id="1415" name="Google Shape;1415;p84"/>
          <p:cNvSpPr txBox="1"/>
          <p:nvPr>
            <p:ph type="body" idx="1"/>
          </p:nvPr>
        </p:nvSpPr>
        <p:spPr>
          <a:xfrm>
            <a:off x="6157059" y="3488506"/>
            <a:ext cx="396600" cy="28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2m</a:t>
            </a:r>
            <a:endParaRPr sz="1800"/>
          </a:p>
        </p:txBody>
      </p:sp>
      <p:cxnSp>
        <p:nvCxnSpPr>
          <p:cNvPr id="1416" name="Google Shape;1416;p84"/>
          <p:cNvCxnSpPr/>
          <p:nvPr/>
        </p:nvCxnSpPr>
        <p:spPr>
          <a:xfrm>
            <a:off x="7949977" y="3343717"/>
            <a:ext cx="47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417" name="Google Shape;1417;p84"/>
          <p:cNvCxnSpPr/>
          <p:nvPr/>
        </p:nvCxnSpPr>
        <p:spPr>
          <a:xfrm rot="5400000">
            <a:off x="7702462" y="3581798"/>
            <a:ext cx="314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418" name="Google Shape;1418;p84"/>
          <p:cNvSpPr txBox="1"/>
          <p:nvPr>
            <p:ph type="body" idx="1"/>
          </p:nvPr>
        </p:nvSpPr>
        <p:spPr>
          <a:xfrm>
            <a:off x="7995052" y="3053929"/>
            <a:ext cx="455700" cy="28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4m</a:t>
            </a:r>
            <a:endParaRPr sz="1800"/>
          </a:p>
        </p:txBody>
      </p:sp>
      <p:sp>
        <p:nvSpPr>
          <p:cNvPr id="1419" name="Google Shape;1419;p84"/>
          <p:cNvSpPr txBox="1"/>
          <p:nvPr>
            <p:ph type="body" idx="1"/>
          </p:nvPr>
        </p:nvSpPr>
        <p:spPr>
          <a:xfrm>
            <a:off x="7463152" y="3432804"/>
            <a:ext cx="396600" cy="28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3m</a:t>
            </a:r>
            <a:endParaRPr sz="1800"/>
          </a:p>
        </p:txBody>
      </p:sp>
      <p:graphicFrame>
        <p:nvGraphicFramePr>
          <p:cNvPr id="1420" name="Google Shape;1420;p84"/>
          <p:cNvGraphicFramePr>
            <a:graphicFrameLocks noGrp="1"/>
          </p:cNvGraphicFramePr>
          <p:nvPr/>
        </p:nvGraphicFramePr>
        <p:xfrm>
          <a:off x="4824000" y="39148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{E94B1F7C-D626-4EB4-874A-6446D225D414}</a:tableStyleId>
              </a:tblPr>
              <a:tblGrid>
                <a:gridCol w="1612050"/>
                <a:gridCol w="590275"/>
                <a:gridCol w="608750"/>
                <a:gridCol w="584775"/>
              </a:tblGrid>
              <a:tr h="2697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Term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349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Perimeter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648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Area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421" name="Google Shape;1421;p84"/>
          <p:cNvSpPr txBox="1"/>
          <p:nvPr>
            <p:ph type="body" idx="1"/>
          </p:nvPr>
        </p:nvSpPr>
        <p:spPr>
          <a:xfrm>
            <a:off x="339675" y="1328631"/>
            <a:ext cx="300900" cy="29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a)</a:t>
            </a:r>
            <a:endParaRPr sz="1800"/>
          </a:p>
        </p:txBody>
      </p:sp>
      <p:sp>
        <p:nvSpPr>
          <p:cNvPr id="1422" name="Google Shape;1422;p84"/>
          <p:cNvSpPr txBox="1"/>
          <p:nvPr>
            <p:ph type="body" idx="1"/>
          </p:nvPr>
        </p:nvSpPr>
        <p:spPr>
          <a:xfrm>
            <a:off x="4849850" y="1328631"/>
            <a:ext cx="300900" cy="29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c)</a:t>
            </a:r>
            <a:endParaRPr sz="1800"/>
          </a:p>
        </p:txBody>
      </p:sp>
      <p:sp>
        <p:nvSpPr>
          <p:cNvPr id="1423" name="Google Shape;1423;p84"/>
          <p:cNvSpPr txBox="1"/>
          <p:nvPr>
            <p:ph type="body" idx="1"/>
          </p:nvPr>
        </p:nvSpPr>
        <p:spPr>
          <a:xfrm>
            <a:off x="314150" y="3141169"/>
            <a:ext cx="300900" cy="29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b)</a:t>
            </a:r>
            <a:endParaRPr sz="1800"/>
          </a:p>
        </p:txBody>
      </p:sp>
      <p:sp>
        <p:nvSpPr>
          <p:cNvPr id="1424" name="Google Shape;1424;p84"/>
          <p:cNvSpPr txBox="1"/>
          <p:nvPr>
            <p:ph type="body" idx="1"/>
          </p:nvPr>
        </p:nvSpPr>
        <p:spPr>
          <a:xfrm>
            <a:off x="4845513" y="3141169"/>
            <a:ext cx="300900" cy="29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d)</a:t>
            </a:r>
            <a:endParaRPr sz="1800"/>
          </a:p>
        </p:txBody>
      </p:sp>
      <p:cxnSp>
        <p:nvCxnSpPr>
          <p:cNvPr id="1425" name="Google Shape;1425;p84"/>
          <p:cNvCxnSpPr/>
          <p:nvPr/>
        </p:nvCxnSpPr>
        <p:spPr>
          <a:xfrm flipH="1">
            <a:off x="4525332" y="1385090"/>
            <a:ext cx="0" cy="34359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29" name="Shape 1429"/>
        <p:cNvGrpSpPr/>
        <p:nvPr/>
      </p:nvGrpSpPr>
      <p:grpSpPr>
        <a:xfrm>
          <a:off x="0" y="0"/>
          <a:ext cx="0" cy="0"/>
        </a:xfrm>
      </p:grpSpPr>
      <p:sp>
        <p:nvSpPr>
          <p:cNvPr id="1430" name="Google Shape;1430;p85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Identifying arithmetic sequences</a:t>
            </a:r>
            <a:endParaRPr/>
          </a:p>
        </p:txBody>
      </p:sp>
      <p:grpSp>
        <p:nvGrpSpPr>
          <p:cNvPr id="1431" name="Google Shape;1431;p85"/>
          <p:cNvGrpSpPr/>
          <p:nvPr/>
        </p:nvGrpSpPr>
        <p:grpSpPr>
          <a:xfrm>
            <a:off x="664872" y="4036702"/>
            <a:ext cx="5605914" cy="417173"/>
            <a:chOff x="430854" y="3579502"/>
            <a:chExt cx="5605914" cy="417173"/>
          </a:xfrm>
        </p:grpSpPr>
        <p:sp>
          <p:nvSpPr>
            <p:cNvPr id="1432" name="Google Shape;1432;p85"/>
            <p:cNvSpPr/>
            <p:nvPr/>
          </p:nvSpPr>
          <p:spPr>
            <a:xfrm>
              <a:off x="430854" y="3579502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33" name="Google Shape;1433;p85"/>
            <p:cNvSpPr/>
            <p:nvPr/>
          </p:nvSpPr>
          <p:spPr>
            <a:xfrm>
              <a:off x="1327424" y="3588277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6</a:t>
              </a:r>
              <a:endParaRPr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434" name="Google Shape;1434;p85"/>
            <p:cNvSpPr/>
            <p:nvPr/>
          </p:nvSpPr>
          <p:spPr>
            <a:xfrm>
              <a:off x="2230934" y="3588265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4</a:t>
              </a:r>
              <a:endParaRPr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435" name="Google Shape;1435;p85"/>
            <p:cNvSpPr/>
            <p:nvPr/>
          </p:nvSpPr>
          <p:spPr>
            <a:xfrm>
              <a:off x="3091196" y="3588265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2</a:t>
              </a:r>
              <a:endParaRPr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436" name="Google Shape;1436;p85"/>
            <p:cNvSpPr txBox="1"/>
            <p:nvPr/>
          </p:nvSpPr>
          <p:spPr>
            <a:xfrm>
              <a:off x="1117278" y="3626775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37" name="Google Shape;1437;p85"/>
            <p:cNvSpPr txBox="1"/>
            <p:nvPr/>
          </p:nvSpPr>
          <p:spPr>
            <a:xfrm>
              <a:off x="2006248" y="3626775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38" name="Google Shape;1438;p85"/>
            <p:cNvSpPr txBox="1"/>
            <p:nvPr/>
          </p:nvSpPr>
          <p:spPr>
            <a:xfrm>
              <a:off x="2971949" y="3626775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39" name="Google Shape;1439;p85"/>
            <p:cNvSpPr txBox="1"/>
            <p:nvPr/>
          </p:nvSpPr>
          <p:spPr>
            <a:xfrm>
              <a:off x="5581068" y="3626775"/>
              <a:ext cx="4557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 …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40" name="Google Shape;1440;p85"/>
            <p:cNvSpPr/>
            <p:nvPr/>
          </p:nvSpPr>
          <p:spPr>
            <a:xfrm>
              <a:off x="3929396" y="3588265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0</a:t>
              </a:r>
              <a:endParaRPr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441" name="Google Shape;1441;p85"/>
            <p:cNvSpPr txBox="1"/>
            <p:nvPr/>
          </p:nvSpPr>
          <p:spPr>
            <a:xfrm>
              <a:off x="3810149" y="3626775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42" name="Google Shape;1442;p85"/>
            <p:cNvSpPr/>
            <p:nvPr/>
          </p:nvSpPr>
          <p:spPr>
            <a:xfrm>
              <a:off x="4843796" y="3588265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9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−</a:t>
              </a: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43" name="Google Shape;1443;p85"/>
            <p:cNvSpPr txBox="1"/>
            <p:nvPr/>
          </p:nvSpPr>
          <p:spPr>
            <a:xfrm>
              <a:off x="4648349" y="3626775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44" name="Google Shape;1444;p85"/>
          <p:cNvSpPr txBox="1"/>
          <p:nvPr>
            <p:ph type="body" idx="1"/>
          </p:nvPr>
        </p:nvSpPr>
        <p:spPr>
          <a:xfrm>
            <a:off x="324000" y="3470025"/>
            <a:ext cx="88200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No. For T</a:t>
            </a:r>
            <a:r>
              <a:rPr lang="en-GB" sz="2000" baseline="-25000">
                <a:latin typeface="Kalam"/>
                <a:ea typeface="Kalam"/>
                <a:cs typeface="Kalam"/>
                <a:sym typeface="Kalam"/>
              </a:rPr>
              <a:t>1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=4 and T</a:t>
            </a:r>
            <a:r>
              <a:rPr lang="en-GB" sz="2000" baseline="-25000"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=16 the rule is add 6. But that would make T</a:t>
            </a:r>
            <a:r>
              <a:rPr lang="en-GB" sz="2000" baseline="-25000">
                <a:latin typeface="Kalam"/>
                <a:ea typeface="Kalam"/>
                <a:cs typeface="Kalam"/>
                <a:sym typeface="Kalam"/>
              </a:rPr>
              <a:t>5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=28 not T</a:t>
            </a:r>
            <a:r>
              <a:rPr lang="en-GB" sz="2000" baseline="-25000">
                <a:latin typeface="Kalam"/>
                <a:ea typeface="Kalam"/>
                <a:cs typeface="Kalam"/>
                <a:sym typeface="Kalam"/>
              </a:rPr>
              <a:t>6</a:t>
            </a:r>
            <a:endParaRPr sz="2000" baseline="-25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45" name="Google Shape;1445;p85"/>
          <p:cNvSpPr txBox="1"/>
          <p:nvPr>
            <p:ph type="body" idx="1"/>
          </p:nvPr>
        </p:nvSpPr>
        <p:spPr>
          <a:xfrm>
            <a:off x="324000" y="757225"/>
            <a:ext cx="8496000" cy="86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55600" algn="l" rtl="0">
              <a:spcBef>
                <a:spcPct val="0"/>
              </a:spcBef>
              <a:spcAft>
                <a:spcPct val="0"/>
              </a:spcAft>
              <a:buSzPts val="2000"/>
              <a:buAutoNum type="arabicParenR"/>
            </a:pPr>
            <a:r>
              <a:rPr lang="en-GB" sz="2000"/>
              <a:t>For each set of terms, work out if they could form an </a:t>
            </a:r>
            <a:r>
              <a:rPr lang="en-GB" sz="2000" b="1"/>
              <a:t>arithmetic sequence</a:t>
            </a:r>
            <a:r>
              <a:rPr lang="en-GB" sz="2000"/>
              <a:t> or not. Explain your answer.</a:t>
            </a:r>
            <a:endParaRPr sz="2000"/>
          </a:p>
        </p:txBody>
      </p:sp>
      <p:grpSp>
        <p:nvGrpSpPr>
          <p:cNvPr id="1446" name="Google Shape;1446;p85"/>
          <p:cNvGrpSpPr/>
          <p:nvPr/>
        </p:nvGrpSpPr>
        <p:grpSpPr>
          <a:xfrm>
            <a:off x="664872" y="1742837"/>
            <a:ext cx="5605914" cy="417173"/>
            <a:chOff x="430854" y="1742837"/>
            <a:chExt cx="5605914" cy="417173"/>
          </a:xfrm>
        </p:grpSpPr>
        <p:sp>
          <p:nvSpPr>
            <p:cNvPr id="1447" name="Google Shape;1447;p85"/>
            <p:cNvSpPr/>
            <p:nvPr/>
          </p:nvSpPr>
          <p:spPr>
            <a:xfrm>
              <a:off x="430854" y="1742837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48" name="Google Shape;1448;p85"/>
            <p:cNvSpPr/>
            <p:nvPr/>
          </p:nvSpPr>
          <p:spPr>
            <a:xfrm>
              <a:off x="1327424" y="1751612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49" name="Google Shape;1449;p85"/>
            <p:cNvSpPr/>
            <p:nvPr/>
          </p:nvSpPr>
          <p:spPr>
            <a:xfrm>
              <a:off x="2230934" y="1751600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13</a:t>
              </a:r>
              <a:endParaRPr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450" name="Google Shape;1450;p85"/>
            <p:cNvSpPr/>
            <p:nvPr/>
          </p:nvSpPr>
          <p:spPr>
            <a:xfrm>
              <a:off x="3091196" y="1751600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17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51" name="Google Shape;1451;p85"/>
            <p:cNvSpPr txBox="1"/>
            <p:nvPr/>
          </p:nvSpPr>
          <p:spPr>
            <a:xfrm>
              <a:off x="1117278" y="1790110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52" name="Google Shape;1452;p85"/>
            <p:cNvSpPr txBox="1"/>
            <p:nvPr/>
          </p:nvSpPr>
          <p:spPr>
            <a:xfrm>
              <a:off x="2006248" y="1790110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53" name="Google Shape;1453;p85"/>
            <p:cNvSpPr txBox="1"/>
            <p:nvPr/>
          </p:nvSpPr>
          <p:spPr>
            <a:xfrm>
              <a:off x="2971949" y="1790110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54" name="Google Shape;1454;p85"/>
            <p:cNvSpPr txBox="1"/>
            <p:nvPr/>
          </p:nvSpPr>
          <p:spPr>
            <a:xfrm>
              <a:off x="5581068" y="1790110"/>
              <a:ext cx="4557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 …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55" name="Google Shape;1455;p85"/>
            <p:cNvSpPr/>
            <p:nvPr/>
          </p:nvSpPr>
          <p:spPr>
            <a:xfrm>
              <a:off x="3929396" y="1751600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21</a:t>
              </a:r>
              <a:endParaRPr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456" name="Google Shape;1456;p85"/>
            <p:cNvSpPr txBox="1"/>
            <p:nvPr/>
          </p:nvSpPr>
          <p:spPr>
            <a:xfrm>
              <a:off x="3810149" y="1790110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57" name="Google Shape;1457;p85"/>
            <p:cNvSpPr/>
            <p:nvPr/>
          </p:nvSpPr>
          <p:spPr>
            <a:xfrm>
              <a:off x="4843796" y="1751600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25 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58" name="Google Shape;1458;p85"/>
            <p:cNvSpPr txBox="1"/>
            <p:nvPr/>
          </p:nvSpPr>
          <p:spPr>
            <a:xfrm>
              <a:off x="4648349" y="1790110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59" name="Google Shape;1459;p85"/>
          <p:cNvGrpSpPr/>
          <p:nvPr/>
        </p:nvGrpSpPr>
        <p:grpSpPr>
          <a:xfrm>
            <a:off x="664872" y="2355059"/>
            <a:ext cx="5605914" cy="417173"/>
            <a:chOff x="430854" y="2428637"/>
            <a:chExt cx="5605914" cy="417173"/>
          </a:xfrm>
        </p:grpSpPr>
        <p:sp>
          <p:nvSpPr>
            <p:cNvPr id="1460" name="Google Shape;1460;p85"/>
            <p:cNvSpPr/>
            <p:nvPr/>
          </p:nvSpPr>
          <p:spPr>
            <a:xfrm>
              <a:off x="430854" y="2428637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0.1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61" name="Google Shape;1461;p85"/>
            <p:cNvSpPr/>
            <p:nvPr/>
          </p:nvSpPr>
          <p:spPr>
            <a:xfrm>
              <a:off x="1327424" y="2437412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0.15</a:t>
              </a:r>
              <a:endParaRPr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462" name="Google Shape;1462;p85"/>
            <p:cNvSpPr/>
            <p:nvPr/>
          </p:nvSpPr>
          <p:spPr>
            <a:xfrm>
              <a:off x="2230934" y="2437400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0.2</a:t>
              </a:r>
              <a:endParaRPr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463" name="Google Shape;1463;p85"/>
            <p:cNvSpPr/>
            <p:nvPr/>
          </p:nvSpPr>
          <p:spPr>
            <a:xfrm>
              <a:off x="3091196" y="2437400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0.25</a:t>
              </a:r>
              <a:endParaRPr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464" name="Google Shape;1464;p85"/>
            <p:cNvSpPr txBox="1"/>
            <p:nvPr/>
          </p:nvSpPr>
          <p:spPr>
            <a:xfrm>
              <a:off x="1117278" y="2475910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65" name="Google Shape;1465;p85"/>
            <p:cNvSpPr txBox="1"/>
            <p:nvPr/>
          </p:nvSpPr>
          <p:spPr>
            <a:xfrm>
              <a:off x="2006248" y="2475910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66" name="Google Shape;1466;p85"/>
            <p:cNvSpPr txBox="1"/>
            <p:nvPr/>
          </p:nvSpPr>
          <p:spPr>
            <a:xfrm>
              <a:off x="2971949" y="2475910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67" name="Google Shape;1467;p85"/>
            <p:cNvSpPr txBox="1"/>
            <p:nvPr/>
          </p:nvSpPr>
          <p:spPr>
            <a:xfrm>
              <a:off x="5581068" y="2475910"/>
              <a:ext cx="4557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 …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68" name="Google Shape;1468;p85"/>
            <p:cNvSpPr/>
            <p:nvPr/>
          </p:nvSpPr>
          <p:spPr>
            <a:xfrm>
              <a:off x="3929396" y="2437400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0.3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69" name="Google Shape;1469;p85"/>
            <p:cNvSpPr txBox="1"/>
            <p:nvPr/>
          </p:nvSpPr>
          <p:spPr>
            <a:xfrm>
              <a:off x="3810149" y="2475910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70" name="Google Shape;1470;p85"/>
            <p:cNvSpPr/>
            <p:nvPr/>
          </p:nvSpPr>
          <p:spPr>
            <a:xfrm>
              <a:off x="4843796" y="2437400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0.35</a:t>
              </a:r>
              <a:endParaRPr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471" name="Google Shape;1471;p85"/>
            <p:cNvSpPr txBox="1"/>
            <p:nvPr/>
          </p:nvSpPr>
          <p:spPr>
            <a:xfrm>
              <a:off x="4648349" y="2475910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72" name="Google Shape;1472;p85"/>
          <p:cNvGrpSpPr/>
          <p:nvPr/>
        </p:nvGrpSpPr>
        <p:grpSpPr>
          <a:xfrm>
            <a:off x="664872" y="2967280"/>
            <a:ext cx="5682114" cy="417173"/>
            <a:chOff x="430854" y="3038237"/>
            <a:chExt cx="5682114" cy="417173"/>
          </a:xfrm>
        </p:grpSpPr>
        <p:sp>
          <p:nvSpPr>
            <p:cNvPr id="1473" name="Google Shape;1473;p85"/>
            <p:cNvSpPr/>
            <p:nvPr/>
          </p:nvSpPr>
          <p:spPr>
            <a:xfrm>
              <a:off x="430854" y="3038237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74" name="Google Shape;1474;p85"/>
            <p:cNvSpPr/>
            <p:nvPr/>
          </p:nvSpPr>
          <p:spPr>
            <a:xfrm>
              <a:off x="1327424" y="3047012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75" name="Google Shape;1475;p85"/>
            <p:cNvSpPr/>
            <p:nvPr/>
          </p:nvSpPr>
          <p:spPr>
            <a:xfrm>
              <a:off x="2230934" y="3047000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16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76" name="Google Shape;1476;p85"/>
            <p:cNvSpPr/>
            <p:nvPr/>
          </p:nvSpPr>
          <p:spPr>
            <a:xfrm>
              <a:off x="3091196" y="3047000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77" name="Google Shape;1477;p85"/>
            <p:cNvSpPr txBox="1"/>
            <p:nvPr/>
          </p:nvSpPr>
          <p:spPr>
            <a:xfrm>
              <a:off x="1117278" y="3085510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78" name="Google Shape;1478;p85"/>
            <p:cNvSpPr txBox="1"/>
            <p:nvPr/>
          </p:nvSpPr>
          <p:spPr>
            <a:xfrm>
              <a:off x="2006248" y="3085510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79" name="Google Shape;1479;p85"/>
            <p:cNvSpPr txBox="1"/>
            <p:nvPr/>
          </p:nvSpPr>
          <p:spPr>
            <a:xfrm>
              <a:off x="2971949" y="3085510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80" name="Google Shape;1480;p85"/>
            <p:cNvSpPr txBox="1"/>
            <p:nvPr/>
          </p:nvSpPr>
          <p:spPr>
            <a:xfrm>
              <a:off x="5657268" y="3085510"/>
              <a:ext cx="4557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 …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81" name="Google Shape;1481;p85"/>
            <p:cNvSpPr/>
            <p:nvPr/>
          </p:nvSpPr>
          <p:spPr>
            <a:xfrm>
              <a:off x="3929396" y="3047000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82" name="Google Shape;1482;p85"/>
            <p:cNvSpPr txBox="1"/>
            <p:nvPr/>
          </p:nvSpPr>
          <p:spPr>
            <a:xfrm>
              <a:off x="3810149" y="3085510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83" name="Google Shape;1483;p85"/>
            <p:cNvSpPr/>
            <p:nvPr/>
          </p:nvSpPr>
          <p:spPr>
            <a:xfrm>
              <a:off x="4843796" y="3047000"/>
              <a:ext cx="635400" cy="3105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28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84" name="Google Shape;1484;p85"/>
            <p:cNvSpPr txBox="1"/>
            <p:nvPr/>
          </p:nvSpPr>
          <p:spPr>
            <a:xfrm>
              <a:off x="4648349" y="3085510"/>
              <a:ext cx="1515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,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85" name="Google Shape;1485;p85"/>
          <p:cNvSpPr txBox="1"/>
          <p:nvPr>
            <p:ph type="body" idx="1"/>
          </p:nvPr>
        </p:nvSpPr>
        <p:spPr>
          <a:xfrm>
            <a:off x="6144441" y="1779622"/>
            <a:ext cx="2777100" cy="41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Yes. Add 4 each time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86" name="Google Shape;1486;p85"/>
          <p:cNvSpPr txBox="1"/>
          <p:nvPr>
            <p:ph type="body" idx="1"/>
          </p:nvPr>
        </p:nvSpPr>
        <p:spPr>
          <a:xfrm>
            <a:off x="6144441" y="2399691"/>
            <a:ext cx="26964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Yes. Add 0.05 each time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87" name="Google Shape;1487;p85"/>
          <p:cNvSpPr txBox="1"/>
          <p:nvPr>
            <p:ph type="body" idx="1"/>
          </p:nvPr>
        </p:nvSpPr>
        <p:spPr>
          <a:xfrm>
            <a:off x="6144441" y="4068600"/>
            <a:ext cx="26964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Yes. Add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each time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488" name="Google Shape;1488;p85"/>
          <p:cNvGraphicFramePr>
            <a:graphicFrameLocks noGrp="1"/>
          </p:cNvGraphicFramePr>
          <p:nvPr/>
        </p:nvGraphicFramePr>
        <p:xfrm>
          <a:off x="271394" y="162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{E94B1F7C-D626-4EB4-874A-6446D225D414}</a:tableStyleId>
              </a:tblPr>
              <a:tblGrid>
                <a:gridCol w="693500"/>
              </a:tblGrid>
              <a:tr h="6250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250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250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7345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92" name="Shape 1492"/>
        <p:cNvGrpSpPr/>
        <p:nvPr/>
      </p:nvGrpSpPr>
      <p:grpSpPr>
        <a:xfrm>
          <a:off x="0" y="0"/>
          <a:ext cx="0" cy="0"/>
        </a:xfrm>
      </p:grpSpPr>
      <p:sp>
        <p:nvSpPr>
          <p:cNvPr id="1493" name="Google Shape;1493;p86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Identifying arithmetic sequences</a:t>
            </a:r>
            <a:endParaRPr/>
          </a:p>
        </p:txBody>
      </p:sp>
      <p:sp>
        <p:nvSpPr>
          <p:cNvPr id="1494" name="Google Shape;1494;p86"/>
          <p:cNvSpPr/>
          <p:nvPr/>
        </p:nvSpPr>
        <p:spPr>
          <a:xfrm>
            <a:off x="811850" y="1691950"/>
            <a:ext cx="635400" cy="6258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5" name="Google Shape;1495;p86"/>
          <p:cNvSpPr/>
          <p:nvPr/>
        </p:nvSpPr>
        <p:spPr>
          <a:xfrm>
            <a:off x="1708422" y="1709642"/>
            <a:ext cx="635400" cy="6258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6" name="Google Shape;1496;p86"/>
          <p:cNvSpPr/>
          <p:nvPr/>
        </p:nvSpPr>
        <p:spPr>
          <a:xfrm>
            <a:off x="2611933" y="1709618"/>
            <a:ext cx="635400" cy="6258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7" name="Google Shape;1497;p86"/>
          <p:cNvSpPr/>
          <p:nvPr/>
        </p:nvSpPr>
        <p:spPr>
          <a:xfrm>
            <a:off x="3472197" y="1709618"/>
            <a:ext cx="635400" cy="6258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8" name="Google Shape;1498;p86"/>
          <p:cNvSpPr txBox="1"/>
          <p:nvPr/>
        </p:nvSpPr>
        <p:spPr>
          <a:xfrm>
            <a:off x="1498275" y="1769672"/>
            <a:ext cx="151500" cy="6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9" name="Google Shape;1499;p86"/>
          <p:cNvSpPr txBox="1"/>
          <p:nvPr/>
        </p:nvSpPr>
        <p:spPr>
          <a:xfrm>
            <a:off x="2387247" y="1769672"/>
            <a:ext cx="151500" cy="6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0" name="Google Shape;1500;p86"/>
          <p:cNvSpPr txBox="1"/>
          <p:nvPr/>
        </p:nvSpPr>
        <p:spPr>
          <a:xfrm>
            <a:off x="3352950" y="1769672"/>
            <a:ext cx="151500" cy="6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1" name="Google Shape;1501;p86"/>
          <p:cNvSpPr txBox="1"/>
          <p:nvPr/>
        </p:nvSpPr>
        <p:spPr>
          <a:xfrm>
            <a:off x="6038274" y="1753322"/>
            <a:ext cx="455700" cy="6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…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2" name="Google Shape;1502;p86"/>
          <p:cNvSpPr/>
          <p:nvPr/>
        </p:nvSpPr>
        <p:spPr>
          <a:xfrm>
            <a:off x="4310400" y="1706378"/>
            <a:ext cx="635400" cy="6258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3" name="Google Shape;1503;p86"/>
          <p:cNvSpPr txBox="1"/>
          <p:nvPr/>
        </p:nvSpPr>
        <p:spPr>
          <a:xfrm>
            <a:off x="4191152" y="1769672"/>
            <a:ext cx="151500" cy="6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4" name="Google Shape;1504;p86"/>
          <p:cNvSpPr/>
          <p:nvPr/>
        </p:nvSpPr>
        <p:spPr>
          <a:xfrm>
            <a:off x="5224800" y="1709618"/>
            <a:ext cx="635400" cy="6258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5" name="Google Shape;1505;p86"/>
          <p:cNvSpPr txBox="1"/>
          <p:nvPr/>
        </p:nvSpPr>
        <p:spPr>
          <a:xfrm>
            <a:off x="5029353" y="1769672"/>
            <a:ext cx="151500" cy="6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06" name="Google Shape;1506;p86" descr="&lt;math xmlns=&quot;http://www.w3.org/1998/Math/MathML&quot; display=&quot;block&quot; data-is-equatio=&quot;1&quot; data-latex=&quot;2&quot;&gt;&lt;mn&gt;2&lt;/mn&gt;&lt;/math&gt;" title="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2869" y="1910612"/>
            <a:ext cx="151500" cy="22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7" name="Google Shape;1507;p86" descr="&lt;math xmlns=&quot;http://www.w3.org/1998/Math/MathML&quot; display=&quot;block&quot; data-is-equatio=&quot;1&quot; data-latex=&quot;2\frac{1}{2}&quot;&gt;&lt;mn&gt;2&lt;/mn&gt;&lt;mfrac&gt;&lt;mn&gt;1&lt;/mn&gt;&lt;mn&gt;2&lt;/mn&gt;&lt;/mfrac&gt;&lt;/math&gt;" title="2 and 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0356" y="1717310"/>
            <a:ext cx="342000" cy="577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8" name="Google Shape;1508;p86" descr="&lt;math xmlns=&quot;http://www.w3.org/1998/Math/MathML&quot; display=&quot;block&quot; data-is-equatio=&quot;1&quot; data-latex=&quot;2\frac{1}{2}=\frac{15}{6}&quot;&gt;&lt;mn&gt;2&lt;/mn&gt;&lt;mfrac&gt;&lt;mn&gt;1&lt;/mn&gt;&lt;mn&gt;2&lt;/mn&gt;&lt;/mfrac&gt;&lt;mo&gt;=&lt;/mo&gt;&lt;mfrac&gt;&lt;mn&gt;15&lt;/mn&gt;&lt;mn&gt;6&lt;/mn&gt;&lt;/mfrac&gt;&lt;/math&gt;" title="2 and one half equals fifteen six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9442" y="2483862"/>
            <a:ext cx="895750" cy="486901"/>
          </a:xfrm>
          <a:prstGeom prst="rect">
            <a:avLst/>
          </a:prstGeom>
          <a:noFill/>
          <a:ln>
            <a:noFill/>
          </a:ln>
        </p:spPr>
      </p:pic>
      <p:sp>
        <p:nvSpPr>
          <p:cNvPr id="1509" name="Google Shape;1509;p86"/>
          <p:cNvSpPr txBox="1"/>
          <p:nvPr>
            <p:ph type="body" idx="1"/>
          </p:nvPr>
        </p:nvSpPr>
        <p:spPr>
          <a:xfrm>
            <a:off x="354650" y="759300"/>
            <a:ext cx="8465400" cy="86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55600" algn="l" rtl="0">
              <a:spcBef>
                <a:spcPct val="0"/>
              </a:spcBef>
              <a:spcAft>
                <a:spcPct val="0"/>
              </a:spcAft>
              <a:buSzPts val="2000"/>
              <a:buAutoNum type="arabicParenR"/>
            </a:pPr>
            <a:r>
              <a:rPr lang="en-GB" sz="2000"/>
              <a:t>For each set of terms, work out if they could form an </a:t>
            </a:r>
            <a:r>
              <a:rPr lang="en-GB" sz="2000" b="1"/>
              <a:t>arithmetic sequence</a:t>
            </a:r>
            <a:r>
              <a:rPr lang="en-GB" sz="2000"/>
              <a:t> or not. Explain your answer.</a:t>
            </a:r>
            <a:endParaRPr sz="2000"/>
          </a:p>
        </p:txBody>
      </p:sp>
      <p:pic>
        <p:nvPicPr>
          <p:cNvPr id="1510" name="Google Shape;1510;p86" descr="&lt;math xmlns=&quot;http://www.w3.org/1998/Math/MathML&quot; display=&quot;block&quot; data-is-equatio=&quot;1&quot; data-latex=&quot;2=\frac{12}{6}&quot;&gt;&lt;mn&gt;2&lt;/mn&gt;&lt;mo&gt;=&lt;/mo&gt;&lt;mfrac&gt;&lt;mn&gt;12&lt;/mn&gt;&lt;mn&gt;6&lt;/mn&gt;&lt;/mfrac&gt;&lt;/math&gt;" title="2 equals twelve six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11800" y="2483862"/>
            <a:ext cx="771993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1" name="Google Shape;1511;p86"/>
          <p:cNvSpPr/>
          <p:nvPr/>
        </p:nvSpPr>
        <p:spPr>
          <a:xfrm>
            <a:off x="811850" y="3292150"/>
            <a:ext cx="635400" cy="6258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2" name="Google Shape;1512;p86"/>
          <p:cNvSpPr/>
          <p:nvPr/>
        </p:nvSpPr>
        <p:spPr>
          <a:xfrm>
            <a:off x="1708422" y="3309842"/>
            <a:ext cx="635400" cy="6258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3" name="Google Shape;1513;p86"/>
          <p:cNvSpPr/>
          <p:nvPr/>
        </p:nvSpPr>
        <p:spPr>
          <a:xfrm>
            <a:off x="2611933" y="3309818"/>
            <a:ext cx="635400" cy="6258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4" name="Google Shape;1514;p86"/>
          <p:cNvSpPr/>
          <p:nvPr/>
        </p:nvSpPr>
        <p:spPr>
          <a:xfrm>
            <a:off x="3472197" y="3309818"/>
            <a:ext cx="635400" cy="6258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5" name="Google Shape;1515;p86"/>
          <p:cNvSpPr txBox="1"/>
          <p:nvPr/>
        </p:nvSpPr>
        <p:spPr>
          <a:xfrm>
            <a:off x="1498275" y="3369872"/>
            <a:ext cx="151500" cy="6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6" name="Google Shape;1516;p86"/>
          <p:cNvSpPr txBox="1"/>
          <p:nvPr/>
        </p:nvSpPr>
        <p:spPr>
          <a:xfrm>
            <a:off x="2387247" y="3369872"/>
            <a:ext cx="151500" cy="6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7" name="Google Shape;1517;p86"/>
          <p:cNvSpPr txBox="1"/>
          <p:nvPr/>
        </p:nvSpPr>
        <p:spPr>
          <a:xfrm>
            <a:off x="3352950" y="3369872"/>
            <a:ext cx="151500" cy="6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8" name="Google Shape;1518;p86"/>
          <p:cNvSpPr txBox="1"/>
          <p:nvPr/>
        </p:nvSpPr>
        <p:spPr>
          <a:xfrm>
            <a:off x="6038274" y="3353522"/>
            <a:ext cx="455700" cy="6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…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9" name="Google Shape;1519;p86"/>
          <p:cNvSpPr/>
          <p:nvPr/>
        </p:nvSpPr>
        <p:spPr>
          <a:xfrm>
            <a:off x="4310400" y="3306578"/>
            <a:ext cx="635400" cy="6258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0" name="Google Shape;1520;p86"/>
          <p:cNvSpPr txBox="1"/>
          <p:nvPr/>
        </p:nvSpPr>
        <p:spPr>
          <a:xfrm>
            <a:off x="4191152" y="3369872"/>
            <a:ext cx="151500" cy="6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1" name="Google Shape;1521;p86"/>
          <p:cNvSpPr/>
          <p:nvPr/>
        </p:nvSpPr>
        <p:spPr>
          <a:xfrm>
            <a:off x="5224800" y="3309818"/>
            <a:ext cx="635400" cy="6258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2" name="Google Shape;1522;p86"/>
          <p:cNvSpPr txBox="1"/>
          <p:nvPr/>
        </p:nvSpPr>
        <p:spPr>
          <a:xfrm>
            <a:off x="5029353" y="3369872"/>
            <a:ext cx="151500" cy="6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23" name="Google Shape;1523;p86" descr="&lt;math xmlns=&quot;http://www.w3.org/1998/Math/MathML&quot; display=&quot;block&quot; data-is-equatio=&quot;1&quot; data-latex=&quot;\frac{15}{6}&quot;&gt;&lt;mfrac&gt;&lt;mn&gt;15&lt;/mn&gt;&lt;mn&gt;6&lt;/mn&gt;&lt;/mfrac&gt;&lt;/math&gt;" title="fifteen six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71150" y="3317038"/>
            <a:ext cx="316800" cy="57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4" name="Google Shape;1524;p86" descr="&lt;math xmlns=&quot;http://www.w3.org/1998/Math/MathML&quot; display=&quot;block&quot; data-is-equatio=&quot;1&quot; data-latex=&quot;\frac{14}{6}&quot;&gt;&lt;mfrac&gt;&lt;mn&gt;14&lt;/mn&gt;&lt;mn&gt;6&lt;/mn&gt;&lt;/mfrac&gt;&lt;/math&gt;" title="fourteen sixth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860100" y="3345975"/>
            <a:ext cx="316800" cy="57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5" name="Google Shape;1525;p86" descr="&lt;math xmlns=&quot;http://www.w3.org/1998/Math/MathML&quot; display=&quot;block&quot; data-is-equatio=&quot;1&quot; data-latex=&quot;\frac{13}{6}&quot;&gt;&lt;mfrac&gt;&lt;mn&gt;13&lt;/mn&gt;&lt;mn&gt;6&lt;/mn&gt;&lt;/mfrac&gt;&lt;/math&gt;" title="thirteen sixth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787450" y="3334738"/>
            <a:ext cx="316800" cy="57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6" name="Google Shape;1526;p86" descr="&lt;math xmlns=&quot;http://www.w3.org/1998/Math/MathML&quot; display=&quot;block&quot; data-is-equatio=&quot;1&quot; data-latex=&quot;\frac{12}{6}&quot;&gt;&lt;mfrac&gt;&lt;mn&gt;12&lt;/mn&gt;&lt;mn&gt;6&lt;/mn&gt;&lt;/mfrac&gt;&lt;/math&gt;" title="twelve sixth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25650" y="3334738"/>
            <a:ext cx="316800" cy="57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7" name="Google Shape;1527;p86" descr="&lt;math xmlns=&quot;http://www.w3.org/1998/Math/MathML&quot; display=&quot;block&quot; data-is-equatio=&quot;1&quot; data-latex=&quot;\frac{5}{3}&quot;&gt;&lt;mfrac&gt;&lt;mn&gt;5&lt;/mn&gt;&lt;mn&gt;3&lt;/mn&gt;&lt;/mfrac&gt;&lt;/math&gt;" title="five thirds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449271" y="1738474"/>
            <a:ext cx="180706" cy="57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8" name="Google Shape;1528;p86" descr="&lt;math xmlns=&quot;http://www.w3.org/1998/Math/MathML&quot; display=&quot;block&quot; data-is-equatio=&quot;1&quot; data-latex=&quot;\frac{5}{3}=\frac{10}{6}&quot;&gt;&lt;mfrac&gt;&lt;mn&gt;5&lt;/mn&gt;&lt;mn&gt;3&lt;/mn&gt;&lt;/mfrac&gt;&lt;mo&gt;=&lt;/mo&gt;&lt;mfrac&gt;&lt;mn&gt;10&lt;/mn&gt;&lt;mn&gt;6&lt;/mn&gt;&lt;/mfrac&gt;&lt;/math&gt;" title="five thirds equals ten sixths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187200" y="2483862"/>
            <a:ext cx="825425" cy="53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9" name="Google Shape;1529;p86" descr="&lt;math xmlns=&quot;http://www.w3.org/1998/Math/MathML&quot; display=&quot;block&quot; data-is-equatio=&quot;1&quot; data-latex=&quot;\frac{11}{6}&quot;&gt;&lt;mfrac&gt;&lt;mn&gt;11&lt;/mn&gt;&lt;mn&gt;6&lt;/mn&gt;&lt;/mfrac&gt;&lt;/math&gt;" title="eleven sixths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482257" y="3345968"/>
            <a:ext cx="316800" cy="57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0" name="Google Shape;1530;p86" descr="&lt;math xmlns=&quot;http://www.w3.org/1998/Math/MathML&quot; display=&quot;block&quot; data-is-equatio=&quot;1&quot; data-latex=&quot;\frac{10}{6}&quot;&gt;&lt;mfrac&gt;&lt;mn&gt;10&lt;/mn&gt;&lt;mn&gt;6&lt;/mn&gt;&lt;/mfrac&gt;&lt;/math&gt;" title="ten sixths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384100" y="3345963"/>
            <a:ext cx="316800" cy="57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1" name="Google Shape;1531;p86"/>
          <p:cNvSpPr txBox="1"/>
          <p:nvPr>
            <p:ph type="body" idx="1"/>
          </p:nvPr>
        </p:nvSpPr>
        <p:spPr>
          <a:xfrm>
            <a:off x="775800" y="4383175"/>
            <a:ext cx="26964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Yes. Add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    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each time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532" name="Google Shape;1532;p86" descr="&lt;math xmlns=&quot;http://www.w3.org/1998/Math/MathML&quot; display=&quot;block&quot; data-is-equatio=&quot;1&quot; data-latex=&quot;-\frac{1}{6}&quot;&gt;&lt;mo&gt;−&lt;/mo&gt;&lt;mfrac&gt;&lt;mn&gt;1&lt;/mn&gt;&lt;mn&gt;6&lt;/mn&gt;&lt;/mfrac&gt;&lt;/math&gt;" title="negative one sixth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828215" y="4242439"/>
            <a:ext cx="357750" cy="540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33" name="Google Shape;1533;p86"/>
          <p:cNvGraphicFramePr>
            <a:graphicFrameLocks noGrp="1"/>
          </p:cNvGraphicFramePr>
          <p:nvPr/>
        </p:nvGraphicFramePr>
        <p:xfrm>
          <a:off x="271394" y="162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{E94B1F7C-D626-4EB4-874A-6446D225D414}</a:tableStyleId>
              </a:tblPr>
              <a:tblGrid>
                <a:gridCol w="693500"/>
              </a:tblGrid>
              <a:tr h="6250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37" name="Shape 1537"/>
        <p:cNvGrpSpPr/>
        <p:nvPr/>
      </p:nvGrpSpPr>
      <p:grpSpPr>
        <a:xfrm>
          <a:off x="0" y="0"/>
          <a:ext cx="0" cy="0"/>
        </a:xfrm>
      </p:grpSpPr>
      <p:sp>
        <p:nvSpPr>
          <p:cNvPr id="1538" name="Google Shape;1538;p87"/>
          <p:cNvSpPr txBox="1"/>
          <p:nvPr>
            <p:ph type="body" idx="1"/>
          </p:nvPr>
        </p:nvSpPr>
        <p:spPr>
          <a:xfrm>
            <a:off x="324000" y="599044"/>
            <a:ext cx="84960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For each sequence work out the perimeter and area of each term and state whether they form a </a:t>
            </a:r>
            <a:r>
              <a:rPr lang="en-GB" sz="1800" b="1"/>
              <a:t>linear sequence</a:t>
            </a:r>
            <a:r>
              <a:rPr lang="en-GB" sz="1800"/>
              <a:t> or not.</a:t>
            </a:r>
            <a:endParaRPr sz="1800"/>
          </a:p>
        </p:txBody>
      </p:sp>
      <p:sp>
        <p:nvSpPr>
          <p:cNvPr id="1539" name="Google Shape;1539;p87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Identifying arithmetic sequences</a:t>
            </a:r>
            <a:endParaRPr/>
          </a:p>
        </p:txBody>
      </p:sp>
      <p:sp>
        <p:nvSpPr>
          <p:cNvPr id="1540" name="Google Shape;1540;p87"/>
          <p:cNvSpPr/>
          <p:nvPr/>
        </p:nvSpPr>
        <p:spPr>
          <a:xfrm>
            <a:off x="797825" y="1751919"/>
            <a:ext cx="331200" cy="2925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1" name="Google Shape;1541;p87"/>
          <p:cNvSpPr/>
          <p:nvPr/>
        </p:nvSpPr>
        <p:spPr>
          <a:xfrm>
            <a:off x="1791779" y="1751919"/>
            <a:ext cx="661800" cy="2925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2" name="Google Shape;1542;p87"/>
          <p:cNvSpPr/>
          <p:nvPr/>
        </p:nvSpPr>
        <p:spPr>
          <a:xfrm>
            <a:off x="3163378" y="1751919"/>
            <a:ext cx="993000" cy="2925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3" name="Google Shape;1543;p87"/>
          <p:cNvSpPr/>
          <p:nvPr/>
        </p:nvSpPr>
        <p:spPr>
          <a:xfrm>
            <a:off x="5357400" y="1672867"/>
            <a:ext cx="300900" cy="289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4" name="Google Shape;1544;p87"/>
          <p:cNvSpPr/>
          <p:nvPr/>
        </p:nvSpPr>
        <p:spPr>
          <a:xfrm>
            <a:off x="6352393" y="1567394"/>
            <a:ext cx="504000" cy="4872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5" name="Google Shape;1545;p87"/>
          <p:cNvSpPr/>
          <p:nvPr/>
        </p:nvSpPr>
        <p:spPr>
          <a:xfrm>
            <a:off x="7611646" y="1414994"/>
            <a:ext cx="720000" cy="6987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546" name="Google Shape;1546;p87"/>
          <p:cNvGraphicFramePr>
            <a:graphicFrameLocks noGrp="1"/>
          </p:cNvGraphicFramePr>
          <p:nvPr/>
        </p:nvGraphicFramePr>
        <p:xfrm>
          <a:off x="390775" y="21985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{E94B1F7C-D626-4EB4-874A-6446D225D414}</a:tableStyleId>
              </a:tblPr>
              <a:tblGrid>
                <a:gridCol w="1612050"/>
                <a:gridCol w="590275"/>
                <a:gridCol w="608750"/>
                <a:gridCol w="584775"/>
              </a:tblGrid>
              <a:tr h="2697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Term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697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Perimeter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648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Area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547" name="Google Shape;1547;p87"/>
          <p:cNvSpPr txBox="1"/>
          <p:nvPr/>
        </p:nvSpPr>
        <p:spPr>
          <a:xfrm>
            <a:off x="1182653" y="1751929"/>
            <a:ext cx="1515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8" name="Google Shape;1548;p87"/>
          <p:cNvSpPr txBox="1"/>
          <p:nvPr/>
        </p:nvSpPr>
        <p:spPr>
          <a:xfrm>
            <a:off x="2513093" y="1751929"/>
            <a:ext cx="1515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9" name="Google Shape;1549;p87"/>
          <p:cNvSpPr txBox="1"/>
          <p:nvPr/>
        </p:nvSpPr>
        <p:spPr>
          <a:xfrm>
            <a:off x="4257711" y="1751917"/>
            <a:ext cx="4557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,…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50" name="Google Shape;1550;p87"/>
          <p:cNvCxnSpPr/>
          <p:nvPr/>
        </p:nvCxnSpPr>
        <p:spPr>
          <a:xfrm>
            <a:off x="795375" y="1675182"/>
            <a:ext cx="314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551" name="Google Shape;1551;p87"/>
          <p:cNvCxnSpPr/>
          <p:nvPr/>
        </p:nvCxnSpPr>
        <p:spPr>
          <a:xfrm rot="5400000">
            <a:off x="578985" y="1913263"/>
            <a:ext cx="314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552" name="Google Shape;1552;p87"/>
          <p:cNvSpPr txBox="1"/>
          <p:nvPr>
            <p:ph type="body" idx="1"/>
          </p:nvPr>
        </p:nvSpPr>
        <p:spPr>
          <a:xfrm>
            <a:off x="795375" y="1385394"/>
            <a:ext cx="455700" cy="28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2m</a:t>
            </a:r>
            <a:endParaRPr sz="1800"/>
          </a:p>
        </p:txBody>
      </p:sp>
      <p:sp>
        <p:nvSpPr>
          <p:cNvPr id="1553" name="Google Shape;1553;p87"/>
          <p:cNvSpPr txBox="1"/>
          <p:nvPr>
            <p:ph type="body" idx="1"/>
          </p:nvPr>
        </p:nvSpPr>
        <p:spPr>
          <a:xfrm>
            <a:off x="339675" y="1764269"/>
            <a:ext cx="396600" cy="28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2m</a:t>
            </a:r>
            <a:endParaRPr sz="1800"/>
          </a:p>
        </p:txBody>
      </p:sp>
      <p:cxnSp>
        <p:nvCxnSpPr>
          <p:cNvPr id="1554" name="Google Shape;1554;p87"/>
          <p:cNvCxnSpPr/>
          <p:nvPr/>
        </p:nvCxnSpPr>
        <p:spPr>
          <a:xfrm rot="5400000">
            <a:off x="1574947" y="1909176"/>
            <a:ext cx="314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555" name="Google Shape;1555;p87"/>
          <p:cNvCxnSpPr/>
          <p:nvPr/>
        </p:nvCxnSpPr>
        <p:spPr>
          <a:xfrm>
            <a:off x="1785993" y="1675182"/>
            <a:ext cx="67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556" name="Google Shape;1556;p87"/>
          <p:cNvSpPr txBox="1"/>
          <p:nvPr>
            <p:ph type="body" idx="1"/>
          </p:nvPr>
        </p:nvSpPr>
        <p:spPr>
          <a:xfrm>
            <a:off x="1938387" y="1385394"/>
            <a:ext cx="661800" cy="241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3m</a:t>
            </a:r>
            <a:endParaRPr sz="1800"/>
          </a:p>
        </p:txBody>
      </p:sp>
      <p:cxnSp>
        <p:nvCxnSpPr>
          <p:cNvPr id="1557" name="Google Shape;1557;p87"/>
          <p:cNvCxnSpPr/>
          <p:nvPr/>
        </p:nvCxnSpPr>
        <p:spPr>
          <a:xfrm rot="5400000">
            <a:off x="2912117" y="1909176"/>
            <a:ext cx="314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558" name="Google Shape;1558;p87"/>
          <p:cNvCxnSpPr/>
          <p:nvPr/>
        </p:nvCxnSpPr>
        <p:spPr>
          <a:xfrm>
            <a:off x="3123163" y="1675182"/>
            <a:ext cx="1032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559" name="Google Shape;1559;p87"/>
          <p:cNvSpPr txBox="1"/>
          <p:nvPr>
            <p:ph type="body" idx="1"/>
          </p:nvPr>
        </p:nvSpPr>
        <p:spPr>
          <a:xfrm>
            <a:off x="3427957" y="1385394"/>
            <a:ext cx="661800" cy="241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4m</a:t>
            </a:r>
            <a:endParaRPr sz="1800"/>
          </a:p>
        </p:txBody>
      </p:sp>
      <p:sp>
        <p:nvSpPr>
          <p:cNvPr id="1560" name="Google Shape;1560;p87"/>
          <p:cNvSpPr txBox="1"/>
          <p:nvPr>
            <p:ph type="body" idx="1"/>
          </p:nvPr>
        </p:nvSpPr>
        <p:spPr>
          <a:xfrm>
            <a:off x="1359287" y="1764269"/>
            <a:ext cx="396600" cy="28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2m</a:t>
            </a:r>
            <a:endParaRPr sz="1800"/>
          </a:p>
        </p:txBody>
      </p:sp>
      <p:sp>
        <p:nvSpPr>
          <p:cNvPr id="1561" name="Google Shape;1561;p87"/>
          <p:cNvSpPr txBox="1"/>
          <p:nvPr>
            <p:ph type="body" idx="1"/>
          </p:nvPr>
        </p:nvSpPr>
        <p:spPr>
          <a:xfrm>
            <a:off x="2696457" y="1764269"/>
            <a:ext cx="396600" cy="28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2m</a:t>
            </a:r>
            <a:endParaRPr sz="1800"/>
          </a:p>
        </p:txBody>
      </p:sp>
      <p:cxnSp>
        <p:nvCxnSpPr>
          <p:cNvPr id="1562" name="Google Shape;1562;p87"/>
          <p:cNvCxnSpPr/>
          <p:nvPr/>
        </p:nvCxnSpPr>
        <p:spPr>
          <a:xfrm>
            <a:off x="5346228" y="1598982"/>
            <a:ext cx="314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563" name="Google Shape;1563;p87"/>
          <p:cNvCxnSpPr/>
          <p:nvPr/>
        </p:nvCxnSpPr>
        <p:spPr>
          <a:xfrm rot="5400000">
            <a:off x="5129838" y="1837063"/>
            <a:ext cx="314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564" name="Google Shape;1564;p87"/>
          <p:cNvSpPr txBox="1"/>
          <p:nvPr>
            <p:ph type="body" idx="1"/>
          </p:nvPr>
        </p:nvSpPr>
        <p:spPr>
          <a:xfrm>
            <a:off x="5346228" y="1309194"/>
            <a:ext cx="455700" cy="28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2m</a:t>
            </a:r>
            <a:endParaRPr sz="1800"/>
          </a:p>
        </p:txBody>
      </p:sp>
      <p:sp>
        <p:nvSpPr>
          <p:cNvPr id="1565" name="Google Shape;1565;p87"/>
          <p:cNvSpPr txBox="1"/>
          <p:nvPr>
            <p:ph type="body" idx="1"/>
          </p:nvPr>
        </p:nvSpPr>
        <p:spPr>
          <a:xfrm>
            <a:off x="4890528" y="1688069"/>
            <a:ext cx="396600" cy="28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2m</a:t>
            </a:r>
            <a:endParaRPr sz="1800"/>
          </a:p>
        </p:txBody>
      </p:sp>
      <p:cxnSp>
        <p:nvCxnSpPr>
          <p:cNvPr id="1566" name="Google Shape;1566;p87"/>
          <p:cNvCxnSpPr/>
          <p:nvPr/>
        </p:nvCxnSpPr>
        <p:spPr>
          <a:xfrm>
            <a:off x="6328963" y="1470176"/>
            <a:ext cx="535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567" name="Google Shape;1567;p87"/>
          <p:cNvCxnSpPr/>
          <p:nvPr/>
        </p:nvCxnSpPr>
        <p:spPr>
          <a:xfrm flipH="1">
            <a:off x="6269923" y="1550907"/>
            <a:ext cx="0" cy="483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568" name="Google Shape;1568;p87"/>
          <p:cNvSpPr txBox="1"/>
          <p:nvPr>
            <p:ph type="body" idx="1"/>
          </p:nvPr>
        </p:nvSpPr>
        <p:spPr>
          <a:xfrm>
            <a:off x="6376550" y="1173493"/>
            <a:ext cx="455700" cy="241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3m</a:t>
            </a:r>
            <a:endParaRPr sz="1800"/>
          </a:p>
        </p:txBody>
      </p:sp>
      <p:sp>
        <p:nvSpPr>
          <p:cNvPr id="1569" name="Google Shape;1569;p87"/>
          <p:cNvSpPr txBox="1"/>
          <p:nvPr>
            <p:ph type="body" idx="1"/>
          </p:nvPr>
        </p:nvSpPr>
        <p:spPr>
          <a:xfrm>
            <a:off x="5849300" y="1619444"/>
            <a:ext cx="396600" cy="28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3m</a:t>
            </a:r>
            <a:endParaRPr sz="1800"/>
          </a:p>
        </p:txBody>
      </p:sp>
      <p:cxnSp>
        <p:nvCxnSpPr>
          <p:cNvPr id="1570" name="Google Shape;1570;p87"/>
          <p:cNvCxnSpPr/>
          <p:nvPr/>
        </p:nvCxnSpPr>
        <p:spPr>
          <a:xfrm>
            <a:off x="7611655" y="1338675"/>
            <a:ext cx="720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571" name="Google Shape;1571;p87"/>
          <p:cNvSpPr txBox="1"/>
          <p:nvPr>
            <p:ph type="body" idx="1"/>
          </p:nvPr>
        </p:nvSpPr>
        <p:spPr>
          <a:xfrm>
            <a:off x="7784021" y="1067694"/>
            <a:ext cx="612300" cy="241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4m</a:t>
            </a:r>
            <a:endParaRPr sz="1800"/>
          </a:p>
        </p:txBody>
      </p:sp>
      <p:cxnSp>
        <p:nvCxnSpPr>
          <p:cNvPr id="1572" name="Google Shape;1572;p87"/>
          <p:cNvCxnSpPr/>
          <p:nvPr/>
        </p:nvCxnSpPr>
        <p:spPr>
          <a:xfrm flipH="1">
            <a:off x="7520575" y="1435399"/>
            <a:ext cx="0" cy="698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573" name="Google Shape;1573;p87"/>
          <p:cNvSpPr txBox="1"/>
          <p:nvPr>
            <p:ph type="body" idx="1"/>
          </p:nvPr>
        </p:nvSpPr>
        <p:spPr>
          <a:xfrm>
            <a:off x="7099950" y="1534543"/>
            <a:ext cx="396600" cy="41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4m</a:t>
            </a:r>
            <a:endParaRPr sz="1800"/>
          </a:p>
        </p:txBody>
      </p:sp>
      <p:sp>
        <p:nvSpPr>
          <p:cNvPr id="1574" name="Google Shape;1574;p87"/>
          <p:cNvSpPr txBox="1"/>
          <p:nvPr/>
        </p:nvSpPr>
        <p:spPr>
          <a:xfrm>
            <a:off x="5728503" y="1652129"/>
            <a:ext cx="1515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5" name="Google Shape;1575;p87"/>
          <p:cNvSpPr txBox="1"/>
          <p:nvPr/>
        </p:nvSpPr>
        <p:spPr>
          <a:xfrm>
            <a:off x="6982743" y="1652129"/>
            <a:ext cx="1515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6" name="Google Shape;1576;p87"/>
          <p:cNvSpPr txBox="1"/>
          <p:nvPr/>
        </p:nvSpPr>
        <p:spPr>
          <a:xfrm>
            <a:off x="8422561" y="1652117"/>
            <a:ext cx="4557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,…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577" name="Google Shape;1577;p87"/>
          <p:cNvGraphicFramePr>
            <a:graphicFrameLocks noGrp="1"/>
          </p:cNvGraphicFramePr>
          <p:nvPr/>
        </p:nvGraphicFramePr>
        <p:xfrm>
          <a:off x="4824000" y="22194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{E94B1F7C-D626-4EB4-874A-6446D225D414}</a:tableStyleId>
              </a:tblPr>
              <a:tblGrid>
                <a:gridCol w="1612050"/>
                <a:gridCol w="590275"/>
                <a:gridCol w="608750"/>
                <a:gridCol w="584775"/>
              </a:tblGrid>
              <a:tr h="2697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Term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697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Perimeter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16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648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Area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16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578" name="Google Shape;1578;p87"/>
          <p:cNvGraphicFramePr>
            <a:graphicFrameLocks noGrp="1"/>
          </p:cNvGraphicFramePr>
          <p:nvPr/>
        </p:nvGraphicFramePr>
        <p:xfrm>
          <a:off x="390775" y="39212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{E94B1F7C-D626-4EB4-874A-6446D225D414}</a:tableStyleId>
              </a:tblPr>
              <a:tblGrid>
                <a:gridCol w="1612050"/>
                <a:gridCol w="590275"/>
                <a:gridCol w="608750"/>
                <a:gridCol w="584775"/>
              </a:tblGrid>
              <a:tr h="2697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Term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697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Perimeter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648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Area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16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579" name="Google Shape;1579;p87"/>
          <p:cNvSpPr/>
          <p:nvPr/>
        </p:nvSpPr>
        <p:spPr>
          <a:xfrm>
            <a:off x="797825" y="3449466"/>
            <a:ext cx="331200" cy="2925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0" name="Google Shape;1580;p87"/>
          <p:cNvSpPr/>
          <p:nvPr/>
        </p:nvSpPr>
        <p:spPr>
          <a:xfrm>
            <a:off x="1791779" y="3449466"/>
            <a:ext cx="661800" cy="2925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1" name="Google Shape;1581;p87"/>
          <p:cNvSpPr/>
          <p:nvPr/>
        </p:nvSpPr>
        <p:spPr>
          <a:xfrm>
            <a:off x="3163378" y="3449466"/>
            <a:ext cx="993000" cy="2925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2" name="Google Shape;1582;p87"/>
          <p:cNvSpPr txBox="1"/>
          <p:nvPr/>
        </p:nvSpPr>
        <p:spPr>
          <a:xfrm>
            <a:off x="1182653" y="3449477"/>
            <a:ext cx="1515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3" name="Google Shape;1583;p87"/>
          <p:cNvSpPr txBox="1"/>
          <p:nvPr/>
        </p:nvSpPr>
        <p:spPr>
          <a:xfrm>
            <a:off x="2513093" y="3449477"/>
            <a:ext cx="1515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84" name="Google Shape;1584;p87"/>
          <p:cNvCxnSpPr/>
          <p:nvPr/>
        </p:nvCxnSpPr>
        <p:spPr>
          <a:xfrm>
            <a:off x="795375" y="3372729"/>
            <a:ext cx="314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585" name="Google Shape;1585;p87"/>
          <p:cNvCxnSpPr/>
          <p:nvPr/>
        </p:nvCxnSpPr>
        <p:spPr>
          <a:xfrm rot="5400000">
            <a:off x="578985" y="3610810"/>
            <a:ext cx="314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586" name="Google Shape;1586;p87"/>
          <p:cNvSpPr txBox="1"/>
          <p:nvPr>
            <p:ph type="body" idx="1"/>
          </p:nvPr>
        </p:nvSpPr>
        <p:spPr>
          <a:xfrm>
            <a:off x="795375" y="3082941"/>
            <a:ext cx="455700" cy="28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2m</a:t>
            </a:r>
            <a:endParaRPr sz="1800"/>
          </a:p>
        </p:txBody>
      </p:sp>
      <p:sp>
        <p:nvSpPr>
          <p:cNvPr id="1587" name="Google Shape;1587;p87"/>
          <p:cNvSpPr txBox="1"/>
          <p:nvPr>
            <p:ph type="body" idx="1"/>
          </p:nvPr>
        </p:nvSpPr>
        <p:spPr>
          <a:xfrm>
            <a:off x="339675" y="3461816"/>
            <a:ext cx="396600" cy="28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2m</a:t>
            </a:r>
            <a:endParaRPr sz="1800"/>
          </a:p>
        </p:txBody>
      </p:sp>
      <p:cxnSp>
        <p:nvCxnSpPr>
          <p:cNvPr id="1588" name="Google Shape;1588;p87"/>
          <p:cNvCxnSpPr/>
          <p:nvPr/>
        </p:nvCxnSpPr>
        <p:spPr>
          <a:xfrm rot="5400000">
            <a:off x="1574947" y="3606723"/>
            <a:ext cx="314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589" name="Google Shape;1589;p87"/>
          <p:cNvCxnSpPr/>
          <p:nvPr/>
        </p:nvCxnSpPr>
        <p:spPr>
          <a:xfrm>
            <a:off x="1785993" y="3372729"/>
            <a:ext cx="67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590" name="Google Shape;1590;p87"/>
          <p:cNvSpPr txBox="1"/>
          <p:nvPr>
            <p:ph type="body" idx="1"/>
          </p:nvPr>
        </p:nvSpPr>
        <p:spPr>
          <a:xfrm>
            <a:off x="1938387" y="3082941"/>
            <a:ext cx="661800" cy="241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4m</a:t>
            </a:r>
            <a:endParaRPr sz="1800"/>
          </a:p>
        </p:txBody>
      </p:sp>
      <p:cxnSp>
        <p:nvCxnSpPr>
          <p:cNvPr id="1591" name="Google Shape;1591;p87"/>
          <p:cNvCxnSpPr/>
          <p:nvPr/>
        </p:nvCxnSpPr>
        <p:spPr>
          <a:xfrm rot="5400000">
            <a:off x="2912117" y="3606723"/>
            <a:ext cx="314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592" name="Google Shape;1592;p87"/>
          <p:cNvCxnSpPr/>
          <p:nvPr/>
        </p:nvCxnSpPr>
        <p:spPr>
          <a:xfrm>
            <a:off x="3123163" y="3372729"/>
            <a:ext cx="1032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593" name="Google Shape;1593;p87"/>
          <p:cNvSpPr txBox="1"/>
          <p:nvPr>
            <p:ph type="body" idx="1"/>
          </p:nvPr>
        </p:nvSpPr>
        <p:spPr>
          <a:xfrm>
            <a:off x="3427957" y="3082941"/>
            <a:ext cx="661800" cy="241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8m</a:t>
            </a:r>
            <a:endParaRPr sz="1800"/>
          </a:p>
        </p:txBody>
      </p:sp>
      <p:sp>
        <p:nvSpPr>
          <p:cNvPr id="1594" name="Google Shape;1594;p87"/>
          <p:cNvSpPr txBox="1"/>
          <p:nvPr>
            <p:ph type="body" idx="1"/>
          </p:nvPr>
        </p:nvSpPr>
        <p:spPr>
          <a:xfrm>
            <a:off x="1359287" y="3461816"/>
            <a:ext cx="396600" cy="28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2m</a:t>
            </a:r>
            <a:endParaRPr sz="1800"/>
          </a:p>
        </p:txBody>
      </p:sp>
      <p:sp>
        <p:nvSpPr>
          <p:cNvPr id="1595" name="Google Shape;1595;p87"/>
          <p:cNvSpPr txBox="1"/>
          <p:nvPr>
            <p:ph type="body" idx="1"/>
          </p:nvPr>
        </p:nvSpPr>
        <p:spPr>
          <a:xfrm>
            <a:off x="2696457" y="3461816"/>
            <a:ext cx="396600" cy="28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2m</a:t>
            </a:r>
            <a:endParaRPr sz="1800"/>
          </a:p>
        </p:txBody>
      </p:sp>
      <p:sp>
        <p:nvSpPr>
          <p:cNvPr id="1596" name="Google Shape;1596;p87"/>
          <p:cNvSpPr/>
          <p:nvPr/>
        </p:nvSpPr>
        <p:spPr>
          <a:xfrm>
            <a:off x="5018575" y="3605850"/>
            <a:ext cx="977400" cy="1584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7" name="Google Shape;1597;p87"/>
          <p:cNvSpPr/>
          <p:nvPr/>
        </p:nvSpPr>
        <p:spPr>
          <a:xfrm>
            <a:off x="6607979" y="3559369"/>
            <a:ext cx="751200" cy="2415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8" name="Google Shape;1598;p87"/>
          <p:cNvSpPr/>
          <p:nvPr/>
        </p:nvSpPr>
        <p:spPr>
          <a:xfrm>
            <a:off x="7937064" y="3500100"/>
            <a:ext cx="504000" cy="3699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9" name="Google Shape;1599;p87"/>
          <p:cNvSpPr txBox="1"/>
          <p:nvPr/>
        </p:nvSpPr>
        <p:spPr>
          <a:xfrm>
            <a:off x="6037506" y="3513252"/>
            <a:ext cx="1515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0" name="Google Shape;1600;p87"/>
          <p:cNvSpPr txBox="1"/>
          <p:nvPr/>
        </p:nvSpPr>
        <p:spPr>
          <a:xfrm>
            <a:off x="7391758" y="3513252"/>
            <a:ext cx="1515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1" name="Google Shape;1601;p87"/>
          <p:cNvSpPr txBox="1"/>
          <p:nvPr/>
        </p:nvSpPr>
        <p:spPr>
          <a:xfrm>
            <a:off x="4226711" y="3449473"/>
            <a:ext cx="4557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,…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2" name="Google Shape;1602;p87"/>
          <p:cNvSpPr txBox="1"/>
          <p:nvPr/>
        </p:nvSpPr>
        <p:spPr>
          <a:xfrm>
            <a:off x="8494758" y="3525656"/>
            <a:ext cx="4557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…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03" name="Google Shape;1603;p87"/>
          <p:cNvCxnSpPr/>
          <p:nvPr/>
        </p:nvCxnSpPr>
        <p:spPr>
          <a:xfrm>
            <a:off x="5034650" y="3537188"/>
            <a:ext cx="955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604" name="Google Shape;1604;p87"/>
          <p:cNvCxnSpPr/>
          <p:nvPr/>
        </p:nvCxnSpPr>
        <p:spPr>
          <a:xfrm flipH="1">
            <a:off x="4952816" y="3585407"/>
            <a:ext cx="0" cy="225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605" name="Google Shape;1605;p87"/>
          <p:cNvSpPr txBox="1"/>
          <p:nvPr>
            <p:ph type="body" idx="1"/>
          </p:nvPr>
        </p:nvSpPr>
        <p:spPr>
          <a:xfrm>
            <a:off x="5364113" y="3235350"/>
            <a:ext cx="396600" cy="28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8m</a:t>
            </a:r>
            <a:endParaRPr sz="1800"/>
          </a:p>
        </p:txBody>
      </p:sp>
      <p:sp>
        <p:nvSpPr>
          <p:cNvPr id="1606" name="Google Shape;1606;p87"/>
          <p:cNvSpPr txBox="1"/>
          <p:nvPr>
            <p:ph type="body" idx="1"/>
          </p:nvPr>
        </p:nvSpPr>
        <p:spPr>
          <a:xfrm>
            <a:off x="4562650" y="3553300"/>
            <a:ext cx="331200" cy="28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1m</a:t>
            </a:r>
            <a:endParaRPr sz="1800"/>
          </a:p>
        </p:txBody>
      </p:sp>
      <p:cxnSp>
        <p:nvCxnSpPr>
          <p:cNvPr id="1607" name="Google Shape;1607;p87"/>
          <p:cNvCxnSpPr/>
          <p:nvPr/>
        </p:nvCxnSpPr>
        <p:spPr>
          <a:xfrm>
            <a:off x="6607987" y="3476844"/>
            <a:ext cx="734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608" name="Google Shape;1608;p87"/>
          <p:cNvCxnSpPr/>
          <p:nvPr/>
        </p:nvCxnSpPr>
        <p:spPr>
          <a:xfrm rot="5400000">
            <a:off x="6378050" y="3694875"/>
            <a:ext cx="314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609" name="Google Shape;1609;p87"/>
          <p:cNvSpPr txBox="1"/>
          <p:nvPr>
            <p:ph type="body" idx="1"/>
          </p:nvPr>
        </p:nvSpPr>
        <p:spPr>
          <a:xfrm>
            <a:off x="6771454" y="3211757"/>
            <a:ext cx="455700" cy="241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6m</a:t>
            </a:r>
            <a:endParaRPr sz="1800"/>
          </a:p>
        </p:txBody>
      </p:sp>
      <p:sp>
        <p:nvSpPr>
          <p:cNvPr id="1610" name="Google Shape;1610;p87"/>
          <p:cNvSpPr txBox="1"/>
          <p:nvPr>
            <p:ph type="body" idx="1"/>
          </p:nvPr>
        </p:nvSpPr>
        <p:spPr>
          <a:xfrm>
            <a:off x="6157059" y="3564706"/>
            <a:ext cx="396600" cy="28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2m</a:t>
            </a:r>
            <a:endParaRPr sz="1800"/>
          </a:p>
        </p:txBody>
      </p:sp>
      <p:cxnSp>
        <p:nvCxnSpPr>
          <p:cNvPr id="1611" name="Google Shape;1611;p87"/>
          <p:cNvCxnSpPr/>
          <p:nvPr/>
        </p:nvCxnSpPr>
        <p:spPr>
          <a:xfrm>
            <a:off x="7949977" y="3419917"/>
            <a:ext cx="47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612" name="Google Shape;1612;p87"/>
          <p:cNvCxnSpPr/>
          <p:nvPr/>
        </p:nvCxnSpPr>
        <p:spPr>
          <a:xfrm rot="5400000">
            <a:off x="7702462" y="3657998"/>
            <a:ext cx="314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613" name="Google Shape;1613;p87"/>
          <p:cNvSpPr txBox="1"/>
          <p:nvPr>
            <p:ph type="body" idx="1"/>
          </p:nvPr>
        </p:nvSpPr>
        <p:spPr>
          <a:xfrm>
            <a:off x="7995052" y="3130129"/>
            <a:ext cx="455700" cy="28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4m</a:t>
            </a:r>
            <a:endParaRPr sz="1800"/>
          </a:p>
        </p:txBody>
      </p:sp>
      <p:sp>
        <p:nvSpPr>
          <p:cNvPr id="1614" name="Google Shape;1614;p87"/>
          <p:cNvSpPr txBox="1"/>
          <p:nvPr>
            <p:ph type="body" idx="1"/>
          </p:nvPr>
        </p:nvSpPr>
        <p:spPr>
          <a:xfrm>
            <a:off x="7463152" y="3509004"/>
            <a:ext cx="396600" cy="28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3m</a:t>
            </a:r>
            <a:endParaRPr sz="1800"/>
          </a:p>
        </p:txBody>
      </p:sp>
      <p:graphicFrame>
        <p:nvGraphicFramePr>
          <p:cNvPr id="1615" name="Google Shape;1615;p87"/>
          <p:cNvGraphicFramePr>
            <a:graphicFrameLocks noGrp="1"/>
          </p:cNvGraphicFramePr>
          <p:nvPr/>
        </p:nvGraphicFramePr>
        <p:xfrm>
          <a:off x="4824000" y="39148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{E94B1F7C-D626-4EB4-874A-6446D225D414}</a:tableStyleId>
              </a:tblPr>
              <a:tblGrid>
                <a:gridCol w="1612050"/>
                <a:gridCol w="590275"/>
                <a:gridCol w="608750"/>
                <a:gridCol w="584775"/>
              </a:tblGrid>
              <a:tr h="2697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Term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349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Perimeter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18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16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14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648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Area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616" name="Google Shape;1616;p87"/>
          <p:cNvSpPr/>
          <p:nvPr/>
        </p:nvSpPr>
        <p:spPr>
          <a:xfrm>
            <a:off x="393225" y="2474394"/>
            <a:ext cx="3396000" cy="2898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7" name="Google Shape;1617;p87"/>
          <p:cNvSpPr/>
          <p:nvPr/>
        </p:nvSpPr>
        <p:spPr>
          <a:xfrm>
            <a:off x="390700" y="2768094"/>
            <a:ext cx="3396000" cy="2898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8" name="Google Shape;1618;p87"/>
          <p:cNvSpPr/>
          <p:nvPr/>
        </p:nvSpPr>
        <p:spPr>
          <a:xfrm>
            <a:off x="4823925" y="2501719"/>
            <a:ext cx="3396000" cy="2898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9" name="Google Shape;1619;p87"/>
          <p:cNvSpPr/>
          <p:nvPr/>
        </p:nvSpPr>
        <p:spPr>
          <a:xfrm>
            <a:off x="4823925" y="4181400"/>
            <a:ext cx="3396000" cy="2898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0" name="Google Shape;1620;p87"/>
          <p:cNvSpPr/>
          <p:nvPr/>
        </p:nvSpPr>
        <p:spPr>
          <a:xfrm>
            <a:off x="5477700" y="890675"/>
            <a:ext cx="2243700" cy="2898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latin typeface="Kalam"/>
                <a:ea typeface="Kalam"/>
                <a:cs typeface="Kalam"/>
                <a:sym typeface="Kalam"/>
              </a:rPr>
              <a:t>Linear sequences</a:t>
            </a:r>
            <a:endParaRPr sz="2000" b="1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21" name="Google Shape;1621;p87"/>
          <p:cNvSpPr txBox="1"/>
          <p:nvPr>
            <p:ph type="body" idx="1"/>
          </p:nvPr>
        </p:nvSpPr>
        <p:spPr>
          <a:xfrm>
            <a:off x="339675" y="1328631"/>
            <a:ext cx="300900" cy="29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a)</a:t>
            </a:r>
            <a:endParaRPr sz="1800"/>
          </a:p>
        </p:txBody>
      </p:sp>
      <p:sp>
        <p:nvSpPr>
          <p:cNvPr id="1622" name="Google Shape;1622;p87"/>
          <p:cNvSpPr txBox="1"/>
          <p:nvPr>
            <p:ph type="body" idx="1"/>
          </p:nvPr>
        </p:nvSpPr>
        <p:spPr>
          <a:xfrm>
            <a:off x="4849850" y="1328631"/>
            <a:ext cx="300900" cy="29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c)</a:t>
            </a:r>
            <a:endParaRPr sz="1800"/>
          </a:p>
        </p:txBody>
      </p:sp>
      <p:sp>
        <p:nvSpPr>
          <p:cNvPr id="1623" name="Google Shape;1623;p87"/>
          <p:cNvSpPr txBox="1"/>
          <p:nvPr>
            <p:ph type="body" idx="1"/>
          </p:nvPr>
        </p:nvSpPr>
        <p:spPr>
          <a:xfrm>
            <a:off x="314150" y="3141169"/>
            <a:ext cx="300900" cy="29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b)</a:t>
            </a:r>
            <a:endParaRPr sz="1800"/>
          </a:p>
        </p:txBody>
      </p:sp>
      <p:sp>
        <p:nvSpPr>
          <p:cNvPr id="1624" name="Google Shape;1624;p87"/>
          <p:cNvSpPr txBox="1"/>
          <p:nvPr>
            <p:ph type="body" idx="1"/>
          </p:nvPr>
        </p:nvSpPr>
        <p:spPr>
          <a:xfrm>
            <a:off x="4845513" y="3141169"/>
            <a:ext cx="300900" cy="29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d)</a:t>
            </a:r>
            <a:endParaRPr sz="1800"/>
          </a:p>
        </p:txBody>
      </p:sp>
      <p:cxnSp>
        <p:nvCxnSpPr>
          <p:cNvPr id="1625" name="Google Shape;1625;p87"/>
          <p:cNvCxnSpPr/>
          <p:nvPr/>
        </p:nvCxnSpPr>
        <p:spPr>
          <a:xfrm flipH="1">
            <a:off x="4525332" y="1385090"/>
            <a:ext cx="0" cy="343590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29" name="Shape 1629"/>
        <p:cNvGrpSpPr/>
        <p:nvPr/>
      </p:nvGrpSpPr>
      <p:grpSpPr>
        <a:xfrm>
          <a:off x="0" y="0"/>
          <a:ext cx="0" cy="0"/>
        </a:xfrm>
      </p:grpSpPr>
      <p:sp>
        <p:nvSpPr>
          <p:cNvPr id="1630" name="Google Shape;1630;p8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Identifying arithmetic sequences</a:t>
            </a:r>
            <a:endParaRPr/>
          </a:p>
        </p:txBody>
      </p:sp>
      <p:sp>
        <p:nvSpPr>
          <p:cNvPr id="1631" name="Google Shape;1631;p88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Describing arithmetic sequences</a:t>
            </a:r>
            <a:endParaRPr/>
          </a:p>
        </p:txBody>
      </p:sp>
      <p:sp>
        <p:nvSpPr>
          <p:cNvPr id="1632" name="Google Shape;1632;p88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Arithmetic sequences</a:t>
            </a:r>
            <a:endParaRPr/>
          </a:p>
        </p:txBody>
      </p:sp>
      <p:pic>
        <p:nvPicPr>
          <p:cNvPr id="1633" name="Google Shape;1633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750" y="29883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37" name="Shape 1637"/>
        <p:cNvGrpSpPr/>
        <p:nvPr/>
      </p:nvGrpSpPr>
      <p:grpSpPr>
        <a:xfrm>
          <a:off x="0" y="0"/>
          <a:ext cx="0" cy="0"/>
        </a:xfrm>
      </p:grpSpPr>
      <p:sp>
        <p:nvSpPr>
          <p:cNvPr id="1638" name="Google Shape;1638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Describing arithmetic sequences</a:t>
            </a:r>
            <a:endParaRPr/>
          </a:p>
        </p:txBody>
      </p:sp>
      <p:sp>
        <p:nvSpPr>
          <p:cNvPr id="1639" name="Google Shape;1639;p89"/>
          <p:cNvSpPr txBox="1"/>
          <p:nvPr>
            <p:ph type="body" idx="1"/>
          </p:nvPr>
        </p:nvSpPr>
        <p:spPr>
          <a:xfrm>
            <a:off x="324000" y="759300"/>
            <a:ext cx="8237700" cy="45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We can describe sequences using key vocabulary </a:t>
            </a:r>
            <a:endParaRPr sz="2000"/>
          </a:p>
        </p:txBody>
      </p:sp>
      <p:sp>
        <p:nvSpPr>
          <p:cNvPr id="1640" name="Google Shape;1640;p89"/>
          <p:cNvSpPr txBox="1"/>
          <p:nvPr>
            <p:ph type="body" idx="1"/>
          </p:nvPr>
        </p:nvSpPr>
        <p:spPr>
          <a:xfrm>
            <a:off x="324000" y="1328525"/>
            <a:ext cx="8496000" cy="45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It is important that we can describe a specific sequence in a unique way. </a:t>
            </a:r>
            <a:endParaRPr sz="2000"/>
          </a:p>
        </p:txBody>
      </p:sp>
      <p:sp>
        <p:nvSpPr>
          <p:cNvPr id="1641" name="Google Shape;1641;p89"/>
          <p:cNvSpPr txBox="1"/>
          <p:nvPr>
            <p:ph type="body" idx="1"/>
          </p:nvPr>
        </p:nvSpPr>
        <p:spPr>
          <a:xfrm>
            <a:off x="324000" y="2240400"/>
            <a:ext cx="8496000" cy="45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Have a go at creating sentences to describe the sequences below. Try to use one or more words from the box.</a:t>
            </a:r>
            <a:endParaRPr sz="2000"/>
          </a:p>
        </p:txBody>
      </p:sp>
      <p:sp>
        <p:nvSpPr>
          <p:cNvPr id="1642" name="Google Shape;1642;p89"/>
          <p:cNvSpPr txBox="1"/>
          <p:nvPr>
            <p:ph type="body" idx="1"/>
          </p:nvPr>
        </p:nvSpPr>
        <p:spPr>
          <a:xfrm>
            <a:off x="324000" y="3240000"/>
            <a:ext cx="4248000" cy="152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55600" algn="l" rtl="0">
              <a:spcBef>
                <a:spcPct val="0"/>
              </a:spcBef>
              <a:spcAft>
                <a:spcPct val="0"/>
              </a:spcAft>
              <a:buSzPts val="2000"/>
              <a:buAutoNum type="alphaLcParenR"/>
            </a:pPr>
            <a:r>
              <a:rPr lang="en-GB" sz="2000"/>
              <a:t>8, 12, 16, 20, 24, …</a:t>
            </a:r>
            <a:endParaRPr sz="2000"/>
          </a:p>
          <a:p>
            <a:pPr marL="457200" lvl="0" indent="-355600" algn="l" rtl="0">
              <a:spcBef>
                <a:spcPct val="0"/>
              </a:spcBef>
              <a:spcAft>
                <a:spcPct val="0"/>
              </a:spcAft>
              <a:buSzPts val="2000"/>
              <a:buAutoNum type="alphaLcParenR"/>
            </a:pPr>
            <a:r>
              <a:rPr lang="en-GB" sz="2000"/>
              <a:t>210, 205, 200, 195,190, …</a:t>
            </a:r>
            <a:endParaRPr sz="2000"/>
          </a:p>
          <a:p>
            <a:pPr marL="457200" lvl="0" indent="-355600" algn="l" rtl="0">
              <a:spcBef>
                <a:spcPct val="0"/>
              </a:spcBef>
              <a:spcAft>
                <a:spcPct val="0"/>
              </a:spcAft>
              <a:buSzPts val="2000"/>
              <a:buAutoNum type="alphaLcParenR"/>
            </a:pPr>
            <a:r>
              <a:rPr lang="en-GB" sz="2000"/>
              <a:t>80, 40, 20, 10, 5, …</a:t>
            </a:r>
            <a:endParaRPr sz="2000"/>
          </a:p>
          <a:p>
            <a:pPr marL="457200" lvl="0" indent="-355600" algn="l" rtl="0">
              <a:spcBef>
                <a:spcPct val="0"/>
              </a:spcBef>
              <a:spcAft>
                <a:spcPct val="0"/>
              </a:spcAft>
              <a:buSzPts val="2000"/>
              <a:buAutoNum type="alphaLcParenR"/>
            </a:pPr>
            <a:r>
              <a:rPr lang="en-GB" sz="2000"/>
              <a:t>1, 3, 6, 10, 15, …</a:t>
            </a:r>
            <a:endParaRPr sz="2000"/>
          </a:p>
        </p:txBody>
      </p:sp>
      <p:sp>
        <p:nvSpPr>
          <p:cNvPr id="1643" name="Google Shape;1643;p89"/>
          <p:cNvSpPr/>
          <p:nvPr/>
        </p:nvSpPr>
        <p:spPr>
          <a:xfrm>
            <a:off x="6220950" y="2741850"/>
            <a:ext cx="1903200" cy="207630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ascending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descending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increasing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decreasing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difference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term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47" name="Shape 1647"/>
        <p:cNvGrpSpPr/>
        <p:nvPr/>
      </p:nvGrpSpPr>
      <p:grpSpPr>
        <a:xfrm>
          <a:off x="0" y="0"/>
          <a:ext cx="0" cy="0"/>
        </a:xfrm>
      </p:grpSpPr>
      <p:sp>
        <p:nvSpPr>
          <p:cNvPr id="1648" name="Google Shape;1648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Describing arithmetic sequences</a:t>
            </a:r>
            <a:endParaRPr/>
          </a:p>
        </p:txBody>
      </p:sp>
      <p:sp>
        <p:nvSpPr>
          <p:cNvPr id="1649" name="Google Shape;1649;p90"/>
          <p:cNvSpPr txBox="1"/>
          <p:nvPr>
            <p:ph type="body" idx="1"/>
          </p:nvPr>
        </p:nvSpPr>
        <p:spPr>
          <a:xfrm>
            <a:off x="324000" y="733800"/>
            <a:ext cx="8496000" cy="45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Here are just some examples of things you may have said:</a:t>
            </a:r>
            <a:endParaRPr sz="2000"/>
          </a:p>
        </p:txBody>
      </p:sp>
      <p:sp>
        <p:nvSpPr>
          <p:cNvPr id="1650" name="Google Shape;1650;p90"/>
          <p:cNvSpPr txBox="1"/>
          <p:nvPr>
            <p:ph type="body" idx="1"/>
          </p:nvPr>
        </p:nvSpPr>
        <p:spPr>
          <a:xfrm>
            <a:off x="324000" y="1286050"/>
            <a:ext cx="4248000" cy="315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55600" algn="l" rtl="0">
              <a:spcBef>
                <a:spcPct val="0"/>
              </a:spcBef>
              <a:spcAft>
                <a:spcPct val="0"/>
              </a:spcAft>
              <a:buSzPts val="2000"/>
              <a:buAutoNum type="alphaLcParenR"/>
            </a:pPr>
            <a:r>
              <a:rPr lang="en-GB" sz="2000"/>
              <a:t>8, 12, 16, 20, 24, …</a:t>
            </a:r>
            <a:br>
              <a:rPr lang="en-GB" sz="2000"/>
            </a:br>
            <a:endParaRPr sz="2000"/>
          </a:p>
          <a:p>
            <a:pPr marL="457200" lvl="0" indent="-355600" algn="l" rtl="0">
              <a:spcBef>
                <a:spcPct val="0"/>
              </a:spcBef>
              <a:spcAft>
                <a:spcPct val="0"/>
              </a:spcAft>
              <a:buSzPts val="2000"/>
              <a:buAutoNum type="alphaLcParenR"/>
            </a:pPr>
            <a:r>
              <a:rPr lang="en-GB" sz="2000"/>
              <a:t>210, 205, 200, 195,190, …</a:t>
            </a:r>
            <a:br>
              <a:rPr lang="en-GB" sz="2000"/>
            </a:br>
            <a:endParaRPr sz="2000"/>
          </a:p>
          <a:p>
            <a:pPr marL="457200" lvl="0" indent="-355600" algn="l" rtl="0">
              <a:spcBef>
                <a:spcPct val="0"/>
              </a:spcBef>
              <a:spcAft>
                <a:spcPct val="0"/>
              </a:spcAft>
              <a:buSzPts val="2000"/>
              <a:buAutoNum type="alphaLcParenR"/>
            </a:pPr>
            <a:r>
              <a:rPr lang="en-GB" sz="2000"/>
              <a:t>80, 40, 20, 10, 5, …</a:t>
            </a:r>
            <a:br>
              <a:rPr lang="en-GB" sz="2000"/>
            </a:br>
            <a:endParaRPr sz="2000"/>
          </a:p>
          <a:p>
            <a:pPr marL="457200" lvl="0" indent="-355600" algn="l" rtl="0">
              <a:spcBef>
                <a:spcPct val="0"/>
              </a:spcBef>
              <a:spcAft>
                <a:spcPct val="0"/>
              </a:spcAft>
              <a:buSzPts val="2000"/>
              <a:buAutoNum type="alphaLcParenR"/>
            </a:pPr>
            <a:r>
              <a:rPr lang="en-GB" sz="2000"/>
              <a:t>1, 3, 6, 10, 15, …</a:t>
            </a:r>
            <a:endParaRPr sz="2000"/>
          </a:p>
        </p:txBody>
      </p:sp>
      <p:sp>
        <p:nvSpPr>
          <p:cNvPr id="1651" name="Google Shape;1651;p90"/>
          <p:cNvSpPr/>
          <p:nvPr/>
        </p:nvSpPr>
        <p:spPr>
          <a:xfrm>
            <a:off x="6795075" y="1121850"/>
            <a:ext cx="1903200" cy="207630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ascending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descending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increasing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decreasing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difference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term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2" name="Google Shape;1652;p90"/>
          <p:cNvSpPr txBox="1"/>
          <p:nvPr>
            <p:ph type="body" idx="1"/>
          </p:nvPr>
        </p:nvSpPr>
        <p:spPr>
          <a:xfrm>
            <a:off x="347400" y="1638000"/>
            <a:ext cx="6361200" cy="45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 This sequence is increasing by 4 each time.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53" name="Google Shape;1653;p90"/>
          <p:cNvSpPr txBox="1"/>
          <p:nvPr>
            <p:ph type="body" idx="1"/>
          </p:nvPr>
        </p:nvSpPr>
        <p:spPr>
          <a:xfrm>
            <a:off x="347400" y="2368800"/>
            <a:ext cx="6361200" cy="45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 This sequence is decreasing by 5 each time.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54" name="Google Shape;1654;p90"/>
          <p:cNvSpPr txBox="1"/>
          <p:nvPr>
            <p:ph type="body" idx="1"/>
          </p:nvPr>
        </p:nvSpPr>
        <p:spPr>
          <a:xfrm>
            <a:off x="347400" y="3067200"/>
            <a:ext cx="6361200" cy="45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 Each term is half of the previous term.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55" name="Google Shape;1655;p90"/>
          <p:cNvSpPr txBox="1"/>
          <p:nvPr>
            <p:ph type="body" idx="1"/>
          </p:nvPr>
        </p:nvSpPr>
        <p:spPr>
          <a:xfrm>
            <a:off x="347400" y="3762000"/>
            <a:ext cx="8472600" cy="45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 The difference between the first and second term is 2. The differences between terms increase by 1 each time.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59" name="Shape 1659"/>
        <p:cNvGrpSpPr/>
        <p:nvPr/>
      </p:nvGrpSpPr>
      <p:grpSpPr>
        <a:xfrm>
          <a:off x="0" y="0"/>
          <a:ext cx="0" cy="0"/>
        </a:xfrm>
      </p:grpSpPr>
      <p:sp>
        <p:nvSpPr>
          <p:cNvPr id="1660" name="Google Shape;1660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Describing arithmetic sequences</a:t>
            </a:r>
            <a:endParaRPr/>
          </a:p>
        </p:txBody>
      </p:sp>
      <p:sp>
        <p:nvSpPr>
          <p:cNvPr id="1661" name="Google Shape;1661;p91"/>
          <p:cNvSpPr txBox="1"/>
          <p:nvPr>
            <p:ph type="body" idx="1"/>
          </p:nvPr>
        </p:nvSpPr>
        <p:spPr>
          <a:xfrm>
            <a:off x="4824000" y="1138900"/>
            <a:ext cx="3647700" cy="45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55600" algn="l" rtl="0">
              <a:spcBef>
                <a:spcPct val="0"/>
              </a:spcBef>
              <a:spcAft>
                <a:spcPct val="0"/>
              </a:spcAft>
              <a:buSzPts val="2000"/>
              <a:buAutoNum type="alphaLcParenR"/>
            </a:pPr>
            <a:r>
              <a:rPr lang="en-GB" sz="2000"/>
              <a:t>8, 12, 16, 20, 24, …</a:t>
            </a:r>
            <a:endParaRPr sz="2000"/>
          </a:p>
        </p:txBody>
      </p:sp>
      <p:sp>
        <p:nvSpPr>
          <p:cNvPr id="1662" name="Google Shape;1662;p91"/>
          <p:cNvSpPr txBox="1"/>
          <p:nvPr/>
        </p:nvSpPr>
        <p:spPr>
          <a:xfrm>
            <a:off x="433525" y="2094809"/>
            <a:ext cx="950700" cy="4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63" name="Google Shape;1663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802" y="1439324"/>
            <a:ext cx="550152" cy="617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4" name="Google Shape;1664;p91"/>
          <p:cNvPicPr preferRelativeResize="0"/>
          <p:nvPr/>
        </p:nvPicPr>
        <p:blipFill>
          <a:blip r:embed="rId4">
            <a:alphaModFix/>
          </a:blip>
          <a:srcRect l="40550" t="13240" b="6172"/>
          <a:stretch>
            <a:fillRect/>
          </a:stretch>
        </p:blipFill>
        <p:spPr>
          <a:xfrm>
            <a:off x="1063550" y="935875"/>
            <a:ext cx="3329700" cy="1050526"/>
          </a:xfrm>
          <a:prstGeom prst="rect">
            <a:avLst/>
          </a:prstGeom>
          <a:noFill/>
          <a:ln>
            <a:noFill/>
          </a:ln>
        </p:spPr>
      </p:pic>
      <p:sp>
        <p:nvSpPr>
          <p:cNvPr id="1665" name="Google Shape;1665;p91"/>
          <p:cNvSpPr txBox="1"/>
          <p:nvPr/>
        </p:nvSpPr>
        <p:spPr>
          <a:xfrm>
            <a:off x="1335651" y="747700"/>
            <a:ext cx="2785500" cy="12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Sequence a is arithmetic because it goes up in 4s.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6" name="Google Shape;1666;p91"/>
          <p:cNvSpPr txBox="1"/>
          <p:nvPr>
            <p:ph type="body" idx="1"/>
          </p:nvPr>
        </p:nvSpPr>
        <p:spPr>
          <a:xfrm>
            <a:off x="324000" y="2536525"/>
            <a:ext cx="8496000" cy="45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How could we improve Lucas’ statement?</a:t>
            </a:r>
            <a:endParaRPr sz="2000"/>
          </a:p>
        </p:txBody>
      </p:sp>
      <p:sp>
        <p:nvSpPr>
          <p:cNvPr id="1667" name="Google Shape;1667;p91"/>
          <p:cNvSpPr txBox="1"/>
          <p:nvPr>
            <p:ph type="body" idx="1"/>
          </p:nvPr>
        </p:nvSpPr>
        <p:spPr>
          <a:xfrm>
            <a:off x="324000" y="3074825"/>
            <a:ext cx="8496000" cy="45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sequence increases by 4 each time.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68" name="Google Shape;1668;p91"/>
          <p:cNvSpPr txBox="1"/>
          <p:nvPr>
            <p:ph type="body" idx="1"/>
          </p:nvPr>
        </p:nvSpPr>
        <p:spPr>
          <a:xfrm>
            <a:off x="324000" y="3613125"/>
            <a:ext cx="8496000" cy="45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difference between successive terms is 4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72" name="Shape 1672"/>
        <p:cNvGrpSpPr/>
        <p:nvPr/>
      </p:nvGrpSpPr>
      <p:grpSpPr>
        <a:xfrm>
          <a:off x="0" y="0"/>
          <a:ext cx="0" cy="0"/>
        </a:xfrm>
      </p:grpSpPr>
      <p:sp>
        <p:nvSpPr>
          <p:cNvPr id="1673" name="Google Shape;1673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Describing arithmetic sequences</a:t>
            </a:r>
            <a:endParaRPr/>
          </a:p>
        </p:txBody>
      </p:sp>
      <p:sp>
        <p:nvSpPr>
          <p:cNvPr id="1674" name="Google Shape;1674;p92"/>
          <p:cNvSpPr txBox="1"/>
          <p:nvPr>
            <p:ph type="body" idx="1"/>
          </p:nvPr>
        </p:nvSpPr>
        <p:spPr>
          <a:xfrm>
            <a:off x="324000" y="759300"/>
            <a:ext cx="8496000" cy="45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An </a:t>
            </a:r>
            <a:r>
              <a:rPr lang="en-GB" sz="2000" b="1">
                <a:solidFill>
                  <a:srgbClr val="282828"/>
                </a:solidFill>
              </a:rPr>
              <a:t>arithmetic</a:t>
            </a:r>
            <a:r>
              <a:rPr lang="en-GB" sz="2000">
                <a:solidFill>
                  <a:srgbClr val="282828"/>
                </a:solidFill>
              </a:rPr>
              <a:t> </a:t>
            </a:r>
            <a:r>
              <a:rPr lang="en-GB" sz="2000" b="1">
                <a:solidFill>
                  <a:srgbClr val="282828"/>
                </a:solidFill>
              </a:rPr>
              <a:t>(or linear) sequence</a:t>
            </a:r>
            <a:r>
              <a:rPr lang="en-GB" sz="2000">
                <a:solidFill>
                  <a:srgbClr val="282828"/>
                </a:solidFill>
              </a:rPr>
              <a:t> is a sequence where the difference between successive terms is a constant.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1675" name="Google Shape;1675;p92"/>
          <p:cNvSpPr txBox="1"/>
          <p:nvPr>
            <p:ph type="body" idx="1"/>
          </p:nvPr>
        </p:nvSpPr>
        <p:spPr>
          <a:xfrm>
            <a:off x="324000" y="1696950"/>
            <a:ext cx="8496000" cy="45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We often refer to this constant as the </a:t>
            </a:r>
            <a:r>
              <a:rPr lang="en-GB" sz="2000">
                <a:solidFill>
                  <a:schemeClr val="accent5"/>
                </a:solidFill>
              </a:rPr>
              <a:t>common difference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1676" name="Google Shape;1676;p92"/>
          <p:cNvSpPr txBox="1"/>
          <p:nvPr>
            <p:ph type="body" idx="1"/>
          </p:nvPr>
        </p:nvSpPr>
        <p:spPr>
          <a:xfrm>
            <a:off x="324000" y="2240400"/>
            <a:ext cx="8496000" cy="45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Lucas could have said: ‘This sequence is arithmetic because the </a:t>
            </a:r>
            <a:r>
              <a:rPr lang="en-GB" sz="2000">
                <a:solidFill>
                  <a:schemeClr val="accent5"/>
                </a:solidFill>
              </a:rPr>
              <a:t>common difference</a:t>
            </a:r>
            <a:r>
              <a:rPr lang="en-GB" sz="2000"/>
              <a:t> between successive terms is 4’</a:t>
            </a:r>
            <a:endParaRPr sz="2000"/>
          </a:p>
        </p:txBody>
      </p:sp>
      <p:sp>
        <p:nvSpPr>
          <p:cNvPr id="1677" name="Google Shape;1677;p92"/>
          <p:cNvSpPr txBox="1"/>
          <p:nvPr>
            <p:ph type="body" idx="1"/>
          </p:nvPr>
        </p:nvSpPr>
        <p:spPr>
          <a:xfrm>
            <a:off x="324000" y="3016950"/>
            <a:ext cx="3883500" cy="152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55600" algn="l" rtl="0">
              <a:spcBef>
                <a:spcPct val="0"/>
              </a:spcBef>
              <a:spcAft>
                <a:spcPct val="0"/>
              </a:spcAft>
              <a:buSzPts val="2000"/>
              <a:buAutoNum type="alphaLcParenR"/>
            </a:pPr>
            <a:r>
              <a:rPr lang="en-GB" sz="2000"/>
              <a:t>8, 12, 16, 20, 24, …</a:t>
            </a:r>
            <a:endParaRPr sz="2000"/>
          </a:p>
          <a:p>
            <a:pPr marL="457200" lvl="0" indent="-355600" algn="l" rtl="0">
              <a:spcBef>
                <a:spcPct val="0"/>
              </a:spcBef>
              <a:spcAft>
                <a:spcPct val="0"/>
              </a:spcAft>
              <a:buSzPts val="2000"/>
              <a:buAutoNum type="alphaLcParenR"/>
            </a:pPr>
            <a:r>
              <a:rPr lang="en-GB" sz="2000"/>
              <a:t>210, 205, 200, 195,190, …</a:t>
            </a:r>
            <a:endParaRPr sz="2000"/>
          </a:p>
          <a:p>
            <a:pPr marL="457200" lvl="0" indent="-355600" algn="l" rtl="0">
              <a:spcBef>
                <a:spcPct val="0"/>
              </a:spcBef>
              <a:spcAft>
                <a:spcPct val="0"/>
              </a:spcAft>
              <a:buSzPts val="2000"/>
              <a:buAutoNum type="alphaLcParenR"/>
            </a:pPr>
            <a:r>
              <a:rPr lang="en-GB" sz="2000"/>
              <a:t>80, 40, 20, 10, 5, …</a:t>
            </a:r>
            <a:endParaRPr sz="2000"/>
          </a:p>
          <a:p>
            <a:pPr marL="457200" lvl="0" indent="-355600" algn="l" rtl="0">
              <a:spcBef>
                <a:spcPct val="0"/>
              </a:spcBef>
              <a:spcAft>
                <a:spcPct val="0"/>
              </a:spcAft>
              <a:buSzPts val="2000"/>
              <a:buAutoNum type="alphaLcParenR"/>
            </a:pPr>
            <a:r>
              <a:rPr lang="en-GB" sz="2000"/>
              <a:t>1, 3, 6, 10, 15, …</a:t>
            </a:r>
            <a:endParaRPr sz="2000"/>
          </a:p>
        </p:txBody>
      </p:sp>
      <p:sp>
        <p:nvSpPr>
          <p:cNvPr id="1678" name="Google Shape;1678;p92"/>
          <p:cNvSpPr txBox="1"/>
          <p:nvPr>
            <p:ph type="body" idx="1"/>
          </p:nvPr>
        </p:nvSpPr>
        <p:spPr>
          <a:xfrm>
            <a:off x="314925" y="4502350"/>
            <a:ext cx="7125600" cy="35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Which other sequence is </a:t>
            </a:r>
            <a:r>
              <a:rPr lang="en-GB" sz="2000" b="1"/>
              <a:t>linear</a:t>
            </a:r>
            <a:r>
              <a:rPr lang="en-GB" sz="2000"/>
              <a:t>? Explain how you know.</a:t>
            </a:r>
            <a:endParaRPr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82" name="Shape 1682"/>
        <p:cNvGrpSpPr/>
        <p:nvPr/>
      </p:nvGrpSpPr>
      <p:grpSpPr>
        <a:xfrm>
          <a:off x="0" y="0"/>
          <a:ext cx="0" cy="0"/>
        </a:xfrm>
      </p:grpSpPr>
      <p:sp>
        <p:nvSpPr>
          <p:cNvPr id="1683" name="Google Shape;1683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Describing arithmetic sequences</a:t>
            </a:r>
            <a:endParaRPr/>
          </a:p>
        </p:txBody>
      </p:sp>
      <p:sp>
        <p:nvSpPr>
          <p:cNvPr id="1684" name="Google Shape;1684;p93"/>
          <p:cNvSpPr txBox="1"/>
          <p:nvPr>
            <p:ph type="body" idx="1"/>
          </p:nvPr>
        </p:nvSpPr>
        <p:spPr>
          <a:xfrm>
            <a:off x="324000" y="1343400"/>
            <a:ext cx="3883500" cy="152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55600" algn="l" rtl="0">
              <a:spcBef>
                <a:spcPct val="0"/>
              </a:spcBef>
              <a:spcAft>
                <a:spcPct val="0"/>
              </a:spcAft>
              <a:buSzPts val="2000"/>
              <a:buAutoNum type="alphaLcParenR"/>
            </a:pPr>
            <a:r>
              <a:rPr lang="en-GB" sz="2000"/>
              <a:t>8, 12, 16, 20, 24, …</a:t>
            </a:r>
            <a:endParaRPr sz="2000"/>
          </a:p>
          <a:p>
            <a:pPr marL="457200" lvl="0" indent="-355600" algn="l" rtl="0">
              <a:spcBef>
                <a:spcPct val="0"/>
              </a:spcBef>
              <a:spcAft>
                <a:spcPct val="0"/>
              </a:spcAft>
              <a:buSzPts val="2000"/>
              <a:buAutoNum type="alphaLcParenR"/>
            </a:pPr>
            <a:r>
              <a:rPr lang="en-GB" sz="2000"/>
              <a:t>210, 205, 200, 195,190, …</a:t>
            </a:r>
            <a:endParaRPr sz="2000"/>
          </a:p>
          <a:p>
            <a:pPr marL="457200" lvl="0" indent="-355600" algn="l" rtl="0">
              <a:spcBef>
                <a:spcPct val="0"/>
              </a:spcBef>
              <a:spcAft>
                <a:spcPct val="0"/>
              </a:spcAft>
              <a:buSzPts val="2000"/>
              <a:buAutoNum type="alphaLcParenR"/>
            </a:pPr>
            <a:r>
              <a:rPr lang="en-GB" sz="2000"/>
              <a:t>8, 40, 20, 10, 5, …</a:t>
            </a:r>
            <a:endParaRPr sz="2000"/>
          </a:p>
          <a:p>
            <a:pPr marL="457200" lvl="0" indent="-355600" algn="l" rtl="0">
              <a:spcBef>
                <a:spcPct val="0"/>
              </a:spcBef>
              <a:spcAft>
                <a:spcPct val="0"/>
              </a:spcAft>
              <a:buSzPts val="2000"/>
              <a:buAutoNum type="alphaLcParenR"/>
            </a:pPr>
            <a:r>
              <a:rPr lang="en-GB" sz="2000"/>
              <a:t>1, 3, 6, 10, 15, …</a:t>
            </a:r>
            <a:endParaRPr sz="2000"/>
          </a:p>
        </p:txBody>
      </p:sp>
      <p:sp>
        <p:nvSpPr>
          <p:cNvPr id="1685" name="Google Shape;1685;p93"/>
          <p:cNvSpPr txBox="1"/>
          <p:nvPr>
            <p:ph type="body" idx="1"/>
          </p:nvPr>
        </p:nvSpPr>
        <p:spPr>
          <a:xfrm>
            <a:off x="324000" y="2926500"/>
            <a:ext cx="8496000" cy="8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 could have said : ‘b is also linear because the common difference between successive terms is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−5’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86" name="Google Shape;1686;p93"/>
          <p:cNvSpPr txBox="1"/>
          <p:nvPr>
            <p:ph type="body" idx="1"/>
          </p:nvPr>
        </p:nvSpPr>
        <p:spPr>
          <a:xfrm>
            <a:off x="324000" y="774500"/>
            <a:ext cx="7125600" cy="35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Which other sequence is </a:t>
            </a:r>
            <a:r>
              <a:rPr lang="en-GB" sz="2000" b="1"/>
              <a:t>linear</a:t>
            </a:r>
            <a:r>
              <a:rPr lang="en-GB" sz="2000"/>
              <a:t>? Explain how you know.</a:t>
            </a:r>
            <a:endParaRPr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90" name="Shape 1690"/>
        <p:cNvGrpSpPr/>
        <p:nvPr/>
      </p:nvGrpSpPr>
      <p:grpSpPr>
        <a:xfrm>
          <a:off x="0" y="0"/>
          <a:ext cx="0" cy="0"/>
        </a:xfrm>
      </p:grpSpPr>
      <p:sp>
        <p:nvSpPr>
          <p:cNvPr id="1691" name="Google Shape;1691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Describing arithmetic sequences</a:t>
            </a:r>
            <a:endParaRPr/>
          </a:p>
        </p:txBody>
      </p:sp>
      <p:sp>
        <p:nvSpPr>
          <p:cNvPr id="1692" name="Google Shape;1692;p94"/>
          <p:cNvSpPr txBox="1"/>
          <p:nvPr>
            <p:ph type="body" idx="1"/>
          </p:nvPr>
        </p:nvSpPr>
        <p:spPr>
          <a:xfrm>
            <a:off x="324000" y="1972550"/>
            <a:ext cx="3883500" cy="403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80,     40,     20,     10,     5, …</a:t>
            </a:r>
            <a:endParaRPr sz="2000"/>
          </a:p>
        </p:txBody>
      </p:sp>
      <p:sp>
        <p:nvSpPr>
          <p:cNvPr id="1693" name="Google Shape;1693;p94"/>
          <p:cNvSpPr txBox="1"/>
          <p:nvPr>
            <p:ph type="body" idx="1"/>
          </p:nvPr>
        </p:nvSpPr>
        <p:spPr>
          <a:xfrm>
            <a:off x="324000" y="4183800"/>
            <a:ext cx="8496000" cy="63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differences are not the same so not linear. There is a linear pattern in the differences though.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94" name="Google Shape;1694;p94"/>
          <p:cNvSpPr txBox="1"/>
          <p:nvPr>
            <p:ph type="body" idx="1"/>
          </p:nvPr>
        </p:nvSpPr>
        <p:spPr>
          <a:xfrm>
            <a:off x="324000" y="774500"/>
            <a:ext cx="8496000" cy="35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We can use the common difference to identify sequences that are not </a:t>
            </a:r>
            <a:r>
              <a:rPr lang="en-GB" sz="2000" b="1"/>
              <a:t>linear</a:t>
            </a:r>
            <a:r>
              <a:rPr lang="en-GB" sz="2000"/>
              <a:t>.</a:t>
            </a:r>
            <a:endParaRPr sz="2000"/>
          </a:p>
        </p:txBody>
      </p:sp>
      <p:pic>
        <p:nvPicPr>
          <p:cNvPr id="1695" name="Google Shape;1695;p94"/>
          <p:cNvPicPr preferRelativeResize="0"/>
          <p:nvPr/>
        </p:nvPicPr>
        <p:blipFill>
          <a:blip r:embed="rId3">
            <a:alphaModFix/>
          </a:blip>
          <a:srcRect l="61559" t="27330" r="13951" b="59597"/>
          <a:stretch>
            <a:fillRect/>
          </a:stretch>
        </p:blipFill>
        <p:spPr>
          <a:xfrm>
            <a:off x="275300" y="1679175"/>
            <a:ext cx="983052" cy="40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6" name="Google Shape;1696;p94"/>
          <p:cNvSpPr txBox="1"/>
          <p:nvPr/>
        </p:nvSpPr>
        <p:spPr>
          <a:xfrm>
            <a:off x="571562" y="1432300"/>
            <a:ext cx="5793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40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97" name="Google Shape;1697;p94"/>
          <p:cNvPicPr preferRelativeResize="0"/>
          <p:nvPr/>
        </p:nvPicPr>
        <p:blipFill>
          <a:blip r:embed="rId3">
            <a:alphaModFix/>
          </a:blip>
          <a:srcRect l="61559" t="27330" r="13951" b="59597"/>
          <a:stretch>
            <a:fillRect/>
          </a:stretch>
        </p:blipFill>
        <p:spPr>
          <a:xfrm>
            <a:off x="1113500" y="1679175"/>
            <a:ext cx="983052" cy="40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8" name="Google Shape;1698;p94"/>
          <p:cNvSpPr txBox="1"/>
          <p:nvPr/>
        </p:nvSpPr>
        <p:spPr>
          <a:xfrm>
            <a:off x="1409762" y="1432300"/>
            <a:ext cx="5793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99" name="Google Shape;1699;p94"/>
          <p:cNvPicPr preferRelativeResize="0"/>
          <p:nvPr/>
        </p:nvPicPr>
        <p:blipFill>
          <a:blip r:embed="rId3">
            <a:alphaModFix/>
          </a:blip>
          <a:srcRect l="61559" t="27330" r="13951" b="59597"/>
          <a:stretch>
            <a:fillRect/>
          </a:stretch>
        </p:blipFill>
        <p:spPr>
          <a:xfrm>
            <a:off x="1951700" y="1679175"/>
            <a:ext cx="856000" cy="40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0" name="Google Shape;1700;p94"/>
          <p:cNvSpPr txBox="1"/>
          <p:nvPr/>
        </p:nvSpPr>
        <p:spPr>
          <a:xfrm>
            <a:off x="2247952" y="1432300"/>
            <a:ext cx="5046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01" name="Google Shape;1701;p94"/>
          <p:cNvPicPr preferRelativeResize="0"/>
          <p:nvPr/>
        </p:nvPicPr>
        <p:blipFill>
          <a:blip r:embed="rId3">
            <a:alphaModFix/>
          </a:blip>
          <a:srcRect l="61559" t="27330" r="13951" b="59597"/>
          <a:stretch>
            <a:fillRect/>
          </a:stretch>
        </p:blipFill>
        <p:spPr>
          <a:xfrm>
            <a:off x="2674375" y="1679175"/>
            <a:ext cx="731024" cy="40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2" name="Google Shape;1702;p94"/>
          <p:cNvSpPr txBox="1"/>
          <p:nvPr/>
        </p:nvSpPr>
        <p:spPr>
          <a:xfrm>
            <a:off x="2927374" y="1432300"/>
            <a:ext cx="4308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3" name="Google Shape;1703;p94"/>
          <p:cNvSpPr txBox="1"/>
          <p:nvPr>
            <p:ph type="body" idx="1"/>
          </p:nvPr>
        </p:nvSpPr>
        <p:spPr>
          <a:xfrm>
            <a:off x="324000" y="3780000"/>
            <a:ext cx="3883500" cy="403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1,      3,      6,      10,      15, …</a:t>
            </a:r>
            <a:endParaRPr sz="2000"/>
          </a:p>
        </p:txBody>
      </p:sp>
      <p:sp>
        <p:nvSpPr>
          <p:cNvPr id="1704" name="Google Shape;1704;p94"/>
          <p:cNvSpPr txBox="1"/>
          <p:nvPr>
            <p:ph type="body" idx="1"/>
          </p:nvPr>
        </p:nvSpPr>
        <p:spPr>
          <a:xfrm>
            <a:off x="324000" y="2471388"/>
            <a:ext cx="8496000" cy="35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differences are not the same so not linear. Although there is a pattern with the differences.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705" name="Google Shape;1705;p94"/>
          <p:cNvPicPr preferRelativeResize="0"/>
          <p:nvPr/>
        </p:nvPicPr>
        <p:blipFill>
          <a:blip r:embed="rId3">
            <a:alphaModFix/>
          </a:blip>
          <a:srcRect l="61559" t="27330" r="13951" b="59597"/>
          <a:stretch>
            <a:fillRect/>
          </a:stretch>
        </p:blipFill>
        <p:spPr>
          <a:xfrm>
            <a:off x="324000" y="3451700"/>
            <a:ext cx="789500" cy="40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6" name="Google Shape;1706;p94"/>
          <p:cNvPicPr preferRelativeResize="0"/>
          <p:nvPr/>
        </p:nvPicPr>
        <p:blipFill>
          <a:blip r:embed="rId3">
            <a:alphaModFix/>
          </a:blip>
          <a:srcRect l="61559" t="27330" r="13951" b="59597"/>
          <a:stretch>
            <a:fillRect/>
          </a:stretch>
        </p:blipFill>
        <p:spPr>
          <a:xfrm>
            <a:off x="1009800" y="3451700"/>
            <a:ext cx="789500" cy="40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7" name="Google Shape;1707;p94"/>
          <p:cNvPicPr preferRelativeResize="0"/>
          <p:nvPr/>
        </p:nvPicPr>
        <p:blipFill>
          <a:blip r:embed="rId3">
            <a:alphaModFix/>
          </a:blip>
          <a:srcRect l="61559" t="27330" r="13951" b="59597"/>
          <a:stretch>
            <a:fillRect/>
          </a:stretch>
        </p:blipFill>
        <p:spPr>
          <a:xfrm>
            <a:off x="1695600" y="3451700"/>
            <a:ext cx="789500" cy="40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8" name="Google Shape;1708;p94"/>
          <p:cNvPicPr preferRelativeResize="0"/>
          <p:nvPr/>
        </p:nvPicPr>
        <p:blipFill>
          <a:blip r:embed="rId3">
            <a:alphaModFix/>
          </a:blip>
          <a:srcRect l="61559" t="27330" r="13951" b="59597"/>
          <a:stretch>
            <a:fillRect/>
          </a:stretch>
        </p:blipFill>
        <p:spPr>
          <a:xfrm>
            <a:off x="2381400" y="3451700"/>
            <a:ext cx="789500" cy="40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9" name="Google Shape;1709;p94"/>
          <p:cNvSpPr txBox="1"/>
          <p:nvPr/>
        </p:nvSpPr>
        <p:spPr>
          <a:xfrm>
            <a:off x="503354" y="3161250"/>
            <a:ext cx="4308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0" name="Google Shape;1710;p94"/>
          <p:cNvSpPr txBox="1"/>
          <p:nvPr/>
        </p:nvSpPr>
        <p:spPr>
          <a:xfrm>
            <a:off x="1189154" y="3161250"/>
            <a:ext cx="4308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1" name="Google Shape;1711;p94"/>
          <p:cNvSpPr txBox="1"/>
          <p:nvPr/>
        </p:nvSpPr>
        <p:spPr>
          <a:xfrm>
            <a:off x="1874954" y="3161250"/>
            <a:ext cx="4308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2" name="Google Shape;1712;p94"/>
          <p:cNvSpPr txBox="1"/>
          <p:nvPr/>
        </p:nvSpPr>
        <p:spPr>
          <a:xfrm>
            <a:off x="2560754" y="3161250"/>
            <a:ext cx="4308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16" name="Shape 1716"/>
        <p:cNvGrpSpPr/>
        <p:nvPr/>
      </p:nvGrpSpPr>
      <p:grpSpPr>
        <a:xfrm>
          <a:off x="0" y="0"/>
          <a:ext cx="0" cy="0"/>
        </a:xfrm>
      </p:grpSpPr>
      <p:sp>
        <p:nvSpPr>
          <p:cNvPr id="1717" name="Google Shape;1717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Describing arithmetic sequences</a:t>
            </a:r>
            <a:endParaRPr/>
          </a:p>
        </p:txBody>
      </p:sp>
      <p:sp>
        <p:nvSpPr>
          <p:cNvPr id="1718" name="Google Shape;1718;p95"/>
          <p:cNvSpPr txBox="1"/>
          <p:nvPr>
            <p:ph type="body" idx="1"/>
          </p:nvPr>
        </p:nvSpPr>
        <p:spPr>
          <a:xfrm>
            <a:off x="324000" y="3481600"/>
            <a:ext cx="8496000" cy="8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What is good about Lucas’ description?</a:t>
            </a:r>
            <a:endParaRPr sz="2000"/>
          </a:p>
        </p:txBody>
      </p:sp>
      <p:sp>
        <p:nvSpPr>
          <p:cNvPr id="1719" name="Google Shape;1719;p95"/>
          <p:cNvSpPr txBox="1"/>
          <p:nvPr>
            <p:ph type="body" idx="1"/>
          </p:nvPr>
        </p:nvSpPr>
        <p:spPr>
          <a:xfrm>
            <a:off x="324000" y="799800"/>
            <a:ext cx="8496000" cy="35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Lucas has formed his own sequence and is describing it to his classmates.</a:t>
            </a:r>
            <a:endParaRPr sz="2000"/>
          </a:p>
        </p:txBody>
      </p:sp>
      <p:sp>
        <p:nvSpPr>
          <p:cNvPr id="1720" name="Google Shape;1720;p95"/>
          <p:cNvSpPr txBox="1"/>
          <p:nvPr/>
        </p:nvSpPr>
        <p:spPr>
          <a:xfrm>
            <a:off x="433525" y="2856809"/>
            <a:ext cx="950700" cy="4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21" name="Google Shape;1721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802" y="2201324"/>
            <a:ext cx="550152" cy="617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2" name="Google Shape;1722;p95"/>
          <p:cNvPicPr preferRelativeResize="0"/>
          <p:nvPr/>
        </p:nvPicPr>
        <p:blipFill>
          <a:blip r:embed="rId4">
            <a:alphaModFix/>
          </a:blip>
          <a:srcRect l="40550" t="13240" b="6172"/>
          <a:stretch>
            <a:fillRect/>
          </a:stretch>
        </p:blipFill>
        <p:spPr>
          <a:xfrm>
            <a:off x="1063550" y="1541475"/>
            <a:ext cx="3508449" cy="1517875"/>
          </a:xfrm>
          <a:prstGeom prst="rect">
            <a:avLst/>
          </a:prstGeom>
          <a:noFill/>
          <a:ln>
            <a:noFill/>
          </a:ln>
        </p:spPr>
      </p:pic>
      <p:sp>
        <p:nvSpPr>
          <p:cNvPr id="1723" name="Google Shape;1723;p95"/>
          <p:cNvSpPr txBox="1"/>
          <p:nvPr/>
        </p:nvSpPr>
        <p:spPr>
          <a:xfrm>
            <a:off x="1384225" y="1684200"/>
            <a:ext cx="3114300" cy="9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My sequence is arithmetic, successive terms have a common difference of 10.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4" name="Google Shape;1724;p95"/>
          <p:cNvSpPr txBox="1"/>
          <p:nvPr>
            <p:ph type="body" idx="1"/>
          </p:nvPr>
        </p:nvSpPr>
        <p:spPr>
          <a:xfrm>
            <a:off x="324000" y="3987325"/>
            <a:ext cx="8496000" cy="8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 telling us it is arithmetic means we know it has a constant additive pattern. He has told us clearly the common difference between terms.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28" name="Shape 1728"/>
        <p:cNvGrpSpPr/>
        <p:nvPr/>
      </p:nvGrpSpPr>
      <p:grpSpPr>
        <a:xfrm>
          <a:off x="0" y="0"/>
          <a:ext cx="0" cy="0"/>
        </a:xfrm>
      </p:grpSpPr>
      <p:sp>
        <p:nvSpPr>
          <p:cNvPr id="1729" name="Google Shape;1729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Describing arithmetic sequences</a:t>
            </a:r>
            <a:endParaRPr/>
          </a:p>
        </p:txBody>
      </p:sp>
      <p:sp>
        <p:nvSpPr>
          <p:cNvPr id="1730" name="Google Shape;1730;p96"/>
          <p:cNvSpPr txBox="1"/>
          <p:nvPr>
            <p:ph type="body" idx="1"/>
          </p:nvPr>
        </p:nvSpPr>
        <p:spPr>
          <a:xfrm>
            <a:off x="324000" y="810000"/>
            <a:ext cx="8496000" cy="8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Will Lucas’ classmates be able to guess his sequence?</a:t>
            </a:r>
            <a:endParaRPr sz="2000"/>
          </a:p>
        </p:txBody>
      </p:sp>
      <p:sp>
        <p:nvSpPr>
          <p:cNvPr id="1731" name="Google Shape;1731;p96"/>
          <p:cNvSpPr txBox="1"/>
          <p:nvPr/>
        </p:nvSpPr>
        <p:spPr>
          <a:xfrm>
            <a:off x="433525" y="2704409"/>
            <a:ext cx="950700" cy="4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32" name="Google Shape;1732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802" y="2048924"/>
            <a:ext cx="550152" cy="617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3" name="Google Shape;1733;p96"/>
          <p:cNvPicPr preferRelativeResize="0"/>
          <p:nvPr/>
        </p:nvPicPr>
        <p:blipFill>
          <a:blip r:embed="rId4">
            <a:alphaModFix/>
          </a:blip>
          <a:srcRect l="40550" t="13240" b="6172"/>
          <a:stretch>
            <a:fillRect/>
          </a:stretch>
        </p:blipFill>
        <p:spPr>
          <a:xfrm>
            <a:off x="1063550" y="1389075"/>
            <a:ext cx="3508449" cy="1517875"/>
          </a:xfrm>
          <a:prstGeom prst="rect">
            <a:avLst/>
          </a:prstGeom>
          <a:noFill/>
          <a:ln>
            <a:noFill/>
          </a:ln>
        </p:spPr>
      </p:pic>
      <p:sp>
        <p:nvSpPr>
          <p:cNvPr id="1734" name="Google Shape;1734;p96"/>
          <p:cNvSpPr txBox="1"/>
          <p:nvPr/>
        </p:nvSpPr>
        <p:spPr>
          <a:xfrm>
            <a:off x="1384225" y="1531800"/>
            <a:ext cx="3114300" cy="9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My sequence is arithmetic, successive terms have a common difference of 10.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5" name="Google Shape;1735;p96"/>
          <p:cNvSpPr txBox="1"/>
          <p:nvPr>
            <p:ph type="body" idx="1"/>
          </p:nvPr>
        </p:nvSpPr>
        <p:spPr>
          <a:xfrm>
            <a:off x="4824000" y="1389075"/>
            <a:ext cx="3996000" cy="8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No, lots of sequences have a common difference of 10.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 10, 20, 30,...      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0.2, 10.2, 20.2,...      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55, 65, 75, …  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36" name="Google Shape;1736;p96"/>
          <p:cNvSpPr txBox="1"/>
          <p:nvPr>
            <p:ph type="body" idx="1"/>
          </p:nvPr>
        </p:nvSpPr>
        <p:spPr>
          <a:xfrm>
            <a:off x="324000" y="3630050"/>
            <a:ext cx="8496000" cy="403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What other information does Lucas need to give if we want to know exactly the sequence he is thinking about?</a:t>
            </a:r>
            <a:endParaRPr sz="2000"/>
          </a:p>
        </p:txBody>
      </p:sp>
      <p:sp>
        <p:nvSpPr>
          <p:cNvPr id="1737" name="Google Shape;1737;p96"/>
          <p:cNvSpPr txBox="1"/>
          <p:nvPr>
            <p:ph type="body" idx="1"/>
          </p:nvPr>
        </p:nvSpPr>
        <p:spPr>
          <a:xfrm>
            <a:off x="324000" y="4276300"/>
            <a:ext cx="8000400" cy="35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Lucas could tell us one of the terms and its position in his sequence.  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41" name="Shape 1741"/>
        <p:cNvGrpSpPr/>
        <p:nvPr/>
      </p:nvGrpSpPr>
      <p:grpSpPr>
        <a:xfrm>
          <a:off x="0" y="0"/>
          <a:ext cx="0" cy="0"/>
        </a:xfrm>
      </p:grpSpPr>
      <p:sp>
        <p:nvSpPr>
          <p:cNvPr id="1742" name="Google Shape;1742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Describing arithmetic sequences</a:t>
            </a:r>
            <a:endParaRPr/>
          </a:p>
        </p:txBody>
      </p:sp>
      <p:sp>
        <p:nvSpPr>
          <p:cNvPr id="1743" name="Google Shape;1743;p97"/>
          <p:cNvSpPr txBox="1"/>
          <p:nvPr>
            <p:ph type="body" idx="1"/>
          </p:nvPr>
        </p:nvSpPr>
        <p:spPr>
          <a:xfrm>
            <a:off x="324000" y="784075"/>
            <a:ext cx="8496000" cy="8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b="1"/>
              <a:t>Arithmetic sequences</a:t>
            </a:r>
            <a:r>
              <a:rPr lang="en-GB" sz="1800"/>
              <a:t> can be uniquely described with an initial term and a common difference. The initial term is the first term, T</a:t>
            </a:r>
            <a:r>
              <a:rPr lang="en-GB" sz="1800" baseline="-25000"/>
              <a:t>1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1744" name="Google Shape;1744;p97"/>
          <p:cNvSpPr txBox="1"/>
          <p:nvPr>
            <p:ph type="body" idx="1"/>
          </p:nvPr>
        </p:nvSpPr>
        <p:spPr>
          <a:xfrm>
            <a:off x="324000" y="1620000"/>
            <a:ext cx="8496000" cy="8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If we are given any term and the common difference in an </a:t>
            </a:r>
            <a:r>
              <a:rPr lang="en-GB" sz="1800" b="1"/>
              <a:t>arithmetic sequence</a:t>
            </a:r>
            <a:r>
              <a:rPr lang="en-GB" sz="1800"/>
              <a:t> we can calculate the initial (first) term.</a:t>
            </a:r>
            <a:endParaRPr sz="1800"/>
          </a:p>
        </p:txBody>
      </p:sp>
      <p:sp>
        <p:nvSpPr>
          <p:cNvPr id="1745" name="Google Shape;1745;p97"/>
          <p:cNvSpPr txBox="1"/>
          <p:nvPr/>
        </p:nvSpPr>
        <p:spPr>
          <a:xfrm>
            <a:off x="386325" y="3753384"/>
            <a:ext cx="950700" cy="4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46" name="Google Shape;1746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602" y="3097899"/>
            <a:ext cx="550152" cy="617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7" name="Google Shape;1747;p97"/>
          <p:cNvPicPr preferRelativeResize="0"/>
          <p:nvPr/>
        </p:nvPicPr>
        <p:blipFill>
          <a:blip r:embed="rId4">
            <a:alphaModFix/>
          </a:blip>
          <a:srcRect l="40550" t="13240" b="6172"/>
          <a:stretch>
            <a:fillRect/>
          </a:stretch>
        </p:blipFill>
        <p:spPr>
          <a:xfrm>
            <a:off x="1016350" y="2438050"/>
            <a:ext cx="4079949" cy="1517875"/>
          </a:xfrm>
          <a:prstGeom prst="rect">
            <a:avLst/>
          </a:prstGeom>
          <a:noFill/>
          <a:ln>
            <a:noFill/>
          </a:ln>
        </p:spPr>
      </p:pic>
      <p:sp>
        <p:nvSpPr>
          <p:cNvPr id="1748" name="Google Shape;1748;p97"/>
          <p:cNvSpPr txBox="1"/>
          <p:nvPr/>
        </p:nvSpPr>
        <p:spPr>
          <a:xfrm>
            <a:off x="1337025" y="2580775"/>
            <a:ext cx="3720000" cy="9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My sequence is arithmetic, the 3</a:t>
            </a:r>
            <a:r>
              <a:rPr lang="en-GB" sz="1800" baseline="30000">
                <a:latin typeface="Lexend"/>
                <a:ea typeface="Lexend"/>
                <a:cs typeface="Lexend"/>
                <a:sym typeface="Lexend"/>
              </a:rPr>
              <a:t>rd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term is 15 and terms increase by 10 each time.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9" name="Google Shape;1749;p97"/>
          <p:cNvSpPr txBox="1"/>
          <p:nvPr>
            <p:ph type="body" idx="1"/>
          </p:nvPr>
        </p:nvSpPr>
        <p:spPr>
          <a:xfrm>
            <a:off x="348125" y="4195100"/>
            <a:ext cx="8496000" cy="8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How can we rewrite Lucas’ statement so it includes the initial term and common difference?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53" name="Shape 1753"/>
        <p:cNvGrpSpPr/>
        <p:nvPr/>
      </p:nvGrpSpPr>
      <p:grpSpPr>
        <a:xfrm>
          <a:off x="0" y="0"/>
          <a:ext cx="0" cy="0"/>
        </a:xfrm>
      </p:grpSpPr>
      <p:sp>
        <p:nvSpPr>
          <p:cNvPr id="1754" name="Google Shape;1754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Describing arithmetic sequences</a:t>
            </a:r>
            <a:endParaRPr/>
          </a:p>
        </p:txBody>
      </p:sp>
      <p:sp>
        <p:nvSpPr>
          <p:cNvPr id="1755" name="Google Shape;1755;p98"/>
          <p:cNvSpPr txBox="1"/>
          <p:nvPr/>
        </p:nvSpPr>
        <p:spPr>
          <a:xfrm>
            <a:off x="386325" y="4362984"/>
            <a:ext cx="950700" cy="4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56" name="Google Shape;1756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602" y="3707499"/>
            <a:ext cx="550152" cy="617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7" name="Google Shape;1757;p98"/>
          <p:cNvPicPr preferRelativeResize="0"/>
          <p:nvPr/>
        </p:nvPicPr>
        <p:blipFill>
          <a:blip r:embed="rId4">
            <a:alphaModFix/>
          </a:blip>
          <a:srcRect l="40550" t="13240" b="6172"/>
          <a:stretch>
            <a:fillRect/>
          </a:stretch>
        </p:blipFill>
        <p:spPr>
          <a:xfrm>
            <a:off x="1016350" y="3047650"/>
            <a:ext cx="4079949" cy="1517875"/>
          </a:xfrm>
          <a:prstGeom prst="rect">
            <a:avLst/>
          </a:prstGeom>
          <a:noFill/>
          <a:ln>
            <a:noFill/>
          </a:ln>
        </p:spPr>
      </p:pic>
      <p:sp>
        <p:nvSpPr>
          <p:cNvPr id="1758" name="Google Shape;1758;p98"/>
          <p:cNvSpPr txBox="1"/>
          <p:nvPr/>
        </p:nvSpPr>
        <p:spPr>
          <a:xfrm>
            <a:off x="1337025" y="3190375"/>
            <a:ext cx="3720000" cy="9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My sequence is arithmetic, the 3</a:t>
            </a:r>
            <a:r>
              <a:rPr lang="en-GB" sz="1800" baseline="30000">
                <a:latin typeface="Lexend"/>
                <a:ea typeface="Lexend"/>
                <a:cs typeface="Lexend"/>
                <a:sym typeface="Lexend"/>
              </a:rPr>
              <a:t>rd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term is 15 and terms increase by 10 each time.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9" name="Google Shape;1759;p98"/>
          <p:cNvSpPr txBox="1"/>
          <p:nvPr>
            <p:ph type="body" idx="1"/>
          </p:nvPr>
        </p:nvSpPr>
        <p:spPr>
          <a:xfrm>
            <a:off x="324000" y="640650"/>
            <a:ext cx="8496000" cy="8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How can we rewrite Lucas’ statement so it includes the initial term and common difference?</a:t>
            </a:r>
            <a:endParaRPr sz="1800"/>
          </a:p>
        </p:txBody>
      </p:sp>
      <p:pic>
        <p:nvPicPr>
          <p:cNvPr id="1760" name="Google Shape;1760;p98"/>
          <p:cNvPicPr preferRelativeResize="0"/>
          <p:nvPr/>
        </p:nvPicPr>
        <p:blipFill>
          <a:blip r:embed="rId4">
            <a:alphaModFix/>
          </a:blip>
          <a:srcRect l="40550" t="13240" b="6172"/>
          <a:stretch>
            <a:fillRect/>
          </a:stretch>
        </p:blipFill>
        <p:spPr>
          <a:xfrm flipH="1">
            <a:off x="5316523" y="3059650"/>
            <a:ext cx="3451402" cy="1517875"/>
          </a:xfrm>
          <a:prstGeom prst="rect">
            <a:avLst/>
          </a:prstGeom>
          <a:noFill/>
          <a:ln>
            <a:noFill/>
          </a:ln>
        </p:spPr>
      </p:pic>
      <p:sp>
        <p:nvSpPr>
          <p:cNvPr id="1761" name="Google Shape;1761;p98"/>
          <p:cNvSpPr txBox="1"/>
          <p:nvPr/>
        </p:nvSpPr>
        <p:spPr>
          <a:xfrm flipH="1">
            <a:off x="5403950" y="3202375"/>
            <a:ext cx="3092700" cy="9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An arithmetic sequence with the initial term (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−5) and a common difference of 10.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62" name="Google Shape;1762;p98"/>
          <p:cNvSpPr/>
          <p:nvPr/>
        </p:nvSpPr>
        <p:spPr>
          <a:xfrm>
            <a:off x="1730941" y="1699355"/>
            <a:ext cx="635400" cy="310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3" name="Google Shape;1763;p98"/>
          <p:cNvSpPr/>
          <p:nvPr/>
        </p:nvSpPr>
        <p:spPr>
          <a:xfrm>
            <a:off x="2627511" y="1708130"/>
            <a:ext cx="635400" cy="310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4" name="Google Shape;1764;p98"/>
          <p:cNvSpPr/>
          <p:nvPr/>
        </p:nvSpPr>
        <p:spPr>
          <a:xfrm>
            <a:off x="3531021" y="1708118"/>
            <a:ext cx="635400" cy="310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15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5" name="Google Shape;1765;p98"/>
          <p:cNvSpPr/>
          <p:nvPr/>
        </p:nvSpPr>
        <p:spPr>
          <a:xfrm>
            <a:off x="4391283" y="1708118"/>
            <a:ext cx="635400" cy="310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6" name="Google Shape;1766;p98"/>
          <p:cNvSpPr txBox="1"/>
          <p:nvPr/>
        </p:nvSpPr>
        <p:spPr>
          <a:xfrm>
            <a:off x="2417365" y="1746628"/>
            <a:ext cx="1515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7" name="Google Shape;1767;p98"/>
          <p:cNvSpPr txBox="1"/>
          <p:nvPr/>
        </p:nvSpPr>
        <p:spPr>
          <a:xfrm>
            <a:off x="3306335" y="1746628"/>
            <a:ext cx="1515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8" name="Google Shape;1768;p98"/>
          <p:cNvSpPr txBox="1"/>
          <p:nvPr/>
        </p:nvSpPr>
        <p:spPr>
          <a:xfrm>
            <a:off x="4272036" y="1746628"/>
            <a:ext cx="1515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9" name="Google Shape;1769;p98"/>
          <p:cNvSpPr txBox="1"/>
          <p:nvPr/>
        </p:nvSpPr>
        <p:spPr>
          <a:xfrm>
            <a:off x="5966755" y="1746628"/>
            <a:ext cx="4557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…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0" name="Google Shape;1770;p98"/>
          <p:cNvSpPr/>
          <p:nvPr/>
        </p:nvSpPr>
        <p:spPr>
          <a:xfrm>
            <a:off x="5229483" y="1708118"/>
            <a:ext cx="635400" cy="310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1" name="Google Shape;1771;p98"/>
          <p:cNvSpPr txBox="1"/>
          <p:nvPr/>
        </p:nvSpPr>
        <p:spPr>
          <a:xfrm>
            <a:off x="5110236" y="1746628"/>
            <a:ext cx="1515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72" name="Google Shape;1772;p98"/>
          <p:cNvPicPr preferRelativeResize="0"/>
          <p:nvPr/>
        </p:nvPicPr>
        <p:blipFill>
          <a:blip r:embed="rId5">
            <a:alphaModFix/>
          </a:blip>
          <a:srcRect l="61559" t="27330" r="13951" b="59597"/>
          <a:stretch>
            <a:fillRect/>
          </a:stretch>
        </p:blipFill>
        <p:spPr>
          <a:xfrm>
            <a:off x="3680700" y="1341000"/>
            <a:ext cx="1171800" cy="40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3" name="Google Shape;1773;p98"/>
          <p:cNvPicPr preferRelativeResize="0"/>
          <p:nvPr/>
        </p:nvPicPr>
        <p:blipFill>
          <a:blip r:embed="rId5">
            <a:alphaModFix/>
          </a:blip>
          <a:srcRect l="61559" t="27330" r="13951" b="59597"/>
          <a:stretch>
            <a:fillRect/>
          </a:stretch>
        </p:blipFill>
        <p:spPr>
          <a:xfrm>
            <a:off x="4666775" y="1341000"/>
            <a:ext cx="1171800" cy="40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4" name="Google Shape;1774;p98"/>
          <p:cNvSpPr txBox="1"/>
          <p:nvPr/>
        </p:nvSpPr>
        <p:spPr>
          <a:xfrm>
            <a:off x="3976962" y="1054800"/>
            <a:ext cx="5793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5" name="Google Shape;1775;p98"/>
          <p:cNvSpPr txBox="1"/>
          <p:nvPr/>
        </p:nvSpPr>
        <p:spPr>
          <a:xfrm>
            <a:off x="4967562" y="1054800"/>
            <a:ext cx="5793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76" name="Google Shape;1776;p98"/>
          <p:cNvPicPr preferRelativeResize="0"/>
          <p:nvPr/>
        </p:nvPicPr>
        <p:blipFill>
          <a:blip r:embed="rId5">
            <a:alphaModFix/>
          </a:blip>
          <a:srcRect l="61559" t="27330" r="13951" b="59597"/>
          <a:stretch>
            <a:fillRect/>
          </a:stretch>
        </p:blipFill>
        <p:spPr>
          <a:xfrm rot="10800000">
            <a:off x="2669125" y="2081600"/>
            <a:ext cx="1171800" cy="40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7" name="Google Shape;1777;p98"/>
          <p:cNvPicPr preferRelativeResize="0"/>
          <p:nvPr/>
        </p:nvPicPr>
        <p:blipFill>
          <a:blip r:embed="rId5">
            <a:alphaModFix/>
          </a:blip>
          <a:srcRect l="61559" t="27330" r="13951" b="59597"/>
          <a:stretch>
            <a:fillRect/>
          </a:stretch>
        </p:blipFill>
        <p:spPr>
          <a:xfrm rot="10800000">
            <a:off x="1730950" y="2081600"/>
            <a:ext cx="1171800" cy="40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8" name="Google Shape;1778;p98"/>
          <p:cNvSpPr txBox="1"/>
          <p:nvPr/>
        </p:nvSpPr>
        <p:spPr>
          <a:xfrm>
            <a:off x="2965387" y="2510350"/>
            <a:ext cx="5793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9" name="Google Shape;1779;p98"/>
          <p:cNvSpPr txBox="1"/>
          <p:nvPr/>
        </p:nvSpPr>
        <p:spPr>
          <a:xfrm>
            <a:off x="2027212" y="2510350"/>
            <a:ext cx="5793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0" name="Google Shape;1780;p98"/>
          <p:cNvSpPr/>
          <p:nvPr/>
        </p:nvSpPr>
        <p:spPr>
          <a:xfrm>
            <a:off x="2619900" y="1703205"/>
            <a:ext cx="635400" cy="3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5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1" name="Google Shape;1781;p98"/>
          <p:cNvSpPr/>
          <p:nvPr/>
        </p:nvSpPr>
        <p:spPr>
          <a:xfrm>
            <a:off x="1730950" y="1703205"/>
            <a:ext cx="635400" cy="3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5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85" name="Shape 1785"/>
        <p:cNvGrpSpPr/>
        <p:nvPr/>
      </p:nvGrpSpPr>
      <p:grpSpPr>
        <a:xfrm>
          <a:off x="0" y="0"/>
          <a:ext cx="0" cy="0"/>
        </a:xfrm>
      </p:grpSpPr>
      <p:sp>
        <p:nvSpPr>
          <p:cNvPr id="1786" name="Google Shape;1786;p99"/>
          <p:cNvSpPr txBox="1"/>
          <p:nvPr>
            <p:ph type="body" idx="1"/>
          </p:nvPr>
        </p:nvSpPr>
        <p:spPr>
          <a:xfrm>
            <a:off x="324000" y="3638425"/>
            <a:ext cx="8496000" cy="35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,  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,  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+ 3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,    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+ 6</a:t>
            </a:r>
            <a:r>
              <a:rPr lang="en-GB" sz="2000" i="1">
                <a:latin typeface="Times"/>
                <a:ea typeface="Times"/>
                <a:cs typeface="Times"/>
                <a:sym typeface="Times"/>
              </a:rPr>
              <a:t>b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87" name="Google Shape;1787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Describing arithmetic sequences</a:t>
            </a:r>
            <a:endParaRPr/>
          </a:p>
        </p:txBody>
      </p:sp>
      <p:sp>
        <p:nvSpPr>
          <p:cNvPr id="1788" name="Google Shape;1788;p99"/>
          <p:cNvSpPr txBox="1"/>
          <p:nvPr>
            <p:ph type="body" idx="1"/>
          </p:nvPr>
        </p:nvSpPr>
        <p:spPr>
          <a:xfrm>
            <a:off x="324000" y="729022"/>
            <a:ext cx="8496000" cy="8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Being able to describe </a:t>
            </a:r>
            <a:r>
              <a:rPr lang="en-GB" sz="1800" b="1"/>
              <a:t>linear sequences</a:t>
            </a:r>
            <a:r>
              <a:rPr lang="en-GB" sz="1800"/>
              <a:t> with an initial term and common difference can help us investigate properties of </a:t>
            </a:r>
            <a:r>
              <a:rPr lang="en-GB" sz="1800" b="1"/>
              <a:t>linear sequences.</a:t>
            </a:r>
            <a:endParaRPr sz="1800" b="1"/>
          </a:p>
        </p:txBody>
      </p:sp>
      <p:sp>
        <p:nvSpPr>
          <p:cNvPr id="1789" name="Google Shape;1789;p99"/>
          <p:cNvSpPr txBox="1"/>
          <p:nvPr>
            <p:ph type="body" idx="1"/>
          </p:nvPr>
        </p:nvSpPr>
        <p:spPr>
          <a:xfrm>
            <a:off x="324000" y="1467600"/>
            <a:ext cx="8496000" cy="35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Is this a </a:t>
            </a:r>
            <a:r>
              <a:rPr lang="en-GB" sz="1800" b="1"/>
              <a:t>linear sequence</a:t>
            </a:r>
            <a:r>
              <a:rPr lang="en-GB" sz="1800"/>
              <a:t>?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90" name="Google Shape;1790;p99"/>
          <p:cNvSpPr txBox="1"/>
          <p:nvPr>
            <p:ph type="body" idx="1"/>
          </p:nvPr>
        </p:nvSpPr>
        <p:spPr>
          <a:xfrm>
            <a:off x="324000" y="2766875"/>
            <a:ext cx="8496000" cy="48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Yes, it has an initial term of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1800"/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and a common difference of</a:t>
            </a:r>
            <a:r>
              <a:rPr lang="en-GB" sz="1800"/>
              <a:t>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c.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791" name="Google Shape;1791;p99" descr="&lt;math xmlns=&quot;http://www.w3.org/1998/Math/MathML&quot; display=&quot;block&quot; data-is-equatio=&quot;1&quot; data-latex=&quot;b,\ b+c,\ b+2c,\ b+3c,\ ...&quot;&gt;&lt;mi&gt;b&lt;/mi&gt;&lt;mo&gt;,&lt;/mo&gt;&lt;mtext&gt;&lt;/mtext&gt;&lt;mi&gt;b&lt;/mi&gt;&lt;mo&gt;+&lt;/mo&gt;&lt;mi&gt;c&lt;/mi&gt;&lt;mo&gt;,&lt;/mo&gt;&lt;mtext&gt;&lt;/mtext&gt;&lt;mi&gt;b&lt;/mi&gt;&lt;mo&gt;+&lt;/mo&gt;&lt;mn&gt;2&lt;/mn&gt;&lt;mi&gt;c&lt;/mi&gt;&lt;mo&gt;,&lt;/mo&gt;&lt;mtext&gt;&lt;/mtext&gt;&lt;mi&gt;b&lt;/mi&gt;&lt;mo&gt;+&lt;/mo&gt;&lt;mn&gt;3&lt;/mn&gt;&lt;mi&gt;c&lt;/mi&gt;&lt;mo&gt;,&lt;/mo&gt;&lt;mtext&gt;&lt;/mtext&gt;&lt;mo&gt;.&lt;/mo&gt;&lt;mo&gt;.&lt;/mo&gt;&lt;mo&gt;.&lt;/mo&gt;&lt;/math&gt;" title="b comma b plus c comma b plus 2 c comma b plus 3 c comma period period perio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854350"/>
            <a:ext cx="3411724" cy="25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2" name="Google Shape;1792;p99"/>
          <p:cNvPicPr preferRelativeResize="0"/>
          <p:nvPr/>
        </p:nvPicPr>
        <p:blipFill>
          <a:blip r:embed="rId4">
            <a:alphaModFix/>
          </a:blip>
          <a:srcRect l="61559" t="27330" r="13951" b="59597"/>
          <a:stretch>
            <a:fillRect/>
          </a:stretch>
        </p:blipFill>
        <p:spPr>
          <a:xfrm rot="10800000" flipH="1">
            <a:off x="324000" y="2114549"/>
            <a:ext cx="674824" cy="322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3" name="Google Shape;1793;p99"/>
          <p:cNvPicPr preferRelativeResize="0"/>
          <p:nvPr/>
        </p:nvPicPr>
        <p:blipFill>
          <a:blip r:embed="rId4">
            <a:alphaModFix/>
          </a:blip>
          <a:srcRect l="61559" t="27330" r="13951" b="59597"/>
          <a:stretch>
            <a:fillRect/>
          </a:stretch>
        </p:blipFill>
        <p:spPr>
          <a:xfrm rot="10800000" flipH="1">
            <a:off x="998825" y="2114549"/>
            <a:ext cx="931352" cy="322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4" name="Google Shape;1794;p99"/>
          <p:cNvPicPr preferRelativeResize="0"/>
          <p:nvPr/>
        </p:nvPicPr>
        <p:blipFill>
          <a:blip r:embed="rId4">
            <a:alphaModFix/>
          </a:blip>
          <a:srcRect l="61559" t="27330" r="13951" b="59597"/>
          <a:stretch>
            <a:fillRect/>
          </a:stretch>
        </p:blipFill>
        <p:spPr>
          <a:xfrm rot="10800000" flipH="1">
            <a:off x="1930175" y="2114549"/>
            <a:ext cx="931352" cy="322451"/>
          </a:xfrm>
          <a:prstGeom prst="rect">
            <a:avLst/>
          </a:prstGeom>
          <a:noFill/>
          <a:ln>
            <a:noFill/>
          </a:ln>
        </p:spPr>
      </p:pic>
      <p:sp>
        <p:nvSpPr>
          <p:cNvPr id="1795" name="Google Shape;1795;p99"/>
          <p:cNvSpPr txBox="1"/>
          <p:nvPr/>
        </p:nvSpPr>
        <p:spPr>
          <a:xfrm>
            <a:off x="403233" y="2404777"/>
            <a:ext cx="5793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c</a:t>
            </a:r>
            <a:endParaRPr sz="20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96" name="Google Shape;1796;p99"/>
          <p:cNvSpPr txBox="1"/>
          <p:nvPr/>
        </p:nvSpPr>
        <p:spPr>
          <a:xfrm>
            <a:off x="1206311" y="2404777"/>
            <a:ext cx="5793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c</a:t>
            </a:r>
            <a:endParaRPr sz="20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97" name="Google Shape;1797;p99"/>
          <p:cNvSpPr txBox="1"/>
          <p:nvPr/>
        </p:nvSpPr>
        <p:spPr>
          <a:xfrm>
            <a:off x="2205436" y="2404777"/>
            <a:ext cx="5793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c</a:t>
            </a:r>
            <a:endParaRPr sz="20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98" name="Google Shape;1798;p99"/>
          <p:cNvSpPr txBox="1"/>
          <p:nvPr>
            <p:ph type="body" idx="1"/>
          </p:nvPr>
        </p:nvSpPr>
        <p:spPr>
          <a:xfrm>
            <a:off x="324000" y="3265650"/>
            <a:ext cx="8496000" cy="28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Is this a </a:t>
            </a:r>
            <a:r>
              <a:rPr lang="en-GB" sz="1800" b="1"/>
              <a:t>linear sequence</a:t>
            </a:r>
            <a:r>
              <a:rPr lang="en-GB" sz="1800"/>
              <a:t>?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799" name="Google Shape;1799;p99"/>
          <p:cNvPicPr preferRelativeResize="0"/>
          <p:nvPr/>
        </p:nvPicPr>
        <p:blipFill>
          <a:blip r:embed="rId4">
            <a:alphaModFix/>
          </a:blip>
          <a:srcRect l="61559" t="27330" r="13951" b="59597"/>
          <a:stretch>
            <a:fillRect/>
          </a:stretch>
        </p:blipFill>
        <p:spPr>
          <a:xfrm rot="10800000" flipH="1">
            <a:off x="324000" y="3943349"/>
            <a:ext cx="674824" cy="322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0" name="Google Shape;1800;p99"/>
          <p:cNvPicPr preferRelativeResize="0"/>
          <p:nvPr/>
        </p:nvPicPr>
        <p:blipFill>
          <a:blip r:embed="rId4">
            <a:alphaModFix/>
          </a:blip>
          <a:srcRect l="61559" t="27330" r="13951" b="59597"/>
          <a:stretch>
            <a:fillRect/>
          </a:stretch>
        </p:blipFill>
        <p:spPr>
          <a:xfrm rot="10800000" flipH="1">
            <a:off x="998825" y="3943349"/>
            <a:ext cx="931352" cy="322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1" name="Google Shape;1801;p99"/>
          <p:cNvPicPr preferRelativeResize="0"/>
          <p:nvPr/>
        </p:nvPicPr>
        <p:blipFill>
          <a:blip r:embed="rId4">
            <a:alphaModFix/>
          </a:blip>
          <a:srcRect l="61559" t="27330" r="13951" b="59597"/>
          <a:stretch>
            <a:fillRect/>
          </a:stretch>
        </p:blipFill>
        <p:spPr>
          <a:xfrm rot="10800000" flipH="1">
            <a:off x="1930175" y="3943349"/>
            <a:ext cx="931352" cy="322451"/>
          </a:xfrm>
          <a:prstGeom prst="rect">
            <a:avLst/>
          </a:prstGeom>
          <a:noFill/>
          <a:ln>
            <a:noFill/>
          </a:ln>
        </p:spPr>
      </p:pic>
      <p:sp>
        <p:nvSpPr>
          <p:cNvPr id="1802" name="Google Shape;1802;p99"/>
          <p:cNvSpPr txBox="1"/>
          <p:nvPr/>
        </p:nvSpPr>
        <p:spPr>
          <a:xfrm>
            <a:off x="403233" y="4233577"/>
            <a:ext cx="5793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endParaRPr sz="20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03" name="Google Shape;1803;p99"/>
          <p:cNvSpPr txBox="1"/>
          <p:nvPr/>
        </p:nvSpPr>
        <p:spPr>
          <a:xfrm>
            <a:off x="1206311" y="4233577"/>
            <a:ext cx="5793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endParaRPr sz="20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04" name="Google Shape;1804;p99"/>
          <p:cNvSpPr txBox="1"/>
          <p:nvPr/>
        </p:nvSpPr>
        <p:spPr>
          <a:xfrm>
            <a:off x="2205436" y="4233577"/>
            <a:ext cx="5793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000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endParaRPr sz="2000" i="1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05" name="Google Shape;1805;p99"/>
          <p:cNvSpPr txBox="1"/>
          <p:nvPr>
            <p:ph type="body" idx="1"/>
          </p:nvPr>
        </p:nvSpPr>
        <p:spPr>
          <a:xfrm>
            <a:off x="324000" y="4543369"/>
            <a:ext cx="8496000" cy="25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No, the difference between terms changes each time.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09" name="Shape 1809"/>
        <p:cNvGrpSpPr/>
        <p:nvPr/>
      </p:nvGrpSpPr>
      <p:grpSpPr>
        <a:xfrm>
          <a:off x="0" y="0"/>
          <a:ext cx="0" cy="0"/>
        </a:xfrm>
      </p:grpSpPr>
      <p:sp>
        <p:nvSpPr>
          <p:cNvPr id="1810" name="Google Shape;1810;p100"/>
          <p:cNvSpPr txBox="1"/>
          <p:nvPr>
            <p:ph type="body" idx="1"/>
          </p:nvPr>
        </p:nvSpPr>
        <p:spPr>
          <a:xfrm>
            <a:off x="324000" y="724350"/>
            <a:ext cx="8496000" cy="100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Fill in the blanks to describe each of the sequences below. Use the keywords below where possible.</a:t>
            </a:r>
            <a:endParaRPr sz="2000"/>
          </a:p>
        </p:txBody>
      </p:sp>
      <p:sp>
        <p:nvSpPr>
          <p:cNvPr id="1811" name="Google Shape;1811;p10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Describing arithmetic sequences</a:t>
            </a:r>
            <a:endParaRPr/>
          </a:p>
        </p:txBody>
      </p:sp>
      <p:grpSp>
        <p:nvGrpSpPr>
          <p:cNvPr id="1812" name="Google Shape;1812;p100"/>
          <p:cNvGrpSpPr/>
          <p:nvPr/>
        </p:nvGrpSpPr>
        <p:grpSpPr>
          <a:xfrm>
            <a:off x="323991" y="1541025"/>
            <a:ext cx="457200" cy="457200"/>
            <a:chOff x="1020916" y="1442088"/>
            <a:chExt cx="457200" cy="457200"/>
          </a:xfrm>
        </p:grpSpPr>
        <p:pic>
          <p:nvPicPr>
            <p:cNvPr id="1813" name="Google Shape;1813;p1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14" name="Google Shape;1814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15" name="Google Shape;1815;p100"/>
          <p:cNvSpPr txBox="1"/>
          <p:nvPr>
            <p:ph type="body" idx="1"/>
          </p:nvPr>
        </p:nvSpPr>
        <p:spPr>
          <a:xfrm>
            <a:off x="1116900" y="1574250"/>
            <a:ext cx="7703100" cy="84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-3,  8,  19, 30, … is an</a:t>
            </a:r>
            <a:r>
              <a:rPr lang="en-GB" sz="2000" u="sng"/>
              <a:t>                            </a:t>
            </a:r>
            <a:r>
              <a:rPr lang="en-GB" sz="2000"/>
              <a:t>sequence with an initial term of</a:t>
            </a:r>
            <a:r>
              <a:rPr lang="en-GB" sz="2000" u="sng"/>
              <a:t>      </a:t>
            </a:r>
            <a:r>
              <a:rPr lang="en-GB" sz="2000"/>
              <a:t> and </a:t>
            </a:r>
            <a:r>
              <a:rPr lang="en-GB" sz="2000" u="sng"/>
              <a:t>                            </a:t>
            </a:r>
            <a:r>
              <a:rPr lang="en-GB" sz="2000"/>
              <a:t>of 11.</a:t>
            </a:r>
            <a:endParaRPr sz="2000"/>
          </a:p>
        </p:txBody>
      </p:sp>
      <p:grpSp>
        <p:nvGrpSpPr>
          <p:cNvPr id="1816" name="Google Shape;1816;p100"/>
          <p:cNvGrpSpPr/>
          <p:nvPr/>
        </p:nvGrpSpPr>
        <p:grpSpPr>
          <a:xfrm>
            <a:off x="323991" y="2531625"/>
            <a:ext cx="457200" cy="457200"/>
            <a:chOff x="1020916" y="1442088"/>
            <a:chExt cx="457200" cy="457200"/>
          </a:xfrm>
        </p:grpSpPr>
        <p:pic>
          <p:nvPicPr>
            <p:cNvPr id="1817" name="Google Shape;1817;p1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18" name="Google Shape;1818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19" name="Google Shape;1819;p100"/>
          <p:cNvSpPr txBox="1"/>
          <p:nvPr>
            <p:ph type="body" idx="1"/>
          </p:nvPr>
        </p:nvSpPr>
        <p:spPr>
          <a:xfrm>
            <a:off x="1116900" y="2564850"/>
            <a:ext cx="7703100" cy="84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12,  9,  6, 3, … is a linear sequence with</a:t>
            </a:r>
            <a:r>
              <a:rPr lang="en-GB" sz="2000" u="sng"/>
              <a:t>                            </a:t>
            </a:r>
            <a:r>
              <a:rPr lang="en-GB" sz="2000"/>
              <a:t>of 12</a:t>
            </a:r>
            <a:r>
              <a:rPr lang="en-GB" sz="2000" u="sng"/>
              <a:t>     </a:t>
            </a:r>
            <a:r>
              <a:rPr lang="en-GB" sz="2000"/>
              <a:t> and </a:t>
            </a:r>
            <a:r>
              <a:rPr lang="en-GB" sz="2000" u="sng"/>
              <a:t>                            </a:t>
            </a:r>
            <a:r>
              <a:rPr lang="en-GB" sz="2000"/>
              <a:t>of</a:t>
            </a:r>
            <a:r>
              <a:rPr lang="en-GB" sz="2000" u="sng"/>
              <a:t>      </a:t>
            </a:r>
            <a:r>
              <a:rPr lang="en-GB" sz="2000"/>
              <a:t>.</a:t>
            </a:r>
            <a:endParaRPr sz="2000"/>
          </a:p>
        </p:txBody>
      </p:sp>
      <p:grpSp>
        <p:nvGrpSpPr>
          <p:cNvPr id="1820" name="Google Shape;1820;p100"/>
          <p:cNvGrpSpPr/>
          <p:nvPr/>
        </p:nvGrpSpPr>
        <p:grpSpPr>
          <a:xfrm>
            <a:off x="323991" y="3446025"/>
            <a:ext cx="457200" cy="457200"/>
            <a:chOff x="1020916" y="1442088"/>
            <a:chExt cx="457200" cy="457200"/>
          </a:xfrm>
        </p:grpSpPr>
        <p:pic>
          <p:nvPicPr>
            <p:cNvPr id="1821" name="Google Shape;1821;p1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2" name="Google Shape;1822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23" name="Google Shape;1823;p100"/>
          <p:cNvSpPr txBox="1"/>
          <p:nvPr>
            <p:ph type="body" idx="1"/>
          </p:nvPr>
        </p:nvSpPr>
        <p:spPr>
          <a:xfrm>
            <a:off x="1116900" y="3479250"/>
            <a:ext cx="7703100" cy="84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</a:t>
            </a:r>
            <a:r>
              <a:rPr lang="en-GB" sz="2000" baseline="-25000"/>
              <a:t>1</a:t>
            </a:r>
            <a:r>
              <a:rPr lang="en-GB" sz="2000"/>
              <a:t>,  T</a:t>
            </a:r>
            <a:r>
              <a:rPr lang="en-GB" sz="2000" baseline="-25000"/>
              <a:t>2</a:t>
            </a:r>
            <a:r>
              <a:rPr lang="en-GB" sz="2000"/>
              <a:t>,  </a:t>
            </a:r>
            <a:r>
              <a:rPr lang="en-GB" sz="1900">
                <a:solidFill>
                  <a:srgbClr val="222222"/>
                </a:solidFill>
              </a:rPr>
              <a:t>−4</a:t>
            </a:r>
            <a:r>
              <a:rPr lang="en-GB" sz="2000"/>
              <a:t>, 3, … is  </a:t>
            </a:r>
            <a:r>
              <a:rPr lang="en-GB" sz="2000" u="sng"/>
              <a:t>                             </a:t>
            </a:r>
            <a:r>
              <a:rPr lang="en-GB" sz="2000"/>
              <a:t>sequence with an initial term of </a:t>
            </a:r>
            <a:r>
              <a:rPr lang="en-GB" sz="2000" u="sng"/>
              <a:t>      </a:t>
            </a:r>
            <a:r>
              <a:rPr lang="en-GB" sz="2000"/>
              <a:t> and </a:t>
            </a:r>
            <a:r>
              <a:rPr lang="en-GB" sz="2000" u="sng"/>
              <a:t>                            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1824" name="Google Shape;1824;p100"/>
          <p:cNvSpPr txBox="1"/>
          <p:nvPr>
            <p:ph type="body" idx="1"/>
          </p:nvPr>
        </p:nvSpPr>
        <p:spPr>
          <a:xfrm>
            <a:off x="399600" y="4393650"/>
            <a:ext cx="8060400" cy="42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accent5"/>
                </a:solidFill>
              </a:rPr>
              <a:t>arithmetic      linear      common difference      initial term</a:t>
            </a:r>
            <a:endParaRPr>
              <a:solidFill>
                <a:schemeClr val="accent5"/>
              </a:solidFill>
            </a:endParaRPr>
          </a:p>
        </p:txBody>
      </p:sp>
    </p:spTree>
  </p:cSld>
  <p:clrMapOvr>
    <a:masterClrMapping/>
  </p:clrMapOvr>
  <p:transition/>
  <p:timing/>
</p:sld>
</file>

<file path=ppt/slides/slide3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28" name="Shape 1828"/>
        <p:cNvGrpSpPr/>
        <p:nvPr/>
      </p:nvGrpSpPr>
      <p:grpSpPr>
        <a:xfrm>
          <a:off x="0" y="0"/>
          <a:ext cx="0" cy="0"/>
        </a:xfrm>
      </p:grpSpPr>
      <p:sp>
        <p:nvSpPr>
          <p:cNvPr id="1829" name="Google Shape;1829;p101"/>
          <p:cNvSpPr txBox="1"/>
          <p:nvPr>
            <p:ph type="body" idx="1"/>
          </p:nvPr>
        </p:nvSpPr>
        <p:spPr>
          <a:xfrm>
            <a:off x="324000" y="724350"/>
            <a:ext cx="8496000" cy="100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Fill in the blanks to describe each of the sequences below. Use the key vocab below where possible.</a:t>
            </a:r>
            <a:endParaRPr sz="2000"/>
          </a:p>
        </p:txBody>
      </p:sp>
      <p:sp>
        <p:nvSpPr>
          <p:cNvPr id="1830" name="Google Shape;1830;p10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Describing arithmetic sequences</a:t>
            </a:r>
            <a:endParaRPr/>
          </a:p>
        </p:txBody>
      </p:sp>
      <p:grpSp>
        <p:nvGrpSpPr>
          <p:cNvPr id="1831" name="Google Shape;1831;p101"/>
          <p:cNvGrpSpPr/>
          <p:nvPr/>
        </p:nvGrpSpPr>
        <p:grpSpPr>
          <a:xfrm>
            <a:off x="323991" y="1541025"/>
            <a:ext cx="457200" cy="457200"/>
            <a:chOff x="1020916" y="1442088"/>
            <a:chExt cx="457200" cy="457200"/>
          </a:xfrm>
        </p:grpSpPr>
        <p:pic>
          <p:nvPicPr>
            <p:cNvPr id="1832" name="Google Shape;1832;p10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33" name="Google Shape;1833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34" name="Google Shape;1834;p101"/>
          <p:cNvSpPr txBox="1"/>
          <p:nvPr>
            <p:ph type="body" idx="1"/>
          </p:nvPr>
        </p:nvSpPr>
        <p:spPr>
          <a:xfrm>
            <a:off x="1116900" y="1574250"/>
            <a:ext cx="7703100" cy="84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22222"/>
                </a:solidFill>
              </a:rPr>
              <a:t>−</a:t>
            </a:r>
            <a:r>
              <a:rPr lang="en-GB" sz="2000"/>
              <a:t>3,  8,  19,  30, … is an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arithmetic </a:t>
            </a:r>
            <a:r>
              <a:rPr lang="en-GB" sz="2000"/>
              <a:t>sequence with an initial term of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−3</a:t>
            </a:r>
            <a:r>
              <a:rPr lang="en-GB" sz="2000"/>
              <a:t> and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common difference</a:t>
            </a:r>
            <a:r>
              <a:rPr lang="en-GB" sz="2000"/>
              <a:t> of 11.</a:t>
            </a:r>
            <a:endParaRPr sz="2000"/>
          </a:p>
        </p:txBody>
      </p:sp>
      <p:grpSp>
        <p:nvGrpSpPr>
          <p:cNvPr id="1835" name="Google Shape;1835;p101"/>
          <p:cNvGrpSpPr/>
          <p:nvPr/>
        </p:nvGrpSpPr>
        <p:grpSpPr>
          <a:xfrm>
            <a:off x="323991" y="2531625"/>
            <a:ext cx="457200" cy="457200"/>
            <a:chOff x="1020916" y="1442088"/>
            <a:chExt cx="457200" cy="457200"/>
          </a:xfrm>
        </p:grpSpPr>
        <p:pic>
          <p:nvPicPr>
            <p:cNvPr id="1836" name="Google Shape;1836;p10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37" name="Google Shape;1837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38" name="Google Shape;1838;p101"/>
          <p:cNvSpPr txBox="1"/>
          <p:nvPr>
            <p:ph type="body" idx="1"/>
          </p:nvPr>
        </p:nvSpPr>
        <p:spPr>
          <a:xfrm>
            <a:off x="1116900" y="2564850"/>
            <a:ext cx="7703100" cy="84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12,  9,  6,  3, … is a linear sequence with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an initial term </a:t>
            </a:r>
            <a:r>
              <a:rPr lang="en-GB" sz="2000"/>
              <a:t>of 12</a:t>
            </a:r>
            <a:r>
              <a:rPr lang="en-GB" sz="2000" u="sng"/>
              <a:t>     </a:t>
            </a:r>
            <a:r>
              <a:rPr lang="en-GB" sz="2000"/>
              <a:t> and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common difference </a:t>
            </a:r>
            <a:r>
              <a:rPr lang="en-GB" sz="2000"/>
              <a:t>of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−3</a:t>
            </a:r>
            <a:r>
              <a:rPr lang="en-GB" sz="2000"/>
              <a:t>.</a:t>
            </a:r>
            <a:endParaRPr sz="2000"/>
          </a:p>
        </p:txBody>
      </p:sp>
      <p:grpSp>
        <p:nvGrpSpPr>
          <p:cNvPr id="1839" name="Google Shape;1839;p101"/>
          <p:cNvGrpSpPr/>
          <p:nvPr/>
        </p:nvGrpSpPr>
        <p:grpSpPr>
          <a:xfrm>
            <a:off x="323991" y="3446025"/>
            <a:ext cx="457200" cy="457200"/>
            <a:chOff x="1020916" y="1442088"/>
            <a:chExt cx="457200" cy="457200"/>
          </a:xfrm>
        </p:grpSpPr>
        <p:pic>
          <p:nvPicPr>
            <p:cNvPr id="1840" name="Google Shape;1840;p10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41" name="Google Shape;1841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42" name="Google Shape;1842;p101"/>
          <p:cNvSpPr txBox="1"/>
          <p:nvPr>
            <p:ph type="body" idx="1"/>
          </p:nvPr>
        </p:nvSpPr>
        <p:spPr>
          <a:xfrm>
            <a:off x="1116900" y="3479250"/>
            <a:ext cx="7703100" cy="84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</a:t>
            </a:r>
            <a:r>
              <a:rPr lang="en-GB" sz="2000" baseline="-25000"/>
              <a:t>1</a:t>
            </a:r>
            <a:r>
              <a:rPr lang="en-GB" sz="2000"/>
              <a:t>,  T</a:t>
            </a:r>
            <a:r>
              <a:rPr lang="en-GB" sz="2000" baseline="-25000"/>
              <a:t>2</a:t>
            </a:r>
            <a:r>
              <a:rPr lang="en-GB" sz="2000"/>
              <a:t>,  </a:t>
            </a:r>
            <a:r>
              <a:rPr lang="en-GB" sz="1900">
                <a:solidFill>
                  <a:srgbClr val="222222"/>
                </a:solidFill>
              </a:rPr>
              <a:t>−4</a:t>
            </a:r>
            <a:r>
              <a:rPr lang="en-GB" sz="2000"/>
              <a:t>,  3, … is 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 linear / an arithmetic </a:t>
            </a:r>
            <a:r>
              <a:rPr lang="en-GB" sz="2000"/>
              <a:t>sequence with an initial term of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−18</a:t>
            </a:r>
            <a:r>
              <a:rPr lang="en-GB" sz="2000"/>
              <a:t> and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common difference of 7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1843" name="Google Shape;1843;p101"/>
          <p:cNvSpPr txBox="1"/>
          <p:nvPr>
            <p:ph type="body" idx="1"/>
          </p:nvPr>
        </p:nvSpPr>
        <p:spPr>
          <a:xfrm>
            <a:off x="399600" y="4393650"/>
            <a:ext cx="8060400" cy="42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accent5"/>
                </a:solidFill>
              </a:rPr>
              <a:t>arithmetic      linear      common difference      initial term</a:t>
            </a:r>
            <a:endParaRPr>
              <a:solidFill>
                <a:schemeClr val="accent5"/>
              </a:solidFill>
            </a:endParaRPr>
          </a:p>
        </p:txBody>
      </p:sp>
    </p:spTree>
  </p:cSld>
  <p:clrMapOvr>
    <a:masterClrMapping/>
  </p:clrMapOvr>
  <p:transition/>
  <p:timing/>
</p:sld>
</file>

<file path=ppt/slides/slide3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47" name="Shape 1847"/>
        <p:cNvGrpSpPr/>
        <p:nvPr/>
      </p:nvGrpSpPr>
      <p:grpSpPr>
        <a:xfrm>
          <a:off x="0" y="0"/>
          <a:ext cx="0" cy="0"/>
        </a:xfrm>
      </p:grpSpPr>
      <p:sp>
        <p:nvSpPr>
          <p:cNvPr id="1848" name="Google Shape;1848;p102"/>
          <p:cNvSpPr txBox="1"/>
          <p:nvPr>
            <p:ph type="body" idx="1"/>
          </p:nvPr>
        </p:nvSpPr>
        <p:spPr>
          <a:xfrm>
            <a:off x="324000" y="688525"/>
            <a:ext cx="8496000" cy="69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55600" algn="l" rtl="0">
              <a:spcBef>
                <a:spcPct val="0"/>
              </a:spcBef>
              <a:spcAft>
                <a:spcPct val="0"/>
              </a:spcAft>
              <a:buSzPts val="2000"/>
              <a:buAutoNum type="arabicParenR"/>
            </a:pPr>
            <a:r>
              <a:rPr lang="en-GB" sz="2000"/>
              <a:t>For each sequence state whether it is </a:t>
            </a:r>
            <a:r>
              <a:rPr lang="en-GB" sz="2000" b="1"/>
              <a:t>arithmetic</a:t>
            </a:r>
            <a:r>
              <a:rPr lang="en-GB" sz="2000"/>
              <a:t> or not. If it is </a:t>
            </a:r>
            <a:r>
              <a:rPr lang="en-GB" sz="2000" b="1"/>
              <a:t>arithmetic</a:t>
            </a:r>
            <a:r>
              <a:rPr lang="en-GB" sz="2000"/>
              <a:t>, describe the sequence.</a:t>
            </a:r>
            <a:endParaRPr sz="2000"/>
          </a:p>
        </p:txBody>
      </p:sp>
      <p:sp>
        <p:nvSpPr>
          <p:cNvPr id="1849" name="Google Shape;1849;p102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Describing arithmetic sequences</a:t>
            </a:r>
            <a:endParaRPr/>
          </a:p>
        </p:txBody>
      </p:sp>
      <p:sp>
        <p:nvSpPr>
          <p:cNvPr id="1850" name="Google Shape;1850;p102"/>
          <p:cNvSpPr txBox="1"/>
          <p:nvPr>
            <p:ph type="body" idx="1"/>
          </p:nvPr>
        </p:nvSpPr>
        <p:spPr>
          <a:xfrm>
            <a:off x="324000" y="1600575"/>
            <a:ext cx="4248000" cy="316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55600" algn="l" rtl="0">
              <a:lnSpc>
                <a:spcPct val="220000"/>
              </a:lnSpc>
              <a:spcBef>
                <a:spcPct val="0"/>
              </a:spcBef>
              <a:spcAft>
                <a:spcPct val="0"/>
              </a:spcAft>
              <a:buSzPts val="2000"/>
              <a:buAutoNum type="alphaLcParenR"/>
            </a:pPr>
            <a:r>
              <a:rPr lang="en-GB" sz="2000"/>
              <a:t>6, 15, 24, 33, …</a:t>
            </a:r>
            <a:endParaRPr sz="2000"/>
          </a:p>
          <a:p>
            <a:pPr marL="457200" lvl="0" indent="-355600" algn="l" rtl="0">
              <a:lnSpc>
                <a:spcPct val="220000"/>
              </a:lnSpc>
              <a:spcBef>
                <a:spcPct val="0"/>
              </a:spcBef>
              <a:spcAft>
                <a:spcPct val="0"/>
              </a:spcAft>
              <a:buSzPts val="2000"/>
              <a:buAutoNum type="alphaLcParenR"/>
            </a:pPr>
            <a:r>
              <a:rPr lang="en-GB" sz="2000"/>
              <a:t>5, 12, 15, 22, …</a:t>
            </a:r>
            <a:endParaRPr sz="2000"/>
          </a:p>
          <a:p>
            <a:pPr marL="457200" lvl="0" indent="-355600" algn="l" rtl="0">
              <a:lnSpc>
                <a:spcPct val="220000"/>
              </a:lnSpc>
              <a:spcBef>
                <a:spcPct val="0"/>
              </a:spcBef>
              <a:spcAft>
                <a:spcPct val="0"/>
              </a:spcAft>
              <a:buSzPts val="2000"/>
              <a:buAutoNum type="alphaLcParenR"/>
            </a:pPr>
            <a:r>
              <a:rPr lang="en-GB" sz="2000"/>
              <a:t>5, </a:t>
            </a:r>
            <a:r>
              <a:rPr lang="en-GB" sz="1900">
                <a:solidFill>
                  <a:srgbClr val="222222"/>
                </a:solidFill>
              </a:rPr>
              <a:t>−3, −11, −19, …</a:t>
            </a:r>
            <a:endParaRPr sz="1900">
              <a:solidFill>
                <a:srgbClr val="222222"/>
              </a:solidFill>
            </a:endParaRPr>
          </a:p>
          <a:p>
            <a:pPr marL="457200" lvl="0" indent="-349250" algn="l" rtl="0">
              <a:lnSpc>
                <a:spcPct val="220000"/>
              </a:lnSpc>
              <a:spcBef>
                <a:spcPct val="0"/>
              </a:spcBef>
              <a:spcAft>
                <a:spcPct val="0"/>
              </a:spcAft>
              <a:buClr>
                <a:srgbClr val="222222"/>
              </a:buClr>
              <a:buSzPts val="1900"/>
              <a:buAutoNum type="alphaLcParenR"/>
            </a:pPr>
            <a:r>
              <a:rPr lang="en-GB" sz="1900">
                <a:solidFill>
                  <a:srgbClr val="222222"/>
                </a:solidFill>
              </a:rPr>
              <a:t>1, 3, 9, 27, …</a:t>
            </a:r>
            <a:endParaRPr sz="1900">
              <a:solidFill>
                <a:srgbClr val="222222"/>
              </a:solidFill>
            </a:endParaRPr>
          </a:p>
          <a:p>
            <a:pPr marL="457200" lvl="0" indent="-349250" algn="l" rtl="0">
              <a:lnSpc>
                <a:spcPct val="220000"/>
              </a:lnSpc>
              <a:spcBef>
                <a:spcPct val="0"/>
              </a:spcBef>
              <a:spcAft>
                <a:spcPct val="0"/>
              </a:spcAft>
              <a:buClr>
                <a:srgbClr val="222222"/>
              </a:buClr>
              <a:buSzPts val="1900"/>
              <a:buAutoNum type="alphaLcParenR"/>
            </a:pPr>
            <a:r>
              <a:rPr lang="en-GB" sz="1900">
                <a:solidFill>
                  <a:srgbClr val="222222"/>
                </a:solidFill>
              </a:rPr>
              <a:t>1.5, 2.6, 3.7, 5.8,...</a:t>
            </a:r>
            <a:endParaRPr sz="1900">
              <a:solidFill>
                <a:srgbClr val="222222"/>
              </a:solidFill>
            </a:endParaRPr>
          </a:p>
          <a:p>
            <a:pPr marL="0" lvl="0" indent="0" algn="l" rtl="0">
              <a:lnSpc>
                <a:spcPct val="22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900">
              <a:solidFill>
                <a:srgbClr val="222222"/>
              </a:solidFill>
            </a:endParaRPr>
          </a:p>
        </p:txBody>
      </p:sp>
      <p:sp>
        <p:nvSpPr>
          <p:cNvPr id="1851" name="Google Shape;1851;p102"/>
          <p:cNvSpPr txBox="1"/>
          <p:nvPr>
            <p:ph type="body" idx="1"/>
          </p:nvPr>
        </p:nvSpPr>
        <p:spPr>
          <a:xfrm>
            <a:off x="4572000" y="1600575"/>
            <a:ext cx="4248000" cy="316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5560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SzPts val="2000"/>
              <a:buAutoNum type="alphaLcParenR" startAt="6"/>
            </a:pPr>
            <a:r>
              <a:rPr lang="en-GB" sz="2000"/>
              <a:t>25, 15, 10, 5, …</a:t>
            </a:r>
            <a:endParaRPr sz="2000"/>
          </a:p>
          <a:p>
            <a:pPr marL="457200" lvl="0" indent="-35560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SzPts val="2000"/>
              <a:buAutoNum type="alphaLcParenR" startAt="6"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x,  x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+ 2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,  x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+ 4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,  x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+ 6</a:t>
            </a:r>
            <a:r>
              <a:rPr lang="en-GB" sz="2000"/>
              <a:t>  …</a:t>
            </a:r>
            <a:endParaRPr sz="2000"/>
          </a:p>
          <a:p>
            <a:pPr marL="457200" lvl="0" indent="-35560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SzPts val="2000"/>
              <a:buAutoNum type="alphaLcParenR" startAt="6"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,  4</a:t>
            </a:r>
            <a:r>
              <a:rPr lang="en-GB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,  8</a:t>
            </a:r>
            <a:r>
              <a:rPr lang="en-GB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,  16</a:t>
            </a:r>
            <a:r>
              <a:rPr lang="en-GB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>
                <a:solidFill>
                  <a:srgbClr val="222222"/>
                </a:solidFill>
              </a:rPr>
              <a:t> …</a:t>
            </a:r>
            <a:endParaRPr sz="1900">
              <a:solidFill>
                <a:srgbClr val="222222"/>
              </a:solidFill>
            </a:endParaRPr>
          </a:p>
          <a:p>
            <a:pPr marL="457200" lvl="0" indent="-34925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222222"/>
              </a:buClr>
              <a:buSzPts val="1900"/>
              <a:buAutoNum type="alphaLcParenR" startAt="6"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x, 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+ 1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, 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+ 3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, 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+ 4</a:t>
            </a:r>
            <a:r>
              <a:rPr lang="en-GB" sz="2000"/>
              <a:t>  …</a:t>
            </a:r>
            <a:endParaRPr sz="1900">
              <a:solidFill>
                <a:srgbClr val="222222"/>
              </a:solidFill>
            </a:endParaRPr>
          </a:p>
          <a:p>
            <a:pPr marL="457200" lvl="0" indent="-349250" algn="l" rtl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222222"/>
              </a:buClr>
              <a:buSzPts val="1900"/>
              <a:buAutoNum type="alphaLcParenR" startAt="6"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900">
                <a:solidFill>
                  <a:srgbClr val="222222"/>
                </a:solidFill>
              </a:rPr>
              <a:t>−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,   </a:t>
            </a:r>
            <a:r>
              <a:rPr lang="en-GB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,   </a:t>
            </a:r>
            <a:r>
              <a:rPr lang="en-GB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2,   </a:t>
            </a:r>
            <a:r>
              <a:rPr lang="en-GB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+ 4</a:t>
            </a:r>
            <a:r>
              <a:rPr lang="en-GB" sz="1900">
                <a:solidFill>
                  <a:srgbClr val="222222"/>
                </a:solidFill>
              </a:rPr>
              <a:t> …</a:t>
            </a:r>
            <a:endParaRPr sz="1900">
              <a:solidFill>
                <a:srgbClr val="222222"/>
              </a:solidFill>
            </a:endParaRPr>
          </a:p>
          <a:p>
            <a:pPr marL="0" lvl="0" indent="0" algn="l" rtl="0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900">
              <a:solidFill>
                <a:srgbClr val="222222"/>
              </a:solidFill>
            </a:endParaRPr>
          </a:p>
        </p:txBody>
      </p:sp>
    </p:spTree>
  </p:cSld>
  <p:clrMapOvr>
    <a:masterClrMapping/>
  </p:clrMapOvr>
  <p:transition/>
  <p:timing/>
</p:sld>
</file>

<file path=ppt/slides/slide4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55" name="Shape 1855"/>
        <p:cNvGrpSpPr/>
        <p:nvPr/>
      </p:nvGrpSpPr>
      <p:grpSpPr>
        <a:xfrm>
          <a:off x="0" y="0"/>
          <a:ext cx="0" cy="0"/>
        </a:xfrm>
      </p:grpSpPr>
      <p:sp>
        <p:nvSpPr>
          <p:cNvPr id="1856" name="Google Shape;1856;p103"/>
          <p:cNvSpPr txBox="1"/>
          <p:nvPr>
            <p:ph type="body" idx="1"/>
          </p:nvPr>
        </p:nvSpPr>
        <p:spPr>
          <a:xfrm>
            <a:off x="324000" y="688525"/>
            <a:ext cx="8237700" cy="108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2)  Below are the first 4 terms in 4 different </a:t>
            </a:r>
            <a:r>
              <a:rPr lang="en-GB" sz="2000" b="1"/>
              <a:t>linear sequences</a:t>
            </a:r>
            <a:r>
              <a:rPr lang="en-GB" sz="2000"/>
              <a:t>: Fill in the table with true or false for each sequence.</a:t>
            </a:r>
            <a:endParaRPr sz="2000"/>
          </a:p>
        </p:txBody>
      </p:sp>
      <p:sp>
        <p:nvSpPr>
          <p:cNvPr id="1857" name="Google Shape;1857;p103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Describing arithmetic sequences</a:t>
            </a:r>
            <a:endParaRPr/>
          </a:p>
        </p:txBody>
      </p:sp>
      <p:graphicFrame>
        <p:nvGraphicFramePr>
          <p:cNvPr id="1858" name="Google Shape;1858;p103"/>
          <p:cNvGraphicFramePr>
            <a:graphicFrameLocks noGrp="1"/>
          </p:cNvGraphicFramePr>
          <p:nvPr/>
        </p:nvGraphicFramePr>
        <p:xfrm>
          <a:off x="324000" y="1592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{E94B1F7C-D626-4EB4-874A-6446D225D414}</a:tableStyleId>
              </a:tblPr>
              <a:tblGrid>
                <a:gridCol w="2201425"/>
                <a:gridCol w="1590300"/>
                <a:gridCol w="1590300"/>
                <a:gridCol w="1590300"/>
                <a:gridCol w="1523675"/>
              </a:tblGrid>
              <a:tr h="3795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Sequence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1, 5, 9, 13,..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7, 13, 19, 25,..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80, 75, 70, 65,..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22, 19, 16, 13,..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95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Contains negative numbers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7200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7200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7200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7200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72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Common difference is positive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7200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7200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7200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7200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95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Has 1 as a term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7200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7200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7200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7200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95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Has 25 as a term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7200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7200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7200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7200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95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Has values greater than 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7200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7200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7200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7200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slides/slide4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62" name="Shape 1862"/>
        <p:cNvGrpSpPr/>
        <p:nvPr/>
      </p:nvGrpSpPr>
      <p:grpSpPr>
        <a:xfrm>
          <a:off x="0" y="0"/>
          <a:ext cx="0" cy="0"/>
        </a:xfrm>
      </p:grpSpPr>
      <p:sp>
        <p:nvSpPr>
          <p:cNvPr id="1863" name="Google Shape;1863;p10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55600" algn="l" rtl="0">
              <a:spcBef>
                <a:spcPct val="0"/>
              </a:spcBef>
              <a:spcAft>
                <a:spcPct val="0"/>
              </a:spcAft>
              <a:buSzPts val="2000"/>
              <a:buAutoNum type="arabicParenR"/>
            </a:pPr>
            <a:r>
              <a:rPr lang="en-GB" sz="2000"/>
              <a:t>For each sequence state whether it is </a:t>
            </a:r>
            <a:r>
              <a:rPr lang="en-GB" sz="2000" b="1"/>
              <a:t>arithmetic</a:t>
            </a:r>
            <a:r>
              <a:rPr lang="en-GB" sz="2000"/>
              <a:t> or not. If it is </a:t>
            </a:r>
            <a:r>
              <a:rPr lang="en-GB" sz="2000" b="1"/>
              <a:t>arithmetic</a:t>
            </a:r>
            <a:r>
              <a:rPr lang="en-GB" sz="2000"/>
              <a:t>, describe the sequence.</a:t>
            </a:r>
            <a:endParaRPr sz="2000"/>
          </a:p>
        </p:txBody>
      </p:sp>
      <p:sp>
        <p:nvSpPr>
          <p:cNvPr id="1864" name="Google Shape;1864;p104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Describing arithmetic sequences</a:t>
            </a:r>
            <a:endParaRPr/>
          </a:p>
        </p:txBody>
      </p:sp>
      <p:sp>
        <p:nvSpPr>
          <p:cNvPr id="1865" name="Google Shape;1865;p104"/>
          <p:cNvSpPr txBox="1"/>
          <p:nvPr>
            <p:ph type="body" idx="1"/>
          </p:nvPr>
        </p:nvSpPr>
        <p:spPr>
          <a:xfrm>
            <a:off x="324000" y="1600575"/>
            <a:ext cx="4248000" cy="316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AutoNum type="alphaLcParenR"/>
            </a:pPr>
            <a:r>
              <a:rPr lang="en-GB" sz="2000"/>
              <a:t>6, 15, 24, 33, …</a:t>
            </a:r>
            <a:br>
              <a:rPr lang="en-GB" sz="2000"/>
            </a:br>
            <a:endParaRPr sz="2000"/>
          </a:p>
          <a:p>
            <a:pPr marL="457200" lvl="0" indent="-3556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AutoNum type="alphaLcParenR"/>
            </a:pPr>
            <a:r>
              <a:rPr lang="en-GB" sz="2000"/>
              <a:t>5, 12, 15, 22, …</a:t>
            </a:r>
            <a:br>
              <a:rPr lang="en-GB" sz="2000"/>
            </a:br>
            <a:endParaRPr sz="2000"/>
          </a:p>
          <a:p>
            <a:pPr marL="457200" lvl="0" indent="-3556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AutoNum type="alphaLcParenR"/>
            </a:pPr>
            <a:r>
              <a:rPr lang="en-GB" sz="2000"/>
              <a:t>5, </a:t>
            </a:r>
            <a:r>
              <a:rPr lang="en-GB" sz="1900">
                <a:solidFill>
                  <a:srgbClr val="222222"/>
                </a:solidFill>
              </a:rPr>
              <a:t>−3, −11, −19, …</a:t>
            </a:r>
            <a:br>
              <a:rPr lang="en-GB" sz="1900">
                <a:solidFill>
                  <a:srgbClr val="222222"/>
                </a:solidFill>
              </a:rPr>
            </a:br>
            <a:endParaRPr sz="1900">
              <a:solidFill>
                <a:srgbClr val="222222"/>
              </a:solidFill>
            </a:endParaRPr>
          </a:p>
          <a:p>
            <a:pPr marL="457200" lvl="0" indent="-3492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22222"/>
              </a:buClr>
              <a:buSzPts val="1900"/>
              <a:buAutoNum type="alphaLcParenR"/>
            </a:pPr>
            <a:r>
              <a:rPr lang="en-GB" sz="1900">
                <a:solidFill>
                  <a:srgbClr val="222222"/>
                </a:solidFill>
              </a:rPr>
              <a:t>1, 3, 9, 27, …</a:t>
            </a:r>
            <a:br>
              <a:rPr lang="en-GB" sz="1900">
                <a:solidFill>
                  <a:srgbClr val="222222"/>
                </a:solidFill>
              </a:rPr>
            </a:br>
            <a:endParaRPr sz="1900">
              <a:solidFill>
                <a:srgbClr val="222222"/>
              </a:solidFill>
            </a:endParaRPr>
          </a:p>
          <a:p>
            <a:pPr marL="457200" lvl="0" indent="-3492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22222"/>
              </a:buClr>
              <a:buSzPts val="1900"/>
              <a:buAutoNum type="alphaLcParenR"/>
            </a:pPr>
            <a:r>
              <a:rPr lang="en-GB" sz="1900">
                <a:solidFill>
                  <a:srgbClr val="222222"/>
                </a:solidFill>
              </a:rPr>
              <a:t>1.5, 2.6, 3.7, 5.8,...</a:t>
            </a:r>
            <a:endParaRPr sz="1900">
              <a:solidFill>
                <a:srgbClr val="22222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900">
              <a:solidFill>
                <a:srgbClr val="222222"/>
              </a:solidFill>
            </a:endParaRPr>
          </a:p>
        </p:txBody>
      </p:sp>
      <p:sp>
        <p:nvSpPr>
          <p:cNvPr id="1866" name="Google Shape;1866;p104"/>
          <p:cNvSpPr txBox="1"/>
          <p:nvPr>
            <p:ph type="body" idx="1"/>
          </p:nvPr>
        </p:nvSpPr>
        <p:spPr>
          <a:xfrm>
            <a:off x="2881075" y="1600575"/>
            <a:ext cx="62436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Arithmetic- initial term 6 and common difference 9</a:t>
            </a:r>
            <a:endParaRPr sz="20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22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67" name="Google Shape;1867;p104"/>
          <p:cNvSpPr txBox="1"/>
          <p:nvPr>
            <p:ph type="body" idx="1"/>
          </p:nvPr>
        </p:nvSpPr>
        <p:spPr>
          <a:xfrm>
            <a:off x="2880000" y="2142000"/>
            <a:ext cx="62436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Not arithmetic- difference of 7 then 3</a:t>
            </a:r>
            <a:endParaRPr sz="20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22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68" name="Google Shape;1868;p104"/>
          <p:cNvSpPr txBox="1"/>
          <p:nvPr>
            <p:ph type="body" idx="1"/>
          </p:nvPr>
        </p:nvSpPr>
        <p:spPr>
          <a:xfrm>
            <a:off x="2881075" y="2757600"/>
            <a:ext cx="62436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Arithmetic- Initial term 5 and common difference −8</a:t>
            </a:r>
            <a:endParaRPr sz="20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22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69" name="Google Shape;1869;p104"/>
          <p:cNvSpPr txBox="1"/>
          <p:nvPr>
            <p:ph type="body" idx="1"/>
          </p:nvPr>
        </p:nvSpPr>
        <p:spPr>
          <a:xfrm>
            <a:off x="2881075" y="3373200"/>
            <a:ext cx="62436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Not arithmetic- difference of 2, then 6, then 18</a:t>
            </a:r>
            <a:endParaRPr sz="20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70" name="Google Shape;1870;p104"/>
          <p:cNvSpPr txBox="1"/>
          <p:nvPr>
            <p:ph type="body" idx="1"/>
          </p:nvPr>
        </p:nvSpPr>
        <p:spPr>
          <a:xfrm>
            <a:off x="2881075" y="3952800"/>
            <a:ext cx="62436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Not arithmetic- differences of 1.1, 1.1 and 2.1</a:t>
            </a:r>
            <a:endParaRPr sz="20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4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74" name="Shape 1874"/>
        <p:cNvGrpSpPr/>
        <p:nvPr/>
      </p:nvGrpSpPr>
      <p:grpSpPr>
        <a:xfrm>
          <a:off x="0" y="0"/>
          <a:ext cx="0" cy="0"/>
        </a:xfrm>
      </p:grpSpPr>
      <p:sp>
        <p:nvSpPr>
          <p:cNvPr id="1875" name="Google Shape;1875;p10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For each sequence state whether it is </a:t>
            </a:r>
            <a:r>
              <a:rPr lang="en-GB" sz="2000" b="1"/>
              <a:t>arithmetic</a:t>
            </a:r>
            <a:r>
              <a:rPr lang="en-GB" sz="2000"/>
              <a:t> or not. If it is </a:t>
            </a:r>
            <a:r>
              <a:rPr lang="en-GB" sz="2000" b="1"/>
              <a:t>arithmetic</a:t>
            </a:r>
            <a:r>
              <a:rPr lang="en-GB" sz="2000"/>
              <a:t>, describe the sequence.</a:t>
            </a:r>
            <a:endParaRPr sz="2000"/>
          </a:p>
        </p:txBody>
      </p:sp>
      <p:sp>
        <p:nvSpPr>
          <p:cNvPr id="1876" name="Google Shape;1876;p105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Describing arithmetic sequences</a:t>
            </a:r>
            <a:endParaRPr/>
          </a:p>
        </p:txBody>
      </p:sp>
      <p:sp>
        <p:nvSpPr>
          <p:cNvPr id="1877" name="Google Shape;1877;p105"/>
          <p:cNvSpPr txBox="1"/>
          <p:nvPr>
            <p:ph type="body" idx="1"/>
          </p:nvPr>
        </p:nvSpPr>
        <p:spPr>
          <a:xfrm>
            <a:off x="324000" y="1600575"/>
            <a:ext cx="3799200" cy="316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AutoNum type="alphaLcParenR" startAt="6"/>
            </a:pPr>
            <a:r>
              <a:rPr lang="en-GB" sz="2000"/>
              <a:t>25, 15, 10, 5, …</a:t>
            </a:r>
            <a:br>
              <a:rPr lang="en-GB" sz="2000"/>
            </a:br>
            <a:endParaRPr sz="2000"/>
          </a:p>
          <a:p>
            <a:pPr marL="457200" lvl="0" indent="-3556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AutoNum type="alphaLcParenR" startAt="6"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x,  x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+ 2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,  x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+ 4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,  x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+ 6</a:t>
            </a:r>
            <a:r>
              <a:rPr lang="en-GB" sz="2000"/>
              <a:t>  …</a:t>
            </a:r>
            <a:br>
              <a:rPr lang="en-GB" sz="2000"/>
            </a:br>
            <a:endParaRPr sz="2000"/>
          </a:p>
          <a:p>
            <a:pPr marL="457200" lvl="0" indent="-3556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AutoNum type="alphaLcParenR" startAt="6"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,  4</a:t>
            </a:r>
            <a:r>
              <a:rPr lang="en-GB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,  8</a:t>
            </a:r>
            <a:r>
              <a:rPr lang="en-GB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,  16</a:t>
            </a:r>
            <a:r>
              <a:rPr lang="en-GB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>
                <a:solidFill>
                  <a:srgbClr val="222222"/>
                </a:solidFill>
              </a:rPr>
              <a:t> …</a:t>
            </a:r>
            <a:br>
              <a:rPr lang="en-GB" sz="1900">
                <a:solidFill>
                  <a:srgbClr val="222222"/>
                </a:solidFill>
              </a:rPr>
            </a:br>
            <a:endParaRPr sz="1900">
              <a:solidFill>
                <a:srgbClr val="222222"/>
              </a:solidFill>
            </a:endParaRPr>
          </a:p>
          <a:p>
            <a:pPr marL="457200" lvl="0" indent="-3492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22222"/>
              </a:buClr>
              <a:buSzPts val="1900"/>
              <a:buAutoNum type="alphaLcParenR" startAt="6"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x, 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+ 1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, 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+ 2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, 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+ 3</a:t>
            </a:r>
            <a:r>
              <a:rPr lang="en-GB" sz="2000"/>
              <a:t>  …</a:t>
            </a:r>
            <a:br>
              <a:rPr lang="en-GB" sz="2000"/>
            </a:br>
            <a:endParaRPr sz="1900">
              <a:solidFill>
                <a:srgbClr val="222222"/>
              </a:solidFill>
            </a:endParaRPr>
          </a:p>
          <a:p>
            <a:pPr marL="457200" lvl="0" indent="-3492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22222"/>
              </a:buClr>
              <a:buSzPts val="1900"/>
              <a:buAutoNum type="alphaLcParenR" startAt="6"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900">
                <a:solidFill>
                  <a:srgbClr val="222222"/>
                </a:solidFill>
              </a:rPr>
              <a:t>−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,   </a:t>
            </a:r>
            <a:r>
              <a:rPr lang="en-GB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,   </a:t>
            </a:r>
            <a:r>
              <a:rPr lang="en-GB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2,   </a:t>
            </a:r>
            <a:r>
              <a:rPr lang="en-GB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+ 4</a:t>
            </a:r>
            <a:r>
              <a:rPr lang="en-GB" sz="1900">
                <a:solidFill>
                  <a:srgbClr val="222222"/>
                </a:solidFill>
              </a:rPr>
              <a:t> …</a:t>
            </a:r>
            <a:endParaRPr sz="1900">
              <a:solidFill>
                <a:srgbClr val="22222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900">
              <a:solidFill>
                <a:srgbClr val="222222"/>
              </a:solidFill>
            </a:endParaRPr>
          </a:p>
        </p:txBody>
      </p:sp>
      <p:sp>
        <p:nvSpPr>
          <p:cNvPr id="1878" name="Google Shape;1878;p105"/>
          <p:cNvSpPr txBox="1"/>
          <p:nvPr>
            <p:ph type="body" idx="1"/>
          </p:nvPr>
        </p:nvSpPr>
        <p:spPr>
          <a:xfrm>
            <a:off x="4032000" y="1453272"/>
            <a:ext cx="4780200" cy="58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Not arithmetic- difference of </a:t>
            </a:r>
            <a:r>
              <a:rPr lang="en-GB" sz="1900">
                <a:solidFill>
                  <a:srgbClr val="222222"/>
                </a:solidFill>
              </a:rPr>
              <a:t>−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10, then </a:t>
            </a:r>
            <a:r>
              <a:rPr lang="en-GB" sz="1900">
                <a:solidFill>
                  <a:srgbClr val="222222"/>
                </a:solidFill>
              </a:rPr>
              <a:t>−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5, then </a:t>
            </a:r>
            <a:r>
              <a:rPr lang="en-GB" sz="1900">
                <a:solidFill>
                  <a:srgbClr val="222222"/>
                </a:solidFill>
              </a:rPr>
              <a:t>−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endParaRPr sz="20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22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79" name="Google Shape;1879;p105"/>
          <p:cNvSpPr txBox="1"/>
          <p:nvPr>
            <p:ph type="body" idx="1"/>
          </p:nvPr>
        </p:nvSpPr>
        <p:spPr>
          <a:xfrm>
            <a:off x="4032000" y="2198473"/>
            <a:ext cx="4500000" cy="74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Arithmetic- initial term </a:t>
            </a:r>
            <a:r>
              <a:rPr lang="en-GB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 and common difference of 2</a:t>
            </a:r>
            <a:endParaRPr sz="20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22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80" name="Google Shape;1880;p105"/>
          <p:cNvSpPr txBox="1"/>
          <p:nvPr>
            <p:ph type="body" idx="1"/>
          </p:nvPr>
        </p:nvSpPr>
        <p:spPr>
          <a:xfrm>
            <a:off x="4032000" y="2930400"/>
            <a:ext cx="4500000" cy="373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Not arithmetic- difference of 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, 4</a:t>
            </a:r>
            <a:r>
              <a:rPr lang="en-GB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, 8</a:t>
            </a:r>
            <a:r>
              <a:rPr lang="en-GB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22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81" name="Google Shape;1881;p105"/>
          <p:cNvSpPr txBox="1"/>
          <p:nvPr>
            <p:ph type="body" idx="1"/>
          </p:nvPr>
        </p:nvSpPr>
        <p:spPr>
          <a:xfrm>
            <a:off x="4032000" y="3542400"/>
            <a:ext cx="4500000" cy="373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Arithmetic- initial term </a:t>
            </a:r>
            <a:r>
              <a:rPr lang="en-GB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 and common difference of </a:t>
            </a:r>
            <a:r>
              <a:rPr lang="en-GB" i="1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+ 1</a:t>
            </a:r>
            <a:endParaRPr i="1">
              <a:solidFill>
                <a:srgbClr val="222222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lvl="0" indent="0" algn="l" rtl="0">
              <a:lnSpc>
                <a:spcPct val="22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82" name="Google Shape;1882;p105"/>
          <p:cNvSpPr txBox="1"/>
          <p:nvPr>
            <p:ph type="body" idx="1"/>
          </p:nvPr>
        </p:nvSpPr>
        <p:spPr>
          <a:xfrm>
            <a:off x="4032000" y="4187175"/>
            <a:ext cx="4500000" cy="373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Arithmetic- initial term </a:t>
            </a:r>
            <a:r>
              <a:rPr lang="en-GB" i="1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900">
                <a:solidFill>
                  <a:srgbClr val="222222"/>
                </a:solidFill>
              </a:rPr>
              <a:t>−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 and common difference of 2</a:t>
            </a:r>
            <a:endParaRPr sz="20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22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20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4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86" name="Shape 1886"/>
        <p:cNvGrpSpPr/>
        <p:nvPr/>
      </p:nvGrpSpPr>
      <p:grpSpPr>
        <a:xfrm>
          <a:off x="0" y="0"/>
          <a:ext cx="0" cy="0"/>
        </a:xfrm>
      </p:grpSpPr>
      <p:sp>
        <p:nvSpPr>
          <p:cNvPr id="1887" name="Google Shape;1887;p10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2) Below are the first four terms in four different </a:t>
            </a:r>
            <a:r>
              <a:rPr lang="en-GB" sz="2000" b="1"/>
              <a:t>linear sequences</a:t>
            </a:r>
            <a:r>
              <a:rPr lang="en-GB" sz="2000"/>
              <a:t>: Fill in the table with true or false for each sequence.</a:t>
            </a:r>
            <a:endParaRPr sz="2000"/>
          </a:p>
        </p:txBody>
      </p:sp>
      <p:sp>
        <p:nvSpPr>
          <p:cNvPr id="1888" name="Google Shape;1888;p106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Describing arithmetic sequences</a:t>
            </a:r>
            <a:endParaRPr/>
          </a:p>
        </p:txBody>
      </p:sp>
      <p:graphicFrame>
        <p:nvGraphicFramePr>
          <p:cNvPr id="1889" name="Google Shape;1889;p106"/>
          <p:cNvGraphicFramePr>
            <a:graphicFrameLocks noGrp="1"/>
          </p:cNvGraphicFramePr>
          <p:nvPr/>
        </p:nvGraphicFramePr>
        <p:xfrm>
          <a:off x="324000" y="1592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{E94B1F7C-D626-4EB4-874A-6446D225D414}</a:tableStyleId>
              </a:tblPr>
              <a:tblGrid>
                <a:gridCol w="2201425"/>
                <a:gridCol w="1590300"/>
                <a:gridCol w="1590300"/>
                <a:gridCol w="1590300"/>
                <a:gridCol w="1523675"/>
              </a:tblGrid>
              <a:tr h="3795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Sequence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1, 5, 9, 13,..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7, 13, 19, 25,..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80, 75, 70, 65,..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22, 19, 16, 13,..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95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Contains negative numbers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False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7200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False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7200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True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7200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True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7200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672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Common difference is positive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True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7200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True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7200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False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7200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False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7200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95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Has 1 as a term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True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7200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False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7200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False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7200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True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7200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95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Has 25 as a term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True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7200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True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7200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True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7200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False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7200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95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Has values greater than 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True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7200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True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7200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True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7200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False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72000" marR="0" marT="0" marB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slides/slide4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93" name="Shape 1893"/>
        <p:cNvGrpSpPr/>
        <p:nvPr/>
      </p:nvGrpSpPr>
      <p:grpSpPr>
        <a:xfrm>
          <a:off x="0" y="0"/>
          <a:ext cx="0" cy="0"/>
        </a:xfrm>
      </p:grpSpPr>
      <p:sp>
        <p:nvSpPr>
          <p:cNvPr id="1894" name="Google Shape;1894;p107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/>
              <a:t>Arithmetic (or linear) sequences</a:t>
            </a:r>
            <a:r>
              <a:rPr lang="en-GB"/>
              <a:t> can be uniquely described using an initial term and a common difference.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We can see if a sequence is </a:t>
            </a:r>
            <a:r>
              <a:rPr lang="en-GB" b="1"/>
              <a:t>arithmetic</a:t>
            </a:r>
            <a:r>
              <a:rPr lang="en-GB"/>
              <a:t> by calculating the differences between successive terms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If we know the common difference and a different term, we can calculate the initial term.</a:t>
            </a:r>
            <a:endParaRPr/>
          </a:p>
        </p:txBody>
      </p:sp>
      <p:sp>
        <p:nvSpPr>
          <p:cNvPr id="1895" name="Google Shape;1895;p107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Arithmetic sequences</a:t>
            </a:r>
            <a:endParaRPr/>
          </a:p>
        </p:txBody>
      </p:sp>
    </p:spTree>
  </p:cSld>
  <p:clrMapOvr>
    <a:masterClrMapping/>
  </p:clrMapOvr>
  <p:transition/>
  <p:timing/>
</p:sld>
</file>

<file path=ppt/slides/slide4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99" name="Shape 1899"/>
        <p:cNvGrpSpPr/>
        <p:nvPr/>
      </p:nvGrpSpPr>
      <p:grpSpPr>
        <a:xfrm>
          <a:off x="0" y="0"/>
          <a:ext cx="0" cy="0"/>
        </a:xfrm>
      </p:grpSpPr>
      <p:sp>
        <p:nvSpPr>
          <p:cNvPr id="1900" name="Google Shape;1900;p108"/>
          <p:cNvSpPr txBox="1"/>
          <p:nvPr>
            <p:ph type="subTitle" idx="1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901" name="Google Shape;1901;p10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557</Paragraphs>
  <Slides>45</Slides>
  <Notes>45</Notes>
  <TotalTime>0</TotalTime>
  <HiddenSlides>1</HiddenSlides>
  <MMClips>0</MMClips>
  <ScaleCrop>0</ScaleCrop>
  <HeadingPairs>
    <vt:vector baseType="variant" size="6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baseType="lpstr" size="54">
      <vt:lpstr>Arial</vt:lpstr>
      <vt:lpstr>Lexend</vt:lpstr>
      <vt:lpstr>Lexend Medium</vt:lpstr>
      <vt:lpstr>Kalam</vt:lpstr>
      <vt:lpstr>Lexend Light</vt:lpstr>
      <vt:lpstr>Calibri</vt:lpstr>
      <vt:lpstr>ABeeZee</vt:lpstr>
      <vt:lpstr>Times</vt:lpstr>
      <vt:lpstr>simple-light-2</vt:lpstr>
      <vt:lpstr>Arithmetic sequences</vt:lpstr>
      <vt:lpstr>PowerPoint Presentation</vt:lpstr>
      <vt:lpstr>PowerPoint Presentation</vt:lpstr>
      <vt:lpstr>PowerPoint Presentation</vt:lpstr>
      <vt:lpstr>Identifying arithmetic sequences</vt:lpstr>
      <vt:lpstr>Identifying arithmetic sequences</vt:lpstr>
      <vt:lpstr>Identifying arithmetic sequences</vt:lpstr>
      <vt:lpstr>Identifying arithmetic sequences</vt:lpstr>
      <vt:lpstr>Identifying arithmetic sequences</vt:lpstr>
      <vt:lpstr>Identifying arithmetic sequences</vt:lpstr>
      <vt:lpstr>Identifying arithmetic sequences</vt:lpstr>
      <vt:lpstr>Identifying arithmetic sequences</vt:lpstr>
      <vt:lpstr>Identifying arithmetic sequences</vt:lpstr>
      <vt:lpstr>Identifying arithmetic sequences</vt:lpstr>
      <vt:lpstr>Identifying arithmetic sequences</vt:lpstr>
      <vt:lpstr>Identifying arithmetic sequences</vt:lpstr>
      <vt:lpstr>Identifying arithmetic sequences</vt:lpstr>
      <vt:lpstr>Identifying arithmetic sequences</vt:lpstr>
      <vt:lpstr>Identifying arithmetic sequences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Identifying arithmetic sequences</vt:lpstr>
      <vt:lpstr>Describing arithmetic sequences</vt:lpstr>
      <vt:lpstr>Describing arithmetic sequences</vt:lpstr>
      <vt:lpstr>Describing arithmetic sequences</vt:lpstr>
      <vt:lpstr>Describing arithmetic sequences</vt:lpstr>
      <vt:lpstr>Describing arithmetic sequences</vt:lpstr>
      <vt:lpstr>Describing arithmetic sequences</vt:lpstr>
      <vt:lpstr>Describing arithmetic sequences</vt:lpstr>
      <vt:lpstr>Describing arithmetic sequences</vt:lpstr>
      <vt:lpstr>Describing arithmetic sequences</vt:lpstr>
      <vt:lpstr>Describing arithmetic sequences</vt:lpstr>
      <vt:lpstr>Describing arithmetic sequences</vt:lpstr>
      <vt:lpstr>Describing arithmetic sequences</vt:lpstr>
      <vt:lpstr>Describing arithmetic sequences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Arithmetic sequences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2023-12-08T09:33:55.952</cp:lastPrinted>
  <dcterms:created xsi:type="dcterms:W3CDTF">2023-12-08T09:33:55Z</dcterms:created>
  <dcterms:modified xsi:type="dcterms:W3CDTF">2023-12-08T09:34:12Z</dcterms:modified>
</cp:coreProperties>
</file>