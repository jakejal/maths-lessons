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0F7EB0-DBA7-4226-8C6D-DC2464A50FC1}">
  <a:tblStyle styleId="{F80F7EB0-DBA7-4226-8C6D-DC2464A50F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9b8ee5aa36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9b8ee5aa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11" Type="http://schemas.openxmlformats.org/officeDocument/2006/relationships/image" Target="../media/image9.png"/><Relationship Id="rId10" Type="http://schemas.openxmlformats.org/officeDocument/2006/relationships/image" Target="../media/image10.png"/><Relationship Id="rId12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sequences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74600"/>
            <a:ext cx="662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terms in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Generalising from non-sequential terms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67998" y="2070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{F80F7EB0-DBA7-4226-8C6D-DC2464A50FC1}</a:tableStyleId>
              </a:tblPr>
              <a:tblGrid>
                <a:gridCol w="1655875"/>
                <a:gridCol w="704750"/>
                <a:gridCol w="704750"/>
                <a:gridCol w="704750"/>
                <a:gridCol w="704750"/>
                <a:gridCol w="704750"/>
                <a:gridCol w="704750"/>
              </a:tblGrid>
              <a:tr h="38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/>
                    </a:p>
                  </a:txBody>
                  <a:tcPr marT="36000" marB="36000" marR="36000" marL="360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/>
                    </a:p>
                  </a:txBody>
                  <a:tcPr marT="36000" marB="36000" marR="36000" marL="360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/>
                    </a:p>
                  </a:txBody>
                  <a:tcPr marT="36000" marB="36000" marR="36000" marL="360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/>
                    </a:p>
                  </a:txBody>
                  <a:tcPr marT="36000" marB="36000" marR="36000" marL="360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4466550"/>
            <a:ext cx="66240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happens when you try to find the missing terms in this sequence? What does that tell you about this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434138" y="4929975"/>
            <a:ext cx="1952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32,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98,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2592833" y="4920376"/>
            <a:ext cx="189872" cy="184803"/>
            <a:chOff x="2316997" y="3089713"/>
            <a:chExt cx="438300" cy="426600"/>
          </a:xfrm>
        </p:grpSpPr>
        <p:sp>
          <p:nvSpPr>
            <p:cNvPr id="169" name="Google Shape;169;p20"/>
            <p:cNvSpPr/>
            <p:nvPr/>
          </p:nvSpPr>
          <p:spPr>
            <a:xfrm>
              <a:off x="2316997" y="3089713"/>
              <a:ext cx="438300" cy="426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" name="Google Shape;170;p20"/>
            <p:cNvCxnSpPr/>
            <p:nvPr/>
          </p:nvCxnSpPr>
          <p:spPr>
            <a:xfrm>
              <a:off x="2371350" y="34525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1" name="Google Shape;171;p20"/>
          <p:cNvGrpSpPr/>
          <p:nvPr/>
        </p:nvGrpSpPr>
        <p:grpSpPr>
          <a:xfrm>
            <a:off x="2899624" y="4920376"/>
            <a:ext cx="189872" cy="184803"/>
            <a:chOff x="2316997" y="3089713"/>
            <a:chExt cx="438300" cy="426600"/>
          </a:xfrm>
        </p:grpSpPr>
        <p:sp>
          <p:nvSpPr>
            <p:cNvPr id="172" name="Google Shape;172;p20"/>
            <p:cNvSpPr/>
            <p:nvPr/>
          </p:nvSpPr>
          <p:spPr>
            <a:xfrm>
              <a:off x="2316997" y="3089713"/>
              <a:ext cx="438300" cy="426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" name="Google Shape;173;p20"/>
            <p:cNvCxnSpPr/>
            <p:nvPr/>
          </p:nvCxnSpPr>
          <p:spPr>
            <a:xfrm>
              <a:off x="2371350" y="34525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" name="Google Shape;174;p20"/>
          <p:cNvGrpSpPr/>
          <p:nvPr/>
        </p:nvGrpSpPr>
        <p:grpSpPr>
          <a:xfrm>
            <a:off x="3407407" y="4920376"/>
            <a:ext cx="189872" cy="184803"/>
            <a:chOff x="2316997" y="3089713"/>
            <a:chExt cx="438300" cy="426600"/>
          </a:xfrm>
        </p:grpSpPr>
        <p:sp>
          <p:nvSpPr>
            <p:cNvPr id="175" name="Google Shape;175;p20"/>
            <p:cNvSpPr/>
            <p:nvPr/>
          </p:nvSpPr>
          <p:spPr>
            <a:xfrm>
              <a:off x="2316997" y="3089713"/>
              <a:ext cx="438300" cy="426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" name="Google Shape;176;p20"/>
            <p:cNvCxnSpPr/>
            <p:nvPr/>
          </p:nvCxnSpPr>
          <p:spPr>
            <a:xfrm>
              <a:off x="2371350" y="34525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7" name="Google Shape;177;p20"/>
          <p:cNvSpPr txBox="1"/>
          <p:nvPr/>
        </p:nvSpPr>
        <p:spPr>
          <a:xfrm>
            <a:off x="468000" y="7646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 a term in this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7988" y="6206402"/>
            <a:ext cx="72090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an arithmetic sequence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sequences</a:t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3959587" y="1957012"/>
            <a:ext cx="2576451" cy="8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68000" y="867725"/>
            <a:ext cx="662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and Laura are looking at a sequence.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5398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Fractional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46" y="1890252"/>
            <a:ext cx="509026" cy="1406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89" name="Google Shape;189;p21" title="one fifth comma one tenth comma 1 over 15 comma 1 over 20 comma 1 over 25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688" y="1169288"/>
            <a:ext cx="1887922" cy="4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247075" y="1748125"/>
            <a:ext cx="2442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increasing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10901" y="1733700"/>
            <a:ext cx="2799524" cy="63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092000" y="2485100"/>
            <a:ext cx="261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Justify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09700" y="2194451"/>
            <a:ext cx="509025" cy="148813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060613" y="2061413"/>
            <a:ext cx="2442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10, 15, 20, 25, …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That’s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arithmetic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759000" y="2871400"/>
            <a:ext cx="2952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Justify why Laura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39451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an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for these fractional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474757" y="6390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1"/>
          <p:cNvSpPr txBox="1"/>
          <p:nvPr/>
        </p:nvSpPr>
        <p:spPr>
          <a:xfrm>
            <a:off x="468000" y="41758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2}{3},\frac{3}{4},\frac{4}{5},\frac{5}{6},\ ...&quot;&gt;&lt;mfrac&gt;&lt;mn&gt;1&lt;/mn&gt;&lt;mn&gt;2&lt;/mn&gt;&lt;/mfrac&gt;&lt;mo&gt;,&lt;/mo&gt;&lt;mfrac&gt;&lt;mn&gt;2&lt;/mn&gt;&lt;mn&gt;3&lt;/mn&gt;&lt;/mfrac&gt;&lt;mo&gt;,&lt;/mo&gt;&lt;mfrac&gt;&lt;mn&gt;3&lt;/mn&gt;&lt;mn&gt;4&lt;/mn&gt;&lt;/mfrac&gt;&lt;mo&gt;,&lt;/mo&gt;&lt;mfrac&gt;&lt;mn&gt;4&lt;/mn&gt;&lt;mn&gt;5&lt;/mn&gt;&lt;/mfrac&gt;&lt;mo&gt;,&lt;/mo&gt;&lt;mfrac&gt;&lt;mn&gt;5&lt;/mn&gt;&lt;mn&gt;6&lt;/mn&gt;&lt;/mfrac&gt;&lt;mo&gt;,&lt;/mo&gt;&lt;mtext&gt;&lt;/mtext&gt;&lt;mo&gt;.&lt;/mo&gt;&lt;mo&gt;.&lt;/mo&gt;&lt;mo&gt;.&lt;/mo&gt;&lt;/math&gt;" id="199" name="Google Shape;199;p21" title="one half comma two thirds comma three fourths comma four fifths comma five six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925" y="4606493"/>
            <a:ext cx="1116129" cy="310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2}{5},\frac{3}{7},\frac{4}{9},\frac{5}{11},\ ...&quot;&gt;&lt;mfrac&gt;&lt;mn&gt;1&lt;/mn&gt;&lt;mn&gt;3&lt;/mn&gt;&lt;/mfrac&gt;&lt;mo&gt;,&lt;/mo&gt;&lt;mfrac&gt;&lt;mn&gt;2&lt;/mn&gt;&lt;mn&gt;5&lt;/mn&gt;&lt;/mfrac&gt;&lt;mo&gt;,&lt;/mo&gt;&lt;mfrac&gt;&lt;mn&gt;3&lt;/mn&gt;&lt;mn&gt;7&lt;/mn&gt;&lt;/mfrac&gt;&lt;mo&gt;,&lt;/mo&gt;&lt;mfrac&gt;&lt;mn&gt;4&lt;/mn&gt;&lt;mn&gt;9&lt;/mn&gt;&lt;/mfrac&gt;&lt;mo&gt;,&lt;/mo&gt;&lt;mfrac&gt;&lt;mn&gt;5&lt;/mn&gt;&lt;mn&gt;11&lt;/mn&gt;&lt;/mfrac&gt;&lt;mo&gt;,&lt;/mo&gt;&lt;mtext&gt;&lt;/mtext&gt;&lt;mo&gt;.&lt;/mo&gt;&lt;mo&gt;.&lt;/mo&gt;&lt;mo&gt;.&lt;/mo&gt;&lt;/math&gt;" id="200" name="Google Shape;200;p21" title="one third comma two fifths comma three sevenths comma four ninths comma 5 over 11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925" y="5025823"/>
            <a:ext cx="1188514" cy="310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6}{5},\frac{11}{7},\frac{16}{9},\frac{21}{11},\ ...&quot;&gt;&lt;mfrac&gt;&lt;mn&gt;1&lt;/mn&gt;&lt;mn&gt;3&lt;/mn&gt;&lt;/mfrac&gt;&lt;mo&gt;,&lt;/mo&gt;&lt;mfrac&gt;&lt;mn&gt;6&lt;/mn&gt;&lt;mn&gt;5&lt;/mn&gt;&lt;/mfrac&gt;&lt;mo&gt;,&lt;/mo&gt;&lt;mfrac&gt;&lt;mn&gt;11&lt;/mn&gt;&lt;mn&gt;7&lt;/mn&gt;&lt;/mfrac&gt;&lt;mo&gt;,&lt;/mo&gt;&lt;mfrac&gt;&lt;mn&gt;16&lt;/mn&gt;&lt;mn&gt;9&lt;/mn&gt;&lt;/mfrac&gt;&lt;mo&gt;,&lt;/mo&gt;&lt;mfrac&gt;&lt;mn&gt;21&lt;/mn&gt;&lt;mn&gt;11&lt;/mn&gt;&lt;/mfrac&gt;&lt;mo&gt;,&lt;/mo&gt;&lt;mtext&gt;&lt;/mtext&gt;&lt;mo&gt;.&lt;/mo&gt;&lt;mo&gt;.&lt;/mo&gt;&lt;mo&gt;.&lt;/mo&gt;&lt;/math&gt;" id="201" name="Google Shape;201;p21" title="one third comma six fifths comma eleven sevenths comma sixteen ninths comma 21 over 11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0925" y="5445154"/>
            <a:ext cx="1368309" cy="315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},\frac{1}{4},\frac{1}{9},\frac{1}{16},\frac{1}{25},\ ...&quot;&gt;&lt;mfrac&gt;&lt;mn&gt;1&lt;/mn&gt;&lt;mn&gt;1&lt;/mn&gt;&lt;/mfrac&gt;&lt;mo&gt;,&lt;/mo&gt;&lt;mfrac&gt;&lt;mn&gt;1&lt;/mn&gt;&lt;mn&gt;4&lt;/mn&gt;&lt;/mfrac&gt;&lt;mo&gt;,&lt;/mo&gt;&lt;mfrac&gt;&lt;mn&gt;1&lt;/mn&gt;&lt;mn&gt;9&lt;/mn&gt;&lt;/mfrac&gt;&lt;mo&gt;,&lt;/mo&gt;&lt;mfrac&gt;&lt;mn&gt;1&lt;/mn&gt;&lt;mn&gt;16&lt;/mn&gt;&lt;/mfrac&gt;&lt;mo&gt;,&lt;/mo&gt;&lt;mfrac&gt;&lt;mn&gt;1&lt;/mn&gt;&lt;mn&gt;25&lt;/mn&gt;&lt;/mfrac&gt;&lt;mo&gt;,&lt;/mo&gt;&lt;mtext&gt;&lt;/mtext&gt;&lt;mo&gt;.&lt;/mo&gt;&lt;mo&gt;.&lt;/mo&gt;&lt;mo&gt;.&lt;/mo&gt;&lt;/math&gt;" id="202" name="Google Shape;202;p21" title="one oneth comma one fourth comma one ninth comma 1 over 16 comma 1 over 2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0925" y="5869155"/>
            <a:ext cx="1293589" cy="315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3},\frac{1}{4},\frac{1}{5},\frac{1}{6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text&gt;&lt;/mtext&gt;&lt;mo&gt;.&lt;/mo&gt;&lt;mo&gt;.&lt;/mo&gt;&lt;mo&gt;.&lt;/mo&gt;&lt;/math&gt;" id="203" name="Google Shape;203;p21" title="one half comma one third comma one fourth comma one fifth comma one sixth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0925" y="4195722"/>
            <a:ext cx="1093814" cy="301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8000" y="45949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50140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54331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58522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6788400"/>
            <a:ext cx="6624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How many squares are there on a chess board?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6511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Pattern spotting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210" name="Google Shape;210;p21" title="Equatio Desmos Graph"/>
          <p:cNvPicPr preferRelativeResize="0"/>
          <p:nvPr/>
        </p:nvPicPr>
        <p:blipFill rotWithShape="1">
          <a:blip r:embed="rId12">
            <a:alphaModFix/>
          </a:blip>
          <a:srcRect b="6292" l="13274" r="21138" t="6553"/>
          <a:stretch/>
        </p:blipFill>
        <p:spPr>
          <a:xfrm>
            <a:off x="479505" y="7215740"/>
            <a:ext cx="2679080" cy="267026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21"/>
          <p:cNvSpPr/>
          <p:nvPr/>
        </p:nvSpPr>
        <p:spPr>
          <a:xfrm>
            <a:off x="1147845" y="7534186"/>
            <a:ext cx="658200" cy="6666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66825" y="7202700"/>
            <a:ext cx="336600" cy="3315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161305" y="7210329"/>
            <a:ext cx="658200" cy="6666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154836" y="8212382"/>
            <a:ext cx="1021200" cy="10245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03551" y="7871605"/>
            <a:ext cx="1701900" cy="16986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454200" y="7281800"/>
            <a:ext cx="29520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Don’t forget to consid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 all 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squares!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