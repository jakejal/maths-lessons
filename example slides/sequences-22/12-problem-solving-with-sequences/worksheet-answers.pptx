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142895-6B85-4980-BC8A-09EA5FEF769F}">
  <a:tblStyle styleId="{BB142895-6B85-4980-BC8A-09EA5FEF76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9b9169a63e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9b9169a6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4.png"/><Relationship Id="rId13" Type="http://schemas.openxmlformats.org/officeDocument/2006/relationships/image" Target="../media/image18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9" Type="http://schemas.openxmlformats.org/officeDocument/2006/relationships/image" Target="../media/image9.png"/><Relationship Id="rId15" Type="http://schemas.openxmlformats.org/officeDocument/2006/relationships/image" Target="../media/image15.png"/><Relationship Id="rId14" Type="http://schemas.openxmlformats.org/officeDocument/2006/relationships/image" Target="../media/image17.png"/><Relationship Id="rId17" Type="http://schemas.openxmlformats.org/officeDocument/2006/relationships/image" Target="../media/image22.png"/><Relationship Id="rId16" Type="http://schemas.openxmlformats.org/officeDocument/2006/relationships/image" Target="../media/image23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sequences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74600"/>
            <a:ext cx="662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missing terms in these arithmetic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37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Generalising from non-sequential terms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467998" y="20707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{BB142895-6B85-4980-BC8A-09EA5FEF769F}</a:tableStyleId>
              </a:tblPr>
              <a:tblGrid>
                <a:gridCol w="1655875"/>
                <a:gridCol w="704750"/>
                <a:gridCol w="704750"/>
                <a:gridCol w="704750"/>
                <a:gridCol w="704750"/>
                <a:gridCol w="704750"/>
                <a:gridCol w="704750"/>
              </a:tblGrid>
              <a:tr h="38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−26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−17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−3.5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7.75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3.25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−1.25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0"/>
          <p:cNvSpPr txBox="1"/>
          <p:nvPr/>
        </p:nvSpPr>
        <p:spPr>
          <a:xfrm>
            <a:off x="5965739" y="1691480"/>
            <a:ext cx="14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Term-to-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rule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115897" y="2520713"/>
            <a:ext cx="9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+9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115897" y="2932001"/>
            <a:ext cx="9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115897" y="3298335"/>
            <a:ext cx="9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+4.5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115897" y="3680422"/>
            <a:ext cx="9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−2.25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4466550"/>
            <a:ext cx="66240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What happens when you try to find the missing terms in this sequence? What does that tell you about this sequence?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286075" y="4929988"/>
            <a:ext cx="47433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32, 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98,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8000" y="5206450"/>
            <a:ext cx="6624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Between 2 and 32, the common difference will be 10 (2, 12, 22, 32) but between 32 and 98 the common difference will be 33 (32, 65, 98).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We won’t get a common, constant difference between terms so this must not be an arithmetic sequence.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00" y="84843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Will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3634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 a term in this sequence?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63-187}{45-23}=\frac{176}{22}=8&quot;&gt;&lt;mfrac&gt;&lt;mrow&gt;&lt;mn&gt;363&lt;/mn&gt;&lt;mo&gt;−&lt;/mo&gt;&lt;mn&gt;187&lt;/mn&gt;&lt;/mrow&gt;&lt;mrow&gt;&lt;mn&gt;45&lt;/mn&gt;&lt;mo&gt;−&lt;/mo&gt;&lt;mn&gt;23&lt;/mn&gt;&lt;/mrow&gt;&lt;/mfrac&gt;&lt;mo&gt;=&lt;/mo&gt;&lt;mfrac&gt;&lt;mn&gt;176&lt;/mn&gt;&lt;mn&gt;22&lt;/mn&gt;&lt;/mfrac&gt;&lt;mo&gt;=&lt;/mo&gt;&lt;mn&gt;8&lt;/mn&gt;&lt;/math&gt;" id="185" name="Google Shape;185;p20" title="the fraction with numerator 363 minus 187 and denominator 45 minus 23 equals 176 over 22 equals 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98" y="7429203"/>
            <a:ext cx="1847666" cy="42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467988" y="6663602"/>
            <a:ext cx="72090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of an arithmetic sequence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7994722"/>
            <a:ext cx="3312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When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term value is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8(100)+3 = 803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7998" y="8760600"/>
            <a:ext cx="6624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No. We have odd terms and an even common difference therefore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3634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an even number, will not be in the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sequences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68000" y="867725"/>
            <a:ext cx="6624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Jun and Laura are looking at a sequence.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68000" y="6160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Fractional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,\frac{1}{10},\frac{1}{15},\frac{1}{20},\frac{1}{25},\ ...&quot;&gt;&lt;mfrac&gt;&lt;mn&gt;1&lt;/mn&gt;&lt;mn&gt;5&lt;/mn&gt;&lt;/mfrac&gt;&lt;mo&gt;,&lt;/mo&gt;&lt;mfrac&gt;&lt;mn&gt;1&lt;/mn&gt;&lt;mn&gt;10&lt;/mn&gt;&lt;/mfrac&gt;&lt;mo&gt;,&lt;/mo&gt;&lt;mfrac&gt;&lt;mn&gt;1&lt;/mn&gt;&lt;mn&gt;15&lt;/mn&gt;&lt;/mfrac&gt;&lt;mo&gt;,&lt;/mo&gt;&lt;mfrac&gt;&lt;mn&gt;1&lt;/mn&gt;&lt;mn&gt;20&lt;/mn&gt;&lt;/mfrac&gt;&lt;mo&gt;,&lt;/mo&gt;&lt;mfrac&gt;&lt;mn&gt;1&lt;/mn&gt;&lt;mn&gt;25&lt;/mn&gt;&lt;/mfrac&gt;&lt;mo&gt;,&lt;/mo&gt;&lt;mtext&gt;&lt;/mtext&gt;&lt;mo&gt;.&lt;/mo&gt;&lt;mo&gt;.&lt;/mo&gt;&lt;mo&gt;.&lt;/mo&gt;&lt;/math&gt;" id="196" name="Google Shape;196;p21" title="one fifth comma one tenth comma 1 over 15 comma 1 over 20 comma 1 over 25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9688" y="1169288"/>
            <a:ext cx="1887922" cy="42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1077600" y="2727675"/>
            <a:ext cx="2952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sequence is decreasing.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3759000" y="3088850"/>
            <a:ext cx="2952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is not a common difference so our sequence is not arithmetic.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,\frac{1}{10},\frac{1}{15},\frac{1}{20},\frac{1}{25},\ ...&quot;&gt;&lt;mfrac&gt;&lt;mn&gt;1&lt;/mn&gt;&lt;mn&gt;5&lt;/mn&gt;&lt;/mfrac&gt;&lt;mo&gt;,&lt;/mo&gt;&lt;mfrac&gt;&lt;mn&gt;1&lt;/mn&gt;&lt;mn&gt;10&lt;/mn&gt;&lt;/mfrac&gt;&lt;mo&gt;,&lt;/mo&gt;&lt;mfrac&gt;&lt;mn&gt;1&lt;/mn&gt;&lt;mn&gt;15&lt;/mn&gt;&lt;/mfrac&gt;&lt;mo&gt;,&lt;/mo&gt;&lt;mfrac&gt;&lt;mn&gt;1&lt;/mn&gt;&lt;mn&gt;20&lt;/mn&gt;&lt;/mfrac&gt;&lt;mo&gt;,&lt;/mo&gt;&lt;mfrac&gt;&lt;mn&gt;1&lt;/mn&gt;&lt;mn&gt;25&lt;/mn&gt;&lt;/mfrac&gt;&lt;mo&gt;,&lt;/mo&gt;&lt;mtext&gt;&lt;/mtext&gt;&lt;mo&gt;.&lt;/mo&gt;&lt;mo&gt;.&lt;/mo&gt;&lt;mo&gt;.&lt;/mo&gt;&lt;/math&gt;" id="199" name="Google Shape;199;p21" title="one fifth comma one tenth comma 1 over 15 comma 1 over 20 comma 1 over 25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000" y="3559600"/>
            <a:ext cx="2064381" cy="459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n}&quot;&gt;&lt;mfrac&gt;&lt;mn&gt;1&lt;/mn&gt;&lt;mrow&gt;&lt;mn&gt;5&lt;/mn&gt;&lt;mi&gt;n&lt;/mi&gt;&lt;/mrow&gt;&lt;/mfrac&gt;&lt;/math&gt;" id="200" name="Google Shape;200;p21" title="1 over 5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9574" y="3564865"/>
            <a:ext cx="252101" cy="45991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3762050" y="4153075"/>
            <a:ext cx="2952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But Laura ha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spotted something useful!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68000" y="44023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an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for these fractional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" name="Google Shape;203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1"/>
          <p:cNvSpPr txBox="1"/>
          <p:nvPr/>
        </p:nvSpPr>
        <p:spPr>
          <a:xfrm>
            <a:off x="468000" y="4709261"/>
            <a:ext cx="401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,\frac{2}{3},\frac{3}{4},\frac{4}{5},\frac{5}{6},\ ...&quot;&gt;&lt;mfrac&gt;&lt;mn&gt;1&lt;/mn&gt;&lt;mn&gt;2&lt;/mn&gt;&lt;/mfrac&gt;&lt;mo&gt;,&lt;/mo&gt;&lt;mfrac&gt;&lt;mn&gt;2&lt;/mn&gt;&lt;mn&gt;3&lt;/mn&gt;&lt;/mfrac&gt;&lt;mo&gt;,&lt;/mo&gt;&lt;mfrac&gt;&lt;mn&gt;3&lt;/mn&gt;&lt;mn&gt;4&lt;/mn&gt;&lt;/mfrac&gt;&lt;mo&gt;,&lt;/mo&gt;&lt;mfrac&gt;&lt;mn&gt;4&lt;/mn&gt;&lt;mn&gt;5&lt;/mn&gt;&lt;/mfrac&gt;&lt;mo&gt;,&lt;/mo&gt;&lt;mfrac&gt;&lt;mn&gt;5&lt;/mn&gt;&lt;mn&gt;6&lt;/mn&gt;&lt;/mfrac&gt;&lt;mo&gt;,&lt;/mo&gt;&lt;mtext&gt;&lt;/mtext&gt;&lt;mo&gt;.&lt;/mo&gt;&lt;mo&gt;.&lt;/mo&gt;&lt;mo&gt;.&lt;/mo&gt;&lt;/math&gt;" id="205" name="Google Shape;205;p21" title="one half comma two thirds comma three fourths comma four fifths comma five sixths comma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0925" y="5063693"/>
            <a:ext cx="1116129" cy="310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,\frac{2}{5},\frac{3}{7},\frac{4}{9},\frac{5}{11},\ ...&quot;&gt;&lt;mfrac&gt;&lt;mn&gt;1&lt;/mn&gt;&lt;mn&gt;3&lt;/mn&gt;&lt;/mfrac&gt;&lt;mo&gt;,&lt;/mo&gt;&lt;mfrac&gt;&lt;mn&gt;2&lt;/mn&gt;&lt;mn&gt;5&lt;/mn&gt;&lt;/mfrac&gt;&lt;mo&gt;,&lt;/mo&gt;&lt;mfrac&gt;&lt;mn&gt;3&lt;/mn&gt;&lt;mn&gt;7&lt;/mn&gt;&lt;/mfrac&gt;&lt;mo&gt;,&lt;/mo&gt;&lt;mfrac&gt;&lt;mn&gt;4&lt;/mn&gt;&lt;mn&gt;9&lt;/mn&gt;&lt;/mfrac&gt;&lt;mo&gt;,&lt;/mo&gt;&lt;mfrac&gt;&lt;mn&gt;5&lt;/mn&gt;&lt;mn&gt;11&lt;/mn&gt;&lt;/mfrac&gt;&lt;mo&gt;,&lt;/mo&gt;&lt;mtext&gt;&lt;/mtext&gt;&lt;mo&gt;.&lt;/mo&gt;&lt;mo&gt;.&lt;/mo&gt;&lt;mo&gt;.&lt;/mo&gt;&lt;/math&gt;" id="206" name="Google Shape;206;p21" title="one third comma two fifths comma three sevenths comma four ninths comma 5 over 11 comma period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0925" y="5483023"/>
            <a:ext cx="1188514" cy="310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,\frac{6}{5},\frac{11}{7},\frac{16}{9},\frac{21}{11},\ ...&quot;&gt;&lt;mfrac&gt;&lt;mn&gt;1&lt;/mn&gt;&lt;mn&gt;3&lt;/mn&gt;&lt;/mfrac&gt;&lt;mo&gt;,&lt;/mo&gt;&lt;mfrac&gt;&lt;mn&gt;6&lt;/mn&gt;&lt;mn&gt;5&lt;/mn&gt;&lt;/mfrac&gt;&lt;mo&gt;,&lt;/mo&gt;&lt;mfrac&gt;&lt;mn&gt;11&lt;/mn&gt;&lt;mn&gt;7&lt;/mn&gt;&lt;/mfrac&gt;&lt;mo&gt;,&lt;/mo&gt;&lt;mfrac&gt;&lt;mn&gt;16&lt;/mn&gt;&lt;mn&gt;9&lt;/mn&gt;&lt;/mfrac&gt;&lt;mo&gt;,&lt;/mo&gt;&lt;mfrac&gt;&lt;mn&gt;21&lt;/mn&gt;&lt;mn&gt;11&lt;/mn&gt;&lt;/mfrac&gt;&lt;mo&gt;,&lt;/mo&gt;&lt;mtext&gt;&lt;/mtext&gt;&lt;mo&gt;.&lt;/mo&gt;&lt;mo&gt;.&lt;/mo&gt;&lt;mo&gt;.&lt;/mo&gt;&lt;/math&gt;" id="207" name="Google Shape;207;p21" title="one third comma six fifths comma eleven sevenths comma sixteen ninths comma 21 over 11 comma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0925" y="5902354"/>
            <a:ext cx="1368309" cy="315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},\frac{1}{4},\frac{1}{9},\frac{1}{16},\frac{1}{25},\ ...&quot;&gt;&lt;mfrac&gt;&lt;mn&gt;1&lt;/mn&gt;&lt;mn&gt;1&lt;/mn&gt;&lt;/mfrac&gt;&lt;mo&gt;,&lt;/mo&gt;&lt;mfrac&gt;&lt;mn&gt;1&lt;/mn&gt;&lt;mn&gt;4&lt;/mn&gt;&lt;/mfrac&gt;&lt;mo&gt;,&lt;/mo&gt;&lt;mfrac&gt;&lt;mn&gt;1&lt;/mn&gt;&lt;mn&gt;9&lt;/mn&gt;&lt;/mfrac&gt;&lt;mo&gt;,&lt;/mo&gt;&lt;mfrac&gt;&lt;mn&gt;1&lt;/mn&gt;&lt;mn&gt;16&lt;/mn&gt;&lt;/mfrac&gt;&lt;mo&gt;,&lt;/mo&gt;&lt;mfrac&gt;&lt;mn&gt;1&lt;/mn&gt;&lt;mn&gt;25&lt;/mn&gt;&lt;/mfrac&gt;&lt;mo&gt;,&lt;/mo&gt;&lt;mtext&gt;&lt;/mtext&gt;&lt;mo&gt;.&lt;/mo&gt;&lt;mo&gt;.&lt;/mo&gt;&lt;mo&gt;.&lt;/mo&gt;&lt;/math&gt;" id="208" name="Google Shape;208;p21" title="one oneth comma one fourth comma one ninth comma 1 over 16 comma 1 over 25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0925" y="6326355"/>
            <a:ext cx="1293589" cy="315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,\frac{1}{3},\frac{1}{4},\frac{1}{5},\frac{1}{6},\ ...&quot;&gt;&lt;mfrac&gt;&lt;mn&gt;1&lt;/mn&gt;&lt;mn&gt;2&lt;/mn&gt;&lt;/mfrac&gt;&lt;mo&gt;,&lt;/mo&gt;&lt;mfrac&gt;&lt;mn&gt;1&lt;/mn&gt;&lt;mn&gt;3&lt;/mn&gt;&lt;/mfrac&gt;&lt;mo&gt;,&lt;/mo&gt;&lt;mfrac&gt;&lt;mn&gt;1&lt;/mn&gt;&lt;mn&gt;4&lt;/mn&gt;&lt;/mfrac&gt;&lt;mo&gt;,&lt;/mo&gt;&lt;mfrac&gt;&lt;mn&gt;1&lt;/mn&gt;&lt;mn&gt;5&lt;/mn&gt;&lt;/mfrac&gt;&lt;mo&gt;,&lt;/mo&gt;&lt;mfrac&gt;&lt;mn&gt;1&lt;/mn&gt;&lt;mn&gt;6&lt;/mn&gt;&lt;/mfrac&gt;&lt;mo&gt;,&lt;/mo&gt;&lt;mtext&gt;&lt;/mtext&gt;&lt;mo&gt;.&lt;/mo&gt;&lt;mo&gt;.&lt;/mo&gt;&lt;mo&gt;.&lt;/mo&gt;&lt;/math&gt;" id="209" name="Google Shape;209;p21" title="one half comma one third comma one fourth comma one fifth comma one sixth comma period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0925" y="4652922"/>
            <a:ext cx="1093814" cy="30199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468000" y="5128361"/>
            <a:ext cx="401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5547461"/>
            <a:ext cx="401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5966561"/>
            <a:ext cx="401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6385661"/>
            <a:ext cx="401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n+1}&quot;&gt;&lt;mfrac&gt;&lt;mn&gt;1&lt;/mn&gt;&lt;mrow&gt;&lt;mi&gt;n&lt;/mi&gt;&lt;mo&gt;+&lt;/mo&gt;&lt;mn&gt;1&lt;/mn&gt;&lt;/mrow&gt;&lt;/mfrac&gt;&lt;/math&gt;" id="214" name="Google Shape;214;p21" title="the fraction with numerator 1 and denominator n plus 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15531" y="4648520"/>
            <a:ext cx="335339" cy="315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n}{n+1}&quot;&gt;&lt;mfrac&gt;&lt;mi&gt;n&lt;/mi&gt;&lt;mrow&gt;&lt;mi&gt;n&lt;/mi&gt;&lt;mo&gt;+&lt;/mo&gt;&lt;mn&gt;1&lt;/mn&gt;&lt;/mrow&gt;&lt;/mfrac&gt;&lt;/math&gt;" id="215" name="Google Shape;215;p21" title="the fraction with numerator n and denominator n plus 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128537" y="5080204"/>
            <a:ext cx="373679" cy="310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n}{2n+1}&quot;&gt;&lt;mfrac&gt;&lt;mi&gt;n&lt;/mi&gt;&lt;mrow&gt;&lt;mn&gt;2&lt;/mn&gt;&lt;mi&gt;n&lt;/mi&gt;&lt;mo&gt;+&lt;/mo&gt;&lt;mn&gt;1&lt;/mn&gt;&lt;/mrow&gt;&lt;/mfrac&gt;&lt;/math&gt;" id="216" name="Google Shape;216;p21" title="the fraction with numerator n and denominator 2 n plus 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51379" y="5503208"/>
            <a:ext cx="444386" cy="301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n-1}{2n+1}&quot;&gt;&lt;mfrac&gt;&lt;mrow&gt;&lt;mn&gt;5&lt;/mn&gt;&lt;mi&gt;n&lt;/mi&gt;&lt;mo&gt;−&lt;/mo&gt;&lt;mn&gt;1&lt;/mn&gt;&lt;/mrow&gt;&lt;mrow&gt;&lt;mn&gt;2&lt;/mn&gt;&lt;mi&gt;n&lt;/mi&gt;&lt;mo&gt;+&lt;/mo&gt;&lt;mn&gt;1&lt;/mn&gt;&lt;/mrow&gt;&lt;/mfrac&gt;&lt;/math&gt;" id="217" name="Google Shape;217;p21" title="the fraction with numerator 5 n minus 1 and denominator 2 n plus 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314663" y="5902083"/>
            <a:ext cx="414162" cy="315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n^2}&quot;&gt;&lt;mfrac&gt;&lt;mn&gt;1&lt;/mn&gt;&lt;msup&gt;&lt;mi&gt;n&lt;/mi&gt;&lt;mn&gt;2&lt;/mn&gt;&lt;/msup&gt;&lt;/mfrac&gt;&lt;/math&gt;" id="218" name="Google Shape;218;p21" title="the fraction with numerator 1 and denominator n square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261209" y="6305898"/>
            <a:ext cx="175846" cy="34914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2577377" y="6424836"/>
            <a:ext cx="4517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Constant numerator and non-arithmetic pattern in the denominators.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0" name="Google Shape;220;p21"/>
          <p:cNvPicPr preferRelativeResize="0"/>
          <p:nvPr/>
        </p:nvPicPr>
        <p:blipFill rotWithShape="1">
          <a:blip r:embed="rId15">
            <a:alphaModFix/>
          </a:blip>
          <a:srcRect b="4760" l="40550" r="0" t="13015"/>
          <a:stretch/>
        </p:blipFill>
        <p:spPr>
          <a:xfrm flipH="1">
            <a:off x="3959587" y="1880812"/>
            <a:ext cx="2576451" cy="81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74746" y="1814052"/>
            <a:ext cx="509026" cy="140604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1247075" y="1671925"/>
            <a:ext cx="2442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10, 15, 20, 25,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an increasing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3" name="Google Shape;223;p21"/>
          <p:cNvPicPr preferRelativeResize="0"/>
          <p:nvPr/>
        </p:nvPicPr>
        <p:blipFill rotWithShape="1">
          <a:blip r:embed="rId15">
            <a:alphaModFix/>
          </a:blip>
          <a:srcRect b="43690" l="0" r="57905" t="0"/>
          <a:stretch/>
        </p:blipFill>
        <p:spPr>
          <a:xfrm flipH="1">
            <a:off x="910901" y="1657500"/>
            <a:ext cx="2799524" cy="63377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1092000" y="2408900"/>
            <a:ext cx="26184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Justify why Jun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" name="Google Shape;225;p2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 flipH="1">
            <a:off x="6509700" y="2118251"/>
            <a:ext cx="509025" cy="148813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4060613" y="1985213"/>
            <a:ext cx="2442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10, 15, 20, 25, …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That’s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is an arithmetic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3759000" y="2795200"/>
            <a:ext cx="2952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Justify why Laura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68000" y="7093200"/>
            <a:ext cx="6624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How many squares are there on a chess board?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68000" y="6816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Pattern spotting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2983450" y="7507500"/>
            <a:ext cx="27864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Square numbers.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31" name="Google Shape;231;p21"/>
          <p:cNvGraphicFramePr/>
          <p:nvPr/>
        </p:nvGraphicFramePr>
        <p:xfrm>
          <a:off x="467990" y="74313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{BB142895-6B85-4980-BC8A-09EA5FEF769F}</a:tableStyleId>
              </a:tblPr>
              <a:tblGrid>
                <a:gridCol w="1100450"/>
                <a:gridCol w="1100450"/>
              </a:tblGrid>
              <a:tr h="29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Square size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Frequency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× 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× 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× 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× 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× 4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× 3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× 2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× 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2" name="Google Shape;232;p21"/>
          <p:cNvSpPr txBox="1"/>
          <p:nvPr/>
        </p:nvSpPr>
        <p:spPr>
          <a:xfrm>
            <a:off x="2983450" y="8006100"/>
            <a:ext cx="38523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204 squares on a chessboard.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34" name="Google Shape;23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