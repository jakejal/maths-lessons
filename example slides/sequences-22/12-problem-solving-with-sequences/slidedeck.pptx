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2E584B-C823-4B75-97F4-2AD25AA6B760}">
  <a:tblStyle styleId="{392E584B-C823-4B75-97F4-2AD25AA6B7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51752f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51752f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9651752f5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9651752f5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9651752f5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9651752f5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9651752f5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9651752f5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651752f5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651752f5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9651752f5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9651752f5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9651752f51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9651752f51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9651752f5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9651752f5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9651752f51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9651752f51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9651752f51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9651752f51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651752f51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651752f51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4b29b3e3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4b29b3e3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9651752f51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9651752f51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9651752f51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9651752f5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9651752f51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9651752f51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9651752f51_0_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9651752f51_0_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9651752f51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9651752f51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9651752f51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9651752f51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9651752f51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9651752f51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651752f51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651752f51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9651752f51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9651752f51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9651752f51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9651752f51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9651752f51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9651752f51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9651752f51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9651752f51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9651752f51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9651752f51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9651752f51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9651752f51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9651752f51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9651752f51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9651752f51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9651752f51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9651752f51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9651752f51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9651752f51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9651752f51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29651752f51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29651752f51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9651752f51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9651752f51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9651752f51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9651752f51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9651752f51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9651752f51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29651752f51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9651752f51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9651752f51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9651752f51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9651752f51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9651752f51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29651752f51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29651752f51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Relationship Id="rId4" Type="http://schemas.openxmlformats.org/officeDocument/2006/relationships/image" Target="../media/image109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09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Relationship Id="rId7" Type="http://schemas.openxmlformats.org/officeDocument/2006/relationships/image" Target="../media/image25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109.png"/><Relationship Id="rId4" Type="http://schemas.openxmlformats.org/officeDocument/2006/relationships/image" Target="../media/image28.png"/><Relationship Id="rId11" Type="http://schemas.openxmlformats.org/officeDocument/2006/relationships/image" Target="../media/image21.png"/><Relationship Id="rId10" Type="http://schemas.openxmlformats.org/officeDocument/2006/relationships/image" Target="../media/image41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Relationship Id="rId5" Type="http://schemas.openxmlformats.org/officeDocument/2006/relationships/image" Target="../media/image6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9" Type="http://schemas.openxmlformats.org/officeDocument/2006/relationships/image" Target="../media/image61.png"/><Relationship Id="rId5" Type="http://schemas.openxmlformats.org/officeDocument/2006/relationships/image" Target="../media/image56.png"/><Relationship Id="rId6" Type="http://schemas.openxmlformats.org/officeDocument/2006/relationships/image" Target="../media/image55.png"/><Relationship Id="rId7" Type="http://schemas.openxmlformats.org/officeDocument/2006/relationships/image" Target="../media/image58.png"/><Relationship Id="rId8" Type="http://schemas.openxmlformats.org/officeDocument/2006/relationships/image" Target="../media/image6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9" Type="http://schemas.openxmlformats.org/officeDocument/2006/relationships/image" Target="../media/image69.png"/><Relationship Id="rId5" Type="http://schemas.openxmlformats.org/officeDocument/2006/relationships/image" Target="../media/image62.png"/><Relationship Id="rId6" Type="http://schemas.openxmlformats.org/officeDocument/2006/relationships/image" Target="../media/image60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3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47.png"/><Relationship Id="rId8" Type="http://schemas.openxmlformats.org/officeDocument/2006/relationships/image" Target="../media/image7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Relationship Id="rId4" Type="http://schemas.openxmlformats.org/officeDocument/2006/relationships/image" Target="../media/image70.png"/><Relationship Id="rId9" Type="http://schemas.openxmlformats.org/officeDocument/2006/relationships/image" Target="../media/image81.png"/><Relationship Id="rId5" Type="http://schemas.openxmlformats.org/officeDocument/2006/relationships/image" Target="../media/image72.png"/><Relationship Id="rId6" Type="http://schemas.openxmlformats.org/officeDocument/2006/relationships/image" Target="../media/image76.png"/><Relationship Id="rId7" Type="http://schemas.openxmlformats.org/officeDocument/2006/relationships/image" Target="../media/image84.png"/><Relationship Id="rId8" Type="http://schemas.openxmlformats.org/officeDocument/2006/relationships/image" Target="../media/image78.png"/><Relationship Id="rId10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9.png"/><Relationship Id="rId5" Type="http://schemas.openxmlformats.org/officeDocument/2006/relationships/image" Target="../media/image82.png"/><Relationship Id="rId6" Type="http://schemas.openxmlformats.org/officeDocument/2006/relationships/image" Target="../media/image7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0.png"/><Relationship Id="rId4" Type="http://schemas.openxmlformats.org/officeDocument/2006/relationships/image" Target="../media/image95.png"/><Relationship Id="rId5" Type="http://schemas.openxmlformats.org/officeDocument/2006/relationships/image" Target="../media/image86.png"/><Relationship Id="rId6" Type="http://schemas.openxmlformats.org/officeDocument/2006/relationships/image" Target="../media/image88.png"/><Relationship Id="rId7" Type="http://schemas.openxmlformats.org/officeDocument/2006/relationships/image" Target="../media/image8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9.png"/><Relationship Id="rId4" Type="http://schemas.openxmlformats.org/officeDocument/2006/relationships/image" Target="../media/image82.png"/><Relationship Id="rId5" Type="http://schemas.openxmlformats.org/officeDocument/2006/relationships/image" Target="../media/image72.png"/><Relationship Id="rId6" Type="http://schemas.openxmlformats.org/officeDocument/2006/relationships/image" Target="../media/image90.png"/><Relationship Id="rId7" Type="http://schemas.openxmlformats.org/officeDocument/2006/relationships/image" Target="../media/image9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png"/><Relationship Id="rId4" Type="http://schemas.openxmlformats.org/officeDocument/2006/relationships/image" Target="../media/image82.png"/><Relationship Id="rId9" Type="http://schemas.openxmlformats.org/officeDocument/2006/relationships/image" Target="../media/image91.png"/><Relationship Id="rId5" Type="http://schemas.openxmlformats.org/officeDocument/2006/relationships/image" Target="../media/image72.png"/><Relationship Id="rId6" Type="http://schemas.openxmlformats.org/officeDocument/2006/relationships/image" Target="../media/image50.png"/><Relationship Id="rId7" Type="http://schemas.openxmlformats.org/officeDocument/2006/relationships/image" Target="../media/image93.png"/><Relationship Id="rId8" Type="http://schemas.openxmlformats.org/officeDocument/2006/relationships/image" Target="../media/image61.png"/><Relationship Id="rId11" Type="http://schemas.openxmlformats.org/officeDocument/2006/relationships/image" Target="../media/image98.png"/><Relationship Id="rId10" Type="http://schemas.openxmlformats.org/officeDocument/2006/relationships/image" Target="../media/image9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0.png"/><Relationship Id="rId4" Type="http://schemas.openxmlformats.org/officeDocument/2006/relationships/image" Target="../media/image95.png"/><Relationship Id="rId9" Type="http://schemas.openxmlformats.org/officeDocument/2006/relationships/image" Target="../media/image97.png"/><Relationship Id="rId5" Type="http://schemas.openxmlformats.org/officeDocument/2006/relationships/image" Target="../media/image86.png"/><Relationship Id="rId6" Type="http://schemas.openxmlformats.org/officeDocument/2006/relationships/image" Target="../media/image88.png"/><Relationship Id="rId7" Type="http://schemas.openxmlformats.org/officeDocument/2006/relationships/image" Target="../media/image85.png"/><Relationship Id="rId8" Type="http://schemas.openxmlformats.org/officeDocument/2006/relationships/image" Target="../media/image96.png"/><Relationship Id="rId11" Type="http://schemas.openxmlformats.org/officeDocument/2006/relationships/image" Target="../media/image99.png"/><Relationship Id="rId10" Type="http://schemas.openxmlformats.org/officeDocument/2006/relationships/image" Target="../media/image108.png"/><Relationship Id="rId12" Type="http://schemas.openxmlformats.org/officeDocument/2006/relationships/image" Target="../media/image10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4.png"/><Relationship Id="rId6" Type="http://schemas.openxmlformats.org/officeDocument/2006/relationships/image" Target="../media/image10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2.png"/><Relationship Id="rId4" Type="http://schemas.openxmlformats.org/officeDocument/2006/relationships/image" Target="../media/image107.png"/><Relationship Id="rId5" Type="http://schemas.openxmlformats.org/officeDocument/2006/relationships/image" Target="../media/image5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sequences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sequences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3" type="subTitle"/>
          </p:nvPr>
        </p:nvSpPr>
        <p:spPr>
          <a:xfrm>
            <a:off x="324000" y="2814085"/>
            <a:ext cx="8496000" cy="201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chemeClr val="dk1"/>
                </a:solidFill>
              </a:rPr>
              <a:t> term of a sequence is the position of a term in a sequence where 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chemeClr val="dk1"/>
                </a:solidFill>
              </a:rPr>
              <a:t> stands for the term number.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r>
              <a:rPr lang="en-GB">
                <a:solidFill>
                  <a:schemeClr val="dk1"/>
                </a:solidFill>
              </a:rPr>
              <a:t> means the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>
                <a:solidFill>
                  <a:schemeClr val="dk1"/>
                </a:solidFill>
              </a:rPr>
              <a:t> term in the sequence.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i="1" lang="en-GB" sz="24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aseline="30000"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term can be used to calculate any term in a sequence so is also a formula for finding any term.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7" name="Google Shape;767;p67"/>
          <p:cNvSpPr txBox="1"/>
          <p:nvPr/>
        </p:nvSpPr>
        <p:spPr>
          <a:xfrm>
            <a:off x="324000" y="102372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arithmetic (or linear) sequence is a sequence where the difference between successive terms is a constant.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7"/>
          <p:cNvSpPr txBox="1"/>
          <p:nvPr/>
        </p:nvSpPr>
        <p:spPr>
          <a:xfrm>
            <a:off x="324000" y="2310057"/>
            <a:ext cx="84429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4, 8, …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not arithmetic.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ot a constant difference.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7"/>
          <p:cNvSpPr txBox="1"/>
          <p:nvPr/>
        </p:nvSpPr>
        <p:spPr>
          <a:xfrm>
            <a:off x="324000" y="1838836"/>
            <a:ext cx="84429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9, 13, 17, …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arithmetic.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onstant difference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sp>
        <p:nvSpPr>
          <p:cNvPr id="776" name="Google Shape;776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sp>
        <p:nvSpPr>
          <p:cNvPr id="777" name="Google Shape;777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sequences</a:t>
            </a:r>
            <a:endParaRPr/>
          </a:p>
        </p:txBody>
      </p:sp>
      <p:pic>
        <p:nvPicPr>
          <p:cNvPr id="778" name="Google Shape;7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173809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759300"/>
            <a:ext cx="71352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missing terms in these arithmetic sequences.</a:t>
            </a:r>
            <a:endParaRPr/>
          </a:p>
        </p:txBody>
      </p:sp>
      <p:sp>
        <p:nvSpPr>
          <p:cNvPr id="784" name="Google Shape;784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1488789" y="1623411"/>
            <a:ext cx="33348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13,  20,  27,  34,  41,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69"/>
          <p:cNvSpPr txBox="1"/>
          <p:nvPr>
            <p:ph idx="1" type="body"/>
          </p:nvPr>
        </p:nvSpPr>
        <p:spPr>
          <a:xfrm>
            <a:off x="1488789" y="2927114"/>
            <a:ext cx="33348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13,  18,  23,  28,  33,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1488789" y="3993914"/>
            <a:ext cx="33348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13,  16,  19,  22,  25,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88" name="Google Shape;788;p69"/>
          <p:cNvGrpSpPr/>
          <p:nvPr/>
        </p:nvGrpSpPr>
        <p:grpSpPr>
          <a:xfrm>
            <a:off x="3105314" y="1605160"/>
            <a:ext cx="438300" cy="426600"/>
            <a:chOff x="3312125" y="1619175"/>
            <a:chExt cx="438300" cy="426600"/>
          </a:xfrm>
        </p:grpSpPr>
        <p:sp>
          <p:nvSpPr>
            <p:cNvPr id="789" name="Google Shape;789;p69"/>
            <p:cNvSpPr/>
            <p:nvPr/>
          </p:nvSpPr>
          <p:spPr>
            <a:xfrm>
              <a:off x="3312125" y="1619175"/>
              <a:ext cx="438300" cy="426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90" name="Google Shape;790;p69"/>
            <p:cNvCxnSpPr/>
            <p:nvPr/>
          </p:nvCxnSpPr>
          <p:spPr>
            <a:xfrm>
              <a:off x="3366477" y="1993170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91" name="Google Shape;791;p69"/>
          <p:cNvGrpSpPr/>
          <p:nvPr/>
        </p:nvGrpSpPr>
        <p:grpSpPr>
          <a:xfrm>
            <a:off x="3703381" y="1626561"/>
            <a:ext cx="438300" cy="426600"/>
            <a:chOff x="3910192" y="1619175"/>
            <a:chExt cx="438300" cy="426600"/>
          </a:xfrm>
        </p:grpSpPr>
        <p:sp>
          <p:nvSpPr>
            <p:cNvPr id="792" name="Google Shape;792;p69"/>
            <p:cNvSpPr/>
            <p:nvPr/>
          </p:nvSpPr>
          <p:spPr>
            <a:xfrm>
              <a:off x="3910192" y="1619175"/>
              <a:ext cx="438300" cy="426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793" name="Google Shape;793;p69"/>
            <p:cNvCxnSpPr/>
            <p:nvPr/>
          </p:nvCxnSpPr>
          <p:spPr>
            <a:xfrm>
              <a:off x="3964545" y="1993170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4" name="Google Shape;794;p69"/>
          <p:cNvSpPr/>
          <p:nvPr/>
        </p:nvSpPr>
        <p:spPr>
          <a:xfrm>
            <a:off x="3119324" y="2895656"/>
            <a:ext cx="4383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5" name="Google Shape;795;p69"/>
          <p:cNvCxnSpPr/>
          <p:nvPr/>
        </p:nvCxnSpPr>
        <p:spPr>
          <a:xfrm>
            <a:off x="3173676" y="3284424"/>
            <a:ext cx="334500" cy="0"/>
          </a:xfrm>
          <a:prstGeom prst="straightConnector1">
            <a:avLst/>
          </a:prstGeom>
          <a:noFill/>
          <a:ln cap="flat" cmpd="sng" w="38100">
            <a:solidFill>
              <a:srgbClr val="7A60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6" name="Google Shape;796;p69"/>
          <p:cNvSpPr/>
          <p:nvPr/>
        </p:nvSpPr>
        <p:spPr>
          <a:xfrm>
            <a:off x="1976324" y="2895656"/>
            <a:ext cx="4383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7" name="Google Shape;797;p69"/>
          <p:cNvCxnSpPr/>
          <p:nvPr/>
        </p:nvCxnSpPr>
        <p:spPr>
          <a:xfrm>
            <a:off x="2030676" y="3299196"/>
            <a:ext cx="334500" cy="0"/>
          </a:xfrm>
          <a:prstGeom prst="straightConnector1">
            <a:avLst/>
          </a:prstGeom>
          <a:noFill/>
          <a:ln cap="flat" cmpd="sng" w="38100">
            <a:solidFill>
              <a:srgbClr val="7A60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69"/>
          <p:cNvSpPr/>
          <p:nvPr/>
        </p:nvSpPr>
        <p:spPr>
          <a:xfrm>
            <a:off x="1957786" y="3985521"/>
            <a:ext cx="4383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99" name="Google Shape;799;p69"/>
          <p:cNvCxnSpPr/>
          <p:nvPr/>
        </p:nvCxnSpPr>
        <p:spPr>
          <a:xfrm>
            <a:off x="2012139" y="4359516"/>
            <a:ext cx="334500" cy="0"/>
          </a:xfrm>
          <a:prstGeom prst="straightConnector1">
            <a:avLst/>
          </a:prstGeom>
          <a:noFill/>
          <a:ln cap="flat" cmpd="sng" w="38100">
            <a:solidFill>
              <a:srgbClr val="7A60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69"/>
          <p:cNvSpPr/>
          <p:nvPr/>
        </p:nvSpPr>
        <p:spPr>
          <a:xfrm>
            <a:off x="2544321" y="3985521"/>
            <a:ext cx="4383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1" name="Google Shape;801;p69"/>
          <p:cNvCxnSpPr/>
          <p:nvPr/>
        </p:nvCxnSpPr>
        <p:spPr>
          <a:xfrm>
            <a:off x="2598674" y="4359516"/>
            <a:ext cx="334500" cy="0"/>
          </a:xfrm>
          <a:prstGeom prst="straightConnector1">
            <a:avLst/>
          </a:prstGeom>
          <a:noFill/>
          <a:ln cap="flat" cmpd="sng" w="38100">
            <a:solidFill>
              <a:srgbClr val="7A60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69"/>
          <p:cNvSpPr/>
          <p:nvPr/>
        </p:nvSpPr>
        <p:spPr>
          <a:xfrm>
            <a:off x="3687321" y="3985521"/>
            <a:ext cx="438300" cy="42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3" name="Google Shape;803;p69"/>
          <p:cNvCxnSpPr/>
          <p:nvPr/>
        </p:nvCxnSpPr>
        <p:spPr>
          <a:xfrm>
            <a:off x="3741674" y="4359516"/>
            <a:ext cx="334500" cy="0"/>
          </a:xfrm>
          <a:prstGeom prst="straightConnector1">
            <a:avLst/>
          </a:prstGeom>
          <a:noFill/>
          <a:ln cap="flat" cmpd="sng" w="38100">
            <a:solidFill>
              <a:srgbClr val="7A60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69"/>
          <p:cNvSpPr/>
          <p:nvPr/>
        </p:nvSpPr>
        <p:spPr>
          <a:xfrm flipH="1" rot="10800000">
            <a:off x="1664989" y="174701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9"/>
          <p:cNvSpPr/>
          <p:nvPr/>
        </p:nvSpPr>
        <p:spPr>
          <a:xfrm flipH="1" rot="10800000">
            <a:off x="2240043" y="174701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69"/>
          <p:cNvSpPr/>
          <p:nvPr/>
        </p:nvSpPr>
        <p:spPr>
          <a:xfrm flipH="1" rot="10800000">
            <a:off x="2794131" y="174701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9"/>
          <p:cNvSpPr/>
          <p:nvPr/>
        </p:nvSpPr>
        <p:spPr>
          <a:xfrm flipH="1" rot="10800000">
            <a:off x="3358703" y="174701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69"/>
          <p:cNvSpPr txBox="1"/>
          <p:nvPr>
            <p:ph idx="1" type="body"/>
          </p:nvPr>
        </p:nvSpPr>
        <p:spPr>
          <a:xfrm>
            <a:off x="1782056" y="226760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69"/>
          <p:cNvSpPr txBox="1"/>
          <p:nvPr>
            <p:ph idx="1" type="body"/>
          </p:nvPr>
        </p:nvSpPr>
        <p:spPr>
          <a:xfrm>
            <a:off x="2333994" y="226760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69"/>
          <p:cNvSpPr txBox="1"/>
          <p:nvPr>
            <p:ph idx="1" type="body"/>
          </p:nvPr>
        </p:nvSpPr>
        <p:spPr>
          <a:xfrm>
            <a:off x="2878926" y="226760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1" name="Google Shape;811;p69"/>
          <p:cNvSpPr txBox="1"/>
          <p:nvPr>
            <p:ph idx="1" type="body"/>
          </p:nvPr>
        </p:nvSpPr>
        <p:spPr>
          <a:xfrm>
            <a:off x="3476994" y="226760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+7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2" name="Google Shape;812;p69"/>
          <p:cNvSpPr txBox="1"/>
          <p:nvPr>
            <p:ph idx="1" type="body"/>
          </p:nvPr>
        </p:nvSpPr>
        <p:spPr>
          <a:xfrm>
            <a:off x="4973673" y="1252936"/>
            <a:ext cx="36789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Why are the second and third sequences harder?</a:t>
            </a:r>
            <a:endParaRPr/>
          </a:p>
        </p:txBody>
      </p:sp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4973675" y="2108250"/>
            <a:ext cx="39987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don’t have consecutive terms.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5030407" y="2919725"/>
            <a:ext cx="30402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steps to make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p69"/>
          <p:cNvSpPr/>
          <p:nvPr/>
        </p:nvSpPr>
        <p:spPr>
          <a:xfrm flipH="1" rot="10800000">
            <a:off x="1729656" y="303917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9"/>
          <p:cNvSpPr/>
          <p:nvPr/>
        </p:nvSpPr>
        <p:spPr>
          <a:xfrm flipH="1" rot="10800000">
            <a:off x="2304710" y="303917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69"/>
          <p:cNvSpPr txBox="1"/>
          <p:nvPr>
            <p:ph idx="1" type="body"/>
          </p:nvPr>
        </p:nvSpPr>
        <p:spPr>
          <a:xfrm>
            <a:off x="1820419" y="3585167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8" name="Google Shape;818;p69"/>
          <p:cNvSpPr txBox="1"/>
          <p:nvPr>
            <p:ph idx="1" type="body"/>
          </p:nvPr>
        </p:nvSpPr>
        <p:spPr>
          <a:xfrm>
            <a:off x="2403189" y="3585167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69"/>
          <p:cNvSpPr/>
          <p:nvPr/>
        </p:nvSpPr>
        <p:spPr>
          <a:xfrm flipH="1" rot="10800000">
            <a:off x="2872656" y="303917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9"/>
          <p:cNvSpPr/>
          <p:nvPr/>
        </p:nvSpPr>
        <p:spPr>
          <a:xfrm flipH="1" rot="10800000">
            <a:off x="3447710" y="3039171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69"/>
          <p:cNvSpPr txBox="1"/>
          <p:nvPr>
            <p:ph idx="1" type="body"/>
          </p:nvPr>
        </p:nvSpPr>
        <p:spPr>
          <a:xfrm>
            <a:off x="2978191" y="3585167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2" name="Google Shape;822;p69"/>
          <p:cNvSpPr txBox="1"/>
          <p:nvPr>
            <p:ph idx="1" type="body"/>
          </p:nvPr>
        </p:nvSpPr>
        <p:spPr>
          <a:xfrm>
            <a:off x="3600231" y="3585167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69"/>
          <p:cNvSpPr txBox="1"/>
          <p:nvPr>
            <p:ph idx="1" type="body"/>
          </p:nvPr>
        </p:nvSpPr>
        <p:spPr>
          <a:xfrm>
            <a:off x="4973682" y="4051510"/>
            <a:ext cx="30402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Three steps to make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p69"/>
          <p:cNvSpPr txBox="1"/>
          <p:nvPr>
            <p:ph idx="1" type="body"/>
          </p:nvPr>
        </p:nvSpPr>
        <p:spPr>
          <a:xfrm>
            <a:off x="1744219" y="466349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69"/>
          <p:cNvSpPr txBox="1"/>
          <p:nvPr>
            <p:ph idx="1" type="body"/>
          </p:nvPr>
        </p:nvSpPr>
        <p:spPr>
          <a:xfrm>
            <a:off x="2323368" y="4670886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69"/>
          <p:cNvSpPr txBox="1"/>
          <p:nvPr>
            <p:ph idx="1" type="body"/>
          </p:nvPr>
        </p:nvSpPr>
        <p:spPr>
          <a:xfrm>
            <a:off x="2913524" y="466349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69"/>
          <p:cNvSpPr txBox="1"/>
          <p:nvPr>
            <p:ph idx="1" type="body"/>
          </p:nvPr>
        </p:nvSpPr>
        <p:spPr>
          <a:xfrm>
            <a:off x="3523124" y="4663499"/>
            <a:ext cx="3345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69"/>
          <p:cNvSpPr/>
          <p:nvPr/>
        </p:nvSpPr>
        <p:spPr>
          <a:xfrm flipH="1" rot="10800000">
            <a:off x="1653456" y="4117504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9"/>
          <p:cNvSpPr/>
          <p:nvPr/>
        </p:nvSpPr>
        <p:spPr>
          <a:xfrm flipH="1" rot="10800000">
            <a:off x="2228510" y="4117504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69"/>
          <p:cNvSpPr/>
          <p:nvPr/>
        </p:nvSpPr>
        <p:spPr>
          <a:xfrm flipH="1" rot="10800000">
            <a:off x="2796456" y="4117504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69"/>
          <p:cNvSpPr/>
          <p:nvPr/>
        </p:nvSpPr>
        <p:spPr>
          <a:xfrm flipH="1" rot="10800000">
            <a:off x="3406056" y="4117504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837" name="Google Shape;837;p70"/>
          <p:cNvSpPr txBox="1"/>
          <p:nvPr>
            <p:ph idx="1" type="body"/>
          </p:nvPr>
        </p:nvSpPr>
        <p:spPr>
          <a:xfrm>
            <a:off x="324000" y="759300"/>
            <a:ext cx="71352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 the missing terms in these arithmetic sequences.</a:t>
            </a:r>
            <a:endParaRPr/>
          </a:p>
        </p:txBody>
      </p:sp>
      <p:sp>
        <p:nvSpPr>
          <p:cNvPr id="838" name="Google Shape;838;p70"/>
          <p:cNvSpPr txBox="1"/>
          <p:nvPr>
            <p:ph idx="1" type="body"/>
          </p:nvPr>
        </p:nvSpPr>
        <p:spPr>
          <a:xfrm>
            <a:off x="1695600" y="1616025"/>
            <a:ext cx="40788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22.5,  20,  17.5,  15,  12.5,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70"/>
          <p:cNvSpPr txBox="1"/>
          <p:nvPr>
            <p:ph idx="1" type="body"/>
          </p:nvPr>
        </p:nvSpPr>
        <p:spPr>
          <a:xfrm>
            <a:off x="1695600" y="2705900"/>
            <a:ext cx="39738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1.2,  1.45,  1.7,  1.95,  2.2,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40" name="Google Shape;840;p70"/>
          <p:cNvGrpSpPr/>
          <p:nvPr/>
        </p:nvGrpSpPr>
        <p:grpSpPr>
          <a:xfrm>
            <a:off x="4469243" y="1607650"/>
            <a:ext cx="607484" cy="426600"/>
            <a:chOff x="6069335" y="2826842"/>
            <a:chExt cx="438300" cy="426600"/>
          </a:xfrm>
        </p:grpSpPr>
        <p:sp>
          <p:nvSpPr>
            <p:cNvPr id="841" name="Google Shape;841;p70"/>
            <p:cNvSpPr/>
            <p:nvPr/>
          </p:nvSpPr>
          <p:spPr>
            <a:xfrm>
              <a:off x="6069335" y="2826842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2" name="Google Shape;842;p70"/>
            <p:cNvCxnSpPr/>
            <p:nvPr/>
          </p:nvCxnSpPr>
          <p:spPr>
            <a:xfrm>
              <a:off x="6123687" y="3200838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3" name="Google Shape;843;p70"/>
          <p:cNvGrpSpPr/>
          <p:nvPr/>
        </p:nvGrpSpPr>
        <p:grpSpPr>
          <a:xfrm>
            <a:off x="3044508" y="1607650"/>
            <a:ext cx="607484" cy="426600"/>
            <a:chOff x="6069335" y="2826842"/>
            <a:chExt cx="438300" cy="426600"/>
          </a:xfrm>
        </p:grpSpPr>
        <p:sp>
          <p:nvSpPr>
            <p:cNvPr id="844" name="Google Shape;844;p70"/>
            <p:cNvSpPr/>
            <p:nvPr/>
          </p:nvSpPr>
          <p:spPr>
            <a:xfrm>
              <a:off x="6069335" y="2826842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5" name="Google Shape;845;p70"/>
            <p:cNvCxnSpPr/>
            <p:nvPr/>
          </p:nvCxnSpPr>
          <p:spPr>
            <a:xfrm>
              <a:off x="6123687" y="3200838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6" name="Google Shape;846;p70"/>
          <p:cNvGrpSpPr/>
          <p:nvPr/>
        </p:nvGrpSpPr>
        <p:grpSpPr>
          <a:xfrm>
            <a:off x="1661376" y="1607650"/>
            <a:ext cx="607484" cy="426600"/>
            <a:chOff x="6069335" y="2826842"/>
            <a:chExt cx="438300" cy="426600"/>
          </a:xfrm>
        </p:grpSpPr>
        <p:sp>
          <p:nvSpPr>
            <p:cNvPr id="847" name="Google Shape;847;p70"/>
            <p:cNvSpPr/>
            <p:nvPr/>
          </p:nvSpPr>
          <p:spPr>
            <a:xfrm>
              <a:off x="6069335" y="2826842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8" name="Google Shape;848;p70"/>
            <p:cNvCxnSpPr/>
            <p:nvPr/>
          </p:nvCxnSpPr>
          <p:spPr>
            <a:xfrm>
              <a:off x="6123687" y="3200838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9" name="Google Shape;849;p70"/>
          <p:cNvGrpSpPr/>
          <p:nvPr/>
        </p:nvGrpSpPr>
        <p:grpSpPr>
          <a:xfrm>
            <a:off x="3082011" y="2685975"/>
            <a:ext cx="519298" cy="426600"/>
            <a:chOff x="6069335" y="2826842"/>
            <a:chExt cx="438300" cy="426600"/>
          </a:xfrm>
        </p:grpSpPr>
        <p:sp>
          <p:nvSpPr>
            <p:cNvPr id="850" name="Google Shape;850;p70"/>
            <p:cNvSpPr/>
            <p:nvPr/>
          </p:nvSpPr>
          <p:spPr>
            <a:xfrm>
              <a:off x="6069335" y="2826842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1" name="Google Shape;851;p70"/>
            <p:cNvCxnSpPr/>
            <p:nvPr/>
          </p:nvCxnSpPr>
          <p:spPr>
            <a:xfrm>
              <a:off x="6123687" y="3200838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2" name="Google Shape;852;p70"/>
          <p:cNvGrpSpPr/>
          <p:nvPr/>
        </p:nvGrpSpPr>
        <p:grpSpPr>
          <a:xfrm>
            <a:off x="2389206" y="2685975"/>
            <a:ext cx="519298" cy="426600"/>
            <a:chOff x="6069335" y="2826842"/>
            <a:chExt cx="438300" cy="426600"/>
          </a:xfrm>
        </p:grpSpPr>
        <p:sp>
          <p:nvSpPr>
            <p:cNvPr id="853" name="Google Shape;853;p70"/>
            <p:cNvSpPr/>
            <p:nvPr/>
          </p:nvSpPr>
          <p:spPr>
            <a:xfrm>
              <a:off x="6069335" y="2826842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4" name="Google Shape;854;p70"/>
            <p:cNvCxnSpPr/>
            <p:nvPr/>
          </p:nvCxnSpPr>
          <p:spPr>
            <a:xfrm>
              <a:off x="6123687" y="3200838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55" name="Google Shape;855;p70"/>
          <p:cNvGrpSpPr/>
          <p:nvPr/>
        </p:nvGrpSpPr>
        <p:grpSpPr>
          <a:xfrm>
            <a:off x="3883136" y="2685975"/>
            <a:ext cx="519298" cy="426600"/>
            <a:chOff x="6069335" y="2826842"/>
            <a:chExt cx="438300" cy="426600"/>
          </a:xfrm>
        </p:grpSpPr>
        <p:sp>
          <p:nvSpPr>
            <p:cNvPr id="856" name="Google Shape;856;p70"/>
            <p:cNvSpPr/>
            <p:nvPr/>
          </p:nvSpPr>
          <p:spPr>
            <a:xfrm>
              <a:off x="6069335" y="2826842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57" name="Google Shape;857;p70"/>
            <p:cNvCxnSpPr/>
            <p:nvPr/>
          </p:nvCxnSpPr>
          <p:spPr>
            <a:xfrm>
              <a:off x="6123687" y="3200838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58" name="Google Shape;858;p70"/>
          <p:cNvSpPr/>
          <p:nvPr/>
        </p:nvSpPr>
        <p:spPr>
          <a:xfrm flipH="1" rot="10800000">
            <a:off x="2100400" y="1739625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0"/>
          <p:cNvSpPr/>
          <p:nvPr/>
        </p:nvSpPr>
        <p:spPr>
          <a:xfrm flipH="1" rot="10800000">
            <a:off x="2827854" y="1739625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0"/>
          <p:cNvSpPr/>
          <p:nvPr/>
        </p:nvSpPr>
        <p:spPr>
          <a:xfrm flipH="1" rot="10800000">
            <a:off x="3486786" y="1739625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70"/>
          <p:cNvSpPr/>
          <p:nvPr/>
        </p:nvSpPr>
        <p:spPr>
          <a:xfrm flipH="1" rot="10800000">
            <a:off x="4262846" y="1739625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0"/>
          <p:cNvSpPr txBox="1"/>
          <p:nvPr>
            <p:ph idx="1" type="body"/>
          </p:nvPr>
        </p:nvSpPr>
        <p:spPr>
          <a:xfrm>
            <a:off x="2078809" y="2260225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−2.5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70"/>
          <p:cNvSpPr txBox="1"/>
          <p:nvPr>
            <p:ph idx="1" type="body"/>
          </p:nvPr>
        </p:nvSpPr>
        <p:spPr>
          <a:xfrm>
            <a:off x="2840809" y="2260225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−2.5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70"/>
          <p:cNvSpPr txBox="1"/>
          <p:nvPr>
            <p:ph idx="1" type="body"/>
          </p:nvPr>
        </p:nvSpPr>
        <p:spPr>
          <a:xfrm>
            <a:off x="3561206" y="2260225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−2.5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70"/>
          <p:cNvSpPr txBox="1"/>
          <p:nvPr>
            <p:ph idx="1" type="body"/>
          </p:nvPr>
        </p:nvSpPr>
        <p:spPr>
          <a:xfrm>
            <a:off x="4254011" y="2260225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−2.5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70"/>
          <p:cNvSpPr/>
          <p:nvPr/>
        </p:nvSpPr>
        <p:spPr>
          <a:xfrm flipH="1" rot="10800000">
            <a:off x="1936467" y="2817958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70"/>
          <p:cNvSpPr/>
          <p:nvPr/>
        </p:nvSpPr>
        <p:spPr>
          <a:xfrm flipH="1" rot="10800000">
            <a:off x="2691514" y="2817958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70"/>
          <p:cNvSpPr txBox="1"/>
          <p:nvPr>
            <p:ph idx="1" type="body"/>
          </p:nvPr>
        </p:nvSpPr>
        <p:spPr>
          <a:xfrm>
            <a:off x="1860275" y="3327025"/>
            <a:ext cx="624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+0.25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70"/>
          <p:cNvSpPr/>
          <p:nvPr/>
        </p:nvSpPr>
        <p:spPr>
          <a:xfrm flipH="1" rot="10800000">
            <a:off x="3457990" y="2817958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70"/>
          <p:cNvSpPr/>
          <p:nvPr/>
        </p:nvSpPr>
        <p:spPr>
          <a:xfrm flipH="1" rot="10800000">
            <a:off x="4243106" y="2817958"/>
            <a:ext cx="5193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70"/>
          <p:cNvSpPr txBox="1"/>
          <p:nvPr>
            <p:ph idx="1" type="body"/>
          </p:nvPr>
        </p:nvSpPr>
        <p:spPr>
          <a:xfrm>
            <a:off x="2622275" y="3327025"/>
            <a:ext cx="624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+0.25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2" name="Google Shape;872;p70"/>
          <p:cNvSpPr txBox="1"/>
          <p:nvPr>
            <p:ph idx="1" type="body"/>
          </p:nvPr>
        </p:nvSpPr>
        <p:spPr>
          <a:xfrm>
            <a:off x="3384275" y="3327025"/>
            <a:ext cx="624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+0.25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70"/>
          <p:cNvSpPr txBox="1"/>
          <p:nvPr>
            <p:ph idx="1" type="body"/>
          </p:nvPr>
        </p:nvSpPr>
        <p:spPr>
          <a:xfrm>
            <a:off x="4199410" y="3327025"/>
            <a:ext cx="624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+0.25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70"/>
          <p:cNvSpPr txBox="1"/>
          <p:nvPr>
            <p:ph idx="1" type="body"/>
          </p:nvPr>
        </p:nvSpPr>
        <p:spPr>
          <a:xfrm>
            <a:off x="5773325" y="1673700"/>
            <a:ext cx="30468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steps to make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70"/>
          <p:cNvSpPr txBox="1"/>
          <p:nvPr>
            <p:ph idx="1" type="body"/>
          </p:nvPr>
        </p:nvSpPr>
        <p:spPr>
          <a:xfrm>
            <a:off x="5773325" y="2740500"/>
            <a:ext cx="30468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Four steps to make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1"/>
          <p:cNvSpPr txBox="1"/>
          <p:nvPr>
            <p:ph idx="1" type="body"/>
          </p:nvPr>
        </p:nvSpPr>
        <p:spPr>
          <a:xfrm>
            <a:off x="324000" y="759300"/>
            <a:ext cx="71352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We’ll see problems like this in a real-life context.</a:t>
            </a:r>
            <a:endParaRPr sz="2000"/>
          </a:p>
        </p:txBody>
      </p:sp>
      <p:sp>
        <p:nvSpPr>
          <p:cNvPr id="881" name="Google Shape;88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882" name="Google Shape;882;p71"/>
          <p:cNvSpPr txBox="1"/>
          <p:nvPr>
            <p:ph idx="1" type="body"/>
          </p:nvPr>
        </p:nvSpPr>
        <p:spPr>
          <a:xfrm>
            <a:off x="448225" y="2782100"/>
            <a:ext cx="84864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>
                <a:latin typeface="Times New Roman"/>
                <a:ea typeface="Times New Roman"/>
                <a:cs typeface="Times New Roman"/>
                <a:sym typeface="Times New Roman"/>
              </a:rPr>
              <a:t>6:08 am,  6:32 am,  6:56 am,  7:20 am,  7:44 am, 8:08 am 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3" name="Google Shape;883;p71"/>
          <p:cNvGrpSpPr/>
          <p:nvPr/>
        </p:nvGrpSpPr>
        <p:grpSpPr>
          <a:xfrm>
            <a:off x="381193" y="2772200"/>
            <a:ext cx="1139405" cy="426600"/>
            <a:chOff x="3894132" y="3764308"/>
            <a:chExt cx="438300" cy="426600"/>
          </a:xfrm>
        </p:grpSpPr>
        <p:sp>
          <p:nvSpPr>
            <p:cNvPr id="884" name="Google Shape;884;p71"/>
            <p:cNvSpPr/>
            <p:nvPr/>
          </p:nvSpPr>
          <p:spPr>
            <a:xfrm>
              <a:off x="3894132" y="3764308"/>
              <a:ext cx="438300" cy="426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5" name="Google Shape;885;p71"/>
            <p:cNvCxnSpPr/>
            <p:nvPr/>
          </p:nvCxnSpPr>
          <p:spPr>
            <a:xfrm>
              <a:off x="3948485" y="41383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86" name="Google Shape;886;p71"/>
          <p:cNvSpPr/>
          <p:nvPr/>
        </p:nvSpPr>
        <p:spPr>
          <a:xfrm flipH="1" rot="10800000">
            <a:off x="945884" y="2916889"/>
            <a:ext cx="11394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71"/>
          <p:cNvSpPr/>
          <p:nvPr/>
        </p:nvSpPr>
        <p:spPr>
          <a:xfrm flipH="1" rot="10800000">
            <a:off x="2207482" y="2916889"/>
            <a:ext cx="11394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1"/>
          <p:cNvSpPr/>
          <p:nvPr/>
        </p:nvSpPr>
        <p:spPr>
          <a:xfrm flipH="1" rot="10800000">
            <a:off x="3453488" y="2916889"/>
            <a:ext cx="11394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1"/>
          <p:cNvSpPr txBox="1"/>
          <p:nvPr>
            <p:ph idx="1" type="body"/>
          </p:nvPr>
        </p:nvSpPr>
        <p:spPr>
          <a:xfrm>
            <a:off x="3290925" y="3868291"/>
            <a:ext cx="4037700" cy="3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Three steps to make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72 </a:t>
            </a:r>
            <a:r>
              <a:rPr lang="en-GB" sz="2000"/>
              <a:t>minutes.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71"/>
          <p:cNvSpPr txBox="1"/>
          <p:nvPr>
            <p:ph idx="1" type="body"/>
          </p:nvPr>
        </p:nvSpPr>
        <p:spPr>
          <a:xfrm>
            <a:off x="1242409" y="3502155"/>
            <a:ext cx="733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+24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71"/>
          <p:cNvSpPr txBox="1"/>
          <p:nvPr>
            <p:ph idx="1" type="body"/>
          </p:nvPr>
        </p:nvSpPr>
        <p:spPr>
          <a:xfrm>
            <a:off x="2529196" y="3502155"/>
            <a:ext cx="733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+24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71"/>
          <p:cNvSpPr txBox="1"/>
          <p:nvPr>
            <p:ph idx="1" type="body"/>
          </p:nvPr>
        </p:nvSpPr>
        <p:spPr>
          <a:xfrm>
            <a:off x="3775314" y="3502155"/>
            <a:ext cx="733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+24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71"/>
          <p:cNvSpPr/>
          <p:nvPr/>
        </p:nvSpPr>
        <p:spPr>
          <a:xfrm flipH="1" rot="10800000">
            <a:off x="4790877" y="2916889"/>
            <a:ext cx="11394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1"/>
          <p:cNvSpPr txBox="1"/>
          <p:nvPr>
            <p:ph idx="1" type="body"/>
          </p:nvPr>
        </p:nvSpPr>
        <p:spPr>
          <a:xfrm>
            <a:off x="5112703" y="3502155"/>
            <a:ext cx="733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+24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71"/>
          <p:cNvSpPr txBox="1"/>
          <p:nvPr>
            <p:ph idx="1" type="body"/>
          </p:nvPr>
        </p:nvSpPr>
        <p:spPr>
          <a:xfrm>
            <a:off x="324000" y="1292700"/>
            <a:ext cx="83628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Buses depart Croydon for Lewisham at regular intervals. The third bus of the day left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6:56 am</a:t>
            </a:r>
            <a:r>
              <a:rPr lang="en-GB" sz="2000"/>
              <a:t>, the sixth bus is leaving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8:08 am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time did the first bus leave?</a:t>
            </a:r>
            <a:endParaRPr sz="2000"/>
          </a:p>
        </p:txBody>
      </p:sp>
      <p:grpSp>
        <p:nvGrpSpPr>
          <p:cNvPr id="896" name="Google Shape;896;p71"/>
          <p:cNvGrpSpPr/>
          <p:nvPr/>
        </p:nvGrpSpPr>
        <p:grpSpPr>
          <a:xfrm>
            <a:off x="1769604" y="2772200"/>
            <a:ext cx="1053717" cy="426600"/>
            <a:chOff x="3894132" y="3764308"/>
            <a:chExt cx="438300" cy="426600"/>
          </a:xfrm>
        </p:grpSpPr>
        <p:sp>
          <p:nvSpPr>
            <p:cNvPr id="897" name="Google Shape;897;p71"/>
            <p:cNvSpPr/>
            <p:nvPr/>
          </p:nvSpPr>
          <p:spPr>
            <a:xfrm>
              <a:off x="3894132" y="3764308"/>
              <a:ext cx="438300" cy="426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98" name="Google Shape;898;p71"/>
            <p:cNvCxnSpPr/>
            <p:nvPr/>
          </p:nvCxnSpPr>
          <p:spPr>
            <a:xfrm>
              <a:off x="3948485" y="41383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99" name="Google Shape;899;p71"/>
          <p:cNvGrpSpPr/>
          <p:nvPr/>
        </p:nvGrpSpPr>
        <p:grpSpPr>
          <a:xfrm>
            <a:off x="4380376" y="2700000"/>
            <a:ext cx="1139442" cy="426600"/>
            <a:chOff x="3894135" y="3764308"/>
            <a:chExt cx="510000" cy="426600"/>
          </a:xfrm>
        </p:grpSpPr>
        <p:sp>
          <p:nvSpPr>
            <p:cNvPr id="900" name="Google Shape;900;p71"/>
            <p:cNvSpPr/>
            <p:nvPr/>
          </p:nvSpPr>
          <p:spPr>
            <a:xfrm>
              <a:off x="3894135" y="3764308"/>
              <a:ext cx="510000" cy="426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01" name="Google Shape;901;p71"/>
            <p:cNvCxnSpPr/>
            <p:nvPr/>
          </p:nvCxnSpPr>
          <p:spPr>
            <a:xfrm>
              <a:off x="3948485" y="41383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2" name="Google Shape;902;p71"/>
          <p:cNvGrpSpPr/>
          <p:nvPr/>
        </p:nvGrpSpPr>
        <p:grpSpPr>
          <a:xfrm>
            <a:off x="5682567" y="2700000"/>
            <a:ext cx="1139405" cy="426600"/>
            <a:chOff x="3894132" y="3764308"/>
            <a:chExt cx="438300" cy="426600"/>
          </a:xfrm>
        </p:grpSpPr>
        <p:sp>
          <p:nvSpPr>
            <p:cNvPr id="903" name="Google Shape;903;p71"/>
            <p:cNvSpPr/>
            <p:nvPr/>
          </p:nvSpPr>
          <p:spPr>
            <a:xfrm>
              <a:off x="3894132" y="3764308"/>
              <a:ext cx="438300" cy="426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04" name="Google Shape;904;p71"/>
            <p:cNvCxnSpPr/>
            <p:nvPr/>
          </p:nvCxnSpPr>
          <p:spPr>
            <a:xfrm>
              <a:off x="3948485" y="4138303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5" name="Google Shape;905;p71"/>
          <p:cNvSpPr/>
          <p:nvPr/>
        </p:nvSpPr>
        <p:spPr>
          <a:xfrm flipH="1" rot="10800000">
            <a:off x="6010077" y="2916889"/>
            <a:ext cx="1139400" cy="5715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1"/>
          <p:cNvSpPr txBox="1"/>
          <p:nvPr>
            <p:ph idx="1" type="body"/>
          </p:nvPr>
        </p:nvSpPr>
        <p:spPr>
          <a:xfrm>
            <a:off x="6331903" y="3502155"/>
            <a:ext cx="733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+24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7" name="Google Shape;907;p71"/>
          <p:cNvSpPr txBox="1"/>
          <p:nvPr>
            <p:ph idx="1" type="body"/>
          </p:nvPr>
        </p:nvSpPr>
        <p:spPr>
          <a:xfrm>
            <a:off x="3290925" y="4325491"/>
            <a:ext cx="4578000" cy="3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72 ÷ 3 = 24 </a:t>
            </a:r>
            <a:r>
              <a:rPr lang="en-GB" sz="2000"/>
              <a:t>minutes between buses.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2"/>
          <p:cNvSpPr txBox="1"/>
          <p:nvPr>
            <p:ph idx="1" type="subTitle"/>
          </p:nvPr>
        </p:nvSpPr>
        <p:spPr>
          <a:xfrm>
            <a:off x="924607" y="1837775"/>
            <a:ext cx="3954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Buses leave every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2000"/>
              <a:t> minutes.</a:t>
            </a:r>
            <a:endParaRPr sz="2000"/>
          </a:p>
        </p:txBody>
      </p:sp>
      <p:sp>
        <p:nvSpPr>
          <p:cNvPr id="913" name="Google Shape;913;p7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914" name="Google Shape;914;p72"/>
          <p:cNvSpPr txBox="1"/>
          <p:nvPr>
            <p:ph idx="4" type="subTitle"/>
          </p:nvPr>
        </p:nvSpPr>
        <p:spPr>
          <a:xfrm>
            <a:off x="924607" y="3766974"/>
            <a:ext cx="393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Buses leave every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GB" sz="2000"/>
              <a:t> minutes.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72"/>
          <p:cNvSpPr txBox="1"/>
          <p:nvPr>
            <p:ph idx="3" type="subTitle"/>
          </p:nvPr>
        </p:nvSpPr>
        <p:spPr>
          <a:xfrm>
            <a:off x="924607" y="2794251"/>
            <a:ext cx="3954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Buses leave every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GB" sz="2000"/>
              <a:t> minutes.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6" name="Google Shape;916;p72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 sz="2000"/>
              <a:t> bus of the day from Lewisham to Greenwich left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6:50 am</a:t>
            </a:r>
            <a:r>
              <a:rPr lang="en-GB" sz="2000"/>
              <a:t>,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bus left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7:40 am</a:t>
            </a:r>
            <a:r>
              <a:rPr lang="en-GB" sz="2000"/>
              <a:t>. Which is true?</a:t>
            </a:r>
            <a:endParaRPr/>
          </a:p>
        </p:txBody>
      </p:sp>
      <p:pic>
        <p:nvPicPr>
          <p:cNvPr id="917" name="Google Shape;91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342" y="3780562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2"/>
          <p:cNvSpPr txBox="1"/>
          <p:nvPr>
            <p:ph idx="1" type="subTitle"/>
          </p:nvPr>
        </p:nvSpPr>
        <p:spPr>
          <a:xfrm>
            <a:off x="5508800" y="1936375"/>
            <a:ext cx="2777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minutes from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6:50 am</a:t>
            </a:r>
            <a:r>
              <a:rPr lang="en-GB" sz="18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and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7:40 am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Bus four would be in the middle of that gap.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 ÷ 2 = 25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3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many steps are there between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71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terms in an arithmetic sequence?</a:t>
            </a:r>
            <a:endParaRPr/>
          </a:p>
        </p:txBody>
      </p:sp>
      <p:sp>
        <p:nvSpPr>
          <p:cNvPr id="924" name="Google Shape;924;p7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925" name="Google Shape;925;p73"/>
          <p:cNvSpPr txBox="1"/>
          <p:nvPr>
            <p:ph idx="1" type="subTitle"/>
          </p:nvPr>
        </p:nvSpPr>
        <p:spPr>
          <a:xfrm>
            <a:off x="1034425" y="1837775"/>
            <a:ext cx="386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73"/>
          <p:cNvSpPr txBox="1"/>
          <p:nvPr>
            <p:ph idx="3" type="subTitle"/>
          </p:nvPr>
        </p:nvSpPr>
        <p:spPr>
          <a:xfrm>
            <a:off x="1034425" y="2794251"/>
            <a:ext cx="386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</a:t>
            </a:r>
            <a:endParaRPr/>
          </a:p>
        </p:txBody>
      </p:sp>
      <p:sp>
        <p:nvSpPr>
          <p:cNvPr id="927" name="Google Shape;927;p73"/>
          <p:cNvSpPr txBox="1"/>
          <p:nvPr>
            <p:ph idx="4" type="subTitle"/>
          </p:nvPr>
        </p:nvSpPr>
        <p:spPr>
          <a:xfrm>
            <a:off x="1034425" y="3766974"/>
            <a:ext cx="384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endParaRPr/>
          </a:p>
        </p:txBody>
      </p:sp>
      <p:pic>
        <p:nvPicPr>
          <p:cNvPr id="928" name="Google Shape;9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5581" y="28252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3"/>
          <p:cNvSpPr txBox="1"/>
          <p:nvPr>
            <p:ph idx="4294967295" type="body"/>
          </p:nvPr>
        </p:nvSpPr>
        <p:spPr>
          <a:xfrm>
            <a:off x="2000400" y="2775098"/>
            <a:ext cx="55449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From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71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to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95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there are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95 − 71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steps.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4"/>
          <p:cNvSpPr txBox="1"/>
          <p:nvPr>
            <p:ph idx="1" type="body"/>
          </p:nvPr>
        </p:nvSpPr>
        <p:spPr>
          <a:xfrm>
            <a:off x="324000" y="759300"/>
            <a:ext cx="72090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71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of an arithmetic sequence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579</a:t>
            </a:r>
            <a:r>
              <a:rPr lang="en-GB"/>
              <a:t>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771</a:t>
            </a:r>
            <a:r>
              <a:rPr lang="en-GB"/>
              <a:t>. Find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the sequence.</a:t>
            </a:r>
            <a:endParaRPr/>
          </a:p>
        </p:txBody>
      </p:sp>
      <p:sp>
        <p:nvSpPr>
          <p:cNvPr id="935" name="Google Shape;93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936" name="Google Shape;936;p74"/>
          <p:cNvSpPr txBox="1"/>
          <p:nvPr>
            <p:ph idx="1" type="body"/>
          </p:nvPr>
        </p:nvSpPr>
        <p:spPr>
          <a:xfrm>
            <a:off x="324000" y="1708300"/>
            <a:ext cx="77394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From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71</a:t>
            </a:r>
            <a:r>
              <a:rPr lang="en-GB"/>
              <a:t> to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95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there are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95 − 71 = 24 </a:t>
            </a:r>
            <a:r>
              <a:rPr lang="en-GB"/>
              <a:t>steps.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71-579}{24}=\frac{192}{24}=8&quot;&gt;&lt;mfrac&gt;&lt;mrow&gt;&lt;mn&gt;771&lt;/mn&gt;&lt;mo&gt;−&lt;/mo&gt;&lt;mn&gt;579&lt;/mn&gt;&lt;/mrow&gt;&lt;mn&gt;24&lt;/mn&gt;&lt;/mfrac&gt;&lt;mo&gt;=&lt;/mo&gt;&lt;mfrac&gt;&lt;mn&gt;192&lt;/mn&gt;&lt;mn&gt;24&lt;/mn&gt;&lt;/mfrac&gt;&lt;mo&gt;=&lt;/mo&gt;&lt;mn&gt;8&lt;/mn&gt;&lt;/math&gt;" id="937" name="Google Shape;937;p74" title="the fraction with numerator 771 minus 579 and denominator 24 equals 192 over 24 equals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37" y="2383698"/>
            <a:ext cx="2726154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4"/>
          <p:cNvSpPr txBox="1"/>
          <p:nvPr>
            <p:ph idx="1" type="body"/>
          </p:nvPr>
        </p:nvSpPr>
        <p:spPr>
          <a:xfrm>
            <a:off x="4857925" y="2493375"/>
            <a:ext cx="39465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It’s an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/>
              <a:t> sequence.</a:t>
            </a:r>
            <a:endParaRPr/>
          </a:p>
        </p:txBody>
      </p:sp>
      <p:graphicFrame>
        <p:nvGraphicFramePr>
          <p:cNvPr id="939" name="Google Shape;939;p74"/>
          <p:cNvGraphicFramePr/>
          <p:nvPr/>
        </p:nvGraphicFramePr>
        <p:xfrm>
          <a:off x="321593" y="3224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2394725"/>
                <a:gridCol w="10191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8n + ____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579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0" name="Google Shape;940;p74"/>
          <p:cNvSpPr txBox="1"/>
          <p:nvPr>
            <p:ph idx="1" type="body"/>
          </p:nvPr>
        </p:nvSpPr>
        <p:spPr>
          <a:xfrm>
            <a:off x="4857925" y="3483975"/>
            <a:ext cx="3946500" cy="4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Translation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+11</a:t>
            </a:r>
            <a:r>
              <a:rPr lang="en-GB"/>
              <a:t> therefore,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3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i="1" lang="en-GB" sz="33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 sz="3300">
                <a:latin typeface="Times New Roman"/>
                <a:ea typeface="Times New Roman"/>
                <a:cs typeface="Times New Roman"/>
                <a:sym typeface="Times New Roman"/>
              </a:rPr>
              <a:t>+ 11</a:t>
            </a:r>
            <a:endParaRPr sz="3100"/>
          </a:p>
        </p:txBody>
      </p:sp>
      <p:pic>
        <p:nvPicPr>
          <p:cNvPr id="941" name="Google Shape;941;p74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rot="5400000">
            <a:off x="3559226" y="3885592"/>
            <a:ext cx="709124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4"/>
          <p:cNvSpPr txBox="1"/>
          <p:nvPr>
            <p:ph idx="1" type="body"/>
          </p:nvPr>
        </p:nvSpPr>
        <p:spPr>
          <a:xfrm>
            <a:off x="4041928" y="3989750"/>
            <a:ext cx="3921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+11</a:t>
            </a:r>
            <a:endParaRPr sz="18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75"/>
          <p:cNvSpPr txBox="1"/>
          <p:nvPr>
            <p:ph idx="1" type="subTitle"/>
          </p:nvPr>
        </p:nvSpPr>
        <p:spPr>
          <a:xfrm>
            <a:off x="337825" y="810000"/>
            <a:ext cx="3982200" cy="11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 of an arithmetic seque</a:t>
            </a:r>
            <a:r>
              <a:rPr lang="en-GB"/>
              <a:t>nce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18.45</a:t>
            </a:r>
            <a:r>
              <a:rPr lang="en-GB"/>
              <a:t> and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GB"/>
              <a:t>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20.9</a:t>
            </a:r>
            <a:r>
              <a:rPr lang="en-GB"/>
              <a:t>. Find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1400"/>
          </a:p>
        </p:txBody>
      </p:sp>
      <p:sp>
        <p:nvSpPr>
          <p:cNvPr id="948" name="Google Shape;948;p7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949" name="Google Shape;949;p75"/>
          <p:cNvSpPr txBox="1"/>
          <p:nvPr>
            <p:ph idx="1" type="subTitle"/>
          </p:nvPr>
        </p:nvSpPr>
        <p:spPr>
          <a:xfrm>
            <a:off x="337825" y="1984376"/>
            <a:ext cx="39822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32 - 25 = 7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steps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0.9-18.45}{7}=\frac{2.45}{7}=0.35&quot;&gt;&lt;mfrac&gt;&lt;mrow&gt;&lt;mn&gt;20.9&lt;/mn&gt;&lt;mo&gt;−&lt;/mo&gt;&lt;mn&gt;18.45&lt;/mn&gt;&lt;/mrow&gt;&lt;mn&gt;7&lt;/mn&gt;&lt;/mfrac&gt;&lt;mo&gt;=&lt;/mo&gt;&lt;mfrac&gt;&lt;mn&gt;2.45&lt;/mn&gt;&lt;mn&gt;7&lt;/mn&gt;&lt;/mfrac&gt;&lt;mo&gt;=&lt;/mo&gt;&lt;mn&gt;0.35&lt;/mn&gt;&lt;/math&gt;" id="950" name="Google Shape;950;p75" title="the fraction with numerator 20.9 minus 18.45 and denominator 7 equals 2.45 over 7 equals 0.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49" y="2511539"/>
            <a:ext cx="3126700" cy="554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1" name="Google Shape;951;p75"/>
          <p:cNvGraphicFramePr/>
          <p:nvPr/>
        </p:nvGraphicFramePr>
        <p:xfrm>
          <a:off x="397793" y="3300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2394725"/>
                <a:gridCol w="10191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0.35n + 9.7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18.45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52" name="Google Shape;952;p75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rot="5400000">
            <a:off x="3572863" y="4046775"/>
            <a:ext cx="709124" cy="285124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75"/>
          <p:cNvSpPr txBox="1"/>
          <p:nvPr>
            <p:ph idx="4294967295" type="body"/>
          </p:nvPr>
        </p:nvSpPr>
        <p:spPr>
          <a:xfrm>
            <a:off x="4030719" y="4065950"/>
            <a:ext cx="5301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+9.7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75"/>
          <p:cNvSpPr/>
          <p:nvPr/>
        </p:nvSpPr>
        <p:spPr>
          <a:xfrm>
            <a:off x="887500" y="4241013"/>
            <a:ext cx="15210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5"/>
          <p:cNvSpPr/>
          <p:nvPr/>
        </p:nvSpPr>
        <p:spPr>
          <a:xfrm>
            <a:off x="887500" y="3795019"/>
            <a:ext cx="15210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5"/>
          <p:cNvSpPr/>
          <p:nvPr/>
        </p:nvSpPr>
        <p:spPr>
          <a:xfrm>
            <a:off x="2887200" y="3795025"/>
            <a:ext cx="8166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5"/>
          <p:cNvSpPr/>
          <p:nvPr/>
        </p:nvSpPr>
        <p:spPr>
          <a:xfrm>
            <a:off x="2887200" y="4252225"/>
            <a:ext cx="8166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5"/>
          <p:cNvSpPr/>
          <p:nvPr/>
        </p:nvSpPr>
        <p:spPr>
          <a:xfrm>
            <a:off x="2887200" y="3337825"/>
            <a:ext cx="8166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5"/>
          <p:cNvSpPr txBox="1"/>
          <p:nvPr>
            <p:ph idx="1" type="subTitle"/>
          </p:nvPr>
        </p:nvSpPr>
        <p:spPr>
          <a:xfrm>
            <a:off x="4822419" y="810000"/>
            <a:ext cx="3982200" cy="118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baseline="30000" lang="en-GB" sz="22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 of an arithmetic seque</a:t>
            </a:r>
            <a:r>
              <a:rPr lang="en-GB"/>
              <a:t>nce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40.2</a:t>
            </a:r>
            <a:r>
              <a:rPr lang="en-GB"/>
              <a:t> and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37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85.8</a:t>
            </a:r>
            <a:r>
              <a:rPr lang="en-GB"/>
              <a:t>. Find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 sz="1400"/>
          </a:p>
        </p:txBody>
      </p:sp>
      <p:sp>
        <p:nvSpPr>
          <p:cNvPr id="960" name="Google Shape;960;p75"/>
          <p:cNvSpPr txBox="1"/>
          <p:nvPr>
            <p:ph idx="1" type="subTitle"/>
          </p:nvPr>
        </p:nvSpPr>
        <p:spPr>
          <a:xfrm>
            <a:off x="4833625" y="1984376"/>
            <a:ext cx="39822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37 - 18 = 19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steps</a:t>
            </a:r>
            <a:endParaRPr sz="14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961" name="Google Shape;961;p75"/>
          <p:cNvGraphicFramePr/>
          <p:nvPr/>
        </p:nvGraphicFramePr>
        <p:xfrm>
          <a:off x="4918575" y="3300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2193275"/>
                <a:gridCol w="9334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2.4n − 3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40.2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2" name="Google Shape;962;p75"/>
          <p:cNvPicPr preferRelativeResize="0"/>
          <p:nvPr/>
        </p:nvPicPr>
        <p:blipFill rotWithShape="1">
          <a:blip r:embed="rId4">
            <a:alphaModFix/>
          </a:blip>
          <a:srcRect b="84458" l="57225" r="18284" t="0"/>
          <a:stretch/>
        </p:blipFill>
        <p:spPr>
          <a:xfrm rot="5400000">
            <a:off x="7828857" y="4046775"/>
            <a:ext cx="709124" cy="285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5.8-40.2}{19}=\frac{45.6}{19}=2.4&quot;&gt;&lt;mfrac&gt;&lt;mrow&gt;&lt;mn&gt;85.8&lt;/mn&gt;&lt;mo&gt;−&lt;/mo&gt;&lt;mn&gt;40.2&lt;/mn&gt;&lt;/mrow&gt;&lt;mn&gt;19&lt;/mn&gt;&lt;/mfrac&gt;&lt;mo&gt;=&lt;/mo&gt;&lt;mfrac&gt;&lt;mn&gt;45.6&lt;/mn&gt;&lt;mn&gt;19&lt;/mn&gt;&lt;/mfrac&gt;&lt;mo&gt;=&lt;/mo&gt;&lt;mn&gt;2.4&lt;/mn&gt;&lt;/math&gt;" id="963" name="Google Shape;963;p75" title="the fraction with numerator 85.8 minus 40.2 and denominator 19 equals 45.6 over 19 equals 2.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6456" y="2511245"/>
            <a:ext cx="2849014" cy="554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4" name="Google Shape;964;p75"/>
          <p:cNvGraphicFramePr/>
          <p:nvPr/>
        </p:nvGraphicFramePr>
        <p:xfrm>
          <a:off x="4918575" y="33005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2193275"/>
                <a:gridCol w="93342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43.2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40.2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6"/>
          <p:cNvSpPr txBox="1"/>
          <p:nvPr>
            <p:ph idx="1" type="body"/>
          </p:nvPr>
        </p:nvSpPr>
        <p:spPr>
          <a:xfrm>
            <a:off x="324000" y="759300"/>
            <a:ext cx="84960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missing terms in these arithmetic sequences.</a:t>
            </a:r>
            <a:endParaRPr/>
          </a:p>
        </p:txBody>
      </p:sp>
      <p:sp>
        <p:nvSpPr>
          <p:cNvPr id="970" name="Google Shape;970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graphicFrame>
        <p:nvGraphicFramePr>
          <p:cNvPr id="971" name="Google Shape;971;p76"/>
          <p:cNvGraphicFramePr/>
          <p:nvPr/>
        </p:nvGraphicFramePr>
        <p:xfrm>
          <a:off x="408998" y="1292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983950"/>
                <a:gridCol w="844375"/>
                <a:gridCol w="844375"/>
                <a:gridCol w="844375"/>
                <a:gridCol w="844375"/>
                <a:gridCol w="844375"/>
                <a:gridCol w="8443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977" name="Google Shape;977;p77"/>
          <p:cNvSpPr txBox="1"/>
          <p:nvPr>
            <p:ph idx="1" type="body"/>
          </p:nvPr>
        </p:nvSpPr>
        <p:spPr>
          <a:xfrm>
            <a:off x="264900" y="810000"/>
            <a:ext cx="83205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Buses leave Chorley for Bolton at regular intervals. The second bus of the day left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6:35 am</a:t>
            </a:r>
            <a:r>
              <a:rPr lang="en-GB"/>
              <a:t>. The sixth bus left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8:03 am</a:t>
            </a:r>
            <a:r>
              <a:rPr lang="en-GB"/>
              <a:t> and you just missed it. What time is the next bus?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983" name="Google Shape;983;p78"/>
          <p:cNvSpPr txBox="1"/>
          <p:nvPr>
            <p:ph idx="4294967295" type="body"/>
          </p:nvPr>
        </p:nvSpPr>
        <p:spPr>
          <a:xfrm>
            <a:off x="324000" y="734803"/>
            <a:ext cx="72090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3)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/>
              <a:t> term of an arithmetic sequence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187</a:t>
            </a:r>
            <a:r>
              <a:rPr lang="en-GB"/>
              <a:t>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363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of the sequence.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3634</a:t>
            </a:r>
            <a:r>
              <a:rPr lang="en-GB"/>
              <a:t> be a term in this sequence?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missing terms in these arithmetic sequences.</a:t>
            </a:r>
            <a:endParaRPr/>
          </a:p>
        </p:txBody>
      </p:sp>
      <p:sp>
        <p:nvSpPr>
          <p:cNvPr id="989" name="Google Shape;989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graphicFrame>
        <p:nvGraphicFramePr>
          <p:cNvPr id="990" name="Google Shape;990;p79"/>
          <p:cNvGraphicFramePr/>
          <p:nvPr/>
        </p:nvGraphicFramePr>
        <p:xfrm>
          <a:off x="408998" y="1292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983950"/>
                <a:gridCol w="844375"/>
                <a:gridCol w="844375"/>
                <a:gridCol w="844375"/>
                <a:gridCol w="844375"/>
                <a:gridCol w="844375"/>
                <a:gridCol w="844375"/>
              </a:tblGrid>
              <a:tr h="466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7.75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3.25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−1.25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1" name="Google Shape;991;p79"/>
          <p:cNvSpPr txBox="1"/>
          <p:nvPr/>
        </p:nvSpPr>
        <p:spPr>
          <a:xfrm>
            <a:off x="7459200" y="1252818"/>
            <a:ext cx="141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Term-to-</a:t>
            </a:r>
            <a:endParaRPr sz="18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term rule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92" name="Google Shape;992;p79"/>
          <p:cNvSpPr txBox="1"/>
          <p:nvPr/>
        </p:nvSpPr>
        <p:spPr>
          <a:xfrm>
            <a:off x="7609359" y="1853450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</a:t>
            </a:r>
            <a:endParaRPr sz="16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3" name="Google Shape;993;p79"/>
          <p:cNvSpPr txBox="1"/>
          <p:nvPr/>
        </p:nvSpPr>
        <p:spPr>
          <a:xfrm>
            <a:off x="7609359" y="2310650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16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79"/>
          <p:cNvSpPr txBox="1"/>
          <p:nvPr/>
        </p:nvSpPr>
        <p:spPr>
          <a:xfrm>
            <a:off x="7609359" y="2767850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+4.5</a:t>
            </a:r>
            <a:endParaRPr sz="16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5" name="Google Shape;995;p79"/>
          <p:cNvSpPr txBox="1"/>
          <p:nvPr/>
        </p:nvSpPr>
        <p:spPr>
          <a:xfrm>
            <a:off x="7609359" y="3180226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−2.25</a:t>
            </a:r>
            <a:endParaRPr sz="16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96" name="Google Shape;996;p79"/>
          <p:cNvGrpSpPr/>
          <p:nvPr/>
        </p:nvGrpSpPr>
        <p:grpSpPr>
          <a:xfrm>
            <a:off x="2533275" y="1815832"/>
            <a:ext cx="4767300" cy="337200"/>
            <a:chOff x="2533275" y="1815832"/>
            <a:chExt cx="4767300" cy="337200"/>
          </a:xfrm>
        </p:grpSpPr>
        <p:sp>
          <p:nvSpPr>
            <p:cNvPr id="997" name="Google Shape;997;p79"/>
            <p:cNvSpPr/>
            <p:nvPr/>
          </p:nvSpPr>
          <p:spPr>
            <a:xfrm>
              <a:off x="2533275" y="18158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8" name="Google Shape;998;p79"/>
            <p:cNvSpPr/>
            <p:nvPr/>
          </p:nvSpPr>
          <p:spPr>
            <a:xfrm>
              <a:off x="3447675" y="18158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79"/>
            <p:cNvSpPr/>
            <p:nvPr/>
          </p:nvSpPr>
          <p:spPr>
            <a:xfrm>
              <a:off x="4285875" y="18158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9"/>
            <p:cNvSpPr/>
            <p:nvPr/>
          </p:nvSpPr>
          <p:spPr>
            <a:xfrm>
              <a:off x="6800475" y="18158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1" name="Google Shape;1001;p79"/>
          <p:cNvGrpSpPr/>
          <p:nvPr/>
        </p:nvGrpSpPr>
        <p:grpSpPr>
          <a:xfrm>
            <a:off x="2533275" y="2273032"/>
            <a:ext cx="4767300" cy="337200"/>
            <a:chOff x="2533275" y="2273032"/>
            <a:chExt cx="4767300" cy="337200"/>
          </a:xfrm>
        </p:grpSpPr>
        <p:sp>
          <p:nvSpPr>
            <p:cNvPr id="1002" name="Google Shape;1002;p79"/>
            <p:cNvSpPr/>
            <p:nvPr/>
          </p:nvSpPr>
          <p:spPr>
            <a:xfrm>
              <a:off x="4209675" y="22730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3" name="Google Shape;1003;p79"/>
            <p:cNvSpPr/>
            <p:nvPr/>
          </p:nvSpPr>
          <p:spPr>
            <a:xfrm>
              <a:off x="5047875" y="22730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9"/>
            <p:cNvSpPr/>
            <p:nvPr/>
          </p:nvSpPr>
          <p:spPr>
            <a:xfrm>
              <a:off x="2533275" y="22730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9"/>
            <p:cNvSpPr/>
            <p:nvPr/>
          </p:nvSpPr>
          <p:spPr>
            <a:xfrm>
              <a:off x="6800475" y="2273032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79"/>
          <p:cNvGrpSpPr/>
          <p:nvPr/>
        </p:nvGrpSpPr>
        <p:grpSpPr>
          <a:xfrm>
            <a:off x="3382681" y="3156050"/>
            <a:ext cx="3981696" cy="337206"/>
            <a:chOff x="3382681" y="3156050"/>
            <a:chExt cx="3981696" cy="337206"/>
          </a:xfrm>
        </p:grpSpPr>
        <p:sp>
          <p:nvSpPr>
            <p:cNvPr id="1007" name="Google Shape;1007;p79"/>
            <p:cNvSpPr/>
            <p:nvPr/>
          </p:nvSpPr>
          <p:spPr>
            <a:xfrm>
              <a:off x="5047875" y="3156050"/>
              <a:ext cx="5796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8" name="Google Shape;1008;p79"/>
            <p:cNvSpPr/>
            <p:nvPr/>
          </p:nvSpPr>
          <p:spPr>
            <a:xfrm>
              <a:off x="3382681" y="3156056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9"/>
            <p:cNvSpPr/>
            <p:nvPr/>
          </p:nvSpPr>
          <p:spPr>
            <a:xfrm>
              <a:off x="6713077" y="3156050"/>
              <a:ext cx="6513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9"/>
            <p:cNvSpPr/>
            <p:nvPr/>
          </p:nvSpPr>
          <p:spPr>
            <a:xfrm>
              <a:off x="4209675" y="3156056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79"/>
          <p:cNvGrpSpPr/>
          <p:nvPr/>
        </p:nvGrpSpPr>
        <p:grpSpPr>
          <a:xfrm>
            <a:off x="2587063" y="2698850"/>
            <a:ext cx="4777314" cy="337206"/>
            <a:chOff x="2587063" y="2698850"/>
            <a:chExt cx="4777314" cy="337206"/>
          </a:xfrm>
        </p:grpSpPr>
        <p:sp>
          <p:nvSpPr>
            <p:cNvPr id="1012" name="Google Shape;1012;p79"/>
            <p:cNvSpPr/>
            <p:nvPr/>
          </p:nvSpPr>
          <p:spPr>
            <a:xfrm>
              <a:off x="4285875" y="2698856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9"/>
            <p:cNvSpPr/>
            <p:nvPr/>
          </p:nvSpPr>
          <p:spPr>
            <a:xfrm>
              <a:off x="2587063" y="2698856"/>
              <a:ext cx="5001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4" name="Google Shape;1014;p79"/>
            <p:cNvSpPr/>
            <p:nvPr/>
          </p:nvSpPr>
          <p:spPr>
            <a:xfrm>
              <a:off x="5886075" y="2698850"/>
              <a:ext cx="5796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79"/>
            <p:cNvSpPr/>
            <p:nvPr/>
          </p:nvSpPr>
          <p:spPr>
            <a:xfrm>
              <a:off x="6713077" y="2698850"/>
              <a:ext cx="651300" cy="3372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0"/>
          <p:cNvSpPr txBox="1"/>
          <p:nvPr>
            <p:ph idx="4294967295" type="body"/>
          </p:nvPr>
        </p:nvSpPr>
        <p:spPr>
          <a:xfrm>
            <a:off x="324000" y="2324900"/>
            <a:ext cx="81636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6:13 am,  6:35 am,  6:57 am,  7:19 am,  7:41am, 8:03 am, 8:25 am …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8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Buses leave Chorley for Bolton at regular intervals. The second bus of the day left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6:35 am</a:t>
            </a:r>
            <a:r>
              <a:rPr lang="en-GB"/>
              <a:t>. The sixth bus left 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8:03 am</a:t>
            </a:r>
            <a:r>
              <a:rPr lang="en-GB"/>
              <a:t> and you just missed it. What time is the next bus?</a:t>
            </a:r>
            <a:endParaRPr/>
          </a:p>
        </p:txBody>
      </p:sp>
      <p:sp>
        <p:nvSpPr>
          <p:cNvPr id="1022" name="Google Shape;1022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grpSp>
        <p:nvGrpSpPr>
          <p:cNvPr id="1023" name="Google Shape;1023;p80"/>
          <p:cNvGrpSpPr/>
          <p:nvPr/>
        </p:nvGrpSpPr>
        <p:grpSpPr>
          <a:xfrm>
            <a:off x="324006" y="2315000"/>
            <a:ext cx="926566" cy="426600"/>
            <a:chOff x="2195974" y="1783108"/>
            <a:chExt cx="438300" cy="426600"/>
          </a:xfrm>
        </p:grpSpPr>
        <p:sp>
          <p:nvSpPr>
            <p:cNvPr id="1024" name="Google Shape;1024;p80"/>
            <p:cNvSpPr/>
            <p:nvPr/>
          </p:nvSpPr>
          <p:spPr>
            <a:xfrm>
              <a:off x="2195974" y="1783108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25" name="Google Shape;1025;p80"/>
            <p:cNvCxnSpPr/>
            <p:nvPr/>
          </p:nvCxnSpPr>
          <p:spPr>
            <a:xfrm>
              <a:off x="2250326" y="2145897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26" name="Google Shape;1026;p80"/>
          <p:cNvSpPr txBox="1"/>
          <p:nvPr>
            <p:ph idx="1" type="body"/>
          </p:nvPr>
        </p:nvSpPr>
        <p:spPr>
          <a:xfrm>
            <a:off x="1192276" y="3456375"/>
            <a:ext cx="35259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steps to make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88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minutes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80"/>
          <p:cNvSpPr txBox="1"/>
          <p:nvPr>
            <p:ph idx="1" type="body"/>
          </p:nvPr>
        </p:nvSpPr>
        <p:spPr>
          <a:xfrm>
            <a:off x="846200" y="4065975"/>
            <a:ext cx="75057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buses are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minutes apart so the next one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8:25 am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28" name="Google Shape;1028;p80"/>
          <p:cNvGrpSpPr/>
          <p:nvPr/>
        </p:nvGrpSpPr>
        <p:grpSpPr>
          <a:xfrm>
            <a:off x="2645125" y="2324875"/>
            <a:ext cx="944650" cy="426600"/>
            <a:chOff x="2195975" y="1783108"/>
            <a:chExt cx="463200" cy="426600"/>
          </a:xfrm>
        </p:grpSpPr>
        <p:sp>
          <p:nvSpPr>
            <p:cNvPr id="1029" name="Google Shape;1029;p80"/>
            <p:cNvSpPr/>
            <p:nvPr/>
          </p:nvSpPr>
          <p:spPr>
            <a:xfrm>
              <a:off x="2195975" y="1783108"/>
              <a:ext cx="4632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0" name="Google Shape;1030;p80"/>
            <p:cNvCxnSpPr/>
            <p:nvPr/>
          </p:nvCxnSpPr>
          <p:spPr>
            <a:xfrm>
              <a:off x="2250326" y="2145897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1" name="Google Shape;1031;p80"/>
          <p:cNvGrpSpPr/>
          <p:nvPr/>
        </p:nvGrpSpPr>
        <p:grpSpPr>
          <a:xfrm>
            <a:off x="3773476" y="2315000"/>
            <a:ext cx="1039717" cy="426600"/>
            <a:chOff x="2195979" y="1783108"/>
            <a:chExt cx="482400" cy="426600"/>
          </a:xfrm>
        </p:grpSpPr>
        <p:sp>
          <p:nvSpPr>
            <p:cNvPr id="1032" name="Google Shape;1032;p80"/>
            <p:cNvSpPr/>
            <p:nvPr/>
          </p:nvSpPr>
          <p:spPr>
            <a:xfrm>
              <a:off x="2195979" y="1783108"/>
              <a:ext cx="4824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3" name="Google Shape;1033;p80"/>
            <p:cNvCxnSpPr/>
            <p:nvPr/>
          </p:nvCxnSpPr>
          <p:spPr>
            <a:xfrm>
              <a:off x="2250326" y="2145897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4" name="Google Shape;1034;p80"/>
          <p:cNvGrpSpPr/>
          <p:nvPr/>
        </p:nvGrpSpPr>
        <p:grpSpPr>
          <a:xfrm>
            <a:off x="4916475" y="2315000"/>
            <a:ext cx="1039668" cy="426600"/>
            <a:chOff x="2195978" y="1783108"/>
            <a:chExt cx="519600" cy="426600"/>
          </a:xfrm>
        </p:grpSpPr>
        <p:sp>
          <p:nvSpPr>
            <p:cNvPr id="1035" name="Google Shape;1035;p80"/>
            <p:cNvSpPr/>
            <p:nvPr/>
          </p:nvSpPr>
          <p:spPr>
            <a:xfrm>
              <a:off x="2195978" y="1783108"/>
              <a:ext cx="5196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6" name="Google Shape;1036;p80"/>
            <p:cNvCxnSpPr/>
            <p:nvPr/>
          </p:nvCxnSpPr>
          <p:spPr>
            <a:xfrm>
              <a:off x="2250326" y="2145897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7" name="Google Shape;1037;p80"/>
          <p:cNvGrpSpPr/>
          <p:nvPr/>
        </p:nvGrpSpPr>
        <p:grpSpPr>
          <a:xfrm>
            <a:off x="7050159" y="2315000"/>
            <a:ext cx="1039691" cy="426600"/>
            <a:chOff x="2195974" y="1783108"/>
            <a:chExt cx="438300" cy="426600"/>
          </a:xfrm>
        </p:grpSpPr>
        <p:sp>
          <p:nvSpPr>
            <p:cNvPr id="1038" name="Google Shape;1038;p80"/>
            <p:cNvSpPr/>
            <p:nvPr/>
          </p:nvSpPr>
          <p:spPr>
            <a:xfrm>
              <a:off x="2195974" y="1783108"/>
              <a:ext cx="438300" cy="426600"/>
            </a:xfrm>
            <a:prstGeom prst="rect">
              <a:avLst/>
            </a:prstGeom>
            <a:solidFill>
              <a:srgbClr val="F2EEFA"/>
            </a:solidFill>
            <a:ln cap="flat" cmpd="sng" w="9525">
              <a:solidFill>
                <a:srgbClr val="F2EE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9" name="Google Shape;1039;p80"/>
            <p:cNvCxnSpPr/>
            <p:nvPr/>
          </p:nvCxnSpPr>
          <p:spPr>
            <a:xfrm>
              <a:off x="2250326" y="2145897"/>
              <a:ext cx="334500" cy="0"/>
            </a:xfrm>
            <a:prstGeom prst="straightConnector1">
              <a:avLst/>
            </a:prstGeom>
            <a:noFill/>
            <a:ln cap="flat" cmpd="sng" w="38100">
              <a:solidFill>
                <a:srgbClr val="7A60D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0" name="Google Shape;1040;p80"/>
          <p:cNvSpPr/>
          <p:nvPr/>
        </p:nvSpPr>
        <p:spPr>
          <a:xfrm flipH="1" rot="10800000">
            <a:off x="2100400" y="2455500"/>
            <a:ext cx="901800" cy="571500"/>
          </a:xfrm>
          <a:prstGeom prst="arc">
            <a:avLst>
              <a:gd fmla="val 11114227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80"/>
          <p:cNvSpPr txBox="1"/>
          <p:nvPr>
            <p:ph idx="4294967295" type="body"/>
          </p:nvPr>
        </p:nvSpPr>
        <p:spPr>
          <a:xfrm>
            <a:off x="2305200" y="2999158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+22</a:t>
            </a:r>
            <a:endParaRPr sz="24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2" name="Google Shape;1042;p80"/>
          <p:cNvSpPr/>
          <p:nvPr/>
        </p:nvSpPr>
        <p:spPr>
          <a:xfrm flipH="1" rot="10800000">
            <a:off x="3395800" y="2455500"/>
            <a:ext cx="901800" cy="571500"/>
          </a:xfrm>
          <a:prstGeom prst="arc">
            <a:avLst>
              <a:gd fmla="val 11114227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80"/>
          <p:cNvSpPr txBox="1"/>
          <p:nvPr>
            <p:ph idx="4294967295" type="body"/>
          </p:nvPr>
        </p:nvSpPr>
        <p:spPr>
          <a:xfrm>
            <a:off x="3600600" y="2999158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+22</a:t>
            </a:r>
            <a:endParaRPr sz="24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4" name="Google Shape;1044;p80"/>
          <p:cNvSpPr/>
          <p:nvPr/>
        </p:nvSpPr>
        <p:spPr>
          <a:xfrm flipH="1" rot="10800000">
            <a:off x="4462600" y="2455500"/>
            <a:ext cx="901800" cy="571500"/>
          </a:xfrm>
          <a:prstGeom prst="arc">
            <a:avLst>
              <a:gd fmla="val 11114227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80"/>
          <p:cNvSpPr txBox="1"/>
          <p:nvPr>
            <p:ph idx="4294967295" type="body"/>
          </p:nvPr>
        </p:nvSpPr>
        <p:spPr>
          <a:xfrm>
            <a:off x="4667400" y="2999158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+22</a:t>
            </a:r>
            <a:endParaRPr sz="24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6" name="Google Shape;1046;p80"/>
          <p:cNvSpPr/>
          <p:nvPr/>
        </p:nvSpPr>
        <p:spPr>
          <a:xfrm flipH="1" rot="10800000">
            <a:off x="5529400" y="2455500"/>
            <a:ext cx="901800" cy="571500"/>
          </a:xfrm>
          <a:prstGeom prst="arc">
            <a:avLst>
              <a:gd fmla="val 11114227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80"/>
          <p:cNvSpPr txBox="1"/>
          <p:nvPr>
            <p:ph idx="4294967295" type="body"/>
          </p:nvPr>
        </p:nvSpPr>
        <p:spPr>
          <a:xfrm>
            <a:off x="5734200" y="2999158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+22</a:t>
            </a:r>
            <a:endParaRPr sz="24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80"/>
          <p:cNvSpPr/>
          <p:nvPr/>
        </p:nvSpPr>
        <p:spPr>
          <a:xfrm flipH="1" rot="10800000">
            <a:off x="6596200" y="2455500"/>
            <a:ext cx="901800" cy="571500"/>
          </a:xfrm>
          <a:prstGeom prst="arc">
            <a:avLst>
              <a:gd fmla="val 11114227" name="adj1"/>
              <a:gd fmla="val 0" name="adj2"/>
            </a:avLst>
          </a:prstGeom>
          <a:noFill/>
          <a:ln cap="flat" cmpd="sng" w="1905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80"/>
          <p:cNvSpPr txBox="1"/>
          <p:nvPr>
            <p:ph idx="4294967295" type="body"/>
          </p:nvPr>
        </p:nvSpPr>
        <p:spPr>
          <a:xfrm>
            <a:off x="6801000" y="2999158"/>
            <a:ext cx="5193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+22</a:t>
            </a:r>
            <a:endParaRPr sz="24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1055" name="Google Shape;1055;p81"/>
          <p:cNvSpPr txBox="1"/>
          <p:nvPr>
            <p:ph idx="4294967295" type="body"/>
          </p:nvPr>
        </p:nvSpPr>
        <p:spPr>
          <a:xfrm>
            <a:off x="324000" y="3551106"/>
            <a:ext cx="7209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Will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3634</a:t>
            </a:r>
            <a:r>
              <a:rPr lang="en-GB"/>
              <a:t> be a term in this sequence?</a:t>
            </a:r>
            <a:endParaRPr/>
          </a:p>
        </p:txBody>
      </p:sp>
      <p:graphicFrame>
        <p:nvGraphicFramePr>
          <p:cNvPr id="1056" name="Google Shape;1056;p81"/>
          <p:cNvGraphicFramePr/>
          <p:nvPr/>
        </p:nvGraphicFramePr>
        <p:xfrm>
          <a:off x="4295098" y="1545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2394725"/>
                <a:gridCol w="1019175"/>
              </a:tblGrid>
              <a:tr h="37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8n + 3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57" name="Google Shape;1057;p81"/>
          <p:cNvPicPr preferRelativeResize="0"/>
          <p:nvPr/>
        </p:nvPicPr>
        <p:blipFill rotWithShape="1">
          <a:blip r:embed="rId3">
            <a:alphaModFix/>
          </a:blip>
          <a:srcRect b="84458" l="57225" r="18284" t="0"/>
          <a:stretch/>
        </p:blipFill>
        <p:spPr>
          <a:xfrm rot="5400000">
            <a:off x="7532731" y="2091389"/>
            <a:ext cx="709124" cy="45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1"/>
          <p:cNvSpPr txBox="1"/>
          <p:nvPr>
            <p:ph idx="4294967295" type="body"/>
          </p:nvPr>
        </p:nvSpPr>
        <p:spPr>
          <a:xfrm>
            <a:off x="8015433" y="2195548"/>
            <a:ext cx="3921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7A60D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000">
              <a:solidFill>
                <a:srgbClr val="7A60D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63-187}{45-23}=\frac{176}{22}=8&quot;&gt;&lt;mfrac&gt;&lt;mrow&gt;&lt;mn&gt;363&lt;/mn&gt;&lt;mo&gt;−&lt;/mo&gt;&lt;mn&gt;187&lt;/mn&gt;&lt;/mrow&gt;&lt;mrow&gt;&lt;mn&gt;45&lt;/mn&gt;&lt;mo&gt;−&lt;/mo&gt;&lt;mn&gt;23&lt;/mn&gt;&lt;/mrow&gt;&lt;/mfrac&gt;&lt;mo&gt;=&lt;/mo&gt;&lt;mfrac&gt;&lt;mn&gt;176&lt;/mn&gt;&lt;mn&gt;22&lt;/mn&gt;&lt;/mfrac&gt;&lt;mo&gt;=&lt;/mo&gt;&lt;mn&gt;8&lt;/mn&gt;&lt;/math&gt;" id="1059" name="Google Shape;1059;p81" title="the fraction with numerator 363 minus 187 and denominator 45 minus 23 equals 176 over 22 equals 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7" y="2243883"/>
            <a:ext cx="2605775" cy="593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0" name="Google Shape;1060;p81"/>
          <p:cNvGraphicFramePr/>
          <p:nvPr/>
        </p:nvGraphicFramePr>
        <p:xfrm>
          <a:off x="4295098" y="1545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2394725"/>
                <a:gridCol w="1019175"/>
              </a:tblGrid>
              <a:tr h="37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1" name="Google Shape;1061;p81"/>
          <p:cNvSpPr txBox="1"/>
          <p:nvPr>
            <p:ph idx="4294967295" type="body"/>
          </p:nvPr>
        </p:nvSpPr>
        <p:spPr>
          <a:xfrm>
            <a:off x="324000" y="724702"/>
            <a:ext cx="7209000" cy="53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</a:t>
            </a:r>
            <a:r>
              <a:rPr lang="en-GB"/>
              <a:t>)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23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GB"/>
              <a:t> term of an arithmetic sequence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187</a:t>
            </a:r>
            <a:r>
              <a:rPr lang="en-GB"/>
              <a:t> and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is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363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Find the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term.</a:t>
            </a:r>
            <a:endParaRPr/>
          </a:p>
        </p:txBody>
      </p:sp>
      <p:sp>
        <p:nvSpPr>
          <p:cNvPr id="1062" name="Google Shape;1062;p81"/>
          <p:cNvSpPr txBox="1"/>
          <p:nvPr>
            <p:ph idx="4294967295" type="body"/>
          </p:nvPr>
        </p:nvSpPr>
        <p:spPr>
          <a:xfrm>
            <a:off x="324000" y="3006173"/>
            <a:ext cx="72090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When</a:t>
            </a:r>
            <a:r>
              <a:rPr lang="en-GB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100</a:t>
            </a:r>
            <a:r>
              <a:rPr lang="en-GB"/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 term value is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8(100)+3 = 803</a:t>
            </a:r>
            <a:endParaRPr/>
          </a:p>
        </p:txBody>
      </p:sp>
      <p:sp>
        <p:nvSpPr>
          <p:cNvPr id="1063" name="Google Shape;1063;p81"/>
          <p:cNvSpPr txBox="1"/>
          <p:nvPr>
            <p:ph idx="4294967295" type="body"/>
          </p:nvPr>
        </p:nvSpPr>
        <p:spPr>
          <a:xfrm>
            <a:off x="324000" y="4008305"/>
            <a:ext cx="79701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No. We have odd terms and an even common difference therefore</a:t>
            </a:r>
            <a:r>
              <a:rPr lang="en-GB"/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3634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 an even number, will not be in the sequence.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1069" name="Google Shape;1069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sp>
        <p:nvSpPr>
          <p:cNvPr id="1070" name="Google Shape;1070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sp>
        <p:nvSpPr>
          <p:cNvPr id="1071" name="Google Shape;1071;p8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sequences</a:t>
            </a:r>
            <a:endParaRPr/>
          </a:p>
        </p:txBody>
      </p:sp>
      <p:pic>
        <p:nvPicPr>
          <p:cNvPr id="1072" name="Google Shape;107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277029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83"/>
          <p:cNvSpPr txBox="1"/>
          <p:nvPr>
            <p:ph idx="1" type="body"/>
          </p:nvPr>
        </p:nvSpPr>
        <p:spPr>
          <a:xfrm>
            <a:off x="324000" y="759300"/>
            <a:ext cx="82377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this an arithmetic sequence?</a:t>
            </a:r>
            <a:endParaRPr/>
          </a:p>
        </p:txBody>
      </p:sp>
      <p:sp>
        <p:nvSpPr>
          <p:cNvPr id="1078" name="Google Shape;107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pic>
        <p:nvPicPr>
          <p:cNvPr id="1079" name="Google Shape;1079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306710" y="2598177"/>
            <a:ext cx="818780" cy="672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987885" y="2598177"/>
            <a:ext cx="818780" cy="672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704635" y="2598177"/>
            <a:ext cx="818780" cy="672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4486543" y="2598177"/>
            <a:ext cx="818780" cy="672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,\frac{1}{2},\frac{1}{3},\frac{1}{4},\frac{1}{5},\frac{1}{6},...&quot;&gt;&lt;mn&gt;1&lt;/mn&gt;&lt;mo&gt;,&lt;/mo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frac&gt;&lt;mn&gt;1&lt;/mn&gt;&lt;mn&gt;6&lt;/mn&gt;&lt;/mfrac&gt;&lt;mo&gt;,&lt;/mo&gt;&lt;mo&gt;.&lt;/mo&gt;&lt;mo&gt;.&lt;/mo&gt;&lt;mo&gt;.&lt;/mo&gt;&lt;/math&gt;" id="1083" name="Google Shape;1083;p83" title="1 comma one half comma one third comma one fourth comma one fifth comma one sixth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3725" y="1399525"/>
            <a:ext cx="4690149" cy="118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83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5180671" y="2598177"/>
            <a:ext cx="818780" cy="672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085" name="Google Shape;1085;p83" title="negative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5089" y="3259373"/>
            <a:ext cx="440174" cy="65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6}&quot;&gt;&lt;mo&gt;−&lt;/mo&gt;&lt;mfrac&gt;&lt;mn&gt;1&lt;/mn&gt;&lt;mn&gt;6&lt;/mn&gt;&lt;/mfrac&gt;&lt;/math&gt;" id="1086" name="Google Shape;1086;p83" title="negative 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20036" y="3250551"/>
            <a:ext cx="440174" cy="667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12}&quot;&gt;&lt;mo&gt;−&lt;/mo&gt;&lt;mfrac&gt;&lt;mn&gt;1&lt;/mn&gt;&lt;mn&gt;12&lt;/mn&gt;&lt;/mfrac&gt;&lt;/math&gt;" id="1087" name="Google Shape;1087;p83" title="negative 1 over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56169" y="3255815"/>
            <a:ext cx="599797" cy="662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20}&quot;&gt;&lt;mo&gt;−&lt;/mo&gt;&lt;mfrac&gt;&lt;mn&gt;1&lt;/mn&gt;&lt;mn&gt;20&lt;/mn&gt;&lt;/mfrac&gt;&lt;/math&gt;" id="1088" name="Google Shape;1088;p83" title="negative 1 over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49261" y="3258611"/>
            <a:ext cx="591584" cy="6578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0}&quot;&gt;&lt;mo&gt;−&lt;/mo&gt;&lt;mfrac&gt;&lt;mn&gt;1&lt;/mn&gt;&lt;mn&gt;30&lt;/mn&gt;&lt;/mfrac&gt;&lt;/math&gt;" id="1089" name="Google Shape;1089;p83" title="negative 1 over 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13454" y="3245877"/>
            <a:ext cx="604634" cy="67236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83"/>
          <p:cNvSpPr txBox="1"/>
          <p:nvPr>
            <p:ph idx="1" type="body"/>
          </p:nvPr>
        </p:nvSpPr>
        <p:spPr>
          <a:xfrm>
            <a:off x="324000" y="4153702"/>
            <a:ext cx="84960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No common difference therefore not arithmetic. But, there is a pattern!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4"/>
          <p:cNvSpPr txBox="1"/>
          <p:nvPr>
            <p:ph idx="1" type="body"/>
          </p:nvPr>
        </p:nvSpPr>
        <p:spPr>
          <a:xfrm>
            <a:off x="324000" y="759300"/>
            <a:ext cx="82377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do we define the pattern?</a:t>
            </a:r>
            <a:endParaRPr/>
          </a:p>
        </p:txBody>
      </p:sp>
      <p:sp>
        <p:nvSpPr>
          <p:cNvPr id="1096" name="Google Shape;109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graphicFrame>
        <p:nvGraphicFramePr>
          <p:cNvPr id="1097" name="Google Shape;1097;p84"/>
          <p:cNvGraphicFramePr/>
          <p:nvPr/>
        </p:nvGraphicFramePr>
        <p:xfrm>
          <a:off x="866198" y="1368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801900"/>
                <a:gridCol w="766875"/>
                <a:gridCol w="766875"/>
                <a:gridCol w="766875"/>
                <a:gridCol w="766875"/>
                <a:gridCol w="766875"/>
                <a:gridCol w="766875"/>
                <a:gridCol w="766875"/>
              </a:tblGrid>
              <a:tr h="63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9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value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1}&quot;&gt;&lt;mfrac&gt;&lt;mn&gt;1&lt;/mn&gt;&lt;mn&gt;1&lt;/mn&gt;&lt;/mfrac&gt;&lt;/math&gt;" id="1098" name="Google Shape;1098;p84" title="one one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133" y="2069757"/>
            <a:ext cx="273316" cy="870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099" name="Google Shape;1099;p84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3178" y="2069757"/>
            <a:ext cx="273316" cy="870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100" name="Google Shape;1100;p84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2844" y="2056117"/>
            <a:ext cx="266960" cy="883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101" name="Google Shape;1101;p84" title="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4222" y="2069757"/>
            <a:ext cx="273316" cy="8708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102" name="Google Shape;1102;p84" title="one fif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0786" y="2076762"/>
            <a:ext cx="266960" cy="8581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103" name="Google Shape;1103;p84" title="one six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52809" y="2068498"/>
            <a:ext cx="273316" cy="878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n}&quot;&gt;&lt;mfrac&gt;&lt;mn&gt;1&lt;/mn&gt;&lt;mi&gt;n&lt;/mi&gt;&lt;/mfrac&gt;&lt;/math&gt;" id="1104" name="Google Shape;1104;p84" title="1 over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13292" y="2053697"/>
            <a:ext cx="273316" cy="86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84"/>
          <p:cNvSpPr/>
          <p:nvPr/>
        </p:nvSpPr>
        <p:spPr>
          <a:xfrm>
            <a:off x="7383000" y="1478950"/>
            <a:ext cx="5997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4"/>
          <p:cNvSpPr txBox="1"/>
          <p:nvPr>
            <p:ph idx="1" type="body"/>
          </p:nvPr>
        </p:nvSpPr>
        <p:spPr>
          <a:xfrm>
            <a:off x="324000" y="3197700"/>
            <a:ext cx="77121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numerator is constant but, there is clearly a relationship between the term number 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/>
              <a:t>) and the denominator.</a:t>
            </a:r>
            <a:endParaRPr sz="2000"/>
          </a:p>
        </p:txBody>
      </p:sp>
      <p:sp>
        <p:nvSpPr>
          <p:cNvPr id="1107" name="Google Shape;1107;p84"/>
          <p:cNvSpPr txBox="1"/>
          <p:nvPr>
            <p:ph idx="1" type="body"/>
          </p:nvPr>
        </p:nvSpPr>
        <p:spPr>
          <a:xfrm>
            <a:off x="324000" y="4001302"/>
            <a:ext cx="77121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sequence may not be arithmetic, but we were able to define an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term,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n}&quot;&gt;&lt;mfrac&gt;&lt;mn&gt;1&lt;/mn&gt;&lt;mi&gt;n&lt;/mi&gt;&lt;/mfrac&gt;&lt;/math&gt;" id="1108" name="Google Shape;1108;p84" title="1 over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41250" y="4296188"/>
            <a:ext cx="154555" cy="48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85"/>
          <p:cNvSpPr txBox="1"/>
          <p:nvPr>
            <p:ph idx="1" type="body"/>
          </p:nvPr>
        </p:nvSpPr>
        <p:spPr>
          <a:xfrm>
            <a:off x="324000" y="759300"/>
            <a:ext cx="70707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it’s not arithmetic (linear), what would this sequence look like?</a:t>
            </a:r>
            <a:endParaRPr/>
          </a:p>
        </p:txBody>
      </p:sp>
      <p:sp>
        <p:nvSpPr>
          <p:cNvPr id="1114" name="Google Shape;111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,\frac{1}{2},\frac{1}{3},\frac{1}{4},\frac{1}{5},\frac{1}{6},...&quot;&gt;&lt;mn&gt;1&lt;/mn&gt;&lt;mo&gt;,&lt;/mo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frac&gt;&lt;mn&gt;1&lt;/mn&gt;&lt;mn&gt;6&lt;/mn&gt;&lt;/mfrac&gt;&lt;mo&gt;,&lt;/mo&gt;&lt;mo&gt;.&lt;/mo&gt;&lt;mo&gt;.&lt;/mo&gt;&lt;mo&gt;.&lt;/mo&gt;&lt;/math&gt;" id="1115" name="Google Shape;1115;p85" title="1 comma one half comma one third comma one fourth comma one fifth comma one sixth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0913" y="1573173"/>
            <a:ext cx="3184225" cy="8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n}&quot;&gt;&lt;mfrac&gt;&lt;mn&gt;1&lt;/mn&gt;&lt;mi&gt;n&lt;/mi&gt;&lt;/mfrac&gt;&lt;/math&gt;" id="1116" name="Google Shape;1116;p85" title="1 over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099" y="1567814"/>
            <a:ext cx="254987" cy="80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2-11-2023/773ddd74-a4d3-4962-9747-135160c9244c&quot; data-equatio-type=&quot;desmos&quot;&gt;&lt;mglyph src=&quot;https://equatio-api.texthelp.com/desmos/get/02-11-2023/773ddd74-a4d3-4962-9747-135160c9244c&quot; alt=&quot;Equatio Desmos Graph&quot;/&gt;&lt;/math&gt;" id="1117" name="Google Shape;1117;p85" title="Equatio Desmos Graph"/>
          <p:cNvPicPr preferRelativeResize="0"/>
          <p:nvPr/>
        </p:nvPicPr>
        <p:blipFill rotWithShape="1">
          <a:blip r:embed="rId5">
            <a:alphaModFix/>
          </a:blip>
          <a:srcRect b="11605" l="3707" r="0" t="14756"/>
          <a:stretch/>
        </p:blipFill>
        <p:spPr>
          <a:xfrm>
            <a:off x="1679162" y="2443873"/>
            <a:ext cx="4120800" cy="236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5"/>
          <p:cNvSpPr txBox="1"/>
          <p:nvPr>
            <p:ph idx="1" type="body"/>
          </p:nvPr>
        </p:nvSpPr>
        <p:spPr>
          <a:xfrm>
            <a:off x="5631175" y="2740500"/>
            <a:ext cx="3184200" cy="13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an interesting graph</a:t>
            </a:r>
            <a:r>
              <a:rPr lang="en-GB" sz="2000"/>
              <a:t>!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Have you ever seen a graph like this before?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86"/>
          <p:cNvSpPr txBox="1"/>
          <p:nvPr>
            <p:ph type="title"/>
          </p:nvPr>
        </p:nvSpPr>
        <p:spPr>
          <a:xfrm>
            <a:off x="324000" y="748775"/>
            <a:ext cx="4248000" cy="8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 for this non-arithmetic sequence?</a:t>
            </a:r>
            <a:endParaRPr/>
          </a:p>
        </p:txBody>
      </p:sp>
      <p:sp>
        <p:nvSpPr>
          <p:cNvPr id="1124" name="Google Shape;1124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Fractional sequences</a:t>
            </a:r>
            <a:endParaRPr/>
          </a:p>
        </p:txBody>
      </p:sp>
      <p:sp>
        <p:nvSpPr>
          <p:cNvPr id="1125" name="Google Shape;1125;p86"/>
          <p:cNvSpPr txBox="1"/>
          <p:nvPr>
            <p:ph idx="4" type="subTitle"/>
          </p:nvPr>
        </p:nvSpPr>
        <p:spPr>
          <a:xfrm>
            <a:off x="2884050" y="1740800"/>
            <a:ext cx="4509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numerator is a constant,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denominator is the sequence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a translation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from the sequence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,\frac{2}{4},\frac{2}{5},\frac{2}{6},\frac{2}{7},...&quot;&gt;&lt;mfrac&gt;&lt;mn&gt;2&lt;/mn&gt;&lt;mn&gt;3&lt;/mn&gt;&lt;/mfrac&gt;&lt;mo&gt;,&lt;/mo&gt;&lt;mfrac&gt;&lt;mn&gt;2&lt;/mn&gt;&lt;mn&gt;4&lt;/mn&gt;&lt;/mfrac&gt;&lt;mo&gt;,&lt;/mo&gt;&lt;mfrac&gt;&lt;mn&gt;2&lt;/mn&gt;&lt;mn&gt;5&lt;/mn&gt;&lt;/mfrac&gt;&lt;mo&gt;,&lt;/mo&gt;&lt;mfrac&gt;&lt;mn&gt;2&lt;/mn&gt;&lt;mn&gt;6&lt;/mn&gt;&lt;/mfrac&gt;&lt;mo&gt;,&lt;/mo&gt;&lt;mfrac&gt;&lt;mn&gt;2&lt;/mn&gt;&lt;mn&gt;7&lt;/mn&gt;&lt;/mfrac&gt;&lt;mo&gt;,&lt;/mo&gt;&lt;mo&gt;.&lt;/mo&gt;&lt;mo&gt;.&lt;/mo&gt;&lt;mo&gt;.&lt;/mo&gt;&lt;/math&gt;" id="1126" name="Google Shape;1126;p86" title="two thirds comma two fourths comma two fifths comma two sixths comma two seven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373" y="825651"/>
            <a:ext cx="2690875" cy="7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n}&quot;&gt;&lt;mfrac&gt;&lt;mn&gt;2&lt;/mn&gt;&lt;mrow&gt;&lt;mn&gt;3&lt;/mn&gt;&lt;mi&gt;n&lt;/mi&gt;&lt;/mrow&gt;&lt;/mfrac&gt;&lt;/math&gt;" id="1127" name="Google Shape;1127;p86" title="2 over 3 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750" y="3637300"/>
            <a:ext cx="408022" cy="757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n+3}&quot;&gt;&lt;mfrac&gt;&lt;mn&gt;2&lt;/mn&gt;&lt;mrow&gt;&lt;mi&gt;n&lt;/mi&gt;&lt;mo&gt;+&lt;/mo&gt;&lt;mn&gt;3&lt;/mn&gt;&lt;/mrow&gt;&lt;/mfrac&gt;&lt;/math&gt;" id="1128" name="Google Shape;1128;p86" title="the fraction with numerator 2 and denominator n plus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4381" y="2653796"/>
            <a:ext cx="816044" cy="76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n+2}&quot;&gt;&lt;mfrac&gt;&lt;mn&gt;2&lt;/mn&gt;&lt;mrow&gt;&lt;mi&gt;n&lt;/mi&gt;&lt;mo&gt;+&lt;/mo&gt;&lt;mn&gt;2&lt;/mn&gt;&lt;/mrow&gt;&lt;/mfrac&gt;&lt;/math&gt;" id="1129" name="Google Shape;1129;p86" title="the fraction with numerator 2 and denominator n plu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6798" y="1642372"/>
            <a:ext cx="816044" cy="76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18981" y="191081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2-11-2023/94b1c68a-aad8-49be-8b05-1c14c9b082b7&quot; data-equatio-type=&quot;desmos&quot;&gt;&lt;mglyph src=&quot;https://equatio-api.texthelp.com/desmos/get/02-11-2023/94b1c68a-aad8-49be-8b05-1c14c9b082b7&quot; alt=&quot;Equatio Desmos Graph&quot;/&gt;&lt;/math&gt;" id="1131" name="Google Shape;1131;p86" title="Equatio Desmos Graph"/>
          <p:cNvPicPr preferRelativeResize="0"/>
          <p:nvPr/>
        </p:nvPicPr>
        <p:blipFill rotWithShape="1">
          <a:blip r:embed="rId8">
            <a:alphaModFix/>
          </a:blip>
          <a:srcRect b="13081" l="5222" r="0" t="15743"/>
          <a:stretch/>
        </p:blipFill>
        <p:spPr>
          <a:xfrm>
            <a:off x="2983750" y="3034050"/>
            <a:ext cx="3166100" cy="17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86"/>
          <p:cNvSpPr txBox="1"/>
          <p:nvPr>
            <p:ph idx="1" type="subTitle"/>
          </p:nvPr>
        </p:nvSpPr>
        <p:spPr>
          <a:xfrm>
            <a:off x="5769847" y="3540831"/>
            <a:ext cx="3079200" cy="3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Another beautiful sequence!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87"/>
          <p:cNvSpPr txBox="1"/>
          <p:nvPr>
            <p:ph type="title"/>
          </p:nvPr>
        </p:nvSpPr>
        <p:spPr>
          <a:xfrm>
            <a:off x="324000" y="748775"/>
            <a:ext cx="3919800" cy="7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 </a:t>
            </a:r>
            <a:r>
              <a:rPr lang="en-GB"/>
              <a:t>term for this non-arithmetic sequence?</a:t>
            </a:r>
            <a:endParaRPr/>
          </a:p>
        </p:txBody>
      </p:sp>
      <p:sp>
        <p:nvSpPr>
          <p:cNvPr id="1138" name="Google Shape;1138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pic>
        <p:nvPicPr>
          <p:cNvPr id="1139" name="Google Shape;113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4357" y="187957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87"/>
          <p:cNvSpPr txBox="1"/>
          <p:nvPr>
            <p:ph idx="4" type="subTitle"/>
          </p:nvPr>
        </p:nvSpPr>
        <p:spPr>
          <a:xfrm>
            <a:off x="2797451" y="1664600"/>
            <a:ext cx="5909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numerator is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− 12: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−9, −6, −3, 0, 3,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denominator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−2, −5, −8, −11, −14,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1" name="Google Shape;1141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384126" y="3878964"/>
            <a:ext cx="911499" cy="88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7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3085674" y="2818175"/>
            <a:ext cx="2147676" cy="1547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87"/>
          <p:cNvSpPr txBox="1"/>
          <p:nvPr>
            <p:ph idx="1" type="subTitle"/>
          </p:nvPr>
        </p:nvSpPr>
        <p:spPr>
          <a:xfrm>
            <a:off x="3295625" y="3001250"/>
            <a:ext cx="17901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I’ve never seen a graph like this before!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-9}{-2},\frac{-6}{-5},\frac{-3}{-8},\frac{0}{-11},\frac{3}{-14},...&quot;&gt;&lt;mfrac&gt;&lt;mrow&gt;&lt;mo&gt;−&lt;/mo&gt;&lt;mn&gt;9&lt;/mn&gt;&lt;/mrow&gt;&lt;mrow&gt;&lt;mo&gt;−&lt;/mo&gt;&lt;mn&gt;2&lt;/mn&gt;&lt;/mrow&gt;&lt;/mfrac&gt;&lt;mo&gt;,&lt;/mo&gt;&lt;mfrac&gt;&lt;mrow&gt;&lt;mo&gt;−&lt;/mo&gt;&lt;mn&gt;6&lt;/mn&gt;&lt;/mrow&gt;&lt;mrow&gt;&lt;mo&gt;−&lt;/mo&gt;&lt;mn&gt;5&lt;/mn&gt;&lt;/mrow&gt;&lt;/mfrac&gt;&lt;mo&gt;,&lt;/mo&gt;&lt;mfrac&gt;&lt;mrow&gt;&lt;mo&gt;−&lt;/mo&gt;&lt;mn&gt;3&lt;/mn&gt;&lt;/mrow&gt;&lt;mrow&gt;&lt;mo&gt;−&lt;/mo&gt;&lt;mn&gt;8&lt;/mn&gt;&lt;/mrow&gt;&lt;/mfrac&gt;&lt;mo&gt;,&lt;/mo&gt;&lt;mfrac&gt;&lt;mn&gt;0&lt;/mn&gt;&lt;mrow&gt;&lt;mo&gt;−&lt;/mo&gt;&lt;mn&gt;11&lt;/mn&gt;&lt;/mrow&gt;&lt;/mfrac&gt;&lt;mo&gt;,&lt;/mo&gt;&lt;mfrac&gt;&lt;mn&gt;3&lt;/mn&gt;&lt;mrow&gt;&lt;mo&gt;−&lt;/mo&gt;&lt;mn&gt;14&lt;/mn&gt;&lt;/mrow&gt;&lt;/mfrac&gt;&lt;mo&gt;,&lt;/mo&gt;&lt;mo&gt;.&lt;/mo&gt;&lt;mo&gt;.&lt;/mo&gt;&lt;mo&gt;.&lt;/mo&gt;&lt;/math&gt;" id="1144" name="Google Shape;1144;p87" title="negative 9 over negative 2 comma negative 6 over negative 5 comma negative 3 over negative 8 comma 0 over negative 11 comma 3 over negative 14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3891" y="824700"/>
            <a:ext cx="3811121" cy="681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2-11-2023/5b56af66-1aff-4782-92a6-7c216378d3c7&quot; data-equatio-type=&quot;desmos&quot;&gt;&lt;mglyph src=&quot;https://equatio-api.texthelp.com/desmos/get/02-11-2023/5b56af66-1aff-4782-92a6-7c216378d3c7&quot; alt=&quot;Equatio Desmos Graph&quot;/&gt;&lt;/math&gt;" id="1145" name="Google Shape;1145;p87" title="Equatio Desmos Graph"/>
          <p:cNvPicPr preferRelativeResize="0"/>
          <p:nvPr/>
        </p:nvPicPr>
        <p:blipFill rotWithShape="1">
          <a:blip r:embed="rId7">
            <a:alphaModFix/>
          </a:blip>
          <a:srcRect b="9432" l="4010" r="17496" t="10497"/>
          <a:stretch/>
        </p:blipFill>
        <p:spPr>
          <a:xfrm>
            <a:off x="5377351" y="2571750"/>
            <a:ext cx="2926488" cy="2238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n-9}{1-3n}&quot;&gt;&lt;mfrac&gt;&lt;mrow&gt;&lt;mn&gt;3&lt;/mn&gt;&lt;mi&gt;n&lt;/mi&gt;&lt;mo&gt;−&lt;/mo&gt;&lt;mn&gt;9&lt;/mn&gt;&lt;/mrow&gt;&lt;mrow&gt;&lt;mn&gt;1&lt;/mn&gt;&lt;mo&gt;−&lt;/mo&gt;&lt;mn&gt;3&lt;/mn&gt;&lt;mi&gt;n&lt;/mi&gt;&lt;/mrow&gt;&lt;/mfrac&gt;&lt;/math&gt;" id="1146" name="Google Shape;1146;p87" title="the fraction with numerator 3 n minus 9 and denominator 1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3499" y="2685183"/>
            <a:ext cx="858613" cy="669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n-12}{1-3n}&quot;&gt;&lt;mfrac&gt;&lt;mrow&gt;&lt;mn&gt;3&lt;/mn&gt;&lt;mi&gt;n&lt;/mi&gt;&lt;mo&gt;−&lt;/mo&gt;&lt;mn&gt;12&lt;/mn&gt;&lt;/mrow&gt;&lt;mrow&gt;&lt;mn&gt;1&lt;/mn&gt;&lt;mo&gt;−&lt;/mo&gt;&lt;mn&gt;3&lt;/mn&gt;&lt;mi&gt;n&lt;/mi&gt;&lt;/mrow&gt;&lt;/mfrac&gt;&lt;/math&gt;" id="1147" name="Google Shape;1147;p87" title="the fraction with numerator 3 n minus 12 and denominator 1 minus 3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43499" y="1708402"/>
            <a:ext cx="1000902" cy="6620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n-12}{-2-3n}&quot;&gt;&lt;mfrac&gt;&lt;mrow&gt;&lt;mn&gt;3&lt;/mn&gt;&lt;mi&gt;n&lt;/mi&gt;&lt;mo&gt;−&lt;/mo&gt;&lt;mn&gt;12&lt;/mn&gt;&lt;/mrow&gt;&lt;mrow&gt;&lt;mo&gt;−&lt;/mo&gt;&lt;mn&gt;2&lt;/mn&gt;&lt;mo&gt;−&lt;/mo&gt;&lt;mn&gt;3&lt;/mn&gt;&lt;mi&gt;n&lt;/mi&gt;&lt;/mrow&gt;&lt;/mfrac&gt;&lt;/math&gt;" id="1148" name="Google Shape;1148;p87" title="the fraction with numerator 3 n minus 12 and denominator negative 2 minus 3 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43499" y="3669703"/>
            <a:ext cx="1056281" cy="66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8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Jun and Laura are looking at a sequence. </a:t>
            </a:r>
            <a:endParaRPr/>
          </a:p>
        </p:txBody>
      </p:sp>
      <p:sp>
        <p:nvSpPr>
          <p:cNvPr id="1154" name="Google Shape;1154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pic>
        <p:nvPicPr>
          <p:cNvPr id="1155" name="Google Shape;115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2050" y="2250952"/>
            <a:ext cx="864658" cy="25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492" y="2216403"/>
            <a:ext cx="915133" cy="2527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,\frac{1}{10},\frac{1}{15},\frac{1}{20},\frac{1}{25},\ ...&quot;&gt;&lt;mfrac&gt;&lt;mn&gt;1&lt;/mn&gt;&lt;mn&gt;5&lt;/mn&gt;&lt;/mfrac&gt;&lt;mo&gt;,&lt;/mo&gt;&lt;mfrac&gt;&lt;mn&gt;1&lt;/mn&gt;&lt;mn&gt;10&lt;/mn&gt;&lt;/mfrac&gt;&lt;mo&gt;,&lt;/mo&gt;&lt;mfrac&gt;&lt;mn&gt;1&lt;/mn&gt;&lt;mn&gt;15&lt;/mn&gt;&lt;/mfrac&gt;&lt;mo&gt;,&lt;/mo&gt;&lt;mfrac&gt;&lt;mn&gt;1&lt;/mn&gt;&lt;mn&gt;20&lt;/mn&gt;&lt;/mfrac&gt;&lt;mo&gt;,&lt;/mo&gt;&lt;mfrac&gt;&lt;mn&gt;1&lt;/mn&gt;&lt;mn&gt;25&lt;/mn&gt;&lt;/mfrac&gt;&lt;mo&gt;,&lt;/mo&gt;&lt;mtext&gt;&lt;/mtext&gt;&lt;mo&gt;.&lt;/mo&gt;&lt;mo&gt;.&lt;/mo&gt;&lt;mo&gt;.&lt;/mo&gt;&lt;/math&gt;" id="1157" name="Google Shape;1157;p88" title="one fifth comma one tenth comma 1 over 15 comma 1 over 20 comma 1 over 25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061" y="1195050"/>
            <a:ext cx="3044300" cy="6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88"/>
          <p:cNvSpPr txBox="1"/>
          <p:nvPr>
            <p:ph idx="1" type="body"/>
          </p:nvPr>
        </p:nvSpPr>
        <p:spPr>
          <a:xfrm>
            <a:off x="1390800" y="2054700"/>
            <a:ext cx="3843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is an increasing sequence.</a:t>
            </a:r>
            <a:endParaRPr sz="2000"/>
          </a:p>
        </p:txBody>
      </p:sp>
      <p:sp>
        <p:nvSpPr>
          <p:cNvPr id="1159" name="Google Shape;1159;p88"/>
          <p:cNvSpPr txBox="1"/>
          <p:nvPr>
            <p:ph idx="1" type="body"/>
          </p:nvPr>
        </p:nvSpPr>
        <p:spPr>
          <a:xfrm>
            <a:off x="3676800" y="2969100"/>
            <a:ext cx="3843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5, 10, 15, 20, 25, … </a:t>
            </a:r>
            <a:r>
              <a:rPr lang="en-GB" sz="2000"/>
              <a:t>That’s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is an arithmetic sequence.</a:t>
            </a:r>
            <a:endParaRPr sz="2000"/>
          </a:p>
        </p:txBody>
      </p:sp>
      <p:pic>
        <p:nvPicPr>
          <p:cNvPr id="1160" name="Google Shape;1160;p88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1054627" y="2040275"/>
            <a:ext cx="4179773" cy="89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88"/>
          <p:cNvPicPr preferRelativeResize="0"/>
          <p:nvPr/>
        </p:nvPicPr>
        <p:blipFill rotWithShape="1">
          <a:blip r:embed="rId6">
            <a:alphaModFix/>
          </a:blip>
          <a:srcRect b="4760" l="40550" r="0" t="13015"/>
          <a:stretch/>
        </p:blipFill>
        <p:spPr>
          <a:xfrm rot="10800000">
            <a:off x="3575775" y="2712311"/>
            <a:ext cx="4185600" cy="1116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8"/>
          <p:cNvSpPr txBox="1"/>
          <p:nvPr>
            <p:ph idx="1" type="body"/>
          </p:nvPr>
        </p:nvSpPr>
        <p:spPr>
          <a:xfrm>
            <a:off x="1314600" y="4035900"/>
            <a:ext cx="6345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a) Justify why Jun is wrong.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b) Justify why Laura is wrong.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9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Write an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for these fractional sequences.</a:t>
            </a:r>
            <a:endParaRPr/>
          </a:p>
        </p:txBody>
      </p:sp>
      <p:sp>
        <p:nvSpPr>
          <p:cNvPr id="1168" name="Google Shape;1168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sp>
        <p:nvSpPr>
          <p:cNvPr id="1169" name="Google Shape;1169;p89"/>
          <p:cNvSpPr txBox="1"/>
          <p:nvPr>
            <p:ph idx="1" type="body"/>
          </p:nvPr>
        </p:nvSpPr>
        <p:spPr>
          <a:xfrm>
            <a:off x="324000" y="13689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2},\frac{2}{3},\frac{3}{4},\frac{4}{5},\frac{5}{6},\ ...&quot;&gt;&lt;mfrac&gt;&lt;mn&gt;1&lt;/mn&gt;&lt;mn&gt;2&lt;/mn&gt;&lt;/mfrac&gt;&lt;mo&gt;,&lt;/mo&gt;&lt;mfrac&gt;&lt;mn&gt;2&lt;/mn&gt;&lt;mn&gt;3&lt;/mn&gt;&lt;/mfrac&gt;&lt;mo&gt;,&lt;/mo&gt;&lt;mfrac&gt;&lt;mn&gt;3&lt;/mn&gt;&lt;mn&gt;4&lt;/mn&gt;&lt;/mfrac&gt;&lt;mo&gt;,&lt;/mo&gt;&lt;mfrac&gt;&lt;mn&gt;4&lt;/mn&gt;&lt;mn&gt;5&lt;/mn&gt;&lt;/mfrac&gt;&lt;mo&gt;,&lt;/mo&gt;&lt;mfrac&gt;&lt;mn&gt;5&lt;/mn&gt;&lt;mn&gt;6&lt;/mn&gt;&lt;/mfrac&gt;&lt;mo&gt;,&lt;/mo&gt;&lt;mtext&gt;&lt;/mtext&gt;&lt;mo&gt;.&lt;/mo&gt;&lt;mo&gt;.&lt;/mo&gt;&lt;mo&gt;.&lt;/mo&gt;&lt;/math&gt;" id="1170" name="Google Shape;1170;p89" title="one half comma two thirds comma three fourths comma four fifths comma five six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50" y="2012759"/>
            <a:ext cx="1939326" cy="539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2}{5},\frac{3}{7},\frac{4}{9},\frac{5}{11},\ ...&quot;&gt;&lt;mfrac&gt;&lt;mn&gt;1&lt;/mn&gt;&lt;mn&gt;3&lt;/mn&gt;&lt;/mfrac&gt;&lt;mo&gt;,&lt;/mo&gt;&lt;mfrac&gt;&lt;mn&gt;2&lt;/mn&gt;&lt;mn&gt;5&lt;/mn&gt;&lt;/mfrac&gt;&lt;mo&gt;,&lt;/mo&gt;&lt;mfrac&gt;&lt;mn&gt;3&lt;/mn&gt;&lt;mn&gt;7&lt;/mn&gt;&lt;/mfrac&gt;&lt;mo&gt;,&lt;/mo&gt;&lt;mfrac&gt;&lt;mn&gt;4&lt;/mn&gt;&lt;mn&gt;9&lt;/mn&gt;&lt;/mfrac&gt;&lt;mo&gt;,&lt;/mo&gt;&lt;mfrac&gt;&lt;mn&gt;5&lt;/mn&gt;&lt;mn&gt;11&lt;/mn&gt;&lt;/mfrac&gt;&lt;mo&gt;,&lt;/mo&gt;&lt;mtext&gt;&lt;/mtext&gt;&lt;mo&gt;.&lt;/mo&gt;&lt;mo&gt;.&lt;/mo&gt;&lt;mo&gt;.&lt;/mo&gt;&lt;/math&gt;" id="1171" name="Google Shape;1171;p89" title="one third comma two fifths comma three sevenths comma four ninths comma 5 over 11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50" y="2741365"/>
            <a:ext cx="2065098" cy="539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6}{5},\frac{11}{7},\frac{16}{9},\frac{21}{11},\ ...&quot;&gt;&lt;mfrac&gt;&lt;mn&gt;1&lt;/mn&gt;&lt;mn&gt;3&lt;/mn&gt;&lt;/mfrac&gt;&lt;mo&gt;,&lt;/mo&gt;&lt;mfrac&gt;&lt;mn&gt;6&lt;/mn&gt;&lt;mn&gt;5&lt;/mn&gt;&lt;/mfrac&gt;&lt;mo&gt;,&lt;/mo&gt;&lt;mfrac&gt;&lt;mn&gt;11&lt;/mn&gt;&lt;mn&gt;7&lt;/mn&gt;&lt;/mfrac&gt;&lt;mo&gt;,&lt;/mo&gt;&lt;mfrac&gt;&lt;mn&gt;16&lt;/mn&gt;&lt;mn&gt;9&lt;/mn&gt;&lt;/mfrac&gt;&lt;mo&gt;,&lt;/mo&gt;&lt;mfrac&gt;&lt;mn&gt;21&lt;/mn&gt;&lt;mn&gt;11&lt;/mn&gt;&lt;/mfrac&gt;&lt;mo&gt;,&lt;/mo&gt;&lt;mtext&gt;&lt;/mtext&gt;&lt;mo&gt;.&lt;/mo&gt;&lt;mo&gt;.&lt;/mo&gt;&lt;mo&gt;.&lt;/mo&gt;&lt;/math&gt;" id="1172" name="Google Shape;1172;p89" title="one third comma six fifths comma eleven sevenths comma sixteen ninths comma 21 over 11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150" y="3469972"/>
            <a:ext cx="2377500" cy="54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},\frac{1}{4},\frac{1}{9},\frac{1}{16},\frac{1}{25},\ ...&quot;&gt;&lt;mfrac&gt;&lt;mn&gt;1&lt;/mn&gt;&lt;mn&gt;1&lt;/mn&gt;&lt;/mfrac&gt;&lt;mo&gt;,&lt;/mo&gt;&lt;mfrac&gt;&lt;mn&gt;1&lt;/mn&gt;&lt;mn&gt;4&lt;/mn&gt;&lt;/mfrac&gt;&lt;mo&gt;,&lt;/mo&gt;&lt;mfrac&gt;&lt;mn&gt;1&lt;/mn&gt;&lt;mn&gt;9&lt;/mn&gt;&lt;/mfrac&gt;&lt;mo&gt;,&lt;/mo&gt;&lt;mfrac&gt;&lt;mn&gt;1&lt;/mn&gt;&lt;mn&gt;16&lt;/mn&gt;&lt;/mfrac&gt;&lt;mo&gt;,&lt;/mo&gt;&lt;mfrac&gt;&lt;mn&gt;1&lt;/mn&gt;&lt;mn&gt;25&lt;/mn&gt;&lt;/mfrac&gt;&lt;mo&gt;,&lt;/mo&gt;&lt;mtext&gt;&lt;/mtext&gt;&lt;mo&gt;.&lt;/mo&gt;&lt;mo&gt;.&lt;/mo&gt;&lt;mo&gt;.&lt;/mo&gt;&lt;/math&gt;" id="1173" name="Google Shape;1173;p89" title="one oneth comma one fourth comma one ninth comma 1 over 16 comma 1 over 25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150" y="4206692"/>
            <a:ext cx="2247671" cy="54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3},\frac{1}{4},\frac{1}{5},\frac{1}{6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frac&gt;&lt;mn&gt;1&lt;/mn&gt;&lt;mn&gt;6&lt;/mn&gt;&lt;/mfrac&gt;&lt;mo&gt;,&lt;/mo&gt;&lt;mtext&gt;&lt;/mtext&gt;&lt;mo&gt;.&lt;/mo&gt;&lt;mo&gt;.&lt;/mo&gt;&lt;mo&gt;.&lt;/mo&gt;&lt;/math&gt;" id="1174" name="Google Shape;1174;p89" title="one half comma one third comma one fourth comma one fifth comma one sixth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3150" y="1299025"/>
            <a:ext cx="1900552" cy="524721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89"/>
          <p:cNvSpPr txBox="1"/>
          <p:nvPr>
            <p:ph idx="1" type="body"/>
          </p:nvPr>
        </p:nvSpPr>
        <p:spPr>
          <a:xfrm>
            <a:off x="324000" y="20928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176" name="Google Shape;1176;p89"/>
          <p:cNvSpPr txBox="1"/>
          <p:nvPr>
            <p:ph idx="1" type="body"/>
          </p:nvPr>
        </p:nvSpPr>
        <p:spPr>
          <a:xfrm>
            <a:off x="324000" y="28167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177" name="Google Shape;1177;p89"/>
          <p:cNvSpPr txBox="1"/>
          <p:nvPr>
            <p:ph idx="1" type="body"/>
          </p:nvPr>
        </p:nvSpPr>
        <p:spPr>
          <a:xfrm>
            <a:off x="324000" y="35406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  <p:sp>
        <p:nvSpPr>
          <p:cNvPr id="1178" name="Google Shape;1178;p89"/>
          <p:cNvSpPr txBox="1"/>
          <p:nvPr>
            <p:ph idx="1" type="body"/>
          </p:nvPr>
        </p:nvSpPr>
        <p:spPr>
          <a:xfrm>
            <a:off x="324000" y="42645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e)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90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Jun and Laura are looking at a sequence. </a:t>
            </a:r>
            <a:endParaRPr/>
          </a:p>
        </p:txBody>
      </p:sp>
      <p:sp>
        <p:nvSpPr>
          <p:cNvPr id="1184" name="Google Shape;1184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pic>
        <p:nvPicPr>
          <p:cNvPr id="1185" name="Google Shape;11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92" y="2216403"/>
            <a:ext cx="915133" cy="25277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,\frac{1}{10},\frac{1}{15},\frac{1}{20},\frac{1}{25},\ ...&quot;&gt;&lt;mfrac&gt;&lt;mn&gt;1&lt;/mn&gt;&lt;mn&gt;5&lt;/mn&gt;&lt;/mfrac&gt;&lt;mo&gt;,&lt;/mo&gt;&lt;mfrac&gt;&lt;mn&gt;1&lt;/mn&gt;&lt;mn&gt;10&lt;/mn&gt;&lt;/mfrac&gt;&lt;mo&gt;,&lt;/mo&gt;&lt;mfrac&gt;&lt;mn&gt;1&lt;/mn&gt;&lt;mn&gt;15&lt;/mn&gt;&lt;/mfrac&gt;&lt;mo&gt;,&lt;/mo&gt;&lt;mfrac&gt;&lt;mn&gt;1&lt;/mn&gt;&lt;mn&gt;20&lt;/mn&gt;&lt;/mfrac&gt;&lt;mo&gt;,&lt;/mo&gt;&lt;mfrac&gt;&lt;mn&gt;1&lt;/mn&gt;&lt;mn&gt;25&lt;/mn&gt;&lt;/mfrac&gt;&lt;mo&gt;,&lt;/mo&gt;&lt;mtext&gt;&lt;/mtext&gt;&lt;mo&gt;.&lt;/mo&gt;&lt;mo&gt;.&lt;/mo&gt;&lt;mo&gt;.&lt;/mo&gt;&lt;/math&gt;" id="1186" name="Google Shape;1186;p90" title="one fifth comma one tenth comma 1 over 15 comma 1 over 20 comma 1 over 25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7261" y="1195050"/>
            <a:ext cx="3044300" cy="6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90"/>
          <p:cNvSpPr txBox="1"/>
          <p:nvPr>
            <p:ph idx="1" type="body"/>
          </p:nvPr>
        </p:nvSpPr>
        <p:spPr>
          <a:xfrm>
            <a:off x="1390800" y="2054700"/>
            <a:ext cx="3843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5, 10, 15, 20, 25,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is an increasing sequence.</a:t>
            </a:r>
            <a:endParaRPr sz="2000"/>
          </a:p>
        </p:txBody>
      </p:sp>
      <p:pic>
        <p:nvPicPr>
          <p:cNvPr id="1188" name="Google Shape;1188;p9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054627" y="2040275"/>
            <a:ext cx="4179773" cy="896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90"/>
          <p:cNvSpPr txBox="1"/>
          <p:nvPr>
            <p:ph idx="1" type="body"/>
          </p:nvPr>
        </p:nvSpPr>
        <p:spPr>
          <a:xfrm>
            <a:off x="1390800" y="3045300"/>
            <a:ext cx="3695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Justify why Jun is wrong.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5}&amp;gt;\frac{1}{10}&amp;gt;\frac{1}{15}&amp;gt;\frac{1}{20}&amp;gt;\frac{1}{25}&quot;&gt;&lt;mfrac&gt;&lt;mn&gt;1&lt;/mn&gt;&lt;mn&gt;5&lt;/mn&gt;&lt;/mfrac&gt;&lt;mo&gt;&amp;gt;&lt;/mo&gt;&lt;mfrac&gt;&lt;mn&gt;1&lt;/mn&gt;&lt;mn&gt;10&lt;/mn&gt;&lt;/mfrac&gt;&lt;mo&gt;&amp;gt;&lt;/mo&gt;&lt;mfrac&gt;&lt;mn&gt;1&lt;/mn&gt;&lt;mn&gt;15&lt;/mn&gt;&lt;/mfrac&gt;&lt;mo&gt;&amp;gt;&lt;/mo&gt;&lt;mfrac&gt;&lt;mn&gt;1&lt;/mn&gt;&lt;mn&gt;20&lt;/mn&gt;&lt;/mfrac&gt;&lt;mo&gt;&amp;gt;&lt;/mo&gt;&lt;mfrac&gt;&lt;mn&gt;1&lt;/mn&gt;&lt;mn&gt;25&lt;/mn&gt;&lt;/mfrac&gt;&lt;/math&gt;" id="1190" name="Google Shape;1190;p90" title="one fifth is greater than one tenth is greater than 1 over 15 is greater than 1 over 20 is greater than 1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5025" y="3488300"/>
            <a:ext cx="3356725" cy="6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90"/>
          <p:cNvSpPr txBox="1"/>
          <p:nvPr>
            <p:ph idx="1" type="body"/>
          </p:nvPr>
        </p:nvSpPr>
        <p:spPr>
          <a:xfrm>
            <a:off x="1771800" y="4340700"/>
            <a:ext cx="3695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is decreasing.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4741d2db-462a-4e0c-9afd-60e0a95c7d7b&quot; data-equatio-type=&quot;desmos&quot;&gt;&lt;mglyph src=&quot;https://equatio-api.texthelp.com/desmos/get/02-11-2023/4741d2db-462a-4e0c-9afd-60e0a95c7d7b&quot; alt=&quot;Equatio Desmos Graph&quot;/&gt;&lt;/math&gt;" id="1192" name="Google Shape;1192;p90" title="Equatio Desmos Graph"/>
          <p:cNvPicPr preferRelativeResize="0"/>
          <p:nvPr/>
        </p:nvPicPr>
        <p:blipFill rotWithShape="1">
          <a:blip r:embed="rId7">
            <a:alphaModFix/>
          </a:blip>
          <a:srcRect b="45870" l="0" r="51960" t="10497"/>
          <a:stretch/>
        </p:blipFill>
        <p:spPr>
          <a:xfrm>
            <a:off x="5456550" y="2867450"/>
            <a:ext cx="2867550" cy="19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3" name="Google Shape;1193;p90"/>
          <p:cNvSpPr txBox="1"/>
          <p:nvPr>
            <p:ph idx="1" type="body"/>
          </p:nvPr>
        </p:nvSpPr>
        <p:spPr>
          <a:xfrm>
            <a:off x="5405875" y="1445100"/>
            <a:ext cx="34140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don’t need to graph sequences like this yet, but the graph shows this sequence is decreasing.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91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Jun and Laura are looking at a sequence. </a:t>
            </a:r>
            <a:endParaRPr/>
          </a:p>
        </p:txBody>
      </p:sp>
      <p:sp>
        <p:nvSpPr>
          <p:cNvPr id="1199" name="Google Shape;1199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pic>
        <p:nvPicPr>
          <p:cNvPr id="1200" name="Google Shape;120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0650" y="2250952"/>
            <a:ext cx="864658" cy="252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,\frac{1}{10},\frac{1}{15},\frac{1}{20},\frac{1}{25},\ ...&quot;&gt;&lt;mfrac&gt;&lt;mn&gt;1&lt;/mn&gt;&lt;mn&gt;5&lt;/mn&gt;&lt;/mfrac&gt;&lt;mo&gt;,&lt;/mo&gt;&lt;mfrac&gt;&lt;mn&gt;1&lt;/mn&gt;&lt;mn&gt;10&lt;/mn&gt;&lt;/mfrac&gt;&lt;mo&gt;,&lt;/mo&gt;&lt;mfrac&gt;&lt;mn&gt;1&lt;/mn&gt;&lt;mn&gt;15&lt;/mn&gt;&lt;/mfrac&gt;&lt;mo&gt;,&lt;/mo&gt;&lt;mfrac&gt;&lt;mn&gt;1&lt;/mn&gt;&lt;mn&gt;20&lt;/mn&gt;&lt;/mfrac&gt;&lt;mo&gt;,&lt;/mo&gt;&lt;mfrac&gt;&lt;mn&gt;1&lt;/mn&gt;&lt;mn&gt;25&lt;/mn&gt;&lt;/mfrac&gt;&lt;mo&gt;,&lt;/mo&gt;&lt;mtext&gt;&lt;/mtext&gt;&lt;mo&gt;.&lt;/mo&gt;&lt;mo&gt;.&lt;/mo&gt;&lt;mo&gt;.&lt;/mo&gt;&lt;/math&gt;" id="1201" name="Google Shape;1201;p91" title="one fifth comma one tenth comma 1 over 15 comma 1 over 20 comma 1 over 25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3061" y="1195050"/>
            <a:ext cx="3044300" cy="6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1"/>
          <p:cNvSpPr txBox="1"/>
          <p:nvPr>
            <p:ph idx="1" type="body"/>
          </p:nvPr>
        </p:nvSpPr>
        <p:spPr>
          <a:xfrm>
            <a:off x="3902084" y="3578700"/>
            <a:ext cx="3843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5, 10, 15, 20, 25, … </a:t>
            </a:r>
            <a:r>
              <a:rPr lang="en-GB" sz="2000"/>
              <a:t>That’s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5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is an arithmetic sequence.</a:t>
            </a:r>
            <a:endParaRPr sz="2000"/>
          </a:p>
        </p:txBody>
      </p:sp>
      <p:pic>
        <p:nvPicPr>
          <p:cNvPr id="1203" name="Google Shape;1203;p91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 rot="10800000">
            <a:off x="3811462" y="3384372"/>
            <a:ext cx="4185600" cy="99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91"/>
          <p:cNvSpPr txBox="1"/>
          <p:nvPr>
            <p:ph idx="1" type="body"/>
          </p:nvPr>
        </p:nvSpPr>
        <p:spPr>
          <a:xfrm>
            <a:off x="2339525" y="4416900"/>
            <a:ext cx="4482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Justify why Laura is wrong.</a:t>
            </a:r>
            <a:endParaRPr sz="2000"/>
          </a:p>
        </p:txBody>
      </p:sp>
      <p:pic>
        <p:nvPicPr>
          <p:cNvPr id="1205" name="Google Shape;1205;p91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2885064" y="1912377"/>
            <a:ext cx="682632" cy="44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91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3452972" y="1912377"/>
            <a:ext cx="682632" cy="44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91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4050540" y="1912377"/>
            <a:ext cx="682632" cy="44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91"/>
          <p:cNvPicPr preferRelativeResize="0"/>
          <p:nvPr/>
        </p:nvPicPr>
        <p:blipFill rotWithShape="1">
          <a:blip r:embed="rId6">
            <a:alphaModFix/>
          </a:blip>
          <a:srcRect b="59597" l="61559" r="13951" t="27330"/>
          <a:stretch/>
        </p:blipFill>
        <p:spPr>
          <a:xfrm flipH="1" rot="10800000">
            <a:off x="4702431" y="1912377"/>
            <a:ext cx="682632" cy="441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10}&quot;&gt;&lt;mo&gt;−&lt;/mo&gt;&lt;mfrac&gt;&lt;mn&gt;1&lt;/mn&gt;&lt;mn&gt;10&lt;/mn&gt;&lt;/mfrac&gt;&lt;/math&gt;" id="1209" name="Google Shape;1209;p91" title="negative 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6836" y="2382339"/>
            <a:ext cx="430771" cy="479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0}&quot;&gt;&lt;mo&gt;−&lt;/mo&gt;&lt;mfrac&gt;&lt;mn&gt;1&lt;/mn&gt;&lt;mn&gt;30&lt;/mn&gt;&lt;/mfrac&gt;&lt;/math&gt;" id="1210" name="Google Shape;1210;p91" title="negative 1 over 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6024" y="2383096"/>
            <a:ext cx="430771" cy="479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60}&quot;&gt;&lt;mo&gt;−&lt;/mo&gt;&lt;mfrac&gt;&lt;mn&gt;1&lt;/mn&gt;&lt;mn&gt;60&lt;/mn&gt;&lt;/mfrac&gt;&lt;/math&gt;" id="1211" name="Google Shape;1211;p91" title="negative 1 over 6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40193" y="2382339"/>
            <a:ext cx="416986" cy="4652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100}&quot;&gt;&lt;mo&gt;−&lt;/mo&gt;&lt;mfrac&gt;&lt;mn&gt;1&lt;/mn&gt;&lt;mn&gt;100&lt;/mn&gt;&lt;/mfrac&gt;&lt;/math&gt;" id="1212" name="Google Shape;1212;p91" title="negative 1 over 1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15241" y="2369311"/>
            <a:ext cx="547941" cy="479018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1"/>
          <p:cNvSpPr txBox="1"/>
          <p:nvPr>
            <p:ph idx="1" type="body"/>
          </p:nvPr>
        </p:nvSpPr>
        <p:spPr>
          <a:xfrm>
            <a:off x="324000" y="2969100"/>
            <a:ext cx="75495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not a common difference so our sequence is not arithmetic.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n}&quot;&gt;&lt;mfrac&gt;&lt;mn&gt;1&lt;/mn&gt;&lt;mrow&gt;&lt;mn&gt;5&lt;/mn&gt;&lt;mi&gt;n&lt;/mi&gt;&lt;/mrow&gt;&lt;/mfrac&gt;&lt;/math&gt;" id="1214" name="Google Shape;1214;p91" title="1 over 5 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23457" y="1202814"/>
            <a:ext cx="371768" cy="6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91"/>
          <p:cNvSpPr txBox="1"/>
          <p:nvPr>
            <p:ph idx="1" type="body"/>
          </p:nvPr>
        </p:nvSpPr>
        <p:spPr>
          <a:xfrm>
            <a:off x="6752257" y="1140300"/>
            <a:ext cx="20583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But Laura has spotted something useful!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92"/>
          <p:cNvSpPr txBox="1"/>
          <p:nvPr>
            <p:ph idx="1" type="body"/>
          </p:nvPr>
        </p:nvSpPr>
        <p:spPr>
          <a:xfrm>
            <a:off x="324000" y="759300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Write an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/>
              <a:t> term for these fractional sequences.</a:t>
            </a:r>
            <a:endParaRPr/>
          </a:p>
        </p:txBody>
      </p:sp>
      <p:sp>
        <p:nvSpPr>
          <p:cNvPr id="1221" name="Google Shape;1221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sp>
        <p:nvSpPr>
          <p:cNvPr id="1222" name="Google Shape;1222;p92"/>
          <p:cNvSpPr txBox="1"/>
          <p:nvPr>
            <p:ph idx="1" type="body"/>
          </p:nvPr>
        </p:nvSpPr>
        <p:spPr>
          <a:xfrm>
            <a:off x="324000" y="13689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2},\frac{2}{3},\frac{3}{4},\frac{4}{5},\frac{5}{6},\ ...&quot;&gt;&lt;mfrac&gt;&lt;mn&gt;1&lt;/mn&gt;&lt;mn&gt;2&lt;/mn&gt;&lt;/mfrac&gt;&lt;mo&gt;,&lt;/mo&gt;&lt;mfrac&gt;&lt;mn&gt;2&lt;/mn&gt;&lt;mn&gt;3&lt;/mn&gt;&lt;/mfrac&gt;&lt;mo&gt;,&lt;/mo&gt;&lt;mfrac&gt;&lt;mn&gt;3&lt;/mn&gt;&lt;mn&gt;4&lt;/mn&gt;&lt;/mfrac&gt;&lt;mo&gt;,&lt;/mo&gt;&lt;mfrac&gt;&lt;mn&gt;4&lt;/mn&gt;&lt;mn&gt;5&lt;/mn&gt;&lt;/mfrac&gt;&lt;mo&gt;,&lt;/mo&gt;&lt;mfrac&gt;&lt;mn&gt;5&lt;/mn&gt;&lt;mn&gt;6&lt;/mn&gt;&lt;/mfrac&gt;&lt;mo&gt;,&lt;/mo&gt;&lt;mtext&gt;&lt;/mtext&gt;&lt;mo&gt;.&lt;/mo&gt;&lt;mo&gt;.&lt;/mo&gt;&lt;mo&gt;.&lt;/mo&gt;&lt;/math&gt;" id="1223" name="Google Shape;1223;p92" title="one half comma two thirds comma three fourths comma four fifths comma five six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150" y="2012759"/>
            <a:ext cx="1939326" cy="539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2}{5},\frac{3}{7},\frac{4}{9},\frac{5}{11},\ ...&quot;&gt;&lt;mfrac&gt;&lt;mn&gt;1&lt;/mn&gt;&lt;mn&gt;3&lt;/mn&gt;&lt;/mfrac&gt;&lt;mo&gt;,&lt;/mo&gt;&lt;mfrac&gt;&lt;mn&gt;2&lt;/mn&gt;&lt;mn&gt;5&lt;/mn&gt;&lt;/mfrac&gt;&lt;mo&gt;,&lt;/mo&gt;&lt;mfrac&gt;&lt;mn&gt;3&lt;/mn&gt;&lt;mn&gt;7&lt;/mn&gt;&lt;/mfrac&gt;&lt;mo&gt;,&lt;/mo&gt;&lt;mfrac&gt;&lt;mn&gt;4&lt;/mn&gt;&lt;mn&gt;9&lt;/mn&gt;&lt;/mfrac&gt;&lt;mo&gt;,&lt;/mo&gt;&lt;mfrac&gt;&lt;mn&gt;5&lt;/mn&gt;&lt;mn&gt;11&lt;/mn&gt;&lt;/mfrac&gt;&lt;mo&gt;,&lt;/mo&gt;&lt;mtext&gt;&lt;/mtext&gt;&lt;mo&gt;.&lt;/mo&gt;&lt;mo&gt;.&lt;/mo&gt;&lt;mo&gt;.&lt;/mo&gt;&lt;/math&gt;" id="1224" name="Google Shape;1224;p92" title="one third comma two fifths comma three sevenths comma four ninths comma 5 over 11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50" y="2741365"/>
            <a:ext cx="2065098" cy="5395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,\frac{6}{5},\frac{11}{7},\frac{16}{9},\frac{21}{11},\ ...&quot;&gt;&lt;mfrac&gt;&lt;mn&gt;1&lt;/mn&gt;&lt;mn&gt;3&lt;/mn&gt;&lt;/mfrac&gt;&lt;mo&gt;,&lt;/mo&gt;&lt;mfrac&gt;&lt;mn&gt;6&lt;/mn&gt;&lt;mn&gt;5&lt;/mn&gt;&lt;/mfrac&gt;&lt;mo&gt;,&lt;/mo&gt;&lt;mfrac&gt;&lt;mn&gt;11&lt;/mn&gt;&lt;mn&gt;7&lt;/mn&gt;&lt;/mfrac&gt;&lt;mo&gt;,&lt;/mo&gt;&lt;mfrac&gt;&lt;mn&gt;16&lt;/mn&gt;&lt;mn&gt;9&lt;/mn&gt;&lt;/mfrac&gt;&lt;mo&gt;,&lt;/mo&gt;&lt;mfrac&gt;&lt;mn&gt;21&lt;/mn&gt;&lt;mn&gt;11&lt;/mn&gt;&lt;/mfrac&gt;&lt;mo&gt;,&lt;/mo&gt;&lt;mtext&gt;&lt;/mtext&gt;&lt;mo&gt;.&lt;/mo&gt;&lt;mo&gt;.&lt;/mo&gt;&lt;mo&gt;.&lt;/mo&gt;&lt;/math&gt;" id="1225" name="Google Shape;1225;p92" title="one third comma six fifths comma eleven sevenths comma sixteen ninths comma 21 over 11 comma period period perio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3150" y="3469972"/>
            <a:ext cx="2377500" cy="54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},\frac{1}{4},\frac{1}{9},\frac{1}{16},\frac{1}{25},\ ...&quot;&gt;&lt;mfrac&gt;&lt;mn&gt;1&lt;/mn&gt;&lt;mn&gt;1&lt;/mn&gt;&lt;/mfrac&gt;&lt;mo&gt;,&lt;/mo&gt;&lt;mfrac&gt;&lt;mn&gt;1&lt;/mn&gt;&lt;mn&gt;4&lt;/mn&gt;&lt;/mfrac&gt;&lt;mo&gt;,&lt;/mo&gt;&lt;mfrac&gt;&lt;mn&gt;1&lt;/mn&gt;&lt;mn&gt;9&lt;/mn&gt;&lt;/mfrac&gt;&lt;mo&gt;,&lt;/mo&gt;&lt;mfrac&gt;&lt;mn&gt;1&lt;/mn&gt;&lt;mn&gt;16&lt;/mn&gt;&lt;/mfrac&gt;&lt;mo&gt;,&lt;/mo&gt;&lt;mfrac&gt;&lt;mn&gt;1&lt;/mn&gt;&lt;mn&gt;25&lt;/mn&gt;&lt;/mfrac&gt;&lt;mo&gt;,&lt;/mo&gt;&lt;mtext&gt;&lt;/mtext&gt;&lt;mo&gt;.&lt;/mo&gt;&lt;mo&gt;.&lt;/mo&gt;&lt;mo&gt;.&lt;/mo&gt;&lt;/math&gt;" id="1226" name="Google Shape;1226;p92" title="one oneth comma one fourth comma one ninth comma 1 over 16 comma 1 over 25 comma period period perio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150" y="4206692"/>
            <a:ext cx="2247671" cy="54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,\frac{1}{3},\frac{1}{4},\frac{1}{5},\frac{1}{6},\ ...&quot;&gt;&lt;mfrac&gt;&lt;mn&gt;1&lt;/mn&gt;&lt;mn&gt;2&lt;/mn&gt;&lt;/mfrac&gt;&lt;mo&gt;,&lt;/mo&gt;&lt;mfrac&gt;&lt;mn&gt;1&lt;/mn&gt;&lt;mn&gt;3&lt;/mn&gt;&lt;/mfrac&gt;&lt;mo&gt;,&lt;/mo&gt;&lt;mfrac&gt;&lt;mn&gt;1&lt;/mn&gt;&lt;mn&gt;4&lt;/mn&gt;&lt;/mfrac&gt;&lt;mo&gt;,&lt;/mo&gt;&lt;mfrac&gt;&lt;mn&gt;1&lt;/mn&gt;&lt;mn&gt;5&lt;/mn&gt;&lt;/mfrac&gt;&lt;mo&gt;,&lt;/mo&gt;&lt;mfrac&gt;&lt;mn&gt;1&lt;/mn&gt;&lt;mn&gt;6&lt;/mn&gt;&lt;/mfrac&gt;&lt;mo&gt;,&lt;/mo&gt;&lt;mtext&gt;&lt;/mtext&gt;&lt;mo&gt;.&lt;/mo&gt;&lt;mo&gt;.&lt;/mo&gt;&lt;mo&gt;.&lt;/mo&gt;&lt;/math&gt;" id="1227" name="Google Shape;1227;p92" title="one half comma one third comma one fourth comma one fifth comma one sixth comma period period perio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3150" y="1299025"/>
            <a:ext cx="1900552" cy="524721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92"/>
          <p:cNvSpPr txBox="1"/>
          <p:nvPr>
            <p:ph idx="1" type="body"/>
          </p:nvPr>
        </p:nvSpPr>
        <p:spPr>
          <a:xfrm>
            <a:off x="324000" y="20928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229" name="Google Shape;1229;p92"/>
          <p:cNvSpPr txBox="1"/>
          <p:nvPr>
            <p:ph idx="1" type="body"/>
          </p:nvPr>
        </p:nvSpPr>
        <p:spPr>
          <a:xfrm>
            <a:off x="324000" y="28167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id="1230" name="Google Shape;1230;p92"/>
          <p:cNvSpPr txBox="1"/>
          <p:nvPr>
            <p:ph idx="1" type="body"/>
          </p:nvPr>
        </p:nvSpPr>
        <p:spPr>
          <a:xfrm>
            <a:off x="324000" y="35406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  <p:sp>
        <p:nvSpPr>
          <p:cNvPr id="1231" name="Google Shape;1231;p92"/>
          <p:cNvSpPr txBox="1"/>
          <p:nvPr>
            <p:ph idx="1" type="body"/>
          </p:nvPr>
        </p:nvSpPr>
        <p:spPr>
          <a:xfrm>
            <a:off x="324000" y="4264500"/>
            <a:ext cx="401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1}{n+1}&quot;&gt;&lt;mfrac&gt;&lt;mn&gt;1&lt;/mn&gt;&lt;mrow&gt;&lt;mi&gt;n&lt;/mi&gt;&lt;mo&gt;+&lt;/mo&gt;&lt;mn&gt;1&lt;/mn&gt;&lt;/mrow&gt;&lt;/mfrac&gt;&lt;/math&gt;" id="1232" name="Google Shape;1232;p92" title="the fraction with numerator 1 and denominator n plus 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97838" y="1291376"/>
            <a:ext cx="582667" cy="5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n}{n+1}&quot;&gt;&lt;mfrac&gt;&lt;mi&gt;n&lt;/mi&gt;&lt;mrow&gt;&lt;mi&gt;n&lt;/mi&gt;&lt;mo&gt;+&lt;/mo&gt;&lt;mn&gt;1&lt;/mn&gt;&lt;/mrow&gt;&lt;/mfrac&gt;&lt;/math&gt;" id="1233" name="Google Shape;1233;p92" title="the fraction with numerator n and denominator n pl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20436" y="2041447"/>
            <a:ext cx="649284" cy="53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n}{2n+1}&quot;&gt;&lt;mfrac&gt;&lt;mi&gt;n&lt;/mi&gt;&lt;mrow&gt;&lt;mn&gt;2&lt;/mn&gt;&lt;mi&gt;n&lt;/mi&gt;&lt;mo&gt;+&lt;/mo&gt;&lt;mn&gt;1&lt;/mn&gt;&lt;/mrow&gt;&lt;/mfrac&gt;&lt;/math&gt;" id="1234" name="Google Shape;1234;p92" title="the fraction with numerator n and denominator 2 n plus 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60125" y="2776438"/>
            <a:ext cx="772142" cy="52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n-1}{2n+1}&quot;&gt;&lt;mfrac&gt;&lt;mrow&gt;&lt;mn&gt;5&lt;/mn&gt;&lt;mi&gt;n&lt;/mi&gt;&lt;mo&gt;−&lt;/mo&gt;&lt;mn&gt;1&lt;/mn&gt;&lt;/mrow&gt;&lt;mrow&gt;&lt;mn&gt;2&lt;/mn&gt;&lt;mi&gt;n&lt;/mi&gt;&lt;mo&gt;+&lt;/mo&gt;&lt;mn&gt;1&lt;/mn&gt;&lt;/mrow&gt;&lt;/mfrac&gt;&lt;/math&gt;" id="1235" name="Google Shape;1235;p92" title="the fraction with numerator 5 n minus 1 and denominator 2 n plus 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43839" y="3469501"/>
            <a:ext cx="719626" cy="5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n^2}&quot;&gt;&lt;mfrac&gt;&lt;mn&gt;1&lt;/mn&gt;&lt;msup&gt;&lt;mi&gt;n&lt;/mi&gt;&lt;mn&gt;2&lt;/mn&gt;&lt;/msup&gt;&lt;/mfrac&gt;&lt;/math&gt;" id="1236" name="Google Shape;1236;p92" title="the fraction with numerator 1 and denominator n squared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50961" y="4171149"/>
            <a:ext cx="305540" cy="6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7" name="Google Shape;1237;p92"/>
          <p:cNvSpPr txBox="1"/>
          <p:nvPr>
            <p:ph idx="1" type="body"/>
          </p:nvPr>
        </p:nvSpPr>
        <p:spPr>
          <a:xfrm>
            <a:off x="3930000" y="4167475"/>
            <a:ext cx="44226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Constant numerator and non-arithmetic pattern in the denominators.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Generalising from non-sequential terms</a:t>
            </a:r>
            <a:endParaRPr/>
          </a:p>
        </p:txBody>
      </p:sp>
      <p:sp>
        <p:nvSpPr>
          <p:cNvPr id="1243" name="Google Shape;1243;p9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Fractional sequences</a:t>
            </a:r>
            <a:endParaRPr/>
          </a:p>
        </p:txBody>
      </p:sp>
      <p:sp>
        <p:nvSpPr>
          <p:cNvPr id="1244" name="Google Shape;1244;p9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sp>
        <p:nvSpPr>
          <p:cNvPr id="1245" name="Google Shape;1245;p9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sequences</a:t>
            </a:r>
            <a:endParaRPr/>
          </a:p>
        </p:txBody>
      </p:sp>
      <p:pic>
        <p:nvPicPr>
          <p:cNvPr id="1246" name="Google Shape;124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8" y="36951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94"/>
          <p:cNvSpPr txBox="1"/>
          <p:nvPr>
            <p:ph idx="1" type="body"/>
          </p:nvPr>
        </p:nvSpPr>
        <p:spPr>
          <a:xfrm>
            <a:off x="318275" y="702600"/>
            <a:ext cx="8409600" cy="6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Fifteen people meet for the first time and shake hands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 each other just once. How many handshakes will occur?</a:t>
            </a:r>
            <a:endParaRPr sz="2000"/>
          </a:p>
        </p:txBody>
      </p:sp>
      <p:sp>
        <p:nvSpPr>
          <p:cNvPr id="1252" name="Google Shape;125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sp>
        <p:nvSpPr>
          <p:cNvPr id="1253" name="Google Shape;1253;p94"/>
          <p:cNvSpPr txBox="1"/>
          <p:nvPr>
            <p:ph idx="1" type="body"/>
          </p:nvPr>
        </p:nvSpPr>
        <p:spPr>
          <a:xfrm>
            <a:off x="318264" y="1464600"/>
            <a:ext cx="87336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Let’s draw diagrams and </a:t>
            </a:r>
            <a:r>
              <a:rPr lang="en-GB" sz="1900"/>
              <a:t>record the number of handshakes in a table</a:t>
            </a:r>
            <a:endParaRPr sz="1900"/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88336db0-ff01-4f2b-a468-26e02986007f&quot; data-equatio-type=&quot;image&quot;&gt;&lt;mglyph src=&quot;https://equatio-api.texthelp.com/desmos/get/02-11-2023/88336db0-ff01-4f2b-a468-26e02986007f&quot; alt=&quot;Equatio Image&quot;/&gt;&lt;/math&gt;" id="1254" name="Google Shape;1254;p9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188" y="3604750"/>
            <a:ext cx="1270700" cy="10838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2-11-2023/c1799d02-50c5-4cda-99ed-07fc758721b9&quot; data-equatio-type=&quot;image&quot;&gt;&lt;mglyph src=&quot;https://equatio-api.texthelp.com/desmos/get/02-11-2023/c1799d02-50c5-4cda-99ed-07fc758721b9&quot; alt=&quot;Equatio Image&quot;/&gt;&lt;/math&gt;" id="1255" name="Google Shape;1255;p9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9176" y="3593466"/>
            <a:ext cx="1091311" cy="10838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2-11-2023/a943b126-26d7-4524-9a43-f2d38ebcfd1e&quot; data-equatio-type=&quot;image&quot;&gt;&lt;mglyph src=&quot;https://equatio-api.texthelp.com/desmos/get/02-11-2023/a943b126-26d7-4524-9a43-f2d38ebcfd1e&quot; alt=&quot;Equatio Image&quot;/&gt;&lt;/math&gt;" id="1256" name="Google Shape;1256;p94" title="Equatio Imag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875" y="4053199"/>
            <a:ext cx="1063025" cy="103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7" name="Google Shape;1257;p94"/>
          <p:cNvGraphicFramePr/>
          <p:nvPr/>
        </p:nvGraphicFramePr>
        <p:xfrm>
          <a:off x="318264" y="2054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455900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</a:tblGrid>
              <a:tr h="40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Handshakes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ata-is-equatio=&quot;1&quot; data-equatio-url=&quot;https://equatio-api.texthelp.com/desmos/get/02-11-2023/dcfb411a-22f1-48dd-9150-a08b0a85b4fe&quot; data-equatio-type=&quot;image&quot;&gt;&lt;mglyph src=&quot;https://equatio-api.texthelp.com/desmos/get/02-11-2023/dcfb411a-22f1-48dd-9150-a08b0a85b4fe&quot; alt=&quot;Equatio Image&quot;/&gt;&lt;/math&gt;" id="1258" name="Google Shape;1258;p94" title="Equatio Imag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1776" y="3477700"/>
            <a:ext cx="1316950" cy="121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94"/>
          <p:cNvSpPr/>
          <p:nvPr/>
        </p:nvSpPr>
        <p:spPr>
          <a:xfrm>
            <a:off x="1841975" y="2544400"/>
            <a:ext cx="310200" cy="4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4"/>
          <p:cNvSpPr/>
          <p:nvPr/>
        </p:nvSpPr>
        <p:spPr>
          <a:xfrm>
            <a:off x="2319375" y="2544400"/>
            <a:ext cx="310200" cy="4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4"/>
          <p:cNvSpPr/>
          <p:nvPr/>
        </p:nvSpPr>
        <p:spPr>
          <a:xfrm>
            <a:off x="2796775" y="2544400"/>
            <a:ext cx="310200" cy="4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2" name="Google Shape;1262;p94"/>
          <p:cNvSpPr/>
          <p:nvPr/>
        </p:nvSpPr>
        <p:spPr>
          <a:xfrm>
            <a:off x="3214500" y="2544400"/>
            <a:ext cx="310200" cy="4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94"/>
          <p:cNvSpPr/>
          <p:nvPr/>
        </p:nvSpPr>
        <p:spPr>
          <a:xfrm>
            <a:off x="3714050" y="2538763"/>
            <a:ext cx="310200" cy="45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8" name="Google Shape;1268;p9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211125" y="2019700"/>
            <a:ext cx="3417452" cy="1305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95"/>
          <p:cNvSpPr txBox="1"/>
          <p:nvPr>
            <p:ph idx="1" type="body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Fifteen people meet for the first time and shake hands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 each other just once. How many handshakes will occur?</a:t>
            </a:r>
            <a:endParaRPr sz="2000"/>
          </a:p>
        </p:txBody>
      </p:sp>
      <p:sp>
        <p:nvSpPr>
          <p:cNvPr id="1270" name="Google Shape;127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graphicFrame>
        <p:nvGraphicFramePr>
          <p:cNvPr id="1271" name="Google Shape;1271;p95"/>
          <p:cNvGraphicFramePr/>
          <p:nvPr/>
        </p:nvGraphicFramePr>
        <p:xfrm>
          <a:off x="318264" y="2054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455900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</a:tblGrid>
              <a:tr h="40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...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Handshakes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600">
                        <a:solidFill>
                          <a:schemeClr val="accent2"/>
                        </a:solidFill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accen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72" name="Google Shape;127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081534" y="319460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95"/>
          <p:cNvSpPr txBox="1"/>
          <p:nvPr/>
        </p:nvSpPr>
        <p:spPr>
          <a:xfrm>
            <a:off x="7039921" y="3989837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5"/>
          <p:cNvSpPr txBox="1"/>
          <p:nvPr>
            <p:ph idx="1" type="body"/>
          </p:nvPr>
        </p:nvSpPr>
        <p:spPr>
          <a:xfrm>
            <a:off x="5277625" y="2061325"/>
            <a:ext cx="3199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don’t need to draw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aseline="30000" lang="en-GB" sz="20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800"/>
              <a:t> one. I have spotted a pattern in the numbers.</a:t>
            </a:r>
            <a:endParaRPr sz="1800"/>
          </a:p>
        </p:txBody>
      </p:sp>
      <p:sp>
        <p:nvSpPr>
          <p:cNvPr id="1275" name="Google Shape;1275;p95"/>
          <p:cNvSpPr txBox="1"/>
          <p:nvPr>
            <p:ph idx="1" type="body"/>
          </p:nvPr>
        </p:nvSpPr>
        <p:spPr>
          <a:xfrm>
            <a:off x="1314600" y="3772750"/>
            <a:ext cx="3502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Can you see Aisha’s pattern?</a:t>
            </a:r>
            <a:endParaRPr sz="1900"/>
          </a:p>
        </p:txBody>
      </p:sp>
      <p:pic>
        <p:nvPicPr>
          <p:cNvPr id="1276" name="Google Shape;1276;p95"/>
          <p:cNvPicPr preferRelativeResize="0"/>
          <p:nvPr/>
        </p:nvPicPr>
        <p:blipFill rotWithShape="1">
          <a:blip r:embed="rId5">
            <a:alphaModFix/>
          </a:blip>
          <a:srcRect b="12671" l="61925" r="14808" t="74256"/>
          <a:stretch/>
        </p:blipFill>
        <p:spPr>
          <a:xfrm flipH="1" rot="10800000">
            <a:off x="1906201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95"/>
          <p:cNvPicPr preferRelativeResize="0"/>
          <p:nvPr/>
        </p:nvPicPr>
        <p:blipFill rotWithShape="1">
          <a:blip r:embed="rId5">
            <a:alphaModFix/>
          </a:blip>
          <a:srcRect b="12671" l="61925" r="14808" t="74256"/>
          <a:stretch/>
        </p:blipFill>
        <p:spPr>
          <a:xfrm flipH="1" rot="10800000">
            <a:off x="2400586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95"/>
          <p:cNvPicPr preferRelativeResize="0"/>
          <p:nvPr/>
        </p:nvPicPr>
        <p:blipFill rotWithShape="1">
          <a:blip r:embed="rId5">
            <a:alphaModFix/>
          </a:blip>
          <a:srcRect b="12671" l="61925" r="14808" t="74256"/>
          <a:stretch/>
        </p:blipFill>
        <p:spPr>
          <a:xfrm flipH="1" rot="10800000">
            <a:off x="2894971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95"/>
          <p:cNvPicPr preferRelativeResize="0"/>
          <p:nvPr/>
        </p:nvPicPr>
        <p:blipFill rotWithShape="1">
          <a:blip r:embed="rId5">
            <a:alphaModFix/>
          </a:blip>
          <a:srcRect b="12671" l="61925" r="14808" t="74256"/>
          <a:stretch/>
        </p:blipFill>
        <p:spPr>
          <a:xfrm flipH="1" rot="10800000">
            <a:off x="3389356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5"/>
          <p:cNvSpPr txBox="1"/>
          <p:nvPr>
            <p:ph idx="1" type="body"/>
          </p:nvPr>
        </p:nvSpPr>
        <p:spPr>
          <a:xfrm>
            <a:off x="2010812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1" name="Google Shape;1281;p95"/>
          <p:cNvSpPr txBox="1"/>
          <p:nvPr>
            <p:ph idx="1" type="body"/>
          </p:nvPr>
        </p:nvSpPr>
        <p:spPr>
          <a:xfrm>
            <a:off x="2512976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2" name="Google Shape;1282;p95"/>
          <p:cNvSpPr txBox="1"/>
          <p:nvPr>
            <p:ph idx="1" type="body"/>
          </p:nvPr>
        </p:nvSpPr>
        <p:spPr>
          <a:xfrm>
            <a:off x="3022236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95"/>
          <p:cNvSpPr txBox="1"/>
          <p:nvPr>
            <p:ph idx="1" type="body"/>
          </p:nvPr>
        </p:nvSpPr>
        <p:spPr>
          <a:xfrm>
            <a:off x="3479436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4" name="Google Shape;1284;p95"/>
          <p:cNvPicPr preferRelativeResize="0"/>
          <p:nvPr/>
        </p:nvPicPr>
        <p:blipFill rotWithShape="1">
          <a:blip r:embed="rId5">
            <a:alphaModFix/>
          </a:blip>
          <a:srcRect b="12671" l="61925" r="14808" t="74256"/>
          <a:stretch/>
        </p:blipFill>
        <p:spPr>
          <a:xfrm flipH="1" rot="10800000">
            <a:off x="3901932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5"/>
          <p:cNvSpPr txBox="1"/>
          <p:nvPr>
            <p:ph idx="1" type="body"/>
          </p:nvPr>
        </p:nvSpPr>
        <p:spPr>
          <a:xfrm>
            <a:off x="3992012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95"/>
          <p:cNvSpPr/>
          <p:nvPr/>
        </p:nvSpPr>
        <p:spPr>
          <a:xfrm>
            <a:off x="4116804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95"/>
          <p:cNvSpPr txBox="1"/>
          <p:nvPr>
            <p:ph idx="1" type="body"/>
          </p:nvPr>
        </p:nvSpPr>
        <p:spPr>
          <a:xfrm>
            <a:off x="324000" y="4153750"/>
            <a:ext cx="6852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If you draw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900"/>
              <a:t> out and test it you will find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1900"/>
              <a:t> to be correct.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96"/>
          <p:cNvSpPr txBox="1"/>
          <p:nvPr>
            <p:ph idx="1" type="body"/>
          </p:nvPr>
        </p:nvSpPr>
        <p:spPr>
          <a:xfrm>
            <a:off x="324000" y="759300"/>
            <a:ext cx="76380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Fifteen people meet for the first time and shake hands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with each other just once. How many handshakes will occur?</a:t>
            </a:r>
            <a:endParaRPr sz="2000"/>
          </a:p>
        </p:txBody>
      </p:sp>
      <p:sp>
        <p:nvSpPr>
          <p:cNvPr id="1293" name="Google Shape;1293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sp>
        <p:nvSpPr>
          <p:cNvPr id="1294" name="Google Shape;1294;p96"/>
          <p:cNvSpPr txBox="1"/>
          <p:nvPr>
            <p:ph idx="1" type="body"/>
          </p:nvPr>
        </p:nvSpPr>
        <p:spPr>
          <a:xfrm>
            <a:off x="933600" y="3772750"/>
            <a:ext cx="36681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There will be </a:t>
            </a:r>
            <a:r>
              <a:rPr lang="en-GB" sz="23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105</a:t>
            </a:r>
            <a:r>
              <a:rPr lang="en-GB" sz="1900"/>
              <a:t> handshakes.</a:t>
            </a:r>
            <a:endParaRPr sz="1900"/>
          </a:p>
        </p:txBody>
      </p:sp>
      <p:graphicFrame>
        <p:nvGraphicFramePr>
          <p:cNvPr id="1295" name="Google Shape;1295;p96"/>
          <p:cNvGraphicFramePr/>
          <p:nvPr/>
        </p:nvGraphicFramePr>
        <p:xfrm>
          <a:off x="318264" y="2054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455900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461175"/>
                <a:gridCol w="586075"/>
              </a:tblGrid>
              <a:tr h="407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People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Handshakes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78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96" name="Google Shape;1296;p96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1906201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96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2400586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96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2894971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96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3389356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96"/>
          <p:cNvSpPr txBox="1"/>
          <p:nvPr>
            <p:ph idx="1" type="body"/>
          </p:nvPr>
        </p:nvSpPr>
        <p:spPr>
          <a:xfrm>
            <a:off x="2010812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1" name="Google Shape;1301;p96"/>
          <p:cNvSpPr txBox="1"/>
          <p:nvPr>
            <p:ph idx="1" type="body"/>
          </p:nvPr>
        </p:nvSpPr>
        <p:spPr>
          <a:xfrm>
            <a:off x="2512976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2" name="Google Shape;1302;p96"/>
          <p:cNvSpPr txBox="1"/>
          <p:nvPr>
            <p:ph idx="1" type="body"/>
          </p:nvPr>
        </p:nvSpPr>
        <p:spPr>
          <a:xfrm>
            <a:off x="3022236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+3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3" name="Google Shape;1303;p96"/>
          <p:cNvSpPr txBox="1"/>
          <p:nvPr>
            <p:ph idx="1" type="body"/>
          </p:nvPr>
        </p:nvSpPr>
        <p:spPr>
          <a:xfrm>
            <a:off x="3479436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4" name="Google Shape;1304;p96"/>
          <p:cNvPicPr preferRelativeResize="0"/>
          <p:nvPr/>
        </p:nvPicPr>
        <p:blipFill rotWithShape="1">
          <a:blip r:embed="rId3">
            <a:alphaModFix/>
          </a:blip>
          <a:srcRect b="12671" l="61925" r="14808" t="74256"/>
          <a:stretch/>
        </p:blipFill>
        <p:spPr>
          <a:xfrm flipH="1" rot="10800000">
            <a:off x="3901932" y="3030599"/>
            <a:ext cx="586772" cy="412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96"/>
          <p:cNvSpPr txBox="1"/>
          <p:nvPr>
            <p:ph idx="1" type="body"/>
          </p:nvPr>
        </p:nvSpPr>
        <p:spPr>
          <a:xfrm>
            <a:off x="3992012" y="3346786"/>
            <a:ext cx="3834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6" name="Google Shape;1306;p96"/>
          <p:cNvSpPr/>
          <p:nvPr/>
        </p:nvSpPr>
        <p:spPr>
          <a:xfrm>
            <a:off x="4574004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96"/>
          <p:cNvSpPr/>
          <p:nvPr/>
        </p:nvSpPr>
        <p:spPr>
          <a:xfrm>
            <a:off x="5031204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96"/>
          <p:cNvSpPr/>
          <p:nvPr/>
        </p:nvSpPr>
        <p:spPr>
          <a:xfrm>
            <a:off x="5488404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96"/>
          <p:cNvSpPr/>
          <p:nvPr/>
        </p:nvSpPr>
        <p:spPr>
          <a:xfrm>
            <a:off x="5945604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6"/>
          <p:cNvSpPr/>
          <p:nvPr/>
        </p:nvSpPr>
        <p:spPr>
          <a:xfrm>
            <a:off x="6402804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6"/>
          <p:cNvSpPr/>
          <p:nvPr/>
        </p:nvSpPr>
        <p:spPr>
          <a:xfrm>
            <a:off x="6880827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6"/>
          <p:cNvSpPr/>
          <p:nvPr/>
        </p:nvSpPr>
        <p:spPr>
          <a:xfrm>
            <a:off x="7338027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6"/>
          <p:cNvSpPr/>
          <p:nvPr/>
        </p:nvSpPr>
        <p:spPr>
          <a:xfrm>
            <a:off x="7805639" y="2556150"/>
            <a:ext cx="3834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6"/>
          <p:cNvSpPr/>
          <p:nvPr/>
        </p:nvSpPr>
        <p:spPr>
          <a:xfrm>
            <a:off x="8273273" y="2556150"/>
            <a:ext cx="490800" cy="38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6"/>
          <p:cNvSpPr txBox="1"/>
          <p:nvPr>
            <p:ph idx="1" type="body"/>
          </p:nvPr>
        </p:nvSpPr>
        <p:spPr>
          <a:xfrm>
            <a:off x="945500" y="4229950"/>
            <a:ext cx="7276800" cy="37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1, 3, 6, 10, 15, …</a:t>
            </a:r>
            <a:r>
              <a:rPr lang="en-GB" sz="1900"/>
              <a:t> you might recognise as triangular numbers.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97"/>
          <p:cNvSpPr txBox="1"/>
          <p:nvPr>
            <p:ph type="title"/>
          </p:nvPr>
        </p:nvSpPr>
        <p:spPr>
          <a:xfrm>
            <a:off x="324000" y="8100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faced with a complex problem, what useful approaches can be taken?</a:t>
            </a:r>
            <a:endParaRPr/>
          </a:p>
        </p:txBody>
      </p:sp>
      <p:sp>
        <p:nvSpPr>
          <p:cNvPr id="1321" name="Google Shape;1321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Pattern spotting</a:t>
            </a:r>
            <a:endParaRPr/>
          </a:p>
        </p:txBody>
      </p:sp>
      <p:sp>
        <p:nvSpPr>
          <p:cNvPr id="1322" name="Google Shape;1322;p97"/>
          <p:cNvSpPr txBox="1"/>
          <p:nvPr>
            <p:ph idx="1" type="subTitle"/>
          </p:nvPr>
        </p:nvSpPr>
        <p:spPr>
          <a:xfrm>
            <a:off x="1034425" y="1685375"/>
            <a:ext cx="540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Try to visualise the problem.</a:t>
            </a:r>
            <a:endParaRPr/>
          </a:p>
        </p:txBody>
      </p:sp>
      <p:sp>
        <p:nvSpPr>
          <p:cNvPr id="1323" name="Google Shape;1323;p97"/>
          <p:cNvSpPr txBox="1"/>
          <p:nvPr>
            <p:ph idx="3" type="subTitle"/>
          </p:nvPr>
        </p:nvSpPr>
        <p:spPr>
          <a:xfrm>
            <a:off x="1034425" y="2489443"/>
            <a:ext cx="5402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Break it down into smaller steps.</a:t>
            </a:r>
            <a:endParaRPr/>
          </a:p>
        </p:txBody>
      </p:sp>
      <p:sp>
        <p:nvSpPr>
          <p:cNvPr id="1324" name="Google Shape;1324;p97"/>
          <p:cNvSpPr txBox="1"/>
          <p:nvPr>
            <p:ph idx="4" type="subTitle"/>
          </p:nvPr>
        </p:nvSpPr>
        <p:spPr>
          <a:xfrm>
            <a:off x="1034425" y="3309758"/>
            <a:ext cx="5372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Hypothesise and test the hypothesis.</a:t>
            </a:r>
            <a:endParaRPr/>
          </a:p>
        </p:txBody>
      </p:sp>
      <p:sp>
        <p:nvSpPr>
          <p:cNvPr id="1325" name="Google Shape;1325;p97"/>
          <p:cNvSpPr txBox="1"/>
          <p:nvPr>
            <p:ph idx="5" type="subTitle"/>
          </p:nvPr>
        </p:nvSpPr>
        <p:spPr>
          <a:xfrm>
            <a:off x="1034425" y="4113827"/>
            <a:ext cx="5402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Look for patterns.</a:t>
            </a:r>
            <a:endParaRPr/>
          </a:p>
        </p:txBody>
      </p:sp>
      <p:pic>
        <p:nvPicPr>
          <p:cNvPr id="1326" name="Google Shape;132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4509" y="168552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7909" y="244752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7509" y="3285729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297" y="411351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8"/>
          <p:cNvSpPr txBox="1"/>
          <p:nvPr>
            <p:ph idx="1" type="body"/>
          </p:nvPr>
        </p:nvSpPr>
        <p:spPr>
          <a:xfrm>
            <a:off x="324000" y="759300"/>
            <a:ext cx="6903900" cy="5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How many squares are there on a chess board?</a:t>
            </a:r>
            <a:endParaRPr/>
          </a:p>
        </p:txBody>
      </p:sp>
      <p:sp>
        <p:nvSpPr>
          <p:cNvPr id="1335" name="Google Shape;1335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f34b2127-43fb-4294-8645-538762a95ac8&quot; data-equatio-type=&quot;desmos&quot;&gt;&lt;mglyph src=&quot;https://equatio-api.texthelp.com/desmos/get/02-11-2023/f34b2127-43fb-4294-8645-538762a95ac8&quot; alt=&quot;Equatio Desmos Graph&quot;/&gt;&lt;/math&gt;" id="1336" name="Google Shape;1336;p98" title="Equatio Desmos Graph"/>
          <p:cNvPicPr preferRelativeResize="0"/>
          <p:nvPr/>
        </p:nvPicPr>
        <p:blipFill rotWithShape="1">
          <a:blip r:embed="rId3">
            <a:alphaModFix/>
          </a:blip>
          <a:srcRect b="6292" l="13274" r="21138" t="6553"/>
          <a:stretch/>
        </p:blipFill>
        <p:spPr>
          <a:xfrm>
            <a:off x="681625" y="1330250"/>
            <a:ext cx="3348850" cy="3337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7" name="Google Shape;1337;p98"/>
          <p:cNvSpPr/>
          <p:nvPr/>
        </p:nvSpPr>
        <p:spPr>
          <a:xfrm>
            <a:off x="1517050" y="1728299"/>
            <a:ext cx="822600" cy="8334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98"/>
          <p:cNvSpPr/>
          <p:nvPr/>
        </p:nvSpPr>
        <p:spPr>
          <a:xfrm>
            <a:off x="665775" y="1313950"/>
            <a:ext cx="420900" cy="414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98"/>
          <p:cNvSpPr/>
          <p:nvPr/>
        </p:nvSpPr>
        <p:spPr>
          <a:xfrm>
            <a:off x="2783875" y="1323486"/>
            <a:ext cx="822600" cy="8334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98"/>
          <p:cNvSpPr/>
          <p:nvPr/>
        </p:nvSpPr>
        <p:spPr>
          <a:xfrm>
            <a:off x="2775789" y="2576025"/>
            <a:ext cx="1276500" cy="12807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98"/>
          <p:cNvSpPr/>
          <p:nvPr/>
        </p:nvSpPr>
        <p:spPr>
          <a:xfrm>
            <a:off x="1086682" y="2150063"/>
            <a:ext cx="2127300" cy="21231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98"/>
          <p:cNvSpPr txBox="1"/>
          <p:nvPr>
            <p:ph idx="1" type="body"/>
          </p:nvPr>
        </p:nvSpPr>
        <p:spPr>
          <a:xfrm>
            <a:off x="4830212" y="1621640"/>
            <a:ext cx="3576600" cy="52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Don’t forget to consider </a:t>
            </a:r>
            <a:r>
              <a:rPr lang="en-GB">
                <a:solidFill>
                  <a:schemeClr val="accent2"/>
                </a:solidFill>
              </a:rPr>
              <a:t>all </a:t>
            </a:r>
            <a:r>
              <a:rPr lang="en-GB"/>
              <a:t>the squares!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9"/>
          <p:cNvSpPr txBox="1"/>
          <p:nvPr>
            <p:ph idx="1" type="body"/>
          </p:nvPr>
        </p:nvSpPr>
        <p:spPr>
          <a:xfrm>
            <a:off x="324000" y="759300"/>
            <a:ext cx="82377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How many squares are there on a chess board?</a:t>
            </a:r>
            <a:endParaRPr/>
          </a:p>
        </p:txBody>
      </p:sp>
      <p:sp>
        <p:nvSpPr>
          <p:cNvPr id="1348" name="Google Shape;1348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f34b2127-43fb-4294-8645-538762a95ac8&quot; data-equatio-type=&quot;desmos&quot;&gt;&lt;mglyph src=&quot;https://equatio-api.texthelp.com/desmos/get/02-11-2023/f34b2127-43fb-4294-8645-538762a95ac8&quot; alt=&quot;Equatio Desmos Graph&quot;/&gt;&lt;/math&gt;" id="1349" name="Google Shape;1349;p99" title="Equatio Desmos Graph"/>
          <p:cNvPicPr preferRelativeResize="0"/>
          <p:nvPr/>
        </p:nvPicPr>
        <p:blipFill rotWithShape="1">
          <a:blip r:embed="rId3">
            <a:alphaModFix/>
          </a:blip>
          <a:srcRect b="6292" l="13274" r="21138" t="6553"/>
          <a:stretch/>
        </p:blipFill>
        <p:spPr>
          <a:xfrm>
            <a:off x="681625" y="1330250"/>
            <a:ext cx="3348850" cy="3337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0" name="Google Shape;1350;p99"/>
          <p:cNvSpPr/>
          <p:nvPr/>
        </p:nvSpPr>
        <p:spPr>
          <a:xfrm>
            <a:off x="681550" y="1311875"/>
            <a:ext cx="3348900" cy="3337800"/>
          </a:xfrm>
          <a:prstGeom prst="rect">
            <a:avLst/>
          </a:prstGeom>
          <a:noFill/>
          <a:ln cap="flat" cmpd="sng" w="762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99"/>
          <p:cNvSpPr txBox="1"/>
          <p:nvPr>
            <p:ph idx="1" type="body"/>
          </p:nvPr>
        </p:nvSpPr>
        <p:spPr>
          <a:xfrm>
            <a:off x="4601600" y="1316848"/>
            <a:ext cx="35766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Break the problem down.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52" name="Google Shape;1352;p99"/>
          <p:cNvGraphicFramePr/>
          <p:nvPr/>
        </p:nvGraphicFramePr>
        <p:xfrm>
          <a:off x="4634740" y="1788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339950"/>
                <a:gridCol w="1339950"/>
              </a:tblGrid>
              <a:tr h="3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Square size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Frequency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00"/>
          <p:cNvSpPr txBox="1"/>
          <p:nvPr>
            <p:ph idx="1" type="body"/>
          </p:nvPr>
        </p:nvSpPr>
        <p:spPr>
          <a:xfrm>
            <a:off x="324000" y="759300"/>
            <a:ext cx="82377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How many squares are there on a chess board?</a:t>
            </a:r>
            <a:endParaRPr/>
          </a:p>
        </p:txBody>
      </p:sp>
      <p:sp>
        <p:nvSpPr>
          <p:cNvPr id="1358" name="Google Shape;135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f34b2127-43fb-4294-8645-538762a95ac8&quot; data-equatio-type=&quot;desmos&quot;&gt;&lt;mglyph src=&quot;https://equatio-api.texthelp.com/desmos/get/02-11-2023/f34b2127-43fb-4294-8645-538762a95ac8&quot; alt=&quot;Equatio Desmos Graph&quot;/&gt;&lt;/math&gt;" id="1359" name="Google Shape;1359;p100" title="Equatio Desmos Graph"/>
          <p:cNvPicPr preferRelativeResize="0"/>
          <p:nvPr/>
        </p:nvPicPr>
        <p:blipFill rotWithShape="1">
          <a:blip r:embed="rId3">
            <a:alphaModFix/>
          </a:blip>
          <a:srcRect b="6292" l="13274" r="21138" t="6553"/>
          <a:stretch/>
        </p:blipFill>
        <p:spPr>
          <a:xfrm>
            <a:off x="681625" y="1330250"/>
            <a:ext cx="3348850" cy="3337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0" name="Google Shape;1360;p100"/>
          <p:cNvSpPr/>
          <p:nvPr/>
        </p:nvSpPr>
        <p:spPr>
          <a:xfrm>
            <a:off x="681550" y="1311875"/>
            <a:ext cx="2943900" cy="2961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0"/>
          <p:cNvSpPr txBox="1"/>
          <p:nvPr>
            <p:ph idx="1" type="body"/>
          </p:nvPr>
        </p:nvSpPr>
        <p:spPr>
          <a:xfrm>
            <a:off x="4601600" y="1316848"/>
            <a:ext cx="35766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Break the problem down.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62" name="Google Shape;1362;p100"/>
          <p:cNvGraphicFramePr/>
          <p:nvPr/>
        </p:nvGraphicFramePr>
        <p:xfrm>
          <a:off x="4634740" y="1788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339950"/>
                <a:gridCol w="1339950"/>
              </a:tblGrid>
              <a:tr h="3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Square size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Frequency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3" name="Google Shape;1363;p100"/>
          <p:cNvSpPr/>
          <p:nvPr/>
        </p:nvSpPr>
        <p:spPr>
          <a:xfrm>
            <a:off x="6250400" y="2493677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100"/>
          <p:cNvSpPr/>
          <p:nvPr/>
        </p:nvSpPr>
        <p:spPr>
          <a:xfrm>
            <a:off x="1093786" y="1311875"/>
            <a:ext cx="2943900" cy="2961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100"/>
          <p:cNvSpPr/>
          <p:nvPr/>
        </p:nvSpPr>
        <p:spPr>
          <a:xfrm>
            <a:off x="1093786" y="1724111"/>
            <a:ext cx="2943900" cy="2961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6" name="Google Shape;1366;p100"/>
          <p:cNvSpPr/>
          <p:nvPr/>
        </p:nvSpPr>
        <p:spPr>
          <a:xfrm>
            <a:off x="667822" y="1724111"/>
            <a:ext cx="2943900" cy="29613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01"/>
          <p:cNvSpPr txBox="1"/>
          <p:nvPr>
            <p:ph idx="1" type="body"/>
          </p:nvPr>
        </p:nvSpPr>
        <p:spPr>
          <a:xfrm>
            <a:off x="324000" y="759300"/>
            <a:ext cx="82377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How many squares are there on a chess board?</a:t>
            </a:r>
            <a:endParaRPr/>
          </a:p>
        </p:txBody>
      </p:sp>
      <p:sp>
        <p:nvSpPr>
          <p:cNvPr id="1372" name="Google Shape;1372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f34b2127-43fb-4294-8645-538762a95ac8&quot; data-equatio-type=&quot;desmos&quot;&gt;&lt;mglyph src=&quot;https://equatio-api.texthelp.com/desmos/get/02-11-2023/f34b2127-43fb-4294-8645-538762a95ac8&quot; alt=&quot;Equatio Desmos Graph&quot;/&gt;&lt;/math&gt;" id="1373" name="Google Shape;1373;p101" title="Equatio Desmos Graph"/>
          <p:cNvPicPr preferRelativeResize="0"/>
          <p:nvPr/>
        </p:nvPicPr>
        <p:blipFill rotWithShape="1">
          <a:blip r:embed="rId3">
            <a:alphaModFix/>
          </a:blip>
          <a:srcRect b="6292" l="13274" r="21138" t="6553"/>
          <a:stretch/>
        </p:blipFill>
        <p:spPr>
          <a:xfrm>
            <a:off x="681625" y="1330250"/>
            <a:ext cx="3348850" cy="3337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4" name="Google Shape;1374;p101"/>
          <p:cNvSpPr/>
          <p:nvPr/>
        </p:nvSpPr>
        <p:spPr>
          <a:xfrm>
            <a:off x="681550" y="1311875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1"/>
          <p:cNvSpPr txBox="1"/>
          <p:nvPr>
            <p:ph idx="1" type="body"/>
          </p:nvPr>
        </p:nvSpPr>
        <p:spPr>
          <a:xfrm>
            <a:off x="4601600" y="1316848"/>
            <a:ext cx="35766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Break the problem down.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76" name="Google Shape;1376;p101"/>
          <p:cNvGraphicFramePr/>
          <p:nvPr/>
        </p:nvGraphicFramePr>
        <p:xfrm>
          <a:off x="4634740" y="1788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339950"/>
                <a:gridCol w="1339950"/>
              </a:tblGrid>
              <a:tr h="3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Square size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Frequency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7" name="Google Shape;1377;p101"/>
          <p:cNvSpPr/>
          <p:nvPr/>
        </p:nvSpPr>
        <p:spPr>
          <a:xfrm>
            <a:off x="4930860" y="3113689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01"/>
          <p:cNvSpPr/>
          <p:nvPr/>
        </p:nvSpPr>
        <p:spPr>
          <a:xfrm>
            <a:off x="6250400" y="2812205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101"/>
          <p:cNvSpPr/>
          <p:nvPr/>
        </p:nvSpPr>
        <p:spPr>
          <a:xfrm>
            <a:off x="1093786" y="1311875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01"/>
          <p:cNvSpPr/>
          <p:nvPr/>
        </p:nvSpPr>
        <p:spPr>
          <a:xfrm>
            <a:off x="1530162" y="1311875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101"/>
          <p:cNvSpPr/>
          <p:nvPr/>
        </p:nvSpPr>
        <p:spPr>
          <a:xfrm>
            <a:off x="1530162" y="1724111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1"/>
          <p:cNvSpPr/>
          <p:nvPr/>
        </p:nvSpPr>
        <p:spPr>
          <a:xfrm>
            <a:off x="1530162" y="2139663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01"/>
          <p:cNvSpPr/>
          <p:nvPr/>
        </p:nvSpPr>
        <p:spPr>
          <a:xfrm>
            <a:off x="1083374" y="2139663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101"/>
          <p:cNvSpPr/>
          <p:nvPr/>
        </p:nvSpPr>
        <p:spPr>
          <a:xfrm>
            <a:off x="681550" y="2139663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01"/>
          <p:cNvSpPr/>
          <p:nvPr/>
        </p:nvSpPr>
        <p:spPr>
          <a:xfrm>
            <a:off x="681550" y="1713699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101"/>
          <p:cNvSpPr/>
          <p:nvPr/>
        </p:nvSpPr>
        <p:spPr>
          <a:xfrm>
            <a:off x="1093786" y="1713699"/>
            <a:ext cx="2517000" cy="254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1"/>
          <p:cNvSpPr/>
          <p:nvPr/>
        </p:nvSpPr>
        <p:spPr>
          <a:xfrm>
            <a:off x="6226260" y="3113689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01"/>
          <p:cNvSpPr txBox="1"/>
          <p:nvPr>
            <p:ph idx="1" type="body"/>
          </p:nvPr>
        </p:nvSpPr>
        <p:spPr>
          <a:xfrm>
            <a:off x="4601600" y="3582024"/>
            <a:ext cx="35766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Spot a pattern.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101"/>
          <p:cNvSpPr/>
          <p:nvPr/>
        </p:nvSpPr>
        <p:spPr>
          <a:xfrm>
            <a:off x="6347250" y="2164750"/>
            <a:ext cx="600300" cy="9681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0" name="Google Shape;1390;p101"/>
          <p:cNvSpPr txBox="1"/>
          <p:nvPr>
            <p:ph idx="1" type="body"/>
          </p:nvPr>
        </p:nvSpPr>
        <p:spPr>
          <a:xfrm>
            <a:off x="7421000" y="2307450"/>
            <a:ext cx="12207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Square numbers.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1" name="Google Shape;1391;p101"/>
          <p:cNvSpPr txBox="1"/>
          <p:nvPr>
            <p:ph idx="1" type="body"/>
          </p:nvPr>
        </p:nvSpPr>
        <p:spPr>
          <a:xfrm>
            <a:off x="4601600" y="4039224"/>
            <a:ext cx="35766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If you draw and test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5 × 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you’ll find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correct.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02"/>
          <p:cNvSpPr txBox="1"/>
          <p:nvPr>
            <p:ph idx="1" type="body"/>
          </p:nvPr>
        </p:nvSpPr>
        <p:spPr>
          <a:xfrm>
            <a:off x="324000" y="759300"/>
            <a:ext cx="82377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How many squares are there on a chess board?</a:t>
            </a:r>
            <a:endParaRPr/>
          </a:p>
        </p:txBody>
      </p:sp>
      <p:sp>
        <p:nvSpPr>
          <p:cNvPr id="1397" name="Google Shape;1397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Pattern spotting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2-11-2023/f34b2127-43fb-4294-8645-538762a95ac8&quot; data-equatio-type=&quot;desmos&quot;&gt;&lt;mglyph src=&quot;https://equatio-api.texthelp.com/desmos/get/02-11-2023/f34b2127-43fb-4294-8645-538762a95ac8&quot; alt=&quot;Equatio Desmos Graph&quot;/&gt;&lt;/math&gt;" id="1398" name="Google Shape;1398;p102" title="Equatio Desmos Graph"/>
          <p:cNvPicPr preferRelativeResize="0"/>
          <p:nvPr/>
        </p:nvPicPr>
        <p:blipFill rotWithShape="1">
          <a:blip r:embed="rId3">
            <a:alphaModFix/>
          </a:blip>
          <a:srcRect b="6292" l="13274" r="21138" t="6553"/>
          <a:stretch/>
        </p:blipFill>
        <p:spPr>
          <a:xfrm>
            <a:off x="681625" y="1330250"/>
            <a:ext cx="3348850" cy="33377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9" name="Google Shape;1399;p102"/>
          <p:cNvSpPr txBox="1"/>
          <p:nvPr>
            <p:ph idx="1" type="body"/>
          </p:nvPr>
        </p:nvSpPr>
        <p:spPr>
          <a:xfrm>
            <a:off x="4634750" y="1240650"/>
            <a:ext cx="41853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sum of the first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squares, </a:t>
            </a:r>
            <a:r>
              <a:rPr lang="en-GB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rPr>
              <a:t>204</a:t>
            </a:r>
            <a:endParaRPr>
              <a:solidFill>
                <a:schemeClr val="accent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00" name="Google Shape;1400;p102"/>
          <p:cNvGraphicFramePr/>
          <p:nvPr/>
        </p:nvGraphicFramePr>
        <p:xfrm>
          <a:off x="4634740" y="17889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{392E584B-C823-4B75-97F4-2AD25AA6B760}</a:tableStyleId>
              </a:tblPr>
              <a:tblGrid>
                <a:gridCol w="1339950"/>
                <a:gridCol w="1339950"/>
              </a:tblGrid>
              <a:tr h="35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Square size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Frequency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× 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× 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× 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× 4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× 3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× 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× 1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1" name="Google Shape;1401;p102"/>
          <p:cNvSpPr/>
          <p:nvPr/>
        </p:nvSpPr>
        <p:spPr>
          <a:xfrm>
            <a:off x="6316188" y="3428901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02"/>
          <p:cNvSpPr/>
          <p:nvPr/>
        </p:nvSpPr>
        <p:spPr>
          <a:xfrm>
            <a:off x="6271224" y="3733701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02"/>
          <p:cNvSpPr/>
          <p:nvPr/>
        </p:nvSpPr>
        <p:spPr>
          <a:xfrm>
            <a:off x="6271224" y="4048913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02"/>
          <p:cNvSpPr/>
          <p:nvPr/>
        </p:nvSpPr>
        <p:spPr>
          <a:xfrm>
            <a:off x="6271224" y="4360808"/>
            <a:ext cx="735300" cy="266100"/>
          </a:xfrm>
          <a:prstGeom prst="rect">
            <a:avLst/>
          </a:prstGeom>
          <a:solidFill>
            <a:srgbClr val="ECEDFD"/>
          </a:solidFill>
          <a:ln cap="flat" cmpd="sng" w="9525">
            <a:solidFill>
              <a:srgbClr val="ECED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3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our knowledge of sequences, such as pattern spotting and finding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2000"/>
              <a:t> terms, to solve problems.</a:t>
            </a:r>
            <a:endParaRPr/>
          </a:p>
        </p:txBody>
      </p:sp>
      <p:sp>
        <p:nvSpPr>
          <p:cNvPr id="1410" name="Google Shape;1410;p10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</a:t>
            </a:r>
            <a:r>
              <a:rPr lang="en-GB"/>
              <a:t>sequences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16" name="Google Shape;1416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